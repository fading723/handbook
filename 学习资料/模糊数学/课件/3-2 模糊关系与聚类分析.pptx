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3"/>
  </p:notesMasterIdLst>
  <p:handoutMasterIdLst>
    <p:handoutMasterId r:id="rId54"/>
  </p:handoutMasterIdLst>
  <p:sldIdLst>
    <p:sldId id="347" r:id="rId2"/>
    <p:sldId id="277" r:id="rId3"/>
    <p:sldId id="284" r:id="rId4"/>
    <p:sldId id="278" r:id="rId5"/>
    <p:sldId id="335" r:id="rId6"/>
    <p:sldId id="280" r:id="rId7"/>
    <p:sldId id="281" r:id="rId8"/>
    <p:sldId id="316" r:id="rId9"/>
    <p:sldId id="317" r:id="rId10"/>
    <p:sldId id="282" r:id="rId11"/>
    <p:sldId id="283" r:id="rId12"/>
    <p:sldId id="540" r:id="rId13"/>
    <p:sldId id="541" r:id="rId14"/>
    <p:sldId id="286" r:id="rId15"/>
    <p:sldId id="287" r:id="rId16"/>
    <p:sldId id="288" r:id="rId17"/>
    <p:sldId id="289" r:id="rId18"/>
    <p:sldId id="290" r:id="rId19"/>
    <p:sldId id="506" r:id="rId20"/>
    <p:sldId id="507" r:id="rId21"/>
    <p:sldId id="508" r:id="rId22"/>
    <p:sldId id="368" r:id="rId23"/>
    <p:sldId id="548" r:id="rId24"/>
    <p:sldId id="509" r:id="rId25"/>
    <p:sldId id="510" r:id="rId26"/>
    <p:sldId id="511" r:id="rId27"/>
    <p:sldId id="512" r:id="rId28"/>
    <p:sldId id="513" r:id="rId29"/>
    <p:sldId id="518" r:id="rId30"/>
    <p:sldId id="549" r:id="rId31"/>
    <p:sldId id="331" r:id="rId32"/>
    <p:sldId id="550" r:id="rId33"/>
    <p:sldId id="551" r:id="rId34"/>
    <p:sldId id="552" r:id="rId35"/>
    <p:sldId id="553" r:id="rId36"/>
    <p:sldId id="519" r:id="rId37"/>
    <p:sldId id="520" r:id="rId38"/>
    <p:sldId id="514" r:id="rId39"/>
    <p:sldId id="515" r:id="rId40"/>
    <p:sldId id="516" r:id="rId41"/>
    <p:sldId id="517" r:id="rId42"/>
    <p:sldId id="538" r:id="rId43"/>
    <p:sldId id="545" r:id="rId44"/>
    <p:sldId id="546" r:id="rId45"/>
    <p:sldId id="521" r:id="rId46"/>
    <p:sldId id="539" r:id="rId47"/>
    <p:sldId id="522" r:id="rId48"/>
    <p:sldId id="523" r:id="rId49"/>
    <p:sldId id="524" r:id="rId50"/>
    <p:sldId id="525" r:id="rId51"/>
    <p:sldId id="537" r:id="rId52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FF0000"/>
    <a:srgbClr val="CCFFFF"/>
    <a:srgbClr val="3333FF"/>
    <a:srgbClr val="FF00FF"/>
    <a:srgbClr val="057939"/>
    <a:srgbClr val="F654F6"/>
    <a:srgbClr val="FFCC99"/>
    <a:srgbClr val="CCFFCC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8027" autoAdjust="0"/>
    <p:restoredTop sz="90148" autoAdjust="0"/>
  </p:normalViewPr>
  <p:slideViewPr>
    <p:cSldViewPr>
      <p:cViewPr varScale="1">
        <p:scale>
          <a:sx n="67" d="100"/>
          <a:sy n="67" d="100"/>
        </p:scale>
        <p:origin x="84" y="2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0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58491B-F5DF-41C0-B551-209EB63107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707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3286A50-BFF7-40BB-B8C1-5858406E89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227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01CFDF2-697F-4388-A0D4-83EAF81F2AC7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不难知道</a:t>
            </a:r>
            <a:r>
              <a:rPr lang="en-US" altLang="zh-CN"/>
              <a:t>,</a:t>
            </a:r>
            <a:r>
              <a:rPr lang="zh-CN" altLang="en-US"/>
              <a:t>在客观世界中许多两组事物之间的关系</a:t>
            </a:r>
            <a:r>
              <a:rPr lang="en-US" altLang="zh-CN"/>
              <a:t>,</a:t>
            </a:r>
            <a:r>
              <a:rPr lang="zh-CN" altLang="en-US"/>
              <a:t>不宜有”有”或”无”来作肯定或否定的回答</a:t>
            </a:r>
            <a:r>
              <a:rPr lang="en-US" altLang="zh-CN"/>
              <a:t>,</a:t>
            </a:r>
            <a:r>
              <a:rPr lang="zh-CN" altLang="en-US"/>
              <a:t>这时若用</a:t>
            </a:r>
            <a:r>
              <a:rPr lang="en-US" altLang="zh-CN"/>
              <a:t>F</a:t>
            </a:r>
            <a:r>
              <a:rPr lang="zh-CN" altLang="en-US"/>
              <a:t>关系来加以描述</a:t>
            </a:r>
            <a:r>
              <a:rPr lang="en-US" altLang="zh-CN"/>
              <a:t>,</a:t>
            </a:r>
            <a:r>
              <a:rPr lang="zh-CN" altLang="en-US"/>
              <a:t>则可以更好地刻划它们的关系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542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DD01CD8-3003-4FAC-B864-BB2D79CB642F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黑体" pitchFamily="2" charset="-122"/>
              </a:rPr>
              <a:t>由于</a:t>
            </a:r>
            <a:r>
              <a:rPr lang="en-US" altLang="zh-CN">
                <a:ea typeface="黑体" pitchFamily="2" charset="-122"/>
              </a:rPr>
              <a:t>F</a:t>
            </a:r>
            <a:r>
              <a:rPr lang="zh-CN" altLang="en-US">
                <a:ea typeface="黑体" pitchFamily="2" charset="-122"/>
              </a:rPr>
              <a:t>关系也是</a:t>
            </a:r>
            <a:r>
              <a:rPr lang="en-US" altLang="zh-CN">
                <a:ea typeface="黑体" pitchFamily="2" charset="-122"/>
              </a:rPr>
              <a:t>F</a:t>
            </a:r>
            <a:r>
              <a:rPr lang="zh-CN" altLang="en-US">
                <a:ea typeface="黑体" pitchFamily="2" charset="-122"/>
              </a:rPr>
              <a:t>集合</a:t>
            </a:r>
            <a:r>
              <a:rPr lang="en-US" altLang="zh-CN">
                <a:ea typeface="黑体" pitchFamily="2" charset="-122"/>
              </a:rPr>
              <a:t>,</a:t>
            </a:r>
            <a:r>
              <a:rPr lang="zh-CN" altLang="en-US">
                <a:ea typeface="黑体" pitchFamily="2" charset="-122"/>
              </a:rPr>
              <a:t>故</a:t>
            </a:r>
            <a:r>
              <a:rPr lang="en-US" altLang="zh-CN">
                <a:ea typeface="黑体" pitchFamily="2" charset="-122"/>
              </a:rPr>
              <a:t>F</a:t>
            </a:r>
            <a:r>
              <a:rPr lang="zh-CN" altLang="en-US">
                <a:ea typeface="黑体" pitchFamily="2" charset="-122"/>
              </a:rPr>
              <a:t>集合的一些运算及性质对它一样成立</a:t>
            </a:r>
            <a:r>
              <a:rPr lang="en-US" altLang="zh-CN">
                <a:ea typeface="黑体" pitchFamily="2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52486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E309435-3764-4D83-87B2-E30D091B6E76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一个</a:t>
            </a:r>
            <a:r>
              <a:rPr lang="en-US" altLang="zh-CN"/>
              <a:t>F</a:t>
            </a:r>
            <a:r>
              <a:rPr lang="zh-CN" altLang="en-US"/>
              <a:t>关系与一个</a:t>
            </a:r>
            <a:r>
              <a:rPr lang="en-US" altLang="zh-CN"/>
              <a:t>F</a:t>
            </a:r>
            <a:r>
              <a:rPr lang="zh-CN" altLang="en-US"/>
              <a:t>矩阵一一对应，一个普通关系与一个布尔矩阵一一对应</a:t>
            </a:r>
          </a:p>
        </p:txBody>
      </p:sp>
    </p:spTree>
    <p:extLst>
      <p:ext uri="{BB962C8B-B14F-4D97-AF65-F5344CB8AC3E}">
        <p14:creationId xmlns:p14="http://schemas.microsoft.com/office/powerpoint/2010/main" val="2925497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1200" dirty="0">
                <a:solidFill>
                  <a:srgbClr val="FF0000"/>
                </a:solidFill>
                <a:ea typeface="黑体" pitchFamily="2" charset="-122"/>
              </a:rPr>
              <a:t>关系用隶属度来刻画两个元素关系的深浅程度</a:t>
            </a:r>
            <a:r>
              <a:rPr lang="en-US" altLang="zh-CN" sz="1200" dirty="0">
                <a:solidFill>
                  <a:srgbClr val="FF0000"/>
                </a:solidFill>
                <a:ea typeface="黑体" pitchFamily="2" charset="-122"/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0C552B-B808-4BB9-80CB-704898857D91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143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7A0C960-D559-4C0E-B140-BB98CF9C2BCD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图示</a:t>
            </a:r>
          </a:p>
        </p:txBody>
      </p:sp>
    </p:spTree>
    <p:extLst>
      <p:ext uri="{BB962C8B-B14F-4D97-AF65-F5344CB8AC3E}">
        <p14:creationId xmlns:p14="http://schemas.microsoft.com/office/powerpoint/2010/main" val="900166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8D47125-6D01-4DC8-9B78-EF24906162E3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性质</a:t>
            </a:r>
            <a:r>
              <a:rPr lang="en-US" altLang="zh-CN"/>
              <a:t>4</a:t>
            </a:r>
            <a:r>
              <a:rPr lang="zh-CN" altLang="en-US"/>
              <a:t>：并、交分配律，性质</a:t>
            </a:r>
            <a:r>
              <a:rPr lang="en-US" altLang="zh-CN"/>
              <a:t>5</a:t>
            </a:r>
            <a:r>
              <a:rPr lang="zh-CN" altLang="en-US"/>
              <a:t>：对偶律</a:t>
            </a:r>
          </a:p>
        </p:txBody>
      </p:sp>
    </p:spTree>
    <p:extLst>
      <p:ext uri="{BB962C8B-B14F-4D97-AF65-F5344CB8AC3E}">
        <p14:creationId xmlns:p14="http://schemas.microsoft.com/office/powerpoint/2010/main" val="2505253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03B1387-0464-4C67-B8CC-1B296C7DC1F2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R</a:t>
            </a:r>
            <a:r>
              <a:rPr lang="zh-CN" altLang="en-US" dirty="0"/>
              <a:t>也可用矩阵表示，</a:t>
            </a:r>
            <a:r>
              <a:rPr lang="en-US" altLang="zh-CN" dirty="0"/>
              <a:t>R(u2,u3)=R(u3,u2)=0.4, R</a:t>
            </a:r>
            <a:r>
              <a:rPr lang="zh-CN" altLang="en-US" dirty="0"/>
              <a:t>不对称。而“朋友”是对称关系。“</a:t>
            </a:r>
            <a:r>
              <a:rPr kumimoji="1" lang="zh-CN" altLang="en-US" sz="1200" b="1" dirty="0">
                <a:solidFill>
                  <a:srgbClr val="FF0000"/>
                </a:solidFill>
                <a:ea typeface="楷体_GB2312" pitchFamily="49" charset="-122"/>
              </a:rPr>
              <a:t>彼此熟悉”是非对称的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3830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1CE1EA0-9656-48B9-8A9A-3F9B82C7EB40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4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：（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R∪R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</a:rPr>
              <a:t>）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∪(R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∪R    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所以，对称！</a:t>
            </a:r>
            <a:endParaRPr kumimoji="1" lang="en-US" altLang="zh-CN" b="1" dirty="0">
              <a:solidFill>
                <a:srgbClr val="FF0000"/>
              </a:solidFill>
              <a:ea typeface="楷体_GB2312" pitchFamily="49" charset="-122"/>
              <a:sym typeface="Symbol" pitchFamily="18" charset="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5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RS  --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2 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S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,  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</a:rPr>
              <a:t>又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S 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</a:rPr>
              <a:t>对称，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S=S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，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S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=S  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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∪RS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。</a:t>
            </a:r>
            <a:endParaRPr kumimoji="1" lang="en-US" altLang="zh-CN" b="1" baseline="0" dirty="0">
              <a:solidFill>
                <a:srgbClr val="FF0000"/>
              </a:solidFill>
              <a:ea typeface="楷体_GB2312" pitchFamily="49" charset="-122"/>
              <a:sym typeface="Symbol" pitchFamily="18" charset="2"/>
            </a:endParaRPr>
          </a:p>
          <a:p>
            <a:pPr eaLnBrk="1" hangingPunct="1"/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计算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R∪R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22972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latin typeface="Times New Roman" pitchFamily="18" charset="0"/>
              </a:rPr>
              <a:t>　</a:t>
            </a:r>
            <a:r>
              <a:rPr lang="zh-CN" altLang="zh-CN" dirty="0"/>
              <a:t>设</a:t>
            </a:r>
            <a:r>
              <a:rPr lang="en-US" altLang="zh-CN" i="1" dirty="0"/>
              <a:t>R</a:t>
            </a:r>
            <a:r>
              <a:rPr lang="zh-CN" altLang="zh-CN" dirty="0"/>
              <a:t>是非空集合</a:t>
            </a:r>
            <a:r>
              <a:rPr lang="en-US" altLang="zh-CN" i="1" dirty="0"/>
              <a:t>A</a:t>
            </a:r>
            <a:r>
              <a:rPr lang="zh-CN" altLang="zh-CN" dirty="0"/>
              <a:t>上的关系，</a:t>
            </a:r>
            <a:r>
              <a:rPr lang="en-US" altLang="zh-CN" i="1" dirty="0"/>
              <a:t> 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lang="zh-CN" altLang="en-US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可能不具有某种性质，如自反性、对称性或传递性。有时我们需要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lang="zh-CN" altLang="en-US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具有某种性质，因此，可以通过关系的闭包运算，在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lang="zh-CN" altLang="en-US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中添加最少的有序对构成新关系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</a:t>
            </a:r>
            <a:r>
              <a:rPr lang="zh-CN" altLang="en-US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，使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lang="en-US" altLang="zh-CN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</a:t>
            </a:r>
            <a:r>
              <a:rPr lang="zh-CN" altLang="en-US" sz="800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具有所需的性质。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0BED3-3D65-4334-A503-CF00B1015DE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8910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E252-2FEB-15C0-5143-9617D7D0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83F9779-C4F5-418C-46FF-516499C5E1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1CE1EA0-9656-48B9-8A9A-3F9B82C7EB40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CFF1BCE-C164-8948-7652-3DB4A30E4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A58162E-B066-AA37-FC8A-752EE0B6A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4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：（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R∪R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</a:rPr>
              <a:t>）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∪(R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∪R    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所以，对称！</a:t>
            </a:r>
            <a:endParaRPr kumimoji="1" lang="en-US" altLang="zh-CN" b="1" dirty="0">
              <a:solidFill>
                <a:srgbClr val="FF0000"/>
              </a:solidFill>
              <a:ea typeface="楷体_GB2312" pitchFamily="49" charset="-122"/>
              <a:sym typeface="Symbol" pitchFamily="18" charset="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5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RS  --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2 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S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,  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</a:rPr>
              <a:t>又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S 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</a:rPr>
              <a:t>对称，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S=S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，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S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</a:rPr>
              <a:t>=S  </a:t>
            </a:r>
            <a:r>
              <a:rPr kumimoji="1" lang="en-US" altLang="zh-CN" b="1" baseline="0" dirty="0">
                <a:solidFill>
                  <a:srgbClr val="FF0000"/>
                </a:solidFill>
                <a:ea typeface="楷体_GB2312" pitchFamily="49" charset="-122"/>
                <a:sym typeface="Wingdings" panose="05000000000000000000" pitchFamily="2" charset="2"/>
              </a:rPr>
              <a:t></a:t>
            </a:r>
            <a:r>
              <a:rPr kumimoji="1" lang="zh-CN" altLang="en-US" b="1" baseline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∪RS 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。</a:t>
            </a:r>
            <a:endParaRPr kumimoji="1" lang="en-US" altLang="zh-CN" b="1" baseline="0" dirty="0">
              <a:solidFill>
                <a:srgbClr val="FF0000"/>
              </a:solidFill>
              <a:ea typeface="楷体_GB2312" pitchFamily="49" charset="-122"/>
              <a:sym typeface="Symbol" pitchFamily="18" charset="2"/>
            </a:endParaRPr>
          </a:p>
          <a:p>
            <a:pPr eaLnBrk="1" hangingPunct="1"/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计算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R∪R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589985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2D5DE59-DDA1-494E-A771-8C7F9D91F33A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A</a:t>
            </a:r>
            <a:r>
              <a:rPr lang="en-US" altLang="zh-CN" baseline="-25000"/>
              <a:t>0.6</a:t>
            </a:r>
            <a:r>
              <a:rPr lang="en-US" altLang="zh-CN"/>
              <a:t>=,   A</a:t>
            </a:r>
            <a:r>
              <a:rPr lang="en-US" altLang="zh-CN" baseline="-25000"/>
              <a:t>0.8</a:t>
            </a:r>
            <a:r>
              <a:rPr lang="en-US" altLang="zh-CN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598284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黑体" panose="02010609060101010101" pitchFamily="49" charset="-122"/>
              </a:rPr>
              <a:t>X</a:t>
            </a:r>
            <a:r>
              <a:rPr lang="zh-CN" altLang="en-US" dirty="0">
                <a:ea typeface="黑体" panose="02010609060101010101" pitchFamily="49" charset="-122"/>
              </a:rPr>
              <a:t>表示”父子”关系的集合</a:t>
            </a:r>
            <a:r>
              <a:rPr lang="en-US" altLang="zh-CN" dirty="0">
                <a:ea typeface="黑体" panose="02010609060101010101" pitchFamily="49" charset="-122"/>
              </a:rPr>
              <a:t>,</a:t>
            </a:r>
            <a:r>
              <a:rPr lang="en-US" altLang="zh-CN" dirty="0"/>
              <a:t>         </a:t>
            </a:r>
            <a:r>
              <a:rPr lang="zh-CN" altLang="en-US" b="1" dirty="0">
                <a:solidFill>
                  <a:srgbClr val="3333FF"/>
                </a:solidFill>
              </a:rPr>
              <a:t>则</a:t>
            </a:r>
            <a:r>
              <a:rPr lang="en-US" altLang="zh-CN" b="1" dirty="0">
                <a:solidFill>
                  <a:srgbClr val="3333FF"/>
                </a:solidFill>
              </a:rPr>
              <a:t>Y=X</a:t>
            </a:r>
            <a:r>
              <a:rPr lang="en-US" altLang="zh-CN" b="1" dirty="0">
                <a:solidFill>
                  <a:srgbClr val="3333FF"/>
                </a:solidFill>
                <a:ea typeface="黑体" panose="02010609060101010101" pitchFamily="49" charset="-122"/>
              </a:rPr>
              <a:t>∘X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表示”祖孙”关系的集合</a:t>
            </a:r>
            <a:endParaRPr lang="zh-CN" altLang="en-US" i="1" dirty="0"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0C552B-B808-4BB9-80CB-704898857D91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825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1D95C2B-E97A-47A0-B3B5-7B7982D47580}" type="slidenum">
              <a:rPr lang="en-US" altLang="zh-CN" i="0" smtClean="0"/>
              <a:pPr eaLnBrk="1" hangingPunct="1"/>
              <a:t>30</a:t>
            </a:fld>
            <a:endParaRPr lang="en-US" altLang="zh-CN" i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27550" cy="254793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DA2092A-FE32-4D0F-804D-6341DC430AFD}" type="slidenum">
              <a:rPr lang="en-US" altLang="zh-CN" i="0" smtClean="0"/>
              <a:pPr eaLnBrk="1" hangingPunct="1"/>
              <a:t>31</a:t>
            </a:fld>
            <a:endParaRPr lang="en-US" altLang="zh-CN" i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27550" cy="2547937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071CF5F-F076-4C84-BFB1-51F7F88F746B}" type="slidenum">
              <a:rPr lang="en-US" altLang="zh-CN" i="0" smtClean="0"/>
              <a:pPr eaLnBrk="1" hangingPunct="1"/>
              <a:t>32</a:t>
            </a:fld>
            <a:endParaRPr lang="en-US" altLang="zh-CN" i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27550" cy="2547937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对于集合表示的关系</a:t>
            </a:r>
            <a:r>
              <a:rPr lang="en-US" altLang="zh-CN" b="1" i="1"/>
              <a:t>R</a:t>
            </a:r>
            <a:r>
              <a:rPr lang="zh-CN" altLang="en-US" b="1"/>
              <a:t>，计算 </a:t>
            </a:r>
            <a:r>
              <a:rPr lang="en-US" altLang="zh-CN" b="1" i="1"/>
              <a:t>R^n </a:t>
            </a:r>
            <a:r>
              <a:rPr lang="zh-CN" altLang="en-US" b="1"/>
              <a:t>就是</a:t>
            </a:r>
            <a:r>
              <a:rPr lang="en-US" altLang="zh-CN" b="1" i="1"/>
              <a:t>n</a:t>
            </a:r>
            <a:r>
              <a:rPr lang="zh-CN" altLang="en-US" b="1"/>
              <a:t>个</a:t>
            </a:r>
            <a:r>
              <a:rPr lang="en-US" altLang="zh-CN" b="1" i="1"/>
              <a:t>R</a:t>
            </a:r>
            <a:r>
              <a:rPr lang="zh-CN" altLang="en-US" b="1"/>
              <a:t>左复合 </a:t>
            </a:r>
            <a:r>
              <a:rPr lang="en-US" altLang="zh-CN" b="1"/>
              <a:t>. </a:t>
            </a:r>
          </a:p>
          <a:p>
            <a:pPr eaLnBrk="1" hangingPunct="1"/>
            <a:r>
              <a:rPr lang="zh-CN" altLang="en-US" b="1"/>
              <a:t>矩阵表示就是</a:t>
            </a:r>
            <a:r>
              <a:rPr lang="en-US" altLang="zh-CN" b="1" i="1"/>
              <a:t>n</a:t>
            </a:r>
            <a:r>
              <a:rPr lang="zh-CN" altLang="en-US" b="1"/>
              <a:t>个矩阵相乘</a:t>
            </a:r>
            <a:r>
              <a:rPr lang="en-US" altLang="zh-CN" b="1"/>
              <a:t>, </a:t>
            </a:r>
            <a:r>
              <a:rPr lang="zh-CN" altLang="en-US" b="1"/>
              <a:t>其中相加采用逻辑加</a:t>
            </a:r>
            <a:r>
              <a:rPr lang="en-US" altLang="zh-CN" b="1"/>
              <a:t>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AB478B1-3CCB-4DCE-ADD4-50EEAE0746EA}" type="slidenum">
              <a:rPr lang="en-US" altLang="zh-CN" i="0" smtClean="0"/>
              <a:pPr eaLnBrk="1" hangingPunct="1"/>
              <a:t>33</a:t>
            </a:fld>
            <a:endParaRPr lang="en-US" altLang="zh-CN" i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27550" cy="2547937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对于集合表示的关系</a:t>
            </a:r>
            <a:r>
              <a:rPr lang="en-US" altLang="zh-CN" b="1" i="1"/>
              <a:t>R</a:t>
            </a:r>
            <a:r>
              <a:rPr lang="zh-CN" altLang="en-US" b="1"/>
              <a:t>，计算 </a:t>
            </a:r>
            <a:r>
              <a:rPr lang="en-US" altLang="zh-CN" b="1" i="1"/>
              <a:t>R^n </a:t>
            </a:r>
            <a:r>
              <a:rPr lang="zh-CN" altLang="en-US" b="1"/>
              <a:t>就是</a:t>
            </a:r>
            <a:r>
              <a:rPr lang="en-US" altLang="zh-CN" b="1" i="1"/>
              <a:t>n</a:t>
            </a:r>
            <a:r>
              <a:rPr lang="zh-CN" altLang="en-US" b="1"/>
              <a:t>个</a:t>
            </a:r>
            <a:r>
              <a:rPr lang="en-US" altLang="zh-CN" b="1" i="1"/>
              <a:t>R</a:t>
            </a:r>
            <a:r>
              <a:rPr lang="zh-CN" altLang="en-US" b="1"/>
              <a:t>左复合 </a:t>
            </a:r>
            <a:r>
              <a:rPr lang="en-US" altLang="zh-CN" b="1"/>
              <a:t>. </a:t>
            </a:r>
          </a:p>
          <a:p>
            <a:pPr eaLnBrk="1" hangingPunct="1"/>
            <a:r>
              <a:rPr lang="zh-CN" altLang="en-US" b="1"/>
              <a:t>矩阵表示就是</a:t>
            </a:r>
            <a:r>
              <a:rPr lang="en-US" altLang="zh-CN" b="1" i="1"/>
              <a:t>n</a:t>
            </a:r>
            <a:r>
              <a:rPr lang="zh-CN" altLang="en-US" b="1"/>
              <a:t>个矩阵相乘</a:t>
            </a:r>
            <a:r>
              <a:rPr lang="en-US" altLang="zh-CN" b="1"/>
              <a:t>, </a:t>
            </a:r>
            <a:r>
              <a:rPr lang="zh-CN" altLang="en-US" b="1"/>
              <a:t>其中相加采用逻辑加</a:t>
            </a:r>
            <a:r>
              <a:rPr lang="en-US" altLang="zh-CN" b="1"/>
              <a:t>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8A6552E-0177-4D7F-B0F6-D16FBBB924DF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201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551BCF2-2FFF-4AEC-9763-1F91F9F17DDD}" type="slidenum">
              <a:rPr lang="en-US" altLang="zh-CN"/>
              <a:pPr eaLnBrk="1" hangingPunct="1"/>
              <a:t>37</a:t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710021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0C552B-B808-4BB9-80CB-704898857D91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843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0C552B-B808-4BB9-80CB-704898857D91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843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902C609-7B73-4026-A128-93D05166F3A3}" type="slidenum">
              <a:rPr lang="en-US" altLang="zh-CN"/>
              <a:pPr eaLnBrk="1" hangingPunct="1"/>
              <a:t>45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zh-CN" altLang="en-US" b="1"/>
              <a:t>计算并证明：</a:t>
            </a:r>
            <a:r>
              <a:rPr kumimoji="1" lang="en-US" altLang="zh-CN" b="1"/>
              <a:t>(Q</a:t>
            </a:r>
            <a:r>
              <a:rPr kumimoji="1" lang="en-US" altLang="zh-CN" b="1" i="1"/>
              <a:t> </a:t>
            </a:r>
            <a:r>
              <a:rPr lang="en-US" altLang="zh-CN" b="1"/>
              <a:t>◦</a:t>
            </a:r>
            <a:r>
              <a:rPr kumimoji="1" lang="en-US" altLang="zh-CN"/>
              <a:t> </a:t>
            </a:r>
            <a:r>
              <a:rPr kumimoji="1" lang="en-US" altLang="zh-CN" b="1"/>
              <a:t>R) </a:t>
            </a:r>
            <a:r>
              <a:rPr lang="en-US" altLang="zh-CN" b="1"/>
              <a:t>◦</a:t>
            </a:r>
            <a:r>
              <a:rPr kumimoji="1" lang="en-US" altLang="zh-CN"/>
              <a:t> </a:t>
            </a:r>
            <a:r>
              <a:rPr kumimoji="1" lang="en-US" altLang="zh-CN" b="1"/>
              <a:t>Q</a:t>
            </a:r>
            <a:r>
              <a:rPr kumimoji="1" lang="en-US" altLang="zh-CN" b="1" i="1"/>
              <a:t> </a:t>
            </a:r>
            <a:r>
              <a:rPr kumimoji="1" lang="en-US" altLang="zh-CN" b="1"/>
              <a:t>= Q</a:t>
            </a:r>
            <a:r>
              <a:rPr kumimoji="1" lang="en-US" altLang="zh-CN" b="1" i="1"/>
              <a:t> </a:t>
            </a:r>
            <a:r>
              <a:rPr lang="en-US" altLang="zh-CN" b="1"/>
              <a:t>◦</a:t>
            </a:r>
            <a:r>
              <a:rPr kumimoji="1" lang="en-US" altLang="zh-CN"/>
              <a:t> </a:t>
            </a:r>
            <a:r>
              <a:rPr kumimoji="1" lang="en-US" altLang="zh-CN" b="1"/>
              <a:t>(R</a:t>
            </a:r>
            <a:r>
              <a:rPr kumimoji="1" lang="en-US" altLang="zh-CN" b="1" i="1"/>
              <a:t> </a:t>
            </a:r>
            <a:r>
              <a:rPr lang="en-US" altLang="zh-CN" b="1"/>
              <a:t>◦</a:t>
            </a:r>
            <a:r>
              <a:rPr kumimoji="1" lang="en-US" altLang="zh-CN"/>
              <a:t> Q</a:t>
            </a:r>
            <a:r>
              <a:rPr kumimoji="1" lang="en-US" altLang="zh-CN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9853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902C609-7B73-4026-A128-93D05166F3A3}" type="slidenum">
              <a:rPr lang="en-US" altLang="zh-CN"/>
              <a:pPr eaLnBrk="1" hangingPunct="1"/>
              <a:t>46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zh-CN" altLang="en-US" b="1"/>
              <a:t>计算并证明：</a:t>
            </a:r>
            <a:r>
              <a:rPr kumimoji="1" lang="en-US" altLang="zh-CN" b="1"/>
              <a:t>(Q</a:t>
            </a:r>
            <a:r>
              <a:rPr kumimoji="1" lang="en-US" altLang="zh-CN" b="1" i="1"/>
              <a:t> </a:t>
            </a:r>
            <a:r>
              <a:rPr lang="en-US" altLang="zh-CN" b="1"/>
              <a:t>◦</a:t>
            </a:r>
            <a:r>
              <a:rPr kumimoji="1" lang="en-US" altLang="zh-CN"/>
              <a:t> </a:t>
            </a:r>
            <a:r>
              <a:rPr kumimoji="1" lang="en-US" altLang="zh-CN" b="1"/>
              <a:t>R) </a:t>
            </a:r>
            <a:r>
              <a:rPr lang="en-US" altLang="zh-CN" b="1"/>
              <a:t>◦</a:t>
            </a:r>
            <a:r>
              <a:rPr kumimoji="1" lang="en-US" altLang="zh-CN"/>
              <a:t> </a:t>
            </a:r>
            <a:r>
              <a:rPr kumimoji="1" lang="en-US" altLang="zh-CN" b="1"/>
              <a:t>Q</a:t>
            </a:r>
            <a:r>
              <a:rPr kumimoji="1" lang="en-US" altLang="zh-CN" b="1" i="1"/>
              <a:t> </a:t>
            </a:r>
            <a:r>
              <a:rPr kumimoji="1" lang="en-US" altLang="zh-CN" b="1"/>
              <a:t>= Q</a:t>
            </a:r>
            <a:r>
              <a:rPr kumimoji="1" lang="en-US" altLang="zh-CN" b="1" i="1"/>
              <a:t> </a:t>
            </a:r>
            <a:r>
              <a:rPr lang="en-US" altLang="zh-CN" b="1"/>
              <a:t>◦</a:t>
            </a:r>
            <a:r>
              <a:rPr kumimoji="1" lang="en-US" altLang="zh-CN"/>
              <a:t> </a:t>
            </a:r>
            <a:r>
              <a:rPr kumimoji="1" lang="en-US" altLang="zh-CN" b="1"/>
              <a:t>(R</a:t>
            </a:r>
            <a:r>
              <a:rPr kumimoji="1" lang="en-US" altLang="zh-CN" b="1" i="1"/>
              <a:t> </a:t>
            </a:r>
            <a:r>
              <a:rPr lang="en-US" altLang="zh-CN" b="1"/>
              <a:t>◦</a:t>
            </a:r>
            <a:r>
              <a:rPr kumimoji="1" lang="en-US" altLang="zh-CN"/>
              <a:t> Q</a:t>
            </a:r>
            <a:r>
              <a:rPr kumimoji="1" lang="en-US" altLang="zh-CN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9853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280BE05-F639-4FA6-A251-7FC0A6965B0B}" type="slidenum">
              <a:rPr lang="en-US" altLang="zh-CN"/>
              <a:pPr eaLnBrk="1" hangingPunct="1"/>
              <a:t>48</a:t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计算并证明： 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( A</a:t>
            </a:r>
            <a:r>
              <a:rPr kumimoji="1" lang="en-US" altLang="en-US" b="1">
                <a:sym typeface="Symbol" pitchFamily="18" charset="2"/>
              </a:rPr>
              <a:t>∪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B</a:t>
            </a:r>
            <a:r>
              <a:rPr kumimoji="1" lang="en-US" altLang="zh-CN" b="1" i="1">
                <a:solidFill>
                  <a:srgbClr val="EE0006"/>
                </a:solidFill>
                <a:sym typeface="Symbol" pitchFamily="18" charset="2"/>
              </a:rPr>
              <a:t> 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) </a:t>
            </a:r>
            <a:r>
              <a:rPr lang="en-US" altLang="zh-CN" b="1">
                <a:solidFill>
                  <a:srgbClr val="EE0006"/>
                </a:solidFill>
              </a:rPr>
              <a:t>◦</a:t>
            </a:r>
            <a:r>
              <a:rPr kumimoji="1" lang="en-US" altLang="zh-CN">
                <a:solidFill>
                  <a:srgbClr val="EE0006"/>
                </a:solidFill>
              </a:rPr>
              <a:t> </a:t>
            </a:r>
            <a:r>
              <a:rPr kumimoji="1" lang="en-US" altLang="zh-CN" b="1" i="1">
                <a:solidFill>
                  <a:srgbClr val="EE0006"/>
                </a:solidFill>
                <a:sym typeface="Symbol" pitchFamily="18" charset="2"/>
              </a:rPr>
              <a:t>C = 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( A</a:t>
            </a:r>
            <a:r>
              <a:rPr kumimoji="1" lang="en-US" altLang="zh-CN" b="1" i="1">
                <a:solidFill>
                  <a:srgbClr val="EE0006"/>
                </a:solidFill>
                <a:sym typeface="Symbol" pitchFamily="18" charset="2"/>
              </a:rPr>
              <a:t> </a:t>
            </a:r>
            <a:r>
              <a:rPr lang="en-US" altLang="zh-CN" b="1">
                <a:solidFill>
                  <a:srgbClr val="EE0006"/>
                </a:solidFill>
              </a:rPr>
              <a:t>◦</a:t>
            </a:r>
            <a:r>
              <a:rPr kumimoji="1" lang="en-US" altLang="zh-CN">
                <a:solidFill>
                  <a:srgbClr val="EE0006"/>
                </a:solidFill>
              </a:rPr>
              <a:t> </a:t>
            </a:r>
            <a:r>
              <a:rPr kumimoji="1" lang="en-US" altLang="zh-CN" b="1" i="1">
                <a:solidFill>
                  <a:srgbClr val="EE0006"/>
                </a:solidFill>
                <a:sym typeface="Symbol" pitchFamily="18" charset="2"/>
              </a:rPr>
              <a:t>C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 ) </a:t>
            </a:r>
            <a:r>
              <a:rPr kumimoji="1" lang="en-US" altLang="en-US" b="1"/>
              <a:t>∪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( B</a:t>
            </a:r>
            <a:r>
              <a:rPr kumimoji="1" lang="en-US" altLang="zh-CN" b="1" i="1">
                <a:solidFill>
                  <a:srgbClr val="EE0006"/>
                </a:solidFill>
                <a:sym typeface="Symbol" pitchFamily="18" charset="2"/>
              </a:rPr>
              <a:t> </a:t>
            </a:r>
            <a:r>
              <a:rPr lang="en-US" altLang="zh-CN" b="1">
                <a:solidFill>
                  <a:srgbClr val="EE0006"/>
                </a:solidFill>
              </a:rPr>
              <a:t>◦</a:t>
            </a:r>
            <a:r>
              <a:rPr kumimoji="1" lang="en-US" altLang="zh-CN">
                <a:solidFill>
                  <a:srgbClr val="EE0006"/>
                </a:solidFill>
              </a:rPr>
              <a:t> </a:t>
            </a:r>
            <a:r>
              <a:rPr kumimoji="1" lang="en-US" altLang="zh-CN" b="1" i="1">
                <a:solidFill>
                  <a:srgbClr val="EE0006"/>
                </a:solidFill>
                <a:sym typeface="Symbol" pitchFamily="18" charset="2"/>
              </a:rPr>
              <a:t>C</a:t>
            </a:r>
            <a:r>
              <a:rPr kumimoji="1" lang="en-US" altLang="zh-CN" b="1">
                <a:solidFill>
                  <a:srgbClr val="EE0006"/>
                </a:solidFill>
                <a:sym typeface="Symbol" pitchFamily="18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1497391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B546884-A62D-489C-84D1-1CE596DDE3EF}" type="slidenum">
              <a:rPr lang="en-US" altLang="zh-CN"/>
              <a:pPr eaLnBrk="1" hangingPunct="1"/>
              <a:t>49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计算并证明： 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( A</a:t>
            </a:r>
            <a:r>
              <a:rPr kumimoji="1" lang="en-US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∪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B</a:t>
            </a:r>
            <a:r>
              <a:rPr kumimoji="1" lang="en-US" altLang="zh-CN" b="1" i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) </a:t>
            </a:r>
            <a:r>
              <a:rPr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◦</a:t>
            </a:r>
            <a:r>
              <a:rPr kumimoji="1" lang="en-US" altLang="zh-CN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kumimoji="1" lang="en-US" altLang="zh-CN" b="1" i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C = 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( A</a:t>
            </a:r>
            <a:r>
              <a:rPr kumimoji="1" lang="en-US" altLang="zh-CN" b="1" i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◦</a:t>
            </a:r>
            <a:r>
              <a:rPr kumimoji="1" lang="en-US" altLang="zh-CN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kumimoji="1" lang="en-US" altLang="zh-CN" b="1" i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C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 ) </a:t>
            </a:r>
            <a:r>
              <a:rPr kumimoji="1" lang="en-US" altLang="en-US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∪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( B</a:t>
            </a:r>
            <a:r>
              <a:rPr kumimoji="1" lang="en-US" altLang="zh-CN" b="1" i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◦</a:t>
            </a:r>
            <a:r>
              <a:rPr kumimoji="1" lang="en-US" altLang="zh-CN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kumimoji="1" lang="en-US" altLang="zh-CN" b="1" i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C</a:t>
            </a:r>
            <a:r>
              <a:rPr kumimoji="1" lang="en-US" altLang="zh-CN" b="1" dirty="0">
                <a:solidFill>
                  <a:srgbClr val="EE000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Symbol" pitchFamily="18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395669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E2018-76F4-4AD8-B671-709B9F62CE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27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057939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  <a:ea typeface="黑体" panose="02010609060101010101" pitchFamily="49" charset="-122"/>
              </a:defRPr>
            </a:lvl1pPr>
            <a:lvl2pPr>
              <a:defRPr sz="3200">
                <a:latin typeface="+mn-lt"/>
                <a:ea typeface="黑体" panose="02010609060101010101" pitchFamily="49" charset="-122"/>
              </a:defRPr>
            </a:lvl2pPr>
            <a:lvl3pPr>
              <a:defRPr sz="2800">
                <a:latin typeface="+mn-lt"/>
                <a:ea typeface="黑体" panose="02010609060101010101" pitchFamily="49" charset="-122"/>
              </a:defRPr>
            </a:lvl3pPr>
            <a:lvl4pPr>
              <a:defRPr sz="2400">
                <a:latin typeface="+mn-lt"/>
                <a:ea typeface="黑体" panose="02010609060101010101" pitchFamily="49" charset="-122"/>
              </a:defRPr>
            </a:lvl4pPr>
            <a:lvl5pPr>
              <a:defRPr sz="2400"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851D4-8D62-4BD7-8848-E433E5100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842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9CA41-3798-413A-8141-35CD787D1C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077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34A7D-A6BD-4D92-A553-E89764C86D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652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43C2A-15B6-4AA4-97A4-768B1A7133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598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44C69-3DCA-4D83-A7DB-C1032F348D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9699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2DEF3-CC22-46D7-B1CE-CC374960B9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35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18D53-C389-46D0-B877-5BD77D3FFA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60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41DDD-7526-415F-A1B8-B92C2EA0FF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7784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CC6D4-E30B-4B06-8F70-F9D87F8215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77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BFC7F-59F7-4D70-A96B-6B80F8FA3A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3428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9E3FA-AF98-4966-B5CC-734F8A4037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8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85EAC-6FAE-44AE-B9A5-47E3DC5EF4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7372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BD33E-19E4-47B8-8A35-264A4FB2E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217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C427201E-A276-4738-932E-4505F42FD6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5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12.wmf"/><Relationship Id="rId21" Type="http://schemas.openxmlformats.org/officeDocument/2006/relationships/image" Target="../media/image21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20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6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3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52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4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7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emf"/><Relationship Id="rId4" Type="http://schemas.openxmlformats.org/officeDocument/2006/relationships/oleObject" Target="../embeddings/oleObject5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3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e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6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6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8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2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68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67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71.bin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91.png"/><Relationship Id="rId4" Type="http://schemas.openxmlformats.org/officeDocument/2006/relationships/image" Target="../media/image86.wmf"/><Relationship Id="rId9" Type="http://schemas.openxmlformats.org/officeDocument/2006/relationships/image" Target="../media/image90.png"/><Relationship Id="rId14" Type="http://schemas.openxmlformats.org/officeDocument/2006/relationships/image" Target="../media/image8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oleObject" Target="../embeddings/oleObject75.bin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95.wmf"/><Relationship Id="rId9" Type="http://schemas.openxmlformats.org/officeDocument/2006/relationships/image" Target="../media/image80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99.wmf"/><Relationship Id="rId4" Type="http://schemas.openxmlformats.org/officeDocument/2006/relationships/oleObject" Target="../embeddings/oleObject7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105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10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audio" Target="../media/audio3.wav"/><Relationship Id="rId7" Type="http://schemas.openxmlformats.org/officeDocument/2006/relationships/image" Target="../media/image10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10.e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88.bin"/><Relationship Id="rId4" Type="http://schemas.openxmlformats.org/officeDocument/2006/relationships/audio" Target="../media/audio4.wav"/><Relationship Id="rId9" Type="http://schemas.openxmlformats.org/officeDocument/2006/relationships/image" Target="../media/image109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audio" Target="../media/audio3.wav"/><Relationship Id="rId7" Type="http://schemas.openxmlformats.org/officeDocument/2006/relationships/image" Target="../media/image11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13.e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90.bin"/><Relationship Id="rId4" Type="http://schemas.openxmlformats.org/officeDocument/2006/relationships/audio" Target="../media/audio4.wav"/><Relationship Id="rId9" Type="http://schemas.openxmlformats.org/officeDocument/2006/relationships/image" Target="../media/image112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32176" y="1828800"/>
            <a:ext cx="7083425" cy="2209800"/>
          </a:xfrm>
        </p:spPr>
        <p:txBody>
          <a:bodyPr/>
          <a:lstStyle/>
          <a:p>
            <a:pPr algn="ctr" eaLnBrk="1" hangingPunct="1"/>
            <a: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000" b="1" dirty="0">
                <a:solidFill>
                  <a:srgbClr val="F5E50F"/>
                </a:solidFill>
                <a:ea typeface="隶书" pitchFamily="49" charset="-122"/>
              </a:rPr>
              <a:t> </a:t>
            </a:r>
            <a:r>
              <a:rPr lang="en-US" altLang="zh-CN" sz="6000" b="1" dirty="0">
                <a:solidFill>
                  <a:srgbClr val="F5E50F"/>
                </a:solidFill>
                <a:ea typeface="隶书" pitchFamily="49" charset="-122"/>
              </a:rPr>
              <a:t>3 </a:t>
            </a:r>
            <a: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模糊关系与聚类分析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057A3AD-2A42-8317-D63E-E7D0512B253D}"/>
              </a:ext>
            </a:extLst>
          </p:cNvPr>
          <p:cNvSpPr txBox="1">
            <a:spLocks/>
          </p:cNvSpPr>
          <p:nvPr/>
        </p:nvSpPr>
        <p:spPr bwMode="auto">
          <a:xfrm>
            <a:off x="3432175" y="4320108"/>
            <a:ext cx="6048672" cy="24212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defRPr sz="3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ea typeface="黑体" pitchFamily="2" charset="-122"/>
              </a:rPr>
              <a:t>3.1   F</a:t>
            </a:r>
            <a:r>
              <a:rPr lang="zh-CN" altLang="en-US" sz="3200" dirty="0">
                <a:ea typeface="黑体" pitchFamily="2" charset="-122"/>
              </a:rPr>
              <a:t>关系的定义和表示</a:t>
            </a:r>
            <a:endParaRPr lang="en-US" altLang="zh-CN" sz="3200" dirty="0"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3200" kern="0" dirty="0">
                <a:ea typeface="黑体" pitchFamily="2" charset="-122"/>
              </a:rPr>
              <a:t>3.2   F</a:t>
            </a:r>
            <a:r>
              <a:rPr lang="zh-CN" altLang="en-US" sz="3200" kern="0" dirty="0">
                <a:ea typeface="黑体" pitchFamily="2" charset="-122"/>
              </a:rPr>
              <a:t>矩阵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kern="0" dirty="0">
                <a:ea typeface="黑体" pitchFamily="2" charset="-122"/>
              </a:rPr>
              <a:t>3.3  </a:t>
            </a:r>
            <a:r>
              <a:rPr lang="en-US" altLang="zh-CN" sz="3200" kern="0" dirty="0"/>
              <a:t> </a:t>
            </a:r>
            <a:r>
              <a:rPr lang="en-US" altLang="zh-CN" sz="3200" kern="0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3200" kern="0" dirty="0">
                <a:latin typeface="黑体" pitchFamily="2" charset="-122"/>
                <a:ea typeface="黑体" pitchFamily="2" charset="-122"/>
              </a:rPr>
              <a:t>关系的对称性与自反性</a:t>
            </a:r>
            <a:endParaRPr lang="en-US" altLang="zh-CN" sz="3200" kern="0" dirty="0"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3200" kern="0" dirty="0">
                <a:ea typeface="黑体" pitchFamily="2" charset="-122"/>
              </a:rPr>
              <a:t>3.4   </a:t>
            </a:r>
            <a:r>
              <a:rPr lang="el-GR" altLang="zh-CN" sz="3200" i="1" kern="0" dirty="0">
                <a:ea typeface="黑体" pitchFamily="2" charset="-122"/>
              </a:rPr>
              <a:t>λ</a:t>
            </a:r>
            <a:r>
              <a:rPr lang="zh-CN" altLang="en-US" sz="3200" kern="0" dirty="0">
                <a:ea typeface="黑体" pitchFamily="2" charset="-122"/>
              </a:rPr>
              <a:t>截矩阵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kern="0" dirty="0">
                <a:ea typeface="黑体" pitchFamily="2" charset="-122"/>
              </a:rPr>
              <a:t>3.5   F</a:t>
            </a:r>
            <a:r>
              <a:rPr lang="zh-CN" altLang="en-US" sz="3200" kern="0" dirty="0">
                <a:ea typeface="黑体" pitchFamily="2" charset="-122"/>
              </a:rPr>
              <a:t>关系的合成</a:t>
            </a:r>
            <a:endParaRPr lang="en-US" altLang="zh-CN" sz="3200" kern="0" dirty="0">
              <a:ea typeface="黑体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609E43F-E667-7115-034A-F95DF8FE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DE2018-76F4-4AD8-B671-709B9F62CE05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04664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3.1 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关系的定义和表示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557339"/>
            <a:ext cx="9937104" cy="51847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2" charset="-122"/>
              </a:rPr>
              <a:t>[</a:t>
            </a:r>
            <a:r>
              <a:rPr lang="zh-CN" altLang="en-US" sz="2800" dirty="0">
                <a:ea typeface="黑体" pitchFamily="2" charset="-122"/>
              </a:rPr>
              <a:t>定义</a:t>
            </a:r>
            <a:r>
              <a:rPr lang="en-US" altLang="zh-CN" sz="2800" dirty="0">
                <a:ea typeface="黑体" pitchFamily="2" charset="-122"/>
              </a:rPr>
              <a:t>]</a:t>
            </a:r>
            <a:r>
              <a:rPr lang="zh-CN" altLang="en-US" sz="2800" dirty="0">
                <a:ea typeface="黑体" pitchFamily="2" charset="-122"/>
              </a:rPr>
              <a:t>设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en-US" altLang="en-US" sz="2800" dirty="0">
                <a:ea typeface="黑体" pitchFamily="2" charset="-122"/>
              </a:rPr>
              <a:t>×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上的一个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子集，它的隶属函数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         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: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V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/>
              </a:rPr>
              <a:t> 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[0, 1]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              (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  |→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(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      确定了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中的</a:t>
            </a:r>
            <a:r>
              <a:rPr lang="zh-CN" altLang="en-US" sz="2800" u="sng" dirty="0">
                <a:ea typeface="黑体" pitchFamily="2" charset="-122"/>
              </a:rPr>
              <a:t>元素</a:t>
            </a:r>
            <a:r>
              <a:rPr lang="en-US" altLang="zh-CN" sz="2800" i="1" u="sng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与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中的</a:t>
            </a:r>
            <a:r>
              <a:rPr lang="zh-CN" altLang="en-US" sz="2800" u="sng" dirty="0">
                <a:ea typeface="黑体" pitchFamily="2" charset="-122"/>
              </a:rPr>
              <a:t>元素</a:t>
            </a:r>
            <a:r>
              <a:rPr lang="en-US" altLang="zh-CN" sz="2800" i="1" u="sng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的关系程度，则称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zh-CN" altLang="en-US" sz="2800" dirty="0">
                <a:ea typeface="黑体" pitchFamily="2" charset="-122"/>
              </a:rPr>
              <a:t>为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到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的一个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关系</a:t>
            </a:r>
            <a:r>
              <a:rPr lang="zh-CN" altLang="en-US" sz="2800" dirty="0">
                <a:ea typeface="黑体" pitchFamily="2" charset="-122"/>
              </a:rPr>
              <a:t>，记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可见，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关系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由隶属函数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: 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→[0, 1]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所刻画</a:t>
            </a:r>
          </a:p>
          <a:p>
            <a:pPr eaLnBrk="1" hangingPunct="1"/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反之，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关系也是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上的一个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集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所有从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en-US" altLang="zh-CN" sz="2800" dirty="0">
                <a:ea typeface="黑体" pitchFamily="2" charset="-122"/>
              </a:rPr>
              <a:t>×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得到的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关系的集合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可记为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en-US" altLang="zh-CN" sz="2800" dirty="0">
                <a:ea typeface="黑体" pitchFamily="2" charset="-122"/>
              </a:rPr>
              <a:t>×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en-US" altLang="zh-CN" sz="2800" dirty="0">
                <a:ea typeface="黑体" pitchFamily="2" charset="-122"/>
              </a:rPr>
              <a:t>)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表示从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上的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关系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en-US" altLang="zh-CN" sz="2800" i="1" dirty="0">
                <a:solidFill>
                  <a:srgbClr val="008000"/>
                </a:solidFill>
                <a:ea typeface="黑体" pitchFamily="2" charset="-122"/>
              </a:rPr>
              <a:t>U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上的二元关系</a:t>
            </a:r>
            <a:r>
              <a:rPr lang="en-US" altLang="zh-CN" sz="2800" dirty="0">
                <a:ea typeface="黑体" pitchFamily="2" charset="-122"/>
              </a:rPr>
              <a:t>)</a:t>
            </a:r>
          </a:p>
        </p:txBody>
      </p:sp>
      <p:graphicFrame>
        <p:nvGraphicFramePr>
          <p:cNvPr id="2867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489817"/>
              </p:ext>
            </p:extLst>
          </p:nvPr>
        </p:nvGraphicFramePr>
        <p:xfrm>
          <a:off x="5375920" y="3856038"/>
          <a:ext cx="194468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72808" imgH="203112" progId="Equation.3">
                  <p:embed/>
                </p:oleObj>
              </mc:Choice>
              <mc:Fallback>
                <p:oleObj name="公式" r:id="rId3" imgW="672808" imgH="203112" progId="Equation.3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3856038"/>
                        <a:ext cx="1944688" cy="587375"/>
                      </a:xfrm>
                      <a:prstGeom prst="rect">
                        <a:avLst/>
                      </a:prstGeom>
                      <a:solidFill>
                        <a:srgbClr val="CACA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D4AE1C-C291-2706-C745-EBEBCE708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8070A52-515F-0F49-ECFA-1A1C71C83A05}"/>
              </a:ext>
            </a:extLst>
          </p:cNvPr>
          <p:cNvSpPr/>
          <p:nvPr/>
        </p:nvSpPr>
        <p:spPr>
          <a:xfrm>
            <a:off x="5880720" y="5400835"/>
            <a:ext cx="1224136" cy="651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CA3DFC-BA3C-ED08-99B0-CAB73B6601BB}"/>
              </a:ext>
            </a:extLst>
          </p:cNvPr>
          <p:cNvSpPr/>
          <p:nvPr/>
        </p:nvSpPr>
        <p:spPr>
          <a:xfrm>
            <a:off x="7104682" y="3508539"/>
            <a:ext cx="1224136" cy="651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983432" y="1268414"/>
            <a:ext cx="101531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设：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身高论域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X</a:t>
            </a:r>
            <a:r>
              <a:rPr kumimoji="1" lang="en-US" altLang="zh-CN" sz="3200" i="1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={140, 150, 160, 170, 180} (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单位：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cm), </a:t>
            </a:r>
          </a:p>
          <a:p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       </a:t>
            </a:r>
            <a:r>
              <a:rPr kumimoji="1" lang="zh-CN" altLang="en-US" sz="3200" dirty="0">
                <a:solidFill>
                  <a:srgbClr val="CC00CC"/>
                </a:solidFill>
                <a:ea typeface="黑体" pitchFamily="2" charset="-122"/>
              </a:rPr>
              <a:t>体重论域</a:t>
            </a:r>
            <a:r>
              <a:rPr kumimoji="1" lang="en-US" altLang="zh-CN" sz="3200" i="1" dirty="0">
                <a:solidFill>
                  <a:srgbClr val="CC00CC"/>
                </a:solidFill>
                <a:ea typeface="黑体" pitchFamily="2" charset="-122"/>
              </a:rPr>
              <a:t>Y 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={40, 50, 60, 70, 80}(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单位：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kg)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，</a:t>
            </a:r>
            <a:endParaRPr kumimoji="1" lang="en-US" altLang="zh-CN" sz="3200" dirty="0">
              <a:solidFill>
                <a:schemeClr val="bg2"/>
              </a:solidFill>
              <a:ea typeface="黑体" pitchFamily="2" charset="-122"/>
            </a:endParaRPr>
          </a:p>
          <a:p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下表给出了</a:t>
            </a:r>
            <a:r>
              <a:rPr kumimoji="1" lang="zh-CN" altLang="en-US" sz="3200" u="sng" dirty="0">
                <a:solidFill>
                  <a:srgbClr val="FF0000"/>
                </a:solidFill>
                <a:ea typeface="黑体" pitchFamily="2" charset="-122"/>
              </a:rPr>
              <a:t>身高</a:t>
            </a:r>
            <a:r>
              <a:rPr kumimoji="1" lang="zh-CN" altLang="en-US" sz="3200" u="sng" dirty="0">
                <a:solidFill>
                  <a:schemeClr val="bg2"/>
                </a:solidFill>
                <a:ea typeface="黑体" pitchFamily="2" charset="-122"/>
              </a:rPr>
              <a:t>与</a:t>
            </a:r>
            <a:r>
              <a:rPr kumimoji="1" lang="zh-CN" altLang="en-US" sz="3200" u="sng" dirty="0">
                <a:solidFill>
                  <a:srgbClr val="CC00CC"/>
                </a:solidFill>
                <a:ea typeface="黑体" pitchFamily="2" charset="-122"/>
              </a:rPr>
              <a:t>体重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的模糊关系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.</a:t>
            </a:r>
          </a:p>
        </p:txBody>
      </p:sp>
      <p:graphicFrame>
        <p:nvGraphicFramePr>
          <p:cNvPr id="38970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743137"/>
              </p:ext>
            </p:extLst>
          </p:nvPr>
        </p:nvGraphicFramePr>
        <p:xfrm>
          <a:off x="2281064" y="2915860"/>
          <a:ext cx="7199312" cy="3756026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775" name="Rectangle 55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关系举例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endParaRPr lang="en-US" altLang="zh-CN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22C721-94C5-4F99-A750-3D7C4C354B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89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2657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关系举例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2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340769"/>
            <a:ext cx="10297143" cy="53736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X</a:t>
            </a:r>
            <a:r>
              <a:rPr lang="en-US" altLang="zh-CN" dirty="0">
                <a:ea typeface="黑体" pitchFamily="2" charset="-122"/>
                <a:sym typeface="Symbol"/>
              </a:rPr>
              <a:t>=</a:t>
            </a:r>
            <a:r>
              <a:rPr lang="en-US" altLang="zh-CN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是实数集，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直积</a:t>
            </a:r>
            <a:r>
              <a:rPr lang="en-US" altLang="zh-CN" dirty="0">
                <a:ea typeface="黑体" pitchFamily="2" charset="-122"/>
              </a:rPr>
              <a:t>X</a:t>
            </a:r>
            <a:r>
              <a:rPr lang="en-US" altLang="zh-CN" dirty="0">
                <a:ea typeface="黑体" pitchFamily="2" charset="-122"/>
                <a:sym typeface="Symbol"/>
              </a:rPr>
              <a:t></a:t>
            </a:r>
            <a:r>
              <a:rPr lang="en-US" altLang="zh-CN" dirty="0">
                <a:ea typeface="黑体" pitchFamily="2" charset="-122"/>
              </a:rPr>
              <a:t>Y</a:t>
            </a:r>
            <a:r>
              <a:rPr lang="zh-CN" altLang="en-US" dirty="0">
                <a:ea typeface="黑体" pitchFamily="2" charset="-122"/>
              </a:rPr>
              <a:t>是整个平面。</a:t>
            </a:r>
            <a:endParaRPr lang="en-US" altLang="zh-CN" dirty="0">
              <a:ea typeface="黑体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(a)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R(</a:t>
            </a:r>
            <a:r>
              <a:rPr lang="en-US" altLang="zh-CN" dirty="0" err="1">
                <a:solidFill>
                  <a:srgbClr val="3333FF"/>
                </a:solidFill>
                <a:ea typeface="黑体" pitchFamily="2" charset="-122"/>
              </a:rPr>
              <a:t>x,y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)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：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”x&gt;y” </a:t>
            </a: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(b)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R(</a:t>
            </a:r>
            <a:r>
              <a:rPr lang="en-US" altLang="zh-CN" dirty="0" err="1">
                <a:solidFill>
                  <a:srgbClr val="CC00CC"/>
                </a:solidFill>
                <a:ea typeface="黑体" pitchFamily="2" charset="-122"/>
              </a:rPr>
              <a:t>x,y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)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：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”x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远大于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y”</a:t>
            </a:r>
            <a:endParaRPr lang="zh-CN" altLang="en-US" dirty="0">
              <a:solidFill>
                <a:srgbClr val="CC00CC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ea typeface="黑体" pitchFamily="2" charset="-122"/>
            </a:endParaRPr>
          </a:p>
          <a:p>
            <a:pPr eaLnBrk="1" hangingPunct="1"/>
            <a:endParaRPr lang="zh-CN" altLang="en-US" dirty="0">
              <a:ea typeface="黑体" pitchFamily="2" charset="-122"/>
            </a:endParaRPr>
          </a:p>
        </p:txBody>
      </p:sp>
      <p:graphicFrame>
        <p:nvGraphicFramePr>
          <p:cNvPr id="3072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0" y="1977501"/>
          <a:ext cx="4655762" cy="16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761760" progId="Equation.DSMT4">
                  <p:embed/>
                </p:oleObj>
              </mc:Choice>
              <mc:Fallback>
                <p:oleObj name="Equation" r:id="rId2" imgW="2095200" imgH="761760" progId="Equation.DSMT4">
                  <p:embed/>
                  <p:pic>
                    <p:nvPicPr>
                      <p:cNvPr id="30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77501"/>
                        <a:ext cx="4655762" cy="1693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524000" y="3425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52600" y="38301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644900"/>
            <a:ext cx="3035300" cy="312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364" y="3830122"/>
            <a:ext cx="4165034" cy="3033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14"/>
          <p:cNvSpPr>
            <a:spLocks noChangeArrowheads="1"/>
          </p:cNvSpPr>
          <p:nvPr/>
        </p:nvSpPr>
        <p:spPr bwMode="auto">
          <a:xfrm>
            <a:off x="8039571" y="5804619"/>
            <a:ext cx="720725" cy="7207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15B286-0112-164B-52E1-A4CA4039FB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关系举例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9572" y="1472440"/>
            <a:ext cx="10009111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: </a:t>
            </a: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U={u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2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3</a:t>
            </a:r>
            <a:r>
              <a:rPr lang="en-US" altLang="zh-CN" dirty="0">
                <a:ea typeface="黑体" pitchFamily="2" charset="-122"/>
              </a:rPr>
              <a:t>}</a:t>
            </a:r>
            <a:r>
              <a:rPr lang="zh-CN" altLang="en-US" dirty="0">
                <a:ea typeface="黑体" pitchFamily="2" charset="-122"/>
              </a:rPr>
              <a:t>，表示三个人的集合，</a:t>
            </a:r>
            <a:endParaRPr lang="en-US" altLang="zh-CN" dirty="0">
              <a:ea typeface="黑体" pitchFamily="2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ea typeface="黑体" pitchFamily="2" charset="-122"/>
              </a:rPr>
              <a:t>         R</a:t>
            </a:r>
            <a:r>
              <a:rPr lang="zh-CN" altLang="en-US" dirty="0">
                <a:ea typeface="黑体" pitchFamily="2" charset="-122"/>
              </a:rPr>
              <a:t>表示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信任关系</a:t>
            </a:r>
            <a:r>
              <a:rPr lang="zh-CN" altLang="en-US" dirty="0">
                <a:ea typeface="黑体" pitchFamily="2" charset="-122"/>
              </a:rPr>
              <a:t>，且有</a:t>
            </a:r>
          </a:p>
          <a:p>
            <a:pPr eaLnBrk="1" hangingPunct="1"/>
            <a:endParaRPr lang="zh-CN" altLang="en-US" sz="2800" dirty="0">
              <a:ea typeface="黑体" pitchFamily="2" charset="-122"/>
            </a:endParaRPr>
          </a:p>
          <a:p>
            <a:pPr eaLnBrk="1" hangingPunct="1"/>
            <a:endParaRPr lang="zh-CN" altLang="en-US" sz="16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                     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表示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),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是 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对 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的信任程度。</a:t>
            </a:r>
            <a:endParaRPr lang="en-US" altLang="zh-CN" sz="2800" dirty="0">
              <a:solidFill>
                <a:srgbClr val="3333FF"/>
              </a:solidFill>
              <a:latin typeface="Times New Roman" panose="02020603050405020304" pitchFamily="18" charset="0"/>
              <a:ea typeface="黑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748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911460845"/>
              </p:ext>
            </p:extLst>
          </p:nvPr>
        </p:nvGraphicFramePr>
        <p:xfrm>
          <a:off x="1381180" y="3364359"/>
          <a:ext cx="9658575" cy="114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44900" imgH="431800" progId="Equation.3">
                  <p:embed/>
                </p:oleObj>
              </mc:Choice>
              <mc:Fallback>
                <p:oleObj name="公式" r:id="rId2" imgW="3644900" imgH="431800" progId="Equation.3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80" y="3364359"/>
                        <a:ext cx="9658575" cy="1144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087765"/>
              </p:ext>
            </p:extLst>
          </p:nvPr>
        </p:nvGraphicFramePr>
        <p:xfrm>
          <a:off x="2135560" y="4723660"/>
          <a:ext cx="1188517" cy="115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391" imgH="469696" progId="Equation.3">
                  <p:embed/>
                </p:oleObj>
              </mc:Choice>
              <mc:Fallback>
                <p:oleObj name="公式" r:id="rId4" imgW="482391" imgH="469696" progId="Equation.3">
                  <p:embed/>
                  <p:pic>
                    <p:nvPicPr>
                      <p:cNvPr id="31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723660"/>
                        <a:ext cx="1188517" cy="115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07A57D-D1D9-1DC4-3CB4-F7C75F5569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510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用图表示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关系及举例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58851" y="1412876"/>
            <a:ext cx="9961685" cy="4987923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:</a:t>
            </a: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U={u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2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3</a:t>
            </a:r>
            <a:r>
              <a:rPr lang="en-US" altLang="zh-CN" dirty="0">
                <a:ea typeface="黑体" pitchFamily="2" charset="-122"/>
              </a:rPr>
              <a:t>}</a:t>
            </a:r>
            <a:r>
              <a:rPr lang="zh-CN" altLang="en-US" dirty="0">
                <a:ea typeface="黑体" pitchFamily="2" charset="-122"/>
              </a:rPr>
              <a:t>，表示三个人的集合，</a:t>
            </a:r>
            <a:r>
              <a:rPr lang="en-US" altLang="zh-CN" dirty="0">
                <a:ea typeface="黑体" pitchFamily="2" charset="-122"/>
              </a:rPr>
              <a:t>R</a:t>
            </a:r>
            <a:r>
              <a:rPr lang="zh-CN" altLang="en-US" dirty="0">
                <a:ea typeface="黑体" pitchFamily="2" charset="-122"/>
              </a:rPr>
              <a:t>表示信任关系，且有</a:t>
            </a:r>
          </a:p>
          <a:p>
            <a:pPr eaLnBrk="1" hangingPunct="1"/>
            <a:endParaRPr lang="zh-CN" altLang="en-US" sz="4000" dirty="0">
              <a:ea typeface="黑体" pitchFamily="2" charset="-12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关系图表示方法</a:t>
            </a:r>
          </a:p>
          <a:p>
            <a:pPr lvl="1" eaLnBrk="1" hangingPunct="1"/>
            <a:r>
              <a:rPr lang="zh-CN" altLang="en-US" sz="3200" b="1" dirty="0">
                <a:ea typeface="楷体_GB2312" pitchFamily="49" charset="-122"/>
              </a:rPr>
              <a:t>用小圆圈表示关系中的元素</a:t>
            </a:r>
            <a:r>
              <a:rPr lang="en-US" altLang="zh-CN" sz="3200" b="1" dirty="0">
                <a:ea typeface="楷体_GB2312" pitchFamily="49" charset="-122"/>
              </a:rPr>
              <a:t>(</a:t>
            </a:r>
            <a:r>
              <a:rPr lang="zh-CN" altLang="en-US" sz="3200" b="1" dirty="0">
                <a:ea typeface="楷体_GB2312" pitchFamily="49" charset="-122"/>
              </a:rPr>
              <a:t>结点</a:t>
            </a:r>
            <a:r>
              <a:rPr lang="en-US" altLang="zh-CN" sz="3200" b="1" dirty="0">
                <a:ea typeface="楷体_GB2312" pitchFamily="49" charset="-122"/>
              </a:rPr>
              <a:t>)</a:t>
            </a:r>
          </a:p>
          <a:p>
            <a:pPr lvl="1" eaLnBrk="1" hangingPunct="1"/>
            <a:r>
              <a:rPr lang="zh-CN" altLang="en-US" sz="3200" b="1" dirty="0">
                <a:ea typeface="楷体_GB2312" pitchFamily="49" charset="-122"/>
              </a:rPr>
              <a:t>用一根有向线表示关系</a:t>
            </a:r>
            <a:r>
              <a:rPr lang="en-US" altLang="zh-CN" sz="3200" b="1" dirty="0">
                <a:ea typeface="楷体_GB2312" pitchFamily="49" charset="-122"/>
              </a:rPr>
              <a:t>(</a:t>
            </a:r>
            <a:r>
              <a:rPr lang="zh-CN" altLang="en-US" sz="3200" b="1" dirty="0">
                <a:ea typeface="楷体_GB2312" pitchFamily="49" charset="-122"/>
              </a:rPr>
              <a:t>边</a:t>
            </a:r>
            <a:r>
              <a:rPr lang="en-US" altLang="zh-CN" sz="3200" b="1" dirty="0">
                <a:ea typeface="楷体_GB2312" pitchFamily="49" charset="-122"/>
              </a:rPr>
              <a:t>)</a:t>
            </a:r>
          </a:p>
          <a:p>
            <a:pPr lvl="1" eaLnBrk="1" hangingPunct="1"/>
            <a:r>
              <a:rPr lang="zh-CN" altLang="en-US" sz="3200" b="1" dirty="0">
                <a:solidFill>
                  <a:schemeClr val="bg2"/>
                </a:solidFill>
                <a:ea typeface="楷体_GB2312" pitchFamily="49" charset="-122"/>
              </a:rPr>
              <a:t>线上标出相应关系的隶属度</a:t>
            </a:r>
            <a:endParaRPr lang="zh-CN" altLang="en-US" sz="3200" b="1" dirty="0">
              <a:ea typeface="楷体_GB2312" pitchFamily="49" charset="-122"/>
            </a:endParaRPr>
          </a:p>
          <a:p>
            <a:pPr lvl="1" eaLnBrk="1" hangingPunct="1"/>
            <a:endParaRPr lang="en-US" altLang="zh-CN" sz="2400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3598411"/>
            <a:ext cx="3960166" cy="3241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773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9793637"/>
              </p:ext>
            </p:extLst>
          </p:nvPr>
        </p:nvGraphicFramePr>
        <p:xfrm>
          <a:off x="1925699" y="2714245"/>
          <a:ext cx="80279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644900" imgH="431800" progId="Equation.3">
                  <p:embed/>
                </p:oleObj>
              </mc:Choice>
              <mc:Fallback>
                <p:oleObj name="公式" r:id="rId3" imgW="3644900" imgH="431800" progId="Equation.3">
                  <p:embed/>
                  <p:pic>
                    <p:nvPicPr>
                      <p:cNvPr id="32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99" y="2714245"/>
                        <a:ext cx="80279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DB9DA0-A48C-9693-0371-DA7534124E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8317" y="6382455"/>
            <a:ext cx="661864" cy="457200"/>
          </a:xfrm>
        </p:spPr>
        <p:txBody>
          <a:bodyPr/>
          <a:lstStyle/>
          <a:p>
            <a:pPr>
              <a:defRPr/>
            </a:pPr>
            <a:fld id="{26C85EAC-6FAE-44AE-B9A5-47E3DC5EF4EF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+mn-lt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关系的运算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6"/>
            <a:ext cx="8002588" cy="5445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ea typeface="黑体" pitchFamily="2" charset="-122"/>
                <a:sym typeface="Symbol" pitchFamily="18" charset="2"/>
              </a:rPr>
              <a:t>设</a:t>
            </a:r>
            <a:r>
              <a:rPr lang="en-US" altLang="zh-CN" sz="3600" dirty="0">
                <a:ea typeface="黑体" pitchFamily="2" charset="-122"/>
                <a:sym typeface="Symbol" pitchFamily="18" charset="2"/>
              </a:rPr>
              <a:t>R</a:t>
            </a:r>
            <a:r>
              <a:rPr lang="zh-CN" altLang="en-US" sz="36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3600" dirty="0">
                <a:ea typeface="黑体" pitchFamily="2" charset="-122"/>
                <a:sym typeface="Symbol" pitchFamily="18" charset="2"/>
              </a:rPr>
              <a:t>S </a:t>
            </a:r>
            <a:r>
              <a:rPr kumimoji="1" lang="en-US" altLang="zh-CN" dirty="0"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(U×V</a:t>
            </a:r>
            <a:r>
              <a:rPr lang="en-US" altLang="zh-CN" sz="3600" dirty="0"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sz="3600" dirty="0">
                <a:ea typeface="黑体" pitchFamily="2" charset="-122"/>
                <a:sym typeface="Symbol" pitchFamily="18" charset="2"/>
              </a:rPr>
              <a:t>，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)  U×V</a:t>
            </a:r>
            <a:endParaRPr lang="en-US" altLang="zh-CN" dirty="0">
              <a:ea typeface="黑体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相等</a:t>
            </a:r>
            <a:r>
              <a:rPr lang="zh-CN" altLang="en-US" sz="3200" dirty="0">
                <a:ea typeface="黑体" pitchFamily="2" charset="-122"/>
              </a:rPr>
              <a:t>         </a:t>
            </a:r>
            <a:r>
              <a:rPr lang="en-US" altLang="zh-CN" sz="3200" dirty="0">
                <a:ea typeface="黑体" pitchFamily="2" charset="-122"/>
              </a:rPr>
              <a:t>R = S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 R(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 = S(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</a:t>
            </a:r>
            <a:endParaRPr lang="en-US" altLang="zh-CN" sz="3200" dirty="0">
              <a:ea typeface="黑体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包含</a:t>
            </a:r>
            <a:r>
              <a:rPr lang="zh-CN" altLang="en-US" sz="3200" dirty="0">
                <a:ea typeface="黑体" pitchFamily="2" charset="-122"/>
              </a:rPr>
              <a:t>         </a:t>
            </a:r>
            <a:r>
              <a:rPr lang="en-US" altLang="zh-CN" sz="3200" dirty="0">
                <a:ea typeface="黑体" pitchFamily="2" charset="-122"/>
              </a:rPr>
              <a:t>R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 S</a:t>
            </a:r>
            <a:r>
              <a:rPr lang="en-US" altLang="zh-CN" sz="3200" dirty="0">
                <a:ea typeface="黑体" pitchFamily="2" charset="-12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 R(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 ≤ S(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 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并</a:t>
            </a:r>
            <a:r>
              <a:rPr lang="zh-CN" altLang="en-US" sz="3200" dirty="0">
                <a:ea typeface="黑体" pitchFamily="2" charset="-122"/>
              </a:rPr>
              <a:t>      </a:t>
            </a:r>
            <a:r>
              <a:rPr lang="en-US" altLang="zh-CN" sz="3200" dirty="0">
                <a:ea typeface="黑体" pitchFamily="2" charset="-122"/>
              </a:rPr>
              <a:t>(R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</a:t>
            </a:r>
            <a:r>
              <a:rPr lang="en-US" altLang="zh-CN" sz="3200" dirty="0">
                <a:ea typeface="黑体" pitchFamily="2" charset="-122"/>
              </a:rPr>
              <a:t>)(</a:t>
            </a:r>
            <a:r>
              <a:rPr lang="en-US" altLang="zh-CN" sz="3200" dirty="0" err="1">
                <a:ea typeface="黑体" pitchFamily="2" charset="-122"/>
              </a:rPr>
              <a:t>u,v</a:t>
            </a:r>
            <a:r>
              <a:rPr lang="en-US" altLang="zh-CN" sz="3200" dirty="0">
                <a:ea typeface="黑体" pitchFamily="2" charset="-122"/>
              </a:rPr>
              <a:t>) = R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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交</a:t>
            </a:r>
            <a:r>
              <a:rPr lang="zh-CN" altLang="en-US" sz="3200" dirty="0">
                <a:ea typeface="黑体" pitchFamily="2" charset="-122"/>
              </a:rPr>
              <a:t>      </a:t>
            </a:r>
            <a:r>
              <a:rPr lang="en-US" altLang="zh-CN" sz="3200" dirty="0">
                <a:ea typeface="黑体" pitchFamily="2" charset="-122"/>
              </a:rPr>
              <a:t>(R</a:t>
            </a:r>
            <a:r>
              <a:rPr lang="en-US" altLang="zh-CN" sz="3200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</a:t>
            </a:r>
            <a:r>
              <a:rPr lang="en-US" altLang="zh-CN" sz="3200" dirty="0">
                <a:ea typeface="黑体" pitchFamily="2" charset="-122"/>
              </a:rPr>
              <a:t>)(</a:t>
            </a:r>
            <a:r>
              <a:rPr lang="en-US" altLang="zh-CN" sz="3200" dirty="0" err="1">
                <a:ea typeface="黑体" pitchFamily="2" charset="-122"/>
              </a:rPr>
              <a:t>u,v</a:t>
            </a:r>
            <a:r>
              <a:rPr lang="en-US" altLang="zh-CN" sz="3200" dirty="0">
                <a:ea typeface="黑体" pitchFamily="2" charset="-122"/>
              </a:rPr>
              <a:t>) = R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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</a:t>
            </a:r>
          </a:p>
          <a:p>
            <a:pPr lvl="1" eaLnBrk="1" hangingPunct="1">
              <a:lnSpc>
                <a:spcPct val="150000"/>
              </a:lnSpc>
            </a:pP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余</a:t>
            </a:r>
            <a:r>
              <a:rPr kumimoji="1" lang="zh-CN" altLang="en-US" sz="3200" dirty="0">
                <a:ea typeface="黑体" pitchFamily="2" charset="-122"/>
                <a:sym typeface="Symbol" pitchFamily="18" charset="2"/>
              </a:rPr>
              <a:t>            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sz="3200" baseline="30000" dirty="0" err="1">
                <a:ea typeface="黑体" pitchFamily="2" charset="-122"/>
              </a:rPr>
              <a:t>c</a:t>
            </a:r>
            <a:r>
              <a:rPr lang="en-US" altLang="zh-CN" sz="3200" dirty="0">
                <a:ea typeface="黑体" pitchFamily="2" charset="-122"/>
              </a:rPr>
              <a:t>(</a:t>
            </a:r>
            <a:r>
              <a:rPr lang="en-US" altLang="zh-CN" sz="3200" dirty="0" err="1">
                <a:ea typeface="黑体" pitchFamily="2" charset="-122"/>
              </a:rPr>
              <a:t>u,v</a:t>
            </a:r>
            <a:r>
              <a:rPr lang="en-US" altLang="zh-CN" sz="3200" dirty="0">
                <a:ea typeface="黑体" pitchFamily="2" charset="-122"/>
              </a:rPr>
              <a:t>) = 1- R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3200" dirty="0" err="1">
                <a:ea typeface="黑体" pitchFamily="2" charset="-122"/>
                <a:sym typeface="Symbol" pitchFamily="18" charset="2"/>
              </a:rPr>
              <a:t>u,v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endParaRPr kumimoji="1" lang="en-US" altLang="zh-CN" sz="1000" dirty="0">
              <a:ea typeface="黑体" pitchFamily="2" charset="-122"/>
              <a:sym typeface="Symbol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5B5D0E-EB0B-D84C-E787-CCB8442995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C85EAC-6FAE-44AE-B9A5-47E3DC5EF4EF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1667000" y="5804619"/>
            <a:ext cx="4176712" cy="72072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99456" y="1556916"/>
            <a:ext cx="9011344" cy="453072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分解定理</a:t>
            </a:r>
            <a:endParaRPr lang="ja-JP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4" name="AutoShape 8"/>
          <p:cNvSpPr>
            <a:spLocks noChangeArrowheads="1"/>
          </p:cNvSpPr>
          <p:nvPr/>
        </p:nvSpPr>
        <p:spPr bwMode="auto">
          <a:xfrm>
            <a:off x="1493426" y="2315993"/>
            <a:ext cx="3384451" cy="719137"/>
          </a:xfrm>
          <a:prstGeom prst="wedgeEllipseCallout">
            <a:avLst>
              <a:gd name="adj1" fmla="val 20028"/>
              <a:gd name="adj2" fmla="val 1007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普通二元关系</a:t>
            </a: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1667000" y="4869581"/>
            <a:ext cx="4176712" cy="7207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37" y="5014043"/>
            <a:ext cx="35433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37" y="5950668"/>
            <a:ext cx="35433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1524000" y="341059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678" y="4366343"/>
            <a:ext cx="1971675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1728664" y="410123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ja-JP" sz="2400">
                <a:latin typeface="Century" pitchFamily="18" charset="0"/>
                <a:ea typeface="ＭＳ 明朝" pitchFamily="17" charset="-128"/>
                <a:cs typeface="Times New Roman" pitchFamily="18" charset="0"/>
              </a:rPr>
              <a:t> </a:t>
            </a:r>
            <a:endParaRPr lang="en-US" altLang="ja-JP">
              <a:ea typeface="ＭＳ 明朝" pitchFamily="17" charset="-128"/>
              <a:cs typeface="Times New Roman" pitchFamily="18" charset="0"/>
            </a:endParaRPr>
          </a:p>
        </p:txBody>
      </p:sp>
      <p:grpSp>
        <p:nvGrpSpPr>
          <p:cNvPr id="29717" name="Group 21"/>
          <p:cNvGrpSpPr>
            <a:grpSpLocks/>
          </p:cNvGrpSpPr>
          <p:nvPr/>
        </p:nvGrpSpPr>
        <p:grpSpPr bwMode="auto">
          <a:xfrm>
            <a:off x="6059614" y="4993356"/>
            <a:ext cx="4103688" cy="523875"/>
            <a:chOff x="3606" y="2614"/>
            <a:chExt cx="2585" cy="330"/>
          </a:xfrm>
        </p:grpSpPr>
        <p:sp>
          <p:nvSpPr>
            <p:cNvPr id="29711" name="AutoShape 15"/>
            <p:cNvSpPr>
              <a:spLocks noChangeArrowheads="1"/>
            </p:cNvSpPr>
            <p:nvPr/>
          </p:nvSpPr>
          <p:spPr bwMode="auto">
            <a:xfrm>
              <a:off x="3606" y="2728"/>
              <a:ext cx="273" cy="136"/>
            </a:xfrm>
            <a:prstGeom prst="rightArrow">
              <a:avLst>
                <a:gd name="adj1" fmla="val 50000"/>
                <a:gd name="adj2" fmla="val 5018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Text Box 16"/>
            <p:cNvSpPr txBox="1">
              <a:spLocks noChangeArrowheads="1"/>
            </p:cNvSpPr>
            <p:nvPr/>
          </p:nvSpPr>
          <p:spPr bwMode="auto">
            <a:xfrm>
              <a:off x="3969" y="2614"/>
              <a:ext cx="222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u,v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在 </a:t>
              </a:r>
              <a:r>
                <a:rPr lang="en-US" altLang="ja-JP" sz="28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 水平上有关</a:t>
              </a:r>
              <a:endParaRPr lang="ja-JP" altLang="en-US" sz="28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718" name="Group 22"/>
          <p:cNvGrpSpPr>
            <a:grpSpLocks/>
          </p:cNvGrpSpPr>
          <p:nvPr/>
        </p:nvGrpSpPr>
        <p:grpSpPr bwMode="auto">
          <a:xfrm>
            <a:off x="6059613" y="5949082"/>
            <a:ext cx="4175126" cy="523875"/>
            <a:chOff x="3606" y="3294"/>
            <a:chExt cx="2630" cy="330"/>
          </a:xfrm>
        </p:grpSpPr>
        <p:sp>
          <p:nvSpPr>
            <p:cNvPr id="29714" name="AutoShape 18"/>
            <p:cNvSpPr>
              <a:spLocks noChangeArrowheads="1"/>
            </p:cNvSpPr>
            <p:nvPr/>
          </p:nvSpPr>
          <p:spPr bwMode="auto">
            <a:xfrm>
              <a:off x="3606" y="3407"/>
              <a:ext cx="273" cy="136"/>
            </a:xfrm>
            <a:prstGeom prst="rightArrow">
              <a:avLst>
                <a:gd name="adj1" fmla="val 50000"/>
                <a:gd name="adj2" fmla="val 5018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Text Box 19"/>
            <p:cNvSpPr txBox="1">
              <a:spLocks noChangeArrowheads="1"/>
            </p:cNvSpPr>
            <p:nvPr/>
          </p:nvSpPr>
          <p:spPr bwMode="auto">
            <a:xfrm>
              <a:off x="4014" y="3294"/>
              <a:ext cx="222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u,v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在 </a:t>
              </a:r>
              <a:r>
                <a:rPr lang="en-US" altLang="ja-JP" sz="28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 水平上无关</a:t>
              </a:r>
            </a:p>
          </p:txBody>
        </p:sp>
      </p:grpSp>
      <p:sp>
        <p:nvSpPr>
          <p:cNvPr id="29719" name="AutoShape 23"/>
          <p:cNvSpPr>
            <a:spLocks noChangeArrowheads="1"/>
          </p:cNvSpPr>
          <p:nvPr/>
        </p:nvSpPr>
        <p:spPr bwMode="auto">
          <a:xfrm>
            <a:off x="8934623" y="3910774"/>
            <a:ext cx="3257377" cy="981916"/>
          </a:xfrm>
          <a:prstGeom prst="wedgeRectCallout">
            <a:avLst>
              <a:gd name="adj1" fmla="val -43653"/>
              <a:gd name="adj2" fmla="val 70042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zh-CN" altLang="en-US" sz="2800" b="1" dirty="0">
                <a:latin typeface="+mj-lt"/>
                <a:ea typeface="宋体" charset="-122"/>
              </a:rPr>
              <a:t>由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l-GR" altLang="zh-CN" sz="2800" b="1" i="1" baseline="-2500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便可以决定一个 </a:t>
            </a:r>
            <a:r>
              <a:rPr lang="en-US" altLang="ja-JP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ja-JP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+mj-lt"/>
                <a:ea typeface="宋体" charset="-122"/>
              </a:rPr>
              <a:t>水平的分类</a:t>
            </a:r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1524000" y="359157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1271464" y="419278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+mn-lt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关系的运算</a:t>
            </a:r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4800601" y="1631007"/>
          <a:ext cx="2664619" cy="1120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76300" imgH="368300" progId="Equation.3">
                  <p:embed/>
                </p:oleObj>
              </mc:Choice>
              <mc:Fallback>
                <p:oleObj name="公式" r:id="rId5" imgW="876300" imgH="36830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631007"/>
                        <a:ext cx="2664619" cy="1120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919288" y="3212978"/>
            <a:ext cx="9358739" cy="584775"/>
            <a:chOff x="395288" y="3212978"/>
            <a:chExt cx="7300700" cy="1080902"/>
          </a:xfrm>
        </p:grpSpPr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>
              <a:off x="395288" y="3214265"/>
              <a:ext cx="1584325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3200" b="1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3200" b="1" dirty="0">
                  <a:ea typeface="宋体" charset="-122"/>
                </a:rPr>
                <a:t>截关系</a:t>
              </a:r>
              <a:r>
                <a:rPr lang="en-US" altLang="zh-CN" sz="3200" dirty="0">
                  <a:ea typeface="宋体" charset="-122"/>
                </a:rPr>
                <a:t>: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1841616" y="3212978"/>
              <a:ext cx="5854372" cy="10809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3200" b="1" i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R</a:t>
              </a:r>
              <a:r>
                <a:rPr kumimoji="1" lang="el-GR" altLang="zh-CN" sz="3200" b="1" i="1" baseline="-25000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λ</a:t>
              </a:r>
              <a:r>
                <a:rPr kumimoji="1" lang="en-US" altLang="zh-CN" sz="3200" b="1" i="1" baseline="-25000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= { (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3200" b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,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) | </a:t>
              </a:r>
              <a:r>
                <a:rPr kumimoji="1" lang="en-US" altLang="zh-CN" sz="3200" b="1" i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R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3200" b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,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) ≥ </a:t>
              </a:r>
              <a:r>
                <a:rPr kumimoji="1" lang="el-GR" altLang="zh-CN" sz="3200" b="1" i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λ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,  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3200" b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/>
                </a:rPr>
                <a:t>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, 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  <a:r>
                <a:rPr kumimoji="1" lang="en-US" altLang="zh-CN" sz="3200" b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/>
                </a:rPr>
                <a:t></a:t>
              </a:r>
              <a:r>
                <a:rPr kumimoji="1" lang="en-US" altLang="zh-CN" sz="3200" b="1" i="1" dirty="0" err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  <a:r>
                <a:rPr kumimoji="1" lang="en-US" altLang="zh-CN" sz="3200" b="1" dirty="0">
                  <a:solidFill>
                    <a:srgbClr val="CC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}</a:t>
              </a:r>
              <a:endParaRPr lang="zh-CN" altLang="en-US" sz="32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66579A-F9CB-557D-38A4-5B54C49D03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96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6" grpId="0" animBg="1"/>
      <p:bldP spid="29704" grpId="0" animBg="1"/>
      <p:bldP spid="29710" grpId="0" animBg="1"/>
      <p:bldP spid="297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关系的运算举例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3108" y="1530991"/>
            <a:ext cx="10055460" cy="5088929"/>
          </a:xfrm>
        </p:spPr>
        <p:txBody>
          <a:bodyPr/>
          <a:lstStyle/>
          <a:p>
            <a:r>
              <a:rPr lang="zh-CN" altLang="en-US" dirty="0">
                <a:ea typeface="宋体" charset="-122"/>
              </a:rPr>
              <a:t>设 </a:t>
            </a:r>
            <a:r>
              <a:rPr lang="en-US" altLang="zh-CN" i="1" dirty="0"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dirty="0">
                <a:ea typeface="黑体" pitchFamily="2" charset="-122"/>
                <a:sym typeface="Symbol" panose="05050102010706020507" pitchFamily="18" charset="2"/>
              </a:rPr>
              <a:t>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(R×R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sz="3600" dirty="0">
                <a:ea typeface="黑体" pitchFamily="2" charset="-122"/>
                <a:sym typeface="Symbol" pitchFamily="18" charset="2"/>
              </a:rPr>
              <a:t>   </a:t>
            </a:r>
          </a:p>
          <a:p>
            <a:pPr marL="0" indent="0">
              <a:buNone/>
            </a:pPr>
            <a:r>
              <a:rPr lang="en-US" altLang="zh-CN" sz="3600" dirty="0">
                <a:ea typeface="黑体" pitchFamily="2" charset="-122"/>
                <a:sym typeface="Symbol" pitchFamily="18" charset="2"/>
              </a:rPr>
              <a:t>   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试问：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(1)</a:t>
            </a:r>
          </a:p>
          <a:p>
            <a:pPr marL="0" indent="0">
              <a:buNone/>
            </a:pPr>
            <a:r>
              <a:rPr lang="en-US" altLang="zh-CN" dirty="0">
                <a:ea typeface="黑体" pitchFamily="2" charset="-122"/>
                <a:sym typeface="Symbol" pitchFamily="18" charset="2"/>
              </a:rPr>
              <a:t>              (2)</a:t>
            </a:r>
          </a:p>
          <a:p>
            <a:pPr marL="0" indent="0">
              <a:buNone/>
            </a:pPr>
            <a:r>
              <a:rPr lang="en-US" altLang="zh-CN" dirty="0">
                <a:ea typeface="黑体" pitchFamily="2" charset="-122"/>
                <a:sym typeface="Symbol" pitchFamily="18" charset="2"/>
              </a:rPr>
              <a:t>             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对</a:t>
            </a:r>
            <a:r>
              <a:rPr lang="en-US" altLang="zh-CN" i="1" dirty="0"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baseline="-25000" dirty="0">
                <a:ea typeface="黑体" pitchFamily="2" charset="-122"/>
                <a:sym typeface="Symbol" pitchFamily="18" charset="2"/>
              </a:rPr>
              <a:t>0.5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来说是否有关？</a:t>
            </a:r>
            <a:endParaRPr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>
              <a:buNone/>
            </a:pPr>
            <a:r>
              <a:rPr lang="zh-CN" altLang="en-US" dirty="0">
                <a:ea typeface="黑体" pitchFamily="2" charset="-122"/>
                <a:sym typeface="Symbol" pitchFamily="18" charset="2"/>
              </a:rPr>
              <a:t>解：</a:t>
            </a:r>
            <a:endParaRPr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>
              <a:buNone/>
            </a:pPr>
            <a:r>
              <a:rPr lang="en-US" altLang="zh-CN" dirty="0">
                <a:ea typeface="黑体" pitchFamily="2" charset="-122"/>
                <a:sym typeface="Symbol" pitchFamily="18" charset="2"/>
              </a:rPr>
              <a:t> (1)</a:t>
            </a:r>
          </a:p>
          <a:p>
            <a:pPr marL="0" indent="0">
              <a:buNone/>
            </a:pPr>
            <a:endParaRPr lang="en-US" altLang="zh-CN" sz="2400" dirty="0">
              <a:ea typeface="黑体" pitchFamily="2" charset="-122"/>
              <a:sym typeface="Symbol" pitchFamily="18" charset="2"/>
            </a:endParaRPr>
          </a:p>
          <a:p>
            <a:pPr marL="0" indent="0">
              <a:buNone/>
            </a:pPr>
            <a:r>
              <a:rPr lang="en-US" altLang="zh-CN" dirty="0">
                <a:ea typeface="黑体" pitchFamily="2" charset="-122"/>
                <a:sym typeface="Symbol" pitchFamily="18" charset="2"/>
              </a:rPr>
              <a:t> (2)  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1295400" y="5836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1752600" y="3244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340261"/>
              </p:ext>
            </p:extLst>
          </p:nvPr>
        </p:nvGraphicFramePr>
        <p:xfrm>
          <a:off x="5148607" y="1337428"/>
          <a:ext cx="3378928" cy="85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253800" progId="Equation.DSMT4">
                  <p:embed/>
                </p:oleObj>
              </mc:Choice>
              <mc:Fallback>
                <p:oleObj name="Equation" r:id="rId2" imgW="1002960" imgH="2538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48607" y="1337428"/>
                        <a:ext cx="3378928" cy="85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694282"/>
              </p:ext>
            </p:extLst>
          </p:nvPr>
        </p:nvGraphicFramePr>
        <p:xfrm>
          <a:off x="3854591" y="2252246"/>
          <a:ext cx="2326247" cy="58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41200" progId="Equation.DSMT4">
                  <p:embed/>
                </p:oleObj>
              </mc:Choice>
              <mc:Fallback>
                <p:oleObj name="Equation" r:id="rId4" imgW="965160" imgH="241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4591" y="2252246"/>
                        <a:ext cx="2326247" cy="581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815237"/>
              </p:ext>
            </p:extLst>
          </p:nvPr>
        </p:nvGraphicFramePr>
        <p:xfrm>
          <a:off x="3854591" y="2871468"/>
          <a:ext cx="2664296" cy="581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241200" progId="Equation.DSMT4">
                  <p:embed/>
                </p:oleObj>
              </mc:Choice>
              <mc:Fallback>
                <p:oleObj name="Equation" r:id="rId6" imgW="1104840" imgH="2412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591" y="2871468"/>
                        <a:ext cx="2664296" cy="581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344009"/>
              </p:ext>
            </p:extLst>
          </p:nvPr>
        </p:nvGraphicFramePr>
        <p:xfrm>
          <a:off x="2004456" y="4647718"/>
          <a:ext cx="3379787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253800" progId="Equation.DSMT4">
                  <p:embed/>
                </p:oleObj>
              </mc:Choice>
              <mc:Fallback>
                <p:oleObj name="Equation" r:id="rId8" imgW="1002960" imgH="2538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456" y="4647718"/>
                        <a:ext cx="3379787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50224"/>
              </p:ext>
            </p:extLst>
          </p:nvPr>
        </p:nvGraphicFramePr>
        <p:xfrm>
          <a:off x="5129213" y="4657725"/>
          <a:ext cx="2354262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228600" progId="Equation.DSMT4">
                  <p:embed/>
                </p:oleObj>
              </mc:Choice>
              <mc:Fallback>
                <p:oleObj name="Equation" r:id="rId10" imgW="698400" imgH="2286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213" y="4657725"/>
                        <a:ext cx="2354262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409135"/>
              </p:ext>
            </p:extLst>
          </p:nvPr>
        </p:nvGraphicFramePr>
        <p:xfrm>
          <a:off x="7292156" y="4653136"/>
          <a:ext cx="29083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63280" imgH="228600" progId="Equation.DSMT4">
                  <p:embed/>
                </p:oleObj>
              </mc:Choice>
              <mc:Fallback>
                <p:oleObj name="Equation" r:id="rId12" imgW="863280" imgH="2286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156" y="4653136"/>
                        <a:ext cx="29083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526695"/>
              </p:ext>
            </p:extLst>
          </p:nvPr>
        </p:nvGraphicFramePr>
        <p:xfrm>
          <a:off x="2004455" y="5763728"/>
          <a:ext cx="33797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865" imgH="253890" progId="Equation.DSMT4">
                  <p:embed/>
                </p:oleObj>
              </mc:Choice>
              <mc:Fallback>
                <p:oleObj name="Equation" r:id="rId8" imgW="1002865" imgH="25389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455" y="5763728"/>
                        <a:ext cx="337978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086131"/>
              </p:ext>
            </p:extLst>
          </p:nvPr>
        </p:nvGraphicFramePr>
        <p:xfrm>
          <a:off x="5257329" y="5827713"/>
          <a:ext cx="2782887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25480" imgH="228600" progId="Equation.DSMT4">
                  <p:embed/>
                </p:oleObj>
              </mc:Choice>
              <mc:Fallback>
                <p:oleObj name="Equation" r:id="rId14" imgW="825480" imgH="228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329" y="5827713"/>
                        <a:ext cx="2782887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312808"/>
              </p:ext>
            </p:extLst>
          </p:nvPr>
        </p:nvGraphicFramePr>
        <p:xfrm>
          <a:off x="7938641" y="5794118"/>
          <a:ext cx="14128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040" imgH="203040" progId="Equation.DSMT4">
                  <p:embed/>
                </p:oleObj>
              </mc:Choice>
              <mc:Fallback>
                <p:oleObj name="Equation" r:id="rId16" imgW="41904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8641" y="5794118"/>
                        <a:ext cx="1412875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E3C25D5-74DF-94F8-B620-63482E4C4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196758"/>
              </p:ext>
            </p:extLst>
          </p:nvPr>
        </p:nvGraphicFramePr>
        <p:xfrm>
          <a:off x="10082014" y="4797152"/>
          <a:ext cx="11985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5320" imgH="177480" progId="Equation.DSMT4">
                  <p:embed/>
                </p:oleObj>
              </mc:Choice>
              <mc:Fallback>
                <p:oleObj name="Equation" r:id="rId18" imgW="355320" imgH="1774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2014" y="4797152"/>
                        <a:ext cx="119856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3D10089-B8E3-3FEE-C6DA-42C748FE4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912803"/>
              </p:ext>
            </p:extLst>
          </p:nvPr>
        </p:nvGraphicFramePr>
        <p:xfrm>
          <a:off x="9154666" y="5661248"/>
          <a:ext cx="1693862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96880" imgH="393480" progId="Equation.DSMT4">
                  <p:embed/>
                </p:oleObj>
              </mc:Choice>
              <mc:Fallback>
                <p:oleObj name="Equation" r:id="rId20" imgW="596880" imgH="3934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4666" y="5661248"/>
                        <a:ext cx="1693862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A7F2BF00-8661-F9D7-98DA-765D2E8669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6A6C8D8-2BB7-DEAD-3921-C6585DFCE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281996"/>
              </p:ext>
            </p:extLst>
          </p:nvPr>
        </p:nvGraphicFramePr>
        <p:xfrm>
          <a:off x="6667797" y="2292350"/>
          <a:ext cx="54768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73040" imgH="241200" progId="Equation.DSMT4">
                  <p:embed/>
                </p:oleObj>
              </mc:Choice>
              <mc:Fallback>
                <p:oleObj name="Equation" r:id="rId22" imgW="2273040" imgH="241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67797" y="2292350"/>
                        <a:ext cx="5476875" cy="5810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75651DE-D1EB-C9E4-04E4-8555C3845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642233"/>
              </p:ext>
            </p:extLst>
          </p:nvPr>
        </p:nvGraphicFramePr>
        <p:xfrm>
          <a:off x="6666209" y="2936702"/>
          <a:ext cx="54784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73040" imgH="241200" progId="Equation.DSMT4">
                  <p:embed/>
                </p:oleObj>
              </mc:Choice>
              <mc:Fallback>
                <p:oleObj name="Equation" r:id="rId24" imgW="2273040" imgH="241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6A6C8D8-2BB7-DEAD-3921-C6585DFCE2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666209" y="2936702"/>
                        <a:ext cx="5478463" cy="5810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60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122396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3.2  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矩阵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58541" y="1485482"/>
            <a:ext cx="10297144" cy="499643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r>
              <a:rPr kumimoji="1" lang="en-US" altLang="zh-CN" dirty="0">
                <a:ea typeface="黑体" pitchFamily="2" charset="-122"/>
              </a:rPr>
              <a:t>[</a:t>
            </a:r>
            <a:r>
              <a:rPr kumimoji="1" lang="zh-CN" altLang="en-US" dirty="0">
                <a:ea typeface="黑体" pitchFamily="2" charset="-122"/>
              </a:rPr>
              <a:t>定义</a:t>
            </a:r>
            <a:r>
              <a:rPr kumimoji="1" lang="en-US" altLang="zh-CN" dirty="0">
                <a:ea typeface="黑体" pitchFamily="2" charset="-122"/>
              </a:rPr>
              <a:t>] </a:t>
            </a:r>
            <a:r>
              <a:rPr kumimoji="1" lang="zh-CN" altLang="en-US" dirty="0">
                <a:ea typeface="黑体" pitchFamily="2" charset="-122"/>
              </a:rPr>
              <a:t>设</a:t>
            </a:r>
            <a:r>
              <a:rPr kumimoji="1" lang="en-US" altLang="zh-CN" i="1" dirty="0">
                <a:ea typeface="黑体" pitchFamily="2" charset="-122"/>
              </a:rPr>
              <a:t>R</a:t>
            </a:r>
            <a:r>
              <a:rPr kumimoji="1" lang="en-US" altLang="zh-CN" dirty="0">
                <a:ea typeface="黑体" pitchFamily="2" charset="-122"/>
              </a:rPr>
              <a:t> = (</a:t>
            </a:r>
            <a:r>
              <a:rPr kumimoji="1" lang="en-US" altLang="zh-CN" i="1" dirty="0" err="1"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ea typeface="黑体" pitchFamily="2" charset="-122"/>
              </a:rPr>
              <a:t>ij</a:t>
            </a:r>
            <a:r>
              <a:rPr kumimoji="1" lang="en-US" altLang="zh-CN" dirty="0">
                <a:ea typeface="黑体" pitchFamily="2" charset="-122"/>
              </a:rPr>
              <a:t>)</a:t>
            </a:r>
            <a:r>
              <a:rPr kumimoji="1" lang="en-US" altLang="zh-CN" i="1" baseline="-25000" dirty="0" err="1">
                <a:ea typeface="黑体" pitchFamily="2" charset="-122"/>
              </a:rPr>
              <a:t>m</a:t>
            </a:r>
            <a:r>
              <a:rPr kumimoji="1" lang="en-US" altLang="zh-CN" baseline="-25000" dirty="0" err="1">
                <a:ea typeface="黑体" pitchFamily="2" charset="-122"/>
              </a:rPr>
              <a:t>×</a:t>
            </a:r>
            <a:r>
              <a:rPr kumimoji="1" lang="en-US" altLang="zh-CN" i="1" baseline="-25000" dirty="0" err="1">
                <a:ea typeface="黑体" pitchFamily="2" charset="-122"/>
              </a:rPr>
              <a:t>n</a:t>
            </a:r>
            <a:r>
              <a:rPr kumimoji="1" lang="zh-CN" altLang="en-US" dirty="0">
                <a:ea typeface="黑体" pitchFamily="2" charset="-122"/>
              </a:rPr>
              <a:t>，若</a:t>
            </a:r>
            <a:r>
              <a:rPr kumimoji="1" lang="en-US" altLang="zh-CN" dirty="0">
                <a:solidFill>
                  <a:srgbClr val="CC00CC"/>
                </a:solidFill>
                <a:ea typeface="黑体" pitchFamily="2" charset="-122"/>
              </a:rPr>
              <a:t>0 ≤ </a:t>
            </a:r>
            <a:r>
              <a:rPr kumimoji="1" lang="en-US" altLang="zh-CN" i="1" dirty="0" err="1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solidFill>
                  <a:srgbClr val="CC00CC"/>
                </a:solidFill>
                <a:ea typeface="黑体" pitchFamily="2" charset="-122"/>
              </a:rPr>
              <a:t>ij</a:t>
            </a:r>
            <a:r>
              <a:rPr kumimoji="1" lang="en-US" altLang="zh-CN" i="1" baseline="-25000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kumimoji="1" lang="en-US" altLang="zh-CN" dirty="0">
                <a:solidFill>
                  <a:srgbClr val="CC00CC"/>
                </a:solidFill>
                <a:ea typeface="黑体" pitchFamily="2" charset="-122"/>
              </a:rPr>
              <a:t>≤ 1</a:t>
            </a:r>
            <a:r>
              <a:rPr kumimoji="1" lang="zh-CN" altLang="en-US" dirty="0">
                <a:ea typeface="黑体" pitchFamily="2" charset="-122"/>
              </a:rPr>
              <a:t>，则称</a:t>
            </a:r>
            <a:r>
              <a:rPr kumimoji="1" lang="en-US" altLang="zh-CN" i="1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为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模糊矩阵</a:t>
            </a:r>
            <a:r>
              <a:rPr kumimoji="1" lang="en-US" altLang="zh-CN" dirty="0">
                <a:ea typeface="黑体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endParaRPr kumimoji="1" lang="en-US" altLang="zh-CN" dirty="0"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endParaRPr kumimoji="1" lang="en-US" altLang="zh-CN" sz="2400" dirty="0"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endParaRPr kumimoji="1" lang="en-US" altLang="zh-CN" sz="2000" dirty="0"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r>
              <a:rPr kumimoji="1" lang="zh-CN" altLang="en-US" dirty="0">
                <a:ea typeface="黑体" pitchFamily="2" charset="-122"/>
              </a:rPr>
              <a:t>特别地，当</a:t>
            </a:r>
            <a:r>
              <a:rPr kumimoji="1" lang="en-US" altLang="zh-CN" i="1" dirty="0" err="1">
                <a:solidFill>
                  <a:srgbClr val="008000"/>
                </a:solidFill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solidFill>
                  <a:srgbClr val="008000"/>
                </a:solidFill>
                <a:ea typeface="黑体" pitchFamily="2" charset="-122"/>
              </a:rPr>
              <a:t>ij</a:t>
            </a:r>
            <a:r>
              <a:rPr kumimoji="1" lang="en-US" altLang="zh-CN" i="1" baseline="-25000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  <a:sym typeface="Symbol" panose="05050102010706020507" pitchFamily="18" charset="2"/>
              </a:rPr>
              <a:t>{0,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1}</a:t>
            </a:r>
            <a:r>
              <a:rPr kumimoji="1" lang="zh-CN" altLang="en-US" dirty="0">
                <a:ea typeface="黑体" pitchFamily="2" charset="-122"/>
              </a:rPr>
              <a:t>时，称</a:t>
            </a:r>
            <a:r>
              <a:rPr kumimoji="1" lang="en-US" altLang="zh-CN" i="1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为</a:t>
            </a:r>
            <a:r>
              <a:rPr kumimoji="1" lang="zh-CN" altLang="en-US" dirty="0">
                <a:solidFill>
                  <a:srgbClr val="008000"/>
                </a:solidFill>
                <a:ea typeface="黑体" pitchFamily="2" charset="-122"/>
              </a:rPr>
              <a:t>布尔矩阵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. </a:t>
            </a: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endParaRPr kumimoji="1" lang="en-US" altLang="zh-CN" dirty="0">
              <a:solidFill>
                <a:srgbClr val="008000"/>
              </a:solidFill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endParaRPr kumimoji="1" lang="en-US" altLang="zh-CN" dirty="0">
              <a:solidFill>
                <a:srgbClr val="008000"/>
              </a:solidFill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80000"/>
            </a:pP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F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矩阵与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F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关系是一一对应的。</a:t>
            </a:r>
            <a:endParaRPr kumimoji="1" lang="en-US" altLang="zh-CN" dirty="0">
              <a:solidFill>
                <a:srgbClr val="3333FF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ea typeface="黑体" pitchFamily="2" charset="-122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1" y="2420888"/>
            <a:ext cx="4312281" cy="112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1" y="4653136"/>
            <a:ext cx="3167566" cy="112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C0F246-8CCE-0094-C406-C25B879A9E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C85EAC-6FAE-44AE-B9A5-47E3DC5EF4EF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矩阵举例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10297144" cy="4525963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: </a:t>
            </a: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U={u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2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3</a:t>
            </a:r>
            <a:r>
              <a:rPr lang="en-US" altLang="zh-CN" dirty="0">
                <a:ea typeface="黑体" pitchFamily="2" charset="-122"/>
              </a:rPr>
              <a:t>}, </a:t>
            </a:r>
            <a:r>
              <a:rPr lang="zh-CN" altLang="en-US" dirty="0">
                <a:ea typeface="黑体" pitchFamily="2" charset="-122"/>
              </a:rPr>
              <a:t>表示三个人的集合</a:t>
            </a:r>
            <a:r>
              <a:rPr lang="en-US" altLang="zh-CN" dirty="0">
                <a:ea typeface="黑体" pitchFamily="2" charset="-122"/>
              </a:rPr>
              <a:t>, R</a:t>
            </a:r>
            <a:r>
              <a:rPr lang="zh-CN" altLang="en-US" dirty="0">
                <a:ea typeface="黑体" pitchFamily="2" charset="-122"/>
              </a:rPr>
              <a:t>表示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信任关系</a:t>
            </a:r>
            <a:r>
              <a:rPr lang="en-US" altLang="zh-CN" dirty="0">
                <a:ea typeface="黑体" pitchFamily="2" charset="-122"/>
              </a:rPr>
              <a:t>, </a:t>
            </a:r>
            <a:r>
              <a:rPr lang="zh-CN" altLang="en-US" dirty="0">
                <a:ea typeface="黑体" pitchFamily="2" charset="-122"/>
              </a:rPr>
              <a:t>且有</a:t>
            </a:r>
          </a:p>
          <a:p>
            <a:pPr eaLnBrk="1" hangingPunct="1"/>
            <a:endParaRPr lang="zh-CN" altLang="en-US" sz="3600" dirty="0">
              <a:ea typeface="黑体" pitchFamily="2" charset="-122"/>
            </a:endParaRPr>
          </a:p>
          <a:p>
            <a:pPr eaLnBrk="1" hangingPunct="1"/>
            <a:endParaRPr lang="zh-CN" altLang="en-US" sz="2000" dirty="0">
              <a:ea typeface="黑体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关系图表示为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:                 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5189" y="2420938"/>
          <a:ext cx="813593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44900" imgH="431800" progId="Equation.3">
                  <p:embed/>
                </p:oleObj>
              </mc:Choice>
              <mc:Fallback>
                <p:oleObj name="公式" r:id="rId2" imgW="3644900" imgH="431800" progId="Equation.3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420938"/>
                        <a:ext cx="813593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52" y="3997578"/>
            <a:ext cx="3465514" cy="283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943797558"/>
              </p:ext>
            </p:extLst>
          </p:nvPr>
        </p:nvGraphicFramePr>
        <p:xfrm>
          <a:off x="6528767" y="4640411"/>
          <a:ext cx="3529012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4200" imgH="711000" progId="Equation.DSMT4">
                  <p:embed/>
                </p:oleObj>
              </mc:Choice>
              <mc:Fallback>
                <p:oleObj name="Equation" r:id="rId5" imgW="1384200" imgH="711000" progId="Equation.DSMT4">
                  <p:embed/>
                  <p:pic>
                    <p:nvPicPr>
                      <p:cNvPr id="378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767" y="4640411"/>
                        <a:ext cx="3529012" cy="181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CC84550-E162-85DC-FF88-FE20CF902EB3}"/>
              </a:ext>
            </a:extLst>
          </p:cNvPr>
          <p:cNvSpPr txBox="1"/>
          <p:nvPr/>
        </p:nvSpPr>
        <p:spPr>
          <a:xfrm>
            <a:off x="7537940" y="3514557"/>
            <a:ext cx="2866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</a:rPr>
              <a:t>F</a:t>
            </a:r>
            <a:r>
              <a:rPr lang="zh-CN" altLang="en-US" sz="3200" dirty="0">
                <a:solidFill>
                  <a:srgbClr val="3333FF"/>
                </a:solidFill>
                <a:ea typeface="黑体" pitchFamily="2" charset="-122"/>
              </a:rPr>
              <a:t>矩阵表示为</a:t>
            </a: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</a:rPr>
              <a:t>:</a:t>
            </a:r>
            <a:endParaRPr lang="zh-CN" altLang="en-US" sz="3200" dirty="0">
              <a:solidFill>
                <a:srgbClr val="3333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A3D5A8-D864-C47C-6342-F20C52B033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48328" y="6223482"/>
            <a:ext cx="2844800" cy="457200"/>
          </a:xfrm>
        </p:spPr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750DFC5C-EA9F-9A3C-2FC9-928E7B18F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2445" y="4187328"/>
            <a:ext cx="28660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EE0006"/>
                </a:solidFill>
              </a:rPr>
              <a:t>u</a:t>
            </a:r>
            <a:r>
              <a:rPr lang="en-US" altLang="zh-CN" sz="2400" baseline="-25000" dirty="0">
                <a:solidFill>
                  <a:srgbClr val="EE0006"/>
                </a:solidFill>
              </a:rPr>
              <a:t>1</a:t>
            </a:r>
            <a:r>
              <a:rPr lang="en-US" altLang="zh-CN" sz="2400" dirty="0">
                <a:solidFill>
                  <a:srgbClr val="EE0006"/>
                </a:solidFill>
              </a:rPr>
              <a:t>       u</a:t>
            </a:r>
            <a:r>
              <a:rPr lang="en-US" altLang="zh-CN" sz="2400" baseline="-25000" dirty="0">
                <a:solidFill>
                  <a:srgbClr val="EE0006"/>
                </a:solidFill>
              </a:rPr>
              <a:t>2</a:t>
            </a:r>
            <a:r>
              <a:rPr lang="en-US" altLang="zh-CN" sz="2400" dirty="0">
                <a:solidFill>
                  <a:srgbClr val="EE0006"/>
                </a:solidFill>
              </a:rPr>
              <a:t>       u</a:t>
            </a:r>
            <a:r>
              <a:rPr lang="en-US" altLang="zh-CN" sz="2400" baseline="-25000" dirty="0">
                <a:solidFill>
                  <a:srgbClr val="EE0006"/>
                </a:solidFill>
              </a:rPr>
              <a:t>3</a:t>
            </a:r>
            <a:endParaRPr lang="en-US" altLang="zh-CN" sz="2400" dirty="0">
              <a:solidFill>
                <a:srgbClr val="EE0006"/>
              </a:solidFill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C27ACD10-9AB4-CF7B-89D2-36E26DCA9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781" y="4355768"/>
            <a:ext cx="576263" cy="2055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EE0006"/>
                </a:solidFill>
              </a:rPr>
              <a:t>u</a:t>
            </a:r>
            <a:r>
              <a:rPr lang="en-US" altLang="zh-CN" sz="2400" baseline="-25000" dirty="0">
                <a:solidFill>
                  <a:srgbClr val="EE0006"/>
                </a:solidFill>
              </a:rPr>
              <a:t>1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EE0006"/>
                </a:solidFill>
              </a:rPr>
              <a:t>u</a:t>
            </a:r>
            <a:r>
              <a:rPr lang="en-US" altLang="zh-CN" sz="2400" baseline="-25000" dirty="0">
                <a:solidFill>
                  <a:srgbClr val="EE0006"/>
                </a:solidFill>
              </a:rPr>
              <a:t>2</a:t>
            </a:r>
            <a:endParaRPr lang="en-US" altLang="zh-CN" sz="2400" dirty="0">
              <a:solidFill>
                <a:srgbClr val="EE0006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EE0006"/>
                </a:solidFill>
              </a:rPr>
              <a:t>u</a:t>
            </a:r>
            <a:r>
              <a:rPr lang="en-US" altLang="zh-CN" sz="2400" baseline="-25000" dirty="0">
                <a:solidFill>
                  <a:srgbClr val="EE0006"/>
                </a:solidFill>
              </a:rPr>
              <a:t>3</a:t>
            </a:r>
            <a:endParaRPr lang="en-US" altLang="zh-CN" sz="2400" dirty="0">
              <a:solidFill>
                <a:srgbClr val="EE000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uiExpand="1" build="p"/>
      <p:bldP spid="3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矩阵举例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2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430102"/>
            <a:ext cx="10225136" cy="1609473"/>
          </a:xfrm>
        </p:spPr>
        <p:txBody>
          <a:bodyPr/>
          <a:lstStyle/>
          <a:p>
            <a:r>
              <a:rPr lang="zh-CN" altLang="en-US" sz="3200" b="1" dirty="0">
                <a:ea typeface="宋体" charset="-122"/>
              </a:rPr>
              <a:t>设身高论域</a:t>
            </a:r>
            <a:r>
              <a:rPr lang="en-US" altLang="zh-CN" sz="3200" b="1" dirty="0">
                <a:ea typeface="宋体" charset="-122"/>
              </a:rPr>
              <a:t>U={140,150,160,170,180}(</a:t>
            </a:r>
            <a:r>
              <a:rPr lang="zh-CN" altLang="en-US" sz="3200" b="1" dirty="0">
                <a:ea typeface="宋体" charset="-122"/>
              </a:rPr>
              <a:t>单位</a:t>
            </a:r>
            <a:r>
              <a:rPr lang="en-US" altLang="zh-CN" sz="3200" b="1" dirty="0">
                <a:ea typeface="宋体" charset="-122"/>
              </a:rPr>
              <a:t>: cm), </a:t>
            </a:r>
          </a:p>
          <a:p>
            <a:pPr marL="0" indent="0">
              <a:buNone/>
            </a:pPr>
            <a:r>
              <a:rPr lang="en-US" altLang="zh-CN" sz="3200" b="1" dirty="0">
                <a:ea typeface="宋体" charset="-122"/>
              </a:rPr>
              <a:t>       </a:t>
            </a:r>
            <a:r>
              <a:rPr lang="zh-CN" altLang="en-US" sz="3200" b="1" dirty="0">
                <a:ea typeface="宋体" charset="-122"/>
              </a:rPr>
              <a:t>体重论域</a:t>
            </a:r>
            <a:r>
              <a:rPr lang="en-US" altLang="zh-CN" sz="3200" b="1" dirty="0">
                <a:ea typeface="宋体" charset="-122"/>
              </a:rPr>
              <a:t>V={40,50,60,70,80}(</a:t>
            </a:r>
            <a:r>
              <a:rPr lang="zh-CN" altLang="en-US" sz="3200" b="1" dirty="0">
                <a:ea typeface="宋体" charset="-122"/>
              </a:rPr>
              <a:t>单位</a:t>
            </a:r>
            <a:r>
              <a:rPr lang="en-US" altLang="zh-CN" sz="3200" b="1" dirty="0">
                <a:ea typeface="宋体" charset="-122"/>
              </a:rPr>
              <a:t>: kg)</a:t>
            </a:r>
            <a:r>
              <a:rPr lang="zh-CN" altLang="en-US" sz="3200" b="1" dirty="0">
                <a:ea typeface="宋体" charset="-122"/>
              </a:rPr>
              <a:t>。</a:t>
            </a:r>
            <a:endParaRPr lang="en-US" altLang="zh-CN" sz="3200" b="1" dirty="0">
              <a:ea typeface="宋体" charset="-122"/>
            </a:endParaRPr>
          </a:p>
          <a:p>
            <a:pPr marL="0" indent="0">
              <a:buNone/>
            </a:pPr>
            <a:r>
              <a:rPr lang="zh-CN" altLang="en-US" sz="3200" b="1" dirty="0">
                <a:ea typeface="宋体" charset="-122"/>
              </a:rPr>
              <a:t>   下表给出了人的</a:t>
            </a:r>
            <a:r>
              <a:rPr lang="zh-CN" altLang="en-US" sz="3200" b="1" dirty="0">
                <a:solidFill>
                  <a:srgbClr val="FF0000"/>
                </a:solidFill>
                <a:ea typeface="宋体" charset="-122"/>
              </a:rPr>
              <a:t>身高与体重的模糊关系</a:t>
            </a:r>
          </a:p>
        </p:txBody>
      </p:sp>
      <p:graphicFrame>
        <p:nvGraphicFramePr>
          <p:cNvPr id="27737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779982"/>
              </p:ext>
            </p:extLst>
          </p:nvPr>
        </p:nvGraphicFramePr>
        <p:xfrm>
          <a:off x="2351585" y="3284984"/>
          <a:ext cx="6048375" cy="3413760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28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1" lang="zh-CN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宋体" charset="-122"/>
                        </a:rPr>
                        <a:t>身高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U(cm)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ja-JP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en-US" altLang="ja-JP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 </a:t>
                      </a: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体重 </a:t>
                      </a: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V(kg)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40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50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60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70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80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140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0.2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150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0.2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160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0.2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0.2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170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0.2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180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0.1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0.2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0.8</a:t>
                      </a:r>
                      <a:endParaRPr kumimoji="1" lang="en-US" altLang="ja-JP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6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kumimoji="1" sz="22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pitchFamily="50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</a:t>
                      </a:r>
                      <a:endParaRPr kumimoji="1" lang="en-US" altLang="ja-JP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729" name="Text Box 81"/>
          <p:cNvSpPr txBox="1">
            <a:spLocks noChangeArrowheads="1"/>
          </p:cNvSpPr>
          <p:nvPr/>
        </p:nvSpPr>
        <p:spPr bwMode="auto">
          <a:xfrm>
            <a:off x="8524876" y="5157192"/>
            <a:ext cx="2143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R(160,50)=0.8</a:t>
            </a:r>
            <a:endParaRPr lang="en-US" altLang="ja-JP" sz="2400"/>
          </a:p>
        </p:txBody>
      </p:sp>
      <p:sp>
        <p:nvSpPr>
          <p:cNvPr id="27730" name="Text Box 82"/>
          <p:cNvSpPr txBox="1">
            <a:spLocks noChangeArrowheads="1"/>
          </p:cNvSpPr>
          <p:nvPr/>
        </p:nvSpPr>
        <p:spPr bwMode="auto">
          <a:xfrm>
            <a:off x="8524876" y="6165254"/>
            <a:ext cx="2143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R(180,60)=0.2</a:t>
            </a:r>
            <a:endParaRPr lang="en-US" altLang="ja-JP" sz="240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4593978-112E-6F1F-E626-7A4D1D4CE5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313986"/>
              </p:ext>
            </p:extLst>
          </p:nvPr>
        </p:nvGraphicFramePr>
        <p:xfrm>
          <a:off x="3326966" y="4198268"/>
          <a:ext cx="5057088" cy="2471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320" imgH="1143000" progId="Equation.DSMT4">
                  <p:embed/>
                </p:oleObj>
              </mc:Choice>
              <mc:Fallback>
                <p:oleObj name="Equation" r:id="rId3" imgW="171432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4593978-112E-6F1F-E626-7A4D1D4CE5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6966" y="4198268"/>
                        <a:ext cx="5057088" cy="247109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>
            <a:extLst>
              <a:ext uri="{FF2B5EF4-FFF2-40B4-BE49-F238E27FC236}">
                <a16:creationId xmlns:a16="http://schemas.microsoft.com/office/drawing/2014/main" id="{631FCD8E-5135-7C12-F79E-22403A8FCB25}"/>
              </a:ext>
            </a:extLst>
          </p:cNvPr>
          <p:cNvSpPr/>
          <p:nvPr/>
        </p:nvSpPr>
        <p:spPr>
          <a:xfrm>
            <a:off x="4439816" y="5157192"/>
            <a:ext cx="864096" cy="523220"/>
          </a:xfrm>
          <a:prstGeom prst="ellipse">
            <a:avLst/>
          </a:prstGeom>
          <a:noFill/>
          <a:ln w="5715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71427B-717C-762C-D6F0-BB3BE632A3D5}"/>
              </a:ext>
            </a:extLst>
          </p:cNvPr>
          <p:cNvSpPr txBox="1"/>
          <p:nvPr/>
        </p:nvSpPr>
        <p:spPr>
          <a:xfrm>
            <a:off x="3431704" y="3769876"/>
            <a:ext cx="5057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40       50      60      70      80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B5EF5C-70AE-D2D1-946B-85E6F5592916}"/>
              </a:ext>
            </a:extLst>
          </p:cNvPr>
          <p:cNvSpPr txBox="1"/>
          <p:nvPr/>
        </p:nvSpPr>
        <p:spPr>
          <a:xfrm>
            <a:off x="2460104" y="4149080"/>
            <a:ext cx="827584" cy="2630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140       150       160      170      180</a:t>
            </a:r>
            <a:endParaRPr lang="zh-CN" altLang="en-US" sz="28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AEE50AD-3E9C-B204-B860-6F03133080AD}"/>
              </a:ext>
            </a:extLst>
          </p:cNvPr>
          <p:cNvSpPr/>
          <p:nvPr/>
        </p:nvSpPr>
        <p:spPr>
          <a:xfrm>
            <a:off x="5400675" y="6137491"/>
            <a:ext cx="864096" cy="523220"/>
          </a:xfrm>
          <a:prstGeom prst="ellipse">
            <a:avLst/>
          </a:prstGeom>
          <a:noFill/>
          <a:ln w="5715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723BBA-1F0F-1206-8E9F-45FA7261E9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33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7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29" grpId="0"/>
      <p:bldP spid="27730" grpId="0"/>
      <p:bldP spid="5" grpId="0" animBg="1"/>
      <p:bldP spid="3" grpId="0"/>
      <p:bldP spid="4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350"/>
            <a:ext cx="8229600" cy="129698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矩阵的运算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57338"/>
            <a:ext cx="8218488" cy="5040312"/>
          </a:xfrm>
        </p:spPr>
        <p:txBody>
          <a:bodyPr/>
          <a:lstStyle/>
          <a:p>
            <a:pPr eaLnBrk="1" hangingPunct="1"/>
            <a:r>
              <a:rPr kumimoji="1" lang="en-US" altLang="zh-CN" sz="3600" dirty="0">
                <a:ea typeface="黑体" pitchFamily="2" charset="-122"/>
              </a:rPr>
              <a:t>[</a:t>
            </a:r>
            <a:r>
              <a:rPr kumimoji="1" lang="zh-CN" altLang="en-US" sz="3600" dirty="0">
                <a:ea typeface="黑体" pitchFamily="2" charset="-122"/>
              </a:rPr>
              <a:t>定义</a:t>
            </a:r>
            <a:r>
              <a:rPr kumimoji="1" lang="en-US" altLang="zh-CN" sz="3600" dirty="0">
                <a:ea typeface="黑体" pitchFamily="2" charset="-122"/>
              </a:rPr>
              <a:t>2] </a:t>
            </a:r>
            <a:r>
              <a:rPr kumimoji="1" lang="zh-CN" altLang="en-US" sz="3600" dirty="0">
                <a:ea typeface="黑体" pitchFamily="2" charset="-122"/>
              </a:rPr>
              <a:t>设</a:t>
            </a:r>
            <a:r>
              <a:rPr kumimoji="1" lang="en-US" altLang="zh-CN" sz="3600" dirty="0">
                <a:ea typeface="黑体" pitchFamily="2" charset="-122"/>
              </a:rPr>
              <a:t>R=(</a:t>
            </a:r>
            <a:r>
              <a:rPr kumimoji="1" lang="en-US" altLang="zh-CN" sz="3600" i="1" dirty="0" err="1">
                <a:ea typeface="黑体" pitchFamily="2" charset="-122"/>
              </a:rPr>
              <a:t>r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>
                <a:ea typeface="黑体" pitchFamily="2" charset="-122"/>
              </a:rPr>
              <a:t>)</a:t>
            </a:r>
            <a:r>
              <a:rPr kumimoji="1" lang="en-US" altLang="zh-CN" sz="3600" i="1" baseline="-25000" dirty="0" err="1">
                <a:ea typeface="黑体" pitchFamily="2" charset="-122"/>
              </a:rPr>
              <a:t>m</a:t>
            </a:r>
            <a:r>
              <a:rPr kumimoji="1" lang="en-US" altLang="zh-CN" sz="3600" baseline="-25000" dirty="0" err="1">
                <a:ea typeface="黑体" pitchFamily="2" charset="-122"/>
              </a:rPr>
              <a:t>×</a:t>
            </a:r>
            <a:r>
              <a:rPr kumimoji="1" lang="en-US" altLang="zh-CN" sz="3600" i="1" baseline="-25000" dirty="0" err="1">
                <a:ea typeface="黑体" pitchFamily="2" charset="-122"/>
              </a:rPr>
              <a:t>n</a:t>
            </a:r>
            <a:r>
              <a:rPr kumimoji="1" lang="en-US" altLang="zh-CN" sz="3600" dirty="0">
                <a:ea typeface="黑体" pitchFamily="2" charset="-122"/>
              </a:rPr>
              <a:t>, S=(</a:t>
            </a:r>
            <a:r>
              <a:rPr kumimoji="1" lang="en-US" altLang="zh-CN" sz="3600" i="1" dirty="0" err="1">
                <a:ea typeface="黑体" pitchFamily="2" charset="-122"/>
              </a:rPr>
              <a:t>s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>
                <a:ea typeface="黑体" pitchFamily="2" charset="-122"/>
              </a:rPr>
              <a:t>) </a:t>
            </a:r>
            <a:r>
              <a:rPr kumimoji="1" lang="en-US" altLang="zh-CN" sz="3600" i="1" baseline="-25000" dirty="0" err="1">
                <a:ea typeface="黑体" pitchFamily="2" charset="-122"/>
              </a:rPr>
              <a:t>m</a:t>
            </a:r>
            <a:r>
              <a:rPr kumimoji="1" lang="en-US" altLang="zh-CN" sz="3600" baseline="-25000" dirty="0" err="1">
                <a:ea typeface="黑体" pitchFamily="2" charset="-122"/>
              </a:rPr>
              <a:t>×</a:t>
            </a:r>
            <a:r>
              <a:rPr kumimoji="1" lang="en-US" altLang="zh-CN" sz="3600" i="1" baseline="-25000" dirty="0" err="1">
                <a:ea typeface="黑体" pitchFamily="2" charset="-122"/>
              </a:rPr>
              <a:t>n</a:t>
            </a:r>
            <a:r>
              <a:rPr kumimoji="1" lang="zh-CN" altLang="en-US" sz="3600" dirty="0">
                <a:ea typeface="黑体" pitchFamily="2" charset="-122"/>
              </a:rPr>
              <a:t>都是模糊矩阵，则</a:t>
            </a:r>
          </a:p>
          <a:p>
            <a:pPr eaLnBrk="1" hangingPunct="1"/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</a:rPr>
              <a:t>相等</a:t>
            </a:r>
            <a:r>
              <a:rPr kumimoji="1" lang="zh-CN" altLang="en-US" sz="3600" dirty="0">
                <a:ea typeface="黑体" pitchFamily="2" charset="-122"/>
              </a:rPr>
              <a:t>：</a:t>
            </a:r>
            <a:r>
              <a:rPr kumimoji="1" lang="en-US" altLang="zh-CN" sz="3600" dirty="0">
                <a:ea typeface="黑体" pitchFamily="2" charset="-122"/>
              </a:rPr>
              <a:t>R = S </a:t>
            </a:r>
            <a:r>
              <a:rPr kumimoji="1" lang="en-US" altLang="zh-CN" sz="3600" dirty="0">
                <a:ea typeface="黑体" pitchFamily="2" charset="-122"/>
                <a:sym typeface="Symbol" pitchFamily="18" charset="2"/>
              </a:rPr>
              <a:t></a:t>
            </a:r>
            <a:r>
              <a:rPr kumimoji="1" lang="en-US" altLang="zh-CN" sz="3600" dirty="0">
                <a:ea typeface="黑体" pitchFamily="2" charset="-122"/>
              </a:rPr>
              <a:t> </a:t>
            </a:r>
            <a:r>
              <a:rPr kumimoji="1" lang="en-US" altLang="zh-CN" sz="3600" dirty="0" err="1">
                <a:ea typeface="黑体" pitchFamily="2" charset="-122"/>
              </a:rPr>
              <a:t>r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>
                <a:ea typeface="黑体" pitchFamily="2" charset="-122"/>
              </a:rPr>
              <a:t> = </a:t>
            </a:r>
            <a:r>
              <a:rPr kumimoji="1" lang="en-US" altLang="zh-CN" sz="3600" dirty="0" err="1">
                <a:ea typeface="黑体" pitchFamily="2" charset="-122"/>
              </a:rPr>
              <a:t>s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zh-CN" altLang="en-US" sz="3600" dirty="0">
                <a:ea typeface="黑体" pitchFamily="2" charset="-122"/>
              </a:rPr>
              <a:t>；</a:t>
            </a:r>
          </a:p>
          <a:p>
            <a:pPr eaLnBrk="1" hangingPunct="1"/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</a:rPr>
              <a:t>包含</a:t>
            </a:r>
            <a:r>
              <a:rPr kumimoji="1" lang="zh-CN" altLang="en-US" sz="3600" dirty="0">
                <a:ea typeface="黑体" pitchFamily="2" charset="-122"/>
              </a:rPr>
              <a:t>：</a:t>
            </a:r>
            <a:r>
              <a:rPr kumimoji="1" lang="en-US" altLang="zh-CN" sz="3600" dirty="0">
                <a:ea typeface="黑体" pitchFamily="2" charset="-122"/>
              </a:rPr>
              <a:t>R </a:t>
            </a:r>
            <a:r>
              <a:rPr kumimoji="1" lang="en-US" altLang="zh-CN" sz="3600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sz="3600" dirty="0">
                <a:ea typeface="黑体" pitchFamily="2" charset="-122"/>
              </a:rPr>
              <a:t> S</a:t>
            </a:r>
            <a:r>
              <a:rPr kumimoji="1" lang="en-US" altLang="zh-CN" sz="3600" i="1" dirty="0">
                <a:ea typeface="黑体" pitchFamily="2" charset="-122"/>
              </a:rPr>
              <a:t> </a:t>
            </a:r>
            <a:r>
              <a:rPr kumimoji="1" lang="en-US" altLang="zh-CN" sz="3600" dirty="0">
                <a:ea typeface="黑体" pitchFamily="2" charset="-122"/>
                <a:sym typeface="Symbol" pitchFamily="18" charset="2"/>
              </a:rPr>
              <a:t></a:t>
            </a:r>
            <a:r>
              <a:rPr kumimoji="1" lang="en-US" altLang="zh-CN" sz="3600" dirty="0">
                <a:ea typeface="黑体" pitchFamily="2" charset="-122"/>
              </a:rPr>
              <a:t> </a:t>
            </a:r>
            <a:r>
              <a:rPr kumimoji="1" lang="en-US" altLang="zh-CN" sz="3600" dirty="0" err="1">
                <a:ea typeface="黑体" pitchFamily="2" charset="-122"/>
              </a:rPr>
              <a:t>r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i="1" baseline="-25000" dirty="0">
                <a:ea typeface="黑体" pitchFamily="2" charset="-122"/>
              </a:rPr>
              <a:t>  </a:t>
            </a:r>
            <a:r>
              <a:rPr kumimoji="1" lang="en-US" altLang="zh-CN" sz="3600" dirty="0">
                <a:ea typeface="黑体" pitchFamily="2" charset="-122"/>
              </a:rPr>
              <a:t>≤ </a:t>
            </a:r>
            <a:r>
              <a:rPr kumimoji="1" lang="en-US" altLang="zh-CN" sz="3600" dirty="0" err="1">
                <a:ea typeface="黑体" pitchFamily="2" charset="-122"/>
              </a:rPr>
              <a:t>s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zh-CN" altLang="en-US" sz="3600" dirty="0">
                <a:ea typeface="黑体" pitchFamily="2" charset="-122"/>
              </a:rPr>
              <a:t>；</a:t>
            </a:r>
          </a:p>
          <a:p>
            <a:pPr eaLnBrk="1" hangingPunct="1"/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</a:rPr>
              <a:t>   并</a:t>
            </a:r>
            <a:r>
              <a:rPr kumimoji="1" lang="zh-CN" altLang="en-US" sz="3600" dirty="0">
                <a:ea typeface="黑体" pitchFamily="2" charset="-122"/>
              </a:rPr>
              <a:t>： </a:t>
            </a:r>
            <a:r>
              <a:rPr kumimoji="1" lang="en-US" altLang="zh-CN" sz="3600" dirty="0">
                <a:ea typeface="黑体" pitchFamily="2" charset="-122"/>
              </a:rPr>
              <a:t>R</a:t>
            </a:r>
            <a:r>
              <a:rPr kumimoji="1" lang="en-US" altLang="zh-CN" sz="3600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sz="3600" dirty="0">
                <a:ea typeface="黑体" pitchFamily="2" charset="-122"/>
              </a:rPr>
              <a:t>S = (</a:t>
            </a:r>
            <a:r>
              <a:rPr kumimoji="1" lang="en-US" altLang="zh-CN" sz="3600" dirty="0" err="1">
                <a:ea typeface="黑体" pitchFamily="2" charset="-122"/>
              </a:rPr>
              <a:t>r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 err="1">
                <a:ea typeface="黑体" pitchFamily="2" charset="-122"/>
                <a:sym typeface="Symbol"/>
              </a:rPr>
              <a:t></a:t>
            </a:r>
            <a:r>
              <a:rPr kumimoji="1" lang="en-US" altLang="zh-CN" sz="3600" dirty="0" err="1">
                <a:ea typeface="黑体" pitchFamily="2" charset="-122"/>
              </a:rPr>
              <a:t>s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>
                <a:ea typeface="黑体" pitchFamily="2" charset="-122"/>
              </a:rPr>
              <a:t>) </a:t>
            </a:r>
            <a:r>
              <a:rPr kumimoji="1" lang="en-US" altLang="zh-CN" sz="3600" i="1" baseline="-25000" dirty="0" err="1">
                <a:ea typeface="黑体" pitchFamily="2" charset="-122"/>
              </a:rPr>
              <a:t>m</a:t>
            </a:r>
            <a:r>
              <a:rPr kumimoji="1" lang="en-US" altLang="zh-CN" sz="3600" baseline="-25000" dirty="0" err="1">
                <a:ea typeface="黑体" pitchFamily="2" charset="-122"/>
              </a:rPr>
              <a:t>×</a:t>
            </a:r>
            <a:r>
              <a:rPr kumimoji="1" lang="en-US" altLang="zh-CN" sz="3600" i="1" baseline="-25000" dirty="0" err="1">
                <a:ea typeface="黑体" pitchFamily="2" charset="-122"/>
              </a:rPr>
              <a:t>n</a:t>
            </a:r>
            <a:r>
              <a:rPr kumimoji="1" lang="zh-CN" altLang="en-US" sz="3600" dirty="0">
                <a:ea typeface="黑体" pitchFamily="2" charset="-122"/>
              </a:rPr>
              <a:t>；</a:t>
            </a:r>
          </a:p>
          <a:p>
            <a:pPr eaLnBrk="1" hangingPunct="1"/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</a:rPr>
              <a:t>   交</a:t>
            </a:r>
            <a:r>
              <a:rPr kumimoji="1" lang="zh-CN" altLang="en-US" sz="3600" dirty="0">
                <a:ea typeface="黑体" pitchFamily="2" charset="-122"/>
              </a:rPr>
              <a:t>： </a:t>
            </a:r>
            <a:r>
              <a:rPr kumimoji="1" lang="en-US" altLang="zh-CN" sz="3600" dirty="0">
                <a:ea typeface="黑体" pitchFamily="2" charset="-122"/>
              </a:rPr>
              <a:t>R</a:t>
            </a:r>
            <a:r>
              <a:rPr kumimoji="1" lang="en-US" altLang="zh-CN" sz="3600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sz="3600" dirty="0">
                <a:ea typeface="黑体" pitchFamily="2" charset="-122"/>
              </a:rPr>
              <a:t>S = (</a:t>
            </a:r>
            <a:r>
              <a:rPr kumimoji="1" lang="en-US" altLang="zh-CN" sz="3600" dirty="0" err="1">
                <a:ea typeface="黑体" pitchFamily="2" charset="-122"/>
              </a:rPr>
              <a:t>r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 err="1">
                <a:ea typeface="黑体" pitchFamily="2" charset="-122"/>
                <a:sym typeface="Symbol"/>
              </a:rPr>
              <a:t></a:t>
            </a:r>
            <a:r>
              <a:rPr kumimoji="1" lang="en-US" altLang="zh-CN" sz="3600" dirty="0" err="1">
                <a:ea typeface="黑体" pitchFamily="2" charset="-122"/>
              </a:rPr>
              <a:t>s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>
                <a:ea typeface="黑体" pitchFamily="2" charset="-122"/>
              </a:rPr>
              <a:t>) </a:t>
            </a:r>
            <a:r>
              <a:rPr kumimoji="1" lang="en-US" altLang="zh-CN" sz="3600" i="1" baseline="-25000" dirty="0" err="1">
                <a:ea typeface="黑体" pitchFamily="2" charset="-122"/>
              </a:rPr>
              <a:t>m</a:t>
            </a:r>
            <a:r>
              <a:rPr kumimoji="1" lang="en-US" altLang="zh-CN" sz="3600" baseline="-25000" dirty="0" err="1">
                <a:ea typeface="黑体" pitchFamily="2" charset="-122"/>
              </a:rPr>
              <a:t>×</a:t>
            </a:r>
            <a:r>
              <a:rPr kumimoji="1" lang="en-US" altLang="zh-CN" sz="3600" i="1" baseline="-25000" dirty="0" err="1">
                <a:ea typeface="黑体" pitchFamily="2" charset="-122"/>
              </a:rPr>
              <a:t>n</a:t>
            </a:r>
            <a:r>
              <a:rPr kumimoji="1" lang="zh-CN" altLang="en-US" sz="3600" dirty="0">
                <a:ea typeface="黑体" pitchFamily="2" charset="-122"/>
              </a:rPr>
              <a:t>；</a:t>
            </a:r>
          </a:p>
          <a:p>
            <a:pPr eaLnBrk="1" hangingPunct="1"/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</a:rPr>
              <a:t>   余</a:t>
            </a:r>
            <a:r>
              <a:rPr kumimoji="1" lang="zh-CN" altLang="en-US" sz="3600" dirty="0">
                <a:ea typeface="黑体" pitchFamily="2" charset="-122"/>
              </a:rPr>
              <a:t>：      </a:t>
            </a:r>
            <a:r>
              <a:rPr kumimoji="1" lang="en-US" altLang="zh-CN" sz="3600" dirty="0" err="1">
                <a:ea typeface="黑体" pitchFamily="2" charset="-122"/>
              </a:rPr>
              <a:t>R</a:t>
            </a:r>
            <a:r>
              <a:rPr kumimoji="1" lang="en-US" altLang="zh-CN" sz="3600" baseline="30000" dirty="0" err="1">
                <a:ea typeface="黑体" pitchFamily="2" charset="-122"/>
              </a:rPr>
              <a:t>c</a:t>
            </a:r>
            <a:r>
              <a:rPr kumimoji="1" lang="en-US" altLang="zh-CN" sz="3600" dirty="0">
                <a:ea typeface="黑体" pitchFamily="2" charset="-122"/>
              </a:rPr>
              <a:t> = (1- </a:t>
            </a:r>
            <a:r>
              <a:rPr kumimoji="1" lang="en-US" altLang="zh-CN" sz="3600" dirty="0" err="1">
                <a:ea typeface="黑体" pitchFamily="2" charset="-122"/>
              </a:rPr>
              <a:t>r</a:t>
            </a:r>
            <a:r>
              <a:rPr kumimoji="1" lang="en-US" altLang="zh-CN" sz="3600" i="1" baseline="-25000" dirty="0" err="1">
                <a:ea typeface="黑体" pitchFamily="2" charset="-122"/>
              </a:rPr>
              <a:t>ij</a:t>
            </a:r>
            <a:r>
              <a:rPr kumimoji="1" lang="en-US" altLang="zh-CN" sz="3600" dirty="0">
                <a:ea typeface="黑体" pitchFamily="2" charset="-122"/>
              </a:rPr>
              <a:t>) </a:t>
            </a:r>
            <a:r>
              <a:rPr kumimoji="1" lang="en-US" altLang="zh-CN" sz="3600" i="1" baseline="-25000" dirty="0" err="1">
                <a:ea typeface="黑体" pitchFamily="2" charset="-122"/>
              </a:rPr>
              <a:t>m</a:t>
            </a:r>
            <a:r>
              <a:rPr kumimoji="1" lang="en-US" altLang="zh-CN" sz="3600" baseline="-25000" dirty="0" err="1">
                <a:ea typeface="黑体" pitchFamily="2" charset="-122"/>
              </a:rPr>
              <a:t>×</a:t>
            </a:r>
            <a:r>
              <a:rPr kumimoji="1" lang="en-US" altLang="zh-CN" sz="3600" i="1" baseline="-25000" dirty="0" err="1">
                <a:ea typeface="黑体" pitchFamily="2" charset="-122"/>
              </a:rPr>
              <a:t>n</a:t>
            </a:r>
            <a:r>
              <a:rPr kumimoji="1" lang="en-US" altLang="zh-CN" sz="3600" dirty="0">
                <a:ea typeface="黑体" pitchFamily="2" charset="-122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80C0D4-6AC2-1CA7-4A6A-5E3C1F3AA9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  <a:cs typeface="Times New Roman" pitchFamily="18" charset="0"/>
              </a:rPr>
              <a:t>矩阵的运算举例</a:t>
            </a:r>
            <a:r>
              <a:rPr lang="en-US" altLang="zh-CN" dirty="0">
                <a:ea typeface="黑体" pitchFamily="2" charset="-122"/>
                <a:cs typeface="Times New Roman" pitchFamily="18" charset="0"/>
              </a:rPr>
              <a:t>[P64</a:t>
            </a:r>
            <a:r>
              <a:rPr lang="zh-CN" altLang="en-US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dirty="0">
                <a:ea typeface="黑体" pitchFamily="2" charset="-122"/>
                <a:cs typeface="Times New Roman" pitchFamily="18" charset="0"/>
              </a:rPr>
              <a:t>1]</a:t>
            </a:r>
          </a:p>
        </p:txBody>
      </p:sp>
      <p:graphicFrame>
        <p:nvGraphicFramePr>
          <p:cNvPr id="32771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495550" y="1700214"/>
          <a:ext cx="619283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43200" imgH="457200" progId="Equation.3">
                  <p:embed/>
                </p:oleObj>
              </mc:Choice>
              <mc:Fallback>
                <p:oleObj name="公式" r:id="rId2" imgW="2743200" imgH="457200" progId="Equation.3">
                  <p:embed/>
                  <p:pic>
                    <p:nvPicPr>
                      <p:cNvPr id="327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700214"/>
                        <a:ext cx="619283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97093703"/>
              </p:ext>
            </p:extLst>
          </p:nvPr>
        </p:nvGraphicFramePr>
        <p:xfrm>
          <a:off x="1992313" y="2924375"/>
          <a:ext cx="5688012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40000" imgH="457200" progId="Equation.3">
                  <p:embed/>
                </p:oleObj>
              </mc:Choice>
              <mc:Fallback>
                <p:oleObj name="公式" r:id="rId4" imgW="2540000" imgH="457200" progId="Equation.3">
                  <p:embed/>
                  <p:pic>
                    <p:nvPicPr>
                      <p:cNvPr id="40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924375"/>
                        <a:ext cx="5688012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904033617"/>
              </p:ext>
            </p:extLst>
          </p:nvPr>
        </p:nvGraphicFramePr>
        <p:xfrm>
          <a:off x="2279651" y="5535811"/>
          <a:ext cx="460851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5000" imgH="457200" progId="Equation.3">
                  <p:embed/>
                </p:oleObj>
              </mc:Choice>
              <mc:Fallback>
                <p:oleObj name="公式" r:id="rId6" imgW="1905000" imgH="457200" progId="Equation.3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5535811"/>
                        <a:ext cx="460851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407027"/>
              </p:ext>
            </p:extLst>
          </p:nvPr>
        </p:nvGraphicFramePr>
        <p:xfrm>
          <a:off x="7751764" y="2852937"/>
          <a:ext cx="2916237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55700" imgH="457200" progId="Equation.3">
                  <p:embed/>
                </p:oleObj>
              </mc:Choice>
              <mc:Fallback>
                <p:oleObj name="公式" r:id="rId8" imgW="1155700" imgH="457200" progId="Equation.3">
                  <p:embed/>
                  <p:pic>
                    <p:nvPicPr>
                      <p:cNvPr id="40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2852937"/>
                        <a:ext cx="2916237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938336466"/>
              </p:ext>
            </p:extLst>
          </p:nvPr>
        </p:nvGraphicFramePr>
        <p:xfrm>
          <a:off x="1919289" y="4219775"/>
          <a:ext cx="58324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40000" imgH="457200" progId="Equation.3">
                  <p:embed/>
                </p:oleObj>
              </mc:Choice>
              <mc:Fallback>
                <p:oleObj name="公式" r:id="rId10" imgW="2540000" imgH="457200" progId="Equation.3">
                  <p:embed/>
                  <p:pic>
                    <p:nvPicPr>
                      <p:cNvPr id="409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219775"/>
                        <a:ext cx="58324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735863"/>
              </p:ext>
            </p:extLst>
          </p:nvPr>
        </p:nvGraphicFramePr>
        <p:xfrm>
          <a:off x="7751764" y="4219774"/>
          <a:ext cx="280987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55700" imgH="457200" progId="Equation.3">
                  <p:embed/>
                </p:oleObj>
              </mc:Choice>
              <mc:Fallback>
                <p:oleObj name="公式" r:id="rId12" imgW="1155700" imgH="457200" progId="Equation.3">
                  <p:embed/>
                  <p:pic>
                    <p:nvPicPr>
                      <p:cNvPr id="409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4219774"/>
                        <a:ext cx="2809875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985874"/>
              </p:ext>
            </p:extLst>
          </p:nvPr>
        </p:nvGraphicFramePr>
        <p:xfrm>
          <a:off x="6959600" y="5558037"/>
          <a:ext cx="273685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55700" imgH="457200" progId="Equation.3">
                  <p:embed/>
                </p:oleObj>
              </mc:Choice>
              <mc:Fallback>
                <p:oleObj name="公式" r:id="rId14" imgW="1155700" imgH="457200" progId="Equation.3">
                  <p:embed/>
                  <p:pic>
                    <p:nvPicPr>
                      <p:cNvPr id="409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5558037"/>
                        <a:ext cx="273685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D45843-B8DD-D0F3-87AB-2552C01C0A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ABD33E-19E4-47B8-8A35-264A4FB2E09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2657"/>
            <a:ext cx="8229600" cy="100806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矩阵的运算规律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4314"/>
            <a:ext cx="8229600" cy="5373687"/>
          </a:xfrm>
        </p:spPr>
        <p:txBody>
          <a:bodyPr/>
          <a:lstStyle/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幂等律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：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 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 R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 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交换律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：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黑体" pitchFamily="2" charset="-12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黑体" pitchFamily="2" charset="-12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结合律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：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),</a:t>
            </a:r>
          </a:p>
          <a:p>
            <a:pPr eaLnBrk="1" hangingPunct="1">
              <a:buNone/>
            </a:pP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                 (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</a:rPr>
              <a:t>吸收律</a:t>
            </a:r>
            <a:r>
              <a:rPr kumimoji="1" lang="zh-CN" altLang="en-US" sz="2800" b="1" dirty="0">
                <a:ea typeface="黑体" pitchFamily="2" charset="-122"/>
              </a:rPr>
              <a:t>：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 = 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zh-CN" altLang="en-US" sz="2800" b="1" dirty="0">
                <a:ea typeface="黑体" pitchFamily="2" charset="-122"/>
              </a:rPr>
              <a:t>，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 = 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zh-CN" altLang="en-US" sz="2800" b="1" dirty="0">
                <a:ea typeface="黑体" pitchFamily="2" charset="-122"/>
              </a:rPr>
              <a:t>；</a:t>
            </a:r>
            <a:r>
              <a:rPr kumimoji="1" lang="zh-CN" altLang="en-US" sz="2800" b="1" i="1" dirty="0">
                <a:ea typeface="黑体" pitchFamily="2" charset="-122"/>
              </a:rPr>
              <a:t> </a:t>
            </a:r>
            <a:endParaRPr kumimoji="1" lang="zh-CN" altLang="en-US" sz="2800" b="1" dirty="0">
              <a:ea typeface="黑体" pitchFamily="2" charset="-122"/>
            </a:endParaRPr>
          </a:p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</a:rPr>
              <a:t>分配律</a:t>
            </a:r>
            <a:r>
              <a:rPr kumimoji="1" lang="zh-CN" altLang="en-US" sz="2800" b="1" dirty="0">
                <a:ea typeface="黑体" pitchFamily="2" charset="-122"/>
              </a:rPr>
              <a:t>：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= 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)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             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</a:rPr>
              <a:t>R 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= 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)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T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</a:rPr>
              <a:t>还原律</a:t>
            </a:r>
            <a:r>
              <a:rPr kumimoji="1" lang="zh-CN" altLang="en-US" sz="2800" b="1" dirty="0">
                <a:ea typeface="黑体" pitchFamily="2" charset="-122"/>
              </a:rPr>
              <a:t>：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 err="1">
                <a:ea typeface="黑体" pitchFamily="2" charset="-122"/>
              </a:rPr>
              <a:t>R</a:t>
            </a:r>
            <a:r>
              <a:rPr kumimoji="1" lang="en-US" altLang="zh-CN" sz="2800" b="1" i="1" baseline="30000" dirty="0" err="1">
                <a:ea typeface="黑体" pitchFamily="2" charset="-122"/>
              </a:rPr>
              <a:t>c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i="1" baseline="30000" dirty="0">
                <a:ea typeface="黑体" pitchFamily="2" charset="-122"/>
              </a:rPr>
              <a:t>c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= 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ea typeface="黑体" pitchFamily="2" charset="-122"/>
              </a:rPr>
              <a:t>对偶律</a:t>
            </a:r>
            <a:r>
              <a:rPr kumimoji="1" lang="zh-CN" altLang="en-US" sz="2800" b="1" dirty="0">
                <a:ea typeface="黑体" pitchFamily="2" charset="-122"/>
              </a:rPr>
              <a:t>：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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i="1" baseline="30000" dirty="0">
                <a:ea typeface="黑体" pitchFamily="2" charset="-122"/>
              </a:rPr>
              <a:t>c</a:t>
            </a:r>
            <a:r>
              <a:rPr kumimoji="1" lang="en-US" altLang="zh-CN" sz="2800" b="1" i="1" dirty="0">
                <a:ea typeface="黑体" pitchFamily="2" charset="-122"/>
              </a:rPr>
              <a:t>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</a:t>
            </a:r>
            <a:r>
              <a:rPr kumimoji="1" lang="en-US" altLang="zh-CN" sz="2800" b="1" i="1" dirty="0" err="1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2800" b="1" i="1" baseline="30000" dirty="0" err="1">
                <a:ea typeface="黑体" pitchFamily="2" charset="-122"/>
              </a:rPr>
              <a:t>c</a:t>
            </a:r>
            <a:r>
              <a:rPr kumimoji="1" lang="en-US" altLang="zh-CN" sz="2800" b="1" i="1" baseline="30000" dirty="0">
                <a:ea typeface="黑体" pitchFamily="2" charset="-122"/>
              </a:rPr>
              <a:t> 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i="1" baseline="30000" dirty="0">
                <a:ea typeface="黑体" pitchFamily="2" charset="-122"/>
              </a:rPr>
              <a:t>c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, </a:t>
            </a:r>
          </a:p>
          <a:p>
            <a:pPr eaLnBrk="1" hangingPunct="1">
              <a:buNone/>
            </a:pP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                  (</a:t>
            </a:r>
            <a:r>
              <a:rPr kumimoji="1" lang="en-US" altLang="zh-CN" sz="2800" b="1" i="1" dirty="0">
                <a:ea typeface="黑体" pitchFamily="2" charset="-122"/>
              </a:rPr>
              <a:t>R</a:t>
            </a:r>
            <a:r>
              <a:rPr kumimoji="1" lang="en-US" altLang="zh-CN" sz="2800" b="1" dirty="0">
                <a:ea typeface="黑体" pitchFamily="2" charset="-122"/>
                <a:sym typeface="Symbol"/>
              </a:rPr>
              <a:t>  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i="1" baseline="30000" dirty="0">
                <a:ea typeface="黑体" pitchFamily="2" charset="-122"/>
              </a:rPr>
              <a:t>c</a:t>
            </a:r>
            <a:r>
              <a:rPr kumimoji="1" lang="en-US" altLang="zh-CN" b="1" i="1" dirty="0">
                <a:ea typeface="黑体" pitchFamily="2" charset="-122"/>
              </a:rPr>
              <a:t> </a:t>
            </a:r>
            <a:r>
              <a:rPr kumimoji="1" lang="en-US" altLang="zh-CN" sz="2800" b="1" dirty="0">
                <a:ea typeface="黑体" pitchFamily="2" charset="-122"/>
                <a:sym typeface="Symbol" pitchFamily="18" charset="2"/>
              </a:rPr>
              <a:t>=</a:t>
            </a:r>
            <a:r>
              <a:rPr kumimoji="1" lang="en-US" altLang="zh-CN" sz="2800" b="1" i="1" dirty="0" err="1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2800" b="1" i="1" baseline="30000" dirty="0" err="1">
                <a:ea typeface="黑体" pitchFamily="2" charset="-122"/>
              </a:rPr>
              <a:t>c</a:t>
            </a:r>
            <a:r>
              <a:rPr kumimoji="1" lang="en-US" altLang="zh-CN" b="1" dirty="0">
                <a:ea typeface="黑体" pitchFamily="2" charset="-122"/>
                <a:sym typeface="Symbol"/>
              </a:rPr>
              <a:t> </a:t>
            </a:r>
            <a:r>
              <a:rPr kumimoji="1" lang="en-US" altLang="zh-CN" sz="2800" b="1" i="1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800" b="1" i="1" baseline="30000" dirty="0">
                <a:ea typeface="黑体" pitchFamily="2" charset="-122"/>
              </a:rPr>
              <a:t>c</a:t>
            </a:r>
            <a:r>
              <a:rPr kumimoji="1" lang="en-US" altLang="zh-CN" b="1" dirty="0">
                <a:ea typeface="黑体" pitchFamily="2" charset="-122"/>
                <a:sym typeface="Symbol" pitchFamily="18" charset="2"/>
              </a:rPr>
              <a:t>.</a:t>
            </a:r>
            <a:endParaRPr lang="en-US" altLang="zh-CN" b="1" dirty="0">
              <a:ea typeface="黑体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7392144" y="5301208"/>
            <a:ext cx="3275856" cy="1296144"/>
          </a:xfrm>
          <a:prstGeom prst="wedgeRoundRectCallout">
            <a:avLst>
              <a:gd name="adj1" fmla="val -28858"/>
              <a:gd name="adj2" fmla="val -494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/>
              </a:rPr>
              <a:t></a:t>
            </a: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—— </a:t>
            </a:r>
            <a:r>
              <a:rPr kumimoji="1"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“取大”运算</a:t>
            </a:r>
            <a:endParaRPr kumimoji="1"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  <a:sym typeface="Symbol" pitchFamily="18" charset="2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/>
              </a:rPr>
              <a:t></a:t>
            </a: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—— </a:t>
            </a:r>
            <a:r>
              <a:rPr kumimoji="1"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“取小”运算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1EEE65-C655-C7C1-B8E3-DFDDAD3951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uiExpand="1" build="p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0795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矩阵的运算性质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(1)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6"/>
            <a:ext cx="10225136" cy="5445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定义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零矩阵（</a:t>
            </a:r>
            <a:r>
              <a:rPr lang="en-US" altLang="zh-CN" i="1" dirty="0">
                <a:solidFill>
                  <a:srgbClr val="FF0000"/>
                </a:solidFill>
                <a:ea typeface="黑体" pitchFamily="2" charset="-122"/>
              </a:rPr>
              <a:t>O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）、单位阵（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）</a:t>
            </a:r>
            <a:r>
              <a:rPr lang="zh-CN" altLang="en-US" dirty="0"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全矩阵（</a:t>
            </a:r>
            <a:r>
              <a:rPr lang="en-US" altLang="zh-CN" i="1" dirty="0">
                <a:solidFill>
                  <a:srgbClr val="FF0000"/>
                </a:solidFill>
                <a:ea typeface="黑体" pitchFamily="2" charset="-122"/>
              </a:rPr>
              <a:t>E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）</a:t>
            </a:r>
            <a:r>
              <a:rPr lang="zh-CN" altLang="en-US" dirty="0">
                <a:ea typeface="黑体" pitchFamily="2" charset="-122"/>
              </a:rPr>
              <a:t>：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36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zh-CN" sz="1600" dirty="0"/>
          </a:p>
          <a:p>
            <a:pPr eaLnBrk="1" hangingPunct="1">
              <a:lnSpc>
                <a:spcPct val="90000"/>
              </a:lnSpc>
            </a:pPr>
            <a:endParaRPr lang="zh-CN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8000"/>
                </a:solidFill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性质</a:t>
            </a:r>
            <a:r>
              <a:rPr lang="en-US" altLang="zh-CN" dirty="0">
                <a:solidFill>
                  <a:srgbClr val="008000"/>
                </a:solidFill>
              </a:rPr>
              <a:t>1]</a:t>
            </a:r>
            <a:r>
              <a:rPr lang="en-US" altLang="zh-CN" dirty="0"/>
              <a:t> 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R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l-GR" altLang="zh-CN" i="1" dirty="0">
                <a:cs typeface="Arial" charset="0"/>
              </a:rPr>
              <a:t>μ</a:t>
            </a:r>
            <a:r>
              <a:rPr kumimoji="1" lang="en-US" altLang="zh-CN" i="1" baseline="-25000" dirty="0" err="1">
                <a:ea typeface="黑体" pitchFamily="2" charset="-122"/>
              </a:rPr>
              <a:t>m</a:t>
            </a:r>
            <a:r>
              <a:rPr kumimoji="1" lang="en-US" altLang="zh-CN" baseline="-25000" dirty="0" err="1">
                <a:ea typeface="黑体" pitchFamily="2" charset="-122"/>
              </a:rPr>
              <a:t>×</a:t>
            </a:r>
            <a:r>
              <a:rPr kumimoji="1" lang="en-US" altLang="zh-CN" i="1" baseline="-25000" dirty="0" err="1">
                <a:ea typeface="黑体" pitchFamily="2" charset="-122"/>
              </a:rPr>
              <a:t>n</a:t>
            </a:r>
            <a:r>
              <a:rPr kumimoji="1" lang="en-US" altLang="zh-CN" dirty="0">
                <a:ea typeface="黑体" pitchFamily="2" charset="-122"/>
              </a:rPr>
              <a:t>, </a:t>
            </a:r>
            <a:r>
              <a:rPr kumimoji="1" lang="zh-CN" altLang="en-US" dirty="0">
                <a:ea typeface="黑体" pitchFamily="2" charset="-122"/>
              </a:rPr>
              <a:t>有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sz="3200" dirty="0">
                <a:ea typeface="黑体" pitchFamily="2" charset="-122"/>
              </a:rPr>
              <a:t> 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O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 R  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E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    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O </a:t>
            </a:r>
            <a:r>
              <a:rPr kumimoji="1" lang="en-US" altLang="zh-CN" sz="3200" dirty="0">
                <a:sym typeface="Symbol"/>
              </a:rPr>
              <a:t> </a:t>
            </a:r>
            <a:r>
              <a:rPr kumimoji="1" lang="en-US" altLang="zh-CN" sz="3200" dirty="0"/>
              <a:t>R = R   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O </a:t>
            </a:r>
            <a:r>
              <a:rPr kumimoji="1" lang="en-US" altLang="zh-CN" sz="3200" dirty="0">
                <a:sym typeface="Symbol"/>
              </a:rPr>
              <a:t> </a:t>
            </a:r>
            <a:r>
              <a:rPr kumimoji="1" lang="en-US" altLang="zh-CN" sz="3200" dirty="0">
                <a:sym typeface="Symbol" pitchFamily="18" charset="2"/>
              </a:rPr>
              <a:t>R = 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O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E </a:t>
            </a:r>
            <a:r>
              <a:rPr kumimoji="1" lang="en-US" altLang="zh-CN" sz="3200" dirty="0">
                <a:sym typeface="Symbol"/>
              </a:rPr>
              <a:t> </a:t>
            </a:r>
            <a:r>
              <a:rPr kumimoji="1" lang="en-US" altLang="zh-CN" sz="3200" dirty="0"/>
              <a:t>R = </a:t>
            </a:r>
            <a:r>
              <a:rPr kumimoji="1" lang="en-US" altLang="zh-CN" sz="3200" dirty="0">
                <a:solidFill>
                  <a:srgbClr val="FF0000"/>
                </a:solidFill>
              </a:rPr>
              <a:t>E</a:t>
            </a:r>
            <a:r>
              <a:rPr kumimoji="1" lang="en-US" altLang="zh-CN" sz="3200" dirty="0"/>
              <a:t>    </a:t>
            </a:r>
            <a:r>
              <a:rPr kumimoji="1" lang="en-US" altLang="zh-CN" sz="3200" dirty="0" err="1">
                <a:solidFill>
                  <a:srgbClr val="FF0000"/>
                </a:solidFill>
              </a:rPr>
              <a:t>E</a:t>
            </a:r>
            <a:r>
              <a:rPr kumimoji="1" lang="en-US" altLang="zh-CN" sz="3200" dirty="0">
                <a:solidFill>
                  <a:srgbClr val="FF0000"/>
                </a:solidFill>
              </a:rPr>
              <a:t> </a:t>
            </a:r>
            <a:r>
              <a:rPr kumimoji="1" lang="en-US" altLang="zh-CN" sz="3200" dirty="0">
                <a:sym typeface="Symbol"/>
              </a:rPr>
              <a:t> </a:t>
            </a:r>
            <a:r>
              <a:rPr kumimoji="1" lang="en-US" altLang="zh-CN" sz="3200" dirty="0">
                <a:sym typeface="Symbol" pitchFamily="18" charset="2"/>
              </a:rPr>
              <a:t>R = R</a:t>
            </a:r>
            <a:endParaRPr lang="en-US" altLang="zh-CN" sz="3200" dirty="0"/>
          </a:p>
        </p:txBody>
      </p:sp>
      <p:graphicFrame>
        <p:nvGraphicFramePr>
          <p:cNvPr id="4301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7972521"/>
              </p:ext>
            </p:extLst>
          </p:nvPr>
        </p:nvGraphicFramePr>
        <p:xfrm>
          <a:off x="1679211" y="2204865"/>
          <a:ext cx="8567785" cy="2029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0640" imgH="914400" progId="Equation.DSMT4">
                  <p:embed/>
                </p:oleObj>
              </mc:Choice>
              <mc:Fallback>
                <p:oleObj name="Equation" r:id="rId2" imgW="3860640" imgH="914400" progId="Equation.DSMT4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211" y="2204865"/>
                        <a:ext cx="8567785" cy="2029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CB1D71-DEBF-3BF6-CEBE-FC111BD87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C85EAC-6FAE-44AE-B9A5-47E3DC5EF4E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914"/>
            <a:ext cx="8229600" cy="136842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矩阵的运算性质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(2)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412776"/>
            <a:ext cx="9011344" cy="53006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性质</a:t>
            </a:r>
            <a:r>
              <a:rPr lang="en-US" altLang="zh-CN" dirty="0">
                <a:solidFill>
                  <a:srgbClr val="008000"/>
                </a:solidFill>
              </a:rPr>
              <a:t>2]</a:t>
            </a:r>
            <a:r>
              <a:rPr lang="en-US" altLang="zh-CN" dirty="0"/>
              <a:t> </a:t>
            </a:r>
            <a:r>
              <a:rPr lang="zh-CN" altLang="en-US" dirty="0">
                <a:ea typeface="黑体" pitchFamily="2" charset="-122"/>
              </a:rPr>
              <a:t>若 </a:t>
            </a:r>
            <a:r>
              <a:rPr lang="en-US" altLang="zh-CN" dirty="0"/>
              <a:t>R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 S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，则</a:t>
            </a:r>
          </a:p>
          <a:p>
            <a:pPr lvl="1" eaLnBrk="1" hangingPunct="1"/>
            <a:r>
              <a:rPr kumimoji="1" lang="zh-CN" altLang="en-US" sz="3200" dirty="0"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3200" dirty="0">
                <a:sym typeface="Symbol"/>
              </a:rPr>
              <a:t></a:t>
            </a:r>
            <a:r>
              <a:rPr kumimoji="1" lang="en-US" altLang="zh-CN" sz="3200" dirty="0"/>
              <a:t>S = S   </a:t>
            </a:r>
          </a:p>
          <a:p>
            <a:pPr lvl="1" eaLnBrk="1" hangingPunct="1"/>
            <a:r>
              <a:rPr kumimoji="1" lang="en-US" altLang="zh-CN" sz="3200" dirty="0"/>
              <a:t> R</a:t>
            </a:r>
            <a:r>
              <a:rPr kumimoji="1" lang="en-US" altLang="zh-CN" sz="3200" dirty="0">
                <a:sym typeface="Symbol"/>
              </a:rPr>
              <a:t></a:t>
            </a:r>
            <a:r>
              <a:rPr kumimoji="1" lang="en-US" altLang="zh-CN" sz="3200" dirty="0">
                <a:sym typeface="Symbol" pitchFamily="18" charset="2"/>
              </a:rPr>
              <a:t>S = R   </a:t>
            </a:r>
          </a:p>
          <a:p>
            <a:pPr lvl="1" eaLnBrk="1" hangingPunct="1"/>
            <a:r>
              <a:rPr kumimoji="1" lang="en-US" altLang="zh-CN" sz="3200" dirty="0">
                <a:sym typeface="Symbol" pitchFamily="18" charset="2"/>
              </a:rPr>
              <a:t> </a:t>
            </a:r>
            <a:r>
              <a:rPr kumimoji="1" lang="en-US" altLang="zh-CN" sz="3200" dirty="0" err="1">
                <a:sym typeface="Symbol" pitchFamily="18" charset="2"/>
              </a:rPr>
              <a:t>S</a:t>
            </a:r>
            <a:r>
              <a:rPr kumimoji="1" lang="en-US" altLang="zh-CN" sz="3200" baseline="30000" dirty="0" err="1">
                <a:sym typeface="Symbol" pitchFamily="18" charset="2"/>
              </a:rPr>
              <a:t>c</a:t>
            </a:r>
            <a:r>
              <a:rPr kumimoji="1" lang="en-US" altLang="zh-CN" sz="3200" baseline="30000" dirty="0">
                <a:sym typeface="Symbol" pitchFamily="18" charset="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 </a:t>
            </a:r>
            <a:r>
              <a:rPr kumimoji="1" lang="en-US" altLang="zh-CN" sz="3200" dirty="0" err="1">
                <a:sym typeface="Symbol" pitchFamily="18" charset="2"/>
              </a:rPr>
              <a:t>R</a:t>
            </a:r>
            <a:r>
              <a:rPr kumimoji="1" lang="en-US" altLang="zh-CN" sz="3200" baseline="30000" dirty="0" err="1">
                <a:sym typeface="Symbol" pitchFamily="18" charset="2"/>
              </a:rPr>
              <a:t>c</a:t>
            </a:r>
            <a:endParaRPr kumimoji="1" lang="en-US" altLang="zh-CN" sz="32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性质</a:t>
            </a:r>
            <a:r>
              <a:rPr lang="en-US" altLang="zh-CN" dirty="0">
                <a:solidFill>
                  <a:srgbClr val="008000"/>
                </a:solidFill>
              </a:rPr>
              <a:t>3]</a:t>
            </a:r>
            <a:r>
              <a:rPr lang="zh-CN" altLang="en-US" dirty="0">
                <a:ea typeface="黑体" pitchFamily="2" charset="-122"/>
              </a:rPr>
              <a:t>若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S</a:t>
            </a:r>
            <a:r>
              <a:rPr lang="en-US" altLang="zh-CN" baseline="-25000" dirty="0"/>
              <a:t>1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S</a:t>
            </a:r>
            <a:r>
              <a:rPr lang="en-US" altLang="zh-CN" baseline="-25000" dirty="0"/>
              <a:t>2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，则</a:t>
            </a:r>
          </a:p>
          <a:p>
            <a:pPr lvl="1" eaLnBrk="1" hangingPunct="1"/>
            <a:r>
              <a:rPr kumimoji="1" lang="zh-CN" altLang="en-US" sz="3200" dirty="0">
                <a:ea typeface="黑体" pitchFamily="2" charset="-122"/>
                <a:sym typeface="Symbol" pitchFamily="18" charset="2"/>
              </a:rPr>
              <a:t> 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sz="3200" baseline="-25000" dirty="0"/>
              <a:t>1</a:t>
            </a:r>
            <a:r>
              <a:rPr kumimoji="1" lang="en-US" altLang="zh-CN" sz="3200" dirty="0">
                <a:sym typeface="Symbol"/>
              </a:rPr>
              <a:t>  </a:t>
            </a:r>
            <a:r>
              <a:rPr kumimoji="1" lang="en-US" altLang="zh-CN" sz="3200" dirty="0"/>
              <a:t>R</a:t>
            </a:r>
            <a:r>
              <a:rPr lang="en-US" altLang="zh-CN" sz="3200" baseline="-25000" dirty="0"/>
              <a:t>2</a:t>
            </a:r>
            <a:r>
              <a:rPr kumimoji="1" lang="en-US" altLang="zh-CN" sz="3200" dirty="0"/>
              <a:t>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sz="3200" dirty="0"/>
              <a:t> S</a:t>
            </a:r>
            <a:r>
              <a:rPr lang="en-US" altLang="zh-CN" sz="3200" baseline="-25000" dirty="0"/>
              <a:t>1</a:t>
            </a:r>
            <a:r>
              <a:rPr kumimoji="1" lang="en-US" altLang="zh-CN" sz="3200" dirty="0">
                <a:sym typeface="Symbol"/>
              </a:rPr>
              <a:t>  </a:t>
            </a:r>
            <a:r>
              <a:rPr kumimoji="1" lang="en-US" altLang="zh-CN" sz="3200" dirty="0"/>
              <a:t>S</a:t>
            </a:r>
            <a:r>
              <a:rPr lang="en-US" altLang="zh-CN" sz="3200" baseline="-25000" dirty="0"/>
              <a:t>2</a:t>
            </a:r>
            <a:r>
              <a:rPr kumimoji="1" lang="en-US" altLang="zh-CN" sz="3200" dirty="0"/>
              <a:t>  </a:t>
            </a:r>
          </a:p>
          <a:p>
            <a:pPr lvl="1" eaLnBrk="1" hangingPunct="1"/>
            <a:r>
              <a:rPr kumimoji="1" lang="en-US" altLang="zh-CN" sz="3200" dirty="0"/>
              <a:t>  R</a:t>
            </a:r>
            <a:r>
              <a:rPr lang="en-US" altLang="zh-CN" sz="3200" baseline="-25000" dirty="0"/>
              <a:t>1</a:t>
            </a:r>
            <a:r>
              <a:rPr kumimoji="1" lang="en-US" altLang="zh-CN" sz="3200" dirty="0">
                <a:sym typeface="Symbol"/>
              </a:rPr>
              <a:t>  </a:t>
            </a:r>
            <a:r>
              <a:rPr kumimoji="1" lang="en-US" altLang="zh-CN" sz="3200" dirty="0">
                <a:sym typeface="Symbol" pitchFamily="18" charset="2"/>
              </a:rPr>
              <a:t>R</a:t>
            </a:r>
            <a:r>
              <a:rPr lang="en-US" altLang="zh-CN" sz="3200" baseline="-25000" dirty="0"/>
              <a:t>2</a:t>
            </a:r>
            <a:r>
              <a:rPr kumimoji="1" lang="en-US" altLang="zh-CN" sz="3200" dirty="0">
                <a:sym typeface="Symbol" pitchFamily="18" charset="2"/>
              </a:rPr>
              <a:t>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sz="3200" dirty="0">
                <a:sym typeface="Symbol" pitchFamily="18" charset="2"/>
              </a:rPr>
              <a:t> S</a:t>
            </a:r>
            <a:r>
              <a:rPr lang="en-US" altLang="zh-CN" sz="3200" baseline="-25000" dirty="0"/>
              <a:t>1 </a:t>
            </a:r>
            <a:r>
              <a:rPr kumimoji="1" lang="en-US" altLang="zh-CN" sz="3200" dirty="0">
                <a:sym typeface="Symbol"/>
              </a:rPr>
              <a:t> </a:t>
            </a:r>
            <a:r>
              <a:rPr kumimoji="1" lang="en-US" altLang="zh-CN" sz="3200" dirty="0">
                <a:sym typeface="Symbol" pitchFamily="18" charset="2"/>
              </a:rPr>
              <a:t>S</a:t>
            </a:r>
            <a:r>
              <a:rPr lang="en-US" altLang="zh-CN" sz="3200" baseline="-25000" dirty="0"/>
              <a:t>2</a:t>
            </a:r>
            <a:endParaRPr kumimoji="1" lang="en-US" altLang="zh-CN" sz="3200" dirty="0">
              <a:sym typeface="Symbol" pitchFamily="18" charset="2"/>
            </a:endParaRPr>
          </a:p>
          <a:p>
            <a:pPr eaLnBrk="1" hangingPunct="1"/>
            <a:r>
              <a:rPr kumimoji="1" lang="zh-CN" altLang="en-US" sz="3600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注意</a:t>
            </a:r>
            <a:r>
              <a:rPr kumimoji="1" lang="zh-CN" altLang="en-US" sz="3600" dirty="0">
                <a:solidFill>
                  <a:srgbClr val="FF0000"/>
                </a:solidFill>
                <a:sym typeface="Symbol" pitchFamily="18" charset="2"/>
              </a:rPr>
              <a:t>：</a:t>
            </a:r>
            <a:r>
              <a:rPr kumimoji="1" lang="zh-CN" altLang="en-US" sz="3600" dirty="0">
                <a:sym typeface="Symbol" pitchFamily="18" charset="2"/>
              </a:rPr>
              <a:t> </a:t>
            </a:r>
            <a:r>
              <a:rPr kumimoji="1" lang="en-US" altLang="zh-CN" sz="3600" dirty="0" err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3600" dirty="0" err="1">
                <a:solidFill>
                  <a:srgbClr val="FF0000"/>
                </a:solidFill>
                <a:sym typeface="Symbol"/>
              </a:rPr>
              <a:t></a:t>
            </a:r>
            <a:r>
              <a:rPr kumimoji="1" lang="en-US" altLang="zh-CN" sz="3600" dirty="0" err="1">
                <a:solidFill>
                  <a:srgbClr val="FF0000"/>
                </a:solidFill>
              </a:rPr>
              <a:t>R</a:t>
            </a:r>
            <a:r>
              <a:rPr kumimoji="1" lang="en-US" altLang="zh-CN" sz="3600" baseline="30000" dirty="0" err="1">
                <a:solidFill>
                  <a:srgbClr val="FF0000"/>
                </a:solidFill>
              </a:rPr>
              <a:t>c</a:t>
            </a:r>
            <a:r>
              <a:rPr kumimoji="1" lang="en-US" altLang="zh-CN" sz="3600" baseline="30000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≠ E  </a:t>
            </a:r>
            <a:r>
              <a:rPr kumimoji="1" lang="en-US" altLang="zh-CN" sz="3600" dirty="0">
                <a:solidFill>
                  <a:srgbClr val="FF0000"/>
                </a:solidFill>
              </a:rPr>
              <a:t> </a:t>
            </a:r>
            <a:r>
              <a:rPr kumimoji="1" lang="en-US" altLang="zh-CN" sz="3600" dirty="0" err="1">
                <a:solidFill>
                  <a:srgbClr val="FF0000"/>
                </a:solidFill>
              </a:rPr>
              <a:t>R</a:t>
            </a:r>
            <a:r>
              <a:rPr kumimoji="1" lang="en-US" altLang="zh-CN" sz="3600" dirty="0" err="1">
                <a:solidFill>
                  <a:srgbClr val="FF0000"/>
                </a:solidFill>
                <a:sym typeface="Symbol"/>
              </a:rPr>
              <a:t></a:t>
            </a:r>
            <a:r>
              <a:rPr kumimoji="1" lang="en-US" altLang="zh-CN" sz="3600" dirty="0" err="1">
                <a:solidFill>
                  <a:srgbClr val="FF0000"/>
                </a:solidFill>
                <a:sym typeface="Symbol" pitchFamily="18" charset="2"/>
              </a:rPr>
              <a:t>R</a:t>
            </a:r>
            <a:r>
              <a:rPr kumimoji="1" lang="en-US" altLang="zh-CN" sz="3600" baseline="30000" dirty="0" err="1">
                <a:solidFill>
                  <a:srgbClr val="FF0000"/>
                </a:solidFill>
              </a:rPr>
              <a:t>c</a:t>
            </a:r>
            <a:r>
              <a:rPr kumimoji="1" lang="en-US" altLang="zh-CN" sz="3600" baseline="30000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≠ </a:t>
            </a:r>
            <a:r>
              <a:rPr kumimoji="1" lang="en-US" altLang="zh-CN" i="1" dirty="0">
                <a:solidFill>
                  <a:srgbClr val="FF0000"/>
                </a:solidFill>
                <a:ea typeface="黑体" pitchFamily="2" charset="-122"/>
              </a:rPr>
              <a:t>O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                </a:t>
            </a:r>
            <a:r>
              <a:rPr lang="en-US" altLang="zh-CN" sz="3200" b="1" dirty="0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3200" b="1" dirty="0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排中律不成立</a:t>
            </a:r>
            <a:r>
              <a:rPr lang="en-US" altLang="zh-CN" sz="3200" b="1" dirty="0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)</a:t>
            </a:r>
            <a:endParaRPr lang="en-US" altLang="zh-CN" b="1" dirty="0">
              <a:solidFill>
                <a:srgbClr val="CC00CC"/>
              </a:solidFill>
              <a:latin typeface="华文楷体" pitchFamily="2" charset="-122"/>
              <a:ea typeface="华文楷体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44DC54E-0C2D-BA19-1695-E48EF0FC6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92" y="3573016"/>
            <a:ext cx="4248471" cy="2407182"/>
          </a:xfrm>
          <a:prstGeom prst="rect">
            <a:avLst/>
          </a:prstGeom>
          <a:effectLst>
            <a:glow rad="127000">
              <a:srgbClr val="00B0F0"/>
            </a:glow>
          </a:effec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27579B-6E7D-81B8-C706-A9E8D6C14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矩阵的运算性质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(3)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557338"/>
            <a:ext cx="9649071" cy="43100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矩阵的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并、交</a:t>
            </a:r>
            <a:r>
              <a:rPr lang="zh-CN" altLang="en-US" dirty="0">
                <a:ea typeface="黑体" pitchFamily="2" charset="-122"/>
              </a:rPr>
              <a:t>运算可推广到任意多个的情形：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T</a:t>
            </a:r>
            <a:r>
              <a:rPr lang="zh-CN" altLang="en-US" dirty="0">
                <a:ea typeface="黑体" pitchFamily="2" charset="-122"/>
              </a:rPr>
              <a:t>是任意指标集</a:t>
            </a: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性质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4]</a:t>
            </a:r>
          </a:p>
          <a:p>
            <a:pPr eaLnBrk="1" hangingPunct="1"/>
            <a:endParaRPr lang="en-US" altLang="zh-CN" dirty="0">
              <a:solidFill>
                <a:srgbClr val="008000"/>
              </a:solidFill>
              <a:ea typeface="黑体" pitchFamily="2" charset="-122"/>
            </a:endParaRPr>
          </a:p>
          <a:p>
            <a:pPr marL="0" indent="0" eaLnBrk="1" hangingPunct="1">
              <a:buNone/>
            </a:pPr>
            <a:endParaRPr lang="en-US" altLang="zh-CN" sz="3600" dirty="0">
              <a:ea typeface="黑体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性质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5]</a:t>
            </a:r>
          </a:p>
        </p:txBody>
      </p:sp>
      <p:graphicFrame>
        <p:nvGraphicFramePr>
          <p:cNvPr id="4506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92314" y="3500438"/>
          <a:ext cx="85693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79800" imgH="342900" progId="Equation.3">
                  <p:embed/>
                </p:oleObj>
              </mc:Choice>
              <mc:Fallback>
                <p:oleObj name="公式" r:id="rId3" imgW="3479800" imgH="342900" progId="Equation.3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500438"/>
                        <a:ext cx="85693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95550" y="5300663"/>
          <a:ext cx="64087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730500" imgH="495300" progId="Equation.3">
                  <p:embed/>
                </p:oleObj>
              </mc:Choice>
              <mc:Fallback>
                <p:oleObj name="公式" r:id="rId5" imgW="2730500" imgH="495300" progId="Equation.3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300663"/>
                        <a:ext cx="64087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AutoShape 6"/>
          <p:cNvSpPr>
            <a:spLocks noChangeArrowheads="1"/>
          </p:cNvSpPr>
          <p:nvPr/>
        </p:nvSpPr>
        <p:spPr bwMode="auto">
          <a:xfrm>
            <a:off x="9264651" y="5589589"/>
            <a:ext cx="1727892" cy="503237"/>
          </a:xfrm>
          <a:prstGeom prst="wedgeRoundRectCallout">
            <a:avLst>
              <a:gd name="adj1" fmla="val -27949"/>
              <a:gd name="adj2" fmla="val -2051"/>
              <a:gd name="adj3" fmla="val 16667"/>
            </a:avLst>
          </a:prstGeom>
          <a:solidFill>
            <a:srgbClr val="F5E50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对偶律</a:t>
            </a:r>
          </a:p>
        </p:txBody>
      </p:sp>
      <p:sp>
        <p:nvSpPr>
          <p:cNvPr id="45063" name="AutoShape 7"/>
          <p:cNvSpPr>
            <a:spLocks noChangeArrowheads="1"/>
          </p:cNvSpPr>
          <p:nvPr/>
        </p:nvSpPr>
        <p:spPr bwMode="auto">
          <a:xfrm>
            <a:off x="9264651" y="2420939"/>
            <a:ext cx="1727892" cy="503237"/>
          </a:xfrm>
          <a:prstGeom prst="wedgeRoundRectCallout">
            <a:avLst>
              <a:gd name="adj1" fmla="val -23542"/>
              <a:gd name="adj2" fmla="val -472"/>
              <a:gd name="adj3" fmla="val 16667"/>
            </a:avLst>
          </a:prstGeom>
          <a:solidFill>
            <a:srgbClr val="CBFCA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分配律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B0E362-11FB-0F64-0D02-358A0387DE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062" grpId="0" animBg="1"/>
      <p:bldP spid="450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3.3  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关系的对称性与自反性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84314"/>
            <a:ext cx="10369151" cy="4383087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SzPct val="80000"/>
            </a:pPr>
            <a:r>
              <a:rPr kumimoji="1" lang="en-US" altLang="zh-CN" dirty="0">
                <a:ea typeface="黑体" pitchFamily="2" charset="-122"/>
              </a:rPr>
              <a:t>[</a:t>
            </a:r>
            <a:r>
              <a:rPr kumimoji="1" lang="zh-CN" altLang="en-US" dirty="0">
                <a:ea typeface="黑体" pitchFamily="2" charset="-122"/>
              </a:rPr>
              <a:t>定义</a:t>
            </a:r>
            <a:r>
              <a:rPr kumimoji="1" lang="en-US" altLang="zh-CN" dirty="0">
                <a:ea typeface="黑体" pitchFamily="2" charset="-122"/>
              </a:rPr>
              <a:t>1]</a:t>
            </a:r>
            <a:r>
              <a:rPr kumimoji="1" lang="zh-CN" altLang="en-US" dirty="0">
                <a:ea typeface="黑体" pitchFamily="2" charset="-122"/>
              </a:rPr>
              <a:t>设</a:t>
            </a:r>
            <a:r>
              <a:rPr kumimoji="1" lang="en-US" altLang="zh-CN" dirty="0">
                <a:ea typeface="黑体" pitchFamily="2" charset="-122"/>
              </a:rPr>
              <a:t>R = (</a:t>
            </a:r>
            <a:r>
              <a:rPr kumimoji="1" lang="en-US" altLang="zh-CN" i="1" dirty="0" err="1"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ea typeface="黑体" pitchFamily="2" charset="-122"/>
              </a:rPr>
              <a:t>ij</a:t>
            </a:r>
            <a:r>
              <a:rPr kumimoji="1" lang="en-US" altLang="zh-CN" dirty="0">
                <a:ea typeface="黑体" pitchFamily="2" charset="-122"/>
              </a:rPr>
              <a:t>)</a:t>
            </a:r>
            <a:r>
              <a:rPr kumimoji="1" lang="en-US" altLang="zh-CN" dirty="0">
                <a:sym typeface="Symbol"/>
              </a:rPr>
              <a:t></a:t>
            </a:r>
            <a:r>
              <a:rPr lang="el-GR" altLang="zh-CN" i="1" dirty="0">
                <a:cs typeface="Arial" charset="0"/>
              </a:rPr>
              <a:t>μ</a:t>
            </a:r>
            <a:r>
              <a:rPr kumimoji="1" lang="en-US" altLang="zh-CN" i="1" baseline="-25000" dirty="0" err="1">
                <a:ea typeface="黑体" pitchFamily="2" charset="-122"/>
              </a:rPr>
              <a:t>m</a:t>
            </a:r>
            <a:r>
              <a:rPr kumimoji="1" lang="en-US" altLang="zh-CN" baseline="-25000" dirty="0" err="1">
                <a:ea typeface="黑体" pitchFamily="2" charset="-122"/>
              </a:rPr>
              <a:t>×</a:t>
            </a:r>
            <a:r>
              <a:rPr kumimoji="1" lang="en-US" altLang="zh-CN" i="1" baseline="-25000" dirty="0" err="1">
                <a:ea typeface="黑体" pitchFamily="2" charset="-122"/>
              </a:rPr>
              <a:t>n</a:t>
            </a:r>
            <a:r>
              <a:rPr kumimoji="1" lang="en-US" altLang="zh-CN" dirty="0">
                <a:ea typeface="黑体" pitchFamily="2" charset="-122"/>
              </a:rPr>
              <a:t>, </a:t>
            </a:r>
            <a:r>
              <a:rPr kumimoji="1" lang="zh-CN" altLang="en-US" dirty="0">
                <a:ea typeface="黑体" pitchFamily="2" charset="-122"/>
              </a:rPr>
              <a:t>则称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kumimoji="1" lang="en-US" altLang="zh-CN" baseline="30000" dirty="0">
                <a:solidFill>
                  <a:srgbClr val="FF0000"/>
                </a:solidFill>
                <a:ea typeface="黑体" pitchFamily="2" charset="-122"/>
              </a:rPr>
              <a:t>T</a:t>
            </a:r>
            <a:r>
              <a:rPr kumimoji="1" lang="en-US" altLang="zh-CN" i="1" baseline="300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dirty="0">
                <a:ea typeface="黑体" pitchFamily="2" charset="-122"/>
              </a:rPr>
              <a:t>= (</a:t>
            </a:r>
            <a:r>
              <a:rPr kumimoji="1" lang="en-US" altLang="zh-CN" i="1" dirty="0" err="1"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ea typeface="黑体" pitchFamily="2" charset="-122"/>
              </a:rPr>
              <a:t>ji</a:t>
            </a:r>
            <a:r>
              <a:rPr kumimoji="1" lang="en-US" altLang="zh-CN" i="1" dirty="0">
                <a:ea typeface="黑体" pitchFamily="2" charset="-122"/>
              </a:rPr>
              <a:t> </a:t>
            </a:r>
            <a:r>
              <a:rPr kumimoji="1" lang="en-US" altLang="zh-CN" dirty="0">
                <a:ea typeface="黑体" pitchFamily="2" charset="-122"/>
              </a:rPr>
              <a:t>)</a:t>
            </a:r>
            <a:r>
              <a:rPr kumimoji="1" lang="en-US" altLang="zh-CN" dirty="0">
                <a:sym typeface="Symbol"/>
              </a:rPr>
              <a:t>  </a:t>
            </a:r>
            <a:r>
              <a:rPr lang="el-GR" altLang="zh-CN" i="1" dirty="0">
                <a:cs typeface="Arial" charset="0"/>
              </a:rPr>
              <a:t>μ</a:t>
            </a:r>
            <a:r>
              <a:rPr kumimoji="1" lang="en-US" altLang="zh-CN" i="1" baseline="-25000" dirty="0" err="1">
                <a:ea typeface="黑体" pitchFamily="2" charset="-122"/>
              </a:rPr>
              <a:t>n</a:t>
            </a:r>
            <a:r>
              <a:rPr kumimoji="1" lang="en-US" altLang="zh-CN" baseline="-25000" dirty="0" err="1">
                <a:ea typeface="黑体" pitchFamily="2" charset="-122"/>
              </a:rPr>
              <a:t>×</a:t>
            </a:r>
            <a:r>
              <a:rPr kumimoji="1" lang="en-US" altLang="zh-CN" i="1" baseline="-25000" dirty="0" err="1">
                <a:ea typeface="黑体" pitchFamily="2" charset="-122"/>
              </a:rPr>
              <a:t>m</a:t>
            </a:r>
            <a:r>
              <a:rPr kumimoji="1" lang="zh-CN" altLang="en-US" dirty="0">
                <a:ea typeface="黑体" pitchFamily="2" charset="-122"/>
              </a:rPr>
              <a:t>为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的</a:t>
            </a:r>
          </a:p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              转置矩阵</a:t>
            </a:r>
            <a:r>
              <a:rPr kumimoji="1" lang="zh-CN" altLang="en-US" dirty="0">
                <a:ea typeface="黑体" pitchFamily="2" charset="-122"/>
              </a:rPr>
              <a:t>，其中</a:t>
            </a:r>
            <a:r>
              <a:rPr kumimoji="1" lang="en-US" altLang="zh-CN" i="1" dirty="0" err="1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solidFill>
                  <a:schemeClr val="bg2"/>
                </a:solidFill>
                <a:ea typeface="黑体" pitchFamily="2" charset="-122"/>
              </a:rPr>
              <a:t>ij</a:t>
            </a:r>
            <a:r>
              <a:rPr kumimoji="1" lang="en-US" altLang="zh-CN" baseline="30000" dirty="0" err="1">
                <a:solidFill>
                  <a:schemeClr val="bg2"/>
                </a:solidFill>
                <a:ea typeface="黑体" pitchFamily="2" charset="-122"/>
              </a:rPr>
              <a:t>T</a:t>
            </a:r>
            <a:r>
              <a:rPr kumimoji="1" lang="en-US" altLang="zh-CN" i="1" baseline="300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kumimoji="1" lang="en-US" altLang="zh-CN" i="1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kumimoji="1" lang="en-US" altLang="zh-CN" dirty="0">
                <a:solidFill>
                  <a:schemeClr val="bg2"/>
                </a:solidFill>
                <a:ea typeface="黑体" pitchFamily="2" charset="-122"/>
              </a:rPr>
              <a:t>= </a:t>
            </a:r>
            <a:r>
              <a:rPr kumimoji="1" lang="en-US" altLang="zh-CN" i="1" dirty="0" err="1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solidFill>
                  <a:schemeClr val="bg2"/>
                </a:solidFill>
                <a:ea typeface="黑体" pitchFamily="2" charset="-122"/>
              </a:rPr>
              <a:t>ji</a:t>
            </a:r>
            <a:r>
              <a:rPr kumimoji="1" lang="en-US" altLang="zh-CN" dirty="0">
                <a:solidFill>
                  <a:schemeClr val="bg2"/>
                </a:solidFill>
                <a:ea typeface="黑体" pitchFamily="2" charset="-122"/>
              </a:rPr>
              <a:t>.</a:t>
            </a:r>
          </a:p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kumimoji="1"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kumimoji="1" lang="en-US" altLang="zh-CN" sz="44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kumimoji="1"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</a:pPr>
            <a:r>
              <a:rPr kumimoji="1" lang="en-US" altLang="zh-CN" dirty="0">
                <a:ea typeface="黑体" pitchFamily="2" charset="-122"/>
              </a:rPr>
              <a:t>[</a:t>
            </a:r>
            <a:r>
              <a:rPr kumimoji="1" lang="zh-CN" altLang="en-US" dirty="0">
                <a:ea typeface="黑体" pitchFamily="2" charset="-122"/>
              </a:rPr>
              <a:t>定义</a:t>
            </a:r>
            <a:r>
              <a:rPr kumimoji="1" lang="en-US" altLang="zh-CN" dirty="0">
                <a:ea typeface="黑体" pitchFamily="2" charset="-122"/>
              </a:rPr>
              <a:t>2] </a:t>
            </a:r>
            <a:r>
              <a:rPr kumimoji="1" lang="zh-CN" altLang="en-US" dirty="0">
                <a:ea typeface="黑体" pitchFamily="2" charset="-122"/>
              </a:rPr>
              <a:t>设</a:t>
            </a:r>
            <a:r>
              <a:rPr kumimoji="1" lang="en-US" altLang="zh-CN" i="1" dirty="0">
                <a:ea typeface="黑体" pitchFamily="2" charset="-122"/>
              </a:rPr>
              <a:t>R</a:t>
            </a:r>
            <a:r>
              <a:rPr kumimoji="1" lang="en-US" altLang="zh-CN" dirty="0">
                <a:ea typeface="黑体" pitchFamily="2" charset="-122"/>
              </a:rPr>
              <a:t> = (</a:t>
            </a:r>
            <a:r>
              <a:rPr kumimoji="1" lang="en-US" altLang="zh-CN" dirty="0" err="1"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ea typeface="黑体" pitchFamily="2" charset="-122"/>
              </a:rPr>
              <a:t>ij</a:t>
            </a:r>
            <a:r>
              <a:rPr kumimoji="1" lang="en-US" altLang="zh-CN" dirty="0">
                <a:ea typeface="黑体" pitchFamily="2" charset="-122"/>
              </a:rPr>
              <a:t>)</a:t>
            </a:r>
            <a:r>
              <a:rPr kumimoji="1" lang="en-US" altLang="zh-CN" dirty="0">
                <a:sym typeface="Symbol"/>
              </a:rPr>
              <a:t>  </a:t>
            </a:r>
            <a:r>
              <a:rPr kumimoji="1" lang="el-GR" altLang="zh-CN" i="1" dirty="0">
                <a:cs typeface="Arial" charset="0"/>
              </a:rPr>
              <a:t>μ</a:t>
            </a:r>
            <a:r>
              <a:rPr kumimoji="1" lang="en-US" altLang="zh-CN" i="1" baseline="-25000" dirty="0" err="1">
                <a:ea typeface="黑体" pitchFamily="2" charset="-122"/>
              </a:rPr>
              <a:t>m</a:t>
            </a:r>
            <a:r>
              <a:rPr kumimoji="1" lang="en-US" altLang="zh-CN" baseline="-25000" dirty="0" err="1">
                <a:ea typeface="黑体" pitchFamily="2" charset="-122"/>
              </a:rPr>
              <a:t>×</a:t>
            </a:r>
            <a:r>
              <a:rPr kumimoji="1" lang="en-US" altLang="zh-CN" i="1" baseline="-25000" dirty="0" err="1">
                <a:ea typeface="黑体" pitchFamily="2" charset="-122"/>
              </a:rPr>
              <a:t>m</a:t>
            </a:r>
            <a:r>
              <a:rPr kumimoji="1" lang="en-US" altLang="zh-CN" dirty="0">
                <a:ea typeface="黑体" pitchFamily="2" charset="-122"/>
              </a:rPr>
              <a:t>, </a:t>
            </a:r>
            <a:r>
              <a:rPr kumimoji="1" lang="zh-CN" altLang="en-US" dirty="0">
                <a:ea typeface="黑体" pitchFamily="2" charset="-122"/>
              </a:rPr>
              <a:t>若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kumimoji="1" lang="en-US" altLang="zh-CN" baseline="30000" dirty="0">
                <a:solidFill>
                  <a:srgbClr val="3333FF"/>
                </a:solidFill>
                <a:ea typeface="黑体" pitchFamily="2" charset="-122"/>
              </a:rPr>
              <a:t>T</a:t>
            </a:r>
            <a:r>
              <a:rPr kumimoji="1" lang="en-US" altLang="zh-CN" i="1" baseline="30000" dirty="0">
                <a:solidFill>
                  <a:srgbClr val="3333FF"/>
                </a:solidFill>
                <a:ea typeface="黑体" pitchFamily="2" charset="-122"/>
              </a:rPr>
              <a:t>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 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kumimoji="1" lang="en-US" altLang="zh-CN" i="1" dirty="0">
                <a:ea typeface="黑体" pitchFamily="2" charset="-122"/>
              </a:rPr>
              <a:t>,   </a:t>
            </a:r>
            <a:r>
              <a:rPr kumimoji="1" lang="zh-CN" altLang="en-US" dirty="0">
                <a:ea typeface="黑体" pitchFamily="2" charset="-122"/>
              </a:rPr>
              <a:t>则称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为</a:t>
            </a:r>
          </a:p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ea typeface="黑体" pitchFamily="2" charset="-122"/>
              </a:rPr>
              <a:t>                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对称矩阵</a:t>
            </a:r>
            <a:r>
              <a:rPr kumimoji="1" lang="zh-CN" altLang="en-US" dirty="0">
                <a:ea typeface="黑体" pitchFamily="2" charset="-122"/>
              </a:rPr>
              <a:t>， </a:t>
            </a:r>
            <a:r>
              <a:rPr kumimoji="1" lang="en-US" altLang="zh-CN" dirty="0" err="1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solidFill>
                  <a:srgbClr val="3333FF"/>
                </a:solidFill>
                <a:ea typeface="黑体" pitchFamily="2" charset="-122"/>
              </a:rPr>
              <a:t>ij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 </a:t>
            </a:r>
            <a:r>
              <a:rPr kumimoji="1" lang="en-US" altLang="zh-CN" dirty="0" err="1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kumimoji="1" lang="en-US" altLang="zh-CN" i="1" baseline="-25000" dirty="0" err="1">
                <a:solidFill>
                  <a:srgbClr val="3333FF"/>
                </a:solidFill>
                <a:ea typeface="黑体" pitchFamily="2" charset="-122"/>
              </a:rPr>
              <a:t>ji</a:t>
            </a:r>
            <a:endParaRPr kumimoji="1" lang="en-US" altLang="zh-CN" dirty="0">
              <a:solidFill>
                <a:srgbClr val="3333FF"/>
              </a:solidFill>
              <a:ea typeface="黑体" pitchFamily="2" charset="-122"/>
            </a:endParaRPr>
          </a:p>
        </p:txBody>
      </p:sp>
      <p:graphicFrame>
        <p:nvGraphicFramePr>
          <p:cNvPr id="4710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10982544"/>
              </p:ext>
            </p:extLst>
          </p:nvPr>
        </p:nvGraphicFramePr>
        <p:xfrm>
          <a:off x="2711450" y="2950744"/>
          <a:ext cx="338455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95400" imgH="457200" progId="Equation.3">
                  <p:embed/>
                </p:oleObj>
              </mc:Choice>
              <mc:Fallback>
                <p:oleObj name="公式" r:id="rId2" imgW="1295400" imgH="45720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950744"/>
                        <a:ext cx="338455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6427788" y="2565401"/>
          <a:ext cx="2692400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0948" imgH="710891" progId="Equation.3">
                  <p:embed/>
                </p:oleObj>
              </mc:Choice>
              <mc:Fallback>
                <p:oleObj name="公式" r:id="rId4" imgW="1040948" imgH="710891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2565401"/>
                        <a:ext cx="2692400" cy="183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740248"/>
              </p:ext>
            </p:extLst>
          </p:nvPr>
        </p:nvGraphicFramePr>
        <p:xfrm>
          <a:off x="6427788" y="5038725"/>
          <a:ext cx="3313112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95400" imgH="711200" progId="Equation.3">
                  <p:embed/>
                </p:oleObj>
              </mc:Choice>
              <mc:Fallback>
                <p:oleObj name="公式" r:id="rId6" imgW="1295400" imgH="711200" progId="Equation.3">
                  <p:embed/>
                  <p:pic>
                    <p:nvPicPr>
                      <p:cNvPr id="47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5038725"/>
                        <a:ext cx="3313112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C5CA4A-D7F2-96DC-BE6E-C05CE81288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EB84E99-B4D2-61C8-728B-E3B17408D60D}"/>
              </a:ext>
            </a:extLst>
          </p:cNvPr>
          <p:cNvCxnSpPr/>
          <p:nvPr/>
        </p:nvCxnSpPr>
        <p:spPr>
          <a:xfrm>
            <a:off x="7464152" y="5301208"/>
            <a:ext cx="1800200" cy="140439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9105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关系的对称性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557338"/>
            <a:ext cx="10657183" cy="5300662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SzPct val="80000"/>
            </a:pPr>
            <a:r>
              <a:rPr kumimoji="1" lang="en-US" altLang="zh-CN" dirty="0">
                <a:ea typeface="黑体" pitchFamily="2" charset="-122"/>
              </a:rPr>
              <a:t>[</a:t>
            </a:r>
            <a:r>
              <a:rPr kumimoji="1" lang="zh-CN" altLang="en-US" dirty="0">
                <a:ea typeface="黑体" pitchFamily="2" charset="-122"/>
              </a:rPr>
              <a:t>定义</a:t>
            </a:r>
            <a:r>
              <a:rPr kumimoji="1" lang="en-US" altLang="zh-CN" dirty="0">
                <a:ea typeface="黑体" pitchFamily="2" charset="-122"/>
              </a:rPr>
              <a:t>3]</a:t>
            </a:r>
            <a:r>
              <a:rPr kumimoji="1" lang="zh-CN" altLang="en-US" dirty="0">
                <a:ea typeface="黑体" pitchFamily="2" charset="-122"/>
              </a:rPr>
              <a:t>设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en-US" altLang="zh-CN" dirty="0">
                <a:sym typeface="Symbol"/>
              </a:rPr>
              <a:t>  </a:t>
            </a:r>
            <a:r>
              <a:rPr kumimoji="1" lang="en-US" altLang="zh-CN" dirty="0">
                <a:latin typeface="Monotype Corsiva" pitchFamily="66" charset="0"/>
              </a:rPr>
              <a:t>F </a:t>
            </a:r>
            <a:r>
              <a:rPr kumimoji="1" lang="en-US" altLang="zh-CN" dirty="0"/>
              <a:t>(U</a:t>
            </a:r>
            <a:r>
              <a:rPr kumimoji="1" lang="zh-CN" altLang="zh-CN" dirty="0"/>
              <a:t>×</a:t>
            </a:r>
            <a:r>
              <a:rPr kumimoji="1" lang="en-US" altLang="zh-CN" dirty="0"/>
              <a:t>V)</a:t>
            </a:r>
            <a:r>
              <a:rPr kumimoji="1" lang="zh-CN" altLang="en-US" dirty="0"/>
              <a:t>，而</a:t>
            </a:r>
            <a:r>
              <a:rPr kumimoji="1" lang="en-US" altLang="zh-CN" dirty="0"/>
              <a:t>R</a:t>
            </a:r>
            <a:r>
              <a:rPr kumimoji="1" lang="en-US" altLang="zh-CN" baseline="30000" dirty="0"/>
              <a:t>T</a:t>
            </a:r>
            <a:r>
              <a:rPr kumimoji="1" lang="en-US" altLang="zh-CN" dirty="0">
                <a:sym typeface="Symbol"/>
              </a:rPr>
              <a:t>  </a:t>
            </a:r>
            <a:r>
              <a:rPr kumimoji="1" lang="en-US" altLang="zh-CN" dirty="0">
                <a:latin typeface="Monotype Corsiva" pitchFamily="66" charset="0"/>
              </a:rPr>
              <a:t>F</a:t>
            </a:r>
            <a:r>
              <a:rPr kumimoji="1" lang="en-US" altLang="zh-CN" dirty="0"/>
              <a:t>(V</a:t>
            </a:r>
            <a:r>
              <a:rPr kumimoji="1" lang="zh-CN" altLang="zh-CN" dirty="0"/>
              <a:t>×</a:t>
            </a:r>
            <a:r>
              <a:rPr kumimoji="1" lang="en-US" altLang="zh-CN" dirty="0"/>
              <a:t>U)</a:t>
            </a:r>
            <a:r>
              <a:rPr kumimoji="1" lang="zh-CN" altLang="en-US" dirty="0"/>
              <a:t>，则</a:t>
            </a:r>
            <a:r>
              <a:rPr kumimoji="1" lang="zh-CN" altLang="en-US" dirty="0">
                <a:ea typeface="黑体" pitchFamily="2" charset="-122"/>
              </a:rPr>
              <a:t>称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en-US" altLang="zh-CN" baseline="30000" dirty="0"/>
              <a:t>T</a:t>
            </a:r>
            <a:r>
              <a:rPr kumimoji="1" lang="zh-CN" altLang="en-US" dirty="0">
                <a:ea typeface="黑体" pitchFamily="2" charset="-122"/>
              </a:rPr>
              <a:t>为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的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转置关系。</a:t>
            </a:r>
            <a:r>
              <a:rPr kumimoji="1" lang="en-US" altLang="zh-CN" sz="3600" dirty="0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kumimoji="1" lang="en-US" altLang="zh-CN" sz="3600" baseline="30000" dirty="0">
                <a:solidFill>
                  <a:schemeClr val="bg2"/>
                </a:solidFill>
                <a:ea typeface="黑体" pitchFamily="2" charset="-122"/>
              </a:rPr>
              <a:t>T</a:t>
            </a:r>
            <a:r>
              <a:rPr kumimoji="1" lang="en-US" altLang="zh-CN" sz="3600" dirty="0">
                <a:solidFill>
                  <a:schemeClr val="bg2"/>
                </a:solidFill>
                <a:ea typeface="黑体" pitchFamily="2" charset="-122"/>
              </a:rPr>
              <a:t>(v, u)=R(</a:t>
            </a:r>
            <a:r>
              <a:rPr kumimoji="1" lang="en-US" altLang="zh-CN" sz="3600" dirty="0" err="1">
                <a:solidFill>
                  <a:schemeClr val="bg2"/>
                </a:solidFill>
                <a:ea typeface="黑体" pitchFamily="2" charset="-122"/>
              </a:rPr>
              <a:t>u,v</a:t>
            </a:r>
            <a:r>
              <a:rPr kumimoji="1" lang="en-US" altLang="zh-CN" sz="3600" dirty="0">
                <a:solidFill>
                  <a:schemeClr val="bg2"/>
                </a:solidFill>
                <a:ea typeface="黑体" pitchFamily="2" charset="-122"/>
              </a:rPr>
              <a:t>)</a:t>
            </a:r>
          </a:p>
          <a:p>
            <a:pPr lvl="1" eaLnBrk="1" hangingPunct="1"/>
            <a:r>
              <a:rPr kumimoji="1" lang="zh-CN" altLang="en-US" b="1" dirty="0">
                <a:solidFill>
                  <a:schemeClr val="bg2"/>
                </a:solidFill>
                <a:ea typeface="楷体_GB2312" pitchFamily="49" charset="-122"/>
              </a:rPr>
              <a:t>设</a:t>
            </a:r>
            <a:r>
              <a:rPr kumimoji="1" lang="en-US" altLang="zh-CN" b="1" i="1" dirty="0">
                <a:ea typeface="楷体_GB2312" pitchFamily="49" charset="-122"/>
              </a:rPr>
              <a:t>U</a:t>
            </a:r>
            <a:r>
              <a:rPr kumimoji="1" lang="en-US" altLang="zh-CN" b="1" dirty="0">
                <a:ea typeface="楷体_GB2312" pitchFamily="49" charset="-122"/>
              </a:rPr>
              <a:t>={</a:t>
            </a:r>
            <a:r>
              <a:rPr kumimoji="1" lang="en-US" altLang="zh-CN" b="1" i="1" dirty="0">
                <a:ea typeface="楷体_GB2312" pitchFamily="49" charset="-122"/>
              </a:rPr>
              <a:t>u</a:t>
            </a:r>
            <a:r>
              <a:rPr kumimoji="1" lang="en-US" altLang="zh-CN" b="1" baseline="-25000" dirty="0">
                <a:ea typeface="楷体_GB2312" pitchFamily="49" charset="-122"/>
              </a:rPr>
              <a:t>1</a:t>
            </a:r>
            <a:r>
              <a:rPr kumimoji="1" lang="en-US" altLang="zh-CN" b="1" dirty="0">
                <a:ea typeface="楷体_GB2312" pitchFamily="49" charset="-122"/>
              </a:rPr>
              <a:t>, </a:t>
            </a:r>
            <a:r>
              <a:rPr kumimoji="1" lang="en-US" altLang="zh-CN" b="1" i="1" dirty="0">
                <a:ea typeface="楷体_GB2312" pitchFamily="49" charset="-122"/>
              </a:rPr>
              <a:t>u</a:t>
            </a:r>
            <a:r>
              <a:rPr kumimoji="1" lang="en-US" altLang="zh-CN" b="1" baseline="-25000" dirty="0">
                <a:ea typeface="楷体_GB2312" pitchFamily="49" charset="-122"/>
              </a:rPr>
              <a:t>2</a:t>
            </a:r>
            <a:r>
              <a:rPr kumimoji="1" lang="en-US" altLang="zh-CN" b="1" dirty="0">
                <a:ea typeface="楷体_GB2312" pitchFamily="49" charset="-122"/>
              </a:rPr>
              <a:t>, </a:t>
            </a:r>
            <a:r>
              <a:rPr kumimoji="1" lang="en-US" altLang="zh-CN" b="1" i="1" dirty="0">
                <a:ea typeface="楷体_GB2312" pitchFamily="49" charset="-122"/>
              </a:rPr>
              <a:t>u</a:t>
            </a:r>
            <a:r>
              <a:rPr kumimoji="1" lang="en-US" altLang="zh-CN" b="1" baseline="-25000" dirty="0">
                <a:ea typeface="楷体_GB2312" pitchFamily="49" charset="-122"/>
              </a:rPr>
              <a:t>3</a:t>
            </a:r>
            <a:r>
              <a:rPr kumimoji="1" lang="en-US" altLang="zh-CN" b="1" dirty="0">
                <a:ea typeface="楷体_GB2312" pitchFamily="49" charset="-122"/>
              </a:rPr>
              <a:t>}</a:t>
            </a:r>
            <a:r>
              <a:rPr kumimoji="1" lang="zh-CN" altLang="en-US" b="1" dirty="0">
                <a:ea typeface="楷体_GB2312" pitchFamily="49" charset="-122"/>
              </a:rPr>
              <a:t>为三人集合，</a:t>
            </a:r>
            <a:r>
              <a:rPr kumimoji="1" lang="en-US" altLang="zh-CN" b="1" dirty="0">
                <a:ea typeface="楷体_GB2312" pitchFamily="49" charset="-122"/>
              </a:rPr>
              <a:t>R</a:t>
            </a:r>
            <a:r>
              <a:rPr kumimoji="1" lang="zh-CN" altLang="en-US" b="1" dirty="0">
                <a:ea typeface="楷体_GB2312" pitchFamily="49" charset="-122"/>
              </a:rPr>
              <a:t>表示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</a:rPr>
              <a:t>彼此熟悉</a:t>
            </a:r>
            <a:r>
              <a:rPr kumimoji="1" lang="zh-CN" altLang="en-US" b="1" dirty="0">
                <a:ea typeface="楷体_GB2312" pitchFamily="49" charset="-122"/>
              </a:rPr>
              <a:t>的</a:t>
            </a:r>
            <a:r>
              <a:rPr kumimoji="1" lang="en-US" altLang="zh-CN" b="1" dirty="0">
                <a:ea typeface="楷体_GB2312" pitchFamily="49" charset="-122"/>
              </a:rPr>
              <a:t>F</a:t>
            </a:r>
            <a:r>
              <a:rPr kumimoji="1" lang="zh-CN" altLang="en-US" b="1" dirty="0">
                <a:ea typeface="楷体_GB2312" pitchFamily="49" charset="-122"/>
              </a:rPr>
              <a:t>关系</a:t>
            </a:r>
          </a:p>
          <a:p>
            <a:pPr lvl="1" eaLnBrk="1" hangingPunct="1">
              <a:buFont typeface="Wingdings" pitchFamily="2" charset="2"/>
              <a:buNone/>
            </a:pPr>
            <a:endParaRPr kumimoji="1"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lvl="1" eaLnBrk="1" hangingPunct="1"/>
            <a:endParaRPr kumimoji="1"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lvl="1" eaLnBrk="1" hangingPunct="1"/>
            <a:endParaRPr kumimoji="1"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lvl="1" eaLnBrk="1" hangingPunct="1"/>
            <a:endParaRPr kumimoji="1" lang="zh-CN" altLang="en-US" sz="1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</a:pPr>
            <a:r>
              <a:rPr kumimoji="1" lang="en-US" altLang="zh-CN" dirty="0">
                <a:ea typeface="黑体" pitchFamily="2" charset="-122"/>
              </a:rPr>
              <a:t>[</a:t>
            </a:r>
            <a:r>
              <a:rPr kumimoji="1" lang="zh-CN" altLang="en-US" dirty="0">
                <a:ea typeface="黑体" pitchFamily="2" charset="-122"/>
              </a:rPr>
              <a:t>定义</a:t>
            </a:r>
            <a:r>
              <a:rPr kumimoji="1" lang="en-US" altLang="zh-CN" dirty="0">
                <a:ea typeface="黑体" pitchFamily="2" charset="-122"/>
              </a:rPr>
              <a:t>4]</a:t>
            </a:r>
            <a:r>
              <a:rPr kumimoji="1" lang="en-US" altLang="zh-CN" dirty="0"/>
              <a:t> </a:t>
            </a:r>
            <a:r>
              <a:rPr kumimoji="1" lang="zh-CN" altLang="en-US" dirty="0">
                <a:ea typeface="黑体" pitchFamily="2" charset="-122"/>
              </a:rPr>
              <a:t>设</a:t>
            </a:r>
            <a:r>
              <a:rPr lang="zh-CN" altLang="en-US" sz="3600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en-US" altLang="zh-CN" dirty="0">
                <a:ea typeface="黑体" pitchFamily="2" charset="-122"/>
              </a:rPr>
              <a:t>(</a:t>
            </a:r>
            <a:r>
              <a:rPr kumimoji="1" lang="en-US" altLang="zh-CN" dirty="0" err="1">
                <a:ea typeface="黑体" pitchFamily="2" charset="-122"/>
              </a:rPr>
              <a:t>u,v</a:t>
            </a:r>
            <a:r>
              <a:rPr kumimoji="1" lang="en-US" altLang="zh-CN" dirty="0">
                <a:ea typeface="黑体" pitchFamily="2" charset="-122"/>
              </a:rPr>
              <a:t>)</a:t>
            </a:r>
            <a:r>
              <a:rPr kumimoji="1" lang="en-US" altLang="zh-CN" dirty="0">
                <a:sym typeface="Symbol"/>
              </a:rPr>
              <a:t>  </a:t>
            </a:r>
            <a:r>
              <a:rPr kumimoji="1" lang="en-US" altLang="zh-CN" dirty="0"/>
              <a:t>U</a:t>
            </a:r>
            <a:r>
              <a:rPr kumimoji="1" lang="zh-CN" altLang="zh-CN" dirty="0"/>
              <a:t>×</a:t>
            </a:r>
            <a:r>
              <a:rPr kumimoji="1" lang="en-US" altLang="zh-CN" dirty="0"/>
              <a:t>U</a:t>
            </a:r>
            <a:r>
              <a:rPr kumimoji="1" lang="zh-CN" altLang="en-US" dirty="0"/>
              <a:t>，</a:t>
            </a:r>
            <a:r>
              <a:rPr kumimoji="1" lang="zh-CN" altLang="en-US" dirty="0">
                <a:ea typeface="黑体" pitchFamily="2" charset="-122"/>
              </a:rPr>
              <a:t> 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kumimoji="1" lang="en-US" altLang="zh-CN" baseline="30000" dirty="0">
                <a:solidFill>
                  <a:srgbClr val="3333FF"/>
                </a:solidFill>
                <a:ea typeface="黑体" pitchFamily="2" charset="-122"/>
              </a:rPr>
              <a:t>T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(</a:t>
            </a:r>
            <a:r>
              <a:rPr kumimoji="1" lang="en-US" altLang="zh-CN" dirty="0" err="1">
                <a:solidFill>
                  <a:srgbClr val="3333FF"/>
                </a:solidFill>
                <a:ea typeface="黑体" pitchFamily="2" charset="-122"/>
              </a:rPr>
              <a:t>u,v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) = R(</a:t>
            </a:r>
            <a:r>
              <a:rPr kumimoji="1" lang="en-US" altLang="zh-CN" dirty="0" err="1">
                <a:solidFill>
                  <a:srgbClr val="3333FF"/>
                </a:solidFill>
                <a:ea typeface="黑体" pitchFamily="2" charset="-122"/>
              </a:rPr>
              <a:t>v,u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)</a:t>
            </a:r>
            <a:r>
              <a:rPr kumimoji="1" lang="zh-CN" altLang="en-US" dirty="0">
                <a:ea typeface="黑体" pitchFamily="2" charset="-122"/>
              </a:rPr>
              <a:t>， 则称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为</a:t>
            </a:r>
            <a:r>
              <a:rPr kumimoji="1" lang="zh-CN" altLang="en-US" dirty="0">
                <a:solidFill>
                  <a:srgbClr val="CC00CC"/>
                </a:solidFill>
                <a:ea typeface="黑体" pitchFamily="2" charset="-122"/>
              </a:rPr>
              <a:t>对称关系。</a:t>
            </a:r>
          </a:p>
          <a:p>
            <a:pPr lvl="1" eaLnBrk="1" hangingPunct="1"/>
            <a:r>
              <a:rPr kumimoji="1" lang="en-US" altLang="zh-CN" sz="3200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kumimoji="1" lang="zh-CN" altLang="en-US" sz="3200" dirty="0">
                <a:solidFill>
                  <a:srgbClr val="CC00CC"/>
                </a:solidFill>
                <a:ea typeface="黑体" pitchFamily="2" charset="-122"/>
              </a:rPr>
              <a:t>是对称关系 </a:t>
            </a:r>
            <a:r>
              <a:rPr kumimoji="1" lang="zh-CN" altLang="en-US" sz="3200" dirty="0">
                <a:solidFill>
                  <a:srgbClr val="CC00CC"/>
                </a:solidFill>
                <a:sym typeface="Symbol" pitchFamily="18" charset="2"/>
              </a:rPr>
              <a:t> </a:t>
            </a:r>
            <a:r>
              <a:rPr kumimoji="1" lang="en-US" altLang="zh-CN" sz="3200" dirty="0">
                <a:solidFill>
                  <a:srgbClr val="CC00CC"/>
                </a:solidFill>
                <a:sym typeface="Symbol" pitchFamily="18" charset="2"/>
              </a:rPr>
              <a:t>R(</a:t>
            </a:r>
            <a:r>
              <a:rPr kumimoji="1" lang="en-US" altLang="zh-CN" sz="3200" dirty="0" err="1">
                <a:solidFill>
                  <a:srgbClr val="CC00CC"/>
                </a:solidFill>
                <a:sym typeface="Symbol" pitchFamily="18" charset="2"/>
              </a:rPr>
              <a:t>u,v</a:t>
            </a:r>
            <a:r>
              <a:rPr kumimoji="1" lang="en-US" altLang="zh-CN" sz="3200" dirty="0">
                <a:solidFill>
                  <a:srgbClr val="CC00CC"/>
                </a:solidFill>
                <a:sym typeface="Symbol" pitchFamily="18" charset="2"/>
              </a:rPr>
              <a:t>) = R(</a:t>
            </a:r>
            <a:r>
              <a:rPr kumimoji="1" lang="en-US" altLang="zh-CN" sz="3200" dirty="0" err="1">
                <a:solidFill>
                  <a:srgbClr val="CC00CC"/>
                </a:solidFill>
                <a:sym typeface="Symbol" pitchFamily="18" charset="2"/>
              </a:rPr>
              <a:t>v,u</a:t>
            </a:r>
            <a:r>
              <a:rPr kumimoji="1" lang="en-US" altLang="zh-CN" sz="3200" dirty="0">
                <a:solidFill>
                  <a:srgbClr val="CC00CC"/>
                </a:solidFill>
                <a:sym typeface="Symbol" pitchFamily="18" charset="2"/>
              </a:rPr>
              <a:t>)</a:t>
            </a:r>
          </a:p>
        </p:txBody>
      </p:sp>
      <p:graphicFrame>
        <p:nvGraphicFramePr>
          <p:cNvPr id="48132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199399144"/>
              </p:ext>
            </p:extLst>
          </p:nvPr>
        </p:nvGraphicFramePr>
        <p:xfrm>
          <a:off x="2782888" y="3163243"/>
          <a:ext cx="69850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60700" imgH="431800" progId="Equation.3">
                  <p:embed/>
                </p:oleObj>
              </mc:Choice>
              <mc:Fallback>
                <p:oleObj name="公式" r:id="rId3" imgW="3060700" imgH="431800" progId="Equation.3">
                  <p:embed/>
                  <p:pic>
                    <p:nvPicPr>
                      <p:cNvPr id="4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163243"/>
                        <a:ext cx="698500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24C02D73-5877-8998-30E2-738507D46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796004"/>
              </p:ext>
            </p:extLst>
          </p:nvPr>
        </p:nvGraphicFramePr>
        <p:xfrm>
          <a:off x="2552700" y="4171354"/>
          <a:ext cx="715803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98520" imgH="431640" progId="Equation.DSMT4">
                  <p:embed/>
                </p:oleObj>
              </mc:Choice>
              <mc:Fallback>
                <p:oleObj name="Equation" r:id="rId5" imgW="3098520" imgH="43164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24C02D73-5877-8998-30E2-738507D46B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171354"/>
                        <a:ext cx="7158038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90B0E0-4EBC-45F5-C7FC-2650974DA8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2AD4A9-5BC3-68DE-8C44-11046A41C40E}"/>
              </a:ext>
            </a:extLst>
          </p:cNvPr>
          <p:cNvSpPr txBox="1"/>
          <p:nvPr/>
        </p:nvSpPr>
        <p:spPr>
          <a:xfrm>
            <a:off x="10140880" y="4394149"/>
            <a:ext cx="1791525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</a:rPr>
              <a:t>R</a:t>
            </a:r>
            <a:r>
              <a:rPr lang="en-US" altLang="zh-CN" sz="3200" b="1" baseline="30000" dirty="0">
                <a:solidFill>
                  <a:srgbClr val="FF0000"/>
                </a:solidFill>
                <a:sym typeface="Symbol" pitchFamily="18" charset="2"/>
              </a:rPr>
              <a:t></a:t>
            </a:r>
            <a:r>
              <a:rPr lang="en-US" altLang="zh-CN" sz="3200" b="1" baseline="30000" dirty="0">
                <a:solidFill>
                  <a:srgbClr val="FF0000"/>
                </a:solidFill>
              </a:rPr>
              <a:t>1</a:t>
            </a:r>
            <a:r>
              <a:rPr lang="en-US" altLang="zh-CN" sz="3200" b="1" dirty="0">
                <a:solidFill>
                  <a:srgbClr val="CC00CC"/>
                </a:solidFill>
              </a:rPr>
              <a:t> </a:t>
            </a:r>
            <a:r>
              <a:rPr lang="en-US" altLang="zh-CN" sz="3200" b="1" dirty="0"/>
              <a:t>=</a:t>
            </a:r>
            <a:r>
              <a:rPr lang="en-US" altLang="zh-CN" sz="3200" b="1" i="1" dirty="0">
                <a:solidFill>
                  <a:srgbClr val="FF0000"/>
                </a:solidFill>
              </a:rPr>
              <a:t> R</a:t>
            </a:r>
            <a:r>
              <a:rPr lang="en-US" altLang="zh-CN" sz="3200" b="1" baseline="30000" dirty="0">
                <a:solidFill>
                  <a:srgbClr val="FF0000"/>
                </a:solidFill>
              </a:rPr>
              <a:t>T</a:t>
            </a:r>
            <a:r>
              <a:rPr lang="en-US" altLang="zh-CN" sz="3200" b="1" dirty="0"/>
              <a:t>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9228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uiExpand="1" build="p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524"/>
            <a:ext cx="8229600" cy="1152525"/>
          </a:xfrm>
        </p:spPr>
        <p:txBody>
          <a:bodyPr/>
          <a:lstStyle/>
          <a:p>
            <a:pPr algn="ctr" eaLnBrk="1" hangingPunct="1"/>
            <a:r>
              <a:rPr kumimoji="1" lang="zh-CN" altLang="en-US" dirty="0">
                <a:solidFill>
                  <a:srgbClr val="008000"/>
                </a:solidFill>
                <a:ea typeface="黑体" pitchFamily="2" charset="-122"/>
              </a:rPr>
              <a:t>关系转置运算的性质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557338"/>
            <a:ext cx="10081120" cy="53006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kumimoji="1" lang="en-US" altLang="zh-CN" sz="3200" dirty="0">
                <a:ea typeface="黑体" pitchFamily="2" charset="-122"/>
              </a:rPr>
              <a:t>[</a:t>
            </a:r>
            <a:r>
              <a:rPr kumimoji="1" lang="zh-CN" altLang="en-US" sz="3200" dirty="0">
                <a:ea typeface="黑体" pitchFamily="2" charset="-122"/>
              </a:rPr>
              <a:t>性质</a:t>
            </a:r>
            <a:r>
              <a:rPr kumimoji="1" lang="en-US" altLang="zh-CN" sz="3200" dirty="0">
                <a:ea typeface="黑体" pitchFamily="2" charset="-122"/>
              </a:rPr>
              <a:t>1]  (R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dirty="0">
                <a:ea typeface="黑体" pitchFamily="2" charset="-122"/>
              </a:rPr>
              <a:t>)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i="1" dirty="0">
                <a:ea typeface="黑体" pitchFamily="2" charset="-122"/>
              </a:rPr>
              <a:t> </a:t>
            </a:r>
            <a:r>
              <a:rPr kumimoji="1" lang="en-US" altLang="zh-CN" sz="3200" dirty="0">
                <a:ea typeface="黑体" pitchFamily="2" charset="-122"/>
              </a:rPr>
              <a:t>= R</a:t>
            </a:r>
            <a:r>
              <a:rPr kumimoji="1" lang="zh-CN" altLang="en-US" sz="3200" dirty="0">
                <a:ea typeface="黑体" pitchFamily="2" charset="-122"/>
              </a:rPr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dirty="0">
                <a:ea typeface="黑体" pitchFamily="2" charset="-122"/>
              </a:rPr>
              <a:t>[</a:t>
            </a:r>
            <a:r>
              <a:rPr kumimoji="1" lang="zh-CN" altLang="en-US" sz="3200" dirty="0">
                <a:ea typeface="黑体" pitchFamily="2" charset="-122"/>
              </a:rPr>
              <a:t>性质</a:t>
            </a:r>
            <a:r>
              <a:rPr kumimoji="1" lang="en-US" altLang="zh-CN" sz="3200" dirty="0">
                <a:ea typeface="黑体" pitchFamily="2" charset="-122"/>
              </a:rPr>
              <a:t>2]   R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 </a:t>
            </a:r>
            <a:r>
              <a:rPr kumimoji="1" lang="en-US" altLang="zh-CN" sz="3200" dirty="0">
                <a:ea typeface="黑体" pitchFamily="2" charset="-122"/>
              </a:rPr>
              <a:t>S</a:t>
            </a:r>
            <a:r>
              <a:rPr kumimoji="1" lang="en-US" altLang="zh-CN" sz="3200" i="1" dirty="0">
                <a:ea typeface="黑体" pitchFamily="2" charset="-12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 R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dirty="0">
                <a:ea typeface="黑体" pitchFamily="2" charset="-12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sz="3200" dirty="0">
                <a:ea typeface="黑体" pitchFamily="2" charset="-122"/>
              </a:rPr>
              <a:t> S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dirty="0">
                <a:ea typeface="黑体" pitchFamily="2" charset="-122"/>
              </a:rPr>
              <a:t> </a:t>
            </a:r>
            <a:r>
              <a:rPr kumimoji="1" lang="en-US" altLang="zh-CN" sz="3200" i="1" dirty="0">
                <a:ea typeface="黑体" pitchFamily="2" charset="-122"/>
              </a:rPr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dirty="0">
                <a:ea typeface="黑体" pitchFamily="2" charset="-122"/>
              </a:rPr>
              <a:t>[</a:t>
            </a:r>
            <a:r>
              <a:rPr kumimoji="1" lang="zh-CN" altLang="en-US" sz="3200" dirty="0">
                <a:ea typeface="黑体" pitchFamily="2" charset="-122"/>
              </a:rPr>
              <a:t>性质</a:t>
            </a:r>
            <a:r>
              <a:rPr kumimoji="1" lang="en-US" altLang="zh-CN" sz="3200" dirty="0">
                <a:ea typeface="黑体" pitchFamily="2" charset="-122"/>
              </a:rPr>
              <a:t>3] 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(R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S)</a:t>
            </a:r>
            <a:r>
              <a:rPr kumimoji="1" lang="en-US" altLang="zh-CN" sz="3200" baseline="30000" dirty="0">
                <a:ea typeface="黑体" pitchFamily="2" charset="-122"/>
              </a:rPr>
              <a:t>T </a:t>
            </a:r>
            <a:r>
              <a:rPr kumimoji="1" lang="en-US" altLang="zh-CN" sz="3200" dirty="0">
                <a:ea typeface="黑体" pitchFamily="2" charset="-122"/>
              </a:rPr>
              <a:t>= R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dirty="0">
                <a:ea typeface="黑体" pitchFamily="2" charset="-122"/>
              </a:rPr>
              <a:t>     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                (R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S)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i="1" dirty="0">
                <a:ea typeface="黑体" pitchFamily="2" charset="-122"/>
              </a:rPr>
              <a:t> 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= R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3200" baseline="30000" dirty="0">
                <a:ea typeface="黑体" pitchFamily="2" charset="-122"/>
              </a:rPr>
              <a:t>T</a:t>
            </a:r>
            <a:endParaRPr kumimoji="1" lang="en-US" altLang="zh-CN" sz="3200" dirty="0">
              <a:ea typeface="黑体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dirty="0">
                <a:ea typeface="黑体" pitchFamily="2" charset="-122"/>
              </a:rPr>
              <a:t>[</a:t>
            </a:r>
            <a:r>
              <a:rPr kumimoji="1" lang="zh-CN" altLang="en-US" sz="3200" dirty="0">
                <a:ea typeface="黑体" pitchFamily="2" charset="-122"/>
              </a:rPr>
              <a:t>性质</a:t>
            </a:r>
            <a:r>
              <a:rPr kumimoji="1" lang="en-US" altLang="zh-CN" sz="3200" dirty="0">
                <a:ea typeface="黑体" pitchFamily="2" charset="-122"/>
              </a:rPr>
              <a:t>4]  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en-US" altLang="zh-CN" sz="3200" dirty="0">
                <a:ea typeface="黑体" pitchFamily="2" charset="-122"/>
              </a:rPr>
              <a:t>R</a:t>
            </a:r>
            <a:r>
              <a:rPr kumimoji="1" lang="en-US" altLang="zh-CN" sz="3200" dirty="0">
                <a:sym typeface="Symbol"/>
              </a:rPr>
              <a:t>  </a:t>
            </a:r>
            <a:r>
              <a:rPr lang="el-GR" altLang="zh-CN" sz="3200" i="1" dirty="0">
                <a:ea typeface="黑体" pitchFamily="2" charset="-122"/>
              </a:rPr>
              <a:t>μ</a:t>
            </a:r>
            <a:r>
              <a:rPr kumimoji="1" lang="en-US" altLang="zh-CN" sz="3200" i="1" baseline="-25000" dirty="0" err="1">
                <a:ea typeface="黑体" pitchFamily="2" charset="-122"/>
              </a:rPr>
              <a:t>n</a:t>
            </a:r>
            <a:r>
              <a:rPr kumimoji="1" lang="en-US" altLang="zh-CN" sz="3200" baseline="-25000" dirty="0" err="1">
                <a:ea typeface="黑体" pitchFamily="2" charset="-122"/>
              </a:rPr>
              <a:t>×</a:t>
            </a:r>
            <a:r>
              <a:rPr kumimoji="1" lang="en-US" altLang="zh-CN" sz="3200" i="1" baseline="-25000" dirty="0" err="1">
                <a:ea typeface="黑体" pitchFamily="2" charset="-122"/>
              </a:rPr>
              <a:t>n</a:t>
            </a:r>
            <a:r>
              <a:rPr kumimoji="1" lang="zh-CN" altLang="en-US" sz="3200" dirty="0">
                <a:ea typeface="黑体" pitchFamily="2" charset="-122"/>
              </a:rPr>
              <a:t>， 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/>
              </a:rPr>
              <a:t>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3200" baseline="30000" dirty="0">
                <a:solidFill>
                  <a:srgbClr val="FF0000"/>
                </a:solidFill>
                <a:ea typeface="黑体" pitchFamily="2" charset="-122"/>
              </a:rPr>
              <a:t>T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是对称的</a:t>
            </a:r>
            <a:r>
              <a:rPr kumimoji="1" lang="zh-CN" altLang="en-US" sz="3200" dirty="0">
                <a:ea typeface="黑体" pitchFamily="2" charset="-122"/>
              </a:rPr>
              <a:t>。 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A3EB146B-9C15-10C7-0AD3-8F6C7F796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21548"/>
              </p:ext>
            </p:extLst>
          </p:nvPr>
        </p:nvGraphicFramePr>
        <p:xfrm>
          <a:off x="7612882" y="1772816"/>
          <a:ext cx="338455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95400" imgH="457200" progId="Equation.3">
                  <p:embed/>
                </p:oleObj>
              </mc:Choice>
              <mc:Fallback>
                <p:oleObj name="公式" r:id="rId3" imgW="1295400" imgH="45720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A3EB146B-9C15-10C7-0AD3-8F6C7F796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882" y="1772816"/>
                        <a:ext cx="338455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2F8B99-F287-DCC2-B024-2A339C55E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18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71185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/>
              <a:t>对称关系的闭包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560513"/>
            <a:ext cx="10143049" cy="4895759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b="1" dirty="0">
                <a:latin typeface="Times New Roman" pitchFamily="18" charset="0"/>
              </a:rPr>
              <a:t>  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是非空集合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上的关系，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对称闭包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上的关系</a:t>
            </a:r>
            <a:r>
              <a:rPr lang="en-US" altLang="zh-CN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，使得</a:t>
            </a:r>
            <a:r>
              <a:rPr lang="en-US" altLang="zh-CN" i="1" dirty="0">
                <a:solidFill>
                  <a:srgbClr val="057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solidFill>
                  <a:srgbClr val="057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满足以下条件：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en-US" altLang="zh-CN" i="1" dirty="0">
                <a:solidFill>
                  <a:srgbClr val="057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solidFill>
                  <a:srgbClr val="057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</a:t>
            </a:r>
            <a:r>
              <a:rPr lang="en-US" altLang="zh-CN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）对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上任何包含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 </a:t>
            </a:r>
            <a:r>
              <a:rPr lang="en-US" altLang="zh-CN" i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</a:t>
            </a:r>
            <a:r>
              <a:rPr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 </a:t>
            </a:r>
            <a:r>
              <a:rPr lang="en-US" altLang="zh-CN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</a:t>
            </a:r>
            <a:r>
              <a:rPr lang="en-US" altLang="zh-CN" i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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包含</a:t>
            </a:r>
            <a:r>
              <a:rPr lang="en-US" altLang="zh-CN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R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的</a:t>
            </a:r>
            <a:r>
              <a:rPr lang="zh-CN" altLang="en-US" sz="32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最小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对称关系是</a:t>
            </a:r>
            <a:r>
              <a:rPr lang="en-US" altLang="zh-CN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R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的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对称闭包</a:t>
            </a:r>
          </a:p>
          <a:p>
            <a:pPr eaLnBrk="1" hangingPunct="1">
              <a:lnSpc>
                <a:spcPct val="110000"/>
              </a:lnSpc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058C-B57B-E15F-617A-7DB72318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24F5E9C-08EC-4507-E9D7-AFC06A0B8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60524"/>
            <a:ext cx="8229600" cy="1152525"/>
          </a:xfrm>
        </p:spPr>
        <p:txBody>
          <a:bodyPr/>
          <a:lstStyle/>
          <a:p>
            <a:pPr algn="ctr" eaLnBrk="1" hangingPunct="1"/>
            <a:r>
              <a:rPr kumimoji="1" lang="zh-CN" altLang="en-US" dirty="0">
                <a:solidFill>
                  <a:srgbClr val="008000"/>
                </a:solidFill>
                <a:ea typeface="黑体" pitchFamily="2" charset="-122"/>
              </a:rPr>
              <a:t>关系转置运算的性质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D64DE46-21E7-9476-25CD-F093B0316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9057" y="1428068"/>
            <a:ext cx="11193885" cy="5169408"/>
          </a:xfrm>
        </p:spPr>
        <p:txBody>
          <a:bodyPr/>
          <a:lstStyle/>
          <a:p>
            <a:pPr eaLnBrk="1" hangingPunct="1"/>
            <a:r>
              <a:rPr kumimoji="1" lang="en-US" altLang="zh-CN" sz="3200" dirty="0">
                <a:ea typeface="黑体" pitchFamily="2" charset="-122"/>
              </a:rPr>
              <a:t>[</a:t>
            </a:r>
            <a:r>
              <a:rPr kumimoji="1" lang="zh-CN" altLang="en-US" sz="3200" dirty="0">
                <a:ea typeface="黑体" pitchFamily="2" charset="-122"/>
              </a:rPr>
              <a:t>性质</a:t>
            </a:r>
            <a:r>
              <a:rPr kumimoji="1" lang="en-US" altLang="zh-CN" sz="3200" dirty="0">
                <a:ea typeface="黑体" pitchFamily="2" charset="-122"/>
              </a:rPr>
              <a:t>5]  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en-US" altLang="zh-CN" sz="3200" dirty="0">
                <a:ea typeface="黑体" pitchFamily="2" charset="-122"/>
              </a:rPr>
              <a:t>R</a:t>
            </a:r>
            <a:r>
              <a:rPr kumimoji="1" lang="zh-CN" altLang="en-US" sz="3200" dirty="0">
                <a:ea typeface="黑体" pitchFamily="2" charset="-122"/>
              </a:rPr>
              <a:t>、</a:t>
            </a:r>
            <a:r>
              <a:rPr kumimoji="1" lang="en-US" altLang="zh-CN" sz="3200" dirty="0">
                <a:ea typeface="黑体" pitchFamily="2" charset="-122"/>
              </a:rPr>
              <a:t>S</a:t>
            </a:r>
            <a:r>
              <a:rPr kumimoji="1" lang="en-US" altLang="zh-CN" sz="3200" dirty="0">
                <a:sym typeface="Symbol"/>
              </a:rPr>
              <a:t>  </a:t>
            </a:r>
            <a:r>
              <a:rPr lang="el-GR" altLang="zh-CN" sz="3200" i="1" dirty="0">
                <a:ea typeface="黑体" pitchFamily="2" charset="-122"/>
              </a:rPr>
              <a:t>μ</a:t>
            </a:r>
            <a:r>
              <a:rPr kumimoji="1" lang="en-US" altLang="zh-CN" sz="3200" i="1" baseline="-25000" dirty="0" err="1">
                <a:ea typeface="黑体" pitchFamily="2" charset="-122"/>
              </a:rPr>
              <a:t>n</a:t>
            </a:r>
            <a:r>
              <a:rPr kumimoji="1" lang="en-US" altLang="zh-CN" sz="3200" baseline="-25000" dirty="0" err="1">
                <a:ea typeface="黑体" pitchFamily="2" charset="-122"/>
              </a:rPr>
              <a:t>×</a:t>
            </a:r>
            <a:r>
              <a:rPr kumimoji="1" lang="en-US" altLang="zh-CN" sz="3200" i="1" baseline="-25000" dirty="0" err="1">
                <a:ea typeface="黑体" pitchFamily="2" charset="-122"/>
              </a:rPr>
              <a:t>n</a:t>
            </a:r>
            <a:r>
              <a:rPr kumimoji="1" lang="en-US" altLang="zh-CN" sz="3200" i="1" dirty="0">
                <a:ea typeface="黑体" pitchFamily="2" charset="-122"/>
              </a:rPr>
              <a:t> </a:t>
            </a:r>
            <a:r>
              <a:rPr kumimoji="1" lang="zh-CN" altLang="en-US" sz="3200" dirty="0">
                <a:ea typeface="黑体" pitchFamily="2" charset="-122"/>
              </a:rPr>
              <a:t>，若</a:t>
            </a:r>
            <a:r>
              <a:rPr kumimoji="1" lang="en-US" altLang="zh-CN" sz="3200" dirty="0">
                <a:ea typeface="黑体" pitchFamily="2" charset="-122"/>
              </a:rPr>
              <a:t>S</a:t>
            </a:r>
            <a:r>
              <a:rPr kumimoji="1" lang="zh-CN" altLang="en-US" sz="3200" dirty="0">
                <a:ea typeface="黑体" pitchFamily="2" charset="-122"/>
              </a:rPr>
              <a:t>对称，且</a:t>
            </a:r>
            <a:r>
              <a:rPr kumimoji="1" lang="en-US" altLang="zh-CN" sz="3200" dirty="0">
                <a:ea typeface="黑体" pitchFamily="2" charset="-122"/>
              </a:rPr>
              <a:t>R</a:t>
            </a:r>
            <a:r>
              <a:rPr kumimoji="1" lang="en-US" altLang="zh-CN" sz="3200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sz="3200" dirty="0">
                <a:ea typeface="黑体" pitchFamily="2" charset="-122"/>
              </a:rPr>
              <a:t>S</a:t>
            </a:r>
            <a:r>
              <a:rPr kumimoji="1" lang="zh-CN" altLang="en-US" sz="3200" dirty="0">
                <a:ea typeface="黑体" pitchFamily="2" charset="-122"/>
              </a:rPr>
              <a:t>，则 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/>
              </a:rPr>
              <a:t>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kumimoji="1" lang="en-US" altLang="zh-CN" sz="3200" baseline="30000" dirty="0">
                <a:solidFill>
                  <a:srgbClr val="FF0000"/>
                </a:solidFill>
                <a:ea typeface="黑体" pitchFamily="2" charset="-122"/>
              </a:rPr>
              <a:t>T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</a:rPr>
              <a:t>S</a:t>
            </a:r>
          </a:p>
          <a:p>
            <a:pPr lvl="1" eaLnBrk="1" hangingPunct="1"/>
            <a:r>
              <a:rPr kumimoji="1" lang="zh-CN" altLang="en-US" b="1" dirty="0">
                <a:solidFill>
                  <a:srgbClr val="3333FF"/>
                </a:solidFill>
                <a:ea typeface="楷体_GB2312" pitchFamily="49" charset="-122"/>
              </a:rPr>
              <a:t>凡包含</a:t>
            </a:r>
            <a:r>
              <a:rPr kumimoji="1" lang="en-US" altLang="zh-CN" b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kumimoji="1" lang="zh-CN" altLang="en-US" b="1" dirty="0">
                <a:solidFill>
                  <a:srgbClr val="3333FF"/>
                </a:solidFill>
                <a:ea typeface="楷体_GB2312" pitchFamily="49" charset="-122"/>
              </a:rPr>
              <a:t>的对称矩阵都包含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/>
              </a:rPr>
              <a:t>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  <a:p>
            <a:pPr lvl="1" eaLnBrk="1" hangingPunct="1"/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  <a:sym typeface="Symbol"/>
              </a:rPr>
              <a:t></a:t>
            </a:r>
            <a:r>
              <a:rPr kumimoji="1" lang="en-US" altLang="zh-CN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kumimoji="1" lang="zh-CN" altLang="en-US" b="1" dirty="0">
                <a:ea typeface="楷体_GB2312" pitchFamily="49" charset="-122"/>
              </a:rPr>
              <a:t>是包含</a:t>
            </a:r>
            <a:r>
              <a:rPr kumimoji="1" lang="en-US" altLang="zh-CN" b="1" dirty="0">
                <a:ea typeface="楷体_GB2312" pitchFamily="49" charset="-122"/>
              </a:rPr>
              <a:t>R</a:t>
            </a:r>
            <a:r>
              <a:rPr kumimoji="1" lang="zh-CN" altLang="en-US" b="1" dirty="0">
                <a:ea typeface="楷体_GB2312" pitchFamily="49" charset="-122"/>
              </a:rPr>
              <a:t>的最小对称矩阵</a:t>
            </a:r>
            <a:r>
              <a:rPr kumimoji="1" lang="en-US" altLang="zh-CN" b="1" dirty="0">
                <a:solidFill>
                  <a:srgbClr val="FF00FF"/>
                </a:solidFill>
                <a:ea typeface="楷体_GB2312" pitchFamily="49" charset="-122"/>
              </a:rPr>
              <a:t>——</a:t>
            </a:r>
            <a:r>
              <a:rPr kumimoji="1" lang="zh-CN" altLang="en-US" b="1" dirty="0">
                <a:solidFill>
                  <a:srgbClr val="FF00FF"/>
                </a:solidFill>
                <a:ea typeface="楷体_GB2312" pitchFamily="49" charset="-122"/>
              </a:rPr>
              <a:t>对称闭包</a:t>
            </a:r>
            <a:endParaRPr kumimoji="1" lang="en-US" altLang="zh-CN" b="1" dirty="0">
              <a:solidFill>
                <a:srgbClr val="FF00FF"/>
              </a:solidFill>
              <a:ea typeface="楷体_GB2312" pitchFamily="49" charset="-122"/>
            </a:endParaRPr>
          </a:p>
          <a:p>
            <a:pPr eaLnBrk="1" hangingPunct="1"/>
            <a:r>
              <a:rPr kumimoji="1" lang="zh-CN" altLang="en-US" sz="3200" b="1" dirty="0">
                <a:solidFill>
                  <a:schemeClr val="bg2"/>
                </a:solidFill>
                <a:ea typeface="楷体_GB2312" pitchFamily="49" charset="-122"/>
              </a:rPr>
              <a:t>设</a:t>
            </a:r>
            <a:r>
              <a:rPr kumimoji="1" lang="en-US" altLang="zh-CN" sz="3200" b="1" i="1" dirty="0">
                <a:ea typeface="楷体_GB2312" pitchFamily="49" charset="-122"/>
              </a:rPr>
              <a:t>U</a:t>
            </a:r>
            <a:r>
              <a:rPr kumimoji="1" lang="en-US" altLang="zh-CN" sz="3200" b="1" dirty="0">
                <a:ea typeface="楷体_GB2312" pitchFamily="49" charset="-122"/>
              </a:rPr>
              <a:t>={</a:t>
            </a:r>
            <a:r>
              <a:rPr kumimoji="1" lang="en-US" altLang="zh-CN" sz="3200" b="1" i="1" dirty="0">
                <a:ea typeface="楷体_GB2312" pitchFamily="49" charset="-122"/>
              </a:rPr>
              <a:t>u</a:t>
            </a:r>
            <a:r>
              <a:rPr kumimoji="1" lang="en-US" altLang="zh-CN" sz="3200" b="1" baseline="-25000" dirty="0">
                <a:ea typeface="楷体_GB2312" pitchFamily="49" charset="-122"/>
              </a:rPr>
              <a:t>1</a:t>
            </a:r>
            <a:r>
              <a:rPr kumimoji="1" lang="en-US" altLang="zh-CN" sz="3200" b="1" dirty="0">
                <a:ea typeface="楷体_GB2312" pitchFamily="49" charset="-122"/>
              </a:rPr>
              <a:t>, </a:t>
            </a:r>
            <a:r>
              <a:rPr kumimoji="1" lang="en-US" altLang="zh-CN" sz="3200" b="1" i="1" dirty="0">
                <a:ea typeface="楷体_GB2312" pitchFamily="49" charset="-122"/>
              </a:rPr>
              <a:t>u</a:t>
            </a:r>
            <a:r>
              <a:rPr kumimoji="1" lang="en-US" altLang="zh-CN" sz="3200" b="1" baseline="-25000" dirty="0">
                <a:ea typeface="楷体_GB2312" pitchFamily="49" charset="-122"/>
              </a:rPr>
              <a:t>2</a:t>
            </a:r>
            <a:r>
              <a:rPr kumimoji="1" lang="en-US" altLang="zh-CN" sz="3200" b="1" dirty="0">
                <a:ea typeface="楷体_GB2312" pitchFamily="49" charset="-122"/>
              </a:rPr>
              <a:t>, </a:t>
            </a:r>
            <a:r>
              <a:rPr kumimoji="1" lang="en-US" altLang="zh-CN" sz="3200" b="1" i="1" dirty="0">
                <a:ea typeface="楷体_GB2312" pitchFamily="49" charset="-122"/>
              </a:rPr>
              <a:t>u</a:t>
            </a:r>
            <a:r>
              <a:rPr kumimoji="1" lang="en-US" altLang="zh-CN" sz="3200" b="1" baseline="-25000" dirty="0">
                <a:ea typeface="楷体_GB2312" pitchFamily="49" charset="-122"/>
              </a:rPr>
              <a:t>3</a:t>
            </a:r>
            <a:r>
              <a:rPr kumimoji="1" lang="en-US" altLang="zh-CN" sz="3200" b="1" dirty="0">
                <a:ea typeface="楷体_GB2312" pitchFamily="49" charset="-122"/>
              </a:rPr>
              <a:t>}</a:t>
            </a:r>
            <a:r>
              <a:rPr kumimoji="1" lang="zh-CN" altLang="en-US" sz="3200" b="1" dirty="0">
                <a:ea typeface="楷体_GB2312" pitchFamily="49" charset="-122"/>
              </a:rPr>
              <a:t>为三人集合</a:t>
            </a:r>
            <a:r>
              <a:rPr kumimoji="1" lang="en-US" altLang="zh-CN" sz="3200" b="1" dirty="0">
                <a:ea typeface="楷体_GB2312" pitchFamily="49" charset="-122"/>
              </a:rPr>
              <a:t>,R</a:t>
            </a:r>
            <a:r>
              <a:rPr kumimoji="1" lang="zh-CN" altLang="en-US" sz="3200" b="1" dirty="0">
                <a:ea typeface="楷体_GB2312" pitchFamily="49" charset="-122"/>
              </a:rPr>
              <a:t>表示</a:t>
            </a:r>
            <a:r>
              <a:rPr kumimoji="1"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彼此熟悉</a:t>
            </a:r>
            <a:r>
              <a:rPr kumimoji="1" lang="zh-CN" altLang="en-US" sz="3200" b="1" dirty="0">
                <a:ea typeface="楷体_GB2312" pitchFamily="49" charset="-122"/>
              </a:rPr>
              <a:t>的</a:t>
            </a:r>
            <a:r>
              <a:rPr kumimoji="1" lang="en-US" altLang="zh-CN" sz="3200" b="1" dirty="0">
                <a:ea typeface="楷体_GB2312" pitchFamily="49" charset="-122"/>
              </a:rPr>
              <a:t>F</a:t>
            </a:r>
            <a:r>
              <a:rPr kumimoji="1" lang="zh-CN" altLang="en-US" sz="3200" b="1" dirty="0">
                <a:ea typeface="楷体_GB2312" pitchFamily="49" charset="-122"/>
              </a:rPr>
              <a:t>关系</a:t>
            </a:r>
          </a:p>
          <a:p>
            <a:pPr lvl="1" eaLnBrk="1" hangingPunct="1"/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A61A10-2D16-FCE6-1287-3E5194DEFE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A7F2396-CA41-2E39-CB51-5AFB023813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21939"/>
              </p:ext>
            </p:extLst>
          </p:nvPr>
        </p:nvGraphicFramePr>
        <p:xfrm>
          <a:off x="2279576" y="3883323"/>
          <a:ext cx="69850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60700" imgH="431800" progId="Equation.3">
                  <p:embed/>
                </p:oleObj>
              </mc:Choice>
              <mc:Fallback>
                <p:oleObj name="公式" r:id="rId3" imgW="3060700" imgH="431800" progId="Equation.3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C158F2E9-C344-B4A3-427A-0625698EF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883323"/>
                        <a:ext cx="698500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4C91525-2F0E-AF39-D698-B6B0A1BFAB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725528"/>
              </p:ext>
            </p:extLst>
          </p:nvPr>
        </p:nvGraphicFramePr>
        <p:xfrm>
          <a:off x="1415480" y="5229226"/>
          <a:ext cx="248602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711000" progId="Equation.DSMT4">
                  <p:embed/>
                </p:oleObj>
              </mc:Choice>
              <mc:Fallback>
                <p:oleObj name="Equation" r:id="rId5" imgW="1193760" imgH="7110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A61171E7-DABA-F2A3-99D5-8CB281A28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5229226"/>
                        <a:ext cx="248602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89F1CEA-6D10-72FD-2165-1398ACE00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787767"/>
              </p:ext>
            </p:extLst>
          </p:nvPr>
        </p:nvGraphicFramePr>
        <p:xfrm>
          <a:off x="4151784" y="5229226"/>
          <a:ext cx="28829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711000" progId="Equation.DSMT4">
                  <p:embed/>
                </p:oleObj>
              </mc:Choice>
              <mc:Fallback>
                <p:oleObj name="Equation" r:id="rId7" imgW="1384200" imgH="71100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20A2D854-18CB-BDEA-8DDB-FE9BEB74C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5229226"/>
                        <a:ext cx="288290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3DCBE36B-916A-C3D5-6FFF-968BD9C4B1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527839"/>
              </p:ext>
            </p:extLst>
          </p:nvPr>
        </p:nvGraphicFramePr>
        <p:xfrm>
          <a:off x="7245353" y="5280274"/>
          <a:ext cx="341312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711000" progId="Equation.DSMT4">
                  <p:embed/>
                </p:oleObj>
              </mc:Choice>
              <mc:Fallback>
                <p:oleObj name="Equation" r:id="rId9" imgW="1638000" imgH="71100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96746EA2-44AC-EF3B-D787-9A0013504A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3" y="5280274"/>
                        <a:ext cx="341312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A7C2BED-3848-65DE-CD1F-D20ACBAC557F}"/>
              </a:ext>
            </a:extLst>
          </p:cNvPr>
          <p:cNvSpPr txBox="1"/>
          <p:nvPr/>
        </p:nvSpPr>
        <p:spPr>
          <a:xfrm>
            <a:off x="10812064" y="5612154"/>
            <a:ext cx="1232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solidFill>
                  <a:srgbClr val="3333FF"/>
                </a:solidFill>
                <a:ea typeface="楷体_GB2312" pitchFamily="49" charset="-122"/>
              </a:rPr>
              <a:t>对称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0020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关系的自反性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6"/>
            <a:ext cx="10225135" cy="5256213"/>
          </a:xfrm>
        </p:spPr>
        <p:txBody>
          <a:bodyPr/>
          <a:lstStyle/>
          <a:p>
            <a:pPr eaLnBrk="1" hangingPunct="1"/>
            <a:r>
              <a:rPr kumimoji="1" lang="en-US" altLang="zh-CN" dirty="0">
                <a:ea typeface="黑体" pitchFamily="2" charset="-122"/>
              </a:rPr>
              <a:t>[</a:t>
            </a:r>
            <a:r>
              <a:rPr kumimoji="1" lang="zh-CN" altLang="en-US" dirty="0">
                <a:ea typeface="黑体" pitchFamily="2" charset="-122"/>
              </a:rPr>
              <a:t>定义</a:t>
            </a:r>
            <a:r>
              <a:rPr kumimoji="1" lang="en-US" altLang="zh-CN" dirty="0">
                <a:ea typeface="黑体" pitchFamily="2" charset="-122"/>
              </a:rPr>
              <a:t>5]</a:t>
            </a:r>
            <a:r>
              <a:rPr kumimoji="1" lang="zh-CN" altLang="en-US" dirty="0">
                <a:ea typeface="黑体" pitchFamily="2" charset="-122"/>
              </a:rPr>
              <a:t>若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en-US" altLang="zh-CN" dirty="0">
                <a:ea typeface="黑体" pitchFamily="2" charset="-122"/>
              </a:rPr>
              <a:t>(</a:t>
            </a:r>
            <a:r>
              <a:rPr kumimoji="1" lang="en-US" altLang="zh-CN" dirty="0" err="1">
                <a:ea typeface="黑体" pitchFamily="2" charset="-122"/>
              </a:rPr>
              <a:t>u,v</a:t>
            </a:r>
            <a:r>
              <a:rPr kumimoji="1" lang="en-US" altLang="zh-CN" dirty="0">
                <a:ea typeface="黑体" pitchFamily="2" charset="-122"/>
              </a:rPr>
              <a:t>)</a:t>
            </a:r>
            <a:r>
              <a:rPr kumimoji="1" lang="en-US" altLang="zh-CN" dirty="0">
                <a:ea typeface="黑体" pitchFamily="2" charset="-122"/>
                <a:sym typeface="Symbol"/>
              </a:rPr>
              <a:t></a:t>
            </a:r>
            <a:r>
              <a:rPr kumimoji="1" lang="en-US" altLang="zh-CN" dirty="0">
                <a:ea typeface="黑体" pitchFamily="2" charset="-122"/>
              </a:rPr>
              <a:t>U</a:t>
            </a:r>
            <a:r>
              <a:rPr kumimoji="1" lang="zh-CN" altLang="zh-CN" dirty="0">
                <a:ea typeface="黑体" pitchFamily="2" charset="-122"/>
              </a:rPr>
              <a:t>×</a:t>
            </a:r>
            <a:r>
              <a:rPr kumimoji="1" lang="en-US" altLang="zh-CN" dirty="0">
                <a:ea typeface="黑体" pitchFamily="2" charset="-122"/>
              </a:rPr>
              <a:t>U</a:t>
            </a:r>
            <a:r>
              <a:rPr kumimoji="1" lang="zh-CN" altLang="en-US" dirty="0">
                <a:ea typeface="黑体" pitchFamily="2" charset="-122"/>
              </a:rPr>
              <a:t>，</a:t>
            </a:r>
            <a:r>
              <a:rPr kumimoji="1" lang="en-US" altLang="zh-CN" dirty="0">
                <a:ea typeface="黑体" pitchFamily="2" charset="-122"/>
              </a:rPr>
              <a:t>R(</a:t>
            </a:r>
            <a:r>
              <a:rPr kumimoji="1" lang="en-US" altLang="zh-CN" dirty="0" err="1">
                <a:ea typeface="黑体" pitchFamily="2" charset="-122"/>
              </a:rPr>
              <a:t>u,u</a:t>
            </a:r>
            <a:r>
              <a:rPr kumimoji="1" lang="en-US" altLang="zh-CN" dirty="0">
                <a:ea typeface="黑体" pitchFamily="2" charset="-122"/>
              </a:rPr>
              <a:t>)=1</a:t>
            </a:r>
            <a:r>
              <a:rPr kumimoji="1" lang="zh-CN" altLang="en-US" dirty="0">
                <a:ea typeface="黑体" pitchFamily="2" charset="-122"/>
              </a:rPr>
              <a:t>，称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为</a:t>
            </a:r>
            <a:r>
              <a:rPr kumimoji="1" lang="en-US" altLang="zh-CN" dirty="0">
                <a:ea typeface="黑体" pitchFamily="2" charset="-122"/>
              </a:rPr>
              <a:t>U</a:t>
            </a:r>
            <a:r>
              <a:rPr kumimoji="1" lang="zh-CN" altLang="en-US" dirty="0">
                <a:ea typeface="黑体" pitchFamily="2" charset="-122"/>
              </a:rPr>
              <a:t>上的自反关系，</a:t>
            </a:r>
          </a:p>
          <a:p>
            <a:pPr lvl="1" eaLnBrk="1" hangingPunct="1"/>
            <a:r>
              <a:rPr kumimoji="1" lang="zh-CN" altLang="en-US" sz="3200" dirty="0">
                <a:ea typeface="黑体" pitchFamily="2" charset="-122"/>
              </a:rPr>
              <a:t>若</a:t>
            </a:r>
            <a:r>
              <a:rPr kumimoji="1" lang="en-US" altLang="zh-CN" sz="3200" dirty="0">
                <a:ea typeface="黑体" pitchFamily="2" charset="-122"/>
              </a:rPr>
              <a:t>R=</a:t>
            </a:r>
            <a:r>
              <a:rPr lang="en-US" altLang="zh-CN" sz="3200" dirty="0">
                <a:ea typeface="黑体" pitchFamily="2" charset="-122"/>
              </a:rPr>
              <a:t>(</a:t>
            </a:r>
            <a:r>
              <a:rPr lang="en-US" altLang="zh-CN" sz="3200" i="1" dirty="0" err="1">
                <a:ea typeface="黑体" pitchFamily="2" charset="-122"/>
              </a:rPr>
              <a:t>r</a:t>
            </a:r>
            <a:r>
              <a:rPr kumimoji="1" lang="en-US" altLang="zh-CN" sz="3200" i="1" baseline="-25000" dirty="0" err="1">
                <a:ea typeface="黑体" pitchFamily="2" charset="-122"/>
              </a:rPr>
              <a:t>ij</a:t>
            </a:r>
            <a:r>
              <a:rPr lang="en-US" altLang="zh-CN" sz="3200" dirty="0">
                <a:ea typeface="黑体" pitchFamily="2" charset="-122"/>
              </a:rPr>
              <a:t>)</a:t>
            </a:r>
            <a:r>
              <a:rPr kumimoji="1" lang="en-US" altLang="zh-CN" sz="3200" i="1" baseline="-25000" dirty="0" err="1">
                <a:ea typeface="黑体" pitchFamily="2" charset="-122"/>
              </a:rPr>
              <a:t>n×n</a:t>
            </a:r>
            <a:r>
              <a:rPr kumimoji="1" lang="zh-CN" altLang="en-US" sz="3200" dirty="0">
                <a:ea typeface="黑体" pitchFamily="2" charset="-122"/>
              </a:rPr>
              <a:t>，且</a:t>
            </a:r>
            <a:r>
              <a:rPr lang="en-US" altLang="zh-CN" sz="3200" i="1" dirty="0" err="1">
                <a:ea typeface="黑体" pitchFamily="2" charset="-122"/>
              </a:rPr>
              <a:t>r</a:t>
            </a:r>
            <a:r>
              <a:rPr kumimoji="1" lang="en-US" altLang="zh-CN" sz="3200" i="1" baseline="-25000" dirty="0" err="1">
                <a:ea typeface="黑体" pitchFamily="2" charset="-122"/>
              </a:rPr>
              <a:t>ii</a:t>
            </a:r>
            <a:r>
              <a:rPr kumimoji="1" lang="en-US" altLang="zh-CN" sz="3200" i="1" baseline="-25000" dirty="0">
                <a:ea typeface="黑体" pitchFamily="2" charset="-122"/>
              </a:rPr>
              <a:t> </a:t>
            </a:r>
            <a:r>
              <a:rPr lang="en-US" altLang="zh-CN" sz="3200" dirty="0">
                <a:ea typeface="黑体" pitchFamily="2" charset="-122"/>
              </a:rPr>
              <a:t>=1</a:t>
            </a:r>
            <a:r>
              <a:rPr lang="zh-CN" altLang="en-US" sz="3200" dirty="0">
                <a:ea typeface="黑体" pitchFamily="2" charset="-122"/>
              </a:rPr>
              <a:t>，则称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为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自反矩阵。</a:t>
            </a:r>
          </a:p>
          <a:p>
            <a:pPr eaLnBrk="1" hangingPunct="1"/>
            <a:r>
              <a:rPr kumimoji="1" lang="en-US" altLang="zh-CN" sz="2800" dirty="0">
                <a:ea typeface="黑体" pitchFamily="2" charset="-122"/>
              </a:rPr>
              <a:t>[</a:t>
            </a:r>
            <a:r>
              <a:rPr kumimoji="1" lang="zh-CN" altLang="en-US" sz="2800" dirty="0">
                <a:ea typeface="黑体" pitchFamily="2" charset="-122"/>
              </a:rPr>
              <a:t>定义</a:t>
            </a:r>
            <a:r>
              <a:rPr kumimoji="1" lang="en-US" altLang="zh-CN" sz="2800" dirty="0">
                <a:ea typeface="黑体" pitchFamily="2" charset="-122"/>
              </a:rPr>
              <a:t>6]</a:t>
            </a:r>
            <a:r>
              <a:rPr kumimoji="1" lang="zh-CN" altLang="en-US" sz="2800" dirty="0">
                <a:ea typeface="黑体" pitchFamily="2" charset="-122"/>
              </a:rPr>
              <a:t>若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sz="2800" dirty="0">
                <a:ea typeface="黑体" pitchFamily="2" charset="-122"/>
              </a:rPr>
              <a:t> </a:t>
            </a:r>
            <a:r>
              <a:rPr kumimoji="1" lang="en-US" altLang="zh-CN" sz="2800" dirty="0">
                <a:ea typeface="黑体" pitchFamily="2" charset="-122"/>
              </a:rPr>
              <a:t>(</a:t>
            </a:r>
            <a:r>
              <a:rPr kumimoji="1" lang="en-US" altLang="zh-CN" sz="2800" dirty="0" err="1">
                <a:ea typeface="黑体" pitchFamily="2" charset="-122"/>
              </a:rPr>
              <a:t>u,v</a:t>
            </a:r>
            <a:r>
              <a:rPr kumimoji="1" lang="en-US" altLang="zh-CN" sz="2800" dirty="0">
                <a:ea typeface="黑体" pitchFamily="2" charset="-122"/>
              </a:rPr>
              <a:t>)</a:t>
            </a:r>
            <a:r>
              <a:rPr kumimoji="1" lang="en-US" altLang="zh-CN" sz="2800" dirty="0">
                <a:ea typeface="黑体" pitchFamily="2" charset="-122"/>
                <a:sym typeface="Symbol"/>
              </a:rPr>
              <a:t>  </a:t>
            </a:r>
            <a:r>
              <a:rPr kumimoji="1" lang="en-US" altLang="zh-CN" sz="2800" dirty="0"/>
              <a:t>U</a:t>
            </a:r>
            <a:r>
              <a:rPr kumimoji="1" lang="zh-CN" altLang="zh-CN" sz="2800" dirty="0"/>
              <a:t>×</a:t>
            </a:r>
            <a:r>
              <a:rPr kumimoji="1" lang="en-US" altLang="zh-CN" sz="2800" dirty="0"/>
              <a:t>U</a:t>
            </a:r>
            <a:r>
              <a:rPr kumimoji="1" lang="zh-CN" altLang="en-US" sz="2800" dirty="0"/>
              <a:t>，</a:t>
            </a:r>
            <a:r>
              <a:rPr kumimoji="1" lang="zh-CN" altLang="en-US" sz="2800" dirty="0">
                <a:ea typeface="黑体" pitchFamily="2" charset="-122"/>
              </a:rPr>
              <a:t>有</a:t>
            </a:r>
          </a:p>
          <a:p>
            <a:pPr eaLnBrk="1" hangingPunct="1"/>
            <a:endParaRPr kumimoji="1" lang="zh-CN" altLang="en-US" sz="2800" dirty="0"/>
          </a:p>
          <a:p>
            <a:pPr eaLnBrk="1" hangingPunct="1"/>
            <a:endParaRPr kumimoji="1" lang="zh-CN" altLang="en-US" sz="3600" dirty="0"/>
          </a:p>
          <a:p>
            <a:pPr eaLnBrk="1" hangingPunct="1">
              <a:buNone/>
            </a:pPr>
            <a:r>
              <a:rPr kumimoji="1" lang="zh-CN" altLang="en-US" sz="2800" dirty="0">
                <a:ea typeface="黑体" pitchFamily="2" charset="-122"/>
              </a:rPr>
              <a:t>    </a:t>
            </a:r>
            <a:r>
              <a:rPr kumimoji="1" lang="zh-CN" altLang="en-US" dirty="0">
                <a:ea typeface="黑体" pitchFamily="2" charset="-122"/>
              </a:rPr>
              <a:t>则称</a:t>
            </a:r>
            <a:r>
              <a:rPr kumimoji="1" lang="en-US" altLang="zh-CN" dirty="0">
                <a:solidFill>
                  <a:srgbClr val="FF0000"/>
                </a:solidFill>
                <a:latin typeface="ITC Zapf Chancery" pitchFamily="66" charset="0"/>
                <a:ea typeface="黑体" pitchFamily="2" charset="-122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为恒等关系</a:t>
            </a:r>
            <a:endParaRPr kumimoji="1" lang="zh-CN" altLang="en-US" sz="2800" dirty="0">
              <a:solidFill>
                <a:srgbClr val="FF0000"/>
              </a:solidFill>
              <a:ea typeface="黑体" pitchFamily="2" charset="-122"/>
            </a:endParaRPr>
          </a:p>
          <a:p>
            <a:pPr lvl="1" eaLnBrk="1" hangingPunct="1"/>
            <a:r>
              <a:rPr kumimoji="1" lang="en-US" altLang="zh-CN" sz="3200" i="1" dirty="0">
                <a:ea typeface="黑体" pitchFamily="2" charset="-122"/>
              </a:rPr>
              <a:t>R</a:t>
            </a:r>
            <a:r>
              <a:rPr kumimoji="1" lang="zh-CN" altLang="en-US" sz="3200" dirty="0">
                <a:ea typeface="黑体" pitchFamily="2" charset="-122"/>
              </a:rPr>
              <a:t>的自反关系</a:t>
            </a:r>
            <a:r>
              <a:rPr kumimoji="1" lang="zh-CN" altLang="en-US" sz="3200" b="1" dirty="0">
                <a:sym typeface="Symbol" pitchFamily="18" charset="2"/>
              </a:rPr>
              <a:t> </a:t>
            </a:r>
            <a:r>
              <a:rPr kumimoji="1" lang="en-US" altLang="zh-CN" sz="32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3200" b="1" dirty="0">
                <a:sym typeface="Symbol" pitchFamily="18" charset="2"/>
              </a:rPr>
              <a:t> </a:t>
            </a:r>
            <a:r>
              <a:rPr kumimoji="1" lang="en-US" altLang="zh-CN" sz="3200" dirty="0">
                <a:sym typeface="Symbol" pitchFamily="18" charset="2"/>
              </a:rPr>
              <a:t></a:t>
            </a:r>
            <a:r>
              <a:rPr kumimoji="1" lang="en-US" altLang="zh-CN" sz="3200" b="1" dirty="0">
                <a:sym typeface="Symbol" pitchFamily="18" charset="2"/>
              </a:rPr>
              <a:t> </a:t>
            </a:r>
            <a:r>
              <a:rPr kumimoji="1" lang="en-US" altLang="zh-CN" sz="3200" b="1" i="1" dirty="0">
                <a:sym typeface="Symbol" pitchFamily="18" charset="2"/>
              </a:rPr>
              <a:t>R</a:t>
            </a:r>
          </a:p>
          <a:p>
            <a:pPr lvl="1" eaLnBrk="1" hangingPunct="1"/>
            <a:r>
              <a:rPr kumimoji="1" lang="en-US" altLang="zh-CN" sz="3200" i="1" dirty="0">
                <a:ea typeface="黑体" pitchFamily="2" charset="-122"/>
              </a:rPr>
              <a:t>R</a:t>
            </a:r>
            <a:r>
              <a:rPr kumimoji="1" lang="zh-CN" altLang="en-US" sz="3200" dirty="0">
                <a:ea typeface="黑体" pitchFamily="2" charset="-122"/>
              </a:rPr>
              <a:t>的</a:t>
            </a:r>
            <a:r>
              <a:rPr kumimoji="1" lang="zh-CN" altLang="en-US" sz="3200" dirty="0">
                <a:solidFill>
                  <a:srgbClr val="FF00FF"/>
                </a:solidFill>
                <a:ea typeface="黑体" pitchFamily="2" charset="-122"/>
              </a:rPr>
              <a:t>自反闭包</a:t>
            </a:r>
            <a:r>
              <a:rPr kumimoji="1" lang="zh-CN" altLang="en-US" sz="3200" dirty="0">
                <a:ea typeface="黑体" pitchFamily="2" charset="-122"/>
              </a:rPr>
              <a:t>是</a:t>
            </a:r>
          </a:p>
        </p:txBody>
      </p:sp>
      <p:graphicFrame>
        <p:nvGraphicFramePr>
          <p:cNvPr id="5120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283403661"/>
              </p:ext>
            </p:extLst>
          </p:nvPr>
        </p:nvGraphicFramePr>
        <p:xfrm>
          <a:off x="3071365" y="3569392"/>
          <a:ext cx="3168650" cy="122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1100" imgH="457200" progId="Equation.3">
                  <p:embed/>
                </p:oleObj>
              </mc:Choice>
              <mc:Fallback>
                <p:oleObj name="公式" r:id="rId2" imgW="1181100" imgH="457200" progId="Equation.3">
                  <p:embed/>
                  <p:pic>
                    <p:nvPicPr>
                      <p:cNvPr id="512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365" y="3569392"/>
                        <a:ext cx="3168650" cy="1227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09060026"/>
              </p:ext>
            </p:extLst>
          </p:nvPr>
        </p:nvGraphicFramePr>
        <p:xfrm>
          <a:off x="7917575" y="4708795"/>
          <a:ext cx="2663825" cy="20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93800" imgH="914400" progId="Equation.3">
                  <p:embed/>
                </p:oleObj>
              </mc:Choice>
              <mc:Fallback>
                <p:oleObj name="公式" r:id="rId4" imgW="1193800" imgH="914400" progId="Equation.3">
                  <p:embed/>
                  <p:pic>
                    <p:nvPicPr>
                      <p:cNvPr id="512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7575" y="4708795"/>
                        <a:ext cx="2663825" cy="203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058844"/>
              </p:ext>
            </p:extLst>
          </p:nvPr>
        </p:nvGraphicFramePr>
        <p:xfrm>
          <a:off x="8035348" y="2933194"/>
          <a:ext cx="2525148" cy="1701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711000" progId="Equation.DSMT4">
                  <p:embed/>
                </p:oleObj>
              </mc:Choice>
              <mc:Fallback>
                <p:oleObj name="Equation" r:id="rId6" imgW="1295280" imgH="7110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348" y="2933194"/>
                        <a:ext cx="2525148" cy="1701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/>
          <p:cNvSpPr/>
          <p:nvPr/>
        </p:nvSpPr>
        <p:spPr>
          <a:xfrm rot="18715619">
            <a:off x="9390986" y="2694322"/>
            <a:ext cx="398814" cy="2170571"/>
          </a:xfrm>
          <a:prstGeom prst="ellipse">
            <a:avLst/>
          </a:prstGeom>
          <a:noFill/>
          <a:ln w="3810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DF5AA6-2CE3-7D09-BAC3-282CB92212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176CBD-0A4D-116B-315C-C443A2150923}"/>
              </a:ext>
            </a:extLst>
          </p:cNvPr>
          <p:cNvSpPr txBox="1"/>
          <p:nvPr/>
        </p:nvSpPr>
        <p:spPr>
          <a:xfrm>
            <a:off x="4799856" y="6021288"/>
            <a:ext cx="1512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R </a:t>
            </a:r>
            <a:r>
              <a:rPr kumimoji="1" lang="en-US" altLang="zh-CN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anose="05050102010706020507" pitchFamily="18" charset="2"/>
              </a:rPr>
              <a:t> </a:t>
            </a:r>
            <a:r>
              <a:rPr kumimoji="1" lang="en-US" altLang="zh-CN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endParaRPr lang="zh-CN" altLang="en-US" sz="32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74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uiExpand="1" build="p"/>
      <p:bldP spid="8" grpId="0" uiExpand="1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3.4  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矩阵的</a:t>
            </a:r>
            <a:r>
              <a:rPr lang="zh-CN" altLang="en-US" sz="4000" i="1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- 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截矩阵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839416" y="1484313"/>
            <a:ext cx="10585176" cy="3053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dirty="0">
                <a:ea typeface="黑体" pitchFamily="2" charset="-122"/>
              </a:rPr>
              <a:t>[</a:t>
            </a:r>
            <a:r>
              <a:rPr kumimoji="1" lang="zh-CN" altLang="en-US" sz="3200" dirty="0">
                <a:ea typeface="黑体" pitchFamily="2" charset="-122"/>
              </a:rPr>
              <a:t>定义</a:t>
            </a:r>
            <a:r>
              <a:rPr kumimoji="1" lang="en-US" altLang="zh-CN" sz="3200" dirty="0">
                <a:ea typeface="黑体" pitchFamily="2" charset="-122"/>
              </a:rPr>
              <a:t>] </a:t>
            </a:r>
            <a:r>
              <a:rPr kumimoji="1" lang="zh-CN" altLang="en-US" sz="3200" dirty="0">
                <a:ea typeface="黑体" pitchFamily="2" charset="-122"/>
              </a:rPr>
              <a:t>设</a:t>
            </a:r>
            <a:r>
              <a:rPr kumimoji="1" lang="en-US" altLang="zh-CN" sz="3200" i="1" dirty="0">
                <a:ea typeface="黑体" pitchFamily="2" charset="-122"/>
              </a:rPr>
              <a:t>R</a:t>
            </a:r>
            <a:r>
              <a:rPr kumimoji="1" lang="en-US" altLang="zh-CN" sz="3200" dirty="0">
                <a:ea typeface="黑体" pitchFamily="2" charset="-122"/>
              </a:rPr>
              <a:t> = (</a:t>
            </a:r>
            <a:r>
              <a:rPr kumimoji="1" lang="en-US" altLang="zh-CN" sz="3200" i="1" dirty="0" err="1">
                <a:ea typeface="黑体" pitchFamily="2" charset="-122"/>
              </a:rPr>
              <a:t>r</a:t>
            </a:r>
            <a:r>
              <a:rPr kumimoji="1" lang="en-US" altLang="zh-CN" sz="3200" i="1" baseline="-30000" dirty="0" err="1">
                <a:ea typeface="黑体" pitchFamily="2" charset="-122"/>
              </a:rPr>
              <a:t>ij</a:t>
            </a:r>
            <a:r>
              <a:rPr kumimoji="1" lang="en-US" altLang="zh-CN" sz="3200" dirty="0">
                <a:ea typeface="黑体" pitchFamily="2" charset="-122"/>
              </a:rPr>
              <a:t>)</a:t>
            </a:r>
            <a:r>
              <a:rPr kumimoji="1" lang="en-US" altLang="zh-CN" sz="3200" i="1" baseline="-30000" dirty="0" err="1">
                <a:ea typeface="黑体" pitchFamily="2" charset="-122"/>
              </a:rPr>
              <a:t>m</a:t>
            </a:r>
            <a:r>
              <a:rPr kumimoji="1" lang="en-US" altLang="zh-CN" sz="3200" baseline="-30000" dirty="0" err="1">
                <a:ea typeface="黑体" pitchFamily="2" charset="-122"/>
              </a:rPr>
              <a:t>×</a:t>
            </a:r>
            <a:r>
              <a:rPr kumimoji="1" lang="en-US" altLang="zh-CN" sz="3200" i="1" baseline="-30000" dirty="0" err="1">
                <a:ea typeface="黑体" pitchFamily="2" charset="-122"/>
              </a:rPr>
              <a:t>n</a:t>
            </a:r>
            <a:r>
              <a:rPr kumimoji="1" lang="en-US" altLang="zh-CN" sz="3200" dirty="0">
                <a:ea typeface="黑体" pitchFamily="2" charset="-122"/>
              </a:rPr>
              <a:t>, </a:t>
            </a:r>
            <a:r>
              <a:rPr kumimoji="1" lang="zh-CN" altLang="en-US" sz="3200" dirty="0">
                <a:ea typeface="黑体" pitchFamily="2" charset="-122"/>
              </a:rPr>
              <a:t>对</a:t>
            </a:r>
            <a:r>
              <a:rPr lang="zh-CN" altLang="en-US" sz="3200" dirty="0">
                <a:sym typeface="Symbol" pitchFamily="18" charset="2"/>
              </a:rPr>
              <a:t></a:t>
            </a:r>
            <a:r>
              <a:rPr kumimoji="1" lang="zh-CN" altLang="en-US" sz="3200" i="1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sz="3200" dirty="0">
                <a:ea typeface="黑体" pitchFamily="2" charset="-122"/>
                <a:sym typeface="Symbol"/>
              </a:rPr>
              <a:t> </a:t>
            </a:r>
            <a:r>
              <a:rPr kumimoji="1" lang="en-US" altLang="zh-CN" sz="3200" dirty="0">
                <a:ea typeface="黑体" pitchFamily="2" charset="-122"/>
              </a:rPr>
              <a:t>[0, 1]</a:t>
            </a:r>
            <a:r>
              <a:rPr kumimoji="1" lang="zh-CN" altLang="en-US" sz="3200" dirty="0">
                <a:ea typeface="黑体" pitchFamily="2" charset="-122"/>
              </a:rPr>
              <a:t>，称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dirty="0">
                <a:ea typeface="黑体" pitchFamily="2" charset="-122"/>
              </a:rPr>
              <a:t>           </a:t>
            </a:r>
            <a:r>
              <a:rPr kumimoji="1" lang="en-US" altLang="zh-CN" sz="3200" i="1" dirty="0">
                <a:ea typeface="黑体" pitchFamily="2" charset="-122"/>
              </a:rPr>
              <a:t>R</a:t>
            </a:r>
            <a:r>
              <a:rPr kumimoji="1" lang="en-US" altLang="zh-CN" sz="3200" i="1" baseline="-30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sz="3200" dirty="0">
                <a:ea typeface="黑体" pitchFamily="2" charset="-122"/>
              </a:rPr>
              <a:t>= (</a:t>
            </a:r>
            <a:r>
              <a:rPr kumimoji="1" lang="en-US" altLang="zh-CN" sz="3200" i="1" dirty="0" err="1">
                <a:ea typeface="黑体" pitchFamily="2" charset="-122"/>
              </a:rPr>
              <a:t>r</a:t>
            </a:r>
            <a:r>
              <a:rPr kumimoji="1" lang="en-US" altLang="zh-CN" sz="3200" i="1" baseline="-30000" dirty="0" err="1">
                <a:ea typeface="黑体" pitchFamily="2" charset="-122"/>
              </a:rPr>
              <a:t>ij</a:t>
            </a:r>
            <a:r>
              <a:rPr kumimoji="1" lang="en-US" altLang="zh-CN" sz="3200" dirty="0">
                <a:ea typeface="黑体" pitchFamily="2" charset="-122"/>
              </a:rPr>
              <a:t>(</a:t>
            </a:r>
            <a:r>
              <a:rPr kumimoji="1" lang="en-US" altLang="zh-CN" sz="3200" i="1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sz="3200" dirty="0">
                <a:ea typeface="黑体" pitchFamily="2" charset="-122"/>
              </a:rPr>
              <a:t>))</a:t>
            </a:r>
            <a:r>
              <a:rPr kumimoji="1" lang="en-US" altLang="zh-CN" sz="3200" i="1" baseline="-30000" dirty="0" err="1">
                <a:ea typeface="黑体" pitchFamily="2" charset="-122"/>
              </a:rPr>
              <a:t>m</a:t>
            </a:r>
            <a:r>
              <a:rPr kumimoji="1" lang="en-US" altLang="zh-CN" sz="3200" baseline="-30000" dirty="0" err="1">
                <a:ea typeface="黑体" pitchFamily="2" charset="-122"/>
              </a:rPr>
              <a:t>×</a:t>
            </a:r>
            <a:r>
              <a:rPr kumimoji="1" lang="en-US" altLang="zh-CN" sz="3200" i="1" baseline="-30000" dirty="0" err="1">
                <a:ea typeface="黑体" pitchFamily="2" charset="-122"/>
              </a:rPr>
              <a:t>n</a:t>
            </a:r>
            <a:r>
              <a:rPr kumimoji="1" lang="en-US" altLang="zh-CN" sz="3200" dirty="0">
                <a:ea typeface="黑体" pitchFamily="2" charset="-122"/>
              </a:rPr>
              <a:t>,</a:t>
            </a:r>
            <a:r>
              <a:rPr kumimoji="1" lang="zh-CN" altLang="en-US" sz="3200" dirty="0">
                <a:ea typeface="黑体" pitchFamily="2" charset="-122"/>
              </a:rPr>
              <a:t>为</a:t>
            </a:r>
            <a:r>
              <a:rPr kumimoji="1" lang="en-US" altLang="zh-CN" sz="3200" dirty="0">
                <a:ea typeface="黑体" pitchFamily="2" charset="-122"/>
              </a:rPr>
              <a:t>F</a:t>
            </a:r>
            <a:r>
              <a:rPr kumimoji="1" lang="zh-CN" altLang="en-US" sz="3200" dirty="0">
                <a:ea typeface="黑体" pitchFamily="2" charset="-122"/>
              </a:rPr>
              <a:t>矩阵</a:t>
            </a:r>
            <a:r>
              <a:rPr kumimoji="1" lang="en-US" altLang="zh-CN" sz="3200" dirty="0">
                <a:ea typeface="黑体" pitchFamily="2" charset="-122"/>
              </a:rPr>
              <a:t>R</a:t>
            </a:r>
            <a:r>
              <a:rPr kumimoji="1" lang="zh-CN" altLang="en-US" sz="3200" dirty="0">
                <a:ea typeface="黑体" pitchFamily="2" charset="-122"/>
              </a:rPr>
              <a:t>的</a:t>
            </a:r>
            <a:r>
              <a:rPr kumimoji="1" lang="zh-CN" altLang="en-US" sz="3200" i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</a:rPr>
              <a:t>- 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截矩阵</a:t>
            </a:r>
            <a:r>
              <a:rPr kumimoji="1" lang="en-US" altLang="zh-CN" sz="3200" dirty="0">
                <a:ea typeface="黑体" pitchFamily="2" charset="-122"/>
              </a:rPr>
              <a:t>, </a:t>
            </a:r>
            <a:r>
              <a:rPr kumimoji="1" lang="zh-CN" altLang="en-US" sz="3200" dirty="0">
                <a:ea typeface="黑体" pitchFamily="2" charset="-122"/>
              </a:rPr>
              <a:t>其中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dirty="0">
                <a:ea typeface="黑体" pitchFamily="2" charset="-122"/>
              </a:rPr>
              <a:t>   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kumimoji="1" lang="zh-CN" altLang="en-US" sz="2000" dirty="0">
              <a:ea typeface="黑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           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显然，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kumimoji="1" lang="en-US" altLang="zh-CN" sz="4000" i="1" baseline="-25000" dirty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为布尔矩阵</a:t>
            </a:r>
            <a:r>
              <a:rPr kumimoji="1" lang="en-US" altLang="zh-CN" sz="3200" dirty="0">
                <a:solidFill>
                  <a:srgbClr val="FF0000"/>
                </a:solidFill>
                <a:ea typeface="黑体" pitchFamily="2" charset="-122"/>
              </a:rPr>
              <a:t>.</a:t>
            </a:r>
            <a:r>
              <a:rPr kumimoji="1" lang="en-US" altLang="zh-CN" sz="3600" b="1" dirty="0">
                <a:solidFill>
                  <a:schemeClr val="bg2"/>
                </a:solidFill>
                <a:latin typeface="宋体" pitchFamily="2" charset="-122"/>
              </a:rPr>
              <a:t> 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060343"/>
              </p:ext>
            </p:extLst>
          </p:nvPr>
        </p:nvGraphicFramePr>
        <p:xfrm>
          <a:off x="1680052" y="4422775"/>
          <a:ext cx="5070475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28800" imgH="914400" progId="Equation.DSMT4">
                  <p:embed/>
                </p:oleObj>
              </mc:Choice>
              <mc:Fallback>
                <p:oleObj name="Equation" r:id="rId5" imgW="1828800" imgH="914400" progId="Equation.DSMT4">
                  <p:embed/>
                  <p:pic>
                    <p:nvPicPr>
                      <p:cNvPr id="52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052" y="4422775"/>
                        <a:ext cx="5070475" cy="222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008439" y="2636838"/>
          <a:ext cx="2808287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67893" imgH="482391" progId="Equation.3">
                  <p:embed/>
                </p:oleObj>
              </mc:Choice>
              <mc:Fallback>
                <p:oleObj name="公式" r:id="rId7" imgW="1167893" imgH="482391" progId="Equation.3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2636838"/>
                        <a:ext cx="2808287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6816725" y="3808984"/>
            <a:ext cx="5070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类似地，有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的</a:t>
            </a:r>
            <a:r>
              <a:rPr kumimoji="1" lang="zh-CN" altLang="en-US" sz="2800" b="1" i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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强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截集矩阵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kumimoji="1" lang="en-US" altLang="zh-CN" sz="2800" b="1" i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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002653"/>
              </p:ext>
            </p:extLst>
          </p:nvPr>
        </p:nvGraphicFramePr>
        <p:xfrm>
          <a:off x="6967557" y="5301208"/>
          <a:ext cx="10572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80" imgH="228600" progId="Equation.DSMT4">
                  <p:embed/>
                </p:oleObj>
              </mc:Choice>
              <mc:Fallback>
                <p:oleObj name="Equation" r:id="rId9" imgW="380880" imgH="2286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57" y="5301208"/>
                        <a:ext cx="10572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D3136B-34F0-BCE9-4809-7CEF13D635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37E45253-7AE6-37FF-E54F-C2174A1BF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65054"/>
              </p:ext>
            </p:extLst>
          </p:nvPr>
        </p:nvGraphicFramePr>
        <p:xfrm>
          <a:off x="8024832" y="4437112"/>
          <a:ext cx="2535237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914400" progId="Equation.DSMT4">
                  <p:embed/>
                </p:oleObj>
              </mc:Choice>
              <mc:Fallback>
                <p:oleObj name="Equation" r:id="rId11" imgW="914400" imgH="9144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832" y="4437112"/>
                        <a:ext cx="2535237" cy="222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79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矩阵的</a:t>
            </a:r>
            <a:r>
              <a:rPr lang="zh-CN" altLang="en-US" i="1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-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截矩阵的性质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700214"/>
            <a:ext cx="10310935" cy="4167187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性质</a:t>
            </a:r>
            <a:r>
              <a:rPr lang="en-US" altLang="zh-CN" dirty="0">
                <a:ea typeface="黑体" pitchFamily="2" charset="-122"/>
              </a:rPr>
              <a:t>1]   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dirty="0">
                <a:ea typeface="黑体" pitchFamily="2" charset="-122"/>
              </a:rPr>
              <a:t>S</a:t>
            </a:r>
            <a:r>
              <a:rPr kumimoji="1" lang="en-US" altLang="zh-CN" i="1" dirty="0">
                <a:ea typeface="黑体" pitchFamily="2" charset="-122"/>
              </a:rPr>
              <a:t>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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黑体" pitchFamily="2" charset="-122"/>
                <a:sym typeface="Symbol"/>
              </a:rPr>
              <a:t> </a:t>
            </a:r>
            <a:r>
              <a:rPr kumimoji="1" lang="en-US" altLang="zh-CN" dirty="0">
                <a:ea typeface="黑体" pitchFamily="2" charset="-122"/>
              </a:rPr>
              <a:t>[0, 1]</a:t>
            </a:r>
            <a:r>
              <a:rPr kumimoji="1" lang="zh-CN" altLang="en-US" dirty="0">
                <a:ea typeface="黑体" pitchFamily="2" charset="-122"/>
              </a:rPr>
              <a:t>， 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</a:t>
            </a:r>
            <a:r>
              <a:rPr kumimoji="1" lang="en-US" altLang="zh-CN" dirty="0">
                <a:ea typeface="黑体" pitchFamily="2" charset="-122"/>
              </a:rPr>
              <a:t>S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i="1" dirty="0">
                <a:ea typeface="黑体" pitchFamily="2" charset="-122"/>
              </a:rPr>
              <a:t> </a:t>
            </a:r>
            <a:endParaRPr lang="en-US" altLang="zh-CN" dirty="0">
              <a:ea typeface="黑体" pitchFamily="2" charset="-122"/>
            </a:endParaRPr>
          </a:p>
          <a:p>
            <a:pPr eaLnBrk="1" hangingPunct="1"/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性质</a:t>
            </a:r>
            <a:r>
              <a:rPr lang="en-US" altLang="zh-CN" dirty="0">
                <a:ea typeface="黑体" pitchFamily="2" charset="-122"/>
              </a:rPr>
              <a:t>2]</a:t>
            </a:r>
            <a:r>
              <a:rPr lang="en-US" altLang="zh-CN" sz="2800" dirty="0">
                <a:ea typeface="黑体" pitchFamily="2" charset="-122"/>
              </a:rPr>
              <a:t> 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(R</a:t>
            </a:r>
            <a:r>
              <a:rPr kumimoji="1" lang="en-US" altLang="zh-CN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S)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 </a:t>
            </a:r>
            <a:r>
              <a:rPr kumimoji="1" lang="en-US" altLang="zh-CN" dirty="0">
                <a:ea typeface="黑体" pitchFamily="2" charset="-122"/>
              </a:rPr>
              <a:t>= R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黑体" pitchFamily="2" charset="-122"/>
                <a:sym typeface="Symbol"/>
              </a:rPr>
              <a:t>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黑体" pitchFamily="2" charset="-122"/>
              </a:rPr>
              <a:t>     </a:t>
            </a:r>
          </a:p>
          <a:p>
            <a:pPr eaLnBrk="1" hangingPunct="1">
              <a:buNone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          (R</a:t>
            </a:r>
            <a:r>
              <a:rPr kumimoji="1" lang="en-US" altLang="zh-CN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S)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i="1" dirty="0">
                <a:ea typeface="黑体" pitchFamily="2" charset="-122"/>
              </a:rPr>
              <a:t>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= R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黑体" pitchFamily="2" charset="-122"/>
                <a:sym typeface="Symbol"/>
              </a:rPr>
              <a:t>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i="1" baseline="-25000" dirty="0">
                <a:ea typeface="黑体" pitchFamily="2" charset="-122"/>
                <a:sym typeface="Symbol" pitchFamily="18" charset="2"/>
              </a:rPr>
              <a:t></a:t>
            </a:r>
          </a:p>
          <a:p>
            <a:pPr eaLnBrk="1" hangingPunct="1"/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注意：不能推广到无限多个</a:t>
            </a:r>
            <a:r>
              <a:rPr kumimoji="1" lang="zh-CN" altLang="en-US" u="sng" dirty="0">
                <a:solidFill>
                  <a:srgbClr val="3333FF"/>
                </a:solidFill>
                <a:ea typeface="黑体" pitchFamily="2" charset="-122"/>
              </a:rPr>
              <a:t>并运算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上去</a:t>
            </a:r>
          </a:p>
          <a:p>
            <a:pPr eaLnBrk="1" hangingPunct="1"/>
            <a:endParaRPr kumimoji="1" lang="zh-CN" altLang="en-US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/>
            <a:endParaRPr kumimoji="1" lang="zh-CN" altLang="en-US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            但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5427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26734265"/>
              </p:ext>
            </p:extLst>
          </p:nvPr>
        </p:nvGraphicFramePr>
        <p:xfrm>
          <a:off x="3676006" y="5634882"/>
          <a:ext cx="3140075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69800" progId="Equation.DSMT4">
                  <p:embed/>
                </p:oleObj>
              </mc:Choice>
              <mc:Fallback>
                <p:oleObj name="Equation" r:id="rId2" imgW="1333440" imgH="469800" progId="Equation.DSMT4">
                  <p:embed/>
                  <p:pic>
                    <p:nvPicPr>
                      <p:cNvPr id="54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006" y="5634882"/>
                        <a:ext cx="3140075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29104901"/>
              </p:ext>
            </p:extLst>
          </p:nvPr>
        </p:nvGraphicFramePr>
        <p:xfrm>
          <a:off x="3791744" y="4208463"/>
          <a:ext cx="3042444" cy="987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469800" progId="Equation.DSMT4">
                  <p:embed/>
                </p:oleObj>
              </mc:Choice>
              <mc:Fallback>
                <p:oleObj name="Equation" r:id="rId4" imgW="1447560" imgH="469800" progId="Equation.DSMT4">
                  <p:embed/>
                  <p:pic>
                    <p:nvPicPr>
                      <p:cNvPr id="54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4208463"/>
                        <a:ext cx="3042444" cy="987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58327348"/>
              </p:ext>
            </p:extLst>
          </p:nvPr>
        </p:nvGraphicFramePr>
        <p:xfrm>
          <a:off x="7550150" y="4175125"/>
          <a:ext cx="28527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469800" progId="Equation.DSMT4">
                  <p:embed/>
                </p:oleObj>
              </mc:Choice>
              <mc:Fallback>
                <p:oleObj name="Equation" r:id="rId6" imgW="1231560" imgH="46980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4175125"/>
                        <a:ext cx="2852738" cy="112553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D28068D-519C-AF3E-E6A5-90D4FAA707F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32637210"/>
              </p:ext>
            </p:extLst>
          </p:nvPr>
        </p:nvGraphicFramePr>
        <p:xfrm>
          <a:off x="7578725" y="5588000"/>
          <a:ext cx="279400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469800" progId="Equation.DSMT4">
                  <p:embed/>
                </p:oleObj>
              </mc:Choice>
              <mc:Fallback>
                <p:oleObj name="Equation" r:id="rId8" imgW="1206360" imgH="46980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8725" y="5588000"/>
                        <a:ext cx="2794000" cy="11255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7B0C0B-02A9-1E2E-14D0-FD586F2DD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415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3.5</a:t>
            </a:r>
            <a:r>
              <a:rPr lang="en-US" altLang="zh-CN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</a:rPr>
              <a:t>  </a:t>
            </a:r>
            <a:r>
              <a:rPr lang="en-US" altLang="zh-CN" dirty="0">
                <a:solidFill>
                  <a:srgbClr val="008000"/>
                </a:solidFill>
                <a:latin typeface="+mn-lt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</a:rPr>
              <a:t>关系的合成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268760"/>
            <a:ext cx="10670976" cy="558924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引例：设有下面论域：</a:t>
            </a:r>
          </a:p>
          <a:p>
            <a:pPr lvl="1" eaLnBrk="1" hangingPunct="1"/>
            <a:r>
              <a:rPr lang="en-US" altLang="zh-CN" sz="2400" dirty="0">
                <a:ea typeface="黑体" pitchFamily="2" charset="-122"/>
              </a:rPr>
              <a:t>U——</a:t>
            </a:r>
            <a:r>
              <a:rPr lang="zh-CN" altLang="en-US" sz="2400" dirty="0">
                <a:ea typeface="黑体" pitchFamily="2" charset="-122"/>
              </a:rPr>
              <a:t>某学校教师的集合</a:t>
            </a:r>
          </a:p>
          <a:p>
            <a:pPr lvl="1" eaLnBrk="1" hangingPunct="1"/>
            <a:r>
              <a:rPr lang="en-US" altLang="zh-CN" sz="2400" dirty="0">
                <a:ea typeface="黑体" pitchFamily="2" charset="-122"/>
              </a:rPr>
              <a:t>V——</a:t>
            </a:r>
            <a:r>
              <a:rPr lang="zh-CN" altLang="en-US" sz="2400" dirty="0">
                <a:ea typeface="黑体" pitchFamily="2" charset="-122"/>
              </a:rPr>
              <a:t>该校课程的集合</a:t>
            </a:r>
          </a:p>
          <a:p>
            <a:pPr lvl="1" eaLnBrk="1" hangingPunct="1"/>
            <a:r>
              <a:rPr lang="en-US" altLang="zh-CN" sz="2400" dirty="0">
                <a:ea typeface="黑体" pitchFamily="2" charset="-122"/>
              </a:rPr>
              <a:t>W——</a:t>
            </a:r>
            <a:r>
              <a:rPr lang="zh-CN" altLang="en-US" sz="2400" dirty="0">
                <a:ea typeface="黑体" pitchFamily="2" charset="-122"/>
              </a:rPr>
              <a:t>学生的集合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存在关系：</a:t>
            </a:r>
          </a:p>
          <a:p>
            <a:pPr lvl="1" eaLnBrk="1" hangingPunct="1"/>
            <a:r>
              <a:rPr lang="en-US" altLang="zh-CN" sz="2400" dirty="0">
                <a:solidFill>
                  <a:srgbClr val="057939"/>
                </a:solidFill>
                <a:ea typeface="黑体" pitchFamily="2" charset="-122"/>
              </a:rPr>
              <a:t>R(u, v)—— U</a:t>
            </a:r>
            <a:r>
              <a:rPr lang="zh-CN" altLang="en-US" sz="2400" dirty="0">
                <a:solidFill>
                  <a:srgbClr val="057939"/>
                </a:solidFill>
                <a:ea typeface="黑体" pitchFamily="2" charset="-122"/>
              </a:rPr>
              <a:t>到</a:t>
            </a:r>
            <a:r>
              <a:rPr lang="en-US" altLang="zh-CN" sz="2400" dirty="0">
                <a:solidFill>
                  <a:srgbClr val="057939"/>
                </a:solidFill>
                <a:ea typeface="黑体" pitchFamily="2" charset="-122"/>
              </a:rPr>
              <a:t>V</a:t>
            </a:r>
            <a:r>
              <a:rPr lang="zh-CN" altLang="en-US" sz="2400" dirty="0">
                <a:solidFill>
                  <a:srgbClr val="057939"/>
                </a:solidFill>
                <a:ea typeface="黑体" pitchFamily="2" charset="-122"/>
              </a:rPr>
              <a:t>的“讲授”关系</a:t>
            </a:r>
          </a:p>
          <a:p>
            <a:pPr lvl="1" eaLnBrk="1" hangingPunct="1"/>
            <a:r>
              <a:rPr lang="en-US" altLang="zh-CN" sz="2400" dirty="0">
                <a:solidFill>
                  <a:srgbClr val="057939"/>
                </a:solidFill>
                <a:ea typeface="黑体" pitchFamily="2" charset="-122"/>
              </a:rPr>
              <a:t>Q(v, w)——V</a:t>
            </a:r>
            <a:r>
              <a:rPr lang="zh-CN" altLang="en-US" sz="2400" dirty="0">
                <a:solidFill>
                  <a:srgbClr val="057939"/>
                </a:solidFill>
                <a:ea typeface="黑体" pitchFamily="2" charset="-122"/>
              </a:rPr>
              <a:t>到</a:t>
            </a:r>
            <a:r>
              <a:rPr lang="en-US" altLang="zh-CN" sz="2400" dirty="0">
                <a:solidFill>
                  <a:srgbClr val="057939"/>
                </a:solidFill>
                <a:ea typeface="黑体" pitchFamily="2" charset="-122"/>
              </a:rPr>
              <a:t>W</a:t>
            </a:r>
            <a:r>
              <a:rPr lang="zh-CN" altLang="en-US" sz="2400" dirty="0">
                <a:solidFill>
                  <a:srgbClr val="057939"/>
                </a:solidFill>
                <a:ea typeface="黑体" pitchFamily="2" charset="-122"/>
              </a:rPr>
              <a:t>的“被选”关系</a:t>
            </a:r>
          </a:p>
          <a:p>
            <a:pPr lvl="1" eaLnBrk="1" hangingPunct="1"/>
            <a:r>
              <a:rPr lang="en-US" altLang="zh-CN" sz="2400" dirty="0">
                <a:solidFill>
                  <a:srgbClr val="057939"/>
                </a:solidFill>
                <a:ea typeface="黑体" pitchFamily="2" charset="-122"/>
              </a:rPr>
              <a:t>P(u, w)——U</a:t>
            </a:r>
            <a:r>
              <a:rPr lang="zh-CN" altLang="en-US" sz="2400" dirty="0">
                <a:solidFill>
                  <a:srgbClr val="057939"/>
                </a:solidFill>
                <a:ea typeface="黑体" pitchFamily="2" charset="-122"/>
              </a:rPr>
              <a:t>到</a:t>
            </a:r>
            <a:r>
              <a:rPr lang="en-US" altLang="zh-CN" sz="2400" dirty="0">
                <a:solidFill>
                  <a:srgbClr val="057939"/>
                </a:solidFill>
                <a:ea typeface="黑体" pitchFamily="2" charset="-122"/>
              </a:rPr>
              <a:t>W</a:t>
            </a:r>
            <a:r>
              <a:rPr lang="zh-CN" altLang="en-US" sz="2400" dirty="0">
                <a:solidFill>
                  <a:srgbClr val="057939"/>
                </a:solidFill>
                <a:ea typeface="黑体" pitchFamily="2" charset="-122"/>
              </a:rPr>
              <a:t>的“师生”关系</a:t>
            </a:r>
          </a:p>
          <a:p>
            <a:pPr eaLnBrk="1" hangingPunct="1"/>
            <a:r>
              <a:rPr lang="zh-CN" altLang="en-US" sz="2800" dirty="0">
                <a:solidFill>
                  <a:srgbClr val="EE0006"/>
                </a:solidFill>
                <a:ea typeface="黑体" pitchFamily="2" charset="-122"/>
              </a:rPr>
              <a:t>关联</a:t>
            </a:r>
            <a:r>
              <a:rPr lang="zh-CN" altLang="en-US" dirty="0">
                <a:solidFill>
                  <a:srgbClr val="EE0006"/>
                </a:solidFill>
                <a:ea typeface="黑体" pitchFamily="2" charset="-122"/>
              </a:rPr>
              <a:t>：</a:t>
            </a:r>
          </a:p>
          <a:p>
            <a:pPr lvl="1" eaLnBrk="1" hangingPunct="1"/>
            <a:r>
              <a:rPr lang="en-US" altLang="zh-CN" sz="2800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dirty="0">
                <a:ea typeface="黑体" pitchFamily="2" charset="-122"/>
              </a:rPr>
              <a:t>w</a:t>
            </a:r>
            <a:r>
              <a:rPr lang="zh-CN" altLang="en-US" sz="2800" dirty="0">
                <a:ea typeface="黑体" pitchFamily="2" charset="-122"/>
              </a:rPr>
              <a:t>的老师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至少有一门课</a:t>
            </a:r>
            <a:r>
              <a:rPr lang="en-US" altLang="zh-CN" sz="2800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，使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讲授</a:t>
            </a:r>
            <a:r>
              <a:rPr lang="en-US" altLang="zh-CN" sz="2800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，且</a:t>
            </a:r>
            <a:r>
              <a:rPr lang="en-US" altLang="zh-CN" sz="2800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dirty="0">
                <a:ea typeface="黑体" pitchFamily="2" charset="-122"/>
              </a:rPr>
              <a:t>w</a:t>
            </a:r>
            <a:r>
              <a:rPr lang="zh-CN" altLang="en-US" sz="2800" dirty="0">
                <a:ea typeface="黑体" pitchFamily="2" charset="-122"/>
              </a:rPr>
              <a:t>被选的课程</a:t>
            </a:r>
          </a:p>
          <a:p>
            <a:pPr lvl="1" eaLnBrk="1" hangingPunct="1"/>
            <a:r>
              <a:rPr lang="zh-CN" altLang="en-US" sz="2800" dirty="0">
                <a:solidFill>
                  <a:srgbClr val="EE0006"/>
                </a:solidFill>
                <a:ea typeface="黑体" pitchFamily="2" charset="-122"/>
              </a:rPr>
              <a:t>即  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</a:rPr>
              <a:t>(</a:t>
            </a:r>
            <a:r>
              <a:rPr lang="en-US" altLang="zh-CN" sz="2800" dirty="0" err="1">
                <a:solidFill>
                  <a:srgbClr val="EE0006"/>
                </a:solidFill>
                <a:ea typeface="黑体" pitchFamily="2" charset="-122"/>
              </a:rPr>
              <a:t>u,w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</a:rPr>
              <a:t>) 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P </a:t>
            </a:r>
            <a:r>
              <a:rPr kumimoji="1" lang="en-US" altLang="zh-CN" sz="2800" b="1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 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v V, </a:t>
            </a:r>
            <a:r>
              <a:rPr lang="zh-CN" altLang="en-US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使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dirty="0" err="1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u,v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) R </a:t>
            </a:r>
            <a:r>
              <a:rPr lang="zh-CN" altLang="en-US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且 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dirty="0" err="1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v,w</a:t>
            </a:r>
            <a:r>
              <a:rPr lang="en-US" altLang="zh-CN" sz="2800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) Q</a:t>
            </a:r>
            <a:endParaRPr lang="en-US" altLang="zh-CN" sz="2800" dirty="0">
              <a:ea typeface="黑体" pitchFamily="2" charset="-122"/>
              <a:sym typeface="Symbol" pitchFamily="18" charset="2"/>
            </a:endParaRPr>
          </a:p>
        </p:txBody>
      </p:sp>
      <p:sp>
        <p:nvSpPr>
          <p:cNvPr id="55300" name="AutoShape 4"/>
          <p:cNvSpPr>
            <a:spLocks noChangeArrowheads="1"/>
          </p:cNvSpPr>
          <p:nvPr/>
        </p:nvSpPr>
        <p:spPr bwMode="auto">
          <a:xfrm>
            <a:off x="7792412" y="2420888"/>
            <a:ext cx="3816596" cy="2160240"/>
          </a:xfrm>
          <a:prstGeom prst="wedgeRoundRectCallout">
            <a:avLst>
              <a:gd name="adj1" fmla="val -37407"/>
              <a:gd name="adj2" fmla="val 36194"/>
              <a:gd name="adj3" fmla="val 16667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即：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可由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Q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确定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称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为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Q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的合成。</a:t>
            </a:r>
            <a:endParaRPr lang="zh-CN" altLang="en-US" sz="2800" b="1" dirty="0">
              <a:solidFill>
                <a:srgbClr val="3333FF"/>
              </a:solidFill>
              <a:ea typeface="楷体_GB2312" pitchFamily="49" charset="-122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记为</a:t>
            </a:r>
            <a:r>
              <a:rPr lang="zh-CN" altLang="en-US" sz="2800" b="1" dirty="0">
                <a:solidFill>
                  <a:srgbClr val="3333FF"/>
                </a:solidFill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</a:rPr>
              <a:t>P=R </a:t>
            </a:r>
            <a:r>
              <a:rPr lang="en-US" altLang="zh-CN" sz="28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2800" dirty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8933D6-034F-2B76-4AF6-EA8D2FB65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69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  <p:bldP spid="5530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</a:rPr>
              <a:t>关系合成的定义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628801"/>
            <a:ext cx="10225136" cy="47609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设</a:t>
            </a:r>
            <a:r>
              <a:rPr lang="en-US" altLang="zh-CN" dirty="0"/>
              <a:t>Q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(U</a:t>
            </a:r>
            <a:r>
              <a:rPr lang="en-US" altLang="zh-CN" dirty="0">
                <a:sym typeface="Symbol" pitchFamily="18" charset="2"/>
              </a:rPr>
              <a:t>×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V)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，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R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(V</a:t>
            </a:r>
            <a:r>
              <a:rPr lang="en-US" altLang="zh-CN" dirty="0">
                <a:sym typeface="Symbol" pitchFamily="18" charset="2"/>
              </a:rPr>
              <a:t>×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W)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， 所谓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Q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对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R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的合成，就是从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到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W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的一个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关系，记作</a:t>
            </a:r>
            <a:r>
              <a:rPr kumimoji="1" lang="en-US" altLang="zh-CN" dirty="0">
                <a:solidFill>
                  <a:srgbClr val="EE0006"/>
                </a:solidFill>
                <a:sym typeface="Symbol" pitchFamily="18" charset="2"/>
              </a:rPr>
              <a:t>Q</a:t>
            </a:r>
            <a:r>
              <a:rPr lang="en-US" altLang="zh-CN" b="1" dirty="0">
                <a:solidFill>
                  <a:srgbClr val="EE0006"/>
                </a:solidFill>
              </a:rPr>
              <a:t>◦</a:t>
            </a:r>
            <a:r>
              <a:rPr lang="en-US" altLang="zh-CN" dirty="0">
                <a:solidFill>
                  <a:srgbClr val="EE0006"/>
                </a:solidFill>
              </a:rPr>
              <a:t>R</a:t>
            </a:r>
            <a:r>
              <a:rPr lang="zh-CN" altLang="en-US" dirty="0"/>
              <a:t>，</a:t>
            </a:r>
            <a:r>
              <a:rPr lang="zh-CN" altLang="en-US" dirty="0">
                <a:ea typeface="黑体" pitchFamily="2" charset="-122"/>
              </a:rPr>
              <a:t>它的关系程度是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  <a:p>
            <a:pPr>
              <a:lnSpc>
                <a:spcPct val="120000"/>
              </a:lnSpc>
              <a:defRPr/>
            </a:pPr>
            <a:r>
              <a:rPr lang="zh-CN" altLang="en-US" b="1" dirty="0"/>
              <a:t>设</a:t>
            </a:r>
            <a:r>
              <a:rPr lang="en-US" altLang="zh-CN" b="1" dirty="0">
                <a:ea typeface="黑体" pitchFamily="2" charset="-122"/>
                <a:sym typeface="Symbol" pitchFamily="18" charset="2"/>
              </a:rPr>
              <a:t>R</a:t>
            </a:r>
            <a:r>
              <a:rPr lang="en-US" altLang="zh-CN" b="1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b="1" dirty="0">
                <a:ea typeface="黑体" pitchFamily="2" charset="-122"/>
                <a:sym typeface="Symbol" pitchFamily="18" charset="2"/>
              </a:rPr>
              <a:t>(A</a:t>
            </a:r>
            <a:r>
              <a:rPr lang="en-US" altLang="zh-CN" b="1" dirty="0">
                <a:sym typeface="Symbol" pitchFamily="18" charset="2"/>
              </a:rPr>
              <a:t>×A</a:t>
            </a:r>
            <a:r>
              <a:rPr lang="en-US" altLang="zh-CN" b="1" dirty="0">
                <a:ea typeface="黑体" pitchFamily="2" charset="-122"/>
                <a:sym typeface="Symbol" pitchFamily="18" charset="2"/>
              </a:rPr>
              <a:t>), </a:t>
            </a:r>
            <a:r>
              <a:rPr lang="en-US" altLang="zh-CN" b="1" dirty="0"/>
              <a:t>n</a:t>
            </a:r>
            <a:r>
              <a:rPr lang="zh-CN" altLang="en-US" b="1" dirty="0"/>
              <a:t>为自然数</a:t>
            </a:r>
            <a:r>
              <a:rPr lang="en-US" altLang="zh-CN" b="1" dirty="0"/>
              <a:t>, </a:t>
            </a:r>
            <a:r>
              <a:rPr lang="zh-CN" altLang="en-US" b="1" dirty="0"/>
              <a:t>则 </a:t>
            </a:r>
            <a:r>
              <a:rPr lang="en-US" altLang="zh-CN" b="1" i="1" dirty="0"/>
              <a:t>R</a:t>
            </a:r>
            <a:r>
              <a:rPr lang="en-US" altLang="zh-CN" b="1" dirty="0"/>
              <a:t> </a:t>
            </a:r>
            <a:r>
              <a:rPr lang="zh-CN" altLang="en-US" b="1" dirty="0"/>
              <a:t>的 </a:t>
            </a:r>
            <a:r>
              <a:rPr lang="en-US" altLang="zh-CN" b="1" i="1" dirty="0">
                <a:solidFill>
                  <a:srgbClr val="FF3300"/>
                </a:solidFill>
              </a:rPr>
              <a:t>n</a:t>
            </a:r>
            <a:r>
              <a:rPr lang="zh-CN" altLang="en-US" b="1" dirty="0">
                <a:solidFill>
                  <a:srgbClr val="FF3300"/>
                </a:solidFill>
              </a:rPr>
              <a:t>次幂</a:t>
            </a:r>
            <a:r>
              <a:rPr lang="zh-CN" altLang="en-US" b="1" dirty="0"/>
              <a:t>定义为：</a:t>
            </a: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zh-CN" altLang="en-US" sz="3200" b="1" dirty="0">
                <a:solidFill>
                  <a:srgbClr val="3333FF"/>
                </a:solidFill>
              </a:rPr>
              <a:t>   </a:t>
            </a:r>
            <a:r>
              <a:rPr lang="en-US" altLang="zh-CN" sz="3200" b="1" dirty="0">
                <a:solidFill>
                  <a:srgbClr val="3333FF"/>
                </a:solidFill>
              </a:rPr>
              <a:t>(1) R</a:t>
            </a:r>
            <a:r>
              <a:rPr lang="en-US" altLang="zh-CN" sz="3200" b="1" baseline="30000" dirty="0">
                <a:solidFill>
                  <a:srgbClr val="3333FF"/>
                </a:solidFill>
              </a:rPr>
              <a:t>0</a:t>
            </a:r>
            <a:r>
              <a:rPr lang="en-US" altLang="zh-CN" sz="3200" b="1" dirty="0">
                <a:solidFill>
                  <a:srgbClr val="3333FF"/>
                </a:solidFill>
              </a:rPr>
              <a:t>={&lt;x, x&gt; | </a:t>
            </a:r>
            <a:r>
              <a:rPr lang="en-US" altLang="zh-CN" sz="3200" b="1" dirty="0" err="1">
                <a:solidFill>
                  <a:srgbClr val="3333FF"/>
                </a:solidFill>
              </a:rPr>
              <a:t>x</a:t>
            </a:r>
            <a:r>
              <a:rPr lang="en-US" altLang="zh-CN" sz="3200" b="1" dirty="0" err="1">
                <a:solidFill>
                  <a:srgbClr val="3333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3200" b="1" dirty="0" err="1">
                <a:solidFill>
                  <a:srgbClr val="3333FF"/>
                </a:solidFill>
              </a:rPr>
              <a:t>A</a:t>
            </a:r>
            <a:r>
              <a:rPr lang="en-US" altLang="zh-CN" sz="3200" b="1" dirty="0">
                <a:solidFill>
                  <a:srgbClr val="3333FF"/>
                </a:solidFill>
              </a:rPr>
              <a:t> }=</a:t>
            </a:r>
            <a:r>
              <a:rPr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I</a:t>
            </a:r>
            <a:r>
              <a:rPr lang="en-US" altLang="zh-CN" sz="3200" b="1" baseline="-25000" dirty="0">
                <a:solidFill>
                  <a:srgbClr val="3333FF"/>
                </a:solidFill>
              </a:rPr>
              <a:t>A</a:t>
            </a:r>
            <a:r>
              <a:rPr lang="zh-CN" altLang="en-US" sz="32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（恒等关系）</a:t>
            </a:r>
            <a:endParaRPr lang="zh-CN" altLang="en-US" sz="3200" b="1" baseline="-25000" dirty="0">
              <a:solidFill>
                <a:srgbClr val="3333FF"/>
              </a:solidFill>
              <a:latin typeface="楷体" pitchFamily="49" charset="-122"/>
              <a:ea typeface="楷体" pitchFamily="49" charset="-122"/>
            </a:endParaRP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zh-CN" altLang="en-US" sz="3200" b="1" dirty="0">
                <a:solidFill>
                  <a:srgbClr val="3333FF"/>
                </a:solidFill>
              </a:rPr>
              <a:t>   </a:t>
            </a:r>
            <a:r>
              <a:rPr lang="en-US" altLang="zh-CN" sz="3200" b="1" dirty="0">
                <a:solidFill>
                  <a:srgbClr val="3333FF"/>
                </a:solidFill>
              </a:rPr>
              <a:t>(2) R</a:t>
            </a:r>
            <a:r>
              <a:rPr lang="en-US" altLang="zh-CN" sz="3200" b="1" baseline="30000" dirty="0">
                <a:solidFill>
                  <a:srgbClr val="3333FF"/>
                </a:solidFill>
              </a:rPr>
              <a:t>n+1 </a:t>
            </a:r>
            <a:r>
              <a:rPr lang="en-US" altLang="zh-CN" sz="3200" b="1" dirty="0">
                <a:solidFill>
                  <a:srgbClr val="3333FF"/>
                </a:solidFill>
              </a:rPr>
              <a:t>= </a:t>
            </a:r>
            <a:r>
              <a:rPr lang="en-US" altLang="zh-CN" sz="3200" b="1" dirty="0" err="1">
                <a:solidFill>
                  <a:srgbClr val="3333FF"/>
                </a:solidFill>
              </a:rPr>
              <a:t>R</a:t>
            </a:r>
            <a:r>
              <a:rPr lang="en-US" altLang="zh-CN" sz="3200" b="1" baseline="30000" dirty="0" err="1">
                <a:solidFill>
                  <a:srgbClr val="3333FF"/>
                </a:solidFill>
              </a:rPr>
              <a:t>n</a:t>
            </a:r>
            <a:r>
              <a:rPr lang="en-US" altLang="zh-CN" sz="3200" b="1" dirty="0" err="1">
                <a:solidFill>
                  <a:srgbClr val="3333FF"/>
                </a:solidFill>
              </a:rPr>
              <a:t>∘R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n</a:t>
            </a:r>
            <a:r>
              <a:rPr lang="en-US" altLang="en-US" sz="3200" b="1" dirty="0"/>
              <a:t>≥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）</a:t>
            </a:r>
          </a:p>
        </p:txBody>
      </p:sp>
      <p:graphicFrame>
        <p:nvGraphicFramePr>
          <p:cNvPr id="5632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7889580"/>
              </p:ext>
            </p:extLst>
          </p:nvPr>
        </p:nvGraphicFramePr>
        <p:xfrm>
          <a:off x="2566987" y="3062137"/>
          <a:ext cx="70580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22500" imgH="279400" progId="Equation.3">
                  <p:embed/>
                </p:oleObj>
              </mc:Choice>
              <mc:Fallback>
                <p:oleObj name="公式" r:id="rId2" imgW="2222500" imgH="279400" progId="Equation.3">
                  <p:embed/>
                  <p:pic>
                    <p:nvPicPr>
                      <p:cNvPr id="563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7" y="3062137"/>
                        <a:ext cx="7058025" cy="8890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456040" y="5517232"/>
            <a:ext cx="34414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Arial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3200" kern="0" dirty="0">
                <a:solidFill>
                  <a:srgbClr val="EE0006"/>
                </a:solidFill>
                <a:latin typeface="Arial"/>
                <a:ea typeface="黑体" pitchFamily="2" charset="-122"/>
                <a:sym typeface="Symbol" pitchFamily="18" charset="2"/>
              </a:rPr>
              <a:t>（</a:t>
            </a:r>
            <a:r>
              <a:rPr lang="en-US" altLang="zh-CN" sz="3200" kern="0" dirty="0">
                <a:solidFill>
                  <a:srgbClr val="EE0006"/>
                </a:solidFill>
                <a:latin typeface="Arial"/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3200" kern="0" dirty="0">
                <a:solidFill>
                  <a:srgbClr val="EE0006"/>
                </a:solidFill>
                <a:latin typeface="Arial"/>
                <a:ea typeface="黑体" pitchFamily="2" charset="-122"/>
                <a:sym typeface="Symbol" pitchFamily="18" charset="2"/>
              </a:rPr>
              <a:t>矩阵的幂）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D3E8C8-EC08-F3CA-BF77-2883748FB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C85EAC-6FAE-44AE-B9A5-47E3DC5EF4EF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90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Times New Roman" pitchFamily="18" charset="0"/>
                <a:ea typeface="黑体" pitchFamily="2" charset="-122"/>
              </a:rPr>
              <a:t>矩阵合成的定理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524000" y="1557338"/>
            <a:ext cx="8915400" cy="59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>
                <a:latin typeface="Times New Roman" pitchFamily="18" charset="0"/>
                <a:ea typeface="黑体" pitchFamily="2" charset="-122"/>
              </a:rPr>
              <a:t>  </a:t>
            </a:r>
            <a:endParaRPr kumimoji="1" lang="en-US" altLang="zh-CN" sz="3200" b="1">
              <a:solidFill>
                <a:schemeClr val="bg2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08460" y="1568450"/>
            <a:ext cx="9975080" cy="4679950"/>
          </a:xfrm>
        </p:spPr>
        <p:txBody>
          <a:bodyPr/>
          <a:lstStyle/>
          <a:p>
            <a:pPr eaLnBrk="1" hangingPunct="1"/>
            <a:r>
              <a:rPr kumimoji="1" lang="zh-CN" altLang="en-US" dirty="0">
                <a:ea typeface="黑体" pitchFamily="2" charset="-122"/>
              </a:rPr>
              <a:t>设</a:t>
            </a:r>
            <a:r>
              <a:rPr kumimoji="1" lang="en-US" altLang="zh-CN" dirty="0"/>
              <a:t>Q </a:t>
            </a:r>
            <a:r>
              <a:rPr kumimoji="1" lang="en-US" altLang="zh-CN" b="1" dirty="0"/>
              <a:t>= (</a:t>
            </a:r>
            <a:r>
              <a:rPr kumimoji="1" lang="en-US" altLang="zh-CN" b="1" i="1" dirty="0" err="1"/>
              <a:t>q</a:t>
            </a:r>
            <a:r>
              <a:rPr kumimoji="1" lang="en-US" altLang="zh-CN" b="1" i="1" baseline="-25000" dirty="0" err="1"/>
              <a:t>ik</a:t>
            </a:r>
            <a:r>
              <a:rPr kumimoji="1" lang="en-US" altLang="zh-CN" b="1" dirty="0"/>
              <a:t>)</a:t>
            </a:r>
            <a:r>
              <a:rPr kumimoji="1" lang="en-US" altLang="zh-CN" b="1" i="1" baseline="-25000" dirty="0" err="1"/>
              <a:t>m</a:t>
            </a:r>
            <a:r>
              <a:rPr kumimoji="1" lang="en-US" altLang="zh-CN" b="1" baseline="-25000" dirty="0" err="1"/>
              <a:t>×</a:t>
            </a:r>
            <a:r>
              <a:rPr kumimoji="1" lang="en-US" altLang="zh-CN" b="1" i="1" baseline="-25000" dirty="0" err="1"/>
              <a:t>l</a:t>
            </a:r>
            <a:r>
              <a:rPr kumimoji="1" lang="en-US" altLang="zh-CN" b="1" i="1" baseline="-25000" dirty="0"/>
              <a:t>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 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(U</a:t>
            </a:r>
            <a:r>
              <a:rPr lang="en-US" altLang="zh-CN" dirty="0">
                <a:sym typeface="Symbol" pitchFamily="18" charset="2"/>
              </a:rPr>
              <a:t>×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V),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  <a:sym typeface="Symbol" pitchFamily="18" charset="2"/>
              </a:rPr>
              <a:t>       R </a:t>
            </a:r>
            <a:r>
              <a:rPr kumimoji="1" lang="en-US" altLang="zh-CN" b="1" dirty="0"/>
              <a:t>= (</a:t>
            </a:r>
            <a:r>
              <a:rPr kumimoji="1" lang="en-US" altLang="zh-CN" b="1" i="1" dirty="0" err="1"/>
              <a:t>r</a:t>
            </a:r>
            <a:r>
              <a:rPr kumimoji="1" lang="en-US" altLang="zh-CN" b="1" i="1" baseline="-25000" dirty="0" err="1"/>
              <a:t>kj</a:t>
            </a:r>
            <a:r>
              <a:rPr kumimoji="1" lang="en-US" altLang="zh-CN" b="1" dirty="0"/>
              <a:t>)</a:t>
            </a:r>
            <a:r>
              <a:rPr kumimoji="1" lang="en-US" altLang="zh-CN" b="1" i="1" baseline="-25000" dirty="0" err="1"/>
              <a:t>l</a:t>
            </a:r>
            <a:r>
              <a:rPr kumimoji="1" lang="en-US" altLang="zh-CN" b="1" baseline="-25000" dirty="0" err="1"/>
              <a:t>×</a:t>
            </a:r>
            <a:r>
              <a:rPr kumimoji="1" lang="en-US" altLang="zh-CN" b="1" i="1" baseline="-25000" dirty="0" err="1"/>
              <a:t>n</a:t>
            </a:r>
            <a:r>
              <a:rPr kumimoji="1" lang="en-US" altLang="zh-CN" b="1" i="1" baseline="-25000" dirty="0"/>
              <a:t> 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 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(V</a:t>
            </a:r>
            <a:r>
              <a:rPr lang="en-US" altLang="zh-CN" dirty="0">
                <a:sym typeface="Symbol" pitchFamily="18" charset="2"/>
              </a:rPr>
              <a:t>×W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),</a:t>
            </a:r>
            <a:r>
              <a:rPr lang="en-US" altLang="zh-CN" sz="3600" dirty="0">
                <a:ea typeface="黑体" pitchFamily="2" charset="-122"/>
                <a:sym typeface="Symbol" pitchFamily="18" charset="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dirty="0">
                <a:ea typeface="黑体" pitchFamily="2" charset="-122"/>
              </a:rPr>
              <a:t>   </a:t>
            </a:r>
            <a:r>
              <a:rPr kumimoji="1" lang="zh-CN" altLang="en-US" dirty="0">
                <a:ea typeface="黑体" pitchFamily="2" charset="-122"/>
              </a:rPr>
              <a:t>则</a:t>
            </a:r>
            <a:r>
              <a:rPr kumimoji="1" lang="en-US" altLang="zh-CN" dirty="0">
                <a:ea typeface="黑体" pitchFamily="2" charset="-122"/>
              </a:rPr>
              <a:t>Q</a:t>
            </a:r>
            <a:r>
              <a:rPr kumimoji="1" lang="zh-CN" altLang="en-US" dirty="0">
                <a:ea typeface="黑体" pitchFamily="2" charset="-122"/>
              </a:rPr>
              <a:t>对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的合成为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3600" i="1" dirty="0"/>
              <a:t>      </a:t>
            </a:r>
            <a:r>
              <a:rPr kumimoji="1" lang="en-US" altLang="zh-CN" sz="3600" i="1" dirty="0">
                <a:solidFill>
                  <a:srgbClr val="EE0006"/>
                </a:solidFill>
              </a:rPr>
              <a:t>Q</a:t>
            </a:r>
            <a:r>
              <a:rPr lang="en-US" altLang="zh-CN" sz="3600" dirty="0">
                <a:solidFill>
                  <a:srgbClr val="EE0006"/>
                </a:solidFill>
                <a:ea typeface="黑体" pitchFamily="2" charset="-122"/>
              </a:rPr>
              <a:t>◦R = </a:t>
            </a:r>
            <a:r>
              <a:rPr kumimoji="1" lang="en-US" altLang="zh-CN" sz="3600" dirty="0">
                <a:solidFill>
                  <a:srgbClr val="EE0006"/>
                </a:solidFill>
              </a:rPr>
              <a:t>S = (</a:t>
            </a:r>
            <a:r>
              <a:rPr kumimoji="1" lang="en-US" altLang="zh-CN" sz="3600" i="1" dirty="0" err="1">
                <a:solidFill>
                  <a:srgbClr val="EE0006"/>
                </a:solidFill>
              </a:rPr>
              <a:t>s</a:t>
            </a:r>
            <a:r>
              <a:rPr kumimoji="1" lang="en-US" altLang="zh-CN" sz="3600" i="1" baseline="-25000" dirty="0" err="1">
                <a:solidFill>
                  <a:srgbClr val="EE0006"/>
                </a:solidFill>
              </a:rPr>
              <a:t>ij</a:t>
            </a:r>
            <a:r>
              <a:rPr kumimoji="1" lang="en-US" altLang="zh-CN" sz="3600" dirty="0">
                <a:solidFill>
                  <a:srgbClr val="EE0006"/>
                </a:solidFill>
              </a:rPr>
              <a:t>)</a:t>
            </a:r>
            <a:r>
              <a:rPr kumimoji="1" lang="en-US" altLang="zh-CN" sz="3600" i="1" baseline="-25000" dirty="0" err="1">
                <a:solidFill>
                  <a:srgbClr val="EE0006"/>
                </a:solidFill>
              </a:rPr>
              <a:t>m</a:t>
            </a:r>
            <a:r>
              <a:rPr kumimoji="1" lang="en-US" altLang="zh-CN" sz="3600" baseline="-25000" dirty="0" err="1">
                <a:solidFill>
                  <a:srgbClr val="EE0006"/>
                </a:solidFill>
              </a:rPr>
              <a:t>×</a:t>
            </a:r>
            <a:r>
              <a:rPr kumimoji="1" lang="en-US" altLang="zh-CN" sz="3600" i="1" baseline="-25000" dirty="0" err="1">
                <a:solidFill>
                  <a:srgbClr val="EE0006"/>
                </a:solidFill>
              </a:rPr>
              <a:t>n</a:t>
            </a:r>
            <a:r>
              <a:rPr kumimoji="1" lang="en-US" altLang="zh-CN" sz="3600" i="1" dirty="0">
                <a:solidFill>
                  <a:srgbClr val="EE0006"/>
                </a:solidFill>
              </a:rPr>
              <a:t> </a:t>
            </a:r>
            <a:r>
              <a:rPr lang="en-US" altLang="zh-CN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solidFill>
                  <a:srgbClr val="EE0006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(U</a:t>
            </a:r>
            <a:r>
              <a:rPr lang="en-US" altLang="zh-CN" dirty="0">
                <a:solidFill>
                  <a:srgbClr val="EE0006"/>
                </a:solidFill>
                <a:sym typeface="Symbol" pitchFamily="18" charset="2"/>
              </a:rPr>
              <a:t>×W</a:t>
            </a:r>
            <a:r>
              <a:rPr lang="en-US" altLang="zh-CN" dirty="0">
                <a:solidFill>
                  <a:srgbClr val="EE0006"/>
                </a:solidFill>
                <a:ea typeface="黑体" pitchFamily="2" charset="-122"/>
                <a:sym typeface="Symbol" pitchFamily="18" charset="2"/>
              </a:rPr>
              <a:t>)</a:t>
            </a:r>
            <a:r>
              <a:rPr lang="en-US" altLang="zh-CN" sz="3600" dirty="0">
                <a:ea typeface="黑体" pitchFamily="2" charset="-122"/>
                <a:sym typeface="Symbol" pitchFamily="18" charset="2"/>
              </a:rPr>
              <a:t> </a:t>
            </a:r>
            <a:endParaRPr kumimoji="1" lang="en-US" altLang="zh-CN" sz="3600" dirty="0"/>
          </a:p>
          <a:p>
            <a:pPr eaLnBrk="1" hangingPunct="1"/>
            <a:r>
              <a:rPr kumimoji="1" lang="zh-CN" altLang="en-US" dirty="0">
                <a:ea typeface="黑体" pitchFamily="2" charset="-122"/>
              </a:rPr>
              <a:t>其中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b="1" i="1" dirty="0">
                <a:solidFill>
                  <a:schemeClr val="bg2"/>
                </a:solidFill>
              </a:rPr>
              <a:t>        </a:t>
            </a:r>
            <a:r>
              <a:rPr kumimoji="1" lang="en-US" altLang="zh-CN" b="1" i="1" dirty="0" err="1">
                <a:solidFill>
                  <a:srgbClr val="EE0006"/>
                </a:solidFill>
              </a:rPr>
              <a:t>s</a:t>
            </a:r>
            <a:r>
              <a:rPr kumimoji="1" lang="en-US" altLang="zh-CN" b="1" i="1" baseline="-25000" dirty="0" err="1">
                <a:solidFill>
                  <a:srgbClr val="EE0006"/>
                </a:solidFill>
              </a:rPr>
              <a:t>ij</a:t>
            </a:r>
            <a:r>
              <a:rPr kumimoji="1" lang="en-US" altLang="zh-CN" b="1" i="1" dirty="0">
                <a:solidFill>
                  <a:srgbClr val="EE0006"/>
                </a:solidFill>
              </a:rPr>
              <a:t> </a:t>
            </a:r>
            <a:r>
              <a:rPr kumimoji="1" lang="en-US" altLang="zh-CN" b="1" dirty="0">
                <a:solidFill>
                  <a:srgbClr val="EE0006"/>
                </a:solidFill>
              </a:rPr>
              <a:t>= </a:t>
            </a:r>
            <a:r>
              <a:rPr kumimoji="1" lang="en-US" altLang="zh-CN" b="1" dirty="0">
                <a:solidFill>
                  <a:srgbClr val="EE0006"/>
                </a:solidFill>
                <a:sym typeface="Symbol" pitchFamily="18" charset="2"/>
              </a:rPr>
              <a:t>∨</a:t>
            </a:r>
            <a:r>
              <a:rPr kumimoji="1" lang="en-US" altLang="zh-CN" b="1" dirty="0">
                <a:solidFill>
                  <a:srgbClr val="EE0006"/>
                </a:solidFill>
              </a:rPr>
              <a:t>{(</a:t>
            </a:r>
            <a:r>
              <a:rPr kumimoji="1" lang="en-US" altLang="zh-CN" b="1" dirty="0" err="1">
                <a:solidFill>
                  <a:srgbClr val="EE0006"/>
                </a:solidFill>
              </a:rPr>
              <a:t>q</a:t>
            </a:r>
            <a:r>
              <a:rPr kumimoji="1" lang="en-US" altLang="zh-CN" b="1" i="1" baseline="-25000" dirty="0" err="1">
                <a:solidFill>
                  <a:srgbClr val="EE0006"/>
                </a:solidFill>
              </a:rPr>
              <a:t>ik</a:t>
            </a:r>
            <a:r>
              <a:rPr kumimoji="1" lang="en-US" altLang="zh-CN" b="1" dirty="0" err="1">
                <a:solidFill>
                  <a:srgbClr val="EE0006"/>
                </a:solidFill>
                <a:sym typeface="Symbol"/>
              </a:rPr>
              <a:t></a:t>
            </a:r>
            <a:r>
              <a:rPr kumimoji="1" lang="en-US" altLang="zh-CN" b="1" dirty="0" err="1">
                <a:solidFill>
                  <a:srgbClr val="EE0006"/>
                </a:solidFill>
              </a:rPr>
              <a:t>r</a:t>
            </a:r>
            <a:r>
              <a:rPr kumimoji="1" lang="en-US" altLang="zh-CN" b="1" i="1" baseline="-25000" dirty="0" err="1">
                <a:solidFill>
                  <a:srgbClr val="EE0006"/>
                </a:solidFill>
              </a:rPr>
              <a:t>kj</a:t>
            </a:r>
            <a:r>
              <a:rPr kumimoji="1" lang="en-US" altLang="zh-CN" b="1" dirty="0">
                <a:solidFill>
                  <a:srgbClr val="EE0006"/>
                </a:solidFill>
              </a:rPr>
              <a:t>) | 1 ≤ </a:t>
            </a:r>
            <a:r>
              <a:rPr kumimoji="1" lang="en-US" altLang="zh-CN" b="1" i="1" dirty="0">
                <a:solidFill>
                  <a:srgbClr val="EE0006"/>
                </a:solidFill>
              </a:rPr>
              <a:t>k </a:t>
            </a:r>
            <a:r>
              <a:rPr kumimoji="1" lang="en-US" altLang="zh-CN" b="1" dirty="0">
                <a:solidFill>
                  <a:srgbClr val="EE0006"/>
                </a:solidFill>
              </a:rPr>
              <a:t>≤ </a:t>
            </a:r>
            <a:r>
              <a:rPr kumimoji="1" lang="en-US" altLang="zh-CN" b="1" i="1" dirty="0">
                <a:solidFill>
                  <a:srgbClr val="EE0006"/>
                </a:solidFill>
              </a:rPr>
              <a:t>l </a:t>
            </a:r>
            <a:r>
              <a:rPr kumimoji="1" lang="en-US" altLang="zh-CN" b="1" dirty="0">
                <a:solidFill>
                  <a:srgbClr val="EE0006"/>
                </a:solidFill>
              </a:rPr>
              <a:t>}</a:t>
            </a:r>
          </a:p>
          <a:p>
            <a:pPr eaLnBrk="1" hangingPunct="1"/>
            <a:r>
              <a:rPr kumimoji="1" lang="en-US" altLang="zh-CN" b="1" dirty="0">
                <a:ea typeface="楷体_GB2312" pitchFamily="49" charset="-122"/>
              </a:rPr>
              <a:t>F</a:t>
            </a:r>
            <a:r>
              <a:rPr kumimoji="1" lang="zh-CN" altLang="en-US" b="1" dirty="0">
                <a:ea typeface="楷体_GB2312" pitchFamily="49" charset="-122"/>
              </a:rPr>
              <a:t>矩阵的合成也称为</a:t>
            </a:r>
            <a:r>
              <a:rPr kumimoji="1" lang="en-US" altLang="zh-CN" b="1" dirty="0">
                <a:solidFill>
                  <a:srgbClr val="3333FF"/>
                </a:solidFill>
                <a:ea typeface="楷体_GB2312" pitchFamily="49" charset="-122"/>
              </a:rPr>
              <a:t>F</a:t>
            </a:r>
            <a:r>
              <a:rPr kumimoji="1" lang="zh-CN" altLang="en-US" b="1" dirty="0">
                <a:solidFill>
                  <a:srgbClr val="3333FF"/>
                </a:solidFill>
                <a:ea typeface="楷体_GB2312" pitchFamily="49" charset="-122"/>
              </a:rPr>
              <a:t>矩阵的乘积（</a:t>
            </a:r>
            <a:r>
              <a:rPr kumimoji="1" lang="en-US" altLang="zh-CN" b="1" dirty="0">
                <a:solidFill>
                  <a:srgbClr val="3333FF"/>
                </a:solidFill>
                <a:ea typeface="楷体_GB2312" pitchFamily="49" charset="-122"/>
              </a:rPr>
              <a:t>F</a:t>
            </a:r>
            <a:r>
              <a:rPr kumimoji="1" lang="zh-CN" altLang="en-US" b="1" dirty="0">
                <a:solidFill>
                  <a:srgbClr val="3333FF"/>
                </a:solidFill>
                <a:ea typeface="楷体_GB2312" pitchFamily="49" charset="-122"/>
              </a:rPr>
              <a:t>乘法）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BBCB5B-FB9E-63EC-543D-D57431836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966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0648"/>
            <a:ext cx="109728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二元关系幂的运算</a:t>
            </a:r>
            <a:endParaRPr lang="zh-CN" altLang="en-US" dirty="0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412777"/>
            <a:ext cx="9288834" cy="4525963"/>
          </a:xfrm>
        </p:spPr>
        <p:txBody>
          <a:bodyPr/>
          <a:lstStyle/>
          <a:p>
            <a:pPr eaLnBrk="1" hangingPunct="1"/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c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d</a:t>
            </a:r>
            <a:r>
              <a:rPr lang="en-US" altLang="zh-CN" b="1" i="1" dirty="0"/>
              <a:t> </a:t>
            </a:r>
            <a:r>
              <a:rPr lang="en-US" altLang="zh-CN" b="1" dirty="0"/>
              <a:t>}, 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dirty="0">
                <a:solidFill>
                  <a:srgbClr val="3333FF"/>
                </a:solidFill>
              </a:rPr>
              <a:t>={&lt;</a:t>
            </a:r>
            <a:r>
              <a:rPr lang="en-US" altLang="zh-CN" b="1" i="1" dirty="0" err="1">
                <a:solidFill>
                  <a:srgbClr val="3333FF"/>
                </a:solidFill>
              </a:rPr>
              <a:t>a</a:t>
            </a:r>
            <a:r>
              <a:rPr lang="en-US" altLang="zh-CN" b="1" dirty="0" err="1">
                <a:solidFill>
                  <a:srgbClr val="3333FF"/>
                </a:solidFill>
              </a:rPr>
              <a:t>,</a:t>
            </a:r>
            <a:r>
              <a:rPr lang="en-US" altLang="zh-CN" b="1" i="1" dirty="0" err="1">
                <a:solidFill>
                  <a:srgbClr val="3333FF"/>
                </a:solidFill>
              </a:rPr>
              <a:t>b</a:t>
            </a:r>
            <a:r>
              <a:rPr lang="en-US" altLang="zh-CN" b="1" dirty="0">
                <a:solidFill>
                  <a:srgbClr val="3333FF"/>
                </a:solidFill>
              </a:rPr>
              <a:t>&gt;,&lt;</a:t>
            </a:r>
            <a:r>
              <a:rPr lang="en-US" altLang="zh-CN" b="1" i="1" dirty="0" err="1">
                <a:solidFill>
                  <a:srgbClr val="3333FF"/>
                </a:solidFill>
              </a:rPr>
              <a:t>b</a:t>
            </a:r>
            <a:r>
              <a:rPr lang="en-US" altLang="zh-CN" b="1" dirty="0" err="1">
                <a:solidFill>
                  <a:srgbClr val="3333FF"/>
                </a:solidFill>
              </a:rPr>
              <a:t>,</a:t>
            </a:r>
            <a:r>
              <a:rPr lang="en-US" altLang="zh-CN" b="1" i="1" dirty="0" err="1">
                <a:solidFill>
                  <a:srgbClr val="3333FF"/>
                </a:solidFill>
              </a:rPr>
              <a:t>a</a:t>
            </a:r>
            <a:r>
              <a:rPr lang="en-US" altLang="zh-CN" b="1" dirty="0">
                <a:solidFill>
                  <a:srgbClr val="3333FF"/>
                </a:solidFill>
              </a:rPr>
              <a:t>&gt;,&lt;</a:t>
            </a:r>
            <a:r>
              <a:rPr lang="en-US" altLang="zh-CN" b="1" i="1" dirty="0" err="1">
                <a:solidFill>
                  <a:srgbClr val="3333FF"/>
                </a:solidFill>
              </a:rPr>
              <a:t>b</a:t>
            </a:r>
            <a:r>
              <a:rPr lang="en-US" altLang="zh-CN" b="1" dirty="0" err="1">
                <a:solidFill>
                  <a:srgbClr val="3333FF"/>
                </a:solidFill>
              </a:rPr>
              <a:t>,</a:t>
            </a:r>
            <a:r>
              <a:rPr lang="en-US" altLang="zh-CN" b="1" i="1" dirty="0" err="1">
                <a:solidFill>
                  <a:srgbClr val="3333FF"/>
                </a:solidFill>
              </a:rPr>
              <a:t>c</a:t>
            </a:r>
            <a:r>
              <a:rPr lang="en-US" altLang="zh-CN" b="1" dirty="0">
                <a:solidFill>
                  <a:srgbClr val="3333FF"/>
                </a:solidFill>
              </a:rPr>
              <a:t>&gt;,&lt;</a:t>
            </a:r>
            <a:r>
              <a:rPr lang="en-US" altLang="zh-CN" b="1" i="1" dirty="0" err="1">
                <a:solidFill>
                  <a:srgbClr val="3333FF"/>
                </a:solidFill>
              </a:rPr>
              <a:t>c</a:t>
            </a:r>
            <a:r>
              <a:rPr lang="en-US" altLang="zh-CN" b="1" dirty="0" err="1">
                <a:solidFill>
                  <a:srgbClr val="3333FF"/>
                </a:solidFill>
              </a:rPr>
              <a:t>,</a:t>
            </a:r>
            <a:r>
              <a:rPr lang="en-US" altLang="zh-CN" b="1" i="1" dirty="0" err="1">
                <a:solidFill>
                  <a:srgbClr val="3333FF"/>
                </a:solidFill>
              </a:rPr>
              <a:t>d</a:t>
            </a:r>
            <a:r>
              <a:rPr lang="en-US" altLang="zh-CN" b="1" dirty="0">
                <a:solidFill>
                  <a:srgbClr val="3333FF"/>
                </a:solidFill>
              </a:rPr>
              <a:t>&gt;}, </a:t>
            </a:r>
          </a:p>
          <a:p>
            <a:pPr eaLnBrk="1" hangingPunct="1"/>
            <a:r>
              <a:rPr lang="zh-CN" altLang="en-US" b="1" dirty="0"/>
              <a:t>求</a:t>
            </a:r>
            <a:r>
              <a:rPr lang="en-US" altLang="zh-CN" b="1" i="1" dirty="0"/>
              <a:t>R</a:t>
            </a:r>
            <a:r>
              <a:rPr lang="en-US" altLang="zh-CN" b="1" i="1" baseline="30000" dirty="0"/>
              <a:t>0</a:t>
            </a:r>
            <a:r>
              <a:rPr lang="en-US" altLang="zh-CN" b="1" i="1" dirty="0"/>
              <a:t>,R</a:t>
            </a:r>
            <a:r>
              <a:rPr lang="en-US" altLang="zh-CN" b="1" i="1" baseline="30000" dirty="0"/>
              <a:t>1</a:t>
            </a:r>
            <a:r>
              <a:rPr lang="en-US" altLang="zh-CN" b="1" i="1" dirty="0"/>
              <a:t>,R</a:t>
            </a:r>
            <a:r>
              <a:rPr lang="en-US" altLang="zh-CN" b="1" i="1" baseline="30000" dirty="0"/>
              <a:t>2</a:t>
            </a:r>
            <a:r>
              <a:rPr lang="en-US" altLang="zh-CN" b="1" i="1" dirty="0"/>
              <a:t>,R</a:t>
            </a:r>
            <a:r>
              <a:rPr lang="en-US" altLang="zh-CN" b="1" i="1" baseline="30000" dirty="0"/>
              <a:t>3</a:t>
            </a:r>
            <a:r>
              <a:rPr lang="en-US" altLang="zh-CN" b="1" i="1" dirty="0"/>
              <a:t>,R</a:t>
            </a:r>
            <a:r>
              <a:rPr lang="en-US" altLang="zh-CN" b="1" i="1" baseline="30000" dirty="0"/>
              <a:t>4</a:t>
            </a:r>
            <a:r>
              <a:rPr lang="en-US" altLang="zh-CN" b="1" i="1" dirty="0"/>
              <a:t>,R</a:t>
            </a:r>
            <a:r>
              <a:rPr lang="en-US" altLang="zh-CN" b="1" i="1" baseline="30000" dirty="0"/>
              <a:t>5</a:t>
            </a:r>
            <a:r>
              <a:rPr lang="zh-CN" altLang="en-US" b="1" dirty="0"/>
              <a:t>。</a:t>
            </a:r>
          </a:p>
          <a:p>
            <a:pPr eaLnBrk="1" hangingPunct="1"/>
            <a:r>
              <a:rPr lang="zh-CN" altLang="en-US" b="1" dirty="0"/>
              <a:t>解：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en-US" altLang="zh-CN" b="1" i="1" baseline="30000" dirty="0">
                <a:solidFill>
                  <a:srgbClr val="FF0000"/>
                </a:solidFill>
              </a:rPr>
              <a:t>0</a:t>
            </a:r>
            <a:r>
              <a:rPr lang="en-US" altLang="zh-CN" b="1" i="1" dirty="0">
                <a:solidFill>
                  <a:srgbClr val="FF0000"/>
                </a:solidFill>
              </a:rPr>
              <a:t>=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b="1" i="1" baseline="-25000" dirty="0">
                <a:solidFill>
                  <a:srgbClr val="FF0000"/>
                </a:solidFill>
              </a:rPr>
              <a:t>A</a:t>
            </a:r>
            <a:r>
              <a:rPr lang="zh-CN" altLang="en-US" b="1" dirty="0"/>
              <a:t>，其关系矩阵和关系图分别为</a:t>
            </a:r>
          </a:p>
          <a:p>
            <a:pPr eaLnBrk="1" hangingPunct="1"/>
            <a:endParaRPr lang="en-US" altLang="zh-CN" sz="2800" dirty="0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476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6" y="4437064"/>
            <a:ext cx="5076825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4762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1992314" y="4289425"/>
          <a:ext cx="3311525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8188" imgH="857250" progId="Equation.DSMT4">
                  <p:embed/>
                </p:oleObj>
              </mc:Choice>
              <mc:Fallback>
                <p:oleObj name="Equation" r:id="rId4" imgW="1438188" imgH="857250" progId="Equation.DSMT4">
                  <p:embed/>
                  <p:pic>
                    <p:nvPicPr>
                      <p:cNvPr id="747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4289425"/>
                        <a:ext cx="3311525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15888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</a:rPr>
              <a:t>二元关系幂的运算</a:t>
            </a:r>
            <a:endParaRPr lang="zh-CN" altLang="en-US" dirty="0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2141538" y="4011613"/>
          <a:ext cx="2725737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960" imgH="914400" progId="Equation.DSMT4">
                  <p:embed/>
                </p:oleObj>
              </mc:Choice>
              <mc:Fallback>
                <p:oleObj name="Equation" r:id="rId3" imgW="1218960" imgH="914400" progId="Equation.DSMT4">
                  <p:embed/>
                  <p:pic>
                    <p:nvPicPr>
                      <p:cNvPr id="1126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4011613"/>
                        <a:ext cx="2725737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9416" y="1412876"/>
            <a:ext cx="9577761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}, R={&lt;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&gt;}</a:t>
            </a:r>
          </a:p>
          <a:p>
            <a:pPr eaLnBrk="1" hangingPunct="1"/>
            <a:r>
              <a:rPr lang="zh-CN" altLang="en-US" dirty="0"/>
              <a:t>求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0</a:t>
            </a:r>
            <a:r>
              <a:rPr lang="en-US" altLang="zh-CN" i="1" dirty="0"/>
              <a:t>,R</a:t>
            </a:r>
            <a:r>
              <a:rPr lang="en-US" altLang="zh-CN" i="1" baseline="30000" dirty="0"/>
              <a:t>1</a:t>
            </a:r>
            <a:r>
              <a:rPr lang="en-US" altLang="zh-CN" i="1" dirty="0"/>
              <a:t>,R</a:t>
            </a:r>
            <a:r>
              <a:rPr lang="en-US" altLang="zh-CN" i="1" baseline="30000" dirty="0"/>
              <a:t>2</a:t>
            </a:r>
            <a:r>
              <a:rPr lang="en-US" altLang="zh-CN" i="1" dirty="0"/>
              <a:t>,R</a:t>
            </a:r>
            <a:r>
              <a:rPr lang="en-US" altLang="zh-CN" i="1" baseline="30000" dirty="0"/>
              <a:t>3</a:t>
            </a:r>
            <a:r>
              <a:rPr lang="en-US" altLang="zh-CN" i="1" dirty="0"/>
              <a:t>,R</a:t>
            </a:r>
            <a:r>
              <a:rPr lang="en-US" altLang="zh-CN" i="1" baseline="30000" dirty="0"/>
              <a:t>4</a:t>
            </a:r>
            <a:r>
              <a:rPr lang="en-US" altLang="zh-CN" i="1" dirty="0"/>
              <a:t>,R</a:t>
            </a:r>
            <a:r>
              <a:rPr lang="en-US" altLang="zh-CN" i="1" baseline="30000" dirty="0"/>
              <a:t>5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解：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FF0000"/>
                </a:solidFill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zh-CN" altLang="en-US" dirty="0"/>
              <a:t>，其关系矩阵和关系图为</a:t>
            </a:r>
          </a:p>
          <a:p>
            <a:pPr eaLnBrk="1" hangingPunct="1"/>
            <a:endParaRPr lang="en-US" altLang="zh-CN" dirty="0"/>
          </a:p>
        </p:txBody>
      </p:sp>
      <p:pic>
        <p:nvPicPr>
          <p:cNvPr id="1126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1" y="4292600"/>
            <a:ext cx="51149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2759075" y="2245790"/>
          <a:ext cx="6713538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25600" imgH="914400" progId="Equation.DSMT4">
                  <p:embed/>
                </p:oleObj>
              </mc:Choice>
              <mc:Fallback>
                <p:oleObj name="Equation" r:id="rId3" imgW="3225600" imgH="914400" progId="Equation.DSMT4">
                  <p:embed/>
                  <p:pic>
                    <p:nvPicPr>
                      <p:cNvPr id="1157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2245790"/>
                        <a:ext cx="6713538" cy="197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693864" y="200139"/>
            <a:ext cx="8229600" cy="11430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二元关系幂的运算</a:t>
            </a:r>
            <a:endParaRPr lang="zh-CN" altLang="en-US" dirty="0"/>
          </a:p>
        </p:txBody>
      </p:sp>
      <p:sp>
        <p:nvSpPr>
          <p:cNvPr id="11571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124744"/>
            <a:ext cx="9222607" cy="4784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c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d</a:t>
            </a:r>
            <a:r>
              <a:rPr lang="en-US" altLang="zh-CN" b="1" dirty="0"/>
              <a:t>}, </a:t>
            </a:r>
            <a:r>
              <a:rPr lang="en-US" altLang="zh-CN" b="1" i="1" dirty="0"/>
              <a:t>R</a:t>
            </a:r>
            <a:r>
              <a:rPr lang="en-US" altLang="zh-CN" b="1" dirty="0"/>
              <a:t>={&lt;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b</a:t>
            </a:r>
            <a:r>
              <a:rPr lang="en-US" altLang="zh-CN" b="1" dirty="0"/>
              <a:t>&gt;,&lt;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a</a:t>
            </a:r>
            <a:r>
              <a:rPr lang="en-US" altLang="zh-CN" b="1" dirty="0"/>
              <a:t>&gt;,&lt;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c</a:t>
            </a:r>
            <a:r>
              <a:rPr lang="en-US" altLang="zh-CN" b="1" dirty="0"/>
              <a:t>&gt;,&lt;</a:t>
            </a:r>
            <a:r>
              <a:rPr lang="en-US" altLang="zh-CN" b="1" i="1" dirty="0" err="1"/>
              <a:t>c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d</a:t>
            </a:r>
            <a:r>
              <a:rPr lang="en-US" altLang="zh-CN" b="1" dirty="0"/>
              <a:t>&gt;}</a:t>
            </a:r>
          </a:p>
          <a:p>
            <a:pPr eaLnBrk="1" hangingPunct="1">
              <a:defRPr/>
            </a:pPr>
            <a:r>
              <a:rPr lang="zh-CN" altLang="en-US" b="1" dirty="0"/>
              <a:t>解：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baseline="30000" dirty="0">
                <a:solidFill>
                  <a:srgbClr val="3333FF"/>
                </a:solidFill>
              </a:rPr>
              <a:t>2</a:t>
            </a:r>
            <a:r>
              <a:rPr lang="en-US" altLang="zh-CN" b="1" dirty="0">
                <a:solidFill>
                  <a:srgbClr val="3333FF"/>
                </a:solidFill>
              </a:rPr>
              <a:t> = 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dirty="0">
                <a:solidFill>
                  <a:srgbClr val="3333FF"/>
                </a:solidFill>
              </a:rPr>
              <a:t>∘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i="1" dirty="0"/>
              <a:t> </a:t>
            </a:r>
            <a:r>
              <a:rPr lang="zh-CN" altLang="en-US" b="1" dirty="0"/>
              <a:t>，关系矩阵为</a:t>
            </a:r>
          </a:p>
          <a:p>
            <a:pPr marL="0" indent="0" eaLnBrk="1" hangingPunct="1">
              <a:buNone/>
              <a:defRPr/>
            </a:pPr>
            <a:endParaRPr lang="en-US" altLang="zh-CN" sz="2800" dirty="0"/>
          </a:p>
        </p:txBody>
      </p:sp>
      <p:sp>
        <p:nvSpPr>
          <p:cNvPr id="12293" name="Rectangle 3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5719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4953545" y="4170908"/>
          <a:ext cx="30146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81123" imgH="342900" progId="Equation.DSMT4">
                  <p:embed/>
                </p:oleObj>
              </mc:Choice>
              <mc:Fallback>
                <p:oleObj name="Equation" r:id="rId5" imgW="981123" imgH="342900" progId="Equation.DSMT4">
                  <p:embed/>
                  <p:pic>
                    <p:nvPicPr>
                      <p:cNvPr id="1157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545" y="4170908"/>
                        <a:ext cx="30146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1" name="AutoShape 9"/>
          <p:cNvSpPr>
            <a:spLocks noChangeArrowheads="1"/>
          </p:cNvSpPr>
          <p:nvPr/>
        </p:nvSpPr>
        <p:spPr bwMode="auto">
          <a:xfrm>
            <a:off x="3575720" y="2348978"/>
            <a:ext cx="1584325" cy="360362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2" name="AutoShape 10"/>
          <p:cNvSpPr>
            <a:spLocks noChangeArrowheads="1"/>
          </p:cNvSpPr>
          <p:nvPr/>
        </p:nvSpPr>
        <p:spPr bwMode="auto">
          <a:xfrm>
            <a:off x="5519739" y="2277540"/>
            <a:ext cx="288925" cy="19431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3" name="Oval 11"/>
          <p:cNvSpPr>
            <a:spLocks noChangeArrowheads="1"/>
          </p:cNvSpPr>
          <p:nvPr/>
        </p:nvSpPr>
        <p:spPr bwMode="auto">
          <a:xfrm>
            <a:off x="7685089" y="2348978"/>
            <a:ext cx="287337" cy="360362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4" name="Rectangle 12"/>
          <p:cNvSpPr>
            <a:spLocks noChangeArrowheads="1"/>
          </p:cNvSpPr>
          <p:nvPr/>
        </p:nvSpPr>
        <p:spPr bwMode="auto">
          <a:xfrm>
            <a:off x="2351088" y="494188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i="0">
                <a:solidFill>
                  <a:srgbClr val="FF00FF"/>
                </a:solidFill>
              </a:rPr>
              <a:t>关系图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315200" y="2133079"/>
            <a:ext cx="2520950" cy="2232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15725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5157788"/>
            <a:ext cx="5143500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1" name="Rectangle 14"/>
          <p:cNvSpPr>
            <a:spLocks noChangeArrowheads="1"/>
          </p:cNvSpPr>
          <p:nvPr/>
        </p:nvSpPr>
        <p:spPr bwMode="auto">
          <a:xfrm>
            <a:off x="6096000" y="6524626"/>
            <a:ext cx="719138" cy="333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1" grpId="0" animBg="1"/>
      <p:bldP spid="115722" grpId="0" animBg="1"/>
      <p:bldP spid="115723" grpId="0" animBg="1"/>
      <p:bldP spid="115724" grpId="0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197768"/>
            <a:ext cx="8229600" cy="11430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二元关系幂的运算</a:t>
            </a:r>
            <a:endParaRPr lang="zh-CN" altLang="en-US" dirty="0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3" y="1124744"/>
            <a:ext cx="9187682" cy="4784725"/>
          </a:xfrm>
        </p:spPr>
        <p:txBody>
          <a:bodyPr/>
          <a:lstStyle/>
          <a:p>
            <a:pPr eaLnBrk="1" hangingPunct="1"/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c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d</a:t>
            </a:r>
            <a:r>
              <a:rPr lang="en-US" altLang="zh-CN" b="1" dirty="0"/>
              <a:t>}, </a:t>
            </a:r>
            <a:r>
              <a:rPr lang="en-US" altLang="zh-CN" b="1" i="1" dirty="0"/>
              <a:t>R</a:t>
            </a:r>
            <a:r>
              <a:rPr lang="en-US" altLang="zh-CN" b="1" dirty="0"/>
              <a:t>={&lt;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b</a:t>
            </a:r>
            <a:r>
              <a:rPr lang="en-US" altLang="zh-CN" b="1" dirty="0"/>
              <a:t>&gt;,&lt;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a</a:t>
            </a:r>
            <a:r>
              <a:rPr lang="en-US" altLang="zh-CN" b="1" dirty="0"/>
              <a:t>&gt;,&lt;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c</a:t>
            </a:r>
            <a:r>
              <a:rPr lang="en-US" altLang="zh-CN" b="1" dirty="0"/>
              <a:t>&gt;,&lt;</a:t>
            </a:r>
            <a:r>
              <a:rPr lang="en-US" altLang="zh-CN" b="1" i="1" dirty="0" err="1"/>
              <a:t>c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d</a:t>
            </a:r>
            <a:r>
              <a:rPr lang="en-US" altLang="zh-CN" b="1" dirty="0"/>
              <a:t>&gt;}</a:t>
            </a:r>
          </a:p>
          <a:p>
            <a:pPr eaLnBrk="1" hangingPunct="1"/>
            <a:r>
              <a:rPr lang="zh-CN" altLang="en-US" b="1" dirty="0"/>
              <a:t>解：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baseline="30000" dirty="0">
                <a:solidFill>
                  <a:srgbClr val="3333FF"/>
                </a:solidFill>
              </a:rPr>
              <a:t>3</a:t>
            </a:r>
            <a:r>
              <a:rPr lang="en-US" altLang="zh-CN" b="1" dirty="0">
                <a:solidFill>
                  <a:srgbClr val="3333FF"/>
                </a:solidFill>
              </a:rPr>
              <a:t> = 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i="1" baseline="30000" dirty="0">
                <a:solidFill>
                  <a:srgbClr val="3333FF"/>
                </a:solidFill>
              </a:rPr>
              <a:t>2</a:t>
            </a:r>
            <a:r>
              <a:rPr lang="en-US" altLang="zh-CN" b="1" dirty="0">
                <a:solidFill>
                  <a:srgbClr val="3333FF"/>
                </a:solidFill>
              </a:rPr>
              <a:t>∘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i="1" dirty="0"/>
              <a:t> </a:t>
            </a:r>
            <a:r>
              <a:rPr lang="zh-CN" altLang="en-US" b="1" dirty="0"/>
              <a:t>，其关系矩阵为</a:t>
            </a:r>
          </a:p>
          <a:p>
            <a:pPr eaLnBrk="1" hangingPunct="1"/>
            <a:endParaRPr lang="en-US" altLang="zh-CN" sz="2800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8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750163"/>
              </p:ext>
            </p:extLst>
          </p:nvPr>
        </p:nvGraphicFramePr>
        <p:xfrm>
          <a:off x="2252663" y="2228328"/>
          <a:ext cx="7688262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95400" imgH="914400" progId="Equation.DSMT4">
                  <p:embed/>
                </p:oleObj>
              </mc:Choice>
              <mc:Fallback>
                <p:oleObj name="Equation" r:id="rId3" imgW="3695400" imgH="914400" progId="Equation.DSMT4">
                  <p:embed/>
                  <p:pic>
                    <p:nvPicPr>
                      <p:cNvPr id="1187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2228328"/>
                        <a:ext cx="7688262" cy="19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0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06889885"/>
              </p:ext>
            </p:extLst>
          </p:nvPr>
        </p:nvGraphicFramePr>
        <p:xfrm>
          <a:off x="5075213" y="4184625"/>
          <a:ext cx="28209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577" imgH="342900" progId="Equation.DSMT4">
                  <p:embed/>
                </p:oleObj>
              </mc:Choice>
              <mc:Fallback>
                <p:oleObj name="Equation" r:id="rId5" imgW="990577" imgH="342900" progId="Equation.DSMT4">
                  <p:embed/>
                  <p:pic>
                    <p:nvPicPr>
                      <p:cNvPr id="1187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13" y="4184625"/>
                        <a:ext cx="2820987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1" name="AutoShape 7"/>
          <p:cNvSpPr>
            <a:spLocks noChangeArrowheads="1"/>
          </p:cNvSpPr>
          <p:nvPr/>
        </p:nvSpPr>
        <p:spPr bwMode="auto">
          <a:xfrm>
            <a:off x="4151784" y="2276872"/>
            <a:ext cx="1584325" cy="360362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2" name="AutoShape 8"/>
          <p:cNvSpPr>
            <a:spLocks noChangeArrowheads="1"/>
          </p:cNvSpPr>
          <p:nvPr/>
        </p:nvSpPr>
        <p:spPr bwMode="auto">
          <a:xfrm>
            <a:off x="5951984" y="2276872"/>
            <a:ext cx="288925" cy="1943100"/>
          </a:xfrm>
          <a:prstGeom prst="flowChartAlternateProcess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4" name="Rectangle 10"/>
          <p:cNvSpPr>
            <a:spLocks noChangeArrowheads="1"/>
          </p:cNvSpPr>
          <p:nvPr/>
        </p:nvSpPr>
        <p:spPr bwMode="auto">
          <a:xfrm>
            <a:off x="2252663" y="4929361"/>
            <a:ext cx="14157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i="0" dirty="0">
                <a:solidFill>
                  <a:srgbClr val="FF00FF"/>
                </a:solidFill>
              </a:rPr>
              <a:t>关系图</a:t>
            </a:r>
          </a:p>
        </p:txBody>
      </p:sp>
      <p:pic>
        <p:nvPicPr>
          <p:cNvPr id="118796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5112717"/>
            <a:ext cx="50673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3" name="Rectangle 13"/>
          <p:cNvSpPr>
            <a:spLocks noChangeArrowheads="1"/>
          </p:cNvSpPr>
          <p:nvPr/>
        </p:nvSpPr>
        <p:spPr bwMode="auto">
          <a:xfrm>
            <a:off x="6456364" y="6596634"/>
            <a:ext cx="719137" cy="333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742238" y="2133079"/>
            <a:ext cx="2520950" cy="2232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3" name="Oval 9"/>
          <p:cNvSpPr>
            <a:spLocks noChangeArrowheads="1"/>
          </p:cNvSpPr>
          <p:nvPr/>
        </p:nvSpPr>
        <p:spPr bwMode="auto">
          <a:xfrm>
            <a:off x="8104189" y="2276872"/>
            <a:ext cx="287337" cy="360362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/>
      <p:bldP spid="118791" grpId="0" animBg="1"/>
      <p:bldP spid="118792" grpId="0" animBg="1"/>
      <p:bldP spid="118794" grpId="0"/>
      <p:bldP spid="2" grpId="0" animBg="1"/>
      <p:bldP spid="11879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1271464" y="1411288"/>
            <a:ext cx="8928225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3200" b="1" i="0" dirty="0">
                <a:ea typeface="楷体_GB2312" pitchFamily="49" charset="-122"/>
              </a:rPr>
              <a:t>同理， 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3200" b="1" i="0" dirty="0">
                <a:solidFill>
                  <a:srgbClr val="FF0000"/>
                </a:solidFill>
                <a:ea typeface="楷体_GB2312" pitchFamily="49" charset="-122"/>
              </a:rPr>
              <a:t> = 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3200" b="1" i="0" dirty="0">
                <a:solidFill>
                  <a:srgbClr val="FF0000"/>
                </a:solidFill>
                <a:ea typeface="楷体_GB2312" pitchFamily="49" charset="-122"/>
              </a:rPr>
              <a:t>∘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R =R</a:t>
            </a:r>
            <a:r>
              <a:rPr lang="en-US" altLang="zh-CN" sz="3200" b="1" baseline="30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zh-CN" altLang="en-US" sz="3200" i="0" dirty="0">
                <a:solidFill>
                  <a:srgbClr val="FF0000"/>
                </a:solidFill>
                <a:ea typeface="楷体_GB2312" pitchFamily="49" charset="-122"/>
              </a:rPr>
              <a:t>，   </a:t>
            </a:r>
            <a:r>
              <a:rPr lang="zh-CN" altLang="en-US" sz="32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en-US" altLang="zh-CN" sz="3200" b="1" i="0" baseline="30000" dirty="0">
                <a:solidFill>
                  <a:srgbClr val="FF0000"/>
                </a:solidFill>
                <a:ea typeface="楷体_GB2312" pitchFamily="49" charset="-122"/>
              </a:rPr>
              <a:t>5</a:t>
            </a:r>
            <a:r>
              <a:rPr lang="en-US" altLang="zh-CN" sz="3200" b="1" i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en-US" altLang="zh-CN" sz="3200" b="1" i="0" baseline="30000" dirty="0">
                <a:solidFill>
                  <a:srgbClr val="FF0000"/>
                </a:solidFill>
                <a:ea typeface="楷体_GB2312" pitchFamily="49" charset="-122"/>
              </a:rPr>
              <a:t>4 </a:t>
            </a:r>
            <a:r>
              <a:rPr lang="en-US" altLang="zh-CN" sz="3200" b="1" i="0" dirty="0">
                <a:solidFill>
                  <a:srgbClr val="FF0000"/>
                </a:solidFill>
                <a:ea typeface="楷体_GB2312" pitchFamily="49" charset="-122"/>
              </a:rPr>
              <a:t>∘</a:t>
            </a:r>
            <a:r>
              <a:rPr lang="en-US" altLang="zh-CN" sz="32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R=R</a:t>
            </a:r>
            <a:r>
              <a:rPr lang="en-US" altLang="zh-CN" sz="3200" b="1" baseline="30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endParaRPr lang="en-US" altLang="zh-CN" sz="3200" b="1" i="0" dirty="0">
              <a:solidFill>
                <a:srgbClr val="FF0000"/>
              </a:solidFill>
              <a:ea typeface="楷体_GB2312" pitchFamily="49" charset="-122"/>
            </a:endParaRPr>
          </a:p>
          <a:p>
            <a:pPr algn="l" eaLnBrk="1" hangingPunct="1"/>
            <a:endParaRPr lang="en-US" altLang="zh-CN" sz="2800" b="1" i="0" dirty="0">
              <a:solidFill>
                <a:srgbClr val="FF0000"/>
              </a:solidFill>
              <a:latin typeface="Times New Roman" pitchFamily="18" charset="0"/>
            </a:endParaRPr>
          </a:p>
          <a:p>
            <a:pPr algn="l" eaLnBrk="1" hangingPunct="1"/>
            <a:endParaRPr lang="en-US" altLang="zh-CN" sz="2800" b="1" i="0" dirty="0">
              <a:latin typeface="Times New Roman" pitchFamily="18" charset="0"/>
            </a:endParaRPr>
          </a:p>
          <a:p>
            <a:pPr algn="l" eaLnBrk="1" hangingPunct="1"/>
            <a:endParaRPr lang="en-US" altLang="zh-CN" sz="2800" b="1" i="0" dirty="0">
              <a:latin typeface="Times New Roman" pitchFamily="18" charset="0"/>
            </a:endParaRPr>
          </a:p>
          <a:p>
            <a:pPr algn="l" eaLnBrk="1" hangingPunct="1"/>
            <a:endParaRPr lang="en-US" altLang="zh-CN" sz="2800" b="1" i="0" dirty="0">
              <a:latin typeface="Times New Roman" pitchFamily="18" charset="0"/>
            </a:endParaRPr>
          </a:p>
          <a:p>
            <a:pPr algn="l" eaLnBrk="1" hangingPunct="1"/>
            <a:endParaRPr lang="en-US" altLang="zh-CN" sz="2800" b="1" i="0" dirty="0">
              <a:latin typeface="Times New Roman" pitchFamily="18" charset="0"/>
            </a:endParaRPr>
          </a:p>
          <a:p>
            <a:pPr algn="l" eaLnBrk="1" hangingPunct="1"/>
            <a:r>
              <a:rPr lang="zh-CN" altLang="en-US" sz="3200" b="1" i="0" dirty="0">
                <a:latin typeface="Times New Roman" pitchFamily="18" charset="0"/>
              </a:rPr>
              <a:t>还可以得到</a:t>
            </a:r>
            <a:r>
              <a:rPr lang="en-US" altLang="zh-CN" sz="3200" b="1" i="0" dirty="0">
                <a:latin typeface="Times New Roman" pitchFamily="18" charset="0"/>
              </a:rPr>
              <a:t>——</a:t>
            </a:r>
            <a:br>
              <a:rPr lang="en-US" altLang="zh-CN" sz="3200" b="1" i="0" dirty="0">
                <a:latin typeface="Times New Roman" pitchFamily="18" charset="0"/>
              </a:rPr>
            </a:br>
            <a:r>
              <a:rPr lang="en-US" altLang="zh-CN" sz="3200" b="1" i="0" dirty="0">
                <a:latin typeface="Times New Roman" pitchFamily="18" charset="0"/>
              </a:rPr>
              <a:t>   </a:t>
            </a:r>
            <a:r>
              <a:rPr lang="en-US" altLang="zh-CN" sz="3200" b="1" dirty="0">
                <a:solidFill>
                  <a:srgbClr val="3333FF"/>
                </a:solidFill>
              </a:rPr>
              <a:t>R</a:t>
            </a:r>
            <a:r>
              <a:rPr lang="en-US" altLang="zh-CN" sz="3200" b="1" i="0" baseline="30000" dirty="0">
                <a:solidFill>
                  <a:srgbClr val="3333FF"/>
                </a:solidFill>
              </a:rPr>
              <a:t>2</a:t>
            </a:r>
            <a:r>
              <a:rPr lang="en-US" altLang="zh-CN" sz="3200" b="1" i="0" dirty="0">
                <a:solidFill>
                  <a:srgbClr val="3333FF"/>
                </a:solidFill>
              </a:rPr>
              <a:t>=</a:t>
            </a:r>
            <a:r>
              <a:rPr lang="en-US" altLang="zh-CN" sz="3200" b="1" dirty="0">
                <a:solidFill>
                  <a:srgbClr val="3333FF"/>
                </a:solidFill>
              </a:rPr>
              <a:t>R</a:t>
            </a:r>
            <a:r>
              <a:rPr lang="en-US" altLang="zh-CN" sz="3200" b="1" i="0" baseline="30000" dirty="0">
                <a:solidFill>
                  <a:srgbClr val="3333FF"/>
                </a:solidFill>
              </a:rPr>
              <a:t>4</a:t>
            </a:r>
            <a:r>
              <a:rPr lang="en-US" altLang="zh-CN" sz="3200" b="1" i="0" dirty="0">
                <a:solidFill>
                  <a:srgbClr val="3333FF"/>
                </a:solidFill>
              </a:rPr>
              <a:t>=</a:t>
            </a:r>
            <a:r>
              <a:rPr lang="en-US" altLang="zh-CN" sz="3200" b="1" dirty="0">
                <a:solidFill>
                  <a:srgbClr val="3333FF"/>
                </a:solidFill>
              </a:rPr>
              <a:t>R</a:t>
            </a:r>
            <a:r>
              <a:rPr lang="en-US" altLang="zh-CN" sz="3200" b="1" i="0" baseline="30000" dirty="0">
                <a:solidFill>
                  <a:srgbClr val="3333FF"/>
                </a:solidFill>
              </a:rPr>
              <a:t>6</a:t>
            </a:r>
            <a:r>
              <a:rPr lang="en-US" altLang="zh-CN" sz="3200" b="1" i="0" dirty="0">
                <a:solidFill>
                  <a:srgbClr val="3333FF"/>
                </a:solidFill>
              </a:rPr>
              <a:t>=…,   </a:t>
            </a:r>
            <a:r>
              <a:rPr lang="en-US" altLang="zh-CN" sz="3200" b="1" dirty="0">
                <a:solidFill>
                  <a:srgbClr val="3333FF"/>
                </a:solidFill>
              </a:rPr>
              <a:t>R</a:t>
            </a:r>
            <a:r>
              <a:rPr lang="en-US" altLang="zh-CN" sz="3200" b="1" i="0" baseline="30000" dirty="0">
                <a:solidFill>
                  <a:srgbClr val="3333FF"/>
                </a:solidFill>
              </a:rPr>
              <a:t>3</a:t>
            </a:r>
            <a:r>
              <a:rPr lang="en-US" altLang="zh-CN" sz="3200" b="1" i="0" dirty="0">
                <a:solidFill>
                  <a:srgbClr val="3333FF"/>
                </a:solidFill>
              </a:rPr>
              <a:t>=</a:t>
            </a:r>
            <a:r>
              <a:rPr lang="en-US" altLang="zh-CN" sz="3200" b="1" dirty="0">
                <a:solidFill>
                  <a:srgbClr val="3333FF"/>
                </a:solidFill>
              </a:rPr>
              <a:t>R</a:t>
            </a:r>
            <a:r>
              <a:rPr lang="en-US" altLang="zh-CN" sz="3200" b="1" i="0" baseline="30000" dirty="0">
                <a:solidFill>
                  <a:srgbClr val="3333FF"/>
                </a:solidFill>
              </a:rPr>
              <a:t>5</a:t>
            </a:r>
            <a:r>
              <a:rPr lang="en-US" altLang="zh-CN" sz="3200" b="1" i="0" dirty="0">
                <a:solidFill>
                  <a:srgbClr val="3333FF"/>
                </a:solidFill>
              </a:rPr>
              <a:t>=</a:t>
            </a:r>
            <a:r>
              <a:rPr lang="en-US" altLang="zh-CN" sz="3200" b="1" dirty="0">
                <a:solidFill>
                  <a:srgbClr val="3333FF"/>
                </a:solidFill>
              </a:rPr>
              <a:t>R</a:t>
            </a:r>
            <a:r>
              <a:rPr lang="en-US" altLang="zh-CN" sz="3200" b="1" i="0" baseline="30000" dirty="0">
                <a:solidFill>
                  <a:srgbClr val="3333FF"/>
                </a:solidFill>
              </a:rPr>
              <a:t>7</a:t>
            </a:r>
            <a:r>
              <a:rPr lang="en-US" altLang="zh-CN" sz="3200" b="1" i="0" dirty="0">
                <a:solidFill>
                  <a:srgbClr val="3333FF"/>
                </a:solidFill>
              </a:rPr>
              <a:t>=…</a:t>
            </a:r>
            <a:br>
              <a:rPr lang="en-US" altLang="zh-CN" sz="3200" b="1" i="0" dirty="0">
                <a:solidFill>
                  <a:srgbClr val="3333FF"/>
                </a:solidFill>
              </a:rPr>
            </a:br>
            <a:endParaRPr lang="en-US" altLang="zh-CN" sz="3200" b="1" i="0" dirty="0">
              <a:solidFill>
                <a:srgbClr val="3333FF"/>
              </a:solidFill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6003634" y="28823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2481263" y="2009775"/>
          <a:ext cx="5126037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160" imgH="914400" progId="Equation.DSMT4">
                  <p:embed/>
                </p:oleObj>
              </mc:Choice>
              <mc:Fallback>
                <p:oleObj name="Equation" r:id="rId2" imgW="2603160" imgH="914400" progId="Equation.DSMT4">
                  <p:embed/>
                  <p:pic>
                    <p:nvPicPr>
                      <p:cNvPr id="757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2009775"/>
                        <a:ext cx="5126037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6"/>
          <p:cNvSpPr>
            <a:spLocks noGrp="1" noChangeArrowheads="1"/>
          </p:cNvSpPr>
          <p:nvPr>
            <p:ph type="title"/>
          </p:nvPr>
        </p:nvSpPr>
        <p:spPr>
          <a:xfrm>
            <a:off x="2063750" y="185192"/>
            <a:ext cx="8229600" cy="13716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</a:rPr>
              <a:t>二元关系幂的运算</a:t>
            </a:r>
            <a:endParaRPr lang="zh-CN" altLang="en-US" dirty="0"/>
          </a:p>
        </p:txBody>
      </p:sp>
      <p:pic>
        <p:nvPicPr>
          <p:cNvPr id="7578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5076826"/>
            <a:ext cx="7416800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871864" y="1339999"/>
            <a:ext cx="752475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184232" y="1411289"/>
            <a:ext cx="792162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</a:rPr>
              <a:t>二元关系幂的运算</a:t>
            </a:r>
            <a:endParaRPr lang="zh-CN" altLang="en-US" dirty="0"/>
          </a:p>
        </p:txBody>
      </p:sp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167" y="1560513"/>
            <a:ext cx="9819409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utoShape 8">
            <a:extLst>
              <a:ext uri="{FF2B5EF4-FFF2-40B4-BE49-F238E27FC236}">
                <a16:creationId xmlns:a16="http://schemas.microsoft.com/office/drawing/2014/main" id="{A72A8E54-0272-FCC3-DB27-7209E4BFB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43613"/>
            <a:ext cx="10670976" cy="777874"/>
          </a:xfrm>
          <a:prstGeom prst="wedgeRoundRectCallout">
            <a:avLst>
              <a:gd name="adj1" fmla="val -44833"/>
              <a:gd name="adj2" fmla="val 43743"/>
              <a:gd name="adj3" fmla="val 16667"/>
            </a:avLst>
          </a:prstGeom>
          <a:solidFill>
            <a:srgbClr val="FAAE48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zh-CN" altLang="en-US" sz="3200" b="1" dirty="0">
                <a:ea typeface="楷体_GB2312" pitchFamily="49" charset="-122"/>
              </a:rPr>
              <a:t>说明：对于有限集</a:t>
            </a:r>
            <a:r>
              <a:rPr lang="en-US" altLang="zh-CN" sz="3200" b="1" dirty="0">
                <a:ea typeface="楷体_GB2312" pitchFamily="49" charset="-122"/>
              </a:rPr>
              <a:t>A</a:t>
            </a:r>
            <a:r>
              <a:rPr lang="zh-CN" altLang="en-US" sz="3200" b="1" dirty="0">
                <a:ea typeface="楷体_GB2312" pitchFamily="49" charset="-122"/>
              </a:rPr>
              <a:t>上的关系</a:t>
            </a:r>
            <a:r>
              <a:rPr lang="en-US" altLang="zh-CN" sz="3200" b="1" dirty="0">
                <a:ea typeface="楷体_GB2312" pitchFamily="49" charset="-122"/>
              </a:rPr>
              <a:t>R</a:t>
            </a:r>
            <a:r>
              <a:rPr lang="zh-CN" altLang="en-US" sz="3200" b="1" dirty="0">
                <a:ea typeface="楷体_GB2312" pitchFamily="49" charset="-122"/>
              </a:rPr>
              <a:t>，</a:t>
            </a:r>
            <a:r>
              <a:rPr lang="en-US" altLang="zh-CN" sz="3200" b="1" dirty="0">
                <a:ea typeface="楷体_GB2312" pitchFamily="49" charset="-122"/>
              </a:rPr>
              <a:t>R</a:t>
            </a:r>
            <a:r>
              <a:rPr lang="zh-CN" altLang="en-US" sz="3200" b="1" dirty="0">
                <a:ea typeface="楷体_GB2312" pitchFamily="49" charset="-122"/>
              </a:rPr>
              <a:t>不同的幂只有</a:t>
            </a:r>
            <a:r>
              <a:rPr lang="zh-CN" altLang="en-US" sz="3200" b="1" dirty="0">
                <a:solidFill>
                  <a:srgbClr val="3333FF"/>
                </a:solidFill>
                <a:ea typeface="楷体_GB2312" pitchFamily="49" charset="-122"/>
              </a:rPr>
              <a:t>有限个</a:t>
            </a:r>
            <a:r>
              <a:rPr lang="en-US" altLang="zh-CN" sz="3200" b="1" dirty="0">
                <a:solidFill>
                  <a:srgbClr val="3333FF"/>
                </a:solidFill>
                <a:ea typeface="楷体_GB2312" pitchFamily="49" charset="-122"/>
              </a:rPr>
              <a:t>!</a:t>
            </a:r>
            <a:endParaRPr lang="zh-CN" altLang="en-US" sz="32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199457" y="1412876"/>
            <a:ext cx="86414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3200" b="1" dirty="0"/>
              <a:t>R</a:t>
            </a:r>
            <a:r>
              <a:rPr lang="en-US" altLang="zh-CN" sz="3200" b="1" i="0" baseline="30000" dirty="0"/>
              <a:t>0</a:t>
            </a:r>
            <a:r>
              <a:rPr lang="en-US" altLang="zh-CN" sz="3200" b="1" i="0" dirty="0"/>
              <a:t>, </a:t>
            </a:r>
            <a:r>
              <a:rPr lang="en-US" altLang="zh-CN" sz="3200" b="1" dirty="0"/>
              <a:t>R</a:t>
            </a:r>
            <a:r>
              <a:rPr lang="en-US" altLang="zh-CN" sz="3200" b="1" i="0" baseline="30000" dirty="0"/>
              <a:t>1</a:t>
            </a:r>
            <a:r>
              <a:rPr lang="en-US" altLang="zh-CN" sz="3200" b="1" i="0" dirty="0"/>
              <a:t>, </a:t>
            </a:r>
            <a:r>
              <a:rPr lang="en-US" altLang="zh-CN" sz="3200" b="1" dirty="0"/>
              <a:t>R</a:t>
            </a:r>
            <a:r>
              <a:rPr lang="en-US" altLang="zh-CN" sz="3200" b="1" i="0" baseline="30000" dirty="0"/>
              <a:t>2</a:t>
            </a:r>
            <a:r>
              <a:rPr lang="en-US" altLang="zh-CN" sz="3200" b="1" i="0" dirty="0"/>
              <a:t>, </a:t>
            </a:r>
            <a:r>
              <a:rPr lang="en-US" altLang="zh-CN" sz="3200" b="1" dirty="0"/>
              <a:t>R</a:t>
            </a:r>
            <a:r>
              <a:rPr lang="en-US" altLang="zh-CN" sz="3200" b="1" i="0" baseline="30000" dirty="0"/>
              <a:t>3</a:t>
            </a:r>
            <a:r>
              <a:rPr lang="en-US" altLang="zh-CN" sz="3200" b="1" i="0" dirty="0"/>
              <a:t>,…</a:t>
            </a:r>
            <a:r>
              <a:rPr lang="zh-CN" altLang="en-US" sz="3200" b="1" i="0" dirty="0"/>
              <a:t>的关系图如下图所示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648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</a:rPr>
              <a:t>矩阵合成运算举例</a:t>
            </a:r>
            <a:r>
              <a:rPr lang="en-US" altLang="zh-CN" sz="3200" dirty="0">
                <a:ea typeface="黑体" pitchFamily="2" charset="-122"/>
              </a:rPr>
              <a:t>[P69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2]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9200" y="1700214"/>
            <a:ext cx="9109051" cy="5157787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</a:p>
          <a:p>
            <a:pPr eaLnBrk="1" hangingPunct="1"/>
            <a:endParaRPr lang="en-US" altLang="zh-CN" sz="2000" dirty="0"/>
          </a:p>
          <a:p>
            <a:pPr eaLnBrk="1" hangingPunct="1"/>
            <a:endParaRPr lang="zh-CN" altLang="en-US" sz="2000" dirty="0"/>
          </a:p>
          <a:p>
            <a:pPr eaLnBrk="1" hangingPunct="1"/>
            <a:r>
              <a:rPr lang="zh-CN" altLang="en-US" dirty="0"/>
              <a:t>则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altLang="zh-CN" baseline="-25000" dirty="0"/>
              <a:t>11</a:t>
            </a:r>
            <a:r>
              <a:rPr lang="en-US" altLang="zh-CN" dirty="0"/>
              <a:t>=(0.3∧0.8)∨(0.7∧0.1)∨(0.2∧0.5)=0.3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S</a:t>
            </a:r>
            <a:r>
              <a:rPr lang="en-US" altLang="zh-CN" baseline="-25000" dirty="0"/>
              <a:t>12</a:t>
            </a:r>
            <a:r>
              <a:rPr lang="en-US" altLang="zh-CN" dirty="0"/>
              <a:t>=(0.3∧0.3)∨(0.7∧0.8)∨(0.2∧0.6)=0.7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S</a:t>
            </a:r>
            <a:r>
              <a:rPr lang="en-US" altLang="zh-CN" baseline="-25000" dirty="0"/>
              <a:t>21</a:t>
            </a:r>
            <a:r>
              <a:rPr lang="en-US" altLang="zh-CN" dirty="0"/>
              <a:t>=(1∧0.8)∨(0∧0.1)∨(0.9∧0.5)=0.8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S</a:t>
            </a:r>
            <a:r>
              <a:rPr lang="en-US" altLang="zh-CN" baseline="-25000" dirty="0"/>
              <a:t>22</a:t>
            </a:r>
            <a:r>
              <a:rPr lang="en-US" altLang="zh-CN" dirty="0"/>
              <a:t>=(1∧0.3)∨(0∧0.8)∨(0.9∧0.6)=0.6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b="1" dirty="0">
              <a:solidFill>
                <a:srgbClr val="EE0006"/>
              </a:solidFill>
              <a:ea typeface="楷体_GB2312" pitchFamily="49" charset="-122"/>
            </a:endParaRPr>
          </a:p>
        </p:txBody>
      </p:sp>
      <p:graphicFrame>
        <p:nvGraphicFramePr>
          <p:cNvPr id="6042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178855550"/>
              </p:ext>
            </p:extLst>
          </p:nvPr>
        </p:nvGraphicFramePr>
        <p:xfrm>
          <a:off x="2279576" y="1196752"/>
          <a:ext cx="532765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87600" imgH="711200" progId="Equation.3">
                  <p:embed/>
                </p:oleObj>
              </mc:Choice>
              <mc:Fallback>
                <p:oleObj name="公式" r:id="rId3" imgW="2387600" imgH="711200" progId="Equation.3">
                  <p:embed/>
                  <p:pic>
                    <p:nvPicPr>
                      <p:cNvPr id="60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196752"/>
                        <a:ext cx="5327650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77090351"/>
              </p:ext>
            </p:extLst>
          </p:nvPr>
        </p:nvGraphicFramePr>
        <p:xfrm>
          <a:off x="2385189" y="2782664"/>
          <a:ext cx="287972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29810" imgH="482391" progId="Equation.3">
                  <p:embed/>
                </p:oleObj>
              </mc:Choice>
              <mc:Fallback>
                <p:oleObj name="公式" r:id="rId5" imgW="1129810" imgH="482391" progId="Equation.3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189" y="2782664"/>
                        <a:ext cx="2879725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908680"/>
              </p:ext>
            </p:extLst>
          </p:nvPr>
        </p:nvGraphicFramePr>
        <p:xfrm>
          <a:off x="8298120" y="5157786"/>
          <a:ext cx="32766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81100" imgH="457200" progId="Equation.3">
                  <p:embed/>
                </p:oleObj>
              </mc:Choice>
              <mc:Fallback>
                <p:oleObj name="公式" r:id="rId7" imgW="1181100" imgH="457200" progId="Equation.3">
                  <p:embed/>
                  <p:pic>
                    <p:nvPicPr>
                      <p:cNvPr id="604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8120" y="5157786"/>
                        <a:ext cx="32766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CFE161FA-E42F-C88F-AAD0-67622B98B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513642"/>
              </p:ext>
            </p:extLst>
          </p:nvPr>
        </p:nvGraphicFramePr>
        <p:xfrm>
          <a:off x="8326041" y="2564904"/>
          <a:ext cx="3791744" cy="1292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22360" imgH="482400" progId="Equation.DSMT4">
                  <p:embed/>
                </p:oleObj>
              </mc:Choice>
              <mc:Fallback>
                <p:oleObj name="Equation" r:id="rId9" imgW="1422360" imgH="482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CFE161FA-E42F-C88F-AAD0-67622B98BA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6041" y="2564904"/>
                        <a:ext cx="3791744" cy="129294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55B676-B477-F25B-0756-418DB1FC04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88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Times New Roman" pitchFamily="18" charset="0"/>
                <a:ea typeface="黑体" pitchFamily="2" charset="-122"/>
              </a:rPr>
              <a:t>矩阵合成运算举例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sz="3200" dirty="0">
                <a:ea typeface="黑体" pitchFamily="2" charset="-122"/>
              </a:rPr>
              <a:t>[P69</a:t>
            </a:r>
            <a:r>
              <a:rPr lang="zh-CN" altLang="en-US" sz="3200" dirty="0">
                <a:ea typeface="黑体" pitchFamily="2" charset="-122"/>
              </a:rPr>
              <a:t>例</a:t>
            </a:r>
            <a:r>
              <a:rPr lang="en-US" altLang="zh-CN" sz="3200" dirty="0">
                <a:ea typeface="黑体" pitchFamily="2" charset="-122"/>
              </a:rPr>
              <a:t>2]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5933" y="1484312"/>
            <a:ext cx="8784779" cy="5157787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则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600" dirty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marL="0" indent="0" eaLnBrk="1" hangingPunct="1">
              <a:buNone/>
            </a:pPr>
            <a:r>
              <a:rPr lang="zh-CN" altLang="en-US" b="1" dirty="0">
                <a:solidFill>
                  <a:srgbClr val="EE0006"/>
                </a:solidFill>
                <a:ea typeface="楷体_GB2312" pitchFamily="49" charset="-122"/>
                <a:sym typeface="Symbol" pitchFamily="18" charset="2"/>
              </a:rPr>
              <a:t>                                          注意：</a:t>
            </a:r>
            <a:r>
              <a:rPr lang="en-US" altLang="zh-CN" b="1" dirty="0">
                <a:solidFill>
                  <a:srgbClr val="EE0006"/>
                </a:solidFill>
                <a:ea typeface="楷体_GB2312" pitchFamily="49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EE0006"/>
                </a:solidFill>
                <a:ea typeface="楷体_GB2312" pitchFamily="49" charset="-122"/>
              </a:rPr>
              <a:t>◦Q </a:t>
            </a:r>
            <a:r>
              <a:rPr lang="en-US" altLang="en-US" b="1" dirty="0">
                <a:solidFill>
                  <a:srgbClr val="EE0006"/>
                </a:solidFill>
                <a:ea typeface="楷体_GB2312" pitchFamily="49" charset="-122"/>
              </a:rPr>
              <a:t>≠ </a:t>
            </a:r>
            <a:r>
              <a:rPr lang="en-US" altLang="zh-CN" b="1" dirty="0">
                <a:solidFill>
                  <a:srgbClr val="EE0006"/>
                </a:solidFill>
                <a:ea typeface="楷体_GB2312" pitchFamily="49" charset="-122"/>
              </a:rPr>
              <a:t>Q◦R</a:t>
            </a:r>
          </a:p>
        </p:txBody>
      </p:sp>
      <p:graphicFrame>
        <p:nvGraphicFramePr>
          <p:cNvPr id="5018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21895184"/>
              </p:ext>
            </p:extLst>
          </p:nvPr>
        </p:nvGraphicFramePr>
        <p:xfrm>
          <a:off x="2703236" y="1420811"/>
          <a:ext cx="529590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74560" imgH="711000" progId="Equation.3">
                  <p:embed/>
                </p:oleObj>
              </mc:Choice>
              <mc:Fallback>
                <p:oleObj name="公式" r:id="rId3" imgW="2374560" imgH="711000" progId="Equation.3">
                  <p:embed/>
                  <p:pic>
                    <p:nvPicPr>
                      <p:cNvPr id="50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236" y="1420811"/>
                        <a:ext cx="5295900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62771550"/>
              </p:ext>
            </p:extLst>
          </p:nvPr>
        </p:nvGraphicFramePr>
        <p:xfrm>
          <a:off x="1919536" y="3429000"/>
          <a:ext cx="3960812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47800" imgH="711200" progId="Equation.3">
                  <p:embed/>
                </p:oleObj>
              </mc:Choice>
              <mc:Fallback>
                <p:oleObj name="公式" r:id="rId5" imgW="1447800" imgH="711200" progId="Equation.3">
                  <p:embed/>
                  <p:pic>
                    <p:nvPicPr>
                      <p:cNvPr id="67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3429000"/>
                        <a:ext cx="3960812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598609"/>
              </p:ext>
            </p:extLst>
          </p:nvPr>
        </p:nvGraphicFramePr>
        <p:xfrm>
          <a:off x="1463179" y="5562600"/>
          <a:ext cx="376872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640" imgH="457200" progId="Equation.DSMT4">
                  <p:embed/>
                </p:oleObj>
              </mc:Choice>
              <mc:Fallback>
                <p:oleObj name="Equation" r:id="rId7" imgW="1358640" imgH="457200" progId="Equation.DSMT4">
                  <p:embed/>
                  <p:pic>
                    <p:nvPicPr>
                      <p:cNvPr id="675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179" y="5562600"/>
                        <a:ext cx="376872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356025"/>
              </p:ext>
            </p:extLst>
          </p:nvPr>
        </p:nvGraphicFramePr>
        <p:xfrm>
          <a:off x="5878761" y="3429000"/>
          <a:ext cx="3162300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55700" imgH="711200" progId="Equation.3">
                  <p:embed/>
                </p:oleObj>
              </mc:Choice>
              <mc:Fallback>
                <p:oleObj name="公式" r:id="rId9" imgW="1155700" imgH="711200" progId="Equation.3">
                  <p:embed/>
                  <p:pic>
                    <p:nvPicPr>
                      <p:cNvPr id="67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761" y="3429000"/>
                        <a:ext cx="3162300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7D79CE-3EA4-A2A3-21E4-C1CD4152AE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29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关系合成举例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 </a:t>
            </a:r>
            <a:r>
              <a:rPr lang="en-US" altLang="zh-CN" sz="3600" dirty="0">
                <a:ea typeface="黑体" pitchFamily="2" charset="-122"/>
              </a:rPr>
              <a:t>[P68</a:t>
            </a:r>
            <a:r>
              <a:rPr lang="zh-CN" altLang="en-US" sz="3600" dirty="0">
                <a:ea typeface="黑体" pitchFamily="2" charset="-122"/>
              </a:rPr>
              <a:t>例</a:t>
            </a:r>
            <a:r>
              <a:rPr lang="en-US" altLang="zh-CN" sz="3600" dirty="0">
                <a:ea typeface="黑体" pitchFamily="2" charset="-122"/>
              </a:rPr>
              <a:t>1]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700214"/>
            <a:ext cx="10598967" cy="4897437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R</a:t>
            </a:r>
            <a:r>
              <a:rPr lang="zh-CN" altLang="en-US" dirty="0">
                <a:ea typeface="黑体" pitchFamily="2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“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x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远大于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y”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关系，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    其隶属函数为</a:t>
            </a:r>
          </a:p>
          <a:p>
            <a:pPr eaLnBrk="1" hangingPunct="1"/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   则合成关系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3333FF"/>
                </a:solidFill>
                <a:ea typeface="黑体" pitchFamily="2" charset="-122"/>
              </a:rPr>
              <a:t>◦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应为“</a:t>
            </a:r>
            <a:r>
              <a:rPr lang="en-US" altLang="zh-CN" dirty="0">
                <a:solidFill>
                  <a:srgbClr val="FF00FF"/>
                </a:solidFill>
                <a:ea typeface="黑体" pitchFamily="2" charset="-122"/>
              </a:rPr>
              <a:t>x</a:t>
            </a:r>
            <a:r>
              <a:rPr lang="zh-CN" altLang="en-US" dirty="0">
                <a:solidFill>
                  <a:srgbClr val="FF00FF"/>
                </a:solidFill>
                <a:ea typeface="黑体" pitchFamily="2" charset="-122"/>
              </a:rPr>
              <a:t>远远大于</a:t>
            </a:r>
            <a:r>
              <a:rPr lang="en-US" altLang="zh-CN" dirty="0">
                <a:solidFill>
                  <a:srgbClr val="FF00FF"/>
                </a:solidFill>
                <a:ea typeface="黑体" pitchFamily="2" charset="-122"/>
              </a:rPr>
              <a:t>y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”</a:t>
            </a:r>
            <a:r>
              <a:rPr lang="zh-CN" altLang="en-US" dirty="0">
                <a:ea typeface="黑体" pitchFamily="2" charset="-122"/>
              </a:rPr>
              <a:t>，求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3333FF"/>
                </a:solidFill>
                <a:ea typeface="黑体" pitchFamily="2" charset="-122"/>
              </a:rPr>
              <a:t>◦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R(</a:t>
            </a:r>
            <a:r>
              <a:rPr lang="en-US" altLang="zh-CN" dirty="0" err="1">
                <a:solidFill>
                  <a:srgbClr val="3333FF"/>
                </a:solidFill>
                <a:ea typeface="黑体" pitchFamily="2" charset="-122"/>
              </a:rPr>
              <a:t>x,y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解</a:t>
            </a:r>
            <a:r>
              <a:rPr lang="zh-CN" altLang="en-US" dirty="0"/>
              <a:t>：</a:t>
            </a:r>
          </a:p>
          <a:p>
            <a:pPr eaLnBrk="1" hangingPunct="1"/>
            <a:endParaRPr lang="zh-CN" altLang="en-US" sz="20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其中，</a:t>
            </a:r>
          </a:p>
        </p:txBody>
      </p:sp>
      <p:graphicFrame>
        <p:nvGraphicFramePr>
          <p:cNvPr id="5734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62269561"/>
              </p:ext>
            </p:extLst>
          </p:nvPr>
        </p:nvGraphicFramePr>
        <p:xfrm>
          <a:off x="6699250" y="1700213"/>
          <a:ext cx="3689350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761760" progId="Equation.DSMT4">
                  <p:embed/>
                </p:oleObj>
              </mc:Choice>
              <mc:Fallback>
                <p:oleObj name="Equation" r:id="rId2" imgW="2095200" imgH="761760" progId="Equation.DSMT4">
                  <p:embed/>
                  <p:pic>
                    <p:nvPicPr>
                      <p:cNvPr id="57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700213"/>
                        <a:ext cx="3689350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00375" y="3933826"/>
          <a:ext cx="55435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20900" imgH="266700" progId="Equation.3">
                  <p:embed/>
                </p:oleObj>
              </mc:Choice>
              <mc:Fallback>
                <p:oleObj name="公式" r:id="rId4" imgW="2120900" imgH="266700" progId="Equation.3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933826"/>
                        <a:ext cx="554355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907479"/>
              </p:ext>
            </p:extLst>
          </p:nvPr>
        </p:nvGraphicFramePr>
        <p:xfrm>
          <a:off x="6188076" y="5026026"/>
          <a:ext cx="435451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82600" imgH="761760" progId="Equation.DSMT4">
                  <p:embed/>
                </p:oleObj>
              </mc:Choice>
              <mc:Fallback>
                <p:oleObj name="Equation" r:id="rId6" imgW="2082600" imgH="761760" progId="Equation.DSMT4">
                  <p:embed/>
                  <p:pic>
                    <p:nvPicPr>
                      <p:cNvPr id="57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6" y="5026026"/>
                        <a:ext cx="4354513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846939"/>
              </p:ext>
            </p:extLst>
          </p:nvPr>
        </p:nvGraphicFramePr>
        <p:xfrm>
          <a:off x="1847529" y="5029201"/>
          <a:ext cx="420687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761760" progId="Equation.DSMT4">
                  <p:embed/>
                </p:oleObj>
              </mc:Choice>
              <mc:Fallback>
                <p:oleObj name="Equation" r:id="rId8" imgW="2044440" imgH="761760" progId="Equation.DSMT4">
                  <p:embed/>
                  <p:pic>
                    <p:nvPicPr>
                      <p:cNvPr id="57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9" y="5029201"/>
                        <a:ext cx="420687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B0DCC5-FFF4-E1B4-13EC-1051ABA485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F235D152-03A9-CBDB-56F4-3CE4D2841B57}"/>
              </a:ext>
            </a:extLst>
          </p:cNvPr>
          <p:cNvSpPr/>
          <p:nvPr/>
        </p:nvSpPr>
        <p:spPr>
          <a:xfrm>
            <a:off x="5159896" y="3212976"/>
            <a:ext cx="5228704" cy="631951"/>
          </a:xfrm>
          <a:prstGeom prst="flowChart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06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uiExpand="1" build="p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47206" y="542728"/>
            <a:ext cx="3385194" cy="2814265"/>
            <a:chOff x="323206" y="333375"/>
            <a:chExt cx="3385194" cy="2814265"/>
          </a:xfrm>
        </p:grpSpPr>
        <p:sp>
          <p:nvSpPr>
            <p:cNvPr id="81925" name="Line 5"/>
            <p:cNvSpPr>
              <a:spLocks noChangeShapeType="1"/>
            </p:cNvSpPr>
            <p:nvPr/>
          </p:nvSpPr>
          <p:spPr bwMode="auto">
            <a:xfrm>
              <a:off x="1258888" y="1630363"/>
              <a:ext cx="2017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6" name="Line 6"/>
            <p:cNvSpPr>
              <a:spLocks noChangeShapeType="1"/>
            </p:cNvSpPr>
            <p:nvPr/>
          </p:nvSpPr>
          <p:spPr bwMode="auto">
            <a:xfrm flipH="1">
              <a:off x="611188" y="1630363"/>
              <a:ext cx="6477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7" name="Line 7"/>
            <p:cNvSpPr>
              <a:spLocks noChangeShapeType="1"/>
            </p:cNvSpPr>
            <p:nvPr/>
          </p:nvSpPr>
          <p:spPr bwMode="auto">
            <a:xfrm flipV="1">
              <a:off x="1258888" y="477838"/>
              <a:ext cx="0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8" name="Line 8"/>
            <p:cNvSpPr>
              <a:spLocks noChangeShapeType="1"/>
            </p:cNvSpPr>
            <p:nvPr/>
          </p:nvSpPr>
          <p:spPr bwMode="auto">
            <a:xfrm>
              <a:off x="1258888" y="1630363"/>
              <a:ext cx="1081087" cy="1223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9" name="Line 9"/>
            <p:cNvSpPr>
              <a:spLocks noChangeShapeType="1"/>
            </p:cNvSpPr>
            <p:nvPr/>
          </p:nvSpPr>
          <p:spPr bwMode="auto">
            <a:xfrm>
              <a:off x="755650" y="2566988"/>
              <a:ext cx="2232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0" name="Line 10"/>
            <p:cNvSpPr>
              <a:spLocks noChangeShapeType="1"/>
            </p:cNvSpPr>
            <p:nvPr/>
          </p:nvSpPr>
          <p:spPr bwMode="auto">
            <a:xfrm flipV="1">
              <a:off x="755650" y="1485900"/>
              <a:ext cx="0" cy="108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1" name="Line 11"/>
            <p:cNvSpPr>
              <a:spLocks noChangeShapeType="1"/>
            </p:cNvSpPr>
            <p:nvPr/>
          </p:nvSpPr>
          <p:spPr bwMode="auto">
            <a:xfrm>
              <a:off x="755650" y="1485900"/>
              <a:ext cx="2232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2" name="Line 12"/>
            <p:cNvSpPr>
              <a:spLocks noChangeShapeType="1"/>
            </p:cNvSpPr>
            <p:nvPr/>
          </p:nvSpPr>
          <p:spPr bwMode="auto">
            <a:xfrm>
              <a:off x="2987675" y="1485900"/>
              <a:ext cx="0" cy="108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Freeform 22"/>
            <p:cNvSpPr>
              <a:spLocks/>
            </p:cNvSpPr>
            <p:nvPr/>
          </p:nvSpPr>
          <p:spPr bwMode="auto">
            <a:xfrm>
              <a:off x="755650" y="1630363"/>
              <a:ext cx="1308100" cy="952500"/>
            </a:xfrm>
            <a:custGeom>
              <a:avLst/>
              <a:gdLst>
                <a:gd name="T0" fmla="*/ 960 w 960"/>
                <a:gd name="T1" fmla="*/ 600 h 600"/>
                <a:gd name="T2" fmla="*/ 894 w 960"/>
                <a:gd name="T3" fmla="*/ 452 h 600"/>
                <a:gd name="T4" fmla="*/ 869 w 960"/>
                <a:gd name="T5" fmla="*/ 411 h 600"/>
                <a:gd name="T6" fmla="*/ 836 w 960"/>
                <a:gd name="T7" fmla="*/ 370 h 600"/>
                <a:gd name="T8" fmla="*/ 738 w 960"/>
                <a:gd name="T9" fmla="*/ 247 h 600"/>
                <a:gd name="T10" fmla="*/ 705 w 960"/>
                <a:gd name="T11" fmla="*/ 214 h 600"/>
                <a:gd name="T12" fmla="*/ 688 w 960"/>
                <a:gd name="T13" fmla="*/ 197 h 600"/>
                <a:gd name="T14" fmla="*/ 639 w 960"/>
                <a:gd name="T15" fmla="*/ 181 h 600"/>
                <a:gd name="T16" fmla="*/ 573 w 960"/>
                <a:gd name="T17" fmla="*/ 140 h 600"/>
                <a:gd name="T18" fmla="*/ 557 w 960"/>
                <a:gd name="T19" fmla="*/ 123 h 600"/>
                <a:gd name="T20" fmla="*/ 507 w 960"/>
                <a:gd name="T21" fmla="*/ 107 h 600"/>
                <a:gd name="T22" fmla="*/ 293 w 960"/>
                <a:gd name="T23" fmla="*/ 41 h 600"/>
                <a:gd name="T24" fmla="*/ 170 w 960"/>
                <a:gd name="T25" fmla="*/ 8 h 600"/>
                <a:gd name="T26" fmla="*/ 5 w 960"/>
                <a:gd name="T27" fmla="*/ 16 h 600"/>
                <a:gd name="T28" fmla="*/ 5 w 960"/>
                <a:gd name="T29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600">
                  <a:moveTo>
                    <a:pt x="960" y="600"/>
                  </a:moveTo>
                  <a:cubicBezTo>
                    <a:pt x="947" y="545"/>
                    <a:pt x="935" y="493"/>
                    <a:pt x="894" y="452"/>
                  </a:cubicBezTo>
                  <a:cubicBezTo>
                    <a:pt x="871" y="383"/>
                    <a:pt x="904" y="469"/>
                    <a:pt x="869" y="411"/>
                  </a:cubicBezTo>
                  <a:cubicBezTo>
                    <a:pt x="843" y="367"/>
                    <a:pt x="886" y="402"/>
                    <a:pt x="836" y="370"/>
                  </a:cubicBezTo>
                  <a:cubicBezTo>
                    <a:pt x="820" y="321"/>
                    <a:pt x="781" y="276"/>
                    <a:pt x="738" y="247"/>
                  </a:cubicBezTo>
                  <a:cubicBezTo>
                    <a:pt x="722" y="202"/>
                    <a:pt x="742" y="236"/>
                    <a:pt x="705" y="214"/>
                  </a:cubicBezTo>
                  <a:cubicBezTo>
                    <a:pt x="698" y="210"/>
                    <a:pt x="695" y="201"/>
                    <a:pt x="688" y="197"/>
                  </a:cubicBezTo>
                  <a:cubicBezTo>
                    <a:pt x="673" y="189"/>
                    <a:pt x="639" y="181"/>
                    <a:pt x="639" y="181"/>
                  </a:cubicBezTo>
                  <a:cubicBezTo>
                    <a:pt x="619" y="159"/>
                    <a:pt x="601" y="149"/>
                    <a:pt x="573" y="140"/>
                  </a:cubicBezTo>
                  <a:cubicBezTo>
                    <a:pt x="568" y="134"/>
                    <a:pt x="564" y="126"/>
                    <a:pt x="557" y="123"/>
                  </a:cubicBezTo>
                  <a:cubicBezTo>
                    <a:pt x="541" y="115"/>
                    <a:pt x="507" y="107"/>
                    <a:pt x="507" y="107"/>
                  </a:cubicBezTo>
                  <a:cubicBezTo>
                    <a:pt x="466" y="63"/>
                    <a:pt x="350" y="47"/>
                    <a:pt x="293" y="41"/>
                  </a:cubicBezTo>
                  <a:cubicBezTo>
                    <a:pt x="252" y="27"/>
                    <a:pt x="212" y="16"/>
                    <a:pt x="170" y="8"/>
                  </a:cubicBezTo>
                  <a:cubicBezTo>
                    <a:pt x="156" y="9"/>
                    <a:pt x="35" y="33"/>
                    <a:pt x="5" y="16"/>
                  </a:cubicBezTo>
                  <a:cubicBezTo>
                    <a:pt x="0" y="13"/>
                    <a:pt x="5" y="5"/>
                    <a:pt x="5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2" name="Text Box 32"/>
            <p:cNvSpPr txBox="1">
              <a:spLocks noChangeArrowheads="1"/>
            </p:cNvSpPr>
            <p:nvPr/>
          </p:nvSpPr>
          <p:spPr bwMode="auto">
            <a:xfrm>
              <a:off x="323206" y="2780928"/>
              <a:ext cx="360362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ea typeface="宋体" charset="-122"/>
                </a:rPr>
                <a:t>x</a:t>
              </a:r>
            </a:p>
          </p:txBody>
        </p:sp>
        <p:sp>
          <p:nvSpPr>
            <p:cNvPr id="81953" name="Text Box 33"/>
            <p:cNvSpPr txBox="1">
              <a:spLocks noChangeArrowheads="1"/>
            </p:cNvSpPr>
            <p:nvPr/>
          </p:nvSpPr>
          <p:spPr bwMode="auto">
            <a:xfrm>
              <a:off x="3348038" y="1341438"/>
              <a:ext cx="360362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charset="-122"/>
                </a:rPr>
                <a:t>z</a:t>
              </a:r>
            </a:p>
          </p:txBody>
        </p:sp>
        <p:sp>
          <p:nvSpPr>
            <p:cNvPr id="81954" name="Line 34"/>
            <p:cNvSpPr>
              <a:spLocks noChangeShapeType="1"/>
            </p:cNvSpPr>
            <p:nvPr/>
          </p:nvSpPr>
          <p:spPr bwMode="auto">
            <a:xfrm>
              <a:off x="2051050" y="2565400"/>
              <a:ext cx="50482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8" name="Text Box 38"/>
            <p:cNvSpPr txBox="1">
              <a:spLocks noChangeArrowheads="1"/>
            </p:cNvSpPr>
            <p:nvPr/>
          </p:nvSpPr>
          <p:spPr bwMode="auto">
            <a:xfrm>
              <a:off x="1403350" y="333375"/>
              <a:ext cx="100806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charset="-122"/>
                </a:rPr>
                <a:t>R(x,z)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03512" y="3566344"/>
            <a:ext cx="3240088" cy="3103016"/>
            <a:chOff x="179512" y="3350320"/>
            <a:chExt cx="3240088" cy="3103016"/>
          </a:xfrm>
        </p:grpSpPr>
        <p:grpSp>
          <p:nvGrpSpPr>
            <p:cNvPr id="81962" name="Group 42"/>
            <p:cNvGrpSpPr>
              <a:grpSpLocks/>
            </p:cNvGrpSpPr>
            <p:nvPr/>
          </p:nvGrpSpPr>
          <p:grpSpPr bwMode="auto">
            <a:xfrm>
              <a:off x="179512" y="3710136"/>
              <a:ext cx="3240088" cy="2743200"/>
              <a:chOff x="204" y="2024"/>
              <a:chExt cx="2041" cy="1728"/>
            </a:xfrm>
          </p:grpSpPr>
          <p:sp>
            <p:nvSpPr>
              <p:cNvPr id="81949" name="Line 29"/>
              <p:cNvSpPr>
                <a:spLocks noChangeShapeType="1"/>
              </p:cNvSpPr>
              <p:nvPr/>
            </p:nvSpPr>
            <p:spPr bwMode="auto">
              <a:xfrm flipV="1">
                <a:off x="1156" y="2069"/>
                <a:ext cx="272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0" name="Line 30"/>
              <p:cNvSpPr>
                <a:spLocks noChangeShapeType="1"/>
              </p:cNvSpPr>
              <p:nvPr/>
            </p:nvSpPr>
            <p:spPr bwMode="auto">
              <a:xfrm>
                <a:off x="1429" y="2069"/>
                <a:ext cx="0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1960" name="Group 40"/>
              <p:cNvGrpSpPr>
                <a:grpSpLocks/>
              </p:cNvGrpSpPr>
              <p:nvPr/>
            </p:nvGrpSpPr>
            <p:grpSpPr bwMode="auto">
              <a:xfrm>
                <a:off x="204" y="2024"/>
                <a:ext cx="2041" cy="1728"/>
                <a:chOff x="204" y="1797"/>
                <a:chExt cx="2041" cy="1728"/>
              </a:xfrm>
            </p:grpSpPr>
            <p:sp>
              <p:nvSpPr>
                <p:cNvPr id="81943" name="Line 23"/>
                <p:cNvSpPr>
                  <a:spLocks noChangeShapeType="1"/>
                </p:cNvSpPr>
                <p:nvPr/>
              </p:nvSpPr>
              <p:spPr bwMode="auto">
                <a:xfrm>
                  <a:off x="748" y="2523"/>
                  <a:ext cx="127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44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40" y="2523"/>
                  <a:ext cx="408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45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748" y="1797"/>
                  <a:ext cx="0" cy="7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46" name="Line 26"/>
                <p:cNvSpPr>
                  <a:spLocks noChangeShapeType="1"/>
                </p:cNvSpPr>
                <p:nvPr/>
              </p:nvSpPr>
              <p:spPr bwMode="auto">
                <a:xfrm>
                  <a:off x="748" y="2523"/>
                  <a:ext cx="681" cy="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47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156" y="2523"/>
                  <a:ext cx="272" cy="8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48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1156" y="2704"/>
                  <a:ext cx="0" cy="6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51" name="Freeform 31"/>
                <p:cNvSpPr>
                  <a:spLocks/>
                </p:cNvSpPr>
                <p:nvPr/>
              </p:nvSpPr>
              <p:spPr bwMode="auto">
                <a:xfrm>
                  <a:off x="1156" y="2704"/>
                  <a:ext cx="91" cy="408"/>
                </a:xfrm>
                <a:custGeom>
                  <a:avLst/>
                  <a:gdLst>
                    <a:gd name="T0" fmla="*/ 960 w 960"/>
                    <a:gd name="T1" fmla="*/ 600 h 600"/>
                    <a:gd name="T2" fmla="*/ 894 w 960"/>
                    <a:gd name="T3" fmla="*/ 452 h 600"/>
                    <a:gd name="T4" fmla="*/ 869 w 960"/>
                    <a:gd name="T5" fmla="*/ 411 h 600"/>
                    <a:gd name="T6" fmla="*/ 836 w 960"/>
                    <a:gd name="T7" fmla="*/ 370 h 600"/>
                    <a:gd name="T8" fmla="*/ 738 w 960"/>
                    <a:gd name="T9" fmla="*/ 247 h 600"/>
                    <a:gd name="T10" fmla="*/ 705 w 960"/>
                    <a:gd name="T11" fmla="*/ 214 h 600"/>
                    <a:gd name="T12" fmla="*/ 688 w 960"/>
                    <a:gd name="T13" fmla="*/ 197 h 600"/>
                    <a:gd name="T14" fmla="*/ 639 w 960"/>
                    <a:gd name="T15" fmla="*/ 181 h 600"/>
                    <a:gd name="T16" fmla="*/ 573 w 960"/>
                    <a:gd name="T17" fmla="*/ 140 h 600"/>
                    <a:gd name="T18" fmla="*/ 557 w 960"/>
                    <a:gd name="T19" fmla="*/ 123 h 600"/>
                    <a:gd name="T20" fmla="*/ 507 w 960"/>
                    <a:gd name="T21" fmla="*/ 107 h 600"/>
                    <a:gd name="T22" fmla="*/ 293 w 960"/>
                    <a:gd name="T23" fmla="*/ 41 h 600"/>
                    <a:gd name="T24" fmla="*/ 170 w 960"/>
                    <a:gd name="T25" fmla="*/ 8 h 600"/>
                    <a:gd name="T26" fmla="*/ 5 w 960"/>
                    <a:gd name="T27" fmla="*/ 16 h 600"/>
                    <a:gd name="T28" fmla="*/ 5 w 960"/>
                    <a:gd name="T29" fmla="*/ 0 h 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60" h="600">
                      <a:moveTo>
                        <a:pt x="960" y="600"/>
                      </a:moveTo>
                      <a:cubicBezTo>
                        <a:pt x="947" y="545"/>
                        <a:pt x="935" y="493"/>
                        <a:pt x="894" y="452"/>
                      </a:cubicBezTo>
                      <a:cubicBezTo>
                        <a:pt x="871" y="383"/>
                        <a:pt x="904" y="469"/>
                        <a:pt x="869" y="411"/>
                      </a:cubicBezTo>
                      <a:cubicBezTo>
                        <a:pt x="843" y="367"/>
                        <a:pt x="886" y="402"/>
                        <a:pt x="836" y="370"/>
                      </a:cubicBezTo>
                      <a:cubicBezTo>
                        <a:pt x="820" y="321"/>
                        <a:pt x="781" y="276"/>
                        <a:pt x="738" y="247"/>
                      </a:cubicBezTo>
                      <a:cubicBezTo>
                        <a:pt x="722" y="202"/>
                        <a:pt x="742" y="236"/>
                        <a:pt x="705" y="214"/>
                      </a:cubicBezTo>
                      <a:cubicBezTo>
                        <a:pt x="698" y="210"/>
                        <a:pt x="695" y="201"/>
                        <a:pt x="688" y="197"/>
                      </a:cubicBezTo>
                      <a:cubicBezTo>
                        <a:pt x="673" y="189"/>
                        <a:pt x="639" y="181"/>
                        <a:pt x="639" y="181"/>
                      </a:cubicBezTo>
                      <a:cubicBezTo>
                        <a:pt x="619" y="159"/>
                        <a:pt x="601" y="149"/>
                        <a:pt x="573" y="140"/>
                      </a:cubicBezTo>
                      <a:cubicBezTo>
                        <a:pt x="568" y="134"/>
                        <a:pt x="564" y="126"/>
                        <a:pt x="557" y="123"/>
                      </a:cubicBezTo>
                      <a:cubicBezTo>
                        <a:pt x="541" y="115"/>
                        <a:pt x="507" y="107"/>
                        <a:pt x="507" y="107"/>
                      </a:cubicBezTo>
                      <a:cubicBezTo>
                        <a:pt x="466" y="63"/>
                        <a:pt x="350" y="47"/>
                        <a:pt x="293" y="41"/>
                      </a:cubicBezTo>
                      <a:cubicBezTo>
                        <a:pt x="252" y="27"/>
                        <a:pt x="212" y="16"/>
                        <a:pt x="170" y="8"/>
                      </a:cubicBezTo>
                      <a:cubicBezTo>
                        <a:pt x="156" y="9"/>
                        <a:pt x="35" y="33"/>
                        <a:pt x="5" y="16"/>
                      </a:cubicBezTo>
                      <a:cubicBezTo>
                        <a:pt x="0" y="13"/>
                        <a:pt x="5" y="5"/>
                        <a:pt x="5" y="0"/>
                      </a:cubicBez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55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1247" y="2795"/>
                  <a:ext cx="91" cy="318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5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04" y="3294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ea typeface="宋体" charset="-122"/>
                    </a:rPr>
                    <a:t>z</a:t>
                  </a:r>
                </a:p>
              </p:txBody>
            </p:sp>
            <p:sp>
              <p:nvSpPr>
                <p:cNvPr id="8195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018" y="2432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ea typeface="宋体" charset="-122"/>
                    </a:rPr>
                    <a:t>y</a:t>
                  </a:r>
                </a:p>
              </p:txBody>
            </p:sp>
          </p:grpSp>
        </p:grpSp>
        <p:sp>
          <p:nvSpPr>
            <p:cNvPr id="81959" name="Text Box 39"/>
            <p:cNvSpPr txBox="1">
              <a:spLocks noChangeArrowheads="1"/>
            </p:cNvSpPr>
            <p:nvPr/>
          </p:nvSpPr>
          <p:spPr bwMode="auto">
            <a:xfrm>
              <a:off x="1043608" y="3350320"/>
              <a:ext cx="1008062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charset="-122"/>
                </a:rPr>
                <a:t>R(z,y)</a:t>
              </a:r>
            </a:p>
          </p:txBody>
        </p:sp>
      </p:grpSp>
      <p:graphicFrame>
        <p:nvGraphicFramePr>
          <p:cNvPr id="8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304882"/>
              </p:ext>
            </p:extLst>
          </p:nvPr>
        </p:nvGraphicFramePr>
        <p:xfrm>
          <a:off x="6444016" y="3637598"/>
          <a:ext cx="4188488" cy="309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5057143" imgH="3742857" progId="Paint.Picture">
                  <p:embed/>
                </p:oleObj>
              </mc:Choice>
              <mc:Fallback>
                <p:oleObj name="BMP 图像" r:id="rId2" imgW="5057143" imgH="3742857" progId="Paint.Picture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016" y="3637598"/>
                        <a:ext cx="4188488" cy="3099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8715269" y="392616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远大于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y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F41EA1-E9FA-0C89-2B4D-408643FACECB}"/>
              </a:ext>
            </a:extLst>
          </p:cNvPr>
          <p:cNvSpPr txBox="1"/>
          <p:nvPr/>
        </p:nvSpPr>
        <p:spPr>
          <a:xfrm>
            <a:off x="10059034" y="6021288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y</a:t>
            </a:r>
            <a:endParaRPr lang="zh-CN" altLang="en-US" sz="2000" b="1" i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C1872D-F560-0E91-543B-AF172B3C8709}"/>
              </a:ext>
            </a:extLst>
          </p:cNvPr>
          <p:cNvSpPr txBox="1"/>
          <p:nvPr/>
        </p:nvSpPr>
        <p:spPr>
          <a:xfrm>
            <a:off x="6416076" y="5813668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x</a:t>
            </a:r>
            <a:endParaRPr lang="zh-CN" altLang="en-US" sz="2000" b="1" i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D8C18A-2D3B-C596-5440-3368FF573D39}"/>
              </a:ext>
            </a:extLst>
          </p:cNvPr>
          <p:cNvSpPr txBox="1"/>
          <p:nvPr/>
        </p:nvSpPr>
        <p:spPr>
          <a:xfrm>
            <a:off x="6394718" y="3733001"/>
            <a:ext cx="1008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R</a:t>
            </a:r>
            <a:r>
              <a:rPr lang="en-US" altLang="zh-CN" sz="2000" b="1" dirty="0"/>
              <a:t>(</a:t>
            </a:r>
            <a:r>
              <a:rPr lang="en-US" altLang="zh-CN" sz="2000" b="1" i="1" dirty="0" err="1"/>
              <a:t>x,y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BFA4294-962A-185B-C9AB-FAF4B12287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906323"/>
              </p:ext>
            </p:extLst>
          </p:nvPr>
        </p:nvGraphicFramePr>
        <p:xfrm>
          <a:off x="5849938" y="458929"/>
          <a:ext cx="420687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761760" progId="Equation.DSMT4">
                  <p:embed/>
                </p:oleObj>
              </mc:Choice>
              <mc:Fallback>
                <p:oleObj name="Equation" r:id="rId4" imgW="2044440" imgH="761760" progId="Equation.DSMT4">
                  <p:embed/>
                  <p:pic>
                    <p:nvPicPr>
                      <p:cNvPr id="57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8" y="458929"/>
                        <a:ext cx="420687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A5C74AF9-3A82-2965-ED3C-92331CEAA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2543"/>
              </p:ext>
            </p:extLst>
          </p:nvPr>
        </p:nvGraphicFramePr>
        <p:xfrm>
          <a:off x="5752168" y="2038767"/>
          <a:ext cx="435451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82600" imgH="761760" progId="Equation.DSMT4">
                  <p:embed/>
                </p:oleObj>
              </mc:Choice>
              <mc:Fallback>
                <p:oleObj name="Equation" r:id="rId6" imgW="2082600" imgH="761760" progId="Equation.DSMT4">
                  <p:embed/>
                  <p:pic>
                    <p:nvPicPr>
                      <p:cNvPr id="57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2168" y="2038767"/>
                        <a:ext cx="4354513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6DC6899-E8ED-168F-CAFE-38FD8358DC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934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关系合成举例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 </a:t>
            </a:r>
            <a:r>
              <a:rPr lang="en-US" altLang="zh-CN" sz="3600" dirty="0">
                <a:ea typeface="黑体" pitchFamily="2" charset="-122"/>
              </a:rPr>
              <a:t>[P68</a:t>
            </a:r>
            <a:r>
              <a:rPr lang="zh-CN" altLang="en-US" sz="3600" dirty="0">
                <a:ea typeface="黑体" pitchFamily="2" charset="-122"/>
              </a:rPr>
              <a:t>例</a:t>
            </a:r>
            <a:r>
              <a:rPr lang="en-US" altLang="zh-CN" sz="3600" dirty="0">
                <a:ea typeface="黑体" pitchFamily="2" charset="-122"/>
              </a:rPr>
              <a:t>1]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12875"/>
            <a:ext cx="8723437" cy="51752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若</a:t>
            </a:r>
            <a:r>
              <a:rPr lang="en-US" altLang="zh-CN" dirty="0" err="1">
                <a:solidFill>
                  <a:srgbClr val="CC00CC"/>
                </a:solidFill>
                <a:ea typeface="黑体" pitchFamily="2" charset="-122"/>
              </a:rPr>
              <a:t>x</a:t>
            </a:r>
            <a:r>
              <a:rPr kumimoji="1" lang="en-US" altLang="zh-CN" dirty="0" err="1">
                <a:solidFill>
                  <a:srgbClr val="CC00CC"/>
                </a:solidFill>
                <a:ea typeface="黑体" pitchFamily="2" charset="-122"/>
              </a:rPr>
              <a:t>≤y</a:t>
            </a:r>
            <a:r>
              <a:rPr kumimoji="1" lang="zh-CN" altLang="en-US" dirty="0">
                <a:solidFill>
                  <a:srgbClr val="CC00CC"/>
                </a:solidFill>
                <a:ea typeface="黑体" pitchFamily="2" charset="-122"/>
              </a:rPr>
              <a:t>，</a:t>
            </a:r>
            <a:r>
              <a:rPr kumimoji="1" lang="zh-CN" altLang="en-US" dirty="0">
                <a:ea typeface="黑体" pitchFamily="2" charset="-122"/>
              </a:rPr>
              <a:t>则对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z</a:t>
            </a:r>
          </a:p>
          <a:p>
            <a:pPr lvl="1" eaLnBrk="1" hangingPunct="1"/>
            <a:r>
              <a:rPr lang="en-US" altLang="zh-CN" sz="3200" dirty="0" err="1">
                <a:solidFill>
                  <a:srgbClr val="008000"/>
                </a:solidFill>
                <a:ea typeface="黑体" pitchFamily="2" charset="-122"/>
              </a:rPr>
              <a:t>x</a:t>
            </a:r>
            <a:r>
              <a:rPr kumimoji="1" lang="en-US" altLang="zh-CN" sz="3200" dirty="0" err="1">
                <a:solidFill>
                  <a:srgbClr val="008000"/>
                </a:solidFill>
                <a:ea typeface="黑体" pitchFamily="2" charset="-122"/>
              </a:rPr>
              <a:t>≤z</a:t>
            </a:r>
            <a:r>
              <a:rPr kumimoji="1" lang="en-US" altLang="zh-CN" sz="3200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zh-CN" altLang="en-US" sz="3200" dirty="0">
                <a:ea typeface="黑体" pitchFamily="2" charset="-122"/>
              </a:rPr>
              <a:t>与 </a:t>
            </a:r>
            <a:r>
              <a:rPr kumimoji="1" lang="en-US" altLang="zh-CN" sz="3200" dirty="0" err="1">
                <a:solidFill>
                  <a:srgbClr val="008000"/>
                </a:solidFill>
                <a:ea typeface="黑体" pitchFamily="2" charset="-122"/>
              </a:rPr>
              <a:t>z≤y</a:t>
            </a:r>
            <a:r>
              <a:rPr kumimoji="1" lang="en-US" altLang="zh-CN" sz="3200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zh-CN" altLang="en-US" sz="3200" dirty="0">
                <a:ea typeface="黑体" pitchFamily="2" charset="-122"/>
              </a:rPr>
              <a:t>至少有一个成立，于是</a:t>
            </a:r>
          </a:p>
          <a:p>
            <a:pPr lvl="1" eaLnBrk="1" hangingPunct="1"/>
            <a:endParaRPr kumimoji="1" lang="zh-CN" altLang="en-US" sz="3600" dirty="0">
              <a:ea typeface="黑体" pitchFamily="2" charset="-122"/>
            </a:endParaRPr>
          </a:p>
          <a:p>
            <a:pPr eaLnBrk="1" hangingPunct="1"/>
            <a:endParaRPr kumimoji="1" lang="en-US" altLang="zh-CN" sz="2800" dirty="0"/>
          </a:p>
        </p:txBody>
      </p:sp>
      <p:graphicFrame>
        <p:nvGraphicFramePr>
          <p:cNvPr id="5837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115451259"/>
              </p:ext>
            </p:extLst>
          </p:nvPr>
        </p:nvGraphicFramePr>
        <p:xfrm>
          <a:off x="2127114" y="2811948"/>
          <a:ext cx="6784652" cy="853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20900" imgH="266700" progId="Equation.3">
                  <p:embed/>
                </p:oleObj>
              </mc:Choice>
              <mc:Fallback>
                <p:oleObj name="公式" r:id="rId2" imgW="2120900" imgH="266700" progId="Equation.3">
                  <p:embed/>
                  <p:pic>
                    <p:nvPicPr>
                      <p:cNvPr id="583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114" y="2811948"/>
                        <a:ext cx="6784652" cy="853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8937353" y="2811948"/>
            <a:ext cx="863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FF0000"/>
                </a:solidFill>
              </a:rPr>
              <a:t>=0</a:t>
            </a:r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B73DA44E-99C4-DB29-1CA0-3042D7D8C2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870087"/>
              </p:ext>
            </p:extLst>
          </p:nvPr>
        </p:nvGraphicFramePr>
        <p:xfrm>
          <a:off x="6456041" y="4383163"/>
          <a:ext cx="4608511" cy="168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761760" progId="Equation.DSMT4">
                  <p:embed/>
                </p:oleObj>
              </mc:Choice>
              <mc:Fallback>
                <p:oleObj name="Equation" r:id="rId4" imgW="2082600" imgH="761760" progId="Equation.DSMT4">
                  <p:embed/>
                  <p:pic>
                    <p:nvPicPr>
                      <p:cNvPr id="57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1" y="4383163"/>
                        <a:ext cx="4608511" cy="1683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737FA1A9-38F9-7EC3-14E2-038B89C78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41749"/>
              </p:ext>
            </p:extLst>
          </p:nvPr>
        </p:nvGraphicFramePr>
        <p:xfrm>
          <a:off x="1146608" y="4293097"/>
          <a:ext cx="4761745" cy="1773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761760" progId="Equation.DSMT4">
                  <p:embed/>
                </p:oleObj>
              </mc:Choice>
              <mc:Fallback>
                <p:oleObj name="Equation" r:id="rId6" imgW="2044440" imgH="7617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BFA4294-962A-185B-C9AB-FAF4B12287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608" y="4293097"/>
                        <a:ext cx="4761745" cy="1773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909C2F-9FD3-2B9E-A7B9-C2344512B4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9E3FA-AF98-4966-B5CC-734F8A403792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753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579167"/>
              </p:ext>
            </p:extLst>
          </p:nvPr>
        </p:nvGraphicFramePr>
        <p:xfrm>
          <a:off x="6369478" y="4363829"/>
          <a:ext cx="432752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70100" imgH="711200" progId="Equation.3">
                  <p:embed/>
                </p:oleObj>
              </mc:Choice>
              <mc:Fallback>
                <p:oleObj name="公式" r:id="rId3" imgW="2070100" imgH="711200" progId="Equation.3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478" y="4363829"/>
                        <a:ext cx="4327525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075460"/>
              </p:ext>
            </p:extLst>
          </p:nvPr>
        </p:nvGraphicFramePr>
        <p:xfrm>
          <a:off x="1757686" y="4366692"/>
          <a:ext cx="420687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44700" imgH="711200" progId="Equation.3">
                  <p:embed/>
                </p:oleObj>
              </mc:Choice>
              <mc:Fallback>
                <p:oleObj name="公式" r:id="rId5" imgW="2044700" imgH="711200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86" y="4366692"/>
                        <a:ext cx="420687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524000" y="2901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1524000" y="3587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1524000" y="2930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2953" name="Rectangle 9"/>
          <p:cNvSpPr>
            <a:spLocks noChangeArrowheads="1"/>
          </p:cNvSpPr>
          <p:nvPr/>
        </p:nvSpPr>
        <p:spPr bwMode="auto">
          <a:xfrm>
            <a:off x="1524000" y="3558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1524000" y="2558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1524000" y="3930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1559495" y="179216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pic>
        <p:nvPicPr>
          <p:cNvPr id="82960" name="Picture 16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1159024"/>
            <a:ext cx="44577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1524000" y="25299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pic>
        <p:nvPicPr>
          <p:cNvPr id="82959" name="Picture 15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1" y="2315344"/>
            <a:ext cx="12287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1524000" y="3139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pic>
        <p:nvPicPr>
          <p:cNvPr id="82958" name="Picture 14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3105150"/>
            <a:ext cx="3971925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64" name="Rectangle 20"/>
          <p:cNvSpPr>
            <a:spLocks noChangeArrowheads="1"/>
          </p:cNvSpPr>
          <p:nvPr/>
        </p:nvSpPr>
        <p:spPr bwMode="auto">
          <a:xfrm>
            <a:off x="1524000" y="34634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pic>
        <p:nvPicPr>
          <p:cNvPr id="82957" name="Picture 13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2679948"/>
            <a:ext cx="31242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65" name="AutoShape 21"/>
          <p:cNvSpPr>
            <a:spLocks noChangeArrowheads="1"/>
          </p:cNvSpPr>
          <p:nvPr/>
        </p:nvSpPr>
        <p:spPr bwMode="auto">
          <a:xfrm>
            <a:off x="5664201" y="1916510"/>
            <a:ext cx="288925" cy="360362"/>
          </a:xfrm>
          <a:prstGeom prst="downArrow">
            <a:avLst>
              <a:gd name="adj1" fmla="val 50000"/>
              <a:gd name="adj2" fmla="val 311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5953125" y="1837135"/>
            <a:ext cx="86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宋体" charset="-122"/>
              </a:rPr>
              <a:t>解得</a:t>
            </a:r>
            <a:endParaRPr lang="en-US" altLang="zh-CN">
              <a:ea typeface="宋体" charset="-122"/>
            </a:endParaRPr>
          </a:p>
        </p:txBody>
      </p:sp>
      <p:graphicFrame>
        <p:nvGraphicFramePr>
          <p:cNvPr id="829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765540"/>
              </p:ext>
            </p:extLst>
          </p:nvPr>
        </p:nvGraphicFramePr>
        <p:xfrm>
          <a:off x="1271463" y="3611006"/>
          <a:ext cx="4608513" cy="328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11" imgW="5009524" imgH="3572374" progId="Paint.Picture">
                  <p:embed/>
                </p:oleObj>
              </mc:Choice>
              <mc:Fallback>
                <p:oleObj name="BMP 图像" r:id="rId11" imgW="5009524" imgH="3572374" progId="Paint.Picture">
                  <p:embed/>
                  <p:pic>
                    <p:nvPicPr>
                      <p:cNvPr id="8296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3" y="3611006"/>
                        <a:ext cx="4608513" cy="328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271464" y="510059"/>
            <a:ext cx="2566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若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x&gt;</a:t>
            </a:r>
            <a:r>
              <a:rPr kumimoji="1" lang="en-US" altLang="zh-CN" sz="2800" dirty="0">
                <a:solidFill>
                  <a:srgbClr val="CC00CC"/>
                </a:solidFill>
                <a:ea typeface="黑体" pitchFamily="2" charset="-122"/>
              </a:rPr>
              <a:t>y</a:t>
            </a:r>
            <a:r>
              <a:rPr kumimoji="1" lang="zh-CN" altLang="en-US" sz="2800" dirty="0">
                <a:ea typeface="黑体" pitchFamily="2" charset="-122"/>
              </a:rPr>
              <a:t>，则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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z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使</a:t>
            </a:r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94694992"/>
              </p:ext>
            </p:extLst>
          </p:nvPr>
        </p:nvGraphicFramePr>
        <p:xfrm>
          <a:off x="3764820" y="569169"/>
          <a:ext cx="46799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120900" imgH="266700" progId="Equation.3">
                  <p:embed/>
                </p:oleObj>
              </mc:Choice>
              <mc:Fallback>
                <p:oleObj name="公式" r:id="rId13" imgW="2120900" imgH="266700" progId="Equation.3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820" y="569169"/>
                        <a:ext cx="46799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77107439"/>
              </p:ext>
            </p:extLst>
          </p:nvPr>
        </p:nvGraphicFramePr>
        <p:xfrm>
          <a:off x="8472264" y="569169"/>
          <a:ext cx="27082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9720" imgH="228600" progId="Equation.DSMT4">
                  <p:embed/>
                </p:oleObj>
              </mc:Choice>
              <mc:Fallback>
                <p:oleObj name="Equation" r:id="rId15" imgW="1269720" imgH="228600" progId="Equation.DSMT4">
                  <p:embed/>
                  <p:pic>
                    <p:nvPicPr>
                      <p:cNvPr id="4" name="对象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264" y="569169"/>
                        <a:ext cx="27082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3719737" y="426348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远远大于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y</a:t>
            </a:r>
            <a:endParaRPr lang="zh-CN" altLang="en-US" sz="2400" dirty="0">
              <a:solidFill>
                <a:srgbClr val="CC00CC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384925" y="4021584"/>
            <a:ext cx="4455115" cy="2684016"/>
            <a:chOff x="3851275" y="3985344"/>
            <a:chExt cx="5036742" cy="2684016"/>
          </a:xfrm>
        </p:grpSpPr>
        <p:pic>
          <p:nvPicPr>
            <p:cNvPr id="27" name="Picture 43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275" y="3985344"/>
              <a:ext cx="4833938" cy="254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 Box 44"/>
            <p:cNvSpPr txBox="1">
              <a:spLocks noChangeArrowheads="1"/>
            </p:cNvSpPr>
            <p:nvPr/>
          </p:nvSpPr>
          <p:spPr bwMode="auto">
            <a:xfrm>
              <a:off x="8492729" y="5924128"/>
              <a:ext cx="3952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</a:rPr>
                <a:t>z</a:t>
              </a:r>
              <a:endParaRPr lang="en-US" altLang="ja-JP" sz="2400">
                <a:solidFill>
                  <a:srgbClr val="FF0000"/>
                </a:solidFill>
              </a:endParaRPr>
            </a:p>
          </p:txBody>
        </p:sp>
        <p:sp>
          <p:nvSpPr>
            <p:cNvPr id="29" name="Oval 45"/>
            <p:cNvSpPr>
              <a:spLocks noChangeArrowheads="1"/>
            </p:cNvSpPr>
            <p:nvPr/>
          </p:nvSpPr>
          <p:spPr bwMode="auto">
            <a:xfrm>
              <a:off x="6228680" y="5804172"/>
              <a:ext cx="863600" cy="86518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087E9909-76E0-D0CE-671E-41FF04BB1EAE}"/>
              </a:ext>
            </a:extLst>
          </p:cNvPr>
          <p:cNvSpPr txBox="1"/>
          <p:nvPr/>
        </p:nvSpPr>
        <p:spPr>
          <a:xfrm>
            <a:off x="1235115" y="5736549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x</a:t>
            </a:r>
            <a:endParaRPr lang="zh-CN" altLang="en-US" sz="2000" b="1" i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D3B348-0C9F-3833-28EB-133A26FB6E4E}"/>
              </a:ext>
            </a:extLst>
          </p:cNvPr>
          <p:cNvSpPr txBox="1"/>
          <p:nvPr/>
        </p:nvSpPr>
        <p:spPr>
          <a:xfrm>
            <a:off x="1631505" y="3761783"/>
            <a:ext cx="124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R</a:t>
            </a:r>
            <a:r>
              <a:rPr lang="en-US" altLang="zh-CN" sz="2000" b="1" dirty="0">
                <a:ea typeface="黑体" pitchFamily="2" charset="-122"/>
              </a:rPr>
              <a:t>◦</a:t>
            </a:r>
            <a:r>
              <a:rPr lang="en-US" altLang="zh-CN" sz="2000" b="1" i="1" dirty="0"/>
              <a:t>R</a:t>
            </a:r>
            <a:r>
              <a:rPr lang="en-US" altLang="zh-CN" sz="2000" b="1" dirty="0"/>
              <a:t>(</a:t>
            </a:r>
            <a:r>
              <a:rPr lang="en-US" altLang="zh-CN" sz="2000" b="1" i="1" dirty="0" err="1"/>
              <a:t>x,y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04C136-493C-1074-6D24-114C19029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140B74-3670-AAD6-8225-6B0F6D1A2C2C}"/>
              </a:ext>
            </a:extLst>
          </p:cNvPr>
          <p:cNvSpPr txBox="1"/>
          <p:nvPr/>
        </p:nvSpPr>
        <p:spPr>
          <a:xfrm>
            <a:off x="5484974" y="5682659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y</a:t>
            </a:r>
            <a:endParaRPr lang="zh-CN" alt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157477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65" grpId="0" animBg="1"/>
      <p:bldP spid="82966" grpId="0"/>
      <p:bldP spid="26" grpId="0"/>
      <p:bldP spid="7" grpId="0"/>
      <p:bldP spid="8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485526"/>
              </p:ext>
            </p:extLst>
          </p:nvPr>
        </p:nvGraphicFramePr>
        <p:xfrm>
          <a:off x="6384032" y="752114"/>
          <a:ext cx="4827049" cy="2159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4120" imgH="914400" progId="Equation.DSMT4">
                  <p:embed/>
                </p:oleObj>
              </mc:Choice>
              <mc:Fallback>
                <p:oleObj name="Equation" r:id="rId3" imgW="2184120" imgH="9144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752114"/>
                        <a:ext cx="4827049" cy="2159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1524000" y="3930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graphicFrame>
        <p:nvGraphicFramePr>
          <p:cNvPr id="829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270538"/>
              </p:ext>
            </p:extLst>
          </p:nvPr>
        </p:nvGraphicFramePr>
        <p:xfrm>
          <a:off x="6235059" y="3212977"/>
          <a:ext cx="5207768" cy="3594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5" imgW="5010120" imgH="3571920" progId="Paint.Picture">
                  <p:embed/>
                </p:oleObj>
              </mc:Choice>
              <mc:Fallback>
                <p:oleObj name="BMP 图像" r:id="rId5" imgW="5010120" imgH="3571920" progId="Paint.Picture">
                  <p:embed/>
                  <p:pic>
                    <p:nvPicPr>
                      <p:cNvPr id="8296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059" y="3212977"/>
                        <a:ext cx="5207768" cy="3594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969" name="Picture 2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92" y="3212977"/>
            <a:ext cx="5207768" cy="357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矩形 24"/>
          <p:cNvSpPr/>
          <p:nvPr/>
        </p:nvSpPr>
        <p:spPr>
          <a:xfrm>
            <a:off x="3390106" y="4005480"/>
            <a:ext cx="16674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远大于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y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652777" y="3877664"/>
            <a:ext cx="2028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C00CC"/>
                </a:solidFill>
                <a:ea typeface="黑体" pitchFamily="2" charset="-122"/>
              </a:rPr>
              <a:t>x</a:t>
            </a:r>
            <a:r>
              <a:rPr lang="zh-CN" altLang="en-US" sz="2800" b="1" dirty="0">
                <a:solidFill>
                  <a:srgbClr val="CC00CC"/>
                </a:solidFill>
                <a:ea typeface="黑体" pitchFamily="2" charset="-122"/>
              </a:rPr>
              <a:t>远远大于</a:t>
            </a:r>
            <a:r>
              <a:rPr lang="en-US" altLang="zh-CN" sz="2800" b="1" dirty="0">
                <a:solidFill>
                  <a:srgbClr val="CC00CC"/>
                </a:solidFill>
                <a:ea typeface="黑体" pitchFamily="2" charset="-122"/>
              </a:rPr>
              <a:t>y</a:t>
            </a:r>
            <a:endParaRPr lang="zh-CN" altLang="en-US" sz="2800" b="1" dirty="0">
              <a:solidFill>
                <a:srgbClr val="CC00CC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BAFD36-4BF4-8579-2F3B-7B26899921BA}"/>
              </a:ext>
            </a:extLst>
          </p:cNvPr>
          <p:cNvSpPr txBox="1"/>
          <p:nvPr/>
        </p:nvSpPr>
        <p:spPr>
          <a:xfrm>
            <a:off x="6281277" y="3530024"/>
            <a:ext cx="124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R</a:t>
            </a:r>
            <a:r>
              <a:rPr lang="en-US" altLang="zh-CN" sz="2000" b="1" dirty="0">
                <a:ea typeface="黑体" pitchFamily="2" charset="-122"/>
              </a:rPr>
              <a:t>◦</a:t>
            </a:r>
            <a:r>
              <a:rPr lang="en-US" altLang="zh-CN" sz="2000" b="1" i="1" dirty="0"/>
              <a:t>R</a:t>
            </a:r>
            <a:r>
              <a:rPr lang="en-US" altLang="zh-CN" sz="2000" b="1" dirty="0"/>
              <a:t>(</a:t>
            </a:r>
            <a:r>
              <a:rPr lang="en-US" altLang="zh-CN" sz="2000" b="1" i="1" dirty="0" err="1"/>
              <a:t>x,y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EE8510-2329-AEE7-0D15-4A189B325F1A}"/>
              </a:ext>
            </a:extLst>
          </p:cNvPr>
          <p:cNvSpPr txBox="1"/>
          <p:nvPr/>
        </p:nvSpPr>
        <p:spPr>
          <a:xfrm>
            <a:off x="596046" y="3477554"/>
            <a:ext cx="124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R</a:t>
            </a:r>
            <a:r>
              <a:rPr lang="en-US" altLang="zh-CN" sz="2000" b="1" dirty="0"/>
              <a:t>(</a:t>
            </a:r>
            <a:r>
              <a:rPr lang="en-US" altLang="zh-CN" sz="2000" b="1" i="1" dirty="0" err="1"/>
              <a:t>x,y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8D09AB-F4C8-9C07-7766-260B90B1CCE6}"/>
              </a:ext>
            </a:extLst>
          </p:cNvPr>
          <p:cNvSpPr txBox="1"/>
          <p:nvPr/>
        </p:nvSpPr>
        <p:spPr>
          <a:xfrm>
            <a:off x="5258736" y="5521151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y</a:t>
            </a:r>
            <a:endParaRPr lang="zh-CN" altLang="en-US" sz="2000" b="1" i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C4976F-DEF4-1420-B8B3-04A15E0703D3}"/>
              </a:ext>
            </a:extLst>
          </p:cNvPr>
          <p:cNvSpPr txBox="1"/>
          <p:nvPr/>
        </p:nvSpPr>
        <p:spPr>
          <a:xfrm>
            <a:off x="11121480" y="5684819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y</a:t>
            </a:r>
            <a:endParaRPr lang="zh-CN" altLang="en-US" sz="2000" b="1" i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BCDF11-7FCA-FFE8-D6D6-048792C574C6}"/>
              </a:ext>
            </a:extLst>
          </p:cNvPr>
          <p:cNvSpPr txBox="1"/>
          <p:nvPr/>
        </p:nvSpPr>
        <p:spPr>
          <a:xfrm>
            <a:off x="491882" y="5484764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x</a:t>
            </a:r>
            <a:endParaRPr lang="zh-CN" altLang="en-US" sz="2000" b="1" i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6F426C-4330-B8DE-A7DF-B27548A45804}"/>
              </a:ext>
            </a:extLst>
          </p:cNvPr>
          <p:cNvSpPr txBox="1"/>
          <p:nvPr/>
        </p:nvSpPr>
        <p:spPr>
          <a:xfrm>
            <a:off x="6389721" y="5517232"/>
            <a:ext cx="33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x</a:t>
            </a:r>
            <a:endParaRPr lang="zh-CN" altLang="en-US" sz="2000" b="1" i="1" dirty="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A5317C5D-3271-E3E8-EF07-BFF30DFD5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217978"/>
              </p:ext>
            </p:extLst>
          </p:nvPr>
        </p:nvGraphicFramePr>
        <p:xfrm>
          <a:off x="962661" y="973126"/>
          <a:ext cx="4689698" cy="170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761760" progId="Equation.DSMT4">
                  <p:embed/>
                </p:oleObj>
              </mc:Choice>
              <mc:Fallback>
                <p:oleObj name="Equation" r:id="rId8" imgW="2095200" imgH="761760" progId="Equation.DSMT4">
                  <p:embed/>
                  <p:pic>
                    <p:nvPicPr>
                      <p:cNvPr id="57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1" y="973126"/>
                        <a:ext cx="4689698" cy="170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9FAC74-7D87-495A-9DE3-7A2F7A2BB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23620" y="6328347"/>
            <a:ext cx="620014" cy="457200"/>
          </a:xfrm>
        </p:spPr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0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A11EF-E3F4-30C9-1C42-E39149187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12776"/>
            <a:ext cx="10369152" cy="3600400"/>
          </a:xfrm>
        </p:spPr>
        <p:txBody>
          <a:bodyPr/>
          <a:lstStyle/>
          <a:p>
            <a:r>
              <a:rPr lang="zh-CN" altLang="en-US" sz="3200" b="1" dirty="0"/>
              <a:t>设有一个家庭的子女与父母的长相相似关系为</a:t>
            </a:r>
            <a:r>
              <a:rPr lang="en-US" altLang="zh-CN" sz="3200" b="1" dirty="0"/>
              <a:t>F</a:t>
            </a:r>
            <a:r>
              <a:rPr lang="zh-CN" altLang="en-US" sz="3200" b="1" dirty="0"/>
              <a:t>关系</a:t>
            </a:r>
            <a:r>
              <a:rPr lang="en-US" altLang="zh-CN" sz="3200" b="1" dirty="0"/>
              <a:t>R:</a:t>
            </a:r>
          </a:p>
          <a:p>
            <a:endParaRPr lang="en-US" altLang="zh-CN" sz="2800" b="1" dirty="0"/>
          </a:p>
          <a:p>
            <a:endParaRPr lang="en-US" altLang="zh-CN" b="1" dirty="0"/>
          </a:p>
          <a:p>
            <a:endParaRPr lang="en-US" altLang="zh-CN" sz="2800" b="1" dirty="0"/>
          </a:p>
          <a:p>
            <a:r>
              <a:rPr lang="zh-CN" altLang="en-US" sz="3200" b="1" dirty="0"/>
              <a:t>而父亲与其</a:t>
            </a:r>
            <a:r>
              <a:rPr lang="zh-CN" altLang="en-US" sz="3200" b="1" dirty="0">
                <a:solidFill>
                  <a:srgbClr val="3333FF"/>
                </a:solidFill>
              </a:rPr>
              <a:t>父亲的父亲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和</a:t>
            </a:r>
            <a:r>
              <a:rPr lang="zh-CN" altLang="en-US" sz="3200" b="1" dirty="0">
                <a:solidFill>
                  <a:srgbClr val="3333FF"/>
                </a:solidFill>
              </a:rPr>
              <a:t>父亲的母亲</a:t>
            </a:r>
            <a:r>
              <a:rPr lang="zh-CN" altLang="en-US" sz="3200" b="1" dirty="0"/>
              <a:t>、母亲与其</a:t>
            </a:r>
            <a:r>
              <a:rPr lang="zh-CN" altLang="en-US" sz="3200" b="1" dirty="0">
                <a:solidFill>
                  <a:srgbClr val="FF00FF"/>
                </a:solidFill>
              </a:rPr>
              <a:t>母亲的父亲</a:t>
            </a:r>
            <a:r>
              <a:rPr lang="zh-CN" altLang="en-US" sz="3200" b="1" dirty="0"/>
              <a:t>和</a:t>
            </a:r>
            <a:r>
              <a:rPr lang="zh-CN" altLang="en-US" sz="3200" b="1" dirty="0">
                <a:solidFill>
                  <a:srgbClr val="FF00FF"/>
                </a:solidFill>
              </a:rPr>
              <a:t>母亲的母亲</a:t>
            </a:r>
            <a:r>
              <a:rPr lang="zh-CN" altLang="en-US" sz="3200" b="1" dirty="0"/>
              <a:t>相似关系</a:t>
            </a:r>
            <a:r>
              <a:rPr lang="en-US" altLang="zh-CN" sz="3200" b="1" dirty="0"/>
              <a:t>S</a:t>
            </a:r>
            <a:r>
              <a:rPr lang="zh-CN" altLang="en-US" sz="3200" b="1" dirty="0"/>
              <a:t>也是</a:t>
            </a:r>
            <a:r>
              <a:rPr lang="en-US" altLang="zh-CN" sz="3200" b="1" dirty="0"/>
              <a:t>F</a:t>
            </a:r>
            <a:r>
              <a:rPr lang="zh-CN" altLang="en-US" sz="3200" b="1" dirty="0"/>
              <a:t>关系</a:t>
            </a:r>
            <a:r>
              <a:rPr lang="en-US" altLang="zh-CN" sz="3200" b="1" dirty="0"/>
              <a:t>S:</a:t>
            </a:r>
            <a:endParaRPr lang="zh-CN" altLang="en-US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276F3FD-6293-EF7D-CDF2-217A147EA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6384" y="18864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关系合成举例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en-US" altLang="zh-CN" sz="3600" dirty="0">
              <a:ea typeface="黑体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896AA59-F5F5-67ED-9718-62FAD3E01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71870"/>
              </p:ext>
            </p:extLst>
          </p:nvPr>
        </p:nvGraphicFramePr>
        <p:xfrm>
          <a:off x="3935761" y="2276128"/>
          <a:ext cx="4608513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171">
                  <a:extLst>
                    <a:ext uri="{9D8B030D-6E8A-4147-A177-3AD203B41FA5}">
                      <a16:colId xmlns:a16="http://schemas.microsoft.com/office/drawing/2014/main" val="489277954"/>
                    </a:ext>
                  </a:extLst>
                </a:gridCol>
                <a:gridCol w="1536171">
                  <a:extLst>
                    <a:ext uri="{9D8B030D-6E8A-4147-A177-3AD203B41FA5}">
                      <a16:colId xmlns:a16="http://schemas.microsoft.com/office/drawing/2014/main" val="328073437"/>
                    </a:ext>
                  </a:extLst>
                </a:gridCol>
                <a:gridCol w="1536171">
                  <a:extLst>
                    <a:ext uri="{9D8B030D-6E8A-4147-A177-3AD203B41FA5}">
                      <a16:colId xmlns:a16="http://schemas.microsoft.com/office/drawing/2014/main" val="757476970"/>
                    </a:ext>
                  </a:extLst>
                </a:gridCol>
              </a:tblGrid>
              <a:tr h="3162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R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FF"/>
                          </a:solidFill>
                        </a:rPr>
                        <a:t>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318178"/>
                  </a:ext>
                </a:extLst>
              </a:tr>
              <a:tr h="3162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子</a:t>
                      </a:r>
                      <a:r>
                        <a:rPr lang="en-US" altLang="zh-CN" sz="2400" b="1" dirty="0"/>
                        <a:t> 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0.8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0.1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10963"/>
                  </a:ext>
                </a:extLst>
              </a:tr>
              <a:tr h="3162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057939"/>
                          </a:solidFill>
                        </a:rPr>
                        <a:t>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0.6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43012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5784602-CA05-39D4-36C5-19E638E46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73479"/>
              </p:ext>
            </p:extLst>
          </p:nvPr>
        </p:nvGraphicFramePr>
        <p:xfrm>
          <a:off x="1487490" y="5043264"/>
          <a:ext cx="9145014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1033655068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30983512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01081436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962059723"/>
                    </a:ext>
                  </a:extLst>
                </a:gridCol>
                <a:gridCol w="2016222">
                  <a:extLst>
                    <a:ext uri="{9D8B030D-6E8A-4147-A177-3AD203B41FA5}">
                      <a16:colId xmlns:a16="http://schemas.microsoft.com/office/drawing/2014/main" val="2555454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S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3333FF"/>
                          </a:solidFill>
                        </a:rPr>
                        <a:t>父亲的父亲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3333FF"/>
                          </a:solidFill>
                        </a:rPr>
                        <a:t>父亲的母亲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FF00FF"/>
                          </a:solidFill>
                        </a:rPr>
                        <a:t>母亲的父亲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FF00FF"/>
                          </a:solidFill>
                        </a:rPr>
                        <a:t>母亲的母亲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33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3333FF"/>
                          </a:solidFill>
                        </a:rPr>
                        <a:t>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0.7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0.2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0.0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0.0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91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FF00FF"/>
                          </a:solidFill>
                        </a:rPr>
                        <a:t>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0.0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0.0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0.4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0.8</a:t>
                      </a:r>
                      <a:endParaRPr lang="zh-CN" alt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156513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978534-B6C9-12DF-FF7E-69CD820DC3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18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07741-EB50-F7E8-A1D0-B850BBBE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3E7981-1F4E-4509-328B-54FEE05F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412776"/>
            <a:ext cx="9721080" cy="1008112"/>
          </a:xfrm>
        </p:spPr>
        <p:txBody>
          <a:bodyPr/>
          <a:lstStyle/>
          <a:p>
            <a:r>
              <a:rPr lang="zh-CN" altLang="en-US" sz="3200" b="1" dirty="0"/>
              <a:t>则子女与</a:t>
            </a:r>
            <a:r>
              <a:rPr lang="zh-CN" altLang="en-US" sz="3200" b="1" dirty="0">
                <a:solidFill>
                  <a:srgbClr val="FF0000"/>
                </a:solidFill>
              </a:rPr>
              <a:t>爷爷奶奶</a:t>
            </a:r>
            <a:r>
              <a:rPr lang="zh-CN" altLang="en-US" sz="3200" b="1" dirty="0"/>
              <a:t>的长相相似关系便是</a:t>
            </a:r>
            <a:r>
              <a:rPr lang="en-US" altLang="zh-CN" sz="3200" b="1" dirty="0"/>
              <a:t>F</a:t>
            </a:r>
            <a:r>
              <a:rPr lang="zh-CN" altLang="en-US" sz="3200" b="1" dirty="0"/>
              <a:t>关系</a:t>
            </a:r>
            <a:r>
              <a:rPr lang="en-US" altLang="zh-CN" sz="3200" b="1" dirty="0"/>
              <a:t>R</a:t>
            </a:r>
            <a:r>
              <a:rPr lang="zh-CN" altLang="en-US" sz="3200" b="1" dirty="0"/>
              <a:t>与</a:t>
            </a:r>
            <a:r>
              <a:rPr lang="en-US" altLang="zh-CN" sz="3200" b="1" dirty="0"/>
              <a:t> S</a:t>
            </a:r>
            <a:r>
              <a:rPr lang="zh-CN" altLang="en-US" sz="3200" b="1" dirty="0"/>
              <a:t>的合成：</a:t>
            </a:r>
            <a:endParaRPr lang="en-US" altLang="zh-CN" sz="32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AF5131-26E6-78E8-E135-5FF54A7C7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6384" y="18864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关系合成举例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en-US" altLang="zh-CN" sz="3600" dirty="0">
              <a:ea typeface="黑体" pitchFamily="2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0A68DEA-F758-C141-EABB-2CF08F6E9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514644"/>
              </p:ext>
            </p:extLst>
          </p:nvPr>
        </p:nvGraphicFramePr>
        <p:xfrm>
          <a:off x="1559496" y="2420939"/>
          <a:ext cx="5037138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457200" progId="Equation.DSMT4">
                  <p:embed/>
                </p:oleObj>
              </mc:Choice>
              <mc:Fallback>
                <p:oleObj name="Equation" r:id="rId2" imgW="2577960" imgH="4572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2420939"/>
                        <a:ext cx="5037138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A563704-A592-8AF0-B0FB-C01E999B85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256038"/>
              </p:ext>
            </p:extLst>
          </p:nvPr>
        </p:nvGraphicFramePr>
        <p:xfrm>
          <a:off x="2181599" y="3515743"/>
          <a:ext cx="5992353" cy="2034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939600" progId="Equation.DSMT4">
                  <p:embed/>
                </p:oleObj>
              </mc:Choice>
              <mc:Fallback>
                <p:oleObj name="Equation" r:id="rId4" imgW="2958840" imgH="939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0A68DEA-F758-C141-EABB-2CF08F6E9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599" y="3515743"/>
                        <a:ext cx="5992353" cy="2034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EE3B9A1-BACA-9115-982D-2F8050A93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725934"/>
              </p:ext>
            </p:extLst>
          </p:nvPr>
        </p:nvGraphicFramePr>
        <p:xfrm>
          <a:off x="8173952" y="4568399"/>
          <a:ext cx="2903538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457200" progId="Equation.DSMT4">
                  <p:embed/>
                </p:oleObj>
              </mc:Choice>
              <mc:Fallback>
                <p:oleObj name="Equation" r:id="rId6" imgW="1485720" imgH="4572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0A68DEA-F758-C141-EABB-2CF08F6E9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3952" y="4568399"/>
                        <a:ext cx="2903538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CB15195-BE02-8845-F798-D3A15E7E6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27667"/>
              </p:ext>
            </p:extLst>
          </p:nvPr>
        </p:nvGraphicFramePr>
        <p:xfrm>
          <a:off x="1986384" y="5474936"/>
          <a:ext cx="860445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033655068"/>
                    </a:ext>
                  </a:extLst>
                </a:gridCol>
                <a:gridCol w="2073628">
                  <a:extLst>
                    <a:ext uri="{9D8B030D-6E8A-4147-A177-3AD203B41FA5}">
                      <a16:colId xmlns:a16="http://schemas.microsoft.com/office/drawing/2014/main" val="2309835123"/>
                    </a:ext>
                  </a:extLst>
                </a:gridCol>
                <a:gridCol w="1720890">
                  <a:extLst>
                    <a:ext uri="{9D8B030D-6E8A-4147-A177-3AD203B41FA5}">
                      <a16:colId xmlns:a16="http://schemas.microsoft.com/office/drawing/2014/main" val="1010814361"/>
                    </a:ext>
                  </a:extLst>
                </a:gridCol>
                <a:gridCol w="1720890">
                  <a:extLst>
                    <a:ext uri="{9D8B030D-6E8A-4147-A177-3AD203B41FA5}">
                      <a16:colId xmlns:a16="http://schemas.microsoft.com/office/drawing/2014/main" val="3962059723"/>
                    </a:ext>
                  </a:extLst>
                </a:gridCol>
                <a:gridCol w="1720890">
                  <a:extLst>
                    <a:ext uri="{9D8B030D-6E8A-4147-A177-3AD203B41FA5}">
                      <a16:colId xmlns:a16="http://schemas.microsoft.com/office/drawing/2014/main" val="2555454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R</a:t>
                      </a:r>
                      <a:r>
                        <a:rPr lang="en-US" altLang="zh-CN" sz="2400" b="1" dirty="0">
                          <a:solidFill>
                            <a:srgbClr val="EE0006"/>
                          </a:solidFill>
                        </a:rPr>
                        <a:t>◦</a:t>
                      </a:r>
                      <a:r>
                        <a:rPr lang="en-US" altLang="zh-CN" sz="2400" b="1" dirty="0"/>
                        <a:t>S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父亲的父亲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父亲的母亲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FF"/>
                          </a:solidFill>
                        </a:rPr>
                        <a:t>母亲的父亲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FF"/>
                          </a:solidFill>
                        </a:rPr>
                        <a:t>母亲的母亲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33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0.7</a:t>
                      </a:r>
                      <a:endParaRPr lang="zh-CN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0.1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0.1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91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057939"/>
                          </a:solidFill>
                        </a:rPr>
                        <a:t>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0.4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57939"/>
                          </a:solidFill>
                        </a:rPr>
                        <a:t>0.6</a:t>
                      </a:r>
                      <a:endParaRPr lang="zh-CN" altLang="en-US" sz="2400" b="1" dirty="0">
                        <a:solidFill>
                          <a:srgbClr val="057939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56513"/>
                  </a:ext>
                </a:extLst>
              </a:tr>
            </a:tbl>
          </a:graphicData>
        </a:graphic>
      </p:graphicFrame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36AB2A69-733B-FF0E-A053-678460CDDC4E}"/>
              </a:ext>
            </a:extLst>
          </p:cNvPr>
          <p:cNvSpPr/>
          <p:nvPr/>
        </p:nvSpPr>
        <p:spPr>
          <a:xfrm>
            <a:off x="8264128" y="2420888"/>
            <a:ext cx="3791744" cy="1556219"/>
          </a:xfrm>
          <a:prstGeom prst="wedgeRectCallout">
            <a:avLst>
              <a:gd name="adj1" fmla="val -35301"/>
              <a:gd name="adj2" fmla="val 85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由此可见，</a:t>
            </a:r>
            <a:endParaRPr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儿子长相像父亲的父亲</a:t>
            </a:r>
            <a:endParaRPr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女儿长相像母亲的母亲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9144F8-3BAD-B3E5-B9DB-750703068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941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关系合成的性质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(1)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1127646" y="1341439"/>
            <a:ext cx="84248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[</a:t>
            </a:r>
            <a:r>
              <a:rPr kumimoji="1" lang="zh-CN" altLang="en-US" sz="3200" b="1" dirty="0">
                <a:latin typeface="Times New Roman" pitchFamily="18" charset="0"/>
              </a:rPr>
              <a:t>性质</a:t>
            </a:r>
            <a:r>
              <a:rPr kumimoji="1" lang="en-US" altLang="zh-CN" sz="3200" b="1" dirty="0">
                <a:latin typeface="Times New Roman" pitchFamily="18" charset="0"/>
              </a:rPr>
              <a:t>1]</a:t>
            </a:r>
            <a:r>
              <a:rPr kumimoji="1" lang="zh-CN" altLang="en-US" sz="3200" b="1" dirty="0">
                <a:latin typeface="Times New Roman" pitchFamily="18" charset="0"/>
              </a:rPr>
              <a:t>：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(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Q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i="1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)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S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=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Q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(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R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)       </a:t>
            </a:r>
            <a:r>
              <a:rPr kumimoji="1" lang="en-US" altLang="zh-CN" sz="3200" b="1" dirty="0">
                <a:solidFill>
                  <a:srgbClr val="CC00CC"/>
                </a:solidFill>
                <a:latin typeface="Times New Roman" pitchFamily="18" charset="0"/>
              </a:rPr>
              <a:t>(</a:t>
            </a:r>
            <a:r>
              <a:rPr kumimoji="1" lang="zh-CN" altLang="en-US" sz="2800" b="1" dirty="0">
                <a:solidFill>
                  <a:srgbClr val="CC00CC"/>
                </a:solidFill>
                <a:latin typeface="Times New Roman" pitchFamily="18" charset="0"/>
              </a:rPr>
              <a:t>结合律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</a:rPr>
              <a:t>)</a:t>
            </a:r>
          </a:p>
        </p:txBody>
      </p:sp>
      <p:graphicFrame>
        <p:nvGraphicFramePr>
          <p:cNvPr id="6246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223246"/>
              </p:ext>
            </p:extLst>
          </p:nvPr>
        </p:nvGraphicFramePr>
        <p:xfrm>
          <a:off x="1992139" y="3230564"/>
          <a:ext cx="748823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30240" imgH="266400" progId="Equation.DSMT4">
                  <p:embed/>
                </p:oleObj>
              </mc:Choice>
              <mc:Fallback>
                <p:oleObj name="Equation" r:id="rId3" imgW="2730240" imgH="266400" progId="Equation.DSMT4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139" y="3230564"/>
                        <a:ext cx="7488237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199455" y="1988841"/>
            <a:ext cx="8532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EE00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</a:t>
            </a:r>
            <a:r>
              <a:rPr lang="zh-CN" altLang="en-US" sz="3200" dirty="0"/>
              <a:t>：</a:t>
            </a:r>
            <a:r>
              <a:rPr lang="zh-CN" altLang="en-US" sz="3200" b="1" dirty="0"/>
              <a:t>设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 </a:t>
            </a:r>
            <a:r>
              <a:rPr lang="en-US" altLang="zh-CN" sz="3200" b="1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sym typeface="Symbol" panose="05050102010706020507" pitchFamily="18" charset="2"/>
              </a:rPr>
              <a:t>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),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sz="3200" b="1" dirty="0">
                <a:sym typeface="Symbol" panose="05050102010706020507" pitchFamily="18" charset="2"/>
              </a:rPr>
              <a:t>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),</a:t>
            </a:r>
            <a:r>
              <a:rPr lang="en-US" altLang="zh-CN" sz="3200" b="1" i="1" dirty="0"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sz="3200" b="1" dirty="0">
                <a:sym typeface="Symbol" panose="05050102010706020507" pitchFamily="18" charset="2"/>
              </a:rPr>
              <a:t>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en-US" altLang="zh-CN" sz="3200" b="1" dirty="0"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sz="3200" b="1" dirty="0">
                <a:ea typeface="黑体" pitchFamily="2" charset="-122"/>
                <a:sym typeface="Symbol" pitchFamily="18" charset="2"/>
              </a:rPr>
              <a:t>，</a:t>
            </a:r>
            <a:endParaRPr lang="zh-CN" alt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063552" y="2584566"/>
            <a:ext cx="5608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因为对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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x,w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</a:t>
            </a:r>
            <a:r>
              <a:rPr lang="en-US" altLang="zh-CN" sz="32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sym typeface="Symbol" panose="05050102010706020507" pitchFamily="18" charset="2"/>
              </a:rPr>
              <a:t>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sz="3200" b="1" dirty="0">
                <a:ea typeface="黑体" pitchFamily="2" charset="-122"/>
                <a:sym typeface="Symbol" pitchFamily="18" charset="2"/>
              </a:rPr>
              <a:t>，则</a:t>
            </a:r>
            <a:r>
              <a:rPr lang="zh-CN" altLang="en-US" sz="3200" b="1" dirty="0"/>
              <a:t> </a:t>
            </a:r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17756626"/>
              </p:ext>
            </p:extLst>
          </p:nvPr>
        </p:nvGraphicFramePr>
        <p:xfrm>
          <a:off x="4961632" y="3933826"/>
          <a:ext cx="59150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45960" imgH="291960" progId="Equation.DSMT4">
                  <p:embed/>
                </p:oleObj>
              </mc:Choice>
              <mc:Fallback>
                <p:oleObj name="Equation" r:id="rId5" imgW="2145960" imgH="291960" progId="Equation.DSMT4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1632" y="3933826"/>
                        <a:ext cx="59150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72752057"/>
              </p:ext>
            </p:extLst>
          </p:nvPr>
        </p:nvGraphicFramePr>
        <p:xfrm>
          <a:off x="5015880" y="4713958"/>
          <a:ext cx="563403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44440" imgH="291960" progId="Equation.DSMT4">
                  <p:embed/>
                </p:oleObj>
              </mc:Choice>
              <mc:Fallback>
                <p:oleObj name="Equation" r:id="rId7" imgW="2044440" imgH="291960" progId="Equation.DSMT4">
                  <p:embed/>
                  <p:pic>
                    <p:nvPicPr>
                      <p:cNvPr id="4" name="对象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4713958"/>
                        <a:ext cx="563403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19113283"/>
              </p:ext>
            </p:extLst>
          </p:nvPr>
        </p:nvGraphicFramePr>
        <p:xfrm>
          <a:off x="5007099" y="5434014"/>
          <a:ext cx="591343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45960" imgH="291960" progId="Equation.DSMT4">
                  <p:embed/>
                </p:oleObj>
              </mc:Choice>
              <mc:Fallback>
                <p:oleObj name="Equation" r:id="rId9" imgW="2145960" imgH="291960" progId="Equation.DSMT4">
                  <p:embed/>
                  <p:pic>
                    <p:nvPicPr>
                      <p:cNvPr id="5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7099" y="5434014"/>
                        <a:ext cx="591343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3058169"/>
              </p:ext>
            </p:extLst>
          </p:nvPr>
        </p:nvGraphicFramePr>
        <p:xfrm>
          <a:off x="1876252" y="6167438"/>
          <a:ext cx="29956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03040" progId="Equation.DSMT4">
                  <p:embed/>
                </p:oleObj>
              </mc:Choice>
              <mc:Fallback>
                <p:oleObj name="Equation" r:id="rId11" imgW="1091880" imgH="203040" progId="Equation.DSMT4">
                  <p:embed/>
                  <p:pic>
                    <p:nvPicPr>
                      <p:cNvPr id="7" name="对象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252" y="6167438"/>
                        <a:ext cx="29956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3FE0F31-367F-66DE-2CD6-FE06562C86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309FC91-B9FE-3784-8358-34DE590512B0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52213443"/>
              </p:ext>
            </p:extLst>
          </p:nvPr>
        </p:nvGraphicFramePr>
        <p:xfrm>
          <a:off x="5015880" y="6165850"/>
          <a:ext cx="46529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88760" imgH="291960" progId="Equation.DSMT4">
                  <p:embed/>
                </p:oleObj>
              </mc:Choice>
              <mc:Fallback>
                <p:oleObj name="Equation" r:id="rId13" imgW="1688760" imgH="291960" progId="Equation.DSMT4">
                  <p:embed/>
                  <p:pic>
                    <p:nvPicPr>
                      <p:cNvPr id="5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6165850"/>
                        <a:ext cx="46529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636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关系合成的性质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(2)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1343472" y="1341439"/>
            <a:ext cx="8424863" cy="531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[</a:t>
            </a:r>
            <a:r>
              <a:rPr kumimoji="1" lang="zh-CN" altLang="en-US" sz="3200" b="1" dirty="0">
                <a:latin typeface="Times New Roman" pitchFamily="18" charset="0"/>
              </a:rPr>
              <a:t>性质</a:t>
            </a:r>
            <a:r>
              <a:rPr kumimoji="1" lang="en-US" altLang="zh-CN" sz="3200" b="1" dirty="0">
                <a:latin typeface="Times New Roman" pitchFamily="18" charset="0"/>
              </a:rPr>
              <a:t>1]</a:t>
            </a:r>
            <a:r>
              <a:rPr kumimoji="1" lang="zh-CN" altLang="en-US" sz="3200" b="1" dirty="0">
                <a:latin typeface="Times New Roman" pitchFamily="18" charset="0"/>
              </a:rPr>
              <a:t>：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 (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Q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i="1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)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S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=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Q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(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R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)       </a:t>
            </a:r>
            <a:r>
              <a:rPr kumimoji="1" lang="en-US" altLang="zh-CN" sz="3200" b="1" dirty="0">
                <a:solidFill>
                  <a:srgbClr val="CC00CC"/>
                </a:solidFill>
                <a:latin typeface="Times New Roman" pitchFamily="18" charset="0"/>
              </a:rPr>
              <a:t>(</a:t>
            </a:r>
            <a:r>
              <a:rPr kumimoji="1" lang="zh-CN" altLang="en-US" sz="2800" b="1" dirty="0">
                <a:solidFill>
                  <a:srgbClr val="CC00CC"/>
                </a:solidFill>
                <a:latin typeface="Times New Roman" pitchFamily="18" charset="0"/>
              </a:rPr>
              <a:t>结合律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</a:rPr>
              <a:t>)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[</a:t>
            </a:r>
            <a:r>
              <a:rPr kumimoji="1" lang="zh-CN" altLang="en-US" sz="3200" b="1" dirty="0">
                <a:solidFill>
                  <a:schemeClr val="bg2"/>
                </a:solidFill>
                <a:latin typeface="Times New Roman" pitchFamily="18" charset="0"/>
              </a:rPr>
              <a:t>推 论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]</a:t>
            </a:r>
            <a:r>
              <a:rPr kumimoji="1" lang="zh-CN" altLang="en-US" sz="3200" b="1" dirty="0">
                <a:solidFill>
                  <a:schemeClr val="bg2"/>
                </a:solidFill>
                <a:latin typeface="Times New Roman" pitchFamily="18" charset="0"/>
              </a:rPr>
              <a:t>： </a:t>
            </a:r>
            <a:r>
              <a:rPr kumimoji="1" lang="en-US" altLang="zh-CN" sz="3200" b="1" i="1" dirty="0" err="1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solidFill>
                  <a:schemeClr val="bg2"/>
                </a:solidFill>
                <a:latin typeface="Times New Roman" pitchFamily="18" charset="0"/>
              </a:rPr>
              <a:t>m</a:t>
            </a:r>
            <a:r>
              <a:rPr kumimoji="1" lang="en-US" altLang="zh-CN" sz="3200" b="1" i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en-US" altLang="zh-CN" sz="3200" b="1" dirty="0"/>
              <a:t>◦</a:t>
            </a:r>
            <a:r>
              <a:rPr kumimoji="1" lang="en-US" altLang="zh-CN" dirty="0"/>
              <a:t> </a:t>
            </a:r>
            <a:r>
              <a:rPr kumimoji="1" lang="en-US" altLang="zh-CN" sz="3200" b="1" i="1" dirty="0" err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solidFill>
                  <a:schemeClr val="bg2"/>
                </a:solidFill>
                <a:latin typeface="Times New Roman" pitchFamily="18" charset="0"/>
              </a:rPr>
              <a:t>n</a:t>
            </a:r>
            <a:r>
              <a:rPr kumimoji="1" lang="en-US" altLang="zh-CN" sz="3200" b="1" i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=</a:t>
            </a:r>
            <a:r>
              <a:rPr kumimoji="1" lang="en-US" altLang="zh-CN" sz="3200" b="1" i="1" dirty="0" err="1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solidFill>
                  <a:schemeClr val="bg2"/>
                </a:solidFill>
                <a:latin typeface="Times New Roman" pitchFamily="18" charset="0"/>
              </a:rPr>
              <a:t>m+n</a:t>
            </a:r>
            <a:r>
              <a:rPr kumimoji="1" lang="zh-CN" altLang="en-US" sz="3200" b="1" dirty="0">
                <a:solidFill>
                  <a:schemeClr val="bg2"/>
                </a:solidFill>
                <a:latin typeface="Times New Roman" pitchFamily="18" charset="0"/>
              </a:rPr>
              <a:t>，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kumimoji="1" lang="en-US" altLang="zh-CN" sz="3200" b="1" i="1" dirty="0" err="1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solidFill>
                  <a:schemeClr val="bg2"/>
                </a:solidFill>
                <a:latin typeface="Times New Roman" pitchFamily="18" charset="0"/>
              </a:rPr>
              <a:t>m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  <a:r>
              <a:rPr kumimoji="1" lang="en-US" altLang="zh-CN" sz="3200" b="1" i="1" baseline="30000" dirty="0">
                <a:solidFill>
                  <a:schemeClr val="bg2"/>
                </a:solidFill>
                <a:latin typeface="Times New Roman" pitchFamily="18" charset="0"/>
              </a:rPr>
              <a:t>n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 = </a:t>
            </a:r>
            <a:r>
              <a:rPr kumimoji="1" lang="en-US" altLang="zh-CN" sz="3200" b="1" i="1" dirty="0" err="1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solidFill>
                  <a:schemeClr val="bg2"/>
                </a:solidFill>
                <a:latin typeface="Times New Roman" pitchFamily="18" charset="0"/>
              </a:rPr>
              <a:t>mn</a:t>
            </a:r>
            <a:r>
              <a:rPr kumimoji="1" lang="zh-CN" altLang="en-US" sz="3200" b="1" dirty="0">
                <a:solidFill>
                  <a:schemeClr val="bg2"/>
                </a:solidFill>
                <a:latin typeface="Times New Roman" pitchFamily="18" charset="0"/>
              </a:rPr>
              <a:t>；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[</a:t>
            </a:r>
            <a:r>
              <a:rPr kumimoji="1" lang="zh-CN" altLang="en-US" sz="3200" b="1" dirty="0">
                <a:latin typeface="Times New Roman" pitchFamily="18" charset="0"/>
              </a:rPr>
              <a:t>性质</a:t>
            </a:r>
            <a:r>
              <a:rPr kumimoji="1" lang="en-US" altLang="zh-CN" sz="3200" b="1" dirty="0">
                <a:latin typeface="Times New Roman" pitchFamily="18" charset="0"/>
              </a:rPr>
              <a:t>2]</a:t>
            </a:r>
            <a:r>
              <a:rPr kumimoji="1" lang="zh-CN" altLang="en-US" sz="3200" b="1" dirty="0">
                <a:latin typeface="Times New Roman" pitchFamily="18" charset="0"/>
              </a:rPr>
              <a:t>：</a:t>
            </a:r>
            <a:r>
              <a:rPr kumimoji="1" lang="en-US" altLang="zh-CN" sz="3200" b="1" i="1" dirty="0">
                <a:latin typeface="Times New Roman" pitchFamily="18" charset="0"/>
              </a:rPr>
              <a:t>O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zh-CN" sz="3200" b="1" i="1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</a:rPr>
              <a:t>= </a:t>
            </a:r>
            <a:r>
              <a:rPr kumimoji="1" lang="en-US" altLang="zh-CN" sz="3200" b="1" i="1" dirty="0">
                <a:latin typeface="Times New Roman" pitchFamily="18" charset="0"/>
              </a:rPr>
              <a:t>R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i="1" dirty="0">
                <a:latin typeface="Times New Roman" pitchFamily="18" charset="0"/>
              </a:rPr>
              <a:t>O </a:t>
            </a:r>
            <a:r>
              <a:rPr kumimoji="1" lang="en-US" altLang="zh-CN" sz="3200" b="1" dirty="0">
                <a:latin typeface="Times New Roman" pitchFamily="18" charset="0"/>
              </a:rPr>
              <a:t>= </a:t>
            </a:r>
            <a:r>
              <a:rPr kumimoji="1" lang="en-US" altLang="zh-CN" sz="3200" b="1" i="1" dirty="0">
                <a:latin typeface="Times New Roman" pitchFamily="18" charset="0"/>
              </a:rPr>
              <a:t>O</a:t>
            </a:r>
            <a:r>
              <a:rPr kumimoji="1" lang="zh-CN" altLang="en-US" sz="3200" b="1" dirty="0">
                <a:latin typeface="Times New Roman" pitchFamily="18" charset="0"/>
              </a:rPr>
              <a:t>，</a:t>
            </a:r>
            <a:r>
              <a:rPr kumimoji="1" lang="en-US" altLang="zh-CN" sz="3200" b="1" i="1" dirty="0">
                <a:latin typeface="Times New Roman" pitchFamily="18" charset="0"/>
              </a:rPr>
              <a:t>I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zh-CN" sz="3200" b="1" dirty="0">
                <a:latin typeface="Times New Roman" pitchFamily="18" charset="0"/>
              </a:rPr>
              <a:t>=</a:t>
            </a:r>
            <a:r>
              <a:rPr kumimoji="1" lang="en-US" altLang="zh-CN" sz="3200" b="1" i="1" dirty="0">
                <a:latin typeface="Times New Roman" pitchFamily="18" charset="0"/>
              </a:rPr>
              <a:t>R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i="1" dirty="0">
                <a:latin typeface="Times New Roman" pitchFamily="18" charset="0"/>
              </a:rPr>
              <a:t>I</a:t>
            </a:r>
            <a:r>
              <a:rPr kumimoji="1" lang="en-US" altLang="zh-CN" sz="3200" b="1" dirty="0">
                <a:latin typeface="Times New Roman" pitchFamily="18" charset="0"/>
              </a:rPr>
              <a:t>=</a:t>
            </a:r>
            <a:r>
              <a:rPr kumimoji="1" lang="en-US" altLang="zh-CN" sz="3200" b="1" i="1" dirty="0">
                <a:latin typeface="Times New Roman" pitchFamily="18" charset="0"/>
              </a:rPr>
              <a:t>R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800" b="1" dirty="0">
                <a:latin typeface="Times New Roman" pitchFamily="18" charset="0"/>
              </a:rPr>
              <a:t>其中：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O </a:t>
            </a:r>
            <a:r>
              <a:rPr kumimoji="1" lang="zh-CN" altLang="en-US" sz="3200" b="1" dirty="0">
                <a:solidFill>
                  <a:srgbClr val="EE0006"/>
                </a:solidFill>
                <a:latin typeface="Times New Roman" pitchFamily="18" charset="0"/>
              </a:rPr>
              <a:t>为零关系</a:t>
            </a:r>
            <a:r>
              <a:rPr kumimoji="1" lang="zh-CN" altLang="en-US" sz="3200" b="1" dirty="0">
                <a:latin typeface="Times New Roman" pitchFamily="18" charset="0"/>
              </a:rPr>
              <a:t>： </a:t>
            </a:r>
            <a:r>
              <a:rPr kumimoji="1" lang="en-US" altLang="zh-CN" sz="3200" b="1" i="1" dirty="0">
                <a:latin typeface="Times New Roman" pitchFamily="18" charset="0"/>
              </a:rPr>
              <a:t>O</a:t>
            </a:r>
            <a:r>
              <a:rPr kumimoji="1" lang="en-US" altLang="zh-CN" sz="3200" b="1" dirty="0">
                <a:latin typeface="Times New Roman" pitchFamily="18" charset="0"/>
              </a:rPr>
              <a:t> (</a:t>
            </a:r>
            <a:r>
              <a:rPr kumimoji="1" lang="en-US" altLang="zh-CN" sz="3200" b="1" dirty="0" err="1">
                <a:latin typeface="Times New Roman" pitchFamily="18" charset="0"/>
              </a:rPr>
              <a:t>u,v</a:t>
            </a:r>
            <a:r>
              <a:rPr kumimoji="1" lang="en-US" altLang="zh-CN" sz="3200" b="1" dirty="0">
                <a:latin typeface="Times New Roman" pitchFamily="18" charset="0"/>
              </a:rPr>
              <a:t>)=</a:t>
            </a:r>
            <a:r>
              <a:rPr kumimoji="1" lang="en-US" altLang="zh-CN" sz="3200" b="1" i="1" dirty="0">
                <a:latin typeface="Times New Roman" pitchFamily="18" charset="0"/>
              </a:rPr>
              <a:t>O</a:t>
            </a:r>
            <a:r>
              <a:rPr kumimoji="1" lang="en-US" altLang="zh-CN" b="1" dirty="0">
                <a:latin typeface="Times New Roman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i="1" dirty="0">
                <a:latin typeface="Times New Roman" pitchFamily="18" charset="0"/>
              </a:rPr>
              <a:t>            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</a:rPr>
              <a:t>I  </a:t>
            </a:r>
            <a:r>
              <a:rPr kumimoji="1" lang="zh-CN" altLang="en-US" sz="3200" b="1" dirty="0">
                <a:solidFill>
                  <a:srgbClr val="EE0006"/>
                </a:solidFill>
                <a:latin typeface="Times New Roman" pitchFamily="18" charset="0"/>
              </a:rPr>
              <a:t>为恒等关系</a:t>
            </a:r>
            <a:r>
              <a:rPr kumimoji="1" lang="zh-CN" altLang="en-US" sz="3200" b="1" dirty="0">
                <a:latin typeface="Times New Roman" pitchFamily="18" charset="0"/>
              </a:rPr>
              <a:t>：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kumimoji="1" lang="zh-CN" altLang="en-US" sz="60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[</a:t>
            </a:r>
            <a:r>
              <a:rPr kumimoji="1" lang="zh-CN" altLang="en-US" sz="3200" b="1" dirty="0">
                <a:latin typeface="Times New Roman" pitchFamily="18" charset="0"/>
              </a:rPr>
              <a:t>性质</a:t>
            </a:r>
            <a:r>
              <a:rPr kumimoji="1" lang="en-US" altLang="zh-CN" sz="3200" b="1" dirty="0">
                <a:latin typeface="Times New Roman" pitchFamily="18" charset="0"/>
              </a:rPr>
              <a:t>3]</a:t>
            </a:r>
            <a:r>
              <a:rPr kumimoji="1" lang="zh-CN" altLang="en-US" sz="3200" b="1" dirty="0">
                <a:latin typeface="Times New Roman" pitchFamily="18" charset="0"/>
              </a:rPr>
              <a:t>：</a:t>
            </a:r>
            <a:r>
              <a:rPr kumimoji="1" lang="en-US" altLang="zh-CN" sz="3200" b="1" i="1" dirty="0">
                <a:latin typeface="Times New Roman" pitchFamily="18" charset="0"/>
              </a:rPr>
              <a:t>Q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kumimoji="1" lang="en-US" altLang="zh-CN" sz="3600" b="1" dirty="0">
                <a:latin typeface="Times New Roman" pitchFamily="18" charset="0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</a:rPr>
              <a:t>R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 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Q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</a:rPr>
              <a:t> R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800" b="1" dirty="0">
                <a:solidFill>
                  <a:srgbClr val="3333FF"/>
                </a:solidFill>
              </a:rPr>
              <a:t>单调性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)</a:t>
            </a:r>
            <a:endParaRPr kumimoji="1" lang="en-US" altLang="zh-CN" sz="4400" b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latin typeface="Times New Roman" pitchFamily="18" charset="0"/>
              </a:rPr>
              <a:t>                 Q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</a:rPr>
              <a:t>R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    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i="1" dirty="0" err="1">
                <a:latin typeface="Times New Roman" pitchFamily="18" charset="0"/>
                <a:sym typeface="Symbol" pitchFamily="18" charset="2"/>
              </a:rPr>
              <a:t>Q</a:t>
            </a:r>
            <a:r>
              <a:rPr kumimoji="1" lang="en-US" altLang="zh-CN" sz="3200" b="1" i="1" baseline="30000" dirty="0" err="1">
                <a:latin typeface="Times New Roman" pitchFamily="18" charset="0"/>
                <a:sym typeface="Symbol" pitchFamily="18" charset="2"/>
              </a:rPr>
              <a:t>n</a:t>
            </a:r>
            <a:r>
              <a:rPr kumimoji="1" lang="en-US" altLang="zh-CN" sz="3200" b="1" baseline="30000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kumimoji="1" lang="en-US" altLang="zh-CN" sz="3200" b="1" dirty="0">
                <a:latin typeface="Times New Roman" pitchFamily="18" charset="0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</a:rPr>
              <a:t> </a:t>
            </a:r>
            <a:r>
              <a:rPr kumimoji="1" lang="en-US" altLang="zh-CN" sz="3200" b="1" i="1" dirty="0" err="1">
                <a:latin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latin typeface="Times New Roman" pitchFamily="18" charset="0"/>
              </a:rPr>
              <a:t>n</a:t>
            </a:r>
            <a:endParaRPr kumimoji="1" lang="en-US" altLang="zh-CN" sz="3200" b="1" i="1" baseline="30000" dirty="0">
              <a:latin typeface="Times New Roman" pitchFamily="18" charset="0"/>
            </a:endParaRPr>
          </a:p>
        </p:txBody>
      </p:sp>
      <p:graphicFrame>
        <p:nvGraphicFramePr>
          <p:cNvPr id="6246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381958"/>
              </p:ext>
            </p:extLst>
          </p:nvPr>
        </p:nvGraphicFramePr>
        <p:xfrm>
          <a:off x="4728022" y="4005263"/>
          <a:ext cx="374332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84300" imgH="457200" progId="Equation.3">
                  <p:embed/>
                </p:oleObj>
              </mc:Choice>
              <mc:Fallback>
                <p:oleObj name="公式" r:id="rId3" imgW="1384300" imgH="457200" progId="Equation.3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8022" y="4005263"/>
                        <a:ext cx="3743325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946C8A-6041-397A-6C5D-362E360707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4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关系合成的性质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itchFamily="2" charset="-122"/>
              </a:rPr>
              <a:t>(3)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343472" y="1628775"/>
            <a:ext cx="828040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[</a:t>
            </a:r>
            <a:r>
              <a:rPr kumimoji="1" lang="zh-CN" altLang="en-US" sz="3200" b="1" dirty="0">
                <a:latin typeface="Times New Roman" pitchFamily="18" charset="0"/>
              </a:rPr>
              <a:t>性质</a:t>
            </a:r>
            <a:r>
              <a:rPr kumimoji="1" lang="en-US" altLang="zh-CN" sz="3200" b="1" dirty="0">
                <a:latin typeface="Times New Roman" pitchFamily="18" charset="0"/>
              </a:rPr>
              <a:t>4]</a:t>
            </a:r>
            <a:r>
              <a:rPr kumimoji="1" lang="zh-CN" altLang="en-US" sz="3200" b="1" dirty="0">
                <a:latin typeface="Times New Roman" pitchFamily="18" charset="0"/>
              </a:rPr>
              <a:t>：</a:t>
            </a:r>
            <a:r>
              <a:rPr kumimoji="1" lang="zh-CN" altLang="en-US" sz="3200" b="1" dirty="0">
                <a:solidFill>
                  <a:srgbClr val="EE0006"/>
                </a:solidFill>
                <a:latin typeface="Times New Roman" pitchFamily="18" charset="0"/>
              </a:rPr>
              <a:t>对</a:t>
            </a:r>
            <a:r>
              <a:rPr kumimoji="1" lang="zh-CN" altLang="en-US" sz="3200" b="1" dirty="0">
                <a:solidFill>
                  <a:srgbClr val="008000"/>
                </a:solidFill>
                <a:latin typeface="Times New Roman" pitchFamily="18" charset="0"/>
              </a:rPr>
              <a:t>并</a:t>
            </a:r>
            <a:r>
              <a:rPr kumimoji="1" lang="zh-CN" altLang="en-US" sz="3200" b="1" dirty="0">
                <a:solidFill>
                  <a:srgbClr val="EE0006"/>
                </a:solidFill>
                <a:latin typeface="Times New Roman" pitchFamily="18" charset="0"/>
              </a:rPr>
              <a:t>运算分配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b="1" dirty="0">
                <a:latin typeface="Times New Roman" pitchFamily="18" charset="0"/>
              </a:rPr>
              <a:t>        </a:t>
            </a:r>
            <a:r>
              <a:rPr kumimoji="1" lang="en-US" altLang="zh-CN" sz="3200" b="1" dirty="0">
                <a:latin typeface="Times New Roman" pitchFamily="18" charset="0"/>
              </a:rPr>
              <a:t>S</a:t>
            </a:r>
            <a:r>
              <a:rPr kumimoji="1" lang="en-US" altLang="zh-CN" sz="3200" b="1" i="1" dirty="0">
                <a:latin typeface="Times New Roman" pitchFamily="18" charset="0"/>
              </a:rPr>
              <a:t>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(Q∪R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  = (S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latin typeface="Times New Roman" pitchFamily="18" charset="0"/>
              </a:rPr>
              <a:t>∪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 S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；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      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 Q∪R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 = (Q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en-US" altLang="zh-CN" sz="3200" b="1" dirty="0">
                <a:latin typeface="Times New Roman" pitchFamily="18" charset="0"/>
              </a:rPr>
              <a:t>∪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 R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/>
              <a:t>◦</a:t>
            </a:r>
            <a:r>
              <a:rPr kumimoji="1" lang="en-US" altLang="zh-CN" sz="3200" dirty="0"/>
              <a:t> </a:t>
            </a:r>
            <a:r>
              <a:rPr kumimoji="1" lang="en-US" altLang="zh-CN" sz="32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；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此性质可推广到无限多个并运算上去。</a:t>
            </a:r>
          </a:p>
          <a:p>
            <a:r>
              <a:rPr kumimoji="1" lang="en-US" altLang="zh-CN" sz="3200" dirty="0">
                <a:solidFill>
                  <a:srgbClr val="EE0006"/>
                </a:solidFill>
                <a:ea typeface="黑体" pitchFamily="2" charset="-122"/>
              </a:rPr>
              <a:t>[</a:t>
            </a:r>
            <a:r>
              <a:rPr kumimoji="1" lang="zh-CN" altLang="en-US" sz="3200" dirty="0">
                <a:solidFill>
                  <a:srgbClr val="EE0006"/>
                </a:solidFill>
                <a:ea typeface="黑体" pitchFamily="2" charset="-122"/>
              </a:rPr>
              <a:t>注意</a:t>
            </a:r>
            <a:r>
              <a:rPr kumimoji="1" lang="en-US" altLang="zh-CN" sz="3200" dirty="0">
                <a:solidFill>
                  <a:srgbClr val="EE0006"/>
                </a:solidFill>
                <a:ea typeface="黑体" pitchFamily="2" charset="-122"/>
              </a:rPr>
              <a:t>]</a:t>
            </a:r>
          </a:p>
          <a:p>
            <a:r>
              <a:rPr kumimoji="1" lang="en-US" altLang="zh-CN" sz="3200" b="1" dirty="0">
                <a:solidFill>
                  <a:srgbClr val="EE0006"/>
                </a:solidFill>
                <a:ea typeface="楷体_GB2312" pitchFamily="49" charset="-122"/>
              </a:rPr>
              <a:t>     </a:t>
            </a:r>
            <a:r>
              <a:rPr kumimoji="1" lang="zh-CN" altLang="en-US" sz="3200" b="1" dirty="0">
                <a:solidFill>
                  <a:srgbClr val="EE0006"/>
                </a:solidFill>
                <a:ea typeface="楷体_GB2312" pitchFamily="49" charset="-122"/>
              </a:rPr>
              <a:t>合成运算关于</a:t>
            </a:r>
            <a:r>
              <a:rPr kumimoji="1" lang="zh-CN" altLang="en-US" sz="3200" b="1" dirty="0">
                <a:solidFill>
                  <a:srgbClr val="008000"/>
                </a:solidFill>
                <a:ea typeface="楷体_GB2312" pitchFamily="49" charset="-122"/>
              </a:rPr>
              <a:t>交运算</a:t>
            </a:r>
            <a:r>
              <a:rPr kumimoji="1" lang="zh-CN" altLang="en-US" sz="3200" b="1" dirty="0">
                <a:solidFill>
                  <a:srgbClr val="EE0006"/>
                </a:solidFill>
                <a:ea typeface="楷体_GB2312" pitchFamily="49" charset="-122"/>
              </a:rPr>
              <a:t>的分配律不成立，即</a:t>
            </a:r>
          </a:p>
          <a:p>
            <a:r>
              <a:rPr kumimoji="1" lang="zh-CN" altLang="en-US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     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 Q∩R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 (Q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∩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(R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)</a:t>
            </a:r>
          </a:p>
          <a:p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    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但有下式：</a:t>
            </a:r>
          </a:p>
          <a:p>
            <a:r>
              <a:rPr kumimoji="1" lang="zh-CN" altLang="en-US" sz="3200" dirty="0">
                <a:latin typeface="Times New Roman" pitchFamily="18" charset="0"/>
                <a:sym typeface="Symbol" pitchFamily="18" charset="2"/>
              </a:rPr>
              <a:t>      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( Q∩R</a:t>
            </a:r>
            <a:r>
              <a:rPr kumimoji="1" lang="en-US" altLang="zh-CN" sz="3200" b="1" i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>
                <a:solidFill>
                  <a:schemeClr val="bg2"/>
                </a:solidFill>
              </a:rPr>
              <a:t>◦</a:t>
            </a:r>
            <a:r>
              <a:rPr kumimoji="1" lang="en-US" altLang="zh-CN" sz="3200" dirty="0">
                <a:solidFill>
                  <a:schemeClr val="bg2"/>
                </a:solidFill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</a:t>
            </a:r>
            <a:r>
              <a:rPr kumimoji="1" lang="en-US" altLang="zh-CN" sz="32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(Q</a:t>
            </a:r>
            <a:r>
              <a:rPr kumimoji="1" lang="en-US" altLang="zh-CN" sz="3200" b="1" i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</a:rPr>
              <a:t>◦</a:t>
            </a:r>
            <a:r>
              <a:rPr kumimoji="1" lang="en-US" altLang="zh-CN" sz="3200" dirty="0">
                <a:solidFill>
                  <a:schemeClr val="bg2"/>
                </a:solidFill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∩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(R </a:t>
            </a:r>
            <a:r>
              <a:rPr lang="en-US" altLang="zh-CN" sz="3200" b="1" dirty="0">
                <a:solidFill>
                  <a:schemeClr val="bg2"/>
                </a:solidFill>
              </a:rPr>
              <a:t>◦</a:t>
            </a:r>
            <a:r>
              <a:rPr kumimoji="1" lang="en-US" altLang="zh-CN" sz="3200" dirty="0">
                <a:solidFill>
                  <a:schemeClr val="bg2"/>
                </a:solidFill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871B56-1896-568D-7B34-6FE2C53C71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6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1992314" y="1412875"/>
          <a:ext cx="7920037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24189" imgH="447660" progId="Equation.3">
                  <p:embed/>
                </p:oleObj>
              </mc:Choice>
              <mc:Fallback>
                <p:oleObj name="公式" r:id="rId6" imgW="2924189" imgH="447660" progId="Equation.3">
                  <p:embed/>
                  <p:pic>
                    <p:nvPicPr>
                      <p:cNvPr id="542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412875"/>
                        <a:ext cx="7920037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1415480" y="3140076"/>
            <a:ext cx="24060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( A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 ∪ 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B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>
                <a:solidFill>
                  <a:srgbClr val="3333FF"/>
                </a:solidFill>
              </a:rPr>
              <a:t>◦</a:t>
            </a:r>
            <a:r>
              <a:rPr kumimoji="1" lang="en-US" altLang="zh-CN" sz="3200" dirty="0">
                <a:solidFill>
                  <a:srgbClr val="3333FF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C </a:t>
            </a: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852796"/>
              </p:ext>
            </p:extLst>
          </p:nvPr>
        </p:nvGraphicFramePr>
        <p:xfrm>
          <a:off x="3791744" y="2859088"/>
          <a:ext cx="6161088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74560" imgH="457200" progId="Equation.3">
                  <p:embed/>
                </p:oleObj>
              </mc:Choice>
              <mc:Fallback>
                <p:oleObj name="公式" r:id="rId8" imgW="2374560" imgH="45720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2859088"/>
                        <a:ext cx="6161088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570405" y="4816903"/>
            <a:ext cx="34401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( A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3333FF"/>
                </a:solidFill>
              </a:rPr>
              <a:t>◦</a:t>
            </a:r>
            <a:r>
              <a:rPr kumimoji="1" lang="en-US" altLang="zh-CN" sz="3200" dirty="0">
                <a:solidFill>
                  <a:srgbClr val="3333FF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 ∪ 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( B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3333FF"/>
                </a:solidFill>
              </a:rPr>
              <a:t>◦</a:t>
            </a:r>
            <a:r>
              <a:rPr kumimoji="1" lang="en-US" altLang="zh-CN" sz="3200" dirty="0">
                <a:solidFill>
                  <a:srgbClr val="3333FF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)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967416"/>
              </p:ext>
            </p:extLst>
          </p:nvPr>
        </p:nvGraphicFramePr>
        <p:xfrm>
          <a:off x="3935760" y="4549603"/>
          <a:ext cx="6121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38280" imgH="457200" progId="Equation.3">
                  <p:embed/>
                </p:oleObj>
              </mc:Choice>
              <mc:Fallback>
                <p:oleObj name="公式" r:id="rId10" imgW="2438280" imgH="457200" progId="Equation.3">
                  <p:embed/>
                  <p:pic>
                    <p:nvPicPr>
                      <p:cNvPr id="645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4549603"/>
                        <a:ext cx="61214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2899681" y="6129308"/>
            <a:ext cx="58156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( A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 ∪ 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B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>
                <a:solidFill>
                  <a:srgbClr val="3333FF"/>
                </a:solidFill>
              </a:rPr>
              <a:t>◦</a:t>
            </a:r>
            <a:r>
              <a:rPr kumimoji="1" lang="en-US" altLang="zh-CN" sz="3200" dirty="0">
                <a:solidFill>
                  <a:srgbClr val="3333FF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= (A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3333FF"/>
                </a:solidFill>
              </a:rPr>
              <a:t>◦</a:t>
            </a:r>
            <a:r>
              <a:rPr kumimoji="1" lang="en-US" altLang="zh-CN" sz="3200" dirty="0">
                <a:solidFill>
                  <a:srgbClr val="3333FF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</a:rPr>
              <a:t> ∪ 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(B </a:t>
            </a:r>
            <a:r>
              <a:rPr lang="en-US" altLang="zh-CN" sz="3200" b="1" dirty="0">
                <a:solidFill>
                  <a:srgbClr val="3333FF"/>
                </a:solidFill>
              </a:rPr>
              <a:t>◦</a:t>
            </a:r>
            <a:r>
              <a:rPr kumimoji="1" lang="en-US" altLang="zh-CN" sz="3200" dirty="0">
                <a:solidFill>
                  <a:srgbClr val="3333FF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)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title"/>
          </p:nvPr>
        </p:nvSpPr>
        <p:spPr>
          <a:xfrm>
            <a:off x="1197218" y="404440"/>
            <a:ext cx="9510228" cy="884238"/>
          </a:xfrm>
        </p:spPr>
        <p:txBody>
          <a:bodyPr/>
          <a:lstStyle/>
          <a:p>
            <a:pPr eaLnBrk="1" hangingPunct="1"/>
            <a:r>
              <a:rPr kumimoji="1" lang="en-US" altLang="zh-CN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kumimoji="1" lang="zh-CN" altLang="en-US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关系合成运算关于</a:t>
            </a:r>
            <a:r>
              <a:rPr kumimoji="1" lang="en-US" altLang="zh-CN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4000" b="1" dirty="0">
                <a:latin typeface="Times New Roman" pitchFamily="18" charset="0"/>
              </a:rPr>
              <a:t>∪</a:t>
            </a:r>
            <a:r>
              <a:rPr kumimoji="1" lang="en-US" altLang="zh-CN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</a:t>
            </a:r>
            <a:r>
              <a:rPr kumimoji="1" lang="zh-CN" altLang="en-US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的分配律成立举例</a:t>
            </a:r>
          </a:p>
        </p:txBody>
      </p:sp>
      <p:sp>
        <p:nvSpPr>
          <p:cNvPr id="9" name="矩形 8"/>
          <p:cNvSpPr/>
          <p:nvPr/>
        </p:nvSpPr>
        <p:spPr>
          <a:xfrm>
            <a:off x="7896200" y="2780928"/>
            <a:ext cx="2088232" cy="136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12446" y="4360863"/>
            <a:ext cx="1728192" cy="136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040638" y="4360863"/>
            <a:ext cx="2088232" cy="136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B550AC-1247-4045-07A3-16447C65AA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15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6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  <p:bldP spid="64517" grpId="0" build="p" autoUpdateAnimBg="0"/>
      <p:bldP spid="64519" grpId="0" build="p" autoUpdateAnimBg="0"/>
      <p:bldP spid="9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992314" y="1412875"/>
          <a:ext cx="7920037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24189" imgH="447660" progId="Equation.3">
                  <p:embed/>
                </p:oleObj>
              </mc:Choice>
              <mc:Fallback>
                <p:oleObj name="公式" r:id="rId6" imgW="2924189" imgH="447660" progId="Equation.3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412875"/>
                        <a:ext cx="7920037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1415480" y="3140076"/>
            <a:ext cx="22443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 A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∩B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998729"/>
              </p:ext>
            </p:extLst>
          </p:nvPr>
        </p:nvGraphicFramePr>
        <p:xfrm>
          <a:off x="3647728" y="2859088"/>
          <a:ext cx="6192838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81222" imgH="447660" progId="Equation.3">
                  <p:embed/>
                </p:oleObj>
              </mc:Choice>
              <mc:Fallback>
                <p:oleObj name="公式" r:id="rId8" imgW="2381222" imgH="44766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2859088"/>
                        <a:ext cx="6192838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695400" y="4644425"/>
            <a:ext cx="32558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 A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ea typeface="黑体" pitchFamily="2" charset="-122"/>
              </a:rPr>
              <a:t>∩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 B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)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919463"/>
              </p:ext>
            </p:extLst>
          </p:nvPr>
        </p:nvGraphicFramePr>
        <p:xfrm>
          <a:off x="3951228" y="4308475"/>
          <a:ext cx="6121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28765" imgH="447660" progId="Equation.3">
                  <p:embed/>
                </p:oleObj>
              </mc:Choice>
              <mc:Fallback>
                <p:oleObj name="公式" r:id="rId10" imgW="2428765" imgH="447660" progId="Equation.3">
                  <p:embed/>
                  <p:pic>
                    <p:nvPicPr>
                      <p:cNvPr id="645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28" y="4308475"/>
                        <a:ext cx="61214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2599228" y="5946776"/>
            <a:ext cx="55288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 A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∩B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)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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(A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ea typeface="黑体" pitchFamily="2" charset="-122"/>
              </a:rPr>
              <a:t>∩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(B </a:t>
            </a:r>
            <a:r>
              <a:rPr lang="en-US" altLang="zh-CN" sz="3200" b="1" dirty="0">
                <a:solidFill>
                  <a:srgbClr val="EE0006"/>
                </a:solidFill>
              </a:rPr>
              <a:t>◦</a:t>
            </a:r>
            <a:r>
              <a:rPr kumimoji="1" lang="en-US" altLang="zh-CN" sz="3200" dirty="0">
                <a:solidFill>
                  <a:srgbClr val="EE0006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EE0006"/>
                </a:solidFill>
                <a:latin typeface="Times New Roman" pitchFamily="18" charset="0"/>
                <a:sym typeface="Symbol" pitchFamily="18" charset="2"/>
              </a:rPr>
              <a:t> )</a:t>
            </a:r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title"/>
          </p:nvPr>
        </p:nvSpPr>
        <p:spPr>
          <a:xfrm>
            <a:off x="479376" y="457200"/>
            <a:ext cx="11103024" cy="884238"/>
          </a:xfrm>
        </p:spPr>
        <p:txBody>
          <a:bodyPr/>
          <a:lstStyle/>
          <a:p>
            <a:pPr eaLnBrk="1" hangingPunct="1"/>
            <a:r>
              <a:rPr kumimoji="1" lang="en-US" altLang="zh-CN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kumimoji="1" lang="zh-CN" altLang="en-US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关系合成运算关于</a:t>
            </a:r>
            <a:r>
              <a:rPr kumimoji="1" lang="en-US" altLang="zh-CN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4000" dirty="0">
                <a:latin typeface="黑体" pitchFamily="2" charset="-122"/>
                <a:ea typeface="黑体" pitchFamily="2" charset="-122"/>
                <a:sym typeface="Symbol" pitchFamily="18" charset="2"/>
              </a:rPr>
              <a:t>∩</a:t>
            </a:r>
            <a:r>
              <a:rPr kumimoji="1" lang="en-US" altLang="zh-CN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</a:t>
            </a:r>
            <a:r>
              <a:rPr kumimoji="1" lang="zh-CN" altLang="en-US" sz="4000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的分配律不成立举例</a:t>
            </a:r>
          </a:p>
        </p:txBody>
      </p:sp>
      <p:sp>
        <p:nvSpPr>
          <p:cNvPr id="2" name="矩形 1"/>
          <p:cNvSpPr/>
          <p:nvPr/>
        </p:nvSpPr>
        <p:spPr>
          <a:xfrm>
            <a:off x="7752209" y="2780928"/>
            <a:ext cx="2088232" cy="136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324830" y="4192685"/>
            <a:ext cx="1803285" cy="136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28114" y="4192685"/>
            <a:ext cx="2088232" cy="136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B01FF8-E644-3F0C-D3D4-0855879B4E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16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6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  <p:bldP spid="64517" grpId="0" build="p" autoUpdateAnimBg="0"/>
      <p:bldP spid="64519" grpId="0" build="p" autoUpdateAnimBg="0"/>
      <p:bldP spid="2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sz="48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48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关系合成的性质</a:t>
            </a:r>
            <a:r>
              <a:rPr lang="en-US" altLang="zh-CN" sz="4800" dirty="0">
                <a:solidFill>
                  <a:srgbClr val="008000"/>
                </a:solidFill>
                <a:ea typeface="黑体" pitchFamily="2" charset="-122"/>
              </a:rPr>
              <a:t>(4)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15480" y="1628775"/>
            <a:ext cx="8218487" cy="30241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</a:rPr>
              <a:t>[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itchFamily="18" charset="0"/>
              </a:rPr>
              <a:t>性质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</a:rPr>
              <a:t>5]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itchFamily="18" charset="0"/>
              </a:rPr>
              <a:t>：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Q </a:t>
            </a:r>
            <a:r>
              <a:rPr lang="en-US" altLang="zh-CN" sz="2800" b="1" dirty="0">
                <a:solidFill>
                  <a:srgbClr val="FF0000"/>
                </a:solidFill>
              </a:rPr>
              <a:t>◦</a:t>
            </a:r>
            <a:r>
              <a:rPr kumimoji="1" lang="en-US" altLang="zh-CN" sz="2800" dirty="0">
                <a:solidFill>
                  <a:srgbClr val="FF0000"/>
                </a:solidFill>
              </a:rPr>
              <a:t>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b="1" i="1" baseline="-25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=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Q</a:t>
            </a:r>
            <a:r>
              <a:rPr kumimoji="1" lang="en-US" altLang="zh-CN" b="1" i="1" baseline="-25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◦</a:t>
            </a:r>
            <a:r>
              <a:rPr kumimoji="1" lang="en-US" altLang="zh-CN" sz="2800" dirty="0">
                <a:solidFill>
                  <a:srgbClr val="FF0000"/>
                </a:solidFill>
              </a:rPr>
              <a:t>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kumimoji="1" lang="en-US" altLang="zh-CN" b="1" i="1" baseline="-25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[</a:t>
            </a:r>
            <a:r>
              <a:rPr kumimoji="1" lang="zh-CN" altLang="en-US" b="1" dirty="0">
                <a:solidFill>
                  <a:schemeClr val="bg2"/>
                </a:solidFill>
                <a:latin typeface="Times New Roman" pitchFamily="18" charset="0"/>
              </a:rPr>
              <a:t>推  论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]</a:t>
            </a:r>
            <a:r>
              <a:rPr kumimoji="1" lang="zh-CN" altLang="en-US" b="1" dirty="0">
                <a:solidFill>
                  <a:schemeClr val="bg2"/>
                </a:solidFill>
                <a:latin typeface="Times New Roman" pitchFamily="18" charset="0"/>
              </a:rPr>
              <a:t>： 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kumimoji="1" lang="en-US" altLang="zh-CN" b="1" i="1" dirty="0" err="1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b="1" i="1" baseline="30000" dirty="0" err="1">
                <a:solidFill>
                  <a:schemeClr val="bg2"/>
                </a:solidFill>
                <a:latin typeface="Times New Roman" pitchFamily="18" charset="0"/>
              </a:rPr>
              <a:t>m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  <a:r>
              <a:rPr kumimoji="1" lang="en-US" altLang="zh-CN" b="1" i="1" baseline="-25000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kumimoji="1" lang="en-US" altLang="zh-CN" b="1" i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= (</a:t>
            </a:r>
            <a:r>
              <a:rPr kumimoji="1" lang="en-US" altLang="zh-CN" b="1" i="1" dirty="0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b="1" i="1" baseline="-25000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  <a:r>
              <a:rPr kumimoji="1" lang="en-US" altLang="zh-CN" b="1" i="1" baseline="30000" dirty="0">
                <a:solidFill>
                  <a:schemeClr val="bg2"/>
                </a:solidFill>
                <a:latin typeface="Times New Roman" pitchFamily="18" charset="0"/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solidFill>
                  <a:srgbClr val="FF00FF"/>
                </a:solidFill>
                <a:latin typeface="Times New Roman" pitchFamily="18" charset="0"/>
              </a:rPr>
              <a:t>[</a:t>
            </a:r>
            <a:r>
              <a:rPr kumimoji="1" lang="zh-CN" altLang="en-US" b="1" dirty="0">
                <a:solidFill>
                  <a:srgbClr val="FF00FF"/>
                </a:solidFill>
                <a:latin typeface="Times New Roman" pitchFamily="18" charset="0"/>
              </a:rPr>
              <a:t>性质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itchFamily="18" charset="0"/>
              </a:rPr>
              <a:t>6]</a:t>
            </a:r>
            <a:r>
              <a:rPr kumimoji="1" lang="zh-CN" altLang="en-US" b="1" dirty="0">
                <a:solidFill>
                  <a:srgbClr val="FF00FF"/>
                </a:solidFill>
                <a:latin typeface="Times New Roman" pitchFamily="18" charset="0"/>
              </a:rPr>
              <a:t>： 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itchFamily="18" charset="0"/>
                <a:sym typeface="Symbol" pitchFamily="18" charset="2"/>
              </a:rPr>
              <a:t>( </a:t>
            </a:r>
            <a:r>
              <a:rPr kumimoji="1" lang="en-US" altLang="zh-CN" b="1" i="1" dirty="0">
                <a:solidFill>
                  <a:srgbClr val="FF00FF"/>
                </a:solidFill>
                <a:latin typeface="Times New Roman" pitchFamily="18" charset="0"/>
                <a:sym typeface="Symbol" pitchFamily="18" charset="2"/>
              </a:rPr>
              <a:t>Q </a:t>
            </a:r>
            <a:r>
              <a:rPr lang="en-US" altLang="zh-CN" sz="2800" b="1" dirty="0">
                <a:solidFill>
                  <a:srgbClr val="FF00FF"/>
                </a:solidFill>
              </a:rPr>
              <a:t>◦</a:t>
            </a:r>
            <a:r>
              <a:rPr kumimoji="1" lang="en-US" altLang="zh-CN" sz="2800" dirty="0">
                <a:solidFill>
                  <a:srgbClr val="FF00FF"/>
                </a:solidFill>
              </a:rPr>
              <a:t> </a:t>
            </a:r>
            <a:r>
              <a:rPr kumimoji="1" lang="en-US" altLang="zh-CN" b="1" i="1" dirty="0">
                <a:solidFill>
                  <a:srgbClr val="FF00FF"/>
                </a:solidFill>
                <a:latin typeface="Times New Roman" pitchFamily="18" charset="0"/>
              </a:rPr>
              <a:t>R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itchFamily="18" charset="0"/>
                <a:sym typeface="Symbol" pitchFamily="18" charset="2"/>
              </a:rPr>
              <a:t> )</a:t>
            </a:r>
            <a:r>
              <a:rPr kumimoji="1" lang="en-US" altLang="zh-CN" b="1" baseline="30000" dirty="0">
                <a:solidFill>
                  <a:srgbClr val="FF00FF"/>
                </a:solidFill>
                <a:latin typeface="Times New Roman" pitchFamily="18" charset="0"/>
              </a:rPr>
              <a:t>T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itchFamily="18" charset="0"/>
              </a:rPr>
              <a:t> 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b="1" i="1" dirty="0">
                <a:solidFill>
                  <a:srgbClr val="FF00FF"/>
                </a:solidFill>
                <a:latin typeface="Times New Roman" pitchFamily="18" charset="0"/>
                <a:sym typeface="Symbol" pitchFamily="18" charset="2"/>
              </a:rPr>
              <a:t>R</a:t>
            </a:r>
            <a:r>
              <a:rPr kumimoji="1" lang="en-US" altLang="zh-CN" b="1" baseline="30000" dirty="0">
                <a:solidFill>
                  <a:srgbClr val="FF00FF"/>
                </a:solidFill>
                <a:latin typeface="Times New Roman" pitchFamily="18" charset="0"/>
              </a:rPr>
              <a:t>T </a:t>
            </a:r>
            <a:r>
              <a:rPr lang="en-US" altLang="zh-CN" sz="2800" b="1" dirty="0">
                <a:solidFill>
                  <a:srgbClr val="FF00FF"/>
                </a:solidFill>
              </a:rPr>
              <a:t>◦</a:t>
            </a:r>
            <a:r>
              <a:rPr kumimoji="1" lang="en-US" altLang="zh-CN" sz="2800" dirty="0">
                <a:solidFill>
                  <a:srgbClr val="FF00FF"/>
                </a:solidFill>
              </a:rPr>
              <a:t> </a:t>
            </a:r>
            <a:r>
              <a:rPr kumimoji="1" lang="en-US" altLang="zh-CN" b="1" i="1" dirty="0">
                <a:solidFill>
                  <a:srgbClr val="FF00FF"/>
                </a:solidFill>
                <a:latin typeface="Times New Roman" pitchFamily="18" charset="0"/>
              </a:rPr>
              <a:t>Q</a:t>
            </a:r>
            <a:r>
              <a:rPr kumimoji="1" lang="en-US" altLang="zh-CN" b="1" baseline="30000" dirty="0">
                <a:solidFill>
                  <a:srgbClr val="FF00FF"/>
                </a:solidFill>
                <a:latin typeface="Times New Roman" pitchFamily="18" charset="0"/>
              </a:rPr>
              <a:t>T</a:t>
            </a:r>
            <a:r>
              <a:rPr kumimoji="1" lang="en-US" altLang="zh-CN" b="1" i="1" dirty="0">
                <a:solidFill>
                  <a:srgbClr val="FF00FF"/>
                </a:solidFill>
                <a:latin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[</a:t>
            </a:r>
            <a:r>
              <a:rPr kumimoji="1" lang="zh-CN" altLang="en-US" b="1" dirty="0">
                <a:solidFill>
                  <a:schemeClr val="bg2"/>
                </a:solidFill>
                <a:latin typeface="Times New Roman" pitchFamily="18" charset="0"/>
              </a:rPr>
              <a:t>推  论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]</a:t>
            </a:r>
            <a:r>
              <a:rPr kumimoji="1" lang="zh-CN" altLang="en-US" b="1" dirty="0">
                <a:solidFill>
                  <a:schemeClr val="bg2"/>
                </a:solidFill>
                <a:latin typeface="Times New Roman" pitchFamily="18" charset="0"/>
              </a:rPr>
              <a:t>： 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kumimoji="1" lang="en-US" altLang="zh-CN" b="1" i="1" dirty="0" err="1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b="1" i="1" baseline="30000" dirty="0" err="1">
                <a:solidFill>
                  <a:schemeClr val="bg2"/>
                </a:solidFill>
                <a:latin typeface="Times New Roman" pitchFamily="18" charset="0"/>
              </a:rPr>
              <a:t>n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)</a:t>
            </a:r>
            <a:r>
              <a:rPr kumimoji="1" lang="en-US" altLang="zh-CN" b="1" baseline="30000" dirty="0">
                <a:solidFill>
                  <a:schemeClr val="bg2"/>
                </a:solidFill>
                <a:latin typeface="Times New Roman" pitchFamily="18" charset="0"/>
              </a:rPr>
              <a:t>T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  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=(</a:t>
            </a:r>
            <a:r>
              <a:rPr kumimoji="1" lang="en-US" altLang="zh-CN" b="1" i="1" dirty="0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kumimoji="1" lang="en-US" altLang="zh-CN" b="1" baseline="30000" dirty="0">
                <a:solidFill>
                  <a:schemeClr val="bg2"/>
                </a:solidFill>
                <a:latin typeface="Times New Roman" pitchFamily="18" charset="0"/>
              </a:rPr>
              <a:t>T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en-US" altLang="zh-CN" b="1" i="1" baseline="30000" dirty="0">
                <a:solidFill>
                  <a:schemeClr val="bg2"/>
                </a:solidFill>
                <a:latin typeface="Times New Roman" pitchFamily="18" charset="0"/>
              </a:rPr>
              <a:t>n</a:t>
            </a:r>
            <a:r>
              <a:rPr kumimoji="1" lang="en-US" altLang="zh-CN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</a:p>
          <a:p>
            <a:pPr eaLnBrk="1" hangingPunct="1">
              <a:buNone/>
            </a:pPr>
            <a:r>
              <a:rPr kumimoji="1" lang="en-US" altLang="zh-CN" b="1" dirty="0">
                <a:solidFill>
                  <a:srgbClr val="EE0006"/>
                </a:solidFill>
                <a:latin typeface="Times New Roman" pitchFamily="18" charset="0"/>
              </a:rPr>
              <a:t>[</a:t>
            </a:r>
            <a:r>
              <a:rPr kumimoji="1" lang="zh-CN" altLang="en-US" b="1" dirty="0">
                <a:solidFill>
                  <a:srgbClr val="EE0006"/>
                </a:solidFill>
                <a:latin typeface="Times New Roman" pitchFamily="18" charset="0"/>
              </a:rPr>
              <a:t>定理</a:t>
            </a:r>
            <a:r>
              <a:rPr kumimoji="1" lang="en-US" altLang="zh-CN" b="1" dirty="0">
                <a:solidFill>
                  <a:srgbClr val="EE0006"/>
                </a:solidFill>
                <a:latin typeface="Times New Roman" pitchFamily="18" charset="0"/>
              </a:rPr>
              <a:t>2]</a:t>
            </a:r>
            <a:r>
              <a:rPr kumimoji="1" lang="zh-CN" altLang="en-US" b="1" dirty="0">
                <a:latin typeface="Times New Roman" pitchFamily="18" charset="0"/>
              </a:rPr>
              <a:t>：设</a:t>
            </a:r>
            <a:r>
              <a:rPr kumimoji="1" lang="en-US" altLang="zh-CN" b="1" i="1" dirty="0">
                <a:latin typeface="Times New Roman" pitchFamily="18" charset="0"/>
              </a:rPr>
              <a:t>Q</a:t>
            </a:r>
            <a:r>
              <a:rPr kumimoji="1" lang="en-US" altLang="en-US" b="1" dirty="0">
                <a:latin typeface="Times New Roman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b="1" dirty="0">
                <a:latin typeface="Monotype Corsiva" pitchFamily="66" charset="0"/>
              </a:rPr>
              <a:t>F</a:t>
            </a:r>
            <a:r>
              <a:rPr kumimoji="1" lang="en-US" altLang="zh-CN" b="1" dirty="0">
                <a:latin typeface="Times New Roman" pitchFamily="18" charset="0"/>
              </a:rPr>
              <a:t>(</a:t>
            </a:r>
            <a:r>
              <a:rPr kumimoji="1" lang="en-US" altLang="zh-CN" b="1" i="1" dirty="0">
                <a:latin typeface="Times New Roman" pitchFamily="18" charset="0"/>
              </a:rPr>
              <a:t>U</a:t>
            </a:r>
            <a:r>
              <a:rPr kumimoji="1" lang="en-US" altLang="en-US" b="1" dirty="0">
                <a:latin typeface="Times New Roman" pitchFamily="18" charset="0"/>
              </a:rPr>
              <a:t>×</a:t>
            </a:r>
            <a:r>
              <a:rPr kumimoji="1" lang="en-US" altLang="zh-CN" b="1" i="1" dirty="0">
                <a:latin typeface="Times New Roman" pitchFamily="18" charset="0"/>
              </a:rPr>
              <a:t>V</a:t>
            </a:r>
            <a:r>
              <a:rPr kumimoji="1" lang="en-US" altLang="zh-CN" b="1" dirty="0">
                <a:latin typeface="Times New Roman" pitchFamily="18" charset="0"/>
              </a:rPr>
              <a:t>)</a:t>
            </a:r>
            <a:r>
              <a:rPr kumimoji="1" lang="zh-CN" altLang="en-US" b="1" dirty="0">
                <a:latin typeface="Times New Roman" pitchFamily="18" charset="0"/>
              </a:rPr>
              <a:t>，</a:t>
            </a:r>
            <a:r>
              <a:rPr kumimoji="1" lang="en-US" altLang="zh-CN" b="1" i="1" dirty="0">
                <a:latin typeface="Times New Roman" pitchFamily="18" charset="0"/>
              </a:rPr>
              <a:t>R</a:t>
            </a:r>
            <a:r>
              <a:rPr kumimoji="1" lang="en-US" altLang="en-US" b="1" dirty="0">
                <a:latin typeface="Times New Roman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b="1" dirty="0">
                <a:latin typeface="Monotype Corsiva" pitchFamily="66" charset="0"/>
              </a:rPr>
              <a:t>F</a:t>
            </a:r>
            <a:r>
              <a:rPr kumimoji="1" lang="en-US" altLang="zh-CN" b="1" dirty="0">
                <a:latin typeface="Times New Roman" pitchFamily="18" charset="0"/>
              </a:rPr>
              <a:t>(</a:t>
            </a:r>
            <a:r>
              <a:rPr kumimoji="1" lang="en-US" altLang="zh-CN" b="1" i="1" dirty="0">
                <a:latin typeface="Times New Roman" pitchFamily="18" charset="0"/>
              </a:rPr>
              <a:t>V</a:t>
            </a:r>
            <a:r>
              <a:rPr kumimoji="1" lang="en-US" altLang="en-US" b="1" dirty="0">
                <a:latin typeface="Times New Roman" pitchFamily="18" charset="0"/>
              </a:rPr>
              <a:t>×</a:t>
            </a:r>
            <a:r>
              <a:rPr kumimoji="1" lang="en-US" altLang="zh-CN" b="1" i="1" dirty="0">
                <a:latin typeface="Times New Roman" pitchFamily="18" charset="0"/>
              </a:rPr>
              <a:t>W</a:t>
            </a:r>
            <a:r>
              <a:rPr kumimoji="1" lang="en-US" altLang="zh-CN" b="1" dirty="0">
                <a:latin typeface="Times New Roman" pitchFamily="18" charset="0"/>
              </a:rPr>
              <a:t>)</a:t>
            </a:r>
            <a:r>
              <a:rPr kumimoji="1" lang="zh-CN" altLang="en-US" b="1" dirty="0"/>
              <a:t>，则</a:t>
            </a:r>
          </a:p>
        </p:txBody>
      </p:sp>
      <p:graphicFrame>
        <p:nvGraphicFramePr>
          <p:cNvPr id="6554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9274487"/>
              </p:ext>
            </p:extLst>
          </p:nvPr>
        </p:nvGraphicFramePr>
        <p:xfrm>
          <a:off x="3377630" y="5013325"/>
          <a:ext cx="384968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368280" progId="Equation.DSMT4">
                  <p:embed/>
                </p:oleObj>
              </mc:Choice>
              <mc:Fallback>
                <p:oleObj name="Equation" r:id="rId2" imgW="1447560" imgH="368280" progId="Equation.DSMT4">
                  <p:embed/>
                  <p:pic>
                    <p:nvPicPr>
                      <p:cNvPr id="65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630" y="5013325"/>
                        <a:ext cx="3849687" cy="97948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809B1F-2757-B72E-556C-2915CAE58A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C85EAC-6FAE-44AE-B9A5-47E3DC5EF4EF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0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b="1" dirty="0"/>
              <a:t>习题三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b="1" dirty="0">
                <a:latin typeface="+mj-lt"/>
              </a:rPr>
              <a:t>      7, 8, 13, 14, 15</a:t>
            </a:r>
            <a:r>
              <a:rPr lang="en-US" altLang="zh-CN" sz="3600" b="1">
                <a:latin typeface="+mj-lt"/>
              </a:rPr>
              <a:t>, 16</a:t>
            </a:r>
            <a:endParaRPr lang="zh-CN" altLang="en-US" sz="3600" b="1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9FAB85-564F-18FE-F9FB-D0AEC9F19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A851D4-8D62-4BD7-8848-E433E51002F9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4132438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52642</TotalTime>
  <Words>4275</Words>
  <Application>Microsoft Office PowerPoint</Application>
  <PresentationFormat>宽屏</PresentationFormat>
  <Paragraphs>584</Paragraphs>
  <Slides>51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71" baseType="lpstr">
      <vt:lpstr>Arial Unicode MS</vt:lpstr>
      <vt:lpstr>ITC Zapf Chancery</vt:lpstr>
      <vt:lpstr>ＭＳ 明朝</vt:lpstr>
      <vt:lpstr>黑体</vt:lpstr>
      <vt:lpstr>华文楷体</vt:lpstr>
      <vt:lpstr>楷体</vt:lpstr>
      <vt:lpstr>楷体_GB2312</vt:lpstr>
      <vt:lpstr>隶书</vt:lpstr>
      <vt:lpstr>宋体</vt:lpstr>
      <vt:lpstr>Arial</vt:lpstr>
      <vt:lpstr>Arial Black</vt:lpstr>
      <vt:lpstr>Century</vt:lpstr>
      <vt:lpstr>Monotype Corsiva</vt:lpstr>
      <vt:lpstr>Symbol</vt:lpstr>
      <vt:lpstr>Times New Roman</vt:lpstr>
      <vt:lpstr>Wingdings</vt:lpstr>
      <vt:lpstr>Pixel</vt:lpstr>
      <vt:lpstr>公式</vt:lpstr>
      <vt:lpstr>Equation</vt:lpstr>
      <vt:lpstr>BMP 图像</vt:lpstr>
      <vt:lpstr>第 3 章 模糊关系与聚类分析</vt:lpstr>
      <vt:lpstr>3.1 F关系的定义和表示</vt:lpstr>
      <vt:lpstr>F关系举例1</vt:lpstr>
      <vt:lpstr>F关系举例2</vt:lpstr>
      <vt:lpstr>F关系举例3</vt:lpstr>
      <vt:lpstr>用图表示F关系及举例</vt:lpstr>
      <vt:lpstr>F关系的运算</vt:lpstr>
      <vt:lpstr>F关系的运算</vt:lpstr>
      <vt:lpstr>F关系的运算举例</vt:lpstr>
      <vt:lpstr>3.2  F矩阵</vt:lpstr>
      <vt:lpstr>F矩阵举例1</vt:lpstr>
      <vt:lpstr>F矩阵举例2</vt:lpstr>
      <vt:lpstr>F矩阵的运算</vt:lpstr>
      <vt:lpstr>F矩阵的运算举例[P64例1]</vt:lpstr>
      <vt:lpstr>F矩阵的运算规律</vt:lpstr>
      <vt:lpstr>F矩阵的运算性质(1)</vt:lpstr>
      <vt:lpstr>F矩阵的运算性质(2)</vt:lpstr>
      <vt:lpstr>F矩阵的运算性质(3)</vt:lpstr>
      <vt:lpstr>3.3  F关系的对称性与自反性</vt:lpstr>
      <vt:lpstr>F关系的对称性</vt:lpstr>
      <vt:lpstr>关系转置运算的性质</vt:lpstr>
      <vt:lpstr>对称关系的闭包</vt:lpstr>
      <vt:lpstr>关系转置运算的性质</vt:lpstr>
      <vt:lpstr>F关系的自反性</vt:lpstr>
      <vt:lpstr>3.4  F矩阵的 - 截矩阵</vt:lpstr>
      <vt:lpstr>F矩阵的 - 截矩阵的性质</vt:lpstr>
      <vt:lpstr>3.5  F关系的合成</vt:lpstr>
      <vt:lpstr>F关系合成的定义</vt:lpstr>
      <vt:lpstr>F矩阵合成的定理</vt:lpstr>
      <vt:lpstr>二元关系幂的运算</vt:lpstr>
      <vt:lpstr>二元关系幂的运算</vt:lpstr>
      <vt:lpstr>二元关系幂的运算</vt:lpstr>
      <vt:lpstr>二元关系幂的运算</vt:lpstr>
      <vt:lpstr>二元关系幂的运算</vt:lpstr>
      <vt:lpstr>二元关系幂的运算</vt:lpstr>
      <vt:lpstr>F矩阵合成运算举例[P69例2]</vt:lpstr>
      <vt:lpstr>F矩阵合成运算举例1[P69例2]</vt:lpstr>
      <vt:lpstr>F关系合成举例1 [P68例1]</vt:lpstr>
      <vt:lpstr>PowerPoint 演示文稿</vt:lpstr>
      <vt:lpstr>F关系合成举例1 [P68例1]</vt:lpstr>
      <vt:lpstr>PowerPoint 演示文稿</vt:lpstr>
      <vt:lpstr>PowerPoint 演示文稿</vt:lpstr>
      <vt:lpstr>F关系合成举例2</vt:lpstr>
      <vt:lpstr>F关系合成举例2</vt:lpstr>
      <vt:lpstr>F关系合成的性质(1)</vt:lpstr>
      <vt:lpstr>F关系合成的性质(2)</vt:lpstr>
      <vt:lpstr>F关系合成的性质(3)</vt:lpstr>
      <vt:lpstr>F关系合成运算关于(∪)的分配律成立举例</vt:lpstr>
      <vt:lpstr>F关系合成运算关于(∩)的分配律不成立举例</vt:lpstr>
      <vt:lpstr>F关系合成的性质(4)</vt:lpstr>
      <vt:lpstr>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模糊关系与聚类分析</dc:title>
  <dc:creator>凌卫新</dc:creator>
  <cp:lastModifiedBy>wxling66@outlook.com</cp:lastModifiedBy>
  <cp:revision>490</cp:revision>
  <cp:lastPrinted>2015-04-06T14:28:08Z</cp:lastPrinted>
  <dcterms:created xsi:type="dcterms:W3CDTF">2007-04-10T08:04:56Z</dcterms:created>
  <dcterms:modified xsi:type="dcterms:W3CDTF">2026-04-07T12:14:56Z</dcterms:modified>
</cp:coreProperties>
</file>