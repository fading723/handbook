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4"/>
  </p:notesMasterIdLst>
  <p:handoutMasterIdLst>
    <p:handoutMasterId r:id="rId75"/>
  </p:handoutMasterIdLst>
  <p:sldIdLst>
    <p:sldId id="257" r:id="rId2"/>
    <p:sldId id="281" r:id="rId3"/>
    <p:sldId id="376" r:id="rId4"/>
    <p:sldId id="310" r:id="rId5"/>
    <p:sldId id="311" r:id="rId6"/>
    <p:sldId id="377" r:id="rId7"/>
    <p:sldId id="378" r:id="rId8"/>
    <p:sldId id="379" r:id="rId9"/>
    <p:sldId id="380" r:id="rId10"/>
    <p:sldId id="381" r:id="rId11"/>
    <p:sldId id="317" r:id="rId12"/>
    <p:sldId id="318" r:id="rId13"/>
    <p:sldId id="382" r:id="rId14"/>
    <p:sldId id="383" r:id="rId15"/>
    <p:sldId id="348" r:id="rId16"/>
    <p:sldId id="349" r:id="rId17"/>
    <p:sldId id="350" r:id="rId18"/>
    <p:sldId id="352" r:id="rId19"/>
    <p:sldId id="353" r:id="rId20"/>
    <p:sldId id="354" r:id="rId21"/>
    <p:sldId id="355" r:id="rId22"/>
    <p:sldId id="351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71" r:id="rId39"/>
    <p:sldId id="372" r:id="rId40"/>
    <p:sldId id="373" r:id="rId41"/>
    <p:sldId id="341" r:id="rId42"/>
    <p:sldId id="342" r:id="rId43"/>
    <p:sldId id="344" r:id="rId44"/>
    <p:sldId id="345" r:id="rId45"/>
    <p:sldId id="346" r:id="rId46"/>
    <p:sldId id="335" r:id="rId47"/>
    <p:sldId id="336" r:id="rId48"/>
    <p:sldId id="337" r:id="rId49"/>
    <p:sldId id="338" r:id="rId50"/>
    <p:sldId id="339" r:id="rId51"/>
    <p:sldId id="340" r:id="rId52"/>
    <p:sldId id="312" r:id="rId53"/>
    <p:sldId id="313" r:id="rId54"/>
    <p:sldId id="314" r:id="rId55"/>
    <p:sldId id="315" r:id="rId56"/>
    <p:sldId id="316" r:id="rId57"/>
    <p:sldId id="282" r:id="rId58"/>
    <p:sldId id="374" r:id="rId59"/>
    <p:sldId id="283" r:id="rId60"/>
    <p:sldId id="375" r:id="rId61"/>
    <p:sldId id="319" r:id="rId62"/>
    <p:sldId id="320" r:id="rId63"/>
    <p:sldId id="321" r:id="rId64"/>
    <p:sldId id="323" r:id="rId65"/>
    <p:sldId id="322" r:id="rId66"/>
    <p:sldId id="330" r:id="rId67"/>
    <p:sldId id="331" r:id="rId68"/>
    <p:sldId id="325" r:id="rId69"/>
    <p:sldId id="332" r:id="rId70"/>
    <p:sldId id="333" r:id="rId71"/>
    <p:sldId id="334" r:id="rId72"/>
    <p:sldId id="347" r:id="rId73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xling" initials="w" lastIdx="1" clrIdx="0">
    <p:extLst>
      <p:ext uri="{19B8F6BF-5375-455C-9EA6-DF929625EA0E}">
        <p15:presenceInfo xmlns:p15="http://schemas.microsoft.com/office/powerpoint/2012/main" userId="wxl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CC"/>
    <a:srgbClr val="008000"/>
    <a:srgbClr val="C1FFFF"/>
    <a:srgbClr val="00FF00"/>
    <a:srgbClr val="FF8040"/>
    <a:srgbClr val="9999FF"/>
    <a:srgbClr val="3333FF"/>
    <a:srgbClr val="FFFFCC"/>
    <a:srgbClr val="F408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754" autoAdjust="0"/>
    <p:restoredTop sz="79190" autoAdjust="0"/>
  </p:normalViewPr>
  <p:slideViewPr>
    <p:cSldViewPr>
      <p:cViewPr varScale="1">
        <p:scale>
          <a:sx n="55" d="100"/>
          <a:sy n="55" d="100"/>
        </p:scale>
        <p:origin x="84" y="22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5-14T00:31:40.501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2B10997-0B41-402A-AD5E-E608438AC6C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678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90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16E8FD3-AFEB-4F56-846F-42A47FB8C1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6256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12EF4E0-C326-4A38-B4A2-2EC66DE67E3A}" type="slidenum">
              <a:rPr lang="en-US" altLang="zh-CN" smtClean="0"/>
              <a:pPr eaLnBrk="1" hangingPunct="1"/>
              <a:t>16</a:t>
            </a:fld>
            <a:endParaRPr lang="en-US" altLang="zh-CN" dirty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u="sng" dirty="0">
                <a:solidFill>
                  <a:srgbClr val="FF0000"/>
                </a:solidFill>
                <a:ea typeface="黑体" pitchFamily="49" charset="-122"/>
              </a:rPr>
              <a:t>“u</a:t>
            </a:r>
            <a:r>
              <a:rPr lang="zh-CN" altLang="en-US" u="sng">
                <a:solidFill>
                  <a:srgbClr val="FF0000"/>
                </a:solidFill>
                <a:ea typeface="黑体" pitchFamily="49" charset="-122"/>
              </a:rPr>
              <a:t>是</a:t>
            </a:r>
            <a:r>
              <a:rPr lang="en-US" altLang="zh-CN" u="sng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ea typeface="黑体" pitchFamily="49" charset="-122"/>
              </a:rPr>
              <a:t>的真假程度可用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A(u)</a:t>
            </a:r>
            <a:r>
              <a:rPr lang="zh-CN" altLang="en-US">
                <a:solidFill>
                  <a:srgbClr val="FF0000"/>
                </a:solidFill>
                <a:ea typeface="黑体" pitchFamily="49" charset="-122"/>
              </a:rPr>
              <a:t>表示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,</a:t>
            </a:r>
            <a:r>
              <a:rPr lang="zh-CN" altLang="en-US">
                <a:ea typeface="黑体" pitchFamily="49" charset="-122"/>
              </a:rPr>
              <a:t>记为</a:t>
            </a:r>
            <a:r>
              <a:rPr lang="en-US" altLang="zh-CN" dirty="0">
                <a:ea typeface="黑体" pitchFamily="49" charset="-122"/>
              </a:rPr>
              <a:t>(a)(u)=A(u)</a:t>
            </a:r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68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b="0" dirty="0">
                <a:ea typeface="宋体" charset="-122"/>
              </a:rPr>
              <a:t>此真值关系满足数学上的实际习惯</a:t>
            </a:r>
            <a:endParaRPr lang="en-US" altLang="zh-CN" b="0" dirty="0">
              <a:ea typeface="宋体" charset="-122"/>
            </a:endParaRP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0" dirty="0">
                <a:ea typeface="宋体" charset="-122"/>
                <a:cs typeface="Times New Roman" pitchFamily="18" charset="0"/>
              </a:rPr>
              <a:t>如：</a:t>
            </a:r>
            <a:r>
              <a:rPr lang="en-US" altLang="zh-CN" sz="2400" b="0" i="1" dirty="0">
                <a:ea typeface="宋体" charset="-122"/>
                <a:cs typeface="Times New Roman" pitchFamily="18" charset="0"/>
              </a:rPr>
              <a:t>p</a:t>
            </a:r>
            <a:r>
              <a:rPr lang="zh-CN" altLang="en-US" sz="2400" b="0" dirty="0">
                <a:ea typeface="宋体" charset="-122"/>
                <a:cs typeface="Times New Roman" pitchFamily="18" charset="0"/>
              </a:rPr>
              <a:t>：“</a:t>
            </a:r>
            <a:r>
              <a:rPr lang="en-US" altLang="zh-CN" sz="2400" b="0" dirty="0">
                <a:ea typeface="宋体" charset="-122"/>
                <a:cs typeface="Times New Roman" pitchFamily="18" charset="0"/>
              </a:rPr>
              <a:t>a&lt;1</a:t>
            </a:r>
            <a:r>
              <a:rPr lang="zh-CN" altLang="en-US" sz="2400" b="0" dirty="0">
                <a:ea typeface="宋体" charset="-122"/>
                <a:cs typeface="Times New Roman" pitchFamily="18" charset="0"/>
              </a:rPr>
              <a:t>”</a:t>
            </a:r>
            <a:r>
              <a:rPr lang="en-US" altLang="zh-CN" sz="2400" b="0" dirty="0">
                <a:ea typeface="宋体" charset="-122"/>
                <a:cs typeface="Times New Roman" pitchFamily="18" charset="0"/>
              </a:rPr>
              <a:t>,</a:t>
            </a:r>
            <a:r>
              <a:rPr lang="zh-CN" altLang="en-US" sz="2400" b="0" dirty="0">
                <a:ea typeface="宋体" charset="-122"/>
                <a:cs typeface="Times New Roman" pitchFamily="18" charset="0"/>
              </a:rPr>
              <a:t>  </a:t>
            </a:r>
            <a:r>
              <a:rPr lang="en-US" altLang="zh-CN" sz="2400" b="0" i="1" dirty="0">
                <a:ea typeface="宋体" charset="-122"/>
                <a:cs typeface="Times New Roman" pitchFamily="18" charset="0"/>
              </a:rPr>
              <a:t>q</a:t>
            </a:r>
            <a:r>
              <a:rPr lang="zh-CN" altLang="en-US" sz="2400" b="0" dirty="0">
                <a:ea typeface="宋体" charset="-122"/>
                <a:cs typeface="Times New Roman" pitchFamily="18" charset="0"/>
              </a:rPr>
              <a:t>：“</a:t>
            </a:r>
            <a:r>
              <a:rPr lang="en-US" altLang="zh-CN" sz="2400" b="0" dirty="0">
                <a:ea typeface="宋体" charset="-122"/>
                <a:cs typeface="Times New Roman" pitchFamily="18" charset="0"/>
              </a:rPr>
              <a:t>a&lt;5</a:t>
            </a:r>
            <a:r>
              <a:rPr lang="zh-CN" altLang="en-US" sz="2400" b="0" dirty="0">
                <a:ea typeface="宋体" charset="-122"/>
                <a:cs typeface="Times New Roman" pitchFamily="18" charset="0"/>
              </a:rPr>
              <a:t>”</a:t>
            </a:r>
          </a:p>
          <a:p>
            <a:pPr lvl="1" algn="just" eaLnBrk="1" hangingPunct="1">
              <a:lnSpc>
                <a:spcPct val="105000"/>
              </a:lnSpc>
            </a:pP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p</a:t>
            </a:r>
            <a:r>
              <a:rPr lang="en-US" altLang="zh-CN" sz="2400" b="0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sz="2400" b="0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q</a:t>
            </a:r>
            <a:r>
              <a:rPr lang="en-US" altLang="zh-CN" sz="2400" b="0" dirty="0">
                <a:solidFill>
                  <a:srgbClr val="3333FF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0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：</a:t>
            </a:r>
            <a:r>
              <a:rPr lang="zh-CN" altLang="en-US" sz="2400" b="0" u="sng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“若</a:t>
            </a:r>
            <a:r>
              <a:rPr lang="en-US" altLang="zh-CN" sz="2400" b="0" u="sng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a&lt;1</a:t>
            </a:r>
            <a:r>
              <a:rPr lang="zh-CN" altLang="en-US" sz="2400" b="0" u="sng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，则</a:t>
            </a:r>
            <a:r>
              <a:rPr lang="en-US" altLang="zh-CN" sz="2400" b="0" u="sng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a&lt;5</a:t>
            </a:r>
            <a:r>
              <a:rPr lang="zh-CN" altLang="en-US" sz="2400" b="0" u="sng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”</a:t>
            </a:r>
            <a:r>
              <a:rPr lang="zh-CN" altLang="en-US" sz="2400" b="0" u="sng" dirty="0">
                <a:ea typeface="宋体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zh-CN" altLang="en-US" sz="2400" b="0" u="sng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真命题</a:t>
            </a: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当</a:t>
            </a:r>
            <a:r>
              <a:rPr lang="en-US" altLang="zh-CN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a=6</a:t>
            </a:r>
            <a:r>
              <a:rPr lang="zh-CN" altLang="en-US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时，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p = 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q = 0</a:t>
            </a:r>
            <a:r>
              <a:rPr lang="zh-CN" altLang="en-US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此时， </a:t>
            </a:r>
            <a:r>
              <a:rPr lang="en-US" altLang="zh-CN" sz="2400" b="0" i="1" dirty="0" err="1">
                <a:ea typeface="宋体" charset="-122"/>
                <a:cs typeface="Times New Roman" pitchFamily="18" charset="0"/>
              </a:rPr>
              <a:t>p</a:t>
            </a:r>
            <a:r>
              <a:rPr lang="en-US" altLang="zh-CN" sz="2400" b="0" dirty="0" err="1">
                <a:ea typeface="宋体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0" i="1" dirty="0" err="1">
                <a:ea typeface="宋体" charset="-122"/>
                <a:cs typeface="Times New Roman" pitchFamily="18" charset="0"/>
                <a:sym typeface="Symbol" pitchFamily="18" charset="2"/>
              </a:rPr>
              <a:t>q</a:t>
            </a:r>
            <a:r>
              <a:rPr lang="en-US" altLang="zh-CN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真</a:t>
            </a: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当</a:t>
            </a:r>
            <a:r>
              <a:rPr lang="en-US" altLang="zh-CN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a=3</a:t>
            </a:r>
            <a:r>
              <a:rPr lang="zh-CN" altLang="en-US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时，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p=0, 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q=1</a:t>
            </a:r>
            <a:r>
              <a:rPr lang="zh-CN" altLang="en-US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此时， </a:t>
            </a:r>
            <a:r>
              <a:rPr lang="en-US" altLang="zh-CN" sz="2400" b="0" i="1" dirty="0" err="1">
                <a:ea typeface="宋体" charset="-122"/>
                <a:cs typeface="Times New Roman" pitchFamily="18" charset="0"/>
              </a:rPr>
              <a:t>p</a:t>
            </a:r>
            <a:r>
              <a:rPr lang="en-US" altLang="zh-CN" sz="2400" b="0" dirty="0" err="1">
                <a:ea typeface="宋体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0" i="1" dirty="0" err="1">
                <a:ea typeface="宋体" charset="-122"/>
                <a:cs typeface="Times New Roman" pitchFamily="18" charset="0"/>
                <a:sym typeface="Symbol" pitchFamily="18" charset="2"/>
              </a:rPr>
              <a:t>q</a:t>
            </a:r>
            <a:r>
              <a:rPr lang="en-US" altLang="zh-CN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真</a:t>
            </a:r>
            <a:endParaRPr lang="en-US" altLang="zh-CN" sz="2400" b="0" dirty="0">
              <a:ea typeface="宋体" charset="-122"/>
              <a:cs typeface="Times New Roman" pitchFamily="18" charset="0"/>
              <a:sym typeface="Symbol" pitchFamily="18" charset="2"/>
            </a:endParaRP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当</a:t>
            </a:r>
            <a:r>
              <a:rPr lang="en-US" altLang="zh-CN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a=0</a:t>
            </a:r>
            <a:r>
              <a:rPr lang="zh-CN" altLang="en-US" sz="2400" b="0" dirty="0">
                <a:solidFill>
                  <a:srgbClr val="FF0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时，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p = 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q = 1</a:t>
            </a:r>
            <a:r>
              <a:rPr lang="zh-CN" altLang="en-US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此时， </a:t>
            </a:r>
            <a:r>
              <a:rPr lang="en-US" altLang="zh-CN" sz="2400" b="0" i="1" dirty="0" err="1">
                <a:ea typeface="宋体" charset="-122"/>
                <a:cs typeface="Times New Roman" pitchFamily="18" charset="0"/>
              </a:rPr>
              <a:t>p</a:t>
            </a:r>
            <a:r>
              <a:rPr lang="en-US" altLang="zh-CN" sz="2400" b="0" dirty="0" err="1">
                <a:ea typeface="宋体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0" i="1" dirty="0" err="1">
                <a:ea typeface="宋体" charset="-122"/>
                <a:cs typeface="Times New Roman" pitchFamily="18" charset="0"/>
                <a:sym typeface="Symbol" pitchFamily="18" charset="2"/>
              </a:rPr>
              <a:t>q</a:t>
            </a:r>
            <a:r>
              <a:rPr lang="en-US" altLang="zh-CN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真</a:t>
            </a:r>
            <a:endParaRPr lang="en-US" altLang="zh-CN" sz="2400" b="0" dirty="0">
              <a:ea typeface="宋体" charset="-122"/>
              <a:cs typeface="Times New Roman" pitchFamily="18" charset="0"/>
              <a:sym typeface="Symbol" pitchFamily="18" charset="2"/>
            </a:endParaRP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不存在 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p=1, 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q=0</a:t>
            </a:r>
            <a:r>
              <a:rPr lang="zh-CN" altLang="en-US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0" dirty="0">
                <a:ea typeface="宋体" charset="-122"/>
                <a:cs typeface="Times New Roman" pitchFamily="18" charset="0"/>
                <a:sym typeface="Symbol" pitchFamily="18" charset="2"/>
              </a:rPr>
              <a:t>的情形</a:t>
            </a:r>
            <a:r>
              <a:rPr lang="en-US" altLang="zh-CN" sz="2400" b="0" i="1" dirty="0">
                <a:solidFill>
                  <a:srgbClr val="008000"/>
                </a:solidFill>
                <a:ea typeface="宋体" charset="-122"/>
                <a:cs typeface="Times New Roman" pitchFamily="18" charset="0"/>
              </a:rPr>
              <a:t> </a:t>
            </a:r>
            <a:endParaRPr lang="zh-CN" altLang="en-US" sz="2400" b="0" dirty="0">
              <a:ea typeface="宋体" charset="-122"/>
              <a:cs typeface="Times New Roman" pitchFamily="18" charset="0"/>
              <a:sym typeface="Symbol" pitchFamily="18" charset="2"/>
            </a:endParaRPr>
          </a:p>
          <a:p>
            <a:pPr lvl="2" algn="just" eaLnBrk="1" hangingPunct="1">
              <a:lnSpc>
                <a:spcPct val="105000"/>
              </a:lnSpc>
            </a:pPr>
            <a:endParaRPr lang="zh-CN" altLang="en-US" u="sng" dirty="0">
              <a:ea typeface="宋体" charset="-122"/>
              <a:cs typeface="Times New Roman" pitchFamily="18" charset="0"/>
            </a:endParaRPr>
          </a:p>
          <a:p>
            <a:endParaRPr lang="zh-CN" altLang="en-US" dirty="0">
              <a:ea typeface="宋体" charset="-122"/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10D3BD5B-44C9-400E-9F88-7A5D602F003A}" type="slidenum">
              <a:rPr lang="en-US" altLang="zh-CN" smtClean="0"/>
              <a:pPr eaLnBrk="1" hangingPunct="1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262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9266897-2288-4251-9F49-43C5A89E6E9B}" type="slidenum">
              <a:rPr lang="en-US" altLang="zh-CN" smtClean="0"/>
              <a:pPr eaLnBrk="1" hangingPunct="1"/>
              <a:t>21</a:t>
            </a:fld>
            <a:endParaRPr lang="en-US" altLang="zh-CN" dirty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抄下</a:t>
            </a:r>
            <a:r>
              <a:rPr lang="en-US" altLang="zh-CN" dirty="0"/>
              <a:t>:  A </a:t>
            </a:r>
            <a:r>
              <a:rPr lang="en-US" altLang="zh-CN" dirty="0">
                <a:sym typeface="Wingdings" pitchFamily="2" charset="2"/>
              </a:rPr>
              <a:t>B =……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723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E6C63FA-95F3-4A7D-9E83-B077B356D434}" type="slidenum">
              <a:rPr lang="en-US" altLang="zh-CN" smtClean="0"/>
              <a:pPr eaLnBrk="1" hangingPunct="1"/>
              <a:t>23</a:t>
            </a:fld>
            <a:endParaRPr lang="en-US" altLang="zh-CN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抄下</a:t>
            </a:r>
            <a:r>
              <a:rPr lang="en-US" altLang="zh-CN" dirty="0"/>
              <a:t>: (a)  </a:t>
            </a:r>
            <a:r>
              <a:rPr lang="en-US" altLang="zh-CN" dirty="0">
                <a:sym typeface="Wingdings" pitchFamily="2" charset="2"/>
              </a:rPr>
              <a:t> (b) = ……=……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3759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BC72BD2-083D-4042-ACCD-103A7BCF49EE}" type="slidenum">
              <a:rPr lang="en-US" altLang="zh-CN" smtClean="0"/>
              <a:pPr eaLnBrk="1" hangingPunct="1"/>
              <a:t>34</a:t>
            </a:fld>
            <a:endParaRPr lang="en-US" altLang="zh-CN" dirty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R=</a:t>
            </a:r>
          </a:p>
        </p:txBody>
      </p:sp>
    </p:spTree>
    <p:extLst>
      <p:ext uri="{BB962C8B-B14F-4D97-AF65-F5344CB8AC3E}">
        <p14:creationId xmlns:p14="http://schemas.microsoft.com/office/powerpoint/2010/main" val="183856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DB4947B-2875-4D86-8085-31EECCE80718}" type="slidenum">
              <a:rPr lang="en-US" altLang="zh-CN" smtClean="0"/>
              <a:pPr eaLnBrk="1" hangingPunct="1"/>
              <a:t>36</a:t>
            </a:fld>
            <a:endParaRPr lang="en-US" altLang="zh-CN" dirty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抄</a:t>
            </a:r>
            <a:r>
              <a:rPr lang="en-US" altLang="zh-CN" dirty="0"/>
              <a:t>X,Y</a:t>
            </a:r>
          </a:p>
        </p:txBody>
      </p:sp>
    </p:spTree>
    <p:extLst>
      <p:ext uri="{BB962C8B-B14F-4D97-AF65-F5344CB8AC3E}">
        <p14:creationId xmlns:p14="http://schemas.microsoft.com/office/powerpoint/2010/main" val="1711722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2BF3263-BBCF-4FF5-972E-79D36EFC35FC}" type="slidenum">
              <a:rPr lang="en-US" altLang="zh-CN" smtClean="0"/>
              <a:pPr eaLnBrk="1" hangingPunct="1"/>
              <a:t>40</a:t>
            </a:fld>
            <a:endParaRPr lang="en-US" altLang="zh-CN" dirty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解释</a:t>
            </a:r>
            <a:r>
              <a:rPr lang="en-US" altLang="zh-CN" dirty="0"/>
              <a:t>R=</a:t>
            </a:r>
          </a:p>
        </p:txBody>
      </p:sp>
    </p:spTree>
    <p:extLst>
      <p:ext uri="{BB962C8B-B14F-4D97-AF65-F5344CB8AC3E}">
        <p14:creationId xmlns:p14="http://schemas.microsoft.com/office/powerpoint/2010/main" val="455168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1604EF6-7D05-4BB1-BCEC-ACEB64E6A1C0}" type="slidenum">
              <a:rPr lang="en-US" altLang="zh-CN" smtClean="0"/>
              <a:pPr eaLnBrk="1" hangingPunct="1"/>
              <a:t>50</a:t>
            </a:fld>
            <a:endParaRPr lang="en-US" altLang="zh-CN" dirty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7408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6E8FD3-AFEB-4F56-846F-42A47FB8C14F}" type="slidenum">
              <a:rPr lang="en-US" altLang="zh-CN" smtClean="0"/>
              <a:pPr>
                <a:defRPr/>
              </a:pPr>
              <a:t>66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0156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l"/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5672" y="6248400"/>
            <a:ext cx="44584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2BFEC-44C5-4153-B32A-6284F42245C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9402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-4924" y="6248400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5F0F2-44EC-4D46-8912-639E305D2B3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59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F954D-DD98-4138-B8D1-055CF0133B5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57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30643" y="6264275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F706F-8DDC-404F-A8E0-F4FFD0110F3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713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B4EAA-0B52-4843-874C-E0E73DC1B8B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460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27908" y="6264275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995EF-43F0-48DB-A74A-A1837DD3158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9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63760" y="6248400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2AEF5-DF13-45FD-971B-7400E1910EA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769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E04A3-985D-478A-9416-DC4158BAEE1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299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F78A0-5AF2-4BC2-A790-099933E5B53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668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B5595-5D94-49C9-983D-5BA0C546349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2574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4325-7AB5-4B8D-85EB-E56BCFEF16E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4155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72C7F-D2B1-4724-A95F-4D93D115644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4353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70D86-D182-40B9-A35F-CF92249B9F9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941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56DC902-F48F-4421-8E5D-FFBE2959BCD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2.bin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2.wmf"/><Relationship Id="rId18" Type="http://schemas.openxmlformats.org/officeDocument/2006/relationships/oleObject" Target="../embeddings/oleObject26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5.w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7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wmf"/><Relationship Id="rId4" Type="http://schemas.openxmlformats.org/officeDocument/2006/relationships/oleObject" Target="../embeddings/oleObject3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3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6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5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8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0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5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60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2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2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4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2.wmf"/><Relationship Id="rId5" Type="http://schemas.openxmlformats.org/officeDocument/2006/relationships/image" Target="../media/image70.wmf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7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70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7" Type="http://schemas.openxmlformats.org/officeDocument/2006/relationships/image" Target="../media/image77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4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9.wmf"/><Relationship Id="rId4" Type="http://schemas.openxmlformats.org/officeDocument/2006/relationships/oleObject" Target="../embeddings/oleObject75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83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wmf"/><Relationship Id="rId4" Type="http://schemas.openxmlformats.org/officeDocument/2006/relationships/oleObject" Target="../embeddings/oleObject82.bin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7588" y="2060575"/>
            <a:ext cx="83804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>
                <a:solidFill>
                  <a:srgbClr val="E8E81C"/>
                </a:solidFill>
                <a:ea typeface="隶书" pitchFamily="49" charset="-122"/>
              </a:rPr>
              <a:t> </a:t>
            </a:r>
            <a:r>
              <a:rPr lang="en-US" altLang="zh-CN" sz="6600" b="1" dirty="0">
                <a:solidFill>
                  <a:srgbClr val="E8E81C"/>
                </a:solidFill>
                <a:ea typeface="隶书" pitchFamily="49" charset="-122"/>
              </a:rPr>
              <a:t>7 </a:t>
            </a:r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模糊语言与模糊推理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71665" y="4221088"/>
            <a:ext cx="6697811" cy="2636912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7.3 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普通文法</a:t>
            </a: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7.4  F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文法</a:t>
            </a: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7.5 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判断句和推理句及逻辑推理</a:t>
            </a: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7.6 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在不同论域上的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推理句</a:t>
            </a: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7.7 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似然推理与条件语句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2E5ACC-0B52-B96A-A2FA-73FD5794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2BFEC-44C5-4153-B32A-6284F42245C3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  <a:ea typeface="黑体" pitchFamily="49" charset="-122"/>
              </a:rPr>
              <a:t>7.3 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普通文法的定义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8686800" cy="4687888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1D7527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1D7527"/>
                </a:solidFill>
                <a:ea typeface="黑体" pitchFamily="49" charset="-122"/>
              </a:rPr>
              <a:t>定义</a:t>
            </a:r>
            <a:r>
              <a:rPr lang="en-US" altLang="zh-CN" dirty="0">
                <a:solidFill>
                  <a:srgbClr val="1D7527"/>
                </a:solidFill>
                <a:ea typeface="黑体" pitchFamily="49" charset="-122"/>
              </a:rPr>
              <a:t>]</a:t>
            </a:r>
            <a:r>
              <a:rPr lang="zh-CN" altLang="en-US" dirty="0">
                <a:ea typeface="黑体" pitchFamily="49" charset="-122"/>
              </a:rPr>
              <a:t>一个普通文法是指四元组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           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G=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T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S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P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）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T </a:t>
            </a:r>
            <a:r>
              <a:rPr lang="en-US" altLang="zh-CN" dirty="0">
                <a:ea typeface="黑体" pitchFamily="49" charset="-122"/>
              </a:rPr>
              <a:t>——</a:t>
            </a:r>
            <a:r>
              <a:rPr lang="zh-CN" altLang="en-US" dirty="0">
                <a:ea typeface="黑体" pitchFamily="49" charset="-122"/>
              </a:rPr>
              <a:t>终极符号的集合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N </a:t>
            </a:r>
            <a:r>
              <a:rPr lang="en-US" altLang="zh-CN" dirty="0">
                <a:ea typeface="黑体" pitchFamily="49" charset="-122"/>
              </a:rPr>
              <a:t>——</a:t>
            </a:r>
            <a:r>
              <a:rPr lang="zh-CN" altLang="en-US" dirty="0">
                <a:ea typeface="黑体" pitchFamily="49" charset="-122"/>
              </a:rPr>
              <a:t>过渡符号的集合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S  ——</a:t>
            </a:r>
            <a:r>
              <a:rPr lang="zh-CN" altLang="en-US" dirty="0">
                <a:ea typeface="黑体" pitchFamily="49" charset="-122"/>
              </a:rPr>
              <a:t>起始符号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P  ——</a:t>
            </a:r>
            <a:r>
              <a:rPr lang="zh-CN" altLang="en-US" dirty="0">
                <a:ea typeface="黑体" pitchFamily="49" charset="-122"/>
              </a:rPr>
              <a:t>规则集合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约束条件： 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V</a:t>
            </a:r>
            <a:r>
              <a:rPr lang="en-US" altLang="zh-CN" b="1" baseline="-25000" dirty="0">
                <a:solidFill>
                  <a:srgbClr val="1D7527"/>
                </a:solidFill>
                <a:ea typeface="黑体" pitchFamily="49" charset="-122"/>
              </a:rPr>
              <a:t>T</a:t>
            </a:r>
            <a:r>
              <a:rPr lang="en-US" altLang="en-US" b="1" dirty="0">
                <a:solidFill>
                  <a:srgbClr val="1D7527"/>
                </a:solidFill>
                <a:ea typeface="黑体" pitchFamily="49" charset="-122"/>
                <a:sym typeface="Symbol" panose="05050102010706020507" pitchFamily="18" charset="2"/>
              </a:rPr>
              <a:t>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V</a:t>
            </a:r>
            <a:r>
              <a:rPr lang="en-US" altLang="zh-CN" b="1" baseline="-25000" dirty="0">
                <a:solidFill>
                  <a:srgbClr val="1D7527"/>
                </a:solidFill>
                <a:ea typeface="黑体" pitchFamily="49" charset="-122"/>
              </a:rPr>
              <a:t>N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= </a:t>
            </a:r>
            <a:r>
              <a:rPr lang="en-US" altLang="zh-CN" dirty="0">
                <a:solidFill>
                  <a:srgbClr val="1D7527"/>
                </a:solidFill>
                <a:cs typeface="Arial" charset="0"/>
              </a:rPr>
              <a:t>Ø </a:t>
            </a:r>
            <a:endParaRPr lang="en-US" altLang="zh-CN" b="1" dirty="0">
              <a:solidFill>
                <a:srgbClr val="1D7527"/>
              </a:solidFill>
              <a:ea typeface="黑体" pitchFamily="49" charset="-122"/>
            </a:endParaRPr>
          </a:p>
          <a:p>
            <a:pPr lvl="1" eaLnBrk="1" hangingPunct="1">
              <a:buNone/>
            </a:pP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                     P 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  <a:sym typeface="Symbol" panose="05050102010706020507" pitchFamily="18" charset="2"/>
              </a:rPr>
              <a:t> 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{(</a:t>
            </a:r>
            <a:r>
              <a:rPr lang="el-GR" altLang="zh-CN" b="1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α</a:t>
            </a:r>
            <a:r>
              <a:rPr lang="el-GR" altLang="zh-CN" b="1" dirty="0">
                <a:solidFill>
                  <a:srgbClr val="1D7527"/>
                </a:solidFill>
                <a:ea typeface="黑体" pitchFamily="49" charset="-122"/>
                <a:sym typeface="Symbol" panose="05050102010706020507" pitchFamily="18" charset="2"/>
              </a:rPr>
              <a:t></a:t>
            </a:r>
            <a:r>
              <a:rPr lang="el-GR" altLang="zh-CN" b="1" dirty="0">
                <a:solidFill>
                  <a:srgbClr val="1D7527"/>
                </a:solidFill>
                <a:ea typeface="黑体" pitchFamily="49" charset="-122"/>
              </a:rPr>
              <a:t>β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)|</a:t>
            </a:r>
            <a:r>
              <a:rPr lang="el-GR" altLang="zh-CN" b="1" dirty="0">
                <a:solidFill>
                  <a:srgbClr val="1D7527"/>
                </a:solidFill>
                <a:ea typeface="黑体" pitchFamily="49" charset="-122"/>
              </a:rPr>
              <a:t>α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S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V</a:t>
            </a:r>
            <a:r>
              <a:rPr lang="en-US" altLang="zh-CN" b="1" baseline="-25000" dirty="0">
                <a:solidFill>
                  <a:srgbClr val="1D7527"/>
                </a:solidFill>
                <a:ea typeface="黑体" pitchFamily="49" charset="-122"/>
              </a:rPr>
              <a:t>N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, </a:t>
            </a:r>
            <a:r>
              <a:rPr lang="el-GR" altLang="zh-CN" b="1" dirty="0">
                <a:solidFill>
                  <a:srgbClr val="1D7527"/>
                </a:solidFill>
                <a:ea typeface="黑体" pitchFamily="49" charset="-122"/>
              </a:rPr>
              <a:t>β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V</a:t>
            </a:r>
            <a:r>
              <a:rPr lang="en-US" altLang="zh-CN" b="1" baseline="-25000" dirty="0">
                <a:solidFill>
                  <a:srgbClr val="1D7527"/>
                </a:solidFill>
                <a:ea typeface="黑体" pitchFamily="49" charset="-122"/>
              </a:rPr>
              <a:t>T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V</a:t>
            </a:r>
            <a:r>
              <a:rPr lang="en-US" altLang="zh-CN" b="1" baseline="-25000" dirty="0">
                <a:solidFill>
                  <a:srgbClr val="1D7527"/>
                </a:solidFill>
                <a:ea typeface="黑体" pitchFamily="49" charset="-122"/>
              </a:rPr>
              <a:t>N</a:t>
            </a:r>
            <a:r>
              <a:rPr lang="en-US" altLang="zh-CN" b="1" dirty="0">
                <a:solidFill>
                  <a:srgbClr val="1D7527"/>
                </a:solidFill>
                <a:ea typeface="黑体" pitchFamily="49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212232-7E25-C290-010C-4835448DF7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普通文法的举例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1412876"/>
            <a:ext cx="8229600" cy="544512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49" charset="-122"/>
              </a:rPr>
              <a:t>[P169</a:t>
            </a:r>
            <a:r>
              <a:rPr lang="zh-CN" altLang="en-US" dirty="0">
                <a:ea typeface="黑体" pitchFamily="49" charset="-122"/>
              </a:rPr>
              <a:t>例</a:t>
            </a:r>
            <a:r>
              <a:rPr lang="en-US" altLang="zh-CN" dirty="0">
                <a:ea typeface="黑体" pitchFamily="49" charset="-122"/>
              </a:rPr>
              <a:t>1]</a:t>
            </a:r>
            <a:r>
              <a:rPr lang="zh-CN" altLang="en-US" dirty="0">
                <a:ea typeface="黑体" pitchFamily="49" charset="-122"/>
              </a:rPr>
              <a:t>机器描述等腰三角形的文法：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G=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T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S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P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）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T</a:t>
            </a:r>
            <a:r>
              <a:rPr lang="en-US" altLang="zh-CN" dirty="0">
                <a:ea typeface="黑体" pitchFamily="49" charset="-122"/>
              </a:rPr>
              <a:t>={a, b, c} </a:t>
            </a:r>
            <a:r>
              <a:rPr lang="zh-CN" altLang="en-US" dirty="0">
                <a:ea typeface="黑体" pitchFamily="49" charset="-122"/>
              </a:rPr>
              <a:t>， 即三边的集合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N</a:t>
            </a:r>
            <a:r>
              <a:rPr lang="en-US" altLang="zh-CN" dirty="0">
                <a:ea typeface="黑体" pitchFamily="49" charset="-122"/>
              </a:rPr>
              <a:t>={A, B}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P={</a:t>
            </a:r>
            <a:r>
              <a:rPr lang="en-US" altLang="zh-CN" dirty="0" err="1">
                <a:ea typeface="黑体" pitchFamily="49" charset="-122"/>
              </a:rPr>
              <a:t>S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aAc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A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aAc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A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bB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B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bB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B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b</a:t>
            </a:r>
            <a:r>
              <a:rPr lang="en-US" altLang="zh-CN" dirty="0">
                <a:ea typeface="黑体" pitchFamily="49" charset="-122"/>
              </a:rPr>
              <a:t>}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      </a:t>
            </a:r>
            <a:r>
              <a:rPr lang="en-US" altLang="zh-CN" baseline="50000" dirty="0">
                <a:ea typeface="黑体" pitchFamily="49" charset="-122"/>
              </a:rPr>
              <a:t>p1                p2                  p3              p4               p5</a:t>
            </a:r>
            <a:r>
              <a:rPr lang="en-US" altLang="zh-CN" dirty="0">
                <a:ea typeface="黑体" pitchFamily="49" charset="-122"/>
              </a:rPr>
              <a:t>  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若</a:t>
            </a:r>
            <a:r>
              <a:rPr lang="en-US" altLang="zh-CN" dirty="0">
                <a:ea typeface="黑体" pitchFamily="49" charset="-122"/>
              </a:rPr>
              <a:t>a, b, c</a:t>
            </a:r>
            <a:r>
              <a:rPr lang="zh-CN" altLang="en-US" dirty="0">
                <a:ea typeface="黑体" pitchFamily="49" charset="-122"/>
              </a:rPr>
              <a:t>分别表示三角形各边的单位长，且</a:t>
            </a:r>
            <a:r>
              <a:rPr lang="en-US" altLang="zh-CN" dirty="0">
                <a:ea typeface="黑体" pitchFamily="49" charset="-122"/>
              </a:rPr>
              <a:t>a=c,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则文法生成的句子描述了一个等腰三角形</a:t>
            </a: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此文法得到字符串形式：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3333FF"/>
                </a:solidFill>
              </a:rPr>
              <a:t>               </a:t>
            </a:r>
            <a:r>
              <a:rPr lang="en-US" altLang="zh-CN" b="1" dirty="0">
                <a:solidFill>
                  <a:srgbClr val="3333FF"/>
                </a:solidFill>
              </a:rPr>
              <a:t>{</a:t>
            </a:r>
            <a:r>
              <a:rPr lang="en-US" altLang="zh-CN" b="1" dirty="0" err="1">
                <a:solidFill>
                  <a:srgbClr val="3333FF"/>
                </a:solidFill>
              </a:rPr>
              <a:t>a</a:t>
            </a:r>
            <a:r>
              <a:rPr lang="en-US" altLang="zh-CN" b="1" baseline="30000" dirty="0" err="1">
                <a:solidFill>
                  <a:srgbClr val="3333FF"/>
                </a:solidFill>
              </a:rPr>
              <a:t>n</a:t>
            </a:r>
            <a:r>
              <a:rPr lang="en-US" altLang="zh-CN" b="1" dirty="0" err="1">
                <a:solidFill>
                  <a:srgbClr val="3333FF"/>
                </a:solidFill>
              </a:rPr>
              <a:t>b</a:t>
            </a:r>
            <a:r>
              <a:rPr lang="en-US" altLang="zh-CN" b="1" baseline="30000" dirty="0" err="1">
                <a:solidFill>
                  <a:srgbClr val="3333FF"/>
                </a:solidFill>
              </a:rPr>
              <a:t>m</a:t>
            </a:r>
            <a:r>
              <a:rPr lang="en-US" altLang="zh-CN" b="1" dirty="0" err="1">
                <a:solidFill>
                  <a:srgbClr val="3333FF"/>
                </a:solidFill>
              </a:rPr>
              <a:t>c</a:t>
            </a:r>
            <a:r>
              <a:rPr lang="en-US" altLang="zh-CN" b="1" baseline="30000" dirty="0" err="1">
                <a:solidFill>
                  <a:srgbClr val="3333FF"/>
                </a:solidFill>
              </a:rPr>
              <a:t>n</a:t>
            </a:r>
            <a:r>
              <a:rPr lang="en-US" altLang="zh-CN" b="1" dirty="0">
                <a:solidFill>
                  <a:srgbClr val="3333FF"/>
                </a:solidFill>
              </a:rPr>
              <a:t>}        n≥1, m≥2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78BB58-5682-CA13-4308-381D0CB650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7.4  F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文法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341438"/>
            <a:ext cx="10513168" cy="5516562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228A2E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定义</a:t>
            </a:r>
            <a:r>
              <a:rPr lang="en-US" altLang="zh-CN" dirty="0">
                <a:solidFill>
                  <a:srgbClr val="228A2E"/>
                </a:solidFill>
                <a:ea typeface="黑体" pitchFamily="49" charset="-122"/>
              </a:rPr>
              <a:t>]</a:t>
            </a:r>
            <a:r>
              <a:rPr lang="zh-CN" altLang="en-US" dirty="0">
                <a:ea typeface="黑体" pitchFamily="49" charset="-122"/>
              </a:rPr>
              <a:t>一个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文法是指五元组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             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G=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T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S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P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b="1" dirty="0">
                <a:solidFill>
                  <a:srgbClr val="3333FF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49" charset="-122"/>
              </a:rPr>
              <a:t>  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T</a:t>
            </a:r>
            <a:r>
              <a:rPr lang="en-US" altLang="zh-CN" dirty="0">
                <a:ea typeface="黑体" pitchFamily="49" charset="-122"/>
              </a:rPr>
              <a:t>—</a:t>
            </a:r>
            <a:r>
              <a:rPr lang="zh-CN" altLang="en-US" dirty="0">
                <a:ea typeface="黑体" pitchFamily="49" charset="-122"/>
              </a:rPr>
              <a:t>终极符号的集合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N</a:t>
            </a:r>
            <a:r>
              <a:rPr lang="en-US" altLang="zh-CN" dirty="0">
                <a:ea typeface="黑体" pitchFamily="49" charset="-122"/>
              </a:rPr>
              <a:t>—</a:t>
            </a:r>
            <a:r>
              <a:rPr lang="zh-CN" altLang="en-US" dirty="0">
                <a:ea typeface="黑体" pitchFamily="49" charset="-122"/>
              </a:rPr>
              <a:t>过渡符号的集合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黑体" pitchFamily="49" charset="-122"/>
              </a:rPr>
              <a:t>S  —</a:t>
            </a:r>
            <a:r>
              <a:rPr lang="zh-CN" altLang="en-US" dirty="0">
                <a:ea typeface="黑体" pitchFamily="49" charset="-122"/>
              </a:rPr>
              <a:t>起始符号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黑体" pitchFamily="49" charset="-122"/>
              </a:rPr>
              <a:t>P  —</a:t>
            </a:r>
            <a:r>
              <a:rPr lang="zh-CN" altLang="en-US" dirty="0">
                <a:ea typeface="黑体" pitchFamily="49" charset="-122"/>
              </a:rPr>
              <a:t>规则集合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3333FF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 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—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是映射： </a:t>
            </a:r>
            <a:r>
              <a:rPr lang="en-US" altLang="zh-CN" b="1" dirty="0">
                <a:solidFill>
                  <a:srgbClr val="3333FF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: P </a:t>
            </a:r>
            <a:r>
              <a:rPr lang="el-GR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[0, 1]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</a:t>
            </a:r>
            <a:r>
              <a:rPr lang="zh-CN" altLang="en-US" dirty="0">
                <a:ea typeface="黑体" pitchFamily="49" charset="-122"/>
              </a:rPr>
              <a:t>若</a:t>
            </a:r>
            <a:r>
              <a:rPr lang="en-US" altLang="zh-CN" dirty="0">
                <a:ea typeface="黑体" pitchFamily="49" charset="-122"/>
              </a:rPr>
              <a:t>(</a:t>
            </a:r>
            <a:r>
              <a:rPr lang="el-GR" altLang="zh-CN" dirty="0">
                <a:ea typeface="黑体" pitchFamily="49" charset="-122"/>
              </a:rPr>
              <a:t>α→β</a:t>
            </a:r>
            <a:r>
              <a:rPr lang="en-US" altLang="zh-CN" dirty="0">
                <a:ea typeface="黑体" pitchFamily="49" charset="-122"/>
              </a:rPr>
              <a:t>)</a:t>
            </a:r>
            <a:r>
              <a:rPr lang="en-US" altLang="zh-CN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ea typeface="黑体" pitchFamily="49" charset="-122"/>
              </a:rPr>
              <a:t>P</a:t>
            </a:r>
            <a:r>
              <a:rPr lang="zh-CN" altLang="en-US" dirty="0">
                <a:ea typeface="黑体" pitchFamily="49" charset="-122"/>
              </a:rPr>
              <a:t>，记为 </a:t>
            </a:r>
            <a:r>
              <a:rPr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dirty="0">
                <a:ea typeface="黑体" pitchFamily="49" charset="-122"/>
              </a:rPr>
              <a:t>(</a:t>
            </a:r>
            <a:r>
              <a:rPr lang="el-GR" altLang="zh-CN" dirty="0">
                <a:ea typeface="黑体" pitchFamily="49" charset="-122"/>
              </a:rPr>
              <a:t>α→β</a:t>
            </a:r>
            <a:r>
              <a:rPr lang="en-US" altLang="zh-CN" dirty="0">
                <a:ea typeface="黑体" pitchFamily="49" charset="-122"/>
              </a:rPr>
              <a:t>)=</a:t>
            </a:r>
            <a:r>
              <a:rPr lang="el-GR" altLang="zh-CN" dirty="0">
                <a:ea typeface="黑体" pitchFamily="49" charset="-122"/>
                <a:cs typeface="Arial" charset="0"/>
              </a:rPr>
              <a:t>ρ</a:t>
            </a:r>
            <a:r>
              <a:rPr lang="en-US" altLang="zh-CN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ea typeface="黑体" pitchFamily="49" charset="-122"/>
              </a:rPr>
              <a:t>[0, 1]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</a:t>
            </a:r>
            <a:r>
              <a:rPr lang="zh-CN" altLang="en-US" dirty="0">
                <a:ea typeface="黑体" pitchFamily="49" charset="-122"/>
              </a:rPr>
              <a:t>或写为                  ，这是一个生成规则，由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文法生成的话，是</a:t>
            </a:r>
            <a:r>
              <a:rPr lang="en-US" altLang="zh-CN" dirty="0">
                <a:ea typeface="黑体" pitchFamily="49" charset="-122"/>
              </a:rPr>
              <a:t>T*</a:t>
            </a:r>
            <a:r>
              <a:rPr lang="zh-CN" altLang="en-US" dirty="0">
                <a:ea typeface="黑体" pitchFamily="49" charset="-122"/>
              </a:rPr>
              <a:t>的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子集，记为</a:t>
            </a:r>
            <a:r>
              <a:rPr lang="en-US" altLang="zh-CN" dirty="0">
                <a:ea typeface="黑体" pitchFamily="49" charset="-122"/>
              </a:rPr>
              <a:t>G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每一个句子对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G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都有一定的隶属度</a:t>
            </a:r>
          </a:p>
        </p:txBody>
      </p:sp>
      <p:graphicFrame>
        <p:nvGraphicFramePr>
          <p:cNvPr id="11059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77470470"/>
              </p:ext>
            </p:extLst>
          </p:nvPr>
        </p:nvGraphicFramePr>
        <p:xfrm>
          <a:off x="3215680" y="5157789"/>
          <a:ext cx="13684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0400" imgH="228600" progId="Equation.3">
                  <p:embed/>
                </p:oleObj>
              </mc:Choice>
              <mc:Fallback>
                <p:oleObj name="公式" r:id="rId2" imgW="660400" imgH="228600" progId="Equation.3">
                  <p:embed/>
                  <p:pic>
                    <p:nvPicPr>
                      <p:cNvPr id="1105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157789"/>
                        <a:ext cx="1368425" cy="473075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979403310"/>
              </p:ext>
            </p:extLst>
          </p:nvPr>
        </p:nvGraphicFramePr>
        <p:xfrm>
          <a:off x="8442324" y="1508062"/>
          <a:ext cx="2406203" cy="32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1193760" progId="Equation.DSMT4">
                  <p:embed/>
                </p:oleObj>
              </mc:Choice>
              <mc:Fallback>
                <p:oleObj name="Equation" r:id="rId4" imgW="888840" imgH="1193760" progId="Equation.DSMT4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2324" y="1508062"/>
                        <a:ext cx="2406203" cy="322903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AA8000E-5910-2200-52B4-D57186644E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1D7527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1D7527"/>
                </a:solidFill>
                <a:ea typeface="黑体" pitchFamily="49" charset="-122"/>
              </a:rPr>
              <a:t>文法中句子隶属度计算法则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628776"/>
            <a:ext cx="10153128" cy="52292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设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是一个句子，那么一定存在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,…,a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n-1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，使得</a:t>
            </a:r>
          </a:p>
          <a:p>
            <a:pPr eaLnBrk="1" hangingPunct="1"/>
            <a:endParaRPr lang="zh-CN" altLang="en-US" sz="4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称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(S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，</a:t>
            </a:r>
            <a:r>
              <a:rPr lang="en-US" altLang="zh-CN" i="1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en-US" altLang="zh-CN" i="1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,…,</a:t>
            </a:r>
            <a:r>
              <a:rPr lang="en-US" altLang="zh-CN" i="1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n-1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为一条导出链，称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为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导出句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（终止句），则</a:t>
            </a:r>
          </a:p>
          <a:p>
            <a:pPr eaLnBrk="1" hangingPunct="1"/>
            <a:endParaRPr lang="zh-CN" altLang="en-US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/>
            <a:endParaRPr lang="zh-CN" altLang="en-US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其中，                             为第</a:t>
            </a:r>
            <a:r>
              <a:rPr lang="en-US" altLang="zh-CN" dirty="0" err="1">
                <a:ea typeface="黑体" pitchFamily="49" charset="-122"/>
              </a:rPr>
              <a:t>i</a:t>
            </a:r>
            <a:r>
              <a:rPr lang="zh-CN" altLang="en-US" dirty="0">
                <a:ea typeface="黑体" pitchFamily="49" charset="-122"/>
              </a:rPr>
              <a:t>条导出链的强度，把最大的强度作为导出句的隶属度</a:t>
            </a:r>
            <a:r>
              <a:rPr lang="en-US" altLang="zh-CN" dirty="0">
                <a:ea typeface="黑体" pitchFamily="49" charset="-122"/>
              </a:rPr>
              <a:t>G(x)</a:t>
            </a:r>
          </a:p>
        </p:txBody>
      </p:sp>
      <p:graphicFrame>
        <p:nvGraphicFramePr>
          <p:cNvPr id="11162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8538597"/>
              </p:ext>
            </p:extLst>
          </p:nvPr>
        </p:nvGraphicFramePr>
        <p:xfrm>
          <a:off x="2098849" y="2397125"/>
          <a:ext cx="71278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86100" imgH="241300" progId="Equation.3">
                  <p:embed/>
                </p:oleObj>
              </mc:Choice>
              <mc:Fallback>
                <p:oleObj name="公式" r:id="rId2" imgW="3086100" imgH="241300" progId="Equation.3">
                  <p:embed/>
                  <p:pic>
                    <p:nvPicPr>
                      <p:cNvPr id="1116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849" y="2397125"/>
                        <a:ext cx="712787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81337121"/>
              </p:ext>
            </p:extLst>
          </p:nvPr>
        </p:nvGraphicFramePr>
        <p:xfrm>
          <a:off x="3071664" y="4220567"/>
          <a:ext cx="475297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66900" imgH="368300" progId="Equation.3">
                  <p:embed/>
                </p:oleObj>
              </mc:Choice>
              <mc:Fallback>
                <p:oleObj name="公式" r:id="rId4" imgW="1866900" imgH="368300" progId="Equation.3">
                  <p:embed/>
                  <p:pic>
                    <p:nvPicPr>
                      <p:cNvPr id="1116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4220567"/>
                        <a:ext cx="475297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654068"/>
              </p:ext>
            </p:extLst>
          </p:nvPr>
        </p:nvGraphicFramePr>
        <p:xfrm>
          <a:off x="2711623" y="5293072"/>
          <a:ext cx="29511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18671" imgH="241195" progId="Equation.3">
                  <p:embed/>
                </p:oleObj>
              </mc:Choice>
              <mc:Fallback>
                <p:oleObj name="公式" r:id="rId6" imgW="1218671" imgH="241195" progId="Equation.3">
                  <p:embed/>
                  <p:pic>
                    <p:nvPicPr>
                      <p:cNvPr id="1116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3" y="5293072"/>
                        <a:ext cx="295116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F75278-F7B0-FE2A-B119-F056340FF0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1D7527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1D7527"/>
                </a:solidFill>
                <a:ea typeface="黑体" pitchFamily="49" charset="-122"/>
              </a:rPr>
              <a:t>文法中句子隶属度计算举例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84314"/>
            <a:ext cx="8856340" cy="43830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[</a:t>
            </a:r>
            <a:r>
              <a:rPr lang="en-US" altLang="zh-CN" dirty="0"/>
              <a:t>P170</a:t>
            </a:r>
            <a:r>
              <a:rPr lang="zh-CN" altLang="en-US" dirty="0"/>
              <a:t>例</a:t>
            </a:r>
            <a:r>
              <a:rPr lang="en-US" altLang="zh-CN" dirty="0"/>
              <a:t>1]</a:t>
            </a:r>
            <a:r>
              <a:rPr lang="zh-CN" altLang="en-US" dirty="0"/>
              <a:t>在</a:t>
            </a:r>
            <a:r>
              <a:rPr lang="en-US" altLang="zh-CN" dirty="0"/>
              <a:t>FG= </a:t>
            </a:r>
            <a:r>
              <a:rPr lang="zh-CN" altLang="en-US" dirty="0">
                <a:ea typeface="黑体" pitchFamily="49" charset="-122"/>
              </a:rPr>
              <a:t>（</a:t>
            </a:r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T</a:t>
            </a:r>
            <a:r>
              <a:rPr lang="en-US" altLang="zh-CN" dirty="0">
                <a:ea typeface="黑体" pitchFamily="49" charset="-122"/>
              </a:rPr>
              <a:t>, V</a:t>
            </a:r>
            <a:r>
              <a:rPr lang="en-US" altLang="zh-CN" baseline="-25000" dirty="0">
                <a:ea typeface="黑体" pitchFamily="49" charset="-122"/>
              </a:rPr>
              <a:t>N</a:t>
            </a:r>
            <a:r>
              <a:rPr lang="en-US" altLang="zh-CN" dirty="0">
                <a:ea typeface="黑体" pitchFamily="49" charset="-122"/>
              </a:rPr>
              <a:t>, S, P, </a:t>
            </a:r>
            <a:r>
              <a:rPr lang="en-US" altLang="zh-CN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 dirty="0">
                <a:ea typeface="黑体" pitchFamily="49" charset="-122"/>
              </a:rPr>
              <a:t>）中，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              </a:t>
            </a:r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T</a:t>
            </a:r>
            <a:r>
              <a:rPr lang="en-US" altLang="zh-CN" dirty="0">
                <a:ea typeface="黑体" pitchFamily="49" charset="-122"/>
              </a:rPr>
              <a:t>={a, b}, V</a:t>
            </a:r>
            <a:r>
              <a:rPr lang="en-US" altLang="zh-CN" baseline="-25000" dirty="0">
                <a:ea typeface="黑体" pitchFamily="49" charset="-122"/>
              </a:rPr>
              <a:t>N</a:t>
            </a:r>
            <a:r>
              <a:rPr lang="en-US" altLang="zh-CN" dirty="0">
                <a:ea typeface="黑体" pitchFamily="49" charset="-122"/>
              </a:rPr>
              <a:t>={A, B}, P</a:t>
            </a:r>
            <a:r>
              <a:rPr lang="zh-CN" altLang="en-US" dirty="0">
                <a:ea typeface="黑体" pitchFamily="49" charset="-122"/>
              </a:rPr>
              <a:t>给出如下：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求导出句 </a:t>
            </a:r>
            <a:r>
              <a:rPr lang="en-US" altLang="zh-CN" dirty="0">
                <a:ea typeface="黑体" pitchFamily="49" charset="-122"/>
              </a:rPr>
              <a:t>a </a:t>
            </a:r>
            <a:r>
              <a:rPr lang="zh-CN" altLang="en-US" dirty="0">
                <a:ea typeface="黑体" pitchFamily="49" charset="-122"/>
              </a:rPr>
              <a:t>及 </a:t>
            </a:r>
            <a:r>
              <a:rPr lang="en-US" altLang="zh-CN" dirty="0">
                <a:ea typeface="黑体" pitchFamily="49" charset="-122"/>
              </a:rPr>
              <a:t>ab </a:t>
            </a:r>
            <a:r>
              <a:rPr lang="zh-CN" altLang="en-US" dirty="0">
                <a:ea typeface="黑体" pitchFamily="49" charset="-122"/>
              </a:rPr>
              <a:t>的隶属度</a:t>
            </a:r>
            <a:r>
              <a:rPr lang="en-US" altLang="zh-CN" dirty="0">
                <a:ea typeface="黑体" pitchFamily="49" charset="-122"/>
              </a:rPr>
              <a:t>G(a)</a:t>
            </a:r>
            <a:r>
              <a:rPr lang="zh-CN" altLang="en-US" dirty="0">
                <a:ea typeface="黑体" pitchFamily="49" charset="-122"/>
              </a:rPr>
              <a:t>及</a:t>
            </a:r>
            <a:r>
              <a:rPr lang="en-US" altLang="zh-CN" dirty="0">
                <a:ea typeface="黑体" pitchFamily="49" charset="-122"/>
              </a:rPr>
              <a:t>G(ab)</a:t>
            </a:r>
            <a:r>
              <a:rPr lang="zh-CN" altLang="en-US" dirty="0">
                <a:ea typeface="黑体" pitchFamily="49" charset="-122"/>
              </a:rPr>
              <a:t>。</a:t>
            </a:r>
            <a:endParaRPr lang="zh-CN" altLang="en-US" dirty="0">
              <a:solidFill>
                <a:srgbClr val="FF0000"/>
              </a:solidFill>
              <a:ea typeface="黑体" pitchFamily="49" charset="-122"/>
            </a:endParaRPr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711451" y="2852739"/>
          <a:ext cx="6480175" cy="186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52700" imgH="736600" progId="Equation.3">
                  <p:embed/>
                </p:oleObj>
              </mc:Choice>
              <mc:Fallback>
                <p:oleObj name="公式" r:id="rId2" imgW="2552700" imgH="736600" progId="Equation.3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852739"/>
                        <a:ext cx="6480175" cy="1868487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83BABA-302C-4FF4-9C8E-37DC99C0CC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1D7527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1D7527"/>
                </a:solidFill>
                <a:ea typeface="黑体" pitchFamily="49" charset="-122"/>
              </a:rPr>
              <a:t>文法中句子隶属度计算举例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10297144" cy="54451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计算</a:t>
            </a:r>
            <a:r>
              <a:rPr lang="en-US" altLang="zh-CN" dirty="0">
                <a:solidFill>
                  <a:srgbClr val="FF0000"/>
                </a:solidFill>
              </a:rPr>
              <a:t>G(a)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bg2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bg2"/>
                </a:solidFill>
              </a:rPr>
              <a:t>G(a)=(0.8</a:t>
            </a:r>
            <a:r>
              <a:rPr lang="en-US" altLang="zh-CN" b="1" dirty="0">
                <a:solidFill>
                  <a:schemeClr val="bg2"/>
                </a:solidFill>
                <a:sym typeface="Symbol"/>
              </a:rPr>
              <a:t></a:t>
            </a:r>
            <a:r>
              <a:rPr lang="en-US" altLang="zh-CN" dirty="0">
                <a:solidFill>
                  <a:schemeClr val="bg2"/>
                </a:solidFill>
              </a:rPr>
              <a:t>0.5) ∨(0.8</a:t>
            </a:r>
            <a:r>
              <a:rPr lang="en-US" altLang="zh-CN" b="1" dirty="0">
                <a:solidFill>
                  <a:schemeClr val="bg2"/>
                </a:solidFill>
                <a:sym typeface="Symbol"/>
              </a:rPr>
              <a:t>  </a:t>
            </a:r>
            <a:r>
              <a:rPr lang="en-US" altLang="zh-CN" dirty="0">
                <a:solidFill>
                  <a:schemeClr val="bg2"/>
                </a:solidFill>
              </a:rPr>
              <a:t>0.2) ∨(0.8</a:t>
            </a:r>
            <a:r>
              <a:rPr lang="en-US" altLang="zh-CN" dirty="0">
                <a:solidFill>
                  <a:schemeClr val="bg2"/>
                </a:solidFill>
                <a:sym typeface="Symbol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sym typeface="Symbol"/>
              </a:rPr>
              <a:t></a:t>
            </a:r>
            <a:r>
              <a:rPr lang="en-US" altLang="zh-CN" dirty="0">
                <a:solidFill>
                  <a:schemeClr val="bg2"/>
                </a:solidFill>
                <a:sym typeface="Symbol"/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0.4 </a:t>
            </a:r>
            <a:r>
              <a:rPr lang="en-US" altLang="zh-CN" b="1" dirty="0">
                <a:solidFill>
                  <a:schemeClr val="bg2"/>
                </a:solidFill>
                <a:sym typeface="Symbol"/>
              </a:rPr>
              <a:t></a:t>
            </a:r>
            <a:r>
              <a:rPr lang="en-US" altLang="zh-CN" dirty="0">
                <a:solidFill>
                  <a:schemeClr val="bg2"/>
                </a:solidFill>
                <a:sym typeface="Symbol"/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0.5) =0.5</a:t>
            </a:r>
          </a:p>
        </p:txBody>
      </p:sp>
      <p:graphicFrame>
        <p:nvGraphicFramePr>
          <p:cNvPr id="113668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711451" y="3743326"/>
          <a:ext cx="460851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06600" imgH="736600" progId="Equation.3">
                  <p:embed/>
                </p:oleObj>
              </mc:Choice>
              <mc:Fallback>
                <p:oleObj name="公式" r:id="rId2" imgW="2006600" imgH="736600" progId="Equation.3">
                  <p:embed/>
                  <p:pic>
                    <p:nvPicPr>
                      <p:cNvPr id="1136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3743326"/>
                        <a:ext cx="4608513" cy="16922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782888" y="2032000"/>
          <a:ext cx="5689600" cy="163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52700" imgH="736600" progId="Equation.3">
                  <p:embed/>
                </p:oleObj>
              </mc:Choice>
              <mc:Fallback>
                <p:oleObj name="公式" r:id="rId4" imgW="2552700" imgH="736600" progId="Equation.3">
                  <p:embed/>
                  <p:pic>
                    <p:nvPicPr>
                      <p:cNvPr id="378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032000"/>
                        <a:ext cx="5689600" cy="163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3181CD-C435-13BC-CF7E-B393487CBA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1D7527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1D7527"/>
                </a:solidFill>
                <a:ea typeface="黑体" pitchFamily="49" charset="-122"/>
              </a:rPr>
              <a:t>文法中句子隶属度计算举例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9865096" cy="54451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计算</a:t>
            </a:r>
            <a:r>
              <a:rPr lang="en-US" altLang="zh-CN" dirty="0">
                <a:solidFill>
                  <a:srgbClr val="FF0000"/>
                </a:solidFill>
              </a:rPr>
              <a:t>G(</a:t>
            </a:r>
            <a:r>
              <a:rPr lang="en-US" altLang="zh-CN" dirty="0" err="1">
                <a:solidFill>
                  <a:srgbClr val="FF0000"/>
                </a:solidFill>
              </a:rPr>
              <a:t>ab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bg2"/>
                </a:solidFill>
              </a:rPr>
              <a:t>G(ab)=0.4 </a:t>
            </a:r>
            <a:r>
              <a:rPr lang="en-US" altLang="zh-CN" b="1" dirty="0">
                <a:solidFill>
                  <a:schemeClr val="bg2"/>
                </a:solidFill>
                <a:sym typeface="Symbol"/>
              </a:rPr>
              <a:t> </a:t>
            </a:r>
            <a:r>
              <a:rPr lang="en-US" altLang="zh-CN" dirty="0">
                <a:solidFill>
                  <a:schemeClr val="bg2"/>
                </a:solidFill>
              </a:rPr>
              <a:t>0.2</a:t>
            </a:r>
            <a:r>
              <a:rPr lang="en-US" altLang="zh-CN" dirty="0">
                <a:solidFill>
                  <a:schemeClr val="bg2"/>
                </a:solidFill>
                <a:sym typeface="Symbol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sym typeface="Symbol"/>
              </a:rPr>
              <a:t> </a:t>
            </a:r>
            <a:r>
              <a:rPr lang="en-US" altLang="zh-CN" dirty="0">
                <a:solidFill>
                  <a:schemeClr val="bg2"/>
                </a:solidFill>
              </a:rPr>
              <a:t>0.4 =0.4</a:t>
            </a:r>
          </a:p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可见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计算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G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工作量大，下面介绍代数方法</a:t>
            </a:r>
          </a:p>
        </p:txBody>
      </p:sp>
      <p:graphicFrame>
        <p:nvGraphicFramePr>
          <p:cNvPr id="11469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48963097"/>
              </p:ext>
            </p:extLst>
          </p:nvPr>
        </p:nvGraphicFramePr>
        <p:xfrm>
          <a:off x="2782888" y="3949701"/>
          <a:ext cx="7129462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27400" imgH="698500" progId="Equation.3">
                  <p:embed/>
                </p:oleObj>
              </mc:Choice>
              <mc:Fallback>
                <p:oleObj name="公式" r:id="rId2" imgW="3327400" imgH="698500" progId="Equation.3">
                  <p:embed/>
                  <p:pic>
                    <p:nvPicPr>
                      <p:cNvPr id="1146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949701"/>
                        <a:ext cx="7129462" cy="14954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782888" y="2032000"/>
          <a:ext cx="5689600" cy="163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52700" imgH="736600" progId="Equation.3">
                  <p:embed/>
                </p:oleObj>
              </mc:Choice>
              <mc:Fallback>
                <p:oleObj name="公式" r:id="rId4" imgW="2552700" imgH="736600" progId="Equation.3">
                  <p:embed/>
                  <p:pic>
                    <p:nvPicPr>
                      <p:cNvPr id="38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032000"/>
                        <a:ext cx="5689600" cy="163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03B315-C102-D227-800D-58BDF23C62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03209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计算</a:t>
            </a:r>
            <a:r>
              <a:rPr lang="en-US" altLang="zh-CN" dirty="0">
                <a:solidFill>
                  <a:srgbClr val="228A2E"/>
                </a:solidFill>
                <a:ea typeface="黑体" pitchFamily="49" charset="-122"/>
              </a:rPr>
              <a:t>G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的代数方法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345407"/>
            <a:ext cx="4038600" cy="4167187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rgbClr val="3333FF"/>
                </a:solidFill>
                <a:ea typeface="黑体" pitchFamily="49" charset="-122"/>
              </a:rPr>
              <a:t>记号引入：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sz="2400" dirty="0">
              <a:solidFill>
                <a:srgbClr val="3333FF"/>
              </a:solidFill>
            </a:endParaRPr>
          </a:p>
        </p:txBody>
      </p:sp>
      <p:graphicFrame>
        <p:nvGraphicFramePr>
          <p:cNvPr id="11571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2548240"/>
              </p:ext>
            </p:extLst>
          </p:nvPr>
        </p:nvGraphicFramePr>
        <p:xfrm>
          <a:off x="1714116" y="1993741"/>
          <a:ext cx="5113064" cy="640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28800" imgH="228600" progId="Equation.3">
                  <p:embed/>
                </p:oleObj>
              </mc:Choice>
              <mc:Fallback>
                <p:oleObj name="公式" r:id="rId2" imgW="1828800" imgH="228600" progId="Equation.3">
                  <p:embed/>
                  <p:pic>
                    <p:nvPicPr>
                      <p:cNvPr id="1157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116" y="1993741"/>
                        <a:ext cx="5113064" cy="640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358011"/>
              </p:ext>
            </p:extLst>
          </p:nvPr>
        </p:nvGraphicFramePr>
        <p:xfrm>
          <a:off x="1714115" y="2691934"/>
          <a:ext cx="2868588" cy="2539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880" imgH="965160" progId="Equation.DSMT4">
                  <p:embed/>
                </p:oleObj>
              </mc:Choice>
              <mc:Fallback>
                <p:oleObj name="Equation" r:id="rId4" imgW="1091880" imgH="96516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115" y="2691934"/>
                        <a:ext cx="2868588" cy="2539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040906"/>
              </p:ext>
            </p:extLst>
          </p:nvPr>
        </p:nvGraphicFramePr>
        <p:xfrm>
          <a:off x="1753865" y="5472735"/>
          <a:ext cx="47021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9560" imgH="241200" progId="Equation.DSMT4">
                  <p:embed/>
                </p:oleObj>
              </mc:Choice>
              <mc:Fallback>
                <p:oleObj name="Equation" r:id="rId6" imgW="1879560" imgH="2412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3865" y="5472735"/>
                        <a:ext cx="47021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9051127-9614-0003-7C22-069FE4950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104880"/>
              </p:ext>
            </p:extLst>
          </p:nvPr>
        </p:nvGraphicFramePr>
        <p:xfrm>
          <a:off x="5087391" y="3391216"/>
          <a:ext cx="5113065" cy="109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240" imgH="431640" progId="Equation.DSMT4">
                  <p:embed/>
                </p:oleObj>
              </mc:Choice>
              <mc:Fallback>
                <p:oleObj name="Equation" r:id="rId8" imgW="2019240" imgH="43164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391" y="3391216"/>
                        <a:ext cx="5113065" cy="109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DEBF86-3EF1-24A5-83BB-C4AFD9E3C826}"/>
              </a:ext>
            </a:extLst>
          </p:cNvPr>
          <p:cNvCxnSpPr>
            <a:cxnSpLocks/>
          </p:cNvCxnSpPr>
          <p:nvPr/>
        </p:nvCxnSpPr>
        <p:spPr bwMode="auto">
          <a:xfrm>
            <a:off x="5382072" y="2634001"/>
            <a:ext cx="1344500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3988791-3188-C6BA-DFF2-BD0233B009EC}"/>
              </a:ext>
            </a:extLst>
          </p:cNvPr>
          <p:cNvCxnSpPr>
            <a:cxnSpLocks/>
          </p:cNvCxnSpPr>
          <p:nvPr/>
        </p:nvCxnSpPr>
        <p:spPr bwMode="auto">
          <a:xfrm>
            <a:off x="5844479" y="3933056"/>
            <a:ext cx="4355976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CB52A3B-7439-3B4B-E762-8467E18E10EB}"/>
              </a:ext>
            </a:extLst>
          </p:cNvPr>
          <p:cNvCxnSpPr>
            <a:cxnSpLocks/>
          </p:cNvCxnSpPr>
          <p:nvPr/>
        </p:nvCxnSpPr>
        <p:spPr bwMode="auto">
          <a:xfrm>
            <a:off x="3063701" y="6552497"/>
            <a:ext cx="5264547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E77763-A602-3A3B-B6F9-3B45242A0E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3914526-DEB7-9FD8-520C-C1DBB01DF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78550"/>
              </p:ext>
            </p:extLst>
          </p:nvPr>
        </p:nvGraphicFramePr>
        <p:xfrm>
          <a:off x="1901504" y="6016673"/>
          <a:ext cx="64166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65360" imgH="228600" progId="Equation.DSMT4">
                  <p:embed/>
                </p:oleObj>
              </mc:Choice>
              <mc:Fallback>
                <p:oleObj name="Equation" r:id="rId10" imgW="2565360" imgH="2286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504" y="6016673"/>
                        <a:ext cx="64166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大括号 7">
            <a:extLst>
              <a:ext uri="{FF2B5EF4-FFF2-40B4-BE49-F238E27FC236}">
                <a16:creationId xmlns:a16="http://schemas.microsoft.com/office/drawing/2014/main" id="{76DC1610-64E2-C371-AF18-E405B2C09D24}"/>
              </a:ext>
            </a:extLst>
          </p:cNvPr>
          <p:cNvSpPr/>
          <p:nvPr/>
        </p:nvSpPr>
        <p:spPr bwMode="auto">
          <a:xfrm>
            <a:off x="4636714" y="2924944"/>
            <a:ext cx="306661" cy="2071279"/>
          </a:xfrm>
          <a:prstGeom prst="rightBrace">
            <a:avLst/>
          </a:prstGeom>
          <a:ln>
            <a:solidFill>
              <a:srgbClr val="CC00CC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计算</a:t>
            </a:r>
            <a:r>
              <a:rPr lang="en-US" altLang="zh-CN">
                <a:solidFill>
                  <a:srgbClr val="228A2E"/>
                </a:solidFill>
                <a:ea typeface="黑体" pitchFamily="49" charset="-122"/>
              </a:rPr>
              <a:t>G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的代数方法举例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12875"/>
            <a:ext cx="8229600" cy="532923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将上例的生成式用代数形式表达，</a:t>
            </a:r>
          </a:p>
          <a:p>
            <a:pPr eaLnBrk="1" hangingPunct="1"/>
            <a:endParaRPr lang="zh-CN" altLang="en-US" dirty="0">
              <a:ea typeface="黑体" pitchFamily="49" charset="-122"/>
            </a:endParaRP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则有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</a:rPr>
              <a:t>   </a:t>
            </a:r>
            <a:r>
              <a:rPr lang="en-US" altLang="zh-CN" dirty="0">
                <a:solidFill>
                  <a:srgbClr val="3333FF"/>
                </a:solidFill>
              </a:rPr>
              <a:t>S=0.5AB+0.8A+0.8B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</a:rPr>
              <a:t>   A=0.5a+0.6b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</a:rPr>
              <a:t>   B=0.4A+0.2a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</a:rPr>
              <a:t>   AB=0.4BA</a:t>
            </a:r>
          </a:p>
        </p:txBody>
      </p:sp>
      <p:graphicFrame>
        <p:nvGraphicFramePr>
          <p:cNvPr id="40964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2782889" y="1989138"/>
          <a:ext cx="5976937" cy="172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52700" imgH="736600" progId="Equation.3">
                  <p:embed/>
                </p:oleObj>
              </mc:Choice>
              <mc:Fallback>
                <p:oleObj name="公式" r:id="rId2" imgW="2552700" imgH="736600" progId="Equation.3">
                  <p:embed/>
                  <p:pic>
                    <p:nvPicPr>
                      <p:cNvPr id="40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1989138"/>
                        <a:ext cx="5976937" cy="17256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587A29-629F-179B-FA0C-C017321F8A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计算</a:t>
            </a:r>
            <a:r>
              <a:rPr lang="en-US" altLang="zh-CN">
                <a:solidFill>
                  <a:srgbClr val="228A2E"/>
                </a:solidFill>
                <a:ea typeface="黑体" pitchFamily="49" charset="-122"/>
              </a:rPr>
              <a:t>G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的代数方法举例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628775"/>
            <a:ext cx="9011344" cy="51133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将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</a:rPr>
              <a:t>       </a:t>
            </a:r>
            <a:r>
              <a:rPr lang="en-US" altLang="zh-CN" dirty="0">
                <a:solidFill>
                  <a:srgbClr val="3333FF"/>
                </a:solidFill>
              </a:rPr>
              <a:t>S=0.5AB+0.8A+0.8B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</a:rPr>
              <a:t>       A=0.5a+0.6b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</a:rPr>
              <a:t>       B=0.4A+0.2a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</a:rPr>
              <a:t>       AB=0.4BA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导出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S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所产生的所有句子为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S=0.5(0.4aa+0.4ab+0.4ba+0.4bb)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       +0.8(0.5a+0.6b)+0.8(0.4a+0.4b)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=0.4aa+0.4ab+0.4ba+0.4bb+0.5a+0.6b</a:t>
            </a: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5951538" y="3141663"/>
            <a:ext cx="2519362" cy="51911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/>
              <a:t>B=0.4a+0.4b</a:t>
            </a: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5951538" y="3860800"/>
            <a:ext cx="5257030" cy="52322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/>
              <a:t>AB=0.4aa+0.4ab+0.4ba+0.4bb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DC7D56-0C8D-A431-B842-7BCA66EAA0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7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/>
      <p:bldP spid="117764" grpId="0" animBg="1"/>
      <p:bldP spid="11776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</a:rPr>
              <a:t>F 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文法举例 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84314"/>
            <a:ext cx="10297143" cy="53736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[P171</a:t>
            </a:r>
            <a:r>
              <a:rPr lang="zh-CN" altLang="en-US" dirty="0"/>
              <a:t>例</a:t>
            </a:r>
            <a:r>
              <a:rPr lang="en-US" altLang="zh-CN" dirty="0"/>
              <a:t>3]</a:t>
            </a:r>
            <a:r>
              <a:rPr lang="zh-CN" altLang="en-US" dirty="0"/>
              <a:t>设</a:t>
            </a:r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T</a:t>
            </a:r>
            <a:r>
              <a:rPr lang="en-US" altLang="zh-CN" dirty="0">
                <a:ea typeface="黑体" pitchFamily="49" charset="-122"/>
              </a:rPr>
              <a:t>={</a:t>
            </a:r>
            <a:r>
              <a:rPr lang="zh-CN" altLang="en-US" dirty="0">
                <a:ea typeface="黑体" pitchFamily="49" charset="-122"/>
              </a:rPr>
              <a:t>年轻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老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又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很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不 </a:t>
            </a:r>
            <a:r>
              <a:rPr lang="en-US" altLang="zh-CN" dirty="0">
                <a:ea typeface="黑体" pitchFamily="49" charset="-122"/>
              </a:rPr>
              <a:t>},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              V</a:t>
            </a:r>
            <a:r>
              <a:rPr lang="en-US" altLang="zh-CN" baseline="-25000" dirty="0">
                <a:ea typeface="黑体" pitchFamily="49" charset="-122"/>
              </a:rPr>
              <a:t>N</a:t>
            </a:r>
            <a:r>
              <a:rPr lang="en-US" altLang="zh-CN" dirty="0">
                <a:ea typeface="黑体" pitchFamily="49" charset="-122"/>
              </a:rPr>
              <a:t>={A, B, C, O, Y }, </a:t>
            </a:r>
            <a:r>
              <a:rPr lang="zh-CN" altLang="en-US" dirty="0">
                <a:ea typeface="黑体" pitchFamily="49" charset="-122"/>
              </a:rPr>
              <a:t>规则集</a:t>
            </a:r>
            <a:r>
              <a:rPr lang="en-US" altLang="zh-CN" dirty="0">
                <a:ea typeface="黑体" pitchFamily="49" charset="-122"/>
              </a:rPr>
              <a:t>P</a:t>
            </a:r>
            <a:r>
              <a:rPr lang="zh-CN" altLang="en-US" dirty="0">
                <a:ea typeface="黑体" pitchFamily="49" charset="-122"/>
              </a:rPr>
              <a:t>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14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14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试推出</a:t>
            </a:r>
            <a:r>
              <a:rPr lang="en-US" altLang="zh-CN" sz="2800" dirty="0">
                <a:ea typeface="黑体" pitchFamily="49" charset="-122"/>
              </a:rPr>
              <a:t>(1) “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不年轻也不老</a:t>
            </a:r>
            <a:r>
              <a:rPr lang="zh-CN" altLang="en-US" sz="2800" dirty="0">
                <a:ea typeface="黑体" pitchFamily="49" charset="-122"/>
              </a:rPr>
              <a:t>”这句话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              </a:t>
            </a:r>
            <a:r>
              <a:rPr lang="en-US" altLang="zh-CN" sz="2800" dirty="0">
                <a:ea typeface="黑体" pitchFamily="49" charset="-122"/>
              </a:rPr>
              <a:t>(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不</a:t>
            </a:r>
            <a:r>
              <a:rPr lang="zh-CN" altLang="en-US" sz="2800" u="sng" dirty="0">
                <a:solidFill>
                  <a:schemeClr val="bg2"/>
                </a:solidFill>
                <a:ea typeface="黑体" pitchFamily="49" charset="-122"/>
              </a:rPr>
              <a:t>年轻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又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不</a:t>
            </a:r>
            <a:r>
              <a:rPr lang="zh-CN" altLang="en-US" sz="2800" u="sng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    (2)</a:t>
            </a:r>
            <a:r>
              <a:rPr lang="en-US" altLang="zh-CN" sz="2800" dirty="0">
                <a:ea typeface="黑体" pitchFamily="49" charset="-122"/>
              </a:rPr>
              <a:t>“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不很年轻又不非常非常老</a:t>
            </a:r>
            <a:r>
              <a:rPr lang="zh-CN" altLang="en-US" sz="2800" dirty="0">
                <a:ea typeface="黑体" pitchFamily="49" charset="-122"/>
              </a:rPr>
              <a:t>”这句话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              </a:t>
            </a:r>
            <a:r>
              <a:rPr lang="en-US" altLang="zh-CN" sz="2800" dirty="0">
                <a:ea typeface="黑体" pitchFamily="49" charset="-122"/>
              </a:rPr>
              <a:t>(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不</a:t>
            </a:r>
            <a:r>
              <a:rPr lang="zh-CN" altLang="en-US" sz="2800" u="sng" dirty="0">
                <a:solidFill>
                  <a:schemeClr val="bg2"/>
                </a:solidFill>
                <a:ea typeface="黑体" pitchFamily="49" charset="-122"/>
              </a:rPr>
              <a:t>很年轻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又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不</a:t>
            </a:r>
            <a:r>
              <a:rPr lang="zh-CN" altLang="en-US" sz="2800" u="sng" dirty="0">
                <a:solidFill>
                  <a:schemeClr val="bg2"/>
                </a:solidFill>
                <a:ea typeface="黑体" pitchFamily="49" charset="-122"/>
              </a:rPr>
              <a:t>非常非常老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</a:t>
            </a:r>
            <a:endParaRPr lang="en-US" altLang="zh-CN" sz="2800" dirty="0">
              <a:ea typeface="黑体" pitchFamily="49" charset="-122"/>
            </a:endParaRPr>
          </a:p>
        </p:txBody>
      </p:sp>
      <p:graphicFrame>
        <p:nvGraphicFramePr>
          <p:cNvPr id="11878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22573244"/>
              </p:ext>
            </p:extLst>
          </p:nvPr>
        </p:nvGraphicFramePr>
        <p:xfrm>
          <a:off x="1487488" y="2780928"/>
          <a:ext cx="8353425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21100" imgH="749300" progId="Equation.3">
                  <p:embed/>
                </p:oleObj>
              </mc:Choice>
              <mc:Fallback>
                <p:oleObj name="公式" r:id="rId2" imgW="3721100" imgH="749300" progId="Equation.3">
                  <p:embed/>
                  <p:pic>
                    <p:nvPicPr>
                      <p:cNvPr id="1187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2780928"/>
                        <a:ext cx="8353425" cy="16827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3401BFB-0296-AD7F-B076-E0759EC0EA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文法举例</a:t>
            </a:r>
            <a:r>
              <a:rPr lang="en-US" altLang="zh-CN" sz="3200"/>
              <a:t>[P171</a:t>
            </a:r>
            <a:r>
              <a:rPr lang="zh-CN" altLang="en-US" sz="3200"/>
              <a:t>例</a:t>
            </a:r>
            <a:r>
              <a:rPr lang="en-US" altLang="zh-CN" sz="3200"/>
              <a:t>3]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981200"/>
            <a:ext cx="8362950" cy="3886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zh-CN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黑体" pitchFamily="49" charset="-122"/>
              </a:rPr>
              <a:t>   (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不</a:t>
            </a:r>
            <a:r>
              <a:rPr lang="zh-CN" altLang="en-US" sz="2800" u="sng">
                <a:solidFill>
                  <a:srgbClr val="FF0000"/>
                </a:solidFill>
                <a:ea typeface="黑体" pitchFamily="49" charset="-122"/>
              </a:rPr>
              <a:t>年轻</a:t>
            </a:r>
            <a:r>
              <a:rPr lang="en-US" altLang="zh-CN" sz="2800">
                <a:solidFill>
                  <a:srgbClr val="FF0000"/>
                </a:solidFill>
                <a:ea typeface="黑体" pitchFamily="49" charset="-122"/>
              </a:rPr>
              <a:t>)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又</a:t>
            </a:r>
            <a:r>
              <a:rPr lang="en-US" altLang="zh-CN" sz="2800">
                <a:solidFill>
                  <a:srgbClr val="FF0000"/>
                </a:solidFill>
                <a:ea typeface="黑体" pitchFamily="49" charset="-122"/>
              </a:rPr>
              <a:t>(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不</a:t>
            </a:r>
            <a:r>
              <a:rPr lang="zh-CN" altLang="en-US" sz="2800" u="sng">
                <a:solidFill>
                  <a:srgbClr val="FF0000"/>
                </a:solidFill>
                <a:ea typeface="黑体" pitchFamily="49" charset="-122"/>
              </a:rPr>
              <a:t>老</a:t>
            </a:r>
            <a:r>
              <a:rPr lang="en-US" altLang="zh-CN" sz="2800">
                <a:solidFill>
                  <a:srgbClr val="FF0000"/>
                </a:solidFill>
                <a:ea typeface="黑体" pitchFamily="49" charset="-122"/>
              </a:rPr>
              <a:t>)</a:t>
            </a:r>
          </a:p>
        </p:txBody>
      </p:sp>
      <p:graphicFrame>
        <p:nvGraphicFramePr>
          <p:cNvPr id="4403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92313" y="1441450"/>
          <a:ext cx="784860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21100" imgH="749300" progId="Equation.3">
                  <p:embed/>
                </p:oleObj>
              </mc:Choice>
              <mc:Fallback>
                <p:oleObj name="公式" r:id="rId2" imgW="3721100" imgH="749300" progId="Equation.3">
                  <p:embed/>
                  <p:pic>
                    <p:nvPicPr>
                      <p:cNvPr id="440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441450"/>
                        <a:ext cx="7848600" cy="15811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24114" y="3644901"/>
          <a:ext cx="180022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72808" imgH="203112" progId="Equation.3">
                  <p:embed/>
                </p:oleObj>
              </mc:Choice>
              <mc:Fallback>
                <p:oleObj name="公式" r:id="rId4" imgW="672808" imgH="203112" progId="Equation.3">
                  <p:embed/>
                  <p:pic>
                    <p:nvPicPr>
                      <p:cNvPr id="1208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644901"/>
                        <a:ext cx="1800225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/>
          <p:cNvGraphicFramePr>
            <a:graphicFrameLocks noChangeAspect="1"/>
          </p:cNvGraphicFramePr>
          <p:nvPr/>
        </p:nvGraphicFramePr>
        <p:xfrm>
          <a:off x="2640013" y="4149726"/>
          <a:ext cx="23161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63225" imgH="228501" progId="Equation.3">
                  <p:embed/>
                </p:oleObj>
              </mc:Choice>
              <mc:Fallback>
                <p:oleObj name="公式" r:id="rId6" imgW="863225" imgH="228501" progId="Equation.3">
                  <p:embed/>
                  <p:pic>
                    <p:nvPicPr>
                      <p:cNvPr id="1208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149726"/>
                        <a:ext cx="231616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7"/>
          <p:cNvGraphicFramePr>
            <a:graphicFrameLocks noChangeAspect="1"/>
          </p:cNvGraphicFramePr>
          <p:nvPr/>
        </p:nvGraphicFramePr>
        <p:xfrm>
          <a:off x="2640014" y="4652963"/>
          <a:ext cx="22320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63225" imgH="228501" progId="Equation.3">
                  <p:embed/>
                </p:oleObj>
              </mc:Choice>
              <mc:Fallback>
                <p:oleObj name="公式" r:id="rId8" imgW="863225" imgH="228501" progId="Equation.3">
                  <p:embed/>
                  <p:pic>
                    <p:nvPicPr>
                      <p:cNvPr id="1208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652963"/>
                        <a:ext cx="22320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0" name="Object 8"/>
          <p:cNvGraphicFramePr>
            <a:graphicFrameLocks noChangeAspect="1"/>
          </p:cNvGraphicFramePr>
          <p:nvPr/>
        </p:nvGraphicFramePr>
        <p:xfrm>
          <a:off x="2640013" y="5157788"/>
          <a:ext cx="30083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93800" imgH="228600" progId="Equation.3">
                  <p:embed/>
                </p:oleObj>
              </mc:Choice>
              <mc:Fallback>
                <p:oleObj name="公式" r:id="rId10" imgW="1193800" imgH="228600" progId="Equation.3">
                  <p:embed/>
                  <p:pic>
                    <p:nvPicPr>
                      <p:cNvPr id="1208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157788"/>
                        <a:ext cx="300831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1" name="Object 9"/>
          <p:cNvGraphicFramePr>
            <a:graphicFrameLocks noChangeAspect="1"/>
          </p:cNvGraphicFramePr>
          <p:nvPr/>
        </p:nvGraphicFramePr>
        <p:xfrm>
          <a:off x="2495550" y="5661026"/>
          <a:ext cx="317658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20800" imgH="228600" progId="Equation.3">
                  <p:embed/>
                </p:oleObj>
              </mc:Choice>
              <mc:Fallback>
                <p:oleObj name="公式" r:id="rId12" imgW="1320800" imgH="228600" progId="Equation.3">
                  <p:embed/>
                  <p:pic>
                    <p:nvPicPr>
                      <p:cNvPr id="1208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5661026"/>
                        <a:ext cx="3176588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2" name="Object 10"/>
          <p:cNvGraphicFramePr>
            <a:graphicFrameLocks noChangeAspect="1"/>
          </p:cNvGraphicFramePr>
          <p:nvPr/>
        </p:nvGraphicFramePr>
        <p:xfrm>
          <a:off x="2495551" y="6165850"/>
          <a:ext cx="3673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62100" imgH="228600" progId="Equation.3">
                  <p:embed/>
                </p:oleObj>
              </mc:Choice>
              <mc:Fallback>
                <p:oleObj name="公式" r:id="rId14" imgW="1562100" imgH="228600" progId="Equation.3">
                  <p:embed/>
                  <p:pic>
                    <p:nvPicPr>
                      <p:cNvPr id="1208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6165850"/>
                        <a:ext cx="36734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B5F909-DFEE-5512-E8CD-5D08BDEF1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文法举例</a:t>
            </a:r>
            <a:r>
              <a:rPr lang="en-US" altLang="zh-CN" sz="3200"/>
              <a:t>[P171</a:t>
            </a:r>
            <a:r>
              <a:rPr lang="zh-CN" altLang="en-US" sz="3200"/>
              <a:t>例</a:t>
            </a:r>
            <a:r>
              <a:rPr lang="en-US" altLang="zh-CN" sz="3200"/>
              <a:t>3]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981200"/>
            <a:ext cx="8362950" cy="3886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zh-CN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80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ea typeface="黑体" pitchFamily="49" charset="-122"/>
              </a:rPr>
              <a:t>   (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不</a:t>
            </a:r>
            <a:r>
              <a:rPr lang="zh-CN" altLang="en-US" sz="2800" u="sng">
                <a:solidFill>
                  <a:srgbClr val="FF0000"/>
                </a:solidFill>
                <a:ea typeface="黑体" pitchFamily="49" charset="-122"/>
              </a:rPr>
              <a:t>很年轻</a:t>
            </a:r>
            <a:r>
              <a:rPr lang="en-US" altLang="zh-CN" sz="2800">
                <a:solidFill>
                  <a:srgbClr val="FF0000"/>
                </a:solidFill>
                <a:ea typeface="黑体" pitchFamily="49" charset="-122"/>
              </a:rPr>
              <a:t>)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又</a:t>
            </a:r>
            <a:r>
              <a:rPr lang="en-US" altLang="zh-CN" sz="2800">
                <a:solidFill>
                  <a:srgbClr val="FF0000"/>
                </a:solidFill>
                <a:ea typeface="黑体" pitchFamily="49" charset="-122"/>
              </a:rPr>
              <a:t>(</a:t>
            </a:r>
            <a:r>
              <a:rPr lang="zh-CN" altLang="en-US" sz="2800">
                <a:solidFill>
                  <a:srgbClr val="FF0000"/>
                </a:solidFill>
                <a:ea typeface="黑体" pitchFamily="49" charset="-122"/>
              </a:rPr>
              <a:t>不</a:t>
            </a:r>
            <a:r>
              <a:rPr lang="zh-CN" altLang="en-US" sz="2800" u="sng">
                <a:solidFill>
                  <a:srgbClr val="FF0000"/>
                </a:solidFill>
                <a:ea typeface="黑体" pitchFamily="49" charset="-122"/>
              </a:rPr>
              <a:t>非常非常老</a:t>
            </a:r>
            <a:r>
              <a:rPr lang="en-US" altLang="zh-CN" sz="2800">
                <a:solidFill>
                  <a:srgbClr val="FF0000"/>
                </a:solidFill>
                <a:ea typeface="黑体" pitchFamily="49" charset="-122"/>
              </a:rPr>
              <a:t>)</a:t>
            </a:r>
          </a:p>
        </p:txBody>
      </p:sp>
      <p:graphicFrame>
        <p:nvGraphicFramePr>
          <p:cNvPr id="4506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19289" y="1268413"/>
          <a:ext cx="8353425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21100" imgH="749300" progId="Equation.3">
                  <p:embed/>
                </p:oleObj>
              </mc:Choice>
              <mc:Fallback>
                <p:oleObj name="公式" r:id="rId2" imgW="3721100" imgH="749300" progId="Equation.3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1268413"/>
                        <a:ext cx="8353425" cy="16827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24113" y="3500438"/>
          <a:ext cx="151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72808" imgH="203112" progId="Equation.3">
                  <p:embed/>
                </p:oleObj>
              </mc:Choice>
              <mc:Fallback>
                <p:oleObj name="公式" r:id="rId4" imgW="672808" imgH="203112" progId="Equation.3">
                  <p:embed/>
                  <p:pic>
                    <p:nvPicPr>
                      <p:cNvPr id="1198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500438"/>
                        <a:ext cx="1511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4" name="Object 6"/>
          <p:cNvGraphicFramePr>
            <a:graphicFrameLocks noChangeAspect="1"/>
          </p:cNvGraphicFramePr>
          <p:nvPr/>
        </p:nvGraphicFramePr>
        <p:xfrm>
          <a:off x="2640014" y="3933825"/>
          <a:ext cx="19446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63225" imgH="228501" progId="Equation.3">
                  <p:embed/>
                </p:oleObj>
              </mc:Choice>
              <mc:Fallback>
                <p:oleObj name="公式" r:id="rId6" imgW="863225" imgH="228501" progId="Equation.3">
                  <p:embed/>
                  <p:pic>
                    <p:nvPicPr>
                      <p:cNvPr id="1198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3933825"/>
                        <a:ext cx="1944687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5" name="Object 7"/>
          <p:cNvGraphicFramePr>
            <a:graphicFrameLocks noChangeAspect="1"/>
          </p:cNvGraphicFramePr>
          <p:nvPr/>
        </p:nvGraphicFramePr>
        <p:xfrm>
          <a:off x="2640013" y="4365625"/>
          <a:ext cx="18716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63225" imgH="228501" progId="Equation.3">
                  <p:embed/>
                </p:oleObj>
              </mc:Choice>
              <mc:Fallback>
                <p:oleObj name="公式" r:id="rId8" imgW="863225" imgH="228501" progId="Equation.3">
                  <p:embed/>
                  <p:pic>
                    <p:nvPicPr>
                      <p:cNvPr id="1198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365625"/>
                        <a:ext cx="187166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6" name="Object 8"/>
          <p:cNvGraphicFramePr>
            <a:graphicFrameLocks noChangeAspect="1"/>
          </p:cNvGraphicFramePr>
          <p:nvPr/>
        </p:nvGraphicFramePr>
        <p:xfrm>
          <a:off x="2640013" y="4724400"/>
          <a:ext cx="251936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93800" imgH="228600" progId="Equation.3">
                  <p:embed/>
                </p:oleObj>
              </mc:Choice>
              <mc:Fallback>
                <p:oleObj name="公式" r:id="rId10" imgW="1193800" imgH="228600" progId="Equation.3">
                  <p:embed/>
                  <p:pic>
                    <p:nvPicPr>
                      <p:cNvPr id="1198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724400"/>
                        <a:ext cx="251936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7" name="Object 9"/>
          <p:cNvGraphicFramePr>
            <a:graphicFrameLocks noChangeAspect="1"/>
          </p:cNvGraphicFramePr>
          <p:nvPr/>
        </p:nvGraphicFramePr>
        <p:xfrm>
          <a:off x="2495551" y="5157788"/>
          <a:ext cx="26638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20800" imgH="228600" progId="Equation.3">
                  <p:embed/>
                </p:oleObj>
              </mc:Choice>
              <mc:Fallback>
                <p:oleObj name="公式" r:id="rId12" imgW="1320800" imgH="228600" progId="Equation.3">
                  <p:embed/>
                  <p:pic>
                    <p:nvPicPr>
                      <p:cNvPr id="1198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5157788"/>
                        <a:ext cx="26638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8" name="Object 10"/>
          <p:cNvGraphicFramePr>
            <a:graphicFrameLocks noChangeAspect="1"/>
          </p:cNvGraphicFramePr>
          <p:nvPr/>
        </p:nvGraphicFramePr>
        <p:xfrm>
          <a:off x="2495550" y="5589588"/>
          <a:ext cx="32781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25600" imgH="228600" progId="Equation.3">
                  <p:embed/>
                </p:oleObj>
              </mc:Choice>
              <mc:Fallback>
                <p:oleObj name="公式" r:id="rId14" imgW="1625600" imgH="228600" progId="Equation.3">
                  <p:embed/>
                  <p:pic>
                    <p:nvPicPr>
                      <p:cNvPr id="1198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5589588"/>
                        <a:ext cx="32781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9" name="Object 11"/>
          <p:cNvGraphicFramePr>
            <a:graphicFrameLocks noChangeAspect="1"/>
          </p:cNvGraphicFramePr>
          <p:nvPr/>
        </p:nvGraphicFramePr>
        <p:xfrm>
          <a:off x="2495550" y="6021388"/>
          <a:ext cx="40211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93900" imgH="228600" progId="Equation.3">
                  <p:embed/>
                </p:oleObj>
              </mc:Choice>
              <mc:Fallback>
                <p:oleObj name="公式" r:id="rId16" imgW="1993900" imgH="228600" progId="Equation.3">
                  <p:embed/>
                  <p:pic>
                    <p:nvPicPr>
                      <p:cNvPr id="1198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6021388"/>
                        <a:ext cx="402113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0" name="Object 12"/>
          <p:cNvGraphicFramePr>
            <a:graphicFrameLocks noChangeAspect="1"/>
          </p:cNvGraphicFramePr>
          <p:nvPr/>
        </p:nvGraphicFramePr>
        <p:xfrm>
          <a:off x="2782888" y="6396038"/>
          <a:ext cx="4379912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71700" imgH="228600" progId="Equation.3">
                  <p:embed/>
                </p:oleObj>
              </mc:Choice>
              <mc:Fallback>
                <p:oleObj name="公式" r:id="rId18" imgW="2171700" imgH="228600" progId="Equation.3">
                  <p:embed/>
                  <p:pic>
                    <p:nvPicPr>
                      <p:cNvPr id="1198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6396038"/>
                        <a:ext cx="4379912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9F0872-6ABF-526E-59C3-544187DEE2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</a:rPr>
              <a:t>7.5 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判断句和推理句及逻辑推理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73238"/>
            <a:ext cx="10225136" cy="46799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黑体" pitchFamily="49" charset="-122"/>
              </a:rPr>
              <a:t>在二值逻辑中，用</a:t>
            </a:r>
            <a:r>
              <a:rPr lang="zh-CN" altLang="en-US" u="sng" dirty="0">
                <a:ea typeface="黑体" pitchFamily="49" charset="-122"/>
              </a:rPr>
              <a:t>精确</a:t>
            </a:r>
            <a:r>
              <a:rPr lang="zh-CN" altLang="en-US" dirty="0">
                <a:ea typeface="黑体" pitchFamily="49" charset="-122"/>
              </a:rPr>
              <a:t>的数学方法描述推理过程：推理的前提和结论都是</a:t>
            </a:r>
            <a:r>
              <a:rPr lang="zh-CN" altLang="en-US" u="sng" dirty="0">
                <a:ea typeface="黑体" pitchFamily="49" charset="-122"/>
              </a:rPr>
              <a:t>精确</a:t>
            </a:r>
            <a:r>
              <a:rPr lang="zh-CN" altLang="en-US" dirty="0">
                <a:ea typeface="黑体" pitchFamily="49" charset="-122"/>
              </a:rPr>
              <a:t>的。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黑体" pitchFamily="49" charset="-122"/>
              </a:rPr>
              <a:t>但在现实中存在大量的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现象，需要人们根据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前提作出合乎逻辑的结论</a:t>
            </a:r>
            <a:r>
              <a:rPr lang="en-US" altLang="zh-CN" dirty="0">
                <a:ea typeface="黑体" pitchFamily="49" charset="-122"/>
              </a:rPr>
              <a:t>——F</a:t>
            </a:r>
            <a:r>
              <a:rPr lang="zh-CN" altLang="en-US" dirty="0">
                <a:ea typeface="黑体" pitchFamily="49" charset="-122"/>
              </a:rPr>
              <a:t>推理。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3333FF"/>
                </a:solidFill>
                <a:latin typeface="华文楷体" pitchFamily="2" charset="-122"/>
                <a:ea typeface="华文楷体" pitchFamily="2" charset="-122"/>
              </a:rPr>
              <a:t>预报预测、医疗诊断、故障检测等。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推理</a:t>
            </a:r>
            <a:r>
              <a:rPr lang="zh-CN" altLang="en-US" dirty="0">
                <a:ea typeface="黑体" pitchFamily="49" charset="-122"/>
              </a:rPr>
              <a:t>又称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不确定性推理</a:t>
            </a:r>
            <a:r>
              <a:rPr lang="zh-CN" altLang="en-US" dirty="0">
                <a:ea typeface="黑体" pitchFamily="49" charset="-122"/>
              </a:rPr>
              <a:t>或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近似推理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79E659-0DF7-AFBD-19CA-CA738FE5E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724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判断句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412776"/>
            <a:ext cx="10081120" cy="5445225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U</a:t>
            </a:r>
            <a:r>
              <a:rPr lang="zh-CN" altLang="en-US" dirty="0">
                <a:ea typeface="黑体" pitchFamily="49" charset="-122"/>
              </a:rPr>
              <a:t>为语言对象的集合，</a:t>
            </a:r>
            <a:r>
              <a:rPr lang="en-US" altLang="zh-CN" dirty="0">
                <a:ea typeface="黑体" pitchFamily="49" charset="-122"/>
              </a:rPr>
              <a:t>T</a:t>
            </a:r>
            <a:r>
              <a:rPr lang="zh-CN" altLang="en-US" dirty="0">
                <a:ea typeface="黑体" pitchFamily="49" charset="-122"/>
              </a:rPr>
              <a:t>为表示概念的词（或词组）的集合。</a:t>
            </a:r>
          </a:p>
          <a:p>
            <a:pPr marL="609600" indent="-609600" eaLnBrk="1" hangingPunct="1"/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句型：“</a:t>
            </a:r>
            <a:r>
              <a:rPr lang="en-US" altLang="zh-CN" u="sng" dirty="0">
                <a:solidFill>
                  <a:srgbClr val="FF0000"/>
                </a:solidFill>
                <a:ea typeface="黑体" pitchFamily="49" charset="-122"/>
              </a:rPr>
              <a:t>u</a:t>
            </a:r>
            <a:r>
              <a:rPr lang="zh-CN" altLang="en-US" u="sng" dirty="0">
                <a:solidFill>
                  <a:srgbClr val="FF0000"/>
                </a:solidFill>
                <a:ea typeface="黑体" pitchFamily="49" charset="-122"/>
              </a:rPr>
              <a:t>是</a:t>
            </a:r>
            <a:r>
              <a:rPr lang="en-US" altLang="zh-CN" u="sng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称为判断句，记为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(a)</a:t>
            </a:r>
          </a:p>
          <a:p>
            <a:pPr marL="990600" lvl="1" indent="-533400" eaLnBrk="1" hangingPunct="1"/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其中，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T</a:t>
            </a:r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  <a:p>
            <a:pPr marL="990600" lvl="1" indent="-533400" eaLnBrk="1" hangingPunct="1"/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如：“</a:t>
            </a:r>
            <a:r>
              <a:rPr lang="zh-CN" altLang="en-US" u="sng" dirty="0">
                <a:solidFill>
                  <a:schemeClr val="bg2"/>
                </a:solidFill>
                <a:ea typeface="黑体" pitchFamily="49" charset="-122"/>
              </a:rPr>
              <a:t>李明是学生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”，“</a:t>
            </a:r>
            <a:r>
              <a:rPr lang="zh-CN" altLang="en-US" u="sng" dirty="0">
                <a:solidFill>
                  <a:schemeClr val="bg2"/>
                </a:solidFill>
                <a:ea typeface="黑体" pitchFamily="49" charset="-122"/>
              </a:rPr>
              <a:t>明天是晴天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”</a:t>
            </a:r>
          </a:p>
          <a:p>
            <a:pPr marL="609600" indent="-609600" eaLnBrk="1" hangingPunct="1"/>
            <a:r>
              <a:rPr lang="zh-CN" altLang="en-US" dirty="0">
                <a:ea typeface="黑体" pitchFamily="49" charset="-122"/>
              </a:rPr>
              <a:t>有的判断句可用真假值来描述它，有的要用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集合。</a:t>
            </a:r>
          </a:p>
          <a:p>
            <a:pPr marL="609600" indent="-609600" eaLnBrk="1" hangingPunct="1"/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“</a:t>
            </a:r>
            <a:r>
              <a:rPr lang="en-US" altLang="zh-CN" u="sng" dirty="0">
                <a:solidFill>
                  <a:srgbClr val="FF0000"/>
                </a:solidFill>
                <a:ea typeface="黑体" pitchFamily="49" charset="-122"/>
              </a:rPr>
              <a:t>u</a:t>
            </a:r>
            <a:r>
              <a:rPr lang="zh-CN" altLang="en-US" u="sng" dirty="0">
                <a:solidFill>
                  <a:srgbClr val="FF0000"/>
                </a:solidFill>
                <a:ea typeface="黑体" pitchFamily="49" charset="-122"/>
              </a:rPr>
              <a:t>是</a:t>
            </a:r>
            <a:r>
              <a:rPr lang="en-US" altLang="zh-CN" u="sng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“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的真假程度可用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A(u)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表示</a:t>
            </a:r>
          </a:p>
          <a:p>
            <a:pPr marL="990600" lvl="1" indent="-533400" eaLnBrk="1" hangingPunct="1"/>
            <a:r>
              <a:rPr lang="zh-CN" altLang="en-US" dirty="0">
                <a:ea typeface="黑体" pitchFamily="49" charset="-122"/>
              </a:rPr>
              <a:t>记为</a:t>
            </a:r>
            <a:r>
              <a:rPr lang="en-US" altLang="zh-CN" dirty="0">
                <a:ea typeface="黑体" pitchFamily="49" charset="-122"/>
              </a:rPr>
              <a:t>(a)(u)=A(u)</a:t>
            </a:r>
          </a:p>
          <a:p>
            <a:pPr marL="990600" lvl="1" indent="-533400" eaLnBrk="1" hangingPunct="1"/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称为</a:t>
            </a:r>
            <a:r>
              <a:rPr lang="en-US" altLang="zh-CN" dirty="0">
                <a:ea typeface="黑体" pitchFamily="49" charset="-122"/>
              </a:rPr>
              <a:t>(a)</a:t>
            </a:r>
            <a:r>
              <a:rPr lang="zh-CN" altLang="en-US" dirty="0">
                <a:ea typeface="黑体" pitchFamily="49" charset="-122"/>
              </a:rPr>
              <a:t>的集合表示，或为</a:t>
            </a:r>
            <a:r>
              <a:rPr lang="en-US" altLang="zh-CN" dirty="0">
                <a:ea typeface="黑体" pitchFamily="49" charset="-122"/>
              </a:rPr>
              <a:t>(a)</a:t>
            </a:r>
            <a:r>
              <a:rPr lang="zh-CN" altLang="en-US" dirty="0">
                <a:ea typeface="黑体" pitchFamily="49" charset="-122"/>
              </a:rPr>
              <a:t>的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真域</a:t>
            </a:r>
            <a:r>
              <a:rPr lang="zh-CN" altLang="en-US" dirty="0">
                <a:ea typeface="黑体" pitchFamily="49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79C2E4-CF36-6CB9-52CD-E3FBEEC40D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8970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普通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判断句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556793"/>
            <a:ext cx="9577064" cy="496783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dirty="0">
                <a:ea typeface="黑体" pitchFamily="49" charset="-122"/>
              </a:rPr>
              <a:t>若</a:t>
            </a:r>
            <a:r>
              <a:rPr lang="en-US" altLang="zh-CN" sz="3600" dirty="0">
                <a:ea typeface="黑体" pitchFamily="49" charset="-122"/>
              </a:rPr>
              <a:t>(a)</a:t>
            </a:r>
            <a:r>
              <a:rPr lang="zh-CN" altLang="en-US" sz="3600" dirty="0">
                <a:ea typeface="黑体" pitchFamily="49" charset="-122"/>
              </a:rPr>
              <a:t>的真域</a:t>
            </a:r>
            <a:r>
              <a:rPr lang="en-US" altLang="zh-CN" sz="3600" dirty="0">
                <a:ea typeface="黑体" pitchFamily="49" charset="-122"/>
              </a:rPr>
              <a:t>A</a:t>
            </a:r>
            <a:r>
              <a:rPr lang="zh-CN" altLang="en-US" sz="3600" dirty="0">
                <a:ea typeface="黑体" pitchFamily="49" charset="-122"/>
              </a:rPr>
              <a:t>是</a:t>
            </a:r>
            <a:r>
              <a:rPr lang="zh-CN" altLang="en-US" sz="3600" u="sng" dirty="0">
                <a:solidFill>
                  <a:srgbClr val="CC00CC"/>
                </a:solidFill>
                <a:ea typeface="黑体" pitchFamily="49" charset="-122"/>
              </a:rPr>
              <a:t>普通集</a:t>
            </a:r>
            <a:r>
              <a:rPr lang="zh-CN" altLang="en-US" sz="3600" dirty="0">
                <a:ea typeface="黑体" pitchFamily="49" charset="-122"/>
              </a:rPr>
              <a:t>， </a:t>
            </a:r>
            <a:r>
              <a:rPr lang="en-US" altLang="zh-CN" sz="3600" dirty="0">
                <a:solidFill>
                  <a:srgbClr val="3333FF"/>
                </a:solidFill>
                <a:ea typeface="黑体" pitchFamily="49" charset="-122"/>
              </a:rPr>
              <a:t>A(u)</a:t>
            </a:r>
            <a:r>
              <a:rPr lang="en-US" altLang="zh-CN" sz="3600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600" dirty="0">
                <a:solidFill>
                  <a:srgbClr val="3333FF"/>
                </a:solidFill>
                <a:ea typeface="黑体" pitchFamily="49" charset="-122"/>
              </a:rPr>
              <a:t>{0, 1}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dirty="0">
                <a:ea typeface="黑体" pitchFamily="49" charset="-122"/>
              </a:rPr>
              <a:t>若</a:t>
            </a:r>
            <a:r>
              <a:rPr lang="en-US" altLang="zh-CN" sz="3200" dirty="0" err="1">
                <a:ea typeface="黑体" pitchFamily="49" charset="-122"/>
              </a:rPr>
              <a:t>u</a:t>
            </a:r>
            <a:r>
              <a:rPr lang="en-US" altLang="zh-CN" sz="3200" dirty="0" err="1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ea typeface="黑体" pitchFamily="49" charset="-122"/>
              </a:rPr>
              <a:t>A</a:t>
            </a:r>
            <a:r>
              <a:rPr lang="en-US" altLang="zh-CN" sz="3200" dirty="0">
                <a:ea typeface="黑体" pitchFamily="49" charset="-122"/>
              </a:rPr>
              <a:t> (</a:t>
            </a:r>
            <a:r>
              <a:rPr lang="zh-CN" altLang="en-US" sz="3200" dirty="0">
                <a:ea typeface="黑体" pitchFamily="49" charset="-122"/>
              </a:rPr>
              <a:t>即</a:t>
            </a:r>
            <a:r>
              <a:rPr lang="en-US" altLang="zh-CN" sz="3200" dirty="0">
                <a:ea typeface="黑体" pitchFamily="49" charset="-122"/>
              </a:rPr>
              <a:t>A(u)=1)</a:t>
            </a:r>
            <a:r>
              <a:rPr lang="zh-CN" altLang="en-US" sz="3200" dirty="0">
                <a:ea typeface="黑体" pitchFamily="49" charset="-122"/>
              </a:rPr>
              <a:t>，称</a:t>
            </a:r>
            <a:r>
              <a:rPr lang="en-US" altLang="zh-CN" sz="3200" dirty="0">
                <a:ea typeface="黑体" pitchFamily="49" charset="-122"/>
              </a:rPr>
              <a:t>(a)</a:t>
            </a:r>
            <a:r>
              <a:rPr lang="zh-CN" altLang="en-US" sz="3200" dirty="0">
                <a:ea typeface="黑体" pitchFamily="49" charset="-122"/>
              </a:rPr>
              <a:t>对</a:t>
            </a:r>
            <a:r>
              <a:rPr lang="en-US" altLang="zh-CN" sz="3200" dirty="0">
                <a:ea typeface="黑体" pitchFamily="49" charset="-122"/>
              </a:rPr>
              <a:t>u</a:t>
            </a:r>
            <a:r>
              <a:rPr lang="zh-CN" altLang="en-US" sz="3200" dirty="0">
                <a:ea typeface="黑体" pitchFamily="49" charset="-122"/>
              </a:rPr>
              <a:t>真，则</a:t>
            </a:r>
            <a:endParaRPr lang="en-US" altLang="zh-CN" sz="3200" dirty="0">
              <a:ea typeface="黑体" pitchFamily="49" charset="-122"/>
            </a:endParaRPr>
          </a:p>
          <a:p>
            <a:pPr lvl="2"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(a)(u)=1</a:t>
            </a:r>
            <a:r>
              <a:rPr lang="zh-CN" altLang="en-US" sz="3200" dirty="0">
                <a:solidFill>
                  <a:srgbClr val="F40802"/>
                </a:solidFill>
                <a:ea typeface="黑体" pitchFamily="49" charset="-122"/>
              </a:rPr>
              <a:t>， </a:t>
            </a:r>
            <a:r>
              <a:rPr lang="zh-CN" altLang="en-US" sz="3200" dirty="0">
                <a:ea typeface="黑体" pitchFamily="49" charset="-122"/>
              </a:rPr>
              <a:t>即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(a)</a:t>
            </a:r>
            <a:r>
              <a:rPr lang="zh-CN" altLang="en-US" sz="3200" dirty="0">
                <a:solidFill>
                  <a:srgbClr val="F40802"/>
                </a:solidFill>
                <a:ea typeface="黑体" pitchFamily="49" charset="-122"/>
              </a:rPr>
              <a:t>对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u</a:t>
            </a:r>
            <a:r>
              <a:rPr lang="zh-CN" altLang="en-US" sz="3200" dirty="0">
                <a:solidFill>
                  <a:srgbClr val="F40802"/>
                </a:solidFill>
                <a:ea typeface="黑体" pitchFamily="49" charset="-122"/>
              </a:rPr>
              <a:t>真</a:t>
            </a:r>
            <a:r>
              <a:rPr kumimoji="1" lang="zh-CN" altLang="en-US" sz="3200" b="1" dirty="0">
                <a:solidFill>
                  <a:srgbClr val="F40802"/>
                </a:solidFill>
                <a:ea typeface="楷体_GB2312" pitchFamily="49" charset="-122"/>
                <a:sym typeface="Symbol" pitchFamily="18" charset="2"/>
              </a:rPr>
              <a:t> 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</a:rPr>
              <a:t>u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kumimoji="1" lang="zh-CN" altLang="en-US" sz="3200" b="1" dirty="0">
                <a:solidFill>
                  <a:srgbClr val="F40802"/>
                </a:solidFill>
                <a:ea typeface="楷体_GB2312" pitchFamily="49" charset="-122"/>
                <a:sym typeface="Symbol" pitchFamily="18" charset="2"/>
              </a:rPr>
              <a:t> </a:t>
            </a:r>
            <a:endParaRPr kumimoji="1" lang="en-US" altLang="zh-CN" sz="3200" b="1" dirty="0">
              <a:solidFill>
                <a:srgbClr val="F40802"/>
              </a:solidFill>
              <a:ea typeface="楷体_GB2312" pitchFamily="49" charset="-122"/>
              <a:sym typeface="Symbol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dirty="0">
                <a:ea typeface="黑体" pitchFamily="49" charset="-122"/>
              </a:rPr>
              <a:t>若</a:t>
            </a:r>
            <a:r>
              <a:rPr lang="en-US" altLang="zh-CN" sz="3200" dirty="0">
                <a:ea typeface="黑体" pitchFamily="49" charset="-122"/>
              </a:rPr>
              <a:t>u</a:t>
            </a:r>
            <a:r>
              <a:rPr lang="zh-CN" altLang="en-US" sz="3200" b="1" dirty="0">
                <a:solidFill>
                  <a:srgbClr val="3333FF"/>
                </a:solidFill>
                <a:latin typeface="华文楷体" pitchFamily="2" charset="-122"/>
                <a:ea typeface="华文楷体" pitchFamily="2" charset="-122"/>
                <a:sym typeface="Symbol" pitchFamily="18" charset="2"/>
              </a:rPr>
              <a:t> </a:t>
            </a:r>
            <a:r>
              <a:rPr lang="zh-CN" altLang="en-US" sz="3200" b="1" dirty="0">
                <a:latin typeface="华文楷体" pitchFamily="2" charset="-122"/>
                <a:ea typeface="华文楷体" pitchFamily="2" charset="-122"/>
                <a:sym typeface="Symbol" pitchFamily="18" charset="2"/>
              </a:rPr>
              <a:t> </a:t>
            </a:r>
            <a:r>
              <a:rPr lang="en-US" altLang="zh-CN" sz="3200" dirty="0">
                <a:ea typeface="黑体" pitchFamily="49" charset="-122"/>
              </a:rPr>
              <a:t>A (</a:t>
            </a:r>
            <a:r>
              <a:rPr lang="zh-CN" altLang="en-US" sz="3200" dirty="0">
                <a:ea typeface="黑体" pitchFamily="49" charset="-122"/>
              </a:rPr>
              <a:t>即</a:t>
            </a:r>
            <a:r>
              <a:rPr lang="en-US" altLang="zh-CN" sz="3200" dirty="0">
                <a:ea typeface="黑体" pitchFamily="49" charset="-122"/>
              </a:rPr>
              <a:t>A(u)=0)</a:t>
            </a:r>
            <a:r>
              <a:rPr lang="zh-CN" altLang="en-US" sz="3200" dirty="0">
                <a:ea typeface="黑体" pitchFamily="49" charset="-122"/>
              </a:rPr>
              <a:t>，称</a:t>
            </a:r>
            <a:r>
              <a:rPr lang="en-US" altLang="zh-CN" sz="3200" dirty="0">
                <a:ea typeface="黑体" pitchFamily="49" charset="-122"/>
              </a:rPr>
              <a:t>(a)</a:t>
            </a:r>
            <a:r>
              <a:rPr lang="zh-CN" altLang="en-US" sz="3200" dirty="0">
                <a:ea typeface="黑体" pitchFamily="49" charset="-122"/>
              </a:rPr>
              <a:t>对</a:t>
            </a:r>
            <a:r>
              <a:rPr lang="en-US" altLang="zh-CN" sz="3200" dirty="0">
                <a:ea typeface="黑体" pitchFamily="49" charset="-122"/>
              </a:rPr>
              <a:t>u</a:t>
            </a:r>
            <a:r>
              <a:rPr lang="zh-CN" altLang="en-US" sz="3200" dirty="0">
                <a:ea typeface="黑体" pitchFamily="49" charset="-122"/>
              </a:rPr>
              <a:t>假，则</a:t>
            </a:r>
            <a:endParaRPr lang="en-US" altLang="zh-CN" sz="3200" dirty="0">
              <a:ea typeface="黑体" pitchFamily="49" charset="-122"/>
            </a:endParaRPr>
          </a:p>
          <a:p>
            <a:pPr lvl="2"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3333FF"/>
                </a:solidFill>
                <a:ea typeface="黑体" pitchFamily="49" charset="-122"/>
              </a:rPr>
              <a:t>(a)(u)=0</a:t>
            </a:r>
            <a:r>
              <a:rPr lang="zh-CN" altLang="en-US" sz="3200" dirty="0">
                <a:ea typeface="黑体" pitchFamily="49" charset="-122"/>
              </a:rPr>
              <a:t>， 即</a:t>
            </a:r>
            <a:r>
              <a:rPr lang="en-US" altLang="zh-CN" sz="3200" dirty="0">
                <a:solidFill>
                  <a:srgbClr val="3333FF"/>
                </a:solidFill>
                <a:ea typeface="黑体" pitchFamily="49" charset="-122"/>
              </a:rPr>
              <a:t>(a)</a:t>
            </a:r>
            <a:r>
              <a:rPr lang="zh-CN" altLang="en-US" sz="3200" dirty="0">
                <a:solidFill>
                  <a:srgbClr val="3333FF"/>
                </a:solidFill>
                <a:ea typeface="黑体" pitchFamily="49" charset="-122"/>
              </a:rPr>
              <a:t>对</a:t>
            </a:r>
            <a:r>
              <a:rPr lang="en-US" altLang="zh-CN" sz="3200" dirty="0">
                <a:solidFill>
                  <a:srgbClr val="3333FF"/>
                </a:solidFill>
                <a:ea typeface="黑体" pitchFamily="49" charset="-122"/>
              </a:rPr>
              <a:t>u</a:t>
            </a:r>
            <a:r>
              <a:rPr lang="zh-CN" altLang="en-US" sz="3200" dirty="0">
                <a:solidFill>
                  <a:srgbClr val="3333FF"/>
                </a:solidFill>
                <a:ea typeface="黑体" pitchFamily="49" charset="-122"/>
              </a:rPr>
              <a:t>假</a:t>
            </a:r>
            <a:r>
              <a:rPr kumimoji="1" lang="zh-CN" altLang="en-US" sz="3200" b="1" dirty="0">
                <a:solidFill>
                  <a:srgbClr val="3333FF"/>
                </a:solidFill>
                <a:ea typeface="楷体_GB2312" pitchFamily="49" charset="-122"/>
                <a:sym typeface="Symbol" pitchFamily="18" charset="2"/>
              </a:rPr>
              <a:t> </a:t>
            </a:r>
            <a:r>
              <a:rPr lang="en-US" altLang="zh-CN" sz="3200" dirty="0">
                <a:solidFill>
                  <a:srgbClr val="3333FF"/>
                </a:solidFill>
                <a:ea typeface="黑体" pitchFamily="49" charset="-122"/>
              </a:rPr>
              <a:t>u</a:t>
            </a:r>
            <a:r>
              <a:rPr lang="zh-CN" altLang="en-US" sz="3200" b="1" dirty="0">
                <a:solidFill>
                  <a:srgbClr val="3333FF"/>
                </a:solidFill>
                <a:latin typeface="华文楷体" pitchFamily="2" charset="-122"/>
                <a:ea typeface="华文楷体" pitchFamily="2" charset="-122"/>
                <a:sym typeface="Symbol" pitchFamily="18" charset="2"/>
              </a:rPr>
              <a:t>  </a:t>
            </a:r>
            <a:r>
              <a:rPr lang="en-US" altLang="zh-CN" sz="3200" dirty="0">
                <a:solidFill>
                  <a:srgbClr val="3333FF"/>
                </a:solidFill>
                <a:ea typeface="黑体" pitchFamily="49" charset="-122"/>
              </a:rPr>
              <a:t>A</a:t>
            </a:r>
            <a:r>
              <a:rPr kumimoji="1" lang="zh-CN" altLang="en-US" sz="3200" b="1" dirty="0">
                <a:solidFill>
                  <a:srgbClr val="3333FF"/>
                </a:solidFill>
                <a:ea typeface="楷体_GB2312" pitchFamily="49" charset="-122"/>
                <a:sym typeface="Symbol" pitchFamily="18" charset="2"/>
              </a:rPr>
              <a:t> </a:t>
            </a:r>
            <a:endParaRPr kumimoji="1" lang="en-US" altLang="zh-CN" sz="3200" b="1" dirty="0">
              <a:solidFill>
                <a:srgbClr val="3333FF"/>
              </a:solidFill>
              <a:ea typeface="楷体_GB2312" pitchFamily="49" charset="-122"/>
              <a:sym typeface="Symbol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dirty="0">
                <a:ea typeface="黑体" pitchFamily="49" charset="-122"/>
              </a:rPr>
              <a:t>若</a:t>
            </a:r>
            <a:r>
              <a:rPr lang="zh-CN" altLang="en-US" sz="3200" b="1" dirty="0">
                <a:ea typeface="华文楷体" pitchFamily="2" charset="-122"/>
                <a:sym typeface="Symbol" pitchFamily="18" charset="2"/>
              </a:rPr>
              <a:t></a:t>
            </a:r>
            <a:r>
              <a:rPr lang="en-US" altLang="zh-CN" sz="3200" dirty="0" err="1">
                <a:ea typeface="黑体" pitchFamily="49" charset="-122"/>
              </a:rPr>
              <a:t>u</a:t>
            </a:r>
            <a:r>
              <a:rPr lang="en-US" altLang="zh-CN" sz="3200" dirty="0" err="1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ea typeface="黑体" pitchFamily="49" charset="-122"/>
              </a:rPr>
              <a:t>A</a:t>
            </a:r>
            <a:r>
              <a:rPr lang="en-US" altLang="zh-CN" sz="3200" dirty="0">
                <a:ea typeface="黑体" pitchFamily="49" charset="-122"/>
              </a:rPr>
              <a:t> </a:t>
            </a:r>
            <a:r>
              <a:rPr lang="zh-CN" altLang="en-US" sz="3200" dirty="0">
                <a:ea typeface="黑体" pitchFamily="49" charset="-122"/>
              </a:rPr>
              <a:t>，</a:t>
            </a:r>
            <a:r>
              <a:rPr lang="en-US" altLang="zh-CN" sz="3200" dirty="0">
                <a:ea typeface="黑体" pitchFamily="49" charset="-122"/>
              </a:rPr>
              <a:t>(a)</a:t>
            </a:r>
            <a:r>
              <a:rPr lang="zh-CN" altLang="en-US" sz="3200" dirty="0">
                <a:ea typeface="黑体" pitchFamily="49" charset="-122"/>
              </a:rPr>
              <a:t>对</a:t>
            </a:r>
            <a:r>
              <a:rPr lang="en-US" altLang="zh-CN" sz="3200" dirty="0">
                <a:ea typeface="黑体" pitchFamily="49" charset="-122"/>
              </a:rPr>
              <a:t>u</a:t>
            </a:r>
            <a:r>
              <a:rPr lang="zh-CN" altLang="en-US" sz="3200" dirty="0">
                <a:ea typeface="黑体" pitchFamily="49" charset="-122"/>
              </a:rPr>
              <a:t>均真，称</a:t>
            </a:r>
            <a:r>
              <a:rPr lang="en-US" altLang="zh-CN" sz="3200" dirty="0">
                <a:ea typeface="黑体" pitchFamily="49" charset="-122"/>
              </a:rPr>
              <a:t>(a)</a:t>
            </a:r>
            <a:r>
              <a:rPr lang="zh-CN" altLang="en-US" sz="3200" dirty="0">
                <a:ea typeface="黑体" pitchFamily="49" charset="-122"/>
              </a:rPr>
              <a:t>为“</a:t>
            </a:r>
            <a:r>
              <a:rPr lang="zh-CN" altLang="en-US" sz="3200" dirty="0">
                <a:solidFill>
                  <a:srgbClr val="CC00CC"/>
                </a:solidFill>
                <a:ea typeface="黑体" pitchFamily="49" charset="-122"/>
              </a:rPr>
              <a:t>恒真命题</a:t>
            </a:r>
            <a:r>
              <a:rPr lang="zh-CN" altLang="en-US" sz="3200" dirty="0">
                <a:ea typeface="黑体" pitchFamily="49" charset="-122"/>
              </a:rPr>
              <a:t>”</a:t>
            </a:r>
            <a:endParaRPr lang="en-US" altLang="zh-CN" sz="3200" dirty="0">
              <a:ea typeface="黑体" pitchFamily="49" charset="-122"/>
            </a:endParaRPr>
          </a:p>
          <a:p>
            <a:pPr lvl="2"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CC00CC"/>
                </a:solidFill>
                <a:ea typeface="黑体" pitchFamily="49" charset="-122"/>
              </a:rPr>
              <a:t>(a)</a:t>
            </a:r>
            <a:r>
              <a:rPr lang="zh-CN" altLang="en-US" sz="3200" dirty="0">
                <a:solidFill>
                  <a:srgbClr val="CC00CC"/>
                </a:solidFill>
                <a:ea typeface="黑体" pitchFamily="49" charset="-122"/>
              </a:rPr>
              <a:t>恒真 </a:t>
            </a:r>
            <a:r>
              <a:rPr kumimoji="1" lang="zh-CN" altLang="en-US" sz="3200" b="1" dirty="0">
                <a:solidFill>
                  <a:srgbClr val="CC00CC"/>
                </a:solidFill>
                <a:ea typeface="楷体_GB2312" pitchFamily="49" charset="-122"/>
                <a:sym typeface="Symbol" pitchFamily="18" charset="2"/>
              </a:rPr>
              <a:t> </a:t>
            </a:r>
            <a:r>
              <a:rPr lang="en-US" altLang="zh-CN" sz="3200" dirty="0">
                <a:solidFill>
                  <a:srgbClr val="CC00CC"/>
                </a:solidFill>
                <a:ea typeface="黑体" pitchFamily="49" charset="-122"/>
              </a:rPr>
              <a:t>A=U</a:t>
            </a:r>
            <a:r>
              <a:rPr kumimoji="1" lang="zh-CN" altLang="en-US" sz="3200" b="1" dirty="0">
                <a:solidFill>
                  <a:srgbClr val="CC00CC"/>
                </a:solidFill>
                <a:ea typeface="楷体_GB2312" pitchFamily="49" charset="-122"/>
                <a:sym typeface="Symbol" pitchFamily="18" charset="2"/>
              </a:rPr>
              <a:t> </a:t>
            </a:r>
            <a:endParaRPr kumimoji="1" lang="en-US" altLang="zh-CN" sz="3200" b="1" dirty="0">
              <a:solidFill>
                <a:srgbClr val="CC00CC"/>
              </a:solidFill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BD89EB-F2CE-21BF-282C-DF2A9769A4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937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>
            <a:spLocks noChangeArrowheads="1"/>
          </p:cNvSpPr>
          <p:nvPr/>
        </p:nvSpPr>
        <p:spPr bwMode="auto">
          <a:xfrm>
            <a:off x="1981200" y="5731953"/>
            <a:ext cx="7488237" cy="6477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普通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推理句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9496" y="1773238"/>
            <a:ext cx="9145016" cy="467995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句型：“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b="1" u="sng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是</a:t>
            </a:r>
            <a:r>
              <a:rPr lang="en-US" altLang="zh-CN" b="1" u="sng" dirty="0">
                <a:solidFill>
                  <a:srgbClr val="3333FF"/>
                </a:solidFill>
                <a:ea typeface="楷体_GB2312" pitchFamily="49" charset="-122"/>
              </a:rPr>
              <a:t>a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，则</a:t>
            </a:r>
            <a:r>
              <a:rPr lang="en-US" altLang="zh-CN" b="1" u="sng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是</a:t>
            </a:r>
            <a:r>
              <a:rPr lang="en-US" altLang="zh-CN" b="1" u="sng" dirty="0">
                <a:solidFill>
                  <a:srgbClr val="3333FF"/>
                </a:solidFill>
                <a:ea typeface="楷体_GB2312" pitchFamily="49" charset="-122"/>
              </a:rPr>
              <a:t>b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”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称为推理句。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3200" dirty="0">
                <a:ea typeface="黑体" pitchFamily="49" charset="-122"/>
              </a:rPr>
              <a:t>记为“</a:t>
            </a:r>
            <a:r>
              <a:rPr lang="en-US" altLang="zh-CN" sz="3200" u="sng" dirty="0">
                <a:solidFill>
                  <a:srgbClr val="3333FF"/>
                </a:solidFill>
                <a:ea typeface="黑体" pitchFamily="49" charset="-122"/>
              </a:rPr>
              <a:t>(a) </a:t>
            </a:r>
            <a:r>
              <a:rPr lang="en-US" altLang="zh-CN" sz="3200" u="sng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3200" u="sng" dirty="0">
                <a:solidFill>
                  <a:srgbClr val="3333FF"/>
                </a:solidFill>
                <a:ea typeface="黑体" pitchFamily="49" charset="-122"/>
              </a:rPr>
              <a:t>(b)</a:t>
            </a:r>
            <a:r>
              <a:rPr lang="en-US" altLang="zh-CN" sz="3200" dirty="0">
                <a:ea typeface="黑体" pitchFamily="49" charset="-122"/>
              </a:rPr>
              <a:t>”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3200" dirty="0">
                <a:ea typeface="黑体" pitchFamily="49" charset="-122"/>
              </a:rPr>
              <a:t>或称“</a:t>
            </a:r>
            <a:r>
              <a:rPr lang="zh-CN" altLang="en-US" sz="3200" u="sng" dirty="0">
                <a:solidFill>
                  <a:srgbClr val="3333FF"/>
                </a:solidFill>
                <a:ea typeface="黑体" pitchFamily="49" charset="-122"/>
              </a:rPr>
              <a:t>若</a:t>
            </a:r>
            <a:r>
              <a:rPr lang="en-US" altLang="zh-CN" sz="3200" u="sng" dirty="0">
                <a:solidFill>
                  <a:srgbClr val="3333FF"/>
                </a:solidFill>
                <a:ea typeface="黑体" pitchFamily="49" charset="-122"/>
              </a:rPr>
              <a:t>(a)</a:t>
            </a:r>
            <a:r>
              <a:rPr lang="zh-CN" altLang="en-US" sz="3200" u="sng" dirty="0">
                <a:solidFill>
                  <a:srgbClr val="3333FF"/>
                </a:solidFill>
                <a:ea typeface="黑体" pitchFamily="49" charset="-122"/>
              </a:rPr>
              <a:t>则</a:t>
            </a:r>
            <a:r>
              <a:rPr lang="en-US" altLang="zh-CN" sz="3200" u="sng" dirty="0">
                <a:solidFill>
                  <a:srgbClr val="3333FF"/>
                </a:solidFill>
                <a:ea typeface="黑体" pitchFamily="49" charset="-122"/>
              </a:rPr>
              <a:t>(b)</a:t>
            </a:r>
            <a:r>
              <a:rPr lang="en-US" altLang="zh-CN" sz="3200" dirty="0">
                <a:ea typeface="黑体" pitchFamily="49" charset="-122"/>
              </a:rPr>
              <a:t>”</a:t>
            </a:r>
            <a:r>
              <a:rPr lang="zh-CN" altLang="en-US" sz="3200" dirty="0">
                <a:ea typeface="黑体" pitchFamily="49" charset="-122"/>
              </a:rPr>
              <a:t>为条件命题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dirty="0">
                <a:ea typeface="黑体" pitchFamily="49" charset="-122"/>
              </a:rPr>
              <a:t>例如推理句：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</a:rPr>
              <a:t>“</a:t>
            </a:r>
            <a:r>
              <a:rPr lang="zh-CN" altLang="en-US" sz="3200" b="1" u="sng" dirty="0">
                <a:solidFill>
                  <a:schemeClr val="bg2"/>
                </a:solidFill>
                <a:ea typeface="华文楷体" pitchFamily="2" charset="-122"/>
              </a:rPr>
              <a:t>若</a:t>
            </a:r>
            <a:r>
              <a:rPr lang="en-US" altLang="zh-CN" sz="3200" b="1" u="sng" dirty="0">
                <a:solidFill>
                  <a:schemeClr val="bg2"/>
                </a:solidFill>
                <a:ea typeface="华文楷体" pitchFamily="2" charset="-122"/>
              </a:rPr>
              <a:t>u</a:t>
            </a:r>
            <a:r>
              <a:rPr lang="zh-CN" altLang="en-US" sz="3200" b="1" u="sng" dirty="0">
                <a:solidFill>
                  <a:schemeClr val="bg2"/>
                </a:solidFill>
                <a:ea typeface="华文楷体" pitchFamily="2" charset="-122"/>
              </a:rPr>
              <a:t>是正三角形，则</a:t>
            </a:r>
            <a:r>
              <a:rPr lang="en-US" altLang="zh-CN" sz="3200" b="1" u="sng" dirty="0">
                <a:solidFill>
                  <a:schemeClr val="bg2"/>
                </a:solidFill>
                <a:ea typeface="华文楷体" pitchFamily="2" charset="-122"/>
              </a:rPr>
              <a:t>u</a:t>
            </a:r>
            <a:r>
              <a:rPr lang="zh-CN" altLang="en-US" sz="3200" b="1" u="sng" dirty="0">
                <a:solidFill>
                  <a:schemeClr val="bg2"/>
                </a:solidFill>
                <a:ea typeface="华文楷体" pitchFamily="2" charset="-122"/>
              </a:rPr>
              <a:t>是等腰三角形</a:t>
            </a: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</a:rPr>
              <a:t>”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</a:rPr>
              <a:t>“</a:t>
            </a:r>
            <a:r>
              <a:rPr lang="zh-CN" altLang="en-US" sz="3200" b="1" u="sng" dirty="0">
                <a:solidFill>
                  <a:schemeClr val="bg2"/>
                </a:solidFill>
                <a:ea typeface="华文楷体" pitchFamily="2" charset="-122"/>
              </a:rPr>
              <a:t>若</a:t>
            </a:r>
            <a:r>
              <a:rPr lang="en-US" altLang="zh-CN" sz="3200" b="1" u="sng" dirty="0">
                <a:solidFill>
                  <a:schemeClr val="bg2"/>
                </a:solidFill>
                <a:ea typeface="华文楷体" pitchFamily="2" charset="-122"/>
              </a:rPr>
              <a:t>u</a:t>
            </a:r>
            <a:r>
              <a:rPr lang="zh-CN" altLang="en-US" sz="3200" b="1" u="sng" dirty="0">
                <a:solidFill>
                  <a:schemeClr val="bg2"/>
                </a:solidFill>
                <a:ea typeface="华文楷体" pitchFamily="2" charset="-122"/>
              </a:rPr>
              <a:t>是学生，则</a:t>
            </a:r>
            <a:r>
              <a:rPr lang="en-US" altLang="zh-CN" sz="3200" b="1" u="sng" dirty="0">
                <a:solidFill>
                  <a:schemeClr val="bg2"/>
                </a:solidFill>
                <a:ea typeface="华文楷体" pitchFamily="2" charset="-122"/>
              </a:rPr>
              <a:t>u</a:t>
            </a:r>
            <a:r>
              <a:rPr lang="zh-CN" altLang="en-US" sz="3200" b="1" u="sng" dirty="0">
                <a:solidFill>
                  <a:schemeClr val="bg2"/>
                </a:solidFill>
                <a:ea typeface="华文楷体" pitchFamily="2" charset="-122"/>
              </a:rPr>
              <a:t>是小说迷</a:t>
            </a: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</a:rPr>
              <a:t> ”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若推理句</a:t>
            </a:r>
            <a:r>
              <a:rPr lang="en-US" altLang="zh-C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(a)</a:t>
            </a:r>
            <a:r>
              <a:rPr lang="en-US" altLang="zh-C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sym typeface="Symbol"/>
              </a:rPr>
              <a:t></a:t>
            </a:r>
            <a:r>
              <a:rPr lang="en-US" altLang="zh-C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(b)</a:t>
            </a:r>
            <a:r>
              <a:rPr lang="zh-CN" altLang="en-US" b="1" dirty="0">
                <a:solidFill>
                  <a:srgbClr val="F408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永真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，则称它是个</a:t>
            </a:r>
            <a:r>
              <a:rPr lang="zh-CN" altLang="en-US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定理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。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5F6C85A-2F25-2BCD-98FA-15A4A65DDB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5899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192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3776" y="185192"/>
            <a:ext cx="10214792" cy="1371600"/>
          </a:xfrm>
        </p:spPr>
        <p:txBody>
          <a:bodyPr/>
          <a:lstStyle/>
          <a:p>
            <a:r>
              <a:rPr lang="zh-CN" altLang="en-US" dirty="0">
                <a:solidFill>
                  <a:srgbClr val="1D7527"/>
                </a:solidFill>
                <a:latin typeface="黑体" pitchFamily="49" charset="-122"/>
                <a:ea typeface="黑体" pitchFamily="49" charset="-122"/>
              </a:rPr>
              <a:t>恒真推理句</a:t>
            </a:r>
            <a:r>
              <a:rPr lang="en-US" altLang="zh-CN" dirty="0">
                <a:solidFill>
                  <a:srgbClr val="1D7527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dirty="0">
                <a:solidFill>
                  <a:srgbClr val="1D7527"/>
                </a:solidFill>
                <a:latin typeface="黑体" pitchFamily="49" charset="-122"/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1D7527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dirty="0">
                <a:solidFill>
                  <a:srgbClr val="1D7527"/>
                </a:solidFill>
                <a:latin typeface="黑体" pitchFamily="49" charset="-122"/>
                <a:ea typeface="黑体" pitchFamily="49" charset="-122"/>
              </a:rPr>
              <a:t>作为推理依据的性质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1464" y="1412776"/>
            <a:ext cx="9217024" cy="5373216"/>
          </a:xfrm>
        </p:spPr>
        <p:txBody>
          <a:bodyPr/>
          <a:lstStyle/>
          <a:p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、</a:t>
            </a:r>
            <a:r>
              <a:rPr lang="en-US" altLang="zh-CN" dirty="0">
                <a:ea typeface="黑体" pitchFamily="49" charset="-122"/>
              </a:rPr>
              <a:t>B</a:t>
            </a:r>
            <a:r>
              <a:rPr lang="zh-CN" altLang="en-US" dirty="0">
                <a:ea typeface="黑体" pitchFamily="49" charset="-122"/>
              </a:rPr>
              <a:t>、</a:t>
            </a:r>
            <a:r>
              <a:rPr lang="en-US" altLang="zh-CN" dirty="0">
                <a:ea typeface="黑体" pitchFamily="49" charset="-122"/>
              </a:rPr>
              <a:t>C</a:t>
            </a:r>
            <a:r>
              <a:rPr lang="zh-CN" altLang="en-US" dirty="0">
                <a:ea typeface="黑体" pitchFamily="49" charset="-122"/>
              </a:rPr>
              <a:t>分别是</a:t>
            </a:r>
            <a:r>
              <a:rPr lang="en-US" altLang="zh-CN" dirty="0">
                <a:ea typeface="黑体" pitchFamily="49" charset="-122"/>
              </a:rPr>
              <a:t>(a)</a:t>
            </a:r>
            <a:r>
              <a:rPr lang="zh-CN" altLang="en-US" dirty="0">
                <a:ea typeface="黑体" pitchFamily="49" charset="-122"/>
              </a:rPr>
              <a:t>、</a:t>
            </a:r>
            <a:r>
              <a:rPr lang="en-US" altLang="zh-CN" dirty="0">
                <a:ea typeface="黑体" pitchFamily="49" charset="-122"/>
              </a:rPr>
              <a:t>(b)</a:t>
            </a:r>
            <a:r>
              <a:rPr lang="zh-CN" altLang="en-US" dirty="0">
                <a:ea typeface="黑体" pitchFamily="49" charset="-122"/>
              </a:rPr>
              <a:t>、</a:t>
            </a:r>
            <a:r>
              <a:rPr lang="en-US" altLang="zh-CN" dirty="0">
                <a:ea typeface="黑体" pitchFamily="49" charset="-122"/>
              </a:rPr>
              <a:t>(c)</a:t>
            </a:r>
            <a:r>
              <a:rPr lang="zh-CN" altLang="en-US" dirty="0">
                <a:ea typeface="黑体" pitchFamily="49" charset="-122"/>
              </a:rPr>
              <a:t>的真域，则</a:t>
            </a:r>
            <a:endParaRPr lang="en-US" altLang="zh-CN" dirty="0">
              <a:ea typeface="黑体" pitchFamily="49" charset="-122"/>
            </a:endParaRPr>
          </a:p>
          <a:p>
            <a:pPr lvl="1"/>
            <a:r>
              <a:rPr lang="en-US" altLang="zh-CN" dirty="0">
                <a:ea typeface="黑体" pitchFamily="49" charset="-122"/>
              </a:rPr>
              <a:t>(a)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ea typeface="黑体" pitchFamily="49" charset="-122"/>
              </a:rPr>
              <a:t>(b) </a:t>
            </a:r>
            <a:r>
              <a:rPr lang="zh-CN" altLang="en-US" dirty="0">
                <a:ea typeface="黑体" pitchFamily="49" charset="-122"/>
              </a:rPr>
              <a:t>是定理 </a:t>
            </a:r>
            <a:r>
              <a:rPr kumimoji="1" lang="zh-CN" altLang="en-US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 </a:t>
            </a:r>
            <a:r>
              <a:rPr kumimoji="1" lang="en-US" altLang="zh-CN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 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 </a:t>
            </a:r>
            <a:r>
              <a:rPr kumimoji="1" lang="en-US" altLang="zh-CN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B</a:t>
            </a:r>
          </a:p>
          <a:p>
            <a:pPr lvl="1"/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(a)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是定理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,(b)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(c)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是定理</a:t>
            </a:r>
            <a:r>
              <a:rPr kumimoji="1" lang="en-US" altLang="zh-CN" dirty="0">
                <a:solidFill>
                  <a:srgbClr val="CC00CC"/>
                </a:solidFill>
                <a:ea typeface="黑体" pitchFamily="49" charset="-122"/>
                <a:sym typeface="Symbol" pitchFamily="18" charset="2"/>
              </a:rPr>
              <a:t>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(a)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(c)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是定理</a:t>
            </a:r>
            <a:endParaRPr lang="en-US" altLang="zh-CN" dirty="0">
              <a:solidFill>
                <a:srgbClr val="CC00CC"/>
              </a:solidFill>
              <a:ea typeface="黑体" pitchFamily="49" charset="-122"/>
            </a:endParaRPr>
          </a:p>
          <a:p>
            <a:pPr lvl="2"/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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B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，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B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 C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A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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C</a:t>
            </a:r>
          </a:p>
          <a:p>
            <a:r>
              <a:rPr kumimoji="1" lang="zh-CN" altLang="en-US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肯定前件的假言推理</a:t>
            </a:r>
            <a:r>
              <a:rPr kumimoji="1" lang="en-US" altLang="zh-CN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(MP) (</a:t>
            </a:r>
            <a:r>
              <a:rPr kumimoji="1" lang="zh-CN" altLang="en-US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三段论</a:t>
            </a:r>
            <a:r>
              <a:rPr kumimoji="1" lang="en-US" altLang="zh-CN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)</a:t>
            </a:r>
          </a:p>
          <a:p>
            <a:pPr lvl="1"/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(a)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是定理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, (a)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真 </a:t>
            </a:r>
            <a:r>
              <a:rPr kumimoji="1" lang="en-US" altLang="zh-CN" dirty="0">
                <a:solidFill>
                  <a:srgbClr val="3333FF"/>
                </a:solidFill>
                <a:ea typeface="黑体" pitchFamily="49" charset="-122"/>
                <a:sym typeface="Symbol" pitchFamily="18" charset="2"/>
              </a:rPr>
              <a:t>(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b)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真</a:t>
            </a:r>
            <a:endParaRPr lang="en-US" altLang="zh-CN" dirty="0">
              <a:solidFill>
                <a:srgbClr val="3333FF"/>
              </a:solidFill>
              <a:ea typeface="黑体" pitchFamily="49" charset="-122"/>
            </a:endParaRPr>
          </a:p>
          <a:p>
            <a:pPr lvl="2"/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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B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，</a:t>
            </a:r>
            <a:r>
              <a:rPr kumimoji="1" lang="en-US" altLang="zh-CN" sz="2800" dirty="0" err="1">
                <a:ea typeface="黑体" pitchFamily="49" charset="-122"/>
                <a:sym typeface="Symbol" pitchFamily="18" charset="2"/>
              </a:rPr>
              <a:t>u</a:t>
            </a:r>
            <a:r>
              <a:rPr lang="en-US" altLang="zh-CN" sz="2800" dirty="0" err="1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ea typeface="黑体" pitchFamily="49" charset="-122"/>
              </a:rPr>
              <a:t>A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 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u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 B</a:t>
            </a:r>
          </a:p>
          <a:p>
            <a:r>
              <a:rPr kumimoji="1" lang="zh-CN" altLang="en-US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否定后件的假言推理</a:t>
            </a:r>
            <a:r>
              <a:rPr kumimoji="1" lang="en-US" altLang="zh-CN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(MT) (</a:t>
            </a:r>
            <a:r>
              <a:rPr kumimoji="1" lang="zh-CN" altLang="en-US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三段论</a:t>
            </a:r>
            <a:r>
              <a:rPr kumimoji="1" lang="en-US" altLang="zh-CN" b="1" dirty="0">
                <a:solidFill>
                  <a:srgbClr val="F40802"/>
                </a:solidFill>
                <a:ea typeface="黑体" pitchFamily="49" charset="-122"/>
                <a:sym typeface="Symbol" pitchFamily="18" charset="2"/>
              </a:rPr>
              <a:t>)</a:t>
            </a:r>
          </a:p>
          <a:p>
            <a:pPr lvl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(a)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是定理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, (b)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假 </a:t>
            </a:r>
            <a:r>
              <a:rPr kumimoji="1" lang="en-US" altLang="zh-CN" dirty="0">
                <a:solidFill>
                  <a:srgbClr val="008000"/>
                </a:solidFill>
                <a:ea typeface="黑体" pitchFamily="49" charset="-122"/>
                <a:sym typeface="Symbol" pitchFamily="18" charset="2"/>
              </a:rPr>
              <a:t>(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a)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假</a:t>
            </a:r>
            <a:endParaRPr lang="en-US" altLang="zh-CN" dirty="0">
              <a:solidFill>
                <a:srgbClr val="008000"/>
              </a:solidFill>
              <a:ea typeface="黑体" pitchFamily="49" charset="-122"/>
            </a:endParaRPr>
          </a:p>
          <a:p>
            <a:pPr lvl="2"/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A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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B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，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u</a:t>
            </a:r>
            <a:r>
              <a:rPr lang="en-US" altLang="zh-CN" sz="2800" dirty="0">
                <a:ea typeface="黑体" pitchFamily="49" charset="-122"/>
              </a:rPr>
              <a:t> </a:t>
            </a:r>
            <a:r>
              <a:rPr lang="zh-CN" altLang="en-US" sz="2800" dirty="0">
                <a:ea typeface="黑体" pitchFamily="49" charset="-122"/>
                <a:sym typeface="Symbol" pitchFamily="18" charset="2"/>
              </a:rPr>
              <a:t> </a:t>
            </a:r>
            <a:r>
              <a:rPr lang="en-US" altLang="zh-CN" sz="2800" dirty="0">
                <a:ea typeface="黑体" pitchFamily="49" charset="-122"/>
              </a:rPr>
              <a:t>B</a:t>
            </a:r>
            <a:r>
              <a:rPr kumimoji="1" lang="zh-CN" altLang="en-US" sz="2800" dirty="0">
                <a:ea typeface="黑体" pitchFamily="49" charset="-122"/>
                <a:sym typeface="Symbol" pitchFamily="18" charset="2"/>
              </a:rPr>
              <a:t> 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</a:t>
            </a:r>
            <a:r>
              <a:rPr kumimoji="1" lang="en-US" altLang="zh-CN" sz="2800" dirty="0">
                <a:ea typeface="黑体" pitchFamily="49" charset="-122"/>
                <a:sym typeface="Symbol" pitchFamily="18" charset="2"/>
              </a:rPr>
              <a:t>u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 </a:t>
            </a:r>
            <a:r>
              <a:rPr lang="zh-CN" altLang="en-US" sz="2800" dirty="0">
                <a:ea typeface="黑体" pitchFamily="49" charset="-122"/>
                <a:sym typeface="Symbol" pitchFamily="18" charset="2"/>
              </a:rPr>
              <a:t> </a:t>
            </a:r>
            <a:r>
              <a:rPr lang="en-US" altLang="zh-CN" sz="2800" dirty="0">
                <a:ea typeface="黑体" pitchFamily="49" charset="-122"/>
                <a:sym typeface="Symbol" pitchFamily="18" charset="2"/>
              </a:rPr>
              <a:t>A</a:t>
            </a:r>
            <a:endParaRPr kumimoji="1" lang="en-US" altLang="zh-CN" sz="2800" b="1" dirty="0">
              <a:ea typeface="楷体_GB2312" pitchFamily="49" charset="-122"/>
              <a:sym typeface="Symbol" pitchFamily="18" charset="2"/>
            </a:endParaRPr>
          </a:p>
          <a:p>
            <a:pPr lvl="2"/>
            <a:endParaRPr lang="en-US" altLang="zh-CN" dirty="0">
              <a:solidFill>
                <a:srgbClr val="CC00CC"/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57538-1536-8E66-EE62-C2F375DB1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741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2576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zh-CN" i="1" dirty="0">
                <a:solidFill>
                  <a:srgbClr val="228A2E"/>
                </a:solidFill>
              </a:rPr>
              <a:t>A</a:t>
            </a:r>
            <a:r>
              <a:rPr lang="en-US" altLang="zh-CN" dirty="0">
                <a:solidFill>
                  <a:srgbClr val="228A2E"/>
                </a:solidFill>
                <a:sym typeface="Symbol"/>
              </a:rPr>
              <a:t></a:t>
            </a:r>
            <a:r>
              <a:rPr lang="en-US" altLang="zh-CN" i="1" dirty="0">
                <a:solidFill>
                  <a:srgbClr val="228A2E"/>
                </a:solidFill>
                <a:sym typeface="Symbol"/>
              </a:rPr>
              <a:t>B</a:t>
            </a:r>
            <a:r>
              <a:rPr lang="en-US" altLang="zh-CN" dirty="0">
                <a:solidFill>
                  <a:srgbClr val="228A2E"/>
                </a:solidFill>
              </a:rPr>
              <a:t> </a:t>
            </a:r>
            <a:r>
              <a:rPr lang="zh-CN" altLang="en-US" dirty="0">
                <a:solidFill>
                  <a:srgbClr val="228A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的真值表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86100" y="1196975"/>
            <a:ext cx="9750459" cy="5544393"/>
          </a:xfrm>
          <a:solidFill>
            <a:srgbClr val="FEECF9"/>
          </a:solidFill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规定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b="1" i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为假当且仅当</a:t>
            </a:r>
            <a:r>
              <a:rPr lang="en-US" altLang="zh-CN" sz="2400" b="1" i="1" u="sng" dirty="0">
                <a:solidFill>
                  <a:srgbClr val="FF00FF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lang="zh-CN" altLang="en-US" sz="2400" b="1" u="sng" dirty="0">
                <a:solidFill>
                  <a:srgbClr val="FF00FF"/>
                </a:solidFill>
                <a:ea typeface="楷体_GB2312" pitchFamily="49" charset="-122"/>
                <a:cs typeface="Times New Roman" pitchFamily="18" charset="0"/>
              </a:rPr>
              <a:t>为真</a:t>
            </a:r>
            <a:r>
              <a:rPr lang="en-US" altLang="zh-CN" sz="2400" b="1" i="1" u="sng" dirty="0">
                <a:solidFill>
                  <a:srgbClr val="FF00FF"/>
                </a:solidFill>
                <a:ea typeface="楷体_GB2312" pitchFamily="49" charset="-122"/>
                <a:cs typeface="Times New Roman" pitchFamily="18" charset="0"/>
              </a:rPr>
              <a:t>B</a:t>
            </a:r>
            <a:r>
              <a:rPr lang="zh-CN" altLang="en-US" sz="2400" b="1" u="sng" dirty="0">
                <a:solidFill>
                  <a:srgbClr val="FF00FF"/>
                </a:solidFill>
                <a:ea typeface="楷体_GB2312" pitchFamily="49" charset="-122"/>
                <a:cs typeface="Times New Roman" pitchFamily="18" charset="0"/>
              </a:rPr>
              <a:t>为假</a:t>
            </a:r>
            <a:r>
              <a:rPr lang="en-US" altLang="zh-CN" sz="2400" b="1" dirty="0">
                <a:solidFill>
                  <a:srgbClr val="FF00FF"/>
                </a:solidFill>
                <a:ea typeface="楷体_GB2312" pitchFamily="49" charset="-122"/>
                <a:cs typeface="Times New Roman" pitchFamily="18" charset="0"/>
              </a:rPr>
              <a:t>.</a:t>
            </a:r>
            <a:r>
              <a:rPr lang="en-US" altLang="zh-CN" sz="2400" b="1" dirty="0">
                <a:ea typeface="楷体_GB2312" pitchFamily="49" charset="-122"/>
                <a:cs typeface="Times New Roman" pitchFamily="18" charset="0"/>
              </a:rPr>
              <a:t> </a:t>
            </a: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当 </a:t>
            </a:r>
            <a:r>
              <a:rPr lang="en-US" altLang="zh-CN" sz="2400" b="1" i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为假时，</a:t>
            </a:r>
            <a:r>
              <a:rPr lang="en-US" altLang="zh-CN" sz="2400" b="1" i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 A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B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为真</a:t>
            </a:r>
            <a:endParaRPr lang="en-US" altLang="zh-CN" sz="2400" b="1" dirty="0">
              <a:solidFill>
                <a:srgbClr val="3333FF"/>
              </a:solidFill>
              <a:ea typeface="楷体_GB2312" pitchFamily="49" charset="-122"/>
              <a:cs typeface="Times New Roman" pitchFamily="18" charset="0"/>
            </a:endParaRP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当 </a:t>
            </a:r>
            <a:r>
              <a:rPr lang="en-US" altLang="zh-CN" sz="2400" b="1" i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为真时，</a:t>
            </a:r>
            <a:r>
              <a:rPr lang="en-US" altLang="zh-CN" sz="2400" b="1" i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 A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 B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  <a:cs typeface="Times New Roman" pitchFamily="18" charset="0"/>
              </a:rPr>
              <a:t>为真</a:t>
            </a:r>
          </a:p>
          <a:p>
            <a:pPr algn="just" eaLnBrk="1" hangingPunct="1">
              <a:lnSpc>
                <a:spcPct val="105000"/>
              </a:lnSpc>
            </a:pPr>
            <a:r>
              <a:rPr lang="zh-CN" altLang="en-US" sz="2800" b="1" dirty="0">
                <a:ea typeface="楷体_GB2312" pitchFamily="49" charset="-122"/>
                <a:cs typeface="Times New Roman" pitchFamily="18" charset="0"/>
              </a:rPr>
              <a:t>说明</a:t>
            </a:r>
            <a:r>
              <a:rPr lang="en-US" altLang="zh-CN" sz="2800" b="1" dirty="0">
                <a:ea typeface="楷体_GB2312" pitchFamily="49" charset="-122"/>
                <a:cs typeface="Times New Roman" pitchFamily="18" charset="0"/>
              </a:rPr>
              <a:t>——</a:t>
            </a: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1" dirty="0">
                <a:cs typeface="Times New Roman" pitchFamily="18" charset="0"/>
              </a:rPr>
              <a:t>如：</a:t>
            </a:r>
            <a:r>
              <a:rPr lang="en-US" altLang="zh-CN" sz="2400" b="1" i="1" dirty="0">
                <a:cs typeface="Times New Roman" pitchFamily="18" charset="0"/>
              </a:rPr>
              <a:t>A</a:t>
            </a:r>
            <a:r>
              <a:rPr lang="en-US" altLang="zh-CN" sz="2400" b="1" dirty="0">
                <a:cs typeface="Times New Roman" pitchFamily="18" charset="0"/>
              </a:rPr>
              <a:t>:</a:t>
            </a:r>
            <a:r>
              <a:rPr lang="zh-CN" altLang="en-US" sz="2400" b="1" dirty="0">
                <a:cs typeface="Times New Roman" pitchFamily="18" charset="0"/>
              </a:rPr>
              <a:t>“天气好”  </a:t>
            </a:r>
            <a:r>
              <a:rPr lang="en-US" altLang="zh-CN" sz="2400" b="1" i="1" dirty="0">
                <a:cs typeface="Times New Roman" pitchFamily="18" charset="0"/>
              </a:rPr>
              <a:t>B</a:t>
            </a:r>
            <a:r>
              <a:rPr lang="en-US" altLang="zh-CN" sz="2400" b="1" dirty="0">
                <a:cs typeface="Times New Roman" pitchFamily="18" charset="0"/>
              </a:rPr>
              <a:t>:</a:t>
            </a:r>
            <a:r>
              <a:rPr lang="zh-CN" altLang="en-US" sz="2400" b="1" dirty="0">
                <a:cs typeface="Times New Roman" pitchFamily="18" charset="0"/>
              </a:rPr>
              <a:t>“我去接你”</a:t>
            </a: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1" dirty="0">
                <a:cs typeface="Times New Roman" pitchFamily="18" charset="0"/>
              </a:rPr>
              <a:t>则</a:t>
            </a:r>
            <a:r>
              <a:rPr lang="en-US" altLang="zh-CN" sz="2400" b="1" i="1" dirty="0">
                <a:solidFill>
                  <a:srgbClr val="008000"/>
                </a:solidFill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solidFill>
                  <a:srgbClr val="3333FF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：</a:t>
            </a:r>
            <a:r>
              <a:rPr lang="zh-CN" altLang="en-US" sz="2400" b="1" u="sng" dirty="0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“若天气好，则我去接你”</a:t>
            </a: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当天气好时，</a:t>
            </a:r>
          </a:p>
          <a:p>
            <a:pPr lvl="2" algn="just" eaLnBrk="1" hangingPunct="1">
              <a:lnSpc>
                <a:spcPct val="105000"/>
              </a:lnSpc>
            </a:pPr>
            <a:r>
              <a:rPr lang="zh-CN" altLang="en-US" sz="2000" b="1" dirty="0">
                <a:cs typeface="Times New Roman" pitchFamily="18" charset="0"/>
                <a:sym typeface="Symbol" pitchFamily="18" charset="2"/>
              </a:rPr>
              <a:t>我去接了你，此时， </a:t>
            </a:r>
            <a:r>
              <a:rPr lang="en-US" altLang="zh-CN" sz="2000" b="1" i="1" dirty="0">
                <a:cs typeface="Times New Roman" pitchFamily="18" charset="0"/>
              </a:rPr>
              <a:t>A</a:t>
            </a:r>
            <a:r>
              <a:rPr lang="en-US" altLang="zh-CN" sz="2000" b="1" dirty="0">
                <a:cs typeface="Times New Roman" pitchFamily="18" charset="0"/>
              </a:rPr>
              <a:t> </a:t>
            </a:r>
            <a:r>
              <a:rPr lang="en-US" altLang="zh-CN" sz="2000" b="1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i="1" dirty="0"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000" b="1" dirty="0"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000" b="1" dirty="0">
                <a:cs typeface="Times New Roman" pitchFamily="18" charset="0"/>
                <a:sym typeface="Symbol" pitchFamily="18" charset="2"/>
              </a:rPr>
              <a:t>真</a:t>
            </a:r>
          </a:p>
          <a:p>
            <a:pPr lvl="2" algn="just" eaLnBrk="1" hangingPunct="1">
              <a:lnSpc>
                <a:spcPct val="105000"/>
              </a:lnSpc>
            </a:pPr>
            <a:r>
              <a:rPr lang="zh-CN" altLang="en-US" sz="2000" b="1" dirty="0">
                <a:solidFill>
                  <a:srgbClr val="CC00CC"/>
                </a:solidFill>
                <a:cs typeface="Times New Roman" pitchFamily="18" charset="0"/>
                <a:sym typeface="Symbol" pitchFamily="18" charset="2"/>
              </a:rPr>
              <a:t>我没去接你，此时， </a:t>
            </a:r>
            <a:r>
              <a:rPr lang="en-US" altLang="zh-CN" sz="2000" b="1" i="1" dirty="0">
                <a:solidFill>
                  <a:srgbClr val="CC00CC"/>
                </a:solidFill>
                <a:cs typeface="Times New Roman" pitchFamily="18" charset="0"/>
              </a:rPr>
              <a:t>A </a:t>
            </a:r>
            <a:r>
              <a:rPr lang="en-US" altLang="zh-CN" sz="2000" b="1" dirty="0">
                <a:solidFill>
                  <a:srgbClr val="CC00CC"/>
                </a:solidFill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i="1" dirty="0">
                <a:solidFill>
                  <a:srgbClr val="CC00CC"/>
                </a:solidFill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000" b="1" dirty="0">
                <a:solidFill>
                  <a:srgbClr val="CC00CC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000" b="1" dirty="0">
                <a:solidFill>
                  <a:srgbClr val="CC00CC"/>
                </a:solidFill>
                <a:cs typeface="Times New Roman" pitchFamily="18" charset="0"/>
                <a:sym typeface="Symbol" pitchFamily="18" charset="2"/>
              </a:rPr>
              <a:t>假</a:t>
            </a:r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z="24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当天气不好时，</a:t>
            </a:r>
          </a:p>
          <a:p>
            <a:pPr lvl="2" algn="just" eaLnBrk="1" hangingPunct="1">
              <a:lnSpc>
                <a:spcPct val="105000"/>
              </a:lnSpc>
            </a:pPr>
            <a:r>
              <a:rPr lang="zh-CN" altLang="en-US" sz="2000" b="1" dirty="0">
                <a:cs typeface="Times New Roman" pitchFamily="18" charset="0"/>
                <a:sym typeface="Symbol" pitchFamily="18" charset="2"/>
              </a:rPr>
              <a:t>我无论去或不去接你均未食言，此时认定</a:t>
            </a:r>
            <a:r>
              <a:rPr lang="en-US" altLang="zh-CN" sz="2000" b="1" i="1" dirty="0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000" b="1" i="1" dirty="0">
                <a:solidFill>
                  <a:srgbClr val="008000"/>
                </a:solidFill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000" b="1" i="1" dirty="0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000" b="1" dirty="0">
                <a:solidFill>
                  <a:srgbClr val="3333FF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sz="2000" b="1" dirty="0">
                <a:solidFill>
                  <a:srgbClr val="008000"/>
                </a:solidFill>
                <a:cs typeface="Times New Roman" pitchFamily="18" charset="0"/>
                <a:sym typeface="Symbol" pitchFamily="18" charset="2"/>
              </a:rPr>
              <a:t>为真</a:t>
            </a:r>
            <a:r>
              <a:rPr lang="zh-CN" altLang="en-US" sz="2000" b="1" dirty="0">
                <a:cs typeface="Times New Roman" pitchFamily="18" charset="0"/>
                <a:sym typeface="Symbol" pitchFamily="18" charset="2"/>
              </a:rPr>
              <a:t>是适当的</a:t>
            </a:r>
            <a:endParaRPr lang="en-US" altLang="zh-CN" sz="2000" b="1" dirty="0"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223236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2082861"/>
              </p:ext>
            </p:extLst>
          </p:nvPr>
        </p:nvGraphicFramePr>
        <p:xfrm>
          <a:off x="8370903" y="1231900"/>
          <a:ext cx="2771775" cy="2572312"/>
        </p:xfrm>
        <a:graphic>
          <a:graphicData uri="http://schemas.openxmlformats.org/drawingml/2006/table">
            <a:tbl>
              <a:tblPr/>
              <a:tblGrid>
                <a:gridCol w="151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   B </a:t>
                      </a:r>
                    </a:p>
                  </a:txBody>
                  <a:tcPr marL="91439" marR="91439"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F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91439" marR="91439"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FE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37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1   1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91439" marR="91439"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91439" marR="91439"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1175583B-14C5-E8AE-6664-C6C940B33838}"/>
              </a:ext>
            </a:extLst>
          </p:cNvPr>
          <p:cNvGrpSpPr/>
          <p:nvPr/>
        </p:nvGrpSpPr>
        <p:grpSpPr>
          <a:xfrm>
            <a:off x="8370902" y="3724256"/>
            <a:ext cx="2909674" cy="1437927"/>
            <a:chOff x="6372225" y="3724255"/>
            <a:chExt cx="2909674" cy="143792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F89BAA8-9B35-5D42-A6B8-82340F929391}"/>
                </a:ext>
              </a:extLst>
            </p:cNvPr>
            <p:cNvSpPr/>
            <p:nvPr/>
          </p:nvSpPr>
          <p:spPr bwMode="auto">
            <a:xfrm>
              <a:off x="6372225" y="3839138"/>
              <a:ext cx="2909674" cy="1323044"/>
            </a:xfrm>
            <a:prstGeom prst="roundRect">
              <a:avLst/>
            </a:prstGeom>
            <a:solidFill>
              <a:srgbClr val="C1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6476426" y="3724255"/>
              <a:ext cx="2229210" cy="770998"/>
              <a:chOff x="6421050" y="3685278"/>
              <a:chExt cx="2229210" cy="770998"/>
            </a:xfrm>
            <a:solidFill>
              <a:srgbClr val="C1FFFF"/>
            </a:solidFill>
          </p:grpSpPr>
          <p:sp>
            <p:nvSpPr>
              <p:cNvPr id="2" name="矩形 1"/>
              <p:cNvSpPr/>
              <p:nvPr/>
            </p:nvSpPr>
            <p:spPr>
              <a:xfrm>
                <a:off x="6421050" y="3933056"/>
                <a:ext cx="22292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kumimoji="1" lang="en-US" altLang="zh-CN" sz="2800" b="1" i="1" dirty="0">
                    <a:solidFill>
                      <a:srgbClr val="FF0000"/>
                    </a:solidFill>
                  </a:rPr>
                  <a:t>A</a:t>
                </a:r>
                <a:r>
                  <a:rPr kumimoji="1" lang="en-US" altLang="zh-CN" sz="2800" b="1" dirty="0">
                    <a:solidFill>
                      <a:srgbClr val="FF0000"/>
                    </a:solidFill>
                    <a:sym typeface="Symbol" pitchFamily="18" charset="2"/>
                  </a:rPr>
                  <a:t></a:t>
                </a:r>
                <a:r>
                  <a:rPr kumimoji="1" lang="en-US" altLang="zh-CN" sz="2800" b="1" i="1" dirty="0">
                    <a:solidFill>
                      <a:srgbClr val="FF0000"/>
                    </a:solidFill>
                    <a:sym typeface="Symbol" pitchFamily="18" charset="2"/>
                  </a:rPr>
                  <a:t>B = A</a:t>
                </a:r>
                <a:r>
                  <a:rPr lang="en-US" altLang="zh-CN" sz="2800" b="1" dirty="0">
                    <a:solidFill>
                      <a:srgbClr val="FF0000"/>
                    </a:solidFill>
                    <a:sym typeface="Symbol" pitchFamily="18" charset="2"/>
                  </a:rPr>
                  <a:t></a:t>
                </a:r>
                <a:r>
                  <a:rPr kumimoji="1" lang="en-US" altLang="zh-CN" sz="2800" b="1" i="1" dirty="0">
                    <a:solidFill>
                      <a:srgbClr val="FF0000"/>
                    </a:solidFill>
                    <a:sym typeface="Symbol" pitchFamily="18" charset="2"/>
                  </a:rPr>
                  <a:t>B</a:t>
                </a:r>
              </a:p>
            </p:txBody>
          </p:sp>
          <p:sp>
            <p:nvSpPr>
              <p:cNvPr id="7" name="Text Box 6"/>
              <p:cNvSpPr txBox="1">
                <a:spLocks noChangeArrowheads="1"/>
              </p:cNvSpPr>
              <p:nvPr/>
            </p:nvSpPr>
            <p:spPr bwMode="auto">
              <a:xfrm>
                <a:off x="7684976" y="3685278"/>
                <a:ext cx="576263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 b="1" u="sng" dirty="0">
                    <a:solidFill>
                      <a:srgbClr val="F40802"/>
                    </a:solidFill>
                  </a:rPr>
                  <a:t>__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3E7A7E9-2476-5E4E-9ED7-3C878412EA18}"/>
                </a:ext>
              </a:extLst>
            </p:cNvPr>
            <p:cNvGrpSpPr/>
            <p:nvPr/>
          </p:nvGrpSpPr>
          <p:grpSpPr>
            <a:xfrm>
              <a:off x="6469391" y="4379120"/>
              <a:ext cx="2812508" cy="744085"/>
              <a:chOff x="6542845" y="4272919"/>
              <a:chExt cx="2812508" cy="744085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0B40AB0-2EF5-9E85-5A81-9E27C24950F2}"/>
                  </a:ext>
                </a:extLst>
              </p:cNvPr>
              <p:cNvSpPr/>
              <p:nvPr/>
            </p:nvSpPr>
            <p:spPr>
              <a:xfrm>
                <a:off x="6542845" y="4493784"/>
                <a:ext cx="2665602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kumimoji="1" lang="en-US" altLang="zh-CN" sz="2800" b="1" i="1" dirty="0">
                    <a:solidFill>
                      <a:srgbClr val="FF0000"/>
                    </a:solidFill>
                  </a:rPr>
                  <a:t>A</a:t>
                </a:r>
                <a:r>
                  <a:rPr kumimoji="1" lang="en-US" altLang="zh-CN" sz="2800" b="1" dirty="0">
                    <a:solidFill>
                      <a:srgbClr val="FF0000"/>
                    </a:solidFill>
                    <a:sym typeface="Symbol" pitchFamily="18" charset="2"/>
                  </a:rPr>
                  <a:t></a:t>
                </a:r>
                <a:r>
                  <a:rPr kumimoji="1" lang="en-US" altLang="zh-CN" sz="2800" b="1" i="1" dirty="0">
                    <a:solidFill>
                      <a:srgbClr val="FF0000"/>
                    </a:solidFill>
                    <a:sym typeface="Symbol" pitchFamily="18" charset="2"/>
                  </a:rPr>
                  <a:t>B = A</a:t>
                </a:r>
                <a:r>
                  <a:rPr kumimoji="1" lang="en-US" altLang="zh-CN" sz="2800" b="1" dirty="0">
                    <a:solidFill>
                      <a:srgbClr val="FF0000"/>
                    </a:solidFill>
                    <a:sym typeface="Symbol" pitchFamily="18" charset="2"/>
                  </a:rPr>
                  <a:t></a:t>
                </a:r>
                <a:r>
                  <a:rPr kumimoji="1" lang="en-US" altLang="zh-CN" sz="2800" b="1" i="1" dirty="0">
                    <a:solidFill>
                      <a:srgbClr val="FF0000"/>
                    </a:solidFill>
                    <a:sym typeface="Symbol" pitchFamily="18" charset="2"/>
                  </a:rPr>
                  <a:t>B</a:t>
                </a:r>
                <a:r>
                  <a:rPr lang="en-US" altLang="zh-CN" sz="2800" b="1" dirty="0">
                    <a:solidFill>
                      <a:srgbClr val="FF0000"/>
                    </a:solidFill>
                    <a:sym typeface="Symbol" pitchFamily="18" charset="2"/>
                  </a:rPr>
                  <a:t></a:t>
                </a:r>
                <a:r>
                  <a:rPr kumimoji="1" lang="en-US" altLang="zh-CN" sz="2800" b="1" i="1" dirty="0">
                    <a:solidFill>
                      <a:srgbClr val="FF0000"/>
                    </a:solidFill>
                    <a:sym typeface="Symbol" pitchFamily="18" charset="2"/>
                  </a:rPr>
                  <a:t>A</a:t>
                </a:r>
              </a:p>
            </p:txBody>
          </p:sp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4B24384F-85BC-4825-B70A-9116E6FA2F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79090" y="4272919"/>
                <a:ext cx="576263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 b="1" u="sng" dirty="0">
                    <a:solidFill>
                      <a:srgbClr val="F40802"/>
                    </a:solidFill>
                  </a:rPr>
                  <a:t>__</a:t>
                </a:r>
              </a:p>
            </p:txBody>
          </p:sp>
        </p:grpSp>
      </p:grp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6ACFAFF4-7ACD-1BFB-F611-180BCCEF63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794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3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3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3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3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3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3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3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uiExpand="1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”</a:t>
            </a:r>
            <a:r>
              <a:rPr lang="zh-CN" altLang="en-US" u="sng" dirty="0">
                <a:solidFill>
                  <a:srgbClr val="008000"/>
                </a:solidFill>
                <a:ea typeface="黑体" pitchFamily="49" charset="-122"/>
              </a:rPr>
              <a:t>若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(a)</a:t>
            </a:r>
            <a:r>
              <a:rPr lang="zh-CN" altLang="en-US" u="sng" dirty="0">
                <a:solidFill>
                  <a:srgbClr val="008000"/>
                </a:solidFill>
                <a:ea typeface="黑体" pitchFamily="49" charset="-122"/>
              </a:rPr>
              <a:t>则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(b)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”: </a:t>
            </a:r>
            <a:r>
              <a:rPr lang="en-US" altLang="zh-CN" u="sng" dirty="0">
                <a:solidFill>
                  <a:srgbClr val="228A2E"/>
                </a:solidFill>
              </a:rPr>
              <a:t>(a) </a:t>
            </a:r>
            <a:r>
              <a:rPr lang="en-US" altLang="zh-CN" u="sng" dirty="0">
                <a:solidFill>
                  <a:srgbClr val="228A2E"/>
                </a:solidFill>
                <a:sym typeface="Symbol"/>
              </a:rPr>
              <a:t></a:t>
            </a:r>
            <a:r>
              <a:rPr lang="en-US" altLang="zh-CN" u="sng" dirty="0">
                <a:solidFill>
                  <a:srgbClr val="228A2E"/>
                </a:solidFill>
              </a:rPr>
              <a:t>(b)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集合表示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12876"/>
            <a:ext cx="10153128" cy="54451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B</a:t>
            </a:r>
            <a:r>
              <a:rPr lang="en-US" altLang="zh-CN" sz="2800" dirty="0">
                <a:ea typeface="黑体" pitchFamily="49" charset="-122"/>
              </a:rPr>
              <a:t>={u|</a:t>
            </a:r>
            <a:r>
              <a:rPr lang="en-US" altLang="zh-CN" sz="2800" u="sng" dirty="0">
                <a:ea typeface="黑体" pitchFamily="49" charset="-122"/>
              </a:rPr>
              <a:t>(a) </a:t>
            </a:r>
            <a:r>
              <a:rPr lang="en-US" altLang="zh-CN" sz="2800" u="sng" dirty="0">
                <a:ea typeface="黑体" pitchFamily="49" charset="-122"/>
                <a:sym typeface="Symbol"/>
              </a:rPr>
              <a:t> </a:t>
            </a:r>
            <a:r>
              <a:rPr lang="en-US" altLang="zh-CN" sz="2800" u="sng" dirty="0">
                <a:ea typeface="黑体" pitchFamily="49" charset="-122"/>
              </a:rPr>
              <a:t>(b)</a:t>
            </a:r>
            <a:r>
              <a:rPr lang="zh-CN" altLang="en-US" sz="2800" dirty="0">
                <a:ea typeface="黑体" pitchFamily="49" charset="-122"/>
              </a:rPr>
              <a:t>对</a:t>
            </a:r>
            <a:r>
              <a:rPr lang="en-US" altLang="zh-CN" sz="2800" dirty="0">
                <a:ea typeface="黑体" pitchFamily="49" charset="-122"/>
              </a:rPr>
              <a:t>u</a:t>
            </a:r>
            <a:r>
              <a:rPr lang="zh-CN" altLang="en-US" sz="2800" dirty="0">
                <a:ea typeface="黑体" pitchFamily="49" charset="-122"/>
              </a:rPr>
              <a:t>真或</a:t>
            </a:r>
            <a:r>
              <a:rPr lang="en-US" altLang="zh-CN" sz="2800" dirty="0">
                <a:ea typeface="黑体" pitchFamily="49" charset="-122"/>
              </a:rPr>
              <a:t>a </a:t>
            </a:r>
            <a:r>
              <a:rPr lang="zh-CN" altLang="en-US" sz="2800" dirty="0">
                <a:ea typeface="黑体" pitchFamily="49" charset="-122"/>
              </a:rPr>
              <a:t>对</a:t>
            </a:r>
            <a:r>
              <a:rPr lang="en-US" altLang="zh-CN" sz="2800" dirty="0">
                <a:ea typeface="黑体" pitchFamily="49" charset="-122"/>
              </a:rPr>
              <a:t>u</a:t>
            </a:r>
            <a:r>
              <a:rPr lang="zh-CN" altLang="en-US" sz="2800" dirty="0">
                <a:ea typeface="黑体" pitchFamily="49" charset="-122"/>
              </a:rPr>
              <a:t>真</a:t>
            </a:r>
            <a:r>
              <a:rPr lang="en-US" altLang="zh-CN" sz="2800" dirty="0">
                <a:ea typeface="黑体" pitchFamily="49" charset="-122"/>
              </a:rPr>
              <a:t>}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     =(A</a:t>
            </a:r>
            <a:r>
              <a:rPr lang="en-US" altLang="zh-CN" sz="2800" dirty="0">
                <a:ea typeface="黑体" pitchFamily="49" charset="-122"/>
                <a:sym typeface="Symbol"/>
              </a:rPr>
              <a:t></a:t>
            </a:r>
            <a:r>
              <a:rPr lang="en-US" altLang="zh-CN" sz="2800" dirty="0">
                <a:ea typeface="黑体" pitchFamily="49" charset="-122"/>
              </a:rPr>
              <a:t>B)</a:t>
            </a:r>
            <a:r>
              <a:rPr lang="en-US" altLang="zh-CN" sz="2800" dirty="0">
                <a:ea typeface="黑体" pitchFamily="49" charset="-122"/>
                <a:sym typeface="Symbol"/>
              </a:rPr>
              <a:t>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en-US" altLang="zh-CN" sz="2800" baseline="30000" dirty="0">
                <a:ea typeface="黑体" pitchFamily="49" charset="-122"/>
              </a:rPr>
              <a:t>c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     =(</a:t>
            </a:r>
            <a:r>
              <a:rPr lang="en-US" altLang="zh-CN" sz="2800" dirty="0" err="1">
                <a:ea typeface="黑体" pitchFamily="49" charset="-122"/>
              </a:rPr>
              <a:t>A</a:t>
            </a:r>
            <a:r>
              <a:rPr lang="en-US" altLang="zh-CN" sz="2800" dirty="0" err="1">
                <a:ea typeface="黑体" pitchFamily="49" charset="-122"/>
                <a:sym typeface="Symbol"/>
              </a:rPr>
              <a:t></a:t>
            </a:r>
            <a:r>
              <a:rPr lang="en-US" altLang="zh-CN" sz="2800" dirty="0" err="1">
                <a:ea typeface="黑体" pitchFamily="49" charset="-122"/>
              </a:rPr>
              <a:t>A</a:t>
            </a:r>
            <a:r>
              <a:rPr lang="en-US" altLang="zh-CN" sz="2800" baseline="30000" dirty="0" err="1">
                <a:ea typeface="黑体" pitchFamily="49" charset="-122"/>
              </a:rPr>
              <a:t>c</a:t>
            </a:r>
            <a:r>
              <a:rPr lang="en-US" altLang="zh-CN" sz="2800" dirty="0">
                <a:ea typeface="黑体" pitchFamily="49" charset="-122"/>
              </a:rPr>
              <a:t>)</a:t>
            </a:r>
            <a:r>
              <a:rPr lang="en-US" altLang="zh-CN" sz="2800" dirty="0">
                <a:ea typeface="黑体" pitchFamily="49" charset="-122"/>
                <a:sym typeface="Symbol"/>
              </a:rPr>
              <a:t></a:t>
            </a:r>
            <a:r>
              <a:rPr lang="en-US" altLang="zh-CN" sz="2800" dirty="0">
                <a:ea typeface="黑体" pitchFamily="49" charset="-122"/>
              </a:rPr>
              <a:t>(</a:t>
            </a:r>
            <a:r>
              <a:rPr lang="en-US" altLang="zh-CN" sz="2800" dirty="0" err="1">
                <a:ea typeface="黑体" pitchFamily="49" charset="-122"/>
              </a:rPr>
              <a:t>B</a:t>
            </a:r>
            <a:r>
              <a:rPr lang="en-US" altLang="zh-CN" sz="2800" dirty="0" err="1">
                <a:ea typeface="黑体" pitchFamily="49" charset="-122"/>
                <a:sym typeface="Symbol"/>
              </a:rPr>
              <a:t></a:t>
            </a:r>
            <a:r>
              <a:rPr lang="en-US" altLang="zh-CN" sz="2800" dirty="0" err="1">
                <a:ea typeface="黑体" pitchFamily="49" charset="-122"/>
              </a:rPr>
              <a:t>A</a:t>
            </a:r>
            <a:r>
              <a:rPr lang="en-US" altLang="zh-CN" sz="2800" baseline="30000" dirty="0" err="1">
                <a:ea typeface="黑体" pitchFamily="49" charset="-122"/>
              </a:rPr>
              <a:t>c</a:t>
            </a:r>
            <a:r>
              <a:rPr lang="en-US" altLang="zh-CN" sz="2800" dirty="0">
                <a:ea typeface="黑体" pitchFamily="49" charset="-122"/>
              </a:rPr>
              <a:t>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            = </a:t>
            </a:r>
            <a:r>
              <a:rPr lang="en-US" altLang="zh-CN" sz="2800" dirty="0" err="1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sz="2800" baseline="30000" dirty="0" err="1">
                <a:solidFill>
                  <a:srgbClr val="FF0000"/>
                </a:solidFill>
                <a:ea typeface="黑体" pitchFamily="49" charset="-122"/>
              </a:rPr>
              <a:t>c</a:t>
            </a:r>
            <a:r>
              <a:rPr lang="en-US" altLang="zh-CN" sz="2800" dirty="0" err="1">
                <a:solidFill>
                  <a:srgbClr val="FF0000"/>
                </a:solidFill>
                <a:ea typeface="黑体" pitchFamily="49" charset="-122"/>
                <a:sym typeface="Symbol"/>
              </a:rPr>
              <a:t></a:t>
            </a:r>
            <a:r>
              <a:rPr lang="en-US" altLang="zh-CN" sz="2800" dirty="0" err="1">
                <a:solidFill>
                  <a:srgbClr val="FF0000"/>
                </a:solidFill>
                <a:ea typeface="黑体" pitchFamily="49" charset="-122"/>
              </a:rPr>
              <a:t>B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=(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49" charset="-122"/>
              </a:rPr>
              <a:t>A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49" charset="-122"/>
                <a:sym typeface="Symbol"/>
              </a:rPr>
              <a:t></a:t>
            </a:r>
            <a:r>
              <a:rPr lang="en-US" altLang="zh-CN" sz="2800" dirty="0" err="1">
                <a:solidFill>
                  <a:srgbClr val="CC00CC"/>
                </a:solidFill>
                <a:ea typeface="黑体" pitchFamily="49" charset="-122"/>
              </a:rPr>
              <a:t>B</a:t>
            </a:r>
            <a:r>
              <a:rPr lang="en-US" altLang="zh-CN" sz="2800" baseline="30000" dirty="0" err="1">
                <a:solidFill>
                  <a:srgbClr val="CC00CC"/>
                </a:solidFill>
                <a:ea typeface="黑体" pitchFamily="49" charset="-122"/>
              </a:rPr>
              <a:t>c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)</a:t>
            </a:r>
            <a:r>
              <a:rPr lang="en-US" altLang="zh-CN" sz="2800" baseline="30000" dirty="0">
                <a:solidFill>
                  <a:srgbClr val="CC00CC"/>
                </a:solidFill>
                <a:ea typeface="黑体" pitchFamily="49" charset="-122"/>
              </a:rPr>
              <a:t>c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ea typeface="黑体" pitchFamily="49" charset="-122"/>
              </a:rPr>
              <a:t>这个表示式说明推理句也是一个判断句。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endParaRPr lang="zh-CN" altLang="en-US" sz="4400" dirty="0">
              <a:ea typeface="黑体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ea typeface="黑体" pitchFamily="49" charset="-122"/>
              </a:rPr>
              <a:t>例，设</a:t>
            </a:r>
            <a:r>
              <a:rPr lang="en-US" altLang="zh-CN" sz="2800" dirty="0">
                <a:ea typeface="黑体" pitchFamily="49" charset="-122"/>
              </a:rPr>
              <a:t>(a)</a:t>
            </a:r>
            <a:r>
              <a:rPr lang="zh-CN" altLang="en-US" sz="2800" dirty="0">
                <a:ea typeface="黑体" pitchFamily="49" charset="-122"/>
              </a:rPr>
              <a:t>表示“</a:t>
            </a:r>
            <a:r>
              <a:rPr lang="en-US" altLang="zh-CN" sz="2800" u="sng" dirty="0">
                <a:ea typeface="黑体" pitchFamily="49" charset="-122"/>
              </a:rPr>
              <a:t>u</a:t>
            </a:r>
            <a:r>
              <a:rPr lang="zh-CN" altLang="en-US" sz="2800" u="sng" dirty="0">
                <a:ea typeface="黑体" pitchFamily="49" charset="-122"/>
              </a:rPr>
              <a:t>是学生</a:t>
            </a:r>
            <a:r>
              <a:rPr lang="zh-CN" altLang="en-US" sz="2800" dirty="0">
                <a:ea typeface="黑体" pitchFamily="49" charset="-122"/>
              </a:rPr>
              <a:t>”，</a:t>
            </a:r>
            <a:r>
              <a:rPr lang="en-US" altLang="zh-CN" sz="2800" dirty="0">
                <a:ea typeface="黑体" pitchFamily="49" charset="-122"/>
              </a:rPr>
              <a:t>(b)</a:t>
            </a:r>
            <a:r>
              <a:rPr lang="zh-CN" altLang="en-US" sz="2800" dirty="0">
                <a:ea typeface="黑体" pitchFamily="49" charset="-122"/>
              </a:rPr>
              <a:t>表示”</a:t>
            </a:r>
            <a:r>
              <a:rPr lang="en-US" altLang="zh-CN" sz="2800" u="sng" dirty="0">
                <a:ea typeface="黑体" pitchFamily="49" charset="-122"/>
              </a:rPr>
              <a:t>u</a:t>
            </a:r>
            <a:r>
              <a:rPr lang="zh-CN" altLang="en-US" sz="2800" u="sng" dirty="0">
                <a:ea typeface="黑体" pitchFamily="49" charset="-122"/>
              </a:rPr>
              <a:t>是小说</a:t>
            </a:r>
            <a:r>
              <a:rPr lang="zh-CN" altLang="en-US" sz="2800" u="sng" dirty="0">
                <a:solidFill>
                  <a:schemeClr val="bg2"/>
                </a:solidFill>
                <a:ea typeface="黑体" pitchFamily="49" charset="-122"/>
              </a:rPr>
              <a:t>迷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zh-CN" altLang="en-US" sz="2800" dirty="0">
                <a:ea typeface="黑体" pitchFamily="49" charset="-122"/>
              </a:rPr>
              <a:t>”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dirty="0"/>
              <a:t>    则</a:t>
            </a:r>
            <a:r>
              <a:rPr lang="en-US" altLang="zh-CN" sz="2800" dirty="0"/>
              <a:t>”</a:t>
            </a:r>
            <a:r>
              <a:rPr lang="zh-CN" altLang="en-US" sz="2800" b="1" u="sng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sz="2800" b="1" u="sng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zh-CN" altLang="en-US" sz="2800" b="1" u="sng" dirty="0">
                <a:solidFill>
                  <a:srgbClr val="3333FF"/>
                </a:solidFill>
                <a:ea typeface="楷体_GB2312" pitchFamily="49" charset="-122"/>
              </a:rPr>
              <a:t>是学生</a:t>
            </a:r>
            <a:r>
              <a:rPr lang="en-US" altLang="zh-CN" sz="2800" b="1" u="sng" dirty="0">
                <a:solidFill>
                  <a:srgbClr val="3333FF"/>
                </a:solidFill>
                <a:ea typeface="楷体_GB2312" pitchFamily="49" charset="-122"/>
              </a:rPr>
              <a:t>,</a:t>
            </a:r>
            <a:r>
              <a:rPr lang="zh-CN" altLang="en-US" sz="2800" b="1" u="sng" dirty="0">
                <a:solidFill>
                  <a:srgbClr val="3333FF"/>
                </a:solidFill>
                <a:ea typeface="楷体_GB2312" pitchFamily="49" charset="-122"/>
              </a:rPr>
              <a:t>则</a:t>
            </a:r>
            <a:r>
              <a:rPr lang="en-US" altLang="zh-CN" sz="2800" b="1" u="sng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zh-CN" altLang="en-US" sz="2800" b="1" u="sng" dirty="0">
                <a:solidFill>
                  <a:srgbClr val="3333FF"/>
                </a:solidFill>
                <a:ea typeface="楷体_GB2312" pitchFamily="49" charset="-122"/>
              </a:rPr>
              <a:t>是小说迷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“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可用”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(a) 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(b)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”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表示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“</a:t>
            </a:r>
            <a:r>
              <a:rPr lang="en-US" altLang="zh-CN" sz="2800" b="1" u="sng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zh-CN" altLang="en-US" sz="2800" b="1" u="sng" dirty="0">
                <a:solidFill>
                  <a:srgbClr val="3333FF"/>
                </a:solidFill>
                <a:ea typeface="楷体_GB2312" pitchFamily="49" charset="-122"/>
              </a:rPr>
              <a:t>不是不迷小说的学生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”可用               </a:t>
            </a: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baseline="30000" dirty="0"/>
          </a:p>
        </p:txBody>
      </p:sp>
      <p:graphicFrame>
        <p:nvGraphicFramePr>
          <p:cNvPr id="8397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27350" y="4222750"/>
          <a:ext cx="56896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08200" imgH="266700" progId="Equation.3">
                  <p:embed/>
                </p:oleObj>
              </mc:Choice>
              <mc:Fallback>
                <p:oleObj name="公式" r:id="rId3" imgW="2108200" imgH="266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4222750"/>
                        <a:ext cx="5689600" cy="7191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105078227"/>
              </p:ext>
            </p:extLst>
          </p:nvPr>
        </p:nvGraphicFramePr>
        <p:xfrm>
          <a:off x="7032104" y="6070599"/>
          <a:ext cx="27368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04421" imgH="266584" progId="Equation.3">
                  <p:embed/>
                </p:oleObj>
              </mc:Choice>
              <mc:Fallback>
                <p:oleObj name="公式" r:id="rId5" imgW="1104421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6070599"/>
                        <a:ext cx="27368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5591745" y="1157289"/>
            <a:ext cx="5762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dirty="0"/>
              <a:t>__</a:t>
            </a:r>
          </a:p>
        </p:txBody>
      </p:sp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2783632" y="3068960"/>
            <a:ext cx="1079500" cy="0"/>
          </a:xfrm>
          <a:prstGeom prst="line">
            <a:avLst/>
          </a:prstGeom>
          <a:noFill/>
          <a:ln w="57150" algn="ctr">
            <a:solidFill>
              <a:srgbClr val="CC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91344" y="2051333"/>
            <a:ext cx="1789856" cy="830997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华文楷体" pitchFamily="2" charset="-122"/>
                <a:ea typeface="华文楷体" pitchFamily="2" charset="-122"/>
              </a:rPr>
              <a:t>若真域是普通集合</a:t>
            </a:r>
          </a:p>
        </p:txBody>
      </p:sp>
      <p:graphicFrame>
        <p:nvGraphicFramePr>
          <p:cNvPr id="10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1847105"/>
              </p:ext>
            </p:extLst>
          </p:nvPr>
        </p:nvGraphicFramePr>
        <p:xfrm>
          <a:off x="8737600" y="1446215"/>
          <a:ext cx="2555776" cy="2252128"/>
        </p:xfrm>
        <a:graphic>
          <a:graphicData uri="http://schemas.openxmlformats.org/drawingml/2006/table">
            <a:tbl>
              <a:tblPr/>
              <a:tblGrid>
                <a:gridCol w="139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7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A   B </a:t>
                      </a:r>
                    </a:p>
                  </a:txBody>
                  <a:tcPr marL="91439" marR="91439"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F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91439" marR="91439"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FE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0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1   1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91439" marR="91439" marT="45670" marB="456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91439" marR="91439" marT="45670" marB="456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863380-70A6-76A9-EA7E-FE985038D4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038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  <p:bldP spid="83974" grpId="0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800" dirty="0">
                <a:solidFill>
                  <a:srgbClr val="228A2E"/>
                </a:solidFill>
                <a:ea typeface="黑体" pitchFamily="49" charset="-122"/>
              </a:rPr>
              <a:t>F</a:t>
            </a:r>
            <a:r>
              <a:rPr lang="zh-CN" altLang="en-US" sz="4800" dirty="0">
                <a:solidFill>
                  <a:srgbClr val="228A2E"/>
                </a:solidFill>
                <a:ea typeface="黑体" pitchFamily="49" charset="-122"/>
              </a:rPr>
              <a:t>判断句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981201"/>
            <a:ext cx="9227368" cy="45434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3600" dirty="0">
                <a:ea typeface="黑体" pitchFamily="49" charset="-122"/>
              </a:rPr>
              <a:t>若</a:t>
            </a:r>
            <a:r>
              <a:rPr lang="en-US" altLang="zh-CN" sz="3600" dirty="0">
                <a:ea typeface="黑体" pitchFamily="49" charset="-122"/>
              </a:rPr>
              <a:t>(a)</a:t>
            </a:r>
            <a:r>
              <a:rPr lang="zh-CN" altLang="en-US" sz="3600" dirty="0">
                <a:ea typeface="黑体" pitchFamily="49" charset="-122"/>
              </a:rPr>
              <a:t>的真域</a:t>
            </a:r>
            <a:r>
              <a:rPr lang="en-US" altLang="zh-CN" sz="3600" dirty="0">
                <a:ea typeface="黑体" pitchFamily="49" charset="-122"/>
              </a:rPr>
              <a:t>A</a:t>
            </a:r>
            <a:r>
              <a:rPr lang="zh-CN" altLang="en-US" sz="3600" dirty="0">
                <a:ea typeface="黑体" pitchFamily="49" charset="-122"/>
              </a:rPr>
              <a:t>是</a:t>
            </a:r>
            <a:r>
              <a:rPr lang="en-US" altLang="zh-CN" sz="3600" u="sng" dirty="0">
                <a:solidFill>
                  <a:srgbClr val="CC00CC"/>
                </a:solidFill>
                <a:ea typeface="黑体" pitchFamily="49" charset="-122"/>
              </a:rPr>
              <a:t>F</a:t>
            </a:r>
            <a:r>
              <a:rPr lang="zh-CN" altLang="en-US" sz="3600" u="sng" dirty="0">
                <a:solidFill>
                  <a:srgbClr val="CC00CC"/>
                </a:solidFill>
                <a:ea typeface="黑体" pitchFamily="49" charset="-122"/>
              </a:rPr>
              <a:t>集</a:t>
            </a:r>
            <a:r>
              <a:rPr lang="zh-CN" altLang="en-US" sz="3600" dirty="0">
                <a:ea typeface="黑体" pitchFamily="49" charset="-122"/>
              </a:rPr>
              <a:t>， </a:t>
            </a:r>
            <a:r>
              <a:rPr lang="en-US" altLang="zh-CN" sz="3600" dirty="0">
                <a:solidFill>
                  <a:srgbClr val="3333FF"/>
                </a:solidFill>
                <a:ea typeface="黑体" pitchFamily="49" charset="-122"/>
              </a:rPr>
              <a:t>A(u)</a:t>
            </a:r>
            <a:r>
              <a:rPr lang="en-US" altLang="zh-CN" sz="3600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600" dirty="0">
                <a:solidFill>
                  <a:srgbClr val="3333FF"/>
                </a:solidFill>
                <a:ea typeface="黑体" pitchFamily="49" charset="-122"/>
              </a:rPr>
              <a:t>[0, 1]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对于</a:t>
            </a:r>
            <a:r>
              <a:rPr lang="en-US" altLang="zh-CN" sz="3600" b="1" dirty="0">
                <a:solidFill>
                  <a:srgbClr val="FF0000"/>
                </a:solidFill>
                <a:ea typeface="楷体_GB2312" pitchFamily="49" charset="-122"/>
              </a:rPr>
              <a:t>F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情况，取</a:t>
            </a:r>
            <a:r>
              <a:rPr lang="en-US" altLang="zh-CN" sz="3600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½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为界来区分</a:t>
            </a:r>
            <a:r>
              <a:rPr lang="en-US" altLang="zh-CN" sz="3600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F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真假。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当</a:t>
            </a:r>
            <a:r>
              <a:rPr lang="en-US" altLang="zh-CN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(a)(u)&gt; ½</a:t>
            </a:r>
            <a:r>
              <a:rPr lang="zh-CN" altLang="en-US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时，则称</a:t>
            </a:r>
            <a:r>
              <a:rPr lang="en-US" altLang="zh-CN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(a)</a:t>
            </a:r>
            <a:r>
              <a:rPr lang="zh-CN" altLang="en-US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对</a:t>
            </a:r>
            <a:r>
              <a:rPr lang="en-US" altLang="zh-CN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u</a:t>
            </a:r>
            <a:r>
              <a:rPr lang="zh-CN" altLang="en-US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为</a:t>
            </a:r>
            <a:r>
              <a:rPr lang="en-US" altLang="zh-CN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F</a:t>
            </a:r>
            <a:r>
              <a:rPr lang="zh-CN" altLang="en-US" sz="3200" b="1" dirty="0">
                <a:solidFill>
                  <a:srgbClr val="3333FF"/>
                </a:solidFill>
                <a:ea typeface="华文楷体" pitchFamily="2" charset="-122"/>
                <a:cs typeface="Arial" charset="0"/>
              </a:rPr>
              <a:t>真；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  <a:cs typeface="Arial" charset="0"/>
              </a:rPr>
              <a:t>当</a:t>
            </a:r>
            <a:r>
              <a:rPr lang="en-US" altLang="zh-CN" sz="3200" b="1" dirty="0">
                <a:solidFill>
                  <a:schemeClr val="bg2"/>
                </a:solidFill>
                <a:ea typeface="华文楷体" pitchFamily="2" charset="-122"/>
                <a:cs typeface="Arial" charset="0"/>
              </a:rPr>
              <a:t>(a)(u)&lt; ½</a:t>
            </a: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  <a:cs typeface="Arial" charset="0"/>
              </a:rPr>
              <a:t>时，则称</a:t>
            </a:r>
            <a:r>
              <a:rPr lang="en-US" altLang="zh-CN" sz="3200" b="1" dirty="0">
                <a:solidFill>
                  <a:schemeClr val="bg2"/>
                </a:solidFill>
                <a:ea typeface="华文楷体" pitchFamily="2" charset="-122"/>
                <a:cs typeface="Arial" charset="0"/>
              </a:rPr>
              <a:t>(a)</a:t>
            </a: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  <a:cs typeface="Arial" charset="0"/>
              </a:rPr>
              <a:t>对</a:t>
            </a:r>
            <a:r>
              <a:rPr lang="en-US" altLang="zh-CN" sz="3200" b="1" dirty="0">
                <a:solidFill>
                  <a:schemeClr val="bg2"/>
                </a:solidFill>
                <a:ea typeface="华文楷体" pitchFamily="2" charset="-122"/>
                <a:cs typeface="Arial" charset="0"/>
              </a:rPr>
              <a:t>u</a:t>
            </a: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  <a:cs typeface="Arial" charset="0"/>
              </a:rPr>
              <a:t>为</a:t>
            </a:r>
            <a:r>
              <a:rPr lang="en-US" altLang="zh-CN" sz="3200" b="1" dirty="0">
                <a:solidFill>
                  <a:schemeClr val="bg2"/>
                </a:solidFill>
                <a:ea typeface="华文楷体" pitchFamily="2" charset="-122"/>
                <a:cs typeface="Arial" charset="0"/>
              </a:rPr>
              <a:t>F</a:t>
            </a:r>
            <a:r>
              <a:rPr lang="zh-CN" altLang="en-US" sz="3200" b="1" dirty="0">
                <a:solidFill>
                  <a:schemeClr val="bg2"/>
                </a:solidFill>
                <a:ea typeface="华文楷体" pitchFamily="2" charset="-122"/>
              </a:rPr>
              <a:t>假；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b="1" dirty="0">
                <a:solidFill>
                  <a:srgbClr val="008000"/>
                </a:solidFill>
                <a:ea typeface="华文楷体" pitchFamily="2" charset="-122"/>
              </a:rPr>
              <a:t>若</a:t>
            </a:r>
            <a:r>
              <a:rPr lang="zh-CN" altLang="en-US" sz="3200" b="1" dirty="0">
                <a:solidFill>
                  <a:srgbClr val="008000"/>
                </a:solidFill>
                <a:ea typeface="华文楷体" pitchFamily="2" charset="-122"/>
                <a:sym typeface="Symbol" pitchFamily="18" charset="2"/>
              </a:rPr>
              <a:t></a:t>
            </a:r>
            <a:r>
              <a:rPr lang="en-US" altLang="zh-CN" sz="3200" b="1" dirty="0" err="1">
                <a:solidFill>
                  <a:srgbClr val="008000"/>
                </a:solidFill>
                <a:ea typeface="华文楷体" pitchFamily="2" charset="-122"/>
                <a:sym typeface="Symbol" pitchFamily="18" charset="2"/>
              </a:rPr>
              <a:t>uU</a:t>
            </a:r>
            <a:r>
              <a:rPr lang="en-US" altLang="zh-CN" sz="3200" b="1" dirty="0">
                <a:solidFill>
                  <a:srgbClr val="008000"/>
                </a:solidFill>
                <a:ea typeface="华文楷体" pitchFamily="2" charset="-122"/>
                <a:sym typeface="Symbol" pitchFamily="18" charset="2"/>
              </a:rPr>
              <a:t>, (a)(u)&gt; </a:t>
            </a:r>
            <a:r>
              <a:rPr lang="en-US" altLang="zh-CN" sz="3200" b="1" dirty="0">
                <a:solidFill>
                  <a:srgbClr val="008000"/>
                </a:solidFill>
                <a:ea typeface="华文楷体" pitchFamily="2" charset="-122"/>
              </a:rPr>
              <a:t>½, </a:t>
            </a:r>
            <a:r>
              <a:rPr lang="zh-CN" altLang="en-US" sz="3200" b="1" dirty="0">
                <a:solidFill>
                  <a:srgbClr val="008000"/>
                </a:solidFill>
                <a:ea typeface="华文楷体" pitchFamily="2" charset="-122"/>
              </a:rPr>
              <a:t>则称</a:t>
            </a:r>
            <a:r>
              <a:rPr lang="en-US" altLang="zh-CN" sz="3200" b="1" u="sng" dirty="0">
                <a:solidFill>
                  <a:srgbClr val="008000"/>
                </a:solidFill>
                <a:ea typeface="华文楷体" pitchFamily="2" charset="-122"/>
                <a:sym typeface="Symbol" pitchFamily="18" charset="2"/>
              </a:rPr>
              <a:t>(a)</a:t>
            </a:r>
            <a:r>
              <a:rPr lang="zh-CN" altLang="en-US" sz="3200" b="1" u="sng" dirty="0">
                <a:solidFill>
                  <a:srgbClr val="008000"/>
                </a:solidFill>
                <a:ea typeface="华文楷体" pitchFamily="2" charset="-122"/>
                <a:sym typeface="Symbol" pitchFamily="18" charset="2"/>
              </a:rPr>
              <a:t>为</a:t>
            </a:r>
            <a:r>
              <a:rPr lang="en-US" altLang="zh-CN" sz="3200" b="1" u="sng" dirty="0">
                <a:solidFill>
                  <a:srgbClr val="008000"/>
                </a:solidFill>
                <a:ea typeface="华文楷体" pitchFamily="2" charset="-122"/>
                <a:sym typeface="Symbol" pitchFamily="18" charset="2"/>
              </a:rPr>
              <a:t>F</a:t>
            </a:r>
            <a:r>
              <a:rPr lang="zh-CN" altLang="en-US" sz="3200" b="1" u="sng" dirty="0">
                <a:solidFill>
                  <a:srgbClr val="008000"/>
                </a:solidFill>
                <a:ea typeface="华文楷体" pitchFamily="2" charset="-122"/>
                <a:sym typeface="Symbol" pitchFamily="18" charset="2"/>
              </a:rPr>
              <a:t>真</a:t>
            </a:r>
            <a:r>
              <a:rPr lang="zh-CN" altLang="en-US" sz="3200" b="1" dirty="0">
                <a:solidFill>
                  <a:srgbClr val="008000"/>
                </a:solidFill>
                <a:ea typeface="华文楷体" pitchFamily="2" charset="-122"/>
                <a:sym typeface="Symbol" pitchFamily="18" charset="2"/>
              </a:rPr>
              <a:t>；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3200" b="1" dirty="0">
                <a:ea typeface="华文楷体" pitchFamily="2" charset="-122"/>
              </a:rPr>
              <a:t>若</a:t>
            </a:r>
            <a:r>
              <a:rPr lang="zh-CN" altLang="en-US" sz="3200" b="1" dirty="0">
                <a:ea typeface="华文楷体" pitchFamily="2" charset="-122"/>
                <a:sym typeface="Symbol" pitchFamily="18" charset="2"/>
              </a:rPr>
              <a:t></a:t>
            </a:r>
            <a:r>
              <a:rPr lang="en-US" altLang="zh-CN" sz="3200" b="1" dirty="0" err="1">
                <a:ea typeface="华文楷体" pitchFamily="2" charset="-122"/>
                <a:sym typeface="Symbol" pitchFamily="18" charset="2"/>
              </a:rPr>
              <a:t>uU</a:t>
            </a:r>
            <a:r>
              <a:rPr lang="en-US" altLang="zh-CN" sz="3200" b="1" dirty="0">
                <a:ea typeface="华文楷体" pitchFamily="2" charset="-122"/>
                <a:sym typeface="Symbol" pitchFamily="18" charset="2"/>
              </a:rPr>
              <a:t>, (a)(u)&lt; </a:t>
            </a:r>
            <a:r>
              <a:rPr lang="en-US" altLang="zh-CN" sz="3200" b="1" dirty="0">
                <a:ea typeface="华文楷体" pitchFamily="2" charset="-122"/>
              </a:rPr>
              <a:t>½, </a:t>
            </a:r>
            <a:r>
              <a:rPr lang="zh-CN" altLang="en-US" sz="3200" b="1" dirty="0">
                <a:ea typeface="华文楷体" pitchFamily="2" charset="-122"/>
              </a:rPr>
              <a:t>则称</a:t>
            </a:r>
            <a:r>
              <a:rPr lang="en-US" altLang="zh-CN" sz="3200" b="1" u="sng" dirty="0">
                <a:ea typeface="华文楷体" pitchFamily="2" charset="-122"/>
                <a:sym typeface="Symbol" pitchFamily="18" charset="2"/>
              </a:rPr>
              <a:t>(a)</a:t>
            </a:r>
            <a:r>
              <a:rPr lang="zh-CN" altLang="en-US" sz="3200" b="1" u="sng" dirty="0">
                <a:ea typeface="华文楷体" pitchFamily="2" charset="-122"/>
                <a:sym typeface="Symbol" pitchFamily="18" charset="2"/>
              </a:rPr>
              <a:t>为</a:t>
            </a:r>
            <a:r>
              <a:rPr lang="en-US" altLang="zh-CN" sz="3200" b="1" u="sng" dirty="0">
                <a:ea typeface="华文楷体" pitchFamily="2" charset="-122"/>
                <a:sym typeface="Symbol" pitchFamily="18" charset="2"/>
              </a:rPr>
              <a:t>F</a:t>
            </a:r>
            <a:r>
              <a:rPr lang="zh-CN" altLang="en-US" sz="3200" b="1" u="sng" dirty="0">
                <a:ea typeface="华文楷体" pitchFamily="2" charset="-122"/>
                <a:sym typeface="Symbol" pitchFamily="18" charset="2"/>
              </a:rPr>
              <a:t>假</a:t>
            </a:r>
            <a:r>
              <a:rPr lang="zh-CN" altLang="en-US" sz="3200" b="1" dirty="0">
                <a:ea typeface="华文楷体" pitchFamily="2" charset="-122"/>
                <a:sym typeface="Symbol" pitchFamily="18" charset="2"/>
              </a:rPr>
              <a:t>；</a:t>
            </a:r>
            <a:endParaRPr lang="zh-CN" altLang="en-US" b="1" dirty="0"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3450DA-C8C4-0737-2EB3-F3B0FDA2C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589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3376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推理句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268413"/>
            <a:ext cx="9649072" cy="551815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ea typeface="黑体" pitchFamily="49" charset="-122"/>
              </a:rPr>
              <a:t>在推理句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”(a)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(b)”</a:t>
            </a:r>
            <a:r>
              <a:rPr lang="zh-CN" altLang="en-US" dirty="0">
                <a:ea typeface="黑体" pitchFamily="49" charset="-122"/>
              </a:rPr>
              <a:t>中，若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和</a:t>
            </a:r>
            <a:r>
              <a:rPr lang="en-US" altLang="zh-CN" dirty="0">
                <a:ea typeface="黑体" pitchFamily="49" charset="-122"/>
              </a:rPr>
              <a:t>b</a:t>
            </a:r>
            <a:r>
              <a:rPr lang="zh-CN" altLang="en-US" dirty="0">
                <a:ea typeface="黑体" pitchFamily="49" charset="-122"/>
              </a:rPr>
              <a:t>的概念是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的，则称为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推理句</a:t>
            </a:r>
            <a:r>
              <a:rPr lang="zh-CN" altLang="en-US" dirty="0">
                <a:ea typeface="黑体" pitchFamily="49" charset="-122"/>
              </a:rPr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chemeClr val="bg2"/>
                </a:solidFill>
                <a:ea typeface="华文楷体" pitchFamily="2" charset="-122"/>
              </a:rPr>
              <a:t>如，</a:t>
            </a:r>
            <a:r>
              <a:rPr lang="zh-CN" altLang="en-US" dirty="0">
                <a:solidFill>
                  <a:schemeClr val="bg2"/>
                </a:solidFill>
                <a:ea typeface="华文楷体" pitchFamily="2" charset="-122"/>
              </a:rPr>
              <a:t>“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若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u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是晴天，则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u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是暖和的。</a:t>
            </a:r>
            <a:r>
              <a:rPr lang="zh-CN" altLang="en-US" dirty="0">
                <a:solidFill>
                  <a:schemeClr val="bg2"/>
                </a:solidFill>
                <a:ea typeface="华文楷体" pitchFamily="2" charset="-122"/>
              </a:rPr>
              <a:t>”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推理句的真值</a:t>
            </a:r>
            <a:r>
              <a:rPr lang="zh-CN" altLang="en-US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ea typeface="黑体" pitchFamily="49" charset="-122"/>
              </a:rPr>
              <a:t>[0,1]</a:t>
            </a:r>
            <a:r>
              <a:rPr lang="zh-CN" altLang="en-US" dirty="0">
                <a:ea typeface="黑体" pitchFamily="49" charset="-122"/>
              </a:rPr>
              <a:t>，其定义为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(a)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的真域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= </a:t>
            </a:r>
            <a:r>
              <a:rPr lang="en-US" altLang="zh-CN" dirty="0" err="1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baseline="30000" dirty="0" err="1">
                <a:solidFill>
                  <a:srgbClr val="FF0000"/>
                </a:solidFill>
                <a:ea typeface="黑体" pitchFamily="49" charset="-122"/>
              </a:rPr>
              <a:t>c</a:t>
            </a:r>
            <a:r>
              <a:rPr lang="en-US" altLang="zh-CN" dirty="0" err="1">
                <a:solidFill>
                  <a:srgbClr val="FF0000"/>
                </a:solidFill>
                <a:ea typeface="黑体" pitchFamily="49" charset="-122"/>
                <a:sym typeface="Symbol"/>
              </a:rPr>
              <a:t></a:t>
            </a:r>
            <a:r>
              <a:rPr lang="en-US" altLang="zh-CN" dirty="0" err="1">
                <a:solidFill>
                  <a:srgbClr val="FF0000"/>
                </a:solidFill>
                <a:ea typeface="黑体" pitchFamily="49" charset="-122"/>
              </a:rPr>
              <a:t>B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 (a)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的真域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=(A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  <a:sym typeface="Symbol"/>
              </a:rPr>
              <a:t>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B)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  <a:sym typeface="Symbol"/>
              </a:rPr>
              <a:t>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baseline="30000" dirty="0">
                <a:solidFill>
                  <a:srgbClr val="FF0000"/>
                </a:solidFill>
                <a:ea typeface="黑体" pitchFamily="49" charset="-122"/>
              </a:rPr>
              <a:t>c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 ((a)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(b))(u)=(1-A(u))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B(u)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 ((a)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(b))(u)= (A(u)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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B(u))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(1-A(u))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A,B</a:t>
            </a:r>
            <a:r>
              <a:rPr lang="zh-CN" altLang="en-US" dirty="0">
                <a:ea typeface="黑体" pitchFamily="49" charset="-122"/>
              </a:rPr>
              <a:t>分别是</a:t>
            </a:r>
            <a:r>
              <a:rPr lang="en-US" altLang="zh-CN" dirty="0">
                <a:ea typeface="黑体" pitchFamily="49" charset="-122"/>
              </a:rPr>
              <a:t>(a),(b)</a:t>
            </a:r>
            <a:r>
              <a:rPr lang="zh-CN" altLang="en-US" dirty="0">
                <a:ea typeface="黑体" pitchFamily="49" charset="-122"/>
              </a:rPr>
              <a:t>的真域，</a:t>
            </a:r>
            <a:r>
              <a:rPr lang="en-US" altLang="zh-CN" dirty="0">
                <a:ea typeface="黑体" pitchFamily="49" charset="-122"/>
              </a:rPr>
              <a:t>((a)→(b))(u)</a:t>
            </a:r>
            <a:r>
              <a:rPr lang="zh-CN" altLang="en-US" dirty="0">
                <a:ea typeface="黑体" pitchFamily="49" charset="-122"/>
              </a:rPr>
              <a:t>表示</a:t>
            </a:r>
            <a:r>
              <a:rPr lang="en-US" altLang="zh-CN" u="sng" dirty="0">
                <a:ea typeface="黑体" pitchFamily="49" charset="-122"/>
              </a:rPr>
              <a:t>(a)</a:t>
            </a:r>
            <a:r>
              <a:rPr lang="en-US" altLang="zh-CN" u="sng" dirty="0">
                <a:ea typeface="黑体" pitchFamily="49" charset="-122"/>
                <a:sym typeface="Symbol"/>
              </a:rPr>
              <a:t></a:t>
            </a:r>
            <a:r>
              <a:rPr lang="en-US" altLang="zh-CN" u="sng" dirty="0">
                <a:ea typeface="黑体" pitchFamily="49" charset="-122"/>
              </a:rPr>
              <a:t>(b)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u</a:t>
            </a:r>
            <a:r>
              <a:rPr lang="zh-CN" altLang="en-US" dirty="0">
                <a:ea typeface="黑体" pitchFamily="49" charset="-122"/>
              </a:rPr>
              <a:t>的真值。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617858-9DA3-4DC7-6F98-8460FBDA1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571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549276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</a:rPr>
              <a:t>F 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推理句 </a:t>
            </a:r>
            <a:r>
              <a:rPr lang="en-US" altLang="zh-CN" u="sng" dirty="0">
                <a:solidFill>
                  <a:srgbClr val="228A2E"/>
                </a:solidFill>
              </a:rPr>
              <a:t>(a) </a:t>
            </a:r>
            <a:r>
              <a:rPr lang="en-US" altLang="zh-CN" u="sng" dirty="0">
                <a:solidFill>
                  <a:srgbClr val="228A2E"/>
                </a:solidFill>
                <a:sym typeface="Symbol"/>
              </a:rPr>
              <a:t></a:t>
            </a:r>
            <a:r>
              <a:rPr lang="en-US" altLang="zh-CN" u="sng" dirty="0">
                <a:solidFill>
                  <a:srgbClr val="228A2E"/>
                </a:solidFill>
              </a:rPr>
              <a:t>(b)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的真假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545" y="1876055"/>
            <a:ext cx="10225136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ea typeface="楷体_GB2312" pitchFamily="49" charset="-122"/>
                <a:cs typeface="Arial" charset="0"/>
              </a:rPr>
              <a:t>当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((a)</a:t>
            </a:r>
            <a:r>
              <a:rPr lang="en-US" altLang="zh-CN" b="1" dirty="0">
                <a:ea typeface="楷体_GB2312" pitchFamily="49" charset="-122"/>
                <a:cs typeface="Arial" charset="0"/>
                <a:sym typeface="Symbol"/>
              </a:rPr>
              <a:t>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(b))(u) &gt;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 ½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时， 则称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((a)</a:t>
            </a:r>
            <a:r>
              <a:rPr lang="en-US" altLang="zh-CN" b="1" dirty="0">
                <a:ea typeface="楷体_GB2312" pitchFamily="49" charset="-122"/>
                <a:cs typeface="Arial" charset="0"/>
                <a:sym typeface="Symbol"/>
              </a:rPr>
              <a:t> 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(b))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对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u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真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ea typeface="楷体_GB2312" pitchFamily="49" charset="-122"/>
                <a:cs typeface="Arial" charset="0"/>
              </a:rPr>
              <a:t>当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((a)</a:t>
            </a:r>
            <a:r>
              <a:rPr lang="en-US" altLang="zh-CN" b="1" dirty="0">
                <a:ea typeface="楷体_GB2312" pitchFamily="49" charset="-122"/>
                <a:cs typeface="Arial" charset="0"/>
                <a:sym typeface="Symbol"/>
              </a:rPr>
              <a:t>  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(b))(u)&lt;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½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时，则称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((a)</a:t>
            </a:r>
            <a:r>
              <a:rPr lang="en-US" altLang="zh-CN" b="1" dirty="0">
                <a:ea typeface="楷体_GB2312" pitchFamily="49" charset="-122"/>
                <a:cs typeface="Arial" charset="0"/>
                <a:sym typeface="Symbol"/>
              </a:rPr>
              <a:t> 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(b))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对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u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假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  <a:cs typeface="Arial" charset="0"/>
              </a:rPr>
              <a:t>若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</a:t>
            </a:r>
            <a:r>
              <a:rPr lang="en-US" altLang="zh-CN" b="1" dirty="0" err="1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uU</a:t>
            </a:r>
            <a:r>
              <a:rPr lang="en-US" altLang="zh-CN" b="1" dirty="0">
                <a:solidFill>
                  <a:schemeClr val="bg2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, 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((a)</a:t>
            </a:r>
            <a:r>
              <a:rPr lang="en-US" altLang="zh-CN" b="1" dirty="0">
                <a:ea typeface="楷体_GB2312" pitchFamily="49" charset="-122"/>
                <a:cs typeface="Arial" charset="0"/>
                <a:sym typeface="Symbol"/>
              </a:rPr>
              <a:t> 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(b)) 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对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u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为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F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真，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  <a:cs typeface="Arial" charset="0"/>
              </a:rPr>
              <a:t>                     则称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((a)</a:t>
            </a:r>
            <a:r>
              <a:rPr lang="en-US" altLang="zh-CN" b="1" dirty="0">
                <a:ea typeface="楷体_GB2312" pitchFamily="49" charset="-122"/>
                <a:cs typeface="Arial" charset="0"/>
                <a:sym typeface="Symbol"/>
              </a:rPr>
              <a:t>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 (b)) </a:t>
            </a: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真</a:t>
            </a: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；若称为</a:t>
            </a:r>
            <a:r>
              <a:rPr lang="en-US" altLang="zh-CN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cs typeface="Arial" charset="0"/>
                <a:sym typeface="Symbol" pitchFamily="18" charset="2"/>
              </a:rPr>
              <a:t>F</a:t>
            </a:r>
            <a:r>
              <a:rPr lang="zh-CN" altLang="en-US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cs typeface="Arial" charset="0"/>
                <a:sym typeface="Symbol" pitchFamily="18" charset="2"/>
              </a:rPr>
              <a:t>定理</a:t>
            </a: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  <a:cs typeface="Arial" charset="0"/>
              </a:rPr>
              <a:t>若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</a:t>
            </a:r>
            <a:r>
              <a:rPr lang="en-US" altLang="zh-CN" b="1" dirty="0" err="1">
                <a:solidFill>
                  <a:srgbClr val="3333FF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uU</a:t>
            </a:r>
            <a:r>
              <a:rPr lang="en-US" altLang="zh-CN" b="1" dirty="0">
                <a:solidFill>
                  <a:schemeClr val="bg2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, 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((a)</a:t>
            </a:r>
            <a:r>
              <a:rPr lang="en-US" altLang="zh-CN" b="1" dirty="0">
                <a:ea typeface="楷体_GB2312" pitchFamily="49" charset="-122"/>
                <a:cs typeface="Arial" charset="0"/>
                <a:sym typeface="Symbol"/>
              </a:rPr>
              <a:t> 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(b)) 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对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u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为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F</a:t>
            </a:r>
            <a:r>
              <a:rPr lang="zh-CN" altLang="en-US" b="1" dirty="0">
                <a:ea typeface="楷体_GB2312" pitchFamily="49" charset="-122"/>
                <a:cs typeface="Arial" charset="0"/>
              </a:rPr>
              <a:t>假</a:t>
            </a:r>
            <a:r>
              <a:rPr lang="en-US" altLang="zh-CN" b="1" dirty="0">
                <a:solidFill>
                  <a:schemeClr val="bg2"/>
                </a:solidFill>
                <a:ea typeface="楷体_GB2312" pitchFamily="49" charset="-122"/>
                <a:cs typeface="Arial" charset="0"/>
              </a:rPr>
              <a:t>, </a:t>
            </a: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  <a:cs typeface="Arial" charset="0"/>
              </a:rPr>
              <a:t>则称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((a)</a:t>
            </a:r>
            <a:r>
              <a:rPr lang="en-US" altLang="zh-CN" b="1" dirty="0">
                <a:ea typeface="楷体_GB2312" pitchFamily="49" charset="-122"/>
                <a:cs typeface="Arial" charset="0"/>
                <a:sym typeface="Symbol"/>
              </a:rPr>
              <a:t> </a:t>
            </a:r>
            <a:r>
              <a:rPr lang="en-US" altLang="zh-CN" b="1" dirty="0">
                <a:ea typeface="楷体_GB2312" pitchFamily="49" charset="-122"/>
                <a:cs typeface="Arial" charset="0"/>
              </a:rPr>
              <a:t>(b)) </a:t>
            </a: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假</a:t>
            </a:r>
            <a:r>
              <a:rPr lang="zh-CN" altLang="en-US" b="1" dirty="0">
                <a:solidFill>
                  <a:schemeClr val="bg2"/>
                </a:solidFill>
                <a:ea typeface="楷体_GB2312" pitchFamily="49" charset="-122"/>
                <a:cs typeface="Arial" charset="0"/>
                <a:sym typeface="Symbol" pitchFamily="18" charset="2"/>
              </a:rPr>
              <a:t>；</a:t>
            </a:r>
            <a:endParaRPr lang="en-US" altLang="zh-CN" b="1" dirty="0">
              <a:solidFill>
                <a:schemeClr val="bg2"/>
              </a:solidFill>
              <a:ea typeface="楷体_GB2312" pitchFamily="49" charset="-122"/>
              <a:cs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b="1" dirty="0">
              <a:solidFill>
                <a:schemeClr val="bg2"/>
              </a:solidFill>
              <a:ea typeface="楷体_GB2312" pitchFamily="49" charset="-122"/>
              <a:cs typeface="Arial" charset="0"/>
              <a:sym typeface="Symbol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66CFB4B-73B9-003A-1DB6-0A708CF6AD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197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</a:rPr>
              <a:t>F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逻辑推理规则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412876"/>
            <a:ext cx="10369151" cy="5256213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(MP)——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肯定前件的假言推理（三段论）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u="sng" dirty="0">
                <a:solidFill>
                  <a:schemeClr val="bg2"/>
                </a:solidFill>
                <a:ea typeface="黑体" pitchFamily="49" charset="-122"/>
              </a:rPr>
              <a:t>(a) </a:t>
            </a:r>
            <a:r>
              <a:rPr lang="en-US" altLang="zh-CN" u="sng" dirty="0">
                <a:solidFill>
                  <a:schemeClr val="bg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u="sng" dirty="0">
                <a:solidFill>
                  <a:schemeClr val="bg2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是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定理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且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(a)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为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真 </a:t>
            </a:r>
            <a:r>
              <a:rPr kumimoji="1" lang="zh-CN" altLang="en-US" dirty="0">
                <a:sym typeface="Symbol" pitchFamily="18" charset="2"/>
              </a:rPr>
              <a:t> 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为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真</a:t>
            </a:r>
          </a:p>
          <a:p>
            <a:pPr lvl="1"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而且，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(b)(u)=((a)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(b))(u)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ea typeface="黑体" pitchFamily="49" charset="-122"/>
              </a:rPr>
              <a:t>证：</a:t>
            </a:r>
            <a:r>
              <a:rPr lang="zh-CN" altLang="en-US" sz="2800" b="1" dirty="0">
                <a:ea typeface="楷体_GB2312" pitchFamily="49" charset="-122"/>
              </a:rPr>
              <a:t>设</a:t>
            </a:r>
            <a:r>
              <a:rPr lang="en-US" altLang="zh-CN" sz="2800" b="1" dirty="0">
                <a:ea typeface="楷体_GB2312" pitchFamily="49" charset="-122"/>
              </a:rPr>
              <a:t>A</a:t>
            </a:r>
            <a:r>
              <a:rPr lang="zh-CN" altLang="en-US" sz="2800" b="1" dirty="0">
                <a:ea typeface="楷体_GB2312" pitchFamily="49" charset="-122"/>
              </a:rPr>
              <a:t>、</a:t>
            </a:r>
            <a:r>
              <a:rPr lang="en-US" altLang="zh-CN" sz="2800" b="1" dirty="0">
                <a:ea typeface="楷体_GB2312" pitchFamily="49" charset="-122"/>
              </a:rPr>
              <a:t>B</a:t>
            </a:r>
            <a:r>
              <a:rPr lang="zh-CN" altLang="en-US" sz="2800" b="1" dirty="0">
                <a:ea typeface="楷体_GB2312" pitchFamily="49" charset="-122"/>
              </a:rPr>
              <a:t>分别为判断句</a:t>
            </a:r>
            <a:r>
              <a:rPr lang="en-US" altLang="zh-CN" sz="2800" b="1" dirty="0">
                <a:ea typeface="楷体_GB2312" pitchFamily="49" charset="-122"/>
              </a:rPr>
              <a:t>(a), (b)</a:t>
            </a:r>
            <a:r>
              <a:rPr lang="zh-CN" altLang="en-US" sz="2800" b="1" dirty="0">
                <a:ea typeface="楷体_GB2312" pitchFamily="49" charset="-122"/>
              </a:rPr>
              <a:t>的真域，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               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(a) 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  <a:sym typeface="Symbol"/>
              </a:rPr>
              <a:t>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(b)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的真域为</a:t>
            </a:r>
            <a:r>
              <a:rPr lang="en-US" altLang="zh-CN" sz="2800" b="1" dirty="0" err="1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sz="2800" b="1" baseline="30000" dirty="0" err="1">
                <a:solidFill>
                  <a:srgbClr val="CC00CC"/>
                </a:solidFill>
                <a:ea typeface="楷体_GB2312" pitchFamily="49" charset="-122"/>
              </a:rPr>
              <a:t>c</a:t>
            </a:r>
            <a:r>
              <a:rPr lang="en-US" altLang="zh-CN" sz="2800" b="1" dirty="0" err="1">
                <a:solidFill>
                  <a:srgbClr val="CC00CC"/>
                </a:solidFill>
                <a:ea typeface="楷体_GB2312" pitchFamily="49" charset="-122"/>
                <a:sym typeface="Symbol"/>
              </a:rPr>
              <a:t></a:t>
            </a:r>
            <a:r>
              <a:rPr lang="en-US" altLang="zh-CN" sz="2800" b="1" dirty="0" err="1">
                <a:solidFill>
                  <a:srgbClr val="CC00CC"/>
                </a:solidFill>
                <a:ea typeface="楷体_GB2312" pitchFamily="49" charset="-122"/>
              </a:rPr>
              <a:t>B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          </a:t>
            </a:r>
            <a:r>
              <a:rPr lang="zh-CN" altLang="en-US" sz="2800" b="1" dirty="0">
                <a:ea typeface="楷体_GB2312" pitchFamily="49" charset="-122"/>
              </a:rPr>
              <a:t>则 </a:t>
            </a:r>
            <a:r>
              <a:rPr lang="en-US" altLang="zh-CN" sz="2800" dirty="0">
                <a:ea typeface="黑体" pitchFamily="49" charset="-122"/>
              </a:rPr>
              <a:t>((a)</a:t>
            </a:r>
            <a:r>
              <a:rPr lang="en-US" altLang="zh-CN" sz="2800" dirty="0">
                <a:ea typeface="黑体" pitchFamily="49" charset="-122"/>
                <a:sym typeface="Symbol"/>
              </a:rPr>
              <a:t></a:t>
            </a:r>
            <a:r>
              <a:rPr lang="en-US" altLang="zh-CN" sz="2800" dirty="0">
                <a:ea typeface="黑体" pitchFamily="49" charset="-122"/>
              </a:rPr>
              <a:t>(b))(u)=(1-A(u))</a:t>
            </a:r>
            <a:r>
              <a:rPr lang="en-US" altLang="zh-CN" sz="2800" dirty="0">
                <a:ea typeface="黑体" pitchFamily="49" charset="-122"/>
                <a:sym typeface="Symbol"/>
              </a:rPr>
              <a:t></a:t>
            </a:r>
            <a:r>
              <a:rPr lang="en-US" altLang="zh-CN" sz="2800" dirty="0">
                <a:ea typeface="黑体" pitchFamily="49" charset="-122"/>
              </a:rPr>
              <a:t>B(u)&gt;1/2</a:t>
            </a:r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            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又  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(a)(u)=A(u)&gt;1/2 </a:t>
            </a:r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sz="2800" b="1" dirty="0">
                <a:ea typeface="楷体_GB2312" pitchFamily="49" charset="-122"/>
              </a:rPr>
              <a:t>            </a:t>
            </a:r>
            <a:r>
              <a:rPr lang="zh-CN" altLang="en-US" sz="2800" b="1" dirty="0">
                <a:ea typeface="楷体_GB2312" pitchFamily="49" charset="-122"/>
              </a:rPr>
              <a:t>于是 </a:t>
            </a:r>
            <a:r>
              <a:rPr lang="en-US" altLang="zh-CN" sz="2800" dirty="0">
                <a:ea typeface="黑体" pitchFamily="49" charset="-122"/>
              </a:rPr>
              <a:t>((a)</a:t>
            </a:r>
            <a:r>
              <a:rPr lang="en-US" altLang="zh-CN" sz="2800" dirty="0">
                <a:ea typeface="黑体" pitchFamily="49" charset="-122"/>
                <a:sym typeface="Symbol"/>
              </a:rPr>
              <a:t></a:t>
            </a:r>
            <a:r>
              <a:rPr lang="en-US" altLang="zh-CN" sz="2800" dirty="0">
                <a:ea typeface="黑体" pitchFamily="49" charset="-122"/>
              </a:rPr>
              <a:t>(b))(u) =B(u)&gt;1/2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800" b="1" dirty="0">
                <a:ea typeface="楷体_GB2312" pitchFamily="49" charset="-122"/>
              </a:rPr>
              <a:t>            </a:t>
            </a:r>
            <a:r>
              <a:rPr lang="en-US" altLang="zh-CN" b="1" dirty="0"/>
              <a:t>∴</a:t>
            </a:r>
            <a:r>
              <a:rPr lang="en-US" altLang="zh-CN" sz="2800" b="1" dirty="0">
                <a:ea typeface="楷体_GB2312" pitchFamily="49" charset="-122"/>
              </a:rPr>
              <a:t>  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(b)(u)=((a)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(b))(u)</a:t>
            </a:r>
            <a:r>
              <a:rPr lang="en-US" altLang="zh-CN" sz="2800" b="1" dirty="0">
                <a:ea typeface="楷体_GB2312" pitchFamily="49" charset="-122"/>
              </a:rPr>
              <a:t>  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5403680-070F-9696-6BED-319682C83C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12BACD-CB46-E234-9B15-0FE908584812}"/>
              </a:ext>
            </a:extLst>
          </p:cNvPr>
          <p:cNvSpPr txBox="1"/>
          <p:nvPr/>
        </p:nvSpPr>
        <p:spPr>
          <a:xfrm>
            <a:off x="7392144" y="4788441"/>
            <a:ext cx="2905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solidFill>
                  <a:srgbClr val="008000"/>
                </a:solidFill>
                <a:sym typeface="Symbol" pitchFamily="18" charset="2"/>
              </a:rPr>
              <a:t> B(u)&gt;1/2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8300CA-9D55-469E-10BF-B889F6C6686E}"/>
              </a:ext>
            </a:extLst>
          </p:cNvPr>
          <p:cNvSpPr txBox="1"/>
          <p:nvPr/>
        </p:nvSpPr>
        <p:spPr>
          <a:xfrm>
            <a:off x="5303912" y="4786699"/>
            <a:ext cx="2545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solidFill>
                  <a:srgbClr val="008000"/>
                </a:solidFill>
                <a:sym typeface="Symbol" pitchFamily="18" charset="2"/>
              </a:rPr>
              <a:t> 1- A(u)&lt;1/2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1579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uiExpand="1" build="p"/>
      <p:bldP spid="5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</a:rPr>
              <a:t>F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逻辑推理规则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10081119" cy="5256213"/>
          </a:xfrm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(MT)——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否定后件的假言推理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u="sng" dirty="0">
                <a:solidFill>
                  <a:schemeClr val="bg2"/>
                </a:solidFill>
                <a:ea typeface="黑体" pitchFamily="49" charset="-122"/>
              </a:rPr>
              <a:t>(a) </a:t>
            </a:r>
            <a:r>
              <a:rPr lang="en-US" altLang="zh-CN" u="sng" dirty="0">
                <a:solidFill>
                  <a:schemeClr val="bg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u="sng" dirty="0">
                <a:solidFill>
                  <a:schemeClr val="bg2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是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定理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且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为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假 </a:t>
            </a:r>
            <a:r>
              <a:rPr kumimoji="1" lang="zh-CN" altLang="en-US" dirty="0">
                <a:sym typeface="Symbol" pitchFamily="18" charset="2"/>
              </a:rPr>
              <a:t> 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(a)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为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假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 而且，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(a)(u)=1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－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((a)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(b))(u)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ea typeface="黑体" pitchFamily="49" charset="-122"/>
              </a:rPr>
              <a:t>证：</a:t>
            </a:r>
            <a:r>
              <a:rPr lang="zh-CN" altLang="en-US" sz="2800" b="1" dirty="0">
                <a:ea typeface="楷体_GB2312" pitchFamily="49" charset="-122"/>
              </a:rPr>
              <a:t>设</a:t>
            </a:r>
            <a:r>
              <a:rPr lang="en-US" altLang="zh-CN" sz="2800" b="1" dirty="0">
                <a:ea typeface="楷体_GB2312" pitchFamily="49" charset="-122"/>
              </a:rPr>
              <a:t>A</a:t>
            </a:r>
            <a:r>
              <a:rPr lang="zh-CN" altLang="en-US" sz="2800" b="1" dirty="0">
                <a:ea typeface="楷体_GB2312" pitchFamily="49" charset="-122"/>
              </a:rPr>
              <a:t>、</a:t>
            </a:r>
            <a:r>
              <a:rPr lang="en-US" altLang="zh-CN" sz="2800" b="1" dirty="0">
                <a:ea typeface="楷体_GB2312" pitchFamily="49" charset="-122"/>
              </a:rPr>
              <a:t>B</a:t>
            </a:r>
            <a:r>
              <a:rPr lang="zh-CN" altLang="en-US" sz="2800" b="1" dirty="0">
                <a:ea typeface="楷体_GB2312" pitchFamily="49" charset="-122"/>
              </a:rPr>
              <a:t>分别为判断句</a:t>
            </a:r>
            <a:r>
              <a:rPr lang="en-US" altLang="zh-CN" sz="2800" b="1" dirty="0">
                <a:ea typeface="楷体_GB2312" pitchFamily="49" charset="-122"/>
              </a:rPr>
              <a:t>(a), (b)</a:t>
            </a:r>
            <a:r>
              <a:rPr lang="zh-CN" altLang="en-US" sz="2800" b="1" dirty="0">
                <a:ea typeface="楷体_GB2312" pitchFamily="49" charset="-122"/>
              </a:rPr>
              <a:t>的真域，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               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(a) 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  <a:sym typeface="Symbol"/>
              </a:rPr>
              <a:t>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(b)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的真域为</a:t>
            </a:r>
            <a:r>
              <a:rPr lang="en-US" altLang="zh-CN" sz="2800" b="1" dirty="0" err="1">
                <a:solidFill>
                  <a:srgbClr val="CC00CC"/>
                </a:solidFill>
                <a:ea typeface="楷体_GB2312" pitchFamily="49" charset="-122"/>
              </a:rPr>
              <a:t>A</a:t>
            </a:r>
            <a:r>
              <a:rPr lang="en-US" altLang="zh-CN" sz="2800" b="1" baseline="30000" dirty="0" err="1">
                <a:solidFill>
                  <a:srgbClr val="CC00CC"/>
                </a:solidFill>
                <a:ea typeface="楷体_GB2312" pitchFamily="49" charset="-122"/>
              </a:rPr>
              <a:t>c</a:t>
            </a:r>
            <a:r>
              <a:rPr lang="en-US" altLang="zh-CN" sz="2800" b="1" dirty="0" err="1">
                <a:solidFill>
                  <a:srgbClr val="CC00CC"/>
                </a:solidFill>
                <a:ea typeface="楷体_GB2312" pitchFamily="49" charset="-122"/>
                <a:sym typeface="Symbol"/>
              </a:rPr>
              <a:t></a:t>
            </a:r>
            <a:r>
              <a:rPr lang="en-US" altLang="zh-CN" sz="2800" b="1" dirty="0" err="1">
                <a:solidFill>
                  <a:srgbClr val="CC00CC"/>
                </a:solidFill>
                <a:ea typeface="楷体_GB2312" pitchFamily="49" charset="-122"/>
              </a:rPr>
              <a:t>B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          </a:t>
            </a:r>
            <a:r>
              <a:rPr lang="zh-CN" altLang="en-US" sz="2800" b="1" dirty="0">
                <a:ea typeface="楷体_GB2312" pitchFamily="49" charset="-122"/>
              </a:rPr>
              <a:t>则 </a:t>
            </a:r>
            <a:r>
              <a:rPr lang="en-US" altLang="zh-CN" sz="2800" dirty="0">
                <a:ea typeface="黑体" pitchFamily="49" charset="-122"/>
              </a:rPr>
              <a:t>((a)</a:t>
            </a:r>
            <a:r>
              <a:rPr lang="en-US" altLang="zh-CN" sz="2800" dirty="0">
                <a:ea typeface="黑体" pitchFamily="49" charset="-122"/>
                <a:sym typeface="Symbol"/>
              </a:rPr>
              <a:t></a:t>
            </a:r>
            <a:r>
              <a:rPr lang="en-US" altLang="zh-CN" sz="2800" dirty="0">
                <a:ea typeface="黑体" pitchFamily="49" charset="-122"/>
              </a:rPr>
              <a:t>(b))(u)=(1-A(u))</a:t>
            </a:r>
            <a:r>
              <a:rPr lang="en-US" altLang="zh-CN" sz="2800" dirty="0">
                <a:ea typeface="黑体" pitchFamily="49" charset="-122"/>
                <a:sym typeface="Symbol"/>
              </a:rPr>
              <a:t></a:t>
            </a:r>
            <a:r>
              <a:rPr lang="en-US" altLang="zh-CN" sz="2800" dirty="0">
                <a:ea typeface="黑体" pitchFamily="49" charset="-122"/>
              </a:rPr>
              <a:t>B(u)&gt;1/2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     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又  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(b)(u)=B(u)&lt;1/2 </a:t>
            </a:r>
          </a:p>
          <a:p>
            <a:pPr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800" b="1" dirty="0">
                <a:ea typeface="楷体_GB2312" pitchFamily="49" charset="-122"/>
              </a:rPr>
              <a:t>            </a:t>
            </a:r>
            <a:r>
              <a:rPr lang="zh-CN" altLang="en-US" sz="2800" b="1" dirty="0">
                <a:ea typeface="楷体_GB2312" pitchFamily="49" charset="-122"/>
              </a:rPr>
              <a:t>于是 </a:t>
            </a:r>
            <a:r>
              <a:rPr lang="en-US" altLang="zh-CN" sz="2800" dirty="0">
                <a:ea typeface="黑体" pitchFamily="49" charset="-122"/>
              </a:rPr>
              <a:t>((a)</a:t>
            </a:r>
            <a:r>
              <a:rPr lang="en-US" altLang="zh-CN" sz="2800" dirty="0">
                <a:ea typeface="黑体" pitchFamily="49" charset="-122"/>
                <a:sym typeface="Symbol"/>
              </a:rPr>
              <a:t></a:t>
            </a:r>
            <a:r>
              <a:rPr lang="en-US" altLang="zh-CN" sz="2800" dirty="0">
                <a:ea typeface="黑体" pitchFamily="49" charset="-122"/>
              </a:rPr>
              <a:t>(b))(u)=1-A(u)</a:t>
            </a:r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sz="2800" b="1" dirty="0">
                <a:ea typeface="楷体_GB2312" pitchFamily="49" charset="-122"/>
              </a:rPr>
              <a:t>            </a:t>
            </a:r>
            <a:r>
              <a:rPr lang="en-US" altLang="zh-CN" b="1" dirty="0"/>
              <a:t>∴</a:t>
            </a:r>
            <a:r>
              <a:rPr lang="en-US" altLang="zh-CN" sz="2800" b="1" dirty="0">
                <a:ea typeface="楷体_GB2312" pitchFamily="49" charset="-122"/>
              </a:rPr>
              <a:t>  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(a)(u)=A(u)=1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－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((a)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(b))(u)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DB5F64-3267-4B01-5E0F-55BADC12C7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BAB1DD-6C3B-AF41-D722-2FD16EB212AB}"/>
              </a:ext>
            </a:extLst>
          </p:cNvPr>
          <p:cNvSpPr txBox="1"/>
          <p:nvPr/>
        </p:nvSpPr>
        <p:spPr>
          <a:xfrm>
            <a:off x="7680176" y="4797152"/>
            <a:ext cx="2016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zh-CN" sz="2800" dirty="0">
                <a:solidFill>
                  <a:srgbClr val="008000"/>
                </a:solidFill>
                <a:sym typeface="Symbol" pitchFamily="18" charset="2"/>
              </a:rPr>
              <a:t> A(u)&lt;1/2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AD4AC4-BB5A-6B5C-2048-54ACD20CC119}"/>
              </a:ext>
            </a:extLst>
          </p:cNvPr>
          <p:cNvSpPr txBox="1"/>
          <p:nvPr/>
        </p:nvSpPr>
        <p:spPr>
          <a:xfrm>
            <a:off x="5375920" y="4816316"/>
            <a:ext cx="288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zh-CN" sz="2800" dirty="0">
                <a:solidFill>
                  <a:srgbClr val="008000"/>
                </a:solidFill>
                <a:sym typeface="Symbol" pitchFamily="18" charset="2"/>
              </a:rPr>
              <a:t> 1-A(u)&gt;1/2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1179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7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uiExpand="1" build="p"/>
      <p:bldP spid="6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</a:rPr>
              <a:t>F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逻辑推理规则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196976"/>
            <a:ext cx="10153127" cy="5544393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合成规则</a:t>
            </a:r>
          </a:p>
          <a:p>
            <a:pPr eaLnBrk="1" hangingPunct="1">
              <a:buNone/>
            </a:pPr>
            <a:r>
              <a:rPr lang="en-US" altLang="zh-CN" sz="2800" dirty="0">
                <a:ea typeface="黑体" pitchFamily="49" charset="-122"/>
              </a:rPr>
              <a:t>      </a:t>
            </a:r>
            <a:r>
              <a:rPr lang="en-US" altLang="zh-CN" sz="2800" u="sng" dirty="0">
                <a:ea typeface="黑体" pitchFamily="49" charset="-122"/>
              </a:rPr>
              <a:t>(a)</a:t>
            </a:r>
            <a:r>
              <a:rPr lang="en-US" altLang="zh-CN" sz="2800" u="sng" dirty="0">
                <a:ea typeface="黑体" pitchFamily="49" charset="-122"/>
                <a:sym typeface="Symbol"/>
              </a:rPr>
              <a:t></a:t>
            </a:r>
            <a:r>
              <a:rPr lang="en-US" altLang="zh-CN" sz="2800" u="sng" dirty="0">
                <a:ea typeface="黑体" pitchFamily="49" charset="-122"/>
              </a:rPr>
              <a:t>(b)</a:t>
            </a:r>
            <a:r>
              <a:rPr lang="zh-CN" altLang="en-US" sz="2800" dirty="0">
                <a:ea typeface="黑体" pitchFamily="49" charset="-122"/>
              </a:rPr>
              <a:t>是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定理</a:t>
            </a:r>
            <a:r>
              <a:rPr lang="zh-CN" altLang="en-US" sz="2800" dirty="0">
                <a:ea typeface="黑体" pitchFamily="49" charset="-122"/>
              </a:rPr>
              <a:t>且</a:t>
            </a:r>
            <a:r>
              <a:rPr lang="en-US" altLang="zh-CN" sz="2800" u="sng" dirty="0">
                <a:ea typeface="黑体" pitchFamily="49" charset="-122"/>
              </a:rPr>
              <a:t>(b)</a:t>
            </a:r>
            <a:r>
              <a:rPr lang="en-US" altLang="zh-CN" sz="2800" u="sng" dirty="0">
                <a:ea typeface="黑体" pitchFamily="49" charset="-122"/>
                <a:sym typeface="Symbol"/>
              </a:rPr>
              <a:t></a:t>
            </a:r>
            <a:r>
              <a:rPr lang="en-US" altLang="zh-CN" sz="2800" u="sng" dirty="0">
                <a:ea typeface="黑体" pitchFamily="49" charset="-122"/>
              </a:rPr>
              <a:t>(c)</a:t>
            </a:r>
            <a:r>
              <a:rPr lang="zh-CN" altLang="en-US" sz="2800" dirty="0">
                <a:ea typeface="黑体" pitchFamily="49" charset="-122"/>
              </a:rPr>
              <a:t>是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定理 </a:t>
            </a:r>
            <a:r>
              <a:rPr kumimoji="1" lang="zh-CN" altLang="en-US" sz="2800" dirty="0">
                <a:sym typeface="Symbol" pitchFamily="18" charset="2"/>
              </a:rPr>
              <a:t></a:t>
            </a:r>
            <a:r>
              <a:rPr lang="zh-CN" altLang="en-US" sz="2800" dirty="0">
                <a:ea typeface="黑体" pitchFamily="49" charset="-122"/>
              </a:rPr>
              <a:t> </a:t>
            </a:r>
            <a:r>
              <a:rPr lang="en-US" altLang="zh-CN" sz="2800" u="sng" dirty="0">
                <a:ea typeface="黑体" pitchFamily="49" charset="-122"/>
              </a:rPr>
              <a:t>(a)</a:t>
            </a:r>
            <a:r>
              <a:rPr lang="en-US" altLang="zh-CN" sz="2800" u="sng" dirty="0">
                <a:ea typeface="黑体" pitchFamily="49" charset="-122"/>
                <a:sym typeface="Symbol"/>
              </a:rPr>
              <a:t>  </a:t>
            </a:r>
            <a:r>
              <a:rPr lang="en-US" altLang="zh-CN" sz="2800" u="sng" dirty="0">
                <a:ea typeface="黑体" pitchFamily="49" charset="-122"/>
              </a:rPr>
              <a:t>(c)</a:t>
            </a:r>
            <a:r>
              <a:rPr lang="zh-CN" altLang="en-US" sz="2800" dirty="0">
                <a:ea typeface="黑体" pitchFamily="49" charset="-122"/>
              </a:rPr>
              <a:t>是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定理</a:t>
            </a:r>
          </a:p>
          <a:p>
            <a:pPr eaLnBrk="1" hangingPunct="1">
              <a:buNone/>
            </a:pPr>
            <a:r>
              <a:rPr lang="zh-CN" altLang="en-US" sz="2000" b="1" dirty="0">
                <a:ea typeface="黑体" pitchFamily="49" charset="-122"/>
              </a:rPr>
              <a:t>       </a:t>
            </a:r>
            <a:r>
              <a:rPr lang="zh-CN" altLang="en-US" sz="2400" b="1" dirty="0">
                <a:ea typeface="黑体" pitchFamily="49" charset="-122"/>
              </a:rPr>
              <a:t>而且， 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((a)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(c))(u) ≥ ((a)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(b))(u) 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/>
              </a:rPr>
              <a:t>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 ((b)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(c))(u)</a:t>
            </a:r>
          </a:p>
          <a:p>
            <a:pPr eaLnBrk="1" hangingPunct="1"/>
            <a:r>
              <a:rPr lang="zh-CN" altLang="en-US" sz="2400" dirty="0">
                <a:solidFill>
                  <a:srgbClr val="F40802"/>
                </a:solidFill>
                <a:ea typeface="黑体" pitchFamily="49" charset="-122"/>
              </a:rPr>
              <a:t>证：</a:t>
            </a:r>
            <a:r>
              <a:rPr lang="zh-CN" altLang="en-US" sz="2400" b="1" dirty="0">
                <a:ea typeface="楷体_GB2312" pitchFamily="49" charset="-122"/>
              </a:rPr>
              <a:t>设</a:t>
            </a:r>
            <a:r>
              <a:rPr lang="en-US" altLang="zh-CN" sz="2400" b="1" dirty="0">
                <a:ea typeface="楷体_GB2312" pitchFamily="49" charset="-122"/>
              </a:rPr>
              <a:t>A</a:t>
            </a:r>
            <a:r>
              <a:rPr lang="zh-CN" altLang="en-US" sz="2400" b="1" dirty="0">
                <a:ea typeface="楷体_GB2312" pitchFamily="49" charset="-122"/>
              </a:rPr>
              <a:t>、</a:t>
            </a:r>
            <a:r>
              <a:rPr lang="en-US" altLang="zh-CN" sz="2400" b="1" dirty="0">
                <a:ea typeface="楷体_GB2312" pitchFamily="49" charset="-122"/>
              </a:rPr>
              <a:t>B</a:t>
            </a:r>
            <a:r>
              <a:rPr lang="zh-CN" altLang="en-US" sz="2400" b="1" dirty="0">
                <a:ea typeface="楷体_GB2312" pitchFamily="49" charset="-122"/>
              </a:rPr>
              <a:t>、</a:t>
            </a:r>
            <a:r>
              <a:rPr lang="en-US" altLang="zh-CN" sz="2400" b="1" dirty="0">
                <a:ea typeface="楷体_GB2312" pitchFamily="49" charset="-122"/>
              </a:rPr>
              <a:t>C</a:t>
            </a:r>
            <a:r>
              <a:rPr lang="zh-CN" altLang="en-US" sz="2400" b="1" dirty="0">
                <a:ea typeface="楷体_GB2312" pitchFamily="49" charset="-122"/>
              </a:rPr>
              <a:t>分别为判断句</a:t>
            </a:r>
            <a:r>
              <a:rPr lang="en-US" altLang="zh-CN" sz="2400" b="1" dirty="0">
                <a:ea typeface="楷体_GB2312" pitchFamily="49" charset="-122"/>
              </a:rPr>
              <a:t>(a)</a:t>
            </a:r>
            <a:r>
              <a:rPr lang="zh-CN" altLang="en-US" sz="2400" b="1" dirty="0">
                <a:ea typeface="楷体_GB2312" pitchFamily="49" charset="-122"/>
              </a:rPr>
              <a:t>、</a:t>
            </a:r>
            <a:r>
              <a:rPr lang="en-US" altLang="zh-CN" sz="2400" b="1" dirty="0">
                <a:ea typeface="楷体_GB2312" pitchFamily="49" charset="-122"/>
              </a:rPr>
              <a:t> (b)</a:t>
            </a:r>
            <a:r>
              <a:rPr lang="zh-CN" altLang="en-US" sz="2400" b="1" dirty="0">
                <a:ea typeface="楷体_GB2312" pitchFamily="49" charset="-122"/>
              </a:rPr>
              <a:t>、</a:t>
            </a:r>
            <a:r>
              <a:rPr lang="en-US" altLang="zh-CN" sz="2400" b="1" dirty="0">
                <a:ea typeface="楷体_GB2312" pitchFamily="49" charset="-122"/>
              </a:rPr>
              <a:t> (c)</a:t>
            </a:r>
            <a:r>
              <a:rPr lang="zh-CN" altLang="en-US" sz="2400" b="1" dirty="0">
                <a:ea typeface="楷体_GB2312" pitchFamily="49" charset="-122"/>
              </a:rPr>
              <a:t>的真域，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               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(x)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(y) 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的真域为</a:t>
            </a:r>
            <a:r>
              <a:rPr lang="en-US" altLang="zh-CN" sz="2400" b="1" dirty="0" err="1">
                <a:solidFill>
                  <a:srgbClr val="CC00CC"/>
                </a:solidFill>
                <a:ea typeface="楷体_GB2312" pitchFamily="49" charset="-122"/>
              </a:rPr>
              <a:t>X</a:t>
            </a:r>
            <a:r>
              <a:rPr lang="en-US" altLang="zh-CN" sz="2400" b="1" baseline="30000" dirty="0" err="1">
                <a:solidFill>
                  <a:srgbClr val="CC00CC"/>
                </a:solidFill>
                <a:ea typeface="楷体_GB2312" pitchFamily="49" charset="-122"/>
              </a:rPr>
              <a:t>c</a:t>
            </a:r>
            <a:r>
              <a:rPr lang="en-US" altLang="zh-CN" sz="2400" b="1" dirty="0" err="1">
                <a:solidFill>
                  <a:srgbClr val="CC00CC"/>
                </a:solidFill>
                <a:ea typeface="楷体_GB2312" pitchFamily="49" charset="-122"/>
                <a:sym typeface="Symbol"/>
              </a:rPr>
              <a:t></a:t>
            </a:r>
            <a:r>
              <a:rPr lang="en-US" altLang="zh-CN" sz="2400" b="1" dirty="0" err="1">
                <a:solidFill>
                  <a:srgbClr val="CC00CC"/>
                </a:solidFill>
                <a:ea typeface="楷体_GB2312" pitchFamily="49" charset="-122"/>
              </a:rPr>
              <a:t>Y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      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已知   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((a)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(b))(u)=(1-A(u))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B(u)&gt;1/2         (*)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                ((b)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(c))(u)=(1-B(u))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C(u)&gt;1/2         (**)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ea typeface="黑体" pitchFamily="49" charset="-122"/>
              </a:rPr>
              <a:t>      </a:t>
            </a:r>
            <a:r>
              <a:rPr lang="en-US" altLang="zh-CN" sz="2400" b="1" dirty="0"/>
              <a:t>① </a:t>
            </a:r>
            <a:r>
              <a:rPr lang="zh-CN" altLang="en-US" sz="2400" b="1" dirty="0"/>
              <a:t>若</a:t>
            </a:r>
            <a:r>
              <a:rPr lang="en-US" altLang="zh-CN" sz="2400" b="1" dirty="0">
                <a:solidFill>
                  <a:srgbClr val="F40802"/>
                </a:solidFill>
              </a:rPr>
              <a:t>1-A(u) ≥ B(u)</a:t>
            </a:r>
            <a:endParaRPr lang="zh-CN" altLang="en-US" sz="2400" b="1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ea typeface="黑体" pitchFamily="49" charset="-122"/>
              </a:rPr>
              <a:t>              </a:t>
            </a:r>
            <a:r>
              <a:rPr lang="en-US" altLang="zh-CN" sz="2400" b="1" dirty="0">
                <a:ea typeface="黑体" pitchFamily="49" charset="-122"/>
              </a:rPr>
              <a:t>((a)→(b))(u)=1-A(u)&gt;1/2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ea typeface="黑体" pitchFamily="49" charset="-122"/>
              </a:rPr>
              <a:t>         </a:t>
            </a:r>
            <a:r>
              <a:rPr lang="zh-CN" altLang="en-US" sz="2400" b="1" dirty="0">
                <a:ea typeface="黑体" pitchFamily="49" charset="-122"/>
              </a:rPr>
              <a:t>而   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((a)→(c))(u)</a:t>
            </a:r>
            <a:r>
              <a:rPr lang="en-US" altLang="zh-CN" sz="2400" b="1" dirty="0">
                <a:ea typeface="黑体" pitchFamily="49" charset="-12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ea typeface="黑体" pitchFamily="49" charset="-122"/>
              </a:rPr>
              <a:t>             = (1-A(u))</a:t>
            </a:r>
            <a:r>
              <a:rPr lang="en-US" altLang="zh-CN" sz="2400" b="1" dirty="0">
                <a:ea typeface="黑体" pitchFamily="49" charset="-122"/>
                <a:sym typeface="Symbol"/>
              </a:rPr>
              <a:t></a:t>
            </a:r>
            <a:r>
              <a:rPr lang="en-US" altLang="zh-CN" sz="2400" b="1" dirty="0">
                <a:ea typeface="黑体" pitchFamily="49" charset="-122"/>
              </a:rPr>
              <a:t>C(u)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ea typeface="黑体" pitchFamily="49" charset="-122"/>
              </a:rPr>
              <a:t>            </a:t>
            </a:r>
            <a:r>
              <a:rPr lang="en-US" altLang="zh-CN" sz="2400" b="1" dirty="0"/>
              <a:t> ≥ 1-A(u)</a:t>
            </a:r>
            <a:r>
              <a:rPr lang="en-US" altLang="zh-CN" sz="2400" b="1" dirty="0">
                <a:ea typeface="黑体" pitchFamily="49" charset="-122"/>
              </a:rPr>
              <a:t>               </a:t>
            </a:r>
            <a:r>
              <a:rPr lang="zh-CN" altLang="en-US" sz="2400" b="1" dirty="0">
                <a:ea typeface="黑体" pitchFamily="49" charset="-122"/>
              </a:rPr>
              <a:t>从而</a:t>
            </a:r>
            <a:r>
              <a:rPr lang="en-US" altLang="zh-CN" sz="2400" b="1" dirty="0">
                <a:ea typeface="黑体" pitchFamily="49" charset="-122"/>
              </a:rPr>
              <a:t>((a)→(c))(u) </a:t>
            </a:r>
            <a:r>
              <a:rPr lang="en-US" altLang="zh-CN" sz="2400" b="1" dirty="0"/>
              <a:t>≥ </a:t>
            </a:r>
            <a:r>
              <a:rPr lang="en-US" altLang="zh-CN" sz="2400" b="1" dirty="0">
                <a:ea typeface="黑体" pitchFamily="49" charset="-122"/>
              </a:rPr>
              <a:t>((a)→(b))(u) &gt;1/2 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655840" y="6094115"/>
            <a:ext cx="5184775" cy="5032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F19BB0-779D-4798-95D3-8CF2D23974C6}"/>
              </a:ext>
            </a:extLst>
          </p:cNvPr>
          <p:cNvSpPr/>
          <p:nvPr/>
        </p:nvSpPr>
        <p:spPr>
          <a:xfrm>
            <a:off x="7968208" y="4365104"/>
            <a:ext cx="4001416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((a)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(c))(u) =(1-A(u))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C(u)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FCE9D5-DC9E-F625-550F-4B13C334D1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9219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8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8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87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87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uiExpand="1" build="p"/>
      <p:bldP spid="2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35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228A2E"/>
                </a:solidFill>
              </a:rPr>
              <a:t>F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逻辑推理规则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052513"/>
            <a:ext cx="10153127" cy="5256212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合成规则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</a:t>
            </a:r>
            <a:r>
              <a:rPr lang="en-US" altLang="zh-CN" sz="2800" u="sng" dirty="0">
                <a:ea typeface="黑体" pitchFamily="49" charset="-122"/>
              </a:rPr>
              <a:t>(a)</a:t>
            </a:r>
            <a:r>
              <a:rPr lang="en-US" altLang="zh-CN" sz="2800" u="sng" dirty="0">
                <a:ea typeface="黑体" pitchFamily="49" charset="-122"/>
                <a:sym typeface="Symbol"/>
              </a:rPr>
              <a:t></a:t>
            </a:r>
            <a:r>
              <a:rPr lang="en-US" altLang="zh-CN" sz="2800" u="sng" dirty="0">
                <a:ea typeface="黑体" pitchFamily="49" charset="-122"/>
              </a:rPr>
              <a:t>(b)</a:t>
            </a:r>
            <a:r>
              <a:rPr lang="zh-CN" altLang="en-US" sz="2800" dirty="0">
                <a:ea typeface="黑体" pitchFamily="49" charset="-122"/>
              </a:rPr>
              <a:t>是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定理且</a:t>
            </a:r>
            <a:r>
              <a:rPr lang="en-US" altLang="zh-CN" sz="2800" u="sng" dirty="0">
                <a:ea typeface="黑体" pitchFamily="49" charset="-122"/>
              </a:rPr>
              <a:t>(b)</a:t>
            </a:r>
            <a:r>
              <a:rPr lang="en-US" altLang="zh-CN" sz="2800" u="sng" dirty="0">
                <a:ea typeface="黑体" pitchFamily="49" charset="-122"/>
                <a:sym typeface="Symbol"/>
              </a:rPr>
              <a:t></a:t>
            </a:r>
            <a:r>
              <a:rPr lang="en-US" altLang="zh-CN" sz="2800" u="sng" dirty="0">
                <a:ea typeface="黑体" pitchFamily="49" charset="-122"/>
              </a:rPr>
              <a:t>(c)</a:t>
            </a:r>
            <a:r>
              <a:rPr lang="zh-CN" altLang="en-US" sz="2800" dirty="0">
                <a:ea typeface="黑体" pitchFamily="49" charset="-122"/>
              </a:rPr>
              <a:t>是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定理 </a:t>
            </a:r>
            <a:r>
              <a:rPr kumimoji="1" lang="zh-CN" altLang="en-US" sz="2800" dirty="0">
                <a:sym typeface="Symbol" pitchFamily="18" charset="2"/>
              </a:rPr>
              <a:t></a:t>
            </a:r>
            <a:r>
              <a:rPr lang="zh-CN" altLang="en-US" sz="2800" dirty="0">
                <a:ea typeface="黑体" pitchFamily="49" charset="-122"/>
              </a:rPr>
              <a:t> </a:t>
            </a:r>
            <a:r>
              <a:rPr lang="en-US" altLang="zh-CN" sz="2800" u="sng" dirty="0">
                <a:ea typeface="黑体" pitchFamily="49" charset="-122"/>
              </a:rPr>
              <a:t>(a)</a:t>
            </a:r>
            <a:r>
              <a:rPr lang="en-US" altLang="zh-CN" sz="2800" u="sng" dirty="0">
                <a:ea typeface="黑体" pitchFamily="49" charset="-122"/>
                <a:sym typeface="Symbol"/>
              </a:rPr>
              <a:t></a:t>
            </a:r>
            <a:r>
              <a:rPr lang="en-US" altLang="zh-CN" sz="2800" u="sng" dirty="0">
                <a:ea typeface="黑体" pitchFamily="49" charset="-122"/>
              </a:rPr>
              <a:t>(c)</a:t>
            </a:r>
            <a:r>
              <a:rPr lang="zh-CN" altLang="en-US" sz="2800" dirty="0">
                <a:ea typeface="黑体" pitchFamily="49" charset="-122"/>
              </a:rPr>
              <a:t>是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定理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ea typeface="黑体" pitchFamily="49" charset="-122"/>
              </a:rPr>
              <a:t>      而且， 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((a)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(c))(u) ≥ ((a)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(b))(u) ∧ ((b)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(c))(u)</a:t>
            </a:r>
          </a:p>
          <a:p>
            <a:pPr eaLnBrk="1" hangingPunct="1"/>
            <a:r>
              <a:rPr lang="zh-CN" altLang="en-US" sz="2400" dirty="0">
                <a:solidFill>
                  <a:srgbClr val="F40802"/>
                </a:solidFill>
                <a:ea typeface="黑体" pitchFamily="49" charset="-122"/>
              </a:rPr>
              <a:t>证：</a:t>
            </a:r>
            <a:r>
              <a:rPr lang="zh-CN" altLang="en-US" sz="2400" b="1" dirty="0">
                <a:ea typeface="楷体_GB2312" pitchFamily="49" charset="-122"/>
              </a:rPr>
              <a:t>设</a:t>
            </a:r>
            <a:r>
              <a:rPr lang="en-US" altLang="zh-CN" sz="2400" b="1" dirty="0">
                <a:ea typeface="楷体_GB2312" pitchFamily="49" charset="-122"/>
              </a:rPr>
              <a:t>A</a:t>
            </a:r>
            <a:r>
              <a:rPr lang="zh-CN" altLang="en-US" sz="2400" b="1" dirty="0">
                <a:ea typeface="楷体_GB2312" pitchFamily="49" charset="-122"/>
              </a:rPr>
              <a:t>、</a:t>
            </a:r>
            <a:r>
              <a:rPr lang="en-US" altLang="zh-CN" sz="2400" b="1" dirty="0">
                <a:ea typeface="楷体_GB2312" pitchFamily="49" charset="-122"/>
              </a:rPr>
              <a:t>B</a:t>
            </a:r>
            <a:r>
              <a:rPr lang="zh-CN" altLang="en-US" sz="2400" b="1" dirty="0">
                <a:ea typeface="楷体_GB2312" pitchFamily="49" charset="-122"/>
              </a:rPr>
              <a:t>、</a:t>
            </a:r>
            <a:r>
              <a:rPr lang="en-US" altLang="zh-CN" sz="2400" b="1" dirty="0">
                <a:ea typeface="楷体_GB2312" pitchFamily="49" charset="-122"/>
              </a:rPr>
              <a:t>C</a:t>
            </a:r>
            <a:r>
              <a:rPr lang="zh-CN" altLang="en-US" sz="2400" b="1" dirty="0">
                <a:ea typeface="楷体_GB2312" pitchFamily="49" charset="-122"/>
              </a:rPr>
              <a:t>分别为判断句</a:t>
            </a:r>
            <a:r>
              <a:rPr lang="en-US" altLang="zh-CN" sz="2400" b="1" dirty="0">
                <a:ea typeface="楷体_GB2312" pitchFamily="49" charset="-122"/>
              </a:rPr>
              <a:t>(a), (b), (c)</a:t>
            </a:r>
            <a:r>
              <a:rPr lang="zh-CN" altLang="en-US" sz="2400" b="1" dirty="0">
                <a:ea typeface="楷体_GB2312" pitchFamily="49" charset="-122"/>
              </a:rPr>
              <a:t>的真域，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               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(x)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(y) 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的真域为</a:t>
            </a:r>
            <a:r>
              <a:rPr lang="en-US" altLang="zh-CN" sz="2400" b="1" dirty="0" err="1">
                <a:solidFill>
                  <a:srgbClr val="CC00CC"/>
                </a:solidFill>
                <a:ea typeface="楷体_GB2312" pitchFamily="49" charset="-122"/>
              </a:rPr>
              <a:t>X</a:t>
            </a:r>
            <a:r>
              <a:rPr lang="en-US" altLang="zh-CN" sz="2400" b="1" baseline="30000" dirty="0" err="1">
                <a:solidFill>
                  <a:srgbClr val="CC00CC"/>
                </a:solidFill>
                <a:ea typeface="楷体_GB2312" pitchFamily="49" charset="-122"/>
              </a:rPr>
              <a:t>c</a:t>
            </a:r>
            <a:r>
              <a:rPr lang="en-US" altLang="zh-CN" sz="2400" b="1" dirty="0" err="1">
                <a:solidFill>
                  <a:srgbClr val="CC00CC"/>
                </a:solidFill>
                <a:ea typeface="楷体_GB2312" pitchFamily="49" charset="-122"/>
                <a:sym typeface="Symbol"/>
              </a:rPr>
              <a:t></a:t>
            </a:r>
            <a:r>
              <a:rPr lang="en-US" altLang="zh-CN" sz="2400" b="1" dirty="0" err="1">
                <a:solidFill>
                  <a:srgbClr val="CC00CC"/>
                </a:solidFill>
                <a:ea typeface="楷体_GB2312" pitchFamily="49" charset="-122"/>
              </a:rPr>
              <a:t>Y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     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已知   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((a)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(b))(u) = (1-A(u))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B(u) &gt; 1/2         (*)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               ((b)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(c))(u) = (1-B(u))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sz="2400" b="1" dirty="0">
                <a:solidFill>
                  <a:srgbClr val="008000"/>
                </a:solidFill>
                <a:ea typeface="黑体" pitchFamily="49" charset="-122"/>
              </a:rPr>
              <a:t>C(u) &gt; 1/2         (**)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b="1" dirty="0">
                <a:ea typeface="黑体" pitchFamily="49" charset="-122"/>
              </a:rPr>
              <a:t>      </a:t>
            </a:r>
          </a:p>
        </p:txBody>
      </p:sp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2424114" y="4221164"/>
            <a:ext cx="6480175" cy="2636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en-US" sz="2400" b="1" dirty="0"/>
              <a:t>②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若</a:t>
            </a:r>
            <a:r>
              <a:rPr lang="en-US" altLang="zh-CN" sz="2400" b="1" dirty="0">
                <a:solidFill>
                  <a:srgbClr val="F40802"/>
                </a:solidFill>
              </a:rPr>
              <a:t>B(u) ≥ 1- A(u)</a:t>
            </a:r>
            <a:endParaRPr lang="zh-CN" altLang="en-US" sz="2400" b="1" dirty="0"/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zh-CN" altLang="en-US" sz="2400" b="1" dirty="0">
                <a:ea typeface="黑体" pitchFamily="49" charset="-122"/>
              </a:rPr>
              <a:t>      </a:t>
            </a:r>
            <a:r>
              <a:rPr lang="en-US" altLang="zh-CN" sz="2400" b="1" dirty="0">
                <a:ea typeface="黑体" pitchFamily="49" charset="-122"/>
              </a:rPr>
              <a:t>((a)</a:t>
            </a:r>
            <a:r>
              <a:rPr lang="en-US" altLang="zh-CN" sz="2400" b="1" dirty="0"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ea typeface="黑体" pitchFamily="49" charset="-122"/>
              </a:rPr>
              <a:t>(b))(u) = B(u)&gt;1/2 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zh-CN" sz="2400" b="1" dirty="0">
                <a:ea typeface="黑体" pitchFamily="49" charset="-122"/>
              </a:rPr>
              <a:t>    </a:t>
            </a:r>
            <a:r>
              <a:rPr lang="zh-CN" altLang="en-US" sz="2400" b="1" dirty="0">
                <a:ea typeface="黑体" pitchFamily="49" charset="-122"/>
              </a:rPr>
              <a:t>  </a:t>
            </a:r>
            <a:r>
              <a:rPr lang="en-US" altLang="zh-CN" sz="2400" b="1" dirty="0">
                <a:ea typeface="黑体" pitchFamily="49" charset="-122"/>
              </a:rPr>
              <a:t>((b)</a:t>
            </a:r>
            <a:r>
              <a:rPr lang="en-US" altLang="zh-CN" sz="2400" b="1" dirty="0"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ea typeface="黑体" pitchFamily="49" charset="-122"/>
              </a:rPr>
              <a:t>(c))(u) = C(u)&gt;1/2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zh-CN" sz="2400" b="1" dirty="0">
                <a:ea typeface="黑体" pitchFamily="49" charset="-122"/>
              </a:rPr>
              <a:t>      </a:t>
            </a:r>
            <a:r>
              <a:rPr lang="zh-CN" altLang="en-US" sz="2400" b="1" dirty="0">
                <a:ea typeface="黑体" pitchFamily="49" charset="-122"/>
              </a:rPr>
              <a:t>从而 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((a)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(c))(u) =(1-A(u))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C(u)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zh-CN" sz="2400" b="1" dirty="0"/>
              <a:t>                                  ≥C(u)</a:t>
            </a:r>
            <a:r>
              <a:rPr lang="en-US" altLang="zh-CN" sz="2400" b="1" dirty="0">
                <a:ea typeface="黑体" pitchFamily="49" charset="-122"/>
              </a:rPr>
              <a:t> &gt;1/2 </a:t>
            </a:r>
          </a:p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zh-CN" sz="2400" b="1" dirty="0">
                <a:ea typeface="黑体" pitchFamily="49" charset="-122"/>
              </a:rPr>
              <a:t>     </a:t>
            </a:r>
            <a:r>
              <a:rPr lang="zh-CN" altLang="en-US" sz="2400" b="1" dirty="0">
                <a:ea typeface="黑体" pitchFamily="49" charset="-122"/>
              </a:rPr>
              <a:t>从而</a:t>
            </a:r>
            <a:r>
              <a:rPr lang="en-US" altLang="zh-CN" sz="2400" b="1" dirty="0">
                <a:ea typeface="黑体" pitchFamily="49" charset="-122"/>
              </a:rPr>
              <a:t>((a)</a:t>
            </a:r>
            <a:r>
              <a:rPr lang="en-US" altLang="zh-CN" sz="2400" b="1" dirty="0"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ea typeface="黑体" pitchFamily="49" charset="-122"/>
              </a:rPr>
              <a:t>(c))(u)</a:t>
            </a:r>
            <a:r>
              <a:rPr lang="en-US" altLang="zh-CN" sz="2400" b="1" dirty="0"/>
              <a:t>≥</a:t>
            </a:r>
            <a:r>
              <a:rPr lang="en-US" altLang="zh-CN" sz="2400" b="1" dirty="0">
                <a:ea typeface="黑体" pitchFamily="49" charset="-122"/>
              </a:rPr>
              <a:t>((b)</a:t>
            </a:r>
            <a:r>
              <a:rPr lang="en-US" altLang="zh-CN" sz="2400" b="1" dirty="0"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ea typeface="黑体" pitchFamily="49" charset="-122"/>
              </a:rPr>
              <a:t>(c))(u) &gt;1/2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FAD455-15F9-4911-8BFF-75A5E186127D}"/>
              </a:ext>
            </a:extLst>
          </p:cNvPr>
          <p:cNvSpPr/>
          <p:nvPr/>
        </p:nvSpPr>
        <p:spPr>
          <a:xfrm>
            <a:off x="7767178" y="4191472"/>
            <a:ext cx="4001416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34290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((a)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(c))(u) =(1-A(u))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sz="2400" b="1" dirty="0">
                <a:solidFill>
                  <a:srgbClr val="CC00CC"/>
                </a:solidFill>
                <a:ea typeface="黑体" pitchFamily="49" charset="-122"/>
              </a:rPr>
              <a:t>C(u)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ACB46C-96BB-E208-6FA5-55C114FC74FD}"/>
              </a:ext>
            </a:extLst>
          </p:cNvPr>
          <p:cNvSpPr txBox="1"/>
          <p:nvPr/>
        </p:nvSpPr>
        <p:spPr>
          <a:xfrm>
            <a:off x="6240016" y="4653137"/>
            <a:ext cx="20699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zh-CN" sz="2400" b="1" dirty="0">
                <a:sym typeface="Symbol" pitchFamily="18" charset="2"/>
              </a:rPr>
              <a:t></a:t>
            </a:r>
            <a:r>
              <a:rPr lang="en-US" altLang="zh-CN" sz="2400" b="1" dirty="0">
                <a:ea typeface="黑体" pitchFamily="49" charset="-122"/>
              </a:rPr>
              <a:t>1-B(u)&lt;1/2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F299DF-5D9E-3D80-5FC5-8B4105EBC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450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8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7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87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uiExpand="1" build="p" animBg="1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29208"/>
            <a:ext cx="82296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7.6  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在不同论域上的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推理句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700213"/>
            <a:ext cx="10009111" cy="48768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同一论域上的推理句</a:t>
            </a:r>
          </a:p>
          <a:p>
            <a:pPr lvl="1" eaLnBrk="1" hangingPunct="1"/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“</a:t>
            </a:r>
            <a:r>
              <a:rPr lang="zh-CN" altLang="en-US" u="sng" dirty="0">
                <a:solidFill>
                  <a:srgbClr val="3333FF"/>
                </a:solidFill>
                <a:ea typeface="黑体" pitchFamily="49" charset="-122"/>
              </a:rPr>
              <a:t>若今天是晴天，则今天是暖和的。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”</a:t>
            </a:r>
          </a:p>
          <a:p>
            <a:pPr lvl="1" eaLnBrk="1" hangingPunct="1"/>
            <a:r>
              <a:rPr lang="zh-CN" altLang="en-US" b="1" dirty="0">
                <a:solidFill>
                  <a:srgbClr val="F40802"/>
                </a:solidFill>
                <a:ea typeface="华文楷体" pitchFamily="2" charset="-122"/>
              </a:rPr>
              <a:t>格式</a:t>
            </a:r>
            <a:r>
              <a:rPr lang="en-US" altLang="zh-CN" b="1" dirty="0">
                <a:solidFill>
                  <a:srgbClr val="F40802"/>
                </a:solidFill>
                <a:ea typeface="华文楷体" pitchFamily="2" charset="-122"/>
              </a:rPr>
              <a:t>——</a:t>
            </a:r>
            <a:r>
              <a:rPr lang="zh-CN" altLang="en-US" b="1" dirty="0">
                <a:solidFill>
                  <a:srgbClr val="F40802"/>
                </a:solidFill>
                <a:ea typeface="华文楷体" pitchFamily="2" charset="-122"/>
              </a:rPr>
              <a:t>“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若</a:t>
            </a:r>
            <a:r>
              <a:rPr lang="en-US" altLang="zh-CN" b="1" u="sng" dirty="0">
                <a:solidFill>
                  <a:srgbClr val="F40802"/>
                </a:solidFill>
                <a:ea typeface="华文楷体" pitchFamily="2" charset="-122"/>
              </a:rPr>
              <a:t>x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是</a:t>
            </a:r>
            <a:r>
              <a:rPr lang="en-US" altLang="zh-CN" b="1" u="sng" dirty="0">
                <a:solidFill>
                  <a:srgbClr val="F40802"/>
                </a:solidFill>
                <a:ea typeface="华文楷体" pitchFamily="2" charset="-122"/>
              </a:rPr>
              <a:t>a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，则</a:t>
            </a:r>
            <a:r>
              <a:rPr lang="en-US" altLang="zh-CN" b="1" u="sng" dirty="0">
                <a:solidFill>
                  <a:srgbClr val="F40802"/>
                </a:solidFill>
                <a:ea typeface="华文楷体" pitchFamily="2" charset="-122"/>
              </a:rPr>
              <a:t>x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是</a:t>
            </a:r>
            <a:r>
              <a:rPr lang="en-US" altLang="zh-CN" b="1" u="sng" dirty="0">
                <a:solidFill>
                  <a:srgbClr val="F40802"/>
                </a:solidFill>
                <a:ea typeface="华文楷体" pitchFamily="2" charset="-122"/>
              </a:rPr>
              <a:t>b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。</a:t>
            </a:r>
            <a:r>
              <a:rPr lang="en-US" altLang="zh-CN" b="1" dirty="0">
                <a:solidFill>
                  <a:srgbClr val="F40802"/>
                </a:solidFill>
                <a:ea typeface="华文楷体" pitchFamily="2" charset="-122"/>
              </a:rPr>
              <a:t>”</a:t>
            </a:r>
          </a:p>
          <a:p>
            <a:pPr lvl="1" eaLnBrk="1" hangingPunct="1"/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“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晴天”、“暖和”是在同一论域（天气）上的两个不同概念</a:t>
            </a: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不同论域上的推理句</a:t>
            </a:r>
          </a:p>
          <a:p>
            <a:pPr lvl="1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“</a:t>
            </a:r>
            <a:r>
              <a:rPr lang="zh-CN" altLang="en-US" u="sng" dirty="0">
                <a:solidFill>
                  <a:srgbClr val="008000"/>
                </a:solidFill>
                <a:ea typeface="黑体" pitchFamily="49" charset="-122"/>
              </a:rPr>
              <a:t>若今天是晴天，则李明不在家。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”</a:t>
            </a:r>
          </a:p>
          <a:p>
            <a:pPr lvl="1" eaLnBrk="1" hangingPunct="1"/>
            <a:r>
              <a:rPr lang="zh-CN" altLang="en-US" b="1" dirty="0">
                <a:solidFill>
                  <a:srgbClr val="CC00CC"/>
                </a:solidFill>
                <a:ea typeface="华文楷体" pitchFamily="2" charset="-122"/>
              </a:rPr>
              <a:t>格式 </a:t>
            </a:r>
            <a:r>
              <a:rPr lang="en-US" altLang="zh-CN" b="1" dirty="0">
                <a:solidFill>
                  <a:srgbClr val="CC00CC"/>
                </a:solidFill>
                <a:ea typeface="华文楷体" pitchFamily="2" charset="-122"/>
              </a:rPr>
              <a:t>——</a:t>
            </a:r>
            <a:r>
              <a:rPr lang="zh-CN" altLang="en-US" b="1" dirty="0">
                <a:solidFill>
                  <a:srgbClr val="CC00CC"/>
                </a:solidFill>
                <a:ea typeface="华文楷体" pitchFamily="2" charset="-122"/>
              </a:rPr>
              <a:t>“</a:t>
            </a:r>
            <a:r>
              <a:rPr lang="zh-CN" altLang="en-US" b="1" u="sng" dirty="0">
                <a:solidFill>
                  <a:srgbClr val="CC00CC"/>
                </a:solidFill>
                <a:ea typeface="华文楷体" pitchFamily="2" charset="-122"/>
              </a:rPr>
              <a:t>若</a:t>
            </a:r>
            <a:r>
              <a:rPr lang="en-US" altLang="zh-CN" b="1" u="sng" dirty="0">
                <a:solidFill>
                  <a:srgbClr val="CC00CC"/>
                </a:solidFill>
                <a:ea typeface="华文楷体" pitchFamily="2" charset="-122"/>
              </a:rPr>
              <a:t>x</a:t>
            </a:r>
            <a:r>
              <a:rPr lang="zh-CN" altLang="en-US" b="1" u="sng" dirty="0">
                <a:solidFill>
                  <a:srgbClr val="CC00CC"/>
                </a:solidFill>
                <a:ea typeface="华文楷体" pitchFamily="2" charset="-122"/>
              </a:rPr>
              <a:t>是</a:t>
            </a:r>
            <a:r>
              <a:rPr lang="en-US" altLang="zh-CN" b="1" u="sng" dirty="0">
                <a:solidFill>
                  <a:srgbClr val="CC00CC"/>
                </a:solidFill>
                <a:ea typeface="华文楷体" pitchFamily="2" charset="-122"/>
              </a:rPr>
              <a:t>a</a:t>
            </a:r>
            <a:r>
              <a:rPr lang="zh-CN" altLang="en-US" b="1" u="sng" dirty="0">
                <a:solidFill>
                  <a:srgbClr val="CC00CC"/>
                </a:solidFill>
                <a:ea typeface="华文楷体" pitchFamily="2" charset="-122"/>
              </a:rPr>
              <a:t>，则</a:t>
            </a:r>
            <a:r>
              <a:rPr lang="en-US" altLang="zh-CN" b="1" u="sng" dirty="0">
                <a:solidFill>
                  <a:srgbClr val="CC00CC"/>
                </a:solidFill>
                <a:ea typeface="华文楷体" pitchFamily="2" charset="-122"/>
              </a:rPr>
              <a:t>y</a:t>
            </a:r>
            <a:r>
              <a:rPr lang="zh-CN" altLang="en-US" b="1" u="sng" dirty="0">
                <a:solidFill>
                  <a:srgbClr val="CC00CC"/>
                </a:solidFill>
                <a:ea typeface="华文楷体" pitchFamily="2" charset="-122"/>
              </a:rPr>
              <a:t>是</a:t>
            </a:r>
            <a:r>
              <a:rPr lang="en-US" altLang="zh-CN" b="1" u="sng" dirty="0">
                <a:solidFill>
                  <a:srgbClr val="CC00CC"/>
                </a:solidFill>
                <a:ea typeface="华文楷体" pitchFamily="2" charset="-122"/>
              </a:rPr>
              <a:t>b</a:t>
            </a:r>
            <a:r>
              <a:rPr lang="zh-CN" altLang="en-US" b="1" u="sng" dirty="0">
                <a:solidFill>
                  <a:srgbClr val="CC00CC"/>
                </a:solidFill>
                <a:ea typeface="华文楷体" pitchFamily="2" charset="-122"/>
              </a:rPr>
              <a:t>。</a:t>
            </a:r>
            <a:r>
              <a:rPr lang="en-US" altLang="zh-CN" b="1" dirty="0">
                <a:solidFill>
                  <a:srgbClr val="CC00CC"/>
                </a:solidFill>
                <a:ea typeface="华文楷体" pitchFamily="2" charset="-122"/>
              </a:rPr>
              <a:t>”</a:t>
            </a:r>
          </a:p>
          <a:p>
            <a:pPr lvl="1" eaLnBrk="1" hangingPunct="1"/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y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分别属于两个不同的论域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和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DC3E11-0A1C-F812-773F-E1835DC9A9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225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600546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  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普通集的情形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628801"/>
            <a:ext cx="9793088" cy="2592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设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是论域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上的子集，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B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是论域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Y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上的子集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黑体" pitchFamily="49" charset="-122"/>
              </a:rPr>
              <a:t>在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X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Y</a:t>
            </a:r>
            <a:r>
              <a:rPr lang="zh-CN" altLang="en-US" dirty="0">
                <a:ea typeface="黑体" pitchFamily="49" charset="-122"/>
              </a:rPr>
              <a:t>上的二元关系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R=A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B</a:t>
            </a:r>
            <a:r>
              <a:rPr lang="zh-CN" altLang="en-US" dirty="0">
                <a:ea typeface="黑体" pitchFamily="49" charset="-122"/>
              </a:rPr>
              <a:t>是下面推理句的集合表示，并满足真值表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“</a:t>
            </a:r>
            <a:r>
              <a:rPr lang="zh-CN" altLang="en-US" u="sng" dirty="0">
                <a:solidFill>
                  <a:srgbClr val="008000"/>
                </a:solidFill>
                <a:ea typeface="黑体" pitchFamily="49" charset="-122"/>
              </a:rPr>
              <a:t>若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x</a:t>
            </a:r>
            <a:r>
              <a:rPr lang="zh-CN" altLang="en-US" u="sng" dirty="0">
                <a:solidFill>
                  <a:srgbClr val="008000"/>
                </a:solidFill>
                <a:ea typeface="黑体" pitchFamily="49" charset="-122"/>
              </a:rPr>
              <a:t>是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a</a:t>
            </a:r>
            <a:r>
              <a:rPr lang="zh-CN" altLang="en-US" u="sng" dirty="0">
                <a:solidFill>
                  <a:srgbClr val="008000"/>
                </a:solidFill>
                <a:ea typeface="黑体" pitchFamily="49" charset="-122"/>
              </a:rPr>
              <a:t>，则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y</a:t>
            </a:r>
            <a:r>
              <a:rPr lang="zh-CN" altLang="en-US" u="sng" dirty="0">
                <a:solidFill>
                  <a:srgbClr val="008000"/>
                </a:solidFill>
                <a:ea typeface="黑体" pitchFamily="49" charset="-122"/>
              </a:rPr>
              <a:t>是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b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”——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记为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a(x) 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b(y)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(A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F40802"/>
                </a:solidFill>
              </a:rPr>
              <a:t>B)(x,y)=(A(x)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</a:t>
            </a:r>
            <a:r>
              <a:rPr lang="en-US" altLang="zh-CN" dirty="0">
                <a:solidFill>
                  <a:srgbClr val="F40802"/>
                </a:solidFill>
              </a:rPr>
              <a:t>B(y))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</a:t>
            </a:r>
            <a:r>
              <a:rPr lang="en-US" altLang="zh-CN" dirty="0">
                <a:solidFill>
                  <a:srgbClr val="F40802"/>
                </a:solidFill>
              </a:rPr>
              <a:t>(1-A(x))</a:t>
            </a:r>
          </a:p>
        </p:txBody>
      </p:sp>
      <p:graphicFrame>
        <p:nvGraphicFramePr>
          <p:cNvPr id="8229" name="Group 3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63366814"/>
              </p:ext>
            </p:extLst>
          </p:nvPr>
        </p:nvGraphicFramePr>
        <p:xfrm>
          <a:off x="3935761" y="4259624"/>
          <a:ext cx="3456533" cy="2481744"/>
        </p:xfrm>
        <a:graphic>
          <a:graphicData uri="http://schemas.openxmlformats.org/drawingml/2006/table">
            <a:tbl>
              <a:tblPr/>
              <a:tblGrid>
                <a:gridCol w="884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7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B(y)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(A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/>
                        </a:rPr>
                        <a:t>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B)(x,y)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0E0439-3AD4-BBC7-6107-07CEF54F00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547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A</a:t>
            </a:r>
            <a:r>
              <a:rPr lang="en-US" altLang="zh-CN" dirty="0">
                <a:solidFill>
                  <a:srgbClr val="008000"/>
                </a:solidFill>
                <a:sym typeface="Symbol"/>
              </a:rPr>
              <a:t></a:t>
            </a:r>
            <a:r>
              <a:rPr lang="en-US" altLang="zh-CN" dirty="0">
                <a:solidFill>
                  <a:srgbClr val="008000"/>
                </a:solidFill>
              </a:rPr>
              <a:t>B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的真域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394619"/>
            <a:ext cx="9073008" cy="452596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(A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F40802"/>
                </a:solidFill>
              </a:rPr>
              <a:t>B)(x,y)=(A(x)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</a:t>
            </a:r>
            <a:r>
              <a:rPr lang="en-US" altLang="zh-CN" dirty="0">
                <a:solidFill>
                  <a:srgbClr val="F40802"/>
                </a:solidFill>
              </a:rPr>
              <a:t>B(y))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</a:t>
            </a:r>
            <a:r>
              <a:rPr lang="en-US" altLang="zh-CN" dirty="0">
                <a:solidFill>
                  <a:srgbClr val="F40802"/>
                </a:solidFill>
              </a:rPr>
              <a:t>(1-A(x))</a:t>
            </a:r>
          </a:p>
          <a:p>
            <a:pPr eaLnBrk="1" hangingPunct="1"/>
            <a:r>
              <a:rPr lang="en-US" altLang="zh-CN" dirty="0">
                <a:solidFill>
                  <a:srgbClr val="F40802"/>
                </a:solidFill>
              </a:rPr>
              <a:t>A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</a:t>
            </a:r>
            <a:r>
              <a:rPr lang="en-US" altLang="zh-CN" dirty="0">
                <a:solidFill>
                  <a:srgbClr val="F40802"/>
                </a:solidFill>
              </a:rPr>
              <a:t>B=(A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</a:t>
            </a:r>
            <a:r>
              <a:rPr lang="en-US" altLang="zh-CN" dirty="0">
                <a:solidFill>
                  <a:srgbClr val="F40802"/>
                </a:solidFill>
              </a:rPr>
              <a:t>B)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</a:t>
            </a:r>
            <a:r>
              <a:rPr lang="en-US" altLang="zh-CN" dirty="0">
                <a:solidFill>
                  <a:srgbClr val="F40802"/>
                </a:solidFill>
              </a:rPr>
              <a:t>(A</a:t>
            </a:r>
            <a:r>
              <a:rPr lang="en-US" altLang="zh-CN" baseline="30000" dirty="0">
                <a:solidFill>
                  <a:srgbClr val="F40802"/>
                </a:solidFill>
              </a:rPr>
              <a:t>c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  </a:t>
            </a:r>
            <a:r>
              <a:rPr lang="en-US" altLang="zh-CN" dirty="0">
                <a:solidFill>
                  <a:srgbClr val="F40802"/>
                </a:solidFill>
              </a:rPr>
              <a:t>Y)</a:t>
            </a:r>
          </a:p>
          <a:p>
            <a:pPr eaLnBrk="1" hangingPunct="1"/>
            <a:r>
              <a:rPr lang="en-US" altLang="zh-CN" dirty="0">
                <a:solidFill>
                  <a:srgbClr val="F40802"/>
                </a:solidFill>
              </a:rPr>
              <a:t>A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</a:t>
            </a:r>
            <a:r>
              <a:rPr lang="en-US" altLang="zh-CN" dirty="0">
                <a:solidFill>
                  <a:srgbClr val="F40802"/>
                </a:solidFill>
              </a:rPr>
              <a:t>B={(x,y)|(a(x))→(b(y))</a:t>
            </a:r>
            <a:r>
              <a:rPr lang="zh-CN" altLang="en-US" dirty="0">
                <a:solidFill>
                  <a:srgbClr val="F40802"/>
                </a:solidFill>
              </a:rPr>
              <a:t>对</a:t>
            </a:r>
            <a:r>
              <a:rPr lang="en-US" altLang="zh-CN" dirty="0">
                <a:solidFill>
                  <a:srgbClr val="F40802"/>
                </a:solidFill>
              </a:rPr>
              <a:t>(x,y)</a:t>
            </a:r>
            <a:r>
              <a:rPr lang="zh-CN" altLang="en-US" dirty="0">
                <a:solidFill>
                  <a:srgbClr val="F40802"/>
                </a:solidFill>
              </a:rPr>
              <a:t>真</a:t>
            </a:r>
            <a:r>
              <a:rPr lang="en-US" altLang="zh-CN" dirty="0">
                <a:solidFill>
                  <a:srgbClr val="F40802"/>
                </a:solidFill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 </a:t>
            </a:r>
            <a:r>
              <a:rPr lang="en-US" altLang="zh-CN" dirty="0">
                <a:ea typeface="黑体" pitchFamily="49" charset="-122"/>
              </a:rPr>
              <a:t>={(x,y)|(a)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x</a:t>
            </a:r>
            <a:r>
              <a:rPr lang="zh-CN" altLang="en-US" dirty="0">
                <a:ea typeface="黑体" pitchFamily="49" charset="-122"/>
              </a:rPr>
              <a:t>真且</a:t>
            </a:r>
            <a:r>
              <a:rPr lang="en-US" altLang="zh-CN" dirty="0">
                <a:ea typeface="黑体" pitchFamily="49" charset="-122"/>
              </a:rPr>
              <a:t>(b)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y</a:t>
            </a:r>
            <a:r>
              <a:rPr lang="zh-CN" altLang="en-US" dirty="0">
                <a:ea typeface="黑体" pitchFamily="49" charset="-122"/>
              </a:rPr>
              <a:t>真</a:t>
            </a:r>
            <a:r>
              <a:rPr lang="en-US" altLang="zh-CN" dirty="0">
                <a:ea typeface="黑体" pitchFamily="49" charset="-122"/>
              </a:rPr>
              <a:t>}</a:t>
            </a:r>
            <a:r>
              <a:rPr lang="en-US" altLang="zh-CN" dirty="0">
                <a:ea typeface="黑体" pitchFamily="49" charset="-122"/>
                <a:sym typeface="Symbol"/>
              </a:rPr>
              <a:t></a:t>
            </a:r>
            <a:r>
              <a:rPr lang="en-US" altLang="zh-CN" dirty="0">
                <a:ea typeface="黑体" pitchFamily="49" charset="-122"/>
              </a:rPr>
              <a:t>{(x,y)|(a)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x</a:t>
            </a:r>
            <a:r>
              <a:rPr lang="zh-CN" altLang="en-US" dirty="0">
                <a:ea typeface="黑体" pitchFamily="49" charset="-122"/>
              </a:rPr>
              <a:t>假</a:t>
            </a:r>
            <a:r>
              <a:rPr lang="en-US" altLang="zh-CN" dirty="0">
                <a:ea typeface="黑体" pitchFamily="49" charset="-122"/>
              </a:rPr>
              <a:t>}</a:t>
            </a:r>
          </a:p>
          <a:p>
            <a:pPr eaLnBrk="1" hangingPunct="1"/>
            <a:endParaRPr lang="en-US" altLang="zh-CN" dirty="0"/>
          </a:p>
        </p:txBody>
      </p:sp>
      <p:graphicFrame>
        <p:nvGraphicFramePr>
          <p:cNvPr id="7" name="Group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0869539"/>
              </p:ext>
            </p:extLst>
          </p:nvPr>
        </p:nvGraphicFramePr>
        <p:xfrm>
          <a:off x="2279577" y="4077072"/>
          <a:ext cx="3095625" cy="2509838"/>
        </p:xfrm>
        <a:graphic>
          <a:graphicData uri="http://schemas.openxmlformats.org/drawingml/2006/table">
            <a:tbl>
              <a:tblPr/>
              <a:tblGrid>
                <a:gridCol w="661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B(y)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(A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/>
                        </a:rPr>
                        <a:t>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B)(x,y)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105CD096-B6D8-464E-66ED-BE7FC18172C5}"/>
              </a:ext>
            </a:extLst>
          </p:cNvPr>
          <p:cNvGrpSpPr/>
          <p:nvPr/>
        </p:nvGrpSpPr>
        <p:grpSpPr>
          <a:xfrm>
            <a:off x="6553200" y="3657600"/>
            <a:ext cx="4114800" cy="3200400"/>
            <a:chOff x="5029200" y="3657600"/>
            <a:chExt cx="4114800" cy="3200400"/>
          </a:xfrm>
        </p:grpSpPr>
        <p:pic>
          <p:nvPicPr>
            <p:cNvPr id="10251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3657600"/>
              <a:ext cx="4114800" cy="3200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0" name="Text Box 10"/>
            <p:cNvSpPr txBox="1">
              <a:spLocks noChangeArrowheads="1"/>
            </p:cNvSpPr>
            <p:nvPr/>
          </p:nvSpPr>
          <p:spPr bwMode="auto">
            <a:xfrm>
              <a:off x="7308850" y="4652963"/>
              <a:ext cx="100806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/>
                <a:t>A</a:t>
              </a:r>
              <a:r>
                <a:rPr lang="en-US" altLang="zh-CN" sz="2000" b="1" baseline="30000" dirty="0"/>
                <a:t>C</a:t>
              </a:r>
              <a:r>
                <a:rPr lang="en-US" altLang="zh-CN" sz="2000" b="1" dirty="0">
                  <a:sym typeface="Symbol" panose="05050102010706020507" pitchFamily="18" charset="2"/>
                </a:rPr>
                <a:t></a:t>
              </a:r>
              <a:r>
                <a:rPr lang="en-US" altLang="zh-CN" sz="2000" b="1" dirty="0"/>
                <a:t>Y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9FEE2B8-D027-6B61-9211-65DCB2069F0E}"/>
                </a:ext>
              </a:extLst>
            </p:cNvPr>
            <p:cNvSpPr txBox="1"/>
            <p:nvPr/>
          </p:nvSpPr>
          <p:spPr>
            <a:xfrm>
              <a:off x="5652120" y="5546684"/>
              <a:ext cx="1117398" cy="400110"/>
            </a:xfrm>
            <a:prstGeom prst="rect">
              <a:avLst/>
            </a:prstGeom>
            <a:solidFill>
              <a:srgbClr val="FF8040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2000" b="1" dirty="0"/>
                <a:t>A</a:t>
              </a:r>
              <a:r>
                <a:rPr lang="en-US" altLang="zh-CN" sz="2000" b="1" dirty="0">
                  <a:sym typeface="Symbol"/>
                </a:rPr>
                <a:t></a:t>
              </a:r>
              <a:r>
                <a:rPr lang="en-US" altLang="zh-CN" sz="2000" b="1" dirty="0"/>
                <a:t>B</a:t>
              </a:r>
              <a:endParaRPr lang="zh-CN" altLang="en-US" sz="2000" b="1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68AD34-30D8-9BBB-1B5B-67904C6F6E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367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普通推理句</a:t>
            </a:r>
            <a:r>
              <a:rPr lang="en-US" altLang="zh-CN" u="sng" dirty="0">
                <a:solidFill>
                  <a:srgbClr val="008000"/>
                </a:solidFill>
              </a:rPr>
              <a:t>(A</a:t>
            </a:r>
            <a:r>
              <a:rPr lang="en-US" altLang="zh-CN" u="sng" dirty="0">
                <a:solidFill>
                  <a:srgbClr val="008000"/>
                </a:solidFill>
                <a:sym typeface="Symbol"/>
              </a:rPr>
              <a:t></a:t>
            </a:r>
            <a:r>
              <a:rPr lang="en-US" altLang="zh-CN" u="sng" dirty="0">
                <a:solidFill>
                  <a:srgbClr val="008000"/>
                </a:solidFill>
              </a:rPr>
              <a:t>B)(x,y)</a:t>
            </a:r>
            <a:r>
              <a:rPr lang="en-US" altLang="zh-CN" dirty="0">
                <a:solidFill>
                  <a:srgbClr val="008000"/>
                </a:solidFill>
              </a:rPr>
              <a:t> 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的性质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27448" y="1412876"/>
            <a:ext cx="9793088" cy="5445125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1] 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肯定前件的假言推理（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MP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）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(a(x))</a:t>
            </a:r>
            <a:r>
              <a:rPr lang="en-US" altLang="zh-CN" dirty="0"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ea typeface="黑体" pitchFamily="49" charset="-122"/>
              </a:rPr>
              <a:t>(b(y))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(x,y)</a:t>
            </a:r>
            <a:r>
              <a:rPr lang="zh-CN" altLang="en-US" dirty="0">
                <a:ea typeface="黑体" pitchFamily="49" charset="-122"/>
              </a:rPr>
              <a:t>真，且</a:t>
            </a:r>
            <a:r>
              <a:rPr lang="en-US" altLang="zh-CN" dirty="0">
                <a:ea typeface="黑体" pitchFamily="49" charset="-122"/>
              </a:rPr>
              <a:t>(a)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x</a:t>
            </a:r>
            <a:r>
              <a:rPr lang="zh-CN" altLang="en-US" dirty="0">
                <a:ea typeface="黑体" pitchFamily="49" charset="-122"/>
              </a:rPr>
              <a:t>真，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则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(b)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y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真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2]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否定后件的假言推理（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MT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）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ea typeface="黑体" pitchFamily="49" charset="-122"/>
              </a:rPr>
              <a:t> </a:t>
            </a:r>
            <a:r>
              <a:rPr lang="en-US" altLang="zh-CN" dirty="0">
                <a:ea typeface="黑体" pitchFamily="49" charset="-122"/>
              </a:rPr>
              <a:t>(a(x))</a:t>
            </a:r>
            <a:r>
              <a:rPr lang="en-US" altLang="zh-CN" dirty="0"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ea typeface="黑体" pitchFamily="49" charset="-122"/>
              </a:rPr>
              <a:t>(b(y))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(x,y)</a:t>
            </a:r>
            <a:r>
              <a:rPr lang="zh-CN" altLang="en-US" dirty="0">
                <a:ea typeface="黑体" pitchFamily="49" charset="-122"/>
              </a:rPr>
              <a:t>真，且</a:t>
            </a:r>
            <a:r>
              <a:rPr lang="en-US" altLang="zh-CN" dirty="0">
                <a:ea typeface="黑体" pitchFamily="49" charset="-122"/>
              </a:rPr>
              <a:t>(b)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y</a:t>
            </a:r>
            <a:r>
              <a:rPr lang="zh-CN" altLang="en-US" dirty="0">
                <a:ea typeface="黑体" pitchFamily="49" charset="-122"/>
              </a:rPr>
              <a:t>假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则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(a)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x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假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3]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合成规则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dirty="0">
                <a:ea typeface="黑体" pitchFamily="49" charset="-122"/>
              </a:rPr>
              <a:t>(a(x))</a:t>
            </a:r>
            <a:r>
              <a:rPr lang="en-US" altLang="zh-CN" dirty="0"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ea typeface="黑体" pitchFamily="49" charset="-122"/>
              </a:rPr>
              <a:t>(b(y))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(x,y)</a:t>
            </a:r>
            <a:r>
              <a:rPr lang="zh-CN" altLang="en-US" dirty="0">
                <a:ea typeface="黑体" pitchFamily="49" charset="-122"/>
              </a:rPr>
              <a:t>真，</a:t>
            </a:r>
            <a:r>
              <a:rPr lang="en-US" altLang="zh-CN" dirty="0">
                <a:ea typeface="黑体" pitchFamily="49" charset="-122"/>
              </a:rPr>
              <a:t>(b(x))</a:t>
            </a:r>
            <a:r>
              <a:rPr lang="en-US" altLang="zh-CN" dirty="0"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ea typeface="黑体" pitchFamily="49" charset="-122"/>
              </a:rPr>
              <a:t>(c(z))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(y,z)</a:t>
            </a:r>
            <a:r>
              <a:rPr lang="zh-CN" altLang="en-US" dirty="0">
                <a:ea typeface="黑体" pitchFamily="49" charset="-122"/>
              </a:rPr>
              <a:t>真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则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(a(x))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(c(z))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对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(x,z)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D5FF84-FDEA-1FA3-41C7-94F717603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590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不同普通集论域上推理举例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361964"/>
            <a:ext cx="10513168" cy="5496036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[177</a:t>
            </a:r>
            <a:r>
              <a:rPr lang="zh-CN" altLang="en-US" dirty="0">
                <a:ea typeface="黑体" pitchFamily="49" charset="-122"/>
              </a:rPr>
              <a:t>例</a:t>
            </a:r>
            <a:r>
              <a:rPr lang="en-US" altLang="zh-CN" dirty="0">
                <a:ea typeface="黑体" pitchFamily="49" charset="-122"/>
              </a:rPr>
              <a:t>1]</a:t>
            </a:r>
            <a:r>
              <a:rPr lang="zh-CN" altLang="en-US" dirty="0">
                <a:ea typeface="黑体" pitchFamily="49" charset="-122"/>
              </a:rPr>
              <a:t>设论域</a:t>
            </a:r>
            <a:r>
              <a:rPr lang="en-US" altLang="zh-CN" dirty="0">
                <a:ea typeface="黑体" pitchFamily="49" charset="-122"/>
              </a:rPr>
              <a:t>X</a:t>
            </a:r>
            <a:r>
              <a:rPr lang="zh-CN" altLang="en-US" dirty="0">
                <a:ea typeface="黑体" pitchFamily="49" charset="-122"/>
              </a:rPr>
              <a:t>为气温变化范围，</a:t>
            </a:r>
            <a:r>
              <a:rPr lang="en-US" altLang="zh-CN" dirty="0">
                <a:ea typeface="黑体" pitchFamily="49" charset="-122"/>
              </a:rPr>
              <a:t>Y</a:t>
            </a:r>
            <a:r>
              <a:rPr lang="zh-CN" altLang="en-US" dirty="0">
                <a:ea typeface="黑体" pitchFamily="49" charset="-122"/>
              </a:rPr>
              <a:t>为每天供冷气的时间范围，求推理句“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若气温高于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32℃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，则供冷时间超过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12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小时</a:t>
            </a:r>
            <a:r>
              <a:rPr lang="zh-CN" altLang="en-US" dirty="0">
                <a:ea typeface="黑体" pitchFamily="49" charset="-122"/>
              </a:rPr>
              <a:t>”的真域。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解：令判断句“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气温高于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32℃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”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、“</a:t>
            </a:r>
            <a:r>
              <a:rPr lang="zh-CN" altLang="en-US" b="1" u="sng" dirty="0">
                <a:solidFill>
                  <a:srgbClr val="3333FF"/>
                </a:solidFill>
                <a:latin typeface="华文楷体" pitchFamily="2" charset="-122"/>
                <a:ea typeface="华文楷体" pitchFamily="2" charset="-122"/>
              </a:rPr>
              <a:t>供冷时间超过</a:t>
            </a:r>
            <a:r>
              <a:rPr lang="en-US" altLang="zh-CN" b="1" u="sng" dirty="0">
                <a:solidFill>
                  <a:srgbClr val="3333FF"/>
                </a:solidFill>
                <a:latin typeface="华文楷体" pitchFamily="2" charset="-122"/>
                <a:ea typeface="华文楷体" pitchFamily="2" charset="-122"/>
              </a:rPr>
              <a:t>12</a:t>
            </a:r>
            <a:r>
              <a:rPr lang="zh-CN" altLang="en-US" b="1" u="sng" dirty="0">
                <a:solidFill>
                  <a:srgbClr val="3333FF"/>
                </a:solidFill>
                <a:latin typeface="华文楷体" pitchFamily="2" charset="-122"/>
                <a:ea typeface="华文楷体" pitchFamily="2" charset="-122"/>
              </a:rPr>
              <a:t>小时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”</a:t>
            </a:r>
            <a:r>
              <a:rPr lang="zh-CN" altLang="en-US" dirty="0">
                <a:ea typeface="黑体" pitchFamily="49" charset="-122"/>
              </a:rPr>
              <a:t>的真域分别为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、</a:t>
            </a:r>
            <a:r>
              <a:rPr lang="en-US" altLang="zh-CN" dirty="0">
                <a:ea typeface="黑体" pitchFamily="49" charset="-122"/>
              </a:rPr>
              <a:t>B</a:t>
            </a:r>
            <a:r>
              <a:rPr lang="zh-CN" altLang="en-US" dirty="0">
                <a:ea typeface="黑体" pitchFamily="49" charset="-122"/>
              </a:rPr>
              <a:t>，即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3200" dirty="0">
                <a:solidFill>
                  <a:srgbClr val="F40802"/>
                </a:solidFill>
                <a:ea typeface="黑体" pitchFamily="49" charset="-122"/>
              </a:rPr>
              <a:t>   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A={x|x&gt;32},    </a:t>
            </a:r>
            <a:r>
              <a:rPr lang="en-US" altLang="zh-CN" sz="3200" dirty="0">
                <a:solidFill>
                  <a:srgbClr val="CC00CC"/>
                </a:solidFill>
                <a:ea typeface="黑体" pitchFamily="49" charset="-122"/>
              </a:rPr>
              <a:t>B={y|12&lt;y≤24}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</a:t>
            </a:r>
            <a:r>
              <a:rPr lang="zh-CN" altLang="en-US" dirty="0">
                <a:ea typeface="黑体" pitchFamily="49" charset="-122"/>
              </a:rPr>
              <a:t>那么， “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若气温高于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32 ℃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，则供冷时间超过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12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小时</a:t>
            </a:r>
            <a:r>
              <a:rPr lang="zh-CN" altLang="en-US" dirty="0">
                <a:ea typeface="黑体" pitchFamily="49" charset="-122"/>
              </a:rPr>
              <a:t>”的真域为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3200" dirty="0">
                <a:ea typeface="黑体" pitchFamily="49" charset="-122"/>
              </a:rPr>
              <a:t> 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B={(x,y)|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</a:rPr>
              <a:t>x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zh-CN" altLang="en-US" sz="3200" dirty="0">
                <a:solidFill>
                  <a:srgbClr val="F40802"/>
                </a:solidFill>
                <a:ea typeface="黑体" pitchFamily="49" charset="-122"/>
              </a:rPr>
              <a:t>且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</a:rPr>
              <a:t>B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}</a:t>
            </a:r>
            <a:r>
              <a:rPr lang="en-US" altLang="zh-CN" sz="3200" dirty="0">
                <a:ea typeface="黑体" pitchFamily="49" charset="-122"/>
                <a:sym typeface="Symbol"/>
              </a:rPr>
              <a:t></a:t>
            </a:r>
            <a:r>
              <a:rPr lang="en-US" altLang="zh-CN" sz="3200" dirty="0">
                <a:solidFill>
                  <a:srgbClr val="CC00CC"/>
                </a:solidFill>
                <a:ea typeface="黑体" pitchFamily="49" charset="-122"/>
              </a:rPr>
              <a:t>{(x,y)|</a:t>
            </a:r>
            <a:r>
              <a:rPr lang="en-US" altLang="zh-CN" sz="3200" dirty="0" err="1">
                <a:solidFill>
                  <a:srgbClr val="CC00CC"/>
                </a:solidFill>
                <a:ea typeface="黑体" pitchFamily="49" charset="-122"/>
              </a:rPr>
              <a:t>x</a:t>
            </a:r>
            <a:r>
              <a:rPr lang="en-US" altLang="zh-CN" sz="3200" dirty="0" err="1">
                <a:solidFill>
                  <a:srgbClr val="CC00CC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200" dirty="0" err="1">
                <a:solidFill>
                  <a:srgbClr val="CC00CC"/>
                </a:solidFill>
                <a:ea typeface="黑体" pitchFamily="49" charset="-122"/>
              </a:rPr>
              <a:t>A</a:t>
            </a:r>
            <a:r>
              <a:rPr lang="en-US" altLang="zh-CN" sz="3200" baseline="30000" dirty="0" err="1">
                <a:solidFill>
                  <a:srgbClr val="CC00CC"/>
                </a:solidFill>
                <a:ea typeface="黑体" pitchFamily="49" charset="-122"/>
              </a:rPr>
              <a:t>c</a:t>
            </a:r>
            <a:r>
              <a:rPr lang="en-US" altLang="zh-CN" sz="3200" dirty="0">
                <a:solidFill>
                  <a:srgbClr val="CC00CC"/>
                </a:solidFill>
                <a:ea typeface="黑体" pitchFamily="49" charset="-122"/>
              </a:rPr>
              <a:t>}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         ={(x,y)|x&gt;32</a:t>
            </a:r>
            <a:r>
              <a:rPr lang="zh-CN" altLang="en-US" sz="3200" dirty="0">
                <a:solidFill>
                  <a:srgbClr val="F40802"/>
                </a:solidFill>
                <a:ea typeface="黑体" pitchFamily="49" charset="-122"/>
              </a:rPr>
              <a:t>且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12&lt;y≤24 }</a:t>
            </a:r>
            <a:r>
              <a:rPr lang="en-US" altLang="zh-CN" sz="3200" dirty="0">
                <a:ea typeface="黑体" pitchFamily="49" charset="-122"/>
                <a:sym typeface="Symbol"/>
              </a:rPr>
              <a:t></a:t>
            </a:r>
            <a:r>
              <a:rPr lang="en-US" altLang="zh-CN" sz="3200" dirty="0">
                <a:solidFill>
                  <a:srgbClr val="008000"/>
                </a:solidFill>
                <a:ea typeface="黑体" pitchFamily="49" charset="-122"/>
              </a:rPr>
              <a:t>{(x,y)|x ≤ 32}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42AA84-8765-B389-C932-6CF2C643D2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4431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35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不同论域上的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推理句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00213"/>
            <a:ext cx="10153128" cy="4876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en-US" altLang="zh-CN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ea typeface="黑体" pitchFamily="49" charset="-122"/>
              </a:rPr>
              <a:t>(X)</a:t>
            </a:r>
            <a:r>
              <a:rPr lang="zh-CN" altLang="en-US" dirty="0">
                <a:ea typeface="黑体" pitchFamily="49" charset="-122"/>
              </a:rPr>
              <a:t>，</a:t>
            </a:r>
            <a:r>
              <a:rPr lang="en-US" altLang="zh-CN" dirty="0">
                <a:ea typeface="黑体" pitchFamily="49" charset="-122"/>
              </a:rPr>
              <a:t>B</a:t>
            </a:r>
            <a:r>
              <a:rPr lang="en-US" altLang="en-US" dirty="0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ea typeface="黑体" pitchFamily="49" charset="-122"/>
              </a:rPr>
              <a:t>(Y)</a:t>
            </a:r>
            <a:r>
              <a:rPr lang="zh-CN" altLang="en-US" dirty="0">
                <a:ea typeface="黑体" pitchFamily="49" charset="-122"/>
              </a:rPr>
              <a:t>分别是</a:t>
            </a:r>
            <a:r>
              <a:rPr lang="en-US" altLang="zh-CN" dirty="0">
                <a:ea typeface="黑体" pitchFamily="49" charset="-122"/>
              </a:rPr>
              <a:t>(a)</a:t>
            </a:r>
            <a:r>
              <a:rPr lang="zh-CN" altLang="en-US" dirty="0">
                <a:ea typeface="黑体" pitchFamily="49" charset="-122"/>
              </a:rPr>
              <a:t>，</a:t>
            </a:r>
            <a:r>
              <a:rPr lang="en-US" altLang="zh-CN" dirty="0">
                <a:ea typeface="黑体" pitchFamily="49" charset="-122"/>
              </a:rPr>
              <a:t>(b)</a:t>
            </a:r>
            <a:r>
              <a:rPr lang="zh-CN" altLang="en-US" dirty="0">
                <a:ea typeface="黑体" pitchFamily="49" charset="-122"/>
              </a:rPr>
              <a:t>的真域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推理句</a:t>
            </a:r>
            <a:r>
              <a:rPr lang="en-US" altLang="zh-CN" u="sng" dirty="0">
                <a:ea typeface="黑体" pitchFamily="49" charset="-122"/>
              </a:rPr>
              <a:t>(a(x)</a:t>
            </a:r>
            <a:r>
              <a:rPr lang="en-US" altLang="zh-CN" u="sng" dirty="0">
                <a:ea typeface="黑体" pitchFamily="49" charset="-122"/>
                <a:sym typeface="Symbol"/>
              </a:rPr>
              <a:t></a:t>
            </a:r>
            <a:r>
              <a:rPr lang="en-US" altLang="zh-CN" u="sng" dirty="0">
                <a:ea typeface="黑体" pitchFamily="49" charset="-122"/>
              </a:rPr>
              <a:t>b(y))</a:t>
            </a:r>
            <a:r>
              <a:rPr lang="zh-CN" altLang="en-US" dirty="0">
                <a:ea typeface="黑体" pitchFamily="49" charset="-122"/>
              </a:rPr>
              <a:t>的真域</a:t>
            </a:r>
            <a:r>
              <a:rPr lang="en-US" altLang="zh-CN" dirty="0">
                <a:ea typeface="黑体" pitchFamily="49" charset="-122"/>
              </a:rPr>
              <a:t>——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定义为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X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Y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上的一个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关系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R=A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B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    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en-US" sz="32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en-US" sz="32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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sz="3200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en-US" sz="3200" dirty="0" err="1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3200" dirty="0" err="1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)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其隶属函数为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3200" dirty="0">
                <a:solidFill>
                  <a:srgbClr val="F40802"/>
                </a:solidFill>
                <a:ea typeface="黑体" pitchFamily="49" charset="-122"/>
              </a:rPr>
              <a:t>   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R(x,y)=(A(x)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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B(y))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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(1-A(x))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(x,y)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对</a:t>
            </a: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R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的隶属度，就是</a:t>
            </a: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F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推理句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(a(x) 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  <a:sym typeface="Symbol"/>
              </a:rPr>
              <a:t>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 b(y))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对</a:t>
            </a: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(x,y)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的真值。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C655EA-1E54-E611-9AB0-D367D4C776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723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推理句</a:t>
            </a:r>
            <a:r>
              <a:rPr lang="en-US" altLang="zh-CN" dirty="0">
                <a:solidFill>
                  <a:srgbClr val="008000"/>
                </a:solidFill>
              </a:rPr>
              <a:t>(A</a:t>
            </a:r>
            <a:r>
              <a:rPr lang="en-US" altLang="zh-CN" dirty="0">
                <a:solidFill>
                  <a:srgbClr val="008000"/>
                </a:solidFill>
                <a:sym typeface="Symbol"/>
              </a:rPr>
              <a:t></a:t>
            </a:r>
            <a:r>
              <a:rPr lang="en-US" altLang="zh-CN" dirty="0">
                <a:solidFill>
                  <a:srgbClr val="008000"/>
                </a:solidFill>
              </a:rPr>
              <a:t>B)(x,y) 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的性质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9436" y="1341438"/>
            <a:ext cx="10153128" cy="5516562"/>
          </a:xfrm>
          <a:noFill/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1] 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肯定前件的假言推理（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MP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）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(a(x))</a:t>
            </a:r>
            <a:r>
              <a:rPr lang="en-US" altLang="zh-CN" dirty="0"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ea typeface="黑体" pitchFamily="49" charset="-122"/>
              </a:rPr>
              <a:t>(b(y))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(x,y)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真</a:t>
            </a:r>
            <a:r>
              <a:rPr lang="zh-CN" altLang="en-US" dirty="0">
                <a:ea typeface="黑体" pitchFamily="49" charset="-122"/>
              </a:rPr>
              <a:t>，且</a:t>
            </a:r>
            <a:r>
              <a:rPr lang="en-US" altLang="zh-CN" dirty="0">
                <a:ea typeface="黑体" pitchFamily="49" charset="-122"/>
              </a:rPr>
              <a:t>(a)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x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真</a:t>
            </a:r>
            <a:r>
              <a:rPr lang="zh-CN" altLang="en-US" dirty="0">
                <a:ea typeface="黑体" pitchFamily="49" charset="-122"/>
              </a:rPr>
              <a:t>，则</a:t>
            </a:r>
            <a:r>
              <a:rPr lang="en-US" altLang="zh-CN" dirty="0">
                <a:ea typeface="黑体" pitchFamily="49" charset="-122"/>
              </a:rPr>
              <a:t>(b)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y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真</a:t>
            </a:r>
          </a:p>
          <a:p>
            <a:pPr lvl="1" eaLnBrk="1" hangingPunct="1"/>
            <a:r>
              <a:rPr lang="en-US" altLang="zh-CN" sz="3200" b="1" dirty="0">
                <a:solidFill>
                  <a:schemeClr val="bg2"/>
                </a:solidFill>
                <a:ea typeface="黑体" pitchFamily="49" charset="-122"/>
              </a:rPr>
              <a:t>(b)(y) </a:t>
            </a:r>
            <a:r>
              <a:rPr lang="en-US" altLang="zh-CN" sz="3200" b="1" dirty="0">
                <a:solidFill>
                  <a:schemeClr val="bg2"/>
                </a:solidFill>
              </a:rPr>
              <a:t>≥ [(a(x))</a:t>
            </a:r>
            <a:r>
              <a:rPr lang="en-US" altLang="zh-CN" sz="3200" b="1" dirty="0">
                <a:solidFill>
                  <a:schemeClr val="bg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3200" b="1" dirty="0">
                <a:solidFill>
                  <a:schemeClr val="bg2"/>
                </a:solidFill>
                <a:ea typeface="黑体" pitchFamily="49" charset="-122"/>
              </a:rPr>
              <a:t>(b(y))](x,y)</a:t>
            </a:r>
          </a:p>
          <a:p>
            <a:pPr eaLnBrk="1" hangingPunct="1"/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2]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否定后件的假言推理（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MT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）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 </a:t>
            </a:r>
            <a:r>
              <a:rPr lang="en-US" altLang="zh-CN" dirty="0">
                <a:ea typeface="黑体" pitchFamily="49" charset="-122"/>
              </a:rPr>
              <a:t>(a(x))</a:t>
            </a:r>
            <a:r>
              <a:rPr lang="en-US" altLang="zh-CN" dirty="0"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ea typeface="黑体" pitchFamily="49" charset="-122"/>
              </a:rPr>
              <a:t>(b(y))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(x,y)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真</a:t>
            </a:r>
            <a:r>
              <a:rPr lang="zh-CN" altLang="en-US" dirty="0">
                <a:ea typeface="黑体" pitchFamily="49" charset="-122"/>
              </a:rPr>
              <a:t>，且</a:t>
            </a:r>
            <a:r>
              <a:rPr lang="en-US" altLang="zh-CN" dirty="0">
                <a:ea typeface="黑体" pitchFamily="49" charset="-122"/>
              </a:rPr>
              <a:t>(b)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y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假</a:t>
            </a:r>
            <a:r>
              <a:rPr lang="zh-CN" altLang="en-US" dirty="0">
                <a:ea typeface="黑体" pitchFamily="49" charset="-122"/>
              </a:rPr>
              <a:t>，则</a:t>
            </a:r>
            <a:r>
              <a:rPr lang="en-US" altLang="zh-CN" dirty="0">
                <a:ea typeface="黑体" pitchFamily="49" charset="-122"/>
              </a:rPr>
              <a:t>(a)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x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假</a:t>
            </a:r>
          </a:p>
          <a:p>
            <a:pPr lvl="1" eaLnBrk="1" hangingPunct="1"/>
            <a:r>
              <a:rPr lang="en-US" altLang="zh-CN" sz="3200" b="1" dirty="0">
                <a:solidFill>
                  <a:schemeClr val="bg2"/>
                </a:solidFill>
                <a:ea typeface="黑体" pitchFamily="49" charset="-122"/>
              </a:rPr>
              <a:t>(a)(x)=1-</a:t>
            </a:r>
            <a:r>
              <a:rPr lang="en-US" altLang="zh-CN" b="1" dirty="0">
                <a:solidFill>
                  <a:srgbClr val="008000"/>
                </a:solidFill>
                <a:ea typeface="黑体" pitchFamily="49" charset="-122"/>
              </a:rPr>
              <a:t> </a:t>
            </a:r>
            <a:r>
              <a:rPr lang="en-US" altLang="zh-CN" sz="3200" b="1" dirty="0">
                <a:solidFill>
                  <a:schemeClr val="bg2"/>
                </a:solidFill>
              </a:rPr>
              <a:t>[(a(x))</a:t>
            </a:r>
            <a:r>
              <a:rPr lang="en-US" altLang="zh-CN" sz="3200" b="1" dirty="0">
                <a:solidFill>
                  <a:schemeClr val="bg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3200" b="1" dirty="0">
                <a:solidFill>
                  <a:schemeClr val="bg2"/>
                </a:solidFill>
                <a:ea typeface="黑体" pitchFamily="49" charset="-122"/>
              </a:rPr>
              <a:t>(b(y))](x,y)</a:t>
            </a:r>
            <a:endParaRPr lang="en-US" altLang="zh-CN" b="1" dirty="0">
              <a:solidFill>
                <a:srgbClr val="008000"/>
              </a:solidFill>
              <a:ea typeface="黑体" pitchFamily="49" charset="-122"/>
            </a:endParaRPr>
          </a:p>
          <a:p>
            <a:pPr eaLnBrk="1" hangingPunct="1"/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定理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3]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合成规则</a:t>
            </a:r>
          </a:p>
          <a:p>
            <a:pPr lvl="1" eaLnBrk="1" hangingPunct="1"/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(a(x))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(b(y))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(x,y)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真</a:t>
            </a:r>
            <a:r>
              <a:rPr lang="zh-CN" altLang="en-US" dirty="0">
                <a:ea typeface="黑体" pitchFamily="49" charset="-122"/>
              </a:rPr>
              <a:t>，</a:t>
            </a:r>
            <a:r>
              <a:rPr lang="en-US" altLang="zh-CN" dirty="0">
                <a:ea typeface="黑体" pitchFamily="49" charset="-122"/>
              </a:rPr>
              <a:t>(b(x))</a:t>
            </a:r>
            <a:r>
              <a:rPr lang="en-US" altLang="zh-CN" dirty="0"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ea typeface="黑体" pitchFamily="49" charset="-122"/>
              </a:rPr>
              <a:t>(c(z))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(y,z)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真</a:t>
            </a:r>
            <a:r>
              <a:rPr lang="zh-CN" altLang="en-US" sz="3200" dirty="0"/>
              <a:t>，</a:t>
            </a:r>
            <a:r>
              <a:rPr lang="zh-CN" altLang="en-US" dirty="0">
                <a:ea typeface="黑体" pitchFamily="49" charset="-122"/>
              </a:rPr>
              <a:t>则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(a(x))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(c(z))</a:t>
            </a:r>
            <a:r>
              <a:rPr lang="zh-CN" altLang="en-US" dirty="0">
                <a:ea typeface="黑体" pitchFamily="49" charset="-122"/>
              </a:rPr>
              <a:t>对</a:t>
            </a:r>
            <a:r>
              <a:rPr lang="en-US" altLang="zh-CN" dirty="0">
                <a:ea typeface="黑体" pitchFamily="49" charset="-122"/>
              </a:rPr>
              <a:t>(x,z)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真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CC00CC"/>
                </a:solidFill>
              </a:rPr>
              <a:t>    [(a(x))</a:t>
            </a:r>
            <a:r>
              <a:rPr lang="en-US" altLang="zh-CN" sz="2800" b="1" dirty="0">
                <a:solidFill>
                  <a:srgbClr val="CC00CC"/>
                </a:solidFill>
                <a:sym typeface="Symbol"/>
              </a:rPr>
              <a:t></a:t>
            </a:r>
            <a:r>
              <a:rPr lang="en-US" altLang="zh-CN" sz="2800" b="1" dirty="0">
                <a:solidFill>
                  <a:srgbClr val="CC00CC"/>
                </a:solidFill>
                <a:ea typeface="黑体" pitchFamily="49" charset="-122"/>
              </a:rPr>
              <a:t>(c(z))](x,z)</a:t>
            </a:r>
            <a:r>
              <a:rPr lang="en-US" altLang="zh-CN" sz="2800" b="1" dirty="0">
                <a:solidFill>
                  <a:schemeClr val="bg2"/>
                </a:solidFill>
              </a:rPr>
              <a:t>≥</a:t>
            </a:r>
            <a:r>
              <a:rPr lang="en-US" altLang="zh-CN" sz="2800" b="1" dirty="0">
                <a:solidFill>
                  <a:srgbClr val="3333FF"/>
                </a:solidFill>
              </a:rPr>
              <a:t>[(a(x))</a:t>
            </a:r>
            <a:r>
              <a:rPr lang="en-US" altLang="zh-CN" sz="2800" b="1" dirty="0">
                <a:solidFill>
                  <a:srgbClr val="3333FF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800" b="1" dirty="0">
                <a:solidFill>
                  <a:srgbClr val="3333FF"/>
                </a:solidFill>
                <a:ea typeface="黑体" pitchFamily="49" charset="-122"/>
              </a:rPr>
              <a:t>(b(y))](x,y)</a:t>
            </a:r>
            <a:r>
              <a:rPr lang="en-US" altLang="en-US" sz="2800" b="1" dirty="0">
                <a:solidFill>
                  <a:schemeClr val="bg2"/>
                </a:solidFill>
              </a:rPr>
              <a:t>∧</a:t>
            </a:r>
            <a:r>
              <a:rPr lang="en-US" altLang="zh-CN" sz="2800" b="1" dirty="0">
                <a:solidFill>
                  <a:schemeClr val="bg2"/>
                </a:solidFill>
              </a:rPr>
              <a:t>[(b(y))</a:t>
            </a:r>
            <a:r>
              <a:rPr lang="en-US" altLang="zh-CN" sz="2800" b="1" dirty="0">
                <a:solidFill>
                  <a:schemeClr val="bg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sz="2800" b="1" dirty="0">
                <a:solidFill>
                  <a:schemeClr val="bg2"/>
                </a:solidFill>
                <a:ea typeface="黑体" pitchFamily="49" charset="-122"/>
              </a:rPr>
              <a:t>(c(z))](y,z)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177E5D-7254-87DE-C586-1599E67A02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4107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不同论域上的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推理句举例</a:t>
            </a:r>
            <a:r>
              <a:rPr lang="en-US" altLang="zh-CN" sz="2800" dirty="0">
                <a:ea typeface="黑体" pitchFamily="49" charset="-122"/>
              </a:rPr>
              <a:t>[P177</a:t>
            </a:r>
            <a:r>
              <a:rPr lang="zh-CN" altLang="en-US" sz="2800">
                <a:ea typeface="黑体" pitchFamily="49" charset="-122"/>
              </a:rPr>
              <a:t>例</a:t>
            </a:r>
            <a:r>
              <a:rPr lang="en-US" altLang="zh-CN" sz="2800" dirty="0">
                <a:ea typeface="黑体" pitchFamily="49" charset="-122"/>
              </a:rPr>
              <a:t>2]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557339"/>
            <a:ext cx="10369151" cy="515778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X</a:t>
            </a:r>
            <a:r>
              <a:rPr lang="zh-CN" altLang="en-US" dirty="0">
                <a:ea typeface="黑体" pitchFamily="49" charset="-122"/>
              </a:rPr>
              <a:t>表示某地区男生身高论域</a:t>
            </a:r>
            <a:r>
              <a:rPr lang="en-US" altLang="zh-CN" dirty="0">
                <a:ea typeface="黑体" pitchFamily="49" charset="-122"/>
              </a:rPr>
              <a:t>(m)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       X={x</a:t>
            </a:r>
            <a:r>
              <a:rPr lang="en-US" altLang="zh-CN" baseline="-25000" dirty="0">
                <a:solidFill>
                  <a:srgbClr val="3333FF"/>
                </a:solidFill>
                <a:ea typeface="黑体" pitchFamily="49" charset="-122"/>
              </a:rPr>
              <a:t>1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,x</a:t>
            </a:r>
            <a:r>
              <a:rPr lang="en-US" altLang="zh-CN" baseline="-25000" dirty="0">
                <a:solidFill>
                  <a:srgbClr val="3333FF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,…,x</a:t>
            </a:r>
            <a:r>
              <a:rPr lang="en-US" altLang="zh-CN" baseline="-25000" dirty="0">
                <a:solidFill>
                  <a:srgbClr val="3333FF"/>
                </a:solidFill>
                <a:ea typeface="黑体" pitchFamily="49" charset="-122"/>
              </a:rPr>
              <a:t>6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}={1.5,1.6,1.7,1.8,1.9, 2.0}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Y</a:t>
            </a:r>
            <a:r>
              <a:rPr lang="zh-CN" altLang="en-US" dirty="0">
                <a:ea typeface="黑体" pitchFamily="49" charset="-122"/>
              </a:rPr>
              <a:t>表示某地区男生体重论域</a:t>
            </a:r>
            <a:r>
              <a:rPr lang="en-US" altLang="zh-CN" dirty="0">
                <a:ea typeface="黑体" pitchFamily="49" charset="-122"/>
              </a:rPr>
              <a:t>(kg)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       Y={y</a:t>
            </a:r>
            <a:r>
              <a:rPr lang="en-US" altLang="zh-CN" baseline="-25000" dirty="0">
                <a:solidFill>
                  <a:srgbClr val="3333FF"/>
                </a:solidFill>
                <a:ea typeface="黑体" pitchFamily="49" charset="-122"/>
              </a:rPr>
              <a:t>1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,y</a:t>
            </a:r>
            <a:r>
              <a:rPr lang="en-US" altLang="zh-CN" baseline="-25000" dirty="0">
                <a:solidFill>
                  <a:srgbClr val="3333FF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,…,y</a:t>
            </a:r>
            <a:r>
              <a:rPr lang="en-US" altLang="zh-CN" baseline="-25000" dirty="0">
                <a:solidFill>
                  <a:srgbClr val="3333FF"/>
                </a:solidFill>
                <a:ea typeface="黑体" pitchFamily="49" charset="-122"/>
              </a:rPr>
              <a:t>7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}={40,50,60,70,80,90,100}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又设该地区对男生来说，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“高”的概念的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集表示为 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高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]=(0,0.2,0.7,0.9,1,1)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“</a:t>
            </a:r>
            <a:r>
              <a:rPr lang="zh-CN" altLang="en-US" dirty="0">
                <a:ea typeface="黑体" pitchFamily="49" charset="-122"/>
              </a:rPr>
              <a:t>重”的概念的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集表示为 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重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]=(0,0.2,0.6,0.8,0.95,1,1)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ea typeface="华文楷体" pitchFamily="2" charset="-122"/>
              </a:rPr>
              <a:t>求</a:t>
            </a:r>
            <a:r>
              <a:rPr lang="en-US" altLang="zh-CN" b="1" dirty="0">
                <a:ea typeface="华文楷体" pitchFamily="2" charset="-122"/>
              </a:rPr>
              <a:t>F</a:t>
            </a:r>
            <a:r>
              <a:rPr lang="zh-CN" altLang="en-US" b="1" dirty="0">
                <a:ea typeface="华文楷体" pitchFamily="2" charset="-122"/>
              </a:rPr>
              <a:t>推理句“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若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x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很高，则</a:t>
            </a:r>
            <a:r>
              <a:rPr lang="en-US" altLang="zh-CN" b="1" u="sng" dirty="0">
                <a:solidFill>
                  <a:srgbClr val="3333FF"/>
                </a:solidFill>
                <a:ea typeface="华文楷体" pitchFamily="2" charset="-122"/>
              </a:rPr>
              <a:t>y</a:t>
            </a:r>
            <a:r>
              <a:rPr lang="zh-CN" altLang="en-US" b="1" u="sng" dirty="0">
                <a:solidFill>
                  <a:srgbClr val="3333FF"/>
                </a:solidFill>
                <a:ea typeface="华文楷体" pitchFamily="2" charset="-122"/>
              </a:rPr>
              <a:t>很重</a:t>
            </a:r>
            <a:r>
              <a:rPr lang="zh-CN" altLang="en-US" b="1" dirty="0">
                <a:ea typeface="华文楷体" pitchFamily="2" charset="-122"/>
              </a:rPr>
              <a:t>”的真域</a:t>
            </a:r>
            <a:r>
              <a:rPr lang="en-US" altLang="zh-CN" b="1" dirty="0">
                <a:ea typeface="华文楷体" pitchFamily="2" charset="-122"/>
              </a:rPr>
              <a:t>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2A7EF8-36FD-7069-A4CC-F8567EAF2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194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3472" y="457201"/>
            <a:ext cx="9073703" cy="955675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008000"/>
                </a:solidFill>
                <a:ea typeface="黑体" pitchFamily="49" charset="-122"/>
              </a:rPr>
              <a:t>[P177</a:t>
            </a:r>
            <a:r>
              <a:rPr lang="zh-CN" altLang="en-US" sz="3200" dirty="0">
                <a:solidFill>
                  <a:srgbClr val="008000"/>
                </a:solidFill>
                <a:ea typeface="黑体" pitchFamily="49" charset="-122"/>
              </a:rPr>
              <a:t>例</a:t>
            </a:r>
            <a:r>
              <a:rPr lang="en-US" altLang="zh-CN" sz="3200" dirty="0">
                <a:solidFill>
                  <a:srgbClr val="008000"/>
                </a:solidFill>
                <a:ea typeface="黑体" pitchFamily="49" charset="-122"/>
              </a:rPr>
              <a:t>2]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</a:rPr>
              <a:t>求</a:t>
            </a:r>
            <a:r>
              <a:rPr lang="zh-CN" altLang="en-US" sz="3600" dirty="0">
                <a:ea typeface="黑体" pitchFamily="49" charset="-122"/>
              </a:rPr>
              <a:t>“</a:t>
            </a:r>
            <a:r>
              <a:rPr lang="zh-CN" altLang="en-US" sz="3600" b="1" u="sng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sz="3600" b="1" u="sng" dirty="0">
                <a:solidFill>
                  <a:srgbClr val="3333FF"/>
                </a:solidFill>
                <a:ea typeface="楷体_GB2312" pitchFamily="49" charset="-122"/>
              </a:rPr>
              <a:t>x</a:t>
            </a:r>
            <a:r>
              <a:rPr lang="zh-CN" altLang="en-US" sz="3600" b="1" u="sng" dirty="0">
                <a:solidFill>
                  <a:srgbClr val="3333FF"/>
                </a:solidFill>
                <a:ea typeface="楷体_GB2312" pitchFamily="49" charset="-122"/>
              </a:rPr>
              <a:t>很高，则</a:t>
            </a:r>
            <a:r>
              <a:rPr lang="en-US" altLang="zh-CN" sz="3600" b="1" u="sng" dirty="0">
                <a:solidFill>
                  <a:srgbClr val="3333FF"/>
                </a:solidFill>
                <a:ea typeface="楷体_GB2312" pitchFamily="49" charset="-122"/>
              </a:rPr>
              <a:t>y</a:t>
            </a:r>
            <a:r>
              <a:rPr lang="zh-CN" altLang="en-US" sz="3600" b="1" u="sng" dirty="0">
                <a:solidFill>
                  <a:srgbClr val="3333FF"/>
                </a:solidFill>
                <a:ea typeface="楷体_GB2312" pitchFamily="49" charset="-122"/>
              </a:rPr>
              <a:t>很重</a:t>
            </a:r>
            <a:r>
              <a:rPr lang="zh-CN" altLang="en-US" sz="3600" dirty="0">
                <a:ea typeface="黑体" pitchFamily="49" charset="-122"/>
              </a:rPr>
              <a:t>”</a:t>
            </a:r>
            <a:r>
              <a:rPr lang="zh-CN" altLang="en-US" sz="3600" dirty="0">
                <a:solidFill>
                  <a:srgbClr val="008000"/>
                </a:solidFill>
                <a:ea typeface="黑体" pitchFamily="49" charset="-122"/>
              </a:rPr>
              <a:t>的真域</a:t>
            </a:r>
            <a:r>
              <a:rPr lang="en-US" altLang="zh-CN" sz="3600" dirty="0">
                <a:solidFill>
                  <a:srgbClr val="008000"/>
                </a:solidFill>
                <a:ea typeface="黑体" pitchFamily="49" charset="-122"/>
              </a:rPr>
              <a:t>R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601788"/>
            <a:ext cx="10225136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解：“</a:t>
            </a:r>
            <a:r>
              <a:rPr lang="en-US" altLang="zh-CN" b="1" u="sng" dirty="0">
                <a:solidFill>
                  <a:srgbClr val="3333FF"/>
                </a:solidFill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很高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“</a:t>
            </a:r>
            <a:r>
              <a:rPr lang="zh-CN" altLang="en-US" dirty="0">
                <a:ea typeface="黑体" pitchFamily="49" charset="-122"/>
              </a:rPr>
              <a:t>的真域记作</a:t>
            </a:r>
            <a:r>
              <a:rPr lang="en-US" altLang="zh-CN" dirty="0">
                <a:ea typeface="黑体" pitchFamily="49" charset="-122"/>
              </a:rPr>
              <a:t>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 A=[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很高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]=H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高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(0,0.2,0.7,0.9,1,1)</a:t>
            </a:r>
            <a:r>
              <a:rPr lang="en-US" altLang="zh-CN" sz="2800" baseline="30000" dirty="0">
                <a:solidFill>
                  <a:srgbClr val="F40802"/>
                </a:solidFill>
                <a:ea typeface="黑体" pitchFamily="49" charset="-122"/>
              </a:rPr>
              <a:t>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                              =(0,0.04,0.49,0.81,1,1)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 “</a:t>
            </a:r>
            <a:r>
              <a:rPr lang="en-US" altLang="zh-CN" b="1" u="sng" dirty="0">
                <a:solidFill>
                  <a:srgbClr val="3333FF"/>
                </a:solidFill>
                <a:ea typeface="楷体_GB2312" pitchFamily="49" charset="-122"/>
              </a:rPr>
              <a:t>y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很重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”的真域记作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B=[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很重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]=H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重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(0,0.2,0.6,0.8,0.95,1,1)</a:t>
            </a:r>
            <a:r>
              <a:rPr lang="en-US" altLang="zh-CN" sz="2800" baseline="30000" dirty="0">
                <a:solidFill>
                  <a:srgbClr val="F40802"/>
                </a:solidFill>
                <a:ea typeface="黑体" pitchFamily="49" charset="-122"/>
              </a:rPr>
              <a:t>2</a:t>
            </a:r>
            <a:endParaRPr lang="en-US" altLang="zh-CN" sz="2800" dirty="0">
              <a:solidFill>
                <a:srgbClr val="F40802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                             =(0,0.04,0.36,0.64,0.9,1,1)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推理句</a:t>
            </a:r>
            <a:r>
              <a:rPr lang="en-US" altLang="zh-CN" dirty="0">
                <a:solidFill>
                  <a:srgbClr val="F40802"/>
                </a:solidFill>
              </a:rPr>
              <a:t>(A</a:t>
            </a:r>
            <a:r>
              <a:rPr lang="en-US" altLang="zh-CN" dirty="0">
                <a:solidFill>
                  <a:srgbClr val="F40802"/>
                </a:solidFill>
                <a:sym typeface="Symbol"/>
              </a:rPr>
              <a:t></a:t>
            </a:r>
            <a:r>
              <a:rPr lang="en-US" altLang="zh-CN" dirty="0">
                <a:solidFill>
                  <a:srgbClr val="F40802"/>
                </a:solidFill>
              </a:rPr>
              <a:t>B)(x,y)</a:t>
            </a:r>
            <a:r>
              <a:rPr lang="zh-CN" altLang="en-US" dirty="0">
                <a:ea typeface="黑体" pitchFamily="49" charset="-122"/>
              </a:rPr>
              <a:t>的真域为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          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en-US" dirty="0">
                <a:solidFill>
                  <a:srgbClr val="F40802"/>
                </a:solidFill>
                <a:ea typeface="黑体" pitchFamily="49" charset="-122"/>
                <a:sym typeface="Symbol"/>
              </a:rPr>
              <a:t>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en-US" dirty="0" err="1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dirty="0" err="1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其中，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en-US" altLang="zh-CN" sz="2800" baseline="30000" dirty="0">
                <a:ea typeface="黑体" pitchFamily="49" charset="-122"/>
              </a:rPr>
              <a:t>c</a:t>
            </a:r>
            <a:r>
              <a:rPr lang="en-US" altLang="zh-CN" sz="2000" dirty="0">
                <a:ea typeface="黑体" pitchFamily="49" charset="-122"/>
              </a:rPr>
              <a:t> </a:t>
            </a:r>
            <a:r>
              <a:rPr lang="en-US" altLang="zh-CN" sz="2800" dirty="0">
                <a:ea typeface="黑体" pitchFamily="49" charset="-122"/>
              </a:rPr>
              <a:t>=1-A=(1,0.96,0.51,0.19,0,0)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             Y=(1,1,1,1,1,1,1)</a:t>
            </a:r>
          </a:p>
        </p:txBody>
      </p:sp>
      <p:sp>
        <p:nvSpPr>
          <p:cNvPr id="2" name="矩形 1"/>
          <p:cNvSpPr/>
          <p:nvPr/>
        </p:nvSpPr>
        <p:spPr>
          <a:xfrm>
            <a:off x="8256935" y="1412876"/>
            <a:ext cx="4320480" cy="870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40802"/>
                </a:solidFill>
                <a:ea typeface="黑体" pitchFamily="49" charset="-122"/>
              </a:rPr>
              <a:t>高</a:t>
            </a:r>
            <a:r>
              <a:rPr lang="en-US" altLang="zh-CN" sz="2400" dirty="0">
                <a:solidFill>
                  <a:srgbClr val="F40802"/>
                </a:solidFill>
                <a:ea typeface="黑体" pitchFamily="49" charset="-122"/>
              </a:rPr>
              <a:t>]=(0,0.2,0.7,0.9,1,1)</a:t>
            </a:r>
          </a:p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40802"/>
                </a:solidFill>
                <a:ea typeface="黑体" pitchFamily="49" charset="-122"/>
              </a:rPr>
              <a:t>重</a:t>
            </a:r>
            <a:r>
              <a:rPr lang="en-US" altLang="zh-CN" sz="2400" dirty="0">
                <a:solidFill>
                  <a:srgbClr val="F40802"/>
                </a:solidFill>
                <a:ea typeface="黑体" pitchFamily="49" charset="-122"/>
              </a:rPr>
              <a:t>]=(0,0.2,0.6,0.8,0.95,1,1)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8207EEC-8AB3-C062-BA89-D7D9B91904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315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黑体" pitchFamily="49" charset="-122"/>
              </a:rPr>
              <a:t>[P177</a:t>
            </a:r>
            <a:r>
              <a:rPr lang="zh-CN" altLang="en-US" sz="3600" dirty="0">
                <a:ea typeface="黑体" pitchFamily="49" charset="-122"/>
              </a:rPr>
              <a:t>例</a:t>
            </a:r>
            <a:r>
              <a:rPr lang="en-US" altLang="zh-CN" sz="3600" dirty="0">
                <a:ea typeface="黑体" pitchFamily="49" charset="-122"/>
              </a:rPr>
              <a:t>2]</a:t>
            </a:r>
            <a:r>
              <a:rPr lang="zh-CN" altLang="en-US" sz="4000" dirty="0">
                <a:solidFill>
                  <a:srgbClr val="008000"/>
                </a:solidFill>
                <a:ea typeface="黑体" pitchFamily="49" charset="-122"/>
              </a:rPr>
              <a:t>求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en-US" sz="40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en-US" sz="40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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sz="4000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sz="4000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en-US" sz="4000" dirty="0" err="1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4000" dirty="0" err="1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)</a:t>
            </a:r>
            <a:endParaRPr lang="en-US" altLang="zh-CN" sz="3600" dirty="0">
              <a:ea typeface="黑体" pitchFamily="49" charset="-122"/>
            </a:endParaRPr>
          </a:p>
        </p:txBody>
      </p:sp>
      <p:graphicFrame>
        <p:nvGraphicFramePr>
          <p:cNvPr id="17413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35729533"/>
              </p:ext>
            </p:extLst>
          </p:nvPr>
        </p:nvGraphicFramePr>
        <p:xfrm>
          <a:off x="1631951" y="1457325"/>
          <a:ext cx="5688013" cy="301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90560" imgH="1371600" progId="Equation.3">
                  <p:embed/>
                </p:oleObj>
              </mc:Choice>
              <mc:Fallback>
                <p:oleObj name="公式" r:id="rId2" imgW="259056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1" y="1457325"/>
                        <a:ext cx="5688013" cy="301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4511676" y="3862388"/>
          <a:ext cx="6156325" cy="299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19400" imgH="1371600" progId="Equation.3">
                  <p:embed/>
                </p:oleObj>
              </mc:Choice>
              <mc:Fallback>
                <p:oleObj name="公式" r:id="rId4" imgW="28194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3862388"/>
                        <a:ext cx="6156325" cy="299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095714" y="1444357"/>
            <a:ext cx="6156324" cy="999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A=[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很高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]=(0,0.04,0.49,0.81,1,1)</a:t>
            </a:r>
          </a:p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B=[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很重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]=(0,0.04,0.36,0.64,0.9,1,1)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5E67FD-179C-9BEE-6197-02A905D2E7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5166" y="4589860"/>
            <a:ext cx="2914650" cy="229552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FC9AEE-526F-C1A3-0371-37D8AF3633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5F706F-8DDC-404F-A8E0-F4FFD0110F38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72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417CE1-B981-3986-1785-123EEA000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66" y="4589860"/>
            <a:ext cx="2914650" cy="2295525"/>
          </a:xfrm>
          <a:prstGeom prst="rect">
            <a:avLst/>
          </a:prstGeom>
        </p:spPr>
      </p:pic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黑体" pitchFamily="49" charset="-122"/>
              </a:rPr>
              <a:t>[P177</a:t>
            </a:r>
            <a:r>
              <a:rPr lang="zh-CN" altLang="en-US" sz="3600" dirty="0">
                <a:ea typeface="黑体" pitchFamily="49" charset="-122"/>
              </a:rPr>
              <a:t>例</a:t>
            </a:r>
            <a:r>
              <a:rPr lang="en-US" altLang="zh-CN" sz="3600" dirty="0">
                <a:ea typeface="黑体" pitchFamily="49" charset="-122"/>
              </a:rPr>
              <a:t>2]</a:t>
            </a:r>
            <a:r>
              <a:rPr lang="zh-CN" altLang="en-US" sz="4000" dirty="0">
                <a:solidFill>
                  <a:srgbClr val="008000"/>
                </a:solidFill>
                <a:ea typeface="黑体" pitchFamily="49" charset="-122"/>
              </a:rPr>
              <a:t>求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en-US" sz="40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en-US" sz="40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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sz="4000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sz="4000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en-US" sz="4000" dirty="0" err="1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4000" dirty="0" err="1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)</a:t>
            </a:r>
          </a:p>
        </p:txBody>
      </p:sp>
      <p:graphicFrame>
        <p:nvGraphicFramePr>
          <p:cNvPr id="20484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1524000" y="1484313"/>
          <a:ext cx="4032250" cy="315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52600" imgH="1371600" progId="Equation.3">
                  <p:embed/>
                </p:oleObj>
              </mc:Choice>
              <mc:Fallback>
                <p:oleObj name="公式" r:id="rId3" imgW="1752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484313"/>
                        <a:ext cx="4032250" cy="315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4224338" y="3716339"/>
          <a:ext cx="6443662" cy="293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009900" imgH="1371600" progId="Equation.3">
                  <p:embed/>
                </p:oleObj>
              </mc:Choice>
              <mc:Fallback>
                <p:oleObj name="公式" r:id="rId5" imgW="30099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3716339"/>
                        <a:ext cx="6443662" cy="293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349052" y="1484313"/>
            <a:ext cx="5832648" cy="999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A=[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很高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]=(0,0.04,0.49,0.81,1,1)</a:t>
            </a:r>
          </a:p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B=[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很重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]=(0,0.04,0.36,0.64,0.9,1,1)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602ACA0-E29D-651C-0CD3-19D382DE3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5F706F-8DDC-404F-A8E0-F4FFD0110F38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756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黑体" pitchFamily="49" charset="-122"/>
              </a:rPr>
              <a:t>[P177</a:t>
            </a:r>
            <a:r>
              <a:rPr lang="zh-CN" altLang="en-US" sz="3600" dirty="0">
                <a:ea typeface="黑体" pitchFamily="49" charset="-122"/>
              </a:rPr>
              <a:t>例</a:t>
            </a:r>
            <a:r>
              <a:rPr lang="en-US" altLang="zh-CN" sz="3600" dirty="0">
                <a:ea typeface="黑体" pitchFamily="49" charset="-122"/>
              </a:rPr>
              <a:t>2]</a:t>
            </a:r>
            <a:r>
              <a:rPr lang="zh-CN" altLang="en-US" sz="4000" dirty="0">
                <a:solidFill>
                  <a:srgbClr val="008000"/>
                </a:solidFill>
                <a:ea typeface="黑体" pitchFamily="49" charset="-122"/>
              </a:rPr>
              <a:t>求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en-US" sz="40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en-US" sz="4000" dirty="0">
                <a:solidFill>
                  <a:srgbClr val="F40802"/>
                </a:solidFill>
                <a:ea typeface="黑体" pitchFamily="49" charset="-122"/>
                <a:sym typeface="Symbol"/>
              </a:rPr>
              <a:t>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sz="4000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sz="4000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en-US" sz="4000" dirty="0" err="1">
                <a:solidFill>
                  <a:srgbClr val="F40802"/>
                </a:solidFill>
                <a:ea typeface="黑体" pitchFamily="49" charset="-122"/>
                <a:sym typeface="Symbol"/>
              </a:rPr>
              <a:t></a:t>
            </a:r>
            <a:r>
              <a:rPr lang="en-US" altLang="zh-CN" sz="4000" dirty="0" err="1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en-US" altLang="zh-CN" sz="4000" dirty="0">
                <a:solidFill>
                  <a:srgbClr val="F40802"/>
                </a:solidFill>
                <a:ea typeface="黑体" pitchFamily="49" charset="-122"/>
              </a:rPr>
              <a:t>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6878" y="1341439"/>
            <a:ext cx="8075613" cy="5032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R=(A</a:t>
            </a:r>
            <a:r>
              <a:rPr lang="en-US" altLang="en-US" sz="2800" dirty="0">
                <a:ea typeface="黑体" pitchFamily="49" charset="-122"/>
                <a:sym typeface="Symbol"/>
              </a:rPr>
              <a:t></a:t>
            </a:r>
            <a:r>
              <a:rPr lang="en-US" altLang="zh-CN" sz="2800" dirty="0">
                <a:ea typeface="黑体" pitchFamily="49" charset="-122"/>
              </a:rPr>
              <a:t>B)</a:t>
            </a:r>
            <a:r>
              <a:rPr lang="en-US" altLang="en-US" sz="2800" dirty="0">
                <a:ea typeface="黑体" pitchFamily="49" charset="-122"/>
                <a:sym typeface="Symbol"/>
              </a:rPr>
              <a:t></a:t>
            </a:r>
            <a:r>
              <a:rPr lang="en-US" altLang="zh-CN" sz="2800" dirty="0">
                <a:ea typeface="黑体" pitchFamily="49" charset="-122"/>
              </a:rPr>
              <a:t>(</a:t>
            </a:r>
            <a:r>
              <a:rPr lang="en-US" altLang="zh-CN" sz="2800" dirty="0" err="1">
                <a:ea typeface="黑体" pitchFamily="49" charset="-122"/>
              </a:rPr>
              <a:t>A</a:t>
            </a:r>
            <a:r>
              <a:rPr lang="en-US" altLang="zh-CN" sz="2800" baseline="30000" dirty="0" err="1">
                <a:ea typeface="黑体" pitchFamily="49" charset="-122"/>
              </a:rPr>
              <a:t>c</a:t>
            </a:r>
            <a:r>
              <a:rPr lang="en-US" altLang="en-US" sz="2800" dirty="0" err="1">
                <a:ea typeface="黑体" pitchFamily="49" charset="-122"/>
                <a:sym typeface="Symbol"/>
              </a:rPr>
              <a:t></a:t>
            </a:r>
            <a:r>
              <a:rPr lang="en-US" altLang="zh-CN" sz="2800" dirty="0" err="1">
                <a:ea typeface="黑体" pitchFamily="49" charset="-122"/>
              </a:rPr>
              <a:t>Y</a:t>
            </a:r>
            <a:r>
              <a:rPr lang="en-US" altLang="zh-CN" sz="2800" dirty="0">
                <a:ea typeface="黑体" pitchFamily="49" charset="-122"/>
              </a:rPr>
              <a:t>)</a:t>
            </a:r>
          </a:p>
        </p:txBody>
      </p:sp>
      <p:graphicFrame>
        <p:nvGraphicFramePr>
          <p:cNvPr id="2355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0263251"/>
              </p:ext>
            </p:extLst>
          </p:nvPr>
        </p:nvGraphicFramePr>
        <p:xfrm>
          <a:off x="1487240" y="1989139"/>
          <a:ext cx="6767512" cy="308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009900" imgH="1371600" progId="Equation.3">
                  <p:embed/>
                </p:oleObj>
              </mc:Choice>
              <mc:Fallback>
                <p:oleObj name="公式" r:id="rId3" imgW="30099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240" y="1989139"/>
                        <a:ext cx="6767512" cy="308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6"/>
          <p:cNvSpPr txBox="1">
            <a:spLocks noChangeArrowheads="1"/>
          </p:cNvSpPr>
          <p:nvPr/>
        </p:nvSpPr>
        <p:spPr bwMode="auto">
          <a:xfrm>
            <a:off x="1992314" y="5516563"/>
            <a:ext cx="8207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609600" y="5072064"/>
            <a:ext cx="10513168" cy="181588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“</a:t>
            </a:r>
            <a:r>
              <a:rPr lang="en-US" altLang="zh-CN" sz="2800" b="1" u="sng" dirty="0">
                <a:solidFill>
                  <a:srgbClr val="3333FF"/>
                </a:solidFill>
                <a:ea typeface="楷体_GB2312" pitchFamily="49" charset="-122"/>
              </a:rPr>
              <a:t>x</a:t>
            </a:r>
            <a:r>
              <a:rPr lang="zh-CN" altLang="en-US" sz="2800" b="1" u="sng" dirty="0">
                <a:solidFill>
                  <a:srgbClr val="3333FF"/>
                </a:solidFill>
                <a:ea typeface="楷体_GB2312" pitchFamily="49" charset="-122"/>
              </a:rPr>
              <a:t>很高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”，则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x=1.8m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以上；“</a:t>
            </a:r>
            <a:r>
              <a:rPr lang="en-US" altLang="zh-CN" sz="2800" b="1" u="sng" dirty="0">
                <a:solidFill>
                  <a:srgbClr val="3333FF"/>
                </a:solidFill>
                <a:ea typeface="楷体_GB2312" pitchFamily="49" charset="-122"/>
              </a:rPr>
              <a:t>y</a:t>
            </a:r>
            <a:r>
              <a:rPr lang="zh-CN" altLang="en-US" sz="2800" b="1" u="sng" dirty="0">
                <a:solidFill>
                  <a:srgbClr val="3333FF"/>
                </a:solidFill>
                <a:ea typeface="楷体_GB2312" pitchFamily="49" charset="-122"/>
              </a:rPr>
              <a:t>很重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”，则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y=70kg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以上。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ea typeface="黑体" pitchFamily="49" charset="-122"/>
              </a:rPr>
              <a:t>这时，</a:t>
            </a:r>
            <a:r>
              <a:rPr lang="en-US" altLang="zh-CN" sz="2800" dirty="0">
                <a:ea typeface="黑体" pitchFamily="49" charset="-122"/>
              </a:rPr>
              <a:t>(x,y)</a:t>
            </a:r>
            <a:r>
              <a:rPr lang="zh-CN" altLang="en-US" sz="2800" dirty="0">
                <a:ea typeface="黑体" pitchFamily="49" charset="-122"/>
              </a:rPr>
              <a:t>对推理句“</a:t>
            </a:r>
            <a:r>
              <a:rPr lang="zh-CN" altLang="en-US" sz="2800" b="1" u="sng" dirty="0">
                <a:solidFill>
                  <a:srgbClr val="008000"/>
                </a:solidFill>
                <a:ea typeface="楷体_GB2312" pitchFamily="49" charset="-122"/>
              </a:rPr>
              <a:t>若</a:t>
            </a:r>
            <a:r>
              <a:rPr lang="en-US" altLang="zh-CN" sz="2800" b="1" u="sng" dirty="0">
                <a:solidFill>
                  <a:srgbClr val="008000"/>
                </a:solidFill>
                <a:ea typeface="楷体_GB2312" pitchFamily="49" charset="-122"/>
              </a:rPr>
              <a:t>x</a:t>
            </a:r>
            <a:r>
              <a:rPr lang="zh-CN" altLang="en-US" sz="2800" b="1" u="sng" dirty="0">
                <a:solidFill>
                  <a:srgbClr val="008000"/>
                </a:solidFill>
                <a:ea typeface="楷体_GB2312" pitchFamily="49" charset="-122"/>
              </a:rPr>
              <a:t>很高，则</a:t>
            </a:r>
            <a:r>
              <a:rPr lang="en-US" altLang="zh-CN" sz="2800" b="1" u="sng" dirty="0">
                <a:solidFill>
                  <a:srgbClr val="008000"/>
                </a:solidFill>
                <a:ea typeface="楷体_GB2312" pitchFamily="49" charset="-122"/>
              </a:rPr>
              <a:t>y</a:t>
            </a:r>
            <a:r>
              <a:rPr lang="zh-CN" altLang="en-US" sz="2800" b="1" u="sng" dirty="0">
                <a:solidFill>
                  <a:srgbClr val="008000"/>
                </a:solidFill>
                <a:ea typeface="楷体_GB2312" pitchFamily="49" charset="-122"/>
              </a:rPr>
              <a:t>很重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”</a:t>
            </a:r>
            <a:r>
              <a:rPr lang="zh-CN" altLang="en-US" sz="2800" dirty="0">
                <a:ea typeface="黑体" pitchFamily="49" charset="-122"/>
              </a:rPr>
              <a:t>为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真</a:t>
            </a:r>
            <a:r>
              <a:rPr lang="zh-CN" altLang="en-US" sz="2800" dirty="0">
                <a:ea typeface="黑体" pitchFamily="49" charset="-122"/>
              </a:rPr>
              <a:t>。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ea typeface="黑体" pitchFamily="49" charset="-122"/>
              </a:rPr>
              <a:t>由推理句的真域</a:t>
            </a:r>
            <a:r>
              <a:rPr lang="en-US" altLang="zh-CN" sz="2800" dirty="0">
                <a:ea typeface="黑体" pitchFamily="49" charset="-122"/>
              </a:rPr>
              <a:t>R</a:t>
            </a:r>
            <a:r>
              <a:rPr lang="zh-CN" altLang="en-US" sz="2800" dirty="0">
                <a:ea typeface="黑体" pitchFamily="49" charset="-122"/>
              </a:rPr>
              <a:t>也反映了这个事实：如</a:t>
            </a:r>
            <a:r>
              <a:rPr lang="en-US" altLang="zh-CN" sz="2800" dirty="0">
                <a:ea typeface="黑体" pitchFamily="49" charset="-122"/>
              </a:rPr>
              <a:t>R(1.8, 70)=0.64&gt;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  <a:cs typeface="Arial" charset="0"/>
              </a:rPr>
              <a:t>½</a:t>
            </a:r>
            <a:r>
              <a:rPr lang="zh-CN" altLang="en-US" sz="2800" dirty="0">
                <a:ea typeface="黑体" pitchFamily="49" charset="-122"/>
              </a:rPr>
              <a:t>为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真</a:t>
            </a:r>
          </a:p>
        </p:txBody>
      </p: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4584452" y="3500439"/>
            <a:ext cx="863600" cy="504825"/>
          </a:xfrm>
          <a:prstGeom prst="ellipse">
            <a:avLst/>
          </a:prstGeom>
          <a:noFill/>
          <a:ln w="57150">
            <a:solidFill>
              <a:srgbClr val="F408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055440" y="1844824"/>
            <a:ext cx="64819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zh-CN" sz="2000" dirty="0">
                <a:solidFill>
                  <a:srgbClr val="3333FF"/>
                </a:solidFill>
              </a:rPr>
              <a:t>1.5</a:t>
            </a:r>
          </a:p>
          <a:p>
            <a:pPr>
              <a:lnSpc>
                <a:spcPct val="170000"/>
              </a:lnSpc>
            </a:pPr>
            <a:r>
              <a:rPr lang="en-US" altLang="zh-CN" sz="2000" dirty="0">
                <a:solidFill>
                  <a:srgbClr val="3333FF"/>
                </a:solidFill>
              </a:rPr>
              <a:t>1.61.7</a:t>
            </a:r>
          </a:p>
          <a:p>
            <a:pPr>
              <a:lnSpc>
                <a:spcPct val="170000"/>
              </a:lnSpc>
            </a:pPr>
            <a:r>
              <a:rPr lang="en-US" altLang="zh-CN" sz="2000" dirty="0">
                <a:solidFill>
                  <a:srgbClr val="3333FF"/>
                </a:solidFill>
              </a:rPr>
              <a:t>1.8</a:t>
            </a:r>
          </a:p>
          <a:p>
            <a:pPr>
              <a:lnSpc>
                <a:spcPct val="170000"/>
              </a:lnSpc>
            </a:pPr>
            <a:r>
              <a:rPr lang="en-US" altLang="zh-CN" sz="2000" dirty="0">
                <a:solidFill>
                  <a:srgbClr val="3333FF"/>
                </a:solidFill>
              </a:rPr>
              <a:t>1.9</a:t>
            </a:r>
          </a:p>
          <a:p>
            <a:pPr>
              <a:lnSpc>
                <a:spcPct val="170000"/>
              </a:lnSpc>
            </a:pPr>
            <a:r>
              <a:rPr lang="en-US" altLang="zh-CN" sz="2000" dirty="0">
                <a:solidFill>
                  <a:srgbClr val="3333FF"/>
                </a:solidFill>
              </a:rPr>
              <a:t>2.0</a:t>
            </a:r>
            <a:endParaRPr lang="zh-CN" altLang="en-US" sz="2000" dirty="0">
              <a:solidFill>
                <a:srgbClr val="3333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9660" y="1673672"/>
            <a:ext cx="6696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CC00CC"/>
                </a:solidFill>
              </a:rPr>
              <a:t>40         50         60         70         80         90        100</a:t>
            </a:r>
            <a:endParaRPr lang="zh-CN" altLang="en-US" sz="2000" dirty="0">
              <a:solidFill>
                <a:srgbClr val="CC00CC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54752" y="1208336"/>
            <a:ext cx="4105944" cy="740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000" dirty="0">
                <a:solidFill>
                  <a:srgbClr val="3333FF"/>
                </a:solidFill>
                <a:ea typeface="黑体" pitchFamily="49" charset="-122"/>
              </a:rPr>
              <a:t>[</a:t>
            </a:r>
            <a:r>
              <a:rPr lang="zh-CN" altLang="en-US" sz="2000" dirty="0">
                <a:solidFill>
                  <a:srgbClr val="3333FF"/>
                </a:solidFill>
                <a:ea typeface="黑体" pitchFamily="49" charset="-122"/>
              </a:rPr>
              <a:t>很高</a:t>
            </a:r>
            <a:r>
              <a:rPr lang="en-US" altLang="zh-CN" sz="2000" dirty="0">
                <a:solidFill>
                  <a:srgbClr val="3333FF"/>
                </a:solidFill>
                <a:ea typeface="黑体" pitchFamily="49" charset="-122"/>
              </a:rPr>
              <a:t>]=(0,0.04,0.49,</a:t>
            </a:r>
            <a:r>
              <a:rPr lang="en-US" altLang="zh-CN" sz="2000" dirty="0">
                <a:solidFill>
                  <a:srgbClr val="F40802"/>
                </a:solidFill>
                <a:ea typeface="黑体" pitchFamily="49" charset="-122"/>
              </a:rPr>
              <a:t>0.81</a:t>
            </a:r>
            <a:r>
              <a:rPr lang="en-US" altLang="zh-CN" sz="2000" dirty="0">
                <a:solidFill>
                  <a:srgbClr val="3333FF"/>
                </a:solidFill>
                <a:ea typeface="黑体" pitchFamily="49" charset="-122"/>
              </a:rPr>
              <a:t>,1,1)</a:t>
            </a:r>
          </a:p>
          <a:p>
            <a:pPr algn="l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000" dirty="0">
                <a:solidFill>
                  <a:srgbClr val="3333FF"/>
                </a:solidFill>
                <a:ea typeface="黑体" pitchFamily="49" charset="-122"/>
              </a:rPr>
              <a:t>[</a:t>
            </a:r>
            <a:r>
              <a:rPr lang="zh-CN" altLang="en-US" sz="2000" dirty="0">
                <a:solidFill>
                  <a:srgbClr val="3333FF"/>
                </a:solidFill>
                <a:ea typeface="黑体" pitchFamily="49" charset="-122"/>
              </a:rPr>
              <a:t>很重</a:t>
            </a:r>
            <a:r>
              <a:rPr lang="en-US" altLang="zh-CN" sz="2000" dirty="0">
                <a:solidFill>
                  <a:srgbClr val="3333FF"/>
                </a:solidFill>
                <a:ea typeface="黑体" pitchFamily="49" charset="-122"/>
              </a:rPr>
              <a:t>]=(0,0.04,0.36,</a:t>
            </a:r>
            <a:r>
              <a:rPr lang="en-US" altLang="zh-CN" sz="2000" dirty="0">
                <a:solidFill>
                  <a:srgbClr val="F40802"/>
                </a:solidFill>
                <a:ea typeface="黑体" pitchFamily="49" charset="-122"/>
              </a:rPr>
              <a:t>0.64</a:t>
            </a:r>
            <a:r>
              <a:rPr lang="en-US" altLang="zh-CN" sz="2000" dirty="0">
                <a:solidFill>
                  <a:srgbClr val="3333FF"/>
                </a:solidFill>
                <a:ea typeface="黑体" pitchFamily="49" charset="-122"/>
              </a:rPr>
              <a:t>,0.9,1,1)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0503BDE-83A1-5B82-F184-A0AE05C40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20536" y="6248400"/>
            <a:ext cx="661864" cy="457200"/>
          </a:xfrm>
        </p:spPr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40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5493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1" grpId="0" animBg="1"/>
      <p:bldP spid="2" grpId="0"/>
      <p:bldP spid="4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7.7  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似然推理与条件语句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73239"/>
            <a:ext cx="9288710" cy="46878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ea typeface="黑体" pitchFamily="49" charset="-122"/>
              </a:rPr>
              <a:t>已知“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b="1" u="sng" dirty="0">
                <a:solidFill>
                  <a:srgbClr val="3333FF"/>
                </a:solidFill>
                <a:ea typeface="楷体_GB2312" pitchFamily="49" charset="-122"/>
              </a:rPr>
              <a:t>x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小，则</a:t>
            </a:r>
            <a:r>
              <a:rPr lang="en-US" altLang="zh-CN" b="1" u="sng" dirty="0">
                <a:solidFill>
                  <a:srgbClr val="3333FF"/>
                </a:solidFill>
                <a:ea typeface="楷体_GB2312" pitchFamily="49" charset="-122"/>
              </a:rPr>
              <a:t>y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大</a:t>
            </a:r>
            <a:r>
              <a:rPr lang="zh-CN" altLang="en-US" dirty="0">
                <a:ea typeface="黑体" pitchFamily="49" charset="-122"/>
              </a:rPr>
              <a:t>”，</a:t>
            </a:r>
            <a:r>
              <a:rPr lang="en-US" altLang="zh-CN" dirty="0">
                <a:ea typeface="黑体" pitchFamily="49" charset="-122"/>
              </a:rPr>
              <a:t>(x,y</a:t>
            </a:r>
            <a:r>
              <a:rPr lang="zh-CN" altLang="en-US" dirty="0">
                <a:ea typeface="黑体" pitchFamily="49" charset="-122"/>
              </a:rPr>
              <a:t>的真域分别为</a:t>
            </a:r>
            <a:r>
              <a:rPr lang="en-US" altLang="zh-CN" dirty="0">
                <a:ea typeface="黑体" pitchFamily="49" charset="-122"/>
              </a:rPr>
              <a:t>A,B)</a:t>
            </a:r>
            <a:r>
              <a:rPr lang="zh-CN" altLang="en-US" dirty="0">
                <a:ea typeface="黑体" pitchFamily="49" charset="-122"/>
              </a:rPr>
              <a:t>常用近似推理方法：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8000"/>
                </a:solidFill>
                <a:ea typeface="华文楷体" pitchFamily="2" charset="-122"/>
              </a:rPr>
              <a:t>若</a:t>
            </a:r>
            <a:r>
              <a:rPr lang="en-US" altLang="zh-CN" b="1" dirty="0">
                <a:solidFill>
                  <a:srgbClr val="008000"/>
                </a:solidFill>
                <a:ea typeface="华文楷体" pitchFamily="2" charset="-122"/>
              </a:rPr>
              <a:t>x</a:t>
            </a:r>
            <a:r>
              <a:rPr lang="zh-CN" altLang="en-US" b="1" dirty="0">
                <a:solidFill>
                  <a:srgbClr val="008000"/>
                </a:solidFill>
                <a:ea typeface="华文楷体" pitchFamily="2" charset="-122"/>
              </a:rPr>
              <a:t>很小</a:t>
            </a:r>
            <a:r>
              <a:rPr lang="zh-CN" altLang="en-US" b="1" dirty="0">
                <a:solidFill>
                  <a:srgbClr val="008000"/>
                </a:solidFill>
                <a:ea typeface="华文楷体" pitchFamily="2" charset="-122"/>
                <a:sym typeface="Symbol"/>
              </a:rPr>
              <a:t></a:t>
            </a:r>
            <a:r>
              <a:rPr lang="en-US" altLang="zh-CN" b="1" dirty="0">
                <a:solidFill>
                  <a:srgbClr val="008000"/>
                </a:solidFill>
                <a:ea typeface="华文楷体" pitchFamily="2" charset="-122"/>
              </a:rPr>
              <a:t>y</a:t>
            </a:r>
            <a:r>
              <a:rPr lang="zh-CN" altLang="en-US" b="1" dirty="0">
                <a:solidFill>
                  <a:srgbClr val="008000"/>
                </a:solidFill>
                <a:ea typeface="华文楷体" pitchFamily="2" charset="-122"/>
              </a:rPr>
              <a:t>很大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8000"/>
                </a:solidFill>
                <a:ea typeface="华文楷体" pitchFamily="2" charset="-122"/>
              </a:rPr>
              <a:t>若</a:t>
            </a:r>
            <a:r>
              <a:rPr lang="en-US" altLang="zh-CN" b="1" dirty="0">
                <a:solidFill>
                  <a:srgbClr val="008000"/>
                </a:solidFill>
                <a:ea typeface="华文楷体" pitchFamily="2" charset="-122"/>
              </a:rPr>
              <a:t>x</a:t>
            </a:r>
            <a:r>
              <a:rPr lang="zh-CN" altLang="en-US" b="1" dirty="0">
                <a:solidFill>
                  <a:srgbClr val="008000"/>
                </a:solidFill>
                <a:ea typeface="华文楷体" pitchFamily="2" charset="-122"/>
              </a:rPr>
              <a:t>略小</a:t>
            </a:r>
            <a:r>
              <a:rPr lang="zh-CN" altLang="en-US" b="1" dirty="0">
                <a:solidFill>
                  <a:srgbClr val="008000"/>
                </a:solidFill>
                <a:ea typeface="华文楷体" pitchFamily="2" charset="-122"/>
                <a:sym typeface="Symbol"/>
              </a:rPr>
              <a:t></a:t>
            </a:r>
            <a:r>
              <a:rPr lang="en-US" altLang="zh-CN" b="1" dirty="0">
                <a:solidFill>
                  <a:srgbClr val="008000"/>
                </a:solidFill>
                <a:ea typeface="华文楷体" pitchFamily="2" charset="-122"/>
              </a:rPr>
              <a:t>y</a:t>
            </a:r>
            <a:r>
              <a:rPr lang="zh-CN" altLang="en-US" b="1" dirty="0">
                <a:solidFill>
                  <a:srgbClr val="008000"/>
                </a:solidFill>
                <a:ea typeface="华文楷体" pitchFamily="2" charset="-122"/>
              </a:rPr>
              <a:t>略大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此推理过程可看作是一种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变换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从已知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B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，变换到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A’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/>
              </a:rPr>
              <a:t>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B’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ea typeface="黑体" pitchFamily="49" charset="-122"/>
              </a:rPr>
              <a:t>此推理过程叫</a:t>
            </a:r>
            <a:r>
              <a:rPr lang="en-US" altLang="zh-CN" dirty="0">
                <a:ea typeface="黑体" pitchFamily="49" charset="-122"/>
              </a:rPr>
              <a:t>——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似然推理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D84429-EFA1-CD3A-65B9-D95F3214D8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499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似然推理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84313"/>
            <a:ext cx="9649072" cy="4176712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49" charset="-122"/>
              </a:rPr>
              <a:t>设</a:t>
            </a:r>
            <a:r>
              <a:rPr lang="en-US" altLang="zh-CN" sz="2800" dirty="0">
                <a:ea typeface="黑体" pitchFamily="49" charset="-122"/>
              </a:rPr>
              <a:t>R</a:t>
            </a:r>
            <a:r>
              <a:rPr lang="en-US" altLang="zh-CN" sz="2800" dirty="0">
                <a:ea typeface="黑体" pitchFamily="49" charset="-122"/>
                <a:sym typeface="Symbol"/>
              </a:rPr>
              <a:t></a:t>
            </a:r>
            <a:r>
              <a:rPr lang="en-US" altLang="zh-CN" sz="2800" dirty="0"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sz="2800" dirty="0">
                <a:ea typeface="黑体" pitchFamily="49" charset="-122"/>
              </a:rPr>
              <a:t>(X</a:t>
            </a:r>
            <a:r>
              <a:rPr lang="en-US" altLang="zh-CN" sz="2800" dirty="0">
                <a:ea typeface="黑体" pitchFamily="49" charset="-122"/>
                <a:sym typeface="Symbol"/>
              </a:rPr>
              <a:t></a:t>
            </a:r>
            <a:r>
              <a:rPr lang="en-US" altLang="zh-CN" sz="2800" dirty="0">
                <a:ea typeface="黑体" pitchFamily="49" charset="-122"/>
              </a:rPr>
              <a:t>Y)</a:t>
            </a:r>
            <a:r>
              <a:rPr lang="zh-CN" altLang="en-US" sz="2800" dirty="0">
                <a:ea typeface="黑体" pitchFamily="49" charset="-122"/>
              </a:rPr>
              <a:t>为“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若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x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是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a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，则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y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是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b</a:t>
            </a:r>
            <a:r>
              <a:rPr lang="en-US" altLang="zh-CN" sz="2800" dirty="0">
                <a:ea typeface="黑体" pitchFamily="49" charset="-122"/>
              </a:rPr>
              <a:t>”</a:t>
            </a:r>
            <a:r>
              <a:rPr lang="zh-CN" altLang="en-US" sz="2800" dirty="0">
                <a:ea typeface="黑体" pitchFamily="49" charset="-122"/>
              </a:rPr>
              <a:t>的真域</a:t>
            </a:r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则从</a:t>
            </a:r>
            <a:r>
              <a:rPr lang="en-US" altLang="zh-CN" sz="2800" dirty="0">
                <a:ea typeface="黑体" pitchFamily="49" charset="-122"/>
              </a:rPr>
              <a:t>X</a:t>
            </a:r>
            <a:r>
              <a:rPr lang="zh-CN" altLang="en-US" sz="2800" dirty="0">
                <a:ea typeface="黑体" pitchFamily="49" charset="-122"/>
              </a:rPr>
              <a:t>到</a:t>
            </a:r>
            <a:r>
              <a:rPr lang="en-US" altLang="zh-CN" sz="2800" dirty="0">
                <a:ea typeface="黑体" pitchFamily="49" charset="-122"/>
              </a:rPr>
              <a:t>Y</a:t>
            </a:r>
            <a:r>
              <a:rPr lang="zh-CN" altLang="en-US" sz="2800" dirty="0">
                <a:ea typeface="黑体" pitchFamily="49" charset="-122"/>
              </a:rPr>
              <a:t>的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关系就可决定一个从</a:t>
            </a:r>
            <a:r>
              <a:rPr lang="en-US" altLang="zh-CN" sz="2800" dirty="0">
                <a:ea typeface="黑体" pitchFamily="49" charset="-122"/>
              </a:rPr>
              <a:t>X</a:t>
            </a:r>
            <a:r>
              <a:rPr lang="zh-CN" altLang="en-US" sz="2800" dirty="0">
                <a:ea typeface="黑体" pitchFamily="49" charset="-122"/>
              </a:rPr>
              <a:t>到</a:t>
            </a:r>
            <a:r>
              <a:rPr lang="en-US" altLang="zh-CN" sz="2800" dirty="0">
                <a:ea typeface="黑体" pitchFamily="49" charset="-122"/>
              </a:rPr>
              <a:t>Y</a:t>
            </a:r>
            <a:r>
              <a:rPr lang="zh-CN" altLang="en-US" sz="2800" dirty="0">
                <a:ea typeface="黑体" pitchFamily="49" charset="-122"/>
              </a:rPr>
              <a:t>的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变换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    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R</a:t>
            </a:r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：</a:t>
            </a:r>
            <a:r>
              <a:rPr lang="en-US" altLang="zh-CN" dirty="0">
                <a:solidFill>
                  <a:srgbClr val="F40802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(X) </a:t>
            </a:r>
            <a:r>
              <a:rPr lang="en-US" altLang="en-US" sz="3600" dirty="0">
                <a:solidFill>
                  <a:srgbClr val="F40802"/>
                </a:solidFill>
                <a:ea typeface="黑体" pitchFamily="49" charset="-122"/>
              </a:rPr>
              <a:t>→</a:t>
            </a:r>
            <a:r>
              <a:rPr lang="en-US" altLang="zh-CN" dirty="0">
                <a:solidFill>
                  <a:srgbClr val="F40802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(Y)        A’ </a:t>
            </a:r>
            <a:r>
              <a:rPr kumimoji="1" lang="en-US" altLang="zh-CN" sz="3600" b="1" dirty="0">
                <a:sym typeface="Symbol" pitchFamily="18" charset="2"/>
              </a:rPr>
              <a:t> 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B’=A’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  <a:cs typeface="Arial" charset="0"/>
              </a:rPr>
              <a:t>◦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其中，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B’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的隶属函数为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/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这里，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关系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R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可看成转换器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——</a:t>
            </a:r>
          </a:p>
          <a:p>
            <a:pPr lvl="1" eaLnBrk="1" hangingPunct="1"/>
            <a:r>
              <a:rPr lang="zh-CN" altLang="en-US" b="1" dirty="0">
                <a:solidFill>
                  <a:srgbClr val="CC00CC"/>
                </a:solidFill>
                <a:ea typeface="华文楷体" pitchFamily="2" charset="-122"/>
              </a:rPr>
              <a:t>若输入</a:t>
            </a:r>
            <a:r>
              <a:rPr lang="en-US" altLang="zh-CN" b="1" dirty="0">
                <a:solidFill>
                  <a:srgbClr val="CC00CC"/>
                </a:solidFill>
                <a:ea typeface="华文楷体" pitchFamily="2" charset="-122"/>
              </a:rPr>
              <a:t>F</a:t>
            </a:r>
            <a:r>
              <a:rPr lang="zh-CN" altLang="en-US" b="1" dirty="0">
                <a:solidFill>
                  <a:srgbClr val="CC00CC"/>
                </a:solidFill>
                <a:ea typeface="华文楷体" pitchFamily="2" charset="-122"/>
              </a:rPr>
              <a:t>集</a:t>
            </a:r>
            <a:r>
              <a:rPr lang="en-US" altLang="zh-CN" b="1" dirty="0">
                <a:solidFill>
                  <a:srgbClr val="CC00CC"/>
                </a:solidFill>
                <a:ea typeface="华文楷体" pitchFamily="2" charset="-122"/>
              </a:rPr>
              <a:t>A’</a:t>
            </a:r>
            <a:r>
              <a:rPr lang="zh-CN" altLang="en-US" b="1" dirty="0">
                <a:solidFill>
                  <a:srgbClr val="CC00CC"/>
                </a:solidFill>
                <a:ea typeface="华文楷体" pitchFamily="2" charset="-122"/>
              </a:rPr>
              <a:t>，则经</a:t>
            </a:r>
            <a:r>
              <a:rPr lang="en-US" altLang="zh-CN" b="1" dirty="0">
                <a:solidFill>
                  <a:srgbClr val="CC00CC"/>
                </a:solidFill>
                <a:ea typeface="华文楷体" pitchFamily="2" charset="-122"/>
              </a:rPr>
              <a:t>R</a:t>
            </a:r>
            <a:r>
              <a:rPr lang="zh-CN" altLang="en-US" b="1" dirty="0">
                <a:solidFill>
                  <a:srgbClr val="CC00CC"/>
                </a:solidFill>
                <a:ea typeface="华文楷体" pitchFamily="2" charset="-122"/>
              </a:rPr>
              <a:t>变换（</a:t>
            </a:r>
            <a:r>
              <a:rPr lang="en-US" altLang="zh-CN" b="1" dirty="0">
                <a:solidFill>
                  <a:srgbClr val="CC00CC"/>
                </a:solidFill>
                <a:ea typeface="华文楷体" pitchFamily="2" charset="-122"/>
              </a:rPr>
              <a:t>A’◦R</a:t>
            </a:r>
            <a:r>
              <a:rPr lang="zh-CN" altLang="en-US" b="1" dirty="0">
                <a:solidFill>
                  <a:srgbClr val="CC00CC"/>
                </a:solidFill>
                <a:ea typeface="华文楷体" pitchFamily="2" charset="-122"/>
              </a:rPr>
              <a:t>）后得输出</a:t>
            </a:r>
            <a:r>
              <a:rPr lang="en-US" altLang="zh-CN" b="1" dirty="0">
                <a:solidFill>
                  <a:srgbClr val="CC00CC"/>
                </a:solidFill>
                <a:ea typeface="华文楷体" pitchFamily="2" charset="-122"/>
              </a:rPr>
              <a:t>B’</a:t>
            </a:r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30228144"/>
              </p:ext>
            </p:extLst>
          </p:nvPr>
        </p:nvGraphicFramePr>
        <p:xfrm>
          <a:off x="2207568" y="3716338"/>
          <a:ext cx="70580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62731" imgH="266584" progId="Equation.3">
                  <p:embed/>
                </p:oleObj>
              </mc:Choice>
              <mc:Fallback>
                <p:oleObj name="公式" r:id="rId2" imgW="2462731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716338"/>
                        <a:ext cx="7058025" cy="7620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6" y="5600700"/>
            <a:ext cx="517207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FCAAE8-57A8-6210-199C-6DDB7DD5EF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42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810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3375"/>
            <a:ext cx="8229600" cy="863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似然推理规则举例</a:t>
            </a:r>
            <a:r>
              <a:rPr lang="en-US" altLang="zh-CN" sz="3600" dirty="0">
                <a:ea typeface="黑体" pitchFamily="49" charset="-122"/>
              </a:rPr>
              <a:t>[P180</a:t>
            </a:r>
            <a:r>
              <a:rPr lang="zh-CN" altLang="en-US" sz="3600">
                <a:ea typeface="黑体" pitchFamily="49" charset="-122"/>
              </a:rPr>
              <a:t>例</a:t>
            </a:r>
            <a:r>
              <a:rPr lang="en-US" altLang="zh-CN" sz="3600" dirty="0">
                <a:ea typeface="黑体" pitchFamily="49" charset="-122"/>
              </a:rPr>
              <a:t>1]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0115" y="1268414"/>
            <a:ext cx="10380461" cy="45989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X=Y={1,2,3,4,5}</a:t>
            </a:r>
            <a:r>
              <a:rPr lang="zh-CN" altLang="en-US" dirty="0">
                <a:ea typeface="黑体" pitchFamily="49" charset="-122"/>
              </a:rPr>
              <a:t>，小、较小和大的定义如下，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u="sng" dirty="0">
                <a:ea typeface="黑体" pitchFamily="49" charset="-122"/>
              </a:rPr>
              <a:t>“</a:t>
            </a:r>
            <a:r>
              <a:rPr lang="zh-CN" altLang="en-US" u="sng" dirty="0">
                <a:solidFill>
                  <a:srgbClr val="F40802"/>
                </a:solidFill>
                <a:ea typeface="黑体" pitchFamily="49" charset="-122"/>
              </a:rPr>
              <a:t>若</a:t>
            </a:r>
            <a:r>
              <a:rPr lang="en-US" altLang="zh-CN" u="sng" dirty="0">
                <a:solidFill>
                  <a:srgbClr val="F40802"/>
                </a:solidFill>
                <a:ea typeface="黑体" pitchFamily="49" charset="-122"/>
              </a:rPr>
              <a:t>x</a:t>
            </a:r>
            <a:r>
              <a:rPr lang="zh-CN" altLang="en-US" u="sng" dirty="0">
                <a:solidFill>
                  <a:srgbClr val="F40802"/>
                </a:solidFill>
                <a:ea typeface="黑体" pitchFamily="49" charset="-122"/>
              </a:rPr>
              <a:t>小则</a:t>
            </a:r>
            <a:r>
              <a:rPr lang="en-US" altLang="zh-CN" u="sng" dirty="0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zh-CN" altLang="en-US" u="sng" dirty="0">
                <a:solidFill>
                  <a:srgbClr val="F40802"/>
                </a:solidFill>
                <a:ea typeface="黑体" pitchFamily="49" charset="-122"/>
              </a:rPr>
              <a:t>大</a:t>
            </a:r>
            <a:r>
              <a:rPr lang="zh-CN" altLang="en-US" u="sng" dirty="0">
                <a:ea typeface="黑体" pitchFamily="49" charset="-122"/>
              </a:rPr>
              <a:t>”</a:t>
            </a:r>
            <a:r>
              <a:rPr lang="zh-CN" altLang="en-US" dirty="0">
                <a:ea typeface="黑体" pitchFamily="49" charset="-122"/>
              </a:rPr>
              <a:t>，已知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x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较小</a:t>
            </a:r>
            <a:r>
              <a:rPr lang="zh-CN" altLang="en-US" dirty="0">
                <a:ea typeface="黑体" pitchFamily="49" charset="-122"/>
              </a:rPr>
              <a:t>，问</a:t>
            </a:r>
            <a:r>
              <a:rPr lang="en-US" altLang="zh-CN" dirty="0">
                <a:ea typeface="黑体" pitchFamily="49" charset="-122"/>
              </a:rPr>
              <a:t>y</a:t>
            </a:r>
            <a:r>
              <a:rPr lang="zh-CN" altLang="en-US" dirty="0">
                <a:ea typeface="黑体" pitchFamily="49" charset="-122"/>
              </a:rPr>
              <a:t>如何？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解：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设</a:t>
            </a:r>
            <a:r>
              <a:rPr lang="en-US" altLang="zh-CN" sz="2800" dirty="0">
                <a:solidFill>
                  <a:srgbClr val="CC00CC"/>
                </a:solidFill>
              </a:rPr>
              <a:t>R=[</a:t>
            </a:r>
            <a:r>
              <a:rPr lang="zh-CN" altLang="en-US" sz="2800" dirty="0">
                <a:solidFill>
                  <a:srgbClr val="CC00CC"/>
                </a:solidFill>
              </a:rPr>
              <a:t>小</a:t>
            </a:r>
            <a:r>
              <a:rPr lang="en-US" altLang="zh-CN" sz="2800" dirty="0">
                <a:solidFill>
                  <a:srgbClr val="CC00CC"/>
                </a:solidFill>
              </a:rPr>
              <a:t>]→[</a:t>
            </a:r>
            <a:r>
              <a:rPr lang="zh-CN" altLang="en-US" sz="2800" dirty="0">
                <a:solidFill>
                  <a:srgbClr val="CC00CC"/>
                </a:solidFill>
              </a:rPr>
              <a:t>大</a:t>
            </a:r>
            <a:r>
              <a:rPr lang="en-US" altLang="zh-CN" sz="2800" dirty="0">
                <a:solidFill>
                  <a:srgbClr val="CC00CC"/>
                </a:solidFill>
              </a:rPr>
              <a:t>]= 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([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小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]×[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大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])</a:t>
            </a:r>
            <a:r>
              <a:rPr lang="en-US" altLang="en-US" sz="2800" dirty="0">
                <a:solidFill>
                  <a:srgbClr val="CC00CC"/>
                </a:solidFill>
                <a:ea typeface="黑体" pitchFamily="49" charset="-122"/>
                <a:sym typeface="Symbol" panose="05050102010706020507" pitchFamily="18" charset="2"/>
              </a:rPr>
              <a:t>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([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小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CC00CC"/>
                </a:solidFill>
                <a:ea typeface="黑体" pitchFamily="49" charset="-122"/>
              </a:rPr>
              <a:t>c</a:t>
            </a:r>
            <a:r>
              <a:rPr lang="en-US" altLang="en-US" sz="2800" dirty="0">
                <a:solidFill>
                  <a:srgbClr val="CC00CC"/>
                </a:solidFill>
                <a:ea typeface="黑体" pitchFamily="49" charset="-122"/>
              </a:rPr>
              <a:t>×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Y)</a:t>
            </a:r>
            <a:endParaRPr lang="en-US" altLang="zh-CN" dirty="0">
              <a:solidFill>
                <a:srgbClr val="CC00CC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40802"/>
              </a:solidFill>
            </a:endParaRPr>
          </a:p>
        </p:txBody>
      </p:sp>
      <p:graphicFrame>
        <p:nvGraphicFramePr>
          <p:cNvPr id="3277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863311171"/>
              </p:ext>
            </p:extLst>
          </p:nvPr>
        </p:nvGraphicFramePr>
        <p:xfrm>
          <a:off x="1992313" y="2516188"/>
          <a:ext cx="795655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29000" imgH="393700" progId="Equation.3">
                  <p:embed/>
                </p:oleObj>
              </mc:Choice>
              <mc:Fallback>
                <p:oleObj name="公式" r:id="rId2" imgW="3429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516188"/>
                        <a:ext cx="7956550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08214" y="3933826"/>
          <a:ext cx="8066087" cy="273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65500" imgH="1143000" progId="Equation.3">
                  <p:embed/>
                </p:oleObj>
              </mc:Choice>
              <mc:Fallback>
                <p:oleObj name="公式" r:id="rId4" imgW="33655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933826"/>
                        <a:ext cx="8066087" cy="273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813109-4F99-7C73-F665-F501EED447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617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似然推理规则举例</a:t>
            </a:r>
            <a:r>
              <a:rPr lang="en-US" altLang="zh-CN" sz="3600" dirty="0">
                <a:ea typeface="黑体" pitchFamily="49" charset="-122"/>
              </a:rPr>
              <a:t>[P180</a:t>
            </a:r>
            <a:r>
              <a:rPr lang="zh-CN" altLang="en-US" sz="3600">
                <a:ea typeface="黑体" pitchFamily="49" charset="-122"/>
              </a:rPr>
              <a:t>例</a:t>
            </a:r>
            <a:r>
              <a:rPr lang="en-US" altLang="zh-CN" sz="3600" dirty="0">
                <a:ea typeface="黑体" pitchFamily="49" charset="-122"/>
              </a:rPr>
              <a:t>1]</a:t>
            </a:r>
          </a:p>
        </p:txBody>
      </p:sp>
      <p:graphicFrame>
        <p:nvGraphicFramePr>
          <p:cNvPr id="3277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1847850" y="1700213"/>
          <a:ext cx="7632700" cy="256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03600" imgH="1143000" progId="Equation.3">
                  <p:embed/>
                </p:oleObj>
              </mc:Choice>
              <mc:Fallback>
                <p:oleObj name="公式" r:id="rId2" imgW="34036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700213"/>
                        <a:ext cx="7632700" cy="256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98908071"/>
              </p:ext>
            </p:extLst>
          </p:nvPr>
        </p:nvGraphicFramePr>
        <p:xfrm>
          <a:off x="6060141" y="4427538"/>
          <a:ext cx="4105275" cy="243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30400" imgH="1143000" progId="Equation.3">
                  <p:embed/>
                </p:oleObj>
              </mc:Choice>
              <mc:Fallback>
                <p:oleObj name="公式" r:id="rId4" imgW="19304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0141" y="4427538"/>
                        <a:ext cx="4105275" cy="243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1703389" y="5373688"/>
            <a:ext cx="45370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R= ([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小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]×[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大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])</a:t>
            </a:r>
            <a:r>
              <a:rPr lang="en-US" altLang="en-US" sz="2800" b="1" dirty="0">
                <a:solidFill>
                  <a:srgbClr val="CC00CC"/>
                </a:solidFill>
                <a:ea typeface="楷体_GB2312" pitchFamily="49" charset="-122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([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小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]</a:t>
            </a:r>
            <a:r>
              <a:rPr lang="en-US" altLang="zh-CN" sz="2800" b="1" baseline="30000" dirty="0" err="1">
                <a:solidFill>
                  <a:srgbClr val="CC00CC"/>
                </a:solidFill>
                <a:ea typeface="楷体_GB2312" pitchFamily="49" charset="-122"/>
              </a:rPr>
              <a:t>c</a:t>
            </a:r>
            <a:r>
              <a:rPr lang="en-US" altLang="en-US" sz="2800" b="1" dirty="0" err="1">
                <a:solidFill>
                  <a:srgbClr val="CC00CC"/>
                </a:solidFill>
                <a:ea typeface="楷体_GB2312" pitchFamily="49" charset="-122"/>
              </a:rPr>
              <a:t>×</a:t>
            </a:r>
            <a:r>
              <a:rPr lang="en-US" altLang="zh-CN" sz="2800" b="1" dirty="0" err="1">
                <a:solidFill>
                  <a:srgbClr val="CC00CC"/>
                </a:solidFill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B31CD8-7A72-C1B7-4E4F-D3CE42CA3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5F706F-8DDC-404F-A8E0-F4FFD0110F38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601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04665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似然推理规则举例</a:t>
            </a:r>
            <a:r>
              <a:rPr lang="en-US" altLang="zh-CN" sz="3600" dirty="0">
                <a:ea typeface="黑体" pitchFamily="49" charset="-122"/>
              </a:rPr>
              <a:t>[P180</a:t>
            </a:r>
            <a:r>
              <a:rPr lang="zh-CN" altLang="en-US" sz="3600" dirty="0">
                <a:ea typeface="黑体" pitchFamily="49" charset="-122"/>
              </a:rPr>
              <a:t>例</a:t>
            </a:r>
            <a:r>
              <a:rPr lang="en-US" altLang="zh-CN" sz="3600" dirty="0">
                <a:ea typeface="黑体" pitchFamily="49" charset="-122"/>
              </a:rPr>
              <a:t>1]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84314"/>
            <a:ext cx="9072240" cy="43830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由  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B’ =A’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  <a:cs typeface="Arial" charset="0"/>
              </a:rPr>
              <a:t>◦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R  </a:t>
            </a:r>
            <a:r>
              <a:rPr lang="zh-CN" altLang="en-US" sz="2800" dirty="0">
                <a:solidFill>
                  <a:srgbClr val="F40802"/>
                </a:solidFill>
                <a:ea typeface="黑体" pitchFamily="49" charset="-122"/>
              </a:rPr>
              <a:t>得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:</a:t>
            </a:r>
            <a:endParaRPr lang="zh-CN" altLang="en-US" sz="2800" dirty="0">
              <a:solidFill>
                <a:srgbClr val="F4080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</a:t>
            </a:r>
            <a:r>
              <a:rPr lang="en-US" altLang="zh-CN" sz="2800" dirty="0">
                <a:ea typeface="黑体" pitchFamily="49" charset="-122"/>
              </a:rPr>
              <a:t>(1,0.4,0.2,0,0) ◦R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4080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4080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solidFill>
                <a:srgbClr val="F4080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rgbClr val="F4080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40802"/>
                </a:solidFill>
                <a:ea typeface="黑体" pitchFamily="49" charset="-122"/>
              </a:rPr>
              <a:t>即  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40802"/>
                </a:solidFill>
                <a:ea typeface="黑体" pitchFamily="49" charset="-122"/>
              </a:rPr>
              <a:t>较小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] ◦[</a:t>
            </a:r>
            <a:r>
              <a:rPr lang="zh-CN" altLang="en-US" sz="2800" dirty="0">
                <a:solidFill>
                  <a:srgbClr val="F40802"/>
                </a:solidFill>
                <a:ea typeface="黑体" pitchFamily="49" charset="-122"/>
              </a:rPr>
              <a:t>若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x</a:t>
            </a:r>
            <a:r>
              <a:rPr lang="zh-CN" altLang="en-US" sz="2800" dirty="0">
                <a:solidFill>
                  <a:srgbClr val="F40802"/>
                </a:solidFill>
                <a:ea typeface="黑体" pitchFamily="49" charset="-122"/>
              </a:rPr>
              <a:t>小则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zh-CN" altLang="en-US" sz="2800" dirty="0">
                <a:solidFill>
                  <a:srgbClr val="F40802"/>
                </a:solidFill>
                <a:ea typeface="黑体" pitchFamily="49" charset="-122"/>
              </a:rPr>
              <a:t>大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rgbClr val="F40802"/>
                </a:solidFill>
                <a:ea typeface="黑体" pitchFamily="49" charset="-122"/>
              </a:rPr>
              <a:t>较大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故答案是：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当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x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较小时，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y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为较大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。则</a:t>
            </a:r>
            <a:endParaRPr lang="zh-CN" altLang="en-US" sz="2800" dirty="0">
              <a:solidFill>
                <a:schemeClr val="bg2"/>
              </a:solidFill>
            </a:endParaRPr>
          </a:p>
        </p:txBody>
      </p:sp>
      <p:graphicFrame>
        <p:nvGraphicFramePr>
          <p:cNvPr id="3686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750614838"/>
              </p:ext>
            </p:extLst>
          </p:nvPr>
        </p:nvGraphicFramePr>
        <p:xfrm>
          <a:off x="1847528" y="2360153"/>
          <a:ext cx="5808663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1143000" progId="Equation.DSMT4">
                  <p:embed/>
                </p:oleObj>
              </mc:Choice>
              <mc:Fallback>
                <p:oleObj name="Equation" r:id="rId2" imgW="280656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360153"/>
                        <a:ext cx="5808663" cy="236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866010493"/>
              </p:ext>
            </p:extLst>
          </p:nvPr>
        </p:nvGraphicFramePr>
        <p:xfrm>
          <a:off x="2855914" y="5752926"/>
          <a:ext cx="56165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82800" imgH="393700" progId="Equation.3">
                  <p:embed/>
                </p:oleObj>
              </mc:Choice>
              <mc:Fallback>
                <p:oleObj name="公式" r:id="rId4" imgW="2082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5752926"/>
                        <a:ext cx="561657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157121901"/>
              </p:ext>
            </p:extLst>
          </p:nvPr>
        </p:nvGraphicFramePr>
        <p:xfrm>
          <a:off x="8623300" y="1389358"/>
          <a:ext cx="315277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58640" imgH="393480" progId="Equation.3">
                  <p:embed/>
                </p:oleObj>
              </mc:Choice>
              <mc:Fallback>
                <p:oleObj name="公式" r:id="rId6" imgW="1358640" imgH="39348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300" y="1389358"/>
                        <a:ext cx="315277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22418CEE-8137-4036-8A05-89ECFD2F82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718911"/>
              </p:ext>
            </p:extLst>
          </p:nvPr>
        </p:nvGraphicFramePr>
        <p:xfrm>
          <a:off x="7680176" y="3337916"/>
          <a:ext cx="26543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82680" imgH="203040" progId="Equation.DSMT4">
                  <p:embed/>
                </p:oleObj>
              </mc:Choice>
              <mc:Fallback>
                <p:oleObj name="Equation" r:id="rId8" imgW="1282680" imgH="203040" progId="Equation.DSMT4">
                  <p:embed/>
                  <p:pic>
                    <p:nvPicPr>
                      <p:cNvPr id="36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176" y="3337916"/>
                        <a:ext cx="26543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FA97046C-6333-0F98-F7DD-13F9A3788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701500"/>
              </p:ext>
            </p:extLst>
          </p:nvPr>
        </p:nvGraphicFramePr>
        <p:xfrm>
          <a:off x="9710483" y="4511404"/>
          <a:ext cx="203358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393480" progId="Equation.DSMT4">
                  <p:embed/>
                </p:oleObj>
              </mc:Choice>
              <mc:Fallback>
                <p:oleObj name="Equation" r:id="rId10" imgW="876240" imgH="393480" progId="Equation.DSMT4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0483" y="4511404"/>
                        <a:ext cx="203358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5365B4-EF2B-2437-5274-2EEDC696B7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45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50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普通条件语句及其真域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268414"/>
            <a:ext cx="10657183" cy="55895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49" charset="-122"/>
              </a:rPr>
              <a:t>设</a:t>
            </a:r>
            <a:r>
              <a:rPr lang="en-US" altLang="zh-CN" sz="2800" dirty="0">
                <a:ea typeface="黑体" pitchFamily="49" charset="-122"/>
              </a:rPr>
              <a:t>A,B,C</a:t>
            </a:r>
            <a:r>
              <a:rPr lang="zh-CN" altLang="en-US" sz="2800" dirty="0">
                <a:ea typeface="黑体" pitchFamily="49" charset="-122"/>
              </a:rPr>
              <a:t>分别表示</a:t>
            </a:r>
            <a:r>
              <a:rPr lang="en-US" altLang="zh-CN" sz="2800" dirty="0">
                <a:ea typeface="黑体" pitchFamily="49" charset="-122"/>
              </a:rPr>
              <a:t>(a), (b), (c)</a:t>
            </a:r>
            <a:r>
              <a:rPr lang="zh-CN" altLang="en-US" sz="2800" dirty="0">
                <a:ea typeface="黑体" pitchFamily="49" charset="-122"/>
              </a:rPr>
              <a:t>的真域</a:t>
            </a:r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条件语句“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若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(a)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则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(b)</a:t>
            </a:r>
            <a:r>
              <a:rPr lang="zh-CN" altLang="en-US" sz="2800" u="sng" dirty="0">
                <a:solidFill>
                  <a:srgbClr val="3333FF"/>
                </a:solidFill>
                <a:ea typeface="黑体" pitchFamily="49" charset="-122"/>
              </a:rPr>
              <a:t>，否则</a:t>
            </a:r>
            <a:r>
              <a:rPr lang="en-US" altLang="zh-CN" sz="2800" u="sng" dirty="0">
                <a:solidFill>
                  <a:srgbClr val="3333FF"/>
                </a:solidFill>
                <a:ea typeface="黑体" pitchFamily="49" charset="-122"/>
              </a:rPr>
              <a:t>(c)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”</a:t>
            </a:r>
            <a:r>
              <a:rPr lang="zh-CN" altLang="en-US" sz="2800" dirty="0">
                <a:ea typeface="黑体" pitchFamily="49" charset="-122"/>
              </a:rPr>
              <a:t>的真域</a:t>
            </a:r>
            <a:r>
              <a:rPr lang="en-US" altLang="zh-CN" sz="2800" dirty="0">
                <a:ea typeface="黑体" pitchFamily="49" charset="-122"/>
              </a:rPr>
              <a:t>R</a:t>
            </a:r>
            <a:r>
              <a:rPr lang="zh-CN" altLang="en-US" sz="2800" dirty="0">
                <a:ea typeface="黑体" pitchFamily="49" charset="-122"/>
              </a:rPr>
              <a:t>可表示为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rgbClr val="F40802"/>
                </a:solidFill>
                <a:ea typeface="黑体" pitchFamily="49" charset="-122"/>
              </a:rPr>
              <a:t>      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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sz="2800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sz="2800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zh-CN" sz="2800" dirty="0" err="1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)</a:t>
            </a:r>
          </a:p>
          <a:p>
            <a:pPr lvl="1" eaLnBrk="1" hangingPunct="1"/>
            <a:r>
              <a:rPr lang="zh-CN" altLang="en-US" sz="2400" dirty="0">
                <a:ea typeface="黑体" pitchFamily="49" charset="-122"/>
              </a:rPr>
              <a:t>其中，</a:t>
            </a:r>
            <a:r>
              <a:rPr lang="en-US" altLang="zh-CN" sz="2400" dirty="0">
                <a:ea typeface="黑体" pitchFamily="49" charset="-122"/>
              </a:rPr>
              <a:t>A</a:t>
            </a:r>
            <a:r>
              <a:rPr lang="zh-CN" altLang="en-US" sz="2400" dirty="0">
                <a:ea typeface="黑体" pitchFamily="49" charset="-122"/>
              </a:rPr>
              <a:t>是论域</a:t>
            </a:r>
            <a:r>
              <a:rPr lang="en-US" altLang="zh-CN" sz="2400" dirty="0">
                <a:ea typeface="黑体" pitchFamily="49" charset="-122"/>
              </a:rPr>
              <a:t>X</a:t>
            </a:r>
            <a:r>
              <a:rPr lang="zh-CN" altLang="en-US" sz="2400" dirty="0">
                <a:ea typeface="黑体" pitchFamily="49" charset="-122"/>
              </a:rPr>
              <a:t>上的普通集合，</a:t>
            </a:r>
            <a:r>
              <a:rPr lang="en-US" altLang="zh-CN" sz="2400" dirty="0">
                <a:ea typeface="黑体" pitchFamily="49" charset="-122"/>
              </a:rPr>
              <a:t>B</a:t>
            </a:r>
            <a:r>
              <a:rPr lang="zh-CN" altLang="en-US" sz="2400" dirty="0">
                <a:ea typeface="黑体" pitchFamily="49" charset="-122"/>
              </a:rPr>
              <a:t>、</a:t>
            </a:r>
            <a:r>
              <a:rPr lang="en-US" altLang="zh-CN" sz="2400" dirty="0">
                <a:ea typeface="黑体" pitchFamily="49" charset="-122"/>
              </a:rPr>
              <a:t>C</a:t>
            </a:r>
            <a:r>
              <a:rPr lang="zh-CN" altLang="en-US" sz="2400" dirty="0">
                <a:ea typeface="黑体" pitchFamily="49" charset="-122"/>
              </a:rPr>
              <a:t>是论域</a:t>
            </a:r>
            <a:r>
              <a:rPr lang="en-US" altLang="zh-CN" sz="2400" dirty="0">
                <a:ea typeface="黑体" pitchFamily="49" charset="-122"/>
              </a:rPr>
              <a:t>Y</a:t>
            </a:r>
            <a:r>
              <a:rPr lang="zh-CN" altLang="en-US" sz="2400" dirty="0">
                <a:ea typeface="黑体" pitchFamily="49" charset="-122"/>
              </a:rPr>
              <a:t>上的普通集合</a:t>
            </a:r>
          </a:p>
          <a:p>
            <a:pPr eaLnBrk="1" hangingPunct="1"/>
            <a:r>
              <a:rPr lang="en-US" altLang="zh-CN" sz="2800" dirty="0">
                <a:solidFill>
                  <a:srgbClr val="F40802"/>
                </a:solidFill>
              </a:rPr>
              <a:t>R=(A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rgbClr val="F40802"/>
                </a:solidFill>
              </a:rPr>
              <a:t>B)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 </a:t>
            </a:r>
            <a:r>
              <a:rPr lang="en-US" altLang="zh-CN" sz="2800" dirty="0">
                <a:solidFill>
                  <a:srgbClr val="F40802"/>
                </a:solidFill>
              </a:rPr>
              <a:t>(</a:t>
            </a:r>
            <a:r>
              <a:rPr lang="en-US" altLang="zh-CN" sz="2800" dirty="0" err="1">
                <a:solidFill>
                  <a:srgbClr val="F40802"/>
                </a:solidFill>
              </a:rPr>
              <a:t>A</a:t>
            </a:r>
            <a:r>
              <a:rPr lang="en-US" altLang="zh-CN" sz="2800" baseline="30000" dirty="0" err="1">
                <a:solidFill>
                  <a:srgbClr val="F40802"/>
                </a:solidFill>
              </a:rPr>
              <a:t>c</a:t>
            </a:r>
            <a:r>
              <a:rPr lang="en-US" altLang="zh-CN" sz="2800" dirty="0" err="1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dirty="0" err="1">
                <a:solidFill>
                  <a:srgbClr val="F40802"/>
                </a:solidFill>
              </a:rPr>
              <a:t>C</a:t>
            </a:r>
            <a:r>
              <a:rPr lang="en-US" altLang="zh-CN" sz="2800" dirty="0">
                <a:solidFill>
                  <a:srgbClr val="F40802"/>
                </a:solidFill>
              </a:rPr>
              <a:t>)</a:t>
            </a:r>
          </a:p>
          <a:p>
            <a:pPr eaLnBrk="1" hangingPunct="1">
              <a:buNone/>
            </a:pPr>
            <a:r>
              <a:rPr lang="en-US" altLang="zh-CN" sz="2800" dirty="0"/>
              <a:t>      =[(A</a:t>
            </a:r>
            <a:r>
              <a:rPr lang="en-US" altLang="zh-CN" sz="2800" dirty="0">
                <a:sym typeface="Symbol" panose="05050102010706020507" pitchFamily="18" charset="2"/>
              </a:rPr>
              <a:t></a:t>
            </a:r>
            <a:r>
              <a:rPr lang="en-US" altLang="zh-CN" sz="2800" dirty="0"/>
              <a:t>B)</a:t>
            </a:r>
            <a:r>
              <a:rPr lang="en-US" altLang="zh-CN" sz="2800" dirty="0">
                <a:sym typeface="Symbol" panose="05050102010706020507" pitchFamily="18" charset="2"/>
              </a:rPr>
              <a:t></a:t>
            </a:r>
            <a:r>
              <a:rPr lang="en-US" altLang="zh-CN" sz="2800" dirty="0"/>
              <a:t>(A</a:t>
            </a:r>
            <a:r>
              <a:rPr lang="en-US" altLang="zh-CN" sz="2800" baseline="30000" dirty="0"/>
              <a:t>c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/>
              <a:t>Y)]</a:t>
            </a:r>
            <a:r>
              <a:rPr lang="en-US" altLang="zh-CN" sz="2800" dirty="0">
                <a:sym typeface="Symbol" panose="05050102010706020507" pitchFamily="18" charset="2"/>
              </a:rPr>
              <a:t></a:t>
            </a:r>
            <a:r>
              <a:rPr lang="en-US" altLang="zh-CN" sz="2800" dirty="0"/>
              <a:t>[(A</a:t>
            </a:r>
            <a:r>
              <a:rPr lang="en-US" altLang="zh-CN" sz="2800" baseline="30000" dirty="0"/>
              <a:t>c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/>
              <a:t>C)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/>
              <a:t>(A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/>
              <a:t>Y)]</a:t>
            </a:r>
          </a:p>
          <a:p>
            <a:pPr eaLnBrk="1" hangingPunct="1">
              <a:buNone/>
            </a:pPr>
            <a:r>
              <a:rPr lang="en-US" altLang="zh-CN" sz="2800" dirty="0"/>
              <a:t>      =  [(A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/>
              <a:t>B)</a:t>
            </a:r>
            <a:r>
              <a:rPr lang="en-US" altLang="zh-CN" sz="2800" dirty="0">
                <a:sym typeface="Symbol" panose="05050102010706020507" pitchFamily="18" charset="2"/>
              </a:rPr>
              <a:t> </a:t>
            </a:r>
            <a:r>
              <a:rPr lang="en-US" altLang="zh-CN" sz="2800" dirty="0"/>
              <a:t>(A</a:t>
            </a:r>
            <a:r>
              <a:rPr lang="en-US" altLang="zh-CN" sz="2800" baseline="30000" dirty="0"/>
              <a:t>c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/>
              <a:t>C)]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>
                <a:solidFill>
                  <a:schemeClr val="bg2"/>
                </a:solidFill>
              </a:rPr>
              <a:t>[(A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chemeClr val="bg2"/>
                </a:solidFill>
              </a:rPr>
              <a:t>B)</a:t>
            </a:r>
            <a:r>
              <a:rPr lang="en-US" altLang="zh-CN" sz="2800" dirty="0">
                <a:sym typeface="Symbol" panose="05050102010706020507" pitchFamily="18" charset="2"/>
              </a:rPr>
              <a:t> </a:t>
            </a:r>
            <a:r>
              <a:rPr lang="en-US" altLang="zh-CN" sz="2800" dirty="0">
                <a:solidFill>
                  <a:schemeClr val="bg2"/>
                </a:solidFill>
              </a:rPr>
              <a:t>(A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chemeClr val="bg2"/>
                </a:solidFill>
              </a:rPr>
              <a:t>Y)]</a:t>
            </a:r>
            <a:endParaRPr lang="en-US" altLang="zh-CN" sz="2800" dirty="0"/>
          </a:p>
          <a:p>
            <a:pPr eaLnBrk="1" hangingPunct="1">
              <a:buNone/>
            </a:pPr>
            <a:r>
              <a:rPr lang="en-US" altLang="zh-CN" sz="2800" dirty="0"/>
              <a:t>        </a:t>
            </a:r>
            <a:r>
              <a:rPr lang="en-US" altLang="zh-CN" sz="2800" dirty="0">
                <a:sym typeface="Symbol" panose="05050102010706020507" pitchFamily="18" charset="2"/>
              </a:rPr>
              <a:t> </a:t>
            </a:r>
            <a:r>
              <a:rPr lang="en-US" altLang="zh-CN" sz="2800" dirty="0">
                <a:solidFill>
                  <a:srgbClr val="008000"/>
                </a:solidFill>
              </a:rPr>
              <a:t>[(</a:t>
            </a:r>
            <a:r>
              <a:rPr lang="en-US" altLang="zh-CN" sz="2800" dirty="0" err="1">
                <a:solidFill>
                  <a:srgbClr val="008000"/>
                </a:solidFill>
              </a:rPr>
              <a:t>A</a:t>
            </a:r>
            <a:r>
              <a:rPr lang="en-US" altLang="zh-CN" sz="2800" baseline="30000" dirty="0" err="1">
                <a:solidFill>
                  <a:srgbClr val="008000"/>
                </a:solidFill>
              </a:rPr>
              <a:t>c</a:t>
            </a:r>
            <a:r>
              <a:rPr lang="en-US" altLang="zh-CN" sz="2800" dirty="0" err="1">
                <a:solidFill>
                  <a:srgbClr val="008000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dirty="0" err="1">
                <a:solidFill>
                  <a:srgbClr val="008000"/>
                </a:solidFill>
              </a:rPr>
              <a:t>Y</a:t>
            </a:r>
            <a:r>
              <a:rPr lang="en-US" altLang="zh-CN" sz="2800" dirty="0">
                <a:solidFill>
                  <a:srgbClr val="008000"/>
                </a:solidFill>
              </a:rPr>
              <a:t>)</a:t>
            </a:r>
            <a:r>
              <a:rPr lang="en-US" altLang="zh-CN" sz="2800" dirty="0">
                <a:solidFill>
                  <a:srgbClr val="008000"/>
                </a:solidFill>
                <a:sym typeface="Symbol" panose="05050102010706020507" pitchFamily="18" charset="2"/>
              </a:rPr>
              <a:t></a:t>
            </a:r>
            <a:r>
              <a:rPr lang="en-US" altLang="zh-CN" sz="2800" dirty="0">
                <a:solidFill>
                  <a:srgbClr val="008000"/>
                </a:solidFill>
              </a:rPr>
              <a:t>(A</a:t>
            </a:r>
            <a:r>
              <a:rPr lang="en-US" altLang="zh-CN" sz="2800" baseline="30000" dirty="0">
                <a:solidFill>
                  <a:srgbClr val="008000"/>
                </a:solidFill>
              </a:rPr>
              <a:t>c</a:t>
            </a:r>
            <a:r>
              <a:rPr lang="en-US" altLang="zh-CN" sz="2800" dirty="0">
                <a:solidFill>
                  <a:srgbClr val="008000"/>
                </a:solidFill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rgbClr val="008000"/>
                </a:solidFill>
              </a:rPr>
              <a:t>C)]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>
                <a:solidFill>
                  <a:srgbClr val="F40802"/>
                </a:solidFill>
              </a:rPr>
              <a:t>[(</a:t>
            </a:r>
            <a:r>
              <a:rPr lang="en-US" altLang="zh-CN" sz="2800" dirty="0" err="1">
                <a:solidFill>
                  <a:srgbClr val="F40802"/>
                </a:solidFill>
              </a:rPr>
              <a:t>A</a:t>
            </a:r>
            <a:r>
              <a:rPr lang="en-US" altLang="zh-CN" sz="2800" baseline="30000" dirty="0" err="1">
                <a:solidFill>
                  <a:srgbClr val="F40802"/>
                </a:solidFill>
              </a:rPr>
              <a:t>c</a:t>
            </a:r>
            <a:r>
              <a:rPr lang="en-US" altLang="zh-CN" sz="2800" dirty="0" err="1">
                <a:solidFill>
                  <a:srgbClr val="F4080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dirty="0" err="1">
                <a:solidFill>
                  <a:srgbClr val="F40802"/>
                </a:solidFill>
              </a:rPr>
              <a:t>Y</a:t>
            </a:r>
            <a:r>
              <a:rPr lang="en-US" altLang="zh-CN" sz="2800" dirty="0">
                <a:solidFill>
                  <a:srgbClr val="F40802"/>
                </a:solidFill>
              </a:rPr>
              <a:t>) 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  <a:sym typeface="Symbol" panose="05050102010706020507" pitchFamily="18" charset="2"/>
              </a:rPr>
              <a:t></a:t>
            </a:r>
            <a:r>
              <a:rPr lang="en-US" altLang="zh-CN" sz="2800" dirty="0">
                <a:solidFill>
                  <a:srgbClr val="F40802"/>
                </a:solidFill>
              </a:rPr>
              <a:t>(A</a:t>
            </a:r>
            <a:r>
              <a:rPr lang="en-US" altLang="zh-CN" sz="2800" dirty="0">
                <a:solidFill>
                  <a:srgbClr val="F40802"/>
                </a:solidFill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rgbClr val="F40802"/>
                </a:solidFill>
              </a:rPr>
              <a:t>Y)]</a:t>
            </a:r>
          </a:p>
          <a:p>
            <a:pPr eaLnBrk="1" hangingPunct="1">
              <a:buNone/>
            </a:pPr>
            <a:r>
              <a:rPr lang="en-US" altLang="zh-CN" sz="2800" dirty="0"/>
              <a:t>      =</a:t>
            </a:r>
            <a:r>
              <a:rPr lang="en-US" altLang="zh-CN" dirty="0">
                <a:cs typeface="Arial" charset="0"/>
              </a:rPr>
              <a:t>Ø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>
                <a:solidFill>
                  <a:schemeClr val="bg2"/>
                </a:solidFill>
              </a:rPr>
              <a:t>(A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chemeClr val="bg2"/>
                </a:solidFill>
              </a:rPr>
              <a:t>B)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>
                <a:solidFill>
                  <a:srgbClr val="008000"/>
                </a:solidFill>
              </a:rPr>
              <a:t>(A</a:t>
            </a:r>
            <a:r>
              <a:rPr lang="en-US" altLang="zh-CN" sz="2800" baseline="30000" dirty="0">
                <a:solidFill>
                  <a:srgbClr val="008000"/>
                </a:solidFill>
              </a:rPr>
              <a:t>c</a:t>
            </a:r>
            <a:r>
              <a:rPr lang="en-US" altLang="zh-CN" sz="2800" dirty="0">
                <a:solidFill>
                  <a:srgbClr val="008000"/>
                </a:solidFill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rgbClr val="008000"/>
                </a:solidFill>
              </a:rPr>
              <a:t>C)</a:t>
            </a:r>
            <a:r>
              <a:rPr lang="en-US" altLang="zh-CN" sz="2800" dirty="0">
                <a:sym typeface="Symbol" panose="05050102010706020507" pitchFamily="18" charset="2"/>
              </a:rPr>
              <a:t>  </a:t>
            </a:r>
            <a:r>
              <a:rPr lang="en-US" altLang="zh-CN" dirty="0">
                <a:solidFill>
                  <a:srgbClr val="F40802"/>
                </a:solidFill>
                <a:cs typeface="Arial" charset="0"/>
              </a:rPr>
              <a:t>Ø</a:t>
            </a:r>
          </a:p>
          <a:p>
            <a:pPr eaLnBrk="1" hangingPunct="1">
              <a:buNone/>
            </a:pPr>
            <a:r>
              <a:rPr lang="en-US" altLang="zh-CN" sz="2800" dirty="0"/>
              <a:t>      = </a:t>
            </a:r>
            <a:r>
              <a:rPr lang="en-US" altLang="zh-CN" sz="2800" dirty="0">
                <a:solidFill>
                  <a:schemeClr val="bg2"/>
                </a:solidFill>
              </a:rPr>
              <a:t>(A</a:t>
            </a:r>
            <a:r>
              <a:rPr lang="en-US" altLang="zh-CN" sz="2800" dirty="0"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chemeClr val="bg2"/>
                </a:solidFill>
              </a:rPr>
              <a:t>B)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>
                <a:solidFill>
                  <a:srgbClr val="008000"/>
                </a:solidFill>
              </a:rPr>
              <a:t>(A</a:t>
            </a:r>
            <a:r>
              <a:rPr lang="en-US" altLang="zh-CN" sz="2800" baseline="30000" dirty="0">
                <a:solidFill>
                  <a:srgbClr val="008000"/>
                </a:solidFill>
              </a:rPr>
              <a:t>c</a:t>
            </a:r>
            <a:r>
              <a:rPr lang="en-US" altLang="zh-CN" sz="2800" dirty="0">
                <a:solidFill>
                  <a:srgbClr val="008000"/>
                </a:solidFill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rgbClr val="008000"/>
                </a:solidFill>
              </a:rPr>
              <a:t>C)</a:t>
            </a:r>
          </a:p>
        </p:txBody>
      </p:sp>
      <p:sp>
        <p:nvSpPr>
          <p:cNvPr id="2" name="矩形 1"/>
          <p:cNvSpPr/>
          <p:nvPr/>
        </p:nvSpPr>
        <p:spPr>
          <a:xfrm>
            <a:off x="8492902" y="3429000"/>
            <a:ext cx="3195105" cy="461665"/>
          </a:xfrm>
          <a:prstGeom prst="rect">
            <a:avLst/>
          </a:prstGeom>
          <a:solidFill>
            <a:srgbClr val="FFFFCC"/>
          </a:solidFill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CC00CC"/>
                </a:solidFill>
              </a:rPr>
              <a:t>A</a:t>
            </a:r>
            <a:r>
              <a:rPr lang="en-US" altLang="zh-CN" sz="2400" dirty="0">
                <a:solidFill>
                  <a:srgbClr val="CC00CC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CC00CC"/>
                </a:solidFill>
              </a:rPr>
              <a:t>B=(A</a:t>
            </a:r>
            <a:r>
              <a:rPr lang="en-US" altLang="en-US" sz="2400" dirty="0">
                <a:solidFill>
                  <a:srgbClr val="CC00CC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olidFill>
                  <a:srgbClr val="CC00CC"/>
                </a:solidFill>
              </a:rPr>
              <a:t>B)</a:t>
            </a:r>
            <a:r>
              <a:rPr lang="en-US" altLang="en-US" sz="2400" dirty="0">
                <a:solidFill>
                  <a:srgbClr val="CC00CC"/>
                </a:solidFill>
                <a:sym typeface="Symbol" panose="05050102010706020507" pitchFamily="18" charset="2"/>
              </a:rPr>
              <a:t></a:t>
            </a:r>
            <a:r>
              <a:rPr lang="en-US" altLang="zh-CN" sz="2400" dirty="0">
                <a:solidFill>
                  <a:srgbClr val="CC00CC"/>
                </a:solidFill>
              </a:rPr>
              <a:t>(A</a:t>
            </a:r>
            <a:r>
              <a:rPr lang="en-US" altLang="zh-CN" sz="2400" baseline="30000" dirty="0">
                <a:solidFill>
                  <a:srgbClr val="CC00CC"/>
                </a:solidFill>
              </a:rPr>
              <a:t>c</a:t>
            </a:r>
            <a:r>
              <a:rPr lang="en-US" altLang="en-US" sz="2400" dirty="0">
                <a:solidFill>
                  <a:srgbClr val="CC00CC"/>
                </a:solidFill>
                <a:sym typeface="Symbol" panose="05050102010706020507" pitchFamily="18" charset="2"/>
              </a:rPr>
              <a:t>  </a:t>
            </a:r>
            <a:r>
              <a:rPr lang="en-US" altLang="zh-CN" sz="2400" dirty="0">
                <a:solidFill>
                  <a:srgbClr val="CC00CC"/>
                </a:solidFill>
              </a:rPr>
              <a:t>Y)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7130C5-43F3-53C9-EF80-A934C362B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134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“</a:t>
            </a:r>
            <a:r>
              <a:rPr lang="zh-CN" altLang="en-US" u="sng">
                <a:solidFill>
                  <a:srgbClr val="008000"/>
                </a:solidFill>
                <a:ea typeface="黑体" pitchFamily="49" charset="-122"/>
              </a:rPr>
              <a:t>如果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(a)</a:t>
            </a:r>
            <a:r>
              <a:rPr lang="zh-CN" altLang="en-US" u="sng">
                <a:solidFill>
                  <a:srgbClr val="008000"/>
                </a:solidFill>
                <a:ea typeface="黑体" pitchFamily="49" charset="-122"/>
              </a:rPr>
              <a:t>则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(b)</a:t>
            </a:r>
            <a:r>
              <a:rPr lang="zh-CN" altLang="en-US" u="sng">
                <a:solidFill>
                  <a:srgbClr val="008000"/>
                </a:solidFill>
                <a:ea typeface="黑体" pitchFamily="49" charset="-122"/>
              </a:rPr>
              <a:t>，否则</a:t>
            </a:r>
            <a:r>
              <a:rPr lang="en-US" altLang="zh-CN" u="sng" dirty="0">
                <a:solidFill>
                  <a:srgbClr val="008000"/>
                </a:solidFill>
                <a:ea typeface="黑体" pitchFamily="49" charset="-122"/>
              </a:rPr>
              <a:t>(c)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”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的真域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0" y="1700214"/>
            <a:ext cx="8229600" cy="727075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sz="3600" dirty="0">
                <a:solidFill>
                  <a:srgbClr val="F40802"/>
                </a:solidFill>
              </a:rPr>
              <a:t>R=(A</a:t>
            </a:r>
            <a:r>
              <a:rPr lang="en-US" altLang="zh-CN" sz="3600" dirty="0">
                <a:solidFill>
                  <a:srgbClr val="F40802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600" dirty="0">
                <a:solidFill>
                  <a:srgbClr val="F40802"/>
                </a:solidFill>
              </a:rPr>
              <a:t>B)</a:t>
            </a:r>
            <a:r>
              <a:rPr lang="en-US" altLang="zh-CN" sz="3600" dirty="0">
                <a:solidFill>
                  <a:srgbClr val="F40802"/>
                </a:solidFill>
                <a:sym typeface="Symbol" panose="05050102010706020507" pitchFamily="18" charset="2"/>
              </a:rPr>
              <a:t></a:t>
            </a:r>
            <a:r>
              <a:rPr lang="en-US" altLang="zh-CN" sz="3600" dirty="0">
                <a:solidFill>
                  <a:srgbClr val="F40802"/>
                </a:solidFill>
              </a:rPr>
              <a:t>(</a:t>
            </a:r>
            <a:r>
              <a:rPr lang="en-US" altLang="zh-CN" sz="3600" dirty="0" err="1">
                <a:solidFill>
                  <a:srgbClr val="F40802"/>
                </a:solidFill>
              </a:rPr>
              <a:t>A</a:t>
            </a:r>
            <a:r>
              <a:rPr lang="en-US" altLang="zh-CN" sz="3600" baseline="30000" dirty="0" err="1">
                <a:solidFill>
                  <a:srgbClr val="F40802"/>
                </a:solidFill>
              </a:rPr>
              <a:t>c</a:t>
            </a:r>
            <a:r>
              <a:rPr lang="en-US" altLang="zh-CN" sz="3600" dirty="0" err="1">
                <a:solidFill>
                  <a:srgbClr val="F40802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600" dirty="0" err="1">
                <a:solidFill>
                  <a:srgbClr val="F40802"/>
                </a:solidFill>
              </a:rPr>
              <a:t>C</a:t>
            </a:r>
            <a:r>
              <a:rPr lang="en-US" altLang="zh-CN" sz="3600" dirty="0">
                <a:solidFill>
                  <a:srgbClr val="F40802"/>
                </a:solidFill>
              </a:rPr>
              <a:t>) </a:t>
            </a:r>
            <a:r>
              <a:rPr lang="en-US" altLang="zh-CN" sz="3600" dirty="0"/>
              <a:t>= </a:t>
            </a:r>
            <a:r>
              <a:rPr lang="en-US" altLang="zh-CN" sz="3600" dirty="0">
                <a:solidFill>
                  <a:schemeClr val="bg2"/>
                </a:solidFill>
              </a:rPr>
              <a:t>(A</a:t>
            </a:r>
            <a:r>
              <a:rPr lang="en-US" altLang="zh-CN" sz="3600" dirty="0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3600" dirty="0">
                <a:solidFill>
                  <a:schemeClr val="bg2"/>
                </a:solidFill>
              </a:rPr>
              <a:t>B)</a:t>
            </a:r>
            <a:r>
              <a:rPr lang="en-US" altLang="zh-CN" sz="3600" dirty="0">
                <a:solidFill>
                  <a:schemeClr val="bg2"/>
                </a:solidFill>
                <a:sym typeface="Symbol" panose="05050102010706020507" pitchFamily="18" charset="2"/>
              </a:rPr>
              <a:t></a:t>
            </a:r>
            <a:r>
              <a:rPr lang="en-US" altLang="zh-CN" sz="3600" dirty="0">
                <a:solidFill>
                  <a:schemeClr val="bg2"/>
                </a:solidFill>
              </a:rPr>
              <a:t>(</a:t>
            </a:r>
            <a:r>
              <a:rPr lang="en-US" altLang="zh-CN" sz="3600" dirty="0" err="1">
                <a:solidFill>
                  <a:schemeClr val="bg2"/>
                </a:solidFill>
              </a:rPr>
              <a:t>A</a:t>
            </a:r>
            <a:r>
              <a:rPr lang="en-US" altLang="zh-CN" sz="3600" baseline="30000" dirty="0" err="1">
                <a:solidFill>
                  <a:schemeClr val="bg2"/>
                </a:solidFill>
              </a:rPr>
              <a:t>c</a:t>
            </a:r>
            <a:r>
              <a:rPr lang="en-US" altLang="zh-CN" sz="3600" dirty="0" err="1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3600" dirty="0" err="1">
                <a:solidFill>
                  <a:schemeClr val="bg2"/>
                </a:solidFill>
              </a:rPr>
              <a:t>C</a:t>
            </a:r>
            <a:r>
              <a:rPr lang="en-US" altLang="zh-CN" sz="3600" dirty="0">
                <a:solidFill>
                  <a:schemeClr val="bg2"/>
                </a:solidFill>
              </a:rPr>
              <a:t>)</a:t>
            </a:r>
            <a:endParaRPr lang="en-US" altLang="zh-CN" sz="4000" dirty="0">
              <a:solidFill>
                <a:schemeClr val="bg2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3E1BC77-E5C8-3E89-FA3E-57D193EB433F}"/>
              </a:ext>
            </a:extLst>
          </p:cNvPr>
          <p:cNvGrpSpPr/>
          <p:nvPr/>
        </p:nvGrpSpPr>
        <p:grpSpPr>
          <a:xfrm>
            <a:off x="3648075" y="2781301"/>
            <a:ext cx="4762500" cy="3705225"/>
            <a:chOff x="2124075" y="2781300"/>
            <a:chExt cx="4762500" cy="3705225"/>
          </a:xfrm>
        </p:grpSpPr>
        <p:pic>
          <p:nvPicPr>
            <p:cNvPr id="4096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4075" y="2781300"/>
              <a:ext cx="4762500" cy="370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C43AF69-86B2-8CB5-41A2-0BE8ACAED653}"/>
                </a:ext>
              </a:extLst>
            </p:cNvPr>
            <p:cNvSpPr txBox="1"/>
            <p:nvPr/>
          </p:nvSpPr>
          <p:spPr>
            <a:xfrm>
              <a:off x="2987824" y="4957732"/>
              <a:ext cx="1080120" cy="461665"/>
            </a:xfrm>
            <a:prstGeom prst="rect">
              <a:avLst/>
            </a:prstGeom>
            <a:solidFill>
              <a:srgbClr val="FF8040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2400" b="1" dirty="0"/>
                <a:t>A</a:t>
              </a:r>
              <a:r>
                <a:rPr lang="en-US" altLang="zh-CN" sz="2400" b="1" dirty="0">
                  <a:sym typeface="Symbol"/>
                </a:rPr>
                <a:t></a:t>
              </a:r>
              <a:r>
                <a:rPr lang="en-US" altLang="zh-CN" sz="2400" b="1" dirty="0"/>
                <a:t>B</a:t>
              </a:r>
              <a:endParaRPr lang="zh-CN" altLang="en-US" sz="2400" b="1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40EC0CB-0885-49F4-7EDE-6C2A36CCBE3A}"/>
                </a:ext>
              </a:extLst>
            </p:cNvPr>
            <p:cNvSpPr txBox="1"/>
            <p:nvPr/>
          </p:nvSpPr>
          <p:spPr>
            <a:xfrm>
              <a:off x="4788024" y="3573016"/>
              <a:ext cx="1080120" cy="461665"/>
            </a:xfrm>
            <a:prstGeom prst="rect">
              <a:avLst/>
            </a:prstGeom>
            <a:solidFill>
              <a:srgbClr val="00FF00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2400" b="1" dirty="0" err="1"/>
                <a:t>A</a:t>
              </a:r>
              <a:r>
                <a:rPr lang="en-US" altLang="zh-CN" sz="2400" b="1" baseline="30000" dirty="0" err="1"/>
                <a:t>c</a:t>
              </a:r>
              <a:r>
                <a:rPr lang="en-US" altLang="zh-CN" sz="2400" b="1" dirty="0" err="1">
                  <a:sym typeface="Symbol" panose="05050102010706020507" pitchFamily="18" charset="2"/>
                </a:rPr>
                <a:t></a:t>
              </a:r>
              <a:r>
                <a:rPr lang="en-US" altLang="zh-CN" sz="2400" b="1" dirty="0" err="1"/>
                <a:t>C</a:t>
              </a:r>
              <a:endParaRPr lang="zh-CN" altLang="en-US" sz="2400" b="1" dirty="0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19320A-7163-AB48-2873-E64D0721E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204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条件语句及其真域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557338"/>
            <a:ext cx="10297144" cy="53006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A,B,C</a:t>
            </a:r>
            <a:r>
              <a:rPr lang="zh-CN" altLang="en-US" dirty="0">
                <a:ea typeface="黑体" pitchFamily="49" charset="-122"/>
              </a:rPr>
              <a:t>分别表示</a:t>
            </a:r>
            <a:r>
              <a:rPr lang="en-US" altLang="zh-CN" dirty="0">
                <a:ea typeface="黑体" pitchFamily="49" charset="-122"/>
              </a:rPr>
              <a:t>(a),(b),(c)</a:t>
            </a:r>
            <a:r>
              <a:rPr lang="zh-CN" altLang="en-US" dirty="0">
                <a:ea typeface="黑体" pitchFamily="49" charset="-122"/>
              </a:rPr>
              <a:t>的真域</a:t>
            </a:r>
          </a:p>
          <a:p>
            <a:pPr eaLnBrk="1" hangingPunct="1"/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条件语句“</a:t>
            </a:r>
            <a:r>
              <a:rPr lang="zh-CN" altLang="en-US" u="sng" dirty="0">
                <a:solidFill>
                  <a:srgbClr val="3333FF"/>
                </a:solidFill>
                <a:ea typeface="黑体" pitchFamily="49" charset="-122"/>
              </a:rPr>
              <a:t>若</a:t>
            </a:r>
            <a:r>
              <a:rPr lang="en-US" altLang="zh-CN" u="sng" dirty="0">
                <a:solidFill>
                  <a:srgbClr val="3333FF"/>
                </a:solidFill>
                <a:ea typeface="黑体" pitchFamily="49" charset="-122"/>
              </a:rPr>
              <a:t>(a)</a:t>
            </a:r>
            <a:r>
              <a:rPr lang="zh-CN" altLang="en-US" u="sng" dirty="0">
                <a:solidFill>
                  <a:srgbClr val="3333FF"/>
                </a:solidFill>
                <a:ea typeface="黑体" pitchFamily="49" charset="-122"/>
              </a:rPr>
              <a:t>则</a:t>
            </a:r>
            <a:r>
              <a:rPr lang="en-US" altLang="zh-CN" u="sng" dirty="0">
                <a:solidFill>
                  <a:srgbClr val="3333FF"/>
                </a:solidFill>
                <a:ea typeface="黑体" pitchFamily="49" charset="-122"/>
              </a:rPr>
              <a:t>(b)</a:t>
            </a:r>
            <a:r>
              <a:rPr lang="zh-CN" altLang="en-US" u="sng" dirty="0">
                <a:solidFill>
                  <a:srgbClr val="3333FF"/>
                </a:solidFill>
                <a:ea typeface="黑体" pitchFamily="49" charset="-122"/>
              </a:rPr>
              <a:t>，否则</a:t>
            </a:r>
            <a:r>
              <a:rPr lang="en-US" altLang="zh-CN" u="sng" dirty="0">
                <a:solidFill>
                  <a:srgbClr val="3333FF"/>
                </a:solidFill>
                <a:ea typeface="黑体" pitchFamily="49" charset="-122"/>
              </a:rPr>
              <a:t>(c)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”</a:t>
            </a:r>
            <a:r>
              <a:rPr lang="zh-CN" altLang="en-US" dirty="0">
                <a:ea typeface="黑体" pitchFamily="49" charset="-122"/>
              </a:rPr>
              <a:t>的真域</a:t>
            </a:r>
            <a:r>
              <a:rPr lang="en-US" altLang="zh-CN" dirty="0">
                <a:ea typeface="黑体" pitchFamily="49" charset="-122"/>
              </a:rPr>
              <a:t>R</a:t>
            </a:r>
            <a:r>
              <a:rPr lang="zh-CN" altLang="en-US" dirty="0">
                <a:ea typeface="黑体" pitchFamily="49" charset="-122"/>
              </a:rPr>
              <a:t>可表示为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F40802"/>
                </a:solidFill>
                <a:ea typeface="黑体" pitchFamily="49" charset="-122"/>
              </a:rPr>
              <a:t>      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zh-CN" sz="3600" b="1" dirty="0">
                <a:solidFill>
                  <a:srgbClr val="F40802"/>
                </a:solidFill>
                <a:sym typeface="Symbol"/>
              </a:rPr>
              <a:t>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zh-CN" sz="3600" b="1" dirty="0">
                <a:solidFill>
                  <a:srgbClr val="F40802"/>
                </a:solidFill>
                <a:sym typeface="Symbol"/>
              </a:rPr>
              <a:t>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b="1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b="1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zh-CN" sz="3600" b="1" dirty="0" err="1">
                <a:solidFill>
                  <a:srgbClr val="F40802"/>
                </a:solidFill>
                <a:sym typeface="Symbol"/>
              </a:rPr>
              <a:t></a:t>
            </a:r>
            <a:r>
              <a:rPr lang="en-US" altLang="zh-CN" b="1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)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其隶属函数为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008000"/>
                </a:solidFill>
                <a:ea typeface="黑体" pitchFamily="49" charset="-122"/>
              </a:rPr>
              <a:t>   </a:t>
            </a:r>
            <a:r>
              <a:rPr lang="en-US" altLang="zh-CN" sz="3200" b="1" dirty="0">
                <a:solidFill>
                  <a:srgbClr val="008000"/>
                </a:solidFill>
                <a:ea typeface="黑体" pitchFamily="49" charset="-122"/>
              </a:rPr>
              <a:t>R(x,y)=(A(x)</a:t>
            </a:r>
            <a:r>
              <a:rPr lang="en-US" altLang="zh-CN" sz="3200" b="1" dirty="0">
                <a:solidFill>
                  <a:srgbClr val="008000"/>
                </a:solidFill>
                <a:sym typeface="Symbol"/>
              </a:rPr>
              <a:t></a:t>
            </a:r>
            <a:r>
              <a:rPr lang="en-US" altLang="zh-CN" sz="3200" b="1" dirty="0">
                <a:solidFill>
                  <a:srgbClr val="008000"/>
                </a:solidFill>
                <a:ea typeface="黑体" pitchFamily="49" charset="-122"/>
              </a:rPr>
              <a:t>B(y))</a:t>
            </a:r>
            <a:r>
              <a:rPr lang="en-US" altLang="zh-CN" sz="3200" b="1" dirty="0">
                <a:solidFill>
                  <a:srgbClr val="008000"/>
                </a:solidFill>
                <a:sym typeface="Symbol"/>
              </a:rPr>
              <a:t></a:t>
            </a:r>
            <a:r>
              <a:rPr lang="en-US" altLang="zh-CN" sz="3200" b="1" dirty="0">
                <a:solidFill>
                  <a:srgbClr val="008000"/>
                </a:solidFill>
              </a:rPr>
              <a:t>((1-A(x))</a:t>
            </a:r>
            <a:r>
              <a:rPr lang="en-US" altLang="zh-CN" sz="3200" b="1" dirty="0">
                <a:solidFill>
                  <a:srgbClr val="008000"/>
                </a:solidFill>
                <a:sym typeface="Symbol"/>
              </a:rPr>
              <a:t></a:t>
            </a:r>
            <a:r>
              <a:rPr lang="en-US" altLang="zh-CN" sz="3200" b="1" dirty="0">
                <a:solidFill>
                  <a:srgbClr val="008000"/>
                </a:solidFill>
              </a:rPr>
              <a:t>C(y))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dirty="0">
                <a:ea typeface="黑体" pitchFamily="49" charset="-122"/>
              </a:rPr>
              <a:t>   </a:t>
            </a:r>
            <a:r>
              <a:rPr lang="zh-CN" altLang="en-US" sz="3200" dirty="0">
                <a:ea typeface="黑体" pitchFamily="49" charset="-122"/>
              </a:rPr>
              <a:t>把</a:t>
            </a:r>
            <a:r>
              <a:rPr lang="en-US" altLang="zh-CN" sz="3200" dirty="0">
                <a:ea typeface="黑体" pitchFamily="49" charset="-122"/>
              </a:rPr>
              <a:t>R</a:t>
            </a:r>
            <a:r>
              <a:rPr lang="zh-CN" altLang="en-US" sz="3200" dirty="0">
                <a:ea typeface="黑体" pitchFamily="49" charset="-122"/>
              </a:rPr>
              <a:t>作为转换函数，输入</a:t>
            </a:r>
            <a:r>
              <a:rPr lang="en-US" altLang="zh-CN" sz="3200" dirty="0">
                <a:ea typeface="黑体" pitchFamily="49" charset="-122"/>
              </a:rPr>
              <a:t>A’</a:t>
            </a:r>
            <a:r>
              <a:rPr lang="zh-CN" altLang="en-US" sz="3200" dirty="0">
                <a:ea typeface="黑体" pitchFamily="49" charset="-122"/>
              </a:rPr>
              <a:t>，可得出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3200" dirty="0"/>
              <a:t>   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B’ =A’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  <a:cs typeface="Arial" charset="0"/>
              </a:rPr>
              <a:t>◦</a:t>
            </a: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R       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rgbClr val="F40802"/>
                </a:solidFill>
                <a:ea typeface="黑体" pitchFamily="49" charset="-122"/>
              </a:rPr>
              <a:t> </a:t>
            </a:r>
            <a:r>
              <a:rPr lang="zh-CN" altLang="en-US" sz="3200" dirty="0">
                <a:solidFill>
                  <a:schemeClr val="bg2"/>
                </a:solidFill>
                <a:ea typeface="黑体" pitchFamily="49" charset="-122"/>
              </a:rPr>
              <a:t>（“</a:t>
            </a:r>
            <a:r>
              <a:rPr lang="zh-CN" altLang="en-US" sz="32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◦”为</a:t>
            </a:r>
            <a:r>
              <a:rPr lang="en-US" altLang="zh-CN" sz="32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F</a:t>
            </a:r>
            <a:r>
              <a:rPr lang="zh-CN" altLang="en-US" sz="32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关系合成运算）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F9A439-043E-7FD7-05FA-D101430462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48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19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条件语句的真域举例</a:t>
            </a:r>
            <a:r>
              <a:rPr lang="en-US" altLang="zh-CN" sz="3200" dirty="0">
                <a:ea typeface="黑体" pitchFamily="49" charset="-122"/>
              </a:rPr>
              <a:t>[P181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 dirty="0">
                <a:ea typeface="黑体" pitchFamily="49" charset="-122"/>
              </a:rPr>
              <a:t>2]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628776"/>
            <a:ext cx="10598967" cy="50403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“</a:t>
            </a:r>
            <a:r>
              <a:rPr lang="zh-CN" altLang="en-US" u="sng" dirty="0">
                <a:solidFill>
                  <a:srgbClr val="F40802"/>
                </a:solidFill>
                <a:ea typeface="黑体" pitchFamily="49" charset="-122"/>
              </a:rPr>
              <a:t>若</a:t>
            </a:r>
            <a:r>
              <a:rPr lang="en-US" altLang="zh-CN" u="sng" dirty="0">
                <a:solidFill>
                  <a:srgbClr val="F40802"/>
                </a:solidFill>
                <a:ea typeface="黑体" pitchFamily="49" charset="-122"/>
              </a:rPr>
              <a:t>x</a:t>
            </a:r>
            <a:r>
              <a:rPr lang="zh-CN" altLang="en-US" u="sng" dirty="0">
                <a:solidFill>
                  <a:srgbClr val="F40802"/>
                </a:solidFill>
                <a:ea typeface="黑体" pitchFamily="49" charset="-122"/>
              </a:rPr>
              <a:t>小则</a:t>
            </a:r>
            <a:r>
              <a:rPr lang="en-US" altLang="zh-CN" u="sng" dirty="0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zh-CN" altLang="en-US" u="sng" dirty="0">
                <a:solidFill>
                  <a:srgbClr val="F40802"/>
                </a:solidFill>
                <a:ea typeface="黑体" pitchFamily="49" charset="-122"/>
              </a:rPr>
              <a:t>大，否则</a:t>
            </a:r>
            <a:r>
              <a:rPr lang="en-US" altLang="zh-CN" u="sng" dirty="0">
                <a:solidFill>
                  <a:srgbClr val="F40802"/>
                </a:solidFill>
                <a:ea typeface="黑体" pitchFamily="49" charset="-122"/>
              </a:rPr>
              <a:t>y</a:t>
            </a:r>
            <a:r>
              <a:rPr lang="zh-CN" altLang="en-US" u="sng" dirty="0">
                <a:solidFill>
                  <a:srgbClr val="F40802"/>
                </a:solidFill>
                <a:ea typeface="黑体" pitchFamily="49" charset="-122"/>
              </a:rPr>
              <a:t>不大</a:t>
            </a:r>
            <a:r>
              <a:rPr lang="zh-CN" altLang="en-US" dirty="0">
                <a:ea typeface="黑体" pitchFamily="49" charset="-122"/>
              </a:rPr>
              <a:t>”，已知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x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很小</a:t>
            </a:r>
            <a:r>
              <a:rPr lang="zh-CN" altLang="en-US" dirty="0">
                <a:ea typeface="黑体" pitchFamily="49" charset="-122"/>
              </a:rPr>
              <a:t>，问</a:t>
            </a:r>
            <a:r>
              <a:rPr lang="en-US" altLang="zh-CN" dirty="0">
                <a:ea typeface="黑体" pitchFamily="49" charset="-122"/>
              </a:rPr>
              <a:t>y</a:t>
            </a:r>
            <a:r>
              <a:rPr lang="zh-CN" altLang="en-US" dirty="0">
                <a:ea typeface="黑体" pitchFamily="49" charset="-122"/>
              </a:rPr>
              <a:t>如何？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设</a:t>
            </a:r>
            <a:r>
              <a:rPr lang="en-US" altLang="zh-CN" dirty="0">
                <a:ea typeface="黑体" pitchFamily="49" charset="-122"/>
              </a:rPr>
              <a:t>X=Y={1,2,3}</a:t>
            </a:r>
            <a:r>
              <a:rPr lang="zh-CN" altLang="en-US" dirty="0">
                <a:ea typeface="黑体" pitchFamily="49" charset="-122"/>
              </a:rPr>
              <a:t>，小、不大和大的定义如下：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1000" dirty="0">
              <a:ea typeface="黑体" pitchFamily="49" charset="-122"/>
            </a:endParaRPr>
          </a:p>
          <a:p>
            <a:pPr eaLnBrk="1" hangingPunct="1">
              <a:buNone/>
            </a:pPr>
            <a:r>
              <a:rPr lang="zh-CN" altLang="en-US" dirty="0">
                <a:ea typeface="黑体" pitchFamily="49" charset="-122"/>
              </a:rPr>
              <a:t>解：</a:t>
            </a:r>
            <a:endParaRPr lang="en-US" altLang="zh-CN" dirty="0">
              <a:ea typeface="黑体" pitchFamily="49" charset="-122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先按 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zh-CN" b="1" dirty="0">
                <a:solidFill>
                  <a:srgbClr val="F40802"/>
                </a:solidFill>
                <a:sym typeface="Symbol"/>
              </a:rPr>
              <a:t>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zh-CN" b="1" dirty="0">
                <a:solidFill>
                  <a:srgbClr val="F40802"/>
                </a:solidFill>
                <a:sym typeface="Symbol"/>
              </a:rPr>
              <a:t>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b="1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b="1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zh-CN" b="1" dirty="0" err="1">
                <a:solidFill>
                  <a:srgbClr val="F40802"/>
                </a:solidFill>
                <a:sym typeface="Symbol"/>
              </a:rPr>
              <a:t></a:t>
            </a:r>
            <a:r>
              <a:rPr lang="en-US" altLang="zh-CN" b="1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)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 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求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R,</a:t>
            </a:r>
          </a:p>
          <a:p>
            <a:pPr eaLnBrk="1" hangingPunct="1"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再按 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B’ =A’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  <a:cs typeface="Arial" charset="0"/>
              </a:rPr>
              <a:t>◦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R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求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B’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 A’=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很小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=H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小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)=(1,0.4,0)</a:t>
            </a:r>
            <a:r>
              <a:rPr lang="en-US" altLang="zh-CN" baseline="30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=(1,0.16,0)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 A</a:t>
            </a:r>
            <a:r>
              <a:rPr lang="en-US" altLang="zh-CN" baseline="30000" dirty="0">
                <a:solidFill>
                  <a:schemeClr val="bg2"/>
                </a:solidFill>
                <a:ea typeface="黑体" pitchFamily="49" charset="-122"/>
              </a:rPr>
              <a:t>c</a:t>
            </a:r>
            <a:r>
              <a:rPr lang="en-US" altLang="zh-CN" dirty="0">
                <a:solidFill>
                  <a:schemeClr val="bg2"/>
                </a:solidFill>
              </a:rPr>
              <a:t>=(0,0.6,1)</a:t>
            </a:r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</a:t>
            </a:r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</p:txBody>
      </p:sp>
      <p:graphicFrame>
        <p:nvGraphicFramePr>
          <p:cNvPr id="4096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08744928"/>
              </p:ext>
            </p:extLst>
          </p:nvPr>
        </p:nvGraphicFramePr>
        <p:xfrm>
          <a:off x="1847528" y="2996952"/>
          <a:ext cx="8351837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48100" imgH="393700" progId="Equation.3">
                  <p:embed/>
                </p:oleObj>
              </mc:Choice>
              <mc:Fallback>
                <p:oleObj name="公式" r:id="rId2" imgW="38481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996952"/>
                        <a:ext cx="8351837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E3DD980-5C13-FDC0-C6AE-B97AB0112A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49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8622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条件语句的真域举例</a:t>
            </a:r>
            <a:r>
              <a:rPr lang="en-US" altLang="zh-CN" sz="3200" dirty="0">
                <a:ea typeface="黑体" pitchFamily="49" charset="-122"/>
              </a:rPr>
              <a:t>[P181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 dirty="0">
                <a:ea typeface="黑体" pitchFamily="49" charset="-122"/>
              </a:rPr>
              <a:t>2]</a:t>
            </a:r>
          </a:p>
        </p:txBody>
      </p:sp>
      <p:sp>
        <p:nvSpPr>
          <p:cNvPr id="41987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12876"/>
            <a:ext cx="8002588" cy="4310063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R=(A</a:t>
            </a:r>
            <a:r>
              <a:rPr lang="en-US" altLang="zh-CN" b="1" dirty="0">
                <a:solidFill>
                  <a:srgbClr val="F40802"/>
                </a:solidFill>
                <a:sym typeface="Symbol"/>
              </a:rPr>
              <a:t>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B)</a:t>
            </a:r>
            <a:r>
              <a:rPr lang="en-US" altLang="zh-CN" b="1" dirty="0">
                <a:solidFill>
                  <a:srgbClr val="F40802"/>
                </a:solidFill>
                <a:sym typeface="Symbol"/>
              </a:rPr>
              <a:t>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(</a:t>
            </a:r>
            <a:r>
              <a:rPr lang="en-US" altLang="zh-CN" b="1" dirty="0" err="1">
                <a:solidFill>
                  <a:srgbClr val="F40802"/>
                </a:solidFill>
                <a:ea typeface="黑体" pitchFamily="49" charset="-122"/>
              </a:rPr>
              <a:t>A</a:t>
            </a:r>
            <a:r>
              <a:rPr lang="en-US" altLang="zh-CN" b="1" baseline="30000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zh-CN" b="1" dirty="0" err="1">
                <a:solidFill>
                  <a:srgbClr val="F40802"/>
                </a:solidFill>
                <a:sym typeface="Symbol"/>
              </a:rPr>
              <a:t></a:t>
            </a:r>
            <a:r>
              <a:rPr lang="en-US" altLang="zh-CN" b="1" dirty="0" err="1">
                <a:solidFill>
                  <a:srgbClr val="F40802"/>
                </a:solidFill>
                <a:ea typeface="黑体" pitchFamily="49" charset="-122"/>
              </a:rPr>
              <a:t>C</a:t>
            </a:r>
            <a:r>
              <a:rPr lang="en-US" altLang="zh-CN" b="1" dirty="0">
                <a:solidFill>
                  <a:srgbClr val="F40802"/>
                </a:solidFill>
                <a:ea typeface="黑体" pitchFamily="49" charset="-122"/>
              </a:rPr>
              <a:t>)</a:t>
            </a:r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</p:txBody>
      </p:sp>
      <p:graphicFrame>
        <p:nvGraphicFramePr>
          <p:cNvPr id="46084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81977109"/>
              </p:ext>
            </p:extLst>
          </p:nvPr>
        </p:nvGraphicFramePr>
        <p:xfrm>
          <a:off x="1487488" y="1916832"/>
          <a:ext cx="5616624" cy="16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63480" imgH="711000" progId="Equation.DSMT4">
                  <p:embed/>
                </p:oleObj>
              </mc:Choice>
              <mc:Fallback>
                <p:oleObj name="Equation" r:id="rId3" imgW="24634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1916832"/>
                        <a:ext cx="5616624" cy="162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939771"/>
              </p:ext>
            </p:extLst>
          </p:nvPr>
        </p:nvGraphicFramePr>
        <p:xfrm>
          <a:off x="1271464" y="5157193"/>
          <a:ext cx="2982913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280" imgH="711000" progId="Equation.DSMT4">
                  <p:embed/>
                </p:oleObj>
              </mc:Choice>
              <mc:Fallback>
                <p:oleObj name="Equation" r:id="rId5" imgW="12952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5157193"/>
                        <a:ext cx="2982913" cy="163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17191407"/>
              </p:ext>
            </p:extLst>
          </p:nvPr>
        </p:nvGraphicFramePr>
        <p:xfrm>
          <a:off x="8723807" y="1844824"/>
          <a:ext cx="2844801" cy="278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560" imgH="1206360" progId="Equation.DSMT4">
                  <p:embed/>
                </p:oleObj>
              </mc:Choice>
              <mc:Fallback>
                <p:oleObj name="Equation" r:id="rId7" imgW="1231560" imgH="1206360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3807" y="1844824"/>
                        <a:ext cx="2844801" cy="278362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05125339"/>
              </p:ext>
            </p:extLst>
          </p:nvPr>
        </p:nvGraphicFramePr>
        <p:xfrm>
          <a:off x="1559496" y="3536192"/>
          <a:ext cx="4775316" cy="16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95200" imgH="711000" progId="Equation.DSMT4">
                  <p:embed/>
                </p:oleObj>
              </mc:Choice>
              <mc:Fallback>
                <p:oleObj name="Equation" r:id="rId9" imgW="2095200" imgH="711000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3536192"/>
                        <a:ext cx="4775316" cy="162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CD4348-4AE3-C5D5-D242-1E5ECF8259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50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1695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条件语句的真域举例</a:t>
            </a:r>
            <a:r>
              <a:rPr lang="en-US" altLang="zh-CN" sz="3200" dirty="0">
                <a:ea typeface="黑体" pitchFamily="49" charset="-122"/>
              </a:rPr>
              <a:t>[P181</a:t>
            </a:r>
            <a:r>
              <a:rPr lang="zh-CN" altLang="en-US" sz="3200">
                <a:ea typeface="黑体" pitchFamily="49" charset="-122"/>
              </a:rPr>
              <a:t>例</a:t>
            </a:r>
            <a:r>
              <a:rPr lang="en-US" altLang="zh-CN" sz="3200" dirty="0">
                <a:ea typeface="黑体" pitchFamily="49" charset="-122"/>
              </a:rPr>
              <a:t>2]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700214"/>
            <a:ext cx="7931150" cy="51577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B’ =A’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◦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R=(1  0.16  0)◦R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800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chemeClr val="bg2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=(0.16  0.4  1)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而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很大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]=H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大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]=(0  0.4 1)</a:t>
            </a:r>
            <a:r>
              <a:rPr lang="en-US" altLang="zh-CN" baseline="30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=(0  0.16 1) </a:t>
            </a:r>
            <a:r>
              <a:rPr lang="en-US" altLang="zh-CN" dirty="0"/>
              <a:t>≈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B’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即 </a:t>
            </a:r>
            <a:r>
              <a:rPr lang="zh-CN" altLang="en-US" dirty="0">
                <a:ea typeface="黑体" pitchFamily="49" charset="-122"/>
              </a:rPr>
              <a:t>“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若</a:t>
            </a:r>
            <a:r>
              <a:rPr lang="en-US" altLang="zh-CN" b="1" u="sng" dirty="0">
                <a:solidFill>
                  <a:srgbClr val="F40802"/>
                </a:solidFill>
                <a:ea typeface="华文楷体" pitchFamily="2" charset="-122"/>
              </a:rPr>
              <a:t>x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很小</a:t>
            </a:r>
            <a:r>
              <a:rPr lang="en-US" altLang="zh-CN" b="1" u="sng" dirty="0">
                <a:solidFill>
                  <a:srgbClr val="F40802"/>
                </a:solidFill>
                <a:ea typeface="华文楷体" pitchFamily="2" charset="-122"/>
              </a:rPr>
              <a:t>,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则</a:t>
            </a:r>
            <a:r>
              <a:rPr lang="en-US" altLang="zh-CN" b="1" u="sng" dirty="0">
                <a:solidFill>
                  <a:srgbClr val="F40802"/>
                </a:solidFill>
                <a:ea typeface="华文楷体" pitchFamily="2" charset="-122"/>
              </a:rPr>
              <a:t>y</a:t>
            </a:r>
            <a:r>
              <a:rPr lang="zh-CN" altLang="en-US" b="1" u="sng" dirty="0">
                <a:solidFill>
                  <a:srgbClr val="F40802"/>
                </a:solidFill>
                <a:ea typeface="华文楷体" pitchFamily="2" charset="-122"/>
              </a:rPr>
              <a:t>很大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”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这与人们的实际想法相符合。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305955"/>
              </p:ext>
            </p:extLst>
          </p:nvPr>
        </p:nvGraphicFramePr>
        <p:xfrm>
          <a:off x="2532650" y="2420889"/>
          <a:ext cx="4931503" cy="1779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711000" progId="Equation.DSMT4">
                  <p:embed/>
                </p:oleObj>
              </mc:Choice>
              <mc:Fallback>
                <p:oleObj name="Equation" r:id="rId2" imgW="1968480" imgH="711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650" y="2420889"/>
                        <a:ext cx="4931503" cy="1779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95A1F0BF-B7C2-BE9C-3B8B-10FA142C6273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43940480"/>
              </p:ext>
            </p:extLst>
          </p:nvPr>
        </p:nvGraphicFramePr>
        <p:xfrm>
          <a:off x="7464153" y="1566814"/>
          <a:ext cx="29749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393480" progId="Equation.DSMT4">
                  <p:embed/>
                </p:oleObj>
              </mc:Choice>
              <mc:Fallback>
                <p:oleObj name="Equation" r:id="rId4" imgW="1371600" imgH="393480" progId="Equation.DSMT4">
                  <p:embed/>
                  <p:pic>
                    <p:nvPicPr>
                      <p:cNvPr id="40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3" y="1566814"/>
                        <a:ext cx="2974975" cy="854075"/>
                      </a:xfrm>
                      <a:prstGeom prst="rect">
                        <a:avLst/>
                      </a:prstGeom>
                      <a:solidFill>
                        <a:srgbClr val="C1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65B51EF-A01E-A3F1-1E60-7AFE91849501}"/>
              </a:ext>
            </a:extLst>
          </p:cNvPr>
          <p:cNvSpPr txBox="1"/>
          <p:nvPr/>
        </p:nvSpPr>
        <p:spPr>
          <a:xfrm>
            <a:off x="3810000" y="325844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C44EB38-48A7-7231-BD9D-F66B4E847B9F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176036620"/>
              </p:ext>
            </p:extLst>
          </p:nvPr>
        </p:nvGraphicFramePr>
        <p:xfrm>
          <a:off x="8475391" y="3933006"/>
          <a:ext cx="1963737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393480" progId="Equation.DSMT4">
                  <p:embed/>
                </p:oleObj>
              </mc:Choice>
              <mc:Fallback>
                <p:oleObj name="Equation" r:id="rId6" imgW="1091880" imgH="393480" progId="Equation.DSMT4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5391" y="3933006"/>
                        <a:ext cx="1963737" cy="70643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B380D-B1B5-338A-CEBE-AFFFA3C09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51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124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条件语句的真域举例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628775"/>
            <a:ext cx="10441160" cy="511333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/>
              <a:t>在人类视觉系统的研究中，有时需要了解人的视觉对某一刺激物的反应速度，常用电势或磁场测量值来表示。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dirty="0"/>
              <a:t>输入</a:t>
            </a:r>
            <a:r>
              <a:rPr lang="en-US" altLang="zh-CN" b="1" dirty="0"/>
              <a:t>F</a:t>
            </a:r>
            <a:r>
              <a:rPr lang="zh-CN" altLang="en-US" b="1" dirty="0"/>
              <a:t>集</a:t>
            </a:r>
            <a:r>
              <a:rPr lang="en-US" altLang="zh-CN" b="1" dirty="0"/>
              <a:t>X={0,50,100,150,200}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磁场测量单位</a:t>
            </a:r>
            <a:r>
              <a:rPr lang="en-US" altLang="zh-CN" sz="2400" b="1" dirty="0"/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dirty="0"/>
              <a:t>输出</a:t>
            </a:r>
            <a:r>
              <a:rPr lang="en-US" altLang="zh-CN" b="1" dirty="0"/>
              <a:t>F</a:t>
            </a:r>
            <a:r>
              <a:rPr lang="zh-CN" altLang="en-US" b="1" dirty="0"/>
              <a:t>集</a:t>
            </a:r>
            <a:r>
              <a:rPr lang="en-US" altLang="zh-CN" b="1" dirty="0"/>
              <a:t>Y={0,50,100,150,200}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磁场测量单位</a:t>
            </a:r>
            <a:r>
              <a:rPr lang="en-US" altLang="zh-CN" sz="2400" b="1" dirty="0"/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dirty="0"/>
              <a:t>在论域</a:t>
            </a:r>
            <a:r>
              <a:rPr lang="en-US" altLang="zh-CN" b="1" dirty="0"/>
              <a:t>X</a:t>
            </a:r>
            <a:r>
              <a:rPr lang="zh-CN" altLang="en-US" b="1" dirty="0"/>
              <a:t>上，定义两个不同刺激物的</a:t>
            </a:r>
            <a:r>
              <a:rPr lang="en-US" altLang="zh-CN" b="1" dirty="0"/>
              <a:t>F</a:t>
            </a:r>
            <a:r>
              <a:rPr lang="zh-CN" altLang="en-US" b="1" dirty="0"/>
              <a:t>集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     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W(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微弱刺激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)=(1, 0.9, 0.3, 0, 0)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     M(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中等刺激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)=(0, 0.4, 1, 0.4, 0)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51C148-DCEE-4D94-2EFC-18C2ABDD1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52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条件语句的真域举例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484314"/>
            <a:ext cx="10238928" cy="4383087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输出论域</a:t>
            </a:r>
            <a:r>
              <a:rPr lang="en-US" altLang="zh-CN" sz="2800" b="1" dirty="0"/>
              <a:t>Y</a:t>
            </a:r>
            <a:r>
              <a:rPr lang="zh-CN" altLang="en-US" sz="2800" b="1" dirty="0"/>
              <a:t>上的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</a:rPr>
              <a:t>   </a:t>
            </a:r>
            <a:r>
              <a:rPr lang="en-US" altLang="zh-CN" sz="2800" b="1" dirty="0">
                <a:solidFill>
                  <a:srgbClr val="3333FF"/>
                </a:solidFill>
              </a:rPr>
              <a:t>S(</a:t>
            </a:r>
            <a:r>
              <a:rPr lang="zh-CN" altLang="en-US" sz="2800" b="1" dirty="0">
                <a:solidFill>
                  <a:srgbClr val="3333FF"/>
                </a:solidFill>
              </a:rPr>
              <a:t>反应强烈</a:t>
            </a:r>
            <a:r>
              <a:rPr lang="en-US" altLang="zh-CN" sz="2800" b="1" dirty="0">
                <a:solidFill>
                  <a:srgbClr val="3333FF"/>
                </a:solidFill>
              </a:rPr>
              <a:t>)=(0,0,0.5,0.9,1)</a:t>
            </a:r>
          </a:p>
          <a:p>
            <a:pPr eaLnBrk="1" hangingPunct="1"/>
            <a:r>
              <a:rPr lang="zh-CN" altLang="en-US" sz="2800" dirty="0"/>
              <a:t>则“</a:t>
            </a:r>
            <a:r>
              <a:rPr lang="zh-CN" altLang="en-US" sz="2800" b="1" dirty="0"/>
              <a:t>反应不强烈</a:t>
            </a:r>
            <a:r>
              <a:rPr lang="zh-CN" altLang="en-US" sz="2800" dirty="0"/>
              <a:t>”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c</a:t>
            </a:r>
            <a:r>
              <a:rPr lang="en-US" altLang="zh-CN" sz="2800" dirty="0"/>
              <a:t>=(1,1,0.5,0.1,0)</a:t>
            </a:r>
          </a:p>
          <a:p>
            <a:pPr eaLnBrk="1" hangingPunct="1"/>
            <a:r>
              <a:rPr lang="zh-CN" altLang="en-US" sz="2800" b="1" dirty="0"/>
              <a:t>若“</a:t>
            </a:r>
            <a:r>
              <a:rPr lang="zh-CN" altLang="en-US" sz="2800" b="1" u="sng" dirty="0">
                <a:solidFill>
                  <a:srgbClr val="F40802"/>
                </a:solidFill>
              </a:rPr>
              <a:t>弱刺激，则反应不强烈</a:t>
            </a:r>
            <a:r>
              <a:rPr lang="zh-CN" altLang="en-US" sz="2800" b="1" dirty="0"/>
              <a:t>”：</a:t>
            </a:r>
          </a:p>
          <a:p>
            <a:pPr eaLnBrk="1" hangingPunct="1"/>
            <a:r>
              <a:rPr lang="zh-CN" altLang="en-US" sz="2800" dirty="0"/>
              <a:t>即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R=(W</a:t>
            </a:r>
            <a:r>
              <a:rPr lang="en-US" altLang="zh-CN" dirty="0">
                <a:solidFill>
                  <a:srgbClr val="CC00CC"/>
                </a:solidFill>
              </a:rPr>
              <a:t>×</a:t>
            </a:r>
            <a:r>
              <a:rPr lang="en-US" altLang="zh-CN" sz="2800" dirty="0">
                <a:solidFill>
                  <a:srgbClr val="CC00CC"/>
                </a:solidFill>
              </a:rPr>
              <a:t>S</a:t>
            </a:r>
            <a:r>
              <a:rPr lang="en-US" altLang="zh-CN" sz="2800" baseline="30000" dirty="0">
                <a:solidFill>
                  <a:srgbClr val="CC00CC"/>
                </a:solidFill>
                <a:ea typeface="黑体" pitchFamily="49" charset="-122"/>
              </a:rPr>
              <a:t>c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)</a:t>
            </a:r>
            <a:r>
              <a:rPr lang="en-US" altLang="zh-CN" dirty="0">
                <a:solidFill>
                  <a:srgbClr val="CC00CC"/>
                </a:solidFill>
              </a:rPr>
              <a:t>∪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(W</a:t>
            </a:r>
            <a:r>
              <a:rPr lang="en-US" altLang="zh-CN" sz="2800" baseline="30000" dirty="0">
                <a:solidFill>
                  <a:srgbClr val="CC00CC"/>
                </a:solidFill>
                <a:ea typeface="黑体" pitchFamily="49" charset="-122"/>
              </a:rPr>
              <a:t>c</a:t>
            </a:r>
            <a:r>
              <a:rPr lang="en-US" altLang="zh-CN" dirty="0">
                <a:solidFill>
                  <a:srgbClr val="CC00CC"/>
                </a:solidFill>
              </a:rPr>
              <a:t>×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Y)</a:t>
            </a:r>
            <a:endParaRPr lang="en-US" altLang="zh-CN" sz="2800" dirty="0">
              <a:solidFill>
                <a:srgbClr val="CC00CC"/>
              </a:solidFill>
            </a:endParaRPr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11162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4405015"/>
              </p:ext>
            </p:extLst>
          </p:nvPr>
        </p:nvGraphicFramePr>
        <p:xfrm>
          <a:off x="2343224" y="4293096"/>
          <a:ext cx="7569200" cy="242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8680" imgH="1143000" progId="Equation.DSMT4">
                  <p:embed/>
                </p:oleObj>
              </mc:Choice>
              <mc:Fallback>
                <p:oleObj name="Equation" r:id="rId2" imgW="3568680" imgH="1143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224" y="4293096"/>
                        <a:ext cx="7569200" cy="242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404517" y="3645024"/>
            <a:ext cx="4416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W(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微弱刺激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)=(1, 0.9, 0.3, 0, 0)</a:t>
            </a:r>
            <a:endParaRPr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4C2A8F-D952-74DA-74F7-830A08A99B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53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条件语句的真域举例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84314"/>
            <a:ext cx="8784332" cy="4383087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输出论域</a:t>
            </a:r>
            <a:r>
              <a:rPr lang="en-US" altLang="zh-CN" sz="2800" b="1" dirty="0"/>
              <a:t>Y</a:t>
            </a:r>
            <a:r>
              <a:rPr lang="zh-CN" altLang="en-US" sz="2800" b="1" dirty="0"/>
              <a:t>上的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</a:rPr>
              <a:t>   </a:t>
            </a:r>
            <a:r>
              <a:rPr lang="en-US" altLang="zh-CN" sz="2800" b="1" dirty="0">
                <a:solidFill>
                  <a:srgbClr val="3333FF"/>
                </a:solidFill>
              </a:rPr>
              <a:t>S(</a:t>
            </a:r>
            <a:r>
              <a:rPr lang="zh-CN" altLang="en-US" sz="2800" b="1" dirty="0">
                <a:solidFill>
                  <a:srgbClr val="3333FF"/>
                </a:solidFill>
              </a:rPr>
              <a:t>反应强烈</a:t>
            </a:r>
            <a:r>
              <a:rPr lang="en-US" altLang="zh-CN" sz="2800" b="1" dirty="0">
                <a:solidFill>
                  <a:srgbClr val="3333FF"/>
                </a:solidFill>
              </a:rPr>
              <a:t>)=(0,0,0.5,0.9,1)</a:t>
            </a:r>
          </a:p>
          <a:p>
            <a:pPr eaLnBrk="1" hangingPunct="1"/>
            <a:r>
              <a:rPr lang="zh-CN" altLang="en-US" sz="2800" dirty="0"/>
              <a:t>则“</a:t>
            </a:r>
            <a:r>
              <a:rPr lang="zh-CN" altLang="en-US" sz="2800" b="1" dirty="0"/>
              <a:t>反应不强烈</a:t>
            </a:r>
            <a:r>
              <a:rPr lang="zh-CN" altLang="en-US" sz="2800" dirty="0"/>
              <a:t>”</a:t>
            </a:r>
            <a:r>
              <a:rPr lang="en-US" altLang="zh-CN" sz="2800" dirty="0"/>
              <a:t>S</a:t>
            </a:r>
            <a:r>
              <a:rPr lang="en-US" altLang="zh-CN" sz="2800" baseline="30000" dirty="0"/>
              <a:t>c</a:t>
            </a:r>
            <a:r>
              <a:rPr lang="en-US" altLang="zh-CN" sz="2800" dirty="0"/>
              <a:t>=(1,1,0.5,0.1,0)</a:t>
            </a:r>
          </a:p>
          <a:p>
            <a:pPr eaLnBrk="1" hangingPunct="1"/>
            <a:r>
              <a:rPr lang="zh-CN" altLang="en-US" sz="2800" b="1" dirty="0"/>
              <a:t>若“</a:t>
            </a:r>
            <a:r>
              <a:rPr lang="zh-CN" altLang="en-US" sz="2800" b="1" u="sng" dirty="0">
                <a:solidFill>
                  <a:srgbClr val="F40802"/>
                </a:solidFill>
              </a:rPr>
              <a:t>弱刺激，则反应不强烈</a:t>
            </a:r>
            <a:r>
              <a:rPr lang="zh-CN" altLang="en-US" sz="2800" b="1" dirty="0"/>
              <a:t>”：</a:t>
            </a:r>
          </a:p>
          <a:p>
            <a:pPr eaLnBrk="1" hangingPunct="1"/>
            <a:r>
              <a:rPr lang="zh-CN" altLang="en-US" sz="2800" dirty="0"/>
              <a:t>即</a:t>
            </a:r>
            <a:r>
              <a:rPr lang="en-US" altLang="zh-CN" sz="2800" dirty="0">
                <a:ea typeface="黑体" pitchFamily="49" charset="-122"/>
              </a:rPr>
              <a:t>R=(W</a:t>
            </a:r>
            <a:r>
              <a:rPr lang="en-US" altLang="zh-CN" dirty="0"/>
              <a:t>×</a:t>
            </a:r>
            <a:r>
              <a:rPr lang="en-US" altLang="zh-CN" sz="2800" dirty="0"/>
              <a:t>S</a:t>
            </a:r>
            <a:r>
              <a:rPr lang="en-US" altLang="zh-CN" sz="2800" baseline="30000" dirty="0">
                <a:ea typeface="黑体" pitchFamily="49" charset="-122"/>
              </a:rPr>
              <a:t>c</a:t>
            </a:r>
            <a:r>
              <a:rPr lang="en-US" altLang="zh-CN" sz="2800" dirty="0">
                <a:ea typeface="黑体" pitchFamily="49" charset="-122"/>
              </a:rPr>
              <a:t>)</a:t>
            </a:r>
            <a:r>
              <a:rPr lang="en-US" altLang="zh-CN" dirty="0"/>
              <a:t>∪</a:t>
            </a:r>
            <a:r>
              <a:rPr lang="en-US" altLang="zh-CN" sz="2800" dirty="0">
                <a:ea typeface="黑体" pitchFamily="49" charset="-122"/>
              </a:rPr>
              <a:t>(W</a:t>
            </a:r>
            <a:r>
              <a:rPr lang="en-US" altLang="zh-CN" sz="2800" baseline="30000" dirty="0">
                <a:ea typeface="黑体" pitchFamily="49" charset="-122"/>
              </a:rPr>
              <a:t>c</a:t>
            </a:r>
            <a:r>
              <a:rPr lang="en-US" altLang="zh-CN" dirty="0"/>
              <a:t>×</a:t>
            </a:r>
            <a:r>
              <a:rPr lang="en-US" altLang="zh-CN" sz="2800" dirty="0">
                <a:ea typeface="黑体" pitchFamily="49" charset="-122"/>
              </a:rPr>
              <a:t>Y)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</p:txBody>
      </p:sp>
      <p:graphicFrame>
        <p:nvGraphicFramePr>
          <p:cNvPr id="11366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4049852"/>
              </p:ext>
            </p:extLst>
          </p:nvPr>
        </p:nvGraphicFramePr>
        <p:xfrm>
          <a:off x="2351584" y="4312494"/>
          <a:ext cx="725805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040" imgH="1143000" progId="Equation.DSMT4">
                  <p:embed/>
                </p:oleObj>
              </mc:Choice>
              <mc:Fallback>
                <p:oleObj name="Equation" r:id="rId2" imgW="3416040" imgH="1143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4312494"/>
                        <a:ext cx="7258050" cy="242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397304" y="3645024"/>
            <a:ext cx="4431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W(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微弱刺激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)=(1, 0.9, 0.3, 0, 0)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6BE58B-A5AD-A4AF-4B3D-6411104C1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54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条件语句的真域举例</a:t>
            </a:r>
          </a:p>
        </p:txBody>
      </p:sp>
      <p:graphicFrame>
        <p:nvGraphicFramePr>
          <p:cNvPr id="11469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99494940"/>
              </p:ext>
            </p:extLst>
          </p:nvPr>
        </p:nvGraphicFramePr>
        <p:xfrm>
          <a:off x="5861050" y="1533526"/>
          <a:ext cx="4241800" cy="213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1143000" progId="Equation.DSMT4">
                  <p:embed/>
                </p:oleObj>
              </mc:Choice>
              <mc:Fallback>
                <p:oleObj name="Equation" r:id="rId2" imgW="2273040" imgH="1143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1533526"/>
                        <a:ext cx="4241800" cy="213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Object 5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02337645"/>
              </p:ext>
            </p:extLst>
          </p:nvPr>
        </p:nvGraphicFramePr>
        <p:xfrm>
          <a:off x="3359150" y="4200526"/>
          <a:ext cx="676910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14520" imgH="1143000" progId="Equation.DSMT4">
                  <p:embed/>
                </p:oleObj>
              </mc:Choice>
              <mc:Fallback>
                <p:oleObj name="Equation" r:id="rId4" imgW="3314520" imgH="1143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200526"/>
                        <a:ext cx="676910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9" name="矩形 1"/>
          <p:cNvSpPr>
            <a:spLocks noChangeArrowheads="1"/>
          </p:cNvSpPr>
          <p:nvPr/>
        </p:nvSpPr>
        <p:spPr bwMode="auto">
          <a:xfrm>
            <a:off x="1681163" y="5949950"/>
            <a:ext cx="3790950" cy="5222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40802"/>
                </a:solidFill>
              </a:rPr>
              <a:t>弱刺激，则反应不强烈</a:t>
            </a:r>
            <a:endParaRPr lang="zh-CN" altLang="en-US" sz="2800"/>
          </a:p>
        </p:txBody>
      </p:sp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99655956"/>
              </p:ext>
            </p:extLst>
          </p:nvPr>
        </p:nvGraphicFramePr>
        <p:xfrm>
          <a:off x="1701801" y="1557339"/>
          <a:ext cx="4106863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360" imgH="1143000" progId="Equation.DSMT4">
                  <p:embed/>
                </p:oleObj>
              </mc:Choice>
              <mc:Fallback>
                <p:oleObj name="Equation" r:id="rId6" imgW="2133360" imgH="1143000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1" y="1557339"/>
                        <a:ext cx="4106863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ACA611E-8336-E46E-2AD2-CF9F593B36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5F706F-8DDC-404F-A8E0-F4FFD0110F38}" type="slidenum">
              <a:rPr lang="en-US" altLang="zh-CN" smtClean="0"/>
              <a:pPr>
                <a:defRPr/>
              </a:pPr>
              <a:t>55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条件语句的真域举例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84314"/>
            <a:ext cx="8856340" cy="1728787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若“</a:t>
            </a:r>
            <a:r>
              <a:rPr lang="zh-CN" altLang="en-US" sz="2800" b="1" u="sng" dirty="0">
                <a:solidFill>
                  <a:srgbClr val="F40802"/>
                </a:solidFill>
              </a:rPr>
              <a:t>弱刺激，则反应不强烈</a:t>
            </a:r>
            <a:r>
              <a:rPr lang="zh-CN" altLang="en-US" sz="2800" b="1" dirty="0"/>
              <a:t>”：</a:t>
            </a:r>
          </a:p>
          <a:p>
            <a:pPr eaLnBrk="1" hangingPunct="1"/>
            <a:r>
              <a:rPr lang="zh-CN" altLang="en-US" sz="2800" dirty="0"/>
              <a:t>即</a:t>
            </a:r>
            <a:r>
              <a:rPr lang="en-US" altLang="zh-CN" sz="2800" dirty="0">
                <a:ea typeface="黑体" pitchFamily="49" charset="-122"/>
              </a:rPr>
              <a:t>R=(W</a:t>
            </a:r>
            <a:r>
              <a:rPr lang="en-US" altLang="zh-CN" dirty="0"/>
              <a:t>×</a:t>
            </a:r>
            <a:r>
              <a:rPr lang="en-US" altLang="zh-CN" sz="2800" dirty="0"/>
              <a:t>S</a:t>
            </a:r>
            <a:r>
              <a:rPr lang="en-US" altLang="zh-CN" sz="2800" baseline="30000" dirty="0">
                <a:ea typeface="黑体" pitchFamily="49" charset="-122"/>
              </a:rPr>
              <a:t>c</a:t>
            </a:r>
            <a:r>
              <a:rPr lang="en-US" altLang="zh-CN" sz="2800" dirty="0">
                <a:ea typeface="黑体" pitchFamily="49" charset="-122"/>
              </a:rPr>
              <a:t>)</a:t>
            </a:r>
            <a:r>
              <a:rPr lang="en-US" altLang="zh-CN" dirty="0"/>
              <a:t>∪</a:t>
            </a:r>
            <a:r>
              <a:rPr lang="en-US" altLang="zh-CN" sz="2800" dirty="0">
                <a:ea typeface="黑体" pitchFamily="49" charset="-122"/>
              </a:rPr>
              <a:t>(W</a:t>
            </a:r>
            <a:r>
              <a:rPr lang="en-US" altLang="zh-CN" sz="2800" baseline="30000" dirty="0">
                <a:ea typeface="黑体" pitchFamily="49" charset="-122"/>
              </a:rPr>
              <a:t>c</a:t>
            </a:r>
            <a:r>
              <a:rPr lang="en-US" altLang="zh-CN" dirty="0"/>
              <a:t>×</a:t>
            </a:r>
            <a:r>
              <a:rPr lang="en-US" altLang="zh-CN" sz="2800" dirty="0">
                <a:ea typeface="黑体" pitchFamily="49" charset="-122"/>
              </a:rPr>
              <a:t>Y)</a:t>
            </a:r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对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中等刺激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M</a:t>
            </a:r>
            <a:r>
              <a:rPr lang="zh-CN" altLang="en-US" sz="2800" dirty="0">
                <a:ea typeface="黑体" pitchFamily="49" charset="-122"/>
              </a:rPr>
              <a:t>，其反应为</a:t>
            </a:r>
            <a:r>
              <a:rPr lang="en-US" altLang="zh-CN" sz="2800" dirty="0">
                <a:ea typeface="黑体" pitchFamily="49" charset="-122"/>
              </a:rPr>
              <a:t>S‘=M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◦R</a:t>
            </a:r>
          </a:p>
        </p:txBody>
      </p:sp>
      <p:graphicFrame>
        <p:nvGraphicFramePr>
          <p:cNvPr id="116742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135188" y="3141663"/>
          <a:ext cx="7632700" cy="246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43300" imgH="1143000" progId="Equation.3">
                  <p:embed/>
                </p:oleObj>
              </mc:Choice>
              <mc:Fallback>
                <p:oleObj name="公式" r:id="rId2" imgW="3543300" imgH="114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141663"/>
                        <a:ext cx="7632700" cy="246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 Box 8"/>
          <p:cNvSpPr txBox="1">
            <a:spLocks noChangeArrowheads="1"/>
          </p:cNvSpPr>
          <p:nvPr/>
        </p:nvSpPr>
        <p:spPr bwMode="auto">
          <a:xfrm>
            <a:off x="2855913" y="5805488"/>
            <a:ext cx="50403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2855914" y="5589588"/>
            <a:ext cx="4751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dirty="0"/>
              <a:t>=[0.7  0.7  0.7  0.7  0.7]</a:t>
            </a: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2566989" y="6237288"/>
            <a:ext cx="6192837" cy="4572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结果表明：中等刺激时，反应是不可测的。</a:t>
            </a:r>
          </a:p>
        </p:txBody>
      </p:sp>
      <p:sp>
        <p:nvSpPr>
          <p:cNvPr id="2" name="矩形 1"/>
          <p:cNvSpPr/>
          <p:nvPr/>
        </p:nvSpPr>
        <p:spPr>
          <a:xfrm>
            <a:off x="6603626" y="2132856"/>
            <a:ext cx="4312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M(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中等刺激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)=(0, 0.4, 1, 0.4, 0)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43F992-05C2-4074-2D0C-F3506394B8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56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5" grpId="0"/>
      <p:bldP spid="11674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1415480" y="2492375"/>
            <a:ext cx="2879725" cy="16573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1"/>
            <a:ext cx="8229600" cy="93662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多重条件语句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125538"/>
            <a:ext cx="10297144" cy="57324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设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),(a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),…,(a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的真域分别为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,…,A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设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(b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),(b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),…,(b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的真域分别为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,…,B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itchFamily="49" charset="-122"/>
              </a:rPr>
              <a:t>类似于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条件语句，有多重条件语句：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若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(a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则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(b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), 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否则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若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(a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则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(b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), 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否则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……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若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(a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则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(b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ea typeface="黑体" pitchFamily="49" charset="-122"/>
              </a:rPr>
              <a:t>表示</a:t>
            </a:r>
            <a:r>
              <a:rPr lang="en-US" altLang="zh-CN" sz="2400" dirty="0">
                <a:ea typeface="黑体" pitchFamily="49" charset="-122"/>
              </a:rPr>
              <a:t>X</a:t>
            </a:r>
            <a:r>
              <a:rPr lang="zh-CN" altLang="en-US" sz="2400" dirty="0">
                <a:ea typeface="黑体" pitchFamily="49" charset="-122"/>
              </a:rPr>
              <a:t>到</a:t>
            </a:r>
            <a:r>
              <a:rPr lang="en-US" altLang="zh-CN" sz="2400" dirty="0">
                <a:ea typeface="黑体" pitchFamily="49" charset="-122"/>
              </a:rPr>
              <a:t>Y</a:t>
            </a:r>
            <a:r>
              <a:rPr lang="zh-CN" altLang="en-US" sz="2400" dirty="0">
                <a:ea typeface="黑体" pitchFamily="49" charset="-122"/>
              </a:rPr>
              <a:t>的一个</a:t>
            </a:r>
            <a:r>
              <a:rPr lang="en-US" altLang="zh-CN" sz="2400" dirty="0">
                <a:ea typeface="黑体" pitchFamily="49" charset="-122"/>
              </a:rPr>
              <a:t>F</a:t>
            </a:r>
            <a:r>
              <a:rPr lang="zh-CN" altLang="en-US" sz="2400" dirty="0">
                <a:ea typeface="黑体" pitchFamily="49" charset="-122"/>
              </a:rPr>
              <a:t>关系</a:t>
            </a:r>
            <a:r>
              <a:rPr lang="en-US" altLang="zh-CN" sz="2400" dirty="0">
                <a:ea typeface="黑体" pitchFamily="49" charset="-122"/>
              </a:rPr>
              <a:t>R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       R=(A</a:t>
            </a:r>
            <a:r>
              <a:rPr lang="en-US" altLang="zh-CN" sz="2800" baseline="-25000" dirty="0">
                <a:solidFill>
                  <a:srgbClr val="F40802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rgbClr val="F40802"/>
                </a:solidFill>
                <a:sym typeface="Symbol"/>
              </a:rPr>
              <a:t>  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B</a:t>
            </a:r>
            <a:r>
              <a:rPr lang="en-US" altLang="zh-CN" sz="2800" baseline="-25000" dirty="0">
                <a:solidFill>
                  <a:srgbClr val="F40802"/>
                </a:solidFill>
                <a:ea typeface="黑体" pitchFamily="49" charset="-122"/>
              </a:rPr>
              <a:t>1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)∪(A</a:t>
            </a:r>
            <a:r>
              <a:rPr lang="en-US" altLang="zh-CN" sz="2800" baseline="-25000" dirty="0">
                <a:solidFill>
                  <a:srgbClr val="F4080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F40802"/>
                </a:solidFill>
                <a:sym typeface="Symbol"/>
              </a:rPr>
              <a:t>  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B</a:t>
            </a:r>
            <a:r>
              <a:rPr lang="en-US" altLang="zh-CN" sz="2800" baseline="-25000" dirty="0">
                <a:solidFill>
                  <a:srgbClr val="F40802"/>
                </a:solidFill>
                <a:ea typeface="黑体" pitchFamily="49" charset="-122"/>
              </a:rPr>
              <a:t>2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)∪…∪(A</a:t>
            </a:r>
            <a:r>
              <a:rPr lang="en-US" altLang="zh-CN" sz="2800" baseline="-25000" dirty="0">
                <a:solidFill>
                  <a:srgbClr val="F40802"/>
                </a:solidFill>
                <a:ea typeface="黑体" pitchFamily="49" charset="-122"/>
              </a:rPr>
              <a:t>n</a:t>
            </a:r>
            <a:r>
              <a:rPr lang="en-US" altLang="zh-CN" sz="2800" dirty="0">
                <a:solidFill>
                  <a:srgbClr val="F40802"/>
                </a:solidFill>
                <a:sym typeface="Symbol"/>
              </a:rPr>
              <a:t>  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B</a:t>
            </a:r>
            <a:r>
              <a:rPr lang="en-US" altLang="zh-CN" sz="2800" baseline="-25000" dirty="0">
                <a:solidFill>
                  <a:srgbClr val="F40802"/>
                </a:solidFill>
                <a:ea typeface="黑体" pitchFamily="49" charset="-122"/>
              </a:rPr>
              <a:t>n</a:t>
            </a:r>
            <a:r>
              <a:rPr lang="en-US" altLang="zh-CN" sz="2800" dirty="0">
                <a:solidFill>
                  <a:srgbClr val="F40802"/>
                </a:solidFill>
                <a:ea typeface="黑体" pitchFamily="49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600" dirty="0">
              <a:solidFill>
                <a:srgbClr val="008000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隶属函数为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4000" dirty="0">
              <a:solidFill>
                <a:srgbClr val="008000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itchFamily="49" charset="-122"/>
              </a:rPr>
              <a:t>对于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关系，若给出输入</a:t>
            </a:r>
            <a:r>
              <a:rPr lang="en-US" altLang="zh-CN" sz="2800" dirty="0">
                <a:ea typeface="黑体" pitchFamily="49" charset="-122"/>
              </a:rPr>
              <a:t>A’</a:t>
            </a:r>
            <a:r>
              <a:rPr lang="zh-CN" altLang="en-US" sz="2800" dirty="0">
                <a:ea typeface="黑体" pitchFamily="49" charset="-122"/>
              </a:rPr>
              <a:t>， 则有输出</a:t>
            </a:r>
            <a:r>
              <a:rPr lang="en-US" altLang="zh-CN" sz="2800" dirty="0">
                <a:ea typeface="黑体" pitchFamily="49" charset="-122"/>
              </a:rPr>
              <a:t>B’=A’</a:t>
            </a:r>
            <a:r>
              <a:rPr lang="en-US" altLang="zh-CN" dirty="0">
                <a:ea typeface="黑体" pitchFamily="49" charset="-122"/>
                <a:cs typeface="Arial" charset="0"/>
              </a:rPr>
              <a:t>◦</a:t>
            </a:r>
            <a:r>
              <a:rPr lang="en-US" altLang="zh-CN" sz="2800" dirty="0">
                <a:ea typeface="黑体" pitchFamily="49" charset="-122"/>
              </a:rPr>
              <a:t>R</a:t>
            </a:r>
          </a:p>
        </p:txBody>
      </p:sp>
      <p:graphicFrame>
        <p:nvGraphicFramePr>
          <p:cNvPr id="5325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8507796"/>
              </p:ext>
            </p:extLst>
          </p:nvPr>
        </p:nvGraphicFramePr>
        <p:xfrm>
          <a:off x="4310063" y="5373689"/>
          <a:ext cx="4075112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368280" progId="Equation.DSMT4">
                  <p:embed/>
                </p:oleObj>
              </mc:Choice>
              <mc:Fallback>
                <p:oleObj name="Equation" r:id="rId2" imgW="1638000" imgH="368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63" y="5373689"/>
                        <a:ext cx="4075112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48D6B4-CE6C-9C3B-DD85-70414101EE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270D86-D182-40B9-A35F-CF92249B9F9E}" type="slidenum">
              <a:rPr lang="en-US" altLang="zh-CN" smtClean="0"/>
              <a:pPr>
                <a:defRPr/>
              </a:pPr>
              <a:t>57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 animBg="1"/>
      <p:bldP spid="53251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40985A08-B552-B110-C29E-6C17B4ADE3F5}"/>
              </a:ext>
            </a:extLst>
          </p:cNvPr>
          <p:cNvGrpSpPr/>
          <p:nvPr/>
        </p:nvGrpSpPr>
        <p:grpSpPr>
          <a:xfrm>
            <a:off x="2279576" y="673532"/>
            <a:ext cx="7344816" cy="6014992"/>
            <a:chOff x="755576" y="476672"/>
            <a:chExt cx="7344816" cy="6014992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61AAC9D9-2394-BA84-0F8E-F1317EC87644}"/>
                </a:ext>
              </a:extLst>
            </p:cNvPr>
            <p:cNvCxnSpPr/>
            <p:nvPr/>
          </p:nvCxnSpPr>
          <p:spPr bwMode="auto">
            <a:xfrm>
              <a:off x="1331640" y="6021288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BB96A189-9C93-4C7D-F790-A78EC08D5DCD}"/>
                </a:ext>
              </a:extLst>
            </p:cNvPr>
            <p:cNvCxnSpPr/>
            <p:nvPr/>
          </p:nvCxnSpPr>
          <p:spPr bwMode="auto">
            <a:xfrm flipV="1">
              <a:off x="1331640" y="476672"/>
              <a:ext cx="0" cy="554461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A6F545E-7B51-4E0B-86E8-8415F93E68F6}"/>
                </a:ext>
              </a:extLst>
            </p:cNvPr>
            <p:cNvSpPr/>
            <p:nvPr/>
          </p:nvSpPr>
          <p:spPr bwMode="auto">
            <a:xfrm>
              <a:off x="1331640" y="5157192"/>
              <a:ext cx="1152116" cy="86409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9B1D045-C964-5CFC-472F-92A72B2A4D22}"/>
                </a:ext>
              </a:extLst>
            </p:cNvPr>
            <p:cNvSpPr/>
            <p:nvPr/>
          </p:nvSpPr>
          <p:spPr bwMode="auto">
            <a:xfrm>
              <a:off x="2483756" y="4365107"/>
              <a:ext cx="792099" cy="792085"/>
            </a:xfrm>
            <a:prstGeom prst="rect">
              <a:avLst/>
            </a:prstGeom>
            <a:solidFill>
              <a:srgbClr val="FF804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C0F2EBB-3E25-D5CE-8130-2DF5CFB0BD8D}"/>
                </a:ext>
              </a:extLst>
            </p:cNvPr>
            <p:cNvSpPr/>
            <p:nvPr/>
          </p:nvSpPr>
          <p:spPr bwMode="auto">
            <a:xfrm>
              <a:off x="3275854" y="3797342"/>
              <a:ext cx="1152116" cy="567765"/>
            </a:xfrm>
            <a:prstGeom prst="rect">
              <a:avLst/>
            </a:prstGeom>
            <a:solidFill>
              <a:srgbClr val="00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1C5C05C-C36F-89BE-70C4-217801D19AEB}"/>
                </a:ext>
              </a:extLst>
            </p:cNvPr>
            <p:cNvSpPr/>
            <p:nvPr/>
          </p:nvSpPr>
          <p:spPr bwMode="auto">
            <a:xfrm>
              <a:off x="6012160" y="1268760"/>
              <a:ext cx="1152116" cy="86409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9F46689-4748-C23D-A52F-2D88CE4F64D6}"/>
                </a:ext>
              </a:extLst>
            </p:cNvPr>
            <p:cNvSpPr/>
            <p:nvPr/>
          </p:nvSpPr>
          <p:spPr bwMode="auto">
            <a:xfrm>
              <a:off x="4427970" y="2276876"/>
              <a:ext cx="1584183" cy="151215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r"/>
              <a:r>
                <a:rPr lang="en-US" altLang="zh-CN" sz="2800" dirty="0"/>
                <a:t>.</a:t>
              </a:r>
            </a:p>
            <a:p>
              <a:r>
                <a:rPr lang="en-US" altLang="zh-CN" sz="2800" dirty="0"/>
                <a:t>.</a:t>
              </a:r>
            </a:p>
            <a:p>
              <a:pPr algn="l"/>
              <a:r>
                <a:rPr lang="en-US" altLang="zh-CN" sz="2800" dirty="0"/>
                <a:t>.</a:t>
              </a:r>
              <a:endParaRPr lang="zh-CN" altLang="en-US" sz="36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E4D3517-418E-0DBD-741D-5C454ED452E7}"/>
                </a:ext>
              </a:extLst>
            </p:cNvPr>
            <p:cNvSpPr txBox="1"/>
            <p:nvPr/>
          </p:nvSpPr>
          <p:spPr>
            <a:xfrm>
              <a:off x="1331640" y="5968444"/>
              <a:ext cx="6768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    </a:t>
              </a:r>
              <a:r>
                <a:rPr lang="en-US" altLang="zh-CN" sz="2800" dirty="0">
                  <a:solidFill>
                    <a:srgbClr val="9999FF"/>
                  </a:solidFill>
                  <a:ea typeface="黑体" pitchFamily="49" charset="-122"/>
                </a:rPr>
                <a:t>A</a:t>
              </a:r>
              <a:r>
                <a:rPr lang="en-US" altLang="zh-CN" sz="2800" baseline="-25000" dirty="0">
                  <a:solidFill>
                    <a:srgbClr val="9999FF"/>
                  </a:solidFill>
                  <a:ea typeface="黑体" pitchFamily="49" charset="-122"/>
                </a:rPr>
                <a:t>1</a:t>
              </a:r>
              <a:r>
                <a:rPr lang="en-US" altLang="zh-CN" sz="2800" baseline="-25000" dirty="0">
                  <a:solidFill>
                    <a:schemeClr val="bg2"/>
                  </a:solidFill>
                  <a:ea typeface="黑体" pitchFamily="49" charset="-122"/>
                </a:rPr>
                <a:t>       </a:t>
              </a:r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  </a:t>
              </a:r>
              <a:r>
                <a:rPr lang="en-US" altLang="zh-CN" sz="2800" dirty="0">
                  <a:solidFill>
                    <a:srgbClr val="FF8040"/>
                  </a:solidFill>
                  <a:ea typeface="黑体" pitchFamily="49" charset="-122"/>
                </a:rPr>
                <a:t>A</a:t>
              </a:r>
              <a:r>
                <a:rPr lang="en-US" altLang="zh-CN" sz="2800" baseline="-25000" dirty="0">
                  <a:solidFill>
                    <a:srgbClr val="FF8040"/>
                  </a:solidFill>
                  <a:ea typeface="黑体" pitchFamily="49" charset="-122"/>
                </a:rPr>
                <a:t>2        </a:t>
              </a:r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 </a:t>
              </a:r>
              <a:r>
                <a:rPr lang="en-US" altLang="zh-CN" sz="2800" dirty="0">
                  <a:solidFill>
                    <a:srgbClr val="00FF00"/>
                  </a:solidFill>
                  <a:ea typeface="黑体" pitchFamily="49" charset="-122"/>
                </a:rPr>
                <a:t>A</a:t>
              </a:r>
              <a:r>
                <a:rPr lang="en-US" altLang="zh-CN" sz="2800" baseline="-25000" dirty="0">
                  <a:solidFill>
                    <a:srgbClr val="00FF00"/>
                  </a:solidFill>
                  <a:ea typeface="黑体" pitchFamily="49" charset="-122"/>
                </a:rPr>
                <a:t>3       </a:t>
              </a:r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……           </a:t>
              </a:r>
              <a:r>
                <a:rPr lang="en-US" altLang="zh-CN" sz="2800" dirty="0">
                  <a:solidFill>
                    <a:srgbClr val="FF0000"/>
                  </a:solidFill>
                  <a:ea typeface="黑体" pitchFamily="49" charset="-122"/>
                </a:rPr>
                <a:t>A</a:t>
              </a:r>
              <a:r>
                <a:rPr lang="en-US" altLang="zh-CN" sz="2800" baseline="-25000" dirty="0">
                  <a:solidFill>
                    <a:srgbClr val="FF0000"/>
                  </a:solidFill>
                  <a:ea typeface="黑体" pitchFamily="49" charset="-122"/>
                </a:rPr>
                <a:t>n              </a:t>
              </a:r>
              <a:r>
                <a:rPr lang="en-US" altLang="zh-CN" sz="2800" dirty="0">
                  <a:ea typeface="黑体" pitchFamily="49" charset="-122"/>
                </a:rPr>
                <a:t>X</a:t>
              </a:r>
              <a:endParaRPr lang="zh-CN" altLang="en-US" sz="28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06ADD5-C41D-DADC-0815-65271667D567}"/>
                </a:ext>
              </a:extLst>
            </p:cNvPr>
            <p:cNvSpPr txBox="1"/>
            <p:nvPr/>
          </p:nvSpPr>
          <p:spPr>
            <a:xfrm>
              <a:off x="755576" y="493427"/>
              <a:ext cx="720080" cy="5427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800" dirty="0">
                  <a:ea typeface="黑体" pitchFamily="49" charset="-122"/>
                </a:rPr>
                <a:t>Y</a:t>
              </a:r>
            </a:p>
            <a:p>
              <a:pPr algn="l"/>
              <a:endParaRPr lang="en-US" altLang="zh-CN" sz="2800" dirty="0">
                <a:solidFill>
                  <a:srgbClr val="FF0000"/>
                </a:solidFill>
                <a:ea typeface="黑体" pitchFamily="49" charset="-122"/>
              </a:endParaRPr>
            </a:p>
            <a:p>
              <a:pPr algn="l"/>
              <a:r>
                <a:rPr lang="en-US" altLang="zh-CN" sz="2800" dirty="0">
                  <a:solidFill>
                    <a:srgbClr val="FF0000"/>
                  </a:solidFill>
                  <a:ea typeface="黑体" pitchFamily="49" charset="-122"/>
                </a:rPr>
                <a:t>B</a:t>
              </a:r>
              <a:r>
                <a:rPr lang="en-US" altLang="zh-CN" sz="2800" baseline="-25000" dirty="0">
                  <a:solidFill>
                    <a:srgbClr val="FF0000"/>
                  </a:solidFill>
                  <a:ea typeface="黑体" pitchFamily="49" charset="-122"/>
                </a:rPr>
                <a:t>n</a:t>
              </a:r>
              <a:endParaRPr lang="en-US" altLang="zh-CN" sz="2800" dirty="0">
                <a:solidFill>
                  <a:schemeClr val="bg2"/>
                </a:solidFill>
                <a:ea typeface="黑体" pitchFamily="49" charset="-122"/>
              </a:endParaRPr>
            </a:p>
            <a:p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.</a:t>
              </a:r>
            </a:p>
            <a:p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.</a:t>
              </a:r>
            </a:p>
            <a:p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.</a:t>
              </a:r>
            </a:p>
            <a:p>
              <a:pPr algn="l"/>
              <a:endParaRPr lang="en-US" altLang="zh-CN" sz="2400" dirty="0">
                <a:solidFill>
                  <a:schemeClr val="bg2"/>
                </a:solidFill>
                <a:ea typeface="黑体" pitchFamily="49" charset="-122"/>
              </a:endParaRPr>
            </a:p>
            <a:p>
              <a:pPr algn="l"/>
              <a:endParaRPr lang="en-US" altLang="zh-CN" sz="2400" dirty="0">
                <a:solidFill>
                  <a:schemeClr val="bg2"/>
                </a:solidFill>
                <a:ea typeface="黑体" pitchFamily="49" charset="-122"/>
              </a:endParaRPr>
            </a:p>
            <a:p>
              <a:pPr algn="l"/>
              <a:r>
                <a:rPr lang="en-US" altLang="zh-CN" sz="2800" dirty="0">
                  <a:solidFill>
                    <a:srgbClr val="00FF00"/>
                  </a:solidFill>
                  <a:ea typeface="黑体" pitchFamily="49" charset="-122"/>
                </a:rPr>
                <a:t>B</a:t>
              </a:r>
              <a:r>
                <a:rPr lang="en-US" altLang="zh-CN" sz="2800" baseline="-25000" dirty="0">
                  <a:solidFill>
                    <a:srgbClr val="00FF00"/>
                  </a:solidFill>
                  <a:ea typeface="黑体" pitchFamily="49" charset="-122"/>
                </a:rPr>
                <a:t>3</a:t>
              </a:r>
              <a:endParaRPr lang="en-US" altLang="zh-CN" sz="2800" dirty="0">
                <a:solidFill>
                  <a:srgbClr val="00FF00"/>
                </a:solidFill>
                <a:ea typeface="黑体" pitchFamily="49" charset="-122"/>
              </a:endParaRPr>
            </a:p>
            <a:p>
              <a:pPr algn="l"/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 </a:t>
              </a:r>
            </a:p>
            <a:p>
              <a:pPr algn="l"/>
              <a:r>
                <a:rPr lang="en-US" altLang="zh-CN" sz="2800" dirty="0">
                  <a:solidFill>
                    <a:srgbClr val="FF8040"/>
                  </a:solidFill>
                  <a:ea typeface="黑体" pitchFamily="49" charset="-122"/>
                </a:rPr>
                <a:t>B</a:t>
              </a:r>
              <a:r>
                <a:rPr lang="en-US" altLang="zh-CN" sz="2800" baseline="-25000" dirty="0">
                  <a:solidFill>
                    <a:srgbClr val="FF8040"/>
                  </a:solidFill>
                  <a:ea typeface="黑体" pitchFamily="49" charset="-122"/>
                </a:rPr>
                <a:t>2</a:t>
              </a:r>
            </a:p>
            <a:p>
              <a:pPr algn="l"/>
              <a:endParaRPr lang="en-US" altLang="zh-CN" sz="2800" baseline="-25000" dirty="0">
                <a:solidFill>
                  <a:schemeClr val="bg2"/>
                </a:solidFill>
                <a:ea typeface="黑体" pitchFamily="49" charset="-122"/>
              </a:endParaRPr>
            </a:p>
            <a:p>
              <a:pPr algn="l"/>
              <a:r>
                <a:rPr lang="en-US" altLang="zh-CN" sz="2800" dirty="0">
                  <a:solidFill>
                    <a:srgbClr val="9999FF"/>
                  </a:solidFill>
                  <a:ea typeface="黑体" pitchFamily="49" charset="-122"/>
                </a:rPr>
                <a:t>B</a:t>
              </a:r>
              <a:r>
                <a:rPr lang="en-US" altLang="zh-CN" sz="2800" baseline="-25000" dirty="0">
                  <a:solidFill>
                    <a:srgbClr val="9999FF"/>
                  </a:solidFill>
                  <a:ea typeface="黑体" pitchFamily="49" charset="-122"/>
                </a:rPr>
                <a:t>1</a:t>
              </a:r>
              <a:endParaRPr lang="zh-CN" altLang="en-US" sz="2800" dirty="0">
                <a:solidFill>
                  <a:srgbClr val="9999FF"/>
                </a:solidFill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BE1764E-A211-AFB3-804C-71135E519498}"/>
                </a:ext>
              </a:extLst>
            </p:cNvPr>
            <p:cNvCxnSpPr/>
            <p:nvPr/>
          </p:nvCxnSpPr>
          <p:spPr bwMode="auto">
            <a:xfrm flipH="1">
              <a:off x="1331640" y="1268760"/>
              <a:ext cx="46805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0444C81A-694C-2BBE-DEF7-9167810545F3}"/>
                </a:ext>
              </a:extLst>
            </p:cNvPr>
            <p:cNvCxnSpPr/>
            <p:nvPr/>
          </p:nvCxnSpPr>
          <p:spPr bwMode="auto">
            <a:xfrm flipH="1">
              <a:off x="1331640" y="2132855"/>
              <a:ext cx="468051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FE53428-BAED-C175-58D1-5FF54CFA4A38}"/>
                </a:ext>
              </a:extLst>
            </p:cNvPr>
            <p:cNvCxnSpPr/>
            <p:nvPr/>
          </p:nvCxnSpPr>
          <p:spPr bwMode="auto">
            <a:xfrm flipH="1">
              <a:off x="1331640" y="3789034"/>
              <a:ext cx="194421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C1C8448-064A-BDF2-592A-58D07D855C4F}"/>
                </a:ext>
              </a:extLst>
            </p:cNvPr>
            <p:cNvCxnSpPr/>
            <p:nvPr/>
          </p:nvCxnSpPr>
          <p:spPr bwMode="auto">
            <a:xfrm flipH="1">
              <a:off x="1331640" y="4378008"/>
              <a:ext cx="115211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39D5C45-3DB3-C3C9-D5DD-A76667F89F21}"/>
                </a:ext>
              </a:extLst>
            </p:cNvPr>
            <p:cNvCxnSpPr/>
            <p:nvPr/>
          </p:nvCxnSpPr>
          <p:spPr bwMode="auto">
            <a:xfrm>
              <a:off x="7164276" y="2132855"/>
              <a:ext cx="0" cy="38884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34180FD-1268-68D8-A61C-BEAC1D16FF45}"/>
                </a:ext>
              </a:extLst>
            </p:cNvPr>
            <p:cNvCxnSpPr/>
            <p:nvPr/>
          </p:nvCxnSpPr>
          <p:spPr bwMode="auto">
            <a:xfrm>
              <a:off x="6012153" y="2132855"/>
              <a:ext cx="0" cy="388843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875DBFE-5C71-A5B3-1D0E-1FF1F90B10EE}"/>
                </a:ext>
              </a:extLst>
            </p:cNvPr>
            <p:cNvCxnSpPr/>
            <p:nvPr/>
          </p:nvCxnSpPr>
          <p:spPr bwMode="auto">
            <a:xfrm>
              <a:off x="4427970" y="4365107"/>
              <a:ext cx="0" cy="16561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02A0A7C-2508-BCDE-7771-59FECAE6A0A0}"/>
                </a:ext>
              </a:extLst>
            </p:cNvPr>
            <p:cNvCxnSpPr/>
            <p:nvPr/>
          </p:nvCxnSpPr>
          <p:spPr bwMode="auto">
            <a:xfrm>
              <a:off x="3275854" y="5157192"/>
              <a:ext cx="8370" cy="8769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33" name="Object 4">
            <a:extLst>
              <a:ext uri="{FF2B5EF4-FFF2-40B4-BE49-F238E27FC236}">
                <a16:creationId xmlns:a16="http://schemas.microsoft.com/office/drawing/2014/main" id="{049CEFCA-1458-71F1-A25F-A39DC4C53B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450458"/>
              </p:ext>
            </p:extLst>
          </p:nvPr>
        </p:nvGraphicFramePr>
        <p:xfrm>
          <a:off x="7721826" y="3873607"/>
          <a:ext cx="4075113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368280" progId="Equation.DSMT4">
                  <p:embed/>
                </p:oleObj>
              </mc:Choice>
              <mc:Fallback>
                <p:oleObj name="Equation" r:id="rId2" imgW="1638000" imgH="368280" progId="Equation.DSMT4">
                  <p:embed/>
                  <p:pic>
                    <p:nvPicPr>
                      <p:cNvPr id="532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826" y="3873607"/>
                        <a:ext cx="4075113" cy="915988"/>
                      </a:xfrm>
                      <a:prstGeom prst="rect">
                        <a:avLst/>
                      </a:prstGeom>
                      <a:solidFill>
                        <a:srgbClr val="C1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2">
            <a:extLst>
              <a:ext uri="{FF2B5EF4-FFF2-40B4-BE49-F238E27FC236}">
                <a16:creationId xmlns:a16="http://schemas.microsoft.com/office/drawing/2014/main" id="{0F46071F-E38C-8B30-D0B3-CE36AD580665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90320"/>
            <a:ext cx="8229600" cy="97844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kern="0" dirty="0">
                <a:solidFill>
                  <a:srgbClr val="008000"/>
                </a:solidFill>
                <a:ea typeface="黑体" pitchFamily="49" charset="-122"/>
              </a:rPr>
              <a:t>多重条件语句的真域</a:t>
            </a:r>
          </a:p>
        </p:txBody>
      </p:sp>
      <p:graphicFrame>
        <p:nvGraphicFramePr>
          <p:cNvPr id="35" name="Object 4">
            <a:extLst>
              <a:ext uri="{FF2B5EF4-FFF2-40B4-BE49-F238E27FC236}">
                <a16:creationId xmlns:a16="http://schemas.microsoft.com/office/drawing/2014/main" id="{E578A601-9D90-31D6-7AC5-F99CBE1E8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759537"/>
              </p:ext>
            </p:extLst>
          </p:nvPr>
        </p:nvGraphicFramePr>
        <p:xfrm>
          <a:off x="8727361" y="2717998"/>
          <a:ext cx="20653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431640" progId="Equation.DSMT4">
                  <p:embed/>
                </p:oleObj>
              </mc:Choice>
              <mc:Fallback>
                <p:oleObj name="Equation" r:id="rId4" imgW="901440" imgH="431640" progId="Equation.DSMT4">
                  <p:embed/>
                  <p:pic>
                    <p:nvPicPr>
                      <p:cNvPr id="29" name="Object 4">
                        <a:extLst>
                          <a:ext uri="{FF2B5EF4-FFF2-40B4-BE49-F238E27FC236}">
                            <a16:creationId xmlns:a16="http://schemas.microsoft.com/office/drawing/2014/main" id="{3DA20730-7A9C-90E6-7192-A865F12069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7361" y="2717998"/>
                        <a:ext cx="2065337" cy="987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12EF00-30BD-708E-FE2B-A1B4FA74A4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92AEF5-DF13-45FD-971B-7400E1910EAE}" type="slidenum">
              <a:rPr lang="en-US" altLang="zh-CN" smtClean="0"/>
              <a:pPr>
                <a:defRPr/>
              </a:pPr>
              <a:t>58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5121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8"/>
          <p:cNvSpPr>
            <a:spLocks noChangeArrowheads="1"/>
          </p:cNvSpPr>
          <p:nvPr/>
        </p:nvSpPr>
        <p:spPr bwMode="auto">
          <a:xfrm>
            <a:off x="1847528" y="1412876"/>
            <a:ext cx="3888432" cy="1872108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复合条件语句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412876"/>
            <a:ext cx="9721080" cy="5445125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若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且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则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(c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),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否则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若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且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则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(c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2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),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否则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……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若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(a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且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则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(c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</a:rPr>
              <a:t>n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en-US" altLang="zh-CN" sz="2800" baseline="-25000" dirty="0">
                <a:ea typeface="黑体" pitchFamily="49" charset="-122"/>
              </a:rPr>
              <a:t>i</a:t>
            </a:r>
            <a:r>
              <a:rPr lang="zh-CN" altLang="en-US" sz="2800" dirty="0">
                <a:ea typeface="黑体" pitchFamily="49" charset="-122"/>
              </a:rPr>
              <a:t>对应</a:t>
            </a:r>
            <a:r>
              <a:rPr lang="en-US" altLang="zh-CN" sz="2800" dirty="0" err="1">
                <a:ea typeface="黑体" pitchFamily="49" charset="-122"/>
              </a:rPr>
              <a:t>A</a:t>
            </a:r>
            <a:r>
              <a:rPr lang="en-US" altLang="zh-CN" sz="2800" baseline="-25000" dirty="0" err="1">
                <a:ea typeface="黑体" pitchFamily="49" charset="-122"/>
              </a:rPr>
              <a:t>i</a:t>
            </a:r>
            <a:r>
              <a:rPr lang="en-US" altLang="zh-CN" sz="2800" dirty="0" err="1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sz="2800" dirty="0">
                <a:ea typeface="黑体" pitchFamily="49" charset="-122"/>
              </a:rPr>
              <a:t>(X), b</a:t>
            </a:r>
            <a:r>
              <a:rPr lang="en-US" altLang="zh-CN" sz="2800" baseline="-25000" dirty="0">
                <a:ea typeface="黑体" pitchFamily="49" charset="-122"/>
              </a:rPr>
              <a:t>i</a:t>
            </a:r>
            <a:r>
              <a:rPr lang="zh-CN" altLang="en-US" sz="2800" dirty="0">
                <a:ea typeface="黑体" pitchFamily="49" charset="-122"/>
              </a:rPr>
              <a:t>对应</a:t>
            </a:r>
            <a:r>
              <a:rPr lang="en-US" altLang="zh-CN" sz="2800" dirty="0" err="1">
                <a:ea typeface="黑体" pitchFamily="49" charset="-122"/>
              </a:rPr>
              <a:t>B</a:t>
            </a:r>
            <a:r>
              <a:rPr lang="en-US" altLang="zh-CN" sz="2800" baseline="-25000" dirty="0" err="1">
                <a:ea typeface="黑体" pitchFamily="49" charset="-122"/>
              </a:rPr>
              <a:t>i</a:t>
            </a:r>
            <a:r>
              <a:rPr lang="en-US" altLang="zh-CN" sz="2800" dirty="0" err="1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sz="2800" dirty="0">
                <a:ea typeface="黑体" pitchFamily="49" charset="-122"/>
              </a:rPr>
              <a:t>(Y), c</a:t>
            </a:r>
            <a:r>
              <a:rPr lang="en-US" altLang="zh-CN" sz="2800" baseline="-25000" dirty="0">
                <a:ea typeface="黑体" pitchFamily="49" charset="-122"/>
              </a:rPr>
              <a:t>i</a:t>
            </a:r>
            <a:r>
              <a:rPr lang="zh-CN" altLang="en-US" sz="2800" dirty="0">
                <a:ea typeface="黑体" pitchFamily="49" charset="-122"/>
              </a:rPr>
              <a:t>对应</a:t>
            </a:r>
            <a:r>
              <a:rPr lang="en-US" altLang="zh-CN" sz="2800" dirty="0" err="1">
                <a:ea typeface="黑体" pitchFamily="49" charset="-122"/>
              </a:rPr>
              <a:t>C</a:t>
            </a:r>
            <a:r>
              <a:rPr lang="en-US" altLang="zh-CN" sz="2800" baseline="-25000" dirty="0" err="1">
                <a:ea typeface="黑体" pitchFamily="49" charset="-122"/>
              </a:rPr>
              <a:t>i</a:t>
            </a:r>
            <a:r>
              <a:rPr lang="en-US" altLang="zh-CN" sz="2800" dirty="0" err="1"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sz="2800" dirty="0">
                <a:latin typeface="Monotype Corsiva" pitchFamily="66" charset="0"/>
                <a:ea typeface="黑体" pitchFamily="49" charset="-122"/>
              </a:rPr>
              <a:t> </a:t>
            </a:r>
            <a:r>
              <a:rPr lang="en-US" altLang="zh-CN" sz="2800" dirty="0">
                <a:ea typeface="黑体" pitchFamily="49" charset="-122"/>
              </a:rPr>
              <a:t>(Z)</a:t>
            </a:r>
            <a:r>
              <a:rPr lang="zh-CN" altLang="en-US" sz="2800" dirty="0">
                <a:ea typeface="黑体" pitchFamily="49" charset="-122"/>
              </a:rPr>
              <a:t>，</a:t>
            </a:r>
            <a:r>
              <a:rPr lang="en-US" altLang="zh-CN" sz="2800" dirty="0">
                <a:ea typeface="黑体" pitchFamily="49" charset="-122"/>
              </a:rPr>
              <a:t>(i=1,2,…,n)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上语句是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X 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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Y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Z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上的一个三元关系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R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其隶属函数为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000" dirty="0"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itchFamily="49" charset="-122"/>
              </a:rPr>
              <a:t>当系统中有两个输入量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、</a:t>
            </a:r>
            <a:r>
              <a:rPr lang="en-US" altLang="zh-CN" sz="2800" dirty="0">
                <a:ea typeface="黑体" pitchFamily="49" charset="-122"/>
              </a:rPr>
              <a:t>B</a:t>
            </a:r>
            <a:r>
              <a:rPr lang="zh-CN" altLang="en-US" sz="2800" dirty="0">
                <a:ea typeface="黑体" pitchFamily="49" charset="-122"/>
              </a:rPr>
              <a:t>，一个输出量</a:t>
            </a:r>
            <a:r>
              <a:rPr lang="en-US" altLang="zh-CN" sz="2800" dirty="0">
                <a:ea typeface="黑体" pitchFamily="49" charset="-122"/>
              </a:rPr>
              <a:t>C</a:t>
            </a:r>
            <a:r>
              <a:rPr lang="zh-CN" altLang="en-US" sz="2800" dirty="0">
                <a:ea typeface="黑体" pitchFamily="49" charset="-122"/>
              </a:rPr>
              <a:t>时，它们的关系就可用这种语句</a:t>
            </a:r>
          </a:p>
        </p:txBody>
      </p:sp>
      <p:graphicFrame>
        <p:nvGraphicFramePr>
          <p:cNvPr id="5530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6770114"/>
              </p:ext>
            </p:extLst>
          </p:nvPr>
        </p:nvGraphicFramePr>
        <p:xfrm>
          <a:off x="8185274" y="4005064"/>
          <a:ext cx="273526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93800" imgH="431800" progId="Equation.3">
                  <p:embed/>
                </p:oleObj>
              </mc:Choice>
              <mc:Fallback>
                <p:oleObj name="公式" r:id="rId2" imgW="1193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5274" y="4005064"/>
                        <a:ext cx="2735262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060127206"/>
              </p:ext>
            </p:extLst>
          </p:nvPr>
        </p:nvGraphicFramePr>
        <p:xfrm>
          <a:off x="2639616" y="5140596"/>
          <a:ext cx="56880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47900" imgH="368300" progId="Equation.3">
                  <p:embed/>
                </p:oleObj>
              </mc:Choice>
              <mc:Fallback>
                <p:oleObj name="公式" r:id="rId4" imgW="2247900" imgH="36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5140596"/>
                        <a:ext cx="568801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4C765B-A814-0126-4A20-FA2B4405C2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59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40985A08-B552-B110-C29E-6C17B4ADE3F5}"/>
              </a:ext>
            </a:extLst>
          </p:cNvPr>
          <p:cNvGrpSpPr/>
          <p:nvPr/>
        </p:nvGrpSpPr>
        <p:grpSpPr>
          <a:xfrm>
            <a:off x="2300142" y="1003956"/>
            <a:ext cx="7331380" cy="5756577"/>
            <a:chOff x="776142" y="807095"/>
            <a:chExt cx="7331380" cy="575657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61AAC9D9-2394-BA84-0F8E-F1317EC87644}"/>
                </a:ext>
              </a:extLst>
            </p:cNvPr>
            <p:cNvCxnSpPr/>
            <p:nvPr/>
          </p:nvCxnSpPr>
          <p:spPr bwMode="auto">
            <a:xfrm>
              <a:off x="1331640" y="6021288"/>
              <a:ext cx="5616624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BB96A189-9C93-4C7D-F790-A78EC08D5DCD}"/>
                </a:ext>
              </a:extLst>
            </p:cNvPr>
            <p:cNvCxnSpPr/>
            <p:nvPr/>
          </p:nvCxnSpPr>
          <p:spPr bwMode="auto">
            <a:xfrm flipV="1">
              <a:off x="1331640" y="807095"/>
              <a:ext cx="0" cy="521419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9F46689-4748-C23D-A52F-2D88CE4F64D6}"/>
                </a:ext>
              </a:extLst>
            </p:cNvPr>
            <p:cNvSpPr/>
            <p:nvPr/>
          </p:nvSpPr>
          <p:spPr bwMode="auto">
            <a:xfrm>
              <a:off x="4427970" y="2276876"/>
              <a:ext cx="1584183" cy="151215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r"/>
              <a:r>
                <a:rPr lang="en-US" altLang="zh-CN" sz="2800" dirty="0"/>
                <a:t>.</a:t>
              </a:r>
            </a:p>
            <a:p>
              <a:r>
                <a:rPr lang="en-US" altLang="zh-CN" sz="2800" dirty="0"/>
                <a:t>.</a:t>
              </a:r>
            </a:p>
            <a:p>
              <a:pPr algn="l"/>
              <a:r>
                <a:rPr lang="en-US" altLang="zh-CN" sz="2800" dirty="0"/>
                <a:t>.</a:t>
              </a:r>
              <a:endParaRPr lang="zh-CN" altLang="en-US" sz="36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E4D3517-418E-0DBD-741D-5C454ED452E7}"/>
                </a:ext>
              </a:extLst>
            </p:cNvPr>
            <p:cNvSpPr txBox="1"/>
            <p:nvPr/>
          </p:nvSpPr>
          <p:spPr>
            <a:xfrm>
              <a:off x="1338770" y="6040452"/>
              <a:ext cx="67687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    </a:t>
              </a:r>
              <a:r>
                <a:rPr lang="en-US" altLang="zh-CN" sz="2800" dirty="0">
                  <a:solidFill>
                    <a:srgbClr val="9999FF"/>
                  </a:solidFill>
                  <a:ea typeface="黑体" pitchFamily="49" charset="-122"/>
                </a:rPr>
                <a:t>A</a:t>
              </a:r>
              <a:r>
                <a:rPr lang="en-US" altLang="zh-CN" sz="2800" baseline="-25000" dirty="0">
                  <a:solidFill>
                    <a:srgbClr val="9999FF"/>
                  </a:solidFill>
                  <a:ea typeface="黑体" pitchFamily="49" charset="-122"/>
                </a:rPr>
                <a:t>1</a:t>
              </a:r>
              <a:r>
                <a:rPr lang="en-US" altLang="zh-CN" sz="2800" baseline="-25000" dirty="0">
                  <a:solidFill>
                    <a:schemeClr val="bg2"/>
                  </a:solidFill>
                  <a:ea typeface="黑体" pitchFamily="49" charset="-122"/>
                </a:rPr>
                <a:t>       </a:t>
              </a:r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          </a:t>
              </a:r>
              <a:r>
                <a:rPr lang="en-US" altLang="zh-CN" sz="2800" dirty="0">
                  <a:solidFill>
                    <a:srgbClr val="FF8040"/>
                  </a:solidFill>
                  <a:ea typeface="黑体" pitchFamily="49" charset="-122"/>
                </a:rPr>
                <a:t>A</a:t>
              </a:r>
              <a:r>
                <a:rPr lang="en-US" altLang="zh-CN" sz="2800" baseline="-25000" dirty="0">
                  <a:solidFill>
                    <a:srgbClr val="FF8040"/>
                  </a:solidFill>
                  <a:ea typeface="黑体" pitchFamily="49" charset="-122"/>
                </a:rPr>
                <a:t>i </a:t>
              </a:r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……        </a:t>
              </a:r>
              <a:r>
                <a:rPr lang="en-US" altLang="zh-CN" sz="2800" dirty="0">
                  <a:solidFill>
                    <a:srgbClr val="00FF00"/>
                  </a:solidFill>
                  <a:ea typeface="黑体" pitchFamily="49" charset="-122"/>
                </a:rPr>
                <a:t>A</a:t>
              </a:r>
              <a:r>
                <a:rPr lang="en-US" altLang="zh-CN" sz="2800" baseline="-25000" dirty="0">
                  <a:solidFill>
                    <a:srgbClr val="00FF00"/>
                  </a:solidFill>
                  <a:ea typeface="黑体" pitchFamily="49" charset="-122"/>
                </a:rPr>
                <a:t>n</a:t>
              </a:r>
              <a:r>
                <a:rPr lang="en-US" altLang="zh-CN" sz="2800" baseline="-25000" dirty="0">
                  <a:solidFill>
                    <a:srgbClr val="FF0000"/>
                  </a:solidFill>
                  <a:ea typeface="黑体" pitchFamily="49" charset="-122"/>
                </a:rPr>
                <a:t>                   </a:t>
              </a:r>
              <a:r>
                <a:rPr lang="en-US" altLang="zh-CN" sz="2800" dirty="0">
                  <a:ea typeface="黑体" pitchFamily="49" charset="-122"/>
                </a:rPr>
                <a:t>X</a:t>
              </a:r>
              <a:endParaRPr lang="zh-CN" altLang="en-US" sz="28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06ADD5-C41D-DADC-0815-65271667D567}"/>
                </a:ext>
              </a:extLst>
            </p:cNvPr>
            <p:cNvSpPr txBox="1"/>
            <p:nvPr/>
          </p:nvSpPr>
          <p:spPr>
            <a:xfrm>
              <a:off x="776142" y="807095"/>
              <a:ext cx="720080" cy="49346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800" dirty="0">
                  <a:ea typeface="黑体" pitchFamily="49" charset="-122"/>
                </a:rPr>
                <a:t>Y</a:t>
              </a:r>
            </a:p>
            <a:p>
              <a:pPr algn="l"/>
              <a:endParaRPr lang="en-US" altLang="zh-CN" sz="2800" dirty="0">
                <a:solidFill>
                  <a:srgbClr val="FF0000"/>
                </a:solidFill>
                <a:ea typeface="黑体" pitchFamily="49" charset="-122"/>
              </a:endParaRPr>
            </a:p>
            <a:p>
              <a:pPr algn="l"/>
              <a:r>
                <a:rPr lang="en-US" altLang="zh-CN" sz="2800" dirty="0">
                  <a:solidFill>
                    <a:srgbClr val="00FF00"/>
                  </a:solidFill>
                  <a:ea typeface="黑体" pitchFamily="49" charset="-122"/>
                </a:rPr>
                <a:t>B</a:t>
              </a:r>
              <a:r>
                <a:rPr lang="en-US" altLang="zh-CN" sz="2800" baseline="-25000" dirty="0">
                  <a:solidFill>
                    <a:srgbClr val="00FF00"/>
                  </a:solidFill>
                  <a:ea typeface="黑体" pitchFamily="49" charset="-122"/>
                </a:rPr>
                <a:t>n</a:t>
              </a:r>
              <a:endParaRPr lang="en-US" altLang="zh-CN" sz="2800" dirty="0">
                <a:solidFill>
                  <a:srgbClr val="00FF00"/>
                </a:solidFill>
                <a:ea typeface="黑体" pitchFamily="49" charset="-122"/>
              </a:endParaRPr>
            </a:p>
            <a:p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.</a:t>
              </a:r>
            </a:p>
            <a:p>
              <a:r>
                <a:rPr lang="en-US" altLang="zh-CN" sz="2800" dirty="0">
                  <a:solidFill>
                    <a:schemeClr val="bg2"/>
                  </a:solidFill>
                  <a:ea typeface="黑体" pitchFamily="49" charset="-122"/>
                </a:rPr>
                <a:t>.</a:t>
              </a:r>
            </a:p>
            <a:p>
              <a:pPr algn="l"/>
              <a:endParaRPr lang="en-US" altLang="zh-CN" sz="2400" dirty="0">
                <a:solidFill>
                  <a:schemeClr val="bg2"/>
                </a:solidFill>
                <a:ea typeface="黑体" pitchFamily="49" charset="-122"/>
              </a:endParaRPr>
            </a:p>
            <a:p>
              <a:pPr algn="l"/>
              <a:endParaRPr lang="en-US" altLang="zh-CN" sz="2400" dirty="0">
                <a:solidFill>
                  <a:schemeClr val="bg2"/>
                </a:solidFill>
                <a:ea typeface="黑体" pitchFamily="49" charset="-122"/>
              </a:endParaRPr>
            </a:p>
            <a:p>
              <a:pPr algn="l"/>
              <a:r>
                <a:rPr lang="en-US" altLang="zh-CN" sz="2800" dirty="0">
                  <a:solidFill>
                    <a:srgbClr val="FF8040"/>
                  </a:solidFill>
                  <a:ea typeface="黑体" pitchFamily="49" charset="-122"/>
                </a:rPr>
                <a:t>B</a:t>
              </a:r>
              <a:r>
                <a:rPr lang="en-US" altLang="zh-CN" sz="2800" baseline="-25000" dirty="0">
                  <a:solidFill>
                    <a:srgbClr val="FF8040"/>
                  </a:solidFill>
                  <a:ea typeface="黑体" pitchFamily="49" charset="-122"/>
                </a:rPr>
                <a:t>i</a:t>
              </a:r>
            </a:p>
            <a:p>
              <a:pPr algn="l"/>
              <a:endParaRPr lang="en-US" altLang="zh-CN" sz="3200" baseline="-25000" dirty="0">
                <a:solidFill>
                  <a:schemeClr val="bg2"/>
                </a:solidFill>
                <a:ea typeface="黑体" pitchFamily="49" charset="-122"/>
              </a:endParaRPr>
            </a:p>
            <a:p>
              <a:pPr algn="l"/>
              <a:endParaRPr lang="en-US" altLang="zh-CN" sz="3200" baseline="-25000" dirty="0">
                <a:solidFill>
                  <a:schemeClr val="bg2"/>
                </a:solidFill>
                <a:ea typeface="黑体" pitchFamily="49" charset="-122"/>
              </a:endParaRPr>
            </a:p>
            <a:p>
              <a:pPr algn="l"/>
              <a:endParaRPr lang="en-US" altLang="zh-CN" sz="4000" baseline="-25000" dirty="0">
                <a:solidFill>
                  <a:schemeClr val="bg2"/>
                </a:solidFill>
                <a:ea typeface="黑体" pitchFamily="49" charset="-122"/>
              </a:endParaRPr>
            </a:p>
            <a:p>
              <a:pPr algn="l"/>
              <a:r>
                <a:rPr lang="en-US" altLang="zh-CN" sz="2800" dirty="0">
                  <a:solidFill>
                    <a:srgbClr val="9999FF"/>
                  </a:solidFill>
                  <a:ea typeface="黑体" pitchFamily="49" charset="-122"/>
                </a:rPr>
                <a:t>B</a:t>
              </a:r>
              <a:r>
                <a:rPr lang="en-US" altLang="zh-CN" sz="2800" baseline="-25000" dirty="0">
                  <a:solidFill>
                    <a:srgbClr val="9999FF"/>
                  </a:solidFill>
                  <a:ea typeface="黑体" pitchFamily="49" charset="-122"/>
                </a:rPr>
                <a:t>1</a:t>
              </a:r>
              <a:endParaRPr lang="zh-CN" altLang="en-US" sz="2800" dirty="0">
                <a:solidFill>
                  <a:srgbClr val="9999FF"/>
                </a:solidFill>
              </a:endParaRPr>
            </a:p>
          </p:txBody>
        </p:sp>
      </p:grpSp>
      <p:sp>
        <p:nvSpPr>
          <p:cNvPr id="34" name="Rectangle 2">
            <a:extLst>
              <a:ext uri="{FF2B5EF4-FFF2-40B4-BE49-F238E27FC236}">
                <a16:creationId xmlns:a16="http://schemas.microsoft.com/office/drawing/2014/main" id="{0F46071F-E38C-8B30-D0B3-CE36AD580665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290320"/>
            <a:ext cx="8229600" cy="978441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kern="0" dirty="0">
                <a:solidFill>
                  <a:srgbClr val="008000"/>
                </a:solidFill>
                <a:ea typeface="黑体" pitchFamily="49" charset="-122"/>
              </a:rPr>
              <a:t>复合条件语句的真域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0CDBB9F-3E64-C7F6-DC82-00A19FE35D11}"/>
              </a:ext>
            </a:extLst>
          </p:cNvPr>
          <p:cNvCxnSpPr/>
          <p:nvPr/>
        </p:nvCxnSpPr>
        <p:spPr bwMode="auto">
          <a:xfrm flipV="1">
            <a:off x="2855640" y="764704"/>
            <a:ext cx="6048672" cy="546634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立方体 6">
            <a:extLst>
              <a:ext uri="{FF2B5EF4-FFF2-40B4-BE49-F238E27FC236}">
                <a16:creationId xmlns:a16="http://schemas.microsoft.com/office/drawing/2014/main" id="{F4A0A27E-96BC-0271-2891-4D179F5A4164}"/>
              </a:ext>
            </a:extLst>
          </p:cNvPr>
          <p:cNvSpPr/>
          <p:nvPr/>
        </p:nvSpPr>
        <p:spPr bwMode="auto">
          <a:xfrm>
            <a:off x="2855639" y="5163843"/>
            <a:ext cx="1152129" cy="1073470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4" name="立方体 13">
            <a:extLst>
              <a:ext uri="{FF2B5EF4-FFF2-40B4-BE49-F238E27FC236}">
                <a16:creationId xmlns:a16="http://schemas.microsoft.com/office/drawing/2014/main" id="{CA0E0908-93DA-504E-5C41-2302790763C0}"/>
              </a:ext>
            </a:extLst>
          </p:cNvPr>
          <p:cNvSpPr/>
          <p:nvPr/>
        </p:nvSpPr>
        <p:spPr bwMode="auto">
          <a:xfrm>
            <a:off x="4841587" y="3039909"/>
            <a:ext cx="1520339" cy="1432462"/>
          </a:xfrm>
          <a:prstGeom prst="cube">
            <a:avLst/>
          </a:prstGeom>
          <a:solidFill>
            <a:srgbClr val="FF804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CB40825C-071D-33A4-6BD7-B16AC3522700}"/>
              </a:ext>
            </a:extLst>
          </p:cNvPr>
          <p:cNvSpPr/>
          <p:nvPr/>
        </p:nvSpPr>
        <p:spPr bwMode="auto">
          <a:xfrm>
            <a:off x="6775569" y="1093473"/>
            <a:ext cx="1760396" cy="1585909"/>
          </a:xfrm>
          <a:prstGeom prst="cube">
            <a:avLst/>
          </a:prstGeom>
          <a:solidFill>
            <a:srgbClr val="00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4849CF0-9762-02EA-0E0A-75CD466DF2B8}"/>
              </a:ext>
            </a:extLst>
          </p:cNvPr>
          <p:cNvSpPr txBox="1"/>
          <p:nvPr/>
        </p:nvSpPr>
        <p:spPr>
          <a:xfrm>
            <a:off x="8715524" y="576952"/>
            <a:ext cx="786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a typeface="黑体" pitchFamily="49" charset="-122"/>
              </a:rPr>
              <a:t>Z</a:t>
            </a:r>
            <a:endParaRPr lang="zh-CN" altLang="en-US" sz="2400" dirty="0"/>
          </a:p>
        </p:txBody>
      </p:sp>
      <p:graphicFrame>
        <p:nvGraphicFramePr>
          <p:cNvPr id="29" name="Object 4">
            <a:extLst>
              <a:ext uri="{FF2B5EF4-FFF2-40B4-BE49-F238E27FC236}">
                <a16:creationId xmlns:a16="http://schemas.microsoft.com/office/drawing/2014/main" id="{3DA20730-7A9C-90E6-7192-A865F12069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635435"/>
              </p:ext>
            </p:extLst>
          </p:nvPr>
        </p:nvGraphicFramePr>
        <p:xfrm>
          <a:off x="7168334" y="3463303"/>
          <a:ext cx="2735262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93800" imgH="431800" progId="Equation.3">
                  <p:embed/>
                </p:oleObj>
              </mc:Choice>
              <mc:Fallback>
                <p:oleObj name="公式" r:id="rId2" imgW="1193800" imgH="431800" progId="Equation.3">
                  <p:embed/>
                  <p:pic>
                    <p:nvPicPr>
                      <p:cNvPr id="553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8334" y="3463303"/>
                        <a:ext cx="2735262" cy="987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6">
            <a:extLst>
              <a:ext uri="{FF2B5EF4-FFF2-40B4-BE49-F238E27FC236}">
                <a16:creationId xmlns:a16="http://schemas.microsoft.com/office/drawing/2014/main" id="{2CB062E7-E235-090E-78C8-C7D041CE4E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455502"/>
              </p:ext>
            </p:extLst>
          </p:nvPr>
        </p:nvGraphicFramePr>
        <p:xfrm>
          <a:off x="4841586" y="4849976"/>
          <a:ext cx="56880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47900" imgH="368300" progId="Equation.3">
                  <p:embed/>
                </p:oleObj>
              </mc:Choice>
              <mc:Fallback>
                <p:oleObj name="公式" r:id="rId4" imgW="2247900" imgH="368300" progId="Equation.3">
                  <p:embed/>
                  <p:pic>
                    <p:nvPicPr>
                      <p:cNvPr id="55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586" y="4849976"/>
                        <a:ext cx="5688012" cy="930275"/>
                      </a:xfrm>
                      <a:prstGeom prst="rect">
                        <a:avLst/>
                      </a:prstGeom>
                      <a:solidFill>
                        <a:srgbClr val="C1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540E24-E4AA-165E-B977-4F89DAB014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92AEF5-DF13-45FD-971B-7400E1910EAE}" type="slidenum">
              <a:rPr lang="en-US" altLang="zh-CN" smtClean="0"/>
              <a:pPr>
                <a:defRPr/>
              </a:pPr>
              <a:t>60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4644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复合条件语句推理举例</a:t>
            </a:r>
            <a:endParaRPr lang="en-US" altLang="zh-CN" sz="3200" dirty="0">
              <a:ea typeface="黑体" pitchFamily="49" charset="-12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30753" y="1456357"/>
            <a:ext cx="8929366" cy="50403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已知有下面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集：</a:t>
            </a: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且已知</a:t>
            </a:r>
            <a:r>
              <a:rPr lang="en-US" altLang="zh-CN" dirty="0">
                <a:ea typeface="黑体" pitchFamily="49" charset="-122"/>
              </a:rPr>
              <a:t>“</a:t>
            </a:r>
            <a:r>
              <a:rPr lang="zh-CN" altLang="en-US" u="sng" dirty="0">
                <a:solidFill>
                  <a:srgbClr val="3333FF"/>
                </a:solidFill>
                <a:ea typeface="黑体" pitchFamily="49" charset="-122"/>
              </a:rPr>
              <a:t>若</a:t>
            </a:r>
            <a:r>
              <a:rPr lang="en-US" altLang="zh-CN" u="sng" dirty="0">
                <a:solidFill>
                  <a:srgbClr val="3333FF"/>
                </a:solidFill>
                <a:ea typeface="黑体" pitchFamily="49" charset="-122"/>
              </a:rPr>
              <a:t>A</a:t>
            </a:r>
            <a:r>
              <a:rPr lang="zh-CN" altLang="en-US" u="sng" dirty="0">
                <a:solidFill>
                  <a:srgbClr val="3333FF"/>
                </a:solidFill>
                <a:ea typeface="黑体" pitchFamily="49" charset="-122"/>
              </a:rPr>
              <a:t>且</a:t>
            </a:r>
            <a:r>
              <a:rPr lang="en-US" altLang="zh-CN" u="sng" dirty="0">
                <a:solidFill>
                  <a:srgbClr val="3333FF"/>
                </a:solidFill>
                <a:ea typeface="黑体" pitchFamily="49" charset="-122"/>
              </a:rPr>
              <a:t>B</a:t>
            </a:r>
            <a:r>
              <a:rPr lang="zh-CN" altLang="en-US" u="sng" dirty="0">
                <a:solidFill>
                  <a:srgbClr val="3333FF"/>
                </a:solidFill>
                <a:ea typeface="黑体" pitchFamily="49" charset="-122"/>
              </a:rPr>
              <a:t>，则</a:t>
            </a:r>
            <a:r>
              <a:rPr lang="en-US" altLang="zh-CN" u="sng" dirty="0">
                <a:solidFill>
                  <a:srgbClr val="3333FF"/>
                </a:solidFill>
                <a:ea typeface="黑体" pitchFamily="49" charset="-122"/>
              </a:rPr>
              <a:t>C</a:t>
            </a:r>
            <a:r>
              <a:rPr lang="zh-CN" altLang="en-US" dirty="0">
                <a:ea typeface="黑体" pitchFamily="49" charset="-122"/>
              </a:rPr>
              <a:t>”，已知</a:t>
            </a:r>
            <a:r>
              <a:rPr lang="en-US" altLang="zh-CN" dirty="0">
                <a:ea typeface="黑体" pitchFamily="49" charset="-122"/>
              </a:rPr>
              <a:t>A’</a:t>
            </a:r>
            <a:r>
              <a:rPr lang="zh-CN" altLang="en-US" dirty="0">
                <a:ea typeface="黑体" pitchFamily="49" charset="-122"/>
              </a:rPr>
              <a:t>和</a:t>
            </a:r>
            <a:r>
              <a:rPr lang="en-US" altLang="zh-CN" dirty="0">
                <a:ea typeface="黑体" pitchFamily="49" charset="-122"/>
              </a:rPr>
              <a:t>B’</a:t>
            </a:r>
            <a:r>
              <a:rPr lang="zh-CN" altLang="en-US" dirty="0">
                <a:ea typeface="黑体" pitchFamily="49" charset="-122"/>
              </a:rPr>
              <a:t>如下，求</a:t>
            </a:r>
            <a:r>
              <a:rPr lang="en-US" altLang="zh-CN" dirty="0">
                <a:ea typeface="黑体" pitchFamily="49" charset="-122"/>
              </a:rPr>
              <a:t>C’</a:t>
            </a:r>
            <a:r>
              <a:rPr lang="zh-CN" altLang="en-US" dirty="0">
                <a:ea typeface="黑体" pitchFamily="49" charset="-122"/>
              </a:rPr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</a:endParaRPr>
          </a:p>
          <a:p>
            <a:pPr eaLnBrk="1" hangingPunct="1">
              <a:buNone/>
            </a:pPr>
            <a:r>
              <a:rPr lang="zh-CN" altLang="en-US" dirty="0">
                <a:ea typeface="黑体" pitchFamily="49" charset="-122"/>
              </a:rPr>
              <a:t>解：先求  </a:t>
            </a:r>
            <a:r>
              <a:rPr lang="en-US" altLang="zh-CN" dirty="0">
                <a:ea typeface="黑体" pitchFamily="49" charset="-122"/>
              </a:rPr>
              <a:t>R=A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dirty="0">
                <a:ea typeface="黑体" pitchFamily="49" charset="-122"/>
              </a:rPr>
              <a:t>B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dirty="0">
                <a:ea typeface="黑体" pitchFamily="49" charset="-122"/>
              </a:rPr>
              <a:t>C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       再按 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C’ =(A’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B’)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  <a:cs typeface="Arial" charset="0"/>
              </a:rPr>
              <a:t>◦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R </a:t>
            </a:r>
            <a:r>
              <a:rPr lang="zh-CN" altLang="en-US" dirty="0">
                <a:solidFill>
                  <a:srgbClr val="008000"/>
                </a:solidFill>
                <a:ea typeface="黑体" pitchFamily="49" charset="-122"/>
              </a:rPr>
              <a:t>求</a:t>
            </a:r>
            <a:r>
              <a:rPr lang="en-US" altLang="zh-CN" dirty="0">
                <a:solidFill>
                  <a:srgbClr val="008000"/>
                </a:solidFill>
                <a:ea typeface="黑体" pitchFamily="49" charset="-122"/>
              </a:rPr>
              <a:t>C’</a:t>
            </a:r>
          </a:p>
        </p:txBody>
      </p:sp>
      <p:graphicFrame>
        <p:nvGraphicFramePr>
          <p:cNvPr id="5837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532332586"/>
              </p:ext>
            </p:extLst>
          </p:nvPr>
        </p:nvGraphicFramePr>
        <p:xfrm>
          <a:off x="2063553" y="2204865"/>
          <a:ext cx="8015961" cy="936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95700" imgH="431800" progId="Equation.3">
                  <p:embed/>
                </p:oleObj>
              </mc:Choice>
              <mc:Fallback>
                <p:oleObj name="公式" r:id="rId2" imgW="36957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2204865"/>
                        <a:ext cx="8015961" cy="936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54908"/>
              </p:ext>
            </p:extLst>
          </p:nvPr>
        </p:nvGraphicFramePr>
        <p:xfrm>
          <a:off x="2782889" y="3932808"/>
          <a:ext cx="4449529" cy="100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5000" imgH="431800" progId="Equation.3">
                  <p:embed/>
                </p:oleObj>
              </mc:Choice>
              <mc:Fallback>
                <p:oleObj name="公式" r:id="rId4" imgW="1905000" imgH="4318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3932808"/>
                        <a:ext cx="4449529" cy="1008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FF5A14-445B-EB53-3ED2-859347911F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61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复合条件语句推理举例</a:t>
            </a:r>
            <a:endParaRPr lang="en-US" altLang="zh-CN" sz="3200" dirty="0">
              <a:ea typeface="黑体" pitchFamily="49" charset="-12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47639" y="1484785"/>
            <a:ext cx="9109176" cy="5040313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dirty="0">
                <a:ea typeface="黑体" pitchFamily="49" charset="-122"/>
              </a:rPr>
              <a:t>先求  </a:t>
            </a:r>
            <a:r>
              <a:rPr lang="en-US" altLang="zh-CN" dirty="0">
                <a:ea typeface="黑体" pitchFamily="49" charset="-122"/>
              </a:rPr>
              <a:t>R=A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dirty="0">
                <a:ea typeface="黑体" pitchFamily="49" charset="-122"/>
              </a:rPr>
              <a:t>B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dirty="0">
                <a:ea typeface="黑体" pitchFamily="49" charset="-122"/>
              </a:rPr>
              <a:t>C</a:t>
            </a:r>
            <a:r>
              <a:rPr lang="zh-CN" altLang="en-US" dirty="0">
                <a:ea typeface="黑体" pitchFamily="49" charset="-122"/>
              </a:rPr>
              <a:t>中的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dirty="0">
                <a:ea typeface="黑体" pitchFamily="49" charset="-122"/>
              </a:rPr>
              <a:t>B=R</a:t>
            </a:r>
            <a:r>
              <a:rPr lang="en-US" altLang="zh-CN" baseline="-25000" dirty="0">
                <a:ea typeface="黑体" pitchFamily="49" charset="-122"/>
              </a:rPr>
              <a:t>1</a:t>
            </a:r>
            <a:r>
              <a:rPr lang="en-US" altLang="zh-CN" dirty="0">
                <a:ea typeface="黑体" pitchFamily="49" charset="-12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将</a:t>
            </a:r>
            <a:r>
              <a:rPr lang="en-US" altLang="zh-CN" dirty="0">
                <a:ea typeface="黑体" pitchFamily="49" charset="-122"/>
              </a:rPr>
              <a:t>R</a:t>
            </a:r>
            <a:r>
              <a:rPr lang="en-US" altLang="zh-CN" baseline="-25000" dirty="0">
                <a:ea typeface="黑体" pitchFamily="49" charset="-122"/>
              </a:rPr>
              <a:t>1</a:t>
            </a:r>
            <a:r>
              <a:rPr lang="zh-CN" altLang="en-US" dirty="0">
                <a:ea typeface="黑体" pitchFamily="49" charset="-122"/>
              </a:rPr>
              <a:t>写成列向量的形式</a:t>
            </a:r>
            <a:r>
              <a:rPr lang="en-US" altLang="zh-CN" dirty="0">
                <a:ea typeface="黑体" pitchFamily="49" charset="-122"/>
              </a:rPr>
              <a:t>R</a:t>
            </a:r>
            <a:r>
              <a:rPr lang="en-US" altLang="zh-CN" baseline="-25000" dirty="0">
                <a:ea typeface="黑体" pitchFamily="49" charset="-122"/>
              </a:rPr>
              <a:t>1</a:t>
            </a:r>
            <a:r>
              <a:rPr lang="en-US" altLang="zh-CN" baseline="30000" dirty="0">
                <a:ea typeface="黑体" pitchFamily="49" charset="-122"/>
              </a:rPr>
              <a:t>T</a:t>
            </a:r>
            <a:r>
              <a:rPr lang="zh-CN" altLang="en-US" dirty="0">
                <a:ea typeface="黑体" pitchFamily="49" charset="-122"/>
              </a:rPr>
              <a:t>，则</a:t>
            </a:r>
            <a:endParaRPr lang="en-US" altLang="zh-CN" dirty="0">
              <a:ea typeface="黑体" pitchFamily="49" charset="-122"/>
            </a:endParaRPr>
          </a:p>
          <a:p>
            <a:pPr eaLnBrk="1" hangingPunct="1">
              <a:buNone/>
            </a:pPr>
            <a:r>
              <a:rPr lang="en-US" altLang="zh-CN" dirty="0">
                <a:ea typeface="黑体" pitchFamily="49" charset="-122"/>
              </a:rPr>
              <a:t>         R=A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dirty="0">
                <a:ea typeface="黑体" pitchFamily="49" charset="-122"/>
              </a:rPr>
              <a:t>B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dirty="0">
                <a:ea typeface="黑体" pitchFamily="49" charset="-122"/>
              </a:rPr>
              <a:t>C = R</a:t>
            </a:r>
            <a:r>
              <a:rPr lang="en-US" altLang="zh-CN" baseline="-25000" dirty="0">
                <a:ea typeface="黑体" pitchFamily="49" charset="-122"/>
              </a:rPr>
              <a:t>1</a:t>
            </a:r>
            <a:r>
              <a:rPr lang="en-US" altLang="zh-CN" baseline="30000" dirty="0">
                <a:ea typeface="黑体" pitchFamily="49" charset="-122"/>
              </a:rPr>
              <a:t>T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sym typeface="Symbol" panose="05050102010706020507" pitchFamily="18" charset="2"/>
              </a:rPr>
              <a:t>  </a:t>
            </a:r>
            <a:r>
              <a:rPr lang="en-US" altLang="zh-CN" dirty="0"/>
              <a:t>C</a:t>
            </a:r>
            <a:endParaRPr lang="zh-CN" altLang="en-US" dirty="0">
              <a:ea typeface="黑体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448182"/>
              </p:ext>
            </p:extLst>
          </p:nvPr>
        </p:nvGraphicFramePr>
        <p:xfrm>
          <a:off x="2037284" y="2904883"/>
          <a:ext cx="3122613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241200" progId="Equation.DSMT4">
                  <p:embed/>
                </p:oleObj>
              </mc:Choice>
              <mc:Fallback>
                <p:oleObj name="Equation" r:id="rId2" imgW="1193760" imgH="241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284" y="2904883"/>
                        <a:ext cx="3122613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512873"/>
              </p:ext>
            </p:extLst>
          </p:nvPr>
        </p:nvGraphicFramePr>
        <p:xfrm>
          <a:off x="9161958" y="1922269"/>
          <a:ext cx="1860550" cy="476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057400" progId="Equation.DSMT4">
                  <p:embed/>
                </p:oleObj>
              </mc:Choice>
              <mc:Fallback>
                <p:oleObj name="Equation" r:id="rId4" imgW="711000" imgH="2057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1958" y="1922269"/>
                        <a:ext cx="1860550" cy="476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855216"/>
              </p:ext>
            </p:extLst>
          </p:nvPr>
        </p:nvGraphicFramePr>
        <p:xfrm>
          <a:off x="2495600" y="3624264"/>
          <a:ext cx="3035300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711000" progId="Equation.DSMT4">
                  <p:embed/>
                </p:oleObj>
              </mc:Choice>
              <mc:Fallback>
                <p:oleObj name="Equation" r:id="rId6" imgW="1231560" imgH="711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3624264"/>
                        <a:ext cx="3035300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557075441"/>
              </p:ext>
            </p:extLst>
          </p:nvPr>
        </p:nvGraphicFramePr>
        <p:xfrm>
          <a:off x="1703512" y="2033531"/>
          <a:ext cx="7632848" cy="89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95700" imgH="431800" progId="Equation.3">
                  <p:embed/>
                </p:oleObj>
              </mc:Choice>
              <mc:Fallback>
                <p:oleObj name="公式" r:id="rId8" imgW="3695700" imgH="4318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2033531"/>
                        <a:ext cx="7632848" cy="89193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307959"/>
              </p:ext>
            </p:extLst>
          </p:nvPr>
        </p:nvGraphicFramePr>
        <p:xfrm>
          <a:off x="5480274" y="3623792"/>
          <a:ext cx="284797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600" imgH="711000" progId="Equation.DSMT4">
                  <p:embed/>
                </p:oleObj>
              </mc:Choice>
              <mc:Fallback>
                <p:oleObj name="Equation" r:id="rId10" imgW="1155600" imgH="711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274" y="3623792"/>
                        <a:ext cx="2847975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409F05-97D6-87FA-F2A8-8F2B04CBB6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复合条件语句推理举例</a:t>
            </a:r>
            <a:endParaRPr lang="en-US" altLang="zh-CN" sz="3200" dirty="0">
              <a:ea typeface="黑体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269607"/>
              </p:ext>
            </p:extLst>
          </p:nvPr>
        </p:nvGraphicFramePr>
        <p:xfrm>
          <a:off x="1343472" y="1360488"/>
          <a:ext cx="498316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241200" progId="Equation.DSMT4">
                  <p:embed/>
                </p:oleObj>
              </mc:Choice>
              <mc:Fallback>
                <p:oleObj name="Equation" r:id="rId2" imgW="1904760" imgH="241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1360488"/>
                        <a:ext cx="498316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39091"/>
              </p:ext>
            </p:extLst>
          </p:nvPr>
        </p:nvGraphicFramePr>
        <p:xfrm>
          <a:off x="3071665" y="1989139"/>
          <a:ext cx="2957513" cy="477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2057400" progId="Equation.DSMT4">
                  <p:embed/>
                </p:oleObj>
              </mc:Choice>
              <mc:Fallback>
                <p:oleObj name="Equation" r:id="rId4" imgW="1130040" imgH="2057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5" y="1989139"/>
                        <a:ext cx="2957513" cy="477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808191"/>
              </p:ext>
            </p:extLst>
          </p:nvPr>
        </p:nvGraphicFramePr>
        <p:xfrm>
          <a:off x="6069484" y="1988840"/>
          <a:ext cx="2690813" cy="477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2057400" progId="Equation.DSMT4">
                  <p:embed/>
                </p:oleObj>
              </mc:Choice>
              <mc:Fallback>
                <p:oleObj name="Equation" r:id="rId6" imgW="1028520" imgH="2057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484" y="1988840"/>
                        <a:ext cx="2690813" cy="477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190ABA-3BC3-BC70-B716-36ADADD9B8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63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复合条件语句推理举例</a:t>
            </a:r>
            <a:endParaRPr lang="en-US" altLang="zh-CN" sz="3200" dirty="0">
              <a:ea typeface="黑体" pitchFamily="49" charset="-122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548705"/>
            <a:ext cx="8713342" cy="50403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令  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’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写成行向量的形式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aseline="30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，则</a:t>
            </a:r>
            <a:endParaRPr lang="en-US" altLang="zh-CN" dirty="0">
              <a:latin typeface="Times New Roman" panose="02020603050405020304" pitchFamily="18" charset="0"/>
              <a:ea typeface="黑体" pitchFamily="49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  </a:t>
            </a:r>
            <a:r>
              <a:rPr lang="en-US" altLang="zh-CN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D</a:t>
            </a:r>
            <a:r>
              <a:rPr lang="en-US" altLang="zh-CN" b="1" baseline="30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=(0  0  0  0.4  0.5  0  0.4  0.7  0)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574310"/>
              </p:ext>
            </p:extLst>
          </p:nvPr>
        </p:nvGraphicFramePr>
        <p:xfrm>
          <a:off x="2423593" y="2492897"/>
          <a:ext cx="33877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190440" progId="Equation.DSMT4">
                  <p:embed/>
                </p:oleObj>
              </mc:Choice>
              <mc:Fallback>
                <p:oleObj name="Equation" r:id="rId2" imgW="1295280" imgH="19044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3" y="2492897"/>
                        <a:ext cx="33877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916723"/>
              </p:ext>
            </p:extLst>
          </p:nvPr>
        </p:nvGraphicFramePr>
        <p:xfrm>
          <a:off x="7162627" y="1434553"/>
          <a:ext cx="444976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05000" imgH="431800" progId="Equation.3">
                  <p:embed/>
                </p:oleObj>
              </mc:Choice>
              <mc:Fallback>
                <p:oleObj name="公式" r:id="rId4" imgW="1905000" imgH="4318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627" y="1434553"/>
                        <a:ext cx="4449762" cy="1008063"/>
                      </a:xfrm>
                      <a:prstGeom prst="rect">
                        <a:avLst/>
                      </a:prstGeom>
                      <a:solidFill>
                        <a:srgbClr val="C1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388686"/>
              </p:ext>
            </p:extLst>
          </p:nvPr>
        </p:nvGraphicFramePr>
        <p:xfrm>
          <a:off x="2783632" y="3140969"/>
          <a:ext cx="6046788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711000" progId="Equation.DSMT4">
                  <p:embed/>
                </p:oleObj>
              </mc:Choice>
              <mc:Fallback>
                <p:oleObj name="Equation" r:id="rId6" imgW="2311200" imgH="711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3140969"/>
                        <a:ext cx="6046788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47137A-B7FC-2C16-8295-9555C7C8C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64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49" charset="-122"/>
              </a:rPr>
              <a:t>复合条件语句推理举例</a:t>
            </a:r>
            <a:endParaRPr lang="en-US" altLang="zh-CN" sz="3200" dirty="0">
              <a:ea typeface="黑体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227923"/>
              </p:ext>
            </p:extLst>
          </p:nvPr>
        </p:nvGraphicFramePr>
        <p:xfrm>
          <a:off x="1362075" y="1703922"/>
          <a:ext cx="7375525" cy="476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160" imgH="2057400" progId="Equation.DSMT4">
                  <p:embed/>
                </p:oleObj>
              </mc:Choice>
              <mc:Fallback>
                <p:oleObj name="Equation" r:id="rId2" imgW="2819160" imgH="2057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1703922"/>
                        <a:ext cx="7375525" cy="476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half" idx="1"/>
          </p:nvPr>
        </p:nvSpPr>
        <p:spPr>
          <a:xfrm>
            <a:off x="479376" y="2748439"/>
            <a:ext cx="4038600" cy="71913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dirty="0"/>
              <a:t>则</a:t>
            </a:r>
            <a:r>
              <a:rPr lang="en-US" altLang="zh-CN" b="1" i="1" dirty="0">
                <a:solidFill>
                  <a:srgbClr val="F408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rgbClr val="F408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’=</a:t>
            </a:r>
            <a:r>
              <a:rPr lang="en-US" altLang="zh-CN" b="1" i="1" dirty="0">
                <a:solidFill>
                  <a:srgbClr val="F408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="1" baseline="30000" dirty="0">
                <a:solidFill>
                  <a:srgbClr val="F408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F408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4080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◦</a:t>
            </a:r>
            <a:r>
              <a:rPr lang="en-US" altLang="zh-CN" b="1" i="1" dirty="0">
                <a:solidFill>
                  <a:srgbClr val="F40802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R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677833"/>
              </p:ext>
            </p:extLst>
          </p:nvPr>
        </p:nvGraphicFramePr>
        <p:xfrm>
          <a:off x="8832304" y="3793866"/>
          <a:ext cx="2657475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920" imgH="253800" progId="Equation.DSMT4">
                  <p:embed/>
                </p:oleObj>
              </mc:Choice>
              <mc:Fallback>
                <p:oleObj name="Equation" r:id="rId4" imgW="1015920" imgH="253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304" y="3793866"/>
                        <a:ext cx="2657475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219320-FF05-950D-8F94-4A684D879C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172C7F-D2B1-4724-A95F-4D93D1156443}" type="slidenum">
              <a:rPr lang="en-US" altLang="zh-CN" smtClean="0"/>
              <a:pPr>
                <a:defRPr/>
              </a:pPr>
              <a:t>65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模糊算法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632248"/>
            <a:ext cx="10153128" cy="48210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/>
              <a:t>F</a:t>
            </a:r>
            <a:r>
              <a:rPr lang="zh-CN" altLang="en-US" b="1" dirty="0"/>
              <a:t>集合、语言变量以及</a:t>
            </a:r>
            <a:r>
              <a:rPr lang="en-US" altLang="zh-CN" b="1" dirty="0"/>
              <a:t>F</a:t>
            </a:r>
            <a:r>
              <a:rPr lang="zh-CN" altLang="en-US" b="1" dirty="0"/>
              <a:t>条件语句的概念为应用</a:t>
            </a:r>
            <a:r>
              <a:rPr lang="en-US" altLang="zh-CN" b="1" dirty="0"/>
              <a:t>F</a:t>
            </a:r>
            <a:r>
              <a:rPr lang="zh-CN" altLang="en-US" b="1" dirty="0"/>
              <a:t>算法奠定了基础。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对于那些太复杂不宜应用传统数学技术的系统，</a:t>
            </a:r>
            <a:r>
              <a:rPr lang="en-US" altLang="zh-CN" b="1" dirty="0"/>
              <a:t>F</a:t>
            </a:r>
            <a:r>
              <a:rPr lang="zh-CN" altLang="en-US" b="1" dirty="0"/>
              <a:t>算法可能成为近似地分析系统和判决过程的重要的工具</a:t>
            </a:r>
            <a:r>
              <a:rPr lang="en-US" altLang="zh-CN" b="1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算法是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指令的有序集合，这些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指令的执行可得到特定问题的近似解。</a:t>
            </a:r>
            <a:endParaRPr lang="en-US" altLang="zh-CN" dirty="0">
              <a:ea typeface="黑体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28403D-AC53-007B-94F4-959D853300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66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6903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5"/>
          <p:cNvSpPr>
            <a:spLocks noGrp="1"/>
          </p:cNvSpPr>
          <p:nvPr>
            <p:ph type="title"/>
          </p:nvPr>
        </p:nvSpPr>
        <p:spPr>
          <a:xfrm>
            <a:off x="1992313" y="26035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模糊算法</a:t>
            </a:r>
          </a:p>
        </p:txBody>
      </p:sp>
      <p:sp>
        <p:nvSpPr>
          <p:cNvPr id="63491" name="内容占位符 6"/>
          <p:cNvSpPr>
            <a:spLocks noGrp="1"/>
          </p:cNvSpPr>
          <p:nvPr>
            <p:ph idx="1"/>
          </p:nvPr>
        </p:nvSpPr>
        <p:spPr>
          <a:xfrm>
            <a:off x="1127448" y="1557338"/>
            <a:ext cx="9721080" cy="48244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/>
              <a:t>我们有意识或无意识地使用着</a:t>
            </a:r>
            <a:r>
              <a:rPr lang="en-US" altLang="zh-CN" b="1" dirty="0"/>
              <a:t>F</a:t>
            </a:r>
            <a:r>
              <a:rPr lang="zh-CN" altLang="en-US" b="1" dirty="0"/>
              <a:t>算法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如：行走、开车、查找、停车、做饭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程序设计、运筹学、心理学、管理学、故障诊断等等。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en-US" altLang="zh-CN" b="1" dirty="0"/>
              <a:t>F</a:t>
            </a:r>
            <a:r>
              <a:rPr lang="zh-CN" altLang="en-US" b="1" dirty="0"/>
              <a:t>集合、</a:t>
            </a:r>
            <a:r>
              <a:rPr lang="en-US" altLang="zh-CN" b="1" dirty="0"/>
              <a:t>F</a:t>
            </a:r>
            <a:r>
              <a:rPr lang="zh-CN" altLang="en-US" b="1" dirty="0"/>
              <a:t>条件句是系统化应用</a:t>
            </a:r>
            <a:r>
              <a:rPr lang="en-US" altLang="zh-CN" b="1" dirty="0"/>
              <a:t>F</a:t>
            </a:r>
            <a:r>
              <a:rPr lang="zh-CN" altLang="en-US" b="1" dirty="0"/>
              <a:t>算法的基础，提供较以往更有效的技术，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对于很复杂的技术、系统及决策过程，传统数学技术难以凑效时，</a:t>
            </a:r>
            <a:r>
              <a:rPr lang="en-US" altLang="zh-CN" b="1" dirty="0"/>
              <a:t>F</a:t>
            </a:r>
            <a:r>
              <a:rPr lang="zh-CN" altLang="en-US" b="1" dirty="0"/>
              <a:t>算法将是获得近似分析的工具。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600B77-049E-BFD7-F8E5-04FCE2AA1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67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307129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5"/>
          <p:cNvSpPr>
            <a:spLocks noGrp="1"/>
          </p:cNvSpPr>
          <p:nvPr>
            <p:ph type="title"/>
          </p:nvPr>
        </p:nvSpPr>
        <p:spPr>
          <a:xfrm>
            <a:off x="1992313" y="26035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模糊算法的指令分类</a:t>
            </a:r>
          </a:p>
        </p:txBody>
      </p:sp>
      <p:sp>
        <p:nvSpPr>
          <p:cNvPr id="63491" name="内容占位符 6"/>
          <p:cNvSpPr>
            <a:spLocks noGrp="1"/>
          </p:cNvSpPr>
          <p:nvPr>
            <p:ph idx="1"/>
          </p:nvPr>
        </p:nvSpPr>
        <p:spPr>
          <a:xfrm>
            <a:off x="1271464" y="1557338"/>
            <a:ext cx="9865096" cy="5249862"/>
          </a:xfrm>
        </p:spPr>
        <p:txBody>
          <a:bodyPr/>
          <a:lstStyle/>
          <a:p>
            <a:r>
              <a:rPr lang="zh-CN" altLang="en-US" b="1" dirty="0">
                <a:solidFill>
                  <a:srgbClr val="3333FF"/>
                </a:solidFill>
              </a:rPr>
              <a:t>赋值语句</a:t>
            </a:r>
            <a:endParaRPr lang="en-US" altLang="zh-CN" b="1" dirty="0">
              <a:solidFill>
                <a:srgbClr val="3333FF"/>
              </a:solidFill>
            </a:endParaRPr>
          </a:p>
          <a:p>
            <a:pPr lvl="1"/>
            <a:r>
              <a:rPr lang="zh-CN" altLang="en-US" sz="3200" b="1" dirty="0"/>
              <a:t>如：</a:t>
            </a:r>
            <a:r>
              <a:rPr lang="en-US" altLang="zh-CN" sz="3200" b="1" dirty="0"/>
              <a:t>x=“</a:t>
            </a:r>
            <a:r>
              <a:rPr lang="zh-CN" altLang="en-US" sz="3200" b="1" dirty="0"/>
              <a:t>小</a:t>
            </a:r>
            <a:r>
              <a:rPr lang="en-US" altLang="zh-CN" sz="3200" b="1" dirty="0"/>
              <a:t>”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 x</a:t>
            </a:r>
            <a:r>
              <a:rPr lang="en-US" altLang="zh-CN" sz="3200" b="1" dirty="0">
                <a:sym typeface="Symbol" panose="05050102010706020507" pitchFamily="18" charset="2"/>
              </a:rPr>
              <a:t></a:t>
            </a:r>
            <a:r>
              <a:rPr lang="en-US" altLang="zh-CN" sz="3200" b="1" dirty="0"/>
              <a:t>5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x=”</a:t>
            </a:r>
            <a:r>
              <a:rPr lang="zh-CN" altLang="en-US" sz="3200" b="1" dirty="0"/>
              <a:t>不大也不非常小</a:t>
            </a:r>
            <a:r>
              <a:rPr lang="en-US" altLang="zh-CN" sz="3200" b="1" dirty="0"/>
              <a:t>”</a:t>
            </a:r>
          </a:p>
          <a:p>
            <a:pPr lvl="1"/>
            <a:r>
              <a:rPr lang="zh-CN" altLang="en-US" sz="3200" b="1" dirty="0"/>
              <a:t>若</a:t>
            </a:r>
            <a:r>
              <a:rPr lang="en-US" altLang="zh-CN" sz="3200" b="1" dirty="0"/>
              <a:t>X={1, 2, 3}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026072"/>
              </p:ext>
            </p:extLst>
          </p:nvPr>
        </p:nvGraphicFramePr>
        <p:xfrm>
          <a:off x="2809875" y="3247290"/>
          <a:ext cx="410686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393480" progId="Equation.DSMT4">
                  <p:embed/>
                </p:oleObj>
              </mc:Choice>
              <mc:Fallback>
                <p:oleObj name="Equation" r:id="rId2" imgW="1892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3247290"/>
                        <a:ext cx="410686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8670686"/>
              </p:ext>
            </p:extLst>
          </p:nvPr>
        </p:nvGraphicFramePr>
        <p:xfrm>
          <a:off x="5087888" y="5751064"/>
          <a:ext cx="3407346" cy="956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431640" progId="Equation.DSMT4">
                  <p:embed/>
                </p:oleObj>
              </mc:Choice>
              <mc:Fallback>
                <p:oleObj name="Equation" r:id="rId4" imgW="1536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888" y="5751064"/>
                        <a:ext cx="3407346" cy="956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62914"/>
              </p:ext>
            </p:extLst>
          </p:nvPr>
        </p:nvGraphicFramePr>
        <p:xfrm>
          <a:off x="2809876" y="4060941"/>
          <a:ext cx="5043487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23800" imgH="419040" progId="Equation.DSMT4">
                  <p:embed/>
                </p:oleObj>
              </mc:Choice>
              <mc:Fallback>
                <p:oleObj name="Equation" r:id="rId6" imgW="2323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6" y="4060941"/>
                        <a:ext cx="5043487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684448"/>
              </p:ext>
            </p:extLst>
          </p:nvPr>
        </p:nvGraphicFramePr>
        <p:xfrm>
          <a:off x="2597944" y="5126665"/>
          <a:ext cx="60356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81000" imgH="215640" progId="Equation.DSMT4">
                  <p:embed/>
                </p:oleObj>
              </mc:Choice>
              <mc:Fallback>
                <p:oleObj name="Equation" r:id="rId8" imgW="2781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944" y="5126665"/>
                        <a:ext cx="60356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AD591879-EC3B-1E84-CBBF-3EBA6230D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269449"/>
              </p:ext>
            </p:extLst>
          </p:nvPr>
        </p:nvGraphicFramePr>
        <p:xfrm>
          <a:off x="8472264" y="5805265"/>
          <a:ext cx="864420" cy="89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80" imgH="393480" progId="Equation.DSMT4">
                  <p:embed/>
                </p:oleObj>
              </mc:Choice>
              <mc:Fallback>
                <p:oleObj name="Equation" r:id="rId10" imgW="380880" imgH="39348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264" y="5805265"/>
                        <a:ext cx="864420" cy="89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C47FC2-2FB0-F984-5B01-9ACA049011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68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5"/>
          <p:cNvSpPr>
            <a:spLocks noGrp="1"/>
          </p:cNvSpPr>
          <p:nvPr>
            <p:ph type="title"/>
          </p:nvPr>
        </p:nvSpPr>
        <p:spPr>
          <a:xfrm>
            <a:off x="1992313" y="26035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模糊算法的指令分类</a:t>
            </a:r>
          </a:p>
        </p:txBody>
      </p:sp>
      <p:sp>
        <p:nvSpPr>
          <p:cNvPr id="63491" name="内容占位符 6"/>
          <p:cNvSpPr>
            <a:spLocks noGrp="1"/>
          </p:cNvSpPr>
          <p:nvPr>
            <p:ph idx="1"/>
          </p:nvPr>
        </p:nvSpPr>
        <p:spPr>
          <a:xfrm>
            <a:off x="1343472" y="1557338"/>
            <a:ext cx="9145016" cy="5249862"/>
          </a:xfrm>
        </p:spPr>
        <p:txBody>
          <a:bodyPr/>
          <a:lstStyle/>
          <a:p>
            <a:r>
              <a:rPr lang="en-US" altLang="zh-CN" b="1" dirty="0">
                <a:solidFill>
                  <a:srgbClr val="3333FF"/>
                </a:solidFill>
              </a:rPr>
              <a:t>F</a:t>
            </a:r>
            <a:r>
              <a:rPr lang="zh-CN" altLang="en-US" b="1" dirty="0">
                <a:solidFill>
                  <a:srgbClr val="3333FF"/>
                </a:solidFill>
              </a:rPr>
              <a:t>条件语句</a:t>
            </a:r>
            <a:endParaRPr lang="en-US" altLang="zh-CN" b="1" dirty="0">
              <a:solidFill>
                <a:srgbClr val="3333FF"/>
              </a:solidFill>
            </a:endParaRPr>
          </a:p>
          <a:p>
            <a:pPr lvl="1"/>
            <a:r>
              <a:rPr lang="zh-CN" altLang="en-US" b="1" dirty="0"/>
              <a:t>如：</a:t>
            </a:r>
            <a:r>
              <a:rPr lang="en-US" altLang="zh-CN" b="1" dirty="0"/>
              <a:t>”</a:t>
            </a:r>
            <a:r>
              <a:rPr lang="zh-CN" altLang="en-US" b="1" dirty="0">
                <a:solidFill>
                  <a:srgbClr val="F40802"/>
                </a:solidFill>
                <a:latin typeface="+mj-lt"/>
                <a:ea typeface="华文楷体" panose="02010600040101010101" pitchFamily="2" charset="-122"/>
              </a:rPr>
              <a:t>若</a:t>
            </a:r>
            <a:r>
              <a:rPr lang="en-US" altLang="zh-CN" b="1" dirty="0">
                <a:solidFill>
                  <a:srgbClr val="F40802"/>
                </a:solidFill>
                <a:latin typeface="+mj-lt"/>
                <a:ea typeface="华文楷体" panose="02010600040101010101" pitchFamily="2" charset="-122"/>
              </a:rPr>
              <a:t>x</a:t>
            </a:r>
            <a:r>
              <a:rPr lang="zh-CN" altLang="en-US" b="1" dirty="0">
                <a:solidFill>
                  <a:srgbClr val="F40802"/>
                </a:solidFill>
                <a:latin typeface="+mj-lt"/>
                <a:ea typeface="华文楷体" panose="02010600040101010101" pitchFamily="2" charset="-122"/>
              </a:rPr>
              <a:t>小则</a:t>
            </a:r>
            <a:r>
              <a:rPr lang="en-US" altLang="zh-CN" b="1" dirty="0">
                <a:solidFill>
                  <a:srgbClr val="F40802"/>
                </a:solidFill>
                <a:latin typeface="+mj-lt"/>
                <a:ea typeface="华文楷体" panose="02010600040101010101" pitchFamily="2" charset="-122"/>
              </a:rPr>
              <a:t>y</a:t>
            </a:r>
            <a:r>
              <a:rPr lang="zh-CN" altLang="en-US" b="1" dirty="0">
                <a:solidFill>
                  <a:srgbClr val="F40802"/>
                </a:solidFill>
                <a:latin typeface="+mj-lt"/>
                <a:ea typeface="华文楷体" panose="02010600040101010101" pitchFamily="2" charset="-122"/>
              </a:rPr>
              <a:t>大，否则</a:t>
            </a:r>
            <a:r>
              <a:rPr lang="en-US" altLang="zh-CN" b="1" dirty="0">
                <a:solidFill>
                  <a:srgbClr val="F40802"/>
                </a:solidFill>
                <a:latin typeface="+mj-lt"/>
                <a:ea typeface="华文楷体" panose="02010600040101010101" pitchFamily="2" charset="-122"/>
              </a:rPr>
              <a:t>y</a:t>
            </a:r>
            <a:r>
              <a:rPr lang="zh-CN" altLang="en-US" b="1" dirty="0">
                <a:solidFill>
                  <a:srgbClr val="F40802"/>
                </a:solidFill>
                <a:latin typeface="+mj-lt"/>
                <a:ea typeface="华文楷体" panose="02010600040101010101" pitchFamily="2" charset="-122"/>
              </a:rPr>
              <a:t>不大</a:t>
            </a:r>
            <a:r>
              <a:rPr lang="en-US" altLang="zh-CN" dirty="0">
                <a:solidFill>
                  <a:srgbClr val="F40802"/>
                </a:solidFill>
                <a:ea typeface="黑体" pitchFamily="49" charset="-122"/>
              </a:rPr>
              <a:t>”</a:t>
            </a:r>
          </a:p>
          <a:p>
            <a:pPr lvl="1"/>
            <a:r>
              <a:rPr lang="zh-CN" altLang="en-US" b="1" dirty="0">
                <a:solidFill>
                  <a:srgbClr val="F40802"/>
                </a:solidFill>
                <a:ea typeface="华文楷体" pitchFamily="2" charset="-122"/>
              </a:rPr>
              <a:t>         若</a:t>
            </a:r>
            <a:r>
              <a:rPr lang="en-US" altLang="zh-CN" b="1" dirty="0">
                <a:solidFill>
                  <a:srgbClr val="F40802"/>
                </a:solidFill>
                <a:ea typeface="华文楷体" pitchFamily="2" charset="-122"/>
              </a:rPr>
              <a:t>x</a:t>
            </a:r>
            <a:r>
              <a:rPr lang="zh-CN" altLang="en-US" b="1" dirty="0">
                <a:solidFill>
                  <a:srgbClr val="F40802"/>
                </a:solidFill>
                <a:ea typeface="华文楷体" pitchFamily="2" charset="-122"/>
              </a:rPr>
              <a:t>很小，则</a:t>
            </a:r>
            <a:r>
              <a:rPr lang="en-US" altLang="zh-CN" b="1" dirty="0">
                <a:solidFill>
                  <a:srgbClr val="F40802"/>
                </a:solidFill>
                <a:ea typeface="华文楷体" pitchFamily="2" charset="-122"/>
              </a:rPr>
              <a:t>y</a:t>
            </a:r>
            <a:r>
              <a:rPr lang="zh-CN" altLang="en-US" b="1" dirty="0">
                <a:solidFill>
                  <a:srgbClr val="F40802"/>
                </a:solidFill>
                <a:ea typeface="华文楷体" pitchFamily="2" charset="-122"/>
              </a:rPr>
              <a:t>很大</a:t>
            </a:r>
            <a:endParaRPr lang="en-US" altLang="zh-CN" dirty="0">
              <a:solidFill>
                <a:srgbClr val="F40802"/>
              </a:solidFill>
              <a:ea typeface="黑体" pitchFamily="49" charset="-122"/>
            </a:endParaRPr>
          </a:p>
          <a:p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无条件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行为语句</a:t>
            </a:r>
            <a:endParaRPr lang="en-US" altLang="zh-CN" dirty="0">
              <a:solidFill>
                <a:srgbClr val="3333FF"/>
              </a:solidFill>
              <a:ea typeface="黑体" pitchFamily="49" charset="-122"/>
            </a:endParaRPr>
          </a:p>
          <a:p>
            <a:pPr lvl="1"/>
            <a:r>
              <a:rPr lang="zh-CN" altLang="en-US" b="1" dirty="0"/>
              <a:t>如  </a:t>
            </a:r>
            <a:endParaRPr lang="en-US" altLang="zh-CN" b="1" dirty="0"/>
          </a:p>
          <a:p>
            <a:pPr marL="971550" lvl="1" indent="-514350">
              <a:buFont typeface="+mj-ea"/>
              <a:buAutoNum type="circleNumDbPlain"/>
            </a:pPr>
            <a:r>
              <a:rPr lang="en-US" altLang="zh-CN" b="1" dirty="0">
                <a:solidFill>
                  <a:srgbClr val="CC00CC"/>
                </a:solidFill>
              </a:rPr>
              <a:t>x </a:t>
            </a:r>
            <a:r>
              <a:rPr lang="zh-CN" altLang="en-US" b="1" dirty="0">
                <a:solidFill>
                  <a:srgbClr val="CC00CC"/>
                </a:solidFill>
              </a:rPr>
              <a:t>与 </a:t>
            </a:r>
            <a:r>
              <a:rPr lang="en-US" altLang="zh-CN" b="1" dirty="0">
                <a:solidFill>
                  <a:srgbClr val="CC00CC"/>
                </a:solidFill>
              </a:rPr>
              <a:t>y </a:t>
            </a:r>
            <a:r>
              <a:rPr lang="zh-CN" altLang="en-US" b="1" dirty="0">
                <a:solidFill>
                  <a:srgbClr val="CC00CC"/>
                </a:solidFill>
              </a:rPr>
              <a:t>相乘</a:t>
            </a:r>
            <a:r>
              <a:rPr lang="en-US" altLang="zh-CN" b="1" dirty="0">
                <a:solidFill>
                  <a:srgbClr val="CC00CC"/>
                </a:solidFill>
              </a:rPr>
              <a:t>a few times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en-US" altLang="zh-CN" b="1" dirty="0">
                <a:solidFill>
                  <a:srgbClr val="CC00CC"/>
                </a:solidFill>
              </a:rPr>
              <a:t>x </a:t>
            </a:r>
            <a:r>
              <a:rPr lang="zh-CN" altLang="en-US" b="1" dirty="0">
                <a:solidFill>
                  <a:srgbClr val="CC00CC"/>
                </a:solidFill>
              </a:rPr>
              <a:t>降低一些</a:t>
            </a:r>
            <a:endParaRPr lang="en-US" altLang="zh-CN" b="1" dirty="0">
              <a:solidFill>
                <a:srgbClr val="CC00CC"/>
              </a:solidFill>
            </a:endParaRPr>
          </a:p>
          <a:p>
            <a:pPr marL="971550" lvl="1" indent="-514350">
              <a:buFont typeface="+mj-ea"/>
              <a:buAutoNum type="circleNumDbPlain"/>
            </a:pPr>
            <a:r>
              <a:rPr lang="en-US" altLang="zh-CN" b="1" dirty="0">
                <a:solidFill>
                  <a:srgbClr val="CC00CC"/>
                </a:solidFill>
              </a:rPr>
              <a:t> </a:t>
            </a:r>
            <a:r>
              <a:rPr lang="en-US" altLang="zh-CN" b="1" dirty="0" err="1">
                <a:solidFill>
                  <a:srgbClr val="CC00CC"/>
                </a:solidFill>
              </a:rPr>
              <a:t>goto</a:t>
            </a:r>
            <a:r>
              <a:rPr lang="en-US" altLang="zh-CN" b="1" dirty="0">
                <a:solidFill>
                  <a:srgbClr val="CC00CC"/>
                </a:solidFill>
              </a:rPr>
              <a:t> 7 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b="1" dirty="0">
                <a:solidFill>
                  <a:srgbClr val="CC00CC"/>
                </a:solidFill>
              </a:rPr>
              <a:t>打印 </a:t>
            </a:r>
            <a:r>
              <a:rPr lang="en-US" altLang="zh-CN" b="1" dirty="0">
                <a:solidFill>
                  <a:srgbClr val="CC00CC"/>
                </a:solidFill>
              </a:rPr>
              <a:t>x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b="1" dirty="0">
                <a:solidFill>
                  <a:srgbClr val="CC00CC"/>
                </a:solidFill>
              </a:rPr>
              <a:t>停机</a:t>
            </a:r>
            <a:endParaRPr lang="en-US" altLang="zh-CN" dirty="0">
              <a:solidFill>
                <a:srgbClr val="CC00CC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2405DE-ADD1-5644-2FE7-390699CABD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69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073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5"/>
          <p:cNvSpPr>
            <a:spLocks noGrp="1"/>
          </p:cNvSpPr>
          <p:nvPr>
            <p:ph type="title"/>
          </p:nvPr>
        </p:nvSpPr>
        <p:spPr>
          <a:xfrm>
            <a:off x="1992313" y="26035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模糊指令的执行</a:t>
            </a:r>
          </a:p>
        </p:txBody>
      </p:sp>
      <p:sp>
        <p:nvSpPr>
          <p:cNvPr id="63491" name="内容占位符 6"/>
          <p:cNvSpPr>
            <a:spLocks noGrp="1"/>
          </p:cNvSpPr>
          <p:nvPr>
            <p:ph idx="1"/>
          </p:nvPr>
        </p:nvSpPr>
        <p:spPr>
          <a:xfrm>
            <a:off x="1055440" y="1557338"/>
            <a:ext cx="10225136" cy="5249862"/>
          </a:xfrm>
        </p:spPr>
        <p:txBody>
          <a:bodyPr/>
          <a:lstStyle/>
          <a:p>
            <a:r>
              <a:rPr lang="zh-CN" altLang="en-US" b="1" dirty="0">
                <a:solidFill>
                  <a:srgbClr val="3333FF"/>
                </a:solidFill>
              </a:rPr>
              <a:t>对</a:t>
            </a:r>
            <a:r>
              <a:rPr lang="en-US" altLang="zh-CN" b="1" u="sng" dirty="0">
                <a:solidFill>
                  <a:srgbClr val="3333FF"/>
                </a:solidFill>
              </a:rPr>
              <a:t>F</a:t>
            </a:r>
            <a:r>
              <a:rPr lang="zh-CN" altLang="en-US" b="1" u="sng" dirty="0">
                <a:solidFill>
                  <a:srgbClr val="3333FF"/>
                </a:solidFill>
              </a:rPr>
              <a:t>条件语句</a:t>
            </a:r>
            <a:r>
              <a:rPr lang="zh-CN" altLang="en-US" b="1" dirty="0">
                <a:solidFill>
                  <a:srgbClr val="3333FF"/>
                </a:solidFill>
              </a:rPr>
              <a:t>的真域计算如前面所述。</a:t>
            </a:r>
            <a:endParaRPr lang="en-US" altLang="zh-CN" b="1" dirty="0">
              <a:solidFill>
                <a:srgbClr val="3333FF"/>
              </a:solidFill>
            </a:endParaRPr>
          </a:p>
          <a:p>
            <a:r>
              <a:rPr lang="zh-CN" altLang="en-US" b="1" dirty="0">
                <a:solidFill>
                  <a:srgbClr val="3333FF"/>
                </a:solidFill>
              </a:rPr>
              <a:t>对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无条件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行为语句，执行结果仍为一个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集</a:t>
            </a:r>
            <a:endParaRPr lang="en-US" altLang="zh-CN" dirty="0">
              <a:solidFill>
                <a:srgbClr val="3333FF"/>
              </a:solidFill>
              <a:ea typeface="黑体" pitchFamily="49" charset="-122"/>
            </a:endParaRPr>
          </a:p>
          <a:p>
            <a:pPr lvl="1"/>
            <a:r>
              <a:rPr lang="zh-CN" altLang="en-US" b="1" dirty="0"/>
              <a:t>如  </a:t>
            </a:r>
            <a:r>
              <a:rPr lang="en-US" altLang="zh-CN" b="1" dirty="0"/>
              <a:t>“</a:t>
            </a:r>
            <a:r>
              <a:rPr lang="en-US" altLang="zh-CN" b="1" dirty="0">
                <a:solidFill>
                  <a:srgbClr val="CC00CC"/>
                </a:solidFill>
              </a:rPr>
              <a:t>x </a:t>
            </a:r>
            <a:r>
              <a:rPr lang="zh-CN" altLang="en-US" b="1" dirty="0">
                <a:solidFill>
                  <a:srgbClr val="CC00CC"/>
                </a:solidFill>
              </a:rPr>
              <a:t>自乘 </a:t>
            </a:r>
            <a:r>
              <a:rPr lang="en-US" altLang="zh-CN" b="1" dirty="0">
                <a:solidFill>
                  <a:srgbClr val="CC00CC"/>
                </a:solidFill>
              </a:rPr>
              <a:t>a few times”</a:t>
            </a:r>
          </a:p>
          <a:p>
            <a:pPr marL="457200" lvl="1" indent="0">
              <a:buNone/>
            </a:pPr>
            <a:endParaRPr lang="en-US" altLang="zh-CN" b="1" dirty="0">
              <a:solidFill>
                <a:srgbClr val="CC00CC"/>
              </a:solidFill>
            </a:endParaRPr>
          </a:p>
          <a:p>
            <a:pPr marL="457200" lvl="1" indent="0">
              <a:buNone/>
            </a:pPr>
            <a:endParaRPr lang="en-US" altLang="zh-CN" sz="2400" b="1" dirty="0">
              <a:solidFill>
                <a:srgbClr val="CC00CC"/>
              </a:solidFill>
            </a:endParaRPr>
          </a:p>
          <a:p>
            <a:pPr marL="457200" lvl="1" indent="0">
              <a:buNone/>
            </a:pPr>
            <a:r>
              <a:rPr lang="zh-CN" altLang="en-US" b="1" dirty="0"/>
              <a:t>根据扩张原理，执行此指令可得</a:t>
            </a:r>
            <a:r>
              <a:rPr lang="en-US" altLang="zh-CN" b="1" dirty="0"/>
              <a:t>F</a:t>
            </a:r>
            <a:r>
              <a:rPr lang="zh-CN" altLang="en-US" b="1" dirty="0"/>
              <a:t>集为</a:t>
            </a:r>
            <a:endParaRPr lang="en-US" altLang="zh-CN" b="1" dirty="0"/>
          </a:p>
          <a:p>
            <a:pPr marL="457200" lvl="1" indent="0">
              <a:buNone/>
            </a:pPr>
            <a:endParaRPr lang="en-US" altLang="zh-CN" b="1" dirty="0">
              <a:solidFill>
                <a:srgbClr val="CC00CC"/>
              </a:solidFill>
            </a:endParaRPr>
          </a:p>
          <a:p>
            <a:pPr marL="457200" lvl="1" indent="0">
              <a:buNone/>
            </a:pPr>
            <a:endParaRPr lang="en-US" altLang="zh-CN" b="1" dirty="0">
              <a:solidFill>
                <a:srgbClr val="CC00CC"/>
              </a:solidFill>
            </a:endParaRPr>
          </a:p>
          <a:p>
            <a:pPr marL="457200" lvl="1" indent="0">
              <a:buNone/>
            </a:pPr>
            <a:r>
              <a:rPr lang="zh-CN" altLang="en-US" b="1" dirty="0"/>
              <a:t>有时要从结果</a:t>
            </a:r>
            <a:r>
              <a:rPr lang="en-US" altLang="zh-CN" b="1" dirty="0"/>
              <a:t>F</a:t>
            </a:r>
            <a:r>
              <a:rPr lang="zh-CN" altLang="en-US" b="1" dirty="0"/>
              <a:t>集合中选择一确定数字，则可按最大隶属度原理来确定</a:t>
            </a:r>
            <a:r>
              <a:rPr lang="en-US" altLang="zh-CN" b="1" dirty="0"/>
              <a:t>.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071038"/>
              </p:ext>
            </p:extLst>
          </p:nvPr>
        </p:nvGraphicFramePr>
        <p:xfrm>
          <a:off x="3719736" y="3212977"/>
          <a:ext cx="33083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880" imgH="393480" progId="Equation.DSMT4">
                  <p:embed/>
                </p:oleObj>
              </mc:Choice>
              <mc:Fallback>
                <p:oleObj name="Equation" r:id="rId2" imgW="1523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3212977"/>
                        <a:ext cx="33083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410051"/>
              </p:ext>
            </p:extLst>
          </p:nvPr>
        </p:nvGraphicFramePr>
        <p:xfrm>
          <a:off x="3800475" y="4797153"/>
          <a:ext cx="317023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393480" progId="Equation.DSMT4">
                  <p:embed/>
                </p:oleObj>
              </mc:Choice>
              <mc:Fallback>
                <p:oleObj name="Equation" r:id="rId4" imgW="1460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4797153"/>
                        <a:ext cx="317023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A9D5EB-989E-23FD-24B1-A1E9ADD897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70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002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5"/>
          <p:cNvSpPr>
            <a:spLocks noGrp="1"/>
          </p:cNvSpPr>
          <p:nvPr>
            <p:ph type="title"/>
          </p:nvPr>
        </p:nvSpPr>
        <p:spPr>
          <a:xfrm>
            <a:off x="1981200" y="173431"/>
            <a:ext cx="8229600" cy="1371600"/>
          </a:xfrm>
        </p:spPr>
        <p:txBody>
          <a:bodyPr/>
          <a:lstStyle/>
          <a:p>
            <a:pPr algn="r"/>
            <a:r>
              <a:rPr lang="zh-CN" altLang="en-US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模糊算法举例</a:t>
            </a:r>
          </a:p>
        </p:txBody>
      </p:sp>
      <p:sp>
        <p:nvSpPr>
          <p:cNvPr id="63491" name="内容占位符 6"/>
          <p:cNvSpPr>
            <a:spLocks noGrp="1"/>
          </p:cNvSpPr>
          <p:nvPr>
            <p:ph idx="1"/>
          </p:nvPr>
        </p:nvSpPr>
        <p:spPr>
          <a:xfrm>
            <a:off x="1271464" y="692696"/>
            <a:ext cx="9217024" cy="6165304"/>
          </a:xfrm>
        </p:spPr>
        <p:txBody>
          <a:bodyPr/>
          <a:lstStyle/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>
                <a:solidFill>
                  <a:srgbClr val="3333FF"/>
                </a:solidFill>
              </a:rPr>
              <a:t>x=a (T</a:t>
            </a:r>
            <a:r>
              <a:rPr lang="zh-CN" altLang="en-US" sz="2400" b="1" dirty="0">
                <a:solidFill>
                  <a:srgbClr val="3333FF"/>
                </a:solidFill>
              </a:rPr>
              <a:t>上的某个初始点</a:t>
            </a:r>
            <a:r>
              <a:rPr lang="en-US" altLang="zh-CN" sz="2400" b="1" dirty="0">
                <a:solidFill>
                  <a:srgbClr val="3333FF"/>
                </a:solidFill>
              </a:rPr>
              <a:t>)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sz="2400" b="1" dirty="0">
                <a:solidFill>
                  <a:srgbClr val="3333FF"/>
                </a:solidFill>
                <a:ea typeface="黑体" pitchFamily="49" charset="-122"/>
              </a:rPr>
              <a:t>选择沿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T</a:t>
            </a:r>
            <a:r>
              <a:rPr lang="zh-CN" altLang="en-US" sz="2400" b="1" dirty="0">
                <a:solidFill>
                  <a:srgbClr val="3333FF"/>
                </a:solidFill>
                <a:ea typeface="黑体" pitchFamily="49" charset="-122"/>
              </a:rPr>
              <a:t>的运动方向</a:t>
            </a:r>
            <a:endParaRPr lang="en-US" altLang="zh-CN" sz="2400" b="1" dirty="0">
              <a:solidFill>
                <a:srgbClr val="3333FF"/>
              </a:solidFill>
              <a:ea typeface="黑体" pitchFamily="49" charset="-12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t</a:t>
            </a:r>
            <a:r>
              <a:rPr lang="en-US" altLang="zh-CN" sz="2400" b="1" dirty="0">
                <a:sym typeface="Symbol" panose="05050102010706020507" pitchFamily="18" charset="2"/>
              </a:rPr>
              <a:t> T</a:t>
            </a:r>
            <a:r>
              <a:rPr lang="zh-CN" altLang="en-US" sz="2400" b="1" dirty="0">
                <a:sym typeface="Symbol" panose="05050102010706020507" pitchFamily="18" charset="2"/>
              </a:rPr>
              <a:t>在 </a:t>
            </a:r>
            <a:r>
              <a:rPr lang="en-US" altLang="zh-CN" sz="2400" b="1" dirty="0">
                <a:sym typeface="Symbol" panose="05050102010706020507" pitchFamily="18" charset="2"/>
              </a:rPr>
              <a:t>x</a:t>
            </a:r>
            <a:r>
              <a:rPr lang="zh-CN" altLang="en-US" sz="2400" b="1" dirty="0">
                <a:sym typeface="Symbol" panose="05050102010706020507" pitchFamily="18" charset="2"/>
              </a:rPr>
              <a:t>的切线方向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x‘</a:t>
            </a:r>
            <a:r>
              <a:rPr lang="en-US" altLang="zh-CN" sz="2400" b="1" dirty="0">
                <a:sym typeface="Symbol" panose="05050102010706020507" pitchFamily="18" charset="2"/>
              </a:rPr>
              <a:t> 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x+1 (</a:t>
            </a:r>
            <a:r>
              <a:rPr lang="zh-CN" altLang="en-US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从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x</a:t>
            </a:r>
            <a:r>
              <a:rPr lang="zh-CN" altLang="en-US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移动到邻近的点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 )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i </a:t>
            </a:r>
            <a:r>
              <a:rPr lang="en-US" altLang="zh-CN" sz="2400" b="1" dirty="0">
                <a:sym typeface="Symbol" panose="05050102010706020507" pitchFamily="18" charset="2"/>
              </a:rPr>
              <a:t>  T </a:t>
            </a:r>
            <a:r>
              <a:rPr lang="zh-CN" altLang="en-US" sz="2400" b="1" dirty="0">
                <a:sym typeface="Symbol" panose="05050102010706020507" pitchFamily="18" charset="2"/>
              </a:rPr>
              <a:t>在</a:t>
            </a:r>
            <a:r>
              <a:rPr lang="en-US" altLang="zh-CN" sz="2400" b="1" dirty="0">
                <a:sym typeface="Symbol" panose="05050102010706020507" pitchFamily="18" charset="2"/>
              </a:rPr>
              <a:t>x’</a:t>
            </a:r>
            <a:r>
              <a:rPr lang="zh-CN" altLang="en-US" sz="2400" b="1" dirty="0">
                <a:sym typeface="Symbol" panose="05050102010706020507" pitchFamily="18" charset="2"/>
              </a:rPr>
              <a:t>的切线方向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>
                <a:sym typeface="Symbol" panose="05050102010706020507" pitchFamily="18" charset="2"/>
              </a:rPr>
              <a:t></a:t>
            </a:r>
            <a:r>
              <a:rPr lang="en-US" altLang="zh-CN" sz="2400" b="1" dirty="0">
                <a:sym typeface="Symbol" panose="05050102010706020507" pitchFamily="18" charset="2"/>
              </a:rPr>
              <a:t>  t </a:t>
            </a:r>
            <a:r>
              <a:rPr lang="zh-CN" altLang="en-US" sz="2400" b="1" dirty="0">
                <a:sym typeface="Symbol" panose="05050102010706020507" pitchFamily="18" charset="2"/>
              </a:rPr>
              <a:t>与</a:t>
            </a:r>
            <a:r>
              <a:rPr lang="en-US" altLang="zh-CN" sz="2400" b="1" dirty="0">
                <a:sym typeface="Symbol" panose="05050102010706020507" pitchFamily="18" charset="2"/>
              </a:rPr>
              <a:t>t’ </a:t>
            </a:r>
            <a:r>
              <a:rPr lang="zh-CN" altLang="en-US" sz="2400" b="1" dirty="0">
                <a:sym typeface="Symbol" panose="05050102010706020507" pitchFamily="18" charset="2"/>
              </a:rPr>
              <a:t>之间的夹角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>
                <a:sym typeface="Symbol" panose="05050102010706020507" pitchFamily="18" charset="2"/>
              </a:rPr>
              <a:t>x  x’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t</a:t>
            </a:r>
            <a:r>
              <a:rPr lang="en-US" altLang="zh-CN" sz="2400" b="1" dirty="0">
                <a:sym typeface="Symbol" panose="05050102010706020507" pitchFamily="18" charset="2"/>
              </a:rPr>
              <a:t>  T</a:t>
            </a:r>
            <a:r>
              <a:rPr lang="zh-CN" altLang="en-US" sz="2400" b="1" dirty="0">
                <a:sym typeface="Symbol" panose="05050102010706020507" pitchFamily="18" charset="2"/>
              </a:rPr>
              <a:t>在 </a:t>
            </a:r>
            <a:r>
              <a:rPr lang="en-US" altLang="zh-CN" sz="2400" b="1" dirty="0">
                <a:sym typeface="Symbol" panose="05050102010706020507" pitchFamily="18" charset="2"/>
              </a:rPr>
              <a:t>x</a:t>
            </a:r>
            <a:r>
              <a:rPr lang="zh-CN" altLang="en-US" sz="2400" b="1" dirty="0">
                <a:sym typeface="Symbol" panose="05050102010706020507" pitchFamily="18" charset="2"/>
              </a:rPr>
              <a:t>的切线方向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x‘</a:t>
            </a:r>
            <a:r>
              <a:rPr lang="en-US" altLang="zh-CN" sz="2400" b="1" dirty="0">
                <a:sym typeface="Symbol" panose="05050102010706020507" pitchFamily="18" charset="2"/>
              </a:rPr>
              <a:t> </a:t>
            </a: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x+1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>
                <a:solidFill>
                  <a:srgbClr val="3333FF"/>
                </a:solidFill>
                <a:ea typeface="黑体" pitchFamily="49" charset="-122"/>
              </a:rPr>
              <a:t>t'</a:t>
            </a:r>
            <a:r>
              <a:rPr lang="en-US" altLang="zh-CN" sz="2400" b="1" dirty="0">
                <a:sym typeface="Symbol" panose="05050102010706020507" pitchFamily="18" charset="2"/>
              </a:rPr>
              <a:t> T</a:t>
            </a:r>
            <a:r>
              <a:rPr lang="zh-CN" altLang="en-US" sz="2400" b="1" dirty="0">
                <a:sym typeface="Symbol" panose="05050102010706020507" pitchFamily="18" charset="2"/>
              </a:rPr>
              <a:t>在 </a:t>
            </a:r>
            <a:r>
              <a:rPr lang="en-US" altLang="zh-CN" sz="2400" b="1" dirty="0">
                <a:sym typeface="Symbol" panose="05050102010706020507" pitchFamily="18" charset="2"/>
              </a:rPr>
              <a:t>x’ </a:t>
            </a:r>
            <a:r>
              <a:rPr lang="zh-CN" altLang="en-US" sz="2400" b="1" dirty="0">
                <a:sym typeface="Symbol" panose="05050102010706020507" pitchFamily="18" charset="2"/>
              </a:rPr>
              <a:t>的切线方向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zh-CN" altLang="en-US" sz="2400" b="1" dirty="0">
                <a:sym typeface="Symbol" panose="05050102010706020507" pitchFamily="18" charset="2"/>
              </a:rPr>
              <a:t></a:t>
            </a:r>
            <a:r>
              <a:rPr lang="en-US" altLang="zh-CN" sz="2400" b="1" dirty="0">
                <a:sym typeface="Symbol" panose="05050102010706020507" pitchFamily="18" charset="2"/>
              </a:rPr>
              <a:t>  t </a:t>
            </a:r>
            <a:r>
              <a:rPr lang="zh-CN" altLang="en-US" sz="2400" b="1" dirty="0">
                <a:sym typeface="Symbol" panose="05050102010706020507" pitchFamily="18" charset="2"/>
              </a:rPr>
              <a:t>与</a:t>
            </a:r>
            <a:r>
              <a:rPr lang="en-US" altLang="zh-CN" sz="2400" b="1" dirty="0">
                <a:sym typeface="Symbol" panose="05050102010706020507" pitchFamily="18" charset="2"/>
              </a:rPr>
              <a:t>t’ </a:t>
            </a:r>
            <a:r>
              <a:rPr lang="zh-CN" altLang="en-US" sz="2400" b="1" dirty="0">
                <a:sym typeface="Symbol" panose="05050102010706020507" pitchFamily="18" charset="2"/>
              </a:rPr>
              <a:t>之间的夹角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zh-CN" altLang="en-US" sz="2400" b="1" dirty="0">
                <a:sym typeface="Symbol" panose="05050102010706020507" pitchFamily="18" charset="2"/>
              </a:rPr>
              <a:t>若</a:t>
            </a:r>
            <a:r>
              <a:rPr lang="zh-CN" altLang="zh-CN" sz="2400" b="1" dirty="0">
                <a:sym typeface="Symbol" panose="05050102010706020507" pitchFamily="18" charset="2"/>
              </a:rPr>
              <a:t></a:t>
            </a:r>
            <a:r>
              <a:rPr lang="zh-CN" altLang="en-US" sz="2400" b="1" dirty="0">
                <a:sym typeface="Symbol" panose="05050102010706020507" pitchFamily="18" charset="2"/>
              </a:rPr>
              <a:t>和的符号不同，则</a:t>
            </a:r>
            <a:r>
              <a:rPr lang="en-US" altLang="zh-CN" sz="2400" b="1" dirty="0">
                <a:sym typeface="Symbol" panose="05050102010706020507" pitchFamily="18" charset="2"/>
              </a:rPr>
              <a:t>T</a:t>
            </a:r>
            <a:r>
              <a:rPr lang="zh-CN" altLang="en-US" sz="2400" b="1" dirty="0">
                <a:sym typeface="Symbol" panose="05050102010706020507" pitchFamily="18" charset="2"/>
              </a:rPr>
              <a:t>不是凸，返回。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zh-CN" altLang="en-US" sz="2400" b="1" dirty="0">
                <a:sym typeface="Symbol" panose="05050102010706020507" pitchFamily="18" charset="2"/>
              </a:rPr>
              <a:t>若 </a:t>
            </a:r>
            <a:r>
              <a:rPr lang="en-US" altLang="zh-CN" sz="2400" b="1" dirty="0">
                <a:sym typeface="Symbol" panose="05050102010706020507" pitchFamily="18" charset="2"/>
              </a:rPr>
              <a:t>x’ </a:t>
            </a:r>
            <a:r>
              <a:rPr lang="zh-CN" altLang="zh-CN" sz="2400" b="1" dirty="0">
                <a:sym typeface="Symbol" panose="05050102010706020507" pitchFamily="18" charset="2"/>
              </a:rPr>
              <a:t> </a:t>
            </a:r>
            <a:r>
              <a:rPr lang="en-US" altLang="zh-CN" sz="2400" b="1" dirty="0"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sym typeface="Symbol" panose="05050102010706020507" pitchFamily="18" charset="2"/>
              </a:rPr>
              <a:t>则</a:t>
            </a:r>
            <a:r>
              <a:rPr lang="en-US" altLang="zh-CN" sz="2400" b="1" dirty="0">
                <a:sym typeface="Symbol" panose="05050102010706020507" pitchFamily="18" charset="2"/>
              </a:rPr>
              <a:t>T </a:t>
            </a:r>
            <a:r>
              <a:rPr lang="zh-CN" altLang="en-US" sz="2400" b="1" dirty="0">
                <a:sym typeface="Symbol" panose="05050102010706020507" pitchFamily="18" charset="2"/>
              </a:rPr>
              <a:t>是凸的；返回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r>
              <a:rPr lang="en-US" altLang="zh-CN" sz="2400" b="1" dirty="0" err="1">
                <a:sym typeface="Symbol" panose="05050102010706020507" pitchFamily="18" charset="2"/>
              </a:rPr>
              <a:t>Goto</a:t>
            </a:r>
            <a:r>
              <a:rPr lang="en-US" altLang="zh-CN" sz="2400" b="1" dirty="0">
                <a:sym typeface="Symbol" panose="05050102010706020507" pitchFamily="18" charset="2"/>
              </a:rPr>
              <a:t>  (7)</a:t>
            </a:r>
          </a:p>
          <a:p>
            <a:pPr marL="514350" indent="-514350">
              <a:buFont typeface="+mj-ea"/>
              <a:buAutoNum type="circleNumDbPlain"/>
            </a:pPr>
            <a:endParaRPr lang="en-US" altLang="zh-CN" sz="2400" b="1" dirty="0">
              <a:sym typeface="Symbol" panose="05050102010706020507" pitchFamily="18" charset="2"/>
            </a:endParaRPr>
          </a:p>
          <a:p>
            <a:pPr marL="514350" indent="-514350">
              <a:buFont typeface="+mj-ea"/>
              <a:buAutoNum type="circleNumDbPlain"/>
            </a:pPr>
            <a:endParaRPr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80176" y="1959466"/>
            <a:ext cx="3888432" cy="181588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algn="l"/>
            <a:r>
              <a:rPr lang="en-US" altLang="zh-CN" sz="2800" b="1" dirty="0"/>
              <a:t>T</a:t>
            </a:r>
            <a:r>
              <a:rPr lang="zh-CN" altLang="en-US" sz="2800" b="1" dirty="0"/>
              <a:t>代表测试中的对象，</a:t>
            </a:r>
            <a:endParaRPr lang="en-US" altLang="zh-CN" sz="2800" b="1" dirty="0"/>
          </a:p>
          <a:p>
            <a:pPr algn="l"/>
            <a:r>
              <a:rPr lang="zh-CN" altLang="en-US" sz="2800" b="1" dirty="0"/>
              <a:t>下面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算法的作用是</a:t>
            </a:r>
            <a:r>
              <a:rPr lang="zh-CN" altLang="en-US" sz="2800" b="1" dirty="0">
                <a:solidFill>
                  <a:srgbClr val="F40802"/>
                </a:solidFill>
              </a:rPr>
              <a:t>检查</a:t>
            </a:r>
            <a:r>
              <a:rPr lang="en-US" altLang="zh-CN" sz="2800" b="1" dirty="0">
                <a:solidFill>
                  <a:srgbClr val="F40802"/>
                </a:solidFill>
              </a:rPr>
              <a:t>T</a:t>
            </a:r>
            <a:r>
              <a:rPr lang="zh-CN" altLang="en-US" sz="2800" b="1" dirty="0">
                <a:solidFill>
                  <a:srgbClr val="F40802"/>
                </a:solidFill>
              </a:rPr>
              <a:t>的每点曲率是否保持同一符号。</a:t>
            </a:r>
            <a:endParaRPr lang="en-US" altLang="zh-CN" sz="2800" b="1" dirty="0">
              <a:solidFill>
                <a:srgbClr val="F40802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3ACE2D3-AEC7-F4BB-EBB7-CACE91C141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71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773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228A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习题七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        9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dirty="0"/>
              <a:t>, 11, 12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B3020F-6357-2CF3-E5E1-56F1A6E7D3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C5F0F2-44EC-4D46-8912-639E305D2B32}" type="slidenum">
              <a:rPr lang="en-US" altLang="zh-CN" smtClean="0"/>
              <a:pPr>
                <a:defRPr/>
              </a:pPr>
              <a:t>72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2030307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29795</TotalTime>
  <Words>7043</Words>
  <Application>Microsoft Office PowerPoint</Application>
  <PresentationFormat>宽屏</PresentationFormat>
  <Paragraphs>766</Paragraphs>
  <Slides>72</Slides>
  <Notes>9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72</vt:i4>
      </vt:variant>
    </vt:vector>
  </HeadingPairs>
  <TitlesOfParts>
    <vt:vector size="87" baseType="lpstr">
      <vt:lpstr>黑体</vt:lpstr>
      <vt:lpstr>华文楷体</vt:lpstr>
      <vt:lpstr>楷体_GB2312</vt:lpstr>
      <vt:lpstr>隶书</vt:lpstr>
      <vt:lpstr>宋体</vt:lpstr>
      <vt:lpstr>Arial</vt:lpstr>
      <vt:lpstr>Arial Black</vt:lpstr>
      <vt:lpstr>Monotype Corsiva</vt:lpstr>
      <vt:lpstr>Symbol</vt:lpstr>
      <vt:lpstr>Times New Roman</vt:lpstr>
      <vt:lpstr>Wingdings</vt:lpstr>
      <vt:lpstr>Pixel</vt:lpstr>
      <vt:lpstr>公式</vt:lpstr>
      <vt:lpstr>Equation</vt:lpstr>
      <vt:lpstr>MathType 6.0 Equation</vt:lpstr>
      <vt:lpstr>第 7 章 模糊语言与模糊推理</vt:lpstr>
      <vt:lpstr>7.3 普通文法的定义</vt:lpstr>
      <vt:lpstr>普通文法的举例</vt:lpstr>
      <vt:lpstr>7.4  F文法</vt:lpstr>
      <vt:lpstr>F文法中句子隶属度计算法则</vt:lpstr>
      <vt:lpstr>F文法中句子隶属度计算举例</vt:lpstr>
      <vt:lpstr>F文法中句子隶属度计算举例</vt:lpstr>
      <vt:lpstr>F文法中句子隶属度计算举例</vt:lpstr>
      <vt:lpstr>计算G的代数方法</vt:lpstr>
      <vt:lpstr>计算G的代数方法举例</vt:lpstr>
      <vt:lpstr>计算G的代数方法举例</vt:lpstr>
      <vt:lpstr>F 文法举例 </vt:lpstr>
      <vt:lpstr>F 文法举例[P171例3]</vt:lpstr>
      <vt:lpstr>F 文法举例[P171例3]</vt:lpstr>
      <vt:lpstr>7.5  判断句和推理句及逻辑推理</vt:lpstr>
      <vt:lpstr>判断句</vt:lpstr>
      <vt:lpstr>普通判断句</vt:lpstr>
      <vt:lpstr>普通推理句</vt:lpstr>
      <vt:lpstr>恒真推理句(定理)作为推理依据的性质</vt:lpstr>
      <vt:lpstr>AB 的真值表</vt:lpstr>
      <vt:lpstr>”若(a)则(b)”: (a) (b)集合表示</vt:lpstr>
      <vt:lpstr>F判断句</vt:lpstr>
      <vt:lpstr>F 推理句</vt:lpstr>
      <vt:lpstr>F 推理句 (a) (b)的真假</vt:lpstr>
      <vt:lpstr>F逻辑推理规则</vt:lpstr>
      <vt:lpstr>F逻辑推理规则</vt:lpstr>
      <vt:lpstr>F逻辑推理规则</vt:lpstr>
      <vt:lpstr>F逻辑推理规则</vt:lpstr>
      <vt:lpstr>7.6  在不同论域上的F推理句</vt:lpstr>
      <vt:lpstr>  普通集的情形</vt:lpstr>
      <vt:lpstr>AB的真域</vt:lpstr>
      <vt:lpstr>普通推理句(AB)(x,y) 的性质</vt:lpstr>
      <vt:lpstr>不同普通集论域上推理举例</vt:lpstr>
      <vt:lpstr>不同论域上的F推理句</vt:lpstr>
      <vt:lpstr>F推理句(AB)(x,y) 的性质</vt:lpstr>
      <vt:lpstr>不同论域上的F推理句举例[P177例2]</vt:lpstr>
      <vt:lpstr>[P177例2]求“若x很高，则y很重”的真域R</vt:lpstr>
      <vt:lpstr>[P177例2]求R=(AB)(AcY)</vt:lpstr>
      <vt:lpstr>[P177例2]求R=(AB)(AcY)</vt:lpstr>
      <vt:lpstr>[P177例2]求R=(AB)(AcY)</vt:lpstr>
      <vt:lpstr>7.7  似然推理与条件语句</vt:lpstr>
      <vt:lpstr>似然推理</vt:lpstr>
      <vt:lpstr>似然推理规则举例[P180例1]</vt:lpstr>
      <vt:lpstr>似然推理规则举例[P180例1]</vt:lpstr>
      <vt:lpstr>似然推理规则举例[P180例1]</vt:lpstr>
      <vt:lpstr>普通条件语句及其真域</vt:lpstr>
      <vt:lpstr>“如果(a)则(b)，否则(c)”的真域</vt:lpstr>
      <vt:lpstr>F条件语句及其真域</vt:lpstr>
      <vt:lpstr>F条件语句的真域举例[P181例2]</vt:lpstr>
      <vt:lpstr>F条件语句的真域举例[P181例2]</vt:lpstr>
      <vt:lpstr>F条件语句的真域举例[P181例2]</vt:lpstr>
      <vt:lpstr>F条件语句的真域举例</vt:lpstr>
      <vt:lpstr>F条件语句的真域举例</vt:lpstr>
      <vt:lpstr>F条件语句的真域举例</vt:lpstr>
      <vt:lpstr>F条件语句的真域举例</vt:lpstr>
      <vt:lpstr>F条件语句的真域举例</vt:lpstr>
      <vt:lpstr>多重条件语句</vt:lpstr>
      <vt:lpstr>PowerPoint 演示文稿</vt:lpstr>
      <vt:lpstr>复合条件语句</vt:lpstr>
      <vt:lpstr>PowerPoint 演示文稿</vt:lpstr>
      <vt:lpstr>F复合条件语句推理举例</vt:lpstr>
      <vt:lpstr>F复合条件语句推理举例</vt:lpstr>
      <vt:lpstr>F复合条件语句推理举例</vt:lpstr>
      <vt:lpstr>F复合条件语句推理举例</vt:lpstr>
      <vt:lpstr>F复合条件语句推理举例</vt:lpstr>
      <vt:lpstr>模糊算法</vt:lpstr>
      <vt:lpstr>模糊算法</vt:lpstr>
      <vt:lpstr>模糊算法的指令分类</vt:lpstr>
      <vt:lpstr>模糊算法的指令分类</vt:lpstr>
      <vt:lpstr>模糊指令的执行</vt:lpstr>
      <vt:lpstr>模糊算法举例</vt:lpstr>
      <vt:lpstr>作业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7 章 模糊语言与模糊推理</dc:title>
  <dc:creator>凌卫新</dc:creator>
  <cp:lastModifiedBy>wxling66@outlook.com</cp:lastModifiedBy>
  <cp:revision>394</cp:revision>
  <cp:lastPrinted>2016-12-05T16:44:55Z</cp:lastPrinted>
  <dcterms:created xsi:type="dcterms:W3CDTF">2007-06-19T01:08:39Z</dcterms:created>
  <dcterms:modified xsi:type="dcterms:W3CDTF">2026-05-26T13:08:01Z</dcterms:modified>
</cp:coreProperties>
</file>