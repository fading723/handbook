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75" r:id="rId2"/>
  </p:sldMasterIdLst>
  <p:notesMasterIdLst>
    <p:notesMasterId r:id="rId27"/>
  </p:notesMasterIdLst>
  <p:handoutMasterIdLst>
    <p:handoutMasterId r:id="rId28"/>
  </p:handoutMasterIdLst>
  <p:sldIdLst>
    <p:sldId id="256" r:id="rId3"/>
    <p:sldId id="330" r:id="rId4"/>
    <p:sldId id="334" r:id="rId5"/>
    <p:sldId id="335" r:id="rId6"/>
    <p:sldId id="336" r:id="rId7"/>
    <p:sldId id="337" r:id="rId8"/>
    <p:sldId id="434" r:id="rId9"/>
    <p:sldId id="339" r:id="rId10"/>
    <p:sldId id="340" r:id="rId11"/>
    <p:sldId id="341" r:id="rId12"/>
    <p:sldId id="342" r:id="rId13"/>
    <p:sldId id="343" r:id="rId14"/>
    <p:sldId id="344" r:id="rId15"/>
    <p:sldId id="426" r:id="rId16"/>
    <p:sldId id="427" r:id="rId17"/>
    <p:sldId id="428" r:id="rId18"/>
    <p:sldId id="429" r:id="rId19"/>
    <p:sldId id="459" r:id="rId20"/>
    <p:sldId id="466" r:id="rId21"/>
    <p:sldId id="465" r:id="rId22"/>
    <p:sldId id="467" r:id="rId23"/>
    <p:sldId id="468" r:id="rId24"/>
    <p:sldId id="469" r:id="rId25"/>
    <p:sldId id="446" r:id="rId26"/>
  </p:sldIdLst>
  <p:sldSz cx="12192000" cy="6858000"/>
  <p:notesSz cx="6669088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  <a:srgbClr val="3333FF"/>
    <a:srgbClr val="42F729"/>
    <a:srgbClr val="008000"/>
    <a:srgbClr val="C74440"/>
    <a:srgbClr val="FF0000"/>
    <a:srgbClr val="3B9D3B"/>
    <a:srgbClr val="006600"/>
    <a:srgbClr val="C74541"/>
    <a:srgbClr val="2D70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005" autoAdjust="0"/>
    <p:restoredTop sz="94660"/>
  </p:normalViewPr>
  <p:slideViewPr>
    <p:cSldViewPr>
      <p:cViewPr varScale="1">
        <p:scale>
          <a:sx n="57" d="100"/>
          <a:sy n="57" d="100"/>
        </p:scale>
        <p:origin x="108" y="378"/>
      </p:cViewPr>
      <p:guideLst>
        <p:guide orient="horz" pos="21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5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0D97B-8576-4F32-9C9A-478D3267EBD3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6F5CA-1086-4A73-8724-3D5FD225C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9784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6463"/>
            <a:ext cx="5335588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7411376-5C85-47A7-BD7F-F09B4957FC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0832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11376-5C85-47A7-BD7F-F09B4957FC14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5993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f(1)=e^(-2)=0.135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411376-5C85-47A7-BD7F-F09B4957FC14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5025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f(1)=e^(-2)=0.135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411376-5C85-47A7-BD7F-F09B4957FC14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6204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488206-C21D-4849-B967-85D07BCD625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3918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463869E-FED2-4C7A-8B6F-30276E693B4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303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478FFE-5360-4784-9B5F-53848E641B3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5267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A3F627-EFEA-4160-B301-A5BB183AD24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194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162DEC-62BA-435B-B64D-53F356CEFF0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7861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A62C420-3C54-4BED-9D64-0A55EF8F75E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3752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D355EE-9C1F-4AFB-B5F1-9685A70D055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36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6F8D28-F97C-436A-9004-6301A252449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2627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897866-ABA9-4835-B68E-E4EBC301996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9942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687490-A221-444F-A8D4-9A28443981E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314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8388303-5564-434E-9F58-4126FF81E5B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6796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E204F9-976D-410F-9B2F-D0681D6C74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1921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1E4A19-C2A9-4A39-BB97-D7B45DDEEF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5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F978D-75C9-4A27-B0AF-AAD6569869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5952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BB18E-F520-4E66-B38A-C5588DF6ED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6657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B51479-7928-4197-83CC-FEB83494F06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696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343E9A-0B98-4D6F-BAF7-0B4023EBB14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3888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4106CA-57C0-4569-9234-829A010737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29736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FA383-E704-434F-A2FA-783E8DD81CF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11492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A49CFE-2874-4844-88DA-43EC9A348DE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92325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5FC93E-6727-4622-9802-5B1C31B79D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8508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A019B-DF0D-4906-BDB6-047CB4AD22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597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8252" y="6264275"/>
            <a:ext cx="51784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8043684A-5011-42BF-A8A6-9FB2197724C7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2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3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2051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2052" name="Rectangle 4"/>
            <p:cNvSpPr>
              <a:spLocks noChangeArrowheads="1"/>
            </p:cNvSpPr>
            <p:nvPr/>
          </p:nvSpPr>
          <p:spPr bwMode="auto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2400">
                <a:latin typeface="Times New Roman" pitchFamily="18" charset="0"/>
              </a:endParaRPr>
            </a:p>
          </p:txBody>
        </p:sp>
        <p:grpSp>
          <p:nvGrpSpPr>
            <p:cNvPr id="205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0"/>
              <a:chExt cx="1806" cy="1989"/>
            </a:xfrm>
          </p:grpSpPr>
          <p:sp>
            <p:nvSpPr>
              <p:cNvPr id="2054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1585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55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393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0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57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1585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58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393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59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792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60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792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61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792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62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185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2063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185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064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65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206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7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zh-CN"/>
          </a:p>
        </p:txBody>
      </p:sp>
      <p:sp>
        <p:nvSpPr>
          <p:cNvPr id="2068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3F8164F4-6F2F-4A5C-8A8F-A4D5B7D5976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3.png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28.png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0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5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4.wmf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26.bin"/><Relationship Id="rId2" Type="http://schemas.openxmlformats.org/officeDocument/2006/relationships/oleObject" Target="../embeddings/oleObject27.bin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5" Type="http://schemas.openxmlformats.org/officeDocument/2006/relationships/image" Target="../media/image40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3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29.png"/><Relationship Id="rId7" Type="http://schemas.openxmlformats.org/officeDocument/2006/relationships/image" Target="../media/image43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8.wmf"/><Relationship Id="rId5" Type="http://schemas.openxmlformats.org/officeDocument/2006/relationships/image" Target="../media/image45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52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3" Type="http://schemas.openxmlformats.org/officeDocument/2006/relationships/image" Target="../media/image53.wmf"/><Relationship Id="rId7" Type="http://schemas.openxmlformats.org/officeDocument/2006/relationships/image" Target="../media/image54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47.wmf"/><Relationship Id="rId10" Type="http://schemas.openxmlformats.org/officeDocument/2006/relationships/image" Target="../media/image56.png"/><Relationship Id="rId4" Type="http://schemas.openxmlformats.org/officeDocument/2006/relationships/oleObject" Target="../embeddings/oleObject38.bin"/><Relationship Id="rId9" Type="http://schemas.openxmlformats.org/officeDocument/2006/relationships/image" Target="../media/image55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53.wmf"/><Relationship Id="rId7" Type="http://schemas.openxmlformats.org/officeDocument/2006/relationships/image" Target="../media/image58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57.wmf"/><Relationship Id="rId10" Type="http://schemas.openxmlformats.org/officeDocument/2006/relationships/image" Target="../media/image56.png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9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5188" y="1828800"/>
            <a:ext cx="8380412" cy="2209800"/>
          </a:xfrm>
        </p:spPr>
        <p:txBody>
          <a:bodyPr/>
          <a:lstStyle/>
          <a:p>
            <a:pPr algn="ctr" eaLnBrk="1" hangingPunct="1"/>
            <a:r>
              <a:rPr lang="zh-CN" altLang="en-US" sz="6600" b="1" dirty="0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600" b="1" dirty="0">
                <a:solidFill>
                  <a:srgbClr val="E8E81C"/>
                </a:solidFill>
                <a:ea typeface="隶书" pitchFamily="49" charset="-122"/>
              </a:rPr>
              <a:t> </a:t>
            </a:r>
            <a:r>
              <a:rPr lang="en-US" altLang="zh-CN" sz="6600" b="1" dirty="0">
                <a:solidFill>
                  <a:srgbClr val="E8E81C"/>
                </a:solidFill>
                <a:ea typeface="隶书" pitchFamily="49" charset="-122"/>
              </a:rPr>
              <a:t>11 </a:t>
            </a:r>
            <a:r>
              <a:rPr lang="zh-CN" altLang="en-US" sz="6600" b="1" dirty="0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600" b="1" dirty="0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</a:br>
            <a:r>
              <a:rPr lang="zh-CN" altLang="en-US" sz="6600" b="1" dirty="0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模糊线性规划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4008439" y="4437064"/>
            <a:ext cx="5761037" cy="201612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E90101"/>
                </a:solidFill>
                <a:latin typeface="Comic Sans MS" pitchFamily="66" charset="0"/>
                <a:ea typeface="黑体" pitchFamily="49" charset="-122"/>
              </a:rPr>
              <a:t>11.3  F</a:t>
            </a:r>
            <a:r>
              <a:rPr lang="zh-CN" altLang="en-US" dirty="0">
                <a:solidFill>
                  <a:srgbClr val="E90101"/>
                </a:solidFill>
                <a:latin typeface="Comic Sans MS" pitchFamily="66" charset="0"/>
                <a:ea typeface="黑体" pitchFamily="49" charset="-122"/>
              </a:rPr>
              <a:t>约束下的条件极值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E90101"/>
                </a:solidFill>
                <a:latin typeface="Comic Sans MS" pitchFamily="66" charset="0"/>
                <a:ea typeface="黑体" pitchFamily="49" charset="-122"/>
              </a:rPr>
              <a:t>11.4  </a:t>
            </a:r>
            <a:r>
              <a:rPr lang="zh-CN" altLang="en-US" dirty="0">
                <a:solidFill>
                  <a:srgbClr val="E90101"/>
                </a:solidFill>
                <a:latin typeface="Comic Sans MS" pitchFamily="66" charset="0"/>
                <a:ea typeface="黑体" pitchFamily="49" charset="-122"/>
              </a:rPr>
              <a:t>对称型</a:t>
            </a:r>
            <a:r>
              <a:rPr lang="en-US" altLang="zh-CN" dirty="0">
                <a:solidFill>
                  <a:srgbClr val="E90101"/>
                </a:solidFill>
                <a:latin typeface="Comic Sans MS" pitchFamily="66" charset="0"/>
                <a:ea typeface="黑体" pitchFamily="49" charset="-122"/>
              </a:rPr>
              <a:t>/</a:t>
            </a:r>
            <a:r>
              <a:rPr lang="zh-CN" altLang="en-US" dirty="0">
                <a:solidFill>
                  <a:srgbClr val="E90101"/>
                </a:solidFill>
                <a:latin typeface="Comic Sans MS" pitchFamily="66" charset="0"/>
                <a:ea typeface="黑体" pitchFamily="49" charset="-122"/>
              </a:rPr>
              <a:t>非对称型</a:t>
            </a:r>
            <a:r>
              <a:rPr lang="en-US" altLang="zh-CN" dirty="0">
                <a:solidFill>
                  <a:srgbClr val="E90101"/>
                </a:solidFill>
                <a:latin typeface="Comic Sans MS" pitchFamily="66" charset="0"/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E90101"/>
                </a:solidFill>
                <a:latin typeface="Comic Sans MS" pitchFamily="66" charset="0"/>
                <a:ea typeface="黑体" pitchFamily="49" charset="-122"/>
              </a:rPr>
              <a:t>规划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B79627-83C4-BBB1-C9F8-AC3EAB8D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106CA-57C0-4569-9234-829A010737E6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</a:rPr>
              <a:t>11.</a:t>
            </a:r>
            <a:r>
              <a:rPr lang="en-US" altLang="zh-CN" dirty="0">
                <a:solidFill>
                  <a:srgbClr val="008000"/>
                </a:solidFill>
              </a:rPr>
              <a:t>3</a:t>
            </a:r>
            <a:r>
              <a:rPr lang="zh-CN" altLang="en-US" dirty="0">
                <a:solidFill>
                  <a:srgbClr val="008000"/>
                </a:solidFill>
              </a:rPr>
              <a:t>  </a:t>
            </a:r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约束下的条件极值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95400" y="1268760"/>
            <a:ext cx="10945216" cy="532859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对目标函数</a:t>
            </a:r>
            <a:r>
              <a:rPr lang="en-US" altLang="zh-CN" sz="2800" i="1" dirty="0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y=</a:t>
            </a:r>
            <a:r>
              <a:rPr lang="en-US" altLang="zh-CN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dirty="0">
                <a:solidFill>
                  <a:srgbClr val="CC00CC"/>
                </a:solidFill>
                <a:ea typeface="黑体" panose="02010609060101010101" pitchFamily="49" charset="-122"/>
              </a:rPr>
              <a:t>F(</a:t>
            </a:r>
            <a:r>
              <a:rPr lang="zh-CN" altLang="en-US" sz="2800" dirty="0">
                <a:solidFill>
                  <a:srgbClr val="CC00CC"/>
                </a:solidFill>
                <a:ea typeface="黑体" panose="02010609060101010101" pitchFamily="49" charset="-122"/>
              </a:rPr>
              <a:t>约束</a:t>
            </a:r>
            <a:r>
              <a:rPr lang="en-US" altLang="zh-CN" sz="2800" dirty="0">
                <a:solidFill>
                  <a:srgbClr val="CC00CC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2800" dirty="0">
                <a:solidFill>
                  <a:srgbClr val="CC00CC"/>
                </a:solidFill>
                <a:ea typeface="黑体" panose="02010609060101010101" pitchFamily="49" charset="-122"/>
              </a:rPr>
              <a:t>集</a:t>
            </a:r>
            <a:r>
              <a:rPr lang="en-US" altLang="zh-CN" sz="2800" dirty="0">
                <a:solidFill>
                  <a:srgbClr val="CC00CC"/>
                </a:solidFill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上的最优值问题</a:t>
            </a:r>
            <a:r>
              <a:rPr lang="en-US" altLang="zh-CN" sz="28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</a:p>
          <a:p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800" b="1" dirty="0"/>
              <a:t>设</a:t>
            </a:r>
            <a:r>
              <a:rPr lang="en-US" altLang="zh-CN" sz="2800" b="1" i="1" dirty="0"/>
              <a:t>A</a:t>
            </a:r>
            <a:r>
              <a:rPr lang="en-US" altLang="zh-CN" sz="2800" b="1" dirty="0"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latin typeface="Monotype Corsiva" panose="03010101010201010101" pitchFamily="66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ym typeface="Symbol" panose="05050102010706020507" pitchFamily="18" charset="2"/>
              </a:rPr>
              <a:t>), </a:t>
            </a:r>
            <a:r>
              <a:rPr lang="en-US" altLang="zh-CN" sz="2800" b="1" i="1" dirty="0">
                <a:sym typeface="Symbol" panose="05050102010706020507" pitchFamily="18" charset="2"/>
              </a:rPr>
              <a:t>X</a:t>
            </a:r>
            <a:r>
              <a:rPr lang="zh-CN" altLang="en-US" sz="2800" b="1" dirty="0">
                <a:sym typeface="Symbol" panose="05050102010706020507" pitchFamily="18" charset="2"/>
              </a:rPr>
              <a:t>、</a:t>
            </a:r>
            <a:r>
              <a:rPr lang="en-US" altLang="zh-CN" sz="2800" b="1" i="1" dirty="0">
                <a:sym typeface="Symbol" panose="05050102010706020507" pitchFamily="18" charset="2"/>
              </a:rPr>
              <a:t>Y</a:t>
            </a:r>
            <a:r>
              <a:rPr lang="zh-CN" altLang="en-US" sz="2800" b="1" dirty="0">
                <a:sym typeface="Symbol" panose="05050102010706020507" pitchFamily="18" charset="2"/>
              </a:rPr>
              <a:t>为实数域，函数</a:t>
            </a:r>
            <a:r>
              <a:rPr lang="en-US" altLang="zh-CN" sz="2800" b="1" dirty="0">
                <a:latin typeface="Monotype Corsiva" panose="03010101010201010101" pitchFamily="66" charset="0"/>
                <a:sym typeface="Symbol" panose="05050102010706020507" pitchFamily="18" charset="2"/>
              </a:rPr>
              <a:t>f </a:t>
            </a:r>
            <a:r>
              <a:rPr lang="en-US" altLang="zh-CN" sz="2800" b="1" dirty="0">
                <a:sym typeface="Symbol" panose="05050102010706020507" pitchFamily="18" charset="2"/>
              </a:rPr>
              <a:t>:</a:t>
            </a:r>
            <a:r>
              <a:rPr lang="en-US" altLang="zh-CN" sz="2800" b="1" i="1" dirty="0">
                <a:sym typeface="Symbol" panose="05050102010706020507" pitchFamily="18" charset="2"/>
              </a:rPr>
              <a:t> X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ym typeface="Symbol" panose="05050102010706020507" pitchFamily="18" charset="2"/>
              </a:rPr>
              <a:t>Y</a:t>
            </a:r>
            <a:r>
              <a:rPr lang="zh-CN" altLang="en-US" sz="2800" b="1" dirty="0">
                <a:sym typeface="Symbol" panose="05050102010706020507" pitchFamily="18" charset="2"/>
              </a:rPr>
              <a:t>的极大</a:t>
            </a:r>
            <a:r>
              <a:rPr lang="en-US" altLang="zh-CN" sz="2800" b="1" dirty="0">
                <a:sym typeface="Symbol" panose="05050102010706020507" pitchFamily="18" charset="2"/>
              </a:rPr>
              <a:t>(</a:t>
            </a:r>
            <a:r>
              <a:rPr lang="zh-CN" altLang="en-US" sz="2800" b="1" dirty="0">
                <a:sym typeface="Symbol" panose="05050102010706020507" pitchFamily="18" charset="2"/>
              </a:rPr>
              <a:t>最大</a:t>
            </a:r>
            <a:r>
              <a:rPr lang="en-US" altLang="zh-CN" sz="2800" b="1" dirty="0"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sym typeface="Symbol" panose="05050102010706020507" pitchFamily="18" charset="2"/>
              </a:rPr>
              <a:t>值：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endParaRPr lang="en-US" altLang="zh-CN" sz="44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sz="2800" b="1" dirty="0"/>
              <a:t>                </a:t>
            </a:r>
            <a:r>
              <a:rPr lang="zh-CN" altLang="en-US" sz="2800" b="1" dirty="0"/>
              <a:t>称为函数 </a:t>
            </a:r>
            <a:r>
              <a:rPr lang="en-US" altLang="zh-CN" sz="2800" b="1" dirty="0">
                <a:latin typeface="Monotype Corsiva" panose="03010101010201010101" pitchFamily="66" charset="0"/>
                <a:sym typeface="Symbol" panose="05050102010706020507" pitchFamily="18" charset="2"/>
              </a:rPr>
              <a:t>f  </a:t>
            </a:r>
            <a:r>
              <a:rPr lang="zh-CN" altLang="en-US" sz="2800" b="1" dirty="0"/>
              <a:t>在</a:t>
            </a:r>
            <a:r>
              <a:rPr lang="en-US" altLang="zh-CN" sz="2800" b="1" i="1" dirty="0"/>
              <a:t>A</a:t>
            </a:r>
            <a:r>
              <a:rPr lang="zh-CN" altLang="en-US" sz="2800" b="1" dirty="0"/>
              <a:t>上的</a:t>
            </a:r>
            <a:r>
              <a:rPr lang="zh-CN" altLang="en-US" sz="2800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条件极值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lvl="1" indent="-342900"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rgbClr val="008000"/>
                </a:solidFill>
              </a:rPr>
              <a:t>x</a:t>
            </a:r>
            <a:r>
              <a:rPr lang="en-US" altLang="zh-CN" b="1" dirty="0">
                <a:solidFill>
                  <a:srgbClr val="008000"/>
                </a:solidFill>
              </a:rPr>
              <a:t>*</a:t>
            </a:r>
            <a:r>
              <a:rPr lang="zh-CN" altLang="en-US" b="1" dirty="0"/>
              <a:t>称为 </a:t>
            </a:r>
            <a:r>
              <a:rPr lang="en-US" altLang="zh-CN" b="1" dirty="0">
                <a:latin typeface="Monotype Corsiva" panose="03010101010201010101" pitchFamily="66" charset="0"/>
                <a:sym typeface="Symbol" panose="05050102010706020507" pitchFamily="18" charset="2"/>
              </a:rPr>
              <a:t>f  </a:t>
            </a:r>
            <a:r>
              <a:rPr lang="zh-CN" altLang="en-US" b="1" dirty="0">
                <a:latin typeface="Monotype Corsiva" panose="03010101010201010101" pitchFamily="66" charset="0"/>
                <a:sym typeface="Symbol" panose="05050102010706020507" pitchFamily="18" charset="2"/>
              </a:rPr>
              <a:t>在</a:t>
            </a:r>
            <a:r>
              <a:rPr lang="en-US" altLang="zh-CN" b="1" i="1" dirty="0"/>
              <a:t>A</a:t>
            </a:r>
            <a:r>
              <a:rPr lang="zh-CN" altLang="en-US" b="1" dirty="0"/>
              <a:t>上的</a:t>
            </a:r>
            <a:r>
              <a:rPr lang="zh-CN" altLang="en-US" b="1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条件极大点</a:t>
            </a:r>
            <a:r>
              <a:rPr lang="zh-CN" altLang="en-US" b="1" dirty="0"/>
              <a:t>，其全体称为 </a:t>
            </a:r>
            <a:r>
              <a:rPr lang="en-US" altLang="zh-CN" b="1" dirty="0">
                <a:latin typeface="Monotype Corsiva" panose="03010101010201010101" pitchFamily="66" charset="0"/>
                <a:sym typeface="Symbol" panose="05050102010706020507" pitchFamily="18" charset="2"/>
              </a:rPr>
              <a:t>f  </a:t>
            </a:r>
            <a:r>
              <a:rPr lang="zh-CN" altLang="en-US" b="1" dirty="0"/>
              <a:t>在</a:t>
            </a:r>
            <a:r>
              <a:rPr lang="en-US" altLang="zh-CN" b="1" i="1" dirty="0"/>
              <a:t>A</a:t>
            </a:r>
            <a:r>
              <a:rPr lang="zh-CN" altLang="en-US" b="1" dirty="0"/>
              <a:t>上的</a:t>
            </a:r>
            <a:r>
              <a:rPr lang="zh-CN" altLang="en-US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条件优越集</a:t>
            </a:r>
            <a:r>
              <a:rPr lang="zh-CN" altLang="en-US" b="1" dirty="0"/>
              <a:t>，记为：</a:t>
            </a:r>
            <a:endParaRPr lang="en-US" altLang="zh-CN" b="1" dirty="0"/>
          </a:p>
          <a:p>
            <a:pPr lvl="1" indent="-342900">
              <a:buFont typeface="Wingdings" panose="05000000000000000000" pitchFamily="2" charset="2"/>
              <a:buChar char="Ø"/>
            </a:pPr>
            <a:endParaRPr lang="en-US" altLang="zh-CN" b="1" dirty="0"/>
          </a:p>
          <a:p>
            <a:pPr lvl="1" indent="-342900">
              <a:buFont typeface="Wingdings" panose="05000000000000000000" pitchFamily="2" charset="2"/>
              <a:buChar char="Ø"/>
            </a:pPr>
            <a:r>
              <a:rPr lang="zh-CN" altLang="en-US" b="1" dirty="0"/>
              <a:t>当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约束集</a:t>
            </a:r>
            <a:r>
              <a:rPr lang="en-US" altLang="zh-CN" b="1" i="1" dirty="0">
                <a:solidFill>
                  <a:srgbClr val="FF0000"/>
                </a:solidFill>
              </a:rPr>
              <a:t>A</a:t>
            </a:r>
            <a:r>
              <a:rPr lang="zh-CN" altLang="en-US" b="1" dirty="0"/>
              <a:t>为：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indent="-342900">
              <a:buFont typeface="Wingdings" panose="05000000000000000000" pitchFamily="2" charset="2"/>
              <a:buChar char="p"/>
            </a:pPr>
            <a:r>
              <a:rPr lang="zh-CN" altLang="en-US" sz="2800" b="1" dirty="0"/>
              <a:t>普通集合时，即为</a:t>
            </a:r>
            <a:r>
              <a:rPr lang="zh-CN" altLang="en-US" sz="2800" b="1" u="sng" dirty="0"/>
              <a:t>经典线性规划问题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lvl="2" indent="-342900">
              <a:buFont typeface="Wingdings" panose="05000000000000000000" pitchFamily="2" charset="2"/>
              <a:buChar char="p"/>
            </a:pPr>
            <a:r>
              <a:rPr lang="en-US" altLang="zh-CN" sz="2800" b="1" dirty="0">
                <a:solidFill>
                  <a:srgbClr val="C74440"/>
                </a:solidFill>
              </a:rPr>
              <a:t>F</a:t>
            </a:r>
            <a:r>
              <a:rPr lang="zh-CN" altLang="en-US" sz="2800" b="1" dirty="0">
                <a:solidFill>
                  <a:srgbClr val="C74440"/>
                </a:solidFill>
              </a:rPr>
              <a:t>集合时，如何确定函数 </a:t>
            </a:r>
            <a:r>
              <a:rPr lang="en-US" altLang="zh-CN" sz="2800" b="1" dirty="0">
                <a:solidFill>
                  <a:srgbClr val="C74440"/>
                </a:solidFill>
                <a:latin typeface="Monotype Corsiva" panose="03010101010201010101" pitchFamily="66" charset="0"/>
                <a:sym typeface="Symbol" panose="05050102010706020507" pitchFamily="18" charset="2"/>
              </a:rPr>
              <a:t>f </a:t>
            </a:r>
            <a:r>
              <a:rPr lang="zh-CN" altLang="en-US" sz="2800" b="1" dirty="0">
                <a:solidFill>
                  <a:srgbClr val="C74440"/>
                </a:solidFill>
              </a:rPr>
              <a:t>在</a:t>
            </a:r>
            <a:r>
              <a:rPr lang="en-US" altLang="zh-CN" sz="2800" b="1" dirty="0">
                <a:solidFill>
                  <a:srgbClr val="C74440"/>
                </a:solidFill>
              </a:rPr>
              <a:t>A</a:t>
            </a:r>
            <a:r>
              <a:rPr lang="zh-CN" altLang="en-US" sz="2800" b="1" dirty="0">
                <a:solidFill>
                  <a:srgbClr val="C74440"/>
                </a:solidFill>
              </a:rPr>
              <a:t>上的条件极值？</a:t>
            </a: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518461"/>
              </p:ext>
            </p:extLst>
          </p:nvPr>
        </p:nvGraphicFramePr>
        <p:xfrm>
          <a:off x="4007768" y="2420888"/>
          <a:ext cx="3817938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6664" imgH="279960" progId="Equation.DSMT4">
                  <p:embed/>
                </p:oleObj>
              </mc:Choice>
              <mc:Fallback>
                <p:oleObj name="Equation" r:id="rId2" imgW="1436664" imgH="2799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768" y="2420888"/>
                        <a:ext cx="3817938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730202"/>
              </p:ext>
            </p:extLst>
          </p:nvPr>
        </p:nvGraphicFramePr>
        <p:xfrm>
          <a:off x="2855640" y="4556670"/>
          <a:ext cx="4764088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1017" imgH="279717" progId="Equation.DSMT4">
                  <p:embed/>
                </p:oleObj>
              </mc:Choice>
              <mc:Fallback>
                <p:oleObj name="Equation" r:id="rId4" imgW="1791017" imgH="27971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4556670"/>
                        <a:ext cx="4764088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2D4A663E-2701-42E3-B8AF-68B1394B4B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63129"/>
              </p:ext>
            </p:extLst>
          </p:nvPr>
        </p:nvGraphicFramePr>
        <p:xfrm>
          <a:off x="8040217" y="4556670"/>
          <a:ext cx="2290711" cy="55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38080" imgH="203040" progId="Equation.DSMT4">
                  <p:embed/>
                </p:oleObj>
              </mc:Choice>
              <mc:Fallback>
                <p:oleObj name="Equation" r:id="rId6" imgW="838080" imgH="203040" progId="Equation.DSMT4">
                  <p:embed/>
                  <p:pic>
                    <p:nvPicPr>
                      <p:cNvPr id="163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217" y="4556670"/>
                        <a:ext cx="2290711" cy="556362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08795C3-5DA7-BF2E-A5C2-B9F923B3BD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约束下的条件极值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127448" y="1340769"/>
            <a:ext cx="10369152" cy="1999633"/>
          </a:xfrm>
        </p:spPr>
        <p:txBody>
          <a:bodyPr/>
          <a:lstStyle/>
          <a:p>
            <a:r>
              <a:rPr lang="zh-CN" altLang="en-US" sz="2800" b="1" dirty="0"/>
              <a:t>由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集的</a:t>
            </a:r>
            <a:r>
              <a:rPr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-</a:t>
            </a:r>
            <a:r>
              <a:rPr lang="zh-CN" altLang="en-US" sz="2800" b="1" dirty="0">
                <a:solidFill>
                  <a:srgbClr val="FF0000"/>
                </a:solidFill>
              </a:rPr>
              <a:t>截集</a:t>
            </a:r>
            <a:r>
              <a:rPr lang="zh-CN" altLang="en-US" sz="2800" b="1" dirty="0"/>
              <a:t>的定义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           </a:t>
            </a:r>
            <a:r>
              <a:rPr lang="en-US" altLang="zh-CN" sz="2800" b="1" i="1" dirty="0">
                <a:solidFill>
                  <a:srgbClr val="FF0000"/>
                </a:solidFill>
              </a:rPr>
              <a:t>A</a:t>
            </a:r>
            <a:r>
              <a:rPr lang="zh-CN" altLang="en-US" sz="2800" b="1" i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solidFill>
                  <a:srgbClr val="FF0000"/>
                </a:solidFill>
              </a:rPr>
              <a:t> = { </a:t>
            </a:r>
            <a:r>
              <a:rPr lang="en-US" altLang="zh-CN" sz="2800" b="1" i="1" dirty="0">
                <a:solidFill>
                  <a:srgbClr val="FF0000"/>
                </a:solidFill>
              </a:rPr>
              <a:t>u </a:t>
            </a:r>
            <a:r>
              <a:rPr lang="en-US" altLang="zh-CN" sz="2800" b="1" dirty="0">
                <a:solidFill>
                  <a:srgbClr val="FF0000"/>
                </a:solidFill>
              </a:rPr>
              <a:t>|</a:t>
            </a:r>
            <a:r>
              <a:rPr lang="en-US" altLang="zh-CN" sz="2800" b="1" i="1" dirty="0">
                <a:solidFill>
                  <a:srgbClr val="FF0000"/>
                </a:solidFill>
              </a:rPr>
              <a:t>A</a:t>
            </a: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en-US" altLang="zh-CN" sz="2800" b="1" i="1" dirty="0">
                <a:solidFill>
                  <a:srgbClr val="FF0000"/>
                </a:solidFill>
              </a:rPr>
              <a:t>u</a:t>
            </a:r>
            <a:r>
              <a:rPr lang="en-US" altLang="zh-CN" sz="2800" b="1" dirty="0">
                <a:solidFill>
                  <a:srgbClr val="FF0000"/>
                </a:solidFill>
              </a:rPr>
              <a:t>)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</a:t>
            </a:r>
            <a:r>
              <a:rPr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  </a:t>
            </a:r>
            <a:r>
              <a:rPr lang="en-US" altLang="zh-CN" sz="2800" b="1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知：</a:t>
            </a:r>
            <a:r>
              <a:rPr lang="zh-CN" altLang="en-US" sz="2800" b="1" dirty="0">
                <a:sym typeface="Symbol" panose="05050102010706020507" pitchFamily="18" charset="2"/>
              </a:rPr>
              <a:t></a:t>
            </a:r>
            <a:r>
              <a:rPr lang="zh-CN" altLang="en-US" sz="2800" b="1" i="1" dirty="0">
                <a:sym typeface="Symbol" panose="05050102010706020507" pitchFamily="18" charset="2"/>
              </a:rPr>
              <a:t></a:t>
            </a:r>
            <a:r>
              <a:rPr lang="zh-CN" altLang="en-US" sz="2800" b="1" dirty="0"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sym typeface="Symbol" panose="05050102010706020507" pitchFamily="18" charset="2"/>
              </a:rPr>
              <a:t>[0, 1]</a:t>
            </a:r>
            <a:r>
              <a:rPr lang="zh-CN" altLang="en-US" sz="2800" b="1" dirty="0">
                <a:sym typeface="Symbol" panose="05050102010706020507" pitchFamily="18" charset="2"/>
              </a:rPr>
              <a:t>，</a:t>
            </a:r>
            <a:r>
              <a:rPr lang="en-US" altLang="zh-CN" sz="2800" b="1" i="1" dirty="0"/>
              <a:t>A</a:t>
            </a:r>
            <a:r>
              <a:rPr lang="zh-CN" altLang="en-US" sz="2800" b="1" i="1" baseline="-25000" dirty="0">
                <a:sym typeface="Symbol" panose="05050102010706020507" pitchFamily="18" charset="2"/>
              </a:rPr>
              <a:t></a:t>
            </a:r>
            <a:r>
              <a:rPr lang="zh-CN" altLang="en-US" sz="2800" b="1" dirty="0">
                <a:sym typeface="Symbol" panose="05050102010706020507" pitchFamily="18" charset="2"/>
              </a:rPr>
              <a:t>均为普通集合，记</a:t>
            </a:r>
            <a:r>
              <a:rPr lang="en-US" altLang="zh-CN" sz="2800" b="1" i="1" dirty="0">
                <a:sym typeface="Symbol" panose="05050102010706020507" pitchFamily="18" charset="2"/>
              </a:rPr>
              <a:t>M</a:t>
            </a:r>
            <a:r>
              <a:rPr lang="zh-CN" altLang="en-US" sz="2800" b="1" i="1" baseline="-25000" dirty="0">
                <a:sym typeface="Symbol" panose="05050102010706020507" pitchFamily="18" charset="2"/>
              </a:rPr>
              <a:t></a:t>
            </a:r>
            <a:r>
              <a:rPr lang="zh-CN" altLang="en-US" sz="2800" b="1" dirty="0">
                <a:sym typeface="Symbol" panose="05050102010706020507" pitchFamily="18" charset="2"/>
              </a:rPr>
              <a:t>为函数 </a:t>
            </a:r>
            <a:r>
              <a:rPr lang="en-US" altLang="zh-CN" sz="2800" b="1" dirty="0">
                <a:latin typeface="Monotype Corsiva" panose="03010101010201010101" pitchFamily="66" charset="0"/>
                <a:sym typeface="Symbol" panose="05050102010706020507" pitchFamily="18" charset="2"/>
              </a:rPr>
              <a:t>f </a:t>
            </a:r>
            <a:r>
              <a:rPr lang="zh-CN" altLang="en-US" sz="2800" b="1" dirty="0">
                <a:sym typeface="Symbol" panose="05050102010706020507" pitchFamily="18" charset="2"/>
              </a:rPr>
              <a:t>在</a:t>
            </a:r>
            <a:r>
              <a:rPr lang="en-US" altLang="zh-CN" sz="2800" b="1" i="1" dirty="0"/>
              <a:t>A</a:t>
            </a:r>
            <a:r>
              <a:rPr lang="zh-CN" altLang="en-US" sz="2800" b="1" i="1" baseline="-25000" dirty="0">
                <a:sym typeface="Symbol" panose="05050102010706020507" pitchFamily="18" charset="2"/>
              </a:rPr>
              <a:t></a:t>
            </a:r>
            <a:r>
              <a:rPr lang="zh-CN" altLang="en-US" sz="2800" b="1" dirty="0">
                <a:sym typeface="Symbol" panose="05050102010706020507" pitchFamily="18" charset="2"/>
              </a:rPr>
              <a:t>上的优越集，即</a:t>
            </a:r>
            <a:endParaRPr lang="zh-CN" altLang="en-US" sz="2800" b="1" dirty="0"/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258898"/>
              </p:ext>
            </p:extLst>
          </p:nvPr>
        </p:nvGraphicFramePr>
        <p:xfrm>
          <a:off x="2792165" y="3272632"/>
          <a:ext cx="4930775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4517" imgH="292417" progId="Equation.DSMT4">
                  <p:embed/>
                </p:oleObj>
              </mc:Choice>
              <mc:Fallback>
                <p:oleObj name="Equation" r:id="rId2" imgW="1854517" imgH="292417" progId="Equation.DSMT4">
                  <p:embed/>
                  <p:pic>
                    <p:nvPicPr>
                      <p:cNvPr id="174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165" y="3272632"/>
                        <a:ext cx="4930775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内容占位符 2"/>
          <p:cNvSpPr txBox="1">
            <a:spLocks noChangeArrowheads="1"/>
          </p:cNvSpPr>
          <p:nvPr/>
        </p:nvSpPr>
        <p:spPr bwMode="auto">
          <a:xfrm>
            <a:off x="7827964" y="4141787"/>
            <a:ext cx="3473830" cy="268605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Ø"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对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en-US" altLang="zh-CN" sz="2400" b="1" i="1" baseline="-25000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en-US" altLang="zh-CN" sz="2400" b="1" baseline="-5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zh-CN" altLang="en-US" sz="2400" dirty="0"/>
              <a:t>：</a:t>
            </a:r>
            <a:endParaRPr lang="en-US" altLang="zh-CN" sz="2400" b="1" dirty="0">
              <a:latin typeface="宋体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dirty="0"/>
              <a:t>       </a:t>
            </a:r>
            <a:r>
              <a:rPr lang="zh-CN" altLang="en-US" sz="2400" b="1" dirty="0"/>
              <a:t>优越集是</a:t>
            </a:r>
            <a:r>
              <a:rPr lang="en-US" altLang="zh-CN" sz="2400" b="1" i="1" dirty="0">
                <a:latin typeface="Times New Roman" pitchFamily="18" charset="0"/>
              </a:rPr>
              <a:t>M</a:t>
            </a:r>
            <a:r>
              <a:rPr lang="en-US" altLang="zh-CN" sz="2400" b="1" i="1" baseline="-25000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en-US" altLang="zh-CN" sz="2400" b="1" baseline="-5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altLang="zh-CN" sz="2400" dirty="0"/>
              <a:t>=</a:t>
            </a:r>
            <a:r>
              <a:rPr lang="en-US" altLang="zh-CN" sz="2400" b="1" dirty="0">
                <a:latin typeface="Times New Roman" pitchFamily="18" charset="0"/>
              </a:rPr>
              <a:t> {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baseline="-25000" dirty="0">
                <a:latin typeface="Times New Roman" pitchFamily="18" charset="0"/>
              </a:rPr>
              <a:t>1</a:t>
            </a:r>
            <a:r>
              <a:rPr lang="en-US" altLang="zh-CN" sz="2400" b="1" dirty="0">
                <a:latin typeface="Times New Roman" pitchFamily="18" charset="0"/>
              </a:rPr>
              <a:t>}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</a:rPr>
              <a:t>        </a:t>
            </a:r>
            <a:r>
              <a:rPr lang="zh-CN" altLang="en-US" sz="2400" b="1" dirty="0">
                <a:latin typeface="Times New Roman" pitchFamily="18" charset="0"/>
              </a:rPr>
              <a:t>条件极值为 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baseline="-25000" dirty="0">
                <a:latin typeface="Times New Roman" pitchFamily="18" charset="0"/>
              </a:rPr>
              <a:t>1</a:t>
            </a:r>
            <a:r>
              <a:rPr lang="en-US" altLang="zh-CN" sz="2400" dirty="0"/>
              <a:t>)</a:t>
            </a:r>
            <a:endParaRPr lang="en-US" altLang="zh-CN" sz="2400" b="1" dirty="0">
              <a:latin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Ø"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对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en-US" altLang="zh-CN" sz="2400" b="1" i="1" baseline="-25000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en-US" altLang="zh-CN" sz="2400" b="1" baseline="-50000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zh-CN" altLang="en-US" sz="2400" b="1" dirty="0">
                <a:latin typeface="宋体" pitchFamily="2" charset="-122"/>
              </a:rPr>
              <a:t>：</a:t>
            </a:r>
            <a:endParaRPr lang="en-US" altLang="zh-CN" sz="2400" b="1" dirty="0">
              <a:latin typeface="宋体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dirty="0"/>
              <a:t>     </a:t>
            </a:r>
            <a:r>
              <a:rPr lang="zh-CN" altLang="en-US" sz="2400" b="1" dirty="0"/>
              <a:t>优越集是</a:t>
            </a:r>
            <a:r>
              <a:rPr lang="en-US" altLang="zh-CN" sz="2400" b="1" i="1" dirty="0">
                <a:latin typeface="Times New Roman" pitchFamily="18" charset="0"/>
              </a:rPr>
              <a:t>M</a:t>
            </a:r>
            <a:r>
              <a:rPr lang="en-US" altLang="zh-CN" sz="2400" b="1" i="1" baseline="-25000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en-US" altLang="zh-CN" sz="2400" b="1" baseline="-50000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en-US" altLang="zh-CN" sz="2400" dirty="0"/>
              <a:t>=</a:t>
            </a:r>
            <a:r>
              <a:rPr lang="en-US" altLang="zh-CN" sz="2400" b="1" dirty="0">
                <a:latin typeface="Times New Roman" pitchFamily="18" charset="0"/>
              </a:rPr>
              <a:t> [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baseline="-25000" dirty="0">
                <a:latin typeface="Times New Roman" pitchFamily="18" charset="0"/>
              </a:rPr>
              <a:t>2</a:t>
            </a:r>
            <a:r>
              <a:rPr lang="en-US" altLang="zh-CN" sz="2400" b="1" i="1" dirty="0">
                <a:latin typeface="Times New Roman" pitchFamily="18" charset="0"/>
              </a:rPr>
              <a:t> ,x</a:t>
            </a:r>
            <a:r>
              <a:rPr lang="en-US" altLang="zh-CN" sz="2400" b="1" baseline="-25000" dirty="0">
                <a:latin typeface="Times New Roman" pitchFamily="18" charset="0"/>
              </a:rPr>
              <a:t>3</a:t>
            </a:r>
            <a:r>
              <a:rPr lang="en-US" altLang="zh-CN" sz="2400" b="1" dirty="0">
                <a:latin typeface="Times New Roman" pitchFamily="18" charset="0"/>
              </a:rPr>
              <a:t>]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</a:rPr>
              <a:t>     条件极值为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2400" b="1" i="1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endParaRPr lang="zh-CN" altLang="en-US" sz="2800" dirty="0"/>
          </a:p>
        </p:txBody>
      </p:sp>
      <p:grpSp>
        <p:nvGrpSpPr>
          <p:cNvPr id="17414" name="Group 6"/>
          <p:cNvGrpSpPr>
            <a:grpSpLocks/>
          </p:cNvGrpSpPr>
          <p:nvPr/>
        </p:nvGrpSpPr>
        <p:grpSpPr bwMode="auto">
          <a:xfrm>
            <a:off x="1631950" y="3717925"/>
            <a:ext cx="5111750" cy="3022600"/>
            <a:chOff x="0" y="0"/>
            <a:chExt cx="5112568" cy="3022151"/>
          </a:xfrm>
        </p:grpSpPr>
        <p:grpSp>
          <p:nvGrpSpPr>
            <p:cNvPr id="17415" name="Group 7"/>
            <p:cNvGrpSpPr>
              <a:grpSpLocks/>
            </p:cNvGrpSpPr>
            <p:nvPr/>
          </p:nvGrpSpPr>
          <p:grpSpPr bwMode="auto">
            <a:xfrm>
              <a:off x="0" y="0"/>
              <a:ext cx="5112568" cy="3022151"/>
              <a:chOff x="0" y="0"/>
              <a:chExt cx="5112568" cy="3022151"/>
            </a:xfrm>
          </p:grpSpPr>
          <p:cxnSp>
            <p:nvCxnSpPr>
              <p:cNvPr id="17416" name="直接箭头连接符 6"/>
              <p:cNvCxnSpPr>
                <a:cxnSpLocks noChangeShapeType="1"/>
              </p:cNvCxnSpPr>
              <p:nvPr/>
            </p:nvCxnSpPr>
            <p:spPr bwMode="auto">
              <a:xfrm>
                <a:off x="431869" y="2622160"/>
                <a:ext cx="4248830" cy="0"/>
              </a:xfrm>
              <a:prstGeom prst="straightConnector1">
                <a:avLst/>
              </a:prstGeom>
              <a:noFill/>
              <a:ln w="19050" cmpd="sng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17" name="直接箭头连接符 7"/>
              <p:cNvCxnSpPr>
                <a:cxnSpLocks noChangeShapeType="1"/>
              </p:cNvCxnSpPr>
              <p:nvPr/>
            </p:nvCxnSpPr>
            <p:spPr bwMode="auto">
              <a:xfrm flipV="1">
                <a:off x="431869" y="246025"/>
                <a:ext cx="0" cy="2376135"/>
              </a:xfrm>
              <a:prstGeom prst="straightConnector1">
                <a:avLst/>
              </a:prstGeom>
              <a:noFill/>
              <a:ln w="19050" cmpd="sng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7418" name="Group 10"/>
              <p:cNvGrpSpPr>
                <a:grpSpLocks/>
              </p:cNvGrpSpPr>
              <p:nvPr/>
            </p:nvGrpSpPr>
            <p:grpSpPr bwMode="auto">
              <a:xfrm>
                <a:off x="1134765" y="245641"/>
                <a:ext cx="3402012" cy="2776510"/>
                <a:chOff x="0" y="0"/>
                <a:chExt cx="3402378" cy="2776347"/>
              </a:xfrm>
            </p:grpSpPr>
            <p:grpSp>
              <p:nvGrpSpPr>
                <p:cNvPr id="17419" name="Group 11"/>
                <p:cNvGrpSpPr>
                  <a:grpSpLocks/>
                </p:cNvGrpSpPr>
                <p:nvPr/>
              </p:nvGrpSpPr>
              <p:grpSpPr bwMode="auto">
                <a:xfrm>
                  <a:off x="0" y="472118"/>
                  <a:ext cx="3402378" cy="1944216"/>
                  <a:chOff x="0" y="0"/>
                  <a:chExt cx="3402378" cy="1944216"/>
                </a:xfrm>
              </p:grpSpPr>
              <p:grpSp>
                <p:nvGrpSpPr>
                  <p:cNvPr id="17420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3402378" cy="1674694"/>
                    <a:chOff x="0" y="0"/>
                    <a:chExt cx="3402378" cy="1674694"/>
                  </a:xfrm>
                </p:grpSpPr>
                <p:cxnSp>
                  <p:nvCxnSpPr>
                    <p:cNvPr id="17421" name="直接连接符 26"/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1575701" y="-343"/>
                      <a:ext cx="889238" cy="1587"/>
                    </a:xfrm>
                    <a:prstGeom prst="line">
                      <a:avLst/>
                    </a:prstGeom>
                    <a:noFill/>
                    <a:ln w="57150" cmpd="sng">
                      <a:solidFill>
                        <a:srgbClr val="3333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17422" name="任意多边形 27"/>
                    <p:cNvSpPr>
                      <a:spLocks/>
                    </p:cNvSpPr>
                    <p:nvPr/>
                  </p:nvSpPr>
                  <p:spPr bwMode="auto">
                    <a:xfrm flipH="1">
                      <a:off x="2477643" y="12354"/>
                      <a:ext cx="924172" cy="1661768"/>
                    </a:xfrm>
                    <a:custGeom>
                      <a:avLst/>
                      <a:gdLst>
                        <a:gd name="T0" fmla="*/ 760020 w 760020"/>
                        <a:gd name="T1" fmla="*/ 0 h 1163782"/>
                        <a:gd name="T2" fmla="*/ 581890 w 760020"/>
                        <a:gd name="T3" fmla="*/ 629393 h 1163782"/>
                        <a:gd name="T4" fmla="*/ 0 w 760020"/>
                        <a:gd name="T5" fmla="*/ 1163782 h 11637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760020" h="1163782">
                          <a:moveTo>
                            <a:pt x="760020" y="0"/>
                          </a:moveTo>
                          <a:cubicBezTo>
                            <a:pt x="734290" y="217714"/>
                            <a:pt x="708560" y="435429"/>
                            <a:pt x="581890" y="629393"/>
                          </a:cubicBezTo>
                          <a:cubicBezTo>
                            <a:pt x="455220" y="823357"/>
                            <a:pt x="227610" y="993569"/>
                            <a:pt x="0" y="1163782"/>
                          </a:cubicBezTo>
                        </a:path>
                      </a:pathLst>
                    </a:custGeom>
                    <a:noFill/>
                    <a:ln w="57150" cap="flat" cmpd="sng">
                      <a:solidFill>
                        <a:srgbClr val="3333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7423" name="任意多边形 28"/>
                    <p:cNvSpPr>
                      <a:spLocks/>
                    </p:cNvSpPr>
                    <p:nvPr/>
                  </p:nvSpPr>
                  <p:spPr bwMode="auto">
                    <a:xfrm flipH="1">
                      <a:off x="480" y="10767"/>
                      <a:ext cx="1597452" cy="1663355"/>
                    </a:xfrm>
                    <a:custGeom>
                      <a:avLst/>
                      <a:gdLst>
                        <a:gd name="T0" fmla="*/ 0 w 1555667"/>
                        <a:gd name="T1" fmla="*/ 0 h 1223158"/>
                        <a:gd name="T2" fmla="*/ 439387 w 1555667"/>
                        <a:gd name="T3" fmla="*/ 700644 h 1223158"/>
                        <a:gd name="T4" fmla="*/ 1555667 w 1555667"/>
                        <a:gd name="T5" fmla="*/ 1223158 h 12231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555667" h="1223158">
                          <a:moveTo>
                            <a:pt x="0" y="0"/>
                          </a:moveTo>
                          <a:cubicBezTo>
                            <a:pt x="90054" y="248392"/>
                            <a:pt x="180109" y="496784"/>
                            <a:pt x="439387" y="700644"/>
                          </a:cubicBezTo>
                          <a:cubicBezTo>
                            <a:pt x="698665" y="904504"/>
                            <a:pt x="1127166" y="1063831"/>
                            <a:pt x="1555667" y="1223158"/>
                          </a:cubicBezTo>
                        </a:path>
                      </a:pathLst>
                    </a:custGeom>
                    <a:noFill/>
                    <a:ln w="57150" cap="flat" cmpd="sng">
                      <a:solidFill>
                        <a:srgbClr val="3333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anchor="ctr"/>
                    <a:lstStyle/>
                    <a:p>
                      <a:endParaRPr lang="zh-CN" altLang="en-US"/>
                    </a:p>
                  </p:txBody>
                </p:sp>
              </p:grpSp>
              <p:cxnSp>
                <p:nvCxnSpPr>
                  <p:cNvPr id="17424" name="直接连接符 24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2464939" y="-343"/>
                    <a:ext cx="0" cy="1944284"/>
                  </a:xfrm>
                  <a:prstGeom prst="line">
                    <a:avLst/>
                  </a:prstGeom>
                  <a:noFill/>
                  <a:ln w="28575" cmpd="sng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7425" name="直接连接符 2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620163" y="-343"/>
                    <a:ext cx="0" cy="1944284"/>
                  </a:xfrm>
                  <a:prstGeom prst="line">
                    <a:avLst/>
                  </a:prstGeom>
                  <a:noFill/>
                  <a:ln w="28575" cmpd="sng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7426" name="TextBox 31"/>
                <p:cNvSpPr txBox="1">
                  <a:spLocks noChangeArrowheads="1"/>
                </p:cNvSpPr>
                <p:nvPr/>
              </p:nvSpPr>
              <p:spPr bwMode="auto">
                <a:xfrm>
                  <a:off x="887156" y="2314709"/>
                  <a:ext cx="2226886" cy="4616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 b="1" i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 x</a:t>
                  </a:r>
                  <a:r>
                    <a:rPr lang="en-US" altLang="zh-CN" sz="2400" b="1" baseline="-25000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1    </a:t>
                  </a:r>
                  <a:r>
                    <a:rPr lang="en-US" altLang="zh-CN" sz="2400" b="1" i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x</a:t>
                  </a:r>
                  <a:r>
                    <a:rPr lang="en-US" altLang="zh-CN" sz="2400" b="1" baseline="-25000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r>
                    <a:rPr lang="en-US" altLang="zh-CN" sz="2400" b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         </a:t>
                  </a:r>
                  <a:r>
                    <a:rPr lang="en-US" altLang="zh-CN" sz="2400" b="1" i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x</a:t>
                  </a:r>
                  <a:r>
                    <a:rPr lang="en-US" altLang="zh-CN" sz="2400" b="1" baseline="-25000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3  </a:t>
                  </a:r>
                  <a:endParaRPr lang="zh-CN" altLang="en-US" sz="2400" b="1">
                    <a:solidFill>
                      <a:srgbClr val="3333FF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427" name="TextBox 33"/>
                <p:cNvSpPr txBox="1">
                  <a:spLocks noChangeArrowheads="1"/>
                </p:cNvSpPr>
                <p:nvPr/>
              </p:nvSpPr>
              <p:spPr bwMode="auto">
                <a:xfrm>
                  <a:off x="1625007" y="0"/>
                  <a:ext cx="67283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 b="1" i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f</a:t>
                  </a:r>
                  <a:r>
                    <a:rPr lang="en-US" altLang="zh-CN" sz="2400" b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(</a:t>
                  </a:r>
                  <a:r>
                    <a:rPr lang="en-US" altLang="zh-CN" sz="2400" b="1" i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x</a:t>
                  </a:r>
                  <a:r>
                    <a:rPr lang="en-US" altLang="zh-CN" sz="2400" b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)</a:t>
                  </a:r>
                  <a:endParaRPr lang="zh-CN" altLang="en-US" sz="2000" b="1">
                    <a:solidFill>
                      <a:srgbClr val="3333FF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7428" name="任意多边形 29"/>
              <p:cNvSpPr>
                <a:spLocks/>
              </p:cNvSpPr>
              <p:nvPr/>
            </p:nvSpPr>
            <p:spPr bwMode="auto">
              <a:xfrm flipH="1">
                <a:off x="576355" y="1122195"/>
                <a:ext cx="3239018" cy="1355524"/>
              </a:xfrm>
              <a:custGeom>
                <a:avLst/>
                <a:gdLst>
                  <a:gd name="T0" fmla="*/ 0 w 3439885"/>
                  <a:gd name="T1" fmla="*/ 1292881 h 1597681"/>
                  <a:gd name="T2" fmla="*/ 1153885 w 3439885"/>
                  <a:gd name="T3" fmla="*/ 846567 h 1597681"/>
                  <a:gd name="T4" fmla="*/ 1730828 w 3439885"/>
                  <a:gd name="T5" fmla="*/ 171652 h 1597681"/>
                  <a:gd name="T6" fmla="*/ 2046514 w 3439885"/>
                  <a:gd name="T7" fmla="*/ 8367 h 1597681"/>
                  <a:gd name="T8" fmla="*/ 2275114 w 3439885"/>
                  <a:gd name="T9" fmla="*/ 356709 h 1597681"/>
                  <a:gd name="T10" fmla="*/ 2569028 w 3439885"/>
                  <a:gd name="T11" fmla="*/ 922767 h 1597681"/>
                  <a:gd name="T12" fmla="*/ 2939142 w 3439885"/>
                  <a:gd name="T13" fmla="*/ 1379967 h 1597681"/>
                  <a:gd name="T14" fmla="*/ 3439885 w 3439885"/>
                  <a:gd name="T15" fmla="*/ 1597681 h 1597681"/>
                  <a:gd name="T16" fmla="*/ 3439885 w 3439885"/>
                  <a:gd name="T17" fmla="*/ 1597681 h 1597681"/>
                  <a:gd name="T18" fmla="*/ 3439885 w 3439885"/>
                  <a:gd name="T19" fmla="*/ 1597681 h 15976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39885" h="1597681">
                    <a:moveTo>
                      <a:pt x="0" y="1292881"/>
                    </a:moveTo>
                    <a:cubicBezTo>
                      <a:pt x="432707" y="1163159"/>
                      <a:pt x="865414" y="1033438"/>
                      <a:pt x="1153885" y="846567"/>
                    </a:cubicBezTo>
                    <a:cubicBezTo>
                      <a:pt x="1442356" y="659696"/>
                      <a:pt x="1582057" y="311352"/>
                      <a:pt x="1730828" y="171652"/>
                    </a:cubicBezTo>
                    <a:cubicBezTo>
                      <a:pt x="1879600" y="31952"/>
                      <a:pt x="1955800" y="-22476"/>
                      <a:pt x="2046514" y="8367"/>
                    </a:cubicBezTo>
                    <a:cubicBezTo>
                      <a:pt x="2137228" y="39210"/>
                      <a:pt x="2188028" y="204309"/>
                      <a:pt x="2275114" y="356709"/>
                    </a:cubicBezTo>
                    <a:cubicBezTo>
                      <a:pt x="2362200" y="509109"/>
                      <a:pt x="2458357" y="752224"/>
                      <a:pt x="2569028" y="922767"/>
                    </a:cubicBezTo>
                    <a:cubicBezTo>
                      <a:pt x="2679699" y="1093310"/>
                      <a:pt x="2793999" y="1267481"/>
                      <a:pt x="2939142" y="1379967"/>
                    </a:cubicBezTo>
                    <a:cubicBezTo>
                      <a:pt x="3084285" y="1492453"/>
                      <a:pt x="3439885" y="1597681"/>
                      <a:pt x="3439885" y="1597681"/>
                    </a:cubicBezTo>
                  </a:path>
                </a:pathLst>
              </a:custGeom>
              <a:noFill/>
              <a:ln w="57150" cap="flat" cmpd="sng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7429" name="TextBox 33"/>
              <p:cNvSpPr txBox="1">
                <a:spLocks noChangeArrowheads="1"/>
              </p:cNvSpPr>
              <p:nvPr/>
            </p:nvSpPr>
            <p:spPr bwMode="auto">
              <a:xfrm>
                <a:off x="1631498" y="677689"/>
                <a:ext cx="67275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>
                    <a:solidFill>
                      <a:srgbClr val="CC00CC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altLang="zh-CN" sz="2400" b="1">
                    <a:solidFill>
                      <a:srgbClr val="CC00CC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zh-CN" sz="2400" b="1" i="1">
                    <a:solidFill>
                      <a:srgbClr val="CC00CC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zh-CN" sz="2400" b="1">
                    <a:solidFill>
                      <a:srgbClr val="CC00CC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zh-CN" altLang="en-US" sz="2000" b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17430" name="直接连接符 31"/>
              <p:cNvCxnSpPr>
                <a:cxnSpLocks noChangeShapeType="1"/>
              </p:cNvCxnSpPr>
              <p:nvPr/>
            </p:nvCxnSpPr>
            <p:spPr bwMode="auto">
              <a:xfrm>
                <a:off x="2303832" y="1433299"/>
                <a:ext cx="0" cy="1188861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31" name="直接连接符 34"/>
              <p:cNvCxnSpPr>
                <a:cxnSpLocks noChangeShapeType="1"/>
                <a:stCxn id="17423" idx="0"/>
              </p:cNvCxnSpPr>
              <p:nvPr/>
            </p:nvCxnSpPr>
            <p:spPr bwMode="auto">
              <a:xfrm flipH="1" flipV="1">
                <a:off x="431869" y="717443"/>
                <a:ext cx="2300656" cy="11110"/>
              </a:xfrm>
              <a:prstGeom prst="line">
                <a:avLst/>
              </a:prstGeom>
              <a:noFill/>
              <a:ln w="28575" cmpd="sng">
                <a:solidFill>
                  <a:srgbClr val="3333FF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32" name="直接连接符 35"/>
              <p:cNvCxnSpPr>
                <a:cxnSpLocks noChangeShapeType="1"/>
              </p:cNvCxnSpPr>
              <p:nvPr/>
            </p:nvCxnSpPr>
            <p:spPr bwMode="auto">
              <a:xfrm flipH="1" flipV="1">
                <a:off x="431869" y="1098387"/>
                <a:ext cx="1589342" cy="23808"/>
              </a:xfrm>
              <a:prstGeom prst="line">
                <a:avLst/>
              </a:prstGeom>
              <a:noFill/>
              <a:ln w="28575" cmpd="sng">
                <a:solidFill>
                  <a:srgbClr val="CC00CC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33" name="直接连接符 43"/>
              <p:cNvCxnSpPr>
                <a:cxnSpLocks noChangeShapeType="1"/>
              </p:cNvCxnSpPr>
              <p:nvPr/>
            </p:nvCxnSpPr>
            <p:spPr bwMode="auto">
              <a:xfrm flipH="1">
                <a:off x="431869" y="1398379"/>
                <a:ext cx="1871963" cy="0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34" name="直接连接符 46"/>
              <p:cNvCxnSpPr>
                <a:cxnSpLocks noChangeShapeType="1"/>
              </p:cNvCxnSpPr>
              <p:nvPr/>
            </p:nvCxnSpPr>
            <p:spPr bwMode="auto">
              <a:xfrm flipH="1">
                <a:off x="431869" y="2190425"/>
                <a:ext cx="3169157" cy="0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35" name="直接连接符 48"/>
              <p:cNvCxnSpPr>
                <a:cxnSpLocks noChangeShapeType="1"/>
              </p:cNvCxnSpPr>
              <p:nvPr/>
            </p:nvCxnSpPr>
            <p:spPr bwMode="auto">
              <a:xfrm>
                <a:off x="1152709" y="2180901"/>
                <a:ext cx="0" cy="441259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436" name="TextBox 33"/>
              <p:cNvSpPr txBox="1">
                <a:spLocks noChangeArrowheads="1"/>
              </p:cNvSpPr>
              <p:nvPr/>
            </p:nvSpPr>
            <p:spPr bwMode="auto">
              <a:xfrm>
                <a:off x="4608512" y="2376237"/>
                <a:ext cx="50405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X</a:t>
                </a:r>
                <a:endParaRPr lang="zh-CN" altLang="en-US" sz="2000" b="1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437" name="TextBox 33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504056" cy="2415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Y</a:t>
                </a:r>
              </a:p>
              <a:p>
                <a:pPr eaLnBrk="1" hangingPunct="1"/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zh-CN" sz="2400" b="1" i="1" baseline="-25000">
                    <a:latin typeface="Times New Roman" pitchFamily="18" charset="0"/>
                    <a:cs typeface="Times New Roman" pitchFamily="18" charset="0"/>
                  </a:rPr>
                  <a:t>m</a:t>
                </a:r>
              </a:p>
              <a:p>
                <a:pPr eaLnBrk="1" hangingPunct="1"/>
                <a:endParaRPr lang="en-US" altLang="zh-CN" sz="1100" b="1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/>
                <a:r>
                  <a:rPr lang="en-US" altLang="zh-CN" sz="2000" b="1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  <a:p>
                <a:pPr eaLnBrk="1" hangingPunct="1"/>
                <a:r>
                  <a:rPr lang="en-US" altLang="zh-CN" sz="2000" b="1" i="1">
                    <a:latin typeface="Times New Roman" pitchFamily="18" charset="0"/>
                    <a:sym typeface="Symbol" pitchFamily="18" charset="2"/>
                  </a:rPr>
                  <a:t></a:t>
                </a:r>
                <a:r>
                  <a:rPr lang="en-US" altLang="zh-CN" sz="2000" b="1" baseline="-25000">
                    <a:latin typeface="Times New Roman" pitchFamily="18" charset="0"/>
                    <a:sym typeface="Symbol" pitchFamily="18" charset="2"/>
                  </a:rPr>
                  <a:t>2</a:t>
                </a:r>
              </a:p>
              <a:p>
                <a:pPr eaLnBrk="1" hangingPunct="1"/>
                <a:endParaRPr lang="en-US" altLang="zh-CN" sz="3200" b="1" i="1">
                  <a:latin typeface="Times New Roman" pitchFamily="18" charset="0"/>
                  <a:sym typeface="Symbol" pitchFamily="18" charset="2"/>
                </a:endParaRPr>
              </a:p>
              <a:p>
                <a:pPr eaLnBrk="1" hangingPunct="1"/>
                <a:r>
                  <a:rPr lang="en-US" altLang="zh-CN" sz="2000" b="1" i="1">
                    <a:latin typeface="Times New Roman" pitchFamily="18" charset="0"/>
                    <a:sym typeface="Symbol" pitchFamily="18" charset="2"/>
                  </a:rPr>
                  <a:t></a:t>
                </a:r>
                <a:r>
                  <a:rPr lang="en-US" altLang="zh-CN" sz="2000" b="1" baseline="-25000">
                    <a:latin typeface="Times New Roman" pitchFamily="18" charset="0"/>
                    <a:sym typeface="Symbol" pitchFamily="18" charset="2"/>
                  </a:rPr>
                  <a:t> 1</a:t>
                </a:r>
                <a:endParaRPr lang="zh-CN" altLang="en-US" sz="2000" b="1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7438" name="直接连接符 56"/>
            <p:cNvCxnSpPr>
              <a:cxnSpLocks noChangeShapeType="1"/>
            </p:cNvCxnSpPr>
            <p:nvPr/>
          </p:nvCxnSpPr>
          <p:spPr bwMode="auto">
            <a:xfrm>
              <a:off x="1727476" y="1439648"/>
              <a:ext cx="0" cy="1188861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7439" name="直接连接符 58"/>
          <p:cNvCxnSpPr>
            <a:cxnSpLocks noChangeShapeType="1"/>
          </p:cNvCxnSpPr>
          <p:nvPr/>
        </p:nvCxnSpPr>
        <p:spPr bwMode="auto">
          <a:xfrm>
            <a:off x="3935413" y="5407026"/>
            <a:ext cx="0" cy="931863"/>
          </a:xfrm>
          <a:prstGeom prst="line">
            <a:avLst/>
          </a:prstGeom>
          <a:noFill/>
          <a:ln w="76200" cmpd="sng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直接连接符 32"/>
          <p:cNvCxnSpPr/>
          <p:nvPr/>
        </p:nvCxnSpPr>
        <p:spPr bwMode="auto">
          <a:xfrm>
            <a:off x="3359151" y="6320613"/>
            <a:ext cx="576263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连接符 33"/>
          <p:cNvCxnSpPr/>
          <p:nvPr/>
        </p:nvCxnSpPr>
        <p:spPr bwMode="auto">
          <a:xfrm>
            <a:off x="2784475" y="6411913"/>
            <a:ext cx="2446338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8A5484E8-D42D-4D6D-BC0F-67D9231C16AA}"/>
              </a:ext>
            </a:extLst>
          </p:cNvPr>
          <p:cNvSpPr/>
          <p:nvPr/>
        </p:nvSpPr>
        <p:spPr bwMode="auto">
          <a:xfrm>
            <a:off x="7032104" y="1981201"/>
            <a:ext cx="4685133" cy="1371600"/>
          </a:xfrm>
          <a:prstGeom prst="wedgeRoundRectCallout">
            <a:avLst>
              <a:gd name="adj1" fmla="val 23502"/>
              <a:gd name="adj2" fmla="val 10075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C74541">
                <a:alpha val="40000"/>
              </a:srgbClr>
            </a:glow>
            <a:softEdge rad="12700"/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r>
              <a:rPr lang="zh-CN" altLang="en-US" sz="2800" b="1" i="1" dirty="0">
                <a:sym typeface="Symbol" panose="05050102010706020507" pitchFamily="18" charset="2"/>
              </a:rPr>
              <a:t></a:t>
            </a:r>
            <a:r>
              <a:rPr lang="zh-CN" altLang="en-US" sz="2800" b="1" dirty="0"/>
              <a:t>变 </a:t>
            </a:r>
            <a:r>
              <a:rPr lang="zh-CN" altLang="en-US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i="1" dirty="0"/>
              <a:t>A</a:t>
            </a:r>
            <a:r>
              <a:rPr lang="zh-CN" altLang="en-US" sz="2800" b="1" i="1" baseline="-25000" dirty="0">
                <a:sym typeface="Symbol" panose="05050102010706020507" pitchFamily="18" charset="2"/>
              </a:rPr>
              <a:t></a:t>
            </a:r>
            <a:r>
              <a:rPr lang="zh-CN" altLang="en-US" sz="2800" b="1" dirty="0">
                <a:sym typeface="Symbol" panose="05050102010706020507" pitchFamily="18" charset="2"/>
              </a:rPr>
              <a:t>变  </a:t>
            </a:r>
            <a:r>
              <a:rPr lang="en-US" altLang="zh-CN" sz="2800" b="1" i="1" dirty="0"/>
              <a:t>M</a:t>
            </a:r>
            <a:r>
              <a:rPr lang="zh-CN" altLang="en-US" sz="2800" b="1" i="1" baseline="-25000" dirty="0">
                <a:sym typeface="Symbol" panose="05050102010706020507" pitchFamily="18" charset="2"/>
              </a:rPr>
              <a:t></a:t>
            </a:r>
            <a:r>
              <a:rPr lang="zh-CN" altLang="en-US" sz="2800" b="1" dirty="0">
                <a:sym typeface="Symbol" panose="05050102010706020507" pitchFamily="18" charset="2"/>
              </a:rPr>
              <a:t>变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/>
              <a:t>         ——</a:t>
            </a:r>
            <a:r>
              <a:rPr lang="en-US" altLang="zh-CN" sz="2800" b="1" i="1" dirty="0"/>
              <a:t>M</a:t>
            </a:r>
            <a:r>
              <a:rPr lang="zh-CN" altLang="en-US" sz="2800" b="1" i="1" baseline="-25000" dirty="0">
                <a:sym typeface="Symbol" panose="05050102010706020507" pitchFamily="18" charset="2"/>
              </a:rPr>
              <a:t></a:t>
            </a:r>
            <a:r>
              <a:rPr lang="zh-CN" altLang="en-US" sz="2800" b="1" dirty="0"/>
              <a:t>的变化规律是？</a:t>
            </a:r>
            <a:endParaRPr lang="zh-CN" altLang="en-US" sz="20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E7E814-2206-6C99-45B8-80E8FDA3C8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4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7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内容占位符 2">
            <a:extLst>
              <a:ext uri="{FF2B5EF4-FFF2-40B4-BE49-F238E27FC236}">
                <a16:creationId xmlns:a16="http://schemas.microsoft.com/office/drawing/2014/main" id="{89067E6D-9028-4BD4-A37B-5AE3BCA11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6709" y="4070350"/>
            <a:ext cx="3473830" cy="268605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Ø"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对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en-US" altLang="zh-CN" sz="2400" b="1" i="1" baseline="-25000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en-US" altLang="zh-CN" sz="2400" b="1" baseline="-5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zh-CN" altLang="en-US" sz="2400" dirty="0"/>
              <a:t>：</a:t>
            </a:r>
            <a:endParaRPr lang="en-US" altLang="zh-CN" sz="2400" b="1" dirty="0">
              <a:latin typeface="宋体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dirty="0"/>
              <a:t>       </a:t>
            </a:r>
            <a:r>
              <a:rPr lang="zh-CN" altLang="en-US" sz="2400" b="1" dirty="0"/>
              <a:t>优越集是</a:t>
            </a:r>
            <a:r>
              <a:rPr lang="en-US" altLang="zh-CN" sz="2400" b="1" i="1" dirty="0">
                <a:latin typeface="Times New Roman" pitchFamily="18" charset="0"/>
              </a:rPr>
              <a:t>M</a:t>
            </a:r>
            <a:r>
              <a:rPr lang="en-US" altLang="zh-CN" sz="2400" b="1" i="1" baseline="-25000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en-US" altLang="zh-CN" sz="2400" b="1" baseline="-5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altLang="zh-CN" sz="2400" dirty="0"/>
              <a:t>=</a:t>
            </a:r>
            <a:r>
              <a:rPr lang="en-US" altLang="zh-CN" sz="2400" b="1" dirty="0">
                <a:latin typeface="Times New Roman" pitchFamily="18" charset="0"/>
              </a:rPr>
              <a:t> {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baseline="-25000" dirty="0">
                <a:latin typeface="Times New Roman" pitchFamily="18" charset="0"/>
              </a:rPr>
              <a:t>1</a:t>
            </a:r>
            <a:r>
              <a:rPr lang="en-US" altLang="zh-CN" sz="2400" b="1" dirty="0">
                <a:latin typeface="Times New Roman" pitchFamily="18" charset="0"/>
              </a:rPr>
              <a:t>}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</a:rPr>
              <a:t>        </a:t>
            </a:r>
            <a:r>
              <a:rPr lang="zh-CN" altLang="en-US" sz="2400" b="1" dirty="0">
                <a:latin typeface="Times New Roman" pitchFamily="18" charset="0"/>
              </a:rPr>
              <a:t>条件极值为 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 sz="2400" dirty="0"/>
              <a:t>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baseline="-25000" dirty="0">
                <a:latin typeface="Times New Roman" pitchFamily="18" charset="0"/>
              </a:rPr>
              <a:t>1</a:t>
            </a:r>
            <a:r>
              <a:rPr lang="en-US" altLang="zh-CN" sz="2400" dirty="0"/>
              <a:t>)</a:t>
            </a:r>
            <a:endParaRPr lang="en-US" altLang="zh-CN" sz="2400" b="1" dirty="0">
              <a:latin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Ø"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对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en-US" altLang="zh-CN" sz="2400" b="1" i="1" baseline="-25000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en-US" altLang="zh-CN" sz="2400" b="1" baseline="-50000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zh-CN" altLang="en-US" sz="2400" b="1" dirty="0">
                <a:latin typeface="宋体" pitchFamily="2" charset="-122"/>
              </a:rPr>
              <a:t>：</a:t>
            </a:r>
            <a:endParaRPr lang="en-US" altLang="zh-CN" sz="2400" b="1" dirty="0">
              <a:latin typeface="宋体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dirty="0"/>
              <a:t>     </a:t>
            </a:r>
            <a:r>
              <a:rPr lang="zh-CN" altLang="en-US" sz="2400" b="1" dirty="0"/>
              <a:t>优越集是</a:t>
            </a:r>
            <a:r>
              <a:rPr lang="en-US" altLang="zh-CN" sz="2400" b="1" i="1" dirty="0">
                <a:latin typeface="Times New Roman" pitchFamily="18" charset="0"/>
              </a:rPr>
              <a:t>M</a:t>
            </a:r>
            <a:r>
              <a:rPr lang="en-US" altLang="zh-CN" sz="2400" b="1" i="1" baseline="-25000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en-US" altLang="zh-CN" sz="2400" b="1" baseline="-50000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en-US" altLang="zh-CN" sz="2400" dirty="0"/>
              <a:t>=</a:t>
            </a:r>
            <a:r>
              <a:rPr lang="en-US" altLang="zh-CN" sz="2400" b="1" dirty="0">
                <a:latin typeface="Times New Roman" pitchFamily="18" charset="0"/>
              </a:rPr>
              <a:t> [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baseline="-25000" dirty="0">
                <a:latin typeface="Times New Roman" pitchFamily="18" charset="0"/>
              </a:rPr>
              <a:t>2</a:t>
            </a:r>
            <a:r>
              <a:rPr lang="en-US" altLang="zh-CN" sz="2400" b="1" i="1" dirty="0">
                <a:latin typeface="Times New Roman" pitchFamily="18" charset="0"/>
              </a:rPr>
              <a:t> ,x</a:t>
            </a:r>
            <a:r>
              <a:rPr lang="en-US" altLang="zh-CN" sz="2400" b="1" baseline="-25000" dirty="0">
                <a:latin typeface="Times New Roman" pitchFamily="18" charset="0"/>
              </a:rPr>
              <a:t>3</a:t>
            </a:r>
            <a:r>
              <a:rPr lang="en-US" altLang="zh-CN" sz="2400" b="1" dirty="0">
                <a:latin typeface="Times New Roman" pitchFamily="18" charset="0"/>
              </a:rPr>
              <a:t>]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</a:rPr>
              <a:t>     条件极值为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2400" b="1" i="1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endParaRPr lang="zh-CN" altLang="en-US" sz="2800" dirty="0"/>
          </a:p>
        </p:txBody>
      </p:sp>
      <p:sp>
        <p:nvSpPr>
          <p:cNvPr id="18434" name="标题 1"/>
          <p:cNvSpPr>
            <a:spLocks noGrp="1"/>
          </p:cNvSpPr>
          <p:nvPr>
            <p:ph type="title" idx="4294967295"/>
          </p:nvPr>
        </p:nvSpPr>
        <p:spPr>
          <a:xfrm>
            <a:off x="1981200" y="115888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约束下的条件极值</a:t>
            </a:r>
            <a:endParaRPr lang="zh-CN" altLang="en-US" dirty="0"/>
          </a:p>
        </p:txBody>
      </p:sp>
      <p:grpSp>
        <p:nvGrpSpPr>
          <p:cNvPr id="18435" name="Group 3"/>
          <p:cNvGrpSpPr>
            <a:grpSpLocks/>
          </p:cNvGrpSpPr>
          <p:nvPr/>
        </p:nvGrpSpPr>
        <p:grpSpPr bwMode="auto">
          <a:xfrm>
            <a:off x="1631950" y="4000500"/>
            <a:ext cx="5111750" cy="2781778"/>
            <a:chOff x="0" y="0"/>
            <a:chExt cx="5112568" cy="3069981"/>
          </a:xfrm>
        </p:grpSpPr>
        <p:grpSp>
          <p:nvGrpSpPr>
            <p:cNvPr id="18436" name="Group 4"/>
            <p:cNvGrpSpPr>
              <a:grpSpLocks/>
            </p:cNvGrpSpPr>
            <p:nvPr/>
          </p:nvGrpSpPr>
          <p:grpSpPr bwMode="auto">
            <a:xfrm>
              <a:off x="0" y="0"/>
              <a:ext cx="5112568" cy="3069981"/>
              <a:chOff x="0" y="0"/>
              <a:chExt cx="5112568" cy="3069981"/>
            </a:xfrm>
          </p:grpSpPr>
          <p:cxnSp>
            <p:nvCxnSpPr>
              <p:cNvPr id="18437" name="直接箭头连接符 6"/>
              <p:cNvCxnSpPr>
                <a:cxnSpLocks noChangeShapeType="1"/>
              </p:cNvCxnSpPr>
              <p:nvPr/>
            </p:nvCxnSpPr>
            <p:spPr bwMode="auto">
              <a:xfrm>
                <a:off x="431869" y="2622702"/>
                <a:ext cx="4248830" cy="0"/>
              </a:xfrm>
              <a:prstGeom prst="straightConnector1">
                <a:avLst/>
              </a:prstGeom>
              <a:noFill/>
              <a:ln w="19050" cmpd="sng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438" name="直接箭头连接符 7"/>
              <p:cNvCxnSpPr>
                <a:cxnSpLocks noChangeShapeType="1"/>
              </p:cNvCxnSpPr>
              <p:nvPr/>
            </p:nvCxnSpPr>
            <p:spPr bwMode="auto">
              <a:xfrm flipV="1">
                <a:off x="431869" y="245276"/>
                <a:ext cx="0" cy="2377426"/>
              </a:xfrm>
              <a:prstGeom prst="straightConnector1">
                <a:avLst/>
              </a:prstGeom>
              <a:noFill/>
              <a:ln w="19050" cmpd="sng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8439" name="Group 7"/>
              <p:cNvGrpSpPr>
                <a:grpSpLocks/>
              </p:cNvGrpSpPr>
              <p:nvPr/>
            </p:nvGrpSpPr>
            <p:grpSpPr bwMode="auto">
              <a:xfrm>
                <a:off x="1134765" y="245641"/>
                <a:ext cx="3402012" cy="2824340"/>
                <a:chOff x="0" y="0"/>
                <a:chExt cx="3402378" cy="2824174"/>
              </a:xfrm>
            </p:grpSpPr>
            <p:grpSp>
              <p:nvGrpSpPr>
                <p:cNvPr id="18440" name="Group 8"/>
                <p:cNvGrpSpPr>
                  <a:grpSpLocks/>
                </p:cNvGrpSpPr>
                <p:nvPr/>
              </p:nvGrpSpPr>
              <p:grpSpPr bwMode="auto">
                <a:xfrm>
                  <a:off x="0" y="472118"/>
                  <a:ext cx="3402378" cy="1944216"/>
                  <a:chOff x="0" y="0"/>
                  <a:chExt cx="3402378" cy="1944216"/>
                </a:xfrm>
              </p:grpSpPr>
              <p:grpSp>
                <p:nvGrpSpPr>
                  <p:cNvPr id="18441" name="Group 9"/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3402378" cy="1674694"/>
                    <a:chOff x="0" y="0"/>
                    <a:chExt cx="3402378" cy="1674694"/>
                  </a:xfrm>
                </p:grpSpPr>
                <p:cxnSp>
                  <p:nvCxnSpPr>
                    <p:cNvPr id="18442" name="直接连接符 26"/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1575701" y="521"/>
                      <a:ext cx="889238" cy="1752"/>
                    </a:xfrm>
                    <a:prstGeom prst="line">
                      <a:avLst/>
                    </a:prstGeom>
                    <a:noFill/>
                    <a:ln w="57150" cmpd="sng">
                      <a:solidFill>
                        <a:srgbClr val="3333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18443" name="任意多边形 27"/>
                    <p:cNvSpPr>
                      <a:spLocks/>
                    </p:cNvSpPr>
                    <p:nvPr/>
                  </p:nvSpPr>
                  <p:spPr bwMode="auto">
                    <a:xfrm flipH="1">
                      <a:off x="2477643" y="12785"/>
                      <a:ext cx="924172" cy="1659019"/>
                    </a:xfrm>
                    <a:custGeom>
                      <a:avLst/>
                      <a:gdLst>
                        <a:gd name="T0" fmla="*/ 760020 w 760020"/>
                        <a:gd name="T1" fmla="*/ 0 h 1163782"/>
                        <a:gd name="T2" fmla="*/ 581890 w 760020"/>
                        <a:gd name="T3" fmla="*/ 629393 h 1163782"/>
                        <a:gd name="T4" fmla="*/ 0 w 760020"/>
                        <a:gd name="T5" fmla="*/ 1163782 h 11637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760020" h="1163782">
                          <a:moveTo>
                            <a:pt x="760020" y="0"/>
                          </a:moveTo>
                          <a:cubicBezTo>
                            <a:pt x="734290" y="217714"/>
                            <a:pt x="708560" y="435429"/>
                            <a:pt x="581890" y="629393"/>
                          </a:cubicBezTo>
                          <a:cubicBezTo>
                            <a:pt x="455220" y="823357"/>
                            <a:pt x="227610" y="993569"/>
                            <a:pt x="0" y="1163782"/>
                          </a:cubicBezTo>
                        </a:path>
                      </a:pathLst>
                    </a:custGeom>
                    <a:noFill/>
                    <a:ln w="57150" cap="flat" cmpd="sng">
                      <a:solidFill>
                        <a:srgbClr val="3333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8444" name="任意多边形 28"/>
                    <p:cNvSpPr>
                      <a:spLocks/>
                    </p:cNvSpPr>
                    <p:nvPr/>
                  </p:nvSpPr>
                  <p:spPr bwMode="auto">
                    <a:xfrm flipH="1">
                      <a:off x="480" y="11032"/>
                      <a:ext cx="1597452" cy="1660772"/>
                    </a:xfrm>
                    <a:custGeom>
                      <a:avLst/>
                      <a:gdLst>
                        <a:gd name="T0" fmla="*/ 0 w 1555667"/>
                        <a:gd name="T1" fmla="*/ 0 h 1223158"/>
                        <a:gd name="T2" fmla="*/ 439387 w 1555667"/>
                        <a:gd name="T3" fmla="*/ 700644 h 1223158"/>
                        <a:gd name="T4" fmla="*/ 1555667 w 1555667"/>
                        <a:gd name="T5" fmla="*/ 1223158 h 12231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555667" h="1223158">
                          <a:moveTo>
                            <a:pt x="0" y="0"/>
                          </a:moveTo>
                          <a:cubicBezTo>
                            <a:pt x="90054" y="248392"/>
                            <a:pt x="180109" y="496784"/>
                            <a:pt x="439387" y="700644"/>
                          </a:cubicBezTo>
                          <a:cubicBezTo>
                            <a:pt x="698665" y="904504"/>
                            <a:pt x="1127166" y="1063831"/>
                            <a:pt x="1555667" y="1223158"/>
                          </a:cubicBezTo>
                        </a:path>
                      </a:pathLst>
                    </a:custGeom>
                    <a:noFill/>
                    <a:ln w="57150" cap="flat" cmpd="sng">
                      <a:solidFill>
                        <a:srgbClr val="3333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anchor="ctr"/>
                    <a:lstStyle/>
                    <a:p>
                      <a:endParaRPr lang="zh-CN" altLang="en-US"/>
                    </a:p>
                  </p:txBody>
                </p:sp>
              </p:grpSp>
              <p:cxnSp>
                <p:nvCxnSpPr>
                  <p:cNvPr id="18445" name="直接连接符 24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2464939" y="521"/>
                    <a:ext cx="0" cy="1942823"/>
                  </a:xfrm>
                  <a:prstGeom prst="line">
                    <a:avLst/>
                  </a:prstGeom>
                  <a:noFill/>
                  <a:ln w="28575" cmpd="sng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8446" name="直接连接符 2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620163" y="521"/>
                    <a:ext cx="0" cy="1942823"/>
                  </a:xfrm>
                  <a:prstGeom prst="line">
                    <a:avLst/>
                  </a:prstGeom>
                  <a:noFill/>
                  <a:ln w="28575" cmpd="sng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8447" name="TextBox 31"/>
                <p:cNvSpPr txBox="1">
                  <a:spLocks noChangeArrowheads="1"/>
                </p:cNvSpPr>
                <p:nvPr/>
              </p:nvSpPr>
              <p:spPr bwMode="auto">
                <a:xfrm>
                  <a:off x="887156" y="2314709"/>
                  <a:ext cx="2226886" cy="5094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 b="1" i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 x</a:t>
                  </a:r>
                  <a:r>
                    <a:rPr lang="en-US" altLang="zh-CN" sz="2400" b="1" baseline="-25000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1    </a:t>
                  </a:r>
                  <a:r>
                    <a:rPr lang="en-US" altLang="zh-CN" sz="2400" b="1" i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x</a:t>
                  </a:r>
                  <a:r>
                    <a:rPr lang="en-US" altLang="zh-CN" sz="2400" b="1" baseline="-25000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  <a:r>
                    <a:rPr lang="en-US" altLang="zh-CN" sz="2400" b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         </a:t>
                  </a:r>
                  <a:r>
                    <a:rPr lang="en-US" altLang="zh-CN" sz="2400" b="1" i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x</a:t>
                  </a:r>
                  <a:r>
                    <a:rPr lang="en-US" altLang="zh-CN" sz="2400" b="1" baseline="-25000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3  </a:t>
                  </a:r>
                  <a:endParaRPr lang="zh-CN" altLang="en-US" sz="2400" b="1">
                    <a:solidFill>
                      <a:srgbClr val="3333FF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448" name="TextBox 33"/>
                <p:cNvSpPr txBox="1">
                  <a:spLocks noChangeArrowheads="1"/>
                </p:cNvSpPr>
                <p:nvPr/>
              </p:nvSpPr>
              <p:spPr bwMode="auto">
                <a:xfrm>
                  <a:off x="1625007" y="0"/>
                  <a:ext cx="672830" cy="5094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itchFamily="34" charset="0"/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 b="1" i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f</a:t>
                  </a:r>
                  <a:r>
                    <a:rPr lang="en-US" altLang="zh-CN" sz="2400" b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(</a:t>
                  </a:r>
                  <a:r>
                    <a:rPr lang="en-US" altLang="zh-CN" sz="2400" b="1" i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x</a:t>
                  </a:r>
                  <a:r>
                    <a:rPr lang="en-US" altLang="zh-CN" sz="2400" b="1">
                      <a:solidFill>
                        <a:srgbClr val="3333FF"/>
                      </a:solidFill>
                      <a:latin typeface="Times New Roman" pitchFamily="18" charset="0"/>
                      <a:cs typeface="Times New Roman" pitchFamily="18" charset="0"/>
                    </a:rPr>
                    <a:t>)</a:t>
                  </a:r>
                  <a:endParaRPr lang="zh-CN" altLang="en-US" sz="2000" b="1">
                    <a:solidFill>
                      <a:srgbClr val="3333FF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8449" name="任意多边形 29"/>
              <p:cNvSpPr>
                <a:spLocks/>
              </p:cNvSpPr>
              <p:nvPr/>
            </p:nvSpPr>
            <p:spPr bwMode="auto">
              <a:xfrm flipH="1">
                <a:off x="576355" y="1123014"/>
                <a:ext cx="3239018" cy="1354273"/>
              </a:xfrm>
              <a:custGeom>
                <a:avLst/>
                <a:gdLst>
                  <a:gd name="T0" fmla="*/ 0 w 3439885"/>
                  <a:gd name="T1" fmla="*/ 1292881 h 1597681"/>
                  <a:gd name="T2" fmla="*/ 1153885 w 3439885"/>
                  <a:gd name="T3" fmla="*/ 846567 h 1597681"/>
                  <a:gd name="T4" fmla="*/ 1730828 w 3439885"/>
                  <a:gd name="T5" fmla="*/ 171652 h 1597681"/>
                  <a:gd name="T6" fmla="*/ 2046514 w 3439885"/>
                  <a:gd name="T7" fmla="*/ 8367 h 1597681"/>
                  <a:gd name="T8" fmla="*/ 2275114 w 3439885"/>
                  <a:gd name="T9" fmla="*/ 356709 h 1597681"/>
                  <a:gd name="T10" fmla="*/ 2569028 w 3439885"/>
                  <a:gd name="T11" fmla="*/ 922767 h 1597681"/>
                  <a:gd name="T12" fmla="*/ 2939142 w 3439885"/>
                  <a:gd name="T13" fmla="*/ 1379967 h 1597681"/>
                  <a:gd name="T14" fmla="*/ 3439885 w 3439885"/>
                  <a:gd name="T15" fmla="*/ 1597681 h 1597681"/>
                  <a:gd name="T16" fmla="*/ 3439885 w 3439885"/>
                  <a:gd name="T17" fmla="*/ 1597681 h 1597681"/>
                  <a:gd name="T18" fmla="*/ 3439885 w 3439885"/>
                  <a:gd name="T19" fmla="*/ 1597681 h 15976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39885" h="1597681">
                    <a:moveTo>
                      <a:pt x="0" y="1292881"/>
                    </a:moveTo>
                    <a:cubicBezTo>
                      <a:pt x="432707" y="1163159"/>
                      <a:pt x="865414" y="1033438"/>
                      <a:pt x="1153885" y="846567"/>
                    </a:cubicBezTo>
                    <a:cubicBezTo>
                      <a:pt x="1442356" y="659696"/>
                      <a:pt x="1582057" y="311352"/>
                      <a:pt x="1730828" y="171652"/>
                    </a:cubicBezTo>
                    <a:cubicBezTo>
                      <a:pt x="1879600" y="31952"/>
                      <a:pt x="1955800" y="-22476"/>
                      <a:pt x="2046514" y="8367"/>
                    </a:cubicBezTo>
                    <a:cubicBezTo>
                      <a:pt x="2137228" y="39210"/>
                      <a:pt x="2188028" y="204309"/>
                      <a:pt x="2275114" y="356709"/>
                    </a:cubicBezTo>
                    <a:cubicBezTo>
                      <a:pt x="2362200" y="509109"/>
                      <a:pt x="2458357" y="752224"/>
                      <a:pt x="2569028" y="922767"/>
                    </a:cubicBezTo>
                    <a:cubicBezTo>
                      <a:pt x="2679699" y="1093310"/>
                      <a:pt x="2793999" y="1267481"/>
                      <a:pt x="2939142" y="1379967"/>
                    </a:cubicBezTo>
                    <a:cubicBezTo>
                      <a:pt x="3084285" y="1492453"/>
                      <a:pt x="3439885" y="1597681"/>
                      <a:pt x="3439885" y="1597681"/>
                    </a:cubicBezTo>
                  </a:path>
                </a:pathLst>
              </a:custGeom>
              <a:noFill/>
              <a:ln w="57150" cap="flat" cmpd="sng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8450" name="TextBox 33"/>
              <p:cNvSpPr txBox="1">
                <a:spLocks noChangeArrowheads="1"/>
              </p:cNvSpPr>
              <p:nvPr/>
            </p:nvSpPr>
            <p:spPr bwMode="auto">
              <a:xfrm>
                <a:off x="1631498" y="677689"/>
                <a:ext cx="672758" cy="509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>
                    <a:solidFill>
                      <a:srgbClr val="CC00CC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altLang="zh-CN" sz="2400" b="1">
                    <a:solidFill>
                      <a:srgbClr val="CC00CC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zh-CN" sz="2400" b="1" i="1">
                    <a:solidFill>
                      <a:srgbClr val="CC00CC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zh-CN" sz="2400" b="1">
                    <a:solidFill>
                      <a:srgbClr val="CC00CC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zh-CN" altLang="en-US" sz="2000" b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18451" name="直接连接符 31"/>
              <p:cNvCxnSpPr>
                <a:cxnSpLocks noChangeShapeType="1"/>
              </p:cNvCxnSpPr>
              <p:nvPr/>
            </p:nvCxnSpPr>
            <p:spPr bwMode="auto">
              <a:xfrm>
                <a:off x="2303832" y="1433113"/>
                <a:ext cx="0" cy="1189589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452" name="直接连接符 34"/>
              <p:cNvCxnSpPr>
                <a:cxnSpLocks noChangeShapeType="1"/>
                <a:stCxn id="18444" idx="0"/>
              </p:cNvCxnSpPr>
              <p:nvPr/>
            </p:nvCxnSpPr>
            <p:spPr bwMode="auto">
              <a:xfrm flipH="1" flipV="1">
                <a:off x="431869" y="718308"/>
                <a:ext cx="2300656" cy="10512"/>
              </a:xfrm>
              <a:prstGeom prst="line">
                <a:avLst/>
              </a:prstGeom>
              <a:noFill/>
              <a:ln w="28575" cmpd="sng">
                <a:solidFill>
                  <a:srgbClr val="3333FF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453" name="直接连接符 35"/>
              <p:cNvCxnSpPr>
                <a:cxnSpLocks noChangeShapeType="1"/>
              </p:cNvCxnSpPr>
              <p:nvPr/>
            </p:nvCxnSpPr>
            <p:spPr bwMode="auto">
              <a:xfrm flipH="1" flipV="1">
                <a:off x="431869" y="1098487"/>
                <a:ext cx="1589342" cy="24528"/>
              </a:xfrm>
              <a:prstGeom prst="line">
                <a:avLst/>
              </a:prstGeom>
              <a:noFill/>
              <a:ln w="28575" cmpd="sng">
                <a:solidFill>
                  <a:srgbClr val="CC00CC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454" name="直接连接符 43"/>
              <p:cNvCxnSpPr>
                <a:cxnSpLocks noChangeShapeType="1"/>
              </p:cNvCxnSpPr>
              <p:nvPr/>
            </p:nvCxnSpPr>
            <p:spPr bwMode="auto">
              <a:xfrm flipH="1">
                <a:off x="431869" y="1398073"/>
                <a:ext cx="1871963" cy="0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455" name="直接连接符 46"/>
              <p:cNvCxnSpPr>
                <a:cxnSpLocks noChangeShapeType="1"/>
              </p:cNvCxnSpPr>
              <p:nvPr/>
            </p:nvCxnSpPr>
            <p:spPr bwMode="auto">
              <a:xfrm flipH="1">
                <a:off x="431869" y="2189964"/>
                <a:ext cx="3169157" cy="0"/>
              </a:xfrm>
              <a:prstGeom prst="line">
                <a:avLst/>
              </a:prstGeom>
              <a:noFill/>
              <a:ln w="19050" cmpd="sng">
                <a:solidFill>
                  <a:schemeClr val="tx1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456" name="直接连接符 48"/>
              <p:cNvCxnSpPr>
                <a:cxnSpLocks noChangeShapeType="1"/>
              </p:cNvCxnSpPr>
              <p:nvPr/>
            </p:nvCxnSpPr>
            <p:spPr bwMode="auto">
              <a:xfrm>
                <a:off x="1152709" y="2181205"/>
                <a:ext cx="0" cy="441497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8457" name="TextBox 33"/>
              <p:cNvSpPr txBox="1">
                <a:spLocks noChangeArrowheads="1"/>
              </p:cNvSpPr>
              <p:nvPr/>
            </p:nvSpPr>
            <p:spPr bwMode="auto">
              <a:xfrm>
                <a:off x="4608512" y="2376237"/>
                <a:ext cx="504056" cy="509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X</a:t>
                </a:r>
                <a:endParaRPr lang="zh-CN" altLang="en-US" sz="2000" b="1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458" name="TextBox 33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504056" cy="24625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Y</a:t>
                </a:r>
              </a:p>
              <a:p>
                <a:pPr eaLnBrk="1" hangingPunct="1"/>
                <a:r>
                  <a:rPr lang="en-US" altLang="zh-CN" sz="2400" b="1" i="1" dirty="0" err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zh-CN" sz="2400" b="1" i="1" baseline="-25000" dirty="0" err="1">
                    <a:latin typeface="Times New Roman" pitchFamily="18" charset="0"/>
                    <a:cs typeface="Times New Roman" pitchFamily="18" charset="0"/>
                  </a:rPr>
                  <a:t>m</a:t>
                </a:r>
                <a:endParaRPr lang="en-US" altLang="zh-CN" sz="2400" b="1" i="1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/>
                <a:endParaRPr lang="en-US" altLang="zh-CN" sz="1100" b="1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/>
                <a:r>
                  <a:rPr lang="en-US" altLang="zh-CN" sz="2000" b="1" dirty="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  <a:p>
                <a:pPr eaLnBrk="1" hangingPunct="1"/>
                <a:r>
                  <a:rPr lang="en-US" altLang="zh-CN" sz="2000" b="1" i="1" dirty="0">
                    <a:latin typeface="Times New Roman" pitchFamily="18" charset="0"/>
                    <a:sym typeface="Symbol" pitchFamily="18" charset="2"/>
                  </a:rPr>
                  <a:t></a:t>
                </a:r>
                <a:r>
                  <a:rPr lang="en-US" altLang="zh-CN" sz="2000" b="1" baseline="-25000" dirty="0">
                    <a:latin typeface="Times New Roman" pitchFamily="18" charset="0"/>
                    <a:sym typeface="Symbol" pitchFamily="18" charset="2"/>
                  </a:rPr>
                  <a:t>2</a:t>
                </a:r>
              </a:p>
              <a:p>
                <a:pPr eaLnBrk="1" hangingPunct="1"/>
                <a:endParaRPr lang="en-US" altLang="zh-CN" b="1" i="1" dirty="0">
                  <a:latin typeface="Times New Roman" pitchFamily="18" charset="0"/>
                  <a:sym typeface="Symbol" pitchFamily="18" charset="2"/>
                </a:endParaRPr>
              </a:p>
              <a:p>
                <a:pPr eaLnBrk="1" hangingPunct="1"/>
                <a:r>
                  <a:rPr lang="en-US" altLang="zh-CN" sz="2000" b="1" i="1" dirty="0">
                    <a:latin typeface="Times New Roman" pitchFamily="18" charset="0"/>
                    <a:sym typeface="Symbol" pitchFamily="18" charset="2"/>
                  </a:rPr>
                  <a:t></a:t>
                </a:r>
                <a:r>
                  <a:rPr lang="en-US" altLang="zh-CN" sz="2000" b="1" baseline="-25000" dirty="0">
                    <a:latin typeface="Times New Roman" pitchFamily="18" charset="0"/>
                    <a:sym typeface="Symbol" pitchFamily="18" charset="2"/>
                  </a:rPr>
                  <a:t> 1</a:t>
                </a:r>
                <a:endParaRPr lang="zh-CN" altLang="en-US" sz="20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8459" name="直接连接符 56"/>
            <p:cNvCxnSpPr>
              <a:cxnSpLocks noChangeShapeType="1"/>
            </p:cNvCxnSpPr>
            <p:nvPr/>
          </p:nvCxnSpPr>
          <p:spPr bwMode="auto">
            <a:xfrm>
              <a:off x="1727476" y="1440120"/>
              <a:ext cx="0" cy="1187837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8460" name="直接连接符 58"/>
          <p:cNvCxnSpPr>
            <a:cxnSpLocks noChangeShapeType="1"/>
          </p:cNvCxnSpPr>
          <p:nvPr/>
        </p:nvCxnSpPr>
        <p:spPr bwMode="auto">
          <a:xfrm>
            <a:off x="3935414" y="5521326"/>
            <a:ext cx="1587" cy="860425"/>
          </a:xfrm>
          <a:prstGeom prst="line">
            <a:avLst/>
          </a:prstGeom>
          <a:noFill/>
          <a:ln w="76200" cmpd="sng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62" name="内容占位符 2"/>
          <p:cNvSpPr txBox="1">
            <a:spLocks noChangeArrowheads="1"/>
          </p:cNvSpPr>
          <p:nvPr/>
        </p:nvSpPr>
        <p:spPr bwMode="auto">
          <a:xfrm>
            <a:off x="1415482" y="2857500"/>
            <a:ext cx="9721075" cy="1428750"/>
          </a:xfrm>
          <a:prstGeom prst="rect">
            <a:avLst/>
          </a:prstGeom>
          <a:solidFill>
            <a:srgbClr val="FFCCFF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Ø"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因为在</a:t>
            </a:r>
            <a:r>
              <a:rPr lang="en-US" altLang="zh-CN" sz="2400" b="1" dirty="0">
                <a:latin typeface="+mj-lt"/>
                <a:cs typeface="Times New Roman" pitchFamily="18" charset="0"/>
              </a:rPr>
              <a:t>F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集上求极值，其优越集也应为</a:t>
            </a:r>
            <a:r>
              <a:rPr lang="en-US" altLang="zh-CN" sz="2400" b="1" dirty="0">
                <a:cs typeface="Times New Roman" pitchFamily="18" charset="0"/>
              </a:rPr>
              <a:t>F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集，为此取所有</a:t>
            </a:r>
            <a:r>
              <a:rPr lang="en-US" altLang="zh-CN" sz="2400" b="1" i="1" dirty="0">
                <a:latin typeface="Times New Roman" pitchFamily="18" charset="0"/>
              </a:rPr>
              <a:t>M</a:t>
            </a:r>
            <a:r>
              <a:rPr lang="en-US" altLang="zh-CN" sz="2400" b="1" i="1" baseline="-25000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的并集，记</a:t>
            </a: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altLang="zh-CN" sz="12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b="1" i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称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2400" b="1" dirty="0">
                <a:cs typeface="Times New Roman" pitchFamily="18" charset="0"/>
              </a:rPr>
              <a:t>F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集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上的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优越支集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。</a:t>
            </a:r>
            <a:r>
              <a:rPr lang="zh-CN" altLang="en-US" sz="2400" dirty="0"/>
              <a:t>       </a:t>
            </a:r>
            <a:endParaRPr lang="zh-CN" altLang="en-US" sz="2800" dirty="0"/>
          </a:p>
        </p:txBody>
      </p:sp>
      <p:grpSp>
        <p:nvGrpSpPr>
          <p:cNvPr id="18463" name="Group 31"/>
          <p:cNvGrpSpPr>
            <a:grpSpLocks/>
          </p:cNvGrpSpPr>
          <p:nvPr/>
        </p:nvGrpSpPr>
        <p:grpSpPr bwMode="auto">
          <a:xfrm>
            <a:off x="6979858" y="1914562"/>
            <a:ext cx="3395786" cy="1045310"/>
            <a:chOff x="0" y="0"/>
            <a:chExt cx="2571770" cy="1045317"/>
          </a:xfrm>
        </p:grpSpPr>
        <p:sp>
          <p:nvSpPr>
            <p:cNvPr id="18464" name="右大括号 32"/>
            <p:cNvSpPr>
              <a:spLocks/>
            </p:cNvSpPr>
            <p:nvPr/>
          </p:nvSpPr>
          <p:spPr bwMode="auto">
            <a:xfrm>
              <a:off x="0" y="0"/>
              <a:ext cx="285752" cy="857256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mpd="sng">
              <a:solidFill>
                <a:srgbClr val="9393F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 sz="2400"/>
            </a:p>
          </p:txBody>
        </p:sp>
        <p:sp>
          <p:nvSpPr>
            <p:cNvPr id="18465" name="TextBox 36"/>
            <p:cNvSpPr txBox="1">
              <a:spLocks noChangeArrowheads="1"/>
            </p:cNvSpPr>
            <p:nvPr/>
          </p:nvSpPr>
          <p:spPr bwMode="auto">
            <a:xfrm>
              <a:off x="357191" y="214315"/>
              <a:ext cx="2214579" cy="831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400" b="1" i="1" dirty="0">
                  <a:latin typeface="Times New Roman" pitchFamily="18" charset="0"/>
                  <a:sym typeface="Symbol" pitchFamily="18" charset="2"/>
                </a:rPr>
                <a:t></a:t>
              </a:r>
              <a:r>
                <a:rPr lang="zh-CN" altLang="en-US" sz="2400" b="1" dirty="0">
                  <a:latin typeface="Times New Roman" pitchFamily="18" charset="0"/>
                  <a:sym typeface="Symbol" pitchFamily="18" charset="2"/>
                </a:rPr>
                <a:t>不同</a:t>
              </a:r>
              <a:r>
                <a:rPr lang="en-US" altLang="zh-CN" sz="2400" b="1" dirty="0">
                  <a:latin typeface="Times New Roman" pitchFamily="18" charset="0"/>
                  <a:sym typeface="Symbol" pitchFamily="18" charset="2"/>
                </a:rPr>
                <a:t>,</a:t>
              </a:r>
              <a:r>
                <a:rPr lang="zh-CN" altLang="en-US" sz="2400" b="1" dirty="0">
                  <a:latin typeface="Times New Roman" pitchFamily="18" charset="0"/>
                  <a:sym typeface="Symbol" pitchFamily="18" charset="2"/>
                </a:rPr>
                <a:t> 则</a:t>
              </a:r>
              <a:r>
                <a:rPr lang="en-US" altLang="zh-CN" sz="2400" b="1" i="1" dirty="0">
                  <a:latin typeface="Times New Roman" pitchFamily="18" charset="0"/>
                </a:rPr>
                <a:t>M</a:t>
              </a:r>
              <a:r>
                <a:rPr lang="en-US" altLang="zh-CN" sz="2400" b="1" i="1" baseline="-25000" dirty="0">
                  <a:latin typeface="Times New Roman" pitchFamily="18" charset="0"/>
                  <a:sym typeface="Symbol" pitchFamily="18" charset="2"/>
                </a:rPr>
                <a:t></a:t>
              </a:r>
              <a:r>
                <a:rPr lang="zh-CN" altLang="en-US" sz="2400" b="1" dirty="0">
                  <a:latin typeface="Times New Roman" pitchFamily="18" charset="0"/>
                  <a:sym typeface="Symbol" pitchFamily="18" charset="2"/>
                </a:rPr>
                <a:t>也不同</a:t>
              </a:r>
              <a:endParaRPr lang="zh-CN" altLang="en-US" sz="2400" dirty="0"/>
            </a:p>
          </p:txBody>
        </p:sp>
      </p:grpSp>
      <p:graphicFrame>
        <p:nvGraphicFramePr>
          <p:cNvPr id="18466" name="Object 34"/>
          <p:cNvGraphicFramePr>
            <a:graphicFrameLocks noChangeAspect="1"/>
          </p:cNvGraphicFramePr>
          <p:nvPr/>
        </p:nvGraphicFramePr>
        <p:xfrm>
          <a:off x="4743252" y="3321051"/>
          <a:ext cx="1928812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6534" imgH="292671" progId="Equation.DSMT4">
                  <p:embed/>
                </p:oleObj>
              </mc:Choice>
              <mc:Fallback>
                <p:oleObj name="Equation" r:id="rId3" imgW="826534" imgH="292671" progId="Equation.DSMT4">
                  <p:embed/>
                  <p:pic>
                    <p:nvPicPr>
                      <p:cNvPr id="1846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252" y="3321051"/>
                        <a:ext cx="1928812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7" name="矩形 38"/>
          <p:cNvSpPr>
            <a:spLocks noChangeArrowheads="1"/>
          </p:cNvSpPr>
          <p:nvPr/>
        </p:nvSpPr>
        <p:spPr bwMode="auto">
          <a:xfrm>
            <a:off x="6960095" y="4329261"/>
            <a:ext cx="4968553" cy="242348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39738" indent="-439738" eaLnBrk="1" hangingPunct="1">
              <a:lnSpc>
                <a:spcPct val="110000"/>
              </a:lnSpc>
              <a:buFont typeface="Wingdings" pitchFamily="2" charset="2"/>
              <a:buChar char="u"/>
            </a:pPr>
            <a:r>
              <a:rPr lang="zh-CN" altLang="en-US" sz="2800" b="1" dirty="0">
                <a:latin typeface="Times New Roman" pitchFamily="18" charset="0"/>
              </a:rPr>
              <a:t>若</a:t>
            </a:r>
            <a:r>
              <a:rPr lang="en-US" altLang="zh-CN" sz="2800" b="1" i="1" dirty="0">
                <a:latin typeface="Times New Roman" pitchFamily="18" charset="0"/>
              </a:rPr>
              <a:t>x</a:t>
            </a:r>
            <a:r>
              <a:rPr lang="en-US" altLang="zh-CN" sz="2800" b="1" dirty="0">
                <a:sym typeface="Symbol" pitchFamily="18" charset="2"/>
              </a:rPr>
              <a:t>  </a:t>
            </a:r>
            <a:r>
              <a:rPr lang="en-US" altLang="zh-CN" sz="2800" b="1" i="1" dirty="0">
                <a:latin typeface="Times New Roman" pitchFamily="18" charset="0"/>
              </a:rPr>
              <a:t>M</a:t>
            </a:r>
            <a:r>
              <a:rPr lang="en-US" altLang="zh-CN" sz="2800" b="1" dirty="0">
                <a:latin typeface="Times New Roman" pitchFamily="18" charset="0"/>
              </a:rPr>
              <a:t>,</a:t>
            </a:r>
            <a:r>
              <a:rPr lang="zh-CN" altLang="en-US" sz="2800" b="1" dirty="0">
                <a:latin typeface="Times New Roman" pitchFamily="18" charset="0"/>
              </a:rPr>
              <a:t> 则 </a:t>
            </a:r>
            <a:r>
              <a:rPr lang="en-US" altLang="zh-CN" sz="2800" b="1" i="1" dirty="0">
                <a:latin typeface="Times New Roman" pitchFamily="18" charset="0"/>
              </a:rPr>
              <a:t>x</a:t>
            </a:r>
            <a:r>
              <a:rPr lang="zh-CN" altLang="en-US" sz="2800" b="1" dirty="0">
                <a:latin typeface="Times New Roman" pitchFamily="18" charset="0"/>
              </a:rPr>
              <a:t> 可能属于多个</a:t>
            </a:r>
            <a:r>
              <a:rPr lang="en-US" altLang="zh-CN" sz="2800" b="1" i="1" dirty="0">
                <a:latin typeface="Times New Roman" pitchFamily="18" charset="0"/>
              </a:rPr>
              <a:t>M</a:t>
            </a:r>
            <a:r>
              <a:rPr lang="en-US" altLang="zh-CN" sz="2800" b="1" i="1" baseline="-25000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，必有一个</a:t>
            </a:r>
            <a:r>
              <a:rPr lang="en-US" altLang="zh-CN" sz="2800" b="1" i="1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的</a:t>
            </a:r>
            <a:r>
              <a:rPr lang="zh-CN" altLang="en-US" sz="2800" b="1" dirty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最大值</a:t>
            </a:r>
            <a:endParaRPr lang="en-US" altLang="zh-CN" sz="2800" b="1" dirty="0">
              <a:solidFill>
                <a:srgbClr val="008000"/>
              </a:solidFill>
              <a:latin typeface="Times New Roman" pitchFamily="18" charset="0"/>
              <a:sym typeface="Symbol" pitchFamily="18" charset="2"/>
            </a:endParaRPr>
          </a:p>
          <a:p>
            <a:pPr marL="439738" indent="-439738" eaLnBrk="1" hangingPunct="1">
              <a:lnSpc>
                <a:spcPct val="110000"/>
              </a:lnSpc>
              <a:buFont typeface="Wingdings" pitchFamily="2" charset="2"/>
              <a:buChar char="u"/>
            </a:pP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将此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 </a:t>
            </a:r>
            <a:r>
              <a:rPr lang="zh-CN" altLang="en-US" sz="2800" b="1" dirty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值</a:t>
            </a: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作为 </a:t>
            </a:r>
            <a:r>
              <a:rPr lang="en-US" altLang="zh-CN" sz="2800" b="1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 的隶属度，就得到一个新的</a:t>
            </a:r>
            <a:r>
              <a:rPr lang="en-US" altLang="zh-CN" sz="2800" b="1" dirty="0">
                <a:cs typeface="Times New Roman" pitchFamily="18" charset="0"/>
              </a:rPr>
              <a:t>F</a:t>
            </a: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集，记为</a:t>
            </a:r>
            <a:r>
              <a:rPr lang="en-US" altLang="zh-CN" sz="2800" b="1" i="1" dirty="0" err="1">
                <a:latin typeface="Times New Roman" pitchFamily="18" charset="0"/>
              </a:rPr>
              <a:t>A</a:t>
            </a:r>
            <a:r>
              <a:rPr lang="en-US" altLang="zh-CN" sz="2800" b="1" i="1" baseline="-25000" dirty="0" err="1">
                <a:latin typeface="Times New Roman" pitchFamily="18" charset="0"/>
                <a:sym typeface="Symbol" pitchFamily="18" charset="2"/>
              </a:rPr>
              <a:t>f</a:t>
            </a:r>
            <a:r>
              <a:rPr lang="zh-CN" altLang="en-US" sz="2800" b="1" i="1" baseline="-250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2800" dirty="0"/>
              <a:t>。</a:t>
            </a:r>
            <a:endParaRPr lang="en-US" altLang="zh-CN" sz="2800" b="1" dirty="0">
              <a:latin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71464" y="1402090"/>
            <a:ext cx="10081119" cy="137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引理</a:t>
            </a:r>
            <a:r>
              <a:rPr lang="en-US" altLang="zh-CN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800" dirty="0"/>
              <a:t>设 </a:t>
            </a:r>
            <a:r>
              <a:rPr lang="zh-CN" altLang="en-US" sz="2800" i="1" dirty="0">
                <a:sym typeface="Symbol"/>
              </a:rPr>
              <a:t>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&gt;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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ym typeface="Symbol"/>
              </a:rPr>
              <a:t>若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A</a:t>
            </a:r>
            <a:r>
              <a:rPr lang="zh-CN" altLang="en-US" sz="2400" b="1" i="1" baseline="-25000" dirty="0">
                <a:sym typeface="Symbol"/>
              </a:rPr>
              <a:t></a:t>
            </a:r>
            <a:r>
              <a:rPr lang="en-US" altLang="zh-CN" sz="2400" b="1" baseline="-4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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M</a:t>
            </a:r>
            <a:r>
              <a:rPr lang="zh-CN" altLang="en-US" sz="2400" b="1" i="1" baseline="-25000" dirty="0">
                <a:sym typeface="Symbol"/>
              </a:rPr>
              <a:t></a:t>
            </a:r>
            <a:r>
              <a:rPr lang="en-US" altLang="zh-CN" sz="2400" b="1" baseline="-4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 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，则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M</a:t>
            </a:r>
            <a:r>
              <a:rPr lang="zh-CN" altLang="en-US" sz="2400" b="1" i="1" baseline="-25000" dirty="0">
                <a:sym typeface="Symbol"/>
              </a:rPr>
              <a:t></a:t>
            </a:r>
            <a:r>
              <a:rPr lang="en-US" altLang="zh-CN" sz="2400" b="1" baseline="-4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A</a:t>
            </a:r>
            <a:r>
              <a:rPr lang="zh-CN" altLang="en-US" sz="2400" b="1" i="1" baseline="-25000" dirty="0">
                <a:sym typeface="Symbol"/>
              </a:rPr>
              <a:t></a:t>
            </a:r>
            <a:r>
              <a:rPr lang="en-US" altLang="zh-CN" sz="2400" b="1" baseline="-4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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M</a:t>
            </a:r>
            <a:r>
              <a:rPr lang="zh-CN" altLang="en-US" sz="2400" b="1" i="1" baseline="-25000" dirty="0">
                <a:sym typeface="Symbol"/>
              </a:rPr>
              <a:t></a:t>
            </a:r>
            <a:r>
              <a:rPr lang="en-US" altLang="zh-CN" sz="2400" b="1" baseline="-4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pPr marL="742950" lvl="1" indent="-285750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ym typeface="Symbol"/>
              </a:rPr>
              <a:t>若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A</a:t>
            </a:r>
            <a:r>
              <a:rPr lang="zh-CN" altLang="en-US" sz="2400" b="1" i="1" baseline="-25000" dirty="0">
                <a:sym typeface="Symbol"/>
              </a:rPr>
              <a:t></a:t>
            </a:r>
            <a:r>
              <a:rPr lang="en-US" altLang="zh-CN" sz="2400" b="1" baseline="-4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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M</a:t>
            </a:r>
            <a:r>
              <a:rPr lang="zh-CN" altLang="en-US" sz="2400" b="1" i="1" baseline="-25000" dirty="0">
                <a:sym typeface="Symbol"/>
              </a:rPr>
              <a:t></a:t>
            </a:r>
            <a:r>
              <a:rPr lang="en-US" altLang="zh-CN" sz="2400" b="1" baseline="-4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= 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，则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M</a:t>
            </a:r>
            <a:r>
              <a:rPr lang="zh-CN" altLang="en-US" sz="2400" b="1" i="1" baseline="-25000" dirty="0">
                <a:sym typeface="Symbol"/>
              </a:rPr>
              <a:t></a:t>
            </a:r>
            <a:r>
              <a:rPr lang="en-US" altLang="zh-CN" sz="2400" b="1" baseline="-4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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M</a:t>
            </a:r>
            <a:r>
              <a:rPr lang="zh-CN" altLang="en-US" sz="2400" b="1" i="1" baseline="-25000" dirty="0">
                <a:sym typeface="Symbol"/>
              </a:rPr>
              <a:t></a:t>
            </a:r>
            <a:r>
              <a:rPr lang="en-US" altLang="zh-CN" sz="2400" b="1" baseline="-4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 </a:t>
            </a:r>
            <a:endParaRPr lang="zh-CN" altLang="en-US" sz="2400" b="1" dirty="0"/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3359151" y="6320613"/>
            <a:ext cx="576263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2784475" y="6411913"/>
            <a:ext cx="2446338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346EF37-977B-BEE1-544A-47309F52CD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18462" grpId="0" animBg="1"/>
      <p:bldP spid="18467" grpId="0" animBg="1" autoUpdateAnimBg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 idx="4294967295"/>
          </p:nvPr>
        </p:nvSpPr>
        <p:spPr>
          <a:xfrm>
            <a:off x="1981200" y="142875"/>
            <a:ext cx="8229600" cy="1371600"/>
          </a:xfrm>
        </p:spPr>
        <p:txBody>
          <a:bodyPr/>
          <a:lstStyle/>
          <a:p>
            <a:pPr algn="ctr"/>
            <a:r>
              <a:rPr lang="en-US" altLang="zh-CN">
                <a:solidFill>
                  <a:srgbClr val="008000"/>
                </a:solidFill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约束下的条件极值</a:t>
            </a:r>
            <a:endParaRPr lang="zh-CN" altLang="en-US"/>
          </a:p>
        </p:txBody>
      </p:sp>
      <p:sp>
        <p:nvSpPr>
          <p:cNvPr id="19459" name="内容占位符 2"/>
          <p:cNvSpPr>
            <a:spLocks noGrp="1"/>
          </p:cNvSpPr>
          <p:nvPr>
            <p:ph idx="4294967295"/>
          </p:nvPr>
        </p:nvSpPr>
        <p:spPr>
          <a:xfrm>
            <a:off x="1343472" y="1428751"/>
            <a:ext cx="9721080" cy="5095875"/>
          </a:xfrm>
        </p:spPr>
        <p:txBody>
          <a:bodyPr/>
          <a:lstStyle/>
          <a:p>
            <a:r>
              <a:rPr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定义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zh-CN" altLang="en-US" sz="2800" dirty="0">
                <a:solidFill>
                  <a:srgbClr val="FF0000"/>
                </a:solidFill>
              </a:rPr>
              <a:t>：</a:t>
            </a:r>
            <a:r>
              <a:rPr lang="zh-CN" altLang="en-US" sz="2800" dirty="0"/>
              <a:t>设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800" b="1" dirty="0">
                <a:sym typeface="Symbol" pitchFamily="18" charset="2"/>
              </a:rPr>
              <a:t></a:t>
            </a:r>
            <a:r>
              <a:rPr lang="en-US" altLang="zh-CN" sz="2800" b="1" dirty="0">
                <a:latin typeface="Monotype Corsiva" pitchFamily="66" charset="0"/>
                <a:sym typeface="Symbol" pitchFamily="18" charset="2"/>
              </a:rPr>
              <a:t>F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sz="2800" b="1" dirty="0">
                <a:sym typeface="Symbol" pitchFamily="18" charset="2"/>
              </a:rPr>
              <a:t>),</a:t>
            </a:r>
            <a:r>
              <a:rPr lang="zh-CN" altLang="en-US" sz="2800" b="1" dirty="0">
                <a:sym typeface="Symbol" pitchFamily="18" charset="2"/>
              </a:rPr>
              <a:t> 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f </a:t>
            </a:r>
            <a:r>
              <a:rPr lang="en-US" altLang="zh-CN" sz="2800" b="1" dirty="0">
                <a:sym typeface="Symbol" pitchFamily="18" charset="2"/>
              </a:rPr>
              <a:t>:</a:t>
            </a:r>
            <a:r>
              <a:rPr lang="zh-CN" altLang="en-US" sz="2800" b="1" dirty="0">
                <a:sym typeface="Symbol" pitchFamily="18" charset="2"/>
              </a:rPr>
              <a:t>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→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Y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zh-CN" altLang="en-US" sz="2800" b="1" dirty="0">
                <a:sym typeface="Symbol" pitchFamily="18" charset="2"/>
              </a:rPr>
              <a:t>实数域</a:t>
            </a:r>
            <a:r>
              <a:rPr lang="en-US" altLang="zh-CN" sz="2800" b="1" dirty="0">
                <a:sym typeface="Symbol" pitchFamily="18" charset="2"/>
              </a:rPr>
              <a:t>)</a:t>
            </a:r>
            <a:r>
              <a:rPr lang="zh-CN" altLang="en-US" sz="2800" b="1" dirty="0">
                <a:sym typeface="Symbol" pitchFamily="18" charset="2"/>
              </a:rPr>
              <a:t>，称</a:t>
            </a:r>
            <a:r>
              <a:rPr lang="en-US" altLang="zh-CN" sz="2800" b="1" dirty="0">
                <a:sym typeface="Symbol" pitchFamily="18" charset="2"/>
              </a:rPr>
              <a:t>F</a:t>
            </a:r>
            <a:r>
              <a:rPr lang="zh-CN" altLang="en-US" sz="2800" b="1" dirty="0">
                <a:sym typeface="Symbol" pitchFamily="18" charset="2"/>
              </a:rPr>
              <a:t>集</a:t>
            </a:r>
            <a:endParaRPr lang="en-US" altLang="zh-CN" sz="2800" b="1" dirty="0">
              <a:sym typeface="Symbol" pitchFamily="18" charset="2"/>
            </a:endParaRPr>
          </a:p>
          <a:p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zh-CN" altLang="en-US" sz="2800" dirty="0"/>
              <a:t>                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为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zh-CN" altLang="en-US" sz="2800" b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2800" b="1" dirty="0">
                <a:solidFill>
                  <a:srgbClr val="CC00CC"/>
                </a:solidFill>
                <a:latin typeface="+mj-lt"/>
                <a:cs typeface="Times New Roman" pitchFamily="18" charset="0"/>
              </a:rPr>
              <a:t>F</a:t>
            </a:r>
            <a:r>
              <a:rPr lang="zh-CN" altLang="en-US" sz="2800" b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集</a:t>
            </a:r>
            <a:r>
              <a:rPr lang="en-US" altLang="zh-CN" sz="2800" b="1" i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800" b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 上的优越集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，其隶属度为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                而称 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 sz="28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800" b="1" i="1" dirty="0" err="1">
                <a:solidFill>
                  <a:srgbClr val="3333FF"/>
                </a:solidFill>
                <a:latin typeface="Times New Roman" pitchFamily="18" charset="0"/>
              </a:rPr>
              <a:t>A</a:t>
            </a:r>
            <a:r>
              <a:rPr lang="en-US" altLang="zh-CN" sz="2800" b="1" i="1" baseline="-25000" dirty="0" err="1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f</a:t>
            </a:r>
            <a:r>
              <a:rPr lang="en-US" altLang="zh-CN" sz="28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为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2800" b="1" dirty="0">
                <a:latin typeface="+mj-lt"/>
                <a:cs typeface="Times New Roman" pitchFamily="18" charset="0"/>
              </a:rPr>
              <a:t>F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集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 上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条件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800" b="1" dirty="0">
                <a:latin typeface="+mj-lt"/>
                <a:cs typeface="Times New Roman" pitchFamily="18" charset="0"/>
              </a:rPr>
              <a:t>F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极大值。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根据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扩张原理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 sz="28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800" b="1" i="1" dirty="0" err="1">
                <a:solidFill>
                  <a:srgbClr val="3333FF"/>
                </a:solidFill>
                <a:latin typeface="Times New Roman" pitchFamily="18" charset="0"/>
              </a:rPr>
              <a:t>A</a:t>
            </a:r>
            <a:r>
              <a:rPr lang="en-US" altLang="zh-CN" sz="2800" b="1" i="1" baseline="-25000" dirty="0" err="1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f</a:t>
            </a:r>
            <a:r>
              <a:rPr lang="en-US" altLang="zh-CN" sz="28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的隶属函数为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dirty="0"/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4452938" y="1928813"/>
          <a:ext cx="194786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5511" imgH="292671" progId="Equation.DSMT4">
                  <p:embed/>
                </p:oleObj>
              </mc:Choice>
              <mc:Fallback>
                <p:oleObj name="Equation" r:id="rId2" imgW="915511" imgH="292671" progId="Equation.DSMT4">
                  <p:embed/>
                  <p:pic>
                    <p:nvPicPr>
                      <p:cNvPr id="19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2938" y="1928813"/>
                        <a:ext cx="1947862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2890839" y="3071813"/>
          <a:ext cx="6338887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05040" imgH="457200" progId="Equation.DSMT4">
                  <p:embed/>
                </p:oleObj>
              </mc:Choice>
              <mc:Fallback>
                <p:oleObj name="Equation" r:id="rId4" imgW="2705040" imgH="457200" progId="Equation.DSMT4">
                  <p:embed/>
                  <p:pic>
                    <p:nvPicPr>
                      <p:cNvPr id="194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9" y="3071813"/>
                        <a:ext cx="6338887" cy="107156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2952750" y="5083175"/>
          <a:ext cx="5761038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25680" imgH="609480" progId="Equation.DSMT4">
                  <p:embed/>
                </p:oleObj>
              </mc:Choice>
              <mc:Fallback>
                <p:oleObj name="Equation" r:id="rId6" imgW="2425680" imgH="609480" progId="Equation.DSMT4">
                  <p:embed/>
                  <p:pic>
                    <p:nvPicPr>
                      <p:cNvPr id="194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5083175"/>
                        <a:ext cx="5761038" cy="144780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F0ED79C-BE81-6792-C8E5-5FBACB71F9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 idx="4294967295"/>
          </p:nvPr>
        </p:nvSpPr>
        <p:spPr>
          <a:xfrm>
            <a:off x="1952625" y="200025"/>
            <a:ext cx="8229600" cy="1371600"/>
          </a:xfrm>
        </p:spPr>
        <p:txBody>
          <a:bodyPr/>
          <a:lstStyle/>
          <a:p>
            <a:pPr algn="ctr"/>
            <a:r>
              <a:rPr lang="en-US" altLang="zh-CN">
                <a:solidFill>
                  <a:srgbClr val="008000"/>
                </a:solidFill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约束下的条件极值</a:t>
            </a:r>
            <a:endParaRPr lang="zh-CN" altLang="en-US"/>
          </a:p>
        </p:txBody>
      </p:sp>
      <p:sp>
        <p:nvSpPr>
          <p:cNvPr id="20483" name="内容占位符 2"/>
          <p:cNvSpPr>
            <a:spLocks noGrp="1"/>
          </p:cNvSpPr>
          <p:nvPr>
            <p:ph idx="4294967295"/>
          </p:nvPr>
        </p:nvSpPr>
        <p:spPr>
          <a:xfrm>
            <a:off x="983432" y="1490664"/>
            <a:ext cx="10153128" cy="5167311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en-US" sz="2800" dirty="0"/>
              <a:t>设</a:t>
            </a:r>
            <a:r>
              <a:rPr lang="en-US" altLang="zh-CN" sz="2800" dirty="0"/>
              <a:t>F</a:t>
            </a:r>
            <a:r>
              <a:rPr lang="zh-CN" altLang="en-US" sz="2800" dirty="0"/>
              <a:t>集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800" dirty="0"/>
              <a:t>、</a:t>
            </a:r>
            <a:r>
              <a:rPr lang="en-US" altLang="zh-CN" sz="2800" b="1" i="1" dirty="0" err="1">
                <a:latin typeface="Times New Roman" pitchFamily="18" charset="0"/>
              </a:rPr>
              <a:t>A</a:t>
            </a:r>
            <a:r>
              <a:rPr lang="en-US" altLang="zh-CN" sz="2800" b="1" i="1" baseline="-25000" dirty="0" err="1">
                <a:latin typeface="Times New Roman" pitchFamily="18" charset="0"/>
                <a:sym typeface="Symbol" pitchFamily="18" charset="2"/>
              </a:rPr>
              <a:t>f</a:t>
            </a:r>
            <a:r>
              <a:rPr lang="zh-CN" altLang="en-US" sz="2800" b="1" i="1" baseline="-250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的含义为 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dirty="0"/>
              <a:t>                     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b="1" i="1" baseline="-25000" dirty="0" err="1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f</a:t>
            </a:r>
            <a:r>
              <a:rPr lang="zh-CN" altLang="en-US" b="1" i="1" baseline="-250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 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zh-CN" altLang="en-US" b="1" i="1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sym typeface="Symbol" panose="05050102010706020507" pitchFamily="18" charset="2"/>
              </a:rPr>
              <a:t> </a:t>
            </a:r>
            <a:r>
              <a:rPr lang="en-US" altLang="zh-CN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endParaRPr lang="en-US" altLang="zh-CN" sz="28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说明：</a:t>
            </a:r>
            <a:endParaRPr lang="en-US" altLang="zh-CN" dirty="0">
              <a:solidFill>
                <a:srgbClr val="CC00CC"/>
              </a:solidFill>
              <a:latin typeface="黑体" pitchFamily="49" charset="-122"/>
              <a:ea typeface="黑体" pitchFamily="49" charset="-122"/>
            </a:endParaRPr>
          </a:p>
          <a:p>
            <a:pPr lvl="1"/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求</a:t>
            </a:r>
            <a:r>
              <a:rPr lang="en-US" altLang="zh-CN" b="1" dirty="0">
                <a:solidFill>
                  <a:srgbClr val="3333FF"/>
                </a:solidFill>
                <a:ea typeface="华文楷体" pitchFamily="2" charset="-122"/>
              </a:rPr>
              <a:t>F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优越集可以转化为求优越支集</a:t>
            </a:r>
            <a:r>
              <a:rPr lang="en-US" altLang="zh-CN" b="1" dirty="0">
                <a:solidFill>
                  <a:srgbClr val="3333FF"/>
                </a:solidFill>
                <a:ea typeface="华文楷体" pitchFamily="2" charset="-122"/>
              </a:rPr>
              <a:t>(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普通集</a:t>
            </a:r>
            <a:r>
              <a:rPr lang="en-US" altLang="zh-CN" b="1" dirty="0">
                <a:solidFill>
                  <a:srgbClr val="3333FF"/>
                </a:solidFill>
                <a:ea typeface="华文楷体" pitchFamily="2" charset="-122"/>
              </a:rPr>
              <a:t>)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，这样</a:t>
            </a:r>
            <a:r>
              <a:rPr lang="en-US" altLang="zh-CN" b="1" dirty="0">
                <a:solidFill>
                  <a:srgbClr val="3333FF"/>
                </a:solidFill>
                <a:ea typeface="华文楷体" pitchFamily="2" charset="-122"/>
              </a:rPr>
              <a:t>F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规划问题变得简单多了。</a:t>
            </a:r>
            <a:endParaRPr lang="en-US" altLang="zh-CN" b="1" dirty="0">
              <a:solidFill>
                <a:srgbClr val="3333FF"/>
              </a:solidFill>
              <a:ea typeface="华文楷体" pitchFamily="2" charset="-122"/>
            </a:endParaRPr>
          </a:p>
          <a:p>
            <a:pPr lvl="1"/>
            <a:endParaRPr lang="en-US" altLang="zh-CN" b="1" dirty="0">
              <a:solidFill>
                <a:srgbClr val="3333FF"/>
              </a:solidFill>
              <a:ea typeface="华文楷体" pitchFamily="2" charset="-122"/>
            </a:endParaRPr>
          </a:p>
          <a:p>
            <a:pPr lvl="1"/>
            <a:endParaRPr lang="en-US" altLang="zh-CN" sz="2000" b="1" dirty="0">
              <a:solidFill>
                <a:srgbClr val="3333FF"/>
              </a:solidFill>
              <a:ea typeface="华文楷体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b="1" i="1" dirty="0"/>
              <a:t>M</a:t>
            </a:r>
            <a:r>
              <a:rPr lang="zh-CN" altLang="en-US" b="1" dirty="0"/>
              <a:t>可扩充到</a:t>
            </a:r>
            <a:r>
              <a:rPr lang="en-US" altLang="zh-CN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b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b="1" dirty="0"/>
              <a:t>：                         (</a:t>
            </a:r>
            <a:r>
              <a:rPr lang="en-US" altLang="zh-CN" b="1" i="1" dirty="0">
                <a:latin typeface="Times New Roman" pitchFamily="18" charset="0"/>
              </a:rPr>
              <a:t>M</a:t>
            </a:r>
            <a:r>
              <a:rPr lang="en-US" altLang="zh-CN" b="1" i="1" baseline="-25000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zh-CN" altLang="en-US" b="1" i="1" baseline="-25000" dirty="0">
                <a:latin typeface="Times New Roman" pitchFamily="18" charset="0"/>
                <a:sym typeface="Symbol" pitchFamily="18" charset="2"/>
              </a:rPr>
              <a:t>  ,</a:t>
            </a:r>
            <a:r>
              <a:rPr lang="en-US" altLang="zh-CN" b="1" i="1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en-US" altLang="zh-CN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/>
              <a:t>=0)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则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zh-CN" altLang="en-US" b="1" dirty="0">
                <a:solidFill>
                  <a:srgbClr val="FF0000"/>
                </a:solidFill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</a:rPr>
              <a:t>1]</a:t>
            </a:r>
            <a:r>
              <a:rPr lang="zh-CN" altLang="en-US" b="1" dirty="0"/>
              <a:t>变为：</a:t>
            </a:r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923006"/>
              </p:ext>
            </p:extLst>
          </p:nvPr>
        </p:nvGraphicFramePr>
        <p:xfrm>
          <a:off x="4583832" y="5228513"/>
          <a:ext cx="192881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1586" imgH="254427" progId="Equation.DSMT4">
                  <p:embed/>
                </p:oleObj>
              </mc:Choice>
              <mc:Fallback>
                <p:oleObj name="Equation" r:id="rId2" imgW="851586" imgH="25442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832" y="5228513"/>
                        <a:ext cx="1928813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920819"/>
              </p:ext>
            </p:extLst>
          </p:nvPr>
        </p:nvGraphicFramePr>
        <p:xfrm>
          <a:off x="4517132" y="5942806"/>
          <a:ext cx="18669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266400" progId="Equation.DSMT4">
                  <p:embed/>
                </p:oleObj>
              </mc:Choice>
              <mc:Fallback>
                <p:oleObj name="Equation" r:id="rId4" imgW="774360" imgH="26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7132" y="5942806"/>
                        <a:ext cx="186690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6" name="Group 6"/>
          <p:cNvGrpSpPr>
            <a:grpSpLocks/>
          </p:cNvGrpSpPr>
          <p:nvPr/>
        </p:nvGrpSpPr>
        <p:grpSpPr bwMode="auto">
          <a:xfrm>
            <a:off x="7145908" y="1231703"/>
            <a:ext cx="4638885" cy="1687545"/>
            <a:chOff x="0" y="0"/>
            <a:chExt cx="4949" cy="2550"/>
          </a:xfrm>
        </p:grpSpPr>
        <p:sp>
          <p:nvSpPr>
            <p:cNvPr id="20487" name="Text Box 7"/>
            <p:cNvSpPr txBox="1">
              <a:spLocks noChangeArrowheads="1"/>
            </p:cNvSpPr>
            <p:nvPr/>
          </p:nvSpPr>
          <p:spPr bwMode="auto">
            <a:xfrm>
              <a:off x="0" y="0"/>
              <a:ext cx="4949" cy="255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170" tIns="46990" rIns="90170" bIns="4699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en-US" altLang="zh-CN" sz="1600" b="1" i="1" dirty="0"/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dirty="0">
                  <a:sym typeface="Symbol" pitchFamily="18" charset="2"/>
                </a:rPr>
                <a:t></a:t>
              </a:r>
              <a:r>
                <a:rPr lang="en-US" altLang="zh-CN" sz="2400" b="1" dirty="0">
                  <a:latin typeface="Monotype Corsiva" pitchFamily="66" charset="0"/>
                  <a:sym typeface="Symbol" pitchFamily="18" charset="2"/>
                </a:rPr>
                <a:t>F</a:t>
              </a:r>
              <a:r>
                <a:rPr lang="en-US" altLang="zh-CN" sz="2400" b="1" dirty="0">
                  <a:sym typeface="Symbol" pitchFamily="18" charset="2"/>
                </a:rPr>
                <a:t>(</a:t>
              </a:r>
              <a:r>
                <a:rPr lang="en-US" altLang="zh-CN" sz="2400" b="1" i="1" dirty="0">
                  <a:sym typeface="Symbol" pitchFamily="18" charset="2"/>
                </a:rPr>
                <a:t>X</a:t>
              </a:r>
              <a:r>
                <a:rPr lang="en-US" altLang="zh-CN" sz="2400" b="1" dirty="0">
                  <a:sym typeface="Symbol" pitchFamily="18" charset="2"/>
                </a:rPr>
                <a:t>)</a:t>
              </a:r>
            </a:p>
            <a:p>
              <a:endParaRPr lang="en-US" altLang="zh-CN" sz="1200" b="1" dirty="0">
                <a:sym typeface="Symbol" pitchFamily="18" charset="2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en-US" altLang="zh-CN" sz="1600" b="1" dirty="0">
                  <a:sym typeface="Symbol" pitchFamily="18" charset="2"/>
                </a:rPr>
                <a:t> 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endParaRPr lang="en-US" altLang="zh-CN" sz="500" b="1" dirty="0">
                <a:sym typeface="Symbol" pitchFamily="18" charset="2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sz="3600" b="1" i="1" dirty="0"/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en-US" sz="2400" b="1" dirty="0"/>
                <a:t>为</a:t>
              </a:r>
              <a:r>
                <a:rPr lang="en-US" altLang="zh-CN" sz="2400" b="1" dirty="0"/>
                <a:t> </a:t>
              </a:r>
              <a:r>
                <a:rPr lang="en-US" altLang="zh-CN" sz="2400" b="1" i="1" dirty="0">
                  <a:latin typeface="Times New Roman" pitchFamily="18" charset="0"/>
                </a:rPr>
                <a:t>f</a:t>
              </a:r>
              <a:r>
                <a:rPr lang="en-US" altLang="zh-CN" sz="2400" b="1" i="1" dirty="0"/>
                <a:t> </a:t>
              </a:r>
              <a:r>
                <a:rPr lang="zh-CN" altLang="en-US" sz="2400" b="1" dirty="0"/>
                <a:t>在</a:t>
              </a:r>
              <a:r>
                <a:rPr lang="en-US" altLang="zh-CN" sz="2400" b="1" dirty="0"/>
                <a:t>F</a:t>
              </a:r>
              <a:r>
                <a:rPr lang="zh-CN" altLang="en-US" sz="2400" b="1" dirty="0"/>
                <a:t>集</a:t>
              </a:r>
              <a:r>
                <a:rPr lang="en-US" altLang="zh-CN" sz="2400" b="1" i="1" dirty="0"/>
                <a:t>A</a:t>
              </a:r>
              <a:r>
                <a:rPr lang="zh-CN" altLang="en-US" sz="2400" b="1" dirty="0"/>
                <a:t> 上的优越支集</a:t>
              </a:r>
              <a:endParaRPr lang="zh-CN" altLang="en-US" dirty="0"/>
            </a:p>
          </p:txBody>
        </p:sp>
        <p:graphicFrame>
          <p:nvGraphicFramePr>
            <p:cNvPr id="2048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1050596"/>
                </p:ext>
              </p:extLst>
            </p:nvPr>
          </p:nvGraphicFramePr>
          <p:xfrm>
            <a:off x="384" y="762"/>
            <a:ext cx="2171" cy="9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945917" imgH="7010717" progId="Equation.DSMT4">
                    <p:embed/>
                  </p:oleObj>
                </mc:Choice>
                <mc:Fallback>
                  <p:oleObj name="Equation" r:id="rId6" imgW="21945917" imgH="7010717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762"/>
                          <a:ext cx="2171" cy="9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244F0BC-1CD2-F70E-A7D3-5200362E68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6</a:t>
            </a:fld>
            <a:endParaRPr lang="en-US" altLang="zh-CN"/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3A666AFC-72BF-65E4-70A4-6AAA6FA878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002837"/>
              </p:ext>
            </p:extLst>
          </p:nvPr>
        </p:nvGraphicFramePr>
        <p:xfrm>
          <a:off x="4336402" y="3913849"/>
          <a:ext cx="6338887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05040" imgH="457200" progId="Equation.DSMT4">
                  <p:embed/>
                </p:oleObj>
              </mc:Choice>
              <mc:Fallback>
                <p:oleObj name="Equation" r:id="rId8" imgW="2705040" imgH="457200" progId="Equation.DSMT4">
                  <p:embed/>
                  <p:pic>
                    <p:nvPicPr>
                      <p:cNvPr id="194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6402" y="3913849"/>
                        <a:ext cx="6338887" cy="107156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371600"/>
          </a:xfrm>
        </p:spPr>
        <p:txBody>
          <a:bodyPr/>
          <a:lstStyle/>
          <a:p>
            <a:pPr algn="ctr"/>
            <a:r>
              <a:rPr lang="az-Cyrl-AZ" altLang="en-US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形函数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11424" y="1373796"/>
            <a:ext cx="10585176" cy="525658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 dirty="0"/>
              <a:t>设论域为</a:t>
            </a:r>
            <a:r>
              <a:rPr lang="en-US" altLang="zh-CN" sz="2800" b="1" dirty="0"/>
              <a:t>[</a:t>
            </a:r>
            <a:r>
              <a:rPr lang="en-US" altLang="zh-CN" sz="2800" b="1" i="1" dirty="0">
                <a:sym typeface="Symbol" panose="05050102010706020507" pitchFamily="18" charset="2"/>
              </a:rPr>
              <a:t></a:t>
            </a:r>
            <a:r>
              <a:rPr lang="en-US" altLang="zh-CN" sz="2800" b="1" dirty="0"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ym typeface="Symbol" panose="05050102010706020507" pitchFamily="18" charset="2"/>
              </a:rPr>
              <a:t> </a:t>
            </a:r>
            <a:r>
              <a:rPr lang="en-US" altLang="zh-CN" sz="2800" b="1" dirty="0"/>
              <a:t>]</a:t>
            </a:r>
            <a:r>
              <a:rPr lang="zh-CN" altLang="en-US" sz="2800" b="1" dirty="0"/>
              <a:t>，考虑定义在</a:t>
            </a:r>
            <a:r>
              <a:rPr lang="en-US" altLang="zh-CN" sz="2800" b="1" dirty="0"/>
              <a:t>[</a:t>
            </a:r>
            <a:r>
              <a:rPr lang="en-US" altLang="zh-CN" sz="2800" b="1" i="1" dirty="0">
                <a:sym typeface="Symbol" panose="05050102010706020507" pitchFamily="18" charset="2"/>
              </a:rPr>
              <a:t></a:t>
            </a:r>
            <a:r>
              <a:rPr lang="en-US" altLang="zh-CN" sz="2800" b="1" dirty="0"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ym typeface="Symbol" panose="05050102010706020507" pitchFamily="18" charset="2"/>
              </a:rPr>
              <a:t> </a:t>
            </a:r>
            <a:r>
              <a:rPr lang="en-US" altLang="zh-CN" sz="2800" b="1" dirty="0"/>
              <a:t>]</a:t>
            </a:r>
            <a:r>
              <a:rPr lang="zh-CN" altLang="en-US" sz="2800" b="1" dirty="0"/>
              <a:t>上的函数</a:t>
            </a:r>
            <a:r>
              <a:rPr lang="en-US" altLang="zh-CN" sz="2800" b="1" dirty="0">
                <a:latin typeface="Monotype Corsiva" panose="03010101010201010101" pitchFamily="66" charset="0"/>
              </a:rPr>
              <a:t>f 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及</a:t>
            </a:r>
            <a:r>
              <a:rPr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 </a:t>
            </a:r>
            <a:r>
              <a:rPr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 </a:t>
            </a:r>
            <a:r>
              <a:rPr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  </a:t>
            </a:r>
            <a:r>
              <a:rPr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 </a:t>
            </a:r>
          </a:p>
          <a:p>
            <a:pPr lvl="1">
              <a:lnSpc>
                <a:spcPct val="120000"/>
              </a:lnSpc>
            </a:pPr>
            <a:r>
              <a:rPr lang="en-US" altLang="zh-CN" sz="2400" b="1" dirty="0">
                <a:solidFill>
                  <a:srgbClr val="008000"/>
                </a:solidFill>
                <a:latin typeface="Monotype Corsiva" panose="03010101010201010101" pitchFamily="66" charset="0"/>
              </a:rPr>
              <a:t>f </a:t>
            </a:r>
            <a:r>
              <a:rPr lang="en-US" altLang="zh-CN" sz="2400" b="1" dirty="0">
                <a:solidFill>
                  <a:srgbClr val="008000"/>
                </a:solidFill>
              </a:rPr>
              <a:t>(</a:t>
            </a:r>
            <a:r>
              <a:rPr lang="en-US" altLang="zh-CN" sz="2400" b="1" i="1" dirty="0">
                <a:solidFill>
                  <a:srgbClr val="008000"/>
                </a:solidFill>
              </a:rPr>
              <a:t>x</a:t>
            </a:r>
            <a:r>
              <a:rPr lang="en-US" altLang="zh-CN" sz="2400" b="1" dirty="0">
                <a:solidFill>
                  <a:srgbClr val="008000"/>
                </a:solidFill>
              </a:rPr>
              <a:t>)</a:t>
            </a:r>
            <a:r>
              <a:rPr lang="zh-CN" altLang="en-US" sz="2400" b="1" dirty="0">
                <a:solidFill>
                  <a:srgbClr val="008000"/>
                </a:solidFill>
                <a:sym typeface="Symbol" panose="05050102010706020507" pitchFamily="18" charset="2"/>
              </a:rPr>
              <a:t>在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rgbClr val="008000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solidFill>
                  <a:srgbClr val="008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olidFill>
                  <a:srgbClr val="008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]</a:t>
            </a:r>
            <a:r>
              <a:rPr lang="zh-CN" altLang="en-US" sz="2400" b="1" dirty="0">
                <a:solidFill>
                  <a:srgbClr val="008000"/>
                </a:solidFill>
                <a:sym typeface="Symbol" panose="05050102010706020507" pitchFamily="18" charset="2"/>
              </a:rPr>
              <a:t>上单调增</a:t>
            </a:r>
            <a:endParaRPr lang="en-US" altLang="zh-CN" sz="2400" b="1" dirty="0">
              <a:solidFill>
                <a:srgbClr val="008000"/>
              </a:solidFill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b="1" dirty="0">
                <a:solidFill>
                  <a:srgbClr val="008000"/>
                </a:solidFill>
                <a:latin typeface="Monotype Corsiva" panose="03010101010201010101" pitchFamily="66" charset="0"/>
              </a:rPr>
              <a:t>f </a:t>
            </a:r>
            <a:r>
              <a:rPr lang="en-US" altLang="zh-CN" sz="2400" b="1" dirty="0">
                <a:solidFill>
                  <a:srgbClr val="008000"/>
                </a:solidFill>
              </a:rPr>
              <a:t>(</a:t>
            </a:r>
            <a:r>
              <a:rPr lang="en-US" altLang="zh-CN" sz="2400" b="1" i="1" dirty="0">
                <a:solidFill>
                  <a:srgbClr val="008000"/>
                </a:solidFill>
              </a:rPr>
              <a:t>x</a:t>
            </a:r>
            <a:r>
              <a:rPr lang="en-US" altLang="zh-CN" sz="2400" b="1" dirty="0">
                <a:solidFill>
                  <a:srgbClr val="008000"/>
                </a:solidFill>
              </a:rPr>
              <a:t>)</a:t>
            </a:r>
            <a:r>
              <a:rPr lang="zh-CN" altLang="en-US" sz="2400" b="1" dirty="0">
                <a:solidFill>
                  <a:srgbClr val="008000"/>
                </a:solidFill>
                <a:sym typeface="Symbol" panose="05050102010706020507" pitchFamily="18" charset="2"/>
              </a:rPr>
              <a:t>在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rgbClr val="008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olidFill>
                  <a:srgbClr val="008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solidFill>
                  <a:srgbClr val="008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olidFill>
                  <a:srgbClr val="008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]</a:t>
            </a:r>
            <a:r>
              <a:rPr lang="zh-CN" altLang="en-US" sz="2400" b="1" dirty="0">
                <a:solidFill>
                  <a:srgbClr val="008000"/>
                </a:solidFill>
                <a:sym typeface="Symbol" panose="05050102010706020507" pitchFamily="18" charset="2"/>
              </a:rPr>
              <a:t>上取常数</a:t>
            </a:r>
            <a:endParaRPr lang="zh-CN" altLang="en-US" sz="2400" b="1" dirty="0">
              <a:solidFill>
                <a:srgbClr val="008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b="1" dirty="0">
                <a:solidFill>
                  <a:srgbClr val="008000"/>
                </a:solidFill>
                <a:latin typeface="Monotype Corsiva" panose="03010101010201010101" pitchFamily="66" charset="0"/>
              </a:rPr>
              <a:t>f </a:t>
            </a:r>
            <a:r>
              <a:rPr lang="en-US" altLang="zh-CN" sz="2400" b="1" dirty="0">
                <a:solidFill>
                  <a:srgbClr val="008000"/>
                </a:solidFill>
              </a:rPr>
              <a:t>(</a:t>
            </a:r>
            <a:r>
              <a:rPr lang="en-US" altLang="zh-CN" sz="2400" b="1" i="1" dirty="0">
                <a:solidFill>
                  <a:srgbClr val="008000"/>
                </a:solidFill>
              </a:rPr>
              <a:t>x</a:t>
            </a:r>
            <a:r>
              <a:rPr lang="en-US" altLang="zh-CN" sz="2400" b="1" dirty="0">
                <a:solidFill>
                  <a:srgbClr val="008000"/>
                </a:solidFill>
              </a:rPr>
              <a:t>)</a:t>
            </a:r>
            <a:r>
              <a:rPr lang="zh-CN" altLang="en-US" sz="2400" b="1" dirty="0">
                <a:solidFill>
                  <a:srgbClr val="008000"/>
                </a:solidFill>
                <a:sym typeface="Symbol" panose="05050102010706020507" pitchFamily="18" charset="2"/>
              </a:rPr>
              <a:t>在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rgbClr val="008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olidFill>
                  <a:srgbClr val="008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solidFill>
                  <a:srgbClr val="008000"/>
                </a:solidFill>
                <a:sym typeface="Symbol" panose="05050102010706020507" pitchFamily="18" charset="2"/>
              </a:rPr>
              <a:t>  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]</a:t>
            </a:r>
            <a:r>
              <a:rPr lang="zh-CN" altLang="en-US" sz="2400" b="1" dirty="0">
                <a:solidFill>
                  <a:srgbClr val="008000"/>
                </a:solidFill>
                <a:sym typeface="Symbol" panose="05050102010706020507" pitchFamily="18" charset="2"/>
              </a:rPr>
              <a:t>上单调减</a:t>
            </a:r>
            <a:endParaRPr lang="en-US" altLang="zh-CN" sz="2400" b="1" dirty="0">
              <a:solidFill>
                <a:srgbClr val="008000"/>
              </a:solidFill>
              <a:sym typeface="Symbol" panose="05050102010706020507" pitchFamily="18" charset="2"/>
            </a:endParaRP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   ——</a:t>
            </a:r>
            <a:r>
              <a:rPr lang="az-Cyrl-AZ" alt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zh-CN" altLang="en-US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形函数</a:t>
            </a:r>
            <a:endParaRPr lang="en-US" altLang="zh-CN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marL="514350" indent="-457200">
              <a:lnSpc>
                <a:spcPct val="120000"/>
              </a:lnSpc>
            </a:pPr>
            <a:r>
              <a:rPr lang="zh-CN" altLang="en-US" sz="28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注意：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CC00CC"/>
                </a:solidFill>
                <a:sym typeface="Symbol" panose="05050102010706020507" pitchFamily="18" charset="2"/>
              </a:rPr>
              <a:t>[</a:t>
            </a:r>
            <a:r>
              <a:rPr lang="en-US" altLang="zh-CN" sz="2800" b="1" i="1" dirty="0">
                <a:solidFill>
                  <a:srgbClr val="CC00CC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b="1" baseline="-25000" dirty="0">
                <a:solidFill>
                  <a:srgbClr val="CC00CC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olidFill>
                  <a:srgbClr val="CC00CC"/>
                </a:solidFill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olidFill>
                  <a:srgbClr val="CC00CC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b="1" baseline="-25000" dirty="0">
                <a:solidFill>
                  <a:srgbClr val="CC00CC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rgbClr val="CC00CC"/>
                </a:solidFill>
                <a:sym typeface="Symbol" panose="05050102010706020507" pitchFamily="18" charset="2"/>
              </a:rPr>
              <a:t>]</a:t>
            </a:r>
            <a:r>
              <a:rPr lang="zh-CN" altLang="en-US" sz="2800" b="1" dirty="0">
                <a:solidFill>
                  <a:srgbClr val="CC00CC"/>
                </a:solidFill>
                <a:sym typeface="Symbol" panose="05050102010706020507" pitchFamily="18" charset="2"/>
              </a:rPr>
              <a:t>叫峰域</a:t>
            </a:r>
            <a:endParaRPr lang="en-US" altLang="zh-CN" sz="2800" b="1" dirty="0">
              <a:solidFill>
                <a:srgbClr val="CC00CC"/>
              </a:solidFill>
              <a:sym typeface="Symbol" panose="05050102010706020507" pitchFamily="18" charset="2"/>
            </a:endParaRPr>
          </a:p>
          <a:p>
            <a:pPr marL="914400" lvl="1" indent="-457200">
              <a:lnSpc>
                <a:spcPct val="120000"/>
              </a:lnSpc>
            </a:pPr>
            <a:r>
              <a:rPr lang="zh-CN" altLang="en-US" sz="2400" dirty="0"/>
              <a:t>当</a:t>
            </a:r>
            <a:r>
              <a:rPr lang="en-US" altLang="zh-CN" sz="2400" b="1" i="1" dirty="0"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sym typeface="Symbol" panose="05050102010706020507" pitchFamily="18" charset="2"/>
              </a:rPr>
              <a:t>时，峰域只含一点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solidFill>
                  <a:srgbClr val="3333FF"/>
                </a:solidFill>
              </a:rPr>
              <a:t>  当</a:t>
            </a:r>
            <a:r>
              <a:rPr lang="en-US" altLang="zh-CN" sz="2400" b="1" i="1" dirty="0">
                <a:solidFill>
                  <a:srgbClr val="3333FF"/>
                </a:solidFill>
                <a:sym typeface="Symbol" panose="05050102010706020507" pitchFamily="18" charset="2"/>
              </a:rPr>
              <a:t> </a:t>
            </a:r>
            <a:r>
              <a:rPr lang="en-US" altLang="zh-CN" sz="2400" b="1" dirty="0">
                <a:solidFill>
                  <a:srgbClr val="3333FF"/>
                </a:solidFill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solidFill>
                  <a:srgbClr val="3333FF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olidFill>
                  <a:srgbClr val="3333FF"/>
                </a:solidFill>
                <a:sym typeface="Symbol" panose="05050102010706020507" pitchFamily="18" charset="2"/>
              </a:rPr>
              <a:t>1</a:t>
            </a:r>
            <a:r>
              <a:rPr lang="zh-CN" altLang="en-US" sz="2400" b="1" dirty="0">
                <a:solidFill>
                  <a:srgbClr val="3333FF"/>
                </a:solidFill>
                <a:sym typeface="Symbol" panose="05050102010706020507" pitchFamily="18" charset="2"/>
              </a:rPr>
              <a:t>时，</a:t>
            </a:r>
            <a:r>
              <a:rPr lang="en-US" altLang="zh-CN" sz="2400" b="1" dirty="0">
                <a:solidFill>
                  <a:srgbClr val="3333FF"/>
                </a:solidFill>
                <a:latin typeface="Monotype Corsiva" panose="03010101010201010101" pitchFamily="66" charset="0"/>
              </a:rPr>
              <a:t>f </a:t>
            </a:r>
            <a:r>
              <a:rPr lang="en-US" altLang="zh-CN" sz="2400" b="1" dirty="0">
                <a:solidFill>
                  <a:srgbClr val="3333FF"/>
                </a:solidFill>
              </a:rPr>
              <a:t>(</a:t>
            </a:r>
            <a:r>
              <a:rPr lang="en-US" altLang="zh-CN" sz="2400" b="1" i="1" dirty="0">
                <a:solidFill>
                  <a:srgbClr val="3333FF"/>
                </a:solidFill>
              </a:rPr>
              <a:t>x</a:t>
            </a:r>
            <a:r>
              <a:rPr lang="en-US" altLang="zh-CN" sz="2400" b="1" dirty="0">
                <a:solidFill>
                  <a:srgbClr val="3333FF"/>
                </a:solidFill>
              </a:rPr>
              <a:t>)</a:t>
            </a:r>
            <a:r>
              <a:rPr lang="zh-CN" altLang="en-US" sz="2400" b="1" dirty="0">
                <a:solidFill>
                  <a:srgbClr val="3333FF"/>
                </a:solidFill>
                <a:sym typeface="Symbol" panose="05050102010706020507" pitchFamily="18" charset="2"/>
              </a:rPr>
              <a:t>单调减</a:t>
            </a:r>
            <a:endParaRPr lang="en-US" altLang="zh-CN" sz="2400" b="1" dirty="0">
              <a:solidFill>
                <a:srgbClr val="3333FF"/>
              </a:solidFill>
              <a:sym typeface="Symbol" panose="05050102010706020507" pitchFamily="18" charset="2"/>
            </a:endParaRPr>
          </a:p>
          <a:p>
            <a:pPr marL="914400" lvl="1" indent="-457200">
              <a:lnSpc>
                <a:spcPct val="120000"/>
              </a:lnSpc>
            </a:pPr>
            <a:r>
              <a:rPr lang="zh-CN" altLang="en-US" sz="2400" dirty="0">
                <a:solidFill>
                  <a:srgbClr val="006600"/>
                </a:solidFill>
              </a:rPr>
              <a:t>当</a:t>
            </a:r>
            <a:r>
              <a:rPr lang="en-US" altLang="zh-CN" sz="2400" b="1" i="1" dirty="0">
                <a:solidFill>
                  <a:srgbClr val="0066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olidFill>
                  <a:srgbClr val="0066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006600"/>
                </a:solidFill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solidFill>
                  <a:srgbClr val="006600"/>
                </a:solidFill>
                <a:sym typeface="Symbol" panose="05050102010706020507" pitchFamily="18" charset="2"/>
              </a:rPr>
              <a:t> </a:t>
            </a:r>
            <a:r>
              <a:rPr lang="zh-CN" altLang="en-US" sz="2400" b="1" dirty="0">
                <a:solidFill>
                  <a:srgbClr val="006600"/>
                </a:solidFill>
                <a:sym typeface="Symbol" panose="05050102010706020507" pitchFamily="18" charset="2"/>
              </a:rPr>
              <a:t>时，</a:t>
            </a:r>
            <a:r>
              <a:rPr lang="en-US" altLang="zh-CN" sz="2400" b="1" dirty="0">
                <a:solidFill>
                  <a:srgbClr val="006600"/>
                </a:solidFill>
                <a:latin typeface="Monotype Corsiva" panose="03010101010201010101" pitchFamily="66" charset="0"/>
              </a:rPr>
              <a:t> f </a:t>
            </a:r>
            <a:r>
              <a:rPr lang="en-US" altLang="zh-CN" sz="2400" b="1" dirty="0">
                <a:solidFill>
                  <a:srgbClr val="006600"/>
                </a:solidFill>
              </a:rPr>
              <a:t>(</a:t>
            </a:r>
            <a:r>
              <a:rPr lang="en-US" altLang="zh-CN" sz="2400" b="1" i="1" dirty="0">
                <a:solidFill>
                  <a:srgbClr val="006600"/>
                </a:solidFill>
              </a:rPr>
              <a:t>x</a:t>
            </a:r>
            <a:r>
              <a:rPr lang="en-US" altLang="zh-CN" sz="2400" b="1" dirty="0">
                <a:solidFill>
                  <a:srgbClr val="006600"/>
                </a:solidFill>
              </a:rPr>
              <a:t>)</a:t>
            </a:r>
            <a:r>
              <a:rPr lang="zh-CN" altLang="en-US" sz="2400" b="1" dirty="0">
                <a:solidFill>
                  <a:srgbClr val="006600"/>
                </a:solidFill>
                <a:sym typeface="Symbol" panose="05050102010706020507" pitchFamily="18" charset="2"/>
              </a:rPr>
              <a:t>单调增</a:t>
            </a:r>
            <a:endParaRPr lang="zh-CN" altLang="en-US" sz="2400" dirty="0">
              <a:solidFill>
                <a:srgbClr val="006600"/>
              </a:solidFill>
            </a:endParaRPr>
          </a:p>
          <a:p>
            <a:pPr lvl="1"/>
            <a:endParaRPr lang="zh-CN" altLang="en-US" sz="2400" dirty="0"/>
          </a:p>
        </p:txBody>
      </p:sp>
      <p:grpSp>
        <p:nvGrpSpPr>
          <p:cNvPr id="21508" name="Group 4"/>
          <p:cNvGrpSpPr>
            <a:grpSpLocks/>
          </p:cNvGrpSpPr>
          <p:nvPr/>
        </p:nvGrpSpPr>
        <p:grpSpPr bwMode="auto">
          <a:xfrm>
            <a:off x="7032104" y="2863124"/>
            <a:ext cx="3844925" cy="2392363"/>
            <a:chOff x="0" y="0"/>
            <a:chExt cx="3844974" cy="2393787"/>
          </a:xfrm>
        </p:grpSpPr>
        <p:cxnSp>
          <p:nvCxnSpPr>
            <p:cNvPr id="21509" name="直接箭头连接符 3"/>
            <p:cNvCxnSpPr>
              <a:cxnSpLocks noChangeShapeType="1"/>
            </p:cNvCxnSpPr>
            <p:nvPr/>
          </p:nvCxnSpPr>
          <p:spPr bwMode="auto">
            <a:xfrm>
              <a:off x="0" y="2003030"/>
              <a:ext cx="3844974" cy="0"/>
            </a:xfrm>
            <a:prstGeom prst="straightConnector1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0" name="直接箭头连接符 4"/>
            <p:cNvCxnSpPr>
              <a:cxnSpLocks noChangeShapeType="1"/>
            </p:cNvCxnSpPr>
            <p:nvPr/>
          </p:nvCxnSpPr>
          <p:spPr bwMode="auto">
            <a:xfrm flipV="1">
              <a:off x="0" y="0"/>
              <a:ext cx="0" cy="2003030"/>
            </a:xfrm>
            <a:prstGeom prst="straightConnector1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1511" name="Group 7"/>
            <p:cNvGrpSpPr>
              <a:grpSpLocks/>
            </p:cNvGrpSpPr>
            <p:nvPr/>
          </p:nvGrpSpPr>
          <p:grpSpPr bwMode="auto">
            <a:xfrm>
              <a:off x="172566" y="0"/>
              <a:ext cx="3528392" cy="2393787"/>
              <a:chOff x="0" y="0"/>
              <a:chExt cx="3529785" cy="2392944"/>
            </a:xfrm>
          </p:grpSpPr>
          <p:grpSp>
            <p:nvGrpSpPr>
              <p:cNvPr id="21512" name="Group 8"/>
              <p:cNvGrpSpPr>
                <a:grpSpLocks/>
              </p:cNvGrpSpPr>
              <p:nvPr/>
            </p:nvGrpSpPr>
            <p:grpSpPr bwMode="auto">
              <a:xfrm>
                <a:off x="0" y="459341"/>
                <a:ext cx="3529785" cy="1933603"/>
                <a:chOff x="0" y="0"/>
                <a:chExt cx="3529785" cy="1933603"/>
              </a:xfrm>
            </p:grpSpPr>
            <p:grpSp>
              <p:nvGrpSpPr>
                <p:cNvPr id="21513" name="Group 9"/>
                <p:cNvGrpSpPr>
                  <a:grpSpLocks/>
                </p:cNvGrpSpPr>
                <p:nvPr/>
              </p:nvGrpSpPr>
              <p:grpSpPr bwMode="auto">
                <a:xfrm>
                  <a:off x="260925" y="0"/>
                  <a:ext cx="2952327" cy="1516816"/>
                  <a:chOff x="0" y="0"/>
                  <a:chExt cx="2952327" cy="1516816"/>
                </a:xfrm>
              </p:grpSpPr>
              <p:grpSp>
                <p:nvGrpSpPr>
                  <p:cNvPr id="21514" name="Group 10"/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2952327" cy="1472100"/>
                    <a:chOff x="0" y="0"/>
                    <a:chExt cx="2952327" cy="1472100"/>
                  </a:xfrm>
                </p:grpSpPr>
                <p:cxnSp>
                  <p:nvCxnSpPr>
                    <p:cNvPr id="21515" name="直接连接符 13"/>
                    <p:cNvCxnSpPr>
                      <a:cxnSpLocks noChangeShapeType="1"/>
                      <a:endCxn id="21517" idx="0"/>
                    </p:cNvCxnSpPr>
                    <p:nvPr/>
                  </p:nvCxnSpPr>
                  <p:spPr bwMode="auto">
                    <a:xfrm>
                      <a:off x="576502" y="1146"/>
                      <a:ext cx="719430" cy="9527"/>
                    </a:xfrm>
                    <a:prstGeom prst="line">
                      <a:avLst/>
                    </a:prstGeom>
                    <a:noFill/>
                    <a:ln w="57150" cmpd="sng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21516" name="任意多边形 14"/>
                    <p:cNvSpPr>
                      <a:spLocks/>
                    </p:cNvSpPr>
                    <p:nvPr/>
                  </p:nvSpPr>
                  <p:spPr bwMode="auto">
                    <a:xfrm>
                      <a:off x="4" y="-441"/>
                      <a:ext cx="595556" cy="1225847"/>
                    </a:xfrm>
                    <a:custGeom>
                      <a:avLst/>
                      <a:gdLst>
                        <a:gd name="T0" fmla="*/ 760020 w 760020"/>
                        <a:gd name="T1" fmla="*/ 0 h 1163782"/>
                        <a:gd name="T2" fmla="*/ 581890 w 760020"/>
                        <a:gd name="T3" fmla="*/ 629393 h 1163782"/>
                        <a:gd name="T4" fmla="*/ 0 w 760020"/>
                        <a:gd name="T5" fmla="*/ 1163782 h 11637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760020" h="1163782">
                          <a:moveTo>
                            <a:pt x="760020" y="0"/>
                          </a:moveTo>
                          <a:cubicBezTo>
                            <a:pt x="734290" y="217714"/>
                            <a:pt x="708560" y="435429"/>
                            <a:pt x="581890" y="629393"/>
                          </a:cubicBezTo>
                          <a:cubicBezTo>
                            <a:pt x="455220" y="823357"/>
                            <a:pt x="227610" y="993569"/>
                            <a:pt x="0" y="1163782"/>
                          </a:cubicBezTo>
                        </a:path>
                      </a:pathLst>
                    </a:custGeom>
                    <a:noFill/>
                    <a:ln w="57150" cap="flat" cmpd="sng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517" name="任意多边形 15"/>
                    <p:cNvSpPr>
                      <a:spLocks/>
                    </p:cNvSpPr>
                    <p:nvPr/>
                  </p:nvSpPr>
                  <p:spPr bwMode="auto">
                    <a:xfrm>
                      <a:off x="1295932" y="10674"/>
                      <a:ext cx="1656438" cy="1460854"/>
                    </a:xfrm>
                    <a:custGeom>
                      <a:avLst/>
                      <a:gdLst>
                        <a:gd name="T0" fmla="*/ 0 w 1555667"/>
                        <a:gd name="T1" fmla="*/ 0 h 1223158"/>
                        <a:gd name="T2" fmla="*/ 439387 w 1555667"/>
                        <a:gd name="T3" fmla="*/ 700644 h 1223158"/>
                        <a:gd name="T4" fmla="*/ 1555667 w 1555667"/>
                        <a:gd name="T5" fmla="*/ 1223158 h 12231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555667" h="1223158">
                          <a:moveTo>
                            <a:pt x="0" y="0"/>
                          </a:moveTo>
                          <a:cubicBezTo>
                            <a:pt x="90054" y="248392"/>
                            <a:pt x="180109" y="496784"/>
                            <a:pt x="439387" y="700644"/>
                          </a:cubicBezTo>
                          <a:cubicBezTo>
                            <a:pt x="698665" y="904504"/>
                            <a:pt x="1127166" y="1063831"/>
                            <a:pt x="1555667" y="1223158"/>
                          </a:cubicBezTo>
                        </a:path>
                      </a:pathLst>
                    </a:custGeom>
                    <a:noFill/>
                    <a:ln w="57150" cap="flat" cmpd="sng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anchor="ctr"/>
                    <a:lstStyle/>
                    <a:p>
                      <a:endParaRPr lang="zh-CN" altLang="en-US"/>
                    </a:p>
                  </p:txBody>
                </p:sp>
              </p:grpSp>
              <p:cxnSp>
                <p:nvCxnSpPr>
                  <p:cNvPr id="21518" name="直接连接符 11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586031" y="-441"/>
                    <a:ext cx="19058" cy="1514843"/>
                  </a:xfrm>
                  <a:prstGeom prst="line">
                    <a:avLst/>
                  </a:prstGeom>
                  <a:noFill/>
                  <a:ln w="28575" cmpd="sng">
                    <a:solidFill>
                      <a:srgbClr val="FF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1519" name="直接连接符 12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1276874" y="1146"/>
                    <a:ext cx="19058" cy="1514843"/>
                  </a:xfrm>
                  <a:prstGeom prst="line">
                    <a:avLst/>
                  </a:prstGeom>
                  <a:noFill/>
                  <a:ln w="28575" cmpd="sng">
                    <a:solidFill>
                      <a:srgbClr val="FF0000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pic>
              <p:nvPicPr>
                <p:cNvPr id="21520" name="TextBox 29"/>
                <p:cNvPicPr>
                  <a:picLocks noRot="1" noChangeAspect="1" noEditPoints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924" y="1473560"/>
                  <a:ext cx="3531023" cy="4573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21521" name="TextBox 32"/>
              <p:cNvSpPr txBox="1">
                <a:spLocks noChangeArrowheads="1"/>
              </p:cNvSpPr>
              <p:nvPr/>
            </p:nvSpPr>
            <p:spPr bwMode="auto">
              <a:xfrm>
                <a:off x="836990" y="0"/>
                <a:ext cx="672830" cy="4615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b="1" i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zh-CN" sz="2400" b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zh-CN" sz="2400" b="1" i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zh-CN" sz="2400" b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zh-CN" altLang="en-US" sz="2000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cxnSp>
        <p:nvCxnSpPr>
          <p:cNvPr id="21522" name="直接连接符 44"/>
          <p:cNvCxnSpPr>
            <a:cxnSpLocks noChangeShapeType="1"/>
          </p:cNvCxnSpPr>
          <p:nvPr/>
        </p:nvCxnSpPr>
        <p:spPr bwMode="auto">
          <a:xfrm flipV="1">
            <a:off x="7032103" y="3437798"/>
            <a:ext cx="576262" cy="1588"/>
          </a:xfrm>
          <a:prstGeom prst="line">
            <a:avLst/>
          </a:prstGeom>
          <a:noFill/>
          <a:ln w="57150" cmpd="sng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3" name="任意多边形 45"/>
          <p:cNvSpPr>
            <a:spLocks/>
          </p:cNvSpPr>
          <p:nvPr/>
        </p:nvSpPr>
        <p:spPr bwMode="auto">
          <a:xfrm flipH="1">
            <a:off x="7608365" y="3439387"/>
            <a:ext cx="1397000" cy="1355725"/>
          </a:xfrm>
          <a:custGeom>
            <a:avLst/>
            <a:gdLst>
              <a:gd name="T0" fmla="*/ 760020 w 760020"/>
              <a:gd name="T1" fmla="*/ 0 h 1163782"/>
              <a:gd name="T2" fmla="*/ 581890 w 760020"/>
              <a:gd name="T3" fmla="*/ 629393 h 1163782"/>
              <a:gd name="T4" fmla="*/ 0 w 760020"/>
              <a:gd name="T5" fmla="*/ 1163782 h 1163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60020" h="1163782">
                <a:moveTo>
                  <a:pt x="760020" y="0"/>
                </a:moveTo>
                <a:cubicBezTo>
                  <a:pt x="734290" y="217714"/>
                  <a:pt x="708560" y="435429"/>
                  <a:pt x="581890" y="629393"/>
                </a:cubicBezTo>
                <a:cubicBezTo>
                  <a:pt x="455220" y="823357"/>
                  <a:pt x="227610" y="993569"/>
                  <a:pt x="0" y="1163782"/>
                </a:cubicBezTo>
              </a:path>
            </a:pathLst>
          </a:custGeom>
          <a:noFill/>
          <a:ln w="57150" cap="flat" cmpd="sng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1524" name="任意多边形 46"/>
          <p:cNvSpPr>
            <a:spLocks/>
          </p:cNvSpPr>
          <p:nvPr/>
        </p:nvSpPr>
        <p:spPr bwMode="auto">
          <a:xfrm>
            <a:off x="7348015" y="3321911"/>
            <a:ext cx="3600450" cy="1409700"/>
          </a:xfrm>
          <a:custGeom>
            <a:avLst/>
            <a:gdLst>
              <a:gd name="T0" fmla="*/ 0 w 3439885"/>
              <a:gd name="T1" fmla="*/ 1292881 h 1597681"/>
              <a:gd name="T2" fmla="*/ 1153885 w 3439885"/>
              <a:gd name="T3" fmla="*/ 846567 h 1597681"/>
              <a:gd name="T4" fmla="*/ 1730828 w 3439885"/>
              <a:gd name="T5" fmla="*/ 171652 h 1597681"/>
              <a:gd name="T6" fmla="*/ 2046514 w 3439885"/>
              <a:gd name="T7" fmla="*/ 8367 h 1597681"/>
              <a:gd name="T8" fmla="*/ 2275114 w 3439885"/>
              <a:gd name="T9" fmla="*/ 356709 h 1597681"/>
              <a:gd name="T10" fmla="*/ 2569028 w 3439885"/>
              <a:gd name="T11" fmla="*/ 922767 h 1597681"/>
              <a:gd name="T12" fmla="*/ 2939142 w 3439885"/>
              <a:gd name="T13" fmla="*/ 1379967 h 1597681"/>
              <a:gd name="T14" fmla="*/ 3439885 w 3439885"/>
              <a:gd name="T15" fmla="*/ 1597681 h 1597681"/>
              <a:gd name="T16" fmla="*/ 3439885 w 3439885"/>
              <a:gd name="T17" fmla="*/ 1597681 h 1597681"/>
              <a:gd name="T18" fmla="*/ 3439885 w 3439885"/>
              <a:gd name="T19" fmla="*/ 1597681 h 1597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439885" h="1597681">
                <a:moveTo>
                  <a:pt x="0" y="1292881"/>
                </a:moveTo>
                <a:cubicBezTo>
                  <a:pt x="432707" y="1163159"/>
                  <a:pt x="865414" y="1033438"/>
                  <a:pt x="1153885" y="846567"/>
                </a:cubicBezTo>
                <a:cubicBezTo>
                  <a:pt x="1442356" y="659696"/>
                  <a:pt x="1582057" y="311352"/>
                  <a:pt x="1730828" y="171652"/>
                </a:cubicBezTo>
                <a:cubicBezTo>
                  <a:pt x="1879600" y="31952"/>
                  <a:pt x="1955800" y="-22476"/>
                  <a:pt x="2046514" y="8367"/>
                </a:cubicBezTo>
                <a:cubicBezTo>
                  <a:pt x="2137228" y="39210"/>
                  <a:pt x="2188028" y="204309"/>
                  <a:pt x="2275114" y="356709"/>
                </a:cubicBezTo>
                <a:cubicBezTo>
                  <a:pt x="2362200" y="509109"/>
                  <a:pt x="2458357" y="752224"/>
                  <a:pt x="2569028" y="922767"/>
                </a:cubicBezTo>
                <a:cubicBezTo>
                  <a:pt x="2679699" y="1093310"/>
                  <a:pt x="2793999" y="1267481"/>
                  <a:pt x="2939142" y="1379967"/>
                </a:cubicBezTo>
                <a:cubicBezTo>
                  <a:pt x="3084285" y="1492453"/>
                  <a:pt x="3439885" y="1597681"/>
                  <a:pt x="3439885" y="1597681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1525" name="任意多边形 47"/>
          <p:cNvSpPr>
            <a:spLocks/>
          </p:cNvSpPr>
          <p:nvPr/>
        </p:nvSpPr>
        <p:spPr bwMode="auto">
          <a:xfrm>
            <a:off x="9183166" y="3558448"/>
            <a:ext cx="811213" cy="1320800"/>
          </a:xfrm>
          <a:custGeom>
            <a:avLst/>
            <a:gdLst>
              <a:gd name="T0" fmla="*/ 760020 w 760020"/>
              <a:gd name="T1" fmla="*/ 0 h 1163782"/>
              <a:gd name="T2" fmla="*/ 581890 w 760020"/>
              <a:gd name="T3" fmla="*/ 629393 h 1163782"/>
              <a:gd name="T4" fmla="*/ 0 w 760020"/>
              <a:gd name="T5" fmla="*/ 1163782 h 1163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60020" h="1163782">
                <a:moveTo>
                  <a:pt x="760020" y="0"/>
                </a:moveTo>
                <a:cubicBezTo>
                  <a:pt x="734290" y="217714"/>
                  <a:pt x="708560" y="435429"/>
                  <a:pt x="581890" y="629393"/>
                </a:cubicBezTo>
                <a:cubicBezTo>
                  <a:pt x="455220" y="823357"/>
                  <a:pt x="227610" y="993569"/>
                  <a:pt x="0" y="1163782"/>
                </a:cubicBezTo>
              </a:path>
            </a:pathLst>
          </a:custGeom>
          <a:noFill/>
          <a:ln w="57150" cap="flat" cmpd="sng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cxnSp>
        <p:nvCxnSpPr>
          <p:cNvPr id="21526" name="直接连接符 48"/>
          <p:cNvCxnSpPr>
            <a:cxnSpLocks noChangeShapeType="1"/>
          </p:cNvCxnSpPr>
          <p:nvPr/>
        </p:nvCxnSpPr>
        <p:spPr bwMode="auto">
          <a:xfrm>
            <a:off x="9984853" y="3536223"/>
            <a:ext cx="603250" cy="0"/>
          </a:xfrm>
          <a:prstGeom prst="line">
            <a:avLst/>
          </a:prstGeom>
          <a:noFill/>
          <a:ln w="57150" cmpd="sng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8D82171-4A48-7FCF-BF2C-41492F2C8A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875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3" grpId="0" animBg="1"/>
      <p:bldP spid="21524" grpId="0" animBg="1"/>
      <p:bldP spid="215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 idx="4294967295"/>
          </p:nvPr>
        </p:nvSpPr>
        <p:spPr>
          <a:xfrm>
            <a:off x="1981200" y="257175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与</a:t>
            </a:r>
            <a:r>
              <a:rPr lang="az-Cyrl-AZ" altLang="en-US" dirty="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П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形函数有关的定理</a:t>
            </a:r>
            <a:endParaRPr lang="zh-CN" altLang="en-US" dirty="0">
              <a:cs typeface="Times New Roman" pitchFamily="18" charset="0"/>
            </a:endParaRPr>
          </a:p>
        </p:txBody>
      </p:sp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298" y="2991643"/>
            <a:ext cx="4970462" cy="274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2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676150"/>
              </p:ext>
            </p:extLst>
          </p:nvPr>
        </p:nvGraphicFramePr>
        <p:xfrm>
          <a:off x="5618163" y="2918176"/>
          <a:ext cx="5711825" cy="1891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61960" imgH="711000" progId="Equation.DSMT4">
                  <p:embed/>
                </p:oleObj>
              </mc:Choice>
              <mc:Fallback>
                <p:oleObj name="Equation" r:id="rId3" imgW="2361960" imgH="711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163" y="2918176"/>
                        <a:ext cx="5711825" cy="18919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6595690" y="5282044"/>
            <a:ext cx="4628190" cy="523220"/>
            <a:chOff x="4355976" y="4941168"/>
            <a:chExt cx="4628190" cy="523220"/>
          </a:xfrm>
        </p:grpSpPr>
        <p:sp>
          <p:nvSpPr>
            <p:cNvPr id="2" name="矩形 1"/>
            <p:cNvSpPr/>
            <p:nvPr/>
          </p:nvSpPr>
          <p:spPr>
            <a:xfrm>
              <a:off x="4355976" y="4941168"/>
              <a:ext cx="462819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solidFill>
                    <a:srgbClr val="CC00CC"/>
                  </a:solidFill>
                </a:rPr>
                <a:t>M</a:t>
              </a:r>
              <a:r>
                <a:rPr lang="zh-CN" altLang="en-US" sz="2800" b="1" dirty="0"/>
                <a:t>为</a:t>
              </a:r>
              <a:r>
                <a:rPr lang="en-US" altLang="zh-CN" sz="2800" b="1" dirty="0"/>
                <a:t> </a:t>
              </a:r>
              <a:r>
                <a:rPr lang="en-US" altLang="zh-CN" sz="2800" b="1" i="1" dirty="0">
                  <a:latin typeface="Times New Roman" pitchFamily="18" charset="0"/>
                </a:rPr>
                <a:t>f</a:t>
              </a:r>
              <a:r>
                <a:rPr lang="en-US" altLang="zh-CN" sz="2800" b="1" i="1" dirty="0"/>
                <a:t> </a:t>
              </a:r>
              <a:r>
                <a:rPr lang="zh-CN" altLang="en-US" sz="2800" b="1" dirty="0"/>
                <a:t>在</a:t>
              </a:r>
              <a:r>
                <a:rPr lang="en-US" altLang="zh-CN" sz="2800" b="1" dirty="0"/>
                <a:t>F</a:t>
              </a:r>
              <a:r>
                <a:rPr lang="zh-CN" altLang="en-US" sz="2800" b="1" dirty="0"/>
                <a:t>集</a:t>
              </a:r>
              <a:r>
                <a:rPr lang="en-US" altLang="zh-CN" sz="2800" b="1" i="1" dirty="0"/>
                <a:t>A</a:t>
              </a:r>
              <a:r>
                <a:rPr lang="zh-CN" altLang="en-US" sz="2800" b="1" dirty="0"/>
                <a:t> 上的优越支集</a:t>
              </a:r>
            </a:p>
          </p:txBody>
        </p:sp>
        <p:cxnSp>
          <p:nvCxnSpPr>
            <p:cNvPr id="4" name="直接连接符 3"/>
            <p:cNvCxnSpPr/>
            <p:nvPr/>
          </p:nvCxnSpPr>
          <p:spPr bwMode="auto">
            <a:xfrm>
              <a:off x="4427984" y="4941168"/>
              <a:ext cx="36004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3C5249E-342D-4F75-9D5E-86BF96C02B24}"/>
              </a:ext>
            </a:extLst>
          </p:cNvPr>
          <p:cNvSpPr txBox="1"/>
          <p:nvPr/>
        </p:nvSpPr>
        <p:spPr>
          <a:xfrm>
            <a:off x="1055440" y="1473300"/>
            <a:ext cx="98650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zh-CN" altLang="en-US" sz="3200" b="1" dirty="0"/>
              <a:t>设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="1" dirty="0">
                <a:sym typeface="Symbol" pitchFamily="18" charset="2"/>
              </a:rPr>
              <a:t></a:t>
            </a:r>
            <a:r>
              <a:rPr lang="en-US" altLang="zh-CN" sz="3200" b="1" dirty="0">
                <a:latin typeface="Monotype Corsiva" pitchFamily="66" charset="0"/>
                <a:sym typeface="Symbol" pitchFamily="18" charset="2"/>
              </a:rPr>
              <a:t>F</a:t>
            </a:r>
            <a:r>
              <a:rPr lang="en-US" altLang="zh-CN" sz="3200" b="1" dirty="0">
                <a:sym typeface="Symbol" pitchFamily="18" charset="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sz="3200" b="1" dirty="0">
                <a:sym typeface="Symbol" pitchFamily="18" charset="2"/>
              </a:rPr>
              <a:t>)</a:t>
            </a:r>
            <a:r>
              <a:rPr lang="zh-CN" altLang="en-US" sz="3200" b="1" dirty="0">
                <a:sym typeface="Symbol" pitchFamily="18" charset="2"/>
              </a:rPr>
              <a:t>，且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3200" b="1" dirty="0">
                <a:sym typeface="Symbol" pitchFamily="18" charset="2"/>
              </a:rPr>
              <a:t>都是</a:t>
            </a:r>
            <a:r>
              <a:rPr lang="en-US" altLang="zh-CN" sz="3200" b="1" dirty="0"/>
              <a:t>[</a:t>
            </a:r>
            <a:r>
              <a:rPr lang="en-US" altLang="zh-CN" sz="3200" b="1" i="1" dirty="0">
                <a:sym typeface="Symbol" panose="05050102010706020507" pitchFamily="18" charset="2"/>
              </a:rPr>
              <a:t></a:t>
            </a:r>
            <a:r>
              <a:rPr lang="en-US" altLang="zh-CN" sz="3200" b="1" dirty="0">
                <a:sym typeface="Symbol" panose="05050102010706020507" pitchFamily="18" charset="2"/>
              </a:rPr>
              <a:t>, </a:t>
            </a:r>
            <a:r>
              <a:rPr lang="en-US" altLang="zh-CN" sz="3200" b="1" i="1" dirty="0">
                <a:sym typeface="Symbol" panose="05050102010706020507" pitchFamily="18" charset="2"/>
              </a:rPr>
              <a:t> </a:t>
            </a:r>
            <a:r>
              <a:rPr lang="en-US" altLang="zh-CN" sz="3200" b="1" dirty="0"/>
              <a:t>]</a:t>
            </a:r>
            <a:r>
              <a:rPr lang="zh-CN" altLang="en-US" sz="3200" b="1" dirty="0"/>
              <a:t>上的</a:t>
            </a:r>
            <a:r>
              <a:rPr lang="az-Cyrl-AZ" altLang="en-US" sz="32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zh-CN" altLang="en-US" sz="32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函数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，分别具有峰域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32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32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3200" b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2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3200" b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，则</a:t>
            </a:r>
            <a:endParaRPr lang="zh-CN" altLang="en-US" sz="2000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5DF21F8-1AD9-4B40-BF5B-FBCB210BF9C1}"/>
              </a:ext>
            </a:extLst>
          </p:cNvPr>
          <p:cNvSpPr/>
          <p:nvPr/>
        </p:nvSpPr>
        <p:spPr bwMode="auto">
          <a:xfrm>
            <a:off x="8683922" y="2918177"/>
            <a:ext cx="1944216" cy="581677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glow rad="127000">
              <a:srgbClr val="FFC000">
                <a:alpha val="48000"/>
              </a:srgbClr>
            </a:glow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E73ED4B-5997-41B8-B006-9C881A892397}"/>
              </a:ext>
            </a:extLst>
          </p:cNvPr>
          <p:cNvCxnSpPr/>
          <p:nvPr/>
        </p:nvCxnSpPr>
        <p:spPr bwMode="auto">
          <a:xfrm>
            <a:off x="2784598" y="5301479"/>
            <a:ext cx="1366218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CC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37DB2B-9E52-412D-A9F4-7221CFA9C3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8</a:t>
            </a:fld>
            <a:endParaRPr lang="en-US" altLang="zh-CN"/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3DDBC4BF-4D4B-8336-E2C0-E6B404289E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702651"/>
              </p:ext>
            </p:extLst>
          </p:nvPr>
        </p:nvGraphicFramePr>
        <p:xfrm>
          <a:off x="1631504" y="5988050"/>
          <a:ext cx="31003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82680" imgH="228600" progId="Equation.DSMT4">
                  <p:embed/>
                </p:oleObj>
              </mc:Choice>
              <mc:Fallback>
                <p:oleObj name="Equation" r:id="rId5" imgW="1282680" imgH="228600" progId="Equation.DSMT4">
                  <p:embed/>
                  <p:pic>
                    <p:nvPicPr>
                      <p:cNvPr id="225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5988050"/>
                        <a:ext cx="310038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 idx="4294967295"/>
          </p:nvPr>
        </p:nvSpPr>
        <p:spPr>
          <a:xfrm>
            <a:off x="1981200" y="257175"/>
            <a:ext cx="8229600" cy="1371600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与</a:t>
            </a:r>
            <a:r>
              <a:rPr lang="az-Cyrl-AZ" altLang="en-US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П</a:t>
            </a:r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形函数有关的定理</a:t>
            </a:r>
            <a:endParaRPr lang="zh-CN" altLang="en-US">
              <a:cs typeface="Times New Roman" pitchFamily="18" charset="0"/>
            </a:endParaRPr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665" y="3068960"/>
            <a:ext cx="4968875" cy="292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3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641638"/>
              </p:ext>
            </p:extLst>
          </p:nvPr>
        </p:nvGraphicFramePr>
        <p:xfrm>
          <a:off x="5834063" y="3103563"/>
          <a:ext cx="5711825" cy="172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61960" imgH="711000" progId="Equation.DSMT4">
                  <p:embed/>
                </p:oleObj>
              </mc:Choice>
              <mc:Fallback>
                <p:oleObj name="Equation" r:id="rId3" imgW="2361960" imgH="711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063" y="3103563"/>
                        <a:ext cx="5711825" cy="172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6844905" y="5216285"/>
            <a:ext cx="4628190" cy="523220"/>
            <a:chOff x="4389167" y="4861480"/>
            <a:chExt cx="4628190" cy="523220"/>
          </a:xfrm>
        </p:grpSpPr>
        <p:sp>
          <p:nvSpPr>
            <p:cNvPr id="7" name="矩形 6"/>
            <p:cNvSpPr/>
            <p:nvPr/>
          </p:nvSpPr>
          <p:spPr>
            <a:xfrm>
              <a:off x="4389167" y="4861480"/>
              <a:ext cx="462819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solidFill>
                    <a:srgbClr val="CC00CC"/>
                  </a:solidFill>
                </a:rPr>
                <a:t>M</a:t>
              </a:r>
              <a:r>
                <a:rPr lang="zh-CN" altLang="en-US" sz="2800" b="1" dirty="0"/>
                <a:t>为</a:t>
              </a:r>
              <a:r>
                <a:rPr lang="en-US" altLang="zh-CN" sz="2800" b="1" dirty="0"/>
                <a:t> </a:t>
              </a:r>
              <a:r>
                <a:rPr lang="en-US" altLang="zh-CN" sz="2800" b="1" i="1" dirty="0">
                  <a:latin typeface="Times New Roman" pitchFamily="18" charset="0"/>
                </a:rPr>
                <a:t>f</a:t>
              </a:r>
              <a:r>
                <a:rPr lang="en-US" altLang="zh-CN" sz="2800" b="1" i="1" dirty="0"/>
                <a:t> </a:t>
              </a:r>
              <a:r>
                <a:rPr lang="zh-CN" altLang="en-US" sz="2800" b="1" dirty="0"/>
                <a:t>在</a:t>
              </a:r>
              <a:r>
                <a:rPr lang="en-US" altLang="zh-CN" sz="2800" b="1" dirty="0"/>
                <a:t>F</a:t>
              </a:r>
              <a:r>
                <a:rPr lang="zh-CN" altLang="en-US" sz="2800" b="1" dirty="0"/>
                <a:t>集</a:t>
              </a:r>
              <a:r>
                <a:rPr lang="en-US" altLang="zh-CN" sz="2800" b="1" i="1" dirty="0"/>
                <a:t>A</a:t>
              </a:r>
              <a:r>
                <a:rPr lang="zh-CN" altLang="en-US" sz="2800" b="1" dirty="0"/>
                <a:t> 上的优越支集</a:t>
              </a: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4499992" y="4869160"/>
              <a:ext cx="36004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4A16048-7EA3-4D32-96C7-CA2911C6DBC2}"/>
              </a:ext>
            </a:extLst>
          </p:cNvPr>
          <p:cNvSpPr txBox="1"/>
          <p:nvPr/>
        </p:nvSpPr>
        <p:spPr>
          <a:xfrm>
            <a:off x="1055440" y="1473300"/>
            <a:ext cx="99371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zh-CN" altLang="en-US" sz="3200" b="1" dirty="0"/>
              <a:t>设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="1" dirty="0">
                <a:sym typeface="Symbol" pitchFamily="18" charset="2"/>
              </a:rPr>
              <a:t></a:t>
            </a:r>
            <a:r>
              <a:rPr lang="en-US" altLang="zh-CN" sz="3200" b="1" dirty="0">
                <a:latin typeface="Monotype Corsiva" pitchFamily="66" charset="0"/>
                <a:sym typeface="Symbol" pitchFamily="18" charset="2"/>
              </a:rPr>
              <a:t>F</a:t>
            </a:r>
            <a:r>
              <a:rPr lang="en-US" altLang="zh-CN" sz="3200" b="1" dirty="0">
                <a:sym typeface="Symbol" pitchFamily="18" charset="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sz="3200" b="1" dirty="0">
                <a:sym typeface="Symbol" pitchFamily="18" charset="2"/>
              </a:rPr>
              <a:t>)</a:t>
            </a:r>
            <a:r>
              <a:rPr lang="zh-CN" altLang="en-US" sz="3200" b="1" dirty="0">
                <a:sym typeface="Symbol" pitchFamily="18" charset="2"/>
              </a:rPr>
              <a:t>，且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3200" b="1" dirty="0">
                <a:sym typeface="Symbol" pitchFamily="18" charset="2"/>
              </a:rPr>
              <a:t>都是</a:t>
            </a:r>
            <a:r>
              <a:rPr lang="en-US" altLang="zh-CN" sz="3200" b="1" dirty="0"/>
              <a:t>[</a:t>
            </a:r>
            <a:r>
              <a:rPr lang="en-US" altLang="zh-CN" sz="3200" b="1" i="1" dirty="0">
                <a:sym typeface="Symbol" panose="05050102010706020507" pitchFamily="18" charset="2"/>
              </a:rPr>
              <a:t></a:t>
            </a:r>
            <a:r>
              <a:rPr lang="en-US" altLang="zh-CN" sz="3200" b="1" dirty="0">
                <a:sym typeface="Symbol" panose="05050102010706020507" pitchFamily="18" charset="2"/>
              </a:rPr>
              <a:t>, </a:t>
            </a:r>
            <a:r>
              <a:rPr lang="en-US" altLang="zh-CN" sz="3200" b="1" i="1" dirty="0">
                <a:sym typeface="Symbol" panose="05050102010706020507" pitchFamily="18" charset="2"/>
              </a:rPr>
              <a:t> </a:t>
            </a:r>
            <a:r>
              <a:rPr lang="en-US" altLang="zh-CN" sz="3200" b="1" dirty="0"/>
              <a:t>]</a:t>
            </a:r>
            <a:r>
              <a:rPr lang="zh-CN" altLang="en-US" sz="3200" b="1" dirty="0"/>
              <a:t>上的</a:t>
            </a:r>
            <a:r>
              <a:rPr lang="az-Cyrl-AZ" altLang="en-US" sz="32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zh-CN" altLang="en-US" sz="32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函数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，分别具有峰域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32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32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3200" b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2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3200" b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，则</a:t>
            </a:r>
            <a:endParaRPr lang="zh-CN" altLang="en-US" sz="2000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7C38A83-6918-45B1-B39F-F68EE5861AE3}"/>
              </a:ext>
            </a:extLst>
          </p:cNvPr>
          <p:cNvSpPr/>
          <p:nvPr/>
        </p:nvSpPr>
        <p:spPr bwMode="auto">
          <a:xfrm>
            <a:off x="8148799" y="3679521"/>
            <a:ext cx="3450939" cy="581677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glow rad="127000">
              <a:srgbClr val="FFC000">
                <a:alpha val="48000"/>
              </a:srgbClr>
            </a:glow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B104BD0-3235-40FC-8C4D-2529A65A692B}"/>
              </a:ext>
            </a:extLst>
          </p:cNvPr>
          <p:cNvCxnSpPr/>
          <p:nvPr/>
        </p:nvCxnSpPr>
        <p:spPr bwMode="auto">
          <a:xfrm>
            <a:off x="3140467" y="5486300"/>
            <a:ext cx="864096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CC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74C5E1B-0FE4-0359-F628-D8D8E92350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 idx="4294967295"/>
          </p:nvPr>
        </p:nvSpPr>
        <p:spPr>
          <a:xfrm>
            <a:off x="1981200" y="257175"/>
            <a:ext cx="8229600" cy="1371600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与</a:t>
            </a:r>
            <a:r>
              <a:rPr lang="az-Cyrl-AZ" altLang="en-US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П</a:t>
            </a:r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形函数有关的定理</a:t>
            </a:r>
            <a:endParaRPr lang="zh-CN" altLang="en-US">
              <a:cs typeface="Times New Roman" pitchFamily="18" charset="0"/>
            </a:endParaRPr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38" y="3068960"/>
            <a:ext cx="5861050" cy="283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4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929746"/>
              </p:ext>
            </p:extLst>
          </p:nvPr>
        </p:nvGraphicFramePr>
        <p:xfrm>
          <a:off x="5762625" y="2924175"/>
          <a:ext cx="5711825" cy="171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61960" imgH="711000" progId="Equation.DSMT4">
                  <p:embed/>
                </p:oleObj>
              </mc:Choice>
              <mc:Fallback>
                <p:oleObj name="Equation" r:id="rId3" imgW="2361960" imgH="711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2924175"/>
                        <a:ext cx="5711825" cy="171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6739706" y="5103955"/>
            <a:ext cx="4628190" cy="523220"/>
            <a:chOff x="4355976" y="4928949"/>
            <a:chExt cx="4628190" cy="523220"/>
          </a:xfrm>
        </p:grpSpPr>
        <p:sp>
          <p:nvSpPr>
            <p:cNvPr id="7" name="矩形 6"/>
            <p:cNvSpPr/>
            <p:nvPr/>
          </p:nvSpPr>
          <p:spPr>
            <a:xfrm>
              <a:off x="4355976" y="4928949"/>
              <a:ext cx="462819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solidFill>
                    <a:srgbClr val="CC00CC"/>
                  </a:solidFill>
                </a:rPr>
                <a:t>M</a:t>
              </a:r>
              <a:r>
                <a:rPr lang="zh-CN" altLang="en-US" sz="2800" b="1" dirty="0"/>
                <a:t>为</a:t>
              </a:r>
              <a:r>
                <a:rPr lang="en-US" altLang="zh-CN" sz="2800" b="1" dirty="0"/>
                <a:t> </a:t>
              </a:r>
              <a:r>
                <a:rPr lang="en-US" altLang="zh-CN" sz="2800" b="1" i="1" dirty="0">
                  <a:latin typeface="Times New Roman" pitchFamily="18" charset="0"/>
                </a:rPr>
                <a:t>f</a:t>
              </a:r>
              <a:r>
                <a:rPr lang="en-US" altLang="zh-CN" sz="2800" b="1" i="1" dirty="0"/>
                <a:t> </a:t>
              </a:r>
              <a:r>
                <a:rPr lang="zh-CN" altLang="en-US" sz="2800" b="1" dirty="0"/>
                <a:t>在</a:t>
              </a:r>
              <a:r>
                <a:rPr lang="en-US" altLang="zh-CN" sz="2800" b="1" dirty="0"/>
                <a:t>F</a:t>
              </a:r>
              <a:r>
                <a:rPr lang="zh-CN" altLang="en-US" sz="2800" b="1" dirty="0"/>
                <a:t>集</a:t>
              </a:r>
              <a:r>
                <a:rPr lang="en-US" altLang="zh-CN" sz="2800" b="1" i="1" dirty="0"/>
                <a:t>A</a:t>
              </a:r>
              <a:r>
                <a:rPr lang="zh-CN" altLang="en-US" sz="2800" b="1" dirty="0"/>
                <a:t> 上的优越支集</a:t>
              </a: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4427984" y="4941168"/>
              <a:ext cx="36004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D7157BDA-86F4-4AF1-89D6-234DB8CBCE09}"/>
              </a:ext>
            </a:extLst>
          </p:cNvPr>
          <p:cNvSpPr txBox="1"/>
          <p:nvPr/>
        </p:nvSpPr>
        <p:spPr>
          <a:xfrm>
            <a:off x="1055440" y="1482073"/>
            <a:ext cx="101531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zh-CN" altLang="en-US" sz="3200" b="1" dirty="0"/>
              <a:t>设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="1" dirty="0">
                <a:sym typeface="Symbol" pitchFamily="18" charset="2"/>
              </a:rPr>
              <a:t></a:t>
            </a:r>
            <a:r>
              <a:rPr lang="en-US" altLang="zh-CN" sz="3200" b="1" dirty="0">
                <a:latin typeface="Monotype Corsiva" pitchFamily="66" charset="0"/>
                <a:sym typeface="Symbol" pitchFamily="18" charset="2"/>
              </a:rPr>
              <a:t>F</a:t>
            </a:r>
            <a:r>
              <a:rPr lang="en-US" altLang="zh-CN" sz="3200" b="1" dirty="0">
                <a:sym typeface="Symbol" pitchFamily="18" charset="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sz="3200" b="1" dirty="0">
                <a:sym typeface="Symbol" pitchFamily="18" charset="2"/>
              </a:rPr>
              <a:t>)</a:t>
            </a:r>
            <a:r>
              <a:rPr lang="zh-CN" altLang="en-US" sz="3200" b="1" dirty="0">
                <a:sym typeface="Symbol" pitchFamily="18" charset="2"/>
              </a:rPr>
              <a:t>，且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sz="3200" b="1" dirty="0">
                <a:sym typeface="Symbol" pitchFamily="18" charset="2"/>
              </a:rPr>
              <a:t>都是</a:t>
            </a:r>
            <a:r>
              <a:rPr lang="en-US" altLang="zh-CN" sz="3200" b="1" dirty="0"/>
              <a:t>[</a:t>
            </a:r>
            <a:r>
              <a:rPr lang="en-US" altLang="zh-CN" sz="3200" b="1" i="1" dirty="0">
                <a:sym typeface="Symbol" panose="05050102010706020507" pitchFamily="18" charset="2"/>
              </a:rPr>
              <a:t></a:t>
            </a:r>
            <a:r>
              <a:rPr lang="en-US" altLang="zh-CN" sz="3200" b="1" dirty="0">
                <a:sym typeface="Symbol" panose="05050102010706020507" pitchFamily="18" charset="2"/>
              </a:rPr>
              <a:t>, </a:t>
            </a:r>
            <a:r>
              <a:rPr lang="en-US" altLang="zh-CN" sz="3200" b="1" i="1" dirty="0">
                <a:sym typeface="Symbol" panose="05050102010706020507" pitchFamily="18" charset="2"/>
              </a:rPr>
              <a:t> </a:t>
            </a:r>
            <a:r>
              <a:rPr lang="en-US" altLang="zh-CN" sz="3200" b="1" dirty="0"/>
              <a:t>]</a:t>
            </a:r>
            <a:r>
              <a:rPr lang="zh-CN" altLang="en-US" sz="3200" b="1" dirty="0"/>
              <a:t>上的</a:t>
            </a:r>
            <a:r>
              <a:rPr lang="az-Cyrl-AZ" altLang="en-US" sz="32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zh-CN" altLang="en-US" sz="3200" dirty="0">
                <a:solidFill>
                  <a:srgbClr val="CC00CC"/>
                </a:solidFill>
                <a:latin typeface="黑体" pitchFamily="49" charset="-122"/>
                <a:ea typeface="黑体" pitchFamily="49" charset="-122"/>
              </a:rPr>
              <a:t>函数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，分别具有峰域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32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32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3200" b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2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3200" b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，则</a:t>
            </a:r>
            <a:endParaRPr lang="zh-CN" altLang="en-US" sz="2000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F428BBE-9E92-4DD6-A20F-C77BA7AA1200}"/>
              </a:ext>
            </a:extLst>
          </p:cNvPr>
          <p:cNvSpPr/>
          <p:nvPr/>
        </p:nvSpPr>
        <p:spPr bwMode="auto">
          <a:xfrm>
            <a:off x="8827938" y="4077072"/>
            <a:ext cx="1944216" cy="581677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glow rad="127000">
              <a:srgbClr val="FFC000">
                <a:alpha val="48000"/>
              </a:srgbClr>
            </a:glow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44AF73-34AE-4DF9-B24F-63081D57075C}"/>
              </a:ext>
            </a:extLst>
          </p:cNvPr>
          <p:cNvCxnSpPr/>
          <p:nvPr/>
        </p:nvCxnSpPr>
        <p:spPr bwMode="auto">
          <a:xfrm>
            <a:off x="2589586" y="5445025"/>
            <a:ext cx="1152128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CC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6967573-DA7C-42F4-4AD8-15D59FAC37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10</a:t>
            </a:fld>
            <a:endParaRPr lang="en-US" altLang="zh-CN"/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7C4886A7-BC6F-5D92-2FD3-06F71F8D0A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623169"/>
              </p:ext>
            </p:extLst>
          </p:nvPr>
        </p:nvGraphicFramePr>
        <p:xfrm>
          <a:off x="1631504" y="5988050"/>
          <a:ext cx="31003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82680" imgH="228600" progId="Equation.DSMT4">
                  <p:embed/>
                </p:oleObj>
              </mc:Choice>
              <mc:Fallback>
                <p:oleObj name="Equation" r:id="rId5" imgW="1282680" imgH="228600" progId="Equation.DSMT4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3DDBC4BF-4D4B-8336-E2C0-E6B404289E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5988050"/>
                        <a:ext cx="310038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en-US" altLang="zh-CN">
                <a:solidFill>
                  <a:srgbClr val="008000"/>
                </a:solidFill>
                <a:cs typeface="Times New Roman" pitchFamily="18" charset="0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优越集上的最优规划值</a:t>
            </a:r>
          </a:p>
        </p:txBody>
      </p:sp>
      <p:sp>
        <p:nvSpPr>
          <p:cNvPr id="25603" name="内容占位符 2"/>
          <p:cNvSpPr>
            <a:spLocks noGrp="1"/>
          </p:cNvSpPr>
          <p:nvPr>
            <p:ph idx="4294967295"/>
          </p:nvPr>
        </p:nvSpPr>
        <p:spPr>
          <a:xfrm>
            <a:off x="1343472" y="1844675"/>
            <a:ext cx="9649072" cy="388620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：</a:t>
            </a:r>
            <a:endParaRPr lang="en-US" altLang="zh-CN" dirty="0">
              <a:solidFill>
                <a:srgbClr val="FF0000"/>
              </a:solidFill>
              <a:ea typeface="黑体" pitchFamily="49" charset="-122"/>
            </a:endParaRPr>
          </a:p>
          <a:p>
            <a:pPr marL="457200" lvl="1" indent="0">
              <a:buNone/>
            </a:pPr>
            <a:r>
              <a:rPr lang="zh-CN" altLang="en-US" sz="3200" dirty="0"/>
              <a:t>设</a:t>
            </a:r>
            <a:r>
              <a:rPr lang="en-US" altLang="zh-CN" sz="3200" b="1" i="1" dirty="0" err="1">
                <a:latin typeface="Times New Roman" pitchFamily="18" charset="0"/>
              </a:rPr>
              <a:t>A</a:t>
            </a:r>
            <a:r>
              <a:rPr lang="en-US" altLang="zh-CN" sz="3200" b="1" i="1" baseline="-25000" dirty="0" err="1">
                <a:latin typeface="Times New Roman" pitchFamily="18" charset="0"/>
                <a:sym typeface="Symbol" pitchFamily="18" charset="2"/>
              </a:rPr>
              <a:t>f</a:t>
            </a:r>
            <a:r>
              <a:rPr lang="zh-CN" altLang="en-US" sz="3200" b="1" i="1" baseline="-250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是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200" b="1" i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32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2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3200" b="1" dirty="0">
                <a:sym typeface="Symbol" pitchFamily="18" charset="2"/>
              </a:rPr>
              <a:t></a:t>
            </a:r>
            <a:r>
              <a:rPr lang="en-US" altLang="zh-CN" sz="3200" b="1" dirty="0">
                <a:latin typeface="Monotype Corsiva" pitchFamily="66" charset="0"/>
                <a:sym typeface="Symbol" pitchFamily="18" charset="2"/>
              </a:rPr>
              <a:t>F</a:t>
            </a:r>
            <a:r>
              <a:rPr lang="en-US" altLang="zh-CN" sz="3200" b="1" dirty="0">
                <a:sym typeface="Symbol" pitchFamily="18" charset="2"/>
              </a:rPr>
              <a:t>(</a:t>
            </a:r>
            <a:r>
              <a:rPr lang="en-US" altLang="zh-CN" sz="32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sz="3200" b="1" dirty="0">
                <a:sym typeface="Symbol" pitchFamily="18" charset="2"/>
              </a:rPr>
              <a:t>)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上的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优越集，</a:t>
            </a:r>
            <a:endParaRPr lang="en-US" altLang="zh-CN" sz="3200" b="1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使</a:t>
            </a:r>
            <a:r>
              <a:rPr lang="en-US" altLang="zh-CN" sz="3200" b="1" i="1" dirty="0" err="1">
                <a:latin typeface="Times New Roman" pitchFamily="18" charset="0"/>
              </a:rPr>
              <a:t>A</a:t>
            </a:r>
            <a:r>
              <a:rPr lang="en-US" altLang="zh-CN" sz="3200" b="1" i="1" baseline="-25000" dirty="0" err="1">
                <a:latin typeface="Times New Roman" pitchFamily="18" charset="0"/>
                <a:sym typeface="Symbol" pitchFamily="18" charset="2"/>
              </a:rPr>
              <a:t>f</a:t>
            </a:r>
            <a:r>
              <a:rPr lang="zh-CN" altLang="en-US" sz="3200" b="1" i="1" baseline="-250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达到最大值的 </a:t>
            </a:r>
            <a:r>
              <a:rPr lang="en-US" altLang="zh-CN" sz="32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称为最优规划值，记为</a:t>
            </a:r>
            <a:r>
              <a:rPr lang="en-US" altLang="zh-CN" sz="32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3200" b="1" i="1" dirty="0">
                <a:latin typeface="Times New Roman" pitchFamily="18" charset="0"/>
                <a:cs typeface="Times New Roman" pitchFamily="18" charset="0"/>
              </a:rPr>
              <a:t>*</a:t>
            </a:r>
            <a:endParaRPr lang="en-US" altLang="zh-CN" sz="3200" b="1" i="1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altLang="zh-CN" sz="3200" b="1" i="1" dirty="0">
                <a:latin typeface="Times New Roman" pitchFamily="18" charset="0"/>
                <a:cs typeface="Times New Roman" pitchFamily="18" charset="0"/>
              </a:rPr>
              <a:t>                      </a:t>
            </a:r>
          </a:p>
          <a:p>
            <a:pPr marL="457200" lvl="1" indent="0">
              <a:buNone/>
            </a:pPr>
            <a:r>
              <a:rPr lang="en-US" altLang="zh-CN" sz="32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en-US" altLang="zh-CN" sz="3600" b="1" i="1" dirty="0" err="1">
                <a:solidFill>
                  <a:srgbClr val="3333FF"/>
                </a:solidFill>
                <a:latin typeface="Times New Roman" pitchFamily="18" charset="0"/>
              </a:rPr>
              <a:t>A</a:t>
            </a:r>
            <a:r>
              <a:rPr lang="en-US" altLang="zh-CN" sz="3600" b="1" i="1" baseline="-25000" dirty="0" err="1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f</a:t>
            </a:r>
            <a:r>
              <a:rPr lang="zh-CN" altLang="en-US" sz="3600" b="1" i="1" baseline="-25000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6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36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zh-CN" sz="3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 = max </a:t>
            </a:r>
            <a:r>
              <a:rPr lang="en-US" altLang="zh-CN" sz="3600" b="1" i="1" dirty="0" err="1">
                <a:solidFill>
                  <a:srgbClr val="3333FF"/>
                </a:solidFill>
                <a:latin typeface="Times New Roman" pitchFamily="18" charset="0"/>
              </a:rPr>
              <a:t>A</a:t>
            </a:r>
            <a:r>
              <a:rPr lang="en-US" altLang="zh-CN" sz="3600" b="1" i="1" baseline="-25000" dirty="0" err="1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f</a:t>
            </a:r>
            <a:r>
              <a:rPr lang="zh-CN" altLang="en-US" sz="3600" b="1" i="1" baseline="-25000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6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3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zh-CN" altLang="en-US" sz="3200" dirty="0">
              <a:solidFill>
                <a:srgbClr val="3333FF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6F1F4E4-F529-6219-D1C4-AD505D2C3E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 idx="4294967295"/>
          </p:nvPr>
        </p:nvSpPr>
        <p:spPr>
          <a:xfrm>
            <a:off x="1981200" y="188913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cs typeface="Times New Roman" pitchFamily="18" charset="0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优越集上的最优规划值举例</a:t>
            </a:r>
            <a:r>
              <a:rPr lang="en-US" altLang="zh-CN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1</a:t>
            </a:r>
            <a:endParaRPr lang="zh-CN" altLang="en-US" dirty="0"/>
          </a:p>
        </p:txBody>
      </p:sp>
      <p:sp>
        <p:nvSpPr>
          <p:cNvPr id="26627" name="内容占位符 2"/>
          <p:cNvSpPr>
            <a:spLocks noGrp="1"/>
          </p:cNvSpPr>
          <p:nvPr>
            <p:ph idx="4294967295"/>
          </p:nvPr>
        </p:nvSpPr>
        <p:spPr>
          <a:xfrm>
            <a:off x="1055440" y="1557338"/>
            <a:ext cx="10297144" cy="4895850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某电机</a:t>
            </a:r>
            <a:r>
              <a:rPr lang="zh-CN" altLang="en-US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效率 </a:t>
            </a:r>
            <a:r>
              <a:rPr lang="en-US" altLang="zh-CN" sz="2800" b="1" i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与</a:t>
            </a:r>
            <a:r>
              <a:rPr lang="zh-CN" altLang="en-US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电压 </a:t>
            </a:r>
            <a:r>
              <a:rPr lang="en-US" altLang="zh-CN" sz="2800" b="1" i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成正态关系</a:t>
            </a:r>
            <a:endParaRPr lang="en-US" altLang="zh-CN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20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为获得最大效率，应取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CN" sz="2400" b="1" dirty="0">
                <a:solidFill>
                  <a:srgbClr val="FF0000"/>
                </a:solidFill>
                <a:cs typeface="Times New Roman" pitchFamily="18" charset="0"/>
              </a:rPr>
              <a:t>5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。</a:t>
            </a:r>
            <a:endParaRPr lang="en-US" altLang="zh-CN" sz="2400" b="1" dirty="0">
              <a:latin typeface="华文楷体" pitchFamily="2" charset="-122"/>
              <a:ea typeface="华文楷体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可是电压过高，又会引起漏电，威胁人身安全，为此，电压应给予限制，若限制范围无确切边界，是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集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),</a:t>
            </a:r>
          </a:p>
          <a:p>
            <a:pPr>
              <a:buFont typeface="Wingdings" pitchFamily="2" charset="2"/>
              <a:buNone/>
            </a:pP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3333FF"/>
                </a:solidFill>
                <a:latin typeface="华文楷体" pitchFamily="2" charset="-122"/>
                <a:ea typeface="华文楷体" pitchFamily="2" charset="-122"/>
              </a:rPr>
              <a:t>试问选用何种电压才能在保证安全的情况下有尽可能大的效率？</a:t>
            </a: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764315"/>
              </p:ext>
            </p:extLst>
          </p:nvPr>
        </p:nvGraphicFramePr>
        <p:xfrm>
          <a:off x="3431705" y="2132857"/>
          <a:ext cx="4392489" cy="1422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73617" imgH="736917" progId="Equation.DSMT4">
                  <p:embed/>
                </p:oleObj>
              </mc:Choice>
              <mc:Fallback>
                <p:oleObj name="Equation" r:id="rId2" imgW="2273617" imgH="73691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5" y="2132857"/>
                        <a:ext cx="4392489" cy="1422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055732"/>
              </p:ext>
            </p:extLst>
          </p:nvPr>
        </p:nvGraphicFramePr>
        <p:xfrm>
          <a:off x="3000078" y="4730358"/>
          <a:ext cx="3960018" cy="121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549117" imgH="14630717" progId="Equation.DSMT4">
                  <p:embed/>
                </p:oleObj>
              </mc:Choice>
              <mc:Fallback>
                <p:oleObj name="Equation" r:id="rId4" imgW="47549117" imgH="1463071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078" y="4730358"/>
                        <a:ext cx="3960018" cy="1218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 descr="图片包含 图示&#10;&#10;描述已自动生成">
            <a:extLst>
              <a:ext uri="{FF2B5EF4-FFF2-40B4-BE49-F238E27FC236}">
                <a16:creationId xmlns:a16="http://schemas.microsoft.com/office/drawing/2014/main" id="{D88E0504-AE38-3BB6-DCC9-770CB1D52EC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1490082"/>
            <a:ext cx="3359257" cy="21044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C9BCECA-6EF7-F850-38A7-76A8DB70F5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248" y="1412776"/>
            <a:ext cx="3359257" cy="2265288"/>
          </a:xfrm>
          <a:prstGeom prst="rect">
            <a:avLst/>
          </a:prstGeom>
          <a:effectLst>
            <a:glow rad="127000">
              <a:srgbClr val="42F729"/>
            </a:glow>
          </a:effec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223763F-B39D-2C1D-F1EA-7DD752311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uiExpand="1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cs typeface="Times New Roman" pitchFamily="18" charset="0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优越集上的最优规划值举例</a:t>
            </a:r>
            <a:r>
              <a:rPr lang="en-US" altLang="zh-CN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1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55440" y="1315251"/>
            <a:ext cx="10369152" cy="5400600"/>
          </a:xfrm>
        </p:spPr>
        <p:txBody>
          <a:bodyPr/>
          <a:lstStyle/>
          <a:p>
            <a:r>
              <a:rPr lang="zh-CN" altLang="en-US" sz="2800" b="1" dirty="0"/>
              <a:t>由右图可见，</a:t>
            </a:r>
            <a:r>
              <a:rPr lang="en-US" altLang="zh-CN" sz="2800" b="1" i="1" dirty="0"/>
              <a:t>A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u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和</a:t>
            </a:r>
            <a:r>
              <a:rPr lang="en-US" altLang="zh-CN" sz="2800" b="1" i="1" dirty="0">
                <a:latin typeface="Monotype Corsiva" panose="03010101010201010101" pitchFamily="66" charset="0"/>
              </a:rPr>
              <a:t>f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u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都是</a:t>
            </a:r>
            <a:r>
              <a:rPr lang="az-Cyrl-AZ" alt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形函数</a:t>
            </a:r>
            <a:endParaRPr lang="en-US" altLang="zh-CN" sz="28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marL="400050" lvl="1" indent="0">
              <a:buNone/>
            </a:pPr>
            <a:r>
              <a:rPr lang="en-US" altLang="zh-CN" sz="2400" i="1" dirty="0">
                <a:ea typeface="黑体" pitchFamily="49" charset="-122"/>
              </a:rPr>
              <a:t>A</a:t>
            </a:r>
            <a:r>
              <a:rPr lang="en-US" altLang="zh-CN" sz="2400" dirty="0">
                <a:ea typeface="黑体" pitchFamily="49" charset="-122"/>
              </a:rPr>
              <a:t>(</a:t>
            </a:r>
            <a:r>
              <a:rPr lang="en-US" altLang="zh-CN" sz="2400" i="1" dirty="0">
                <a:ea typeface="黑体" pitchFamily="49" charset="-122"/>
              </a:rPr>
              <a:t>u</a:t>
            </a:r>
            <a:r>
              <a:rPr lang="en-US" altLang="zh-CN" sz="2400" dirty="0">
                <a:ea typeface="黑体" pitchFamily="49" charset="-122"/>
              </a:rPr>
              <a:t>)</a:t>
            </a:r>
            <a:r>
              <a:rPr lang="zh-CN" altLang="en-US" sz="2400" dirty="0">
                <a:ea typeface="黑体" pitchFamily="49" charset="-122"/>
              </a:rPr>
              <a:t>的峰域</a:t>
            </a:r>
            <a:r>
              <a:rPr lang="en-US" altLang="zh-CN" sz="2400" b="1" dirty="0">
                <a:solidFill>
                  <a:srgbClr val="2D70B3"/>
                </a:solidFill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rgbClr val="2D70B3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olidFill>
                  <a:srgbClr val="2D70B3"/>
                </a:solidFill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2D70B3"/>
                </a:solidFill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solidFill>
                  <a:srgbClr val="2D70B3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olidFill>
                  <a:srgbClr val="2D70B3"/>
                </a:solidFill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2D70B3"/>
                </a:solidFill>
                <a:sym typeface="Symbol" panose="05050102010706020507" pitchFamily="18" charset="2"/>
              </a:rPr>
              <a:t>]=[0,1]</a:t>
            </a:r>
          </a:p>
          <a:p>
            <a:pPr marL="400050" lvl="1" indent="0">
              <a:buNone/>
            </a:pPr>
            <a:r>
              <a:rPr lang="en-US" altLang="zh-CN" sz="2400" i="1" dirty="0">
                <a:latin typeface="Monotype Corsiva" panose="03010101010201010101" pitchFamily="66" charset="0"/>
              </a:rPr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u</a:t>
            </a:r>
            <a:r>
              <a:rPr lang="en-US" altLang="zh-CN" sz="2400" dirty="0"/>
              <a:t>) </a:t>
            </a:r>
            <a:r>
              <a:rPr lang="zh-CN" altLang="en-US" sz="2400" dirty="0">
                <a:ea typeface="黑体" pitchFamily="49" charset="-122"/>
              </a:rPr>
              <a:t>的峰域</a:t>
            </a:r>
            <a:r>
              <a:rPr lang="en-US" altLang="zh-CN" sz="2400" b="1" dirty="0">
                <a:solidFill>
                  <a:srgbClr val="C74440"/>
                </a:solidFill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solidFill>
                  <a:srgbClr val="C74440"/>
                </a:solidFill>
                <a:latin typeface="Monotype Corsiva" panose="03010101010201010101" pitchFamily="66" charset="0"/>
              </a:rPr>
              <a:t>f </a:t>
            </a:r>
            <a:r>
              <a:rPr lang="en-US" altLang="zh-CN" sz="2400" b="1" baseline="-25000" dirty="0">
                <a:solidFill>
                  <a:srgbClr val="C7444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C74440"/>
                </a:solidFill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solidFill>
                  <a:srgbClr val="C74440"/>
                </a:solidFill>
                <a:latin typeface="Monotype Corsiva" panose="03010101010201010101" pitchFamily="66" charset="0"/>
              </a:rPr>
              <a:t>f </a:t>
            </a:r>
            <a:r>
              <a:rPr lang="en-US" altLang="zh-CN" sz="2400" b="1" baseline="-25000" dirty="0">
                <a:solidFill>
                  <a:srgbClr val="C7444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C74440"/>
                </a:solidFill>
                <a:sym typeface="Symbol" panose="05050102010706020507" pitchFamily="18" charset="2"/>
              </a:rPr>
              <a:t>]=[5, 5]</a:t>
            </a:r>
            <a:endParaRPr lang="zh-CN" altLang="en-US" sz="2400" b="1" dirty="0">
              <a:solidFill>
                <a:srgbClr val="C74440"/>
              </a:solidFill>
            </a:endParaRPr>
          </a:p>
          <a:p>
            <a:pPr marL="0" indent="0">
              <a:buNone/>
            </a:pPr>
            <a:r>
              <a:rPr lang="zh-CN" altLang="en-US" sz="2800" b="1" dirty="0"/>
              <a:t>由</a:t>
            </a:r>
            <a:r>
              <a:rPr lang="en-US" altLang="zh-CN" sz="2800" b="1" dirty="0">
                <a:solidFill>
                  <a:srgbClr val="008000"/>
                </a:solidFill>
              </a:rPr>
              <a:t>[</a:t>
            </a:r>
            <a:r>
              <a:rPr lang="zh-CN" altLang="en-US" sz="2800" b="1" dirty="0">
                <a:solidFill>
                  <a:srgbClr val="008000"/>
                </a:solidFill>
              </a:rPr>
              <a:t>定理</a:t>
            </a:r>
            <a:r>
              <a:rPr lang="en-US" altLang="zh-CN" sz="2800" b="1" dirty="0">
                <a:solidFill>
                  <a:srgbClr val="008000"/>
                </a:solidFill>
              </a:rPr>
              <a:t>2] </a:t>
            </a:r>
            <a:r>
              <a:rPr lang="zh-CN" altLang="en-US" sz="2800" b="1" dirty="0"/>
              <a:t>得</a:t>
            </a:r>
            <a:endParaRPr lang="en-US" altLang="zh-CN" sz="2800" b="1" dirty="0"/>
          </a:p>
          <a:p>
            <a:pPr marL="0" indent="0">
              <a:buNone/>
            </a:pPr>
            <a:r>
              <a:rPr lang="zh-CN" altLang="en-US" sz="2800" b="1" dirty="0"/>
              <a:t>由</a:t>
            </a:r>
            <a:r>
              <a:rPr lang="en-US" altLang="zh-CN" sz="2800" b="1" dirty="0">
                <a:solidFill>
                  <a:srgbClr val="008000"/>
                </a:solidFill>
              </a:rPr>
              <a:t>[</a:t>
            </a:r>
            <a:r>
              <a:rPr lang="zh-CN" altLang="en-US" sz="2800" b="1" dirty="0">
                <a:solidFill>
                  <a:srgbClr val="008000"/>
                </a:solidFill>
              </a:rPr>
              <a:t>定理</a:t>
            </a:r>
            <a:r>
              <a:rPr lang="en-US" altLang="zh-CN" sz="2800" b="1" dirty="0">
                <a:solidFill>
                  <a:srgbClr val="008000"/>
                </a:solidFill>
              </a:rPr>
              <a:t>1]</a:t>
            </a:r>
            <a:r>
              <a:rPr lang="zh-CN" altLang="en-US" sz="2800" b="1" dirty="0"/>
              <a:t>得</a:t>
            </a:r>
            <a:endParaRPr lang="en-US" altLang="zh-CN" sz="2800" b="1" dirty="0"/>
          </a:p>
          <a:p>
            <a:pPr marL="0" indent="0">
              <a:buNone/>
            </a:pPr>
            <a:r>
              <a:rPr lang="zh-CN" altLang="en-US" sz="2800" b="1" dirty="0"/>
              <a:t>因此，</a:t>
            </a:r>
            <a:endParaRPr lang="en-US" altLang="zh-CN" sz="2800" b="1" dirty="0"/>
          </a:p>
          <a:p>
            <a:pPr marL="0" indent="0">
              <a:buNone/>
            </a:pPr>
            <a:endParaRPr lang="en-US" altLang="zh-CN" sz="2800" b="1" dirty="0"/>
          </a:p>
          <a:p>
            <a:pPr marL="0" indent="0">
              <a:buNone/>
            </a:pPr>
            <a:endParaRPr lang="en-US" altLang="zh-CN" sz="2800" b="1" dirty="0"/>
          </a:p>
          <a:p>
            <a:pPr marL="0" lvl="1" indent="0">
              <a:buNone/>
            </a:pPr>
            <a:r>
              <a:rPr lang="zh-CN" altLang="en-US" b="1" dirty="0"/>
              <a:t>取</a:t>
            </a:r>
            <a:r>
              <a:rPr lang="en-US" altLang="zh-CN" b="1" i="1" dirty="0">
                <a:solidFill>
                  <a:srgbClr val="CC00CC"/>
                </a:solidFill>
              </a:rPr>
              <a:t>u</a:t>
            </a:r>
            <a:r>
              <a:rPr lang="en-US" altLang="zh-CN" b="1" dirty="0">
                <a:solidFill>
                  <a:srgbClr val="CC00CC"/>
                </a:solidFill>
              </a:rPr>
              <a:t>*=1</a:t>
            </a:r>
            <a:r>
              <a:rPr lang="zh-CN" altLang="en-US" b="1" dirty="0"/>
              <a:t>，有</a:t>
            </a:r>
            <a:endParaRPr lang="en-US" altLang="zh-CN" b="1" dirty="0"/>
          </a:p>
          <a:p>
            <a:pPr marL="0" lvl="1" indent="0">
              <a:buNone/>
            </a:pPr>
            <a:r>
              <a:rPr lang="en-US" altLang="zh-CN" b="1" i="1" dirty="0">
                <a:solidFill>
                  <a:srgbClr val="3333FF"/>
                </a:solidFill>
                <a:latin typeface="Times New Roman" pitchFamily="18" charset="0"/>
              </a:rPr>
              <a:t>                     </a:t>
            </a:r>
            <a:r>
              <a:rPr lang="en-US" altLang="zh-CN" b="1" i="1" dirty="0" err="1">
                <a:solidFill>
                  <a:srgbClr val="3333FF"/>
                </a:solidFill>
                <a:latin typeface="Times New Roman" pitchFamily="18" charset="0"/>
              </a:rPr>
              <a:t>A</a:t>
            </a:r>
            <a:r>
              <a:rPr lang="en-US" altLang="zh-CN" b="1" i="1" baseline="-25000" dirty="0" err="1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f</a:t>
            </a:r>
            <a:r>
              <a:rPr lang="zh-CN" altLang="en-US" b="1" i="1" baseline="-25000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(1) = max </a:t>
            </a:r>
            <a:r>
              <a:rPr lang="en-US" altLang="zh-CN" b="1" i="1" dirty="0" err="1">
                <a:solidFill>
                  <a:srgbClr val="3333FF"/>
                </a:solidFill>
                <a:latin typeface="Times New Roman" pitchFamily="18" charset="0"/>
              </a:rPr>
              <a:t>A</a:t>
            </a:r>
            <a:r>
              <a:rPr lang="en-US" altLang="zh-CN" b="1" i="1" baseline="-25000" dirty="0" err="1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f</a:t>
            </a:r>
            <a:r>
              <a:rPr lang="zh-CN" altLang="en-US" b="1" i="1" baseline="-25000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lvl="1" indent="-457200"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en-US" altLang="zh-CN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个单位电压时最恰当。</a:t>
            </a:r>
          </a:p>
          <a:p>
            <a:pPr marL="0" indent="0">
              <a:buNone/>
            </a:pPr>
            <a:endParaRPr lang="en-US" altLang="zh-CN" sz="2800" b="1" dirty="0"/>
          </a:p>
          <a:p>
            <a:pPr marL="0" indent="0">
              <a:buNone/>
            </a:pPr>
            <a:endParaRPr lang="zh-CN" altLang="en-US" sz="2800" b="1" dirty="0"/>
          </a:p>
          <a:p>
            <a:pPr marL="400050" lvl="1" indent="0">
              <a:buNone/>
            </a:pPr>
            <a:endParaRPr lang="zh-CN" altLang="en-US" sz="2400" b="1" dirty="0"/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277279"/>
              </p:ext>
            </p:extLst>
          </p:nvPr>
        </p:nvGraphicFramePr>
        <p:xfrm>
          <a:off x="4172150" y="2708921"/>
          <a:ext cx="1347787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5593" imgH="241722" progId="Equation.DSMT4">
                  <p:embed/>
                </p:oleObj>
              </mc:Choice>
              <mc:Fallback>
                <p:oleObj name="Equation" r:id="rId3" imgW="635593" imgH="24172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2150" y="2708921"/>
                        <a:ext cx="1347787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66992"/>
              </p:ext>
            </p:extLst>
          </p:nvPr>
        </p:nvGraphicFramePr>
        <p:xfrm>
          <a:off x="4151785" y="3212976"/>
          <a:ext cx="167163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593117" imgH="6401117" progId="Equation.DSMT4">
                  <p:embed/>
                </p:oleObj>
              </mc:Choice>
              <mc:Fallback>
                <p:oleObj name="Equation" r:id="rId5" imgW="18593117" imgH="640111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785" y="3212976"/>
                        <a:ext cx="167163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986776"/>
              </p:ext>
            </p:extLst>
          </p:nvPr>
        </p:nvGraphicFramePr>
        <p:xfrm>
          <a:off x="2063553" y="4492153"/>
          <a:ext cx="26066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34396" imgH="267133" progId="Equation.DSMT4">
                  <p:embed/>
                </p:oleObj>
              </mc:Choice>
              <mc:Fallback>
                <p:oleObj name="Equation" r:id="rId7" imgW="1334396" imgH="26713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3" y="4492153"/>
                        <a:ext cx="26066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535674"/>
              </p:ext>
            </p:extLst>
          </p:nvPr>
        </p:nvGraphicFramePr>
        <p:xfrm>
          <a:off x="4601965" y="4131792"/>
          <a:ext cx="3251200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64017" imgH="635317" progId="Equation.DSMT4">
                  <p:embed/>
                </p:oleObj>
              </mc:Choice>
              <mc:Fallback>
                <p:oleObj name="Equation" r:id="rId9" imgW="1664017" imgH="635317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1965" y="4131792"/>
                        <a:ext cx="3251200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694194"/>
              </p:ext>
            </p:extLst>
          </p:nvPr>
        </p:nvGraphicFramePr>
        <p:xfrm>
          <a:off x="7536160" y="5373216"/>
          <a:ext cx="3038110" cy="983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73617" imgH="736917" progId="Equation.DSMT4">
                  <p:embed/>
                </p:oleObj>
              </mc:Choice>
              <mc:Fallback>
                <p:oleObj name="Equation" r:id="rId11" imgW="2273617" imgH="7369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6160" y="5373216"/>
                        <a:ext cx="3038110" cy="9837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76D36673-153F-4740-B437-C9FC45EA85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5824" y="3812001"/>
            <a:ext cx="2466109" cy="1371600"/>
          </a:xfrm>
          <a:prstGeom prst="rect">
            <a:avLst/>
          </a:prstGeom>
        </p:spPr>
      </p:pic>
      <p:pic>
        <p:nvPicPr>
          <p:cNvPr id="7" name="图片 6" descr="图片包含 图示&#10;&#10;描述已自动生成">
            <a:extLst>
              <a:ext uri="{FF2B5EF4-FFF2-40B4-BE49-F238E27FC236}">
                <a16:creationId xmlns:a16="http://schemas.microsoft.com/office/drawing/2014/main" id="{E5498F28-D356-39B5-7EE5-CA3F3238B42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176" y="1268760"/>
            <a:ext cx="4070612" cy="2393457"/>
          </a:xfrm>
          <a:prstGeom prst="rect">
            <a:avLst/>
          </a:prstGeom>
        </p:spPr>
      </p:pic>
      <p:sp>
        <p:nvSpPr>
          <p:cNvPr id="8" name="Line 25">
            <a:extLst>
              <a:ext uri="{FF2B5EF4-FFF2-40B4-BE49-F238E27FC236}">
                <a16:creationId xmlns:a16="http://schemas.microsoft.com/office/drawing/2014/main" id="{74F602E1-B03D-1F88-1F5B-BEF6B0C1E7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86900" y="3429541"/>
            <a:ext cx="0" cy="70744"/>
          </a:xfrm>
          <a:prstGeom prst="line">
            <a:avLst/>
          </a:prstGeom>
          <a:noFill/>
          <a:ln w="76200" cap="flat" cmpd="sng">
            <a:solidFill>
              <a:srgbClr val="CC00CC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77A865-FDDA-E1B4-1FD3-2A7623133029}"/>
              </a:ext>
            </a:extLst>
          </p:cNvPr>
          <p:cNvSpPr txBox="1"/>
          <p:nvPr/>
        </p:nvSpPr>
        <p:spPr>
          <a:xfrm>
            <a:off x="7415011" y="6363510"/>
            <a:ext cx="198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2400" b="1" i="1" dirty="0">
                <a:solidFill>
                  <a:srgbClr val="3333FF"/>
                </a:solidFill>
                <a:latin typeface="Times New Roman" pitchFamily="18" charset="0"/>
              </a:rPr>
              <a:t>y =f</a:t>
            </a:r>
            <a:r>
              <a:rPr lang="zh-CN" altLang="en-US" sz="2400" b="1" i="1" baseline="-25000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(1)=0.135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F0764A4-EE73-C491-56A3-37C253E5FF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/>
            <a:r>
              <a:rPr lang="zh-CN" altLang="en-US" sz="4000" dirty="0">
                <a:solidFill>
                  <a:srgbClr val="008000"/>
                </a:solidFill>
              </a:rPr>
              <a:t>11.</a:t>
            </a:r>
            <a:r>
              <a:rPr lang="en-US" altLang="zh-CN" sz="4000" dirty="0">
                <a:solidFill>
                  <a:srgbClr val="008000"/>
                </a:solidFill>
              </a:rPr>
              <a:t>4</a:t>
            </a:r>
            <a:r>
              <a:rPr lang="zh-CN" altLang="en-US" sz="4000" dirty="0">
                <a:solidFill>
                  <a:srgbClr val="008000"/>
                </a:solidFill>
              </a:rPr>
              <a:t>  </a:t>
            </a:r>
            <a:r>
              <a:rPr lang="zh-CN" altLang="en-US" sz="40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对称型与非对称型</a:t>
            </a:r>
            <a:r>
              <a:rPr lang="en-US" altLang="zh-CN" sz="4000" dirty="0">
                <a:solidFill>
                  <a:srgbClr val="008000"/>
                </a:solidFill>
                <a:cs typeface="Times New Roman" pitchFamily="18" charset="0"/>
              </a:rPr>
              <a:t>F</a:t>
            </a:r>
            <a:r>
              <a:rPr lang="zh-CN" altLang="en-US" sz="4000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规划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297959"/>
            <a:ext cx="10009112" cy="5327650"/>
          </a:xfrm>
        </p:spPr>
        <p:txBody>
          <a:bodyPr vert="horz" wrap="square" lIns="90170" tIns="46990" rIns="90170" bIns="4699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对称型的F规划</a:t>
            </a:r>
          </a:p>
          <a:p>
            <a:pPr>
              <a:buFont typeface="Wingdings" pitchFamily="2" charset="2"/>
              <a:buNone/>
            </a:pPr>
            <a:r>
              <a:rPr lang="zh-CN" altLang="en-US" sz="2400" b="1" dirty="0"/>
              <a:t>           </a:t>
            </a:r>
            <a:r>
              <a:rPr lang="zh-CN" altLang="en-US" sz="2800" b="1" dirty="0"/>
              <a:t>——指</a:t>
            </a:r>
            <a:r>
              <a:rPr lang="zh-CN" altLang="en-US" sz="28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目标和约束具有同等重要情况下</a:t>
            </a:r>
            <a:r>
              <a:rPr lang="zh-CN" altLang="en-US" sz="2800" b="1" dirty="0"/>
              <a:t>的最优化问题</a:t>
            </a:r>
          </a:p>
          <a:p>
            <a:r>
              <a:rPr lang="zh-CN" altLang="en-US" sz="2700" b="1" dirty="0"/>
              <a:t>设目标函数</a:t>
            </a:r>
            <a:r>
              <a:rPr lang="zh-CN" altLang="en-US" sz="2700" b="1" i="1" dirty="0">
                <a:latin typeface="Times New Roman" pitchFamily="18" charset="0"/>
              </a:rPr>
              <a:t>f</a:t>
            </a:r>
            <a:r>
              <a:rPr lang="zh-CN" altLang="en-US" sz="2700" b="1" dirty="0">
                <a:latin typeface="Times New Roman" pitchFamily="18" charset="0"/>
              </a:rPr>
              <a:t>(</a:t>
            </a:r>
            <a:r>
              <a:rPr lang="zh-CN" altLang="en-US" sz="2700" b="1" i="1" dirty="0">
                <a:latin typeface="Times New Roman" pitchFamily="18" charset="0"/>
              </a:rPr>
              <a:t>u</a:t>
            </a:r>
            <a:r>
              <a:rPr lang="zh-CN" altLang="en-US" sz="2700" b="1" dirty="0">
                <a:latin typeface="Times New Roman" pitchFamily="18" charset="0"/>
              </a:rPr>
              <a:t>)有界，</a:t>
            </a:r>
          </a:p>
          <a:p>
            <a:pPr lvl="1"/>
            <a:r>
              <a:rPr lang="zh-CN" altLang="en-US" sz="2400" b="1" dirty="0">
                <a:latin typeface="Times New Roman" pitchFamily="18" charset="0"/>
              </a:rPr>
              <a:t>令 </a:t>
            </a:r>
            <a:r>
              <a:rPr lang="zh-CN" altLang="en-US" sz="2400" b="1" i="1" dirty="0">
                <a:latin typeface="Times New Roman" pitchFamily="18" charset="0"/>
              </a:rPr>
              <a:t>M</a:t>
            </a:r>
            <a:r>
              <a:rPr lang="zh-CN" altLang="en-US" sz="2400" b="1" dirty="0">
                <a:latin typeface="Times New Roman" pitchFamily="18" charset="0"/>
              </a:rPr>
              <a:t>=max </a:t>
            </a:r>
            <a:r>
              <a:rPr lang="zh-CN" altLang="en-US" sz="2400" b="1" i="1" dirty="0">
                <a:latin typeface="Times New Roman" pitchFamily="18" charset="0"/>
              </a:rPr>
              <a:t>f</a:t>
            </a:r>
            <a:r>
              <a:rPr lang="zh-CN" altLang="en-US" sz="2400" b="1" dirty="0">
                <a:latin typeface="Times New Roman" pitchFamily="18" charset="0"/>
              </a:rPr>
              <a:t>(</a:t>
            </a:r>
            <a:r>
              <a:rPr lang="zh-CN" altLang="en-US" sz="2400" b="1" i="1" dirty="0">
                <a:latin typeface="Times New Roman" pitchFamily="18" charset="0"/>
              </a:rPr>
              <a:t>u</a:t>
            </a:r>
            <a:r>
              <a:rPr lang="zh-CN" altLang="en-US" sz="2400" b="1" dirty="0">
                <a:latin typeface="Times New Roman" pitchFamily="18" charset="0"/>
              </a:rPr>
              <a:t>), </a:t>
            </a:r>
            <a:r>
              <a:rPr lang="zh-CN" altLang="en-US" sz="2400" b="1" i="1" dirty="0">
                <a:latin typeface="Times New Roman" pitchFamily="18" charset="0"/>
              </a:rPr>
              <a:t>m</a:t>
            </a:r>
            <a:r>
              <a:rPr lang="zh-CN" altLang="en-US" sz="2400" b="1" dirty="0">
                <a:latin typeface="Times New Roman" pitchFamily="18" charset="0"/>
              </a:rPr>
              <a:t>=min </a:t>
            </a:r>
            <a:r>
              <a:rPr lang="zh-CN" altLang="en-US" sz="2400" b="1" i="1" dirty="0">
                <a:latin typeface="Times New Roman" pitchFamily="18" charset="0"/>
              </a:rPr>
              <a:t>f</a:t>
            </a:r>
            <a:r>
              <a:rPr lang="zh-CN" altLang="en-US" sz="2400" b="1" dirty="0">
                <a:latin typeface="Times New Roman" pitchFamily="18" charset="0"/>
              </a:rPr>
              <a:t>(</a:t>
            </a:r>
            <a:r>
              <a:rPr lang="zh-CN" altLang="en-US" sz="2400" b="1" i="1" dirty="0">
                <a:latin typeface="Times New Roman" pitchFamily="18" charset="0"/>
              </a:rPr>
              <a:t>u</a:t>
            </a:r>
            <a:r>
              <a:rPr lang="zh-CN" altLang="en-US" sz="2400" b="1" dirty="0">
                <a:latin typeface="Times New Roman" pitchFamily="18" charset="0"/>
              </a:rPr>
              <a:t>)</a:t>
            </a:r>
          </a:p>
          <a:p>
            <a:pPr lvl="1"/>
            <a:r>
              <a:rPr lang="zh-CN" altLang="en-US" sz="2400" b="1" dirty="0">
                <a:latin typeface="Times New Roman" pitchFamily="18" charset="0"/>
              </a:rPr>
              <a:t>把</a:t>
            </a:r>
            <a:r>
              <a:rPr lang="zh-CN" altLang="en-US" sz="2400" b="1" i="1" dirty="0">
                <a:latin typeface="Times New Roman" pitchFamily="18" charset="0"/>
              </a:rPr>
              <a:t>f</a:t>
            </a:r>
            <a:r>
              <a:rPr lang="zh-CN" altLang="en-US" sz="2400" b="1" dirty="0">
                <a:latin typeface="Times New Roman" pitchFamily="18" charset="0"/>
              </a:rPr>
              <a:t>(</a:t>
            </a:r>
            <a:r>
              <a:rPr lang="zh-CN" altLang="en-US" sz="2400" b="1" i="1" dirty="0">
                <a:latin typeface="Times New Roman" pitchFamily="18" charset="0"/>
              </a:rPr>
              <a:t>u</a:t>
            </a:r>
            <a:r>
              <a:rPr lang="zh-CN" altLang="en-US" sz="2400" b="1" dirty="0">
                <a:latin typeface="Times New Roman" pitchFamily="18" charset="0"/>
              </a:rPr>
              <a:t>)改造为</a:t>
            </a:r>
            <a:r>
              <a:rPr lang="zh-CN" altLang="en-US" sz="2400" b="1" i="1" dirty="0">
                <a:solidFill>
                  <a:srgbClr val="CC00CC"/>
                </a:solidFill>
                <a:latin typeface="Times New Roman" pitchFamily="18" charset="0"/>
              </a:rPr>
              <a:t>M</a:t>
            </a:r>
            <a:r>
              <a:rPr lang="zh-CN" altLang="en-US" sz="2400" b="1" i="1" baseline="-25000" dirty="0">
                <a:solidFill>
                  <a:srgbClr val="CC00CC"/>
                </a:solidFill>
                <a:latin typeface="Times New Roman" pitchFamily="18" charset="0"/>
              </a:rPr>
              <a:t>f </a:t>
            </a:r>
            <a:r>
              <a:rPr lang="zh-CN" altLang="en-US" sz="2400" b="1" dirty="0">
                <a:solidFill>
                  <a:srgbClr val="CC00CC"/>
                </a:solidFill>
                <a:latin typeface="Times New Roman" pitchFamily="18" charset="0"/>
              </a:rPr>
              <a:t>(</a:t>
            </a:r>
            <a:r>
              <a:rPr lang="zh-CN" altLang="en-US" sz="2400" b="1" i="1" dirty="0">
                <a:solidFill>
                  <a:srgbClr val="CC00CC"/>
                </a:solidFill>
                <a:latin typeface="Times New Roman" pitchFamily="18" charset="0"/>
              </a:rPr>
              <a:t>u</a:t>
            </a:r>
            <a:r>
              <a:rPr lang="zh-CN" altLang="en-US" sz="2400" b="1" dirty="0">
                <a:solidFill>
                  <a:srgbClr val="CC00CC"/>
                </a:solidFill>
                <a:latin typeface="Times New Roman" pitchFamily="18" charset="0"/>
              </a:rPr>
              <a:t>)</a:t>
            </a:r>
            <a:r>
              <a:rPr lang="en-US" altLang="zh-CN" sz="2400" b="1" dirty="0">
                <a:solidFill>
                  <a:srgbClr val="CC00CC"/>
                </a:solidFill>
                <a:sym typeface="Symbol" pitchFamily="18" charset="2"/>
              </a:rPr>
              <a:t></a:t>
            </a:r>
            <a:r>
              <a:rPr lang="zh-CN" altLang="en-US" sz="2400" b="1" dirty="0">
                <a:solidFill>
                  <a:srgbClr val="CC00CC"/>
                </a:solidFill>
                <a:sym typeface="Symbol" pitchFamily="18" charset="2"/>
              </a:rPr>
              <a:t>[0, 1]</a:t>
            </a:r>
            <a:r>
              <a:rPr lang="zh-CN" altLang="en-US" sz="2400" b="1" dirty="0">
                <a:sym typeface="Symbol" pitchFamily="18" charset="2"/>
              </a:rPr>
              <a:t>：</a:t>
            </a:r>
          </a:p>
          <a:p>
            <a:pPr lvl="1"/>
            <a:endParaRPr lang="zh-CN" altLang="en-US" sz="2300" b="1" dirty="0">
              <a:sym typeface="Symbol" pitchFamily="18" charset="2"/>
            </a:endParaRPr>
          </a:p>
          <a:p>
            <a:pPr lvl="1"/>
            <a:endParaRPr lang="zh-CN" altLang="en-US" sz="2300" b="1" dirty="0">
              <a:sym typeface="Symbol" pitchFamily="18" charset="2"/>
            </a:endParaRPr>
          </a:p>
          <a:p>
            <a:pPr lvl="1"/>
            <a:r>
              <a:rPr lang="zh-CN" altLang="en-US" sz="2400" b="1" dirty="0">
                <a:sym typeface="Symbol" pitchFamily="18" charset="2"/>
              </a:rPr>
              <a:t>可见</a:t>
            </a:r>
            <a:r>
              <a:rPr lang="zh-CN" altLang="en-US" sz="2400" b="1" i="1" dirty="0">
                <a:solidFill>
                  <a:srgbClr val="008000"/>
                </a:solidFill>
                <a:latin typeface="Times New Roman" pitchFamily="18" charset="0"/>
              </a:rPr>
              <a:t>M</a:t>
            </a:r>
            <a:r>
              <a:rPr lang="zh-CN" altLang="en-US" sz="2400" b="1" i="1" baseline="-25000" dirty="0">
                <a:solidFill>
                  <a:srgbClr val="008000"/>
                </a:solidFill>
                <a:latin typeface="Times New Roman" pitchFamily="18" charset="0"/>
              </a:rPr>
              <a:t>f </a:t>
            </a:r>
            <a:r>
              <a:rPr lang="zh-CN" altLang="en-US" sz="2400" b="1" dirty="0">
                <a:solidFill>
                  <a:srgbClr val="008000"/>
                </a:solidFill>
                <a:sym typeface="Symbol" pitchFamily="18" charset="2"/>
              </a:rPr>
              <a:t>:U</a:t>
            </a:r>
            <a:r>
              <a:rPr lang="en-US" altLang="zh-CN" sz="2400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→</a:t>
            </a:r>
            <a:r>
              <a:rPr lang="zh-CN" altLang="en-US" sz="2400" b="1" dirty="0">
                <a:solidFill>
                  <a:srgbClr val="008000"/>
                </a:solidFill>
                <a:sym typeface="Symbol" pitchFamily="18" charset="2"/>
              </a:rPr>
              <a:t>[0,1]</a:t>
            </a:r>
            <a:r>
              <a:rPr lang="zh-CN" altLang="en-US" sz="2400" b="1" dirty="0">
                <a:sym typeface="Symbol" pitchFamily="18" charset="2"/>
              </a:rPr>
              <a:t> 是一个F集，可代表目标，称为</a:t>
            </a:r>
            <a:r>
              <a:rPr lang="zh-CN" altLang="en-US" sz="24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F</a:t>
            </a:r>
            <a:r>
              <a:rPr lang="zh-CN" altLang="en-US" sz="24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目标集</a:t>
            </a:r>
          </a:p>
          <a:p>
            <a:pPr lvl="1">
              <a:buFont typeface="Wingdings" pitchFamily="2" charset="2"/>
              <a:buNone/>
            </a:pPr>
            <a:r>
              <a:rPr lang="zh-CN" altLang="en-US" sz="2400" b="1" dirty="0">
                <a:sym typeface="Symbol" pitchFamily="18" charset="2"/>
              </a:rPr>
              <a:t>显然，在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en-US" altLang="zh-CN" sz="2400" b="1" i="1" baseline="-25000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zh-CN" altLang="en-US" sz="2400" b="1" i="1" baseline="-250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上求</a:t>
            </a:r>
            <a:r>
              <a:rPr lang="zh-CN" altLang="en-US" sz="2400" b="1" i="1" dirty="0">
                <a:latin typeface="Times New Roman" pitchFamily="18" charset="0"/>
              </a:rPr>
              <a:t>f</a:t>
            </a:r>
            <a:r>
              <a:rPr lang="zh-CN" altLang="en-US" sz="2400" b="1" dirty="0">
                <a:latin typeface="Times New Roman" pitchFamily="18" charset="0"/>
              </a:rPr>
              <a:t>(</a:t>
            </a:r>
            <a:r>
              <a:rPr lang="zh-CN" altLang="en-US" sz="2400" b="1" i="1" dirty="0">
                <a:latin typeface="Times New Roman" pitchFamily="18" charset="0"/>
              </a:rPr>
              <a:t>u</a:t>
            </a:r>
            <a:r>
              <a:rPr lang="zh-CN" altLang="en-US" sz="2400" b="1" dirty="0">
                <a:latin typeface="Times New Roman" pitchFamily="18" charset="0"/>
              </a:rPr>
              <a:t>)的问题，等价于在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en-US" altLang="zh-CN" sz="2400" b="1" i="1" baseline="-25000" dirty="0">
                <a:latin typeface="Times New Roman" pitchFamily="18" charset="0"/>
                <a:sym typeface="Symbol" pitchFamily="18" charset="2"/>
              </a:rPr>
              <a:t></a:t>
            </a:r>
            <a:r>
              <a:rPr lang="zh-CN" altLang="en-US" sz="2400" b="1" i="1" baseline="-250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上求元素</a:t>
            </a:r>
            <a:r>
              <a:rPr lang="zh-CN" altLang="en-US" sz="2400" b="1" i="1" dirty="0">
                <a:latin typeface="Times New Roman" pitchFamily="18" charset="0"/>
              </a:rPr>
              <a:t>u</a:t>
            </a:r>
            <a:r>
              <a:rPr lang="zh-CN" altLang="en-US" sz="2400" b="1" dirty="0">
                <a:latin typeface="Times New Roman" pitchFamily="18" charset="0"/>
              </a:rPr>
              <a:t>*，使</a:t>
            </a:r>
          </a:p>
          <a:p>
            <a:pPr lvl="1">
              <a:buFont typeface="Wingdings" pitchFamily="2" charset="2"/>
              <a:buNone/>
            </a:pPr>
            <a:endParaRPr lang="zh-CN" altLang="en-US" sz="1100" b="1" dirty="0">
              <a:latin typeface="Times New Roman" pitchFamily="18" charset="0"/>
            </a:endParaRPr>
          </a:p>
          <a:p>
            <a:pPr lvl="1">
              <a:buFont typeface="Wingdings" pitchFamily="2" charset="2"/>
              <a:buNone/>
            </a:pPr>
            <a:endParaRPr lang="zh-CN" altLang="en-US" sz="2400" b="1" dirty="0">
              <a:latin typeface="Times New Roman" pitchFamily="18" charset="0"/>
            </a:endParaRPr>
          </a:p>
          <a:p>
            <a:pPr lvl="1"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</a:rPr>
              <a:t>现考虑在F集A上求</a:t>
            </a:r>
            <a:r>
              <a:rPr lang="zh-CN" altLang="en-US" sz="2400" b="1" i="1" dirty="0">
                <a:latin typeface="Times New Roman" pitchFamily="18" charset="0"/>
              </a:rPr>
              <a:t>f</a:t>
            </a:r>
            <a:r>
              <a:rPr lang="zh-CN" altLang="en-US" sz="2400" b="1" dirty="0">
                <a:latin typeface="Times New Roman" pitchFamily="18" charset="0"/>
              </a:rPr>
              <a:t>(</a:t>
            </a:r>
            <a:r>
              <a:rPr lang="zh-CN" altLang="en-US" sz="2400" b="1" i="1" dirty="0">
                <a:latin typeface="Times New Roman" pitchFamily="18" charset="0"/>
              </a:rPr>
              <a:t>u</a:t>
            </a:r>
            <a:r>
              <a:rPr lang="zh-CN" altLang="en-US" sz="2400" b="1" dirty="0">
                <a:latin typeface="Times New Roman" pitchFamily="18" charset="0"/>
              </a:rPr>
              <a:t>)的最大值问题。        </a:t>
            </a:r>
            <a:r>
              <a:rPr lang="en-US" altLang="zh-CN" sz="24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endParaRPr lang="en-US" altLang="zh-CN" sz="2400" b="1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968410"/>
              </p:ext>
            </p:extLst>
          </p:nvPr>
        </p:nvGraphicFramePr>
        <p:xfrm>
          <a:off x="4229101" y="3709989"/>
          <a:ext cx="215582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41917" imgH="9449117" progId="Equation.DSMT4">
                  <p:embed/>
                </p:oleObj>
              </mc:Choice>
              <mc:Fallback>
                <p:oleObj name="Equation" r:id="rId2" imgW="28041917" imgH="944911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101" y="3709989"/>
                        <a:ext cx="2155825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4151313" y="5516564"/>
          <a:ext cx="29210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918717" imgH="7315517" progId="Equation.DSMT4">
                  <p:embed/>
                </p:oleObj>
              </mc:Choice>
              <mc:Fallback>
                <p:oleObj name="Equation" r:id="rId4" imgW="32918717" imgH="731551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5516564"/>
                        <a:ext cx="29210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A084C663-15FB-EAF3-4B01-D39C52785171}"/>
              </a:ext>
            </a:extLst>
          </p:cNvPr>
          <p:cNvSpPr txBox="1"/>
          <p:nvPr/>
        </p:nvSpPr>
        <p:spPr>
          <a:xfrm>
            <a:off x="7010400" y="3761729"/>
            <a:ext cx="4054152" cy="46166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dirty="0"/>
              <a:t>表示各点的优越程度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64F8789-408F-8F14-AE48-8906BA9DFC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 autoUpdateAnimBg="0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</a:rPr>
              <a:t> 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F极大值和F决策问题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8047" y="1165225"/>
            <a:ext cx="10585176" cy="5327650"/>
          </a:xfrm>
        </p:spPr>
        <p:txBody>
          <a:bodyPr vert="horz" wrap="square" lIns="90170" tIns="46990" rIns="90170" bIns="4699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定义1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/>
              <a:t>         设约束</a:t>
            </a:r>
            <a:r>
              <a:rPr lang="zh-CN" altLang="en-US" sz="2800" b="1" i="1" dirty="0"/>
              <a:t>A</a:t>
            </a:r>
            <a:r>
              <a:rPr lang="zh-CN" altLang="en-US" sz="2800" b="1" dirty="0"/>
              <a:t>和目标</a:t>
            </a:r>
            <a:r>
              <a:rPr lang="zh-CN" altLang="en-US" sz="2800" b="1" i="1" dirty="0">
                <a:latin typeface="Times New Roman" pitchFamily="18" charset="0"/>
              </a:rPr>
              <a:t>M</a:t>
            </a:r>
            <a:r>
              <a:rPr lang="zh-CN" altLang="en-US" sz="2800" b="1" i="1" baseline="-25000" dirty="0">
                <a:latin typeface="Times New Roman" pitchFamily="18" charset="0"/>
              </a:rPr>
              <a:t>f </a:t>
            </a:r>
            <a:r>
              <a:rPr lang="zh-CN" altLang="en-US" sz="2800" b="1" dirty="0"/>
              <a:t>都是U上的F集，若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zh-CN" altLang="en-US" sz="28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zh-CN" altLang="en-US" sz="2000" b="1" dirty="0"/>
          </a:p>
          <a:p>
            <a:pPr lvl="1">
              <a:lnSpc>
                <a:spcPct val="90000"/>
              </a:lnSpc>
            </a:pPr>
            <a:r>
              <a:rPr lang="zh-CN" altLang="en-US" b="1" dirty="0"/>
              <a:t>称</a:t>
            </a:r>
            <a:r>
              <a:rPr lang="zh-CN" altLang="en-US" b="1" i="1" dirty="0">
                <a:solidFill>
                  <a:srgbClr val="CC00CC"/>
                </a:solidFill>
                <a:latin typeface="Times New Roman" pitchFamily="18" charset="0"/>
              </a:rPr>
              <a:t>u</a:t>
            </a:r>
            <a:r>
              <a:rPr lang="zh-CN" altLang="en-US" b="1" dirty="0">
                <a:solidFill>
                  <a:srgbClr val="CC00CC"/>
                </a:solidFill>
                <a:latin typeface="Times New Roman" pitchFamily="18" charset="0"/>
              </a:rPr>
              <a:t>*</a:t>
            </a:r>
            <a:r>
              <a:rPr lang="zh-CN" altLang="en-US" b="1" dirty="0">
                <a:latin typeface="Times New Roman" pitchFamily="18" charset="0"/>
              </a:rPr>
              <a:t>是</a:t>
            </a:r>
            <a:r>
              <a:rPr lang="zh-CN" altLang="en-US" b="1" i="1" dirty="0">
                <a:latin typeface="Times New Roman" pitchFamily="18" charset="0"/>
              </a:rPr>
              <a:t>f</a:t>
            </a:r>
            <a:r>
              <a:rPr lang="zh-CN" altLang="en-US" b="1" dirty="0">
                <a:latin typeface="Times New Roman" pitchFamily="18" charset="0"/>
              </a:rPr>
              <a:t>(</a:t>
            </a:r>
            <a:r>
              <a:rPr lang="zh-CN" altLang="en-US" b="1" i="1" dirty="0">
                <a:latin typeface="Times New Roman" pitchFamily="18" charset="0"/>
              </a:rPr>
              <a:t>u</a:t>
            </a:r>
            <a:r>
              <a:rPr lang="zh-CN" altLang="en-US" b="1" dirty="0">
                <a:latin typeface="Times New Roman" pitchFamily="18" charset="0"/>
              </a:rPr>
              <a:t>)在F集A上的极大元素(或</a:t>
            </a:r>
            <a:r>
              <a:rPr lang="zh-CN" altLang="en-US" b="1" dirty="0">
                <a:solidFill>
                  <a:srgbClr val="CC00CC"/>
                </a:solidFill>
                <a:latin typeface="Times New Roman" pitchFamily="18" charset="0"/>
                <a:ea typeface="黑体" pitchFamily="49" charset="-122"/>
              </a:rPr>
              <a:t>最优点</a:t>
            </a:r>
            <a:r>
              <a:rPr lang="zh-CN" altLang="en-US" b="1" dirty="0">
                <a:latin typeface="Times New Roman" pitchFamily="18" charset="0"/>
              </a:rPr>
              <a:t>)，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>
                <a:latin typeface="Times New Roman" pitchFamily="18" charset="0"/>
              </a:rPr>
              <a:t>称</a:t>
            </a:r>
            <a:r>
              <a:rPr lang="zh-CN" altLang="en-US" b="1" i="1" dirty="0">
                <a:solidFill>
                  <a:srgbClr val="3333FF"/>
                </a:solidFill>
                <a:latin typeface="Times New Roman" pitchFamily="18" charset="0"/>
              </a:rPr>
              <a:t>f</a:t>
            </a:r>
            <a:r>
              <a:rPr lang="zh-CN" altLang="en-US" b="1" dirty="0">
                <a:solidFill>
                  <a:srgbClr val="3333FF"/>
                </a:solidFill>
                <a:latin typeface="Times New Roman" pitchFamily="18" charset="0"/>
              </a:rPr>
              <a:t>(</a:t>
            </a:r>
            <a:r>
              <a:rPr lang="zh-CN" altLang="en-US" b="1" i="1" dirty="0">
                <a:solidFill>
                  <a:srgbClr val="3333FF"/>
                </a:solidFill>
                <a:latin typeface="Times New Roman" pitchFamily="18" charset="0"/>
              </a:rPr>
              <a:t>u*</a:t>
            </a:r>
            <a:r>
              <a:rPr lang="zh-CN" altLang="en-US" b="1" dirty="0">
                <a:solidFill>
                  <a:srgbClr val="3333FF"/>
                </a:solidFill>
                <a:latin typeface="Times New Roman" pitchFamily="18" charset="0"/>
              </a:rPr>
              <a:t>)</a:t>
            </a:r>
            <a:r>
              <a:rPr lang="zh-CN" altLang="en-US" b="1" dirty="0">
                <a:latin typeface="Times New Roman" pitchFamily="18" charset="0"/>
              </a:rPr>
              <a:t>是F约束A下的最大值(或</a:t>
            </a:r>
            <a:r>
              <a:rPr lang="zh-CN" altLang="en-US" b="1" dirty="0">
                <a:solidFill>
                  <a:srgbClr val="3333FF"/>
                </a:solidFill>
                <a:latin typeface="Times New Roman" pitchFamily="18" charset="0"/>
                <a:ea typeface="黑体" pitchFamily="49" charset="-122"/>
              </a:rPr>
              <a:t>最优值</a:t>
            </a:r>
            <a:r>
              <a:rPr lang="zh-CN" altLang="en-US" b="1" dirty="0">
                <a:latin typeface="Times New Roman" pitchFamily="18" charset="0"/>
              </a:rPr>
              <a:t>)。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itchFamily="18" charset="0"/>
              </a:rPr>
              <a:t>        寻找</a:t>
            </a:r>
            <a:r>
              <a:rPr lang="zh-CN" altLang="en-US" sz="2800" b="1" i="1" dirty="0">
                <a:latin typeface="Times New Roman" pitchFamily="18" charset="0"/>
              </a:rPr>
              <a:t>f</a:t>
            </a:r>
            <a:r>
              <a:rPr lang="zh-CN" altLang="en-US" sz="2800" b="1" dirty="0">
                <a:latin typeface="Times New Roman" pitchFamily="18" charset="0"/>
              </a:rPr>
              <a:t>(</a:t>
            </a:r>
            <a:r>
              <a:rPr lang="zh-CN" altLang="en-US" sz="2800" b="1" i="1" dirty="0">
                <a:latin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</a:rPr>
              <a:t>)在F集A上的</a:t>
            </a:r>
            <a:r>
              <a:rPr lang="zh-CN" altLang="en-US" sz="2800" b="1" dirty="0">
                <a:solidFill>
                  <a:srgbClr val="CC00CC"/>
                </a:solidFill>
                <a:latin typeface="Times New Roman" pitchFamily="18" charset="0"/>
              </a:rPr>
              <a:t>最优点</a:t>
            </a:r>
            <a:r>
              <a:rPr lang="zh-CN" altLang="en-US" sz="2800" b="1" dirty="0">
                <a:latin typeface="Times New Roman" pitchFamily="18" charset="0"/>
              </a:rPr>
              <a:t>的问题，又称为</a:t>
            </a:r>
            <a:r>
              <a:rPr lang="zh-CN" altLang="en-US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F决策问题</a:t>
            </a:r>
          </a:p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定义2  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zh-CN" altLang="en-US" sz="2800" b="1" dirty="0"/>
              <a:t>设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800" b="1" i="1" dirty="0">
                <a:latin typeface="Times New Roman" pitchFamily="18" charset="0"/>
              </a:rPr>
              <a:t>、B</a:t>
            </a:r>
            <a:r>
              <a:rPr lang="en-US" altLang="zh-CN" sz="2800" b="1" dirty="0">
                <a:sym typeface="Symbol" pitchFamily="18" charset="2"/>
              </a:rPr>
              <a:t></a:t>
            </a:r>
            <a:r>
              <a:rPr lang="en-US" altLang="zh-CN" sz="2800" b="1" dirty="0">
                <a:latin typeface="Monotype Corsiva" pitchFamily="66" charset="0"/>
                <a:sym typeface="Symbol" pitchFamily="18" charset="2"/>
              </a:rPr>
              <a:t>F</a:t>
            </a:r>
            <a:r>
              <a:rPr lang="en-US" altLang="zh-CN" sz="2800" b="1" dirty="0">
                <a:sym typeface="Symbol" pitchFamily="18" charset="2"/>
              </a:rPr>
              <a:t>(</a:t>
            </a:r>
            <a:r>
              <a:rPr lang="en-US" altLang="zh-CN" sz="2800" b="1" i="1" dirty="0">
                <a:latin typeface="Times New Roman" pitchFamily="18" charset="0"/>
              </a:rPr>
              <a:t>U</a:t>
            </a:r>
            <a:r>
              <a:rPr lang="en-US" altLang="zh-CN" sz="2800" b="1" dirty="0">
                <a:sym typeface="Symbol" pitchFamily="18" charset="2"/>
              </a:rPr>
              <a:t>)</a:t>
            </a:r>
            <a:r>
              <a:rPr lang="zh-CN" altLang="en-US" sz="2800" b="1" dirty="0">
                <a:sym typeface="Symbol" pitchFamily="18" charset="2"/>
              </a:rPr>
              <a:t>,记</a:t>
            </a:r>
            <a:r>
              <a:rPr lang="zh-CN" altLang="en-US" sz="2800" b="1" i="1" dirty="0">
                <a:latin typeface="Times New Roman" pitchFamily="18" charset="0"/>
                <a:sym typeface="Symbol" pitchFamily="18" charset="2"/>
              </a:rPr>
              <a:t>D</a:t>
            </a:r>
            <a:r>
              <a:rPr lang="zh-CN" altLang="en-US" sz="2800" b="1" dirty="0">
                <a:sym typeface="Symbol" pitchFamily="18" charset="2"/>
              </a:rPr>
              <a:t>=</a:t>
            </a:r>
            <a:r>
              <a:rPr lang="zh-CN" altLang="en-US" sz="2800" b="1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</a:t>
            </a:r>
            <a:r>
              <a:rPr lang="zh-CN" altLang="en-US" sz="2800" b="1" i="1" dirty="0">
                <a:latin typeface="Times New Roman" pitchFamily="18" charset="0"/>
              </a:rPr>
              <a:t>A</a:t>
            </a:r>
            <a:r>
              <a:rPr lang="zh-CN" altLang="en-US" sz="2800" b="1" dirty="0">
                <a:latin typeface="Times New Roman" pitchFamily="18" charset="0"/>
              </a:rPr>
              <a:t>,</a:t>
            </a:r>
            <a:r>
              <a:rPr lang="zh-CN" altLang="en-US" sz="2800" b="1" dirty="0">
                <a:sym typeface="Symbol" pitchFamily="18" charset="2"/>
              </a:rPr>
              <a:t> 即</a:t>
            </a:r>
            <a:r>
              <a:rPr lang="zh-CN" altLang="en-US" sz="2800" b="1" i="1" dirty="0">
                <a:latin typeface="Times New Roman" pitchFamily="18" charset="0"/>
                <a:sym typeface="Symbol" pitchFamily="18" charset="2"/>
              </a:rPr>
              <a:t>D</a:t>
            </a:r>
            <a:r>
              <a:rPr lang="zh-CN" altLang="en-US" sz="2800" b="1" dirty="0">
                <a:latin typeface="Times New Roman" pitchFamily="18" charset="0"/>
              </a:rPr>
              <a:t>(</a:t>
            </a:r>
            <a:r>
              <a:rPr lang="zh-CN" altLang="en-US" sz="2800" b="1" i="1" dirty="0">
                <a:latin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</a:rPr>
              <a:t>)</a:t>
            </a:r>
            <a:r>
              <a:rPr lang="zh-CN" altLang="en-US" sz="2800" b="1" dirty="0">
                <a:sym typeface="Symbol" pitchFamily="18" charset="2"/>
              </a:rPr>
              <a:t>=</a:t>
            </a:r>
            <a:r>
              <a:rPr lang="zh-CN" altLang="en-US" sz="2800" b="1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zh-CN" altLang="en-US" sz="2800" b="1" dirty="0">
                <a:latin typeface="Times New Roman" pitchFamily="18" charset="0"/>
              </a:rPr>
              <a:t>(</a:t>
            </a:r>
            <a:r>
              <a:rPr lang="zh-CN" altLang="en-US" sz="2800" b="1" i="1" dirty="0">
                <a:latin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</a:rPr>
              <a:t>)</a:t>
            </a:r>
            <a:r>
              <a:rPr lang="en-US" altLang="zh-CN" sz="2800" b="1" dirty="0">
                <a:solidFill>
                  <a:srgbClr val="FF0000"/>
                </a:solidFill>
                <a:sym typeface="Symbol"/>
              </a:rPr>
              <a:t></a:t>
            </a:r>
            <a:r>
              <a:rPr lang="zh-CN" altLang="en-US" sz="2800" b="1" i="1" dirty="0">
                <a:latin typeface="Times New Roman" pitchFamily="18" charset="0"/>
              </a:rPr>
              <a:t>A</a:t>
            </a:r>
            <a:r>
              <a:rPr lang="zh-CN" altLang="en-US" sz="2800" b="1" dirty="0">
                <a:latin typeface="Times New Roman" pitchFamily="18" charset="0"/>
              </a:rPr>
              <a:t>(</a:t>
            </a:r>
            <a:r>
              <a:rPr lang="zh-CN" altLang="en-US" sz="2800" b="1" i="1" dirty="0">
                <a:latin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</a:rPr>
              <a:t>), </a:t>
            </a:r>
            <a:r>
              <a:rPr lang="zh-CN" altLang="en-US" sz="2800" b="1" dirty="0"/>
              <a:t>称</a:t>
            </a:r>
            <a:r>
              <a:rPr lang="zh-CN" altLang="en-US" sz="2800" b="1" i="1" dirty="0">
                <a:latin typeface="Times New Roman" pitchFamily="18" charset="0"/>
              </a:rPr>
              <a:t>D</a:t>
            </a:r>
            <a:r>
              <a:rPr lang="zh-CN" altLang="en-US" sz="2800" b="1" dirty="0"/>
              <a:t>为</a:t>
            </a:r>
            <a:r>
              <a:rPr lang="zh-CN" altLang="en-US" sz="2800" b="1" dirty="0">
                <a:solidFill>
                  <a:srgbClr val="CC00CC"/>
                </a:solidFill>
              </a:rPr>
              <a:t>F决策</a:t>
            </a:r>
            <a:r>
              <a:rPr lang="zh-CN" altLang="en-US" sz="2800" b="1" dirty="0"/>
              <a:t>。若</a:t>
            </a:r>
            <a:r>
              <a:rPr lang="zh-CN" altLang="en-US" sz="2800" b="1" i="1" dirty="0">
                <a:latin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</a:rPr>
              <a:t>*</a:t>
            </a:r>
            <a:r>
              <a:rPr lang="zh-CN" altLang="en-US" sz="2800" b="1" dirty="0"/>
              <a:t>满足</a:t>
            </a:r>
            <a:endParaRPr lang="zh-CN" altLang="en-US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zh-CN" altLang="en-US" sz="2400" b="1" dirty="0">
              <a:sym typeface="Symbol" pitchFamily="18" charset="2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dirty="0">
                <a:sym typeface="Symbol" pitchFamily="18" charset="2"/>
              </a:rPr>
              <a:t>由称</a:t>
            </a:r>
            <a:r>
              <a:rPr lang="zh-CN" altLang="en-US" b="1" i="1" dirty="0">
                <a:solidFill>
                  <a:srgbClr val="FF0000"/>
                </a:solidFill>
                <a:latin typeface="Times New Roman" pitchFamily="18" charset="0"/>
              </a:rPr>
              <a:t>u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</a:rPr>
              <a:t>*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是最优决策</a:t>
            </a:r>
            <a:r>
              <a:rPr lang="zh-CN" altLang="en-US" b="1" dirty="0">
                <a:latin typeface="Times New Roman" pitchFamily="18" charset="0"/>
              </a:rPr>
              <a:t>。       </a:t>
            </a:r>
            <a:r>
              <a:rPr lang="en-US" altLang="zh-CN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endParaRPr lang="en-US" altLang="zh-CN" b="1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9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250773"/>
              </p:ext>
            </p:extLst>
          </p:nvPr>
        </p:nvGraphicFramePr>
        <p:xfrm>
          <a:off x="3431704" y="2276872"/>
          <a:ext cx="40005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110717" imgH="7010717" progId="Equation.DSMT4">
                  <p:embed/>
                </p:oleObj>
              </mc:Choice>
              <mc:Fallback>
                <p:oleObj name="Equation" r:id="rId2" imgW="45110717" imgH="701071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2276872"/>
                        <a:ext cx="4000500" cy="6223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313160"/>
              </p:ext>
            </p:extLst>
          </p:nvPr>
        </p:nvGraphicFramePr>
        <p:xfrm>
          <a:off x="4079776" y="5647655"/>
          <a:ext cx="245903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737117" imgH="7010717" progId="Equation.DSMT4">
                  <p:embed/>
                </p:oleObj>
              </mc:Choice>
              <mc:Fallback>
                <p:oleObj name="Equation" r:id="rId4" imgW="27737117" imgH="701071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776" y="5647655"/>
                        <a:ext cx="2459038" cy="6223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D5CC2A6-F668-C223-5907-220D0D9069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uiExpand="1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 idx="4294967295"/>
          </p:nvPr>
        </p:nvSpPr>
        <p:spPr>
          <a:xfrm>
            <a:off x="1981200" y="188913"/>
            <a:ext cx="8229600" cy="1371600"/>
          </a:xfrm>
        </p:spPr>
        <p:txBody>
          <a:bodyPr/>
          <a:lstStyle/>
          <a:p>
            <a:pPr algn="ctr"/>
            <a:r>
              <a:rPr lang="zh-CN" altLang="en-US" sz="4000" dirty="0">
                <a:solidFill>
                  <a:srgbClr val="008000"/>
                </a:solidFill>
                <a:ea typeface="黑体" pitchFamily="49" charset="-122"/>
              </a:rPr>
              <a:t>对称型</a:t>
            </a:r>
            <a:r>
              <a:rPr lang="en-US" altLang="zh-CN" sz="4000" dirty="0">
                <a:solidFill>
                  <a:srgbClr val="008000"/>
                </a:solidFill>
                <a:cs typeface="Times New Roman" pitchFamily="18" charset="0"/>
              </a:rPr>
              <a:t>F</a:t>
            </a:r>
            <a:r>
              <a:rPr lang="zh-CN" altLang="en-US" sz="4000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最优规划举例</a:t>
            </a:r>
            <a:r>
              <a:rPr lang="en-US" altLang="zh-CN" sz="4000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2</a:t>
            </a:r>
            <a:endParaRPr lang="zh-CN" altLang="en-US" sz="4000" dirty="0"/>
          </a:p>
        </p:txBody>
      </p:sp>
      <p:sp>
        <p:nvSpPr>
          <p:cNvPr id="30723" name="内容占位符 2"/>
          <p:cNvSpPr>
            <a:spLocks noGrp="1"/>
          </p:cNvSpPr>
          <p:nvPr>
            <p:ph idx="4294967295"/>
          </p:nvPr>
        </p:nvSpPr>
        <p:spPr>
          <a:xfrm>
            <a:off x="911424" y="1557338"/>
            <a:ext cx="10225136" cy="5112022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某电机</a:t>
            </a:r>
            <a:r>
              <a:rPr lang="zh-CN" altLang="en-US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效率 </a:t>
            </a:r>
            <a:r>
              <a:rPr lang="zh-CN" altLang="en-US" sz="2800" b="1" i="1" u="sng" dirty="0">
                <a:solidFill>
                  <a:srgbClr val="FF0000"/>
                </a:solidFill>
                <a:latin typeface="Times New Roman" pitchFamily="18" charset="0"/>
              </a:rPr>
              <a:t>f</a:t>
            </a:r>
            <a:r>
              <a:rPr lang="zh-CN" altLang="en-US" sz="2800" b="1" u="sng" dirty="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zh-CN" altLang="en-US" sz="2800" b="1" i="1" u="sng" dirty="0">
                <a:solidFill>
                  <a:srgbClr val="FF0000"/>
                </a:solidFill>
                <a:latin typeface="Times New Roman" pitchFamily="18" charset="0"/>
              </a:rPr>
              <a:t>u</a:t>
            </a:r>
            <a:r>
              <a:rPr lang="zh-CN" altLang="en-US" sz="2800" b="1" u="sng" dirty="0">
                <a:solidFill>
                  <a:srgbClr val="FF0000"/>
                </a:solidFill>
                <a:latin typeface="Times New Roman" pitchFamily="18" charset="0"/>
              </a:rPr>
              <a:t>)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与</a:t>
            </a:r>
            <a:r>
              <a:rPr lang="zh-CN" altLang="en-US" sz="2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电压 </a:t>
            </a:r>
            <a:r>
              <a:rPr lang="en-US" altLang="zh-CN" sz="2800" b="1" i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成正态关系</a:t>
            </a:r>
            <a:endParaRPr lang="en-US" altLang="zh-CN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       为获得最大效率，应取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CN" sz="2400" b="1" dirty="0">
                <a:solidFill>
                  <a:srgbClr val="FF0000"/>
                </a:solidFill>
                <a:cs typeface="Times New Roman" pitchFamily="18" charset="0"/>
              </a:rPr>
              <a:t>5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。可是电压过高，又会引起漏电，威胁人身安全，为此，电压应给予限制，若约束函数是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集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),</a:t>
            </a:r>
          </a:p>
          <a:p>
            <a:pPr>
              <a:buFont typeface="Wingdings" pitchFamily="2" charset="2"/>
              <a:buNone/>
            </a:pP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altLang="zh-CN" sz="48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3333FF"/>
                </a:solidFill>
                <a:latin typeface="华文楷体" pitchFamily="2" charset="-122"/>
                <a:ea typeface="华文楷体" pitchFamily="2" charset="-122"/>
              </a:rPr>
              <a:t>试问选用何种电压才能在保证安全的情况下有尽可能大的效率？</a:t>
            </a:r>
          </a:p>
        </p:txBody>
      </p:sp>
      <p:graphicFrame>
        <p:nvGraphicFramePr>
          <p:cNvPr id="30724" name="Object 4"/>
          <p:cNvGraphicFramePr>
            <a:graphicFrameLocks noChangeAspect="1"/>
          </p:cNvGraphicFramePr>
          <p:nvPr/>
        </p:nvGraphicFramePr>
        <p:xfrm>
          <a:off x="3359151" y="2152650"/>
          <a:ext cx="5046663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741117" imgH="17678717" progId="Equation.DSMT4">
                  <p:embed/>
                </p:oleObj>
              </mc:Choice>
              <mc:Fallback>
                <p:oleObj name="Equation" r:id="rId2" imgW="59741117" imgH="1767871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2152650"/>
                        <a:ext cx="5046663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671555"/>
              </p:ext>
            </p:extLst>
          </p:nvPr>
        </p:nvGraphicFramePr>
        <p:xfrm>
          <a:off x="3215680" y="4503964"/>
          <a:ext cx="4249737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549117" imgH="14630717" progId="Equation.DSMT4">
                  <p:embed/>
                </p:oleObj>
              </mc:Choice>
              <mc:Fallback>
                <p:oleObj name="Equation" r:id="rId4" imgW="47549117" imgH="1463071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4503964"/>
                        <a:ext cx="4249737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1A0E7E46-2E29-4507-A701-F7B9E36953D5}"/>
              </a:ext>
            </a:extLst>
          </p:cNvPr>
          <p:cNvSpPr txBox="1"/>
          <p:nvPr/>
        </p:nvSpPr>
        <p:spPr>
          <a:xfrm>
            <a:off x="1981200" y="2636913"/>
            <a:ext cx="1522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C00CC"/>
                </a:solidFill>
              </a:rPr>
              <a:t>目标函数</a:t>
            </a:r>
            <a:r>
              <a:rPr lang="zh-CN" altLang="en-US" dirty="0">
                <a:solidFill>
                  <a:srgbClr val="CC00CC"/>
                </a:solidFill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71AF30-F41B-44E5-920C-AB32D031F9FB}"/>
              </a:ext>
            </a:extLst>
          </p:cNvPr>
          <p:cNvSpPr txBox="1"/>
          <p:nvPr/>
        </p:nvSpPr>
        <p:spPr>
          <a:xfrm>
            <a:off x="1868852" y="4838997"/>
            <a:ext cx="1522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8000"/>
                </a:solidFill>
              </a:rPr>
              <a:t>约束函数</a:t>
            </a:r>
            <a:r>
              <a:rPr lang="zh-CN" altLang="en-US" dirty="0">
                <a:solidFill>
                  <a:srgbClr val="008000"/>
                </a:solidFill>
              </a:rPr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E04D7DA-5D32-F533-91CA-09B0EDF34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 idx="4294967295"/>
          </p:nvPr>
        </p:nvSpPr>
        <p:spPr>
          <a:xfrm>
            <a:off x="1981200" y="188913"/>
            <a:ext cx="8229600" cy="1371600"/>
          </a:xfrm>
        </p:spPr>
        <p:txBody>
          <a:bodyPr/>
          <a:lstStyle/>
          <a:p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对称型</a:t>
            </a:r>
            <a:r>
              <a:rPr lang="en-US" altLang="zh-CN" dirty="0">
                <a:solidFill>
                  <a:srgbClr val="008000"/>
                </a:solidFill>
                <a:cs typeface="Times New Roman" pitchFamily="18" charset="0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最优规划举例</a:t>
            </a:r>
            <a:r>
              <a:rPr lang="en-US" altLang="zh-CN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2</a:t>
            </a:r>
            <a:endParaRPr lang="zh-CN" altLang="en-US" dirty="0"/>
          </a:p>
        </p:txBody>
      </p:sp>
      <p:sp>
        <p:nvSpPr>
          <p:cNvPr id="31747" name="内容占位符 2"/>
          <p:cNvSpPr>
            <a:spLocks noGrp="1"/>
          </p:cNvSpPr>
          <p:nvPr>
            <p:ph idx="4294967295"/>
          </p:nvPr>
        </p:nvSpPr>
        <p:spPr>
          <a:xfrm>
            <a:off x="861556" y="1268413"/>
            <a:ext cx="9411159" cy="5256212"/>
          </a:xfrm>
        </p:spPr>
        <p:txBody>
          <a:bodyPr vert="horz" wrap="square" lIns="90170" tIns="46990" rIns="90170" bIns="4699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解：</a:t>
            </a:r>
            <a:r>
              <a:rPr lang="zh-CN" altLang="en-US" sz="2400" b="1" dirty="0">
                <a:solidFill>
                  <a:srgbClr val="CC00CC"/>
                </a:solidFill>
                <a:latin typeface="Times New Roman" pitchFamily="18" charset="0"/>
              </a:rPr>
              <a:t>(1)求</a:t>
            </a:r>
            <a:r>
              <a:rPr lang="zh-CN" altLang="en-US" sz="2400" i="1" dirty="0">
                <a:solidFill>
                  <a:srgbClr val="CC00CC"/>
                </a:solidFill>
                <a:latin typeface="Times New Roman" pitchFamily="18" charset="0"/>
              </a:rPr>
              <a:t>M</a:t>
            </a:r>
            <a:r>
              <a:rPr lang="zh-CN" altLang="en-US" sz="2400" i="1" baseline="-25000" dirty="0">
                <a:solidFill>
                  <a:srgbClr val="CC00CC"/>
                </a:solidFill>
                <a:latin typeface="Times New Roman" pitchFamily="18" charset="0"/>
              </a:rPr>
              <a:t>f </a:t>
            </a:r>
            <a:r>
              <a:rPr lang="en-US" altLang="zh-CN" sz="2400" dirty="0">
                <a:solidFill>
                  <a:srgbClr val="CC00CC"/>
                </a:solidFill>
                <a:latin typeface="Times New Roman" pitchFamily="18" charset="0"/>
              </a:rPr>
              <a:t>(</a:t>
            </a:r>
            <a:r>
              <a:rPr lang="en-US" altLang="zh-CN" sz="2400" i="1" dirty="0">
                <a:solidFill>
                  <a:srgbClr val="CC00CC"/>
                </a:solidFill>
                <a:latin typeface="Times New Roman" pitchFamily="18" charset="0"/>
              </a:rPr>
              <a:t>u</a:t>
            </a:r>
            <a:r>
              <a:rPr lang="en-US" altLang="zh-CN" sz="2400" dirty="0">
                <a:solidFill>
                  <a:srgbClr val="CC00CC"/>
                </a:solidFill>
                <a:latin typeface="Times New Roman" pitchFamily="18" charset="0"/>
              </a:rPr>
              <a:t>)</a:t>
            </a:r>
            <a:endParaRPr lang="zh-CN" altLang="en-US" sz="2400" dirty="0">
              <a:solidFill>
                <a:srgbClr val="CC00CC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    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        </a:t>
            </a:r>
            <a:endParaRPr lang="en-US" altLang="zh-CN" sz="2400" b="1" dirty="0">
              <a:solidFill>
                <a:srgbClr val="FF0000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altLang="zh-CN" sz="1800" b="1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zh-CN" sz="4000" b="1" dirty="0">
                <a:latin typeface="Times New Roman" pitchFamily="18" charset="0"/>
              </a:rPr>
              <a:t>               </a:t>
            </a:r>
          </a:p>
          <a:p>
            <a:pPr>
              <a:buFont typeface="Wingdings" pitchFamily="2" charset="2"/>
              <a:buNone/>
            </a:pPr>
            <a:endParaRPr lang="en-US" altLang="zh-CN" sz="2800" b="1" dirty="0">
              <a:latin typeface="Times New Roman" pitchFamily="18" charset="0"/>
            </a:endParaRPr>
          </a:p>
          <a:p>
            <a:pPr>
              <a:buNone/>
            </a:pPr>
            <a:r>
              <a:rPr lang="zh-CN" altLang="en-US" sz="2800" b="1" dirty="0">
                <a:latin typeface="Times New Roman" pitchFamily="18" charset="0"/>
              </a:rPr>
              <a:t>       因为当</a:t>
            </a:r>
            <a:r>
              <a:rPr lang="en-US" altLang="zh-CN" sz="2800" b="1" i="1" dirty="0">
                <a:latin typeface="Times New Roman" pitchFamily="18" charset="0"/>
              </a:rPr>
              <a:t>u</a:t>
            </a:r>
            <a:r>
              <a:rPr lang="en-US" altLang="zh-CN" sz="2800" b="1" dirty="0">
                <a:latin typeface="Times New Roman" pitchFamily="18" charset="0"/>
              </a:rPr>
              <a:t>&lt;5</a:t>
            </a:r>
            <a:r>
              <a:rPr lang="zh-CN" altLang="en-US" sz="2800" b="1" dirty="0">
                <a:latin typeface="Times New Roman" pitchFamily="18" charset="0"/>
              </a:rPr>
              <a:t>时</a:t>
            </a:r>
            <a:r>
              <a:rPr lang="en-US" altLang="zh-CN" sz="2800" b="1" dirty="0">
                <a:latin typeface="Times New Roman" pitchFamily="18" charset="0"/>
              </a:rPr>
              <a:t>,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 b="1" i="1" dirty="0">
                <a:latin typeface="Times New Roman" pitchFamily="18" charset="0"/>
              </a:rPr>
              <a:t>f</a:t>
            </a:r>
            <a:r>
              <a:rPr lang="en-US" altLang="zh-CN" sz="2800" b="1" i="1" dirty="0">
                <a:latin typeface="Times New Roman" pitchFamily="18" charset="0"/>
              </a:rPr>
              <a:t>’</a:t>
            </a:r>
            <a:r>
              <a:rPr lang="zh-CN" altLang="en-US" sz="2800" b="1" dirty="0">
                <a:latin typeface="Times New Roman" pitchFamily="18" charset="0"/>
              </a:rPr>
              <a:t>(</a:t>
            </a:r>
            <a:r>
              <a:rPr lang="zh-CN" altLang="en-US" sz="2800" b="1" i="1" dirty="0">
                <a:latin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</a:rPr>
              <a:t>)</a:t>
            </a:r>
            <a:r>
              <a:rPr lang="en-US" altLang="zh-CN" sz="2800" b="1" dirty="0">
                <a:latin typeface="Times New Roman" pitchFamily="18" charset="0"/>
              </a:rPr>
              <a:t>&gt;0;</a:t>
            </a:r>
            <a:r>
              <a:rPr lang="en-US" altLang="zh-CN" sz="2800" b="1" i="1" dirty="0">
                <a:latin typeface="Times New Roman" pitchFamily="18" charset="0"/>
              </a:rPr>
              <a:t> u</a:t>
            </a:r>
            <a:r>
              <a:rPr lang="en-US" altLang="zh-CN" sz="2800" b="1" dirty="0">
                <a:latin typeface="Times New Roman" pitchFamily="18" charset="0"/>
              </a:rPr>
              <a:t>&gt;5</a:t>
            </a:r>
            <a:r>
              <a:rPr lang="zh-CN" altLang="en-US" sz="2800" b="1" dirty="0">
                <a:latin typeface="Times New Roman" pitchFamily="18" charset="0"/>
              </a:rPr>
              <a:t>时</a:t>
            </a:r>
            <a:r>
              <a:rPr lang="en-US" altLang="zh-CN" sz="2800" b="1" dirty="0">
                <a:latin typeface="Times New Roman" pitchFamily="18" charset="0"/>
              </a:rPr>
              <a:t>,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 b="1" i="1" dirty="0">
                <a:latin typeface="Times New Roman" pitchFamily="18" charset="0"/>
              </a:rPr>
              <a:t>f</a:t>
            </a:r>
            <a:r>
              <a:rPr lang="en-US" altLang="zh-CN" sz="2800" b="1" i="1" dirty="0">
                <a:latin typeface="Times New Roman" pitchFamily="18" charset="0"/>
              </a:rPr>
              <a:t>’</a:t>
            </a:r>
            <a:r>
              <a:rPr lang="zh-CN" altLang="en-US" sz="2800" b="1" dirty="0">
                <a:latin typeface="Times New Roman" pitchFamily="18" charset="0"/>
              </a:rPr>
              <a:t>(</a:t>
            </a:r>
            <a:r>
              <a:rPr lang="zh-CN" altLang="en-US" sz="2800" b="1" i="1" dirty="0">
                <a:latin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</a:rPr>
              <a:t>)</a:t>
            </a:r>
            <a:r>
              <a:rPr lang="en-US" altLang="zh-CN" sz="2800" b="1" dirty="0">
                <a:latin typeface="Times New Roman" pitchFamily="18" charset="0"/>
              </a:rPr>
              <a:t>&lt;0.</a:t>
            </a:r>
          </a:p>
          <a:p>
            <a:pPr>
              <a:buNone/>
            </a:pP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       </a:t>
            </a: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所以，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max </a:t>
            </a:r>
            <a:r>
              <a:rPr lang="zh-CN" altLang="en-US" sz="2800" b="1" i="1" dirty="0">
                <a:latin typeface="Times New Roman" pitchFamily="18" charset="0"/>
              </a:rPr>
              <a:t>f</a:t>
            </a:r>
            <a:r>
              <a:rPr lang="zh-CN" altLang="en-US" sz="2800" b="1" dirty="0">
                <a:latin typeface="Times New Roman" pitchFamily="18" charset="0"/>
              </a:rPr>
              <a:t>(</a:t>
            </a:r>
            <a:r>
              <a:rPr lang="zh-CN" altLang="en-US" sz="2800" b="1" i="1" dirty="0">
                <a:latin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</a:rPr>
              <a:t>)</a:t>
            </a:r>
            <a:r>
              <a:rPr lang="en-US" altLang="zh-CN" sz="2800" b="1" dirty="0">
                <a:latin typeface="Times New Roman" pitchFamily="18" charset="0"/>
              </a:rPr>
              <a:t>=</a:t>
            </a:r>
            <a:r>
              <a:rPr lang="zh-CN" altLang="en-US" sz="2800" b="1" i="1" dirty="0">
                <a:latin typeface="Times New Roman" pitchFamily="18" charset="0"/>
              </a:rPr>
              <a:t> f</a:t>
            </a:r>
            <a:r>
              <a:rPr lang="zh-CN" altLang="en-US" sz="2800" b="1" dirty="0">
                <a:latin typeface="Times New Roman" pitchFamily="18" charset="0"/>
              </a:rPr>
              <a:t>(</a:t>
            </a:r>
            <a:r>
              <a:rPr lang="en-US" altLang="zh-CN" sz="2800" b="1" dirty="0">
                <a:latin typeface="Times New Roman" pitchFamily="18" charset="0"/>
              </a:rPr>
              <a:t>5</a:t>
            </a:r>
            <a:r>
              <a:rPr lang="zh-CN" altLang="en-US" sz="2800" b="1" dirty="0">
                <a:latin typeface="Times New Roman" pitchFamily="18" charset="0"/>
              </a:rPr>
              <a:t>) </a:t>
            </a:r>
            <a:r>
              <a:rPr lang="en-US" altLang="zh-CN" sz="2800" b="1" dirty="0">
                <a:latin typeface="Times New Roman" pitchFamily="18" charset="0"/>
              </a:rPr>
              <a:t>=1= </a:t>
            </a:r>
            <a:r>
              <a:rPr lang="en-US" altLang="zh-CN" sz="2800" b="1" i="1" dirty="0">
                <a:latin typeface="Times New Roman" pitchFamily="18" charset="0"/>
              </a:rPr>
              <a:t>M</a:t>
            </a:r>
            <a:r>
              <a:rPr lang="en-US" altLang="zh-CN" sz="2800" b="1" dirty="0">
                <a:latin typeface="Times New Roman" pitchFamily="18" charset="0"/>
              </a:rPr>
              <a:t>,</a:t>
            </a:r>
            <a:r>
              <a:rPr lang="en-US" altLang="zh-CN" sz="2800" b="1" i="1" dirty="0">
                <a:latin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altLang="zh-CN" sz="2800" b="1" i="1" dirty="0">
                <a:latin typeface="Times New Roman" pitchFamily="18" charset="0"/>
              </a:rPr>
              <a:t>                   </a:t>
            </a:r>
            <a:r>
              <a:rPr lang="zh-CN" altLang="en-US" sz="2800" b="1" dirty="0">
                <a:latin typeface="Times New Roman" pitchFamily="18" charset="0"/>
              </a:rPr>
              <a:t>而</a:t>
            </a:r>
            <a:r>
              <a:rPr lang="en-US" altLang="zh-CN" sz="2800" b="1" dirty="0">
                <a:latin typeface="Times New Roman" pitchFamily="18" charset="0"/>
              </a:rPr>
              <a:t>min</a:t>
            </a:r>
            <a:r>
              <a:rPr lang="zh-CN" altLang="en-US" sz="2800" b="1" i="1" dirty="0">
                <a:latin typeface="Times New Roman" pitchFamily="18" charset="0"/>
              </a:rPr>
              <a:t> f</a:t>
            </a:r>
            <a:r>
              <a:rPr lang="zh-CN" altLang="en-US" sz="2800" b="1" dirty="0">
                <a:latin typeface="Times New Roman" pitchFamily="18" charset="0"/>
              </a:rPr>
              <a:t>(</a:t>
            </a:r>
            <a:r>
              <a:rPr lang="zh-CN" altLang="en-US" sz="2800" b="1" i="1" dirty="0">
                <a:latin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</a:rPr>
              <a:t>)</a:t>
            </a:r>
            <a:r>
              <a:rPr lang="en-US" altLang="zh-CN" sz="2800" b="1" dirty="0">
                <a:latin typeface="Times New Roman" pitchFamily="18" charset="0"/>
              </a:rPr>
              <a:t>=</a:t>
            </a:r>
            <a:r>
              <a:rPr lang="zh-CN" altLang="en-US" sz="2800" b="1" i="1" dirty="0">
                <a:latin typeface="Times New Roman" pitchFamily="18" charset="0"/>
              </a:rPr>
              <a:t> f</a:t>
            </a:r>
            <a:r>
              <a:rPr lang="zh-CN" altLang="en-US" sz="2800" b="1" dirty="0">
                <a:latin typeface="Times New Roman" pitchFamily="18" charset="0"/>
              </a:rPr>
              <a:t>(</a:t>
            </a:r>
            <a:r>
              <a:rPr lang="en-US" altLang="zh-CN" sz="2800" b="1" dirty="0">
                <a:latin typeface="Times New Roman" pitchFamily="18" charset="0"/>
              </a:rPr>
              <a:t>101</a:t>
            </a:r>
            <a:r>
              <a:rPr lang="zh-CN" altLang="en-US" sz="2800" b="1" dirty="0">
                <a:latin typeface="Times New Roman" pitchFamily="18" charset="0"/>
              </a:rPr>
              <a:t>) </a:t>
            </a:r>
            <a:r>
              <a:rPr lang="en-US" altLang="zh-CN" sz="2800" b="1" dirty="0">
                <a:latin typeface="Times New Roman" pitchFamily="18" charset="0"/>
              </a:rPr>
              <a:t>=0 =</a:t>
            </a:r>
            <a:r>
              <a:rPr lang="en-US" altLang="zh-CN" sz="2800" b="1" i="1" dirty="0">
                <a:latin typeface="Times New Roman" pitchFamily="18" charset="0"/>
              </a:rPr>
              <a:t>m</a:t>
            </a:r>
            <a:r>
              <a:rPr lang="zh-CN" altLang="en-US" sz="2800" b="1" dirty="0">
                <a:latin typeface="Times New Roman" pitchFamily="18" charset="0"/>
              </a:rPr>
              <a:t>          </a:t>
            </a:r>
            <a:r>
              <a:rPr lang="zh-CN" altLang="en-US" sz="2400" b="1" dirty="0">
                <a:solidFill>
                  <a:srgbClr val="CC00CC"/>
                </a:solidFill>
                <a:latin typeface="华文楷体" pitchFamily="2" charset="-122"/>
                <a:ea typeface="华文楷体" pitchFamily="2" charset="-122"/>
              </a:rPr>
              <a:t> </a:t>
            </a:r>
            <a:endParaRPr lang="en-US" altLang="zh-CN" sz="2400" b="1" dirty="0">
              <a:solidFill>
                <a:srgbClr val="CC00CC"/>
              </a:solidFill>
              <a:latin typeface="华文楷体" pitchFamily="2" charset="-122"/>
              <a:ea typeface="华文楷体" pitchFamily="2" charset="-122"/>
            </a:endParaRPr>
          </a:p>
          <a:p>
            <a:pPr>
              <a:buFont typeface="Wingdings" pitchFamily="2" charset="2"/>
              <a:buNone/>
            </a:pPr>
            <a:endParaRPr lang="zh-CN" altLang="en-US" sz="900" b="1" dirty="0">
              <a:solidFill>
                <a:srgbClr val="3333FF"/>
              </a:solidFill>
              <a:latin typeface="Times New Roman" pitchFamily="18" charset="0"/>
              <a:sym typeface="Arial" pitchFamily="34" charset="0"/>
            </a:endParaRPr>
          </a:p>
        </p:txBody>
      </p:sp>
      <p:graphicFrame>
        <p:nvGraphicFramePr>
          <p:cNvPr id="3176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048477"/>
              </p:ext>
            </p:extLst>
          </p:nvPr>
        </p:nvGraphicFramePr>
        <p:xfrm>
          <a:off x="1703512" y="2801720"/>
          <a:ext cx="2666134" cy="861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800" imgH="507960" progId="Equation.DSMT4">
                  <p:embed/>
                </p:oleObj>
              </mc:Choice>
              <mc:Fallback>
                <p:oleObj name="Equation" r:id="rId2" imgW="1612800" imgH="50796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2801720"/>
                        <a:ext cx="2666134" cy="861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>
            <a:extLst>
              <a:ext uri="{FF2B5EF4-FFF2-40B4-BE49-F238E27FC236}">
                <a16:creationId xmlns:a16="http://schemas.microsoft.com/office/drawing/2014/main" id="{7171B67D-4973-4D86-9368-CB5796F7B7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0818"/>
              </p:ext>
            </p:extLst>
          </p:nvPr>
        </p:nvGraphicFramePr>
        <p:xfrm>
          <a:off x="2008004" y="1916832"/>
          <a:ext cx="5741205" cy="738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7000" imgH="393480" progId="Equation.DSMT4">
                  <p:embed/>
                </p:oleObj>
              </mc:Choice>
              <mc:Fallback>
                <p:oleObj name="Equation" r:id="rId4" imgW="2997000" imgH="393480" progId="Equation.DSMT4">
                  <p:embed/>
                  <p:pic>
                    <p:nvPicPr>
                      <p:cNvPr id="28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004" y="1916832"/>
                        <a:ext cx="5741205" cy="7387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2">
            <a:extLst>
              <a:ext uri="{FF2B5EF4-FFF2-40B4-BE49-F238E27FC236}">
                <a16:creationId xmlns:a16="http://schemas.microsoft.com/office/drawing/2014/main" id="{0D3A27D1-A57E-4E84-921E-3AF418598C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727150"/>
              </p:ext>
            </p:extLst>
          </p:nvPr>
        </p:nvGraphicFramePr>
        <p:xfrm>
          <a:off x="4388049" y="2785568"/>
          <a:ext cx="38354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23800" imgH="507960" progId="Equation.DSMT4">
                  <p:embed/>
                </p:oleObj>
              </mc:Choice>
              <mc:Fallback>
                <p:oleObj name="Equation" r:id="rId6" imgW="2323800" imgH="507960" progId="Equation.DSMT4">
                  <p:embed/>
                  <p:pic>
                    <p:nvPicPr>
                      <p:cNvPr id="3176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8049" y="2785568"/>
                        <a:ext cx="38354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">
            <a:extLst>
              <a:ext uri="{FF2B5EF4-FFF2-40B4-BE49-F238E27FC236}">
                <a16:creationId xmlns:a16="http://schemas.microsoft.com/office/drawing/2014/main" id="{1C742635-7EE9-47F9-8BAF-9F63418F3E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004716"/>
              </p:ext>
            </p:extLst>
          </p:nvPr>
        </p:nvGraphicFramePr>
        <p:xfrm>
          <a:off x="8213710" y="2797217"/>
          <a:ext cx="474578" cy="567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" imgH="279360" progId="Equation.DSMT4">
                  <p:embed/>
                </p:oleObj>
              </mc:Choice>
              <mc:Fallback>
                <p:oleObj name="Equation" r:id="rId8" imgW="228600" imgH="279360" progId="Equation.DSMT4">
                  <p:embed/>
                  <p:pic>
                    <p:nvPicPr>
                      <p:cNvPr id="26" name="Object 4">
                        <a:extLst>
                          <a:ext uri="{FF2B5EF4-FFF2-40B4-BE49-F238E27FC236}">
                            <a16:creationId xmlns:a16="http://schemas.microsoft.com/office/drawing/2014/main" id="{7171B67D-4973-4D86-9368-CB5796F7B7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3710" y="2797217"/>
                        <a:ext cx="474578" cy="5679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4">
            <a:extLst>
              <a:ext uri="{FF2B5EF4-FFF2-40B4-BE49-F238E27FC236}">
                <a16:creationId xmlns:a16="http://schemas.microsoft.com/office/drawing/2014/main" id="{F4AFDFB4-0046-4F07-9398-CD68D7DCCE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389604"/>
              </p:ext>
            </p:extLst>
          </p:nvPr>
        </p:nvGraphicFramePr>
        <p:xfrm>
          <a:off x="8733068" y="2982149"/>
          <a:ext cx="1107349" cy="36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33160" imgH="177480" progId="Equation.DSMT4">
                  <p:embed/>
                </p:oleObj>
              </mc:Choice>
              <mc:Fallback>
                <p:oleObj name="Equation" r:id="rId10" imgW="533160" imgH="177480" progId="Equation.DSMT4">
                  <p:embed/>
                  <p:pic>
                    <p:nvPicPr>
                      <p:cNvPr id="28" name="Object 4">
                        <a:extLst>
                          <a:ext uri="{FF2B5EF4-FFF2-40B4-BE49-F238E27FC236}">
                            <a16:creationId xmlns:a16="http://schemas.microsoft.com/office/drawing/2014/main" id="{1C742635-7EE9-47F9-8BAF-9F63418F3E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3068" y="2982149"/>
                        <a:ext cx="1107349" cy="362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">
            <a:extLst>
              <a:ext uri="{FF2B5EF4-FFF2-40B4-BE49-F238E27FC236}">
                <a16:creationId xmlns:a16="http://schemas.microsoft.com/office/drawing/2014/main" id="{D4D8A382-D7B7-41FB-B82B-C3533826DE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291444"/>
              </p:ext>
            </p:extLst>
          </p:nvPr>
        </p:nvGraphicFramePr>
        <p:xfrm>
          <a:off x="7836026" y="797002"/>
          <a:ext cx="4243547" cy="1254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9741117" imgH="17678717" progId="Equation.DSMT4">
                  <p:embed/>
                </p:oleObj>
              </mc:Choice>
              <mc:Fallback>
                <p:oleObj name="Equation" r:id="rId12" imgW="59741117" imgH="17678717" progId="Equation.DSMT4">
                  <p:embed/>
                  <p:pic>
                    <p:nvPicPr>
                      <p:cNvPr id="307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6026" y="797002"/>
                        <a:ext cx="4243547" cy="1254776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4">
            <a:extLst>
              <a:ext uri="{FF2B5EF4-FFF2-40B4-BE49-F238E27FC236}">
                <a16:creationId xmlns:a16="http://schemas.microsoft.com/office/drawing/2014/main" id="{A00039D2-8597-46DC-A020-1BC62CB5E2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78450"/>
              </p:ext>
            </p:extLst>
          </p:nvPr>
        </p:nvGraphicFramePr>
        <p:xfrm>
          <a:off x="2567608" y="5661248"/>
          <a:ext cx="6100939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530520" imgH="507960" progId="Equation.DSMT4">
                  <p:embed/>
                </p:oleObj>
              </mc:Choice>
              <mc:Fallback>
                <p:oleObj name="Equation" r:id="rId14" imgW="3530520" imgH="507960" progId="Equation.DSMT4">
                  <p:embed/>
                  <p:pic>
                    <p:nvPicPr>
                      <p:cNvPr id="28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5661248"/>
                        <a:ext cx="6100939" cy="10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64A94ED5-6051-39EF-3AD8-2F53AA90CB2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6081" y="3421255"/>
            <a:ext cx="3747391" cy="2095977"/>
          </a:xfrm>
          <a:prstGeom prst="rect">
            <a:avLst/>
          </a:prstGeom>
          <a:effectLst>
            <a:glow rad="127000">
              <a:srgbClr val="42F729"/>
            </a:glo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AE58EE-AB34-0071-147E-AFDFAC70E1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uiExpand="1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图示&#10;&#10;描述已自动生成">
            <a:extLst>
              <a:ext uri="{FF2B5EF4-FFF2-40B4-BE49-F238E27FC236}">
                <a16:creationId xmlns:a16="http://schemas.microsoft.com/office/drawing/2014/main" id="{AD2B240A-3F3D-00CD-3F87-BD8FB62F2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044" y="2060848"/>
            <a:ext cx="4070612" cy="2393457"/>
          </a:xfrm>
          <a:prstGeom prst="rect">
            <a:avLst/>
          </a:prstGeom>
        </p:spPr>
      </p:pic>
      <p:sp>
        <p:nvSpPr>
          <p:cNvPr id="31746" name="标题 1"/>
          <p:cNvSpPr>
            <a:spLocks noGrp="1"/>
          </p:cNvSpPr>
          <p:nvPr>
            <p:ph type="title" idx="4294967295"/>
          </p:nvPr>
        </p:nvSpPr>
        <p:spPr>
          <a:xfrm>
            <a:off x="1981200" y="188913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对称型</a:t>
            </a:r>
            <a:r>
              <a:rPr lang="en-US" altLang="zh-CN" dirty="0">
                <a:solidFill>
                  <a:srgbClr val="008000"/>
                </a:solidFill>
                <a:cs typeface="Times New Roman" pitchFamily="18" charset="0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最优规划举例</a:t>
            </a:r>
            <a:r>
              <a:rPr lang="en-US" altLang="zh-CN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2</a:t>
            </a:r>
            <a:endParaRPr lang="zh-CN" altLang="en-US" dirty="0"/>
          </a:p>
        </p:txBody>
      </p:sp>
      <p:sp>
        <p:nvSpPr>
          <p:cNvPr id="31747" name="内容占位符 2"/>
          <p:cNvSpPr>
            <a:spLocks noGrp="1"/>
          </p:cNvSpPr>
          <p:nvPr>
            <p:ph idx="4294967295"/>
          </p:nvPr>
        </p:nvSpPr>
        <p:spPr>
          <a:xfrm>
            <a:off x="1127448" y="1268413"/>
            <a:ext cx="10369151" cy="5472955"/>
          </a:xfrm>
        </p:spPr>
        <p:txBody>
          <a:bodyPr vert="horz" wrap="square" lIns="90170" tIns="46990" rIns="90170" bIns="4699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解：</a:t>
            </a:r>
            <a:r>
              <a:rPr lang="zh-CN" altLang="en-US" sz="2400" b="1" dirty="0">
                <a:solidFill>
                  <a:srgbClr val="CC00CC"/>
                </a:solidFill>
                <a:latin typeface="华文楷体" pitchFamily="2" charset="-122"/>
                <a:ea typeface="华文楷体" pitchFamily="2" charset="-122"/>
              </a:rPr>
              <a:t>(2)求最优点</a:t>
            </a:r>
            <a:r>
              <a:rPr lang="en-US" altLang="zh-CN" sz="2400" b="1" i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zh-CN" altLang="en-US" sz="2400" b="1" i="1" dirty="0">
                <a:solidFill>
                  <a:srgbClr val="CC00CC"/>
                </a:solidFill>
                <a:latin typeface="Times New Roman" pitchFamily="18" charset="0"/>
              </a:rPr>
              <a:t>*</a:t>
            </a:r>
          </a:p>
          <a:p>
            <a:pPr>
              <a:buFont typeface="Wingdings" pitchFamily="2" charset="2"/>
              <a:buNone/>
            </a:pPr>
            <a:endParaRPr lang="en-US" altLang="zh-CN" sz="2400" b="1" i="1" dirty="0">
              <a:solidFill>
                <a:srgbClr val="CC00CC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zh-CN" altLang="en-US" sz="2400" b="1" i="1" dirty="0">
              <a:solidFill>
                <a:srgbClr val="CC00CC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400" b="1" i="1" dirty="0">
                <a:latin typeface="Times New Roman" pitchFamily="18" charset="0"/>
              </a:rPr>
              <a:t>        </a:t>
            </a:r>
            <a:r>
              <a:rPr lang="zh-CN" altLang="en-US" sz="2400" b="1" dirty="0">
                <a:latin typeface="Times New Roman" pitchFamily="18" charset="0"/>
              </a:rPr>
              <a:t>因为在[0,5]中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Times New Roman" pitchFamily="18" charset="0"/>
              </a:rPr>
              <a:t>(</a:t>
            </a:r>
            <a:r>
              <a:rPr lang="zh-CN" altLang="en-US" sz="2400" b="1" i="1" dirty="0">
                <a:latin typeface="Times New Roman" pitchFamily="18" charset="0"/>
              </a:rPr>
              <a:t>u</a:t>
            </a:r>
            <a:r>
              <a:rPr lang="zh-CN" altLang="en-US" sz="2400" b="1" dirty="0">
                <a:latin typeface="Times New Roman" pitchFamily="18" charset="0"/>
              </a:rPr>
              <a:t>)</a:t>
            </a:r>
            <a:r>
              <a:rPr lang="zh-CN" altLang="en-US" sz="2400" b="1" dirty="0">
                <a:latin typeface="Times New Roman" pitchFamily="18" charset="0"/>
                <a:sym typeface="Arial" pitchFamily="34" charset="0"/>
              </a:rPr>
              <a:t>↓</a:t>
            </a:r>
            <a:r>
              <a:rPr lang="zh-CN" altLang="en-US" sz="2400" b="1" dirty="0">
                <a:latin typeface="Times New Roman" pitchFamily="18" charset="0"/>
              </a:rPr>
              <a:t>，</a:t>
            </a:r>
            <a:r>
              <a:rPr lang="zh-CN" altLang="en-US" sz="2400" i="1" dirty="0">
                <a:solidFill>
                  <a:srgbClr val="CC00CC"/>
                </a:solidFill>
                <a:latin typeface="Times New Roman" pitchFamily="18" charset="0"/>
              </a:rPr>
              <a:t>M</a:t>
            </a:r>
            <a:r>
              <a:rPr lang="zh-CN" altLang="en-US" sz="2400" i="1" baseline="-25000" dirty="0">
                <a:solidFill>
                  <a:srgbClr val="CC00CC"/>
                </a:solidFill>
                <a:latin typeface="Times New Roman" pitchFamily="18" charset="0"/>
              </a:rPr>
              <a:t>f </a:t>
            </a:r>
            <a:r>
              <a:rPr lang="zh-CN" altLang="en-US" sz="2400" dirty="0">
                <a:solidFill>
                  <a:srgbClr val="CC00CC"/>
                </a:solidFill>
              </a:rPr>
              <a:t>(</a:t>
            </a:r>
            <a:r>
              <a:rPr lang="zh-CN" altLang="en-US" sz="2400" i="1" dirty="0">
                <a:solidFill>
                  <a:srgbClr val="CC00CC"/>
                </a:solidFill>
                <a:latin typeface="Times New Roman" pitchFamily="18" charset="0"/>
              </a:rPr>
              <a:t>u</a:t>
            </a:r>
            <a:r>
              <a:rPr lang="zh-CN" altLang="en-US" sz="2400" dirty="0">
                <a:solidFill>
                  <a:srgbClr val="CC00CC"/>
                </a:solidFill>
              </a:rPr>
              <a:t>)</a:t>
            </a:r>
            <a:r>
              <a:rPr lang="zh-CN" altLang="en-US" sz="2400" dirty="0">
                <a:solidFill>
                  <a:srgbClr val="CC00CC"/>
                </a:solidFill>
                <a:sym typeface="Arial" pitchFamily="34" charset="0"/>
              </a:rPr>
              <a:t>↑，</a:t>
            </a:r>
            <a:endParaRPr lang="en-US" altLang="zh-CN" sz="2400" dirty="0">
              <a:solidFill>
                <a:srgbClr val="CC00CC"/>
              </a:solidFill>
              <a:sym typeface="Arial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400" dirty="0">
                <a:solidFill>
                  <a:srgbClr val="CC00CC"/>
                </a:solidFill>
                <a:sym typeface="Arial" pitchFamily="34" charset="0"/>
              </a:rPr>
              <a:t>       </a:t>
            </a:r>
            <a:r>
              <a:rPr lang="zh-CN" altLang="en-US" sz="2400" b="1" dirty="0">
                <a:solidFill>
                  <a:srgbClr val="CC00CC"/>
                </a:solidFill>
                <a:sym typeface="Arial" pitchFamily="34" charset="0"/>
              </a:rPr>
              <a:t>故存在唯一</a:t>
            </a:r>
            <a:r>
              <a:rPr lang="en-US" altLang="zh-CN" sz="2400" b="1" i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zh-CN" altLang="en-US" sz="2400" b="1" i="1" dirty="0">
                <a:solidFill>
                  <a:srgbClr val="CC00CC"/>
                </a:solidFill>
                <a:latin typeface="Times New Roman" pitchFamily="18" charset="0"/>
              </a:rPr>
              <a:t>*</a:t>
            </a:r>
            <a:r>
              <a:rPr lang="en-US" altLang="zh-CN" sz="2400" b="1" dirty="0">
                <a:solidFill>
                  <a:srgbClr val="CC00CC"/>
                </a:solidFill>
                <a:latin typeface="Times New Roman" pitchFamily="18" charset="0"/>
              </a:rPr>
              <a:t>,</a:t>
            </a:r>
            <a:r>
              <a:rPr lang="zh-CN" altLang="en-US" sz="2400" b="1" dirty="0">
                <a:solidFill>
                  <a:srgbClr val="CC00CC"/>
                </a:solidFill>
                <a:latin typeface="Times New Roman" pitchFamily="18" charset="0"/>
              </a:rPr>
              <a:t>使</a:t>
            </a:r>
            <a:r>
              <a:rPr lang="zh-CN" altLang="en-US" sz="2400" b="1" i="1" dirty="0">
                <a:solidFill>
                  <a:srgbClr val="3333FF"/>
                </a:solidFill>
                <a:latin typeface="Times New Roman" pitchFamily="18" charset="0"/>
              </a:rPr>
              <a:t> M</a:t>
            </a:r>
            <a:r>
              <a:rPr lang="en-US" altLang="zh-CN" sz="2400" b="1" i="1" baseline="-25000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f</a:t>
            </a:r>
            <a:r>
              <a:rPr lang="zh-CN" altLang="en-US" sz="2400" b="1" i="1" baseline="-25000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en-US" sz="2400" b="1" i="1" dirty="0">
                <a:solidFill>
                  <a:srgbClr val="3333FF"/>
                </a:solidFill>
                <a:latin typeface="Times New Roman" pitchFamily="18" charset="0"/>
              </a:rPr>
              <a:t>u</a:t>
            </a:r>
            <a:r>
              <a:rPr lang="zh-CN" altLang="en-US" sz="24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 =</a:t>
            </a:r>
            <a:r>
              <a:rPr lang="en-US" altLang="zh-CN" sz="2400" b="1" i="1" dirty="0">
                <a:solidFill>
                  <a:srgbClr val="3333FF"/>
                </a:solidFill>
                <a:latin typeface="Times New Roman" pitchFamily="18" charset="0"/>
              </a:rPr>
              <a:t>A</a:t>
            </a:r>
            <a:r>
              <a:rPr lang="zh-CN" altLang="en-US" sz="2400" b="1" i="1" baseline="-25000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en-US" sz="2400" b="1" i="1" dirty="0">
                <a:solidFill>
                  <a:srgbClr val="3333FF"/>
                </a:solidFill>
                <a:latin typeface="Times New Roman" pitchFamily="18" charset="0"/>
              </a:rPr>
              <a:t>u*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3333FF"/>
                </a:solidFill>
                <a:latin typeface="Times New Roman" pitchFamily="18" charset="0"/>
              </a:rPr>
              <a:t>       即</a:t>
            </a:r>
          </a:p>
          <a:p>
            <a:pPr>
              <a:buFont typeface="Wingdings" pitchFamily="2" charset="2"/>
              <a:buNone/>
            </a:pPr>
            <a:endParaRPr lang="zh-CN" altLang="en-US" sz="2000" b="1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3333FF"/>
                </a:solidFill>
                <a:latin typeface="Times New Roman" pitchFamily="18" charset="0"/>
              </a:rPr>
              <a:t>       解得 </a:t>
            </a:r>
            <a:r>
              <a:rPr lang="zh-CN" altLang="en-US" sz="2400" b="1" i="1" dirty="0">
                <a:solidFill>
                  <a:srgbClr val="CC00CC"/>
                </a:solidFill>
                <a:latin typeface="Times New Roman" pitchFamily="18" charset="0"/>
              </a:rPr>
              <a:t>u* </a:t>
            </a:r>
            <a:r>
              <a:rPr lang="zh-CN" altLang="en-US" sz="2400" b="1" dirty="0">
                <a:solidFill>
                  <a:srgbClr val="CC00CC"/>
                </a:solidFill>
                <a:latin typeface="Times New Roman" pitchFamily="18" charset="0"/>
                <a:sym typeface="Arial" pitchFamily="34" charset="0"/>
              </a:rPr>
              <a:t>≈2.68 </a:t>
            </a:r>
            <a:r>
              <a:rPr lang="zh-CN" altLang="en-US" sz="2400" b="1" dirty="0">
                <a:solidFill>
                  <a:srgbClr val="3333FF"/>
                </a:solidFill>
                <a:latin typeface="Times New Roman" pitchFamily="18" charset="0"/>
                <a:sym typeface="Arial" pitchFamily="34" charset="0"/>
              </a:rPr>
              <a:t>(这是最佳电压)</a:t>
            </a:r>
            <a:endParaRPr lang="zh-CN" altLang="en-US" sz="900" b="1" dirty="0">
              <a:solidFill>
                <a:srgbClr val="3333FF"/>
              </a:solidFill>
              <a:latin typeface="Times New Roman" pitchFamily="18" charset="0"/>
              <a:sym typeface="Arial" pitchFamily="34" charset="0"/>
            </a:endParaRPr>
          </a:p>
          <a:p>
            <a:pPr>
              <a:buSzPct val="100000"/>
              <a:buFont typeface="Wingdings" pitchFamily="2" charset="2"/>
              <a:buChar char="v"/>
            </a:pPr>
            <a:r>
              <a:rPr lang="zh-CN" altLang="en-US" sz="2400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前面的解是在最大约束(A</a:t>
            </a:r>
            <a:r>
              <a:rPr lang="zh-CN" altLang="en-US" sz="2400" b="1" baseline="-25000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1</a:t>
            </a:r>
            <a:r>
              <a:rPr lang="zh-CN" altLang="en-US" sz="2400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=[0,1])下的最优值——普通线性规划的解</a:t>
            </a:r>
            <a:endParaRPr lang="en-US" altLang="zh-CN" sz="2400" b="1" dirty="0">
              <a:solidFill>
                <a:srgbClr val="008000"/>
              </a:solidFill>
              <a:latin typeface="Times New Roman" pitchFamily="18" charset="0"/>
              <a:cs typeface="Times New Roman" pitchFamily="18" charset="0"/>
              <a:sym typeface="Arial" pitchFamily="34" charset="0"/>
            </a:endParaRPr>
          </a:p>
          <a:p>
            <a:pPr>
              <a:buSzPct val="100000"/>
              <a:buFont typeface="Wingdings" pitchFamily="2" charset="2"/>
              <a:buChar char="v"/>
            </a:pPr>
            <a:endParaRPr lang="zh-CN" altLang="en-US" sz="2400" b="1" dirty="0">
              <a:solidFill>
                <a:srgbClr val="008000"/>
              </a:solidFill>
              <a:latin typeface="Times New Roman" pitchFamily="18" charset="0"/>
              <a:cs typeface="Times New Roman" pitchFamily="18" charset="0"/>
              <a:sym typeface="Arial" pitchFamily="34" charset="0"/>
            </a:endParaRPr>
          </a:p>
          <a:p>
            <a:pPr>
              <a:buSzPct val="100000"/>
              <a:buFont typeface="Wingdings" pitchFamily="2" charset="2"/>
              <a:buChar char="v"/>
            </a:pP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上面的解实质是从A</a:t>
            </a:r>
            <a:r>
              <a:rPr lang="zh-CN" altLang="en-US" sz="24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=[0,1]出发，适当放宽约束，并将目标函数F化，从而兼顾目标和约束两个方面，这种灵活的思想方法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,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更符合实际情况。</a:t>
            </a:r>
            <a:endParaRPr lang="zh-CN" altLang="en-US" b="1" dirty="0">
              <a:solidFill>
                <a:srgbClr val="FF0000"/>
              </a:solidFill>
              <a:latin typeface="华文楷体" pitchFamily="2" charset="-122"/>
              <a:ea typeface="华文楷体" pitchFamily="2" charset="-122"/>
            </a:endParaRPr>
          </a:p>
        </p:txBody>
      </p:sp>
      <p:graphicFrame>
        <p:nvGraphicFramePr>
          <p:cNvPr id="317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350682"/>
              </p:ext>
            </p:extLst>
          </p:nvPr>
        </p:nvGraphicFramePr>
        <p:xfrm>
          <a:off x="2495600" y="3573016"/>
          <a:ext cx="371316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045917" imgH="12801917" progId="Equation.DSMT4">
                  <p:embed/>
                </p:oleObj>
              </mc:Choice>
              <mc:Fallback>
                <p:oleObj name="Equation" r:id="rId4" imgW="60045917" imgH="12801917" progId="Equation.DSMT4">
                  <p:embed/>
                  <p:pic>
                    <p:nvPicPr>
                      <p:cNvPr id="317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3573016"/>
                        <a:ext cx="3713162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676024"/>
              </p:ext>
            </p:extLst>
          </p:nvPr>
        </p:nvGraphicFramePr>
        <p:xfrm>
          <a:off x="6169987" y="1161596"/>
          <a:ext cx="4122914" cy="773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05040" imgH="507960" progId="Equation.DSMT4">
                  <p:embed/>
                </p:oleObj>
              </mc:Choice>
              <mc:Fallback>
                <p:oleObj name="Equation" r:id="rId6" imgW="2705040" imgH="507960" progId="Equation.DSMT4">
                  <p:embed/>
                  <p:pic>
                    <p:nvPicPr>
                      <p:cNvPr id="3176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987" y="1161596"/>
                        <a:ext cx="4122914" cy="7735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774190"/>
              </p:ext>
            </p:extLst>
          </p:nvPr>
        </p:nvGraphicFramePr>
        <p:xfrm>
          <a:off x="2855641" y="1886687"/>
          <a:ext cx="4002087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110717" imgH="7010717" progId="Equation.DSMT4">
                  <p:embed/>
                </p:oleObj>
              </mc:Choice>
              <mc:Fallback>
                <p:oleObj name="Equation" r:id="rId8" imgW="45110717" imgH="7010717" progId="Equation.DSMT4">
                  <p:embed/>
                  <p:pic>
                    <p:nvPicPr>
                      <p:cNvPr id="3176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1" y="1886687"/>
                        <a:ext cx="4002087" cy="6223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8" name="Text Box 24"/>
          <p:cNvSpPr txBox="1">
            <a:spLocks noChangeArrowheads="1"/>
          </p:cNvSpPr>
          <p:nvPr/>
        </p:nvSpPr>
        <p:spPr bwMode="auto">
          <a:xfrm>
            <a:off x="8798626" y="4317678"/>
            <a:ext cx="7318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2.68</a:t>
            </a:r>
          </a:p>
        </p:txBody>
      </p:sp>
      <p:sp>
        <p:nvSpPr>
          <p:cNvPr id="31769" name="Line 25"/>
          <p:cNvSpPr>
            <a:spLocks noChangeShapeType="1"/>
          </p:cNvSpPr>
          <p:nvPr/>
        </p:nvSpPr>
        <p:spPr bwMode="auto">
          <a:xfrm>
            <a:off x="9082172" y="3841474"/>
            <a:ext cx="0" cy="431800"/>
          </a:xfrm>
          <a:prstGeom prst="line">
            <a:avLst/>
          </a:prstGeom>
          <a:noFill/>
          <a:ln w="25400" cap="flat" cmpd="sng">
            <a:solidFill>
              <a:srgbClr val="CC00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B85622-0AF9-EFB0-2682-61948AB7E8AA}"/>
              </a:ext>
            </a:extLst>
          </p:cNvPr>
          <p:cNvSpPr txBox="1"/>
          <p:nvPr/>
        </p:nvSpPr>
        <p:spPr>
          <a:xfrm>
            <a:off x="7150770" y="3610641"/>
            <a:ext cx="9097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0.313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CA958A-C08F-D530-AEF4-335AF5393137}"/>
              </a:ext>
            </a:extLst>
          </p:cNvPr>
          <p:cNvSpPr txBox="1"/>
          <p:nvPr/>
        </p:nvSpPr>
        <p:spPr>
          <a:xfrm>
            <a:off x="6835806" y="5176557"/>
            <a:ext cx="1981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2400" b="1" i="1" dirty="0">
                <a:solidFill>
                  <a:srgbClr val="3333FF"/>
                </a:solidFill>
                <a:latin typeface="Times New Roman" pitchFamily="18" charset="0"/>
              </a:rPr>
              <a:t>y =f</a:t>
            </a:r>
            <a:r>
              <a:rPr lang="zh-CN" altLang="en-US" sz="2400" b="1" i="1" baseline="-25000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(1)=0.135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D4540E-197E-5AA9-48DD-64C53F5946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55EE-9C1F-4AFB-B5F1-9685A70D055F}" type="slidenum">
              <a:rPr lang="en-US" altLang="zh-CN" smtClean="0"/>
              <a:pPr/>
              <a:t>18</a:t>
            </a:fld>
            <a:endParaRPr lang="en-US" altLang="zh-CN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DFC00ED-0E9E-4D22-1134-088F6667CCB6}"/>
              </a:ext>
            </a:extLst>
          </p:cNvPr>
          <p:cNvCxnSpPr>
            <a:stCxn id="31769" idx="0"/>
          </p:cNvCxnSpPr>
          <p:nvPr/>
        </p:nvCxnSpPr>
        <p:spPr bwMode="auto">
          <a:xfrm flipH="1">
            <a:off x="8040216" y="3841474"/>
            <a:ext cx="1041956" cy="0"/>
          </a:xfrm>
          <a:prstGeom prst="line">
            <a:avLst/>
          </a:prstGeom>
          <a:ln w="28575">
            <a:solidFill>
              <a:srgbClr val="42F72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30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uiExpand="1" build="p" autoUpdateAnimBg="0"/>
      <p:bldP spid="31768" grpId="0" bldLvl="0" autoUpdateAnimBg="0"/>
      <p:bldP spid="31769" grpId="0" animBg="1"/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9C83F1-5DD8-42F3-837E-40477B5A0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691" y="457200"/>
            <a:ext cx="9814634" cy="81156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对称型</a:t>
            </a:r>
            <a:r>
              <a:rPr lang="en-US" altLang="zh-CN" dirty="0">
                <a:solidFill>
                  <a:srgbClr val="008000"/>
                </a:solidFill>
                <a:cs typeface="Times New Roman" pitchFamily="18" charset="0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规划举例</a:t>
            </a:r>
            <a:r>
              <a:rPr lang="en-US" altLang="zh-CN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3—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年轻人中的最高者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F226E4-C7CB-406F-901A-5F095F5FA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458020"/>
            <a:ext cx="10801200" cy="539998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b="1" dirty="0"/>
              <a:t>设</a:t>
            </a:r>
            <a:r>
              <a:rPr lang="en-US" altLang="zh-CN" sz="2800" b="1" dirty="0"/>
              <a:t>X={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800" b="1" baseline="-25000" dirty="0"/>
              <a:t>3</a:t>
            </a:r>
            <a:r>
              <a:rPr lang="en-US" altLang="zh-CN" sz="2800" b="1" dirty="0"/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800" b="1" baseline="-25000" dirty="0"/>
              <a:t>5</a:t>
            </a:r>
            <a:r>
              <a:rPr lang="en-US" altLang="zh-CN" sz="2800" b="1" dirty="0"/>
              <a:t>}</a:t>
            </a:r>
            <a:r>
              <a:rPr lang="zh-CN" altLang="en-US" sz="2800" b="1" dirty="0"/>
              <a:t>为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个人的集合，</a:t>
            </a:r>
            <a:r>
              <a:rPr lang="en-US" altLang="zh-CN" sz="2800" b="1" dirty="0"/>
              <a:t>X</a:t>
            </a:r>
            <a:r>
              <a:rPr lang="zh-CN" altLang="en-US" sz="2800" b="1" dirty="0"/>
              <a:t>中每人的身高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单位</a:t>
            </a:r>
            <a:r>
              <a:rPr lang="en-US" altLang="zh-CN" sz="2800" b="1" dirty="0"/>
              <a:t>:cm)</a:t>
            </a:r>
            <a:r>
              <a:rPr lang="zh-CN" altLang="en-US" sz="2800" b="1" dirty="0"/>
              <a:t>如右表：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sz="2800" b="1" dirty="0"/>
              <a:t>已知：</a:t>
            </a:r>
            <a:endParaRPr lang="en-US" altLang="zh-CN" sz="2800" b="1" dirty="0"/>
          </a:p>
          <a:p>
            <a:pPr marL="0" indent="0">
              <a:buNone/>
            </a:pPr>
            <a:endParaRPr lang="en-US" altLang="zh-CN" sz="2000" b="1" dirty="0"/>
          </a:p>
          <a:p>
            <a:pPr marL="0" indent="0">
              <a:buNone/>
            </a:pPr>
            <a:r>
              <a:rPr lang="zh-CN" altLang="en-US" sz="2800" b="1" dirty="0"/>
              <a:t>           表示</a:t>
            </a:r>
            <a:r>
              <a:rPr lang="en-US" altLang="zh-CN" sz="2800" b="1" dirty="0"/>
              <a:t>X</a:t>
            </a:r>
            <a:r>
              <a:rPr lang="zh-CN" altLang="en-US" sz="2800" b="1" dirty="0"/>
              <a:t>中“年轻人”的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集，求</a:t>
            </a:r>
            <a:r>
              <a:rPr lang="en-US" altLang="zh-CN" sz="2800" b="1" dirty="0"/>
              <a:t>X</a:t>
            </a:r>
            <a:r>
              <a:rPr lang="zh-CN" altLang="en-US" sz="2800" b="1" dirty="0"/>
              <a:t>中年轻人的最高者</a:t>
            </a:r>
            <a:r>
              <a:rPr lang="en-US" altLang="zh-CN" sz="2800" b="1" dirty="0"/>
              <a:t>.</a:t>
            </a:r>
          </a:p>
          <a:p>
            <a:pPr marL="0" indent="0">
              <a:buNone/>
            </a:pPr>
            <a:r>
              <a:rPr lang="zh-CN" altLang="en-US" sz="2800" b="1" dirty="0">
                <a:solidFill>
                  <a:srgbClr val="3333FF"/>
                </a:solidFill>
              </a:rPr>
              <a:t>解：</a:t>
            </a:r>
            <a:r>
              <a:rPr lang="zh-CN" altLang="en-US" sz="2800" b="1" dirty="0"/>
              <a:t>将身高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化后，得：</a:t>
            </a:r>
            <a:endParaRPr lang="en-US" altLang="zh-CN" sz="2800" b="1" dirty="0"/>
          </a:p>
          <a:p>
            <a:pPr marL="0" indent="0">
              <a:buNone/>
            </a:pPr>
            <a:endParaRPr lang="en-US" altLang="zh-CN" sz="2800" b="1" dirty="0"/>
          </a:p>
          <a:p>
            <a:pPr marL="0" indent="0">
              <a:buNone/>
            </a:pPr>
            <a:endParaRPr lang="en-US" altLang="zh-CN" sz="2800" b="1" dirty="0"/>
          </a:p>
          <a:p>
            <a:pPr marL="0" indent="0">
              <a:buNone/>
            </a:pPr>
            <a:endParaRPr lang="en-US" altLang="zh-CN" sz="2800" b="1" dirty="0"/>
          </a:p>
          <a:p>
            <a:pPr marL="0" indent="0">
              <a:buNone/>
            </a:pPr>
            <a:endParaRPr lang="en-US" altLang="zh-CN" sz="2000" b="1" dirty="0"/>
          </a:p>
          <a:p>
            <a:pPr marL="0" indent="0">
              <a:buNone/>
            </a:pPr>
            <a:r>
              <a:rPr lang="zh-CN" altLang="en-US" b="1" dirty="0">
                <a:solidFill>
                  <a:srgbClr val="CC00CC"/>
                </a:solidFill>
              </a:rPr>
              <a:t> 实际上是求</a:t>
            </a:r>
            <a:r>
              <a:rPr lang="en-US" altLang="zh-CN" b="1" dirty="0">
                <a:solidFill>
                  <a:srgbClr val="CC00CC"/>
                </a:solidFill>
              </a:rPr>
              <a:t>F</a:t>
            </a:r>
            <a:r>
              <a:rPr lang="zh-CN" altLang="en-US" b="1" dirty="0">
                <a:solidFill>
                  <a:srgbClr val="CC00CC"/>
                </a:solidFill>
              </a:rPr>
              <a:t>集</a:t>
            </a:r>
            <a:r>
              <a:rPr lang="en-US" altLang="zh-CN" b="1" dirty="0">
                <a:solidFill>
                  <a:srgbClr val="CC00CC"/>
                </a:solidFill>
              </a:rPr>
              <a:t>”</a:t>
            </a:r>
            <a:r>
              <a:rPr lang="zh-CN" altLang="en-US" b="1" dirty="0">
                <a:solidFill>
                  <a:srgbClr val="CC00CC"/>
                </a:solidFill>
              </a:rPr>
              <a:t>年轻人</a:t>
            </a:r>
            <a:r>
              <a:rPr lang="en-US" altLang="zh-CN" b="1" dirty="0">
                <a:solidFill>
                  <a:srgbClr val="CC00CC"/>
                </a:solidFill>
              </a:rPr>
              <a:t>”</a:t>
            </a:r>
            <a:r>
              <a:rPr lang="zh-CN" altLang="en-US" b="1" dirty="0">
                <a:solidFill>
                  <a:srgbClr val="CC00CC"/>
                </a:solidFill>
              </a:rPr>
              <a:t>与</a:t>
            </a:r>
            <a:r>
              <a:rPr lang="en-US" altLang="zh-CN" b="1" dirty="0">
                <a:solidFill>
                  <a:srgbClr val="CC00CC"/>
                </a:solidFill>
              </a:rPr>
              <a:t>”</a:t>
            </a:r>
            <a:r>
              <a:rPr lang="zh-CN" altLang="en-US" b="1" dirty="0">
                <a:solidFill>
                  <a:srgbClr val="CC00CC"/>
                </a:solidFill>
              </a:rPr>
              <a:t>高个子</a:t>
            </a:r>
            <a:r>
              <a:rPr lang="en-US" altLang="zh-CN" b="1" dirty="0">
                <a:solidFill>
                  <a:srgbClr val="CC00CC"/>
                </a:solidFill>
              </a:rPr>
              <a:t>”</a:t>
            </a:r>
            <a:r>
              <a:rPr lang="zh-CN" altLang="en-US" b="1" dirty="0">
                <a:solidFill>
                  <a:srgbClr val="CC00CC"/>
                </a:solidFill>
              </a:rPr>
              <a:t>交集隶属度之最大者。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33A2B19-D830-4ADF-AC68-5E1A51DC7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300805"/>
              </p:ext>
            </p:extLst>
          </p:nvPr>
        </p:nvGraphicFramePr>
        <p:xfrm>
          <a:off x="7302396" y="2128293"/>
          <a:ext cx="4194204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9034">
                  <a:extLst>
                    <a:ext uri="{9D8B030D-6E8A-4147-A177-3AD203B41FA5}">
                      <a16:colId xmlns:a16="http://schemas.microsoft.com/office/drawing/2014/main" val="3371494410"/>
                    </a:ext>
                  </a:extLst>
                </a:gridCol>
                <a:gridCol w="699034">
                  <a:extLst>
                    <a:ext uri="{9D8B030D-6E8A-4147-A177-3AD203B41FA5}">
                      <a16:colId xmlns:a16="http://schemas.microsoft.com/office/drawing/2014/main" val="473810646"/>
                    </a:ext>
                  </a:extLst>
                </a:gridCol>
                <a:gridCol w="699034">
                  <a:extLst>
                    <a:ext uri="{9D8B030D-6E8A-4147-A177-3AD203B41FA5}">
                      <a16:colId xmlns:a16="http://schemas.microsoft.com/office/drawing/2014/main" val="1653722952"/>
                    </a:ext>
                  </a:extLst>
                </a:gridCol>
                <a:gridCol w="699034">
                  <a:extLst>
                    <a:ext uri="{9D8B030D-6E8A-4147-A177-3AD203B41FA5}">
                      <a16:colId xmlns:a16="http://schemas.microsoft.com/office/drawing/2014/main" val="4257437076"/>
                    </a:ext>
                  </a:extLst>
                </a:gridCol>
                <a:gridCol w="699034">
                  <a:extLst>
                    <a:ext uri="{9D8B030D-6E8A-4147-A177-3AD203B41FA5}">
                      <a16:colId xmlns:a16="http://schemas.microsoft.com/office/drawing/2014/main" val="3580994669"/>
                    </a:ext>
                  </a:extLst>
                </a:gridCol>
                <a:gridCol w="699034">
                  <a:extLst>
                    <a:ext uri="{9D8B030D-6E8A-4147-A177-3AD203B41FA5}">
                      <a16:colId xmlns:a16="http://schemas.microsoft.com/office/drawing/2014/main" val="523078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X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aseline="-25000" dirty="0"/>
                        <a:t>1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aseline="-25000" dirty="0"/>
                        <a:t>2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aseline="-25000" dirty="0"/>
                        <a:t>3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aseline="-25000" dirty="0"/>
                        <a:t>4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aseline="-25000" dirty="0"/>
                        <a:t>5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274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171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180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165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174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168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387649"/>
                  </a:ext>
                </a:extLst>
              </a:tr>
            </a:tbl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F149968-6D89-480B-B0B9-A56F4AD927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743759"/>
              </p:ext>
            </p:extLst>
          </p:nvPr>
        </p:nvGraphicFramePr>
        <p:xfrm>
          <a:off x="1919536" y="2348880"/>
          <a:ext cx="390298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431640" progId="Equation.DSMT4">
                  <p:embed/>
                </p:oleObj>
              </mc:Choice>
              <mc:Fallback>
                <p:oleObj name="Equation" r:id="rId2" imgW="1841400" imgH="431640" progId="Equation.DSMT4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2348880"/>
                        <a:ext cx="390298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1658F198-14B6-4752-A3DF-3F234C399A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127325"/>
              </p:ext>
            </p:extLst>
          </p:nvPr>
        </p:nvGraphicFramePr>
        <p:xfrm>
          <a:off x="2687638" y="4292600"/>
          <a:ext cx="5148262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30240" imgH="431640" progId="Equation.DSMT4">
                  <p:embed/>
                </p:oleObj>
              </mc:Choice>
              <mc:Fallback>
                <p:oleObj name="Equation" r:id="rId4" imgW="2730240" imgH="4316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AF149968-6D89-480B-B0B9-A56F4AD927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4292600"/>
                        <a:ext cx="5148262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3">
            <a:extLst>
              <a:ext uri="{FF2B5EF4-FFF2-40B4-BE49-F238E27FC236}">
                <a16:creationId xmlns:a16="http://schemas.microsoft.com/office/drawing/2014/main" id="{5C4FE24D-D536-4BA3-B0BB-A7135A44C7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215970"/>
              </p:ext>
            </p:extLst>
          </p:nvPr>
        </p:nvGraphicFramePr>
        <p:xfrm>
          <a:off x="2025099" y="5374179"/>
          <a:ext cx="4077146" cy="547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79560" imgH="291960" progId="Equation.DSMT4">
                  <p:embed/>
                </p:oleObj>
              </mc:Choice>
              <mc:Fallback>
                <p:oleObj name="Equation" r:id="rId6" imgW="1879560" imgH="291960" progId="Equation.DSMT4">
                  <p:embed/>
                  <p:pic>
                    <p:nvPicPr>
                      <p:cNvPr id="13" name="Object 23">
                        <a:extLst>
                          <a:ext uri="{FF2B5EF4-FFF2-40B4-BE49-F238E27FC236}">
                            <a16:creationId xmlns:a16="http://schemas.microsoft.com/office/drawing/2014/main" id="{FC009177-C266-452E-A2B0-C652F5F71E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099" y="5374179"/>
                        <a:ext cx="4077146" cy="547067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32F95E50-5060-4622-BA80-09C7C31EC2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502665"/>
              </p:ext>
            </p:extLst>
          </p:nvPr>
        </p:nvGraphicFramePr>
        <p:xfrm>
          <a:off x="6168008" y="5423248"/>
          <a:ext cx="124618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0240" imgH="241200" progId="Equation.DSMT4">
                  <p:embed/>
                </p:oleObj>
              </mc:Choice>
              <mc:Fallback>
                <p:oleObj name="Equation" r:id="rId8" imgW="660240" imgH="24120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1658F198-14B6-4752-A3DF-3F234C399A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008" y="5423248"/>
                        <a:ext cx="124618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7E4858C9-372E-46B6-8581-25E5770260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152313"/>
              </p:ext>
            </p:extLst>
          </p:nvPr>
        </p:nvGraphicFramePr>
        <p:xfrm>
          <a:off x="7442696" y="5262199"/>
          <a:ext cx="3039938" cy="771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01720" imgH="431640" progId="Equation.DSMT4">
                  <p:embed/>
                </p:oleObj>
              </mc:Choice>
              <mc:Fallback>
                <p:oleObj name="Equation" r:id="rId10" imgW="1701720" imgH="4316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AF149968-6D89-480B-B0B9-A56F4AD927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696" y="5262199"/>
                        <a:ext cx="3039938" cy="7710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0B332B68-E252-4E1C-AE88-198C6A3156AA}"/>
              </a:ext>
            </a:extLst>
          </p:cNvPr>
          <p:cNvGrpSpPr/>
          <p:nvPr/>
        </p:nvGrpSpPr>
        <p:grpSpPr>
          <a:xfrm>
            <a:off x="8511194" y="4168246"/>
            <a:ext cx="2769381" cy="1420995"/>
            <a:chOff x="6987194" y="4168245"/>
            <a:chExt cx="2769381" cy="1420995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136E443-5AB1-4A60-8113-6716CC4BABA4}"/>
                </a:ext>
              </a:extLst>
            </p:cNvPr>
            <p:cNvSpPr/>
            <p:nvPr/>
          </p:nvSpPr>
          <p:spPr bwMode="auto">
            <a:xfrm>
              <a:off x="7884368" y="5157192"/>
              <a:ext cx="504056" cy="432048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对话气泡: 圆角矩形 10">
              <a:extLst>
                <a:ext uri="{FF2B5EF4-FFF2-40B4-BE49-F238E27FC236}">
                  <a16:creationId xmlns:a16="http://schemas.microsoft.com/office/drawing/2014/main" id="{407A9541-8128-40DC-AC81-34BE2760FE76}"/>
                </a:ext>
              </a:extLst>
            </p:cNvPr>
            <p:cNvSpPr/>
            <p:nvPr/>
          </p:nvSpPr>
          <p:spPr bwMode="auto">
            <a:xfrm>
              <a:off x="6987194" y="4168245"/>
              <a:ext cx="2769381" cy="578604"/>
            </a:xfrm>
            <a:prstGeom prst="wedgeRoundRectCallout">
              <a:avLst>
                <a:gd name="adj1" fmla="val -10262"/>
                <a:gd name="adj2" fmla="val 140773"/>
                <a:gd name="adj3" fmla="val 16667"/>
              </a:avLst>
            </a:prstGeom>
            <a:solidFill>
              <a:srgbClr val="FFFF00"/>
            </a:solidFill>
            <a:ln w="9525" cap="flat" cmpd="sng" algn="ctr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</a:rPr>
                <a:t>年轻人中的最高者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C41B322D-A99D-0D94-452A-2223D8C5F1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407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非对称型</a:t>
            </a:r>
            <a:r>
              <a:rPr lang="en-US" altLang="zh-CN" dirty="0">
                <a:solidFill>
                  <a:srgbClr val="008000"/>
                </a:solidFill>
                <a:cs typeface="Times New Roman" pitchFamily="18" charset="0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规划</a:t>
            </a:r>
            <a:endParaRPr lang="zh-CN" altLang="en-US" sz="4000" dirty="0">
              <a:solidFill>
                <a:srgbClr val="008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297959"/>
            <a:ext cx="10297144" cy="5327650"/>
          </a:xfrm>
        </p:spPr>
        <p:txBody>
          <a:bodyPr vert="horz" wrap="square" lIns="90170" tIns="46990" rIns="90170" bIns="4699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如果把目标和约束看成不同等重要——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非对称型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规划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sz="2800" b="1" dirty="0"/>
              <a:t>设</a:t>
            </a:r>
            <a:r>
              <a:rPr lang="en-US" altLang="zh-CN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0, 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0, </a:t>
            </a:r>
            <a:r>
              <a:rPr lang="en-US" altLang="zh-CN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800" b="1" i="1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，记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800" b="1" i="1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ym typeface="Symbol" panose="05050102010706020507" pitchFamily="18" charset="2"/>
              </a:rPr>
              <a:t>，即有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endParaRPr lang="zh-CN" altLang="en-US" sz="4000" b="1" dirty="0">
              <a:latin typeface="Times New Roman" pitchFamily="18" charset="0"/>
            </a:endParaRPr>
          </a:p>
          <a:p>
            <a:pPr lvl="1"/>
            <a:r>
              <a:rPr lang="zh-CN" altLang="en-US" sz="2400" b="1" dirty="0">
                <a:sym typeface="Symbol" pitchFamily="18" charset="2"/>
              </a:rPr>
              <a:t>若有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400" b="1" dirty="0">
                <a:sym typeface="Symbol" pitchFamily="18" charset="2"/>
              </a:rPr>
              <a:t>*</a:t>
            </a:r>
            <a:r>
              <a:rPr lang="zh-CN" altLang="en-US" sz="2400" b="1" dirty="0">
                <a:sym typeface="Symbol" pitchFamily="18" charset="2"/>
              </a:rPr>
              <a:t>，使得</a:t>
            </a:r>
            <a:endParaRPr lang="en-US" altLang="zh-CN" sz="1200" dirty="0">
              <a:sym typeface="Symbol" pitchFamily="18" charset="2"/>
            </a:endParaRPr>
          </a:p>
          <a:p>
            <a:pPr marL="457200" lvl="1" indent="0">
              <a:buNone/>
            </a:pPr>
            <a:r>
              <a:rPr lang="zh-CN" altLang="en-US" sz="2400" b="1" dirty="0">
                <a:sym typeface="Symbol" pitchFamily="18" charset="2"/>
              </a:rPr>
              <a:t>   则称</a:t>
            </a:r>
            <a:r>
              <a:rPr lang="zh-CN" altLang="en-US" sz="2400" b="1" i="1" dirty="0">
                <a:latin typeface="Times New Roman" pitchFamily="18" charset="0"/>
              </a:rPr>
              <a:t>u</a:t>
            </a:r>
            <a:r>
              <a:rPr lang="zh-CN" altLang="en-US" sz="2400" b="1" dirty="0">
                <a:latin typeface="Times New Roman" pitchFamily="18" charset="0"/>
              </a:rPr>
              <a:t>*</a:t>
            </a:r>
            <a:r>
              <a:rPr lang="zh-CN" altLang="en-US" sz="2400" b="1" dirty="0">
                <a:sym typeface="Symbol" pitchFamily="18" charset="2"/>
              </a:rPr>
              <a:t>为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f </a:t>
            </a:r>
            <a:r>
              <a:rPr lang="zh-CN" altLang="en-US" sz="2400" b="1" dirty="0">
                <a:sym typeface="Symbol" pitchFamily="18" charset="2"/>
              </a:rPr>
              <a:t>的最优点，</a:t>
            </a:r>
            <a:r>
              <a:rPr lang="zh-CN" altLang="en-US" sz="2400" b="1" i="1" dirty="0">
                <a:latin typeface="Times New Roman" pitchFamily="18" charset="0"/>
              </a:rPr>
              <a:t>f</a:t>
            </a:r>
            <a:r>
              <a:rPr lang="zh-CN" altLang="en-US" sz="2400" b="1" dirty="0">
                <a:latin typeface="Times New Roman" pitchFamily="18" charset="0"/>
              </a:rPr>
              <a:t>(</a:t>
            </a:r>
            <a:r>
              <a:rPr lang="zh-CN" altLang="en-US" sz="2400" b="1" i="1" dirty="0">
                <a:latin typeface="Times New Roman" pitchFamily="18" charset="0"/>
              </a:rPr>
              <a:t>u*</a:t>
            </a:r>
            <a:r>
              <a:rPr lang="zh-CN" altLang="en-US" sz="2400" b="1" dirty="0">
                <a:latin typeface="Times New Roman" pitchFamily="18" charset="0"/>
              </a:rPr>
              <a:t>)为最优值。</a:t>
            </a:r>
            <a:endParaRPr lang="en-US" altLang="zh-CN" sz="2400" b="1" dirty="0">
              <a:latin typeface="Times New Roman" pitchFamily="18" charset="0"/>
            </a:endParaRPr>
          </a:p>
          <a:p>
            <a:r>
              <a:rPr lang="zh-CN" altLang="en-US" sz="2800" b="1" dirty="0">
                <a:latin typeface="Times New Roman" pitchFamily="18" charset="0"/>
              </a:rPr>
              <a:t>对于多约束</a:t>
            </a:r>
            <a:r>
              <a:rPr lang="en-US" altLang="zh-CN" sz="2800" b="1" i="1" dirty="0">
                <a:latin typeface="Times New Roman" pitchFamily="18" charset="0"/>
              </a:rPr>
              <a:t>A</a:t>
            </a:r>
            <a:r>
              <a:rPr lang="en-US" altLang="zh-CN" sz="2800" b="1" baseline="-25000" dirty="0">
                <a:latin typeface="Times New Roman" pitchFamily="18" charset="0"/>
              </a:rPr>
              <a:t>1</a:t>
            </a:r>
            <a:r>
              <a:rPr lang="en-US" altLang="zh-CN" sz="2800" b="1" dirty="0">
                <a:latin typeface="Times New Roman" pitchFamily="18" charset="0"/>
              </a:rPr>
              <a:t>,</a:t>
            </a:r>
            <a:r>
              <a:rPr lang="en-US" altLang="zh-CN" sz="2800" b="1" i="1" dirty="0">
                <a:latin typeface="Times New Roman" pitchFamily="18" charset="0"/>
              </a:rPr>
              <a:t> A</a:t>
            </a:r>
            <a:r>
              <a:rPr lang="en-US" altLang="zh-CN" sz="2800" b="1" baseline="-25000" dirty="0">
                <a:latin typeface="Times New Roman" pitchFamily="18" charset="0"/>
              </a:rPr>
              <a:t>2</a:t>
            </a:r>
            <a:r>
              <a:rPr lang="en-US" altLang="zh-CN" sz="2800" b="1" dirty="0">
                <a:latin typeface="Times New Roman" pitchFamily="18" charset="0"/>
              </a:rPr>
              <a:t>,…,</a:t>
            </a:r>
            <a:r>
              <a:rPr lang="en-US" altLang="zh-CN" sz="2800" b="1" i="1" dirty="0">
                <a:latin typeface="Times New Roman" pitchFamily="18" charset="0"/>
              </a:rPr>
              <a:t> A</a:t>
            </a:r>
            <a:r>
              <a:rPr lang="en-US" altLang="zh-CN" sz="2800" b="1" baseline="-25000" dirty="0">
                <a:latin typeface="Times New Roman" pitchFamily="18" charset="0"/>
              </a:rPr>
              <a:t>n</a:t>
            </a:r>
            <a:r>
              <a:rPr lang="zh-CN" altLang="en-US" sz="2800" b="1" dirty="0">
                <a:latin typeface="Times New Roman" pitchFamily="18" charset="0"/>
              </a:rPr>
              <a:t>的情况，可采用</a:t>
            </a:r>
          </a:p>
          <a:p>
            <a:pPr lvl="1">
              <a:buNone/>
            </a:pPr>
            <a:endParaRPr lang="en-US" altLang="zh-CN" sz="1800" b="1" dirty="0">
              <a:latin typeface="Times New Roman" pitchFamily="18" charset="0"/>
            </a:endParaRPr>
          </a:p>
          <a:p>
            <a:r>
              <a:rPr lang="zh-CN" altLang="en-US" sz="2800" b="1" dirty="0">
                <a:latin typeface="Times New Roman" pitchFamily="18" charset="0"/>
              </a:rPr>
              <a:t>对于多目标</a:t>
            </a:r>
            <a:r>
              <a:rPr lang="en-US" altLang="zh-CN" b="1" i="1" dirty="0">
                <a:latin typeface="Times New Roman" pitchFamily="18" charset="0"/>
              </a:rPr>
              <a:t>f</a:t>
            </a:r>
            <a:r>
              <a:rPr lang="en-US" altLang="zh-CN" b="1" baseline="-25000" dirty="0">
                <a:latin typeface="Times New Roman" pitchFamily="18" charset="0"/>
              </a:rPr>
              <a:t>1</a:t>
            </a:r>
            <a:r>
              <a:rPr lang="en-US" altLang="zh-CN" b="1" dirty="0">
                <a:latin typeface="Times New Roman" pitchFamily="18" charset="0"/>
              </a:rPr>
              <a:t>,</a:t>
            </a:r>
            <a:r>
              <a:rPr lang="en-US" altLang="zh-CN" b="1" i="1" dirty="0">
                <a:latin typeface="Times New Roman" pitchFamily="18" charset="0"/>
              </a:rPr>
              <a:t> f</a:t>
            </a:r>
            <a:r>
              <a:rPr lang="en-US" altLang="zh-CN" b="1" baseline="-25000" dirty="0">
                <a:latin typeface="Times New Roman" pitchFamily="18" charset="0"/>
              </a:rPr>
              <a:t>2</a:t>
            </a:r>
            <a:r>
              <a:rPr lang="en-US" altLang="zh-CN" b="1" dirty="0">
                <a:latin typeface="Times New Roman" pitchFamily="18" charset="0"/>
              </a:rPr>
              <a:t>,…,</a:t>
            </a:r>
            <a:r>
              <a:rPr lang="en-US" altLang="zh-CN" b="1" i="1" dirty="0">
                <a:latin typeface="Times New Roman" pitchFamily="18" charset="0"/>
              </a:rPr>
              <a:t> </a:t>
            </a:r>
            <a:r>
              <a:rPr lang="en-US" altLang="zh-CN" b="1" i="1" dirty="0" err="1">
                <a:latin typeface="Times New Roman" pitchFamily="18" charset="0"/>
              </a:rPr>
              <a:t>f</a:t>
            </a:r>
            <a:r>
              <a:rPr lang="en-US" altLang="zh-CN" b="1" baseline="-25000" dirty="0" err="1">
                <a:latin typeface="Times New Roman" pitchFamily="18" charset="0"/>
              </a:rPr>
              <a:t>m</a:t>
            </a:r>
            <a:r>
              <a:rPr lang="en-US" altLang="zh-CN" b="1" baseline="-25000" dirty="0">
                <a:latin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</a:rPr>
              <a:t>,</a:t>
            </a:r>
            <a:r>
              <a:rPr lang="zh-CN" altLang="en-US" sz="2800" b="1" dirty="0">
                <a:latin typeface="Times New Roman" pitchFamily="18" charset="0"/>
              </a:rPr>
              <a:t>先求出</a:t>
            </a:r>
            <a:r>
              <a:rPr lang="en-US" altLang="zh-CN" sz="2800" b="1" dirty="0">
                <a:latin typeface="Times New Roman" pitchFamily="18" charset="0"/>
              </a:rPr>
              <a:t>F</a:t>
            </a:r>
            <a:r>
              <a:rPr lang="zh-CN" altLang="en-US" sz="2800" b="1" dirty="0">
                <a:latin typeface="Times New Roman" pitchFamily="18" charset="0"/>
              </a:rPr>
              <a:t>目标集</a:t>
            </a:r>
            <a:r>
              <a:rPr lang="en-US" altLang="zh-CN" sz="2800" b="1" i="1" dirty="0">
                <a:latin typeface="Times New Roman" pitchFamily="18" charset="0"/>
              </a:rPr>
              <a:t>M</a:t>
            </a:r>
            <a:r>
              <a:rPr lang="en-US" altLang="zh-CN" sz="2800" b="1" i="1" baseline="-25000" dirty="0">
                <a:latin typeface="Times New Roman" pitchFamily="18" charset="0"/>
              </a:rPr>
              <a:t>f</a:t>
            </a:r>
            <a:r>
              <a:rPr lang="en-US" altLang="zh-CN" sz="2800" b="1" baseline="-25000" dirty="0">
                <a:latin typeface="Times New Roman" pitchFamily="18" charset="0"/>
              </a:rPr>
              <a:t>1</a:t>
            </a:r>
            <a:r>
              <a:rPr lang="en-US" altLang="zh-CN" sz="2800" b="1" dirty="0">
                <a:latin typeface="Times New Roman" pitchFamily="18" charset="0"/>
              </a:rPr>
              <a:t>,</a:t>
            </a:r>
            <a:r>
              <a:rPr lang="en-US" altLang="zh-CN" sz="2800" b="1" i="1" dirty="0">
                <a:latin typeface="Times New Roman" pitchFamily="18" charset="0"/>
              </a:rPr>
              <a:t> M</a:t>
            </a:r>
            <a:r>
              <a:rPr lang="en-US" altLang="zh-CN" sz="2800" b="1" i="1" baseline="-25000" dirty="0">
                <a:latin typeface="Times New Roman" pitchFamily="18" charset="0"/>
              </a:rPr>
              <a:t>f</a:t>
            </a:r>
            <a:r>
              <a:rPr lang="en-US" altLang="zh-CN" sz="2800" b="1" baseline="-25000" dirty="0">
                <a:latin typeface="Times New Roman" pitchFamily="18" charset="0"/>
              </a:rPr>
              <a:t>2</a:t>
            </a:r>
            <a:r>
              <a:rPr lang="en-US" altLang="zh-CN" sz="2800" b="1" dirty="0">
                <a:latin typeface="Times New Roman" pitchFamily="18" charset="0"/>
              </a:rPr>
              <a:t>,…,</a:t>
            </a:r>
            <a:r>
              <a:rPr lang="en-US" altLang="zh-CN" sz="2800" b="1" i="1" dirty="0">
                <a:latin typeface="Times New Roman" pitchFamily="18" charset="0"/>
              </a:rPr>
              <a:t> </a:t>
            </a:r>
            <a:r>
              <a:rPr lang="en-US" altLang="zh-CN" sz="2800" b="1" i="1" dirty="0" err="1">
                <a:latin typeface="Times New Roman" pitchFamily="18" charset="0"/>
              </a:rPr>
              <a:t>M</a:t>
            </a:r>
            <a:r>
              <a:rPr lang="en-US" altLang="zh-CN" sz="2800" b="1" i="1" baseline="-25000" dirty="0" err="1">
                <a:latin typeface="Times New Roman" pitchFamily="18" charset="0"/>
              </a:rPr>
              <a:t>f</a:t>
            </a:r>
            <a:r>
              <a:rPr lang="en-US" altLang="zh-CN" sz="2800" b="1" baseline="-25000" dirty="0" err="1">
                <a:latin typeface="Times New Roman" pitchFamily="18" charset="0"/>
              </a:rPr>
              <a:t>m</a:t>
            </a:r>
            <a:r>
              <a:rPr lang="en-US" altLang="zh-CN" sz="2800" b="1" baseline="-25000" dirty="0">
                <a:latin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</a:rPr>
              <a:t>,</a:t>
            </a:r>
            <a:r>
              <a:rPr lang="zh-CN" altLang="en-US" sz="2800" b="1" dirty="0">
                <a:latin typeface="Times New Roman" pitchFamily="18" charset="0"/>
              </a:rPr>
              <a:t>再用</a:t>
            </a:r>
            <a:endParaRPr lang="en-US" altLang="zh-CN" sz="2800" b="1" dirty="0">
              <a:latin typeface="Times New Roman" pitchFamily="18" charset="0"/>
            </a:endParaRPr>
          </a:p>
          <a:p>
            <a:pPr lvl="1">
              <a:buFont typeface="Wingdings" pitchFamily="2" charset="2"/>
              <a:buNone/>
            </a:pPr>
            <a:endParaRPr lang="en-US" altLang="zh-CN" sz="3200" b="1" dirty="0">
              <a:latin typeface="Times New Roman" pitchFamily="18" charset="0"/>
            </a:endParaRPr>
          </a:p>
          <a:p>
            <a:pPr lvl="1">
              <a:buFont typeface="Wingdings" pitchFamily="2" charset="2"/>
              <a:buNone/>
            </a:pPr>
            <a:endParaRPr lang="en-US" altLang="zh-CN" sz="900" b="1" dirty="0">
              <a:latin typeface="Times New Roman" pitchFamily="18" charset="0"/>
            </a:endParaRPr>
          </a:p>
          <a:p>
            <a:pPr lvl="1">
              <a:buFont typeface="Wingdings" pitchFamily="2" charset="2"/>
              <a:buNone/>
            </a:pPr>
            <a:r>
              <a:rPr lang="zh-CN" altLang="en-US" b="1" dirty="0">
                <a:latin typeface="Times New Roman" pitchFamily="18" charset="0"/>
              </a:rPr>
              <a:t>然后，对</a:t>
            </a:r>
            <a:r>
              <a:rPr lang="zh-CN" altLang="en-US" b="1" i="1" dirty="0">
                <a:latin typeface="Times New Roman" pitchFamily="18" charset="0"/>
              </a:rPr>
              <a:t>A</a:t>
            </a:r>
            <a:r>
              <a:rPr lang="zh-CN" altLang="en-US" b="1" dirty="0">
                <a:latin typeface="Times New Roman" pitchFamily="18" charset="0"/>
              </a:rPr>
              <a:t>和</a:t>
            </a:r>
            <a:r>
              <a:rPr lang="en-US" altLang="zh-CN" b="1" i="1" dirty="0">
                <a:latin typeface="Times New Roman" pitchFamily="18" charset="0"/>
              </a:rPr>
              <a:t>M</a:t>
            </a:r>
            <a:r>
              <a:rPr lang="zh-CN" altLang="en-US" b="1" i="1" baseline="-25000" dirty="0">
                <a:latin typeface="Times New Roman" pitchFamily="18" charset="0"/>
              </a:rPr>
              <a:t>f </a:t>
            </a:r>
            <a:r>
              <a:rPr lang="zh-CN" altLang="en-US" b="1" dirty="0">
                <a:latin typeface="Times New Roman" pitchFamily="18" charset="0"/>
              </a:rPr>
              <a:t>的使用上面的模型。        </a:t>
            </a:r>
            <a:r>
              <a:rPr lang="en-US" altLang="zh-CN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endParaRPr lang="en-US" altLang="zh-CN" b="1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752002"/>
              </p:ext>
            </p:extLst>
          </p:nvPr>
        </p:nvGraphicFramePr>
        <p:xfrm>
          <a:off x="2855640" y="2387974"/>
          <a:ext cx="4464496" cy="554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440" imgH="241200" progId="Equation.DSMT4">
                  <p:embed/>
                </p:oleObj>
              </mc:Choice>
              <mc:Fallback>
                <p:oleObj name="Equation" r:id="rId2" imgW="2044440" imgH="241200" progId="Equation.DSMT4">
                  <p:embed/>
                  <p:pic>
                    <p:nvPicPr>
                      <p:cNvPr id="28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2387974"/>
                        <a:ext cx="4464496" cy="55493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034033"/>
              </p:ext>
            </p:extLst>
          </p:nvPr>
        </p:nvGraphicFramePr>
        <p:xfrm>
          <a:off x="3935413" y="3074925"/>
          <a:ext cx="2140452" cy="554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291960" progId="Equation.DSMT4">
                  <p:embed/>
                </p:oleObj>
              </mc:Choice>
              <mc:Fallback>
                <p:oleObj name="Equation" r:id="rId4" imgW="1117440" imgH="291960" progId="Equation.DSMT4">
                  <p:embed/>
                  <p:pic>
                    <p:nvPicPr>
                      <p:cNvPr id="28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3074925"/>
                        <a:ext cx="2140452" cy="5549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5E2CD82-AF8C-4660-840D-47789CBA6C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406953"/>
              </p:ext>
            </p:extLst>
          </p:nvPr>
        </p:nvGraphicFramePr>
        <p:xfrm>
          <a:off x="7680175" y="3840906"/>
          <a:ext cx="3661579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90640" imgH="431640" progId="Equation.DSMT4">
                  <p:embed/>
                </p:oleObj>
              </mc:Choice>
              <mc:Fallback>
                <p:oleObj name="Equation" r:id="rId6" imgW="1790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680175" y="3840906"/>
                        <a:ext cx="3661579" cy="884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4247FE8-127D-4F1B-B228-477D4BC89F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838910"/>
              </p:ext>
            </p:extLst>
          </p:nvPr>
        </p:nvGraphicFramePr>
        <p:xfrm>
          <a:off x="3790951" y="5469948"/>
          <a:ext cx="3529185" cy="767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81080" imgH="431640" progId="Equation.DSMT4">
                  <p:embed/>
                </p:oleObj>
              </mc:Choice>
              <mc:Fallback>
                <p:oleObj name="Equation" r:id="rId8" imgW="1981080" imgH="4316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95E2CD82-AF8C-4660-840D-47789CBA6C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90951" y="5469948"/>
                        <a:ext cx="3529185" cy="767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5E9DAC4-CA85-8F7C-82D3-438AD5C76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096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F2434-9577-4B58-854A-56159F027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2" y="404664"/>
            <a:ext cx="8856984" cy="667544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非对称型</a:t>
            </a:r>
            <a:r>
              <a:rPr lang="en-US" altLang="zh-CN" dirty="0">
                <a:solidFill>
                  <a:srgbClr val="008000"/>
                </a:solidFill>
                <a:cs typeface="Times New Roman" pitchFamily="18" charset="0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规划举例</a:t>
            </a:r>
            <a:r>
              <a:rPr lang="en-US" altLang="zh-CN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—</a:t>
            </a:r>
            <a:r>
              <a:rPr lang="zh-CN" altLang="en-US" sz="4000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大衣购买选择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831474-310A-4974-B8D2-CD4C36E21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448" y="1268760"/>
            <a:ext cx="10009112" cy="5132040"/>
          </a:xfrm>
        </p:spPr>
        <p:txBody>
          <a:bodyPr/>
          <a:lstStyle/>
          <a:p>
            <a:r>
              <a:rPr lang="zh-CN" altLang="en-US" sz="2800" b="1" dirty="0"/>
              <a:t>某人想购买一件大衣，他提出如下标准：</a:t>
            </a:r>
            <a:endParaRPr lang="en-US" altLang="zh-CN" sz="2800" b="1" dirty="0"/>
          </a:p>
          <a:p>
            <a:pPr lvl="1"/>
            <a:r>
              <a:rPr lang="zh-CN" altLang="en-US" sz="2400" b="1" dirty="0">
                <a:solidFill>
                  <a:srgbClr val="CC00CC"/>
                </a:solidFill>
              </a:rPr>
              <a:t>式样一般、质量好、尺寸适合、价格尽量便宜。</a:t>
            </a:r>
            <a:endParaRPr lang="en-US" altLang="zh-CN" sz="2400" b="1" dirty="0">
              <a:solidFill>
                <a:srgbClr val="CC00CC"/>
              </a:solidFill>
            </a:endParaRPr>
          </a:p>
          <a:p>
            <a:pPr marL="0" indent="0">
              <a:buNone/>
            </a:pPr>
            <a:r>
              <a:rPr lang="zh-CN" altLang="en-US" sz="2800" b="1" dirty="0"/>
              <a:t>设有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件大衣</a:t>
            </a:r>
            <a:r>
              <a:rPr lang="en-US" altLang="zh-CN" sz="2800" b="1" dirty="0"/>
              <a:t>X={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800" b="1" baseline="-25000" dirty="0"/>
              <a:t>3</a:t>
            </a:r>
            <a:r>
              <a:rPr lang="en-US" altLang="zh-CN" sz="2800" b="1" dirty="0"/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800" b="1" baseline="-25000" dirty="0"/>
              <a:t>5</a:t>
            </a:r>
            <a:r>
              <a:rPr lang="en-US" altLang="zh-CN" sz="2800" b="1" dirty="0"/>
              <a:t>}</a:t>
            </a:r>
            <a:r>
              <a:rPr lang="zh-CN" altLang="en-US" sz="2800" b="1" dirty="0"/>
              <a:t>供选择，调查结果如下，他应购买哪件大衣</a:t>
            </a:r>
            <a:r>
              <a:rPr lang="en-US" altLang="zh-CN" sz="2800" b="1" dirty="0"/>
              <a:t>?</a:t>
            </a:r>
          </a:p>
          <a:p>
            <a:pPr marL="0" indent="0">
              <a:buNone/>
            </a:pPr>
            <a:endParaRPr lang="zh-CN" altLang="en-US" sz="28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13C5877-8BF0-4DDB-8662-13601535D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05007"/>
              </p:ext>
            </p:extLst>
          </p:nvPr>
        </p:nvGraphicFramePr>
        <p:xfrm>
          <a:off x="4536496" y="3140968"/>
          <a:ext cx="6096000" cy="19812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14548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931713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13999187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0314456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52931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50564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FF0000"/>
                          </a:solidFill>
                        </a:rPr>
                        <a:t>大衣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baseline="-250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baseline="-250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baseline="-250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baseline="-25000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799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式样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陈旧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较陈旧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新颖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较新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 一般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808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较好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较差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一般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17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尺寸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合适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较合适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合适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合适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较合适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464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价格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40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80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100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85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70</a:t>
                      </a:r>
                      <a:endParaRPr lang="zh-CN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893840"/>
                  </a:ext>
                </a:extLst>
              </a:tr>
            </a:tbl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B1C3DC96-E404-4732-8CFE-C71D804FB728}"/>
              </a:ext>
            </a:extLst>
          </p:cNvPr>
          <p:cNvGrpSpPr/>
          <p:nvPr/>
        </p:nvGrpSpPr>
        <p:grpSpPr>
          <a:xfrm>
            <a:off x="3359696" y="3573016"/>
            <a:ext cx="1176800" cy="1152128"/>
            <a:chOff x="1835696" y="3573016"/>
            <a:chExt cx="1176800" cy="1152128"/>
          </a:xfrm>
        </p:grpSpPr>
        <p:sp>
          <p:nvSpPr>
            <p:cNvPr id="5" name="左大括号 4">
              <a:extLst>
                <a:ext uri="{FF2B5EF4-FFF2-40B4-BE49-F238E27FC236}">
                  <a16:creationId xmlns:a16="http://schemas.microsoft.com/office/drawing/2014/main" id="{E067CAC3-FFC2-41DF-AEE3-DC04AC8D24A7}"/>
                </a:ext>
              </a:extLst>
            </p:cNvPr>
            <p:cNvSpPr/>
            <p:nvPr/>
          </p:nvSpPr>
          <p:spPr bwMode="auto">
            <a:xfrm>
              <a:off x="2748128" y="3573016"/>
              <a:ext cx="264368" cy="1152128"/>
            </a:xfrm>
            <a:prstGeom prst="leftBrace">
              <a:avLst/>
            </a:prstGeom>
            <a:noFill/>
            <a:ln w="381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F15AC3F-9CE6-4705-A7C3-86211B8BD5DB}"/>
                </a:ext>
              </a:extLst>
            </p:cNvPr>
            <p:cNvSpPr txBox="1"/>
            <p:nvPr/>
          </p:nvSpPr>
          <p:spPr>
            <a:xfrm>
              <a:off x="1835696" y="3964414"/>
              <a:ext cx="887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</a:rPr>
                <a:t>F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约束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7E90029-9C52-4509-BE29-7340400828E4}"/>
              </a:ext>
            </a:extLst>
          </p:cNvPr>
          <p:cNvGrpSpPr/>
          <p:nvPr/>
        </p:nvGrpSpPr>
        <p:grpSpPr>
          <a:xfrm>
            <a:off x="5280241" y="3573016"/>
            <a:ext cx="505031" cy="1143908"/>
            <a:chOff x="3756240" y="3573016"/>
            <a:chExt cx="505031" cy="1143908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FE32926-7306-4CFD-82EA-97C4EB3B6C60}"/>
                </a:ext>
              </a:extLst>
            </p:cNvPr>
            <p:cNvSpPr txBox="1"/>
            <p:nvPr/>
          </p:nvSpPr>
          <p:spPr>
            <a:xfrm>
              <a:off x="3756240" y="357301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550C7E0-9BAA-4113-8D71-441359190CBE}"/>
                </a:ext>
              </a:extLst>
            </p:cNvPr>
            <p:cNvSpPr txBox="1"/>
            <p:nvPr/>
          </p:nvSpPr>
          <p:spPr>
            <a:xfrm>
              <a:off x="3756240" y="3942348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749C835-9A42-483C-B0B1-52DE8FA39354}"/>
                </a:ext>
              </a:extLst>
            </p:cNvPr>
            <p:cNvSpPr txBox="1"/>
            <p:nvPr/>
          </p:nvSpPr>
          <p:spPr>
            <a:xfrm>
              <a:off x="3757215" y="4347592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A989A30-3AB0-46CA-9336-89DA9AA9758F}"/>
              </a:ext>
            </a:extLst>
          </p:cNvPr>
          <p:cNvGrpSpPr/>
          <p:nvPr/>
        </p:nvGrpSpPr>
        <p:grpSpPr>
          <a:xfrm>
            <a:off x="3361923" y="4706669"/>
            <a:ext cx="2423348" cy="400110"/>
            <a:chOff x="1837923" y="4706669"/>
            <a:chExt cx="2423348" cy="40011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A31E3B4-48EA-4A4A-9284-ADF05DDFD82C}"/>
                </a:ext>
              </a:extLst>
            </p:cNvPr>
            <p:cNvSpPr txBox="1"/>
            <p:nvPr/>
          </p:nvSpPr>
          <p:spPr>
            <a:xfrm>
              <a:off x="1837923" y="4706669"/>
              <a:ext cx="887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3333FF"/>
                  </a:solidFill>
                </a:rPr>
                <a:t>F</a:t>
              </a:r>
              <a:r>
                <a:rPr lang="zh-CN" altLang="en-US" sz="2000" b="1" dirty="0">
                  <a:solidFill>
                    <a:srgbClr val="3333FF"/>
                  </a:solidFill>
                </a:rPr>
                <a:t>目标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4217A02-CAB1-4D40-A896-BFDB1A2AB1C5}"/>
                </a:ext>
              </a:extLst>
            </p:cNvPr>
            <p:cNvSpPr txBox="1"/>
            <p:nvPr/>
          </p:nvSpPr>
          <p:spPr>
            <a:xfrm>
              <a:off x="3757215" y="4737447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 err="1">
                  <a:solidFill>
                    <a:srgbClr val="3333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i="1" baseline="-25000" dirty="0" err="1">
                  <a:solidFill>
                    <a:srgbClr val="3333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b="1" i="1" baseline="-25000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C2FBF4B-D114-4A3D-A1FA-C3C62C3EE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729322"/>
              </p:ext>
            </p:extLst>
          </p:nvPr>
        </p:nvGraphicFramePr>
        <p:xfrm>
          <a:off x="983432" y="5003800"/>
          <a:ext cx="3240359" cy="18542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89143">
                  <a:extLst>
                    <a:ext uri="{9D8B030D-6E8A-4147-A177-3AD203B41FA5}">
                      <a16:colId xmlns:a16="http://schemas.microsoft.com/office/drawing/2014/main" val="31454872"/>
                    </a:ext>
                  </a:extLst>
                </a:gridCol>
                <a:gridCol w="428000">
                  <a:extLst>
                    <a:ext uri="{9D8B030D-6E8A-4147-A177-3AD203B41FA5}">
                      <a16:colId xmlns:a16="http://schemas.microsoft.com/office/drawing/2014/main" val="1193171343"/>
                    </a:ext>
                  </a:extLst>
                </a:gridCol>
                <a:gridCol w="689925">
                  <a:extLst>
                    <a:ext uri="{9D8B030D-6E8A-4147-A177-3AD203B41FA5}">
                      <a16:colId xmlns:a16="http://schemas.microsoft.com/office/drawing/2014/main" val="3139991870"/>
                    </a:ext>
                  </a:extLst>
                </a:gridCol>
                <a:gridCol w="528623">
                  <a:extLst>
                    <a:ext uri="{9D8B030D-6E8A-4147-A177-3AD203B41FA5}">
                      <a16:colId xmlns:a16="http://schemas.microsoft.com/office/drawing/2014/main" val="1403144566"/>
                    </a:ext>
                  </a:extLst>
                </a:gridCol>
                <a:gridCol w="589157">
                  <a:extLst>
                    <a:ext uri="{9D8B030D-6E8A-4147-A177-3AD203B41FA5}">
                      <a16:colId xmlns:a16="http://schemas.microsoft.com/office/drawing/2014/main" val="41529312"/>
                    </a:ext>
                  </a:extLst>
                </a:gridCol>
                <a:gridCol w="515511">
                  <a:extLst>
                    <a:ext uri="{9D8B030D-6E8A-4147-A177-3AD203B41FA5}">
                      <a16:colId xmlns:a16="http://schemas.microsoft.com/office/drawing/2014/main" val="950564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800" b="1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799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baseline="-250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808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baseline="-250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r>
                        <a:rPr lang="zh-CN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17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800" b="1" baseline="-250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464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 err="1">
                          <a:solidFill>
                            <a:srgbClr val="3333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1800" b="1" i="1" baseline="-25000" dirty="0" err="1">
                          <a:solidFill>
                            <a:srgbClr val="3333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altLang="en-US" sz="1800" b="1" i="1" baseline="-25000" dirty="0">
                        <a:solidFill>
                          <a:srgbClr val="3333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893840"/>
                  </a:ext>
                </a:extLst>
              </a:tr>
            </a:tbl>
          </a:graphicData>
        </a:graphic>
      </p:graphicFrame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0529EFE2-B68E-700D-282D-F1E5C2AF08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400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F2434-9577-4B58-854A-56159F027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2" y="404664"/>
            <a:ext cx="8856984" cy="667544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非对称型</a:t>
            </a:r>
            <a:r>
              <a:rPr lang="en-US" altLang="zh-CN" dirty="0">
                <a:solidFill>
                  <a:srgbClr val="008000"/>
                </a:solidFill>
                <a:cs typeface="Times New Roman" pitchFamily="18" charset="0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规划举例</a:t>
            </a:r>
            <a:r>
              <a:rPr lang="en-US" altLang="zh-CN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—</a:t>
            </a:r>
            <a:r>
              <a:rPr lang="zh-CN" altLang="en-US" sz="4000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大衣购买选择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831474-310A-4974-B8D2-CD4C36E21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268760"/>
            <a:ext cx="10297144" cy="5132040"/>
          </a:xfrm>
        </p:spPr>
        <p:txBody>
          <a:bodyPr/>
          <a:lstStyle/>
          <a:p>
            <a:r>
              <a:rPr lang="zh-CN" altLang="en-US" sz="2800" b="1" dirty="0"/>
              <a:t>将</a:t>
            </a:r>
            <a:r>
              <a:rPr lang="zh-CN" altLang="en-US" sz="2800" b="1" dirty="0">
                <a:solidFill>
                  <a:srgbClr val="CC00CC"/>
                </a:solidFill>
              </a:rPr>
              <a:t>式样、质量、尺寸</a:t>
            </a:r>
            <a:r>
              <a:rPr lang="zh-CN" altLang="en-US" sz="2800" b="1" dirty="0"/>
              <a:t>平等看待，得：</a:t>
            </a:r>
            <a:endParaRPr lang="en-US" altLang="zh-CN" sz="2800" b="1" dirty="0"/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若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目标与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约束平等看待，则</a:t>
            </a:r>
            <a:endParaRPr lang="en-US" altLang="zh-CN" sz="2800" b="1" dirty="0"/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endParaRPr lang="en-US" altLang="zh-CN" sz="4000" b="1" dirty="0"/>
          </a:p>
          <a:p>
            <a:pPr marL="0" indent="0">
              <a:buNone/>
            </a:pPr>
            <a:r>
              <a:rPr lang="zh-CN" altLang="en-US" sz="2800" b="1" dirty="0"/>
              <a:t>他应购买大衣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/>
              <a:t>5 </a:t>
            </a:r>
            <a:r>
              <a:rPr lang="zh-CN" altLang="en-US" sz="2800" b="1" dirty="0"/>
              <a:t>，这与他要求的</a:t>
            </a:r>
            <a:endParaRPr lang="en-US" altLang="zh-CN" sz="2800" b="1" dirty="0"/>
          </a:p>
          <a:p>
            <a:pPr marL="0" indent="0">
              <a:buNone/>
            </a:pPr>
            <a:r>
              <a:rPr lang="zh-CN" altLang="en-US" sz="2800" b="1" dirty="0"/>
              <a:t>价格尽量便宜不太相符。</a:t>
            </a:r>
            <a:endParaRPr lang="en-US" altLang="zh-CN" sz="2800" b="1" dirty="0"/>
          </a:p>
          <a:p>
            <a:pPr marL="0" indent="0">
              <a:buNone/>
            </a:pPr>
            <a:endParaRPr lang="zh-CN" altLang="en-US" sz="2800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C2FBF4B-D114-4A3D-A1FA-C3C62C3EE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857475"/>
              </p:ext>
            </p:extLst>
          </p:nvPr>
        </p:nvGraphicFramePr>
        <p:xfrm>
          <a:off x="7427642" y="5003800"/>
          <a:ext cx="3240359" cy="18542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89143">
                  <a:extLst>
                    <a:ext uri="{9D8B030D-6E8A-4147-A177-3AD203B41FA5}">
                      <a16:colId xmlns:a16="http://schemas.microsoft.com/office/drawing/2014/main" val="31454872"/>
                    </a:ext>
                  </a:extLst>
                </a:gridCol>
                <a:gridCol w="428000">
                  <a:extLst>
                    <a:ext uri="{9D8B030D-6E8A-4147-A177-3AD203B41FA5}">
                      <a16:colId xmlns:a16="http://schemas.microsoft.com/office/drawing/2014/main" val="1193171343"/>
                    </a:ext>
                  </a:extLst>
                </a:gridCol>
                <a:gridCol w="689925">
                  <a:extLst>
                    <a:ext uri="{9D8B030D-6E8A-4147-A177-3AD203B41FA5}">
                      <a16:colId xmlns:a16="http://schemas.microsoft.com/office/drawing/2014/main" val="3139991870"/>
                    </a:ext>
                  </a:extLst>
                </a:gridCol>
                <a:gridCol w="528623">
                  <a:extLst>
                    <a:ext uri="{9D8B030D-6E8A-4147-A177-3AD203B41FA5}">
                      <a16:colId xmlns:a16="http://schemas.microsoft.com/office/drawing/2014/main" val="1403144566"/>
                    </a:ext>
                  </a:extLst>
                </a:gridCol>
                <a:gridCol w="589157">
                  <a:extLst>
                    <a:ext uri="{9D8B030D-6E8A-4147-A177-3AD203B41FA5}">
                      <a16:colId xmlns:a16="http://schemas.microsoft.com/office/drawing/2014/main" val="41529312"/>
                    </a:ext>
                  </a:extLst>
                </a:gridCol>
                <a:gridCol w="515511">
                  <a:extLst>
                    <a:ext uri="{9D8B030D-6E8A-4147-A177-3AD203B41FA5}">
                      <a16:colId xmlns:a16="http://schemas.microsoft.com/office/drawing/2014/main" val="950564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800" b="1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799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baseline="-250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808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baseline="-250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r>
                        <a:rPr lang="zh-CN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17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800" b="1" baseline="-250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464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 err="1">
                          <a:solidFill>
                            <a:srgbClr val="3333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1800" b="1" i="1" baseline="-25000" dirty="0" err="1">
                          <a:solidFill>
                            <a:srgbClr val="3333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altLang="en-US" sz="1800" b="1" i="1" baseline="-25000" dirty="0">
                        <a:solidFill>
                          <a:srgbClr val="3333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893840"/>
                  </a:ext>
                </a:extLst>
              </a:tr>
            </a:tbl>
          </a:graphicData>
        </a:graphic>
      </p:graphicFrame>
      <p:graphicFrame>
        <p:nvGraphicFramePr>
          <p:cNvPr id="16" name="Object 4">
            <a:extLst>
              <a:ext uri="{FF2B5EF4-FFF2-40B4-BE49-F238E27FC236}">
                <a16:creationId xmlns:a16="http://schemas.microsoft.com/office/drawing/2014/main" id="{E4A2A60E-9557-4AAA-A1AB-B3477D8C09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051463"/>
              </p:ext>
            </p:extLst>
          </p:nvPr>
        </p:nvGraphicFramePr>
        <p:xfrm>
          <a:off x="1271464" y="1876146"/>
          <a:ext cx="58150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431640" progId="Equation.DSMT4">
                  <p:embed/>
                </p:oleObj>
              </mc:Choice>
              <mc:Fallback>
                <p:oleObj name="Equation" r:id="rId2" imgW="2743200" imgH="4316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AF149968-6D89-480B-B0B9-A56F4AD927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1876146"/>
                        <a:ext cx="58150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68061356-A206-4291-966F-6E2C6EF11D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435261"/>
              </p:ext>
            </p:extLst>
          </p:nvPr>
        </p:nvGraphicFramePr>
        <p:xfrm>
          <a:off x="5682658" y="3508821"/>
          <a:ext cx="1403819" cy="511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240" imgH="241200" progId="Equation.DSMT4">
                  <p:embed/>
                </p:oleObj>
              </mc:Choice>
              <mc:Fallback>
                <p:oleObj name="Equation" r:id="rId4" imgW="660240" imgH="241200" progId="Equation.DSMT4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32F95E50-5060-4622-BA80-09C7C31EC2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2658" y="3508821"/>
                        <a:ext cx="1403819" cy="511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3F370A4D-75EA-411C-BA22-9C971C74CE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965467"/>
              </p:ext>
            </p:extLst>
          </p:nvPr>
        </p:nvGraphicFramePr>
        <p:xfrm>
          <a:off x="2609125" y="4274525"/>
          <a:ext cx="3176588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7680" imgH="431640" progId="Equation.DSMT4">
                  <p:embed/>
                </p:oleObj>
              </mc:Choice>
              <mc:Fallback>
                <p:oleObj name="Equation" r:id="rId6" imgW="1777680" imgH="431640" progId="Equation.DSMT4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7E4858C9-372E-46B6-8581-25E5770260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125" y="4274525"/>
                        <a:ext cx="3176588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3">
            <a:extLst>
              <a:ext uri="{FF2B5EF4-FFF2-40B4-BE49-F238E27FC236}">
                <a16:creationId xmlns:a16="http://schemas.microsoft.com/office/drawing/2014/main" id="{1B421D83-BE99-462B-911B-4F98F67B49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118500"/>
              </p:ext>
            </p:extLst>
          </p:nvPr>
        </p:nvGraphicFramePr>
        <p:xfrm>
          <a:off x="1671742" y="3441907"/>
          <a:ext cx="3920201" cy="636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79560" imgH="291960" progId="Equation.DSMT4">
                  <p:embed/>
                </p:oleObj>
              </mc:Choice>
              <mc:Fallback>
                <p:oleObj name="Equation" r:id="rId8" imgW="1879560" imgH="291960" progId="Equation.DSMT4">
                  <p:embed/>
                  <p:pic>
                    <p:nvPicPr>
                      <p:cNvPr id="7" name="Object 23">
                        <a:extLst>
                          <a:ext uri="{FF2B5EF4-FFF2-40B4-BE49-F238E27FC236}">
                            <a16:creationId xmlns:a16="http://schemas.microsoft.com/office/drawing/2014/main" id="{5C4FE24D-D536-4BA3-B0BB-A7135A44C7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742" y="3441907"/>
                        <a:ext cx="3920201" cy="636066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椭圆 3">
            <a:extLst>
              <a:ext uri="{FF2B5EF4-FFF2-40B4-BE49-F238E27FC236}">
                <a16:creationId xmlns:a16="http://schemas.microsoft.com/office/drawing/2014/main" id="{1A6E829D-D31F-EBC5-8127-FBAE96629E8B}"/>
              </a:ext>
            </a:extLst>
          </p:cNvPr>
          <p:cNvSpPr/>
          <p:nvPr/>
        </p:nvSpPr>
        <p:spPr bwMode="auto">
          <a:xfrm>
            <a:off x="5305779" y="4207166"/>
            <a:ext cx="504056" cy="4320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12F2CB-1CF6-ADEE-D537-435E707700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22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7C99169-7EF9-DA09-DE3E-DFEAEC5A8E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6616" y="1535696"/>
            <a:ext cx="4768056" cy="1600584"/>
          </a:xfrm>
          <a:prstGeom prst="rect">
            <a:avLst/>
          </a:prstGeom>
          <a:effectLst>
            <a:glow rad="127000">
              <a:srgbClr val="FFC000"/>
            </a:glow>
          </a:effectLst>
        </p:spPr>
      </p:pic>
    </p:spTree>
    <p:extLst>
      <p:ext uri="{BB962C8B-B14F-4D97-AF65-F5344CB8AC3E}">
        <p14:creationId xmlns:p14="http://schemas.microsoft.com/office/powerpoint/2010/main" val="373695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F2434-9577-4B58-854A-56159F027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2" y="404664"/>
            <a:ext cx="8856984" cy="667544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非对称型</a:t>
            </a:r>
            <a:r>
              <a:rPr lang="en-US" altLang="zh-CN" dirty="0">
                <a:solidFill>
                  <a:srgbClr val="008000"/>
                </a:solidFill>
                <a:cs typeface="Times New Roman" pitchFamily="18" charset="0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规划举例</a:t>
            </a:r>
            <a:r>
              <a:rPr lang="en-US" altLang="zh-CN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—</a:t>
            </a:r>
            <a:r>
              <a:rPr lang="zh-CN" altLang="en-US" sz="4000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大衣购买选择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831474-310A-4974-B8D2-CD4C36E21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16" y="1412776"/>
            <a:ext cx="9371384" cy="4988024"/>
          </a:xfrm>
        </p:spPr>
        <p:txBody>
          <a:bodyPr/>
          <a:lstStyle/>
          <a:p>
            <a:r>
              <a:rPr lang="zh-CN" altLang="en-US" sz="2800" b="1" dirty="0"/>
              <a:t>将</a:t>
            </a:r>
            <a:r>
              <a:rPr lang="zh-CN" altLang="en-US" sz="2800" b="1" dirty="0">
                <a:solidFill>
                  <a:srgbClr val="CC00CC"/>
                </a:solidFill>
              </a:rPr>
              <a:t>式样、质量、尺寸</a:t>
            </a:r>
            <a:r>
              <a:rPr lang="zh-CN" altLang="en-US" sz="2800" b="1" dirty="0"/>
              <a:t>平等看待，得：</a:t>
            </a:r>
            <a:endParaRPr lang="en-US" altLang="zh-CN" sz="2800" b="1" dirty="0"/>
          </a:p>
          <a:p>
            <a:endParaRPr lang="en-US" altLang="zh-CN" sz="2800" b="1" dirty="0"/>
          </a:p>
          <a:p>
            <a:endParaRPr lang="en-US" altLang="zh-CN" sz="1200" b="1" dirty="0"/>
          </a:p>
          <a:p>
            <a:r>
              <a:rPr lang="zh-CN" altLang="en-US" sz="2800" b="1" dirty="0"/>
              <a:t>若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目标与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约束系数分别为</a:t>
            </a:r>
            <a:r>
              <a:rPr lang="en-US" altLang="zh-CN" sz="2800" b="1" dirty="0">
                <a:solidFill>
                  <a:srgbClr val="CC00CC"/>
                </a:solidFill>
              </a:rPr>
              <a:t>a=0.4</a:t>
            </a:r>
            <a:r>
              <a:rPr lang="zh-CN" altLang="en-US" sz="2800" b="1" dirty="0"/>
              <a:t>、</a:t>
            </a:r>
            <a:r>
              <a:rPr lang="en-US" altLang="zh-CN" sz="2800" b="1" dirty="0">
                <a:solidFill>
                  <a:srgbClr val="3333FF"/>
                </a:solidFill>
              </a:rPr>
              <a:t>b=0.6</a:t>
            </a:r>
            <a:r>
              <a:rPr lang="zh-CN" altLang="en-US" sz="2800" b="1" dirty="0"/>
              <a:t>，则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800" b="1" i="1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US" altLang="zh-CN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0.4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0.6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endParaRPr lang="en-US" altLang="zh-CN" sz="2800" b="1" dirty="0"/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pPr marL="0" indent="0">
              <a:buNone/>
            </a:pPr>
            <a:endParaRPr lang="en-US" altLang="zh-CN" sz="3600" b="1" dirty="0"/>
          </a:p>
          <a:p>
            <a:pPr marL="0" indent="0">
              <a:buNone/>
            </a:pPr>
            <a:r>
              <a:rPr lang="zh-CN" altLang="en-US" sz="2800" b="1" dirty="0">
                <a:solidFill>
                  <a:srgbClr val="3333FF"/>
                </a:solidFill>
              </a:rPr>
              <a:t>应购买大衣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3333FF"/>
                </a:solidFill>
              </a:rPr>
              <a:t>1 </a:t>
            </a:r>
            <a:r>
              <a:rPr lang="zh-CN" altLang="en-US" sz="2800" b="1" dirty="0">
                <a:solidFill>
                  <a:srgbClr val="3333FF"/>
                </a:solidFill>
              </a:rPr>
              <a:t>，这可适合他的要求</a:t>
            </a:r>
            <a:endParaRPr lang="en-US" altLang="zh-CN" sz="2800" b="1" dirty="0">
              <a:solidFill>
                <a:srgbClr val="3333FF"/>
              </a:solidFill>
            </a:endParaRPr>
          </a:p>
          <a:p>
            <a:pPr marL="0" indent="0">
              <a:buNone/>
            </a:pPr>
            <a:endParaRPr lang="en-US" altLang="zh-CN" sz="2800" b="1" dirty="0"/>
          </a:p>
          <a:p>
            <a:pPr marL="0" indent="0">
              <a:buNone/>
            </a:pPr>
            <a:endParaRPr lang="zh-CN" altLang="en-US" sz="2800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C2FBF4B-D114-4A3D-A1FA-C3C62C3EE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551232"/>
              </p:ext>
            </p:extLst>
          </p:nvPr>
        </p:nvGraphicFramePr>
        <p:xfrm>
          <a:off x="8940316" y="5003800"/>
          <a:ext cx="3240359" cy="18542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89143">
                  <a:extLst>
                    <a:ext uri="{9D8B030D-6E8A-4147-A177-3AD203B41FA5}">
                      <a16:colId xmlns:a16="http://schemas.microsoft.com/office/drawing/2014/main" val="31454872"/>
                    </a:ext>
                  </a:extLst>
                </a:gridCol>
                <a:gridCol w="428000">
                  <a:extLst>
                    <a:ext uri="{9D8B030D-6E8A-4147-A177-3AD203B41FA5}">
                      <a16:colId xmlns:a16="http://schemas.microsoft.com/office/drawing/2014/main" val="1193171343"/>
                    </a:ext>
                  </a:extLst>
                </a:gridCol>
                <a:gridCol w="689925">
                  <a:extLst>
                    <a:ext uri="{9D8B030D-6E8A-4147-A177-3AD203B41FA5}">
                      <a16:colId xmlns:a16="http://schemas.microsoft.com/office/drawing/2014/main" val="3139991870"/>
                    </a:ext>
                  </a:extLst>
                </a:gridCol>
                <a:gridCol w="528623">
                  <a:extLst>
                    <a:ext uri="{9D8B030D-6E8A-4147-A177-3AD203B41FA5}">
                      <a16:colId xmlns:a16="http://schemas.microsoft.com/office/drawing/2014/main" val="1403144566"/>
                    </a:ext>
                  </a:extLst>
                </a:gridCol>
                <a:gridCol w="589157">
                  <a:extLst>
                    <a:ext uri="{9D8B030D-6E8A-4147-A177-3AD203B41FA5}">
                      <a16:colId xmlns:a16="http://schemas.microsoft.com/office/drawing/2014/main" val="41529312"/>
                    </a:ext>
                  </a:extLst>
                </a:gridCol>
                <a:gridCol w="515511">
                  <a:extLst>
                    <a:ext uri="{9D8B030D-6E8A-4147-A177-3AD203B41FA5}">
                      <a16:colId xmlns:a16="http://schemas.microsoft.com/office/drawing/2014/main" val="950564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CN" altLang="en-US" sz="1800" b="1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799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baseline="-250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808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baseline="-250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r>
                        <a:rPr lang="zh-CN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176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800" b="1" baseline="-250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800" b="1" baseline="-250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464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 err="1">
                          <a:solidFill>
                            <a:srgbClr val="3333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1800" b="1" i="1" baseline="-25000" dirty="0" err="1">
                          <a:solidFill>
                            <a:srgbClr val="3333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altLang="en-US" sz="1800" b="1" i="1" baseline="-25000" dirty="0">
                        <a:solidFill>
                          <a:srgbClr val="3333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zh-CN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893840"/>
                  </a:ext>
                </a:extLst>
              </a:tr>
            </a:tbl>
          </a:graphicData>
        </a:graphic>
      </p:graphicFrame>
      <p:graphicFrame>
        <p:nvGraphicFramePr>
          <p:cNvPr id="16" name="Object 4">
            <a:extLst>
              <a:ext uri="{FF2B5EF4-FFF2-40B4-BE49-F238E27FC236}">
                <a16:creationId xmlns:a16="http://schemas.microsoft.com/office/drawing/2014/main" id="{E4A2A60E-9557-4AAA-A1AB-B3477D8C09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771116"/>
              </p:ext>
            </p:extLst>
          </p:nvPr>
        </p:nvGraphicFramePr>
        <p:xfrm>
          <a:off x="1487488" y="1871009"/>
          <a:ext cx="5328592" cy="837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431640" progId="Equation.DSMT4">
                  <p:embed/>
                </p:oleObj>
              </mc:Choice>
              <mc:Fallback>
                <p:oleObj name="Equation" r:id="rId2" imgW="2743200" imgH="431640" progId="Equation.DSMT4">
                  <p:embed/>
                  <p:pic>
                    <p:nvPicPr>
                      <p:cNvPr id="16" name="Object 4">
                        <a:extLst>
                          <a:ext uri="{FF2B5EF4-FFF2-40B4-BE49-F238E27FC236}">
                            <a16:creationId xmlns:a16="http://schemas.microsoft.com/office/drawing/2014/main" id="{E4A2A60E-9557-4AAA-A1AB-B3477D8C09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1871009"/>
                        <a:ext cx="5328592" cy="8379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6C85A2F5-3EC1-4C73-856E-161ADBF88B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51641"/>
              </p:ext>
            </p:extLst>
          </p:nvPr>
        </p:nvGraphicFramePr>
        <p:xfrm>
          <a:off x="1703512" y="3589673"/>
          <a:ext cx="7367588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65560" imgH="482400" progId="Equation.DSMT4">
                  <p:embed/>
                </p:oleObj>
              </mc:Choice>
              <mc:Fallback>
                <p:oleObj name="Equation" r:id="rId4" imgW="4165560" imgH="482400" progId="Equation.DSMT4">
                  <p:embed/>
                  <p:pic>
                    <p:nvPicPr>
                      <p:cNvPr id="16" name="Object 4">
                        <a:extLst>
                          <a:ext uri="{FF2B5EF4-FFF2-40B4-BE49-F238E27FC236}">
                            <a16:creationId xmlns:a16="http://schemas.microsoft.com/office/drawing/2014/main" id="{E4A2A60E-9557-4AAA-A1AB-B3477D8C09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3589673"/>
                        <a:ext cx="7367588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1580E734-83F4-45EA-A52C-D69EC43B43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073757"/>
              </p:ext>
            </p:extLst>
          </p:nvPr>
        </p:nvGraphicFramePr>
        <p:xfrm>
          <a:off x="1703512" y="4450808"/>
          <a:ext cx="8784742" cy="606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35560" imgH="431640" progId="Equation.DSMT4">
                  <p:embed/>
                </p:oleObj>
              </mc:Choice>
              <mc:Fallback>
                <p:oleObj name="Equation" r:id="rId6" imgW="6235560" imgH="431640" progId="Equation.DSMT4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6C85A2F5-3EC1-4C73-856E-161ADBF88B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4450808"/>
                        <a:ext cx="8784742" cy="606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CAB6B0AC-E2B4-4EEF-903F-64F0EF4914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001996"/>
              </p:ext>
            </p:extLst>
          </p:nvPr>
        </p:nvGraphicFramePr>
        <p:xfrm>
          <a:off x="1703512" y="5108001"/>
          <a:ext cx="3531653" cy="769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81080" imgH="431640" progId="Equation.DSMT4">
                  <p:embed/>
                </p:oleObj>
              </mc:Choice>
              <mc:Fallback>
                <p:oleObj name="Equation" r:id="rId8" imgW="1981080" imgH="431640" progId="Equation.DSMT4">
                  <p:embed/>
                  <p:pic>
                    <p:nvPicPr>
                      <p:cNvPr id="16" name="Object 4">
                        <a:extLst>
                          <a:ext uri="{FF2B5EF4-FFF2-40B4-BE49-F238E27FC236}">
                            <a16:creationId xmlns:a16="http://schemas.microsoft.com/office/drawing/2014/main" id="{E4A2A60E-9557-4AAA-A1AB-B3477D8C09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5108001"/>
                        <a:ext cx="3531653" cy="7692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椭圆 12">
            <a:extLst>
              <a:ext uri="{FF2B5EF4-FFF2-40B4-BE49-F238E27FC236}">
                <a16:creationId xmlns:a16="http://schemas.microsoft.com/office/drawing/2014/main" id="{7F900ACF-BD2A-4F30-BF2E-7B8C6D068BDA}"/>
              </a:ext>
            </a:extLst>
          </p:cNvPr>
          <p:cNvSpPr/>
          <p:nvPr/>
        </p:nvSpPr>
        <p:spPr bwMode="auto">
          <a:xfrm>
            <a:off x="1919535" y="5054057"/>
            <a:ext cx="504056" cy="4320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B57282-38AC-D492-6B6E-75F78DA8A7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23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F68E7BA-7B6A-3BF2-C51B-8207D24162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6520" y="1058572"/>
            <a:ext cx="4755480" cy="1596362"/>
          </a:xfrm>
          <a:prstGeom prst="rect">
            <a:avLst/>
          </a:prstGeom>
          <a:effectLst>
            <a:glow rad="127000">
              <a:srgbClr val="FFC000"/>
            </a:glow>
          </a:effectLst>
        </p:spPr>
      </p:pic>
    </p:spTree>
    <p:extLst>
      <p:ext uri="{BB962C8B-B14F-4D97-AF65-F5344CB8AC3E}">
        <p14:creationId xmlns:p14="http://schemas.microsoft.com/office/powerpoint/2010/main" val="214629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习题 </a:t>
            </a:r>
            <a:r>
              <a:rPr lang="en-US" altLang="zh-CN" dirty="0"/>
              <a:t>11</a:t>
            </a:r>
          </a:p>
          <a:p>
            <a:pPr marL="0" indent="0">
              <a:buNone/>
            </a:pPr>
            <a:r>
              <a:rPr lang="en-US" altLang="zh-CN" dirty="0"/>
              <a:t>       3,</a:t>
            </a:r>
            <a:r>
              <a:rPr lang="zh-CN" altLang="en-US" dirty="0"/>
              <a:t>  </a:t>
            </a:r>
            <a:r>
              <a:rPr lang="en-US" altLang="zh-CN" dirty="0"/>
              <a:t>4</a:t>
            </a:r>
            <a:r>
              <a:rPr lang="en-US" altLang="zh-CN"/>
              <a:t>, 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8EBB9B-360B-0296-5B99-9440D2DEA0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63869E-FED2-4C7A-8B6F-30276E693B48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7447249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36470</TotalTime>
  <Pages>0</Pages>
  <Words>2453</Words>
  <Characters>0</Characters>
  <Application>Microsoft Office PowerPoint</Application>
  <DocSecurity>0</DocSecurity>
  <PresentationFormat>宽屏</PresentationFormat>
  <Lines>0</Lines>
  <Paragraphs>415</Paragraphs>
  <Slides>24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黑体</vt:lpstr>
      <vt:lpstr>华文楷体</vt:lpstr>
      <vt:lpstr>隶书</vt:lpstr>
      <vt:lpstr>宋体</vt:lpstr>
      <vt:lpstr>Arial</vt:lpstr>
      <vt:lpstr>Arial Black</vt:lpstr>
      <vt:lpstr>Comic Sans MS</vt:lpstr>
      <vt:lpstr>Monotype Corsiva</vt:lpstr>
      <vt:lpstr>Symbol</vt:lpstr>
      <vt:lpstr>Times New Roman</vt:lpstr>
      <vt:lpstr>Wingdings</vt:lpstr>
      <vt:lpstr>Pixel</vt:lpstr>
      <vt:lpstr>1_Pixel</vt:lpstr>
      <vt:lpstr>Equation</vt:lpstr>
      <vt:lpstr>MathType 6.0 Equation</vt:lpstr>
      <vt:lpstr>第 11 章 模糊线性规划</vt:lpstr>
      <vt:lpstr>11.3  F约束下的条件极值</vt:lpstr>
      <vt:lpstr>F约束下的条件极值</vt:lpstr>
      <vt:lpstr>F约束下的条件极值</vt:lpstr>
      <vt:lpstr>F约束下的条件极值</vt:lpstr>
      <vt:lpstr>F约束下的条件极值</vt:lpstr>
      <vt:lpstr>П形函数</vt:lpstr>
      <vt:lpstr>与П形函数有关的定理</vt:lpstr>
      <vt:lpstr>与П形函数有关的定理</vt:lpstr>
      <vt:lpstr>与П形函数有关的定理</vt:lpstr>
      <vt:lpstr>F优越集上的最优规划值</vt:lpstr>
      <vt:lpstr>F优越集上的最优规划值举例1</vt:lpstr>
      <vt:lpstr>F优越集上的最优规划值举例1</vt:lpstr>
      <vt:lpstr>11.4  对称型与非对称型F规划</vt:lpstr>
      <vt:lpstr> F极大值和F决策问题</vt:lpstr>
      <vt:lpstr>对称型F最优规划举例2</vt:lpstr>
      <vt:lpstr>对称型F最优规划举例2</vt:lpstr>
      <vt:lpstr>对称型F最优规划举例2</vt:lpstr>
      <vt:lpstr>对称型F规划举例3—年轻人中的最高者</vt:lpstr>
      <vt:lpstr>非对称型F规划</vt:lpstr>
      <vt:lpstr>非对称型F规划举例—大衣购买选择</vt:lpstr>
      <vt:lpstr>非对称型F规划举例—大衣购买选择</vt:lpstr>
      <vt:lpstr>非对称型F规划举例—大衣购买选择</vt:lpstr>
      <vt:lpstr>作业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6 章 模糊逻辑</dc:title>
  <dc:creator>凌卫新</dc:creator>
  <cp:lastModifiedBy>wxling66@outlook.com</cp:lastModifiedBy>
  <cp:revision>477</cp:revision>
  <cp:lastPrinted>2016-12-19T17:30:37Z</cp:lastPrinted>
  <dcterms:created xsi:type="dcterms:W3CDTF">2007-05-29T17:35:31Z</dcterms:created>
  <dcterms:modified xsi:type="dcterms:W3CDTF">2026-06-16T12:17:09Z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2052-9.1.0.4047</vt:lpwstr>
  </property>
</Properties>
</file>