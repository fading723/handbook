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  <p:sldMasterId id="2147483748" r:id="rId2"/>
  </p:sldMasterIdLst>
  <p:notesMasterIdLst>
    <p:notesMasterId r:id="rId17"/>
  </p:notesMasterIdLst>
  <p:sldIdLst>
    <p:sldId id="368" r:id="rId3"/>
    <p:sldId id="302" r:id="rId4"/>
    <p:sldId id="331" r:id="rId5"/>
    <p:sldId id="330" r:id="rId6"/>
    <p:sldId id="345" r:id="rId7"/>
    <p:sldId id="346" r:id="rId8"/>
    <p:sldId id="348" r:id="rId9"/>
    <p:sldId id="349" r:id="rId10"/>
    <p:sldId id="361" r:id="rId11"/>
    <p:sldId id="351" r:id="rId12"/>
    <p:sldId id="350" r:id="rId13"/>
    <p:sldId id="352" r:id="rId14"/>
    <p:sldId id="353" r:id="rId15"/>
    <p:sldId id="354" r:id="rId16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0000FF"/>
    <a:srgbClr val="FF00FF"/>
    <a:srgbClr val="FF0000"/>
    <a:srgbClr val="008000"/>
    <a:srgbClr val="256AB0"/>
    <a:srgbClr val="C63F3B"/>
    <a:srgbClr val="FFFF99"/>
    <a:srgbClr val="5F41A6"/>
    <a:srgbClr val="FA7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3333" autoAdjust="0"/>
  </p:normalViewPr>
  <p:slideViewPr>
    <p:cSldViewPr>
      <p:cViewPr varScale="1">
        <p:scale>
          <a:sx n="56" d="100"/>
          <a:sy n="56" d="100"/>
        </p:scale>
        <p:origin x="108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2358FBC-9D9A-436C-9525-CEE876E83C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31527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58FBC-9D9A-436C-9525-CEE876E83C1E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577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按这个运算，不难证明，</a:t>
            </a:r>
            <a:r>
              <a:rPr lang="zh-CN" altLang="en-US" dirty="0">
                <a:sym typeface="Symbol" panose="05050102010706020507" pitchFamily="18" charset="2"/>
              </a:rPr>
              <a:t></a:t>
            </a:r>
            <a:r>
              <a:rPr lang="en-US" altLang="zh-CN" dirty="0">
                <a:sym typeface="Symbol" panose="05050102010706020507" pitchFamily="18" charset="2"/>
              </a:rPr>
              <a:t>1,…,</a:t>
            </a:r>
            <a:r>
              <a:rPr lang="zh-CN" altLang="en-US" dirty="0">
                <a:sym typeface="Symbol" panose="05050102010706020507" pitchFamily="18" charset="2"/>
              </a:rPr>
              <a:t> 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的线性组合仍将支集限制在</a:t>
            </a:r>
            <a:r>
              <a:rPr lang="en-US" altLang="zh-CN" dirty="0">
                <a:sym typeface="Symbol" panose="05050102010706020507" pitchFamily="18" charset="2"/>
              </a:rPr>
              <a:t>[0, 1]</a:t>
            </a:r>
            <a:r>
              <a:rPr lang="zh-CN" altLang="en-US" dirty="0">
                <a:sym typeface="Symbol" panose="05050102010706020507" pitchFamily="18" charset="2"/>
              </a:rPr>
              <a:t>内，即概率语言对于这里规定的运算是封闭的。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58FBC-9D9A-436C-9525-CEE876E83C1E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4562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BA92-E862-4B24-A449-E10EF289D2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27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9950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8F3C5-8ACC-4FB3-B28B-499C203B077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03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12ED-9702-488D-BB2E-E94BF179E2B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715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A4542-25F5-4DF3-AD45-F447DF1A7F0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541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E88BD-6F53-4518-B021-179C7B68BE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60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ED241-0E87-48B2-90C1-0F7182A4726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611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4B805-C5D8-4B8C-9715-6148604F509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0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0CF5-B27F-45F6-AAA9-6F3DACE6EFE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3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40C6E-A276-4196-9AB0-6654728946A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887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8D8C2-BE4A-4387-AA58-E8D0A41648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320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752" y="6247897"/>
            <a:ext cx="51784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CB426-8E95-4BBB-9181-885B2B64E6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743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31080" y="626650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E0329-027F-44B1-A42A-8643FF5939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913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CA9C1-0131-48F7-AA99-CF8DF35E01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579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41762" y="628309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CFDC69-780A-4B1C-97E7-61C7E54B9D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432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979C5-4197-4E15-8450-D6EFDC2FA7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7904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63760" y="6230867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95C34-E364-4B19-9DC1-3C25DD4113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5107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55617" y="6248400"/>
            <a:ext cx="44584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A47BA-BA63-4780-94A9-8AFA2EA44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8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21B6D3-6BB7-4272-938F-C3C6CB1DE3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8360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324F-2DC6-4E2C-A824-0AA5A2A441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464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C9D07-ECF5-49E4-9AEC-081DA34766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997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0FCB0-6827-4052-B1F8-50690392BE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4477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9F246-5609-47AB-8E41-68E47FB000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7510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4DC022-E2FC-4194-89EB-F0AC4449F8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96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91752" y="6280362"/>
            <a:ext cx="517848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33C39-8941-4754-97F1-DAC9E9289B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57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368" y="6352835"/>
            <a:ext cx="433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D8C2-BE4A-4387-AA58-E8D0A416485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590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88C46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138" y="6264275"/>
            <a:ext cx="589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461A77B0-1F5B-4DE1-802B-D0CEC0E6BF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02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41.bin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41.w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42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39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1.wmf"/><Relationship Id="rId18" Type="http://schemas.openxmlformats.org/officeDocument/2006/relationships/oleObject" Target="../embeddings/oleObject45.bin"/><Relationship Id="rId26" Type="http://schemas.openxmlformats.org/officeDocument/2006/relationships/oleObject" Target="../embeddings/oleObject49.bin"/><Relationship Id="rId3" Type="http://schemas.openxmlformats.org/officeDocument/2006/relationships/image" Target="../media/image35.wmf"/><Relationship Id="rId21" Type="http://schemas.openxmlformats.org/officeDocument/2006/relationships/image" Target="../media/image47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5.wmf"/><Relationship Id="rId25" Type="http://schemas.openxmlformats.org/officeDocument/2006/relationships/image" Target="../media/image49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48.bin"/><Relationship Id="rId5" Type="http://schemas.openxmlformats.org/officeDocument/2006/relationships/image" Target="../media/image36.wmf"/><Relationship Id="rId15" Type="http://schemas.openxmlformats.org/officeDocument/2006/relationships/image" Target="../media/image42.wmf"/><Relationship Id="rId23" Type="http://schemas.openxmlformats.org/officeDocument/2006/relationships/image" Target="../media/image48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6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7.bin"/><Relationship Id="rId27" Type="http://schemas.openxmlformats.org/officeDocument/2006/relationships/image" Target="../media/image50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7588" y="2060575"/>
            <a:ext cx="8380412" cy="2209800"/>
          </a:xfrm>
        </p:spPr>
        <p:txBody>
          <a:bodyPr/>
          <a:lstStyle/>
          <a:p>
            <a:pPr algn="ctr" eaLnBrk="1" hangingPunct="1"/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第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 </a:t>
            </a:r>
            <a:r>
              <a:rPr lang="en-US" altLang="zh-CN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隶书" pitchFamily="49" charset="-122"/>
              </a:rPr>
              <a:t>10 </a:t>
            </a: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章</a:t>
            </a:r>
            <a:b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</a:br>
            <a:r>
              <a:rPr lang="zh-CN" altLang="en-US" sz="6600" b="1" dirty="0">
                <a:solidFill>
                  <a:srgbClr val="E8E8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模糊概率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63753" y="4270375"/>
            <a:ext cx="6192837" cy="2349500"/>
          </a:xfrm>
        </p:spPr>
        <p:txBody>
          <a:bodyPr/>
          <a:lstStyle/>
          <a:p>
            <a:pPr eaLnBrk="1" hangingPunct="1"/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10.1  F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事件的概率</a:t>
            </a:r>
          </a:p>
          <a:p>
            <a:pPr eaLnBrk="1" hangingPunct="1"/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10.2 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事件的</a:t>
            </a:r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F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概率</a:t>
            </a:r>
          </a:p>
          <a:p>
            <a:pPr eaLnBrk="1" hangingPunct="1"/>
            <a:r>
              <a:rPr lang="en-US" altLang="zh-CN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10.3 F</a:t>
            </a:r>
            <a:r>
              <a:rPr lang="zh-CN" altLang="en-US" sz="3600" dirty="0">
                <a:solidFill>
                  <a:srgbClr val="E90101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事件的语言概率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FE8D79-9D91-7633-201D-C15E7168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DACB426-8E95-4BBB-9181-885B2B64E6D8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7D3A-CB33-4778-AE39-C3A253BE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0019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976D6-981D-47C0-8875-E0D53D72F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293" y="1481619"/>
            <a:ext cx="8448352" cy="584775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在客观世界和现实生活中：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62DE75-974F-4C07-97F3-1D718010DE7A}"/>
              </a:ext>
            </a:extLst>
          </p:cNvPr>
          <p:cNvSpPr/>
          <p:nvPr/>
        </p:nvSpPr>
        <p:spPr>
          <a:xfrm>
            <a:off x="1666747" y="2799918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事件在质的表现具有</a:t>
            </a:r>
            <a:endParaRPr lang="zh-CN" altLang="en-US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82E6D0-67EC-4527-9B2C-E1D4B946CDB9}"/>
              </a:ext>
            </a:extLst>
          </p:cNvPr>
          <p:cNvSpPr/>
          <p:nvPr/>
        </p:nvSpPr>
        <p:spPr>
          <a:xfrm>
            <a:off x="5595924" y="2340172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8000"/>
                </a:solidFill>
              </a:rPr>
              <a:t>确定性</a:t>
            </a:r>
            <a:endParaRPr lang="zh-CN" altLang="en-US" sz="3200" dirty="0">
              <a:solidFill>
                <a:srgbClr val="008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737277-A76B-45AD-9704-A3E0AEB9AA00}"/>
              </a:ext>
            </a:extLst>
          </p:cNvPr>
          <p:cNvSpPr/>
          <p:nvPr/>
        </p:nvSpPr>
        <p:spPr>
          <a:xfrm>
            <a:off x="5595927" y="3259665"/>
            <a:ext cx="18325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不确定性</a:t>
            </a:r>
            <a:endParaRPr lang="zh-CN" altLang="en-US" sz="3200" dirty="0">
              <a:solidFill>
                <a:srgbClr val="7030A0"/>
              </a:solidFill>
            </a:endParaRP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1717A004-10C0-45B9-81B3-6768178531E3}"/>
              </a:ext>
            </a:extLst>
          </p:cNvPr>
          <p:cNvSpPr/>
          <p:nvPr/>
        </p:nvSpPr>
        <p:spPr bwMode="auto">
          <a:xfrm>
            <a:off x="5447928" y="2597287"/>
            <a:ext cx="206720" cy="990032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3B3353C9-F980-4D7E-A543-8BE33585C56E}"/>
              </a:ext>
            </a:extLst>
          </p:cNvPr>
          <p:cNvSpPr/>
          <p:nvPr/>
        </p:nvSpPr>
        <p:spPr bwMode="auto">
          <a:xfrm>
            <a:off x="7369753" y="2769004"/>
            <a:ext cx="206720" cy="1668111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15DF7-5F1C-480A-ADC5-618740CB966A}"/>
              </a:ext>
            </a:extLst>
          </p:cNvPr>
          <p:cNvSpPr/>
          <p:nvPr/>
        </p:nvSpPr>
        <p:spPr>
          <a:xfrm>
            <a:off x="7576473" y="2444234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</a:rPr>
              <a:t>随机性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DC38B8-208A-4E19-AB28-D98CFA2B3F3B}"/>
              </a:ext>
            </a:extLst>
          </p:cNvPr>
          <p:cNvSpPr/>
          <p:nvPr/>
        </p:nvSpPr>
        <p:spPr>
          <a:xfrm>
            <a:off x="7576473" y="3217334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模糊性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06697-E955-4C19-90E6-EEA56B450C32}"/>
              </a:ext>
            </a:extLst>
          </p:cNvPr>
          <p:cNvSpPr/>
          <p:nvPr/>
        </p:nvSpPr>
        <p:spPr>
          <a:xfrm>
            <a:off x="7555741" y="4027677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CC00CC"/>
                </a:solidFill>
              </a:rPr>
              <a:t>随机模糊性</a:t>
            </a:r>
            <a:endParaRPr lang="zh-CN" altLang="en-US" sz="3200" dirty="0">
              <a:solidFill>
                <a:srgbClr val="CC00CC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48AB76-17EC-4D8B-ACFB-9E0949395000}"/>
              </a:ext>
            </a:extLst>
          </p:cNvPr>
          <p:cNvSpPr/>
          <p:nvPr/>
        </p:nvSpPr>
        <p:spPr>
          <a:xfrm>
            <a:off x="2269955" y="4559558"/>
            <a:ext cx="4304383" cy="58477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zh-CN" altLang="en-US" sz="3200" b="1" dirty="0"/>
              <a:t>“明天是个好天气。”</a:t>
            </a:r>
            <a:endParaRPr lang="zh-CN" altLang="en-US" sz="3200" dirty="0"/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97A86E37-FA8B-446F-B502-100C6DC7122E}"/>
              </a:ext>
            </a:extLst>
          </p:cNvPr>
          <p:cNvSpPr/>
          <p:nvPr/>
        </p:nvSpPr>
        <p:spPr bwMode="auto">
          <a:xfrm>
            <a:off x="1996738" y="5453474"/>
            <a:ext cx="206720" cy="990032"/>
          </a:xfrm>
          <a:prstGeom prst="leftBrac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8FEFD7-836B-4914-A1B3-BCB6746E7BE1}"/>
              </a:ext>
            </a:extLst>
          </p:cNvPr>
          <p:cNvSpPr/>
          <p:nvPr/>
        </p:nvSpPr>
        <p:spPr>
          <a:xfrm>
            <a:off x="2231438" y="5220492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</a:rPr>
              <a:t>随机性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E826FF1-11E3-441F-99CE-3C630445E9D8}"/>
              </a:ext>
            </a:extLst>
          </p:cNvPr>
          <p:cNvSpPr/>
          <p:nvPr/>
        </p:nvSpPr>
        <p:spPr>
          <a:xfrm>
            <a:off x="2211842" y="6021291"/>
            <a:ext cx="14205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模糊性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6258EE-0BFB-4D21-89BD-65B40BCAA487}"/>
              </a:ext>
            </a:extLst>
          </p:cNvPr>
          <p:cNvSpPr/>
          <p:nvPr/>
        </p:nvSpPr>
        <p:spPr>
          <a:xfrm>
            <a:off x="3647728" y="5220492"/>
            <a:ext cx="67730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——</a:t>
            </a:r>
            <a:r>
              <a:rPr lang="zh-CN" altLang="en-US" sz="3200" b="1" dirty="0"/>
              <a:t>无法确定明天是否是“好天气”</a:t>
            </a:r>
            <a:endParaRPr lang="zh-CN" altLang="en-US" sz="32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C1921D-A4B3-4B13-BB15-91BCF81D053E}"/>
              </a:ext>
            </a:extLst>
          </p:cNvPr>
          <p:cNvSpPr/>
          <p:nvPr/>
        </p:nvSpPr>
        <p:spPr>
          <a:xfrm>
            <a:off x="3647728" y="6021291"/>
            <a:ext cx="7184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——</a:t>
            </a:r>
            <a:r>
              <a:rPr lang="zh-CN" altLang="en-US" sz="3200" b="1" dirty="0"/>
              <a:t>“好天气”出现与否无明显界线。</a:t>
            </a:r>
            <a:endParaRPr lang="zh-CN" altLang="en-US" sz="320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CDFB7-9BB3-CBD3-3792-AD13FC6E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806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 animBg="1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7D028-CD35-4FE1-BD52-6AFB159AE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373" y="188640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模糊与概率的关系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93416-174D-4BB5-B961-FE94CFC0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560240"/>
            <a:ext cx="10297144" cy="51091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F</a:t>
            </a:r>
            <a:r>
              <a:rPr lang="zh-CN" altLang="en-US" b="1" dirty="0">
                <a:solidFill>
                  <a:srgbClr val="FF0000"/>
                </a:solidFill>
              </a:rPr>
              <a:t>事件的概率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事件本身是</a:t>
            </a:r>
            <a:r>
              <a:rPr lang="en-US" altLang="zh-CN" b="1" dirty="0"/>
              <a:t>F</a:t>
            </a:r>
            <a:r>
              <a:rPr lang="zh-CN" altLang="en-US" b="1" dirty="0"/>
              <a:t>的，而概率值是普通数值。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如何度量“</a:t>
            </a:r>
            <a:r>
              <a:rPr lang="zh-CN" altLang="en-US" b="1" u="sng" dirty="0">
                <a:solidFill>
                  <a:srgbClr val="008000"/>
                </a:solidFill>
              </a:rPr>
              <a:t>明天可能下大雨。</a:t>
            </a:r>
            <a:r>
              <a:rPr lang="zh-CN" altLang="en-US" b="1" dirty="0"/>
              <a:t>”发生可能性？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事件的</a:t>
            </a:r>
            <a:r>
              <a:rPr lang="en-US" altLang="zh-CN" b="1" dirty="0">
                <a:solidFill>
                  <a:srgbClr val="0000FF"/>
                </a:solidFill>
              </a:rPr>
              <a:t>F</a:t>
            </a:r>
            <a:r>
              <a:rPr lang="zh-CN" altLang="en-US" b="1" dirty="0">
                <a:solidFill>
                  <a:srgbClr val="0000FF"/>
                </a:solidFill>
              </a:rPr>
              <a:t>概率</a:t>
            </a:r>
            <a:endParaRPr lang="en-US" altLang="zh-CN" b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事件本身是明确的，但概率是</a:t>
            </a:r>
            <a:r>
              <a:rPr lang="en-US" altLang="zh-CN" b="1" dirty="0"/>
              <a:t>F</a:t>
            </a:r>
            <a:r>
              <a:rPr lang="zh-CN" altLang="en-US" b="1" dirty="0"/>
              <a:t>的。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如何度量“</a:t>
            </a:r>
            <a:r>
              <a:rPr lang="zh-CN" altLang="en-US" b="1" u="sng" dirty="0">
                <a:solidFill>
                  <a:srgbClr val="008000"/>
                </a:solidFill>
              </a:rPr>
              <a:t>他明天来的可能性多大？</a:t>
            </a:r>
            <a:r>
              <a:rPr lang="zh-CN" altLang="en-US" b="1" dirty="0"/>
              <a:t>”</a:t>
            </a: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事件的</a:t>
            </a:r>
            <a:r>
              <a:rPr lang="en-US" altLang="zh-CN" b="1" dirty="0">
                <a:solidFill>
                  <a:srgbClr val="CC00CC"/>
                </a:solidFill>
              </a:rPr>
              <a:t>F</a:t>
            </a:r>
            <a:r>
              <a:rPr lang="zh-CN" altLang="en-US" b="1" dirty="0">
                <a:solidFill>
                  <a:srgbClr val="CC00CC"/>
                </a:solidFill>
              </a:rPr>
              <a:t>概率</a:t>
            </a:r>
            <a:r>
              <a:rPr lang="en-US" altLang="zh-CN" b="1" dirty="0">
                <a:solidFill>
                  <a:srgbClr val="CC00CC"/>
                </a:solidFill>
              </a:rPr>
              <a:t>(F</a:t>
            </a:r>
            <a:r>
              <a:rPr lang="zh-CN" altLang="en-US" b="1" dirty="0">
                <a:solidFill>
                  <a:srgbClr val="CC00CC"/>
                </a:solidFill>
              </a:rPr>
              <a:t>事件的语言概率</a:t>
            </a:r>
            <a:r>
              <a:rPr lang="en-US" altLang="zh-CN" b="1" dirty="0">
                <a:solidFill>
                  <a:srgbClr val="CC00CC"/>
                </a:solidFill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zh-CN" altLang="en-US" b="1" dirty="0"/>
              <a:t>事件本身是</a:t>
            </a:r>
            <a:r>
              <a:rPr lang="en-US" altLang="zh-CN" b="1" dirty="0"/>
              <a:t>F</a:t>
            </a:r>
            <a:r>
              <a:rPr lang="zh-CN" altLang="en-US" b="1" dirty="0"/>
              <a:t>的，并且概率也是</a:t>
            </a:r>
            <a:r>
              <a:rPr lang="en-US" altLang="zh-CN" b="1" dirty="0"/>
              <a:t>F</a:t>
            </a:r>
            <a:r>
              <a:rPr lang="zh-CN" altLang="en-US" b="1" dirty="0"/>
              <a:t>的。</a:t>
            </a:r>
            <a:endParaRPr lang="en-US" altLang="zh-CN" b="1" dirty="0"/>
          </a:p>
          <a:p>
            <a:pPr lvl="1">
              <a:lnSpc>
                <a:spcPct val="100000"/>
              </a:lnSpc>
            </a:pPr>
            <a:r>
              <a:rPr lang="zh-CN" altLang="en-US" b="1" dirty="0"/>
              <a:t>如：</a:t>
            </a:r>
            <a:r>
              <a:rPr lang="zh-CN" altLang="en-US" b="1" dirty="0">
                <a:solidFill>
                  <a:srgbClr val="008000"/>
                </a:solidFill>
              </a:rPr>
              <a:t>“</a:t>
            </a:r>
            <a:r>
              <a:rPr lang="zh-CN" altLang="en-US" b="1" u="sng" dirty="0">
                <a:solidFill>
                  <a:srgbClr val="008000"/>
                </a:solidFill>
              </a:rPr>
              <a:t>明天下大雨的可能性很大。</a:t>
            </a:r>
            <a:r>
              <a:rPr lang="zh-CN" altLang="en-US" b="1" dirty="0">
                <a:solidFill>
                  <a:srgbClr val="008000"/>
                </a:solidFill>
              </a:rPr>
              <a:t>”</a:t>
            </a:r>
            <a:endParaRPr lang="en-US" altLang="zh-CN" b="1" dirty="0">
              <a:solidFill>
                <a:srgbClr val="008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8F2D4A-93E1-7153-DBE4-0E27E97F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03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B67D3A-CB33-4778-AE39-C3A253BE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738" y="-27384"/>
            <a:ext cx="8229600" cy="13716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概率语言值的线性组合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B976D6-981D-47C0-8875-E0D53D72F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23" y="1354797"/>
            <a:ext cx="10831953" cy="5363163"/>
          </a:xfrm>
        </p:spPr>
        <p:txBody>
          <a:bodyPr>
            <a:normAutofit lnSpcReduction="10000"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问题的提出：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sz="2400" b="1" dirty="0"/>
          </a:p>
          <a:p>
            <a:endParaRPr lang="en-US" altLang="zh-CN" sz="3000" b="1" dirty="0"/>
          </a:p>
          <a:p>
            <a:endParaRPr lang="en-US" altLang="zh-CN" sz="3600" b="1" dirty="0"/>
          </a:p>
          <a:p>
            <a:r>
              <a:rPr lang="zh-CN" altLang="en-US" b="1" dirty="0"/>
              <a:t>所以，</a:t>
            </a:r>
            <a:r>
              <a:rPr lang="en-US" altLang="zh-CN" b="1" dirty="0"/>
              <a:t>A+B</a:t>
            </a:r>
            <a:r>
              <a:rPr lang="zh-CN" altLang="en-US" b="1" dirty="0"/>
              <a:t>不再是一个语言值，要重新定义语言值的运算</a:t>
            </a:r>
            <a:r>
              <a:rPr lang="en-US" altLang="zh-CN" b="1" dirty="0"/>
              <a:t>.</a:t>
            </a:r>
            <a:r>
              <a:rPr lang="zh-CN" altLang="en-US" b="1" dirty="0"/>
              <a:t> </a:t>
            </a:r>
            <a:endParaRPr lang="en-US" altLang="zh-CN" b="1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24A749B-F965-4E74-B807-DAE58FBC7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157407"/>
              </p:ext>
            </p:extLst>
          </p:nvPr>
        </p:nvGraphicFramePr>
        <p:xfrm>
          <a:off x="3812998" y="2060848"/>
          <a:ext cx="37576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393480" progId="Equation.DSMT4">
                  <p:embed/>
                </p:oleObj>
              </mc:Choice>
              <mc:Fallback>
                <p:oleObj name="Equation" r:id="rId2" imgW="187956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7F16094-CE27-4DD5-AB8F-C3807AEEEF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2998" y="2060848"/>
                        <a:ext cx="3757612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87D3755-5077-49BC-8F27-548729D7B1CD}"/>
              </a:ext>
            </a:extLst>
          </p:cNvPr>
          <p:cNvSpPr txBox="1">
            <a:spLocks/>
          </p:cNvSpPr>
          <p:nvPr/>
        </p:nvSpPr>
        <p:spPr bwMode="auto">
          <a:xfrm>
            <a:off x="2278558" y="2185638"/>
            <a:ext cx="2100107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/>
              <a:t>“很可能”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3B5822B-746C-4510-A4A7-115D85A0D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582040"/>
              </p:ext>
            </p:extLst>
          </p:nvPr>
        </p:nvGraphicFramePr>
        <p:xfrm>
          <a:off x="3795977" y="2924944"/>
          <a:ext cx="55848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960" imgH="393480" progId="Equation.DSMT4">
                  <p:embed/>
                </p:oleObj>
              </mc:Choice>
              <mc:Fallback>
                <p:oleObj name="Equation" r:id="rId4" imgW="279396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24A749B-F965-4E74-B807-DAE58FBC75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95977" y="2924944"/>
                        <a:ext cx="5584825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A6871E4-335F-444E-A405-1E0FA99D05F5}"/>
              </a:ext>
            </a:extLst>
          </p:cNvPr>
          <p:cNvSpPr txBox="1">
            <a:spLocks/>
          </p:cNvSpPr>
          <p:nvPr/>
        </p:nvSpPr>
        <p:spPr bwMode="auto">
          <a:xfrm>
            <a:off x="1809970" y="3094799"/>
            <a:ext cx="226165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dirty="0"/>
              <a:t>“很不可能”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E665735-96C5-4C2B-BA0A-F735D59B52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525956"/>
              </p:ext>
            </p:extLst>
          </p:nvPr>
        </p:nvGraphicFramePr>
        <p:xfrm>
          <a:off x="4343796" y="3825044"/>
          <a:ext cx="32988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0960" imgH="393480" progId="Equation.DSMT4">
                  <p:embed/>
                </p:oleObj>
              </mc:Choice>
              <mc:Fallback>
                <p:oleObj name="Equation" r:id="rId6" imgW="165096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24A749B-F965-4E74-B807-DAE58FBC75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43796" y="3825044"/>
                        <a:ext cx="3298825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DB3E823-1BE2-4492-A4CB-1CA31F313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528365"/>
              </p:ext>
            </p:extLst>
          </p:nvPr>
        </p:nvGraphicFramePr>
        <p:xfrm>
          <a:off x="3071664" y="5011858"/>
          <a:ext cx="787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480" imgH="164880" progId="Equation.DSMT4">
                  <p:embed/>
                </p:oleObj>
              </mc:Choice>
              <mc:Fallback>
                <p:oleObj name="Equation" r:id="rId8" imgW="393480" imgH="164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24A749B-F965-4E74-B807-DAE58FBC75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71664" y="5011858"/>
                        <a:ext cx="787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D89499D-CC2E-4C47-85D8-2B9041B13E5D}"/>
              </a:ext>
            </a:extLst>
          </p:cNvPr>
          <p:cNvSpPr/>
          <p:nvPr/>
        </p:nvSpPr>
        <p:spPr bwMode="auto">
          <a:xfrm>
            <a:off x="7347198" y="5291326"/>
            <a:ext cx="2565226" cy="369922"/>
          </a:xfrm>
          <a:prstGeom prst="roundRect">
            <a:avLst/>
          </a:prstGeom>
          <a:solidFill>
            <a:srgbClr val="FFCCFF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EE16FB2-BC58-4883-AD51-CFD80CBF4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380632"/>
              </p:ext>
            </p:extLst>
          </p:nvPr>
        </p:nvGraphicFramePr>
        <p:xfrm>
          <a:off x="10141677" y="5197621"/>
          <a:ext cx="838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40" imgH="203040" progId="Equation.DSMT4">
                  <p:embed/>
                </p:oleObj>
              </mc:Choice>
              <mc:Fallback>
                <p:oleObj name="Equation" r:id="rId10" imgW="419040" imgH="2030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E665735-96C5-4C2B-BA0A-F735D59B5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141677" y="5197621"/>
                        <a:ext cx="838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9A409A3-812F-4B31-8B1E-E5CCDF18EAF1}"/>
              </a:ext>
            </a:extLst>
          </p:cNvPr>
          <p:cNvSpPr txBox="1"/>
          <p:nvPr/>
        </p:nvSpPr>
        <p:spPr>
          <a:xfrm>
            <a:off x="6125147" y="1412776"/>
            <a:ext cx="5083421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概率语言值的支集限制为</a:t>
            </a:r>
            <a:r>
              <a:rPr lang="en-US" altLang="zh-CN" sz="2800" b="1" dirty="0"/>
              <a:t>[0, 1]</a:t>
            </a:r>
            <a:endParaRPr lang="zh-CN" altLang="en-US" sz="2800" b="1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FEA6ACBB-019E-4F49-B9A5-3BF6C0639716}"/>
              </a:ext>
            </a:extLst>
          </p:cNvPr>
          <p:cNvSpPr txBox="1">
            <a:spLocks/>
          </p:cNvSpPr>
          <p:nvPr/>
        </p:nvSpPr>
        <p:spPr bwMode="auto">
          <a:xfrm>
            <a:off x="198818" y="3676960"/>
            <a:ext cx="3597158" cy="5760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solidFill>
                  <a:srgbClr val="008000"/>
                </a:solidFill>
              </a:rPr>
              <a:t>很不可能</a:t>
            </a:r>
            <a:r>
              <a:rPr lang="en-US" altLang="zh-CN" sz="2400" b="1" dirty="0">
                <a:solidFill>
                  <a:srgbClr val="008000"/>
                </a:solidFill>
              </a:rPr>
              <a:t>(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8000"/>
                </a:solidFill>
              </a:rPr>
              <a:t>)</a:t>
            </a:r>
            <a:r>
              <a:rPr lang="en-US" altLang="zh-CN" sz="2400" dirty="0"/>
              <a:t>=</a:t>
            </a:r>
            <a:r>
              <a:rPr lang="zh-CN" altLang="en-US" sz="2400" b="1" dirty="0">
                <a:solidFill>
                  <a:srgbClr val="0000FF"/>
                </a:solidFill>
              </a:rPr>
              <a:t>很可能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F3EDCE2-F8BC-542D-7563-C4C3CB1032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894542"/>
              </p:ext>
            </p:extLst>
          </p:nvPr>
        </p:nvGraphicFramePr>
        <p:xfrm>
          <a:off x="3843913" y="4784300"/>
          <a:ext cx="6140519" cy="807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97000" imgH="393480" progId="Equation.DSMT4">
                  <p:embed/>
                </p:oleObj>
              </mc:Choice>
              <mc:Fallback>
                <p:oleObj name="Equation" r:id="rId12" imgW="2997000" imgH="3934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9DB3E823-1BE2-4492-A4CB-1CA31F313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43913" y="4784300"/>
                        <a:ext cx="6140519" cy="8070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3A0E96C9-1EC3-1906-88C9-E53812EF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85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70080-19C7-466F-A8DE-4B924B11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2656"/>
            <a:ext cx="8229600" cy="739552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概率语言值的线性组合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E9FC14-B57A-4192-B126-FE6599ED0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412776"/>
            <a:ext cx="10801200" cy="3240856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/>
              <a:t>    </a:t>
            </a:r>
            <a:r>
              <a:rPr lang="zh-CN" altLang="en-US" sz="2800" b="1" dirty="0"/>
              <a:t>设</a:t>
            </a:r>
            <a:r>
              <a:rPr lang="zh-CN" altLang="en-US" sz="2800" b="1" i="1" dirty="0">
                <a:sym typeface="Symbol" panose="05050102010706020507" pitchFamily="18" charset="2"/>
              </a:rPr>
              <a:t>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solidFill>
                  <a:srgbClr val="0000FF"/>
                </a:solidFill>
                <a:sym typeface="Symbol" panose="05050102010706020507" pitchFamily="18" charset="2"/>
              </a:rPr>
              <a:t></a:t>
            </a:r>
            <a:r>
              <a:rPr lang="zh-CN" altLang="en-US" sz="2800" b="1" dirty="0"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ym typeface="Symbol" panose="05050102010706020507" pitchFamily="18" charset="2"/>
              </a:rPr>
              <a:t>[0,1], 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sym typeface="Symbol" panose="05050102010706020507" pitchFamily="18" charset="2"/>
              </a:rPr>
              <a:t>=1,2,…,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ym typeface="Symbol" panose="05050102010706020507" pitchFamily="18" charset="2"/>
              </a:rPr>
              <a:t>,</a:t>
            </a:r>
          </a:p>
          <a:p>
            <a:pPr marL="0" indent="0"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    </a:t>
            </a:r>
            <a:r>
              <a:rPr lang="zh-CN" altLang="en-US" sz="2800" b="1" dirty="0">
                <a:sym typeface="Symbol" panose="05050102010706020507" pitchFamily="18" charset="2"/>
              </a:rPr>
              <a:t>则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{</a:t>
            </a:r>
            <a:r>
              <a:rPr lang="zh-CN" altLang="en-US" sz="2800" b="1" i="1" dirty="0">
                <a:solidFill>
                  <a:srgbClr val="FF00FF"/>
                </a:solidFill>
                <a:sym typeface="Symbol" panose="05050102010706020507" pitchFamily="18" charset="2"/>
              </a:rPr>
              <a:t></a:t>
            </a:r>
            <a:r>
              <a:rPr lang="en-US" altLang="zh-CN" sz="2800" b="1" i="1" baseline="-25000" dirty="0" err="1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} </a:t>
            </a:r>
            <a:r>
              <a:rPr lang="zh-CN" altLang="en-US" sz="2800" b="1" dirty="0">
                <a:sym typeface="Symbol" panose="05050102010706020507" pitchFamily="18" charset="2"/>
              </a:rPr>
              <a:t>的线性组合被定义成为一个</a:t>
            </a:r>
            <a:r>
              <a:rPr lang="en-US" altLang="zh-CN" sz="2800" b="1" dirty="0">
                <a:sym typeface="Symbol" panose="05050102010706020507" pitchFamily="18" charset="2"/>
              </a:rPr>
              <a:t>F</a:t>
            </a:r>
            <a:r>
              <a:rPr lang="zh-CN" altLang="en-US" sz="2800" b="1" dirty="0">
                <a:sym typeface="Symbol" panose="05050102010706020507" pitchFamily="18" charset="2"/>
              </a:rPr>
              <a:t>语言值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40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400" b="1" dirty="0">
              <a:sym typeface="Symbol" panose="05050102010706020507" pitchFamily="18" charset="2"/>
            </a:endParaRPr>
          </a:p>
          <a:p>
            <a:r>
              <a:rPr lang="zh-CN" altLang="en-US" sz="2800" b="1" dirty="0">
                <a:solidFill>
                  <a:srgbClr val="FF00FF"/>
                </a:solidFill>
                <a:sym typeface="Symbol" panose="05050102010706020507" pitchFamily="18" charset="2"/>
              </a:rPr>
              <a:t>易证，</a:t>
            </a:r>
            <a:r>
              <a:rPr lang="zh-CN" altLang="en-US" sz="2800" b="1" dirty="0">
                <a:sym typeface="Symbol" panose="05050102010706020507" pitchFamily="18" charset="2"/>
              </a:rPr>
              <a:t>当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[0,1],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[0,1],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=1,2,…,n </a:t>
            </a:r>
            <a:r>
              <a:rPr lang="zh-CN" altLang="en-US" sz="2800" b="1" dirty="0">
                <a:sym typeface="Symbol" panose="05050102010706020507" pitchFamily="18" charset="2"/>
              </a:rPr>
              <a:t>且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+…+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=1</a:t>
            </a:r>
            <a:r>
              <a:rPr lang="zh-CN" altLang="en-US" sz="2800" b="1" dirty="0">
                <a:sym typeface="Symbol" panose="05050102010706020507" pitchFamily="18" charset="2"/>
              </a:rPr>
              <a:t>时</a:t>
            </a:r>
            <a:r>
              <a:rPr lang="en-US" altLang="zh-CN" sz="2800" b="1" dirty="0"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sym typeface="Symbol" panose="05050102010706020507" pitchFamily="18" charset="2"/>
              </a:rPr>
              <a:t>有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C92459E-0ABC-49C5-9301-949E863D9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551551"/>
              </p:ext>
            </p:extLst>
          </p:nvPr>
        </p:nvGraphicFramePr>
        <p:xfrm>
          <a:off x="1181520" y="2917056"/>
          <a:ext cx="10315080" cy="1160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20880" imgH="507960" progId="Equation.DSMT4">
                  <p:embed/>
                </p:oleObj>
              </mc:Choice>
              <mc:Fallback>
                <p:oleObj name="Equation" r:id="rId3" imgW="4520880" imgH="5079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E665735-96C5-4C2B-BA0A-F735D59B5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1520" y="2917056"/>
                        <a:ext cx="10315080" cy="1160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0718752-F8AD-453B-81A5-52D06A4915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707618"/>
              </p:ext>
            </p:extLst>
          </p:nvPr>
        </p:nvGraphicFramePr>
        <p:xfrm>
          <a:off x="2429423" y="4653632"/>
          <a:ext cx="3175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87240" imgH="431640" progId="Equation.DSMT4">
                  <p:embed/>
                </p:oleObj>
              </mc:Choice>
              <mc:Fallback>
                <p:oleObj name="Equation" r:id="rId5" imgW="158724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24A749B-F965-4E74-B807-DAE58FBC75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9423" y="4653632"/>
                        <a:ext cx="3175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3F21F31B-8816-424A-9EF2-4E427C3BAED4}"/>
              </a:ext>
            </a:extLst>
          </p:cNvPr>
          <p:cNvSpPr txBox="1"/>
          <p:nvPr/>
        </p:nvSpPr>
        <p:spPr>
          <a:xfrm>
            <a:off x="7184965" y="4812251"/>
            <a:ext cx="5031715" cy="2001125"/>
          </a:xfrm>
          <a:prstGeom prst="rect">
            <a:avLst/>
          </a:prstGeom>
          <a:solidFill>
            <a:srgbClr val="FFCCFF"/>
          </a:solidFill>
          <a:effectLst>
            <a:outerShdw blurRad="50800" dist="50800" dir="7800000" algn="ctr" rotWithShape="0">
              <a:schemeClr val="accent1"/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400" b="1" dirty="0"/>
              <a:t>实际上是在线性约束条件：</a:t>
            </a:r>
            <a:endParaRPr lang="en-US" altLang="zh-CN" sz="2400" b="1" dirty="0"/>
          </a:p>
          <a:p>
            <a:pPr>
              <a:lnSpc>
                <a:spcPct val="10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+…+ 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zh-CN" sz="24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+…+ </a:t>
            </a:r>
            <a:r>
              <a:rPr lang="en-US" altLang="zh-CN" sz="24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下求函数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)… 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4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zh-CN" altLang="en-US" sz="2400" b="1" dirty="0"/>
              <a:t>极大化的非线性规划问题。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04ED56-1011-4D41-2F3C-BC9A0EFDDD20}"/>
              </a:ext>
            </a:extLst>
          </p:cNvPr>
          <p:cNvSpPr txBox="1"/>
          <p:nvPr/>
        </p:nvSpPr>
        <p:spPr>
          <a:xfrm>
            <a:off x="4733008" y="1424385"/>
            <a:ext cx="5755481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 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——F</a:t>
            </a:r>
            <a:r>
              <a:rPr lang="zh-CN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语言系统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概率语言值空间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endParaRPr lang="zh-CN" altLang="en-US" sz="280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BA769A-6B42-4527-58B7-815C6981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165A87-47AA-C2F1-9099-83C7F8140D50}"/>
              </a:ext>
            </a:extLst>
          </p:cNvPr>
          <p:cNvSpPr txBox="1"/>
          <p:nvPr/>
        </p:nvSpPr>
        <p:spPr>
          <a:xfrm>
            <a:off x="984359" y="5616738"/>
            <a:ext cx="5184576" cy="954107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FF00"/>
                </a:solidFill>
                <a:sym typeface="Symbol" panose="05050102010706020507" pitchFamily="18" charset="2"/>
              </a:rPr>
              <a:t>显然，</a:t>
            </a:r>
            <a:r>
              <a:rPr lang="zh-CN" altLang="en-US" sz="2800" b="1" dirty="0">
                <a:sym typeface="Symbol" panose="05050102010706020507" pitchFamily="18" charset="2"/>
              </a:rPr>
              <a:t>当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ym typeface="Symbol" panose="05050102010706020507" pitchFamily="18" charset="2"/>
              </a:rPr>
              <a:t>&gt;1 </a:t>
            </a:r>
            <a:r>
              <a:rPr lang="zh-CN" altLang="en-US" sz="2800" b="1" dirty="0">
                <a:sym typeface="Symbol" panose="05050102010706020507" pitchFamily="18" charset="2"/>
              </a:rPr>
              <a:t>时，对应空集</a:t>
            </a:r>
            <a:r>
              <a:rPr lang="en-US" altLang="zh-CN" sz="2800" b="1" dirty="0">
                <a:sym typeface="Symbol" panose="05050102010706020507" pitchFamily="18" charset="2"/>
              </a:rPr>
              <a:t>,</a:t>
            </a:r>
          </a:p>
          <a:p>
            <a:r>
              <a:rPr lang="zh-CN" altLang="en-US" sz="2800" b="1" dirty="0">
                <a:sym typeface="Symbol" panose="05050102010706020507" pitchFamily="18" charset="2"/>
              </a:rPr>
              <a:t>空集的隶属度为</a:t>
            </a:r>
            <a:r>
              <a:rPr lang="en-US" altLang="zh-CN" sz="2800" b="1" dirty="0">
                <a:sym typeface="Symbol" panose="05050102010706020507" pitchFamily="18" charset="2"/>
              </a:rPr>
              <a:t>0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8269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5B352C-286C-4C2A-8DEB-5274AA88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739552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概率语言值的线性组合举例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67996A-3C96-4A57-8CDD-4EDEA7C59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12776"/>
            <a:ext cx="10225136" cy="3888432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设</a:t>
            </a:r>
            <a:r>
              <a:rPr lang="en-US" altLang="zh-CN" sz="2800" dirty="0"/>
              <a:t>U={0,0.1,0.2,0.3,0.4,0.5,0.6,0.7,0.8,0.9,1}</a:t>
            </a:r>
          </a:p>
          <a:p>
            <a:endParaRPr lang="en-US" altLang="zh-CN" sz="2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zh-CN" altLang="en-US" sz="2800" dirty="0"/>
              <a:t>求</a:t>
            </a:r>
            <a:r>
              <a:rPr lang="en-US" altLang="zh-CN" sz="2800" dirty="0"/>
              <a:t>F</a:t>
            </a:r>
            <a:r>
              <a:rPr lang="zh-CN" altLang="en-US" sz="2800" dirty="0"/>
              <a:t>语言值</a:t>
            </a:r>
            <a:r>
              <a:rPr lang="zh-CN" altLang="en-US" sz="28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800" baseline="-25000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ym typeface="Symbol" panose="05050102010706020507" pitchFamily="18" charset="2"/>
              </a:rPr>
              <a:t>，其中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dirty="0"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ym typeface="Symbol" panose="05050102010706020507" pitchFamily="18" charset="2"/>
              </a:rPr>
              <a:t>[0,1]</a:t>
            </a:r>
          </a:p>
          <a:p>
            <a:pPr marL="0" indent="0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36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2800" i="1" dirty="0">
                <a:sym typeface="Symbol" panose="05050102010706020507" pitchFamily="18" charset="2"/>
              </a:rPr>
              <a:t>   </a:t>
            </a:r>
            <a:r>
              <a:rPr lang="zh-CN" altLang="en-US" sz="2800" dirty="0">
                <a:sym typeface="Symbol" panose="05050102010706020507" pitchFamily="18" charset="2"/>
              </a:rPr>
              <a:t>的元素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dirty="0">
                <a:sym typeface="Symbol" panose="05050102010706020507" pitchFamily="18" charset="2"/>
              </a:rPr>
              <a:t>为：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0.2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0.8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0.7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0.4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0.6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于是：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061004-886D-4297-9EF2-DC262B4401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185389"/>
              </p:ext>
            </p:extLst>
          </p:nvPr>
        </p:nvGraphicFramePr>
        <p:xfrm>
          <a:off x="2135560" y="1844824"/>
          <a:ext cx="7159626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81280" imgH="393480" progId="Equation.DSMT4">
                  <p:embed/>
                </p:oleObj>
              </mc:Choice>
              <mc:Fallback>
                <p:oleObj name="Equation" r:id="rId2" imgW="35812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24A749B-F965-4E74-B807-DAE58FBC75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35560" y="1844824"/>
                        <a:ext cx="7159626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FF390C5-1A2A-4D24-A71D-5EDFC9A89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761528"/>
              </p:ext>
            </p:extLst>
          </p:nvPr>
        </p:nvGraphicFramePr>
        <p:xfrm>
          <a:off x="2495600" y="3352304"/>
          <a:ext cx="5915306" cy="945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05040" imgH="431640" progId="Equation.DSMT4">
                  <p:embed/>
                </p:oleObj>
              </mc:Choice>
              <mc:Fallback>
                <p:oleObj name="Equation" r:id="rId4" imgW="270504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C92459E-0ABC-49C5-9301-949E863D9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95600" y="3352304"/>
                        <a:ext cx="5915306" cy="945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4851B8F-6189-45A9-970C-A4222E2D69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528310"/>
              </p:ext>
            </p:extLst>
          </p:nvPr>
        </p:nvGraphicFramePr>
        <p:xfrm>
          <a:off x="2423592" y="4953744"/>
          <a:ext cx="59166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58840" imgH="431640" progId="Equation.DSMT4">
                  <p:embed/>
                </p:oleObj>
              </mc:Choice>
              <mc:Fallback>
                <p:oleObj name="Equation" r:id="rId6" imgW="295884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A061004-886D-4297-9EF2-DC262B440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23592" y="4953744"/>
                        <a:ext cx="5916613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FC3E4B4-633E-48CA-BFCC-75A173189C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20474"/>
              </p:ext>
            </p:extLst>
          </p:nvPr>
        </p:nvGraphicFramePr>
        <p:xfrm>
          <a:off x="2665635" y="5876925"/>
          <a:ext cx="56626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1760" imgH="431640" progId="Equation.DSMT4">
                  <p:embed/>
                </p:oleObj>
              </mc:Choice>
              <mc:Fallback>
                <p:oleObj name="Equation" r:id="rId8" imgW="283176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4851B8F-6189-45A9-970C-A4222E2D6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65635" y="5876925"/>
                        <a:ext cx="5662613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AAC4333-E474-4F63-9399-C3E9C76A9B2E}"/>
              </a:ext>
            </a:extLst>
          </p:cNvPr>
          <p:cNvSpPr/>
          <p:nvPr/>
        </p:nvSpPr>
        <p:spPr>
          <a:xfrm>
            <a:off x="8760296" y="6063679"/>
            <a:ext cx="15921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sym typeface="Symbol" panose="05050102010706020507" pitchFamily="18" charset="2"/>
              </a:rPr>
              <a:t>[0,1]</a:t>
            </a:r>
            <a:endParaRPr lang="zh-CN" altLang="en-US" sz="2400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E37521-20F2-11E5-9D34-EAC37311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797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A3D89-7E41-49F9-958A-F9D7776B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概率语言值的线性组合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A919D8-36F3-40D1-AF3B-85E4387B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48" y="1201688"/>
            <a:ext cx="10009112" cy="4454624"/>
          </a:xfrm>
        </p:spPr>
        <p:txBody>
          <a:bodyPr/>
          <a:lstStyle/>
          <a:p>
            <a:r>
              <a:rPr lang="zh-CN" altLang="en-US" b="1" dirty="0">
                <a:sym typeface="Symbol" panose="05050102010706020507" pitchFamily="18" charset="2"/>
              </a:rPr>
              <a:t>设</a:t>
            </a:r>
            <a:r>
              <a:rPr lang="en-US" altLang="zh-CN" b="1" baseline="-25000" dirty="0">
                <a:sym typeface="Symbol" panose="05050102010706020507" pitchFamily="18" charset="2"/>
              </a:rPr>
              <a:t>1</a:t>
            </a:r>
            <a:r>
              <a:rPr lang="en-US" altLang="zh-CN" b="1" dirty="0">
                <a:sym typeface="Symbol" panose="05050102010706020507" pitchFamily="18" charset="2"/>
              </a:rPr>
              <a:t>=“</a:t>
            </a:r>
            <a:r>
              <a:rPr lang="zh-CN" altLang="en-US" b="1" dirty="0">
                <a:sym typeface="Symbol" panose="05050102010706020507" pitchFamily="18" charset="2"/>
              </a:rPr>
              <a:t>很可能 </a:t>
            </a:r>
            <a:r>
              <a:rPr lang="en-US" altLang="zh-CN" b="1" dirty="0">
                <a:sym typeface="Symbol" panose="05050102010706020507" pitchFamily="18" charset="2"/>
              </a:rPr>
              <a:t>”</a:t>
            </a:r>
            <a:r>
              <a:rPr lang="zh-CN" altLang="en-US" b="1" dirty="0">
                <a:sym typeface="Symbol" panose="05050102010706020507" pitchFamily="18" charset="2"/>
              </a:rPr>
              <a:t>，</a:t>
            </a:r>
            <a:r>
              <a:rPr lang="en-US" altLang="zh-CN" b="1" baseline="-25000" dirty="0">
                <a:sym typeface="Symbol" panose="05050102010706020507" pitchFamily="18" charset="2"/>
              </a:rPr>
              <a:t>2</a:t>
            </a:r>
            <a:r>
              <a:rPr lang="en-US" altLang="zh-CN" b="1" dirty="0">
                <a:sym typeface="Symbol" panose="05050102010706020507" pitchFamily="18" charset="2"/>
              </a:rPr>
              <a:t>=“</a:t>
            </a:r>
            <a:r>
              <a:rPr lang="zh-CN" altLang="en-US" b="1" dirty="0">
                <a:sym typeface="Symbol" panose="05050102010706020507" pitchFamily="18" charset="2"/>
              </a:rPr>
              <a:t>很不可能</a:t>
            </a:r>
            <a:r>
              <a:rPr lang="en-US" altLang="zh-CN" b="1" dirty="0">
                <a:sym typeface="Symbol" panose="05050102010706020507" pitchFamily="18" charset="2"/>
              </a:rPr>
              <a:t>”</a:t>
            </a:r>
          </a:p>
          <a:p>
            <a:pPr marL="0" indent="0">
              <a:buNone/>
            </a:pPr>
            <a:r>
              <a:rPr lang="zh-CN" altLang="en-US" b="1" dirty="0"/>
              <a:t>    因为，很可能</a:t>
            </a:r>
            <a:r>
              <a:rPr lang="en-US" altLang="zh-CN" b="1" dirty="0"/>
              <a:t>(</a:t>
            </a: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/>
              <a:t>)=</a:t>
            </a:r>
            <a:r>
              <a:rPr lang="zh-CN" altLang="en-US" b="1" dirty="0"/>
              <a:t>很不可能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/>
              <a:t>)</a:t>
            </a:r>
            <a:endParaRPr lang="zh-CN" altLang="en-US" b="1" dirty="0"/>
          </a:p>
          <a:p>
            <a:pPr marL="0" indent="0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    </a:t>
            </a:r>
            <a:endParaRPr lang="zh-CN" altLang="en-US" sz="28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67C78B0-ED1C-4A8D-821E-8357664E0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898555"/>
              </p:ext>
            </p:extLst>
          </p:nvPr>
        </p:nvGraphicFramePr>
        <p:xfrm>
          <a:off x="1031938" y="2924944"/>
          <a:ext cx="6000166" cy="958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431640" progId="Equation.DSMT4">
                  <p:embed/>
                </p:oleObj>
              </mc:Choice>
              <mc:Fallback>
                <p:oleObj name="Equation" r:id="rId2" imgW="270504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FF390C5-1A2A-4D24-A71D-5EDFC9A895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1938" y="2924944"/>
                        <a:ext cx="6000166" cy="958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C5EF62D-E0DC-4116-AB69-29D2A29FB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213623"/>
              </p:ext>
            </p:extLst>
          </p:nvPr>
        </p:nvGraphicFramePr>
        <p:xfrm>
          <a:off x="3118200" y="3839835"/>
          <a:ext cx="4850008" cy="719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304560" progId="Equation.DSMT4">
                  <p:embed/>
                </p:oleObj>
              </mc:Choice>
              <mc:Fallback>
                <p:oleObj name="Equation" r:id="rId4" imgW="2057400" imgH="304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67C78B0-ED1C-4A8D-821E-8357664E0C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18200" y="3839835"/>
                        <a:ext cx="4850008" cy="7190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8638607-4A54-4E5B-A0D4-A4FFBE2A23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732716"/>
              </p:ext>
            </p:extLst>
          </p:nvPr>
        </p:nvGraphicFramePr>
        <p:xfrm>
          <a:off x="3118200" y="4633350"/>
          <a:ext cx="4614896" cy="755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6600" imgH="304560" progId="Equation.DSMT4">
                  <p:embed/>
                </p:oleObj>
              </mc:Choice>
              <mc:Fallback>
                <p:oleObj name="Equation" r:id="rId6" imgW="186660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C5EF62D-E0DC-4116-AB69-29D2A29FBE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18200" y="4633350"/>
                        <a:ext cx="4614896" cy="755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7C59903-EEE0-4080-B9CA-567D9164C8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677156"/>
              </p:ext>
            </p:extLst>
          </p:nvPr>
        </p:nvGraphicFramePr>
        <p:xfrm>
          <a:off x="3143931" y="5785792"/>
          <a:ext cx="2376005" cy="1029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600" imgH="406080" progId="Equation.DSMT4">
                  <p:embed/>
                </p:oleObj>
              </mc:Choice>
              <mc:Fallback>
                <p:oleObj name="Equation" r:id="rId8" imgW="93960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8638607-4A54-4E5B-A0D4-A4FFBE2A23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43931" y="5785792"/>
                        <a:ext cx="2376005" cy="10296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87E0A1F-753B-481B-A4B1-DC98D4A1B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101481"/>
              </p:ext>
            </p:extLst>
          </p:nvPr>
        </p:nvGraphicFramePr>
        <p:xfrm>
          <a:off x="5519936" y="5454039"/>
          <a:ext cx="3456384" cy="14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65080" imgH="736560" progId="Equation.DSMT4">
                  <p:embed/>
                </p:oleObj>
              </mc:Choice>
              <mc:Fallback>
                <p:oleObj name="Equation" r:id="rId10" imgW="1765080" imgH="7365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E8AC600-656E-489F-BB6A-450A00DF30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19936" y="5454039"/>
                        <a:ext cx="3456384" cy="1436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2E089-9327-4840-8865-089F810C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076243-6F15-CA9F-E060-0FC8F0FC8C30}"/>
              </a:ext>
            </a:extLst>
          </p:cNvPr>
          <p:cNvSpPr txBox="1"/>
          <p:nvPr/>
        </p:nvSpPr>
        <p:spPr>
          <a:xfrm>
            <a:off x="1703512" y="2275429"/>
            <a:ext cx="41566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3200" b="1" dirty="0"/>
              <a:t>即    </a:t>
            </a:r>
            <a:r>
              <a:rPr lang="zh-CN" altLang="en-US" sz="3200" b="1" dirty="0">
                <a:sym typeface="Symbol" panose="05050102010706020507" pitchFamily="18" charset="2"/>
              </a:rPr>
              <a:t></a:t>
            </a:r>
            <a:r>
              <a:rPr lang="en-US" altLang="zh-CN" sz="32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3200" b="1" dirty="0"/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="1" dirty="0"/>
              <a:t>)=</a:t>
            </a:r>
            <a:r>
              <a:rPr lang="zh-CN" altLang="en-US" sz="3200" b="1" dirty="0">
                <a:sym typeface="Symbol" panose="05050102010706020507" pitchFamily="18" charset="2"/>
              </a:rPr>
              <a:t> </a:t>
            </a:r>
            <a:r>
              <a:rPr lang="en-US" altLang="zh-CN" sz="32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3200" b="1" dirty="0"/>
              <a:t>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9155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508E6-1FD1-483A-95CC-2889F894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316" y="294484"/>
            <a:ext cx="8229600" cy="66754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概率语言值的线性组合举例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742E4-9CA6-4A0E-A67A-E738D798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118" y="1268760"/>
            <a:ext cx="8229600" cy="4598640"/>
          </a:xfrm>
        </p:spPr>
        <p:txBody>
          <a:bodyPr/>
          <a:lstStyle/>
          <a:p>
            <a:r>
              <a:rPr lang="zh-CN" altLang="en-US" sz="2800" b="1" dirty="0"/>
              <a:t>设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很可能 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的隶属度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en-US" altLang="zh-CN" sz="2800" b="1" dirty="0">
                <a:solidFill>
                  <a:srgbClr val="FF0000"/>
                </a:solidFill>
              </a:rPr>
              <a:t>=0.8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代入下公式有</a:t>
            </a:r>
            <a:endParaRPr lang="en-US" altLang="zh-CN" sz="2800" b="1" dirty="0"/>
          </a:p>
          <a:p>
            <a:endParaRPr lang="en-US" altLang="zh-CN" sz="2800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sz="2800" b="1" dirty="0">
                <a:solidFill>
                  <a:srgbClr val="FF00FF"/>
                </a:solidFill>
              </a:rPr>
              <a:t>则当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i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0.7</a:t>
            </a:r>
            <a:r>
              <a:rPr lang="zh-CN" altLang="en-US" sz="2800" b="1" dirty="0">
                <a:solidFill>
                  <a:srgbClr val="FF00FF"/>
                </a:solidFill>
                <a:sym typeface="Symbol" panose="05050102010706020507" pitchFamily="18" charset="2"/>
              </a:rPr>
              <a:t>时，有</a:t>
            </a:r>
            <a:endParaRPr lang="en-US" altLang="zh-CN" sz="2800" b="1" dirty="0">
              <a:solidFill>
                <a:srgbClr val="FF00FF"/>
              </a:solidFill>
              <a:sym typeface="Symbol" panose="05050102010706020507" pitchFamily="18" charset="2"/>
            </a:endParaRPr>
          </a:p>
          <a:p>
            <a:endParaRPr lang="en-US" altLang="zh-CN" sz="3600" b="1" dirty="0">
              <a:sym typeface="Symbol" panose="05050102010706020507" pitchFamily="18" charset="2"/>
            </a:endParaRPr>
          </a:p>
          <a:p>
            <a:r>
              <a:rPr lang="en-US" altLang="zh-CN" sz="2800" b="1" dirty="0">
                <a:sym typeface="Symbol" panose="05050102010706020507" pitchFamily="18" charset="2"/>
              </a:rPr>
              <a:t>(*)</a:t>
            </a:r>
            <a:r>
              <a:rPr lang="zh-CN" altLang="en-US" sz="2800" b="1" dirty="0">
                <a:sym typeface="Symbol" panose="05050102010706020507" pitchFamily="18" charset="2"/>
              </a:rPr>
              <a:t>式代入上式得：</a:t>
            </a:r>
            <a:endParaRPr lang="zh-CN" altLang="en-US" sz="2800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9E5D7DD-9C50-4827-880D-622732DAF8C5}"/>
              </a:ext>
            </a:extLst>
          </p:cNvPr>
          <p:cNvSpPr txBox="1">
            <a:spLocks/>
          </p:cNvSpPr>
          <p:nvPr/>
        </p:nvSpPr>
        <p:spPr bwMode="auto">
          <a:xfrm>
            <a:off x="983432" y="2277982"/>
            <a:ext cx="1666528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/>
              <a:t>很可能</a:t>
            </a:r>
            <a:r>
              <a:rPr lang="en-US" altLang="zh-CN" sz="2400" b="1" dirty="0"/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97E012E-229A-44CF-9E72-2868B9F19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544578"/>
              </p:ext>
            </p:extLst>
          </p:nvPr>
        </p:nvGraphicFramePr>
        <p:xfrm>
          <a:off x="2351584" y="1681163"/>
          <a:ext cx="2559050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520" imgH="1422360" progId="Equation.DSMT4">
                  <p:embed/>
                </p:oleObj>
              </mc:Choice>
              <mc:Fallback>
                <p:oleObj name="Equation" r:id="rId2" imgW="1955520" imgH="14223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ED1F21C7-1B59-4898-A365-DFD30461E6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1584" y="1681163"/>
                        <a:ext cx="2559050" cy="177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1C1F410-66F2-46E0-8682-C1DE19313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439064"/>
              </p:ext>
            </p:extLst>
          </p:nvPr>
        </p:nvGraphicFramePr>
        <p:xfrm>
          <a:off x="4901728" y="1698625"/>
          <a:ext cx="3138488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1422360" progId="Equation.DSMT4">
                  <p:embed/>
                </p:oleObj>
              </mc:Choice>
              <mc:Fallback>
                <p:oleObj name="Equation" r:id="rId4" imgW="2400120" imgH="1422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97E012E-229A-44CF-9E72-2868B9F19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01728" y="1698625"/>
                        <a:ext cx="3138488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F393D45-75CD-4923-B56A-8118B3E8D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631323"/>
              </p:ext>
            </p:extLst>
          </p:nvPr>
        </p:nvGraphicFramePr>
        <p:xfrm>
          <a:off x="2109808" y="3786958"/>
          <a:ext cx="5498360" cy="8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46240" imgH="431640" progId="Equation.DSMT4">
                  <p:embed/>
                </p:oleObj>
              </mc:Choice>
              <mc:Fallback>
                <p:oleObj name="Equation" r:id="rId6" imgW="294624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67C78B0-ED1C-4A8D-821E-8357664E0C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09808" y="3786958"/>
                        <a:ext cx="5498360" cy="806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567C745-CB27-439F-B8EF-463D36DCF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819486"/>
              </p:ext>
            </p:extLst>
          </p:nvPr>
        </p:nvGraphicFramePr>
        <p:xfrm>
          <a:off x="1562180" y="4981401"/>
          <a:ext cx="5480050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760" imgH="1473120" progId="Equation.DSMT4">
                  <p:embed/>
                </p:oleObj>
              </mc:Choice>
              <mc:Fallback>
                <p:oleObj name="Equation" r:id="rId8" imgW="4190760" imgH="1473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1C1F410-66F2-46E0-8682-C1DE19313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62180" y="4981401"/>
                        <a:ext cx="5480050" cy="183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8C2EC02-3E5D-4ECD-BF2C-9906121A6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661651"/>
              </p:ext>
            </p:extLst>
          </p:nvPr>
        </p:nvGraphicFramePr>
        <p:xfrm>
          <a:off x="7170935" y="5013176"/>
          <a:ext cx="2957513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60440" imgH="1422360" progId="Equation.DSMT4">
                  <p:embed/>
                </p:oleObj>
              </mc:Choice>
              <mc:Fallback>
                <p:oleObj name="Equation" r:id="rId10" imgW="2260440" imgH="1422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1C1F410-66F2-46E0-8682-C1DE19313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70935" y="5013176"/>
                        <a:ext cx="2957513" cy="176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32B126E-899C-4FD1-8AD4-4EBFF63AD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803831"/>
              </p:ext>
            </p:extLst>
          </p:nvPr>
        </p:nvGraphicFramePr>
        <p:xfrm>
          <a:off x="9085099" y="0"/>
          <a:ext cx="3106901" cy="1700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65080" imgH="965160" progId="Equation.DSMT4">
                  <p:embed/>
                </p:oleObj>
              </mc:Choice>
              <mc:Fallback>
                <p:oleObj name="Equation" r:id="rId12" imgW="1765080" imgH="9651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67C78B0-ED1C-4A8D-821E-8357664E0C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085099" y="0"/>
                        <a:ext cx="3106901" cy="1700266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AB93D19-5F8A-C641-431A-1E89FC1D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8</a:t>
            </a:fld>
            <a:endParaRPr lang="en-US" altLang="zh-CN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7FB31FA-C9D6-B1FA-D47E-70218248C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5200213"/>
              </p:ext>
            </p:extLst>
          </p:nvPr>
        </p:nvGraphicFramePr>
        <p:xfrm>
          <a:off x="7752184" y="1994750"/>
          <a:ext cx="4032448" cy="1208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77960" imgH="812520" progId="Equation.DSMT4">
                  <p:embed/>
                </p:oleObj>
              </mc:Choice>
              <mc:Fallback>
                <p:oleObj name="Equation" r:id="rId14" imgW="2577960" imgH="8125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1C1F410-66F2-46E0-8682-C1DE19313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752184" y="1994750"/>
                        <a:ext cx="4032448" cy="12087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244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508E6-1FD1-483A-95CC-2889F894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332656"/>
            <a:ext cx="8229600" cy="66754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概率语言值的线性组合举例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5742E4-9CA6-4A0E-A67A-E738D798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268760"/>
            <a:ext cx="9011344" cy="4598640"/>
          </a:xfrm>
        </p:spPr>
        <p:txBody>
          <a:bodyPr/>
          <a:lstStyle/>
          <a:p>
            <a:r>
              <a:rPr lang="zh-CN" altLang="en-US" sz="2800" b="1" dirty="0"/>
              <a:t>当</a:t>
            </a:r>
            <a:r>
              <a:rPr lang="en-US" altLang="zh-CN" sz="2800" b="1" i="1" dirty="0"/>
              <a:t>p</a:t>
            </a:r>
            <a:r>
              <a:rPr lang="en-US" altLang="zh-CN" sz="2800" b="1" dirty="0">
                <a:sym typeface="Symbol" panose="05050102010706020507" pitchFamily="18" charset="2"/>
              </a:rPr>
              <a:t>[0.3, 0.7]</a:t>
            </a:r>
            <a:r>
              <a:rPr lang="zh-CN" altLang="en-US" sz="2800" b="1" dirty="0">
                <a:sym typeface="Symbol" panose="05050102010706020507" pitchFamily="18" charset="2"/>
              </a:rPr>
              <a:t>时，</a:t>
            </a:r>
            <a:endParaRPr lang="en-US" altLang="zh-CN" sz="2800" b="1" dirty="0"/>
          </a:p>
          <a:p>
            <a:endParaRPr lang="en-US" altLang="zh-CN" sz="2800" b="1" dirty="0"/>
          </a:p>
          <a:p>
            <a:pPr marL="0" indent="0">
              <a:buNone/>
            </a:pPr>
            <a:endParaRPr lang="en-US" altLang="zh-CN" sz="2800" b="1" dirty="0"/>
          </a:p>
          <a:p>
            <a:r>
              <a:rPr lang="zh-CN" altLang="en-US" sz="2800" b="1" dirty="0"/>
              <a:t>故最后得</a:t>
            </a:r>
            <a:r>
              <a:rPr lang="en-US" altLang="zh-CN" sz="2800" b="1" dirty="0"/>
              <a:t>: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zh-CN" sz="2800" b="1" dirty="0">
              <a:sym typeface="Symbol" panose="05050102010706020507" pitchFamily="18" charset="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F393D45-75CD-4923-B56A-8118B3E8DC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574731"/>
              </p:ext>
            </p:extLst>
          </p:nvPr>
        </p:nvGraphicFramePr>
        <p:xfrm>
          <a:off x="2711624" y="2040416"/>
          <a:ext cx="3100369" cy="537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28600" progId="Equation.DSMT4">
                  <p:embed/>
                </p:oleObj>
              </mc:Choice>
              <mc:Fallback>
                <p:oleObj name="Equation" r:id="rId2" imgW="132048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F393D45-75CD-4923-B56A-8118B3E8DC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1624" y="2040416"/>
                        <a:ext cx="3100369" cy="5373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7560F23-68FF-4179-B493-985916BD0751}"/>
              </a:ext>
            </a:extLst>
          </p:cNvPr>
          <p:cNvSpPr txBox="1">
            <a:spLocks/>
          </p:cNvSpPr>
          <p:nvPr/>
        </p:nvSpPr>
        <p:spPr bwMode="auto">
          <a:xfrm>
            <a:off x="1219818" y="3753469"/>
            <a:ext cx="5778226" cy="53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rgbClr val="0000FF"/>
                </a:solidFill>
              </a:rPr>
              <a:t>0.7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很可能</a:t>
            </a:r>
            <a:r>
              <a:rPr lang="en-US" altLang="zh-CN" sz="2800" b="1" dirty="0"/>
              <a:t>” + </a:t>
            </a:r>
            <a:r>
              <a:rPr lang="en-US" altLang="zh-CN" sz="2800" b="1" dirty="0">
                <a:solidFill>
                  <a:srgbClr val="FF0000"/>
                </a:solidFill>
              </a:rPr>
              <a:t>0.3</a:t>
            </a:r>
            <a:r>
              <a:rPr lang="en-US" altLang="zh-CN" sz="2800" b="1" dirty="0"/>
              <a:t>”</a:t>
            </a:r>
            <a:r>
              <a:rPr lang="zh-CN" altLang="en-US" sz="2800" b="1" dirty="0"/>
              <a:t>很不可能 </a:t>
            </a:r>
            <a:r>
              <a:rPr lang="en-US" altLang="zh-CN" sz="2800" b="1" dirty="0"/>
              <a:t>”)(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/>
              <a:t>)</a:t>
            </a:r>
            <a:endParaRPr lang="zh-CN" altLang="en-US" sz="2800" b="1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8C2EC02-3E5D-4ECD-BF2C-9906121A67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280401"/>
              </p:ext>
            </p:extLst>
          </p:nvPr>
        </p:nvGraphicFramePr>
        <p:xfrm>
          <a:off x="6434571" y="2852936"/>
          <a:ext cx="4053917" cy="2424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440" imgH="1422360" progId="Equation.DSMT4">
                  <p:embed/>
                </p:oleObj>
              </mc:Choice>
              <mc:Fallback>
                <p:oleObj name="Equation" r:id="rId4" imgW="2260440" imgH="1422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A8C2EC02-3E5D-4ECD-BF2C-9906121A67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34571" y="2852936"/>
                        <a:ext cx="4053917" cy="24240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C4A513D4-6030-4C77-BBF6-D084567FE0B8}"/>
              </a:ext>
            </a:extLst>
          </p:cNvPr>
          <p:cNvSpPr txBox="1"/>
          <p:nvPr/>
        </p:nvSpPr>
        <p:spPr>
          <a:xfrm>
            <a:off x="6528048" y="2058759"/>
            <a:ext cx="4760307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800" b="1" dirty="0">
                <a:sym typeface="Symbol" panose="05050102010706020507" pitchFamily="18" charset="2"/>
              </a:rPr>
              <a:t>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=“</a:t>
            </a:r>
            <a:r>
              <a:rPr lang="zh-CN" altLang="en-US" sz="2800" b="1" dirty="0">
                <a:sym typeface="Symbol" panose="05050102010706020507" pitchFamily="18" charset="2"/>
              </a:rPr>
              <a:t>很可能 </a:t>
            </a:r>
            <a:r>
              <a:rPr lang="en-US" altLang="zh-CN" sz="2800" b="1" dirty="0">
                <a:sym typeface="Symbol" panose="05050102010706020507" pitchFamily="18" charset="2"/>
              </a:rPr>
              <a:t>”</a:t>
            </a:r>
            <a:r>
              <a:rPr lang="zh-CN" altLang="en-US" sz="2800" b="1" dirty="0">
                <a:sym typeface="Symbol" panose="05050102010706020507" pitchFamily="18" charset="2"/>
              </a:rPr>
              <a:t>，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ym typeface="Symbol" panose="05050102010706020507" pitchFamily="18" charset="2"/>
              </a:rPr>
              <a:t>=“</a:t>
            </a:r>
            <a:r>
              <a:rPr lang="zh-CN" altLang="en-US" sz="2800" b="1" dirty="0">
                <a:sym typeface="Symbol" panose="05050102010706020507" pitchFamily="18" charset="2"/>
              </a:rPr>
              <a:t>很不可能</a:t>
            </a:r>
            <a:r>
              <a:rPr lang="en-US" altLang="zh-CN" sz="2800" b="1" dirty="0">
                <a:sym typeface="Symbol" panose="05050102010706020507" pitchFamily="18" charset="2"/>
              </a:rPr>
              <a:t>”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6B8FBDA-9B84-089F-746E-0D17A9604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202553"/>
              </p:ext>
            </p:extLst>
          </p:nvPr>
        </p:nvGraphicFramePr>
        <p:xfrm>
          <a:off x="9078645" y="0"/>
          <a:ext cx="3113355" cy="1703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65080" imgH="965160" progId="Equation.DSMT4">
                  <p:embed/>
                </p:oleObj>
              </mc:Choice>
              <mc:Fallback>
                <p:oleObj name="Equation" r:id="rId6" imgW="1765080" imgH="9651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32B126E-899C-4FD1-8AD4-4EBFF63AD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78645" y="0"/>
                        <a:ext cx="3113355" cy="1703798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D1D237E-35F7-AAEC-4949-54A611190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2330" y="4351256"/>
            <a:ext cx="4347646" cy="2424292"/>
          </a:xfrm>
          <a:prstGeom prst="rect">
            <a:avLst/>
          </a:prstGeom>
          <a:effectLst>
            <a:glow rad="127000">
              <a:srgbClr val="FF00FF"/>
            </a:glow>
          </a:effec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BFE482-1B9F-C490-980B-866FA83B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6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6FD6F-6FD8-4D1E-91EA-1CE5F549F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88640"/>
            <a:ext cx="8229600" cy="81156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概率的性质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70E04-DBC7-4AC8-96C5-4B144428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268759"/>
            <a:ext cx="9155360" cy="5400601"/>
          </a:xfrm>
        </p:spPr>
        <p:txBody>
          <a:bodyPr>
            <a:normAutofit/>
          </a:bodyPr>
          <a:lstStyle/>
          <a:p>
            <a:r>
              <a:rPr lang="zh-CN" altLang="en-US" b="1" dirty="0"/>
              <a:t>事件的</a:t>
            </a:r>
            <a:r>
              <a:rPr lang="en-US" altLang="zh-CN" b="1" dirty="0"/>
              <a:t>F</a:t>
            </a:r>
            <a:r>
              <a:rPr lang="zh-CN" altLang="en-US" b="1" dirty="0"/>
              <a:t>概率的数学模型：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sz="1600" b="1" dirty="0"/>
          </a:p>
          <a:p>
            <a:r>
              <a:rPr lang="zh-CN" altLang="en-US" b="1" dirty="0"/>
              <a:t>易得映射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FF"/>
                </a:solidFill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ym typeface="Symbol" panose="05050102010706020507" pitchFamily="18" charset="2"/>
              </a:rPr>
              <a:t>   </a:t>
            </a:r>
            <a:r>
              <a:rPr lang="zh-CN" altLang="en-US" b="1" dirty="0">
                <a:sym typeface="Symbol" panose="05050102010706020507" pitchFamily="18" charset="2"/>
              </a:rPr>
              <a:t>具有如下性质：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971550" lvl="1" indent="-514350">
              <a:buFont typeface="+mj-ea"/>
              <a:buAutoNum type="circleNumDbPlain"/>
            </a:pPr>
            <a:r>
              <a:rPr lang="zh-CN" altLang="en-US" b="1" dirty="0">
                <a:solidFill>
                  <a:srgbClr val="0000FF"/>
                </a:solidFill>
              </a:rPr>
              <a:t>有限可加性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altLang="zh-CN" b="1" dirty="0"/>
              <a:t>    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V, A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=,</a:t>
            </a:r>
          </a:p>
          <a:p>
            <a:pPr marL="457200" lvl="1" indent="0"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>
              <a:buNone/>
            </a:pP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>
              <a:buNone/>
            </a:pP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14400" lvl="1" indent="-457200">
              <a:buFont typeface="+mj-ea"/>
              <a:buAutoNum type="circleNumDbPlain" startAt="2"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正规性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3E1FA22-EAD3-4F97-AD6B-6A76B0FFD5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66675"/>
              </p:ext>
            </p:extLst>
          </p:nvPr>
        </p:nvGraphicFramePr>
        <p:xfrm>
          <a:off x="5231904" y="3669897"/>
          <a:ext cx="3754760" cy="488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228600" progId="Equation.DSMT4">
                  <p:embed/>
                </p:oleObj>
              </mc:Choice>
              <mc:Fallback>
                <p:oleObj name="Equation" r:id="rId2" imgW="175248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E1FA22-EAD3-4F97-AD6B-6A76B0FFD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31904" y="3669897"/>
                        <a:ext cx="3754760" cy="4889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958292-FD3E-4835-A2B2-4F542CB98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9570678"/>
              </p:ext>
            </p:extLst>
          </p:nvPr>
        </p:nvGraphicFramePr>
        <p:xfrm>
          <a:off x="3503712" y="5519436"/>
          <a:ext cx="1403771" cy="49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203040" progId="Equation.DSMT4">
                  <p:embed/>
                </p:oleObj>
              </mc:Choice>
              <mc:Fallback>
                <p:oleObj name="Equation" r:id="rId4" imgW="571320" imgH="203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0958292-FD3E-4835-A2B2-4F542CB983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3712" y="5519436"/>
                        <a:ext cx="1403771" cy="497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6114ABD-3EE3-45A6-BE1E-DF16E5DFE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140096"/>
              </p:ext>
            </p:extLst>
          </p:nvPr>
        </p:nvGraphicFramePr>
        <p:xfrm>
          <a:off x="1781171" y="1718254"/>
          <a:ext cx="7242624" cy="976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87440" imgH="431640" progId="Equation.DSMT4">
                  <p:embed/>
                </p:oleObj>
              </mc:Choice>
              <mc:Fallback>
                <p:oleObj name="Equation" r:id="rId6" imgW="3187440" imgH="431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3E1FA22-EAD3-4F97-AD6B-6A76B0FFD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81171" y="1718254"/>
                        <a:ext cx="7242624" cy="976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B1D08F1B-1590-4CFC-8991-CE5A9059094D}"/>
              </a:ext>
            </a:extLst>
          </p:cNvPr>
          <p:cNvSpPr/>
          <p:nvPr/>
        </p:nvSpPr>
        <p:spPr bwMode="auto">
          <a:xfrm>
            <a:off x="9830351" y="783084"/>
            <a:ext cx="1923499" cy="1078396"/>
          </a:xfrm>
          <a:prstGeom prst="wedgeRoundRectCallout">
            <a:avLst>
              <a:gd name="adj1" fmla="val -26956"/>
              <a:gd name="adj2" fmla="val 44642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概率空间</a:t>
            </a:r>
            <a:endParaRPr lang="en-US" altLang="zh-CN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3200" b="1" dirty="0">
                <a:solidFill>
                  <a:srgbClr val="0000FF"/>
                </a:solidFill>
              </a:rPr>
              <a:t>(U, V, p)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73C224D-861B-4FB5-96EF-46AB39A79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478832"/>
              </p:ext>
            </p:extLst>
          </p:nvPr>
        </p:nvGraphicFramePr>
        <p:xfrm>
          <a:off x="2047485" y="4407034"/>
          <a:ext cx="4480563" cy="92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82600" imgH="431640" progId="Equation.DSMT4">
                  <p:embed/>
                </p:oleObj>
              </mc:Choice>
              <mc:Fallback>
                <p:oleObj name="Equation" r:id="rId8" imgW="2082600" imgH="4316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6114ABD-3EE3-45A6-BE1E-DF16E5DFEA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47485" y="4407034"/>
                        <a:ext cx="4480563" cy="923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B7E3D09-0093-492E-B621-030BA13FD4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347347"/>
              </p:ext>
            </p:extLst>
          </p:nvPr>
        </p:nvGraphicFramePr>
        <p:xfrm>
          <a:off x="6595348" y="4427374"/>
          <a:ext cx="4480558" cy="923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82600" imgH="431640" progId="Equation.DSMT4">
                  <p:embed/>
                </p:oleObj>
              </mc:Choice>
              <mc:Fallback>
                <p:oleObj name="Equation" r:id="rId10" imgW="2082600" imgH="4316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473C224D-861B-4FB5-96EF-46AB39A790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95348" y="4427374"/>
                        <a:ext cx="4480558" cy="923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7B575C6-A91C-4017-930A-D3E58C9A7893}"/>
              </a:ext>
            </a:extLst>
          </p:cNvPr>
          <p:cNvSpPr/>
          <p:nvPr/>
        </p:nvSpPr>
        <p:spPr>
          <a:xfrm>
            <a:off x="654181" y="6120490"/>
            <a:ext cx="11120055" cy="7375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/>
              <a:t>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,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为一个语言概率空间，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叫做语言概率或</a:t>
            </a:r>
            <a:r>
              <a:rPr lang="en-US" altLang="zh-CN" sz="3200" b="1" dirty="0">
                <a:solidFill>
                  <a:srgbClr val="FF0000"/>
                </a:solidFill>
              </a:rPr>
              <a:t>F</a:t>
            </a:r>
            <a:r>
              <a:rPr lang="zh-CN" altLang="en-US" sz="3200" b="1" dirty="0">
                <a:solidFill>
                  <a:srgbClr val="FF0000"/>
                </a:solidFill>
              </a:rPr>
              <a:t>概率。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DE116-42DF-D3AA-B4CD-A3BBC6D9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694CF1-4410-626B-C0FB-78BA2C276D8E}"/>
              </a:ext>
            </a:extLst>
          </p:cNvPr>
          <p:cNvSpPr/>
          <p:nvPr/>
        </p:nvSpPr>
        <p:spPr>
          <a:xfrm>
            <a:off x="8260500" y="2721372"/>
            <a:ext cx="3943708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FF"/>
                </a:solidFill>
                <a:sym typeface="Symbol" panose="05050102010706020507" pitchFamily="18" charset="2"/>
              </a:rPr>
              <a:t> 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——F</a:t>
            </a:r>
            <a:r>
              <a:rPr lang="zh-CN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语言系统</a:t>
            </a:r>
            <a:endParaRPr lang="en-US" altLang="zh-CN" sz="28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          (</a:t>
            </a:r>
            <a:r>
              <a:rPr lang="zh-CN" altLang="en-US" sz="2800" b="1" dirty="0">
                <a:solidFill>
                  <a:srgbClr val="0000FF"/>
                </a:solidFill>
                <a:sym typeface="Symbol" panose="05050102010706020507" pitchFamily="18" charset="2"/>
              </a:rPr>
              <a:t>概率语言值空间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66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10" grpId="0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FFF85C-A929-4551-A610-C344691A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2656"/>
            <a:ext cx="8229600" cy="883568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rgbClr val="008000"/>
                </a:solidFill>
                <a:ea typeface="黑体" panose="02010609060101010101" pitchFamily="49" charset="-122"/>
              </a:rPr>
              <a:t>10.3</a:t>
            </a:r>
            <a:r>
              <a:rPr lang="en-US" altLang="zh-CN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事件的语言概率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AEBAD-1604-44E6-821B-5B34A010B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448" y="1340768"/>
            <a:ext cx="10369152" cy="551723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008000"/>
                </a:solidFill>
              </a:rPr>
              <a:t>“</a:t>
            </a:r>
            <a:r>
              <a:rPr lang="zh-CN" altLang="en-US" b="1" u="sng" dirty="0">
                <a:solidFill>
                  <a:srgbClr val="008000"/>
                </a:solidFill>
              </a:rPr>
              <a:t>明天下大雨的可能性很大。</a:t>
            </a:r>
            <a:r>
              <a:rPr lang="zh-CN" altLang="en-US" b="1" dirty="0">
                <a:solidFill>
                  <a:srgbClr val="008000"/>
                </a:solidFill>
              </a:rPr>
              <a:t>”</a:t>
            </a:r>
            <a:endParaRPr lang="en-US" altLang="zh-CN" b="1" dirty="0">
              <a:solidFill>
                <a:srgbClr val="008000"/>
              </a:solidFill>
            </a:endParaRPr>
          </a:p>
          <a:p>
            <a:pPr>
              <a:lnSpc>
                <a:spcPct val="11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定义：</a:t>
            </a:r>
            <a:r>
              <a:rPr lang="zh-CN" altLang="en-US" sz="2800" b="1" dirty="0"/>
              <a:t>在离散语言概率空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间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事件，设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=1,2,…,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en-US" sz="2800" b="1" dirty="0">
                <a:sym typeface="Symbol" panose="05050102010706020507" pitchFamily="18" charset="2"/>
              </a:rPr>
              <a:t>则定义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altLang="zh-CN" sz="3200" b="1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zh-CN" altLang="en-US" b="1" dirty="0">
                <a:sym typeface="Symbol" panose="05050102010706020507" pitchFamily="18" charset="2"/>
              </a:rPr>
              <a:t>为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事件</a:t>
            </a:r>
            <a:r>
              <a:rPr lang="en-US" altLang="zh-CN" b="1" dirty="0">
                <a:sym typeface="Symbol" panose="05050102010706020507" pitchFamily="18" charset="2"/>
              </a:rPr>
              <a:t>A</a:t>
            </a:r>
            <a:r>
              <a:rPr lang="zh-CN" altLang="en-US" b="1" dirty="0">
                <a:sym typeface="Symbol" panose="05050102010706020507" pitchFamily="18" charset="2"/>
              </a:rPr>
              <a:t>的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概率。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514350" indent="-457200">
              <a:lnSpc>
                <a:spcPct val="110000"/>
              </a:lnSpc>
            </a:pPr>
            <a:r>
              <a:rPr lang="zh-CN" altLang="en-US" b="1" dirty="0">
                <a:solidFill>
                  <a:srgbClr val="CC00CC"/>
                </a:solidFill>
                <a:sym typeface="Symbol" panose="05050102010706020507" pitchFamily="18" charset="2"/>
              </a:rPr>
              <a:t>特点：</a:t>
            </a:r>
            <a:endParaRPr lang="en-US" altLang="zh-CN" b="1" dirty="0">
              <a:solidFill>
                <a:srgbClr val="CC00CC"/>
              </a:solidFill>
              <a:sym typeface="Symbol" panose="05050102010706020507" pitchFamily="18" charset="2"/>
            </a:endParaRPr>
          </a:p>
          <a:p>
            <a:pPr marL="914400" lvl="1" indent="-457200">
              <a:lnSpc>
                <a:spcPct val="110000"/>
              </a:lnSpc>
            </a:pP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事件是样本空间</a:t>
            </a:r>
            <a:r>
              <a:rPr lang="en-US" altLang="zh-CN" b="1" dirty="0">
                <a:sym typeface="Symbol" panose="05050102010706020507" pitchFamily="18" charset="2"/>
              </a:rPr>
              <a:t>U</a:t>
            </a:r>
            <a:r>
              <a:rPr lang="zh-CN" altLang="en-US" b="1" dirty="0">
                <a:sym typeface="Symbol" panose="05050102010706020507" pitchFamily="18" charset="2"/>
              </a:rPr>
              <a:t>上的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集，一个样本元素是否属于该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子集，或说该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事件是否发生是不能精确判定的。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914400" lvl="1" indent="-457200">
              <a:lnSpc>
                <a:spcPct val="110000"/>
              </a:lnSpc>
            </a:pP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事件的概率是</a:t>
            </a:r>
            <a:r>
              <a:rPr lang="en-US" altLang="zh-CN" b="1" dirty="0">
                <a:sym typeface="Symbol" panose="05050102010706020507" pitchFamily="18" charset="2"/>
              </a:rPr>
              <a:t>[0,1]</a:t>
            </a:r>
            <a:r>
              <a:rPr lang="zh-CN" altLang="en-US" b="1" dirty="0">
                <a:sym typeface="Symbol" panose="05050102010706020507" pitchFamily="18" charset="2"/>
              </a:rPr>
              <a:t>上的一个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子集，代表一个</a:t>
            </a:r>
            <a:r>
              <a:rPr lang="en-US" altLang="zh-CN" b="1" dirty="0">
                <a:sym typeface="Symbol" panose="05050102010706020507" pitchFamily="18" charset="2"/>
              </a:rPr>
              <a:t>F</a:t>
            </a:r>
            <a:r>
              <a:rPr lang="zh-CN" altLang="en-US" b="1" dirty="0">
                <a:sym typeface="Symbol" panose="05050102010706020507" pitchFamily="18" charset="2"/>
              </a:rPr>
              <a:t>值。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altLang="zh-CN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79605F-7AD3-440F-9060-34B112859391}"/>
              </a:ext>
            </a:extLst>
          </p:cNvPr>
          <p:cNvSpPr/>
          <p:nvPr/>
        </p:nvSpPr>
        <p:spPr>
          <a:xfrm>
            <a:off x="7349008" y="1340768"/>
            <a:ext cx="4842992" cy="523220"/>
          </a:xfrm>
          <a:prstGeom prst="rect">
            <a:avLst/>
          </a:prstGeom>
          <a:solidFill>
            <a:srgbClr val="FFCCFF"/>
          </a:solidFill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——F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语言系统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概率语言值空间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C2DCE80-16B1-4888-9BFA-0672991DE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448494"/>
              </p:ext>
            </p:extLst>
          </p:nvPr>
        </p:nvGraphicFramePr>
        <p:xfrm>
          <a:off x="3215680" y="3020739"/>
          <a:ext cx="5373948" cy="69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317160" progId="Equation.DSMT4">
                  <p:embed/>
                </p:oleObj>
              </mc:Choice>
              <mc:Fallback>
                <p:oleObj name="Equation" r:id="rId2" imgW="2438280" imgH="3171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5B7E3D09-0093-492E-B621-030BA13FD4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15680" y="3020739"/>
                        <a:ext cx="5373948" cy="69629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541695-48F6-8897-935E-A44AC2FC7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565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40F255-A92E-4B10-BC44-86468394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13184"/>
            <a:ext cx="8229600" cy="66754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事件的语言概率举例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AB07B3-58F4-47E3-9CD0-108AEAB8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1412776"/>
            <a:ext cx="8851207" cy="5256584"/>
          </a:xfrm>
        </p:spPr>
        <p:txBody>
          <a:bodyPr/>
          <a:lstStyle/>
          <a:p>
            <a:r>
              <a:rPr lang="zh-CN" altLang="en-US" dirty="0"/>
              <a:t>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AFB7691-5CAD-43D8-81BE-2BBD8E971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287883"/>
              </p:ext>
            </p:extLst>
          </p:nvPr>
        </p:nvGraphicFramePr>
        <p:xfrm>
          <a:off x="3935760" y="1268760"/>
          <a:ext cx="24098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393480" progId="Equation.DSMT4">
                  <p:embed/>
                </p:oleObj>
              </mc:Choice>
              <mc:Fallback>
                <p:oleObj name="Equation" r:id="rId2" imgW="109188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10B21A9-4684-4BDF-9F84-E195772464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5760" y="1268760"/>
                        <a:ext cx="2409825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BCC001D7-AAAE-4D4B-BC08-A04FD6DB1AD8}"/>
              </a:ext>
            </a:extLst>
          </p:cNvPr>
          <p:cNvGrpSpPr/>
          <p:nvPr/>
        </p:nvGrpSpPr>
        <p:grpSpPr>
          <a:xfrm>
            <a:off x="6669062" y="1290984"/>
            <a:ext cx="4032448" cy="823913"/>
            <a:chOff x="827584" y="2272606"/>
            <a:chExt cx="4032448" cy="823913"/>
          </a:xfrm>
        </p:grpSpPr>
        <p:sp>
          <p:nvSpPr>
            <p:cNvPr id="5" name="内容占位符 2">
              <a:extLst>
                <a:ext uri="{FF2B5EF4-FFF2-40B4-BE49-F238E27FC236}">
                  <a16:creationId xmlns:a16="http://schemas.microsoft.com/office/drawing/2014/main" id="{56A165BF-D95F-45D0-B074-318BCCFF517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7584" y="2420888"/>
              <a:ext cx="223224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=“</a:t>
              </a:r>
              <a:r>
                <a:rPr lang="zh-CN" altLang="en-US" sz="2400" dirty="0"/>
                <a:t>接近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0.3”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23FBD87-BE03-4EB1-83BC-380E5481E0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1029500"/>
                </p:ext>
              </p:extLst>
            </p:nvPr>
          </p:nvGraphicFramePr>
          <p:xfrm>
            <a:off x="2627784" y="2272606"/>
            <a:ext cx="2232248" cy="82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66680" imgH="393480" progId="Equation.DSMT4">
                    <p:embed/>
                  </p:oleObj>
                </mc:Choice>
                <mc:Fallback>
                  <p:oleObj name="Equation" r:id="rId4" imgW="1066680" imgH="39348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EAFB7691-5CAD-43D8-81BE-2BBD8E97177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27784" y="2272606"/>
                          <a:ext cx="2232248" cy="823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293F0F0-5E95-488B-BF75-69ECBBD36BAB}"/>
              </a:ext>
            </a:extLst>
          </p:cNvPr>
          <p:cNvGrpSpPr/>
          <p:nvPr/>
        </p:nvGrpSpPr>
        <p:grpSpPr>
          <a:xfrm>
            <a:off x="2301131" y="2317056"/>
            <a:ext cx="4044454" cy="823912"/>
            <a:chOff x="827584" y="2272142"/>
            <a:chExt cx="4044454" cy="823912"/>
          </a:xfrm>
        </p:grpSpPr>
        <p:sp>
          <p:nvSpPr>
            <p:cNvPr id="9" name="内容占位符 2">
              <a:extLst>
                <a:ext uri="{FF2B5EF4-FFF2-40B4-BE49-F238E27FC236}">
                  <a16:creationId xmlns:a16="http://schemas.microsoft.com/office/drawing/2014/main" id="{979490CD-518B-46E1-A6F1-117CDD7FC90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7584" y="2420888"/>
              <a:ext cx="223224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=“</a:t>
              </a:r>
              <a:r>
                <a:rPr lang="zh-CN" altLang="en-US" sz="2400" dirty="0"/>
                <a:t>接近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0.6”</a:t>
              </a:r>
              <a:endParaRPr lang="zh-CN" altLang="en-US" sz="24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B419190-AFBA-48C6-A285-B1DBF4E231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6705242"/>
                </p:ext>
              </p:extLst>
            </p:nvPr>
          </p:nvGraphicFramePr>
          <p:xfrm>
            <a:off x="2614613" y="2272142"/>
            <a:ext cx="2257425" cy="823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79280" imgH="393480" progId="Equation.DSMT4">
                    <p:embed/>
                  </p:oleObj>
                </mc:Choice>
                <mc:Fallback>
                  <p:oleObj name="Equation" r:id="rId6" imgW="1079280" imgH="3934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23FBD87-BE03-4EB1-83BC-380E5481E0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614613" y="2272142"/>
                          <a:ext cx="2257425" cy="823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BD1012-4E6C-485E-982E-FC7D9E27EF45}"/>
              </a:ext>
            </a:extLst>
          </p:cNvPr>
          <p:cNvGrpSpPr/>
          <p:nvPr/>
        </p:nvGrpSpPr>
        <p:grpSpPr>
          <a:xfrm>
            <a:off x="6638930" y="2349166"/>
            <a:ext cx="4032448" cy="823913"/>
            <a:chOff x="827584" y="2272606"/>
            <a:chExt cx="4032448" cy="823913"/>
          </a:xfrm>
        </p:grpSpPr>
        <p:sp>
          <p:nvSpPr>
            <p:cNvPr id="12" name="内容占位符 2">
              <a:extLst>
                <a:ext uri="{FF2B5EF4-FFF2-40B4-BE49-F238E27FC236}">
                  <a16:creationId xmlns:a16="http://schemas.microsoft.com/office/drawing/2014/main" id="{B2401004-0302-404A-88FE-C312B3A0D06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27584" y="2420888"/>
              <a:ext cx="223224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=“</a:t>
              </a:r>
              <a:r>
                <a:rPr lang="zh-CN" altLang="en-US" sz="2400" dirty="0"/>
                <a:t>接近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0.1”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285E071-6272-4038-B33F-C2D23F3B75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3176758"/>
                </p:ext>
              </p:extLst>
            </p:nvPr>
          </p:nvGraphicFramePr>
          <p:xfrm>
            <a:off x="2627784" y="2272606"/>
            <a:ext cx="2232248" cy="82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66680" imgH="393480" progId="Equation.DSMT4">
                    <p:embed/>
                  </p:oleObj>
                </mc:Choice>
                <mc:Fallback>
                  <p:oleObj name="Equation" r:id="rId8" imgW="1066680" imgH="3934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23FBD87-BE03-4EB1-83BC-380E5481E0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627784" y="2272606"/>
                          <a:ext cx="2232248" cy="823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5D1D32D-921D-408B-ABE1-2F280C0CAB23}"/>
              </a:ext>
            </a:extLst>
          </p:cNvPr>
          <p:cNvSpPr txBox="1">
            <a:spLocks/>
          </p:cNvSpPr>
          <p:nvPr/>
        </p:nvSpPr>
        <p:spPr bwMode="auto">
          <a:xfrm>
            <a:off x="1109074" y="3443336"/>
            <a:ext cx="5616624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事件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的语言概率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为：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56C7019-FE4E-47F2-A3E2-753FD87D9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068828"/>
              </p:ext>
            </p:extLst>
          </p:nvPr>
        </p:nvGraphicFramePr>
        <p:xfrm>
          <a:off x="1806922" y="4215123"/>
          <a:ext cx="4562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70000" imgH="228600" progId="Equation.DSMT4">
                  <p:embed/>
                </p:oleObj>
              </mc:Choice>
              <mc:Fallback>
                <p:oleObj name="Equation" r:id="rId10" imgW="207000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C2DCE80-16B1-4888-9BFA-0672991DE4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06922" y="4215123"/>
                        <a:ext cx="4562475" cy="501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A6CFF5B-4B40-4A97-BBC1-6F9A89589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259707"/>
              </p:ext>
            </p:extLst>
          </p:nvPr>
        </p:nvGraphicFramePr>
        <p:xfrm>
          <a:off x="2538484" y="5001282"/>
          <a:ext cx="29114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480" imgH="228600" progId="Equation.DSMT4">
                  <p:embed/>
                </p:oleObj>
              </mc:Choice>
              <mc:Fallback>
                <p:oleObj name="Equation" r:id="rId12" imgW="1320480" imgH="228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756C7019-FE4E-47F2-A3E2-753FD87D9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38484" y="5001282"/>
                        <a:ext cx="2911475" cy="501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9BEAA958-C20D-4278-A072-F3CAF8F0F7C2}"/>
              </a:ext>
            </a:extLst>
          </p:cNvPr>
          <p:cNvGrpSpPr/>
          <p:nvPr/>
        </p:nvGrpSpPr>
        <p:grpSpPr>
          <a:xfrm>
            <a:off x="2512884" y="5766685"/>
            <a:ext cx="7451532" cy="917056"/>
            <a:chOff x="1368940" y="5491288"/>
            <a:chExt cx="7224432" cy="817562"/>
          </a:xfrm>
        </p:grpSpPr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B967D5B-A993-4B45-BA61-D5A26918FF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6832693"/>
                </p:ext>
              </p:extLst>
            </p:nvPr>
          </p:nvGraphicFramePr>
          <p:xfrm>
            <a:off x="1368940" y="5511909"/>
            <a:ext cx="2430859" cy="738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422360" imgH="431640" progId="Equation.DSMT4">
                    <p:embed/>
                  </p:oleObj>
                </mc:Choice>
                <mc:Fallback>
                  <p:oleObj name="Equation" r:id="rId14" imgW="1422360" imgH="43164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23FBD87-BE03-4EB1-83BC-380E5481E0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68940" y="5511909"/>
                          <a:ext cx="2430859" cy="7380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0391208-E8B7-49FF-8D6E-47A3150BAD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4316051"/>
                </p:ext>
              </p:extLst>
            </p:nvPr>
          </p:nvGraphicFramePr>
          <p:xfrm>
            <a:off x="3768279" y="5517232"/>
            <a:ext cx="2232249" cy="759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69720" imgH="431640" progId="Equation.DSMT4">
                    <p:embed/>
                  </p:oleObj>
                </mc:Choice>
                <mc:Fallback>
                  <p:oleObj name="Equation" r:id="rId16" imgW="1269720" imgH="43164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CB419190-AFBA-48C6-A285-B1DBF4E231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768279" y="5517232"/>
                          <a:ext cx="2232249" cy="7592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C99A49B2-E3A3-4C1F-A00B-C1F18A3C60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237964"/>
                </p:ext>
              </p:extLst>
            </p:nvPr>
          </p:nvGraphicFramePr>
          <p:xfrm>
            <a:off x="5980347" y="5491288"/>
            <a:ext cx="2613025" cy="817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84200" imgH="431640" progId="Equation.DSMT4">
                    <p:embed/>
                  </p:oleObj>
                </mc:Choice>
                <mc:Fallback>
                  <p:oleObj name="Equation" r:id="rId18" imgW="1384200" imgH="43164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285E071-6272-4038-B33F-C2D23F3B7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980347" y="5491288"/>
                          <a:ext cx="2613025" cy="817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0C6D4C04-2D59-8B28-BA0F-0AAAB44E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28" y="6352835"/>
            <a:ext cx="433264" cy="365125"/>
          </a:xfrm>
        </p:spPr>
        <p:txBody>
          <a:bodyPr/>
          <a:lstStyle/>
          <a:p>
            <a:fld id="{C9AC16A3-9945-47DF-AC7C-85E0257C2689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63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BEFF6EBB-2E17-45D8-9026-6B73F6BB098F}"/>
              </a:ext>
            </a:extLst>
          </p:cNvPr>
          <p:cNvSpPr/>
          <p:nvPr/>
        </p:nvSpPr>
        <p:spPr bwMode="auto">
          <a:xfrm>
            <a:off x="8616280" y="3"/>
            <a:ext cx="3543761" cy="236188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40F255-A92E-4B10-BC44-86468394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04" y="388388"/>
            <a:ext cx="8229600" cy="667544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F</a:t>
            </a: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事件的语言概率举例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AB07B3-58F4-47E3-9CD0-108AEAB8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5079" y="1412776"/>
            <a:ext cx="8229600" cy="5256584"/>
          </a:xfrm>
        </p:spPr>
        <p:txBody>
          <a:bodyPr/>
          <a:lstStyle/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CC001D7-AAAE-4D4B-BC08-A04FD6DB1AD8}"/>
              </a:ext>
            </a:extLst>
          </p:cNvPr>
          <p:cNvGrpSpPr/>
          <p:nvPr/>
        </p:nvGrpSpPr>
        <p:grpSpPr>
          <a:xfrm>
            <a:off x="8616280" y="69458"/>
            <a:ext cx="3519599" cy="636993"/>
            <a:chOff x="918081" y="2272606"/>
            <a:chExt cx="3941951" cy="823913"/>
          </a:xfrm>
        </p:grpSpPr>
        <p:sp>
          <p:nvSpPr>
            <p:cNvPr id="5" name="内容占位符 2">
              <a:extLst>
                <a:ext uri="{FF2B5EF4-FFF2-40B4-BE49-F238E27FC236}">
                  <a16:creationId xmlns:a16="http://schemas.microsoft.com/office/drawing/2014/main" id="{56A165BF-D95F-45D0-B074-318BCCFF517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918081" y="2418567"/>
              <a:ext cx="223224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=“</a:t>
              </a:r>
              <a:r>
                <a:rPr lang="zh-CN" altLang="en-US" sz="2000" dirty="0"/>
                <a:t>接近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0.3”</a:t>
              </a:r>
              <a:endParaRPr lang="zh-CN" altLang="en-US" sz="20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23FBD87-BE03-4EB1-83BC-380E5481E0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7784" y="2272606"/>
            <a:ext cx="2232248" cy="823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66680" imgH="393480" progId="Equation.DSMT4">
                    <p:embed/>
                  </p:oleObj>
                </mc:Choice>
                <mc:Fallback>
                  <p:oleObj name="Equation" r:id="rId2" imgW="1066680" imgH="39348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23FBD87-BE03-4EB1-83BC-380E5481E0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627784" y="2272606"/>
                          <a:ext cx="2232248" cy="823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293F0F0-5E95-488B-BF75-69ECBBD36BAB}"/>
              </a:ext>
            </a:extLst>
          </p:cNvPr>
          <p:cNvGrpSpPr/>
          <p:nvPr/>
        </p:nvGrpSpPr>
        <p:grpSpPr>
          <a:xfrm>
            <a:off x="8642628" y="788360"/>
            <a:ext cx="3493251" cy="636992"/>
            <a:chOff x="959597" y="2272142"/>
            <a:chExt cx="3912441" cy="823912"/>
          </a:xfrm>
        </p:grpSpPr>
        <p:sp>
          <p:nvSpPr>
            <p:cNvPr id="9" name="内容占位符 2">
              <a:extLst>
                <a:ext uri="{FF2B5EF4-FFF2-40B4-BE49-F238E27FC236}">
                  <a16:creationId xmlns:a16="http://schemas.microsoft.com/office/drawing/2014/main" id="{979490CD-518B-46E1-A6F1-117CDD7FC90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959597" y="2411851"/>
              <a:ext cx="223224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b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=“</a:t>
              </a:r>
              <a:r>
                <a:rPr lang="zh-CN" altLang="en-US" sz="2000" dirty="0"/>
                <a:t>接近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0.6”</a:t>
              </a:r>
              <a:endParaRPr lang="zh-CN" altLang="en-US" sz="2000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B419190-AFBA-48C6-A285-B1DBF4E231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216199"/>
                </p:ext>
              </p:extLst>
            </p:nvPr>
          </p:nvGraphicFramePr>
          <p:xfrm>
            <a:off x="2614613" y="2272142"/>
            <a:ext cx="2257425" cy="823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79280" imgH="393480" progId="Equation.DSMT4">
                    <p:embed/>
                  </p:oleObj>
                </mc:Choice>
                <mc:Fallback>
                  <p:oleObj name="Equation" r:id="rId4" imgW="1079280" imgH="3934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CB419190-AFBA-48C6-A285-B1DBF4E231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14613" y="2272142"/>
                          <a:ext cx="2257425" cy="823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BD1012-4E6C-485E-982E-FC7D9E27EF45}"/>
              </a:ext>
            </a:extLst>
          </p:cNvPr>
          <p:cNvGrpSpPr/>
          <p:nvPr/>
        </p:nvGrpSpPr>
        <p:grpSpPr>
          <a:xfrm>
            <a:off x="8672504" y="1506540"/>
            <a:ext cx="3487534" cy="636587"/>
            <a:chOff x="954829" y="2273158"/>
            <a:chExt cx="3906038" cy="823388"/>
          </a:xfrm>
        </p:grpSpPr>
        <p:sp>
          <p:nvSpPr>
            <p:cNvPr id="12" name="内容占位符 2">
              <a:extLst>
                <a:ext uri="{FF2B5EF4-FFF2-40B4-BE49-F238E27FC236}">
                  <a16:creationId xmlns:a16="http://schemas.microsoft.com/office/drawing/2014/main" id="{B2401004-0302-404A-88FE-C312B3A0D06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954829" y="2409747"/>
              <a:ext cx="2232248" cy="5760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¨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2000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</a:t>
              </a:r>
              <a:r>
                <a:rPr lang="en-US" altLang="zh-CN" sz="20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c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=“</a:t>
              </a:r>
              <a:r>
                <a:rPr lang="zh-CN" altLang="en-US" sz="2000" dirty="0"/>
                <a:t>接近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0.1”</a:t>
              </a:r>
              <a:endParaRPr lang="zh-CN" altLang="en-US" sz="20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285E071-6272-4038-B33F-C2D23F3B75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7699" y="2273158"/>
            <a:ext cx="2233168" cy="82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66680" imgH="393480" progId="Equation.DSMT4">
                    <p:embed/>
                  </p:oleObj>
                </mc:Choice>
                <mc:Fallback>
                  <p:oleObj name="Equation" r:id="rId6" imgW="1066680" imgH="3934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9285E071-6272-4038-B33F-C2D23F3B75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2627699" y="2273158"/>
                          <a:ext cx="2233168" cy="823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5D1D32D-921D-408B-ABE1-2F280C0CAB23}"/>
              </a:ext>
            </a:extLst>
          </p:cNvPr>
          <p:cNvSpPr txBox="1">
            <a:spLocks/>
          </p:cNvSpPr>
          <p:nvPr/>
        </p:nvSpPr>
        <p:spPr bwMode="auto">
          <a:xfrm>
            <a:off x="741978" y="1186951"/>
            <a:ext cx="5667486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事件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的语言概率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为：</a:t>
            </a:r>
            <a:endParaRPr lang="zh-CN" altLang="en-US" b="1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A6CFF5B-4B40-4A97-BBC1-6F9A89589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154330"/>
              </p:ext>
            </p:extLst>
          </p:nvPr>
        </p:nvGraphicFramePr>
        <p:xfrm>
          <a:off x="1341268" y="1854909"/>
          <a:ext cx="36671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228600" progId="Equation.DSMT4">
                  <p:embed/>
                </p:oleObj>
              </mc:Choice>
              <mc:Fallback>
                <p:oleObj name="Equation" r:id="rId8" imgW="166356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A6CFF5B-4B40-4A97-BBC1-6F9A89589F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41268" y="1854909"/>
                        <a:ext cx="3667125" cy="5016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B967D5B-A993-4B45-BA61-D5A26918FF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441326"/>
              </p:ext>
            </p:extLst>
          </p:nvPr>
        </p:nvGraphicFramePr>
        <p:xfrm>
          <a:off x="2135560" y="2356560"/>
          <a:ext cx="2430859" cy="738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22360" imgH="431640" progId="Equation.DSMT4">
                  <p:embed/>
                </p:oleObj>
              </mc:Choice>
              <mc:Fallback>
                <p:oleObj name="Equation" r:id="rId10" imgW="1422360" imgH="4316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B967D5B-A993-4B45-BA61-D5A26918F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35560" y="2356560"/>
                        <a:ext cx="2430859" cy="7380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D0391208-E8B7-49FF-8D6E-47A3150BAD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380889"/>
              </p:ext>
            </p:extLst>
          </p:nvPr>
        </p:nvGraphicFramePr>
        <p:xfrm>
          <a:off x="4534899" y="2361886"/>
          <a:ext cx="2232249" cy="759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431640" progId="Equation.DSMT4">
                  <p:embed/>
                </p:oleObj>
              </mc:Choice>
              <mc:Fallback>
                <p:oleObj name="Equation" r:id="rId12" imgW="1269720" imgH="4316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D0391208-E8B7-49FF-8D6E-47A3150BAD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34899" y="2361886"/>
                        <a:ext cx="2232249" cy="759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99A49B2-E3A3-4C1F-A00B-C1F18A3C6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074440"/>
              </p:ext>
            </p:extLst>
          </p:nvPr>
        </p:nvGraphicFramePr>
        <p:xfrm>
          <a:off x="6746967" y="2335939"/>
          <a:ext cx="26130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84200" imgH="431640" progId="Equation.DSMT4">
                  <p:embed/>
                </p:oleObj>
              </mc:Choice>
              <mc:Fallback>
                <p:oleObj name="Equation" r:id="rId14" imgW="138420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C99A49B2-E3A3-4C1F-A00B-C1F18A3C60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46967" y="2335939"/>
                        <a:ext cx="2613025" cy="81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B668EE2F-2293-41B6-91AA-B50787A1F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961834"/>
              </p:ext>
            </p:extLst>
          </p:nvPr>
        </p:nvGraphicFramePr>
        <p:xfrm>
          <a:off x="1343472" y="3212976"/>
          <a:ext cx="89884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508280" imgH="431640" progId="Equation.DSMT4">
                  <p:embed/>
                </p:oleObj>
              </mc:Choice>
              <mc:Fallback>
                <p:oleObj name="Equation" r:id="rId16" imgW="4508280" imgH="4316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668EE2F-2293-41B6-91AA-B50787A1F7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43472" y="3212976"/>
                        <a:ext cx="8988425" cy="862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B107640-97BA-47E3-8282-9CABC8B1C2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875360"/>
              </p:ext>
            </p:extLst>
          </p:nvPr>
        </p:nvGraphicFramePr>
        <p:xfrm>
          <a:off x="1487488" y="4142355"/>
          <a:ext cx="589756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11400" imgH="393480" progId="Equation.DSMT4">
                  <p:embed/>
                </p:oleObj>
              </mc:Choice>
              <mc:Fallback>
                <p:oleObj name="Equation" r:id="rId18" imgW="3911400" imgH="393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B967D5B-A993-4B45-BA61-D5A26918FF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487488" y="4142355"/>
                        <a:ext cx="5897563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0FAAA30-7C7D-4DD1-9F4D-293A44EB6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914945"/>
              </p:ext>
            </p:extLst>
          </p:nvPr>
        </p:nvGraphicFramePr>
        <p:xfrm>
          <a:off x="2194369" y="4774825"/>
          <a:ext cx="783431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194080" imgH="393480" progId="Equation.DSMT4">
                  <p:embed/>
                </p:oleObj>
              </mc:Choice>
              <mc:Fallback>
                <p:oleObj name="Equation" r:id="rId20" imgW="5194080" imgH="393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8B107640-97BA-47E3-8282-9CABC8B1C2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94369" y="4774825"/>
                        <a:ext cx="7834312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E9A34BB-2F57-4BB0-AB7C-4DB61D463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471407"/>
              </p:ext>
            </p:extLst>
          </p:nvPr>
        </p:nvGraphicFramePr>
        <p:xfrm>
          <a:off x="2184847" y="5443163"/>
          <a:ext cx="51911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441600" imgH="393480" progId="Equation.DSMT4">
                  <p:embed/>
                </p:oleObj>
              </mc:Choice>
              <mc:Fallback>
                <p:oleObj name="Equation" r:id="rId22" imgW="3441600" imgH="3934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60FAAA30-7C7D-4DD1-9F4D-293A44EB6C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184847" y="5443163"/>
                        <a:ext cx="5191125" cy="593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FD5F9626-7E89-4CE7-84EA-A49B079E2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999781"/>
              </p:ext>
            </p:extLst>
          </p:nvPr>
        </p:nvGraphicFramePr>
        <p:xfrm>
          <a:off x="2182816" y="6205538"/>
          <a:ext cx="51720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920680" imgH="393480" progId="Equation.DSMT4">
                  <p:embed/>
                </p:oleObj>
              </mc:Choice>
              <mc:Fallback>
                <p:oleObj name="Equation" r:id="rId24" imgW="2920680" imgH="393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285E071-6272-4038-B33F-C2D23F3B7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182816" y="6205538"/>
                        <a:ext cx="517207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内容占位符 2">
            <a:extLst>
              <a:ext uri="{FF2B5EF4-FFF2-40B4-BE49-F238E27FC236}">
                <a16:creationId xmlns:a16="http://schemas.microsoft.com/office/drawing/2014/main" id="{A4419194-242B-480B-A5EC-0E94120E8D19}"/>
              </a:ext>
            </a:extLst>
          </p:cNvPr>
          <p:cNvSpPr txBox="1">
            <a:spLocks/>
          </p:cNvSpPr>
          <p:nvPr/>
        </p:nvSpPr>
        <p:spPr bwMode="auto">
          <a:xfrm>
            <a:off x="7415290" y="6237313"/>
            <a:ext cx="1993079" cy="445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=“</a:t>
            </a:r>
            <a:r>
              <a:rPr lang="zh-CN" altLang="en-US" sz="2800" b="1" dirty="0">
                <a:solidFill>
                  <a:srgbClr val="FF0000"/>
                </a:solidFill>
              </a:rPr>
              <a:t>接近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0.8”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51CB428-1C32-708B-443F-823BCDF20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30178"/>
              </p:ext>
            </p:extLst>
          </p:nvPr>
        </p:nvGraphicFramePr>
        <p:xfrm>
          <a:off x="2182150" y="6214236"/>
          <a:ext cx="51720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920680" imgH="393480" progId="Equation.DSMT4">
                  <p:embed/>
                </p:oleObj>
              </mc:Choice>
              <mc:Fallback>
                <p:oleObj name="Equation" r:id="rId26" imgW="2920680" imgH="3934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FD5F9626-7E89-4CE7-84EA-A49B079E2F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182150" y="6214236"/>
                        <a:ext cx="5172075" cy="6032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>
            <a:extLst>
              <a:ext uri="{FF2B5EF4-FFF2-40B4-BE49-F238E27FC236}">
                <a16:creationId xmlns:a16="http://schemas.microsoft.com/office/drawing/2014/main" id="{59C69AAE-76B3-D7D9-15C8-0FDE4915167F}"/>
              </a:ext>
            </a:extLst>
          </p:cNvPr>
          <p:cNvGrpSpPr/>
          <p:nvPr/>
        </p:nvGrpSpPr>
        <p:grpSpPr>
          <a:xfrm>
            <a:off x="2609337" y="4718417"/>
            <a:ext cx="2076776" cy="17663"/>
            <a:chOff x="1229356" y="4725144"/>
            <a:chExt cx="2076776" cy="17663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E3D393E-7721-108B-2EB8-01A1416CC168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48ECC2A-3A35-CC92-C668-83D9C285DCD7}"/>
                </a:ext>
              </a:extLst>
            </p:cNvPr>
            <p:cNvCxnSpPr/>
            <p:nvPr/>
          </p:nvCxnSpPr>
          <p:spPr bwMode="auto">
            <a:xfrm>
              <a:off x="2915816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AA6D67F7-7E19-5782-883E-3B72559E08D4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1ED49B9-A3C1-4C3A-B025-D9589E5DB05C}"/>
              </a:ext>
            </a:extLst>
          </p:cNvPr>
          <p:cNvGrpSpPr/>
          <p:nvPr/>
        </p:nvGrpSpPr>
        <p:grpSpPr>
          <a:xfrm>
            <a:off x="5308274" y="4742873"/>
            <a:ext cx="2076776" cy="17663"/>
            <a:chOff x="1229356" y="4725144"/>
            <a:chExt cx="2076776" cy="17663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C5C4A05C-7611-E5FF-FAC5-02B4E898E800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4248CBF2-2C48-8BF7-DFB4-DCB5EB9D4AFF}"/>
                </a:ext>
              </a:extLst>
            </p:cNvPr>
            <p:cNvCxnSpPr/>
            <p:nvPr/>
          </p:nvCxnSpPr>
          <p:spPr bwMode="auto">
            <a:xfrm>
              <a:off x="2915816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4AE259EB-E29B-14CF-0F70-F0487670396B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613A16F-8974-8CE3-CEE9-F22F8F7AB2A7}"/>
              </a:ext>
            </a:extLst>
          </p:cNvPr>
          <p:cNvGrpSpPr/>
          <p:nvPr/>
        </p:nvGrpSpPr>
        <p:grpSpPr>
          <a:xfrm>
            <a:off x="2786378" y="5385264"/>
            <a:ext cx="2076776" cy="17663"/>
            <a:chOff x="1229356" y="4725144"/>
            <a:chExt cx="2076776" cy="17663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F2CD656-A7B9-BB80-4E75-9D5CA906585B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B35C53E7-0222-3F45-87A3-375A312666FD}"/>
                </a:ext>
              </a:extLst>
            </p:cNvPr>
            <p:cNvCxnSpPr/>
            <p:nvPr/>
          </p:nvCxnSpPr>
          <p:spPr bwMode="auto">
            <a:xfrm>
              <a:off x="2915816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E31DE0A-AEE5-F95E-B93B-268F985275C2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C69E725-2FE7-94F2-6AEB-F30A4F548A49}"/>
              </a:ext>
            </a:extLst>
          </p:cNvPr>
          <p:cNvGrpSpPr/>
          <p:nvPr/>
        </p:nvGrpSpPr>
        <p:grpSpPr>
          <a:xfrm>
            <a:off x="5471156" y="5408785"/>
            <a:ext cx="2076776" cy="17663"/>
            <a:chOff x="1229356" y="4725144"/>
            <a:chExt cx="2076776" cy="17663"/>
          </a:xfrm>
        </p:grpSpPr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D2650E2-E498-C854-FC91-AA93962F2D48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4A3C466-B105-3292-9EC7-3ABEFFC57B54}"/>
                </a:ext>
              </a:extLst>
            </p:cNvPr>
            <p:cNvCxnSpPr/>
            <p:nvPr/>
          </p:nvCxnSpPr>
          <p:spPr bwMode="auto">
            <a:xfrm>
              <a:off x="2915816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02E4822C-435D-D3E4-170C-6D8255A79067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075B93CA-A811-4A89-9E42-995AF3794C31}"/>
              </a:ext>
            </a:extLst>
          </p:cNvPr>
          <p:cNvGrpSpPr/>
          <p:nvPr/>
        </p:nvGrpSpPr>
        <p:grpSpPr>
          <a:xfrm>
            <a:off x="8077437" y="5437004"/>
            <a:ext cx="2009277" cy="17663"/>
            <a:chOff x="1229356" y="4725144"/>
            <a:chExt cx="2009277" cy="17663"/>
          </a:xfrm>
        </p:grpSpPr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3827C1B0-71AA-753D-2B75-F2544577F8CB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1D9F8A46-29F3-8C22-2BEE-386B6BB2F3D5}"/>
                </a:ext>
              </a:extLst>
            </p:cNvPr>
            <p:cNvCxnSpPr/>
            <p:nvPr/>
          </p:nvCxnSpPr>
          <p:spPr bwMode="auto">
            <a:xfrm>
              <a:off x="2848317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4BA606DF-120D-6401-5199-E317ACEDB4EF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134CB01C-671F-10A5-8BBB-3354425FA38B}"/>
              </a:ext>
            </a:extLst>
          </p:cNvPr>
          <p:cNvGrpSpPr/>
          <p:nvPr/>
        </p:nvGrpSpPr>
        <p:grpSpPr>
          <a:xfrm>
            <a:off x="2801941" y="6059249"/>
            <a:ext cx="2076776" cy="17663"/>
            <a:chOff x="1229356" y="4725144"/>
            <a:chExt cx="2076776" cy="17663"/>
          </a:xfrm>
        </p:grpSpPr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99E19F5-FEBA-01A1-DA9E-E3EDC8D31C5A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FC4AB79-9F91-183D-0670-A1D6E60CEBB2}"/>
                </a:ext>
              </a:extLst>
            </p:cNvPr>
            <p:cNvCxnSpPr/>
            <p:nvPr/>
          </p:nvCxnSpPr>
          <p:spPr bwMode="auto">
            <a:xfrm>
              <a:off x="2915816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5C5DAEA-C4C9-6FDC-35C4-C7720175352D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D56ADD3-5B50-5B9C-1F5E-E18794CD51EF}"/>
              </a:ext>
            </a:extLst>
          </p:cNvPr>
          <p:cNvGrpSpPr/>
          <p:nvPr/>
        </p:nvGrpSpPr>
        <p:grpSpPr>
          <a:xfrm>
            <a:off x="5471157" y="6075633"/>
            <a:ext cx="2023269" cy="17663"/>
            <a:chOff x="1229356" y="4725144"/>
            <a:chExt cx="2023269" cy="17663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FC193AB-9615-3426-EDC6-C8BBF0710403}"/>
                </a:ext>
              </a:extLst>
            </p:cNvPr>
            <p:cNvCxnSpPr/>
            <p:nvPr/>
          </p:nvCxnSpPr>
          <p:spPr bwMode="auto">
            <a:xfrm>
              <a:off x="1229356" y="4742807"/>
              <a:ext cx="390316" cy="0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689F3500-D483-60CA-F8C5-75014CAF1030}"/>
                </a:ext>
              </a:extLst>
            </p:cNvPr>
            <p:cNvCxnSpPr/>
            <p:nvPr/>
          </p:nvCxnSpPr>
          <p:spPr bwMode="auto">
            <a:xfrm>
              <a:off x="2862309" y="4725144"/>
              <a:ext cx="390316" cy="0"/>
            </a:xfrm>
            <a:prstGeom prst="line">
              <a:avLst/>
            </a:prstGeom>
            <a:ln w="3810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C1BD6B94-E185-9949-1297-BF5D87C7DCB5}"/>
                </a:ext>
              </a:extLst>
            </p:cNvPr>
            <p:cNvCxnSpPr/>
            <p:nvPr/>
          </p:nvCxnSpPr>
          <p:spPr bwMode="auto">
            <a:xfrm>
              <a:off x="1979712" y="4742807"/>
              <a:ext cx="390316" cy="0"/>
            </a:xfrm>
            <a:prstGeom prst="line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CDB20677-E364-7AB2-90E0-2F196F07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619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84182-67E1-4C97-840D-1F0068655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284758-1FE1-4E7C-8694-63D4FFCEB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习题 </a:t>
            </a:r>
            <a:r>
              <a:rPr lang="en-US" altLang="zh-CN" dirty="0"/>
              <a:t>10</a:t>
            </a:r>
            <a:r>
              <a:rPr lang="zh-CN" altLang="en-US"/>
              <a:t>：</a:t>
            </a:r>
            <a:r>
              <a:rPr lang="en-US" altLang="zh-CN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57655-123F-F700-3A2C-EEB13FFA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C16A3-9945-47DF-AC7C-85E0257C2689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89464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42978</TotalTime>
  <Pages>0</Pages>
  <Words>922</Words>
  <Characters>0</Characters>
  <Application>Microsoft Office PowerPoint</Application>
  <DocSecurity>0</DocSecurity>
  <PresentationFormat>宽屏</PresentationFormat>
  <Lines>0</Lines>
  <Paragraphs>151</Paragraphs>
  <Slides>14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黑体</vt:lpstr>
      <vt:lpstr>隶书</vt:lpstr>
      <vt:lpstr>Arial</vt:lpstr>
      <vt:lpstr>Arial Black</vt:lpstr>
      <vt:lpstr>Comic Sans MS</vt:lpstr>
      <vt:lpstr>Symbol</vt:lpstr>
      <vt:lpstr>Times New Roman</vt:lpstr>
      <vt:lpstr>Wingdings</vt:lpstr>
      <vt:lpstr>1_Office 2013 - 2022 主题</vt:lpstr>
      <vt:lpstr>Pixel</vt:lpstr>
      <vt:lpstr>Equation</vt:lpstr>
      <vt:lpstr>第 10 章 模糊概率</vt:lpstr>
      <vt:lpstr>引言</vt:lpstr>
      <vt:lpstr>模糊与概率的关系</vt:lpstr>
      <vt:lpstr>概率语言值的线性组合</vt:lpstr>
      <vt:lpstr>概率语言值的线性组合</vt:lpstr>
      <vt:lpstr>概率语言值的线性组合举例1</vt:lpstr>
      <vt:lpstr>概率语言值的线性组合</vt:lpstr>
      <vt:lpstr>概率语言值的线性组合举例2</vt:lpstr>
      <vt:lpstr>概率语言值的线性组合举例2</vt:lpstr>
      <vt:lpstr>事件的F概率的性质</vt:lpstr>
      <vt:lpstr>10.3 F事件的语言概率</vt:lpstr>
      <vt:lpstr>F事件的语言概率举例</vt:lpstr>
      <vt:lpstr>F事件的语言概率举例</vt:lpstr>
      <vt:lpstr>作业</vt:lpstr>
    </vt:vector>
  </TitlesOfParts>
  <Manager/>
  <Company>微软中国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11 章  径向基神经网络</dc:title>
  <dc:subject/>
  <dc:creator>凌卫新</dc:creator>
  <cp:keywords/>
  <dc:description/>
  <cp:lastModifiedBy>wxling66@outlook.com</cp:lastModifiedBy>
  <cp:revision>409</cp:revision>
  <dcterms:created xsi:type="dcterms:W3CDTF">2008-06-09T13:09:30Z</dcterms:created>
  <dcterms:modified xsi:type="dcterms:W3CDTF">2026-06-08T16:20:21Z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2052-9.1.0.4047</vt:lpwstr>
  </property>
</Properties>
</file>