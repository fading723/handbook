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8"/>
  </p:notesMasterIdLst>
  <p:handoutMasterIdLst>
    <p:handoutMasterId r:id="rId49"/>
  </p:handoutMasterIdLst>
  <p:sldIdLst>
    <p:sldId id="300" r:id="rId2"/>
    <p:sldId id="340" r:id="rId3"/>
    <p:sldId id="341" r:id="rId4"/>
    <p:sldId id="361" r:id="rId5"/>
    <p:sldId id="343" r:id="rId6"/>
    <p:sldId id="344" r:id="rId7"/>
    <p:sldId id="312" r:id="rId8"/>
    <p:sldId id="345" r:id="rId9"/>
    <p:sldId id="346" r:id="rId10"/>
    <p:sldId id="347" r:id="rId11"/>
    <p:sldId id="316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8" r:id="rId20"/>
    <p:sldId id="326" r:id="rId21"/>
    <p:sldId id="327" r:id="rId22"/>
    <p:sldId id="328" r:id="rId23"/>
    <p:sldId id="329" r:id="rId24"/>
    <p:sldId id="330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35" r:id="rId34"/>
    <p:sldId id="313" r:id="rId35"/>
    <p:sldId id="314" r:id="rId36"/>
    <p:sldId id="331" r:id="rId37"/>
    <p:sldId id="336" r:id="rId38"/>
    <p:sldId id="315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</p:sldIdLst>
  <p:sldSz cx="12192000" cy="6858000"/>
  <p:notesSz cx="6669088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Lath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CC00CC"/>
    <a:srgbClr val="008000"/>
    <a:srgbClr val="E123BD"/>
    <a:srgbClr val="E90101"/>
    <a:srgbClr val="FA7E19"/>
    <a:srgbClr val="276CB1"/>
    <a:srgbClr val="2A6EB2"/>
    <a:srgbClr val="FFCCFF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88354" autoAdjust="0"/>
  </p:normalViewPr>
  <p:slideViewPr>
    <p:cSldViewPr>
      <p:cViewPr varScale="1">
        <p:scale>
          <a:sx n="69" d="100"/>
          <a:sy n="69" d="100"/>
        </p:scale>
        <p:origin x="84" y="1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F931C255-BB83-4B76-9224-6F220C6AAE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7388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60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5907"/>
            <a:ext cx="533527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60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1D367CE-A08D-446A-8A98-8B862A6B8D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6818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9pPr>
          </a:lstStyle>
          <a:p>
            <a:pPr eaLnBrk="1" hangingPunct="1"/>
            <a:fld id="{7E871211-C738-43B7-8EA3-17D245E2686D}" type="slidenum">
              <a:rPr lang="en-US" altLang="zh-CN" smtClean="0">
                <a:latin typeface="Arial" charset="0"/>
              </a:rPr>
              <a:pPr eaLnBrk="1" hangingPunct="1"/>
              <a:t>4</a:t>
            </a:fld>
            <a:endParaRPr lang="en-US" altLang="zh-CN">
              <a:latin typeface="Arial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图示</a:t>
            </a:r>
          </a:p>
        </p:txBody>
      </p:sp>
    </p:spTree>
    <p:extLst>
      <p:ext uri="{BB962C8B-B14F-4D97-AF65-F5344CB8AC3E}">
        <p14:creationId xmlns:p14="http://schemas.microsoft.com/office/powerpoint/2010/main" val="1122364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ha" pitchFamily="34" charset="0"/>
                <a:ea typeface="宋体" charset="-122"/>
              </a:defRPr>
            </a:lvl9pPr>
          </a:lstStyle>
          <a:p>
            <a:pPr eaLnBrk="1" hangingPunct="1"/>
            <a:fld id="{6C22182C-D14F-4470-A3DF-5F444D6FC092}" type="slidenum">
              <a:rPr lang="en-US" altLang="zh-CN" smtClean="0">
                <a:latin typeface="Arial" charset="0"/>
              </a:rPr>
              <a:pPr eaLnBrk="1" hangingPunct="1"/>
              <a:t>7</a:t>
            </a:fld>
            <a:endParaRPr lang="en-US" altLang="zh-CN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写出过程</a:t>
            </a:r>
          </a:p>
        </p:txBody>
      </p:sp>
    </p:spTree>
    <p:extLst>
      <p:ext uri="{BB962C8B-B14F-4D97-AF65-F5344CB8AC3E}">
        <p14:creationId xmlns:p14="http://schemas.microsoft.com/office/powerpoint/2010/main" val="3673755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D367CE-A08D-446A-8A98-8B862A6B8DFC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3025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F423BE-9FAC-4999-AD98-6EFFC7002F7E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5427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元素</a:t>
            </a:r>
            <a:r>
              <a:rPr lang="en-US" altLang="zh-CN" dirty="0"/>
              <a:t>——</a:t>
            </a:r>
            <a:r>
              <a:rPr lang="zh-CN" altLang="en-US" dirty="0"/>
              <a:t>指</a:t>
            </a:r>
            <a:r>
              <a:rPr lang="en-US" altLang="zh-CN" dirty="0"/>
              <a:t>F</a:t>
            </a:r>
            <a:r>
              <a:rPr lang="zh-CN" altLang="en-US" dirty="0"/>
              <a:t>数进行乘积运算后的各个元素值；</a:t>
            </a:r>
            <a:endParaRPr lang="en-US" altLang="zh-CN" dirty="0"/>
          </a:p>
          <a:p>
            <a:r>
              <a:rPr lang="zh-CN" altLang="en-US" dirty="0"/>
              <a:t>对应隶属度</a:t>
            </a:r>
            <a:r>
              <a:rPr lang="en-US" altLang="zh-CN" dirty="0"/>
              <a:t>——</a:t>
            </a:r>
            <a:r>
              <a:rPr lang="zh-CN" altLang="en-US" dirty="0"/>
              <a:t>指</a:t>
            </a:r>
            <a:r>
              <a:rPr lang="en-US" altLang="zh-CN" dirty="0"/>
              <a:t>F</a:t>
            </a:r>
            <a:r>
              <a:rPr lang="zh-CN" altLang="en-US" dirty="0"/>
              <a:t>数离散化后进行乘积去处后各个元素值对应的隶属度</a:t>
            </a:r>
            <a:endParaRPr lang="en-US" altLang="zh-CN" dirty="0"/>
          </a:p>
          <a:p>
            <a:r>
              <a:rPr lang="zh-CN" altLang="en-US" dirty="0"/>
              <a:t>隶属度标准值</a:t>
            </a:r>
            <a:r>
              <a:rPr lang="en-US" altLang="zh-CN" dirty="0"/>
              <a:t>——</a:t>
            </a:r>
            <a:r>
              <a:rPr lang="zh-CN" altLang="en-US" dirty="0"/>
              <a:t>指</a:t>
            </a:r>
            <a:r>
              <a:rPr lang="en-US" altLang="zh-CN" dirty="0"/>
              <a:t>F</a:t>
            </a:r>
            <a:r>
              <a:rPr lang="zh-CN" altLang="en-US" dirty="0"/>
              <a:t>数未离散化时乘积运算的精确结果。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D367CE-A08D-446A-8A98-8B862A6B8DFC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5805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元素</a:t>
            </a:r>
            <a:r>
              <a:rPr lang="en-US" altLang="zh-CN" dirty="0"/>
              <a:t>——</a:t>
            </a:r>
            <a:r>
              <a:rPr lang="zh-CN" altLang="en-US" dirty="0"/>
              <a:t>指</a:t>
            </a:r>
            <a:r>
              <a:rPr lang="en-US" altLang="zh-CN" dirty="0"/>
              <a:t>F</a:t>
            </a:r>
            <a:r>
              <a:rPr lang="zh-CN" altLang="en-US" dirty="0"/>
              <a:t>数进行乘积运算后的各个元素值；</a:t>
            </a:r>
            <a:endParaRPr lang="en-US" altLang="zh-CN" dirty="0"/>
          </a:p>
          <a:p>
            <a:r>
              <a:rPr lang="zh-CN" altLang="en-US" dirty="0"/>
              <a:t>对应隶属度</a:t>
            </a:r>
            <a:r>
              <a:rPr lang="en-US" altLang="zh-CN" dirty="0"/>
              <a:t>——</a:t>
            </a:r>
            <a:r>
              <a:rPr lang="zh-CN" altLang="en-US" dirty="0"/>
              <a:t>指</a:t>
            </a:r>
            <a:r>
              <a:rPr lang="en-US" altLang="zh-CN" dirty="0"/>
              <a:t>F</a:t>
            </a:r>
            <a:r>
              <a:rPr lang="zh-CN" altLang="en-US" dirty="0"/>
              <a:t>数离散化后进行乘积去处后各个元素值对应的隶属度</a:t>
            </a:r>
            <a:endParaRPr lang="en-US" altLang="zh-CN" dirty="0"/>
          </a:p>
          <a:p>
            <a:r>
              <a:rPr lang="zh-CN" altLang="en-US" dirty="0"/>
              <a:t>隶属度标准值</a:t>
            </a:r>
            <a:r>
              <a:rPr lang="en-US" altLang="zh-CN" dirty="0"/>
              <a:t>——</a:t>
            </a:r>
            <a:r>
              <a:rPr lang="zh-CN" altLang="en-US" dirty="0"/>
              <a:t>指</a:t>
            </a:r>
            <a:r>
              <a:rPr lang="en-US" altLang="zh-CN" dirty="0"/>
              <a:t>F</a:t>
            </a:r>
            <a:r>
              <a:rPr lang="zh-CN" altLang="en-US"/>
              <a:t>数未离散化时乘积运算的精确结果。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D367CE-A08D-446A-8A98-8B862A6B8DFC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9177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若每施工一个月，需要支付工人工资</a:t>
            </a:r>
            <a:r>
              <a:rPr lang="en-US" altLang="zh-CN" dirty="0"/>
              <a:t>2——2.1</a:t>
            </a:r>
            <a:r>
              <a:rPr lang="zh-CN" altLang="en-US" dirty="0"/>
              <a:t>万元，则全部工程应支付工资</a:t>
            </a:r>
            <a:r>
              <a:rPr lang="en-US" altLang="zh-CN" dirty="0"/>
              <a:t>[20,23.1]</a:t>
            </a:r>
            <a:r>
              <a:rPr lang="zh-CN" altLang="en-US"/>
              <a:t>万元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D367CE-A08D-446A-8A98-8B862A6B8DFC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9137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D96B5D-7020-4415-8B86-453979A651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63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22301" y="6266507"/>
            <a:ext cx="517848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893ED7-0B89-433B-9D6E-F20877EEE0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143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86D0A7-2BA8-424F-9F1D-7940E92839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91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9754" y="6280362"/>
            <a:ext cx="517848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6C620E-099B-4AAE-A0B9-409ABAEB1F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8861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0C7ACA-4AD3-4154-B065-6C8434E553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9425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0199" y="6264275"/>
            <a:ext cx="517848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0FCDB-37C6-4161-8EAC-3599CD49F7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884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58352" y="6263772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E7B3B-8E05-4BC4-9AF9-3DBED8B940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858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C03909-2378-4512-B6BB-F0EC4CAFBC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9051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E1CC4-D07D-4E0D-85C8-2859F5708A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1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22AEF-DC78-4904-8D5A-E87D9A9248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5794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3BA213-5583-4EC5-B7A1-C799E87FC4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158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FE59F-0C64-4CE0-97BE-427D6382CD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2546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22301" y="6275166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209AC-A2D1-49EF-BE0C-2B9240FE76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714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1D963CF5-D712-4619-A972-2781F8B1A9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n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22.wmf"/><Relationship Id="rId3" Type="http://schemas.openxmlformats.org/officeDocument/2006/relationships/image" Target="../media/image25.png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0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20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12" Type="http://schemas.openxmlformats.org/officeDocument/2006/relationships/image" Target="../media/image30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4.bin"/><Relationship Id="rId11" Type="http://schemas.openxmlformats.org/officeDocument/2006/relationships/oleObject" Target="../embeddings/oleObject29.bin"/><Relationship Id="rId5" Type="http://schemas.openxmlformats.org/officeDocument/2006/relationships/image" Target="../media/image34.wmf"/><Relationship Id="rId10" Type="http://schemas.openxmlformats.org/officeDocument/2006/relationships/image" Target="../media/image20.wmf"/><Relationship Id="rId4" Type="http://schemas.openxmlformats.org/officeDocument/2006/relationships/oleObject" Target="../embeddings/oleObject33.bin"/><Relationship Id="rId9" Type="http://schemas.openxmlformats.org/officeDocument/2006/relationships/oleObject" Target="../embeddings/oleObject2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41.wmf"/><Relationship Id="rId3" Type="http://schemas.openxmlformats.org/officeDocument/2006/relationships/image" Target="../media/image20.w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39.bin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4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oleObject" Target="../embeddings/oleObject20.bin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12" Type="http://schemas.openxmlformats.org/officeDocument/2006/relationships/image" Target="../media/image47.png"/><Relationship Id="rId2" Type="http://schemas.openxmlformats.org/officeDocument/2006/relationships/oleObject" Target="../embeddings/oleObject41.bin"/><Relationship Id="rId16" Type="http://schemas.openxmlformats.org/officeDocument/2006/relationships/image" Target="../media/image38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6.wmf"/><Relationship Id="rId5" Type="http://schemas.openxmlformats.org/officeDocument/2006/relationships/image" Target="../media/image44.wmf"/><Relationship Id="rId15" Type="http://schemas.openxmlformats.org/officeDocument/2006/relationships/oleObject" Target="../embeddings/oleObject45.bin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41.wmf"/><Relationship Id="rId14" Type="http://schemas.openxmlformats.org/officeDocument/2006/relationships/image" Target="../media/image2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52.wmf"/><Relationship Id="rId3" Type="http://schemas.openxmlformats.org/officeDocument/2006/relationships/image" Target="../media/image20.wmf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50.bin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5" Type="http://schemas.openxmlformats.org/officeDocument/2006/relationships/image" Target="../media/image53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5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oleObject" Target="../embeddings/oleObject20.bin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12" Type="http://schemas.openxmlformats.org/officeDocument/2006/relationships/image" Target="../media/image59.png"/><Relationship Id="rId2" Type="http://schemas.openxmlformats.org/officeDocument/2006/relationships/oleObject" Target="../embeddings/oleObject52.bin"/><Relationship Id="rId16" Type="http://schemas.openxmlformats.org/officeDocument/2006/relationships/image" Target="../media/image49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5" Type="http://schemas.openxmlformats.org/officeDocument/2006/relationships/oleObject" Target="../embeddings/oleObject47.bin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3.bin"/><Relationship Id="rId9" Type="http://schemas.openxmlformats.org/officeDocument/2006/relationships/image" Target="../media/image57.wmf"/><Relationship Id="rId14" Type="http://schemas.openxmlformats.org/officeDocument/2006/relationships/image" Target="../media/image2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35.w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34.bin"/><Relationship Id="rId2" Type="http://schemas.openxmlformats.org/officeDocument/2006/relationships/image" Target="../media/image60.png"/><Relationship Id="rId16" Type="http://schemas.openxmlformats.org/officeDocument/2006/relationships/image" Target="../media/image28.wmf"/><Relationship Id="rId20" Type="http://schemas.openxmlformats.org/officeDocument/2006/relationships/image" Target="../media/image43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6.wmf"/><Relationship Id="rId22" Type="http://schemas.openxmlformats.org/officeDocument/2006/relationships/image" Target="../media/image5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65.wmf"/><Relationship Id="rId18" Type="http://schemas.openxmlformats.org/officeDocument/2006/relationships/oleObject" Target="../embeddings/oleObject34.bin"/><Relationship Id="rId3" Type="http://schemas.openxmlformats.org/officeDocument/2006/relationships/image" Target="../media/image67.png"/><Relationship Id="rId21" Type="http://schemas.openxmlformats.org/officeDocument/2006/relationships/image" Target="../media/image43.wmf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59.bin"/><Relationship Id="rId17" Type="http://schemas.openxmlformats.org/officeDocument/2006/relationships/image" Target="../media/image28.w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4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5" Type="http://schemas.openxmlformats.org/officeDocument/2006/relationships/image" Target="../media/image66.wmf"/><Relationship Id="rId23" Type="http://schemas.openxmlformats.org/officeDocument/2006/relationships/image" Target="../media/image54.wmf"/><Relationship Id="rId10" Type="http://schemas.openxmlformats.org/officeDocument/2006/relationships/oleObject" Target="../embeddings/oleObject58.bin"/><Relationship Id="rId19" Type="http://schemas.openxmlformats.org/officeDocument/2006/relationships/image" Target="../media/image35.wmf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60.bin"/><Relationship Id="rId22" Type="http://schemas.openxmlformats.org/officeDocument/2006/relationships/oleObject" Target="../embeddings/oleObject5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7" Type="http://schemas.openxmlformats.org/officeDocument/2006/relationships/image" Target="../media/image70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3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6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image" Target="../media/image12.wmf"/><Relationship Id="rId7" Type="http://schemas.openxmlformats.org/officeDocument/2006/relationships/image" Target="../media/image7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71.wmf"/><Relationship Id="rId4" Type="http://schemas.openxmlformats.org/officeDocument/2006/relationships/oleObject" Target="../embeddings/oleObject64.bin"/><Relationship Id="rId9" Type="http://schemas.openxmlformats.org/officeDocument/2006/relationships/image" Target="../media/image7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4.wmf"/><Relationship Id="rId7" Type="http://schemas.openxmlformats.org/officeDocument/2006/relationships/image" Target="../media/image76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6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68.bin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image" Target="../media/image12.wmf"/><Relationship Id="rId7" Type="http://schemas.openxmlformats.org/officeDocument/2006/relationships/image" Target="../media/image81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80.w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82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5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43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41.bin"/><Relationship Id="rId2" Type="http://schemas.openxmlformats.org/officeDocument/2006/relationships/image" Target="../media/image60.png"/><Relationship Id="rId16" Type="http://schemas.openxmlformats.org/officeDocument/2006/relationships/image" Target="../media/image35.wmf"/><Relationship Id="rId20" Type="http://schemas.openxmlformats.org/officeDocument/2006/relationships/image" Target="../media/image54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2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94.wmf"/><Relationship Id="rId3" Type="http://schemas.openxmlformats.org/officeDocument/2006/relationships/image" Target="../media/image90.wmf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85.bin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93.wmf"/><Relationship Id="rId5" Type="http://schemas.openxmlformats.org/officeDocument/2006/relationships/image" Target="../media/image91.wmf"/><Relationship Id="rId10" Type="http://schemas.openxmlformats.org/officeDocument/2006/relationships/oleObject" Target="../embeddings/oleObject84.bin"/><Relationship Id="rId4" Type="http://schemas.openxmlformats.org/officeDocument/2006/relationships/oleObject" Target="../embeddings/oleObject82.bin"/><Relationship Id="rId9" Type="http://schemas.openxmlformats.org/officeDocument/2006/relationships/image" Target="../media/image9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wmf"/><Relationship Id="rId11" Type="http://schemas.openxmlformats.org/officeDocument/2006/relationships/image" Target="../media/image99.png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89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oleObject" Target="../embeddings/oleObject93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88" y="1828800"/>
            <a:ext cx="8596312" cy="2209800"/>
          </a:xfrm>
        </p:spPr>
        <p:txBody>
          <a:bodyPr/>
          <a:lstStyle/>
          <a:p>
            <a:pPr algn="ctr" eaLnBrk="1" hangingPunct="1"/>
            <a:r>
              <a:rPr lang="zh-CN" altLang="en-US" sz="66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600" b="1">
                <a:solidFill>
                  <a:srgbClr val="E8E81C"/>
                </a:solidFill>
                <a:ea typeface="隶书" pitchFamily="49" charset="-122"/>
              </a:rPr>
              <a:t> </a:t>
            </a:r>
            <a:r>
              <a:rPr lang="en-US" altLang="zh-CN" sz="6600" b="1">
                <a:solidFill>
                  <a:srgbClr val="E8E81C"/>
                </a:solidFill>
                <a:ea typeface="隶书" pitchFamily="49" charset="-122"/>
              </a:rPr>
              <a:t>5 </a:t>
            </a:r>
            <a:r>
              <a:rPr lang="zh-CN" altLang="en-US" sz="66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6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66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扩张原理与模糊数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63752" y="4508501"/>
            <a:ext cx="4751611" cy="187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solidFill>
                  <a:srgbClr val="FF0000"/>
                </a:solidFill>
                <a:latin typeface="Comic Sans MS" pitchFamily="66" charset="0"/>
                <a:ea typeface="黑体" pitchFamily="49" charset="-122"/>
              </a:rPr>
              <a:t>5.4  F</a:t>
            </a:r>
            <a:r>
              <a:rPr lang="zh-CN" altLang="en-US" sz="3200" dirty="0">
                <a:solidFill>
                  <a:srgbClr val="FF0000"/>
                </a:solidFill>
                <a:latin typeface="Comic Sans MS" pitchFamily="66" charset="0"/>
                <a:ea typeface="黑体" pitchFamily="49" charset="-122"/>
              </a:rPr>
              <a:t>数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solidFill>
                  <a:srgbClr val="FF0000"/>
                </a:solidFill>
                <a:latin typeface="Comic Sans MS" pitchFamily="66" charset="0"/>
                <a:ea typeface="黑体" pitchFamily="49" charset="-122"/>
              </a:rPr>
              <a:t>5.5  </a:t>
            </a:r>
            <a:r>
              <a:rPr lang="zh-CN" altLang="en-US" sz="3200" dirty="0">
                <a:solidFill>
                  <a:srgbClr val="FF0000"/>
                </a:solidFill>
                <a:latin typeface="Comic Sans MS" pitchFamily="66" charset="0"/>
                <a:ea typeface="黑体" pitchFamily="49" charset="-122"/>
              </a:rPr>
              <a:t>区间数</a:t>
            </a:r>
            <a:endParaRPr lang="en-US" altLang="zh-CN" sz="3200" dirty="0">
              <a:solidFill>
                <a:srgbClr val="FF0000"/>
              </a:solidFill>
              <a:latin typeface="Comic Sans MS" pitchFamily="66" charset="0"/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solidFill>
                  <a:srgbClr val="FF0000"/>
                </a:solidFill>
                <a:latin typeface="Comic Sans MS" pitchFamily="66" charset="0"/>
                <a:ea typeface="黑体" pitchFamily="49" charset="-122"/>
              </a:rPr>
              <a:t>5.6  </a:t>
            </a:r>
            <a:r>
              <a:rPr lang="zh-CN" altLang="en-US" sz="3200" dirty="0">
                <a:solidFill>
                  <a:srgbClr val="FF0000"/>
                </a:solidFill>
                <a:latin typeface="Comic Sans MS" pitchFamily="66" charset="0"/>
                <a:ea typeface="黑体" pitchFamily="49" charset="-122"/>
              </a:rPr>
              <a:t>三角</a:t>
            </a:r>
            <a:r>
              <a:rPr lang="en-US" altLang="zh-CN" sz="3200" dirty="0">
                <a:solidFill>
                  <a:srgbClr val="FF0000"/>
                </a:solidFill>
                <a:latin typeface="Comic Sans MS" pitchFamily="66" charset="0"/>
                <a:ea typeface="黑体" pitchFamily="49" charset="-122"/>
              </a:rPr>
              <a:t>F</a:t>
            </a:r>
            <a:r>
              <a:rPr lang="zh-CN" altLang="en-US" sz="3200" dirty="0">
                <a:solidFill>
                  <a:srgbClr val="FF0000"/>
                </a:solidFill>
                <a:latin typeface="Comic Sans MS" pitchFamily="66" charset="0"/>
                <a:ea typeface="黑体" pitchFamily="49" charset="-122"/>
              </a:rPr>
              <a:t>数</a:t>
            </a:r>
            <a:endParaRPr lang="en-US" altLang="zh-CN" sz="3200" dirty="0">
              <a:solidFill>
                <a:srgbClr val="FF0000"/>
              </a:solidFill>
              <a:latin typeface="Comic Sans MS" pitchFamily="66" charset="0"/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B58EBF-43D9-7B00-6D4B-F0C3D20C0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D96B5D-7020-4415-8B86-453979A6510A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6080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</a:rPr>
              <a:t>5.4   F 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数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412876"/>
            <a:ext cx="9937103" cy="54451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黑体" pitchFamily="49" charset="-122"/>
              </a:rPr>
              <a:t>[</a:t>
            </a:r>
            <a:r>
              <a:rPr lang="zh-CN" altLang="en-US" sz="2800" dirty="0">
                <a:ea typeface="黑体" pitchFamily="49" charset="-122"/>
              </a:rPr>
              <a:t>定义</a:t>
            </a:r>
            <a:r>
              <a:rPr lang="en-US" altLang="zh-CN" sz="2800" dirty="0">
                <a:ea typeface="黑体" pitchFamily="49" charset="-122"/>
              </a:rPr>
              <a:t>] </a:t>
            </a:r>
            <a:r>
              <a:rPr lang="zh-CN" altLang="en-US" sz="2800" dirty="0">
                <a:ea typeface="黑体" pitchFamily="49" charset="-122"/>
              </a:rPr>
              <a:t>设</a:t>
            </a:r>
            <a:r>
              <a:rPr lang="en-US" altLang="zh-CN" sz="2800" i="1" dirty="0">
                <a:ea typeface="黑体" pitchFamily="49" charset="-122"/>
              </a:rPr>
              <a:t>A</a:t>
            </a:r>
            <a:r>
              <a:rPr lang="zh-CN" altLang="en-US" sz="2800" dirty="0">
                <a:ea typeface="黑体" pitchFamily="49" charset="-122"/>
              </a:rPr>
              <a:t>为实数域</a:t>
            </a:r>
            <a:r>
              <a:rPr lang="en-US" altLang="zh-CN" sz="2800" dirty="0">
                <a:ea typeface="黑体" pitchFamily="49" charset="-122"/>
              </a:rPr>
              <a:t>R</a:t>
            </a:r>
            <a:r>
              <a:rPr lang="zh-CN" altLang="en-US" sz="2800" dirty="0">
                <a:ea typeface="黑体" pitchFamily="49" charset="-122"/>
              </a:rPr>
              <a:t>上的</a:t>
            </a:r>
            <a:r>
              <a:rPr lang="zh-CN" altLang="en-US" sz="2800" dirty="0">
                <a:solidFill>
                  <a:srgbClr val="E123BD"/>
                </a:solidFill>
                <a:ea typeface="黑体" pitchFamily="49" charset="-122"/>
              </a:rPr>
              <a:t>正规</a:t>
            </a:r>
            <a:r>
              <a:rPr lang="en-US" altLang="zh-CN" sz="2800" dirty="0">
                <a:solidFill>
                  <a:srgbClr val="E123BD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rgbClr val="E123BD"/>
                </a:solidFill>
                <a:ea typeface="黑体" pitchFamily="49" charset="-122"/>
              </a:rPr>
              <a:t>集</a:t>
            </a:r>
            <a:r>
              <a:rPr lang="en-US" altLang="zh-CN" sz="2800" dirty="0">
                <a:ea typeface="黑体" pitchFamily="49" charset="-122"/>
              </a:rPr>
              <a:t>,  </a:t>
            </a:r>
            <a:r>
              <a:rPr lang="zh-CN" altLang="en-US" sz="2800" dirty="0">
                <a:ea typeface="黑体" pitchFamily="49" charset="-122"/>
              </a:rPr>
              <a:t>且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</a:t>
            </a:r>
            <a:r>
              <a:rPr kumimoji="1" lang="el-GR" altLang="zh-CN" sz="2800" i="1" dirty="0">
                <a:solidFill>
                  <a:schemeClr val="bg2"/>
                </a:solidFill>
                <a:ea typeface="黑体" pitchFamily="49" charset="-122"/>
                <a:cs typeface="Arial" charset="0"/>
                <a:sym typeface="Symbol" pitchFamily="18" charset="2"/>
              </a:rPr>
              <a:t>λ</a:t>
            </a:r>
            <a:r>
              <a:rPr lang="en-US" altLang="zh-CN" sz="2800" dirty="0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ea typeface="黑体" pitchFamily="49" charset="-122"/>
              </a:rPr>
              <a:t>(0,1],  </a:t>
            </a:r>
            <a:r>
              <a:rPr lang="en-US" altLang="zh-CN" sz="2800" i="1" dirty="0">
                <a:solidFill>
                  <a:srgbClr val="E123BD"/>
                </a:solidFill>
                <a:ea typeface="黑体" pitchFamily="49" charset="-122"/>
              </a:rPr>
              <a:t>A</a:t>
            </a:r>
            <a:r>
              <a:rPr kumimoji="1" lang="el-GR" altLang="zh-CN" sz="2800" i="1" baseline="-25000" dirty="0">
                <a:solidFill>
                  <a:srgbClr val="E123BD"/>
                </a:solidFill>
                <a:ea typeface="黑体" pitchFamily="49" charset="-122"/>
                <a:sym typeface="Symbol" pitchFamily="18" charset="2"/>
              </a:rPr>
              <a:t>λ</a:t>
            </a:r>
            <a:r>
              <a:rPr kumimoji="1" lang="zh-CN" altLang="en-US" sz="2800" dirty="0">
                <a:solidFill>
                  <a:srgbClr val="E123BD"/>
                </a:solidFill>
                <a:ea typeface="黑体" pitchFamily="49" charset="-122"/>
                <a:sym typeface="Symbol" pitchFamily="18" charset="2"/>
              </a:rPr>
              <a:t>均为一闭区间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, 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即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                   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sym typeface="Symbol" pitchFamily="18" charset="2"/>
              </a:rPr>
              <a:t> </a:t>
            </a:r>
            <a:r>
              <a:rPr kumimoji="1" lang="en-US" altLang="zh-CN" sz="2800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sym typeface="Symbol" pitchFamily="18" charset="2"/>
              </a:rPr>
              <a:t>A</a:t>
            </a:r>
            <a:r>
              <a:rPr kumimoji="1" lang="el-GR" altLang="zh-CN" sz="2800" b="1" i="1" baseline="-25000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sym typeface="Symbol" pitchFamily="18" charset="2"/>
              </a:rPr>
              <a:t>λ</a:t>
            </a:r>
            <a:r>
              <a:rPr kumimoji="1" lang="en-US" altLang="zh-CN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sym typeface="Symbol" pitchFamily="18" charset="2"/>
              </a:rPr>
              <a:t>=[ </a:t>
            </a:r>
            <a:r>
              <a:rPr kumimoji="1" lang="en-US" altLang="zh-CN" sz="2800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sym typeface="Symbol" pitchFamily="18" charset="2"/>
              </a:rPr>
              <a:t>a</a:t>
            </a:r>
            <a:r>
              <a:rPr kumimoji="1" lang="el-GR" altLang="zh-CN" sz="2800" b="1" i="1" baseline="-25000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sym typeface="Symbol" pitchFamily="18" charset="2"/>
              </a:rPr>
              <a:t>λ</a:t>
            </a:r>
            <a:r>
              <a:rPr kumimoji="1" lang="en-US" altLang="zh-CN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sym typeface="Symbol" pitchFamily="18" charset="2"/>
              </a:rPr>
              <a:t>, </a:t>
            </a:r>
            <a:r>
              <a:rPr kumimoji="1" lang="en-US" altLang="zh-CN" sz="2800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sym typeface="Symbol" pitchFamily="18" charset="2"/>
              </a:rPr>
              <a:t>b</a:t>
            </a:r>
            <a:r>
              <a:rPr kumimoji="1" lang="el-GR" altLang="zh-CN" sz="2800" b="1" i="1" baseline="-25000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sym typeface="Symbol" pitchFamily="18" charset="2"/>
              </a:rPr>
              <a:t>λ</a:t>
            </a:r>
            <a:r>
              <a:rPr kumimoji="1" lang="en-US" altLang="zh-CN" sz="2800" b="1" i="1" baseline="-25000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sym typeface="Symbol" pitchFamily="18" charset="2"/>
              </a:rPr>
              <a:t> </a:t>
            </a:r>
            <a:r>
              <a:rPr kumimoji="1" lang="en-US" altLang="zh-CN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sym typeface="Symbol" pitchFamily="18" charset="2"/>
              </a:rPr>
              <a:t>]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   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则称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为一个</a:t>
            </a:r>
            <a:r>
              <a:rPr kumimoji="1" lang="en-US" altLang="zh-CN" sz="28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28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实数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, 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简称</a:t>
            </a:r>
            <a:r>
              <a:rPr kumimoji="1" lang="en-US" altLang="zh-CN" sz="28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28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数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, F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数的全体记为</a:t>
            </a:r>
            <a:r>
              <a:rPr kumimoji="1" lang="en-US" altLang="zh-CN" sz="28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^R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.</a:t>
            </a:r>
          </a:p>
          <a:p>
            <a:pPr eaLnBrk="1" hangingPunct="1"/>
            <a:r>
              <a:rPr kumimoji="1" lang="zh-CN" altLang="en-US" sz="2800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若</a:t>
            </a:r>
            <a:r>
              <a:rPr kumimoji="1" lang="en-US" altLang="zh-CN" sz="2800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2800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为</a:t>
            </a:r>
            <a:r>
              <a:rPr kumimoji="1" lang="en-US" altLang="zh-CN" sz="2800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2800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数</a:t>
            </a:r>
            <a:r>
              <a:rPr kumimoji="1" lang="en-US" altLang="zh-CN" sz="2800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—— </a:t>
            </a:r>
          </a:p>
          <a:p>
            <a:pPr lvl="1" eaLnBrk="1" hangingPunct="1"/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且</a:t>
            </a:r>
            <a:r>
              <a:rPr kumimoji="1" lang="en-US" altLang="zh-CN" sz="2400" dirty="0">
                <a:solidFill>
                  <a:srgbClr val="E123BD"/>
                </a:solidFill>
                <a:ea typeface="黑体" pitchFamily="49" charset="-122"/>
                <a:sym typeface="Symbol" pitchFamily="18" charset="2"/>
              </a:rPr>
              <a:t>A</a:t>
            </a:r>
            <a:r>
              <a:rPr kumimoji="1" lang="en-US" altLang="zh-CN" sz="2400" baseline="-25000" dirty="0">
                <a:solidFill>
                  <a:srgbClr val="E123BD"/>
                </a:solidFill>
                <a:ea typeface="黑体" pitchFamily="49" charset="-122"/>
                <a:sym typeface="Symbol" pitchFamily="18" charset="2"/>
              </a:rPr>
              <a:t>1</a:t>
            </a:r>
            <a:r>
              <a:rPr kumimoji="1" lang="en-US" altLang="zh-CN" sz="2400" dirty="0">
                <a:solidFill>
                  <a:srgbClr val="E123BD"/>
                </a:solidFill>
                <a:ea typeface="黑体" pitchFamily="49" charset="-122"/>
                <a:sym typeface="Symbol" pitchFamily="18" charset="2"/>
              </a:rPr>
              <a:t>=</a:t>
            </a:r>
            <a:r>
              <a:rPr kumimoji="1" lang="en-US" altLang="zh-CN" sz="2400" dirty="0" err="1">
                <a:solidFill>
                  <a:srgbClr val="E123BD"/>
                </a:solidFill>
                <a:ea typeface="黑体" pitchFamily="49" charset="-122"/>
                <a:sym typeface="Symbol" pitchFamily="18" charset="2"/>
              </a:rPr>
              <a:t>ker</a:t>
            </a:r>
            <a:r>
              <a:rPr kumimoji="1" lang="en-US" altLang="zh-CN" sz="2400" dirty="0">
                <a:solidFill>
                  <a:srgbClr val="E123BD"/>
                </a:solidFill>
                <a:ea typeface="黑体" pitchFamily="49" charset="-122"/>
                <a:sym typeface="Symbol" pitchFamily="18" charset="2"/>
              </a:rPr>
              <a:t>(A)={a}, 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则称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为</a:t>
            </a:r>
            <a:r>
              <a:rPr kumimoji="1" lang="zh-CN" altLang="en-US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严格</a:t>
            </a:r>
            <a:r>
              <a:rPr kumimoji="1" lang="en-US" altLang="zh-CN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数</a:t>
            </a:r>
          </a:p>
          <a:p>
            <a:pPr lvl="1" eaLnBrk="1" hangingPunct="1"/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且</a:t>
            </a:r>
            <a:r>
              <a:rPr kumimoji="1" lang="en-US" altLang="zh-CN" sz="2400" dirty="0" err="1">
                <a:ea typeface="黑体" pitchFamily="49" charset="-122"/>
                <a:sym typeface="Symbol" pitchFamily="18" charset="2"/>
              </a:rPr>
              <a:t>Supp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(A)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有界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, 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则称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为</a:t>
            </a:r>
            <a:r>
              <a:rPr kumimoji="1" lang="zh-CN" altLang="en-US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有限</a:t>
            </a:r>
            <a:r>
              <a:rPr kumimoji="1" lang="en-US" altLang="zh-CN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数</a:t>
            </a:r>
          </a:p>
          <a:p>
            <a:pPr lvl="1" eaLnBrk="1" hangingPunct="1"/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且</a:t>
            </a:r>
            <a:r>
              <a:rPr kumimoji="1" lang="el-GR" altLang="zh-CN" sz="2400" dirty="0">
                <a:ea typeface="黑体" pitchFamily="49" charset="-122"/>
                <a:sym typeface="Symbol" pitchFamily="18" charset="2"/>
              </a:rPr>
              <a:t>λ</a:t>
            </a:r>
            <a:r>
              <a:rPr lang="en-US" altLang="zh-CN" sz="2400" dirty="0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ea typeface="黑体" pitchFamily="49" charset="-122"/>
              </a:rPr>
              <a:t>(0,1], A</a:t>
            </a:r>
            <a:r>
              <a:rPr kumimoji="1" lang="el-GR" altLang="zh-CN" sz="2400" baseline="-25000" dirty="0">
                <a:ea typeface="黑体" pitchFamily="49" charset="-122"/>
                <a:sym typeface="Symbol" pitchFamily="18" charset="2"/>
              </a:rPr>
              <a:t>λ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有界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, 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则称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为</a:t>
            </a:r>
            <a:r>
              <a:rPr kumimoji="1" lang="zh-CN" altLang="en-US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有界</a:t>
            </a:r>
            <a:r>
              <a:rPr kumimoji="1" lang="en-US" altLang="zh-CN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数</a:t>
            </a:r>
          </a:p>
          <a:p>
            <a:pPr lvl="2" eaLnBrk="1" hangingPunct="1"/>
            <a:r>
              <a:rPr kumimoji="1" lang="zh-CN" altLang="en-US" sz="20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如</a:t>
            </a:r>
            <a:r>
              <a:rPr kumimoji="1" lang="en-US" altLang="zh-CN" sz="20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,</a:t>
            </a:r>
            <a:r>
              <a:rPr kumimoji="1" lang="zh-CN" altLang="en-US" sz="20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设</a:t>
            </a:r>
            <a:r>
              <a:rPr kumimoji="1" lang="en-US" altLang="zh-CN" sz="20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A(n)=1/n (n</a:t>
            </a:r>
            <a:r>
              <a:rPr kumimoji="1" lang="zh-CN" altLang="en-US" sz="20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为自然数</a:t>
            </a:r>
            <a:r>
              <a:rPr kumimoji="1" lang="en-US" altLang="zh-CN" sz="20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), </a:t>
            </a:r>
            <a:r>
              <a:rPr kumimoji="1" lang="zh-CN" altLang="en-US" sz="20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那么</a:t>
            </a:r>
            <a:r>
              <a:rPr kumimoji="1" lang="el-GR" altLang="zh-CN" sz="20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λ</a:t>
            </a:r>
            <a:r>
              <a:rPr lang="en-US" altLang="zh-CN" sz="2000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000" dirty="0">
                <a:solidFill>
                  <a:schemeClr val="bg2"/>
                </a:solidFill>
                <a:ea typeface="黑体" pitchFamily="49" charset="-122"/>
              </a:rPr>
              <a:t>(0,1], A</a:t>
            </a:r>
            <a:r>
              <a:rPr kumimoji="1" lang="el-GR" altLang="zh-CN" sz="2000" baseline="-250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λ</a:t>
            </a:r>
            <a:r>
              <a:rPr kumimoji="1" lang="zh-CN" altLang="en-US" sz="20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为无界</a:t>
            </a:r>
          </a:p>
          <a:p>
            <a:pPr lvl="1" eaLnBrk="1" hangingPunct="1"/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且</a:t>
            </a:r>
            <a:r>
              <a:rPr kumimoji="1" lang="en-US" altLang="zh-CN" sz="2400" dirty="0" err="1">
                <a:ea typeface="黑体" pitchFamily="49" charset="-122"/>
                <a:sym typeface="Symbol" pitchFamily="18" charset="2"/>
              </a:rPr>
              <a:t>Supp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(A)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所含都是正实数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, 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则称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为</a:t>
            </a:r>
            <a:r>
              <a:rPr kumimoji="1" lang="zh-CN" altLang="en-US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正</a:t>
            </a:r>
            <a:r>
              <a:rPr kumimoji="1" lang="en-US" altLang="zh-CN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数</a:t>
            </a:r>
          </a:p>
          <a:p>
            <a:pPr lvl="1" eaLnBrk="1" hangingPunct="1"/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且</a:t>
            </a:r>
            <a:r>
              <a:rPr kumimoji="1" lang="en-US" altLang="zh-CN" sz="2400" dirty="0" err="1">
                <a:ea typeface="黑体" pitchFamily="49" charset="-122"/>
                <a:sym typeface="Symbol" pitchFamily="18" charset="2"/>
              </a:rPr>
              <a:t>Supp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(A)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所含都是负实数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, 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则称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为</a:t>
            </a:r>
            <a:r>
              <a:rPr kumimoji="1" lang="zh-CN" altLang="en-US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负</a:t>
            </a:r>
            <a:r>
              <a:rPr kumimoji="1" lang="en-US" altLang="zh-CN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24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数</a:t>
            </a:r>
            <a:endParaRPr kumimoji="1" lang="el-GR" altLang="zh-CN" sz="2400" dirty="0">
              <a:solidFill>
                <a:srgbClr val="E90101"/>
              </a:solidFill>
              <a:ea typeface="黑体" pitchFamily="49" charset="-122"/>
              <a:sym typeface="Symbol" pitchFamily="18" charset="2"/>
            </a:endParaRPr>
          </a:p>
        </p:txBody>
      </p:sp>
      <p:sp>
        <p:nvSpPr>
          <p:cNvPr id="9220" name="AutoShape 4"/>
          <p:cNvSpPr>
            <a:spLocks noChangeArrowheads="1"/>
          </p:cNvSpPr>
          <p:nvPr/>
        </p:nvSpPr>
        <p:spPr bwMode="auto">
          <a:xfrm>
            <a:off x="8040689" y="3860801"/>
            <a:ext cx="1728787" cy="360363"/>
          </a:xfrm>
          <a:prstGeom prst="wedgeRoundRectCallout">
            <a:avLst>
              <a:gd name="adj1" fmla="val -29616"/>
              <a:gd name="adj2" fmla="val 4185"/>
              <a:gd name="adj3" fmla="val 16667"/>
            </a:avLst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b="1">
                <a:latin typeface="Arial" charset="0"/>
                <a:ea typeface="楷体_GB2312" pitchFamily="49" charset="-122"/>
              </a:rPr>
              <a:t>A</a:t>
            </a:r>
            <a:r>
              <a:rPr lang="en-US" altLang="zh-CN" sz="2000" b="1" baseline="-25000">
                <a:latin typeface="Arial" charset="0"/>
                <a:ea typeface="楷体_GB2312" pitchFamily="49" charset="-122"/>
              </a:rPr>
              <a:t>1</a:t>
            </a:r>
            <a:r>
              <a:rPr lang="zh-CN" altLang="en-US" sz="2000" b="1">
                <a:latin typeface="Arial" charset="0"/>
                <a:ea typeface="楷体_GB2312" pitchFamily="49" charset="-122"/>
              </a:rPr>
              <a:t>为单点集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25C0B9-6D45-8883-9978-4077A67BDC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534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404814"/>
            <a:ext cx="5843588" cy="739775"/>
          </a:xfrm>
        </p:spPr>
        <p:txBody>
          <a:bodyPr/>
          <a:lstStyle/>
          <a:p>
            <a:pPr eaLnBrk="1" hangingPunct="1"/>
            <a:r>
              <a:rPr lang="zh-CN" altLang="en-US" sz="4000">
                <a:solidFill>
                  <a:srgbClr val="008000"/>
                </a:solidFill>
                <a:ea typeface="黑体" pitchFamily="49" charset="-122"/>
              </a:rPr>
              <a:t>证明</a:t>
            </a:r>
            <a:r>
              <a:rPr lang="en-US" altLang="zh-CN" sz="4000">
                <a:solidFill>
                  <a:srgbClr val="008000"/>
                </a:solidFill>
                <a:ea typeface="黑体" pitchFamily="49" charset="-122"/>
              </a:rPr>
              <a:t>A</a:t>
            </a:r>
            <a:r>
              <a:rPr lang="zh-CN" altLang="en-US" sz="4000">
                <a:solidFill>
                  <a:srgbClr val="008000"/>
                </a:solidFill>
                <a:ea typeface="黑体" pitchFamily="49" charset="-122"/>
              </a:rPr>
              <a:t>是严格</a:t>
            </a:r>
            <a:r>
              <a:rPr lang="en-US" altLang="zh-CN" sz="400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sz="4000">
                <a:solidFill>
                  <a:srgbClr val="008000"/>
                </a:solidFill>
                <a:ea typeface="黑体" pitchFamily="49" charset="-122"/>
              </a:rPr>
              <a:t>数</a:t>
            </a:r>
            <a:r>
              <a:rPr lang="en-US" altLang="zh-CN" sz="2800">
                <a:ea typeface="黑体" pitchFamily="49" charset="-122"/>
              </a:rPr>
              <a:t>[P129</a:t>
            </a:r>
            <a:r>
              <a:rPr lang="zh-CN" altLang="en-US" sz="2800">
                <a:ea typeface="黑体" pitchFamily="49" charset="-122"/>
              </a:rPr>
              <a:t>例</a:t>
            </a:r>
            <a:r>
              <a:rPr lang="en-US" altLang="zh-CN" sz="2800">
                <a:ea typeface="黑体" pitchFamily="49" charset="-122"/>
              </a:rPr>
              <a:t>1]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224359"/>
            <a:ext cx="9216703" cy="56610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已知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A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为三角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集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(a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和</a:t>
            </a:r>
            <a:r>
              <a:rPr lang="el-GR" altLang="zh-CN" sz="28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σ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为参数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600" dirty="0">
              <a:ea typeface="黑体" pitchFamily="49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  <a:cs typeface="Arial" charset="0"/>
              </a:rPr>
              <a:t>若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  <a:cs typeface="Arial" charset="0"/>
              </a:rPr>
              <a:t>A</a:t>
            </a: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  <a:cs typeface="Arial" charset="0"/>
              </a:rPr>
              <a:t>为严格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  <a:cs typeface="Arial" charset="0"/>
              </a:rPr>
              <a:t>F</a:t>
            </a: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  <a:cs typeface="Arial" charset="0"/>
              </a:rPr>
              <a:t>数应满足的条件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  <a:cs typeface="Arial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    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  <a:cs typeface="Arial" charset="0"/>
              </a:rPr>
              <a:t>(1)A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  <a:cs typeface="Arial" charset="0"/>
              </a:rPr>
              <a:t>是正规的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  <a:cs typeface="Arial" charset="0"/>
              </a:rPr>
              <a:t>; (2) 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A</a:t>
            </a:r>
            <a:r>
              <a:rPr kumimoji="1" lang="el-GR" altLang="zh-CN" sz="2400" b="1" baseline="-25000" dirty="0">
                <a:solidFill>
                  <a:srgbClr val="3333FF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λ</a:t>
            </a:r>
            <a:r>
              <a:rPr kumimoji="1" lang="zh-CN" altLang="en-US" sz="2400" b="1" dirty="0">
                <a:solidFill>
                  <a:srgbClr val="3333FF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是闭区间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; (3)</a:t>
            </a:r>
            <a:r>
              <a:rPr kumimoji="1" lang="zh-CN" altLang="en-US" sz="2400" b="1" dirty="0">
                <a:solidFill>
                  <a:srgbClr val="3333FF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只有一点隶属度值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=1</a:t>
            </a:r>
          </a:p>
          <a:p>
            <a:pPr eaLnBrk="1" hangingPunct="1">
              <a:buFont typeface="Wingdings" pitchFamily="2" charset="2"/>
              <a:buNone/>
            </a:pPr>
            <a:endParaRPr kumimoji="1" lang="en-US" altLang="zh-CN" sz="900" dirty="0">
              <a:solidFill>
                <a:schemeClr val="bg2"/>
              </a:solidFill>
              <a:ea typeface="黑体" pitchFamily="49" charset="-122"/>
              <a:cs typeface="Arial" charset="0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008000"/>
                </a:solidFill>
                <a:ea typeface="黑体" pitchFamily="49" charset="-122"/>
                <a:cs typeface="Arial" charset="0"/>
                <a:sym typeface="Symbol" pitchFamily="18" charset="2"/>
              </a:rPr>
              <a:t>证</a:t>
            </a:r>
            <a:r>
              <a:rPr kumimoji="1"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: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 (1)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令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A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)=1,                                    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en-US" altLang="zh-CN" sz="1200" b="1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  <a:sym typeface="Wingdings" pitchFamily="2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    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(2)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令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A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) </a:t>
            </a:r>
            <a:r>
              <a:rPr kumimoji="1" lang="el-G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≥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kumimoji="1" lang="el-GR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4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ea typeface="黑体" pitchFamily="49" charset="-122"/>
              </a:rPr>
              <a:t>                </a:t>
            </a:r>
            <a:r>
              <a:rPr lang="zh-CN" altLang="en-US" sz="2400" dirty="0">
                <a:ea typeface="黑体" pitchFamily="49" charset="-122"/>
              </a:rPr>
              <a:t>而由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4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ea typeface="黑体" pitchFamily="49" charset="-122"/>
              </a:rPr>
              <a:t>                </a:t>
            </a:r>
            <a:r>
              <a:rPr kumimoji="1" lang="zh-CN" altLang="en-US" sz="2800" dirty="0">
                <a:solidFill>
                  <a:srgbClr val="E90101"/>
                </a:solidFill>
                <a:ea typeface="黑体" pitchFamily="49" charset="-122"/>
                <a:sym typeface="Symbol" pitchFamily="18" charset="2"/>
              </a:rPr>
              <a:t>             </a:t>
            </a:r>
            <a:r>
              <a:rPr kumimoji="1" lang="en-US" altLang="zh-CN" sz="2800" b="1" i="1" dirty="0">
                <a:solidFill>
                  <a:srgbClr val="E90101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l-GR" altLang="zh-CN" sz="2800" b="1" i="1" baseline="-25000" dirty="0">
                <a:solidFill>
                  <a:srgbClr val="E90101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sz="2800" b="1" dirty="0">
                <a:solidFill>
                  <a:srgbClr val="E90101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=[</a:t>
            </a:r>
            <a:r>
              <a:rPr kumimoji="1" lang="en-US" altLang="zh-CN" sz="2800" b="1" i="1" dirty="0">
                <a:solidFill>
                  <a:srgbClr val="E123B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</a:t>
            </a:r>
            <a:r>
              <a:rPr kumimoji="1" lang="en-US" altLang="zh-CN" sz="2800" b="1" dirty="0">
                <a:solidFill>
                  <a:srgbClr val="E123B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-(1-</a:t>
            </a:r>
            <a:r>
              <a:rPr kumimoji="1" lang="el-GR" altLang="zh-CN" sz="2800" b="1" i="1" dirty="0">
                <a:solidFill>
                  <a:srgbClr val="E123BD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sz="2800" b="1" dirty="0">
                <a:solidFill>
                  <a:srgbClr val="E123BD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l-GR" altLang="zh-CN" sz="2800" b="1" i="1" dirty="0">
                <a:solidFill>
                  <a:srgbClr val="E123BD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800" b="1" dirty="0">
                <a:solidFill>
                  <a:srgbClr val="E90101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+(1-</a:t>
            </a:r>
            <a:r>
              <a:rPr kumimoji="1" lang="el-GR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l-GR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σ</a:t>
            </a:r>
            <a:r>
              <a:rPr kumimoji="1" lang="en-US" altLang="zh-CN" sz="2800" b="1" dirty="0">
                <a:solidFill>
                  <a:srgbClr val="E90101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]    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（闭区间）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zh-CN" altLang="en-US" sz="2000" b="1" dirty="0">
              <a:solidFill>
                <a:srgbClr val="3333FF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    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(3) Ker(A)={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}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kumimoji="1"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单点集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  <a:endParaRPr kumimoji="1" lang="zh-CN" altLang="el-GR" sz="2400" b="1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aphicFrame>
        <p:nvGraphicFramePr>
          <p:cNvPr id="2355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394772889"/>
              </p:ext>
            </p:extLst>
          </p:nvPr>
        </p:nvGraphicFramePr>
        <p:xfrm>
          <a:off x="6689429" y="637084"/>
          <a:ext cx="3924300" cy="18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51100" imgH="1143000" progId="Equation.3">
                  <p:embed/>
                </p:oleObj>
              </mc:Choice>
              <mc:Fallback>
                <p:oleObj name="公式" r:id="rId2" imgW="2451100" imgH="1143000" progId="Equation.3">
                  <p:embed/>
                  <p:pic>
                    <p:nvPicPr>
                      <p:cNvPr id="23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429" y="637084"/>
                        <a:ext cx="3924300" cy="183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558282676"/>
              </p:ext>
            </p:extLst>
          </p:nvPr>
        </p:nvGraphicFramePr>
        <p:xfrm>
          <a:off x="3719612" y="3789040"/>
          <a:ext cx="21590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07532" imgH="393529" progId="Equation.3">
                  <p:embed/>
                </p:oleObj>
              </mc:Choice>
              <mc:Fallback>
                <p:oleObj name="公式" r:id="rId4" imgW="1307532" imgH="393529" progId="Equation.3">
                  <p:embed/>
                  <p:pic>
                    <p:nvPicPr>
                      <p:cNvPr id="81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612" y="3789040"/>
                        <a:ext cx="21590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188689"/>
              </p:ext>
            </p:extLst>
          </p:nvPr>
        </p:nvGraphicFramePr>
        <p:xfrm>
          <a:off x="3713285" y="3091753"/>
          <a:ext cx="208756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69449" imgH="393529" progId="Equation.3">
                  <p:embed/>
                </p:oleObj>
              </mc:Choice>
              <mc:Fallback>
                <p:oleObj name="公式" r:id="rId6" imgW="1269449" imgH="393529" progId="Equation.3">
                  <p:embed/>
                  <p:pic>
                    <p:nvPicPr>
                      <p:cNvPr id="82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285" y="3091753"/>
                        <a:ext cx="208756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054111"/>
              </p:ext>
            </p:extLst>
          </p:nvPr>
        </p:nvGraphicFramePr>
        <p:xfrm>
          <a:off x="3935760" y="4437112"/>
          <a:ext cx="193357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04900" imgH="393700" progId="Equation.3">
                  <p:embed/>
                </p:oleObj>
              </mc:Choice>
              <mc:Fallback>
                <p:oleObj name="公式" r:id="rId8" imgW="1104900" imgH="393700" progId="Equation.3">
                  <p:embed/>
                  <p:pic>
                    <p:nvPicPr>
                      <p:cNvPr id="82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760" y="4437112"/>
                        <a:ext cx="193357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6192042" y="3198167"/>
            <a:ext cx="3432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得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=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a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,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故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Ker(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A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)={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a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}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≠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Ø </a:t>
            </a:r>
            <a:endParaRPr kumimoji="1" lang="en-US" altLang="zh-CN" sz="2400" b="1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  <a:sym typeface="Wingdings" pitchFamily="2" charset="2"/>
            </a:endParaRP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6096100" y="3862015"/>
            <a:ext cx="21451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得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l-GR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≥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kumimoji="1" lang="en-US" altLang="zh-CN" sz="2400" b="1" i="1" dirty="0">
                <a:solidFill>
                  <a:srgbClr val="E123BD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a</a:t>
            </a:r>
            <a:r>
              <a:rPr kumimoji="1" lang="en-US" altLang="zh-CN" sz="2400" b="1" dirty="0">
                <a:solidFill>
                  <a:srgbClr val="E123BD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-(1-</a:t>
            </a:r>
            <a:r>
              <a:rPr kumimoji="1" lang="el-GR" altLang="zh-CN" sz="2400" b="1" i="1" dirty="0">
                <a:solidFill>
                  <a:srgbClr val="E123BD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sz="2400" b="1" dirty="0">
                <a:solidFill>
                  <a:srgbClr val="E123BD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l-GR" altLang="zh-CN" sz="2400" b="1" i="1" dirty="0">
                <a:solidFill>
                  <a:srgbClr val="E123BD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6168008" y="4549850"/>
            <a:ext cx="21403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得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l-GR" altLang="el-GR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≤</a:t>
            </a:r>
            <a:r>
              <a:rPr kumimoji="1" lang="en-US" altLang="el-GR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b="1" i="1" dirty="0">
                <a:solidFill>
                  <a:srgbClr val="7030A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a</a:t>
            </a:r>
            <a:r>
              <a:rPr kumimoji="1"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Wingdings" pitchFamily="2" charset="2"/>
              </a:rPr>
              <a:t>+(1-</a:t>
            </a:r>
            <a:r>
              <a:rPr kumimoji="1" lang="el-GR" altLang="zh-CN" sz="2400" b="1" i="1" dirty="0">
                <a:solidFill>
                  <a:srgbClr val="7030A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l-GR" altLang="zh-CN" sz="2400" b="1" i="1" dirty="0">
                <a:solidFill>
                  <a:srgbClr val="7030A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3" name="矩形 2"/>
          <p:cNvSpPr/>
          <p:nvPr/>
        </p:nvSpPr>
        <p:spPr>
          <a:xfrm>
            <a:off x="5272707" y="6213639"/>
            <a:ext cx="3470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  <a:cs typeface="Arial" charset="0"/>
              </a:rPr>
              <a:t>所以，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  <a:cs typeface="Arial" charset="0"/>
              </a:rPr>
              <a:t>A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  <a:cs typeface="Arial" charset="0"/>
              </a:rPr>
              <a:t>为严格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  <a:cs typeface="Arial" charset="0"/>
              </a:rPr>
              <a:t>F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  <a:cs typeface="Arial" charset="0"/>
              </a:rPr>
              <a:t>数。</a:t>
            </a:r>
            <a:endParaRPr lang="zh-CN" altLang="en-US" sz="2800" dirty="0">
              <a:solidFill>
                <a:srgbClr val="CC00CC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9A8F88C-2A64-F308-1899-C922B0B8E4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76520" y="6248400"/>
            <a:ext cx="805880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BFAA27-8EC8-184F-84B0-4633AAB2BC5D}"/>
              </a:ext>
            </a:extLst>
          </p:cNvPr>
          <p:cNvSpPr txBox="1"/>
          <p:nvPr/>
        </p:nvSpPr>
        <p:spPr>
          <a:xfrm>
            <a:off x="2441575" y="5295335"/>
            <a:ext cx="11341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ea typeface="黑体" pitchFamily="49" charset="-122"/>
              </a:rPr>
              <a:t>于是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2303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" grpId="0"/>
      <p:bldP spid="8203" grpId="0"/>
      <p:bldP spid="8204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0" y="476251"/>
            <a:ext cx="8229600" cy="79216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有界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数的充要条件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341438"/>
            <a:ext cx="10369151" cy="55165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定理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1] </a:t>
            </a:r>
            <a:r>
              <a:rPr lang="en-US" altLang="zh-CN" sz="2800" dirty="0">
                <a:ea typeface="黑体" pitchFamily="49" charset="-122"/>
              </a:rPr>
              <a:t>A</a:t>
            </a:r>
            <a:r>
              <a:rPr lang="zh-CN" altLang="en-US" sz="2800" dirty="0">
                <a:ea typeface="黑体" pitchFamily="49" charset="-122"/>
              </a:rPr>
              <a:t>为</a:t>
            </a:r>
            <a:r>
              <a:rPr lang="zh-CN" altLang="en-US" sz="2800" dirty="0">
                <a:solidFill>
                  <a:srgbClr val="00B0F0"/>
                </a:solidFill>
                <a:ea typeface="黑体" pitchFamily="49" charset="-122"/>
              </a:rPr>
              <a:t>有界</a:t>
            </a:r>
            <a:r>
              <a:rPr lang="en-US" altLang="zh-CN" sz="2800" dirty="0">
                <a:solidFill>
                  <a:srgbClr val="00B0F0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rgbClr val="00B0F0"/>
                </a:solidFill>
                <a:ea typeface="黑体" pitchFamily="49" charset="-122"/>
              </a:rPr>
              <a:t>数</a:t>
            </a:r>
            <a:r>
              <a:rPr lang="zh-CN" altLang="en-US" sz="2800" dirty="0">
                <a:ea typeface="黑体" pitchFamily="49" charset="-122"/>
              </a:rPr>
              <a:t>的充分必要条件是存在区间 </a:t>
            </a:r>
            <a:r>
              <a:rPr lang="en-US" altLang="zh-CN" sz="2800" dirty="0">
                <a:ea typeface="黑体" pitchFamily="49" charset="-122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], </a:t>
            </a:r>
            <a:r>
              <a:rPr lang="zh-CN" altLang="en-US" sz="2800" dirty="0">
                <a:ea typeface="黑体" pitchFamily="49" charset="-122"/>
              </a:rPr>
              <a:t>使得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         其中</a:t>
            </a:r>
            <a:r>
              <a:rPr lang="en-US" altLang="zh-CN" sz="2800" dirty="0">
                <a:ea typeface="黑体" pitchFamily="49" charset="-122"/>
              </a:rPr>
              <a:t>,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为右连续增函数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0≤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)&lt;1, </a:t>
            </a:r>
            <a:r>
              <a:rPr lang="zh-CN" altLang="en-US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且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为左连续减函数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0≤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)&lt;1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zh-CN" altLang="en-US" dirty="0">
                <a:ea typeface="黑体" pitchFamily="49" charset="-122"/>
              </a:rPr>
              <a:t>且</a:t>
            </a:r>
            <a:endParaRPr lang="zh-CN" altLang="en-US" sz="24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定理说明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——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一个</a:t>
            </a:r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有界</a:t>
            </a:r>
            <a:r>
              <a:rPr lang="en-US" altLang="zh-CN" sz="2800" b="1" i="1" dirty="0">
                <a:solidFill>
                  <a:srgbClr val="00B0F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数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可由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=[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及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唯一确定，记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             </a:t>
            </a:r>
            <a:r>
              <a:rPr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A=(</a:t>
            </a:r>
            <a:r>
              <a:rPr kumimoji="1"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[</a:t>
            </a:r>
            <a:r>
              <a:rPr kumimoji="1" lang="en-US" altLang="zh-CN" b="1" i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b="1" i="1" baseline="-2500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kumimoji="1" lang="en-US" altLang="zh-CN" b="1" i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1" lang="en-US" altLang="zh-CN" b="1" i="1" baseline="-2500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],</a:t>
            </a:r>
            <a:r>
              <a:rPr kumimoji="1" lang="zh-CN" alt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b="1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L</a:t>
            </a:r>
            <a:r>
              <a:rPr kumimoji="1" lang="en-US" altLang="zh-CN" b="1" i="1" baseline="-250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kumimoji="1" lang="en-US" altLang="zh-CN" b="1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kumimoji="1" lang="en-US" altLang="zh-CN" b="1" i="1" baseline="-250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 )</a:t>
            </a:r>
          </a:p>
        </p:txBody>
      </p:sp>
      <p:graphicFrame>
        <p:nvGraphicFramePr>
          <p:cNvPr id="1229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40088098"/>
              </p:ext>
            </p:extLst>
          </p:nvPr>
        </p:nvGraphicFramePr>
        <p:xfrm>
          <a:off x="3071664" y="1844824"/>
          <a:ext cx="4176713" cy="1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63700" imgH="711200" progId="Equation.3">
                  <p:embed/>
                </p:oleObj>
              </mc:Choice>
              <mc:Fallback>
                <p:oleObj name="公式" r:id="rId3" imgW="1663700" imgH="711200" progId="Equation.3">
                  <p:embed/>
                  <p:pic>
                    <p:nvPicPr>
                      <p:cNvPr id="12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1844824"/>
                        <a:ext cx="4176713" cy="178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052324591"/>
              </p:ext>
            </p:extLst>
          </p:nvPr>
        </p:nvGraphicFramePr>
        <p:xfrm>
          <a:off x="7392144" y="3851895"/>
          <a:ext cx="19431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825500" imgH="279400" progId="Equation.3">
                  <p:embed/>
                </p:oleObj>
              </mc:Choice>
              <mc:Fallback>
                <p:oleObj name="公式" r:id="rId5" imgW="825500" imgH="279400" progId="Equation.3">
                  <p:embed/>
                  <p:pic>
                    <p:nvPicPr>
                      <p:cNvPr id="122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3851895"/>
                        <a:ext cx="194310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872899"/>
              </p:ext>
            </p:extLst>
          </p:nvPr>
        </p:nvGraphicFramePr>
        <p:xfrm>
          <a:off x="7392144" y="4509120"/>
          <a:ext cx="1943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838200" imgH="279400" progId="Equation.3">
                  <p:embed/>
                </p:oleObj>
              </mc:Choice>
              <mc:Fallback>
                <p:oleObj name="公式" r:id="rId7" imgW="838200" imgH="279400" progId="Equation.3">
                  <p:embed/>
                  <p:pic>
                    <p:nvPicPr>
                      <p:cNvPr id="122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4509120"/>
                        <a:ext cx="19431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2EFC605E-2BE4-CE88-FA63-B14309D809CB}"/>
              </a:ext>
            </a:extLst>
          </p:cNvPr>
          <p:cNvSpPr txBox="1"/>
          <p:nvPr/>
        </p:nvSpPr>
        <p:spPr>
          <a:xfrm>
            <a:off x="8639944" y="436138"/>
            <a:ext cx="3553072" cy="830997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若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是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数，且</a:t>
            </a:r>
            <a:r>
              <a:rPr kumimoji="1" lang="el-GR" altLang="zh-CN" sz="2400" dirty="0">
                <a:ea typeface="黑体" pitchFamily="49" charset="-122"/>
                <a:sym typeface="Symbol" pitchFamily="18" charset="2"/>
              </a:rPr>
              <a:t>λ</a:t>
            </a:r>
            <a:r>
              <a:rPr lang="en-US" altLang="zh-CN" sz="2400" dirty="0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ea typeface="黑体" pitchFamily="49" charset="-122"/>
              </a:rPr>
              <a:t>(0,1], A</a:t>
            </a:r>
            <a:r>
              <a:rPr kumimoji="1" lang="el-GR" altLang="zh-CN" sz="2400" baseline="-25000" dirty="0">
                <a:ea typeface="黑体" pitchFamily="49" charset="-122"/>
                <a:sym typeface="Symbol" pitchFamily="18" charset="2"/>
              </a:rPr>
              <a:t>λ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有界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, 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则称</a:t>
            </a:r>
            <a:r>
              <a:rPr kumimoji="1" lang="en-US" altLang="zh-CN" sz="2400" dirty="0">
                <a:ea typeface="黑体" pitchFamily="49" charset="-122"/>
                <a:sym typeface="Symbol" pitchFamily="18" charset="2"/>
              </a:rPr>
              <a:t>A</a:t>
            </a:r>
            <a:r>
              <a:rPr kumimoji="1" lang="zh-CN" altLang="en-US" sz="2400" dirty="0">
                <a:ea typeface="黑体" pitchFamily="49" charset="-122"/>
                <a:sym typeface="Symbol" pitchFamily="18" charset="2"/>
              </a:rPr>
              <a:t>为</a:t>
            </a:r>
            <a:r>
              <a:rPr kumimoji="1" lang="zh-CN" altLang="en-US" sz="2400" dirty="0">
                <a:solidFill>
                  <a:srgbClr val="00B0F0"/>
                </a:solidFill>
                <a:ea typeface="黑体" pitchFamily="49" charset="-122"/>
                <a:sym typeface="Symbol" pitchFamily="18" charset="2"/>
              </a:rPr>
              <a:t>有界</a:t>
            </a:r>
            <a:r>
              <a:rPr kumimoji="1" lang="en-US" altLang="zh-CN" sz="2400" dirty="0">
                <a:solidFill>
                  <a:srgbClr val="00B0F0"/>
                </a:solidFill>
                <a:ea typeface="黑体" pitchFamily="49" charset="-122"/>
                <a:sym typeface="Symbol" pitchFamily="18" charset="2"/>
              </a:rPr>
              <a:t>F</a:t>
            </a:r>
            <a:r>
              <a:rPr kumimoji="1" lang="zh-CN" altLang="en-US" sz="2400" dirty="0">
                <a:solidFill>
                  <a:srgbClr val="00B0F0"/>
                </a:solidFill>
                <a:ea typeface="黑体" pitchFamily="49" charset="-122"/>
                <a:sym typeface="Symbol" pitchFamily="18" charset="2"/>
              </a:rPr>
              <a:t>数</a:t>
            </a:r>
          </a:p>
        </p:txBody>
      </p:sp>
    </p:spTree>
    <p:extLst>
      <p:ext uri="{BB962C8B-B14F-4D97-AF65-F5344CB8AC3E}">
        <p14:creationId xmlns:p14="http://schemas.microsoft.com/office/powerpoint/2010/main" val="7082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04814"/>
            <a:ext cx="8229600" cy="739775"/>
          </a:xfrm>
        </p:spPr>
        <p:txBody>
          <a:bodyPr/>
          <a:lstStyle/>
          <a:p>
            <a:pPr algn="ctr" eaLnBrk="1" hangingPunct="1"/>
            <a:r>
              <a:rPr lang="en-US" altLang="zh-CN" sz="4000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ea typeface="黑体" pitchFamily="49" charset="-122"/>
              </a:rPr>
              <a:t>数在实数域</a:t>
            </a:r>
            <a:r>
              <a:rPr lang="en-US" altLang="zh-CN" sz="4000" dirty="0">
                <a:solidFill>
                  <a:srgbClr val="008000"/>
                </a:solidFill>
                <a:ea typeface="黑体" pitchFamily="49" charset="-122"/>
              </a:rPr>
              <a:t>R</a:t>
            </a:r>
            <a:r>
              <a:rPr lang="zh-CN" altLang="en-US" sz="4000" dirty="0">
                <a:solidFill>
                  <a:srgbClr val="008000"/>
                </a:solidFill>
                <a:ea typeface="黑体" pitchFamily="49" charset="-122"/>
              </a:rPr>
              <a:t>上的运算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125538"/>
            <a:ext cx="10369152" cy="57324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定理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2]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设</a:t>
            </a:r>
            <a:r>
              <a:rPr lang="zh-CN" altLang="en-US" sz="2800" dirty="0">
                <a:solidFill>
                  <a:srgbClr val="E123BD"/>
                </a:solidFill>
                <a:ea typeface="黑体" pitchFamily="49" charset="-122"/>
              </a:rPr>
              <a:t>＊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是实数域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R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上的二元运算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A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B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为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数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则 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44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此定理给出了两个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集的运算方法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当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＊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表示实数四则运算符时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有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</p:txBody>
      </p:sp>
      <p:graphicFrame>
        <p:nvGraphicFramePr>
          <p:cNvPr id="1536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654664763"/>
              </p:ext>
            </p:extLst>
          </p:nvPr>
        </p:nvGraphicFramePr>
        <p:xfrm>
          <a:off x="2711624" y="1718469"/>
          <a:ext cx="5807342" cy="163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685800" progId="Equation.DSMT4">
                  <p:embed/>
                </p:oleObj>
              </mc:Choice>
              <mc:Fallback>
                <p:oleObj name="Equation" r:id="rId2" imgW="2438280" imgH="685800" progId="Equation.DSMT4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1718469"/>
                        <a:ext cx="5807342" cy="163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416412499"/>
              </p:ext>
            </p:extLst>
          </p:nvPr>
        </p:nvGraphicFramePr>
        <p:xfrm>
          <a:off x="3345842" y="3971924"/>
          <a:ext cx="6133914" cy="2853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65400" imgH="1193800" progId="Equation.3">
                  <p:embed/>
                </p:oleObj>
              </mc:Choice>
              <mc:Fallback>
                <p:oleObj name="公式" r:id="rId4" imgW="2565400" imgH="1193800" progId="Equation.3">
                  <p:embed/>
                  <p:pic>
                    <p:nvPicPr>
                      <p:cNvPr id="153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5842" y="3971924"/>
                        <a:ext cx="6133914" cy="28538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DBD238-3DA0-F1D8-DA8E-159003C1B9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654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数在实数域</a:t>
            </a:r>
            <a:r>
              <a:rPr lang="en-US" altLang="zh-CN">
                <a:solidFill>
                  <a:srgbClr val="008000"/>
                </a:solidFill>
                <a:ea typeface="黑体" pitchFamily="49" charset="-122"/>
              </a:rPr>
              <a:t>R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上的运算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773238"/>
            <a:ext cx="9433047" cy="409416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定理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</a:rPr>
              <a:t>2]</a:t>
            </a: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说明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</a:rPr>
              <a:t>——</a:t>
            </a: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b="1" dirty="0">
                <a:ea typeface="楷体_GB2312" pitchFamily="49" charset="-122"/>
              </a:rPr>
              <a:t>    </a:t>
            </a:r>
            <a:r>
              <a:rPr lang="zh-CN" altLang="en-US" sz="2800" b="1" dirty="0">
                <a:ea typeface="楷体_GB2312" pitchFamily="49" charset="-122"/>
              </a:rPr>
              <a:t>两个</a:t>
            </a:r>
            <a:r>
              <a:rPr lang="en-US" altLang="zh-CN" sz="2800" b="1" dirty="0">
                <a:ea typeface="楷体_GB2312" pitchFamily="49" charset="-122"/>
              </a:rPr>
              <a:t>F</a:t>
            </a:r>
            <a:r>
              <a:rPr lang="zh-CN" altLang="en-US" sz="2800" b="1" dirty="0">
                <a:ea typeface="楷体_GB2312" pitchFamily="49" charset="-122"/>
              </a:rPr>
              <a:t>数作某种运算，是它们的</a:t>
            </a:r>
            <a:r>
              <a:rPr lang="zh-CN" altLang="en-US" sz="2800" b="1" dirty="0">
                <a:solidFill>
                  <a:srgbClr val="008000"/>
                </a:solidFill>
                <a:ea typeface="楷体_GB2312" pitchFamily="49" charset="-122"/>
              </a:rPr>
              <a:t>元素</a:t>
            </a:r>
            <a:r>
              <a:rPr lang="zh-CN" altLang="en-US" sz="2800" b="1" dirty="0">
                <a:ea typeface="楷体_GB2312" pitchFamily="49" charset="-122"/>
              </a:rPr>
              <a:t>作某种（</a:t>
            </a:r>
            <a:r>
              <a:rPr lang="zh-CN" altLang="en-US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＊</a:t>
            </a:r>
            <a:r>
              <a:rPr lang="zh-CN" altLang="en-US" sz="2800" b="1" dirty="0">
                <a:ea typeface="楷体_GB2312" pitchFamily="49" charset="-122"/>
              </a:rPr>
              <a:t>）运算，而相应的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隶属度</a:t>
            </a:r>
            <a:r>
              <a:rPr lang="zh-CN" altLang="en-US" sz="2800" b="1" dirty="0">
                <a:ea typeface="楷体_GB2312" pitchFamily="49" charset="-122"/>
              </a:rPr>
              <a:t>则作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取小</a:t>
            </a:r>
            <a:r>
              <a:rPr lang="zh-CN" altLang="en-US" sz="2800" b="1" dirty="0">
                <a:ea typeface="楷体_GB2312" pitchFamily="49" charset="-122"/>
              </a:rPr>
              <a:t>运算。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有时将实数域离散来处理，则两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数的运算可表示为</a:t>
            </a:r>
          </a:p>
        </p:txBody>
      </p:sp>
      <p:graphicFrame>
        <p:nvGraphicFramePr>
          <p:cNvPr id="1843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5821029"/>
              </p:ext>
            </p:extLst>
          </p:nvPr>
        </p:nvGraphicFramePr>
        <p:xfrm>
          <a:off x="2423592" y="4581128"/>
          <a:ext cx="6408738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54951" imgH="495085" progId="Equation.3">
                  <p:embed/>
                </p:oleObj>
              </mc:Choice>
              <mc:Fallback>
                <p:oleObj name="公式" r:id="rId2" imgW="1954951" imgH="495085" progId="Equation.3">
                  <p:embed/>
                  <p:pic>
                    <p:nvPicPr>
                      <p:cNvPr id="184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4581128"/>
                        <a:ext cx="6408738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3024B9-B765-BBEE-BD00-5CE8505CC0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F209AC-A2D1-49EF-BE0C-2B9240FE767E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833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3375"/>
            <a:ext cx="8229600" cy="9350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数运算举例</a:t>
            </a:r>
            <a:r>
              <a:rPr lang="en-US" altLang="zh-CN" sz="3200">
                <a:ea typeface="黑体" pitchFamily="49" charset="-122"/>
              </a:rPr>
              <a:t>[P130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>
                <a:ea typeface="黑体" pitchFamily="49" charset="-122"/>
              </a:rPr>
              <a:t>2]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268414"/>
            <a:ext cx="7786688" cy="24479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设论域为整数集，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数为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0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求 </a:t>
            </a:r>
            <a:r>
              <a:rPr lang="en-US" altLang="zh-CN" sz="2800" u="sng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+</a:t>
            </a:r>
            <a:r>
              <a:rPr lang="en-US" altLang="zh-CN" sz="2800" u="sng" dirty="0">
                <a:solidFill>
                  <a:schemeClr val="bg2"/>
                </a:solidFill>
                <a:ea typeface="黑体" pitchFamily="49" charset="-122"/>
              </a:rPr>
              <a:t>3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，</a:t>
            </a:r>
            <a:r>
              <a:rPr lang="en-US" altLang="zh-CN" sz="2800" u="sng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-</a:t>
            </a:r>
            <a:r>
              <a:rPr lang="en-US" altLang="zh-CN" sz="2800" u="sng" dirty="0">
                <a:solidFill>
                  <a:schemeClr val="bg2"/>
                </a:solidFill>
                <a:ea typeface="黑体" pitchFamily="49" charset="-122"/>
              </a:rPr>
              <a:t>3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，</a:t>
            </a:r>
            <a:r>
              <a:rPr lang="en-US" altLang="zh-CN" sz="2800" u="sng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×</a:t>
            </a:r>
            <a:r>
              <a:rPr lang="en-US" altLang="zh-CN" sz="2800" u="sng" dirty="0">
                <a:solidFill>
                  <a:schemeClr val="bg2"/>
                </a:solidFill>
                <a:ea typeface="黑体" pitchFamily="49" charset="-122"/>
              </a:rPr>
              <a:t>3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解</a:t>
            </a:r>
            <a:r>
              <a:rPr lang="zh-CN" altLang="en-US" sz="2800" dirty="0"/>
              <a:t>：</a:t>
            </a:r>
          </a:p>
        </p:txBody>
      </p:sp>
      <p:graphicFrame>
        <p:nvGraphicFramePr>
          <p:cNvPr id="2048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364751808"/>
              </p:ext>
            </p:extLst>
          </p:nvPr>
        </p:nvGraphicFramePr>
        <p:xfrm>
          <a:off x="1762250" y="3068639"/>
          <a:ext cx="4176713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79600" imgH="495300" progId="Equation.DSMT4">
                  <p:embed/>
                </p:oleObj>
              </mc:Choice>
              <mc:Fallback>
                <p:oleObj name="Equation" r:id="rId3" imgW="1879600" imgH="495300" progId="Equation.DSMT4">
                  <p:embed/>
                  <p:pic>
                    <p:nvPicPr>
                      <p:cNvPr id="20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250" y="3068639"/>
                        <a:ext cx="4176713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709607802"/>
              </p:ext>
            </p:extLst>
          </p:nvPr>
        </p:nvGraphicFramePr>
        <p:xfrm>
          <a:off x="5161632" y="1579292"/>
          <a:ext cx="482441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86000" imgH="393700" progId="Equation.3">
                  <p:embed/>
                </p:oleObj>
              </mc:Choice>
              <mc:Fallback>
                <p:oleObj name="公式" r:id="rId5" imgW="2286000" imgH="393700" progId="Equation.3">
                  <p:embed/>
                  <p:pic>
                    <p:nvPicPr>
                      <p:cNvPr id="204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1632" y="1579292"/>
                        <a:ext cx="4824412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360327"/>
              </p:ext>
            </p:extLst>
          </p:nvPr>
        </p:nvGraphicFramePr>
        <p:xfrm>
          <a:off x="5951984" y="3213101"/>
          <a:ext cx="367188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63700" imgH="393700" progId="Equation.3">
                  <p:embed/>
                </p:oleObj>
              </mc:Choice>
              <mc:Fallback>
                <p:oleObj name="公式" r:id="rId7" imgW="1663700" imgH="393700" progId="Equation.3">
                  <p:embed/>
                  <p:pic>
                    <p:nvPicPr>
                      <p:cNvPr id="204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984" y="3213101"/>
                        <a:ext cx="3671888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46312"/>
              </p:ext>
            </p:extLst>
          </p:nvPr>
        </p:nvGraphicFramePr>
        <p:xfrm>
          <a:off x="5951984" y="4381990"/>
          <a:ext cx="392906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26920" imgH="393480" progId="Equation.DSMT4">
                  <p:embed/>
                </p:oleObj>
              </mc:Choice>
              <mc:Fallback>
                <p:oleObj name="Equation" r:id="rId9" imgW="1726920" imgH="393480" progId="Equation.DSMT4">
                  <p:embed/>
                  <p:pic>
                    <p:nvPicPr>
                      <p:cNvPr id="204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984" y="4381990"/>
                        <a:ext cx="3929063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224641"/>
              </p:ext>
            </p:extLst>
          </p:nvPr>
        </p:nvGraphicFramePr>
        <p:xfrm>
          <a:off x="5879976" y="5548125"/>
          <a:ext cx="554672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49360" imgH="393480" progId="Equation.DSMT4">
                  <p:embed/>
                </p:oleObj>
              </mc:Choice>
              <mc:Fallback>
                <p:oleObj name="Equation" r:id="rId11" imgW="2349360" imgH="393480" progId="Equation.DSMT4">
                  <p:embed/>
                  <p:pic>
                    <p:nvPicPr>
                      <p:cNvPr id="204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976" y="5548125"/>
                        <a:ext cx="5546725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0C1599-21A1-D600-ECD1-D832CDDECB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75323"/>
            <a:ext cx="373832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D56A4D59-428C-C92A-36BE-6C11DB304E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39737"/>
              </p:ext>
            </p:extLst>
          </p:nvPr>
        </p:nvGraphicFramePr>
        <p:xfrm>
          <a:off x="1717799" y="4199483"/>
          <a:ext cx="412115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54000" imgH="495000" progId="Equation.DSMT4">
                  <p:embed/>
                </p:oleObj>
              </mc:Choice>
              <mc:Fallback>
                <p:oleObj name="Equation" r:id="rId13" imgW="1854000" imgH="495000" progId="Equation.DSMT4">
                  <p:embed/>
                  <p:pic>
                    <p:nvPicPr>
                      <p:cNvPr id="20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799" y="4199483"/>
                        <a:ext cx="4121150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539EC20F-93A5-C890-8ED2-88477C8F64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418942"/>
              </p:ext>
            </p:extLst>
          </p:nvPr>
        </p:nvGraphicFramePr>
        <p:xfrm>
          <a:off x="1703512" y="5423619"/>
          <a:ext cx="409257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41400" imgH="495000" progId="Equation.DSMT4">
                  <p:embed/>
                </p:oleObj>
              </mc:Choice>
              <mc:Fallback>
                <p:oleObj name="Equation" r:id="rId15" imgW="1841400" imgH="495000" progId="Equation.DSMT4">
                  <p:embed/>
                  <p:pic>
                    <p:nvPicPr>
                      <p:cNvPr id="20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5423619"/>
                        <a:ext cx="409257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49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549275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当论域为无限时，</a:t>
            </a:r>
            <a:r>
              <a:rPr lang="en-US" altLang="zh-CN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数的运算</a:t>
            </a:r>
          </a:p>
        </p:txBody>
      </p:sp>
      <p:graphicFrame>
        <p:nvGraphicFramePr>
          <p:cNvPr id="24582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143251" y="1916114"/>
          <a:ext cx="4968875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41500" imgH="292100" progId="Equation.3">
                  <p:embed/>
                </p:oleObj>
              </mc:Choice>
              <mc:Fallback>
                <p:oleObj name="公式" r:id="rId2" imgW="1841500" imgH="292100" progId="Equation.3">
                  <p:embed/>
                  <p:pic>
                    <p:nvPicPr>
                      <p:cNvPr id="245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1916114"/>
                        <a:ext cx="4968875" cy="788987"/>
                      </a:xfrm>
                      <a:prstGeom prst="rect">
                        <a:avLst/>
                      </a:prstGeom>
                      <a:solidFill>
                        <a:srgbClr val="B2B2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/>
        </p:nvGraphicFramePr>
        <p:xfrm>
          <a:off x="3216276" y="3213101"/>
          <a:ext cx="4824413" cy="345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17700" imgH="1371600" progId="Equation.3">
                  <p:embed/>
                </p:oleObj>
              </mc:Choice>
              <mc:Fallback>
                <p:oleObj name="公式" r:id="rId4" imgW="1917700" imgH="1371600" progId="Equation.3">
                  <p:embed/>
                  <p:pic>
                    <p:nvPicPr>
                      <p:cNvPr id="245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3213101"/>
                        <a:ext cx="4824413" cy="345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A7A2E7-A565-523A-4629-AC0AC66CF2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867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数运算举例</a:t>
            </a:r>
            <a:r>
              <a:rPr lang="en-US" altLang="zh-CN" sz="3200">
                <a:ea typeface="黑体" pitchFamily="49" charset="-122"/>
              </a:rPr>
              <a:t>[P130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>
                <a:ea typeface="黑体" pitchFamily="49" charset="-122"/>
              </a:rPr>
              <a:t>3]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2070677"/>
            <a:ext cx="8147050" cy="468153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解：</a:t>
            </a:r>
            <a:r>
              <a:rPr lang="en-US" altLang="zh-CN" sz="2800" u="sng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又可表示为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16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 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(1)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当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1≤x≤2, 1 ≤z-x≤2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时，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2 ≤z≤4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      现求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令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x-1=z-x-1,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得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=z/2,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则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E90101"/>
                </a:solidFill>
                <a:ea typeface="黑体" pitchFamily="49" charset="-122"/>
              </a:rPr>
              <a:t>                 </a:t>
            </a: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(</a:t>
            </a:r>
            <a:r>
              <a:rPr lang="en-US" altLang="zh-CN" u="sng" dirty="0">
                <a:solidFill>
                  <a:srgbClr val="E90101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+</a:t>
            </a:r>
            <a:r>
              <a:rPr lang="en-US" altLang="zh-CN" u="sng" dirty="0">
                <a:solidFill>
                  <a:srgbClr val="E90101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)(z)=z/2</a:t>
            </a:r>
            <a:r>
              <a:rPr lang="en-US" altLang="zh-CN" dirty="0">
                <a:solidFill>
                  <a:srgbClr val="E90101"/>
                </a:solidFill>
                <a:ea typeface="黑体" pitchFamily="49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1,    2≤z≤4</a:t>
            </a:r>
          </a:p>
        </p:txBody>
      </p:sp>
      <p:graphicFrame>
        <p:nvGraphicFramePr>
          <p:cNvPr id="3072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278720602"/>
              </p:ext>
            </p:extLst>
          </p:nvPr>
        </p:nvGraphicFramePr>
        <p:xfrm>
          <a:off x="3935065" y="2060576"/>
          <a:ext cx="38163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12900" imgH="482600" progId="Equation.3">
                  <p:embed/>
                </p:oleObj>
              </mc:Choice>
              <mc:Fallback>
                <p:oleObj name="公式" r:id="rId2" imgW="1612900" imgH="482600" progId="Equation.3">
                  <p:embed/>
                  <p:pic>
                    <p:nvPicPr>
                      <p:cNvPr id="307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065" y="2060576"/>
                        <a:ext cx="381635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51007183"/>
              </p:ext>
            </p:extLst>
          </p:nvPr>
        </p:nvGraphicFramePr>
        <p:xfrm>
          <a:off x="839416" y="1052513"/>
          <a:ext cx="4195762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55800" imgH="469900" progId="Equation.3">
                  <p:embed/>
                </p:oleObj>
              </mc:Choice>
              <mc:Fallback>
                <p:oleObj name="公式" r:id="rId4" imgW="1955800" imgH="469900" progId="Equation.3">
                  <p:embed/>
                  <p:pic>
                    <p:nvPicPr>
                      <p:cNvPr id="307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1052513"/>
                        <a:ext cx="4195762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17030545"/>
              </p:ext>
            </p:extLst>
          </p:nvPr>
        </p:nvGraphicFramePr>
        <p:xfrm>
          <a:off x="3647728" y="2997201"/>
          <a:ext cx="4608512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36800" imgH="482600" progId="Equation.3">
                  <p:embed/>
                </p:oleObj>
              </mc:Choice>
              <mc:Fallback>
                <p:oleObj name="公式" r:id="rId6" imgW="2336800" imgH="482600" progId="Equation.3">
                  <p:embed/>
                  <p:pic>
                    <p:nvPicPr>
                      <p:cNvPr id="307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2997201"/>
                        <a:ext cx="4608512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/>
        </p:nvGraphicFramePr>
        <p:xfrm>
          <a:off x="4008439" y="4365625"/>
          <a:ext cx="4103687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41500" imgH="279400" progId="Equation.3">
                  <p:embed/>
                </p:oleObj>
              </mc:Choice>
              <mc:Fallback>
                <p:oleObj name="公式" r:id="rId8" imgW="1841500" imgH="279400" progId="Equation.3">
                  <p:embed/>
                  <p:pic>
                    <p:nvPicPr>
                      <p:cNvPr id="307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4365625"/>
                        <a:ext cx="4103687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/>
          <p:cNvGraphicFramePr>
            <a:graphicFrameLocks noChangeAspect="1"/>
          </p:cNvGraphicFramePr>
          <p:nvPr/>
        </p:nvGraphicFramePr>
        <p:xfrm>
          <a:off x="5303839" y="4941888"/>
          <a:ext cx="43211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17700" imgH="279400" progId="Equation.3">
                  <p:embed/>
                </p:oleObj>
              </mc:Choice>
              <mc:Fallback>
                <p:oleObj name="公式" r:id="rId10" imgW="1917700" imgH="279400" progId="Equation.3">
                  <p:embed/>
                  <p:pic>
                    <p:nvPicPr>
                      <p:cNvPr id="307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9" y="4941888"/>
                        <a:ext cx="43211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BCD7637-3FE8-EE03-A8AC-DC5FC2C514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066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D49DF57-28B7-090A-55B2-DFC15CDC67BC}"/>
              </a:ext>
            </a:extLst>
          </p:cNvPr>
          <p:cNvSpPr/>
          <p:nvPr/>
        </p:nvSpPr>
        <p:spPr>
          <a:xfrm>
            <a:off x="7536160" y="1057275"/>
            <a:ext cx="4608512" cy="1887538"/>
          </a:xfrm>
          <a:prstGeom prst="rect">
            <a:avLst/>
          </a:prstGeom>
          <a:solidFill>
            <a:srgbClr val="CCFFFF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E9010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4" name="图片 3" descr="图表, 折线图&#10;&#10;描述已自动生成">
            <a:extLst>
              <a:ext uri="{FF2B5EF4-FFF2-40B4-BE49-F238E27FC236}">
                <a16:creationId xmlns:a16="http://schemas.microsoft.com/office/drawing/2014/main" id="{A1316378-B82A-CDB7-69DC-56ACB7B2AF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60"/>
          <a:stretch/>
        </p:blipFill>
        <p:spPr>
          <a:xfrm>
            <a:off x="7175265" y="4032250"/>
            <a:ext cx="4983439" cy="2796928"/>
          </a:xfrm>
          <a:prstGeom prst="rect">
            <a:avLst/>
          </a:prstGeom>
          <a:effectLst>
            <a:glow rad="127000">
              <a:srgbClr val="B5FDCD"/>
            </a:glow>
          </a:effectLst>
        </p:spPr>
      </p:pic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数运算举例</a:t>
            </a:r>
            <a:r>
              <a:rPr lang="en-US" altLang="zh-CN" sz="3200">
                <a:ea typeface="黑体" pitchFamily="49" charset="-122"/>
              </a:rPr>
              <a:t>[P130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>
                <a:ea typeface="黑体" pitchFamily="49" charset="-122"/>
              </a:rPr>
              <a:t>3]</a:t>
            </a:r>
            <a:r>
              <a:rPr lang="zh-CN" altLang="en-US" sz="3200">
                <a:ea typeface="黑体" pitchFamily="49" charset="-122"/>
              </a:rPr>
              <a:t>续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727075" y="1412776"/>
            <a:ext cx="8147050" cy="46815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解：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(2)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当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2≤x≤3, 2 ≤z-x≤3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时，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4≤z≤6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，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0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         现求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令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3-x=3-z+x,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得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=z/2,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则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                 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</a:rPr>
              <a:t>(</a:t>
            </a:r>
            <a:r>
              <a:rPr lang="en-US" altLang="zh-CN" sz="2800" u="sng" dirty="0">
                <a:solidFill>
                  <a:srgbClr val="E90101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</a:rPr>
              <a:t>+</a:t>
            </a:r>
            <a:r>
              <a:rPr lang="en-US" altLang="zh-CN" sz="2800" u="sng" dirty="0">
                <a:solidFill>
                  <a:srgbClr val="E90101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</a:rPr>
              <a:t>)(z)=3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</a:rPr>
              <a:t>z/2,    4&lt; z≤6</a:t>
            </a:r>
          </a:p>
        </p:txBody>
      </p:sp>
      <p:graphicFrame>
        <p:nvGraphicFramePr>
          <p:cNvPr id="235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384236"/>
              </p:ext>
            </p:extLst>
          </p:nvPr>
        </p:nvGraphicFramePr>
        <p:xfrm>
          <a:off x="1775520" y="1989138"/>
          <a:ext cx="41036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41500" imgH="279400" progId="Equation.3">
                  <p:embed/>
                </p:oleObj>
              </mc:Choice>
              <mc:Fallback>
                <p:oleObj name="公式" r:id="rId4" imgW="1841500" imgH="279400" progId="Equation.3">
                  <p:embed/>
                  <p:pic>
                    <p:nvPicPr>
                      <p:cNvPr id="235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1989138"/>
                        <a:ext cx="410368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085011"/>
              </p:ext>
            </p:extLst>
          </p:nvPr>
        </p:nvGraphicFramePr>
        <p:xfrm>
          <a:off x="3143672" y="2636838"/>
          <a:ext cx="44084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55800" imgH="279400" progId="Equation.3">
                  <p:embed/>
                </p:oleObj>
              </mc:Choice>
              <mc:Fallback>
                <p:oleObj name="公式" r:id="rId6" imgW="1955800" imgH="279400" progId="Equation.3">
                  <p:embed/>
                  <p:pic>
                    <p:nvPicPr>
                      <p:cNvPr id="2356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2636838"/>
                        <a:ext cx="440848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8" name="Object 1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132209008"/>
              </p:ext>
            </p:extLst>
          </p:nvPr>
        </p:nvGraphicFramePr>
        <p:xfrm>
          <a:off x="1703512" y="4448505"/>
          <a:ext cx="532765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43100" imgH="787400" progId="Equation.3">
                  <p:embed/>
                </p:oleObj>
              </mc:Choice>
              <mc:Fallback>
                <p:oleObj name="公式" r:id="rId8" imgW="1943100" imgH="787400" progId="Equation.3">
                  <p:embed/>
                  <p:pic>
                    <p:nvPicPr>
                      <p:cNvPr id="2356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4448505"/>
                        <a:ext cx="5327650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851D8B-B29D-3420-45D8-0B771D8026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219" y="6266356"/>
            <a:ext cx="589856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8D1F5A58-F5F2-3895-146D-215C6F8C01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921265"/>
              </p:ext>
            </p:extLst>
          </p:nvPr>
        </p:nvGraphicFramePr>
        <p:xfrm>
          <a:off x="7824192" y="1057275"/>
          <a:ext cx="38163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12900" imgH="482600" progId="Equation.3">
                  <p:embed/>
                </p:oleObj>
              </mc:Choice>
              <mc:Fallback>
                <p:oleObj name="公式" r:id="rId10" imgW="1612900" imgH="482600" progId="Equation.3">
                  <p:embed/>
                  <p:pic>
                    <p:nvPicPr>
                      <p:cNvPr id="307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192" y="1057275"/>
                        <a:ext cx="381635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3B8C8F60-1B13-331C-CBC0-DB02566B0381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014972436"/>
              </p:ext>
            </p:extLst>
          </p:nvPr>
        </p:nvGraphicFramePr>
        <p:xfrm>
          <a:off x="7536160" y="1993900"/>
          <a:ext cx="4608512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36800" imgH="482600" progId="Equation.3">
                  <p:embed/>
                </p:oleObj>
              </mc:Choice>
              <mc:Fallback>
                <p:oleObj name="公式" r:id="rId12" imgW="2336800" imgH="482600" progId="Equation.3">
                  <p:embed/>
                  <p:pic>
                    <p:nvPicPr>
                      <p:cNvPr id="307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6160" y="1993900"/>
                        <a:ext cx="4608512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829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数运算举例</a:t>
            </a:r>
            <a:r>
              <a:rPr lang="en-US" altLang="zh-CN" sz="3200">
                <a:ea typeface="黑体" pitchFamily="49" charset="-122"/>
              </a:rPr>
              <a:t>[P130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>
                <a:ea typeface="黑体" pitchFamily="49" charset="-122"/>
              </a:rPr>
              <a:t>3]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2049464"/>
            <a:ext cx="8147050" cy="468153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解：</a:t>
            </a:r>
            <a:r>
              <a:rPr lang="en-US" altLang="zh-CN" sz="2800" u="sng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又可表示为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16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   (1)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当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1≤x≤2, 2 ≤x-z≤3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时，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-2 ≤z≤0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       现求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令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x-1=3-x+z,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得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=2+z/2,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则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E90101"/>
                </a:solidFill>
                <a:ea typeface="黑体" pitchFamily="49" charset="-122"/>
              </a:rPr>
              <a:t>                 </a:t>
            </a: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(</a:t>
            </a:r>
            <a:r>
              <a:rPr lang="en-US" altLang="zh-CN" u="sng" dirty="0">
                <a:solidFill>
                  <a:srgbClr val="E90101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-</a:t>
            </a:r>
            <a:r>
              <a:rPr lang="en-US" altLang="zh-CN" u="sng" dirty="0">
                <a:solidFill>
                  <a:srgbClr val="E90101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)(z)=1+z/2,    -2≤z≤0</a:t>
            </a:r>
          </a:p>
        </p:txBody>
      </p:sp>
      <p:graphicFrame>
        <p:nvGraphicFramePr>
          <p:cNvPr id="3994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768776013"/>
              </p:ext>
            </p:extLst>
          </p:nvPr>
        </p:nvGraphicFramePr>
        <p:xfrm>
          <a:off x="3863057" y="2060576"/>
          <a:ext cx="38163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12900" imgH="482600" progId="Equation.3">
                  <p:embed/>
                </p:oleObj>
              </mc:Choice>
              <mc:Fallback>
                <p:oleObj name="公式" r:id="rId2" imgW="1612900" imgH="482600" progId="Equation.3">
                  <p:embed/>
                  <p:pic>
                    <p:nvPicPr>
                      <p:cNvPr id="399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057" y="2060576"/>
                        <a:ext cx="381635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96465153"/>
              </p:ext>
            </p:extLst>
          </p:nvPr>
        </p:nvGraphicFramePr>
        <p:xfrm>
          <a:off x="839416" y="1125538"/>
          <a:ext cx="4195763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55800" imgH="469900" progId="Equation.3">
                  <p:embed/>
                </p:oleObj>
              </mc:Choice>
              <mc:Fallback>
                <p:oleObj name="公式" r:id="rId4" imgW="1955800" imgH="469900" progId="Equation.3">
                  <p:embed/>
                  <p:pic>
                    <p:nvPicPr>
                      <p:cNvPr id="399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1125538"/>
                        <a:ext cx="4195763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440162135"/>
              </p:ext>
            </p:extLst>
          </p:nvPr>
        </p:nvGraphicFramePr>
        <p:xfrm>
          <a:off x="3575720" y="2997201"/>
          <a:ext cx="4608512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36800" imgH="482600" progId="Equation.3">
                  <p:embed/>
                </p:oleObj>
              </mc:Choice>
              <mc:Fallback>
                <p:oleObj name="公式" r:id="rId6" imgW="2336800" imgH="482600" progId="Equation.3">
                  <p:embed/>
                  <p:pic>
                    <p:nvPicPr>
                      <p:cNvPr id="399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2997201"/>
                        <a:ext cx="4608512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>
            <a:graphicFrameLocks noChangeAspect="1"/>
          </p:cNvGraphicFramePr>
          <p:nvPr/>
        </p:nvGraphicFramePr>
        <p:xfrm>
          <a:off x="4008439" y="4365625"/>
          <a:ext cx="4103687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41500" imgH="279400" progId="Equation.3">
                  <p:embed/>
                </p:oleObj>
              </mc:Choice>
              <mc:Fallback>
                <p:oleObj name="公式" r:id="rId8" imgW="1841500" imgH="279400" progId="Equation.3">
                  <p:embed/>
                  <p:pic>
                    <p:nvPicPr>
                      <p:cNvPr id="399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4365625"/>
                        <a:ext cx="4103687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/>
          <p:cNvGraphicFramePr>
            <a:graphicFrameLocks noChangeAspect="1"/>
          </p:cNvGraphicFramePr>
          <p:nvPr/>
        </p:nvGraphicFramePr>
        <p:xfrm>
          <a:off x="5232400" y="4941888"/>
          <a:ext cx="44656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81200" imgH="279400" progId="Equation.3">
                  <p:embed/>
                </p:oleObj>
              </mc:Choice>
              <mc:Fallback>
                <p:oleObj name="公式" r:id="rId10" imgW="1981200" imgH="279400" progId="Equation.3">
                  <p:embed/>
                  <p:pic>
                    <p:nvPicPr>
                      <p:cNvPr id="399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4941888"/>
                        <a:ext cx="446563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6A2066-B205-F7D8-E5E5-460F106357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8970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7555206-3D59-C487-417A-6A28A5AE7449}"/>
              </a:ext>
            </a:extLst>
          </p:cNvPr>
          <p:cNvSpPr/>
          <p:nvPr/>
        </p:nvSpPr>
        <p:spPr>
          <a:xfrm>
            <a:off x="7536160" y="1109414"/>
            <a:ext cx="4608512" cy="1887538"/>
          </a:xfrm>
          <a:prstGeom prst="rect">
            <a:avLst/>
          </a:prstGeom>
          <a:solidFill>
            <a:srgbClr val="CCFFFF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E9010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数运算举例</a:t>
            </a:r>
            <a:r>
              <a:rPr lang="en-US" altLang="zh-CN" sz="3200">
                <a:ea typeface="黑体" pitchFamily="49" charset="-122"/>
              </a:rPr>
              <a:t>[P130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>
                <a:ea typeface="黑体" pitchFamily="49" charset="-122"/>
              </a:rPr>
              <a:t>3]</a:t>
            </a:r>
            <a:r>
              <a:rPr lang="zh-CN" altLang="en-US" sz="3200">
                <a:ea typeface="黑体" pitchFamily="49" charset="-122"/>
              </a:rPr>
              <a:t>续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95400" y="1341439"/>
            <a:ext cx="8147050" cy="46815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解：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(2)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当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2≤x≤3, 1≤x-z≤2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时，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0≤z≤2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0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        现求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令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3-x=x-z-1,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得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=2+z/2,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则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                 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</a:rPr>
              <a:t>(</a:t>
            </a:r>
            <a:r>
              <a:rPr lang="en-US" altLang="zh-CN" sz="2800" u="sng" dirty="0">
                <a:solidFill>
                  <a:srgbClr val="E90101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</a:rPr>
              <a:t>-</a:t>
            </a:r>
            <a:r>
              <a:rPr lang="en-US" altLang="zh-CN" sz="2800" u="sng" dirty="0">
                <a:solidFill>
                  <a:srgbClr val="E90101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rgbClr val="E90101"/>
                </a:solidFill>
                <a:ea typeface="黑体" pitchFamily="49" charset="-122"/>
              </a:rPr>
              <a:t>)(z)=1-z/2,    0&lt; z≤2</a:t>
            </a:r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06276"/>
              </p:ext>
            </p:extLst>
          </p:nvPr>
        </p:nvGraphicFramePr>
        <p:xfrm>
          <a:off x="1703512" y="1989138"/>
          <a:ext cx="41036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41500" imgH="279400" progId="Equation.3">
                  <p:embed/>
                </p:oleObj>
              </mc:Choice>
              <mc:Fallback>
                <p:oleObj name="公式" r:id="rId2" imgW="1841500" imgH="279400" progId="Equation.3">
                  <p:embed/>
                  <p:pic>
                    <p:nvPicPr>
                      <p:cNvPr id="409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1989138"/>
                        <a:ext cx="410368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992136"/>
              </p:ext>
            </p:extLst>
          </p:nvPr>
        </p:nvGraphicFramePr>
        <p:xfrm>
          <a:off x="3100512" y="2636838"/>
          <a:ext cx="43513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30400" imgH="279400" progId="Equation.3">
                  <p:embed/>
                </p:oleObj>
              </mc:Choice>
              <mc:Fallback>
                <p:oleObj name="公式" r:id="rId4" imgW="1930400" imgH="279400" progId="Equation.3">
                  <p:embed/>
                  <p:pic>
                    <p:nvPicPr>
                      <p:cNvPr id="409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512" y="2636838"/>
                        <a:ext cx="435133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85443931"/>
              </p:ext>
            </p:extLst>
          </p:nvPr>
        </p:nvGraphicFramePr>
        <p:xfrm>
          <a:off x="1869758" y="4642462"/>
          <a:ext cx="5084175" cy="1945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57400" imgH="787400" progId="Equation.3">
                  <p:embed/>
                </p:oleObj>
              </mc:Choice>
              <mc:Fallback>
                <p:oleObj name="公式" r:id="rId6" imgW="2057400" imgH="787400" progId="Equation.3">
                  <p:embed/>
                  <p:pic>
                    <p:nvPicPr>
                      <p:cNvPr id="409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9758" y="4642462"/>
                        <a:ext cx="5084175" cy="1945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 descr="图表, 折线图&#10;&#10;描述已自动生成">
            <a:extLst>
              <a:ext uri="{FF2B5EF4-FFF2-40B4-BE49-F238E27FC236}">
                <a16:creationId xmlns:a16="http://schemas.microsoft.com/office/drawing/2014/main" id="{6F3F69C6-BDBF-8044-DB20-2F1AD9A32AD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068" y="3894123"/>
            <a:ext cx="4987596" cy="2847245"/>
          </a:xfrm>
          <a:prstGeom prst="rect">
            <a:avLst/>
          </a:prstGeom>
          <a:effectLst>
            <a:glow rad="127000">
              <a:srgbClr val="B5FDCD"/>
            </a:glo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B0D895C-E9D2-C9E4-EE47-7B28E316AD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9336" y="6272545"/>
            <a:ext cx="517848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9079117E-E061-50D6-DAD5-BEA5EFE55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349050"/>
              </p:ext>
            </p:extLst>
          </p:nvPr>
        </p:nvGraphicFramePr>
        <p:xfrm>
          <a:off x="7796041" y="1167606"/>
          <a:ext cx="38163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612900" imgH="482600" progId="Equation.3">
                  <p:embed/>
                </p:oleObj>
              </mc:Choice>
              <mc:Fallback>
                <p:oleObj name="公式" r:id="rId9" imgW="1612900" imgH="482600" progId="Equation.3">
                  <p:embed/>
                  <p:pic>
                    <p:nvPicPr>
                      <p:cNvPr id="399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6041" y="1167606"/>
                        <a:ext cx="381635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BB5CAF5A-8A39-4290-51FB-026245F7E772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076499735"/>
              </p:ext>
            </p:extLst>
          </p:nvPr>
        </p:nvGraphicFramePr>
        <p:xfrm>
          <a:off x="7508704" y="2104231"/>
          <a:ext cx="4608512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336800" imgH="482600" progId="Equation.3">
                  <p:embed/>
                </p:oleObj>
              </mc:Choice>
              <mc:Fallback>
                <p:oleObj name="公式" r:id="rId11" imgW="2336800" imgH="482600" progId="Equation.3">
                  <p:embed/>
                  <p:pic>
                    <p:nvPicPr>
                      <p:cNvPr id="399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704" y="2104231"/>
                        <a:ext cx="4608512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157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数运算举例</a:t>
            </a:r>
            <a:r>
              <a:rPr lang="en-US" altLang="zh-CN" sz="3200">
                <a:ea typeface="黑体" pitchFamily="49" charset="-122"/>
              </a:rPr>
              <a:t>[P130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>
                <a:ea typeface="黑体" pitchFamily="49" charset="-122"/>
              </a:rPr>
              <a:t>3]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2060576"/>
            <a:ext cx="8147050" cy="47974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解：</a:t>
            </a:r>
            <a:r>
              <a:rPr lang="en-US" altLang="zh-CN" sz="2400" u="sng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又可表示为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     (1)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当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1≤x≤2, 1 ≤z/x≤2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时，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1≤z≤4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   现求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令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x-1=z/x-1,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得           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则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                 </a:t>
            </a:r>
          </a:p>
        </p:txBody>
      </p:sp>
      <p:graphicFrame>
        <p:nvGraphicFramePr>
          <p:cNvPr id="4198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394068476"/>
              </p:ext>
            </p:extLst>
          </p:nvPr>
        </p:nvGraphicFramePr>
        <p:xfrm>
          <a:off x="3719736" y="1989138"/>
          <a:ext cx="381635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12900" imgH="482600" progId="Equation.3">
                  <p:embed/>
                </p:oleObj>
              </mc:Choice>
              <mc:Fallback>
                <p:oleObj name="公式" r:id="rId2" imgW="1612900" imgH="482600" progId="Equation.3">
                  <p:embed/>
                  <p:pic>
                    <p:nvPicPr>
                      <p:cNvPr id="419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6" y="1989138"/>
                        <a:ext cx="3816350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536335432"/>
              </p:ext>
            </p:extLst>
          </p:nvPr>
        </p:nvGraphicFramePr>
        <p:xfrm>
          <a:off x="1135137" y="1052513"/>
          <a:ext cx="416877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43100" imgH="469900" progId="Equation.3">
                  <p:embed/>
                </p:oleObj>
              </mc:Choice>
              <mc:Fallback>
                <p:oleObj name="公式" r:id="rId4" imgW="1943100" imgH="469900" progId="Equation.3">
                  <p:embed/>
                  <p:pic>
                    <p:nvPicPr>
                      <p:cNvPr id="419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137" y="1052513"/>
                        <a:ext cx="4168775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767864439"/>
              </p:ext>
            </p:extLst>
          </p:nvPr>
        </p:nvGraphicFramePr>
        <p:xfrm>
          <a:off x="3791744" y="2852738"/>
          <a:ext cx="3298825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480" imgH="838080" progId="Equation.DSMT4">
                  <p:embed/>
                </p:oleObj>
              </mc:Choice>
              <mc:Fallback>
                <p:oleObj name="Equation" r:id="rId6" imgW="1752480" imgH="838080" progId="Equation.DSMT4">
                  <p:embed/>
                  <p:pic>
                    <p:nvPicPr>
                      <p:cNvPr id="419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2852738"/>
                        <a:ext cx="3298825" cy="157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2135188" y="4724400"/>
          <a:ext cx="3678237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51000" imgH="393700" progId="Equation.DSMT4">
                  <p:embed/>
                </p:oleObj>
              </mc:Choice>
              <mc:Fallback>
                <p:oleObj name="Equation" r:id="rId8" imgW="1651000" imgH="393700" progId="Equation.DSMT4">
                  <p:embed/>
                  <p:pic>
                    <p:nvPicPr>
                      <p:cNvPr id="419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4724400"/>
                        <a:ext cx="3678237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5821363" y="4724401"/>
          <a:ext cx="4005262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26920" imgH="393480" progId="Equation.DSMT4">
                  <p:embed/>
                </p:oleObj>
              </mc:Choice>
              <mc:Fallback>
                <p:oleObj name="Equation" r:id="rId10" imgW="1726920" imgH="393480" progId="Equation.DSMT4">
                  <p:embed/>
                  <p:pic>
                    <p:nvPicPr>
                      <p:cNvPr id="419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1363" y="4724401"/>
                        <a:ext cx="4005262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577864"/>
              </p:ext>
            </p:extLst>
          </p:nvPr>
        </p:nvGraphicFramePr>
        <p:xfrm>
          <a:off x="5375920" y="5661248"/>
          <a:ext cx="11525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20474" imgH="253890" progId="Equation.3">
                  <p:embed/>
                </p:oleObj>
              </mc:Choice>
              <mc:Fallback>
                <p:oleObj name="公式" r:id="rId12" imgW="520474" imgH="253890" progId="Equation.3">
                  <p:embed/>
                  <p:pic>
                    <p:nvPicPr>
                      <p:cNvPr id="419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920" y="5661248"/>
                        <a:ext cx="11525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831470"/>
              </p:ext>
            </p:extLst>
          </p:nvPr>
        </p:nvGraphicFramePr>
        <p:xfrm>
          <a:off x="3071813" y="6237312"/>
          <a:ext cx="40449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816100" imgH="241300" progId="Equation.3">
                  <p:embed/>
                </p:oleObj>
              </mc:Choice>
              <mc:Fallback>
                <p:oleObj name="公式" r:id="rId14" imgW="1816100" imgH="241300" progId="Equation.3">
                  <p:embed/>
                  <p:pic>
                    <p:nvPicPr>
                      <p:cNvPr id="419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6237312"/>
                        <a:ext cx="40449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6EB1B0-BC42-B1B8-BBFD-177ACF9755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413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39664C-2953-0422-674F-915E2F010EA7}"/>
              </a:ext>
            </a:extLst>
          </p:cNvPr>
          <p:cNvSpPr/>
          <p:nvPr/>
        </p:nvSpPr>
        <p:spPr>
          <a:xfrm>
            <a:off x="8030444" y="1109414"/>
            <a:ext cx="4114228" cy="2424116"/>
          </a:xfrm>
          <a:prstGeom prst="rect">
            <a:avLst/>
          </a:prstGeom>
          <a:solidFill>
            <a:srgbClr val="CCFFFF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E9010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数运算举例</a:t>
            </a:r>
            <a:r>
              <a:rPr lang="en-US" altLang="zh-CN" sz="3200">
                <a:ea typeface="黑体" pitchFamily="49" charset="-122"/>
              </a:rPr>
              <a:t>[P130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>
                <a:ea typeface="黑体" pitchFamily="49" charset="-122"/>
              </a:rPr>
              <a:t>3]</a:t>
            </a:r>
            <a:r>
              <a:rPr lang="zh-CN" altLang="en-US" sz="3200">
                <a:ea typeface="黑体" pitchFamily="49" charset="-122"/>
              </a:rPr>
              <a:t>续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341439"/>
            <a:ext cx="8147050" cy="46815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解：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(2)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当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2≤x≤3, 2 ≤z/x≤3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时，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4≤z≤9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0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        现求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令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3-x=3-z/x,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得             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则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E90101"/>
              </a:solidFill>
              <a:ea typeface="黑体" pitchFamily="49" charset="-122"/>
            </a:endParaRPr>
          </a:p>
        </p:txBody>
      </p:sp>
      <p:graphicFrame>
        <p:nvGraphicFramePr>
          <p:cNvPr id="43014" name="Object 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936280821"/>
              </p:ext>
            </p:extLst>
          </p:nvPr>
        </p:nvGraphicFramePr>
        <p:xfrm>
          <a:off x="1919536" y="5166891"/>
          <a:ext cx="5081780" cy="1278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19300" imgH="508000" progId="Equation.3">
                  <p:embed/>
                </p:oleObj>
              </mc:Choice>
              <mc:Fallback>
                <p:oleObj name="公式" r:id="rId2" imgW="2019300" imgH="508000" progId="Equation.3">
                  <p:embed/>
                  <p:pic>
                    <p:nvPicPr>
                      <p:cNvPr id="430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5166891"/>
                        <a:ext cx="5081780" cy="1278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124342"/>
              </p:ext>
            </p:extLst>
          </p:nvPr>
        </p:nvGraphicFramePr>
        <p:xfrm>
          <a:off x="1991544" y="1772816"/>
          <a:ext cx="367823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1000" imgH="393700" progId="Equation.3">
                  <p:embed/>
                </p:oleObj>
              </mc:Choice>
              <mc:Fallback>
                <p:oleObj name="公式" r:id="rId4" imgW="1651000" imgH="393700" progId="Equation.3">
                  <p:embed/>
                  <p:pic>
                    <p:nvPicPr>
                      <p:cNvPr id="43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1772816"/>
                        <a:ext cx="3678238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544603"/>
              </p:ext>
            </p:extLst>
          </p:nvPr>
        </p:nvGraphicFramePr>
        <p:xfrm>
          <a:off x="3344094" y="2436392"/>
          <a:ext cx="40068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77229" imgH="393529" progId="Equation.3">
                  <p:embed/>
                </p:oleObj>
              </mc:Choice>
              <mc:Fallback>
                <p:oleObj name="公式" r:id="rId6" imgW="1777229" imgH="393529" progId="Equation.3">
                  <p:embed/>
                  <p:pic>
                    <p:nvPicPr>
                      <p:cNvPr id="430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094" y="2436392"/>
                        <a:ext cx="40068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694498951"/>
              </p:ext>
            </p:extLst>
          </p:nvPr>
        </p:nvGraphicFramePr>
        <p:xfrm>
          <a:off x="5935093" y="3207914"/>
          <a:ext cx="11525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20474" imgH="253890" progId="Equation.3">
                  <p:embed/>
                </p:oleObj>
              </mc:Choice>
              <mc:Fallback>
                <p:oleObj name="公式" r:id="rId8" imgW="520474" imgH="253890" progId="Equation.3">
                  <p:embed/>
                  <p:pic>
                    <p:nvPicPr>
                      <p:cNvPr id="430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5093" y="3207914"/>
                        <a:ext cx="11525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546363"/>
              </p:ext>
            </p:extLst>
          </p:nvPr>
        </p:nvGraphicFramePr>
        <p:xfrm>
          <a:off x="2711624" y="3860801"/>
          <a:ext cx="415766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66900" imgH="241300" progId="Equation.3">
                  <p:embed/>
                </p:oleObj>
              </mc:Choice>
              <mc:Fallback>
                <p:oleObj name="公式" r:id="rId10" imgW="1866900" imgH="241300" progId="Equation.3">
                  <p:embed/>
                  <p:pic>
                    <p:nvPicPr>
                      <p:cNvPr id="430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3860801"/>
                        <a:ext cx="4157662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 descr="图表, 折线图&#10;&#10;描述已自动生成">
            <a:extLst>
              <a:ext uri="{FF2B5EF4-FFF2-40B4-BE49-F238E27FC236}">
                <a16:creationId xmlns:a16="http://schemas.microsoft.com/office/drawing/2014/main" id="{4962580F-B1BE-F909-915C-F6E72B827C9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168" y="3955947"/>
            <a:ext cx="4560079" cy="2797817"/>
          </a:xfrm>
          <a:prstGeom prst="rect">
            <a:avLst/>
          </a:prstGeom>
          <a:effectLst>
            <a:glow rad="127000">
              <a:srgbClr val="B5FDCD"/>
            </a:glo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CC6954-3EE6-84BA-1C9D-9527AEFC1C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9336" y="6216793"/>
            <a:ext cx="445840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D788D490-E6A2-6F27-CFAC-C16685A9DE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448383"/>
              </p:ext>
            </p:extLst>
          </p:nvPr>
        </p:nvGraphicFramePr>
        <p:xfrm>
          <a:off x="8236446" y="1108809"/>
          <a:ext cx="381635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612900" imgH="482600" progId="Equation.3">
                  <p:embed/>
                </p:oleObj>
              </mc:Choice>
              <mc:Fallback>
                <p:oleObj name="公式" r:id="rId13" imgW="1612900" imgH="482600" progId="Equation.3">
                  <p:embed/>
                  <p:pic>
                    <p:nvPicPr>
                      <p:cNvPr id="419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6446" y="1108809"/>
                        <a:ext cx="3816350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879BF8B5-7C24-FFFC-4FFC-208AA5238B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071349"/>
              </p:ext>
            </p:extLst>
          </p:nvPr>
        </p:nvGraphicFramePr>
        <p:xfrm>
          <a:off x="8308454" y="1972409"/>
          <a:ext cx="3298825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52480" imgH="838080" progId="Equation.DSMT4">
                  <p:embed/>
                </p:oleObj>
              </mc:Choice>
              <mc:Fallback>
                <p:oleObj name="Equation" r:id="rId15" imgW="1752480" imgH="838080" progId="Equation.DSMT4">
                  <p:embed/>
                  <p:pic>
                    <p:nvPicPr>
                      <p:cNvPr id="419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8454" y="1972409"/>
                        <a:ext cx="3298825" cy="157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166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数运算举例</a:t>
            </a:r>
            <a:r>
              <a:rPr lang="en-US" altLang="zh-CN" sz="3200">
                <a:ea typeface="黑体" pitchFamily="49" charset="-122"/>
              </a:rPr>
              <a:t>[P130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>
                <a:ea typeface="黑体" pitchFamily="49" charset="-122"/>
              </a:rPr>
              <a:t>3]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97732" y="2060575"/>
            <a:ext cx="8147050" cy="47974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解：</a:t>
            </a:r>
            <a:r>
              <a:rPr lang="en-US" altLang="zh-CN" sz="2400" u="sng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又可表示为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1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     (1)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当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1≤x≤2, 2 ≤x/z≤3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时，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1/3≤z≤1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9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       现求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令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x-1=3-x/z, 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得                     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则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                 </a:t>
            </a:r>
          </a:p>
        </p:txBody>
      </p:sp>
      <p:graphicFrame>
        <p:nvGraphicFramePr>
          <p:cNvPr id="4403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832562416"/>
              </p:ext>
            </p:extLst>
          </p:nvPr>
        </p:nvGraphicFramePr>
        <p:xfrm>
          <a:off x="3935834" y="1989138"/>
          <a:ext cx="381635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12900" imgH="482600" progId="Equation.3">
                  <p:embed/>
                </p:oleObj>
              </mc:Choice>
              <mc:Fallback>
                <p:oleObj name="公式" r:id="rId2" imgW="1612900" imgH="482600" progId="Equation.3">
                  <p:embed/>
                  <p:pic>
                    <p:nvPicPr>
                      <p:cNvPr id="440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834" y="1989138"/>
                        <a:ext cx="3816350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459380355"/>
              </p:ext>
            </p:extLst>
          </p:nvPr>
        </p:nvGraphicFramePr>
        <p:xfrm>
          <a:off x="1343472" y="1055688"/>
          <a:ext cx="4168775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55800" imgH="469900" progId="Equation.3">
                  <p:embed/>
                </p:oleObj>
              </mc:Choice>
              <mc:Fallback>
                <p:oleObj name="公式" r:id="rId4" imgW="1955800" imgH="469900" progId="Equation.3">
                  <p:embed/>
                  <p:pic>
                    <p:nvPicPr>
                      <p:cNvPr id="440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1055688"/>
                        <a:ext cx="4168775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876993231"/>
              </p:ext>
            </p:extLst>
          </p:nvPr>
        </p:nvGraphicFramePr>
        <p:xfrm>
          <a:off x="3935090" y="2852738"/>
          <a:ext cx="3298825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480" imgH="838080" progId="Equation.DSMT4">
                  <p:embed/>
                </p:oleObj>
              </mc:Choice>
              <mc:Fallback>
                <p:oleObj name="Equation" r:id="rId6" imgW="1752480" imgH="838080" progId="Equation.DSMT4">
                  <p:embed/>
                  <p:pic>
                    <p:nvPicPr>
                      <p:cNvPr id="440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090" y="2852738"/>
                        <a:ext cx="3298825" cy="157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597004"/>
              </p:ext>
            </p:extLst>
          </p:nvPr>
        </p:nvGraphicFramePr>
        <p:xfrm>
          <a:off x="2747218" y="4711354"/>
          <a:ext cx="3706812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63700" imgH="393700" progId="Equation.3">
                  <p:embed/>
                </p:oleObj>
              </mc:Choice>
              <mc:Fallback>
                <p:oleObj name="公式" r:id="rId8" imgW="1663700" imgH="393700" progId="Equation.3">
                  <p:embed/>
                  <p:pic>
                    <p:nvPicPr>
                      <p:cNvPr id="440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218" y="4711354"/>
                        <a:ext cx="3706812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81358"/>
              </p:ext>
            </p:extLst>
          </p:nvPr>
        </p:nvGraphicFramePr>
        <p:xfrm>
          <a:off x="6433394" y="4652963"/>
          <a:ext cx="297497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82680" imgH="393480" progId="Equation.DSMT4">
                  <p:embed/>
                </p:oleObj>
              </mc:Choice>
              <mc:Fallback>
                <p:oleObj name="Equation" r:id="rId10" imgW="1282680" imgH="393480" progId="Equation.DSMT4">
                  <p:embed/>
                  <p:pic>
                    <p:nvPicPr>
                      <p:cNvPr id="440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3394" y="4652963"/>
                        <a:ext cx="2974975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580870"/>
              </p:ext>
            </p:extLst>
          </p:nvPr>
        </p:nvGraphicFramePr>
        <p:xfrm>
          <a:off x="5159896" y="5384840"/>
          <a:ext cx="16224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5480" imgH="393480" progId="Equation.DSMT4">
                  <p:embed/>
                </p:oleObj>
              </mc:Choice>
              <mc:Fallback>
                <p:oleObj name="Equation" r:id="rId12" imgW="825480" imgH="393480" progId="Equation.DSMT4">
                  <p:embed/>
                  <p:pic>
                    <p:nvPicPr>
                      <p:cNvPr id="440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96" y="5384840"/>
                        <a:ext cx="16224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598503"/>
              </p:ext>
            </p:extLst>
          </p:nvPr>
        </p:nvGraphicFramePr>
        <p:xfrm>
          <a:off x="2676004" y="6013531"/>
          <a:ext cx="43561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55800" imgH="393700" progId="Equation.3">
                  <p:embed/>
                </p:oleObj>
              </mc:Choice>
              <mc:Fallback>
                <p:oleObj name="公式" r:id="rId14" imgW="1955800" imgH="393700" progId="Equation.3">
                  <p:embed/>
                  <p:pic>
                    <p:nvPicPr>
                      <p:cNvPr id="440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004" y="6013531"/>
                        <a:ext cx="43561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0DD857-D4B9-4973-69EE-B1C61741D2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818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3D2DF7A-5ACF-A2D7-4AF6-E4771EB2AB50}"/>
              </a:ext>
            </a:extLst>
          </p:cNvPr>
          <p:cNvSpPr/>
          <p:nvPr/>
        </p:nvSpPr>
        <p:spPr>
          <a:xfrm>
            <a:off x="8059458" y="564212"/>
            <a:ext cx="4114228" cy="2424116"/>
          </a:xfrm>
          <a:prstGeom prst="rect">
            <a:avLst/>
          </a:prstGeom>
          <a:solidFill>
            <a:srgbClr val="CCFFFF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E9010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11433" y="260169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数运算举例</a:t>
            </a:r>
            <a:r>
              <a:rPr lang="en-US" altLang="zh-CN" sz="3200" dirty="0">
                <a:ea typeface="黑体" pitchFamily="49" charset="-122"/>
              </a:rPr>
              <a:t>[P130</a:t>
            </a:r>
            <a:r>
              <a:rPr lang="zh-CN" altLang="en-US" sz="3200" dirty="0">
                <a:ea typeface="黑体" pitchFamily="49" charset="-122"/>
              </a:rPr>
              <a:t>例</a:t>
            </a:r>
            <a:r>
              <a:rPr lang="en-US" altLang="zh-CN" sz="3200" dirty="0">
                <a:ea typeface="黑体" pitchFamily="49" charset="-122"/>
              </a:rPr>
              <a:t>3]</a:t>
            </a:r>
            <a:r>
              <a:rPr lang="zh-CN" altLang="en-US" sz="3200" dirty="0">
                <a:ea typeface="黑体" pitchFamily="49" charset="-122"/>
              </a:rPr>
              <a:t>续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60720" y="1341439"/>
            <a:ext cx="8147050" cy="46815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解：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(2)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当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2≤x≤3, 1 ≤x/z≤2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时，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1≤z≤3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   求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令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3-x=3-z/x,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得                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则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E90101"/>
              </a:solidFill>
              <a:ea typeface="黑体" pitchFamily="49" charset="-122"/>
            </a:endParaRPr>
          </a:p>
        </p:txBody>
      </p:sp>
      <p:graphicFrame>
        <p:nvGraphicFramePr>
          <p:cNvPr id="4506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815435092"/>
              </p:ext>
            </p:extLst>
          </p:nvPr>
        </p:nvGraphicFramePr>
        <p:xfrm>
          <a:off x="983432" y="4863927"/>
          <a:ext cx="5256212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33600" imgH="787400" progId="Equation.3">
                  <p:embed/>
                </p:oleObj>
              </mc:Choice>
              <mc:Fallback>
                <p:oleObj name="公式" r:id="rId2" imgW="2133600" imgH="787400" progId="Equation.3">
                  <p:embed/>
                  <p:pic>
                    <p:nvPicPr>
                      <p:cNvPr id="450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4863927"/>
                        <a:ext cx="5256212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092653"/>
              </p:ext>
            </p:extLst>
          </p:nvPr>
        </p:nvGraphicFramePr>
        <p:xfrm>
          <a:off x="1631504" y="1989138"/>
          <a:ext cx="370681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63700" imgH="393700" progId="Equation.3">
                  <p:embed/>
                </p:oleObj>
              </mc:Choice>
              <mc:Fallback>
                <p:oleObj name="公式" r:id="rId4" imgW="1663700" imgH="393700" progId="Equation.3">
                  <p:embed/>
                  <p:pic>
                    <p:nvPicPr>
                      <p:cNvPr id="450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1989138"/>
                        <a:ext cx="3706812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104271"/>
              </p:ext>
            </p:extLst>
          </p:nvPr>
        </p:nvGraphicFramePr>
        <p:xfrm>
          <a:off x="5293394" y="1988840"/>
          <a:ext cx="289083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82700" imgH="393700" progId="Equation.3">
                  <p:embed/>
                </p:oleObj>
              </mc:Choice>
              <mc:Fallback>
                <p:oleObj name="公式" r:id="rId6" imgW="1282700" imgH="393700" progId="Equation.3">
                  <p:embed/>
                  <p:pic>
                    <p:nvPicPr>
                      <p:cNvPr id="450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3394" y="1988840"/>
                        <a:ext cx="289083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603865"/>
              </p:ext>
            </p:extLst>
          </p:nvPr>
        </p:nvGraphicFramePr>
        <p:xfrm>
          <a:off x="2491046" y="3690939"/>
          <a:ext cx="4270375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16868" imgH="393529" progId="Equation.3">
                  <p:embed/>
                </p:oleObj>
              </mc:Choice>
              <mc:Fallback>
                <p:oleObj name="公式" r:id="rId8" imgW="1916868" imgH="393529" progId="Equation.3">
                  <p:embed/>
                  <p:pic>
                    <p:nvPicPr>
                      <p:cNvPr id="450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1046" y="3690939"/>
                        <a:ext cx="4270375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257140"/>
              </p:ext>
            </p:extLst>
          </p:nvPr>
        </p:nvGraphicFramePr>
        <p:xfrm>
          <a:off x="5154027" y="2765425"/>
          <a:ext cx="1624012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5480" imgH="393480" progId="Equation.DSMT4">
                  <p:embed/>
                </p:oleObj>
              </mc:Choice>
              <mc:Fallback>
                <p:oleObj name="Equation" r:id="rId10" imgW="825480" imgH="393480" progId="Equation.DSMT4">
                  <p:embed/>
                  <p:pic>
                    <p:nvPicPr>
                      <p:cNvPr id="450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4027" y="2765425"/>
                        <a:ext cx="1624012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 descr="图表, 折线图&#10;&#10;描述已自动生成">
            <a:extLst>
              <a:ext uri="{FF2B5EF4-FFF2-40B4-BE49-F238E27FC236}">
                <a16:creationId xmlns:a16="http://schemas.microsoft.com/office/drawing/2014/main" id="{0321BBA3-61E7-B1BD-D18F-11DB82977F6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211" y="3690939"/>
            <a:ext cx="5094386" cy="3073705"/>
          </a:xfrm>
          <a:prstGeom prst="rect">
            <a:avLst/>
          </a:prstGeom>
          <a:effectLst>
            <a:glow rad="127000">
              <a:srgbClr val="B5FDCD"/>
            </a:glo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91E7FD-93D5-6E2C-20C5-F565198944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7913" y="6295821"/>
            <a:ext cx="517848" cy="457200"/>
          </a:xfrm>
        </p:spPr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B899D1FF-0D97-F8AA-BCE8-7F2AAB93A7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956519"/>
              </p:ext>
            </p:extLst>
          </p:nvPr>
        </p:nvGraphicFramePr>
        <p:xfrm>
          <a:off x="8351838" y="549094"/>
          <a:ext cx="381635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612900" imgH="482600" progId="Equation.3">
                  <p:embed/>
                </p:oleObj>
              </mc:Choice>
              <mc:Fallback>
                <p:oleObj name="公式" r:id="rId13" imgW="1612900" imgH="482600" progId="Equation.3">
                  <p:embed/>
                  <p:pic>
                    <p:nvPicPr>
                      <p:cNvPr id="440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38" y="549094"/>
                        <a:ext cx="3816350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AE88B836-621E-E5C5-0131-2E202F974A00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994114133"/>
              </p:ext>
            </p:extLst>
          </p:nvPr>
        </p:nvGraphicFramePr>
        <p:xfrm>
          <a:off x="8351094" y="1412694"/>
          <a:ext cx="3298825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52480" imgH="838080" progId="Equation.DSMT4">
                  <p:embed/>
                </p:oleObj>
              </mc:Choice>
              <mc:Fallback>
                <p:oleObj name="Equation" r:id="rId15" imgW="1752480" imgH="838080" progId="Equation.DSMT4">
                  <p:embed/>
                  <p:pic>
                    <p:nvPicPr>
                      <p:cNvPr id="440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094" y="1412694"/>
                        <a:ext cx="3298825" cy="157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717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船, 水, 天空, 户外&#10;&#10;描述已自动生成">
            <a:extLst>
              <a:ext uri="{FF2B5EF4-FFF2-40B4-BE49-F238E27FC236}">
                <a16:creationId xmlns:a16="http://schemas.microsoft.com/office/drawing/2014/main" id="{3FC71BCC-59DE-466B-8387-284311917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517" y="3831088"/>
            <a:ext cx="8712966" cy="2804801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789A555-44C9-4379-AD82-16CFF3F1E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650" y="100993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数运算举例</a:t>
            </a:r>
            <a:endParaRPr lang="zh-CN" altLang="en-US" dirty="0"/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DC65C957-04C4-467A-8283-1889469C9E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355103"/>
              </p:ext>
            </p:extLst>
          </p:nvPr>
        </p:nvGraphicFramePr>
        <p:xfrm>
          <a:off x="1290261" y="1290039"/>
          <a:ext cx="3768204" cy="1305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480" imgH="457200" progId="Equation.DSMT4">
                  <p:embed/>
                </p:oleObj>
              </mc:Choice>
              <mc:Fallback>
                <p:oleObj name="Equation" r:id="rId3" imgW="1320480" imgH="45720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DC65C957-04C4-467A-8283-1889469C9E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261" y="1290039"/>
                        <a:ext cx="3768204" cy="1305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0CD00CCC-FB15-4CC2-AA29-E07F53D91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3517" y="4315542"/>
          <a:ext cx="62706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1960" imgH="215640" progId="Equation.DSMT4">
                  <p:embed/>
                </p:oleObj>
              </mc:Choice>
              <mc:Fallback>
                <p:oleObj name="Equation" r:id="rId5" imgW="291960" imgH="21564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0CD00CCC-FB15-4CC2-AA29-E07F53D91E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3517" y="4315542"/>
                        <a:ext cx="62706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203FC8A0-034A-4841-AFA5-C3DB62CD48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9856" y="3253482"/>
          <a:ext cx="2730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720" imgH="215640" progId="Equation.DSMT4">
                  <p:embed/>
                </p:oleObj>
              </mc:Choice>
              <mc:Fallback>
                <p:oleObj name="Equation" r:id="rId7" imgW="126720" imgH="215640" progId="Equation.DSMT4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203FC8A0-034A-4841-AFA5-C3DB62CD48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856" y="3253482"/>
                        <a:ext cx="2730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1E1FE3B3-A5C7-48F1-80AD-E6EA17B11D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9656" y="3212976"/>
          <a:ext cx="7096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0120" imgH="215640" progId="Equation.DSMT4">
                  <p:embed/>
                </p:oleObj>
              </mc:Choice>
              <mc:Fallback>
                <p:oleObj name="Equation" r:id="rId9" imgW="330120" imgH="215640" progId="Equation.DSMT4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1E1FE3B3-A5C7-48F1-80AD-E6EA17B11D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3212976"/>
                        <a:ext cx="7096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1D784949-3F06-4177-9D9E-EBE5948454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2701" y="3244850"/>
          <a:ext cx="7096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120" imgH="215640" progId="Equation.DSMT4">
                  <p:embed/>
                </p:oleObj>
              </mc:Choice>
              <mc:Fallback>
                <p:oleObj name="Equation" r:id="rId11" imgW="330120" imgH="215640" progId="Equation.DSMT4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1D784949-3F06-4177-9D9E-EBE5948454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1" y="3244850"/>
                        <a:ext cx="7096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0769FBE6-6EB9-4C13-BED1-9F35666D69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234463"/>
              </p:ext>
            </p:extLst>
          </p:nvPr>
        </p:nvGraphicFramePr>
        <p:xfrm>
          <a:off x="8160780" y="4765650"/>
          <a:ext cx="68103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7160" imgH="215640" progId="Equation.DSMT4">
                  <p:embed/>
                </p:oleObj>
              </mc:Choice>
              <mc:Fallback>
                <p:oleObj name="Equation" r:id="rId13" imgW="317160" imgH="21564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0769FBE6-6EB9-4C13-BED1-9F35666D69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0780" y="4765650"/>
                        <a:ext cx="681037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35976A19-3099-440F-BF4F-F1189C796F6D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577235707"/>
              </p:ext>
            </p:extLst>
          </p:nvPr>
        </p:nvGraphicFramePr>
        <p:xfrm>
          <a:off x="8442464" y="188640"/>
          <a:ext cx="3486184" cy="1412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943100" imgH="787400" progId="Equation.3">
                  <p:embed/>
                </p:oleObj>
              </mc:Choice>
              <mc:Fallback>
                <p:oleObj name="公式" r:id="rId15" imgW="1943100" imgH="787400" progId="Equation.3">
                  <p:embed/>
                  <p:pic>
                    <p:nvPicPr>
                      <p:cNvPr id="15" name="Object 16">
                        <a:extLst>
                          <a:ext uri="{FF2B5EF4-FFF2-40B4-BE49-F238E27FC236}">
                            <a16:creationId xmlns:a16="http://schemas.microsoft.com/office/drawing/2014/main" id="{35976A19-3099-440F-BF4F-F1189C796F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2464" y="188640"/>
                        <a:ext cx="3486184" cy="1412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2D0B1425-7FCD-42E5-960D-6B517ABC5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329522"/>
              </p:ext>
            </p:extLst>
          </p:nvPr>
        </p:nvGraphicFramePr>
        <p:xfrm>
          <a:off x="8605723" y="1560240"/>
          <a:ext cx="3289794" cy="1258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057400" imgH="787400" progId="Equation.3">
                  <p:embed/>
                </p:oleObj>
              </mc:Choice>
              <mc:Fallback>
                <p:oleObj name="公式" r:id="rId17" imgW="2057400" imgH="787400" progId="Equation.3">
                  <p:embed/>
                  <p:pic>
                    <p:nvPicPr>
                      <p:cNvPr id="16" name="Object 6">
                        <a:extLst>
                          <a:ext uri="{FF2B5EF4-FFF2-40B4-BE49-F238E27FC236}">
                            <a16:creationId xmlns:a16="http://schemas.microsoft.com/office/drawing/2014/main" id="{2D0B1425-7FCD-42E5-960D-6B517ABC5A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5723" y="1560240"/>
                        <a:ext cx="3289794" cy="12588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>
            <a:extLst>
              <a:ext uri="{FF2B5EF4-FFF2-40B4-BE49-F238E27FC236}">
                <a16:creationId xmlns:a16="http://schemas.microsoft.com/office/drawing/2014/main" id="{11C79134-871B-410D-80AA-F40CF725CF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510760"/>
              </p:ext>
            </p:extLst>
          </p:nvPr>
        </p:nvGraphicFramePr>
        <p:xfrm>
          <a:off x="8363961" y="2819752"/>
          <a:ext cx="3852719" cy="96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019300" imgH="508000" progId="Equation.3">
                  <p:embed/>
                </p:oleObj>
              </mc:Choice>
              <mc:Fallback>
                <p:oleObj name="公式" r:id="rId19" imgW="2019300" imgH="508000" progId="Equation.3">
                  <p:embed/>
                  <p:pic>
                    <p:nvPicPr>
                      <p:cNvPr id="17" name="Object 6">
                        <a:extLst>
                          <a:ext uri="{FF2B5EF4-FFF2-40B4-BE49-F238E27FC236}">
                            <a16:creationId xmlns:a16="http://schemas.microsoft.com/office/drawing/2014/main" id="{11C79134-871B-410D-80AA-F40CF725CF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3961" y="2819752"/>
                        <a:ext cx="3852719" cy="96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70DC45D9-6C82-49A0-BBDD-7B623E2F5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738175"/>
              </p:ext>
            </p:extLst>
          </p:nvPr>
        </p:nvGraphicFramePr>
        <p:xfrm>
          <a:off x="8514721" y="3798620"/>
          <a:ext cx="3485935" cy="1286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133600" imgH="787400" progId="Equation.3">
                  <p:embed/>
                </p:oleObj>
              </mc:Choice>
              <mc:Fallback>
                <p:oleObj name="公式" r:id="rId21" imgW="2133600" imgH="787400" progId="Equation.3">
                  <p:embed/>
                  <p:pic>
                    <p:nvPicPr>
                      <p:cNvPr id="18" name="Object 4">
                        <a:extLst>
                          <a:ext uri="{FF2B5EF4-FFF2-40B4-BE49-F238E27FC236}">
                            <a16:creationId xmlns:a16="http://schemas.microsoft.com/office/drawing/2014/main" id="{70DC45D9-6C82-49A0-BBDD-7B623E2F56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4721" y="3798620"/>
                        <a:ext cx="3485935" cy="12865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5584B297-DD70-4B04-9333-8997E931E9E2}"/>
              </a:ext>
            </a:extLst>
          </p:cNvPr>
          <p:cNvGrpSpPr/>
          <p:nvPr/>
        </p:nvGrpSpPr>
        <p:grpSpPr>
          <a:xfrm>
            <a:off x="4936381" y="3839719"/>
            <a:ext cx="3103836" cy="2804800"/>
            <a:chOff x="3412381" y="3839719"/>
            <a:chExt cx="3103836" cy="2804800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E826994-2596-433B-B97B-A98B5BA51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2381" y="3839719"/>
              <a:ext cx="1584176" cy="2804800"/>
            </a:xfrm>
            <a:prstGeom prst="line">
              <a:avLst/>
            </a:prstGeom>
            <a:ln w="5715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63734CBB-1337-45EF-A08A-6BC32B93B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6557" y="3882108"/>
              <a:ext cx="1519660" cy="2753781"/>
            </a:xfrm>
            <a:prstGeom prst="line">
              <a:avLst/>
            </a:prstGeom>
            <a:ln w="5715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C6A0934-2D6D-414A-8088-0DE5A82A9124}"/>
              </a:ext>
            </a:extLst>
          </p:cNvPr>
          <p:cNvGrpSpPr/>
          <p:nvPr/>
        </p:nvGrpSpPr>
        <p:grpSpPr>
          <a:xfrm>
            <a:off x="1766008" y="3808157"/>
            <a:ext cx="3103836" cy="2804800"/>
            <a:chOff x="3412381" y="3839719"/>
            <a:chExt cx="3103836" cy="2804800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37E4A4D-E7B4-428E-917E-AE5BDC1220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2381" y="3839719"/>
              <a:ext cx="1584176" cy="2804800"/>
            </a:xfrm>
            <a:prstGeom prst="line">
              <a:avLst/>
            </a:prstGeom>
            <a:ln w="57150">
              <a:solidFill>
                <a:srgbClr val="E123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DB7618C-DA8B-40F4-82ED-14890FDCAD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6557" y="3882108"/>
              <a:ext cx="1519660" cy="2753781"/>
            </a:xfrm>
            <a:prstGeom prst="line">
              <a:avLst/>
            </a:prstGeom>
            <a:ln w="57150">
              <a:solidFill>
                <a:srgbClr val="E123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99DE838-6522-4816-882D-71063E03A231}"/>
              </a:ext>
            </a:extLst>
          </p:cNvPr>
          <p:cNvGrpSpPr/>
          <p:nvPr/>
        </p:nvGrpSpPr>
        <p:grpSpPr>
          <a:xfrm>
            <a:off x="4102046" y="3850546"/>
            <a:ext cx="1584176" cy="2781870"/>
            <a:chOff x="4164243" y="3839719"/>
            <a:chExt cx="1584176" cy="2781870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3AC8186-FAF4-41FC-8653-0211097E09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4243" y="3839719"/>
              <a:ext cx="797944" cy="2771044"/>
            </a:xfrm>
            <a:prstGeom prst="line">
              <a:avLst/>
            </a:prstGeom>
            <a:ln w="5715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639C76A9-D976-48E4-A02C-7512F51B71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62187" y="3839719"/>
              <a:ext cx="786232" cy="2781870"/>
            </a:xfrm>
            <a:prstGeom prst="line">
              <a:avLst/>
            </a:prstGeom>
            <a:ln w="5715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0E9B1BFD-2ED2-16BC-3393-A0CBB6C2B516}"/>
              </a:ext>
            </a:extLst>
          </p:cNvPr>
          <p:cNvSpPr/>
          <p:nvPr/>
        </p:nvSpPr>
        <p:spPr>
          <a:xfrm>
            <a:off x="4126524" y="3833446"/>
            <a:ext cx="2356339" cy="2790092"/>
          </a:xfrm>
          <a:custGeom>
            <a:avLst/>
            <a:gdLst>
              <a:gd name="connsiteX0" fmla="*/ 0 w 2356339"/>
              <a:gd name="connsiteY0" fmla="*/ 2790092 h 2790092"/>
              <a:gd name="connsiteX1" fmla="*/ 926123 w 2356339"/>
              <a:gd name="connsiteY1" fmla="*/ 1441939 h 2790092"/>
              <a:gd name="connsiteX2" fmla="*/ 2356339 w 2356339"/>
              <a:gd name="connsiteY2" fmla="*/ 0 h 2790092"/>
              <a:gd name="connsiteX3" fmla="*/ 2356339 w 2356339"/>
              <a:gd name="connsiteY3" fmla="*/ 0 h 2790092"/>
              <a:gd name="connsiteX4" fmla="*/ 2356339 w 2356339"/>
              <a:gd name="connsiteY4" fmla="*/ 0 h 2790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6339" h="2790092">
                <a:moveTo>
                  <a:pt x="0" y="2790092"/>
                </a:moveTo>
                <a:cubicBezTo>
                  <a:pt x="266700" y="2348523"/>
                  <a:pt x="533400" y="1906954"/>
                  <a:pt x="926123" y="1441939"/>
                </a:cubicBezTo>
                <a:cubicBezTo>
                  <a:pt x="1318846" y="976924"/>
                  <a:pt x="2356339" y="0"/>
                  <a:pt x="2356339" y="0"/>
                </a:cubicBezTo>
                <a:lnTo>
                  <a:pt x="2356339" y="0"/>
                </a:lnTo>
                <a:lnTo>
                  <a:pt x="2356339" y="0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3F33AC4-3C59-8399-1208-8093B1F75820}"/>
              </a:ext>
            </a:extLst>
          </p:cNvPr>
          <p:cNvSpPr/>
          <p:nvPr/>
        </p:nvSpPr>
        <p:spPr>
          <a:xfrm>
            <a:off x="6494586" y="3821724"/>
            <a:ext cx="3950677" cy="2813539"/>
          </a:xfrm>
          <a:custGeom>
            <a:avLst/>
            <a:gdLst>
              <a:gd name="connsiteX0" fmla="*/ 0 w 3950677"/>
              <a:gd name="connsiteY0" fmla="*/ 0 h 2813539"/>
              <a:gd name="connsiteX1" fmla="*/ 2016369 w 3950677"/>
              <a:gd name="connsiteY1" fmla="*/ 1594339 h 2813539"/>
              <a:gd name="connsiteX2" fmla="*/ 3950677 w 3950677"/>
              <a:gd name="connsiteY2" fmla="*/ 2813539 h 2813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50677" h="2813539">
                <a:moveTo>
                  <a:pt x="0" y="0"/>
                </a:moveTo>
                <a:cubicBezTo>
                  <a:pt x="678961" y="562708"/>
                  <a:pt x="1357923" y="1125416"/>
                  <a:pt x="2016369" y="1594339"/>
                </a:cubicBezTo>
                <a:cubicBezTo>
                  <a:pt x="2674815" y="2063262"/>
                  <a:pt x="3312746" y="2438400"/>
                  <a:pt x="3950677" y="2813539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A0A90A-396B-07E5-67A2-87CB2B1863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11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表, 折线图&#10;&#10;描述已自动生成">
            <a:extLst>
              <a:ext uri="{FF2B5EF4-FFF2-40B4-BE49-F238E27FC236}">
                <a16:creationId xmlns:a16="http://schemas.microsoft.com/office/drawing/2014/main" id="{DDA09C7B-0356-2230-807B-8860F4F98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2" y="3037087"/>
            <a:ext cx="8640960" cy="3788893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789A555-44C9-4379-AD82-16CFF3F1E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650" y="100993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数运算举例</a:t>
            </a:r>
            <a:endParaRPr lang="zh-CN" altLang="en-US" dirty="0"/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DC65C957-04C4-467A-8283-1889469C9E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535563"/>
              </p:ext>
            </p:extLst>
          </p:nvPr>
        </p:nvGraphicFramePr>
        <p:xfrm>
          <a:off x="2014813" y="1397260"/>
          <a:ext cx="28321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480" imgH="457200" progId="Equation.DSMT4">
                  <p:embed/>
                </p:oleObj>
              </mc:Choice>
              <mc:Fallback>
                <p:oleObj name="Equation" r:id="rId4" imgW="1320480" imgH="45720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DC65C957-04C4-467A-8283-1889469C9E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813" y="1397260"/>
                        <a:ext cx="28321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0CD00CCC-FB15-4CC2-AA29-E07F53D91E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419138"/>
              </p:ext>
            </p:extLst>
          </p:nvPr>
        </p:nvGraphicFramePr>
        <p:xfrm>
          <a:off x="5663285" y="3946716"/>
          <a:ext cx="693238" cy="512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960" imgH="215640" progId="Equation.DSMT4">
                  <p:embed/>
                </p:oleObj>
              </mc:Choice>
              <mc:Fallback>
                <p:oleObj name="Equation" r:id="rId6" imgW="291960" imgH="21564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0CD00CCC-FB15-4CC2-AA29-E07F53D91E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285" y="3946716"/>
                        <a:ext cx="693238" cy="5124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203FC8A0-034A-4841-AFA5-C3DB62CD48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418595"/>
              </p:ext>
            </p:extLst>
          </p:nvPr>
        </p:nvGraphicFramePr>
        <p:xfrm>
          <a:off x="4382790" y="2933576"/>
          <a:ext cx="2730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215640" progId="Equation.DSMT4">
                  <p:embed/>
                </p:oleObj>
              </mc:Choice>
              <mc:Fallback>
                <p:oleObj name="Equation" r:id="rId8" imgW="126720" imgH="215640" progId="Equation.DSMT4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203FC8A0-034A-4841-AFA5-C3DB62CD48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2790" y="2933576"/>
                        <a:ext cx="2730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1E1FE3B3-A5C7-48F1-80AD-E6EA17B11D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393483"/>
              </p:ext>
            </p:extLst>
          </p:nvPr>
        </p:nvGraphicFramePr>
        <p:xfrm>
          <a:off x="1991544" y="3388494"/>
          <a:ext cx="7096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120" imgH="215640" progId="Equation.DSMT4">
                  <p:embed/>
                </p:oleObj>
              </mc:Choice>
              <mc:Fallback>
                <p:oleObj name="Equation" r:id="rId10" imgW="330120" imgH="215640" progId="Equation.DSMT4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1E1FE3B3-A5C7-48F1-80AD-E6EA17B11D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3388494"/>
                        <a:ext cx="7096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1D784949-3F06-4177-9D9E-EBE5948454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07817"/>
              </p:ext>
            </p:extLst>
          </p:nvPr>
        </p:nvGraphicFramePr>
        <p:xfrm>
          <a:off x="3405635" y="2924944"/>
          <a:ext cx="7096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120" imgH="215640" progId="Equation.DSMT4">
                  <p:embed/>
                </p:oleObj>
              </mc:Choice>
              <mc:Fallback>
                <p:oleObj name="Equation" r:id="rId12" imgW="330120" imgH="215640" progId="Equation.DSMT4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1D784949-3F06-4177-9D9E-EBE5948454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635" y="2924944"/>
                        <a:ext cx="7096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0769FBE6-6EB9-4C13-BED1-9F35666D69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717891"/>
              </p:ext>
            </p:extLst>
          </p:nvPr>
        </p:nvGraphicFramePr>
        <p:xfrm>
          <a:off x="5692574" y="2935677"/>
          <a:ext cx="752909" cy="512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7160" imgH="215640" progId="Equation.DSMT4">
                  <p:embed/>
                </p:oleObj>
              </mc:Choice>
              <mc:Fallback>
                <p:oleObj name="Equation" r:id="rId14" imgW="317160" imgH="21564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0769FBE6-6EB9-4C13-BED1-9F35666D69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574" y="2935677"/>
                        <a:ext cx="752909" cy="5124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35976A19-3099-440F-BF4F-F1189C796F6D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273096262"/>
              </p:ext>
            </p:extLst>
          </p:nvPr>
        </p:nvGraphicFramePr>
        <p:xfrm>
          <a:off x="8770472" y="548680"/>
          <a:ext cx="3130978" cy="1268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43100" imgH="787400" progId="Equation.3">
                  <p:embed/>
                </p:oleObj>
              </mc:Choice>
              <mc:Fallback>
                <p:oleObj name="公式" r:id="rId16" imgW="1943100" imgH="787400" progId="Equation.3">
                  <p:embed/>
                  <p:pic>
                    <p:nvPicPr>
                      <p:cNvPr id="15" name="Object 16">
                        <a:extLst>
                          <a:ext uri="{FF2B5EF4-FFF2-40B4-BE49-F238E27FC236}">
                            <a16:creationId xmlns:a16="http://schemas.microsoft.com/office/drawing/2014/main" id="{35976A19-3099-440F-BF4F-F1189C796F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0472" y="548680"/>
                        <a:ext cx="3130978" cy="1268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2D0B1425-7FCD-42E5-960D-6B517ABC5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232406"/>
              </p:ext>
            </p:extLst>
          </p:nvPr>
        </p:nvGraphicFramePr>
        <p:xfrm>
          <a:off x="8761138" y="1711598"/>
          <a:ext cx="3228767" cy="1235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057400" imgH="787400" progId="Equation.3">
                  <p:embed/>
                </p:oleObj>
              </mc:Choice>
              <mc:Fallback>
                <p:oleObj name="公式" r:id="rId18" imgW="2057400" imgH="787400" progId="Equation.3">
                  <p:embed/>
                  <p:pic>
                    <p:nvPicPr>
                      <p:cNvPr id="16" name="Object 6">
                        <a:extLst>
                          <a:ext uri="{FF2B5EF4-FFF2-40B4-BE49-F238E27FC236}">
                            <a16:creationId xmlns:a16="http://schemas.microsoft.com/office/drawing/2014/main" id="{2D0B1425-7FCD-42E5-960D-6B517ABC5A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1138" y="1711598"/>
                        <a:ext cx="3228767" cy="1235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>
            <a:extLst>
              <a:ext uri="{FF2B5EF4-FFF2-40B4-BE49-F238E27FC236}">
                <a16:creationId xmlns:a16="http://schemas.microsoft.com/office/drawing/2014/main" id="{11C79134-871B-410D-80AA-F40CF725CF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219145"/>
              </p:ext>
            </p:extLst>
          </p:nvPr>
        </p:nvGraphicFramePr>
        <p:xfrm>
          <a:off x="8693432" y="2910881"/>
          <a:ext cx="3260936" cy="820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019300" imgH="508000" progId="Equation.3">
                  <p:embed/>
                </p:oleObj>
              </mc:Choice>
              <mc:Fallback>
                <p:oleObj name="公式" r:id="rId20" imgW="2019300" imgH="508000" progId="Equation.3">
                  <p:embed/>
                  <p:pic>
                    <p:nvPicPr>
                      <p:cNvPr id="17" name="Object 6">
                        <a:extLst>
                          <a:ext uri="{FF2B5EF4-FFF2-40B4-BE49-F238E27FC236}">
                            <a16:creationId xmlns:a16="http://schemas.microsoft.com/office/drawing/2014/main" id="{11C79134-871B-410D-80AA-F40CF725CF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3432" y="2910881"/>
                        <a:ext cx="3260936" cy="820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70DC45D9-6C82-49A0-BBDD-7B623E2F5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919296"/>
              </p:ext>
            </p:extLst>
          </p:nvPr>
        </p:nvGraphicFramePr>
        <p:xfrm>
          <a:off x="8728754" y="3610928"/>
          <a:ext cx="3256439" cy="1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133600" imgH="787400" progId="Equation.3">
                  <p:embed/>
                </p:oleObj>
              </mc:Choice>
              <mc:Fallback>
                <p:oleObj name="公式" r:id="rId22" imgW="2133600" imgH="787400" progId="Equation.3">
                  <p:embed/>
                  <p:pic>
                    <p:nvPicPr>
                      <p:cNvPr id="18" name="Object 4">
                        <a:extLst>
                          <a:ext uri="{FF2B5EF4-FFF2-40B4-BE49-F238E27FC236}">
                            <a16:creationId xmlns:a16="http://schemas.microsoft.com/office/drawing/2014/main" id="{70DC45D9-6C82-49A0-BBDD-7B623E2F56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8754" y="3610928"/>
                        <a:ext cx="3256439" cy="120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89102C-5A6D-0402-4E12-4351AFAC11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21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95B5E-FB73-6A20-40C3-3FC7A74B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A3451E9-C9CB-A5AA-91FF-1808F07724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zh-CN" sz="4800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 sz="4800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数运算举例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F12F81D5-5A80-D8C9-8389-7A4500075B5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1484784"/>
            <a:ext cx="8218488" cy="511175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恒温下流体的压力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P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与体积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V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的乘积是一个常数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E90101"/>
                </a:solidFill>
                <a:ea typeface="楷体_GB2312" pitchFamily="49" charset="-122"/>
              </a:rPr>
              <a:t>   </a:t>
            </a:r>
            <a:r>
              <a:rPr lang="en-US" altLang="zh-CN" sz="2400" b="1" dirty="0">
                <a:solidFill>
                  <a:srgbClr val="E90101"/>
                </a:solidFill>
                <a:ea typeface="楷体_GB2312" pitchFamily="49" charset="-122"/>
              </a:rPr>
              <a:t>PV=</a:t>
            </a:r>
            <a:r>
              <a:rPr lang="zh-CN" altLang="en-US" sz="2400" b="1" dirty="0">
                <a:solidFill>
                  <a:srgbClr val="E90101"/>
                </a:solidFill>
                <a:ea typeface="楷体_GB2312" pitchFamily="49" charset="-122"/>
              </a:rPr>
              <a:t>常数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   设在某给定的温度下，流体的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体积为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</a:p>
          <a:p>
            <a:pPr eaLnBrk="1" hangingPunct="1"/>
            <a:endParaRPr lang="en-US" altLang="zh-CN" sz="2400" b="1" dirty="0">
              <a:solidFill>
                <a:srgbClr val="3333FF"/>
              </a:solidFill>
              <a:ea typeface="楷体_GB2312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3333FF"/>
              </a:solidFill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所受的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压力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P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为</a:t>
            </a:r>
          </a:p>
          <a:p>
            <a:pPr eaLnBrk="1" hangingPunct="1"/>
            <a:endParaRPr lang="zh-CN" altLang="en-US" sz="1800" b="1" dirty="0">
              <a:solidFill>
                <a:srgbClr val="3333FF"/>
              </a:solidFill>
              <a:ea typeface="楷体_GB2312" pitchFamily="49" charset="-122"/>
            </a:endParaRPr>
          </a:p>
          <a:p>
            <a:pPr eaLnBrk="1" hangingPunct="1"/>
            <a:endParaRPr lang="zh-CN" altLang="en-US" sz="2800" b="1" dirty="0">
              <a:solidFill>
                <a:srgbClr val="3333FF"/>
              </a:solidFill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求在压缩体积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V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下的压力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P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2</a:t>
            </a:r>
            <a:endParaRPr lang="en-US" altLang="zh-CN" sz="2800" b="1" dirty="0">
              <a:solidFill>
                <a:srgbClr val="3333FF"/>
              </a:solidFill>
              <a:ea typeface="楷体_GB2312" pitchFamily="49" charset="-122"/>
            </a:endParaRPr>
          </a:p>
        </p:txBody>
      </p:sp>
      <p:graphicFrame>
        <p:nvGraphicFramePr>
          <p:cNvPr id="104452" name="Object 4">
            <a:extLst>
              <a:ext uri="{FF2B5EF4-FFF2-40B4-BE49-F238E27FC236}">
                <a16:creationId xmlns:a16="http://schemas.microsoft.com/office/drawing/2014/main" id="{57EA8C6E-6D3A-DA38-B2BC-694FFB25504A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648076" y="4365625"/>
          <a:ext cx="45370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70100" imgH="393700" progId="Equation.3">
                  <p:embed/>
                </p:oleObj>
              </mc:Choice>
              <mc:Fallback>
                <p:oleObj name="公式" r:id="rId2" imgW="2070100" imgH="393700" progId="Equation.3">
                  <p:embed/>
                  <p:pic>
                    <p:nvPicPr>
                      <p:cNvPr id="104452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6" y="4365625"/>
                        <a:ext cx="453707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6">
            <a:extLst>
              <a:ext uri="{FF2B5EF4-FFF2-40B4-BE49-F238E27FC236}">
                <a16:creationId xmlns:a16="http://schemas.microsoft.com/office/drawing/2014/main" id="{4950C424-E810-EFC3-3901-4F29906184CF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719514" y="5805489"/>
          <a:ext cx="453707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95500" imgH="393700" progId="Equation.3">
                  <p:embed/>
                </p:oleObj>
              </mc:Choice>
              <mc:Fallback>
                <p:oleObj name="公式" r:id="rId4" imgW="2095500" imgH="393700" progId="Equation.3">
                  <p:embed/>
                  <p:pic>
                    <p:nvPicPr>
                      <p:cNvPr id="104454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4" y="5805489"/>
                        <a:ext cx="4537075" cy="852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6" name="Object 8">
            <a:extLst>
              <a:ext uri="{FF2B5EF4-FFF2-40B4-BE49-F238E27FC236}">
                <a16:creationId xmlns:a16="http://schemas.microsoft.com/office/drawing/2014/main" id="{9728B1B8-C3CE-C51B-2837-505192ED3E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9513" y="2997200"/>
          <a:ext cx="4392612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44700" imgH="393700" progId="Equation.3">
                  <p:embed/>
                </p:oleObj>
              </mc:Choice>
              <mc:Fallback>
                <p:oleObj name="公式" r:id="rId6" imgW="2044700" imgH="393700" progId="Equation.3">
                  <p:embed/>
                  <p:pic>
                    <p:nvPicPr>
                      <p:cNvPr id="1044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2997200"/>
                        <a:ext cx="4392612" cy="846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656787-F075-56C2-FA8E-4FDC5AEFB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607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980604" y="188640"/>
            <a:ext cx="8686800" cy="1371600"/>
          </a:xfrm>
        </p:spPr>
        <p:txBody>
          <a:bodyPr/>
          <a:lstStyle/>
          <a:p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讨论</a:t>
            </a:r>
            <a:r>
              <a:rPr lang="en-US" altLang="zh-CN" dirty="0">
                <a:solidFill>
                  <a:srgbClr val="008000"/>
                </a:solidFill>
                <a:ea typeface="黑体" panose="02010609060101010101" pitchFamily="49" charset="-122"/>
              </a:rPr>
              <a:t>——F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数运算的不封闭性问题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03350" y="1441364"/>
            <a:ext cx="10081120" cy="4968552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离散情况下，</a:t>
            </a:r>
            <a:r>
              <a:rPr lang="zh-CN" altLang="en-US" sz="2800" dirty="0"/>
              <a:t>设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论域为整数集</a:t>
            </a:r>
            <a:endParaRPr lang="en-US" altLang="zh-CN" sz="2800" dirty="0">
              <a:solidFill>
                <a:schemeClr val="bg2"/>
              </a:solidFill>
              <a:ea typeface="黑体" pitchFamily="49" charset="-122"/>
            </a:endParaRPr>
          </a:p>
          <a:p>
            <a:endParaRPr lang="en-US" altLang="zh-CN" dirty="0">
              <a:solidFill>
                <a:schemeClr val="bg2"/>
              </a:solidFill>
              <a:ea typeface="黑体" pitchFamily="49" charset="-122"/>
            </a:endParaRPr>
          </a:p>
          <a:p>
            <a:endParaRPr lang="en-US" altLang="zh-CN" sz="2400" dirty="0">
              <a:solidFill>
                <a:schemeClr val="bg2"/>
              </a:solidFill>
              <a:ea typeface="黑体" pitchFamily="49" charset="-122"/>
            </a:endParaRPr>
          </a:p>
          <a:p>
            <a:endParaRPr lang="en-US" altLang="zh-CN" sz="3600" dirty="0">
              <a:solidFill>
                <a:schemeClr val="bg2"/>
              </a:solidFill>
              <a:ea typeface="黑体" pitchFamily="49" charset="-122"/>
            </a:endParaRPr>
          </a:p>
          <a:p>
            <a:endParaRPr lang="en-US" altLang="zh-CN" dirty="0">
              <a:solidFill>
                <a:schemeClr val="bg2"/>
              </a:solidFill>
              <a:ea typeface="黑体" pitchFamily="49" charset="-122"/>
            </a:endParaRPr>
          </a:p>
          <a:p>
            <a:pPr lvl="1"/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显然，</a:t>
            </a:r>
            <a:r>
              <a:rPr lang="en-US" altLang="zh-CN" i="1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=1, 5, 7,10,11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时，</a:t>
            </a:r>
            <a:endParaRPr lang="en-US" altLang="zh-CN" dirty="0">
              <a:solidFill>
                <a:schemeClr val="bg2"/>
              </a:solidFill>
              <a:ea typeface="黑体" pitchFamily="49" charset="-122"/>
            </a:endParaRPr>
          </a:p>
          <a:p>
            <a:pPr lvl="1"/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所以，        不是整数集上的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数。</a:t>
            </a:r>
            <a:endParaRPr lang="en-US" altLang="zh-CN" dirty="0">
              <a:solidFill>
                <a:schemeClr val="bg2"/>
              </a:solidFill>
              <a:ea typeface="黑体" pitchFamily="49" charset="-122"/>
            </a:endParaRPr>
          </a:p>
          <a:p>
            <a:r>
              <a:rPr lang="zh-CN" altLang="en-US" dirty="0">
                <a:solidFill>
                  <a:srgbClr val="CC00CC"/>
                </a:solidFill>
                <a:ea typeface="黑体" pitchFamily="49" charset="-122"/>
              </a:rPr>
              <a:t>连续情况下，</a:t>
            </a:r>
            <a:endParaRPr lang="en-US" altLang="zh-CN" dirty="0">
              <a:solidFill>
                <a:srgbClr val="CC00CC"/>
              </a:solidFill>
              <a:ea typeface="黑体" pitchFamily="49" charset="-122"/>
            </a:endParaRPr>
          </a:p>
          <a:p>
            <a:pPr lvl="1"/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数计算较复杂，故应用中常将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数离散化，但计算后会出现“不封闭”问题，即与直接计算结果不相同。</a:t>
            </a:r>
            <a:endParaRPr lang="zh-CN" altLang="en-US" dirty="0"/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38048"/>
              </p:ext>
            </p:extLst>
          </p:nvPr>
        </p:nvGraphicFramePr>
        <p:xfrm>
          <a:off x="2732782" y="1994225"/>
          <a:ext cx="482441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86000" imgH="393700" progId="Equation.3">
                  <p:embed/>
                </p:oleObj>
              </mc:Choice>
              <mc:Fallback>
                <p:oleObj name="公式" r:id="rId2" imgW="2286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782" y="1994225"/>
                        <a:ext cx="4824412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2710979" y="2996952"/>
          <a:ext cx="6265863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54300" imgH="393700" progId="Equation.3">
                  <p:embed/>
                </p:oleObj>
              </mc:Choice>
              <mc:Fallback>
                <p:oleObj name="公式" r:id="rId4" imgW="2654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0979" y="2996952"/>
                        <a:ext cx="6265863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917647"/>
              </p:ext>
            </p:extLst>
          </p:nvPr>
        </p:nvGraphicFramePr>
        <p:xfrm>
          <a:off x="5735960" y="4287564"/>
          <a:ext cx="1947863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25480" imgH="215640" progId="Equation.DSMT4">
                  <p:embed/>
                </p:oleObj>
              </mc:Choice>
              <mc:Fallback>
                <p:oleObj name="Equation" r:id="rId6" imgW="825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960" y="4287564"/>
                        <a:ext cx="1947863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076962"/>
              </p:ext>
            </p:extLst>
          </p:nvPr>
        </p:nvGraphicFramePr>
        <p:xfrm>
          <a:off x="2639616" y="4820151"/>
          <a:ext cx="719138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215640" progId="Equation.DSMT4">
                  <p:embed/>
                </p:oleObj>
              </mc:Choice>
              <mc:Fallback>
                <p:oleObj name="Equation" r:id="rId8" imgW="304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4820151"/>
                        <a:ext cx="719138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71433F-A421-BCEA-E84C-EBD61000B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285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686800" cy="1371600"/>
          </a:xfrm>
        </p:spPr>
        <p:txBody>
          <a:bodyPr/>
          <a:lstStyle/>
          <a:p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讨论</a:t>
            </a:r>
            <a:r>
              <a:rPr lang="en-US" altLang="zh-CN" dirty="0">
                <a:solidFill>
                  <a:srgbClr val="008000"/>
                </a:solidFill>
                <a:ea typeface="黑体" panose="02010609060101010101" pitchFamily="49" charset="-122"/>
              </a:rPr>
              <a:t>——F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数运算的不封闭性问题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01079" y="1484784"/>
            <a:ext cx="8229600" cy="525658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dirty="0"/>
              <a:t>设论域为实数域</a:t>
            </a:r>
            <a:r>
              <a:rPr lang="en-US" altLang="zh-CN" sz="2800" b="1" dirty="0"/>
              <a:t>R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R</a:t>
            </a:r>
            <a:r>
              <a:rPr lang="zh-CN" altLang="en-US" sz="2800" b="1" dirty="0"/>
              <a:t>上的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数</a:t>
            </a:r>
            <a:endParaRPr lang="en-US" altLang="zh-CN" sz="2800" b="1" dirty="0"/>
          </a:p>
          <a:p>
            <a:pPr>
              <a:lnSpc>
                <a:spcPct val="120000"/>
              </a:lnSpc>
            </a:pPr>
            <a:endParaRPr lang="en-US" altLang="zh-CN" sz="3600" b="1" dirty="0"/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解：根据扩张原理计算得：</a:t>
            </a:r>
            <a:endParaRPr lang="en-US" altLang="zh-CN" sz="2800" b="1" dirty="0"/>
          </a:p>
          <a:p>
            <a:pPr>
              <a:lnSpc>
                <a:spcPct val="120000"/>
              </a:lnSpc>
            </a:pPr>
            <a:endParaRPr lang="en-US" altLang="zh-CN" sz="2800" b="1" dirty="0"/>
          </a:p>
          <a:p>
            <a:pPr>
              <a:lnSpc>
                <a:spcPct val="120000"/>
              </a:lnSpc>
            </a:pPr>
            <a:endParaRPr lang="en-US" altLang="zh-CN" sz="2800" b="1" dirty="0"/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如将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数进行离散化处理，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数</a:t>
            </a:r>
            <a:r>
              <a:rPr lang="en-US" altLang="zh-CN" sz="2800" b="1" u="sng" dirty="0"/>
              <a:t>1</a:t>
            </a:r>
            <a:r>
              <a:rPr lang="zh-CN" altLang="en-US" sz="2800" b="1" dirty="0"/>
              <a:t>离散为</a:t>
            </a:r>
            <a:endParaRPr lang="en-US" altLang="zh-CN" sz="2800" b="1" dirty="0"/>
          </a:p>
          <a:p>
            <a:pPr>
              <a:lnSpc>
                <a:spcPct val="120000"/>
              </a:lnSpc>
            </a:pPr>
            <a:endParaRPr lang="en-US" altLang="zh-CN" sz="40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再按扩张原理计算，得下表</a:t>
            </a:r>
            <a:endParaRPr lang="zh-CN" altLang="en-US" b="1" dirty="0"/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707765"/>
              </p:ext>
            </p:extLst>
          </p:nvPr>
        </p:nvGraphicFramePr>
        <p:xfrm>
          <a:off x="2783632" y="2093094"/>
          <a:ext cx="34036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800" imgH="393480" progId="Equation.DSMT4">
                  <p:embed/>
                </p:oleObj>
              </mc:Choice>
              <mc:Fallback>
                <p:oleObj name="Equation" r:id="rId2" imgW="1612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2093094"/>
                        <a:ext cx="34036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035769"/>
              </p:ext>
            </p:extLst>
          </p:nvPr>
        </p:nvGraphicFramePr>
        <p:xfrm>
          <a:off x="2783633" y="3454004"/>
          <a:ext cx="3617913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320" imgH="533160" progId="Equation.DSMT4">
                  <p:embed/>
                </p:oleObj>
              </mc:Choice>
              <mc:Fallback>
                <p:oleObj name="Equation" r:id="rId4" imgW="171432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3" y="3454004"/>
                        <a:ext cx="3617913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929383"/>
              </p:ext>
            </p:extLst>
          </p:nvPr>
        </p:nvGraphicFramePr>
        <p:xfrm>
          <a:off x="2837060" y="5236618"/>
          <a:ext cx="63563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92080" imgH="393480" progId="Equation.DSMT4">
                  <p:embed/>
                </p:oleObj>
              </mc:Choice>
              <mc:Fallback>
                <p:oleObj name="Equation" r:id="rId6" imgW="2692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7060" y="5236618"/>
                        <a:ext cx="635635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18670243-EE4F-641B-E149-F851D4BA61B3}"/>
              </a:ext>
            </a:extLst>
          </p:cNvPr>
          <p:cNvGrpSpPr/>
          <p:nvPr/>
        </p:nvGrpSpPr>
        <p:grpSpPr>
          <a:xfrm>
            <a:off x="7464152" y="1484784"/>
            <a:ext cx="4536504" cy="3175771"/>
            <a:chOff x="5446211" y="2093094"/>
            <a:chExt cx="3520050" cy="2340261"/>
          </a:xfrm>
        </p:grpSpPr>
        <p:pic>
          <p:nvPicPr>
            <p:cNvPr id="12" name="图片 11" descr="图表, 折线图&#10;&#10;描述已自动生成">
              <a:extLst>
                <a:ext uri="{FF2B5EF4-FFF2-40B4-BE49-F238E27FC236}">
                  <a16:creationId xmlns:a16="http://schemas.microsoft.com/office/drawing/2014/main" id="{BB4BA2DA-A66F-F49C-E9D0-5C91A6DB7B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101"/>
            <a:stretch/>
          </p:blipFill>
          <p:spPr>
            <a:xfrm>
              <a:off x="5446211" y="2093094"/>
              <a:ext cx="3520050" cy="2340261"/>
            </a:xfrm>
            <a:prstGeom prst="rect">
              <a:avLst/>
            </a:prstGeom>
            <a:effectLst>
              <a:glow rad="127000">
                <a:srgbClr val="FFCCFF"/>
              </a:glow>
            </a:effectLst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2119383-C29B-5C92-0BBD-27E5E323A98E}"/>
                </a:ext>
              </a:extLst>
            </p:cNvPr>
            <p:cNvSpPr txBox="1"/>
            <p:nvPr/>
          </p:nvSpPr>
          <p:spPr>
            <a:xfrm>
              <a:off x="6104057" y="2724889"/>
              <a:ext cx="216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u="sng" dirty="0">
                  <a:solidFill>
                    <a:srgbClr val="FA7E19"/>
                  </a:solidFill>
                </a:rPr>
                <a:t>1</a:t>
              </a:r>
              <a:endParaRPr lang="zh-CN" altLang="en-US" sz="2000" b="1" u="sng" dirty="0">
                <a:solidFill>
                  <a:srgbClr val="FA7E19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9003FE2-7403-FAEC-CA30-E65487AF9861}"/>
                </a:ext>
              </a:extLst>
            </p:cNvPr>
            <p:cNvSpPr txBox="1"/>
            <p:nvPr/>
          </p:nvSpPr>
          <p:spPr>
            <a:xfrm>
              <a:off x="6810364" y="2524834"/>
              <a:ext cx="8056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u="sng" dirty="0">
                  <a:solidFill>
                    <a:srgbClr val="2A6EB2"/>
                  </a:solidFill>
                </a:rPr>
                <a:t>1</a:t>
              </a:r>
              <a:r>
                <a:rPr lang="en-US" altLang="zh-CN" sz="2000" b="1" dirty="0">
                  <a:solidFill>
                    <a:srgbClr val="2A6EB2"/>
                  </a:solidFill>
                  <a:sym typeface="Symbol" panose="05050102010706020507" pitchFamily="18" charset="2"/>
                </a:rPr>
                <a:t></a:t>
              </a:r>
              <a:r>
                <a:rPr lang="en-US" altLang="zh-CN" sz="2000" b="1" u="sng" dirty="0">
                  <a:solidFill>
                    <a:srgbClr val="2A6EB2"/>
                  </a:solidFill>
                  <a:sym typeface="Symbol" panose="05050102010706020507" pitchFamily="18" charset="2"/>
                </a:rPr>
                <a:t>1</a:t>
              </a:r>
              <a:endParaRPr lang="zh-CN" altLang="en-US" sz="2000" b="1" u="sng" dirty="0">
                <a:solidFill>
                  <a:srgbClr val="2A6EB2"/>
                </a:solidFill>
              </a:endParaRP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AEA5DE-89A4-0EC3-0D29-A52CE621A0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2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329208"/>
            <a:ext cx="8686800" cy="1371600"/>
          </a:xfrm>
        </p:spPr>
        <p:txBody>
          <a:bodyPr/>
          <a:lstStyle/>
          <a:p>
            <a:r>
              <a:rPr lang="en-US" altLang="zh-CN" sz="4000" dirty="0">
                <a:solidFill>
                  <a:srgbClr val="008000"/>
                </a:solidFill>
                <a:ea typeface="黑体" panose="02010609060101010101" pitchFamily="49" charset="-122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ea typeface="黑体" panose="02010609060101010101" pitchFamily="49" charset="-122"/>
              </a:rPr>
              <a:t>数离散化处理后计算结果</a:t>
            </a:r>
            <a:br>
              <a:rPr lang="en-US" altLang="zh-CN" sz="4000" dirty="0">
                <a:solidFill>
                  <a:srgbClr val="008000"/>
                </a:solidFill>
                <a:ea typeface="黑体" panose="02010609060101010101" pitchFamily="49" charset="-122"/>
              </a:rPr>
            </a:br>
            <a:r>
              <a:rPr lang="zh-CN" altLang="en-US" sz="4000" dirty="0">
                <a:solidFill>
                  <a:srgbClr val="008000"/>
                </a:solidFill>
                <a:ea typeface="黑体" panose="02010609060101010101" pitchFamily="49" charset="-122"/>
              </a:rPr>
              <a:t>及与未离散时标准值的比较</a:t>
            </a:r>
            <a:endParaRPr lang="zh-CN" altLang="en-US" sz="4000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5450800"/>
              </p:ext>
            </p:extLst>
          </p:nvPr>
        </p:nvGraphicFramePr>
        <p:xfrm>
          <a:off x="1981201" y="1628800"/>
          <a:ext cx="8229603" cy="519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8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85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元素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对应隶属度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隶属度标准值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元素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对应隶属度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隶属度标准值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0.0625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0.25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1.125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0.9393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0.125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0.25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0.3535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1.3125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0.25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0.9844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0.1875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0.25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0.433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0.25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0.75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0.8820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0.3125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0.25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0.559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0.7753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0.375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0.6124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1.75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0.25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0.6771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0.4375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0.25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0.6614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1.5625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0.75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0.7071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1.875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0.630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0.625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0.7906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2.1875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0.25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0.5210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0.75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0.75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0.8660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0.875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0.25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0.935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2.625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0.25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0.3798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0.5625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0.75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3.0625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0.25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0.9375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90101"/>
                          </a:solidFill>
                        </a:rPr>
                        <a:t>0.75</a:t>
                      </a:r>
                      <a:endParaRPr lang="zh-CN" altLang="en-US" dirty="0">
                        <a:solidFill>
                          <a:srgbClr val="E9010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0.9682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281682"/>
              </p:ext>
            </p:extLst>
          </p:nvPr>
        </p:nvGraphicFramePr>
        <p:xfrm>
          <a:off x="9768408" y="453640"/>
          <a:ext cx="2250951" cy="1028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8200" imgH="533160" progId="Equation.DSMT4">
                  <p:embed/>
                </p:oleObj>
              </mc:Choice>
              <mc:Fallback>
                <p:oleObj name="Equation" r:id="rId3" imgW="1168200" imgH="5331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8408" y="453640"/>
                        <a:ext cx="2250951" cy="102842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233C69-A737-624C-EAAA-C5C0B7F248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62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329208"/>
            <a:ext cx="10729192" cy="1371600"/>
          </a:xfrm>
        </p:spPr>
        <p:txBody>
          <a:bodyPr/>
          <a:lstStyle/>
          <a:p>
            <a:pPr algn="ctr"/>
            <a:r>
              <a:rPr lang="en-US" altLang="zh-CN" sz="4000" dirty="0">
                <a:solidFill>
                  <a:srgbClr val="008000"/>
                </a:solidFill>
                <a:ea typeface="黑体" panose="02010609060101010101" pitchFamily="49" charset="-122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ea typeface="黑体" panose="02010609060101010101" pitchFamily="49" charset="-122"/>
              </a:rPr>
              <a:t>数离散化处理后计算结果及与未离散时</a:t>
            </a:r>
            <a:br>
              <a:rPr lang="en-US" altLang="zh-CN" sz="4000" dirty="0">
                <a:solidFill>
                  <a:srgbClr val="008000"/>
                </a:solidFill>
                <a:ea typeface="黑体" panose="02010609060101010101" pitchFamily="49" charset="-122"/>
              </a:rPr>
            </a:br>
            <a:r>
              <a:rPr lang="zh-CN" altLang="en-US" sz="4000" dirty="0">
                <a:solidFill>
                  <a:srgbClr val="008000"/>
                </a:solidFill>
                <a:ea typeface="黑体" panose="02010609060101010101" pitchFamily="49" charset="-122"/>
              </a:rPr>
              <a:t>标准值的比较</a:t>
            </a:r>
            <a:endParaRPr lang="zh-CN" altLang="en-US" sz="4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9536" y="1649450"/>
            <a:ext cx="6709320" cy="5208550"/>
          </a:xfrm>
          <a:prstGeom prst="rect">
            <a:avLst/>
          </a:prstGeom>
        </p:spPr>
      </p:pic>
      <p:sp>
        <p:nvSpPr>
          <p:cNvPr id="7" name="矩形标注 6"/>
          <p:cNvSpPr/>
          <p:nvPr/>
        </p:nvSpPr>
        <p:spPr>
          <a:xfrm>
            <a:off x="5807968" y="1700808"/>
            <a:ext cx="2952328" cy="720080"/>
          </a:xfrm>
          <a:prstGeom prst="wedgeRectCallout">
            <a:avLst>
              <a:gd name="adj1" fmla="val -99564"/>
              <a:gd name="adj2" fmla="val 185892"/>
            </a:avLst>
          </a:prstGeom>
          <a:solidFill>
            <a:srgbClr val="FFFF66"/>
          </a:solidFill>
          <a:ln>
            <a:solidFill>
              <a:srgbClr val="E90101"/>
            </a:solidFill>
          </a:ln>
          <a:effectLst>
            <a:glow rad="127000">
              <a:srgbClr val="FF0000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E9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离散后计算结果</a:t>
            </a:r>
            <a:endParaRPr lang="zh-CN" altLang="en-US" sz="2000" b="1" dirty="0">
              <a:solidFill>
                <a:srgbClr val="E9010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6456040" y="2860972"/>
            <a:ext cx="2952328" cy="1144092"/>
          </a:xfrm>
          <a:prstGeom prst="wedgeRectCallout">
            <a:avLst>
              <a:gd name="adj1" fmla="val -54759"/>
              <a:gd name="adj2" fmla="val 105980"/>
            </a:avLst>
          </a:prstGeom>
          <a:solidFill>
            <a:srgbClr val="FFFF66"/>
          </a:solidFill>
          <a:ln>
            <a:solidFill>
              <a:srgbClr val="276CB1"/>
            </a:solidFill>
          </a:ln>
          <a:effectLst>
            <a:glow rad="127000">
              <a:srgbClr val="276CB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276CB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按连续隶属度函数计算所得结果</a:t>
            </a:r>
            <a:endParaRPr lang="zh-CN" altLang="en-US" sz="2000" b="1" dirty="0">
              <a:solidFill>
                <a:srgbClr val="276CB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131956"/>
              </p:ext>
            </p:extLst>
          </p:nvPr>
        </p:nvGraphicFramePr>
        <p:xfrm>
          <a:off x="7464152" y="4581128"/>
          <a:ext cx="3030056" cy="943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14320" imgH="533160" progId="Equation.DSMT4">
                  <p:embed/>
                </p:oleObj>
              </mc:Choice>
              <mc:Fallback>
                <p:oleObj name="Equation" r:id="rId5" imgW="171432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152" y="4581128"/>
                        <a:ext cx="3030056" cy="943984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9410925B-1857-3486-26CB-B916563FEDEB}"/>
              </a:ext>
            </a:extLst>
          </p:cNvPr>
          <p:cNvSpPr/>
          <p:nvPr/>
        </p:nvSpPr>
        <p:spPr>
          <a:xfrm>
            <a:off x="2940676" y="2459866"/>
            <a:ext cx="1326524" cy="3670479"/>
          </a:xfrm>
          <a:custGeom>
            <a:avLst/>
            <a:gdLst>
              <a:gd name="connsiteX0" fmla="*/ 0 w 1326524"/>
              <a:gd name="connsiteY0" fmla="*/ 3670479 h 3670479"/>
              <a:gd name="connsiteX1" fmla="*/ 321972 w 1326524"/>
              <a:gd name="connsiteY1" fmla="*/ 1803042 h 3670479"/>
              <a:gd name="connsiteX2" fmla="*/ 1326524 w 1326524"/>
              <a:gd name="connsiteY2" fmla="*/ 0 h 3670479"/>
              <a:gd name="connsiteX3" fmla="*/ 1326524 w 1326524"/>
              <a:gd name="connsiteY3" fmla="*/ 0 h 3670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6524" h="3670479">
                <a:moveTo>
                  <a:pt x="0" y="3670479"/>
                </a:moveTo>
                <a:cubicBezTo>
                  <a:pt x="50442" y="3042633"/>
                  <a:pt x="100885" y="2414788"/>
                  <a:pt x="321972" y="1803042"/>
                </a:cubicBezTo>
                <a:cubicBezTo>
                  <a:pt x="543059" y="1191296"/>
                  <a:pt x="1326524" y="0"/>
                  <a:pt x="1326524" y="0"/>
                </a:cubicBezTo>
                <a:lnTo>
                  <a:pt x="1326524" y="0"/>
                </a:lnTo>
              </a:path>
            </a:pathLst>
          </a:custGeom>
          <a:noFill/>
          <a:ln w="57150">
            <a:solidFill>
              <a:srgbClr val="276C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E9C23FB-51B1-0DF7-53B1-12C0C56EBE4B}"/>
              </a:ext>
            </a:extLst>
          </p:cNvPr>
          <p:cNvSpPr/>
          <p:nvPr/>
        </p:nvSpPr>
        <p:spPr>
          <a:xfrm>
            <a:off x="4280079" y="2395470"/>
            <a:ext cx="3928056" cy="3734874"/>
          </a:xfrm>
          <a:custGeom>
            <a:avLst/>
            <a:gdLst>
              <a:gd name="connsiteX0" fmla="*/ 0 w 3928056"/>
              <a:gd name="connsiteY0" fmla="*/ 0 h 3734874"/>
              <a:gd name="connsiteX1" fmla="*/ 1687132 w 3928056"/>
              <a:gd name="connsiteY1" fmla="*/ 1918953 h 3734874"/>
              <a:gd name="connsiteX2" fmla="*/ 3928056 w 3928056"/>
              <a:gd name="connsiteY2" fmla="*/ 3734874 h 3734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8056" h="3734874">
                <a:moveTo>
                  <a:pt x="0" y="0"/>
                </a:moveTo>
                <a:cubicBezTo>
                  <a:pt x="516228" y="648237"/>
                  <a:pt x="1032456" y="1296474"/>
                  <a:pt x="1687132" y="1918953"/>
                </a:cubicBezTo>
                <a:cubicBezTo>
                  <a:pt x="2341808" y="2541432"/>
                  <a:pt x="3134932" y="3138153"/>
                  <a:pt x="3928056" y="3734874"/>
                </a:cubicBezTo>
              </a:path>
            </a:pathLst>
          </a:custGeom>
          <a:noFill/>
          <a:ln w="57150">
            <a:solidFill>
              <a:srgbClr val="276C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30A12AA-7A61-BC35-7B4F-1A4D819D3D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382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980604" y="257200"/>
            <a:ext cx="8686800" cy="1371600"/>
          </a:xfrm>
        </p:spPr>
        <p:txBody>
          <a:bodyPr/>
          <a:lstStyle/>
          <a:p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讨论</a:t>
            </a:r>
            <a:r>
              <a:rPr lang="en-US" altLang="zh-CN" dirty="0">
                <a:solidFill>
                  <a:srgbClr val="008000"/>
                </a:solidFill>
                <a:ea typeface="黑体" panose="02010609060101010101" pitchFamily="49" charset="-122"/>
              </a:rPr>
              <a:t>——F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数运算的不封闭性问题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983432" y="1412776"/>
            <a:ext cx="9683972" cy="532859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加一个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数，之后再减同一个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数，结果并不复原</a:t>
            </a:r>
            <a:endParaRPr lang="en-US" altLang="zh-CN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4000" dirty="0">
              <a:latin typeface="+mj-lt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+mj-lt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1800" dirty="0">
              <a:latin typeface="+mj-lt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E123BD"/>
                </a:solidFill>
                <a:latin typeface="+mj-lt"/>
                <a:ea typeface="黑体" pitchFamily="49" charset="-122"/>
              </a:rPr>
              <a:t> </a:t>
            </a:r>
            <a:r>
              <a:rPr lang="en-US" altLang="zh-CN" b="1" dirty="0">
                <a:solidFill>
                  <a:srgbClr val="E123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itchFamily="49" charset="-122"/>
              </a:rPr>
              <a:t>(</a:t>
            </a:r>
            <a:r>
              <a:rPr lang="en-US" altLang="zh-CN" b="1" i="1" dirty="0">
                <a:solidFill>
                  <a:srgbClr val="E123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itchFamily="49" charset="-122"/>
              </a:rPr>
              <a:t>a </a:t>
            </a:r>
            <a:r>
              <a:rPr lang="en-US" altLang="zh-CN" b="1" dirty="0">
                <a:solidFill>
                  <a:srgbClr val="E123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itchFamily="49" charset="-122"/>
              </a:rPr>
              <a:t>+ </a:t>
            </a:r>
            <a:r>
              <a:rPr lang="en-US" altLang="zh-CN" b="1" i="1" dirty="0">
                <a:solidFill>
                  <a:srgbClr val="E123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itchFamily="49" charset="-122"/>
              </a:rPr>
              <a:t>b</a:t>
            </a:r>
            <a:r>
              <a:rPr lang="en-US" altLang="zh-CN" b="1" dirty="0">
                <a:solidFill>
                  <a:srgbClr val="E123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itchFamily="49" charset="-122"/>
              </a:rPr>
              <a:t>)</a:t>
            </a:r>
            <a:r>
              <a:rPr lang="en-US" altLang="zh-CN" b="1" dirty="0">
                <a:solidFill>
                  <a:srgbClr val="E123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itchFamily="49" charset="-122"/>
                <a:sym typeface="Symbol" panose="05050102010706020507" pitchFamily="18" charset="2"/>
              </a:rPr>
              <a:t></a:t>
            </a:r>
            <a:r>
              <a:rPr lang="en-US" altLang="zh-CN" b="1" i="1" dirty="0">
                <a:solidFill>
                  <a:srgbClr val="E123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itchFamily="49" charset="-122"/>
              </a:rPr>
              <a:t>b</a:t>
            </a:r>
            <a:r>
              <a:rPr lang="en-US" altLang="zh-CN" b="1" dirty="0">
                <a:solidFill>
                  <a:srgbClr val="E123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itchFamily="49" charset="-122"/>
              </a:rPr>
              <a:t> </a:t>
            </a:r>
            <a:r>
              <a:rPr lang="en-US" altLang="zh-CN" b="1" dirty="0">
                <a:solidFill>
                  <a:srgbClr val="E123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itchFamily="49" charset="-122"/>
                <a:sym typeface="Symbol" panose="05050102010706020507" pitchFamily="18" charset="2"/>
              </a:rPr>
              <a:t> </a:t>
            </a:r>
            <a:r>
              <a:rPr lang="en-US" altLang="zh-CN" b="1" i="1" dirty="0">
                <a:solidFill>
                  <a:srgbClr val="E123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itchFamily="49" charset="-122"/>
              </a:rPr>
              <a:t>a </a:t>
            </a:r>
            <a:r>
              <a:rPr lang="en-US" altLang="zh-CN" b="1" dirty="0">
                <a:solidFill>
                  <a:srgbClr val="E123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itchFamily="49" charset="-122"/>
              </a:rPr>
              <a:t>! 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隶属函数值不为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的范围更大了，这表示不确定性更大了，这是符合实际的。</a:t>
            </a:r>
            <a:endParaRPr lang="zh-CN" altLang="en-US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044780"/>
              </p:ext>
            </p:extLst>
          </p:nvPr>
        </p:nvGraphicFramePr>
        <p:xfrm>
          <a:off x="2135560" y="2070845"/>
          <a:ext cx="48244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393700" progId="Equation.DSMT4">
                  <p:embed/>
                </p:oleObj>
              </mc:Choice>
              <mc:Fallback>
                <p:oleObj name="Equation" r:id="rId2" imgW="22860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2070845"/>
                        <a:ext cx="482441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133374"/>
              </p:ext>
            </p:extLst>
          </p:nvPr>
        </p:nvGraphicFramePr>
        <p:xfrm>
          <a:off x="2186531" y="3148014"/>
          <a:ext cx="515620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84120" imgH="393480" progId="Equation.DSMT4">
                  <p:embed/>
                </p:oleObj>
              </mc:Choice>
              <mc:Fallback>
                <p:oleObj name="Equation" r:id="rId4" imgW="2184120" imgH="393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6531" y="3148014"/>
                        <a:ext cx="515620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053836"/>
              </p:ext>
            </p:extLst>
          </p:nvPr>
        </p:nvGraphicFramePr>
        <p:xfrm>
          <a:off x="2158155" y="4294162"/>
          <a:ext cx="6265862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54280" imgH="393480" progId="Equation.DSMT4">
                  <p:embed/>
                </p:oleObj>
              </mc:Choice>
              <mc:Fallback>
                <p:oleObj name="Equation" r:id="rId6" imgW="2654280" imgH="3934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8155" y="4294162"/>
                        <a:ext cx="6265862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421983"/>
              </p:ext>
            </p:extLst>
          </p:nvPr>
        </p:nvGraphicFramePr>
        <p:xfrm>
          <a:off x="8377485" y="4300512"/>
          <a:ext cx="275907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68200" imgH="393480" progId="Equation.DSMT4">
                  <p:embed/>
                </p:oleObj>
              </mc:Choice>
              <mc:Fallback>
                <p:oleObj name="Equation" r:id="rId8" imgW="1168200" imgH="39348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7485" y="4300512"/>
                        <a:ext cx="2759075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C82054-A686-68DB-E9F7-1BED66D741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872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</a:rPr>
              <a:t>5.5 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区间数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412876"/>
            <a:ext cx="9793088" cy="5445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[</a:t>
            </a:r>
            <a:r>
              <a:rPr lang="zh-CN" altLang="en-US" sz="2800" dirty="0">
                <a:ea typeface="黑体" pitchFamily="49" charset="-122"/>
              </a:rPr>
              <a:t>定义</a:t>
            </a:r>
            <a:r>
              <a:rPr lang="en-US" altLang="zh-CN" sz="2800" dirty="0">
                <a:ea typeface="黑体" pitchFamily="49" charset="-122"/>
              </a:rPr>
              <a:t>1]</a:t>
            </a:r>
            <a:r>
              <a:rPr lang="zh-CN" altLang="en-US" sz="2800" dirty="0">
                <a:ea typeface="黑体" pitchFamily="49" charset="-122"/>
              </a:rPr>
              <a:t>设</a:t>
            </a:r>
            <a:r>
              <a:rPr lang="en-US" altLang="zh-CN" sz="2800" dirty="0">
                <a:ea typeface="黑体" pitchFamily="49" charset="-122"/>
              </a:rPr>
              <a:t>R</a:t>
            </a:r>
            <a:r>
              <a:rPr lang="zh-CN" altLang="en-US" sz="2800" dirty="0">
                <a:ea typeface="黑体" pitchFamily="49" charset="-122"/>
              </a:rPr>
              <a:t>为实数域</a:t>
            </a:r>
            <a:r>
              <a:rPr lang="en-US" altLang="zh-CN" sz="2800" dirty="0">
                <a:ea typeface="黑体" pitchFamily="49" charset="-122"/>
              </a:rPr>
              <a:t>,</a:t>
            </a:r>
            <a:r>
              <a:rPr lang="en-US" altLang="zh-CN" sz="2800" dirty="0">
                <a:latin typeface="Monotype Corsiva" panose="03010101010201010101" pitchFamily="66" charset="0"/>
                <a:ea typeface="黑体" pitchFamily="49" charset="-122"/>
              </a:rPr>
              <a:t>P</a:t>
            </a:r>
            <a:r>
              <a:rPr lang="en-US" altLang="zh-CN" sz="2800" dirty="0">
                <a:ea typeface="黑体" pitchFamily="49" charset="-122"/>
              </a:rPr>
              <a:t>(R)</a:t>
            </a:r>
            <a:r>
              <a:rPr lang="zh-CN" altLang="en-US" sz="2800" dirty="0">
                <a:ea typeface="黑体" pitchFamily="49" charset="-122"/>
              </a:rPr>
              <a:t>是全体区间的集合</a:t>
            </a:r>
            <a:r>
              <a:rPr lang="en-US" altLang="zh-CN" sz="2800" dirty="0">
                <a:ea typeface="黑体" pitchFamily="49" charset="-122"/>
              </a:rPr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       </a:t>
            </a:r>
            <a:r>
              <a:rPr lang="zh-CN" altLang="en-US" sz="2800" dirty="0">
                <a:ea typeface="黑体" pitchFamily="49" charset="-122"/>
              </a:rPr>
              <a:t>设有映射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　　　      </a:t>
            </a: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 ＊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: R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R→R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                      (</a:t>
            </a:r>
            <a:r>
              <a:rPr lang="en-US" altLang="zh-CN" sz="2800" dirty="0" err="1">
                <a:solidFill>
                  <a:schemeClr val="bg2"/>
                </a:solidFill>
                <a:ea typeface="黑体" pitchFamily="49" charset="-122"/>
              </a:rPr>
              <a:t>x,y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)|→z=x </a:t>
            </a: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＊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         扩张到区间之间的映射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　　　　　 </a:t>
            </a: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＊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: </a:t>
            </a: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  <a:latin typeface="Monotype Corsiva" panose="03010101010201010101" pitchFamily="66" charset="0"/>
                <a:ea typeface="黑体" pitchFamily="49" charset="-122"/>
              </a:rPr>
              <a:t>P </a:t>
            </a: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  <a:ea typeface="黑体" pitchFamily="49" charset="-122"/>
              </a:rPr>
              <a:t>(R)</a:t>
            </a: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  <a:ea typeface="黑体" pitchFamily="49" charset="-122"/>
                <a:sym typeface="Symbol"/>
              </a:rPr>
              <a:t>  </a:t>
            </a: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  <a:latin typeface="Monotype Corsiva" panose="03010101010201010101" pitchFamily="66" charset="0"/>
                <a:ea typeface="黑体" pitchFamily="49" charset="-122"/>
              </a:rPr>
              <a:t>P </a:t>
            </a: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  <a:ea typeface="黑体" pitchFamily="49" charset="-122"/>
              </a:rPr>
              <a:t>(R) → </a:t>
            </a: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  <a:latin typeface="Monotype Corsiva" panose="03010101010201010101" pitchFamily="66" charset="0"/>
                <a:ea typeface="黑体" pitchFamily="49" charset="-122"/>
              </a:rPr>
              <a:t>P </a:t>
            </a: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  <a:ea typeface="黑体" pitchFamily="49" charset="-122"/>
              </a:rPr>
              <a:t>(R)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                              (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 J) | →k=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I </a:t>
            </a: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＊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J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>
                <a:ea typeface="黑体" pitchFamily="49" charset="-122"/>
              </a:rPr>
              <a:t>         其中</a:t>
            </a:r>
            <a:r>
              <a:rPr lang="en-US" altLang="zh-CN" sz="2800" dirty="0">
                <a:ea typeface="黑体" pitchFamily="49" charset="-122"/>
              </a:rPr>
              <a:t>, 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 </a:t>
            </a: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＊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J={z | 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(</a:t>
            </a:r>
            <a:r>
              <a:rPr kumimoji="1" lang="en-US" altLang="zh-CN" sz="2800" dirty="0" err="1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x,y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) 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I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  <a:sym typeface="Symbol"/>
              </a:rPr>
              <a:t>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J, x </a:t>
            </a: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＊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y=z}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                    ＊</a:t>
            </a:r>
            <a:r>
              <a:rPr lang="zh-CN" altLang="en-US" sz="2800" dirty="0">
                <a:ea typeface="黑体" pitchFamily="49" charset="-122"/>
              </a:rPr>
              <a:t> 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{</a:t>
            </a:r>
            <a:r>
              <a:rPr lang="en-US" altLang="zh-CN" sz="2800" dirty="0">
                <a:ea typeface="黑体" pitchFamily="49" charset="-122"/>
              </a:rPr>
              <a:t>+, -, ×, ÷, </a:t>
            </a:r>
            <a:r>
              <a:rPr lang="en-US" altLang="zh-CN" sz="2800" dirty="0">
                <a:ea typeface="黑体" pitchFamily="49" charset="-122"/>
                <a:sym typeface="Symbol"/>
              </a:rPr>
              <a:t></a:t>
            </a:r>
            <a:r>
              <a:rPr lang="en-US" altLang="zh-CN" sz="2800" dirty="0">
                <a:ea typeface="黑体" pitchFamily="49" charset="-122"/>
              </a:rPr>
              <a:t>, </a:t>
            </a:r>
            <a:r>
              <a:rPr lang="en-US" altLang="zh-CN" sz="2800" dirty="0">
                <a:ea typeface="黑体" pitchFamily="49" charset="-122"/>
                <a:sym typeface="Symbol"/>
              </a:rPr>
              <a:t></a:t>
            </a:r>
            <a:r>
              <a:rPr lang="en-US" altLang="zh-CN" sz="2800" dirty="0">
                <a:ea typeface="黑体" pitchFamily="49" charset="-122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E90101"/>
                </a:solidFill>
                <a:latin typeface="楷体_GB2312" pitchFamily="49" charset="-122"/>
                <a:ea typeface="楷体_GB2312" pitchFamily="49" charset="-122"/>
              </a:rPr>
              <a:t>即两个区间的运算是两个区间的任一点对的运算</a:t>
            </a:r>
            <a:r>
              <a:rPr lang="en-US" altLang="zh-CN" sz="2800" b="1" dirty="0">
                <a:solidFill>
                  <a:srgbClr val="E90101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E90101"/>
                </a:solidFill>
                <a:latin typeface="楷体_GB2312" pitchFamily="49" charset="-122"/>
                <a:ea typeface="楷体_GB2312" pitchFamily="49" charset="-122"/>
              </a:rPr>
              <a:t>结果为新区间的数</a:t>
            </a:r>
            <a:r>
              <a:rPr lang="en-US" altLang="zh-CN" sz="2800" b="1" dirty="0">
                <a:solidFill>
                  <a:srgbClr val="E90101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E90101"/>
                </a:solidFill>
                <a:latin typeface="楷体_GB2312" pitchFamily="49" charset="-122"/>
                <a:ea typeface="楷体_GB2312" pitchFamily="49" charset="-122"/>
              </a:rPr>
              <a:t>由此得到下面结论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4B6E39A-0234-EF7A-473A-22489828E2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26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区间运算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412876"/>
            <a:ext cx="9577064" cy="54451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E90101"/>
                </a:solidFill>
                <a:ea typeface="黑体" pitchFamily="49" charset="-122"/>
              </a:rPr>
              <a:t>定理</a:t>
            </a: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1]</a:t>
            </a:r>
            <a:r>
              <a:rPr lang="zh-CN" altLang="en-US" dirty="0">
                <a:ea typeface="黑体" pitchFamily="49" charset="-122"/>
              </a:rPr>
              <a:t>设</a:t>
            </a:r>
            <a:r>
              <a:rPr lang="en-US" altLang="zh-CN" dirty="0">
                <a:ea typeface="黑体" pitchFamily="49" charset="-122"/>
              </a:rPr>
              <a:t>I,J</a:t>
            </a:r>
            <a:r>
              <a:rPr lang="zh-CN" altLang="en-US" dirty="0">
                <a:ea typeface="黑体" pitchFamily="49" charset="-122"/>
              </a:rPr>
              <a:t>是两区间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zh-CN" altLang="en-US" dirty="0">
                <a:solidFill>
                  <a:srgbClr val="E90101"/>
                </a:solidFill>
                <a:ea typeface="黑体" pitchFamily="49" charset="-122"/>
              </a:rPr>
              <a:t>＊</a:t>
            </a:r>
            <a:r>
              <a:rPr lang="zh-CN" altLang="en-US" dirty="0">
                <a:ea typeface="黑体" pitchFamily="49" charset="-122"/>
              </a:rPr>
              <a:t>是二元运算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zh-CN" altLang="en-US" dirty="0">
                <a:ea typeface="黑体" pitchFamily="49" charset="-122"/>
              </a:rPr>
              <a:t>那么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E90101"/>
                </a:solidFill>
                <a:ea typeface="黑体" pitchFamily="49" charset="-122"/>
              </a:rPr>
              <a:t>＊</a:t>
            </a:r>
            <a:r>
              <a:rPr lang="zh-CN" altLang="en-US" dirty="0">
                <a:ea typeface="黑体" pitchFamily="49" charset="-122"/>
              </a:rPr>
              <a:t> </a:t>
            </a:r>
            <a:r>
              <a:rPr lang="en-US" altLang="zh-CN" dirty="0">
                <a:ea typeface="黑体" pitchFamily="49" charset="-122"/>
              </a:rPr>
              <a:t>J</a:t>
            </a:r>
            <a:r>
              <a:rPr lang="zh-CN" altLang="en-US" dirty="0">
                <a:ea typeface="黑体" pitchFamily="49" charset="-122"/>
              </a:rPr>
              <a:t>仍是一个区间</a:t>
            </a:r>
            <a:r>
              <a:rPr lang="en-US" altLang="zh-CN" dirty="0">
                <a:ea typeface="黑体" pitchFamily="49" charset="-122"/>
              </a:rPr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[P132</a:t>
            </a:r>
            <a:r>
              <a:rPr lang="zh-CN" altLang="en-US" sz="2800" dirty="0">
                <a:ea typeface="黑体" pitchFamily="49" charset="-122"/>
              </a:rPr>
              <a:t>例</a:t>
            </a:r>
            <a:r>
              <a:rPr lang="en-US" altLang="zh-CN" sz="2800" dirty="0">
                <a:ea typeface="黑体" pitchFamily="49" charset="-122"/>
              </a:rPr>
              <a:t>1]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证明：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[a, b]+[c, d]=[</a:t>
            </a:r>
            <a:r>
              <a:rPr lang="en-US" altLang="zh-CN" dirty="0" err="1">
                <a:solidFill>
                  <a:srgbClr val="3333FF"/>
                </a:solidFill>
                <a:ea typeface="黑体" pitchFamily="49" charset="-122"/>
              </a:rPr>
              <a:t>a+c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, </a:t>
            </a:r>
            <a:r>
              <a:rPr lang="en-US" altLang="zh-CN" dirty="0" err="1">
                <a:solidFill>
                  <a:srgbClr val="3333FF"/>
                </a:solidFill>
                <a:ea typeface="黑体" pitchFamily="49" charset="-122"/>
              </a:rPr>
              <a:t>b+d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]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E123BD"/>
                </a:solidFill>
                <a:ea typeface="黑体" pitchFamily="49" charset="-122"/>
              </a:rPr>
              <a:t>证</a:t>
            </a:r>
            <a:r>
              <a:rPr lang="en-US" altLang="zh-CN" dirty="0">
                <a:ea typeface="黑体" pitchFamily="49" charset="-122"/>
              </a:rPr>
              <a:t>: </a:t>
            </a:r>
            <a:r>
              <a:rPr lang="zh-CN" altLang="en-US" dirty="0">
                <a:ea typeface="黑体" pitchFamily="49" charset="-122"/>
              </a:rPr>
              <a:t>设</a:t>
            </a:r>
            <a:r>
              <a:rPr lang="en-US" altLang="zh-CN" dirty="0" err="1">
                <a:ea typeface="黑体" pitchFamily="49" charset="-122"/>
              </a:rPr>
              <a:t>a≤x≤b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dirty="0" err="1">
                <a:ea typeface="黑体" pitchFamily="49" charset="-122"/>
              </a:rPr>
              <a:t>c≤y≤d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zh-CN" altLang="en-US" dirty="0">
                <a:ea typeface="黑体" pitchFamily="49" charset="-122"/>
              </a:rPr>
              <a:t>且</a:t>
            </a:r>
            <a:r>
              <a:rPr lang="en-US" altLang="zh-CN" dirty="0" err="1">
                <a:ea typeface="黑体" pitchFamily="49" charset="-122"/>
              </a:rPr>
              <a:t>x+y</a:t>
            </a:r>
            <a:r>
              <a:rPr lang="en-US" altLang="zh-CN" dirty="0">
                <a:ea typeface="黑体" pitchFamily="49" charset="-122"/>
              </a:rPr>
              <a:t>=z.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  </a:t>
            </a:r>
            <a:r>
              <a:rPr lang="zh-CN" altLang="en-US" dirty="0">
                <a:ea typeface="黑体" pitchFamily="49" charset="-122"/>
              </a:rPr>
              <a:t>则由     </a:t>
            </a:r>
            <a:r>
              <a:rPr lang="en-US" altLang="zh-CN" dirty="0">
                <a:ea typeface="黑体" pitchFamily="49" charset="-122"/>
              </a:rPr>
              <a:t>c ≤ y=z-x ≤ d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  </a:t>
            </a:r>
            <a:r>
              <a:rPr lang="zh-CN" altLang="en-US" dirty="0">
                <a:ea typeface="黑体" pitchFamily="49" charset="-122"/>
              </a:rPr>
              <a:t>得        </a:t>
            </a:r>
            <a:r>
              <a:rPr lang="en-US" altLang="zh-CN" dirty="0" err="1">
                <a:ea typeface="黑体" pitchFamily="49" charset="-122"/>
              </a:rPr>
              <a:t>x+c</a:t>
            </a:r>
            <a:r>
              <a:rPr lang="en-US" altLang="zh-CN" dirty="0">
                <a:ea typeface="黑体" pitchFamily="49" charset="-122"/>
              </a:rPr>
              <a:t> ≤ z ≤ </a:t>
            </a:r>
            <a:r>
              <a:rPr lang="en-US" altLang="zh-CN" dirty="0" err="1">
                <a:ea typeface="黑体" pitchFamily="49" charset="-122"/>
              </a:rPr>
              <a:t>x+d</a:t>
            </a: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  </a:t>
            </a:r>
            <a:r>
              <a:rPr lang="zh-CN" altLang="en-US" dirty="0">
                <a:ea typeface="黑体" pitchFamily="49" charset="-122"/>
              </a:rPr>
              <a:t>因为    </a:t>
            </a:r>
            <a:r>
              <a:rPr lang="en-US" altLang="zh-CN" dirty="0" err="1">
                <a:ea typeface="黑体" pitchFamily="49" charset="-122"/>
              </a:rPr>
              <a:t>a+c</a:t>
            </a:r>
            <a:r>
              <a:rPr lang="en-US" altLang="zh-CN" dirty="0">
                <a:ea typeface="黑体" pitchFamily="49" charset="-122"/>
              </a:rPr>
              <a:t> ≤ </a:t>
            </a:r>
            <a:r>
              <a:rPr lang="en-US" altLang="zh-CN" dirty="0" err="1">
                <a:ea typeface="黑体" pitchFamily="49" charset="-122"/>
              </a:rPr>
              <a:t>x+c</a:t>
            </a:r>
            <a:r>
              <a:rPr lang="en-US" altLang="zh-CN" dirty="0">
                <a:ea typeface="黑体" pitchFamily="49" charset="-122"/>
              </a:rPr>
              <a:t>,   </a:t>
            </a:r>
            <a:r>
              <a:rPr lang="en-US" altLang="zh-CN" dirty="0" err="1">
                <a:ea typeface="黑体" pitchFamily="49" charset="-122"/>
              </a:rPr>
              <a:t>x+d</a:t>
            </a:r>
            <a:r>
              <a:rPr lang="en-US" altLang="zh-CN" dirty="0">
                <a:ea typeface="黑体" pitchFamily="49" charset="-122"/>
              </a:rPr>
              <a:t> ≤ </a:t>
            </a:r>
            <a:r>
              <a:rPr lang="en-US" altLang="zh-CN" dirty="0" err="1">
                <a:ea typeface="黑体" pitchFamily="49" charset="-122"/>
              </a:rPr>
              <a:t>b+d</a:t>
            </a: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  </a:t>
            </a:r>
            <a:r>
              <a:rPr lang="zh-CN" altLang="en-US" dirty="0">
                <a:ea typeface="黑体" pitchFamily="49" charset="-122"/>
              </a:rPr>
              <a:t>所以    </a:t>
            </a:r>
            <a:r>
              <a:rPr lang="en-US" altLang="zh-CN" dirty="0" err="1">
                <a:ea typeface="黑体" pitchFamily="49" charset="-122"/>
              </a:rPr>
              <a:t>a+c</a:t>
            </a:r>
            <a:r>
              <a:rPr lang="en-US" altLang="zh-CN" dirty="0">
                <a:ea typeface="黑体" pitchFamily="49" charset="-122"/>
              </a:rPr>
              <a:t> ≤ z ≤ </a:t>
            </a:r>
            <a:r>
              <a:rPr lang="en-US" altLang="zh-CN" dirty="0" err="1">
                <a:ea typeface="黑体" pitchFamily="49" charset="-122"/>
              </a:rPr>
              <a:t>b+d</a:t>
            </a: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  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于是    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[a, b]+[c, d]=[</a:t>
            </a:r>
            <a:r>
              <a:rPr lang="en-US" altLang="zh-CN" dirty="0" err="1">
                <a:solidFill>
                  <a:srgbClr val="3333FF"/>
                </a:solidFill>
                <a:ea typeface="黑体" pitchFamily="49" charset="-122"/>
              </a:rPr>
              <a:t>a+c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, </a:t>
            </a:r>
            <a:r>
              <a:rPr lang="en-US" altLang="zh-CN" dirty="0" err="1">
                <a:solidFill>
                  <a:srgbClr val="3333FF"/>
                </a:solidFill>
                <a:ea typeface="黑体" pitchFamily="49" charset="-122"/>
              </a:rPr>
              <a:t>b+d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]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6B3697F-B556-B84B-E16F-903D271374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380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区间数运算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412876"/>
            <a:ext cx="10297144" cy="51847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E90101"/>
                </a:solidFill>
                <a:ea typeface="黑体" pitchFamily="49" charset="-122"/>
              </a:rPr>
              <a:t>区间数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: </a:t>
            </a:r>
            <a:r>
              <a:rPr lang="zh-CN" altLang="en-US" b="1" dirty="0">
                <a:solidFill>
                  <a:schemeClr val="bg2"/>
                </a:solidFill>
                <a:ea typeface="楷体_GB2312" pitchFamily="49" charset="-122"/>
              </a:rPr>
              <a:t>指实数轴上的一个闭区间</a:t>
            </a:r>
            <a:r>
              <a:rPr lang="en-US" altLang="zh-CN" b="1" dirty="0">
                <a:solidFill>
                  <a:schemeClr val="bg2"/>
                </a:solidFill>
                <a:ea typeface="楷体_GB2312" pitchFamily="49" charset="-122"/>
              </a:rPr>
              <a:t>. </a:t>
            </a:r>
            <a:r>
              <a:rPr lang="zh-CN" altLang="en-US" b="1" dirty="0">
                <a:solidFill>
                  <a:schemeClr val="bg2"/>
                </a:solidFill>
                <a:ea typeface="楷体_GB2312" pitchFamily="49" charset="-122"/>
              </a:rPr>
              <a:t>它是一个特殊的</a:t>
            </a:r>
            <a:r>
              <a:rPr lang="en-US" altLang="zh-CN" b="1" dirty="0">
                <a:solidFill>
                  <a:schemeClr val="bg2"/>
                </a:solidFill>
                <a:ea typeface="楷体_GB2312" pitchFamily="49" charset="-122"/>
              </a:rPr>
              <a:t>F</a:t>
            </a:r>
            <a:r>
              <a:rPr lang="zh-CN" altLang="en-US" b="1" dirty="0">
                <a:solidFill>
                  <a:schemeClr val="bg2"/>
                </a:solidFill>
                <a:ea typeface="楷体_GB2312" pitchFamily="49" charset="-122"/>
              </a:rPr>
              <a:t>数</a:t>
            </a:r>
            <a:r>
              <a:rPr lang="en-US" altLang="zh-CN" b="1" dirty="0">
                <a:solidFill>
                  <a:schemeClr val="bg2"/>
                </a:solidFill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设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[a, b], [c, d]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是实数域中的闭区间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,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那么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ea typeface="黑体" pitchFamily="49" charset="-122"/>
              </a:rPr>
              <a:t>[a, b]</a:t>
            </a:r>
            <a:r>
              <a:rPr lang="zh-CN" altLang="en-US" dirty="0">
                <a:ea typeface="黑体" pitchFamily="49" charset="-122"/>
              </a:rPr>
              <a:t>＋</a:t>
            </a:r>
            <a:r>
              <a:rPr lang="en-US" altLang="zh-CN" dirty="0">
                <a:ea typeface="黑体" pitchFamily="49" charset="-122"/>
              </a:rPr>
              <a:t>[c, d]=[</a:t>
            </a:r>
            <a:r>
              <a:rPr lang="en-US" altLang="zh-CN" dirty="0" err="1">
                <a:ea typeface="黑体" pitchFamily="49" charset="-122"/>
              </a:rPr>
              <a:t>a+c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dirty="0" err="1">
                <a:ea typeface="黑体" pitchFamily="49" charset="-122"/>
              </a:rPr>
              <a:t>b+d</a:t>
            </a:r>
            <a:r>
              <a:rPr lang="en-US" altLang="zh-CN" dirty="0">
                <a:ea typeface="黑体" pitchFamily="49" charset="-122"/>
              </a:rPr>
              <a:t>]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ea typeface="黑体" pitchFamily="49" charset="-122"/>
              </a:rPr>
              <a:t>[a, b]</a:t>
            </a:r>
            <a:r>
              <a:rPr lang="zh-CN" altLang="en-US" dirty="0">
                <a:ea typeface="黑体" pitchFamily="49" charset="-122"/>
              </a:rPr>
              <a:t>－</a:t>
            </a:r>
            <a:r>
              <a:rPr lang="en-US" altLang="zh-CN" dirty="0">
                <a:ea typeface="黑体" pitchFamily="49" charset="-122"/>
              </a:rPr>
              <a:t>[c, d]=[a-d,  b-c]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ea typeface="黑体" pitchFamily="49" charset="-122"/>
              </a:rPr>
              <a:t>[a, b]</a:t>
            </a:r>
            <a:r>
              <a:rPr lang="en-US" altLang="en-US" dirty="0">
                <a:ea typeface="黑体" pitchFamily="49" charset="-122"/>
              </a:rPr>
              <a:t>×</a:t>
            </a:r>
            <a:r>
              <a:rPr lang="en-US" altLang="zh-CN" dirty="0">
                <a:ea typeface="黑体" pitchFamily="49" charset="-122"/>
              </a:rPr>
              <a:t>[c, d]=[p, q]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p=</a:t>
            </a:r>
            <a:r>
              <a:rPr lang="en-US" altLang="zh-CN" i="1" dirty="0">
                <a:solidFill>
                  <a:srgbClr val="E123BD"/>
                </a:solidFill>
                <a:ea typeface="黑体" pitchFamily="49" charset="-122"/>
              </a:rPr>
              <a:t>min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(ac, 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bc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 ad, 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bd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), q=</a:t>
            </a:r>
            <a:r>
              <a:rPr lang="en-US" altLang="zh-CN" i="1" dirty="0">
                <a:solidFill>
                  <a:srgbClr val="E123BD"/>
                </a:solidFill>
                <a:ea typeface="黑体" pitchFamily="49" charset="-122"/>
              </a:rPr>
              <a:t>max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(ac, ad, 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bc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bd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ea typeface="黑体" pitchFamily="49" charset="-122"/>
              </a:rPr>
              <a:t>[a, b] ÷[c, d]=[a, b] </a:t>
            </a:r>
            <a:r>
              <a:rPr lang="en-US" altLang="en-US" dirty="0">
                <a:ea typeface="黑体" pitchFamily="49" charset="-122"/>
              </a:rPr>
              <a:t>×</a:t>
            </a:r>
            <a:r>
              <a:rPr lang="en-US" altLang="zh-CN" dirty="0">
                <a:ea typeface="黑体" pitchFamily="49" charset="-122"/>
              </a:rPr>
              <a:t>[1/d, 1/c],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ea typeface="黑体" pitchFamily="49" charset="-122"/>
              </a:rPr>
              <a:t>[a, b]</a:t>
            </a:r>
            <a:r>
              <a:rPr lang="en-US" altLang="zh-CN" dirty="0">
                <a:ea typeface="黑体" pitchFamily="49" charset="-122"/>
                <a:sym typeface="Symbol"/>
              </a:rPr>
              <a:t></a:t>
            </a:r>
            <a:r>
              <a:rPr lang="en-US" altLang="zh-CN" dirty="0">
                <a:ea typeface="黑体" pitchFamily="49" charset="-122"/>
              </a:rPr>
              <a:t>[c, d]=[</a:t>
            </a:r>
            <a:r>
              <a:rPr lang="en-US" altLang="zh-CN" dirty="0" err="1">
                <a:ea typeface="黑体" pitchFamily="49" charset="-122"/>
              </a:rPr>
              <a:t>a</a:t>
            </a:r>
            <a:r>
              <a:rPr lang="en-US" altLang="zh-CN" dirty="0" err="1">
                <a:ea typeface="黑体" pitchFamily="49" charset="-122"/>
                <a:sym typeface="Symbol"/>
              </a:rPr>
              <a:t></a:t>
            </a:r>
            <a:r>
              <a:rPr lang="en-US" altLang="zh-CN" dirty="0" err="1">
                <a:ea typeface="黑体" pitchFamily="49" charset="-122"/>
              </a:rPr>
              <a:t>c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dirty="0" err="1">
                <a:ea typeface="黑体" pitchFamily="49" charset="-122"/>
              </a:rPr>
              <a:t>b</a:t>
            </a:r>
            <a:r>
              <a:rPr lang="en-US" altLang="zh-CN" dirty="0" err="1">
                <a:ea typeface="黑体" pitchFamily="49" charset="-122"/>
                <a:sym typeface="Symbol"/>
              </a:rPr>
              <a:t></a:t>
            </a:r>
            <a:r>
              <a:rPr lang="en-US" altLang="zh-CN" dirty="0" err="1">
                <a:ea typeface="黑体" pitchFamily="49" charset="-122"/>
              </a:rPr>
              <a:t>d</a:t>
            </a:r>
            <a:r>
              <a:rPr lang="en-US" altLang="zh-CN" dirty="0">
                <a:ea typeface="黑体" pitchFamily="49" charset="-122"/>
              </a:rPr>
              <a:t>]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ea typeface="黑体" pitchFamily="49" charset="-122"/>
              </a:rPr>
              <a:t>[a, b]</a:t>
            </a:r>
            <a:r>
              <a:rPr lang="en-US" altLang="zh-CN" dirty="0">
                <a:ea typeface="黑体" pitchFamily="49" charset="-122"/>
                <a:sym typeface="Symbol"/>
              </a:rPr>
              <a:t></a:t>
            </a:r>
            <a:r>
              <a:rPr lang="en-US" altLang="zh-CN" dirty="0">
                <a:ea typeface="黑体" pitchFamily="49" charset="-122"/>
              </a:rPr>
              <a:t>[c, d]=[</a:t>
            </a:r>
            <a:r>
              <a:rPr lang="en-US" altLang="zh-CN" dirty="0" err="1">
                <a:ea typeface="黑体" pitchFamily="49" charset="-122"/>
              </a:rPr>
              <a:t>a</a:t>
            </a:r>
            <a:r>
              <a:rPr lang="en-US" altLang="zh-CN" dirty="0" err="1">
                <a:ea typeface="黑体" pitchFamily="49" charset="-122"/>
                <a:sym typeface="Symbol"/>
              </a:rPr>
              <a:t></a:t>
            </a:r>
            <a:r>
              <a:rPr lang="en-US" altLang="zh-CN" dirty="0" err="1">
                <a:ea typeface="黑体" pitchFamily="49" charset="-122"/>
              </a:rPr>
              <a:t>c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dirty="0" err="1">
                <a:ea typeface="黑体" pitchFamily="49" charset="-122"/>
              </a:rPr>
              <a:t>b</a:t>
            </a:r>
            <a:r>
              <a:rPr lang="en-US" altLang="zh-CN" dirty="0" err="1">
                <a:ea typeface="黑体" pitchFamily="49" charset="-122"/>
                <a:sym typeface="Symbol"/>
              </a:rPr>
              <a:t></a:t>
            </a:r>
            <a:r>
              <a:rPr lang="en-US" altLang="zh-CN" dirty="0" err="1">
                <a:ea typeface="黑体" pitchFamily="49" charset="-122"/>
              </a:rPr>
              <a:t>d</a:t>
            </a:r>
            <a:r>
              <a:rPr lang="en-US" altLang="zh-CN" dirty="0">
                <a:ea typeface="黑体" pitchFamily="49" charset="-122"/>
              </a:rPr>
              <a:t>]</a:t>
            </a:r>
          </a:p>
        </p:txBody>
      </p:sp>
      <p:graphicFrame>
        <p:nvGraphicFramePr>
          <p:cNvPr id="5018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8828864"/>
              </p:ext>
            </p:extLst>
          </p:nvPr>
        </p:nvGraphicFramePr>
        <p:xfrm>
          <a:off x="7392144" y="4869160"/>
          <a:ext cx="13684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71252" imgH="203112" progId="Equation.3">
                  <p:embed/>
                </p:oleObj>
              </mc:Choice>
              <mc:Fallback>
                <p:oleObj name="公式" r:id="rId2" imgW="571252" imgH="203112" progId="Equation.3">
                  <p:embed/>
                  <p:pic>
                    <p:nvPicPr>
                      <p:cNvPr id="0" name="Picture 1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4869160"/>
                        <a:ext cx="1368425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0ED52E-EB4B-67AF-F2FA-60FF5BAA31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F209AC-A2D1-49EF-BE0C-2B9240FE767E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483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7625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区间数运算举例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47850" y="1989138"/>
            <a:ext cx="4038600" cy="367211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dirty="0"/>
              <a:t> [1, 3]+[2, 4]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</a:rPr>
              <a:t> = [1+2, 3+4]=[3, 7]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[1, 3]-[2, 4]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</a:rPr>
              <a:t> = [1-4, 3-2]=[-3, 1]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[1, 3] ×[2, 4]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</a:rPr>
              <a:t> =[2, 12]</a:t>
            </a: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0" y="1916113"/>
            <a:ext cx="4176464" cy="4609231"/>
          </a:xfrm>
          <a:solidFill>
            <a:srgbClr val="FFFF99"/>
          </a:solidFill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dirty="0"/>
              <a:t> [1, 3] ÷[2, 4]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/>
              <a:t> = [1, 3] ×[1/4, 1/2]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/>
              <a:t> = [1×(1/4), 3×(1/2)]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/>
              <a:t> = [1/4, 3/2]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/>
              <a:t>[1, 3] </a:t>
            </a:r>
            <a:r>
              <a:rPr lang="en-US" altLang="zh-CN" dirty="0">
                <a:sym typeface="Symbol"/>
              </a:rPr>
              <a:t> </a:t>
            </a:r>
            <a:r>
              <a:rPr lang="en-US" altLang="zh-CN" dirty="0"/>
              <a:t>[2, 4]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dirty="0"/>
              <a:t> = </a:t>
            </a:r>
            <a:r>
              <a:rPr lang="en-US" altLang="zh-CN" dirty="0">
                <a:solidFill>
                  <a:schemeClr val="bg2"/>
                </a:solidFill>
              </a:rPr>
              <a:t>[1</a:t>
            </a:r>
            <a:r>
              <a:rPr lang="en-US" altLang="zh-CN" dirty="0">
                <a:sym typeface="Symbol"/>
              </a:rPr>
              <a:t></a:t>
            </a:r>
            <a:r>
              <a:rPr lang="en-US" altLang="zh-CN" dirty="0">
                <a:solidFill>
                  <a:schemeClr val="bg2"/>
                </a:solidFill>
              </a:rPr>
              <a:t>2, 3</a:t>
            </a:r>
            <a:r>
              <a:rPr lang="en-US" altLang="zh-CN" dirty="0">
                <a:sym typeface="Symbol"/>
              </a:rPr>
              <a:t></a:t>
            </a:r>
            <a:r>
              <a:rPr lang="en-US" altLang="zh-CN" dirty="0">
                <a:solidFill>
                  <a:schemeClr val="bg2"/>
                </a:solidFill>
              </a:rPr>
              <a:t>4]=[2, 4]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/>
              <a:t>[1, 3] </a:t>
            </a:r>
            <a:r>
              <a:rPr lang="en-US" altLang="zh-CN" dirty="0">
                <a:ea typeface="黑体" pitchFamily="49" charset="-122"/>
                <a:sym typeface="Symbol"/>
              </a:rPr>
              <a:t></a:t>
            </a:r>
            <a:r>
              <a:rPr lang="en-US" altLang="zh-CN" dirty="0"/>
              <a:t>[2, 4]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chemeClr val="bg2"/>
                </a:solidFill>
              </a:rPr>
              <a:t>= [1</a:t>
            </a:r>
            <a:r>
              <a:rPr lang="en-US" altLang="zh-CN" dirty="0">
                <a:ea typeface="黑体" pitchFamily="49" charset="-122"/>
                <a:sym typeface="Symbol"/>
              </a:rPr>
              <a:t></a:t>
            </a:r>
            <a:r>
              <a:rPr lang="en-US" altLang="zh-CN" dirty="0">
                <a:solidFill>
                  <a:schemeClr val="bg2"/>
                </a:solidFill>
              </a:rPr>
              <a:t>2, 3</a:t>
            </a:r>
            <a:r>
              <a:rPr lang="en-US" altLang="zh-CN" dirty="0">
                <a:ea typeface="黑体" pitchFamily="49" charset="-122"/>
                <a:sym typeface="Symbol"/>
              </a:rPr>
              <a:t></a:t>
            </a:r>
            <a:r>
              <a:rPr lang="en-US" altLang="zh-CN" dirty="0">
                <a:solidFill>
                  <a:schemeClr val="bg2"/>
                </a:solidFill>
              </a:rPr>
              <a:t>4]=[1, 3]</a:t>
            </a:r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1774825" y="1412876"/>
            <a:ext cx="4294188" cy="51911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800">
                <a:latin typeface="Arial" charset="0"/>
              </a:rPr>
              <a:t>设</a:t>
            </a:r>
            <a:r>
              <a:rPr lang="en-US" altLang="zh-CN" sz="2800">
                <a:latin typeface="Arial" charset="0"/>
              </a:rPr>
              <a:t>[a, b]=[1, 3], [c, d]=[2, 4]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F6DC5ED-242D-1057-2E8A-4B4ACF9866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26C620E-099B-4AAE-A0B9-409ABAEB1F9D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010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2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22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  <p:bldP spid="52229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区间数截集运算的性质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412876"/>
            <a:ext cx="10009112" cy="5445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E90101"/>
                </a:solidFill>
                <a:ea typeface="黑体" pitchFamily="49" charset="-122"/>
              </a:rPr>
              <a:t>定理</a:t>
            </a: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2] </a:t>
            </a:r>
            <a:r>
              <a:rPr lang="zh-CN" altLang="en-US" dirty="0">
                <a:ea typeface="黑体" pitchFamily="49" charset="-122"/>
              </a:rPr>
              <a:t>设</a:t>
            </a:r>
            <a:r>
              <a:rPr lang="en-US" altLang="zh-CN" dirty="0">
                <a:ea typeface="黑体" pitchFamily="49" charset="-122"/>
              </a:rPr>
              <a:t>R</a:t>
            </a:r>
            <a:r>
              <a:rPr lang="zh-CN" altLang="en-US" dirty="0">
                <a:ea typeface="黑体" pitchFamily="49" charset="-122"/>
              </a:rPr>
              <a:t>为实数域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i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dirty="0">
                <a:ea typeface="黑体" pitchFamily="49" charset="-122"/>
              </a:rPr>
              <a:t>: R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/>
              </a:rPr>
              <a:t>  </a:t>
            </a:r>
            <a:r>
              <a:rPr lang="en-US" altLang="zh-CN" dirty="0">
                <a:ea typeface="黑体" pitchFamily="49" charset="-122"/>
              </a:rPr>
              <a:t>R→R, </a:t>
            </a:r>
            <a:r>
              <a:rPr lang="en-US" altLang="zh-CN" i="1" dirty="0">
                <a:ea typeface="黑体" pitchFamily="49" charset="-122"/>
              </a:rPr>
              <a:t>A</a:t>
            </a:r>
            <a:r>
              <a:rPr lang="zh-CN" altLang="en-US" dirty="0">
                <a:ea typeface="黑体" pitchFamily="49" charset="-122"/>
              </a:rPr>
              <a:t>、 </a:t>
            </a:r>
            <a:r>
              <a:rPr lang="en-US" altLang="zh-CN" i="1" dirty="0">
                <a:ea typeface="黑体" pitchFamily="49" charset="-122"/>
              </a:rPr>
              <a:t>B</a:t>
            </a:r>
            <a:r>
              <a:rPr lang="zh-CN" altLang="en-US" dirty="0">
                <a:ea typeface="黑体" pitchFamily="49" charset="-122"/>
              </a:rPr>
              <a:t>为有界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数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zh-CN" altLang="en-US" dirty="0">
                <a:ea typeface="黑体" pitchFamily="49" charset="-122"/>
              </a:rPr>
              <a:t>则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</a:t>
            </a:r>
            <a:r>
              <a:rPr kumimoji="1" lang="el-GR" altLang="zh-CN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lang="en-US" altLang="zh-CN" dirty="0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ea typeface="黑体" pitchFamily="49" charset="-122"/>
              </a:rPr>
              <a:t>(0,1],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E123BD"/>
                </a:solidFill>
                <a:ea typeface="黑体" pitchFamily="49" charset="-122"/>
              </a:rPr>
              <a:t>                          </a:t>
            </a:r>
            <a:r>
              <a:rPr lang="en-US" altLang="zh-CN" b="1" i="1" dirty="0">
                <a:solidFill>
                  <a:srgbClr val="E123BD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b="1" dirty="0">
                <a:solidFill>
                  <a:srgbClr val="E123BD"/>
                </a:solidFill>
                <a:ea typeface="黑体" pitchFamily="49" charset="-122"/>
              </a:rPr>
              <a:t>(</a:t>
            </a:r>
            <a:r>
              <a:rPr lang="en-US" altLang="zh-CN" b="1" i="1" dirty="0">
                <a:solidFill>
                  <a:srgbClr val="E123BD"/>
                </a:solidFill>
                <a:ea typeface="黑体" pitchFamily="49" charset="-122"/>
              </a:rPr>
              <a:t>A</a:t>
            </a:r>
            <a:r>
              <a:rPr lang="en-US" altLang="zh-CN" b="1" dirty="0">
                <a:solidFill>
                  <a:srgbClr val="E123BD"/>
                </a:solidFill>
                <a:ea typeface="黑体" pitchFamily="49" charset="-122"/>
              </a:rPr>
              <a:t>, </a:t>
            </a:r>
            <a:r>
              <a:rPr lang="en-US" altLang="zh-CN" b="1" i="1" dirty="0">
                <a:solidFill>
                  <a:srgbClr val="E123BD"/>
                </a:solidFill>
                <a:ea typeface="黑体" pitchFamily="49" charset="-122"/>
              </a:rPr>
              <a:t>B</a:t>
            </a:r>
            <a:r>
              <a:rPr lang="en-US" altLang="zh-CN" b="1" dirty="0">
                <a:solidFill>
                  <a:srgbClr val="E123BD"/>
                </a:solidFill>
                <a:ea typeface="黑体" pitchFamily="49" charset="-122"/>
              </a:rPr>
              <a:t>)</a:t>
            </a:r>
            <a:r>
              <a:rPr kumimoji="1" lang="el-GR" altLang="zh-CN" b="1" i="1" baseline="-25000" dirty="0">
                <a:solidFill>
                  <a:srgbClr val="E123BD"/>
                </a:solidFill>
                <a:ea typeface="黑体" pitchFamily="49" charset="-122"/>
                <a:sym typeface="Symbol" pitchFamily="18" charset="2"/>
              </a:rPr>
              <a:t>λ</a:t>
            </a:r>
            <a:r>
              <a:rPr lang="en-US" altLang="zh-CN" b="1" dirty="0">
                <a:solidFill>
                  <a:srgbClr val="E123BD"/>
                </a:solidFill>
                <a:ea typeface="黑体" pitchFamily="49" charset="-122"/>
              </a:rPr>
              <a:t>=</a:t>
            </a:r>
            <a:r>
              <a:rPr lang="en-US" altLang="zh-CN" b="1" i="1" dirty="0">
                <a:solidFill>
                  <a:srgbClr val="E123BD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f </a:t>
            </a:r>
            <a:r>
              <a:rPr lang="en-US" altLang="zh-CN" b="1" dirty="0">
                <a:solidFill>
                  <a:srgbClr val="E123BD"/>
                </a:solidFill>
                <a:ea typeface="黑体" pitchFamily="49" charset="-122"/>
              </a:rPr>
              <a:t>(</a:t>
            </a:r>
            <a:r>
              <a:rPr lang="en-US" altLang="zh-CN" b="1" i="1" dirty="0">
                <a:solidFill>
                  <a:srgbClr val="E123BD"/>
                </a:solidFill>
                <a:ea typeface="黑体" pitchFamily="49" charset="-122"/>
              </a:rPr>
              <a:t>A</a:t>
            </a:r>
            <a:r>
              <a:rPr kumimoji="1" lang="el-GR" altLang="zh-CN" b="1" i="1" baseline="-25000" dirty="0">
                <a:solidFill>
                  <a:srgbClr val="E123BD"/>
                </a:solidFill>
                <a:ea typeface="黑体" pitchFamily="49" charset="-122"/>
                <a:sym typeface="Symbol" pitchFamily="18" charset="2"/>
              </a:rPr>
              <a:t>λ</a:t>
            </a:r>
            <a:r>
              <a:rPr lang="en-US" altLang="zh-CN" b="1" dirty="0">
                <a:solidFill>
                  <a:srgbClr val="E123BD"/>
                </a:solidFill>
                <a:ea typeface="黑体" pitchFamily="49" charset="-122"/>
              </a:rPr>
              <a:t>, </a:t>
            </a:r>
            <a:r>
              <a:rPr lang="en-US" altLang="zh-CN" b="1" i="1" dirty="0">
                <a:solidFill>
                  <a:srgbClr val="E123BD"/>
                </a:solidFill>
                <a:ea typeface="黑体" pitchFamily="49" charset="-122"/>
              </a:rPr>
              <a:t>B</a:t>
            </a:r>
            <a:r>
              <a:rPr kumimoji="1" lang="el-GR" altLang="zh-CN" b="1" i="1" baseline="-25000" dirty="0">
                <a:solidFill>
                  <a:srgbClr val="E123BD"/>
                </a:solidFill>
                <a:ea typeface="黑体" pitchFamily="49" charset="-122"/>
                <a:sym typeface="Symbol" pitchFamily="18" charset="2"/>
              </a:rPr>
              <a:t>λ</a:t>
            </a:r>
            <a:r>
              <a:rPr lang="en-US" altLang="zh-CN" b="1" dirty="0">
                <a:solidFill>
                  <a:srgbClr val="E123BD"/>
                </a:solidFill>
                <a:ea typeface="黑体" pitchFamily="49" charset="-12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E90101"/>
                </a:solidFill>
                <a:ea typeface="黑体" pitchFamily="49" charset="-122"/>
              </a:rPr>
              <a:t>定理</a:t>
            </a:r>
            <a:r>
              <a:rPr lang="en-US" altLang="zh-CN" dirty="0">
                <a:solidFill>
                  <a:srgbClr val="E90101"/>
                </a:solidFill>
                <a:ea typeface="黑体" pitchFamily="49" charset="-122"/>
              </a:rPr>
              <a:t>3]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设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I, J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是两个有界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数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&gt;0, 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则</a:t>
            </a:r>
            <a:r>
              <a:rPr kumimoji="1" lang="zh-CN" altLang="en-US" dirty="0">
                <a:solidFill>
                  <a:schemeClr val="bg2"/>
                </a:solidFill>
                <a:ea typeface="黑体" pitchFamily="49" charset="-122"/>
                <a:sym typeface="Symbol" pitchFamily="18" charset="2"/>
              </a:rPr>
              <a:t></a:t>
            </a:r>
            <a:r>
              <a:rPr kumimoji="1" lang="el-GR" altLang="zh-CN" i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(0,1], 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(1) (I +J)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=I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+J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endParaRPr kumimoji="1" lang="en-US" altLang="zh-CN" i="1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(2)</a:t>
            </a:r>
            <a:r>
              <a:rPr kumimoji="1" lang="en-US" altLang="zh-CN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(I </a:t>
            </a:r>
            <a:r>
              <a:rPr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J)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=I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J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endParaRPr kumimoji="1" lang="en-US" altLang="zh-CN" i="1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(3) </a:t>
            </a:r>
            <a:r>
              <a:rPr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(I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/>
              </a:rPr>
              <a:t>  </a:t>
            </a:r>
            <a:r>
              <a:rPr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J)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=I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/>
              </a:rPr>
              <a:t> </a:t>
            </a: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J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endParaRPr kumimoji="1" lang="en-US" altLang="zh-CN" i="1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(4) </a:t>
            </a:r>
            <a:r>
              <a:rPr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÷</a:t>
            </a:r>
            <a:r>
              <a:rPr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J)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=I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÷</a:t>
            </a: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J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endParaRPr kumimoji="1" lang="en-US" altLang="zh-CN" i="1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(5) </a:t>
            </a:r>
            <a:r>
              <a:rPr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/>
              </a:rPr>
              <a:t>  </a:t>
            </a:r>
            <a:r>
              <a:rPr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I)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/>
              </a:rPr>
              <a:t></a:t>
            </a:r>
            <a:r>
              <a:rPr lang="en-US" altLang="zh-CN" i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kumimoji="1" lang="el-GR" altLang="zh-CN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endParaRPr kumimoji="1" lang="en-US" altLang="zh-CN" i="1" baseline="-25000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A47C1C-21D4-4029-027E-C9D1EAAFA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708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区间数截集运算举例</a:t>
            </a:r>
            <a:r>
              <a:rPr lang="en-US" altLang="zh-CN" sz="3200" dirty="0">
                <a:ea typeface="黑体" pitchFamily="49" charset="-122"/>
              </a:rPr>
              <a:t>[P134</a:t>
            </a:r>
            <a:r>
              <a:rPr lang="zh-CN" altLang="en-US" sz="3200" dirty="0">
                <a:ea typeface="黑体" pitchFamily="49" charset="-122"/>
              </a:rPr>
              <a:t>例</a:t>
            </a:r>
            <a:r>
              <a:rPr lang="en-US" altLang="zh-CN" sz="3200" dirty="0">
                <a:ea typeface="黑体" pitchFamily="49" charset="-122"/>
              </a:rPr>
              <a:t>3]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1341438"/>
            <a:ext cx="10009112" cy="55165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假如某一工程任务可分为两个阶段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: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第一阶段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6~8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天可完成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,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其完成任务的可能性分布为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数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; 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第二阶段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9~12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天可完成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,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用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数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来表示</a:t>
            </a:r>
            <a:r>
              <a:rPr lang="en-US" altLang="zh-CN" sz="2800" dirty="0">
                <a:solidFill>
                  <a:schemeClr val="bg2"/>
                </a:solidFill>
              </a:rPr>
              <a:t>.</a:t>
            </a:r>
            <a:r>
              <a:rPr lang="zh-CN" altLang="en-US" sz="2400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问</a:t>
            </a:r>
            <a:r>
              <a:rPr lang="zh-CN" altLang="en-US" sz="2400" dirty="0">
                <a:solidFill>
                  <a:srgbClr val="E123BD"/>
                </a:solidFill>
                <a:latin typeface="黑体" pitchFamily="49" charset="-122"/>
                <a:ea typeface="黑体" pitchFamily="49" charset="-122"/>
              </a:rPr>
              <a:t>最可能</a:t>
            </a:r>
            <a:r>
              <a:rPr lang="zh-CN" altLang="en-US" sz="2400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完成这一工程任务的时间</a:t>
            </a:r>
            <a:r>
              <a:rPr lang="en-US" altLang="zh-CN" sz="2400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?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>
              <a:solidFill>
                <a:schemeClr val="bg2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chemeClr val="bg2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解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: 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先计算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  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取</a:t>
            </a:r>
            <a:r>
              <a:rPr kumimoji="1" lang="el-GR" altLang="zh-CN" sz="2800" i="1" dirty="0">
                <a:solidFill>
                  <a:srgbClr val="E123BD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  <a:sym typeface="Symbol" pitchFamily="18" charset="2"/>
              </a:rPr>
              <a:t>λ</a:t>
            </a:r>
            <a:r>
              <a:rPr kumimoji="1" lang="en-US" altLang="zh-CN" sz="2400" dirty="0">
                <a:solidFill>
                  <a:srgbClr val="E123BD"/>
                </a:solidFill>
                <a:ea typeface="黑体" pitchFamily="49" charset="-122"/>
                <a:cs typeface="Arial" charset="0"/>
                <a:sym typeface="Symbol" pitchFamily="18" charset="2"/>
              </a:rPr>
              <a:t>=0.8</a:t>
            </a:r>
            <a:r>
              <a:rPr kumimoji="1" lang="en-US" altLang="zh-CN" sz="2400" dirty="0">
                <a:ea typeface="黑体" pitchFamily="49" charset="-122"/>
                <a:cs typeface="Arial" charset="0"/>
                <a:sym typeface="Symbol" pitchFamily="18" charset="2"/>
              </a:rPr>
              <a:t>, </a:t>
            </a:r>
            <a:r>
              <a:rPr kumimoji="1" lang="zh-CN" altLang="en-US" sz="2400" dirty="0">
                <a:ea typeface="黑体" pitchFamily="49" charset="-122"/>
                <a:cs typeface="Arial" charset="0"/>
                <a:sym typeface="Symbol" pitchFamily="18" charset="2"/>
              </a:rPr>
              <a:t>按</a:t>
            </a:r>
            <a:r>
              <a:rPr kumimoji="1" lang="en-US" altLang="zh-CN" sz="2400" dirty="0">
                <a:ea typeface="黑体" pitchFamily="49" charset="-122"/>
                <a:cs typeface="Arial" charset="0"/>
                <a:sym typeface="Symbol" pitchFamily="18" charset="2"/>
              </a:rPr>
              <a:t>[</a:t>
            </a:r>
            <a:r>
              <a:rPr kumimoji="1" lang="zh-CN" altLang="en-US" sz="2400" dirty="0">
                <a:ea typeface="黑体" pitchFamily="49" charset="-122"/>
                <a:cs typeface="Arial" charset="0"/>
                <a:sym typeface="Symbol" pitchFamily="18" charset="2"/>
              </a:rPr>
              <a:t>定理</a:t>
            </a:r>
            <a:r>
              <a:rPr kumimoji="1" lang="en-US" altLang="zh-CN" sz="2400" dirty="0">
                <a:ea typeface="黑体" pitchFamily="49" charset="-122"/>
                <a:cs typeface="Arial" charset="0"/>
                <a:sym typeface="Symbol" pitchFamily="18" charset="2"/>
              </a:rPr>
              <a:t>2], </a:t>
            </a:r>
            <a:r>
              <a:rPr kumimoji="1" lang="zh-CN" altLang="en-US" sz="2400" dirty="0">
                <a:ea typeface="黑体" pitchFamily="49" charset="-122"/>
                <a:cs typeface="Arial" charset="0"/>
                <a:sym typeface="Symbol" pitchFamily="18" charset="2"/>
              </a:rPr>
              <a:t>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            </a:t>
            </a:r>
            <a:r>
              <a:rPr lang="en-US" altLang="zh-CN" sz="28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28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8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0.8 </a:t>
            </a:r>
            <a:r>
              <a:rPr lang="en-US" altLang="zh-CN" sz="28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8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0.8 </a:t>
            </a:r>
            <a:r>
              <a:rPr lang="en-US" altLang="zh-CN" sz="28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800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0.8</a:t>
            </a:r>
            <a:endParaRPr lang="en-US" altLang="zh-CN" sz="2800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   </a:t>
            </a:r>
            <a:r>
              <a:rPr lang="zh-CN" altLang="en-US" sz="2800" dirty="0">
                <a:ea typeface="黑体" pitchFamily="49" charset="-122"/>
              </a:rPr>
              <a:t>即    </a:t>
            </a:r>
            <a:r>
              <a:rPr lang="en-US" altLang="zh-CN" sz="2800" dirty="0">
                <a:ea typeface="黑体" pitchFamily="49" charset="-122"/>
              </a:rPr>
              <a:t>[16,18]=[6, 7]+[10,11]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E90101"/>
                </a:solidFill>
                <a:ea typeface="黑体" pitchFamily="49" charset="-122"/>
              </a:rPr>
              <a:t>     </a:t>
            </a:r>
            <a:r>
              <a:rPr lang="zh-CN" altLang="en-US" sz="2400" dirty="0">
                <a:solidFill>
                  <a:srgbClr val="E90101"/>
                </a:solidFill>
                <a:ea typeface="黑体" pitchFamily="49" charset="-122"/>
              </a:rPr>
              <a:t>完成这一任务最可能的时间是</a:t>
            </a:r>
            <a:r>
              <a:rPr lang="en-US" altLang="zh-CN" sz="2400" dirty="0">
                <a:solidFill>
                  <a:srgbClr val="E90101"/>
                </a:solidFill>
                <a:ea typeface="黑体" pitchFamily="49" charset="-122"/>
              </a:rPr>
              <a:t>16~18</a:t>
            </a:r>
            <a:r>
              <a:rPr lang="zh-CN" altLang="en-US" sz="2400" dirty="0">
                <a:solidFill>
                  <a:srgbClr val="E90101"/>
                </a:solidFill>
                <a:ea typeface="黑体" pitchFamily="49" charset="-122"/>
              </a:rPr>
              <a:t>天</a:t>
            </a:r>
            <a:r>
              <a:rPr lang="en-US" altLang="zh-CN" sz="2400" dirty="0">
                <a:solidFill>
                  <a:srgbClr val="E90101"/>
                </a:solidFill>
                <a:ea typeface="黑体" pitchFamily="49" charset="-122"/>
              </a:rPr>
              <a:t>,</a:t>
            </a:r>
            <a:r>
              <a:rPr lang="zh-CN" altLang="en-US" sz="2400" dirty="0">
                <a:solidFill>
                  <a:srgbClr val="E90101"/>
                </a:solidFill>
                <a:ea typeface="黑体" pitchFamily="49" charset="-122"/>
              </a:rPr>
              <a:t>它是两个阶段中最可能完成任务的时间之和。</a:t>
            </a:r>
          </a:p>
        </p:txBody>
      </p:sp>
      <p:graphicFrame>
        <p:nvGraphicFramePr>
          <p:cNvPr id="54278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143251" y="2584451"/>
          <a:ext cx="6048375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705100" imgH="393700" progId="Equation.3">
                  <p:embed/>
                </p:oleObj>
              </mc:Choice>
              <mc:Fallback>
                <p:oleObj name="公式" r:id="rId3" imgW="2705100" imgH="393700" progId="Equation.3">
                  <p:embed/>
                  <p:pic>
                    <p:nvPicPr>
                      <p:cNvPr id="0" name="Picture 2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2584451"/>
                        <a:ext cx="6048375" cy="881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08439" y="3716339"/>
          <a:ext cx="5545137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413000" imgH="393700" progId="Equation.3">
                  <p:embed/>
                </p:oleObj>
              </mc:Choice>
              <mc:Fallback>
                <p:oleObj name="公式" r:id="rId5" imgW="2413000" imgH="393700" progId="Equation.3">
                  <p:embed/>
                  <p:pic>
                    <p:nvPicPr>
                      <p:cNvPr id="0" name="Picture 2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3716339"/>
                        <a:ext cx="5545137" cy="903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C59EAD-B689-BDA7-0DDD-9EC390DF33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314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991544" y="332656"/>
            <a:ext cx="8136904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5.6 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/>
              <p:cNvSpPr>
                <a:spLocks noGrp="1"/>
              </p:cNvSpPr>
              <p:nvPr>
                <p:ph idx="1"/>
              </p:nvPr>
            </p:nvSpPr>
            <p:spPr>
              <a:xfrm>
                <a:off x="1357072" y="1679846"/>
                <a:ext cx="9707479" cy="4544144"/>
              </a:xfrm>
            </p:spPr>
            <p:txBody>
              <a:bodyPr/>
              <a:lstStyle/>
              <a:p>
                <a:r>
                  <a:rPr lang="zh-CN" altLang="en-US" b="1" dirty="0"/>
                  <a:t>定义：</a:t>
                </a:r>
                <a:r>
                  <a:rPr lang="en-US" altLang="zh-CN" b="1" i="1" dirty="0"/>
                  <a:t>p</a:t>
                </a:r>
                <a:r>
                  <a:rPr lang="en-US" altLang="zh-CN" b="1" dirty="0"/>
                  <a:t>=(</a:t>
                </a:r>
                <a:r>
                  <a:rPr lang="en-US" altLang="zh-CN" b="1" i="1" dirty="0">
                    <a:latin typeface="Times New Roman" pitchFamily="18" charset="0"/>
                    <a:cs typeface="Times New Roman" pitchFamily="18" charset="0"/>
                  </a:rPr>
                  <a:t>l </a:t>
                </a:r>
                <a:r>
                  <a:rPr lang="en-US" altLang="zh-CN" b="1" dirty="0"/>
                  <a:t>, </a:t>
                </a:r>
                <a:r>
                  <a:rPr lang="en-US" altLang="zh-CN" b="1" i="1" dirty="0"/>
                  <a:t>m</a:t>
                </a:r>
                <a:r>
                  <a:rPr lang="en-US" altLang="zh-CN" b="1" dirty="0"/>
                  <a:t>, </a:t>
                </a:r>
                <a:r>
                  <a:rPr lang="en-US" altLang="zh-CN" b="1" i="1" dirty="0"/>
                  <a:t>u</a:t>
                </a:r>
                <a:r>
                  <a:rPr lang="en-US" altLang="zh-CN" b="1" dirty="0"/>
                  <a:t>)</a:t>
                </a:r>
                <a:r>
                  <a:rPr lang="zh-CN" altLang="en-US" b="1" dirty="0"/>
                  <a:t>为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三角模糊数</a:t>
                </a:r>
                <a:r>
                  <a:rPr lang="zh-CN" altLang="en-US" b="1" dirty="0"/>
                  <a:t>，隶属函数表示为</a:t>
                </a:r>
                <a:endParaRPr lang="en-US" altLang="zh-CN" b="1" dirty="0"/>
              </a:p>
              <a:p>
                <a:endParaRPr lang="en-US" altLang="zh-CN" sz="3600" b="1" dirty="0"/>
              </a:p>
              <a:p>
                <a:endParaRPr lang="en-US" altLang="zh-CN" sz="3600" b="1" dirty="0"/>
              </a:p>
              <a:p>
                <a:endParaRPr lang="en-US" altLang="zh-CN" sz="3600" b="1" dirty="0"/>
              </a:p>
              <a:p>
                <a:endParaRPr lang="en-US" altLang="zh-CN" sz="3600" b="1" dirty="0"/>
              </a:p>
              <a:p>
                <a:r>
                  <a:rPr lang="zh-CN" altLang="en-US" b="1" dirty="0"/>
                  <a:t>式中，</a:t>
                </a:r>
                <a:endParaRPr lang="en-US" altLang="zh-CN" b="1" dirty="0"/>
              </a:p>
              <a:p>
                <a:pPr lvl="1"/>
                <a:r>
                  <a:rPr lang="en-US" altLang="zh-CN" b="1" i="1" dirty="0">
                    <a:solidFill>
                      <a:srgbClr val="3333FF"/>
                    </a:solidFill>
                  </a:rPr>
                  <a:t>x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3333FF"/>
                        </a:solidFill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altLang="zh-CN" b="1" i="1" dirty="0">
                    <a:solidFill>
                      <a:srgbClr val="3333FF"/>
                    </a:solidFill>
                  </a:rPr>
                  <a:t>R</a:t>
                </a:r>
                <a:r>
                  <a:rPr lang="en-US" altLang="zh-CN" b="1" dirty="0">
                    <a:solidFill>
                      <a:srgbClr val="3333FF"/>
                    </a:solidFill>
                  </a:rPr>
                  <a:t>, 0&lt; </a:t>
                </a:r>
                <a:r>
                  <a:rPr lang="en-US" altLang="zh-CN" b="1" i="1" dirty="0">
                    <a:solidFill>
                      <a:srgbClr val="3333FF"/>
                    </a:solidFill>
                    <a:latin typeface="Times New Roman" pitchFamily="18" charset="0"/>
                    <a:cs typeface="Times New Roman" pitchFamily="18" charset="0"/>
                  </a:rPr>
                  <a:t>l </a:t>
                </a:r>
                <a:r>
                  <a:rPr lang="en-US" altLang="zh-CN" b="1" dirty="0">
                    <a:solidFill>
                      <a:srgbClr val="3333FF"/>
                    </a:solidFill>
                  </a:rPr>
                  <a:t>&lt;</a:t>
                </a:r>
                <a:r>
                  <a:rPr lang="en-US" altLang="zh-CN" b="1" i="1" dirty="0">
                    <a:solidFill>
                      <a:srgbClr val="3333FF"/>
                    </a:solidFill>
                  </a:rPr>
                  <a:t>m</a:t>
                </a:r>
                <a:r>
                  <a:rPr lang="en-US" altLang="zh-CN" b="1" dirty="0">
                    <a:solidFill>
                      <a:srgbClr val="3333FF"/>
                    </a:solidFill>
                  </a:rPr>
                  <a:t> &lt;</a:t>
                </a:r>
                <a:r>
                  <a:rPr lang="en-US" altLang="zh-CN" b="1" i="1" dirty="0">
                    <a:solidFill>
                      <a:srgbClr val="3333FF"/>
                    </a:solidFill>
                  </a:rPr>
                  <a:t> u</a:t>
                </a:r>
                <a:r>
                  <a:rPr lang="en-US" altLang="zh-CN" b="1" dirty="0">
                    <a:solidFill>
                      <a:srgbClr val="3333FF"/>
                    </a:solidFill>
                  </a:rPr>
                  <a:t>,  </a:t>
                </a:r>
                <a:r>
                  <a:rPr lang="en-US" altLang="zh-CN" b="1" i="1" dirty="0">
                    <a:solidFill>
                      <a:srgbClr val="3333FF"/>
                    </a:solidFill>
                  </a:rPr>
                  <a:t>u</a:t>
                </a:r>
                <a:r>
                  <a:rPr lang="zh-CN" altLang="en-US" b="1" dirty="0">
                    <a:solidFill>
                      <a:srgbClr val="3333FF"/>
                    </a:solidFill>
                  </a:rPr>
                  <a:t>、</a:t>
                </a:r>
                <a:r>
                  <a:rPr lang="en-US" altLang="zh-CN" b="1" i="1" dirty="0">
                    <a:solidFill>
                      <a:srgbClr val="3333FF"/>
                    </a:solidFill>
                    <a:latin typeface="Times New Roman" pitchFamily="18" charset="0"/>
                    <a:cs typeface="Times New Roman" pitchFamily="18" charset="0"/>
                  </a:rPr>
                  <a:t> l </a:t>
                </a:r>
                <a:r>
                  <a:rPr lang="zh-CN" altLang="en-US" b="1" dirty="0">
                    <a:solidFill>
                      <a:srgbClr val="3333FF"/>
                    </a:solidFill>
                  </a:rPr>
                  <a:t>分别为上界和下界；</a:t>
                </a:r>
                <a:endParaRPr lang="en-US" altLang="zh-CN" b="1" dirty="0">
                  <a:solidFill>
                    <a:srgbClr val="3333FF"/>
                  </a:solidFill>
                </a:endParaRPr>
              </a:p>
              <a:p>
                <a:pPr lvl="1"/>
                <a:r>
                  <a:rPr lang="en-US" altLang="zh-CN" b="1" i="1" dirty="0">
                    <a:solidFill>
                      <a:srgbClr val="3333FF"/>
                    </a:solidFill>
                    <a:latin typeface="Times New Roman" pitchFamily="18" charset="0"/>
                    <a:cs typeface="Times New Roman" pitchFamily="18" charset="0"/>
                  </a:rPr>
                  <a:t>l </a:t>
                </a:r>
                <a:r>
                  <a:rPr lang="zh-CN" altLang="en-US" b="1" dirty="0">
                    <a:solidFill>
                      <a:srgbClr val="3333FF"/>
                    </a:solidFill>
                  </a:rPr>
                  <a:t>和</a:t>
                </a:r>
                <a:r>
                  <a:rPr lang="en-US" altLang="zh-CN" b="1" i="1" dirty="0">
                    <a:solidFill>
                      <a:srgbClr val="3333FF"/>
                    </a:solidFill>
                  </a:rPr>
                  <a:t>u</a:t>
                </a:r>
                <a:r>
                  <a:rPr lang="zh-CN" altLang="en-US" b="1" dirty="0">
                    <a:solidFill>
                      <a:srgbClr val="3333FF"/>
                    </a:solidFill>
                  </a:rPr>
                  <a:t>表示模糊的程度：</a:t>
                </a:r>
                <a:r>
                  <a:rPr lang="en-US" altLang="zh-CN" b="1" i="1" dirty="0">
                    <a:solidFill>
                      <a:srgbClr val="3333FF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b="1" i="1" dirty="0">
                    <a:solidFill>
                      <a:srgbClr val="3333FF"/>
                    </a:solidFill>
                  </a:rPr>
                  <a:t>u</a:t>
                </a:r>
                <a:r>
                  <a:rPr lang="zh-CN" altLang="en-US" b="1" dirty="0">
                    <a:solidFill>
                      <a:srgbClr val="3333FF"/>
                    </a:solidFill>
                  </a:rPr>
                  <a:t>－</a:t>
                </a:r>
                <a:r>
                  <a:rPr lang="en-US" altLang="zh-CN" b="1" i="1" dirty="0">
                    <a:solidFill>
                      <a:srgbClr val="3333FF"/>
                    </a:solidFill>
                    <a:latin typeface="Times New Roman" pitchFamily="18" charset="0"/>
                    <a:cs typeface="Times New Roman" pitchFamily="18" charset="0"/>
                  </a:rPr>
                  <a:t>l </a:t>
                </a:r>
                <a:r>
                  <a:rPr lang="en-US" altLang="zh-CN" b="1" i="1" dirty="0">
                    <a:solidFill>
                      <a:srgbClr val="3333FF"/>
                    </a:solidFill>
                  </a:rPr>
                  <a:t> </a:t>
                </a:r>
                <a:r>
                  <a:rPr lang="zh-CN" altLang="en-US" b="1" dirty="0">
                    <a:solidFill>
                      <a:srgbClr val="3333FF"/>
                    </a:solidFill>
                  </a:rPr>
                  <a:t>越大，模糊程度越强</a:t>
                </a:r>
              </a:p>
            </p:txBody>
          </p:sp>
        </mc:Choice>
        <mc:Fallback xmlns="">
          <p:sp>
            <p:nvSpPr>
              <p:cNvPr id="7" name="内容占位符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7072" y="1679846"/>
                <a:ext cx="9707479" cy="4544144"/>
              </a:xfrm>
              <a:blipFill>
                <a:blip r:embed="rId2"/>
                <a:stretch>
                  <a:fillRect l="-879" t="-2282" b="-10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892322"/>
              </p:ext>
            </p:extLst>
          </p:nvPr>
        </p:nvGraphicFramePr>
        <p:xfrm>
          <a:off x="2423593" y="2564905"/>
          <a:ext cx="3457689" cy="2252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76160" imgH="1091880" progId="Equation.DSMT4">
                  <p:embed/>
                </p:oleObj>
              </mc:Choice>
              <mc:Fallback>
                <p:oleObj name="Equation" r:id="rId3" imgW="1676160" imgH="1091880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3" y="2564905"/>
                        <a:ext cx="3457689" cy="22520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7847507" y="2167519"/>
            <a:ext cx="3841799" cy="3046838"/>
            <a:chOff x="5220072" y="2204864"/>
            <a:chExt cx="3841799" cy="3046838"/>
          </a:xfrm>
        </p:grpSpPr>
        <p:grpSp>
          <p:nvGrpSpPr>
            <p:cNvPr id="10" name="组合 9"/>
            <p:cNvGrpSpPr/>
            <p:nvPr/>
          </p:nvGrpSpPr>
          <p:grpSpPr>
            <a:xfrm>
              <a:off x="5220072" y="2204864"/>
              <a:ext cx="3841799" cy="3046838"/>
              <a:chOff x="1888937" y="2490674"/>
              <a:chExt cx="4991311" cy="3543977"/>
            </a:xfrm>
          </p:grpSpPr>
          <p:cxnSp>
            <p:nvCxnSpPr>
              <p:cNvPr id="11" name="直接箭头连接符 10"/>
              <p:cNvCxnSpPr/>
              <p:nvPr/>
            </p:nvCxnSpPr>
            <p:spPr bwMode="auto">
              <a:xfrm>
                <a:off x="2339752" y="5472113"/>
                <a:ext cx="403244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/>
              <p:nvPr/>
            </p:nvCxnSpPr>
            <p:spPr bwMode="auto">
              <a:xfrm flipV="1">
                <a:off x="2339752" y="3097213"/>
                <a:ext cx="0" cy="23749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33"/>
              <p:cNvSpPr txBox="1">
                <a:spLocks noChangeArrowheads="1"/>
              </p:cNvSpPr>
              <p:nvPr/>
            </p:nvSpPr>
            <p:spPr bwMode="auto">
              <a:xfrm>
                <a:off x="1888937" y="2490674"/>
                <a:ext cx="1620632" cy="5369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 dirty="0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400" b="1" i="1" dirty="0" err="1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zh-CN" sz="2400" b="1" i="1" baseline="-25000" dirty="0" err="1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CN" sz="2400" b="1" dirty="0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zh-CN" sz="2400" b="1" i="1" dirty="0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zh-CN" sz="2400" b="1" dirty="0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zh-CN" altLang="en-US" sz="2000" b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" name="TextBox 33"/>
              <p:cNvSpPr txBox="1">
                <a:spLocks noChangeArrowheads="1"/>
              </p:cNvSpPr>
              <p:nvPr/>
            </p:nvSpPr>
            <p:spPr bwMode="auto">
              <a:xfrm>
                <a:off x="6376251" y="5195276"/>
                <a:ext cx="503997" cy="5369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endParaRPr lang="zh-CN" altLang="en-US" sz="20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" name="TextBox 33"/>
              <p:cNvSpPr txBox="1">
                <a:spLocks noChangeArrowheads="1"/>
              </p:cNvSpPr>
              <p:nvPr/>
            </p:nvSpPr>
            <p:spPr bwMode="auto">
              <a:xfrm>
                <a:off x="2051779" y="3361776"/>
                <a:ext cx="503997" cy="465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 dirty="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cxnSp>
            <p:nvCxnSpPr>
              <p:cNvPr id="16" name="直接连接符 15"/>
              <p:cNvCxnSpPr/>
              <p:nvPr/>
            </p:nvCxnSpPr>
            <p:spPr bwMode="auto">
              <a:xfrm>
                <a:off x="4787900" y="3573463"/>
                <a:ext cx="0" cy="194468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V="1">
                <a:off x="2681564" y="3573463"/>
                <a:ext cx="2106336" cy="1899045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4787900" y="3573463"/>
                <a:ext cx="1008236" cy="189865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2267744" y="5426059"/>
                <a:ext cx="4140430" cy="608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 </a:t>
                </a:r>
                <a:r>
                  <a:rPr lang="en-US" altLang="zh-CN" sz="2800" i="1" dirty="0">
                    <a:latin typeface="Times New Roman" pitchFamily="18" charset="0"/>
                    <a:cs typeface="Times New Roman" pitchFamily="18" charset="0"/>
                  </a:rPr>
                  <a:t>l </a:t>
                </a:r>
                <a:r>
                  <a:rPr lang="en-US" altLang="zh-CN" sz="2800" i="1" dirty="0"/>
                  <a:t>      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     u</a:t>
                </a:r>
                <a:endParaRPr lang="zh-CN" alt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" name="直接连接符 2"/>
            <p:cNvCxnSpPr/>
            <p:nvPr/>
          </p:nvCxnSpPr>
          <p:spPr>
            <a:xfrm flipH="1" flipV="1">
              <a:off x="5539373" y="3135763"/>
              <a:ext cx="1912024" cy="1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3F51A6-98F7-BF97-0331-C007432A95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607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数的运算规则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07591" y="1700808"/>
                <a:ext cx="8229600" cy="4876800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800" b="1" dirty="0"/>
                  <a:t>设有三角</a:t>
                </a:r>
                <a:r>
                  <a:rPr lang="en-US" altLang="zh-CN" sz="2800" b="1" dirty="0"/>
                  <a:t>F</a:t>
                </a:r>
                <a:r>
                  <a:rPr lang="zh-CN" altLang="en-US" sz="2800" b="1" dirty="0"/>
                  <a:t>数：</a:t>
                </a:r>
                <a:r>
                  <a:rPr lang="en-US" altLang="zh-CN" sz="2800" b="1" i="1" dirty="0">
                    <a:solidFill>
                      <a:srgbClr val="FF0000"/>
                    </a:solidFill>
                  </a:rPr>
                  <a:t>p</a:t>
                </a:r>
                <a:r>
                  <a:rPr lang="en-US" altLang="zh-CN" sz="28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=(</a:t>
                </a:r>
                <a:r>
                  <a:rPr lang="en-US" altLang="zh-CN" sz="28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zh-CN" sz="28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, </a:t>
                </a:r>
                <a:r>
                  <a:rPr lang="en-US" altLang="zh-CN" sz="2800" b="1" i="1" dirty="0">
                    <a:solidFill>
                      <a:srgbClr val="FF0000"/>
                    </a:solidFill>
                  </a:rPr>
                  <a:t>m</a:t>
                </a:r>
                <a:r>
                  <a:rPr lang="en-US" altLang="zh-CN" sz="28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, </a:t>
                </a:r>
                <a:r>
                  <a:rPr lang="en-US" altLang="zh-CN" sz="2800" b="1" i="1" dirty="0">
                    <a:solidFill>
                      <a:srgbClr val="FF0000"/>
                    </a:solidFill>
                  </a:rPr>
                  <a:t>u</a:t>
                </a:r>
                <a:r>
                  <a:rPr lang="en-US" altLang="zh-CN" sz="28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)  </a:t>
                </a:r>
                <a:r>
                  <a:rPr lang="zh-CN" altLang="en-US" sz="2800" b="1" dirty="0"/>
                  <a:t>和 </a:t>
                </a:r>
                <a:r>
                  <a:rPr lang="en-US" altLang="zh-CN" sz="2800" b="1" i="1" dirty="0">
                    <a:solidFill>
                      <a:srgbClr val="FF0000"/>
                    </a:solidFill>
                  </a:rPr>
                  <a:t>p</a:t>
                </a:r>
                <a:r>
                  <a:rPr lang="en-US" altLang="zh-CN" sz="2800" b="1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=(</a:t>
                </a:r>
                <a:r>
                  <a:rPr lang="en-US" altLang="zh-CN" sz="28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zh-CN" sz="2800" b="1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, </a:t>
                </a:r>
                <a:r>
                  <a:rPr lang="en-US" altLang="zh-CN" sz="2800" b="1" i="1" dirty="0">
                    <a:solidFill>
                      <a:srgbClr val="FF0000"/>
                    </a:solidFill>
                  </a:rPr>
                  <a:t>m</a:t>
                </a:r>
                <a:r>
                  <a:rPr lang="en-US" altLang="zh-CN" sz="2800" b="1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, </a:t>
                </a:r>
                <a:r>
                  <a:rPr lang="en-US" altLang="zh-CN" sz="2800" b="1" i="1" dirty="0">
                    <a:solidFill>
                      <a:srgbClr val="FF0000"/>
                    </a:solidFill>
                  </a:rPr>
                  <a:t>u</a:t>
                </a:r>
                <a:r>
                  <a:rPr lang="en-US" altLang="zh-CN" sz="2800" b="1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2800" b="1" dirty="0"/>
                  <a:t>则：</a:t>
                </a:r>
                <a:endParaRPr lang="en-US" altLang="zh-CN" sz="2800" b="1" dirty="0"/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400" b="1" i="1" dirty="0"/>
                  <a:t>p</a:t>
                </a:r>
                <a:r>
                  <a:rPr lang="en-US" altLang="zh-CN" sz="2400" b="1" baseline="-25000" dirty="0"/>
                  <a:t>1</a:t>
                </a:r>
                <a:r>
                  <a:rPr lang="en-US" altLang="zh-CN" sz="2400" b="1" dirty="0"/>
                  <a:t>+</a:t>
                </a:r>
                <a:r>
                  <a:rPr lang="en-US" altLang="zh-CN" sz="2400" b="1" i="1" dirty="0"/>
                  <a:t>p</a:t>
                </a:r>
                <a:r>
                  <a:rPr lang="en-US" altLang="zh-CN" sz="2400" b="1" baseline="-25000" dirty="0"/>
                  <a:t>2  </a:t>
                </a:r>
                <a:r>
                  <a:rPr lang="en-US" altLang="zh-CN" sz="2400" b="1" dirty="0"/>
                  <a:t>= (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zh-CN" sz="2400" b="1" baseline="-25000" dirty="0"/>
                  <a:t>1</a:t>
                </a:r>
                <a:r>
                  <a:rPr lang="en-US" altLang="zh-CN" sz="2400" b="1" dirty="0"/>
                  <a:t>+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zh-CN" sz="2400" b="1" baseline="-25000" dirty="0"/>
                  <a:t>2</a:t>
                </a:r>
                <a:r>
                  <a:rPr lang="en-US" altLang="zh-CN" sz="2400" b="1" dirty="0"/>
                  <a:t>, </a:t>
                </a:r>
                <a:r>
                  <a:rPr lang="en-US" altLang="zh-CN" sz="2400" b="1" i="1" dirty="0"/>
                  <a:t>m</a:t>
                </a:r>
                <a:r>
                  <a:rPr lang="en-US" altLang="zh-CN" sz="2400" b="1" baseline="-25000" dirty="0"/>
                  <a:t>1</a:t>
                </a:r>
                <a:r>
                  <a:rPr lang="en-US" altLang="zh-CN" sz="2400" b="1" dirty="0"/>
                  <a:t>+</a:t>
                </a:r>
                <a:r>
                  <a:rPr lang="en-US" altLang="zh-CN" sz="2400" b="1" i="1" dirty="0"/>
                  <a:t>m</a:t>
                </a:r>
                <a:r>
                  <a:rPr lang="en-US" altLang="zh-CN" sz="2400" b="1" baseline="-25000" dirty="0"/>
                  <a:t>2</a:t>
                </a:r>
                <a:r>
                  <a:rPr lang="en-US" altLang="zh-CN" sz="2400" b="1" dirty="0"/>
                  <a:t>, </a:t>
                </a:r>
                <a:r>
                  <a:rPr lang="en-US" altLang="zh-CN" sz="2400" b="1" i="1" dirty="0"/>
                  <a:t>u</a:t>
                </a:r>
                <a:r>
                  <a:rPr lang="en-US" altLang="zh-CN" sz="2400" b="1" baseline="-25000" dirty="0"/>
                  <a:t>1</a:t>
                </a:r>
                <a:r>
                  <a:rPr lang="en-US" altLang="zh-CN" sz="2400" b="1" dirty="0"/>
                  <a:t>+</a:t>
                </a:r>
                <a:r>
                  <a:rPr lang="en-US" altLang="zh-CN" sz="2400" b="1" i="1" dirty="0"/>
                  <a:t>u</a:t>
                </a:r>
                <a:r>
                  <a:rPr lang="en-US" altLang="zh-CN" sz="2400" b="1" baseline="-25000" dirty="0"/>
                  <a:t>2</a:t>
                </a:r>
                <a:r>
                  <a:rPr lang="en-US" altLang="zh-CN" sz="2400" b="1" dirty="0"/>
                  <a:t>) 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400" b="1" i="1" dirty="0"/>
                  <a:t>p</a:t>
                </a:r>
                <a:r>
                  <a:rPr lang="en-US" altLang="zh-CN" sz="2400" b="1" baseline="-25000" dirty="0"/>
                  <a:t>1</a:t>
                </a:r>
                <a:r>
                  <a:rPr lang="en-US" altLang="zh-CN" sz="2400" b="1" dirty="0">
                    <a:sym typeface="Symbol" panose="05050102010706020507" pitchFamily="18" charset="2"/>
                  </a:rPr>
                  <a:t></a:t>
                </a:r>
                <a:r>
                  <a:rPr lang="en-US" altLang="zh-CN" sz="2400" b="1" i="1" dirty="0"/>
                  <a:t>p</a:t>
                </a:r>
                <a:r>
                  <a:rPr lang="en-US" altLang="zh-CN" sz="2400" b="1" baseline="-25000" dirty="0"/>
                  <a:t>2  </a:t>
                </a:r>
                <a:r>
                  <a:rPr lang="en-US" altLang="zh-CN" sz="2400" b="1" dirty="0"/>
                  <a:t>= (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zh-CN" sz="2400" b="1" baseline="-25000" dirty="0"/>
                  <a:t>1</a:t>
                </a:r>
                <a:r>
                  <a:rPr lang="en-US" altLang="zh-CN" sz="2400" b="1" dirty="0">
                    <a:sym typeface="Symbol" panose="05050102010706020507" pitchFamily="18" charset="2"/>
                  </a:rPr>
                  <a:t>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/>
                  <a:t>2</a:t>
                </a:r>
                <a:r>
                  <a:rPr lang="en-US" altLang="zh-CN" sz="2400" b="1" dirty="0"/>
                  <a:t>, </a:t>
                </a:r>
                <a:r>
                  <a:rPr lang="en-US" altLang="zh-CN" sz="2400" b="1" i="1" dirty="0"/>
                  <a:t>m</a:t>
                </a:r>
                <a:r>
                  <a:rPr lang="en-US" altLang="zh-CN" sz="2400" b="1" baseline="-25000" dirty="0"/>
                  <a:t>1</a:t>
                </a:r>
                <a:r>
                  <a:rPr lang="en-US" altLang="zh-CN" sz="2400" b="1" dirty="0">
                    <a:sym typeface="Symbol" panose="05050102010706020507" pitchFamily="18" charset="2"/>
                  </a:rPr>
                  <a:t></a:t>
                </a:r>
                <a:r>
                  <a:rPr lang="en-US" altLang="zh-CN" sz="2400" b="1" i="1" dirty="0"/>
                  <a:t>m</a:t>
                </a:r>
                <a:r>
                  <a:rPr lang="en-US" altLang="zh-CN" sz="2400" b="1" baseline="-25000" dirty="0"/>
                  <a:t>2</a:t>
                </a:r>
                <a:r>
                  <a:rPr lang="en-US" altLang="zh-CN" sz="2400" b="1" dirty="0"/>
                  <a:t>, </a:t>
                </a:r>
                <a:r>
                  <a:rPr lang="en-US" altLang="zh-CN" sz="2400" b="1" i="1" dirty="0"/>
                  <a:t>u</a:t>
                </a:r>
                <a:r>
                  <a:rPr lang="en-US" altLang="zh-CN" sz="2400" b="1" baseline="-25000" dirty="0"/>
                  <a:t>1</a:t>
                </a:r>
                <a:r>
                  <a:rPr lang="en-US" altLang="zh-CN" sz="2400" b="1" dirty="0">
                    <a:sym typeface="Symbol" panose="05050102010706020507" pitchFamily="18" charset="2"/>
                  </a:rPr>
                  <a:t>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zh-CN" sz="2400" b="1" baseline="-25000" dirty="0"/>
                  <a:t>2</a:t>
                </a:r>
                <a:r>
                  <a:rPr lang="en-US" altLang="zh-CN" sz="2400" b="1" dirty="0"/>
                  <a:t>) 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400" b="1" i="1" dirty="0"/>
                  <a:t>p</a:t>
                </a:r>
                <a:r>
                  <a:rPr lang="en-US" altLang="zh-CN" sz="2400" b="1" baseline="-25000" dirty="0"/>
                  <a:t>1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2400" b="1" i="1" dirty="0"/>
                  <a:t>p</a:t>
                </a:r>
                <a:r>
                  <a:rPr lang="en-US" altLang="zh-CN" sz="2400" b="1" baseline="-25000" dirty="0"/>
                  <a:t>2 </a:t>
                </a:r>
                <a:r>
                  <a:rPr lang="en-US" altLang="zh-CN" sz="2400" b="1" dirty="0">
                    <a:sym typeface="Symbol" panose="05050102010706020507" pitchFamily="18" charset="2"/>
                  </a:rPr>
                  <a:t> </a:t>
                </a:r>
                <a:r>
                  <a:rPr lang="en-US" altLang="zh-CN" sz="2400" b="1" dirty="0"/>
                  <a:t>(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zh-CN" sz="2400" b="1" baseline="-25000" dirty="0"/>
                  <a:t>1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zh-CN" sz="2400" b="1" baseline="-25000" dirty="0"/>
                  <a:t>2</a:t>
                </a:r>
                <a:r>
                  <a:rPr lang="en-US" altLang="zh-CN" sz="2400" b="1" dirty="0"/>
                  <a:t>, </a:t>
                </a:r>
                <a:r>
                  <a:rPr lang="en-US" altLang="zh-CN" sz="2400" b="1" i="1" dirty="0"/>
                  <a:t>m</a:t>
                </a:r>
                <a:r>
                  <a:rPr lang="en-US" altLang="zh-CN" sz="2400" b="1" baseline="-25000" dirty="0"/>
                  <a:t>1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2400" b="1" i="1" dirty="0"/>
                  <a:t>m</a:t>
                </a:r>
                <a:r>
                  <a:rPr lang="en-US" altLang="zh-CN" sz="2400" b="1" baseline="-25000" dirty="0"/>
                  <a:t>2</a:t>
                </a:r>
                <a:r>
                  <a:rPr lang="en-US" altLang="zh-CN" sz="2400" b="1" dirty="0"/>
                  <a:t>, </a:t>
                </a:r>
                <a:r>
                  <a:rPr lang="en-US" altLang="zh-CN" sz="2400" b="1" i="1" dirty="0"/>
                  <a:t>u</a:t>
                </a:r>
                <a:r>
                  <a:rPr lang="en-US" altLang="zh-CN" sz="2400" b="1" baseline="-25000" dirty="0"/>
                  <a:t>1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2400" b="1" i="1" dirty="0"/>
                  <a:t>u</a:t>
                </a:r>
                <a:r>
                  <a:rPr lang="en-US" altLang="zh-CN" sz="2400" b="1" baseline="-25000" dirty="0"/>
                  <a:t>2</a:t>
                </a:r>
                <a:r>
                  <a:rPr lang="en-US" altLang="zh-CN" sz="2400" b="1" dirty="0"/>
                  <a:t>)  </a:t>
                </a:r>
              </a:p>
              <a:p>
                <a:pPr lvl="1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400" b="1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2400" b="1" i="1" dirty="0"/>
                  <a:t>p</a:t>
                </a:r>
                <a:r>
                  <a:rPr lang="en-US" altLang="zh-CN" sz="2400" b="1" baseline="-25000" dirty="0"/>
                  <a:t>1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b="1" dirty="0">
                        <a:sym typeface="Symbol" panose="05050102010706020507" pitchFamily="18" charset="2"/>
                      </a:rPr>
                      <m:t></m:t>
                    </m:r>
                  </m:oMath>
                </a14:m>
                <a:r>
                  <a:rPr lang="en-US" altLang="zh-CN" sz="2400" b="1" dirty="0"/>
                  <a:t> (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400" b="1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l</a:t>
                </a:r>
                <a:r>
                  <a:rPr lang="en-US" altLang="zh-CN" sz="2400" b="1" baseline="-25000" dirty="0"/>
                  <a:t>1</a:t>
                </a:r>
                <a:r>
                  <a:rPr lang="en-US" altLang="zh-CN" sz="2400" b="1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400" b="1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2400" b="1" i="1" dirty="0"/>
                  <a:t>m</a:t>
                </a:r>
                <a:r>
                  <a:rPr lang="en-US" altLang="zh-CN" sz="2400" b="1" baseline="-25000" dirty="0"/>
                  <a:t>1</a:t>
                </a:r>
                <a:r>
                  <a:rPr lang="en-US" altLang="zh-CN" sz="2400" b="1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400" b="1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2400" b="1" i="1" dirty="0"/>
                  <a:t>u</a:t>
                </a:r>
                <a:r>
                  <a:rPr lang="en-US" altLang="zh-CN" sz="2400" b="1" baseline="-25000" dirty="0"/>
                  <a:t>1</a:t>
                </a:r>
                <a:r>
                  <a:rPr lang="en-US" altLang="zh-CN" sz="2400" b="1" dirty="0"/>
                  <a:t>)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400" b="1" dirty="0"/>
                  <a:t> </a:t>
                </a:r>
              </a:p>
              <a:p>
                <a:pPr lvl="1">
                  <a:lnSpc>
                    <a:spcPct val="130000"/>
                  </a:lnSpc>
                </a:pPr>
                <a:endParaRPr lang="zh-CN" altLang="zh-CN" sz="2400" b="1" dirty="0"/>
              </a:p>
              <a:p>
                <a:pPr marL="457200" lvl="1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7591" y="1700808"/>
                <a:ext cx="8229600" cy="4876800"/>
              </a:xfrm>
              <a:blipFill>
                <a:blip r:embed="rId2"/>
                <a:stretch>
                  <a:fillRect l="-741" t="-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7536160" y="2779785"/>
            <a:ext cx="3816424" cy="2974830"/>
            <a:chOff x="1888939" y="2574431"/>
            <a:chExt cx="4958343" cy="3460220"/>
          </a:xfrm>
        </p:grpSpPr>
        <p:cxnSp>
          <p:nvCxnSpPr>
            <p:cNvPr id="5" name="直接箭头连接符 4"/>
            <p:cNvCxnSpPr/>
            <p:nvPr/>
          </p:nvCxnSpPr>
          <p:spPr bwMode="auto">
            <a:xfrm>
              <a:off x="2339752" y="5472113"/>
              <a:ext cx="403244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/>
            <p:cNvCxnSpPr/>
            <p:nvPr/>
          </p:nvCxnSpPr>
          <p:spPr bwMode="auto">
            <a:xfrm flipV="1">
              <a:off x="2339752" y="3097213"/>
              <a:ext cx="0" cy="23749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3"/>
            <p:cNvSpPr txBox="1">
              <a:spLocks noChangeArrowheads="1"/>
            </p:cNvSpPr>
            <p:nvPr/>
          </p:nvSpPr>
          <p:spPr bwMode="auto">
            <a:xfrm>
              <a:off x="1888939" y="2574431"/>
              <a:ext cx="1620631" cy="536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2400" b="1" i="1" dirty="0" err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altLang="zh-CN" sz="2400" b="1" i="1" baseline="-25000" dirty="0" err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CN" sz="2400" b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altLang="zh-CN" sz="24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zh-CN" sz="2400" b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endParaRPr lang="zh-CN" altLang="en-US" sz="2000" b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TextBox 33"/>
            <p:cNvSpPr txBox="1">
              <a:spLocks noChangeArrowheads="1"/>
            </p:cNvSpPr>
            <p:nvPr/>
          </p:nvSpPr>
          <p:spPr bwMode="auto">
            <a:xfrm>
              <a:off x="6343285" y="5128124"/>
              <a:ext cx="503997" cy="536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sz="20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TextBox 33"/>
            <p:cNvSpPr txBox="1">
              <a:spLocks noChangeArrowheads="1"/>
            </p:cNvSpPr>
            <p:nvPr/>
          </p:nvSpPr>
          <p:spPr bwMode="auto">
            <a:xfrm>
              <a:off x="2051780" y="3361775"/>
              <a:ext cx="503997" cy="465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 b="1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cxnSp>
          <p:nvCxnSpPr>
            <p:cNvPr id="10" name="直接连接符 9"/>
            <p:cNvCxnSpPr/>
            <p:nvPr/>
          </p:nvCxnSpPr>
          <p:spPr bwMode="auto">
            <a:xfrm>
              <a:off x="4787900" y="3573463"/>
              <a:ext cx="0" cy="1944687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2681564" y="3573463"/>
              <a:ext cx="2106336" cy="189904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4787900" y="3573463"/>
              <a:ext cx="1008236" cy="189865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267745" y="5426059"/>
              <a:ext cx="4392429" cy="608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 </a:t>
              </a:r>
              <a:r>
                <a:rPr lang="en-US" altLang="zh-CN" sz="2800" i="1" dirty="0">
                  <a:latin typeface="Times New Roman" pitchFamily="18" charset="0"/>
                  <a:cs typeface="Times New Roman" pitchFamily="18" charset="0"/>
                </a:rPr>
                <a:t>l </a:t>
              </a:r>
              <a:r>
                <a:rPr lang="en-US" altLang="zh-CN" sz="2800" i="1" dirty="0"/>
                <a:t>       m    u</a:t>
              </a:r>
              <a:endParaRPr lang="zh-CN" altLang="en-US" sz="2800" i="1" dirty="0"/>
            </a:p>
          </p:txBody>
        </p:sp>
      </p:grp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210859"/>
              </p:ext>
            </p:extLst>
          </p:nvPr>
        </p:nvGraphicFramePr>
        <p:xfrm>
          <a:off x="2135560" y="5301208"/>
          <a:ext cx="2493119" cy="1114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280" imgH="482400" progId="Equation.DSMT4">
                  <p:embed/>
                </p:oleObj>
              </mc:Choice>
              <mc:Fallback>
                <p:oleObj name="Equation" r:id="rId3" imgW="10792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5560" y="5301208"/>
                        <a:ext cx="2493119" cy="1114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/>
          <p:cNvCxnSpPr/>
          <p:nvPr/>
        </p:nvCxnSpPr>
        <p:spPr>
          <a:xfrm flipH="1" flipV="1">
            <a:off x="7856384" y="3643882"/>
            <a:ext cx="1912024" cy="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069D9F8E-26EA-E9F8-E3CD-EACA15FD1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699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船, 水, 天空, 户外&#10;&#10;描述已自动生成">
            <a:extLst>
              <a:ext uri="{FF2B5EF4-FFF2-40B4-BE49-F238E27FC236}">
                <a16:creationId xmlns:a16="http://schemas.microsoft.com/office/drawing/2014/main" id="{3FC71BCC-59DE-466B-8387-284311917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517" y="3831088"/>
            <a:ext cx="8712966" cy="2804801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789A555-44C9-4379-AD82-16CFF3F1E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650" y="100993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三角</a:t>
            </a:r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数运算举例</a:t>
            </a:r>
            <a:endParaRPr lang="zh-CN" altLang="en-US" dirty="0"/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0CD00CCC-FB15-4CC2-AA29-E07F53D91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3517" y="4315542"/>
          <a:ext cx="62706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1960" imgH="215640" progId="Equation.DSMT4">
                  <p:embed/>
                </p:oleObj>
              </mc:Choice>
              <mc:Fallback>
                <p:oleObj name="Equation" r:id="rId3" imgW="291960" imgH="21564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0CD00CCC-FB15-4CC2-AA29-E07F53D91E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3517" y="4315542"/>
                        <a:ext cx="62706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203FC8A0-034A-4841-AFA5-C3DB62CD48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9856" y="3253482"/>
          <a:ext cx="2730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720" imgH="215640" progId="Equation.DSMT4">
                  <p:embed/>
                </p:oleObj>
              </mc:Choice>
              <mc:Fallback>
                <p:oleObj name="Equation" r:id="rId5" imgW="126720" imgH="215640" progId="Equation.DSMT4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203FC8A0-034A-4841-AFA5-C3DB62CD48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856" y="3253482"/>
                        <a:ext cx="2730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1E1FE3B3-A5C7-48F1-80AD-E6EA17B11D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53440"/>
              </p:ext>
            </p:extLst>
          </p:nvPr>
        </p:nvGraphicFramePr>
        <p:xfrm>
          <a:off x="2999656" y="3253482"/>
          <a:ext cx="7096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0120" imgH="215640" progId="Equation.DSMT4">
                  <p:embed/>
                </p:oleObj>
              </mc:Choice>
              <mc:Fallback>
                <p:oleObj name="Equation" r:id="rId7" imgW="330120" imgH="215640" progId="Equation.DSMT4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1E1FE3B3-A5C7-48F1-80AD-E6EA17B11D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3253482"/>
                        <a:ext cx="7096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1D784949-3F06-4177-9D9E-EBE5948454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2701" y="3244850"/>
          <a:ext cx="7096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0120" imgH="215640" progId="Equation.DSMT4">
                  <p:embed/>
                </p:oleObj>
              </mc:Choice>
              <mc:Fallback>
                <p:oleObj name="Equation" r:id="rId9" imgW="330120" imgH="215640" progId="Equation.DSMT4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1D784949-3F06-4177-9D9E-EBE5948454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1" y="3244850"/>
                        <a:ext cx="7096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0769FBE6-6EB9-4C13-BED1-9F35666D69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8502" y="3304503"/>
          <a:ext cx="68103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7160" imgH="215640" progId="Equation.DSMT4">
                  <p:embed/>
                </p:oleObj>
              </mc:Choice>
              <mc:Fallback>
                <p:oleObj name="Equation" r:id="rId11" imgW="317160" imgH="21564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0769FBE6-6EB9-4C13-BED1-9F35666D69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8502" y="3304503"/>
                        <a:ext cx="681037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35976A19-3099-440F-BF4F-F1189C796F6D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639748477"/>
              </p:ext>
            </p:extLst>
          </p:nvPr>
        </p:nvGraphicFramePr>
        <p:xfrm>
          <a:off x="8834821" y="672716"/>
          <a:ext cx="2751934" cy="1115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943100" imgH="787400" progId="Equation.3">
                  <p:embed/>
                </p:oleObj>
              </mc:Choice>
              <mc:Fallback>
                <p:oleObj name="公式" r:id="rId13" imgW="1943100" imgH="787400" progId="Equation.3">
                  <p:embed/>
                  <p:pic>
                    <p:nvPicPr>
                      <p:cNvPr id="15" name="Object 16">
                        <a:extLst>
                          <a:ext uri="{FF2B5EF4-FFF2-40B4-BE49-F238E27FC236}">
                            <a16:creationId xmlns:a16="http://schemas.microsoft.com/office/drawing/2014/main" id="{35976A19-3099-440F-BF4F-F1189C796F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4821" y="672716"/>
                        <a:ext cx="2751934" cy="1115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2D0B1425-7FCD-42E5-960D-6B517ABC5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909335"/>
              </p:ext>
            </p:extLst>
          </p:nvPr>
        </p:nvGraphicFramePr>
        <p:xfrm>
          <a:off x="8834821" y="1827613"/>
          <a:ext cx="2840389" cy="108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057400" imgH="787400" progId="Equation.3">
                  <p:embed/>
                </p:oleObj>
              </mc:Choice>
              <mc:Fallback>
                <p:oleObj name="公式" r:id="rId15" imgW="2057400" imgH="787400" progId="Equation.3">
                  <p:embed/>
                  <p:pic>
                    <p:nvPicPr>
                      <p:cNvPr id="16" name="Object 6">
                        <a:extLst>
                          <a:ext uri="{FF2B5EF4-FFF2-40B4-BE49-F238E27FC236}">
                            <a16:creationId xmlns:a16="http://schemas.microsoft.com/office/drawing/2014/main" id="{2D0B1425-7FCD-42E5-960D-6B517ABC5A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4821" y="1827613"/>
                        <a:ext cx="2840389" cy="1086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>
            <a:extLst>
              <a:ext uri="{FF2B5EF4-FFF2-40B4-BE49-F238E27FC236}">
                <a16:creationId xmlns:a16="http://schemas.microsoft.com/office/drawing/2014/main" id="{11C79134-871B-410D-80AA-F40CF725CF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345649"/>
              </p:ext>
            </p:extLst>
          </p:nvPr>
        </p:nvGraphicFramePr>
        <p:xfrm>
          <a:off x="8799285" y="3146448"/>
          <a:ext cx="2840389" cy="7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019300" imgH="508000" progId="Equation.3">
                  <p:embed/>
                </p:oleObj>
              </mc:Choice>
              <mc:Fallback>
                <p:oleObj name="公式" r:id="rId17" imgW="2019300" imgH="508000" progId="Equation.3">
                  <p:embed/>
                  <p:pic>
                    <p:nvPicPr>
                      <p:cNvPr id="17" name="Object 6">
                        <a:extLst>
                          <a:ext uri="{FF2B5EF4-FFF2-40B4-BE49-F238E27FC236}">
                            <a16:creationId xmlns:a16="http://schemas.microsoft.com/office/drawing/2014/main" id="{11C79134-871B-410D-80AA-F40CF725CF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9285" y="3146448"/>
                        <a:ext cx="2840389" cy="7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70DC45D9-6C82-49A0-BBDD-7B623E2F5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371709"/>
              </p:ext>
            </p:extLst>
          </p:nvPr>
        </p:nvGraphicFramePr>
        <p:xfrm>
          <a:off x="8819463" y="4032945"/>
          <a:ext cx="2851035" cy="1052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133600" imgH="787400" progId="Equation.3">
                  <p:embed/>
                </p:oleObj>
              </mc:Choice>
              <mc:Fallback>
                <p:oleObj name="公式" r:id="rId19" imgW="2133600" imgH="787400" progId="Equation.3">
                  <p:embed/>
                  <p:pic>
                    <p:nvPicPr>
                      <p:cNvPr id="18" name="Object 4">
                        <a:extLst>
                          <a:ext uri="{FF2B5EF4-FFF2-40B4-BE49-F238E27FC236}">
                            <a16:creationId xmlns:a16="http://schemas.microsoft.com/office/drawing/2014/main" id="{70DC45D9-6C82-49A0-BBDD-7B623E2F56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9463" y="4032945"/>
                        <a:ext cx="2851035" cy="1052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5584B297-DD70-4B04-9333-8997E931E9E2}"/>
              </a:ext>
            </a:extLst>
          </p:cNvPr>
          <p:cNvGrpSpPr/>
          <p:nvPr/>
        </p:nvGrpSpPr>
        <p:grpSpPr>
          <a:xfrm>
            <a:off x="4936381" y="3839719"/>
            <a:ext cx="3103836" cy="2804800"/>
            <a:chOff x="3412381" y="3839719"/>
            <a:chExt cx="3103836" cy="2804800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E826994-2596-433B-B97B-A98B5BA51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2381" y="3839719"/>
              <a:ext cx="1584176" cy="2804800"/>
            </a:xfrm>
            <a:prstGeom prst="line">
              <a:avLst/>
            </a:prstGeom>
            <a:ln w="3810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63734CBB-1337-45EF-A08A-6BC32B93B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6557" y="3882108"/>
              <a:ext cx="1519660" cy="2753781"/>
            </a:xfrm>
            <a:prstGeom prst="line">
              <a:avLst/>
            </a:prstGeom>
            <a:ln w="38100">
              <a:solidFill>
                <a:srgbClr val="3333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C6A0934-2D6D-414A-8088-0DE5A82A9124}"/>
              </a:ext>
            </a:extLst>
          </p:cNvPr>
          <p:cNvGrpSpPr/>
          <p:nvPr/>
        </p:nvGrpSpPr>
        <p:grpSpPr>
          <a:xfrm>
            <a:off x="1766008" y="3808157"/>
            <a:ext cx="3103836" cy="2804800"/>
            <a:chOff x="3412381" y="3839719"/>
            <a:chExt cx="3103836" cy="2804800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37E4A4D-E7B4-428E-917E-AE5BDC1220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2381" y="3839719"/>
              <a:ext cx="1584176" cy="2804800"/>
            </a:xfrm>
            <a:prstGeom prst="line">
              <a:avLst/>
            </a:prstGeom>
            <a:ln w="38100">
              <a:solidFill>
                <a:srgbClr val="E123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DB7618C-DA8B-40F4-82ED-14890FDCAD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6557" y="3882108"/>
              <a:ext cx="1519660" cy="2753781"/>
            </a:xfrm>
            <a:prstGeom prst="line">
              <a:avLst/>
            </a:prstGeom>
            <a:ln w="38100">
              <a:solidFill>
                <a:srgbClr val="E123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99DE838-6522-4816-882D-71063E03A231}"/>
              </a:ext>
            </a:extLst>
          </p:cNvPr>
          <p:cNvGrpSpPr/>
          <p:nvPr/>
        </p:nvGrpSpPr>
        <p:grpSpPr>
          <a:xfrm>
            <a:off x="4102046" y="3850546"/>
            <a:ext cx="1584176" cy="2781870"/>
            <a:chOff x="4164243" y="3839719"/>
            <a:chExt cx="1584176" cy="2781870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3AC8186-FAF4-41FC-8653-0211097E09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4243" y="3839719"/>
              <a:ext cx="797944" cy="2771044"/>
            </a:xfrm>
            <a:prstGeom prst="line">
              <a:avLst/>
            </a:prstGeom>
            <a:ln w="3810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639C76A9-D976-48E4-A02C-7512F51B71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62187" y="3839719"/>
              <a:ext cx="786232" cy="2781870"/>
            </a:xfrm>
            <a:prstGeom prst="line">
              <a:avLst/>
            </a:prstGeom>
            <a:ln w="3810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E2682C5-5F1D-4B9D-965D-02E4BB3D3588}"/>
              </a:ext>
            </a:extLst>
          </p:cNvPr>
          <p:cNvSpPr txBox="1"/>
          <p:nvPr/>
        </p:nvSpPr>
        <p:spPr>
          <a:xfrm>
            <a:off x="570756" y="1302108"/>
            <a:ext cx="2492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</a:t>
            </a:r>
            <a:r>
              <a:rPr lang="en-US" altLang="zh-CN" sz="2800" u="sng" dirty="0">
                <a:solidFill>
                  <a:srgbClr val="008000"/>
                </a:solidFill>
              </a:rPr>
              <a:t>2</a:t>
            </a:r>
            <a:r>
              <a:rPr lang="en-US" altLang="zh-CN" sz="2800" dirty="0">
                <a:solidFill>
                  <a:srgbClr val="008000"/>
                </a:solidFill>
              </a:rPr>
              <a:t>=(1,2,3),</a:t>
            </a:r>
            <a:r>
              <a:rPr lang="zh-CN" altLang="en-US" sz="2800" dirty="0"/>
              <a:t>则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EAD7454-2AEA-4F76-8D81-6E60A4E7E375}"/>
              </a:ext>
            </a:extLst>
          </p:cNvPr>
          <p:cNvSpPr txBox="1"/>
          <p:nvPr/>
        </p:nvSpPr>
        <p:spPr>
          <a:xfrm>
            <a:off x="3333260" y="1335137"/>
            <a:ext cx="4303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u="sng" dirty="0">
                <a:solidFill>
                  <a:srgbClr val="3333FF"/>
                </a:solidFill>
              </a:rPr>
              <a:t>2</a:t>
            </a:r>
            <a:r>
              <a:rPr lang="en-US" altLang="zh-CN" sz="2800" dirty="0">
                <a:solidFill>
                  <a:srgbClr val="3333FF"/>
                </a:solidFill>
              </a:rPr>
              <a:t>+</a:t>
            </a:r>
            <a:r>
              <a:rPr lang="en-US" altLang="zh-CN" sz="2800" u="sng" dirty="0">
                <a:solidFill>
                  <a:srgbClr val="3333FF"/>
                </a:solidFill>
              </a:rPr>
              <a:t>2</a:t>
            </a:r>
            <a:r>
              <a:rPr lang="en-US" altLang="zh-CN" sz="2800" dirty="0">
                <a:solidFill>
                  <a:srgbClr val="3333FF"/>
                </a:solidFill>
              </a:rPr>
              <a:t>=(1+1,2+2,3+3)=(2,4,6)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71A653E-1ADF-4E8A-B6C9-BC58CAF6D62C}"/>
              </a:ext>
            </a:extLst>
          </p:cNvPr>
          <p:cNvSpPr txBox="1"/>
          <p:nvPr/>
        </p:nvSpPr>
        <p:spPr>
          <a:xfrm>
            <a:off x="3344851" y="1812625"/>
            <a:ext cx="4303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u="sng" dirty="0">
                <a:solidFill>
                  <a:srgbClr val="E123BD"/>
                </a:solidFill>
              </a:rPr>
              <a:t>2</a:t>
            </a:r>
            <a:r>
              <a:rPr lang="en-US" altLang="zh-CN" sz="2800" dirty="0">
                <a:solidFill>
                  <a:srgbClr val="E123BD"/>
                </a:solidFill>
              </a:rPr>
              <a:t>-</a:t>
            </a:r>
            <a:r>
              <a:rPr lang="en-US" altLang="zh-CN" sz="2800" u="sng" dirty="0">
                <a:solidFill>
                  <a:srgbClr val="E123BD"/>
                </a:solidFill>
              </a:rPr>
              <a:t>2</a:t>
            </a:r>
            <a:r>
              <a:rPr lang="en-US" altLang="zh-CN" sz="2800" dirty="0">
                <a:solidFill>
                  <a:srgbClr val="E123BD"/>
                </a:solidFill>
              </a:rPr>
              <a:t>=(1-3,2-2,3-1)=(-2,0,2)</a:t>
            </a:r>
            <a:endParaRPr lang="zh-CN" altLang="en-US" sz="2800" dirty="0">
              <a:solidFill>
                <a:srgbClr val="E123BD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C12A4A6-37B8-41D3-B0AE-6C099F379DA1}"/>
              </a:ext>
            </a:extLst>
          </p:cNvPr>
          <p:cNvSpPr txBox="1"/>
          <p:nvPr/>
        </p:nvSpPr>
        <p:spPr>
          <a:xfrm>
            <a:off x="3356442" y="2251935"/>
            <a:ext cx="4303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u="sng" dirty="0">
                <a:solidFill>
                  <a:srgbClr val="E90101"/>
                </a:solidFill>
              </a:rPr>
              <a:t>2</a:t>
            </a:r>
            <a:r>
              <a:rPr lang="en-US" altLang="zh-CN" sz="2800" dirty="0">
                <a:solidFill>
                  <a:srgbClr val="E90101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800" u="sng" dirty="0">
                <a:solidFill>
                  <a:srgbClr val="E90101"/>
                </a:solidFill>
              </a:rPr>
              <a:t>2</a:t>
            </a:r>
            <a:r>
              <a:rPr lang="en-US" altLang="zh-CN" sz="2800" dirty="0">
                <a:solidFill>
                  <a:srgbClr val="E90101"/>
                </a:solidFill>
                <a:sym typeface="Symbol" panose="05050102010706020507" pitchFamily="18" charset="2"/>
              </a:rPr>
              <a:t></a:t>
            </a:r>
            <a:r>
              <a:rPr lang="en-US" altLang="zh-CN" sz="2800" dirty="0">
                <a:solidFill>
                  <a:srgbClr val="E90101"/>
                </a:solidFill>
              </a:rPr>
              <a:t>(1</a:t>
            </a:r>
            <a:r>
              <a:rPr lang="en-US" altLang="zh-CN" sz="2800" dirty="0">
                <a:solidFill>
                  <a:srgbClr val="E90101"/>
                </a:solidFill>
                <a:sym typeface="Symbol" panose="05050102010706020507" pitchFamily="18" charset="2"/>
              </a:rPr>
              <a:t>1</a:t>
            </a:r>
            <a:r>
              <a:rPr lang="en-US" altLang="zh-CN" sz="2800" dirty="0">
                <a:solidFill>
                  <a:srgbClr val="E90101"/>
                </a:solidFill>
              </a:rPr>
              <a:t>,2</a:t>
            </a:r>
            <a:r>
              <a:rPr lang="en-US" altLang="zh-CN" sz="2800" dirty="0">
                <a:solidFill>
                  <a:srgbClr val="E90101"/>
                </a:solidFill>
                <a:sym typeface="Symbol" panose="05050102010706020507" pitchFamily="18" charset="2"/>
              </a:rPr>
              <a:t>2</a:t>
            </a:r>
            <a:r>
              <a:rPr lang="en-US" altLang="zh-CN" sz="2800" dirty="0">
                <a:solidFill>
                  <a:srgbClr val="E90101"/>
                </a:solidFill>
              </a:rPr>
              <a:t>,3</a:t>
            </a:r>
            <a:r>
              <a:rPr lang="en-US" altLang="zh-CN" sz="2800" dirty="0">
                <a:solidFill>
                  <a:srgbClr val="E90101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solidFill>
                  <a:srgbClr val="E90101"/>
                </a:solidFill>
              </a:rPr>
              <a:t>3)=(1,4,9)</a:t>
            </a:r>
            <a:endParaRPr lang="zh-CN" altLang="en-US" sz="2800" dirty="0">
              <a:solidFill>
                <a:srgbClr val="E9010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D998B0C-5ED2-4F1A-821B-9B08CC7762C8}"/>
              </a:ext>
            </a:extLst>
          </p:cNvPr>
          <p:cNvSpPr txBox="1"/>
          <p:nvPr/>
        </p:nvSpPr>
        <p:spPr>
          <a:xfrm>
            <a:off x="3344850" y="2689756"/>
            <a:ext cx="4551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u="sng" dirty="0">
                <a:solidFill>
                  <a:srgbClr val="996633"/>
                </a:solidFill>
              </a:rPr>
              <a:t>2</a:t>
            </a:r>
            <a:r>
              <a:rPr lang="en-US" altLang="zh-CN" sz="2800" dirty="0">
                <a:solidFill>
                  <a:srgbClr val="996633"/>
                </a:solidFill>
                <a:sym typeface="Symbol" panose="05050102010706020507" pitchFamily="18" charset="2"/>
              </a:rPr>
              <a:t></a:t>
            </a:r>
            <a:r>
              <a:rPr lang="en-US" altLang="zh-CN" sz="2800" u="sng" dirty="0">
                <a:solidFill>
                  <a:srgbClr val="996633"/>
                </a:solidFill>
              </a:rPr>
              <a:t>2</a:t>
            </a:r>
            <a:r>
              <a:rPr lang="en-US" altLang="zh-CN" sz="2800" dirty="0">
                <a:solidFill>
                  <a:srgbClr val="996633"/>
                </a:solidFill>
                <a:sym typeface="Symbol" panose="05050102010706020507" pitchFamily="18" charset="2"/>
              </a:rPr>
              <a:t></a:t>
            </a:r>
            <a:r>
              <a:rPr lang="en-US" altLang="zh-CN" sz="2800" dirty="0">
                <a:solidFill>
                  <a:srgbClr val="996633"/>
                </a:solidFill>
              </a:rPr>
              <a:t>(1</a:t>
            </a:r>
            <a:r>
              <a:rPr lang="en-US" altLang="zh-CN" sz="2800" dirty="0">
                <a:solidFill>
                  <a:srgbClr val="996633"/>
                </a:solidFill>
                <a:sym typeface="Symbol" panose="05050102010706020507" pitchFamily="18" charset="2"/>
              </a:rPr>
              <a:t>3</a:t>
            </a:r>
            <a:r>
              <a:rPr lang="en-US" altLang="zh-CN" sz="2800" dirty="0">
                <a:solidFill>
                  <a:srgbClr val="996633"/>
                </a:solidFill>
              </a:rPr>
              <a:t>,2</a:t>
            </a:r>
            <a:r>
              <a:rPr lang="en-US" altLang="zh-CN" sz="2800" dirty="0">
                <a:solidFill>
                  <a:srgbClr val="996633"/>
                </a:solidFill>
                <a:sym typeface="Symbol" panose="05050102010706020507" pitchFamily="18" charset="2"/>
              </a:rPr>
              <a:t>2</a:t>
            </a:r>
            <a:r>
              <a:rPr lang="en-US" altLang="zh-CN" sz="2800" dirty="0">
                <a:solidFill>
                  <a:srgbClr val="996633"/>
                </a:solidFill>
              </a:rPr>
              <a:t>,3</a:t>
            </a:r>
            <a:r>
              <a:rPr lang="en-US" altLang="zh-CN" sz="2800" dirty="0">
                <a:solidFill>
                  <a:srgbClr val="996633"/>
                </a:solidFill>
                <a:sym typeface="Symbol" panose="05050102010706020507" pitchFamily="18" charset="2"/>
              </a:rPr>
              <a:t>1</a:t>
            </a:r>
            <a:r>
              <a:rPr lang="en-US" altLang="zh-CN" sz="2800" dirty="0">
                <a:solidFill>
                  <a:srgbClr val="996633"/>
                </a:solidFill>
              </a:rPr>
              <a:t>)=(1/3,1,3)</a:t>
            </a:r>
            <a:endParaRPr lang="zh-CN" altLang="en-US" sz="2800" dirty="0">
              <a:solidFill>
                <a:srgbClr val="996633"/>
              </a:solidFill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19542B3-FD17-42EC-81AD-2393DCBBA65D}"/>
              </a:ext>
            </a:extLst>
          </p:cNvPr>
          <p:cNvCxnSpPr>
            <a:cxnSpLocks/>
          </p:cNvCxnSpPr>
          <p:nvPr/>
        </p:nvCxnSpPr>
        <p:spPr>
          <a:xfrm flipV="1">
            <a:off x="4107902" y="3871594"/>
            <a:ext cx="2376264" cy="2745531"/>
          </a:xfrm>
          <a:prstGeom prst="line">
            <a:avLst/>
          </a:prstGeom>
          <a:ln w="38100">
            <a:solidFill>
              <a:srgbClr val="E9010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0200A2C-B72C-42B8-9203-F79BA1DB77D2}"/>
              </a:ext>
            </a:extLst>
          </p:cNvPr>
          <p:cNvCxnSpPr>
            <a:cxnSpLocks/>
          </p:cNvCxnSpPr>
          <p:nvPr/>
        </p:nvCxnSpPr>
        <p:spPr>
          <a:xfrm flipH="1" flipV="1">
            <a:off x="6486187" y="3850547"/>
            <a:ext cx="3939806" cy="2793973"/>
          </a:xfrm>
          <a:prstGeom prst="line">
            <a:avLst/>
          </a:prstGeom>
          <a:ln w="38100">
            <a:solidFill>
              <a:srgbClr val="E9010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869761A-D023-4B8C-B037-409E5EEBF9F4}"/>
              </a:ext>
            </a:extLst>
          </p:cNvPr>
          <p:cNvCxnSpPr>
            <a:cxnSpLocks/>
          </p:cNvCxnSpPr>
          <p:nvPr/>
        </p:nvCxnSpPr>
        <p:spPr>
          <a:xfrm flipV="1">
            <a:off x="3600800" y="3846080"/>
            <a:ext cx="507102" cy="2811304"/>
          </a:xfrm>
          <a:prstGeom prst="line">
            <a:avLst/>
          </a:prstGeom>
          <a:ln w="38100">
            <a:solidFill>
              <a:srgbClr val="9966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EC82C59-C8AD-479A-A2A6-1596D6889697}"/>
              </a:ext>
            </a:extLst>
          </p:cNvPr>
          <p:cNvCxnSpPr>
            <a:cxnSpLocks/>
          </p:cNvCxnSpPr>
          <p:nvPr/>
        </p:nvCxnSpPr>
        <p:spPr>
          <a:xfrm flipH="1" flipV="1">
            <a:off x="4129026" y="3831088"/>
            <a:ext cx="1536845" cy="2790503"/>
          </a:xfrm>
          <a:prstGeom prst="line">
            <a:avLst/>
          </a:prstGeom>
          <a:ln w="38100">
            <a:solidFill>
              <a:srgbClr val="9966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A631A2-27A5-4BAB-64CA-16126F302C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FE59F-0C64-4CE0-97BE-427D6382CD2B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705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5" grpId="0"/>
      <p:bldP spid="33" grpId="0"/>
      <p:bldP spid="34" grpId="0"/>
      <p:bldP spid="3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数互补判断矩阵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28800"/>
                <a:ext cx="8075240" cy="5040560"/>
              </a:xfrm>
            </p:spPr>
            <p:txBody>
              <a:bodyPr/>
              <a:lstStyle/>
              <a:p>
                <a:pPr>
                  <a:lnSpc>
                    <a:spcPct val="110000"/>
                  </a:lnSpc>
                </a:pP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定义：设判断矩阵</a:t>
                </a:r>
                <a:r>
                  <a:rPr lang="en-US" altLang="zh-CN" b="1" i="1" dirty="0">
                    <a:solidFill>
                      <a:srgbClr val="E9010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altLang="zh-CN" b="1" dirty="0">
                    <a:solidFill>
                      <a:srgbClr val="E9010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:r>
                  <a:rPr lang="en-US" altLang="zh-CN" b="1" i="1" dirty="0" err="1">
                    <a:solidFill>
                      <a:srgbClr val="E9010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b="1" i="1" baseline="-25000" dirty="0" err="1">
                    <a:solidFill>
                      <a:srgbClr val="E9010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CN" b="1" dirty="0">
                    <a:solidFill>
                      <a:srgbClr val="E9010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b="1" i="1" baseline="-25000" dirty="0" err="1">
                    <a:solidFill>
                      <a:srgbClr val="E9010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b="1" baseline="-25000" dirty="0" err="1">
                    <a:solidFill>
                      <a:srgbClr val="E9010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</a:t>
                </a:r>
                <a:r>
                  <a:rPr lang="en-US" altLang="zh-CN" b="1" i="1" baseline="-25000" dirty="0" err="1">
                    <a:solidFill>
                      <a:srgbClr val="E9010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其中，</a:t>
                </a:r>
                <a:r>
                  <a:rPr lang="en-US" altLang="zh-CN" sz="28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b="1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CN" sz="2800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:r>
                  <a:rPr lang="en-US" altLang="zh-CN" sz="28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800" b="1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b="1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800" b="1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为三角</a:t>
                </a:r>
                <a:r>
                  <a:rPr lang="en-US" altLang="zh-CN" sz="2800" b="1" dirty="0">
                    <a:cs typeface="Times New Roman" panose="02020603050405020304" pitchFamily="18" charset="0"/>
                  </a:rPr>
                  <a:t>F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数，并且</a:t>
                </a:r>
                <a:r>
                  <a:rPr lang="zh-CN" altLang="en-US" sz="2800" b="1" dirty="0"/>
                  <a:t>，</a:t>
                </a:r>
                <a:endParaRPr lang="en-US" altLang="zh-CN" sz="2800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800" b="1" i="1" dirty="0"/>
                  <a:t>                   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 </a:t>
                </a:r>
                <a:r>
                  <a:rPr lang="en-US" altLang="zh-C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b="1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 </a:t>
                </a:r>
                <a:r>
                  <a:rPr lang="en-US" altLang="zh-C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b="1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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b="1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 1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CN" altLang="en-US" sz="2800" b="1" dirty="0"/>
                  <a:t>若矩阵 </a:t>
                </a:r>
                <a:r>
                  <a:rPr lang="en-US" altLang="zh-CN" sz="2800" b="1" i="1" dirty="0"/>
                  <a:t>P </a:t>
                </a:r>
                <a:r>
                  <a:rPr lang="zh-CN" altLang="en-US" sz="2800" b="1" dirty="0"/>
                  <a:t>满足：</a:t>
                </a:r>
                <a:endParaRPr lang="en-US" altLang="zh-CN" sz="2800" b="1" dirty="0"/>
              </a:p>
              <a:p>
                <a:pPr lvl="1">
                  <a:lnSpc>
                    <a:spcPct val="110000"/>
                  </a:lnSpc>
                </a:pPr>
                <a:r>
                  <a:rPr lang="en-US" altLang="zh-CN" sz="3200" b="1" i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3200" b="1" i="1" baseline="-25000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ii</a:t>
                </a:r>
                <a:r>
                  <a:rPr lang="en-US" altLang="zh-CN" sz="3200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US" altLang="zh-CN" sz="3200" b="1" i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</a:t>
                </a:r>
                <a:r>
                  <a:rPr lang="en-US" altLang="zh-CN" sz="3200" b="1" i="1" baseline="-25000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ii </a:t>
                </a:r>
                <a:r>
                  <a:rPr lang="en-US" altLang="zh-CN" sz="3200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3200" b="1" i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3200" b="1" i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sz="3200" b="1" i="1" baseline="-25000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ii</a:t>
                </a:r>
                <a:r>
                  <a:rPr lang="en-US" altLang="zh-CN" sz="3200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0.5</a:t>
                </a:r>
                <a:r>
                  <a:rPr lang="en-US" altLang="zh-CN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</a:t>
                </a:r>
                <a:r>
                  <a:rPr lang="en-US" altLang="zh-CN" b="1" i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endParaRPr lang="en-US" altLang="zh-CN" b="1" i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lvl="1">
                  <a:lnSpc>
                    <a:spcPct val="110000"/>
                  </a:lnSpc>
                </a:pPr>
                <a:r>
                  <a:rPr lang="en-US" altLang="zh-CN" b="1" i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3200" b="1" i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3200" b="1" i="1" baseline="-25000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CN" sz="3200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</a:t>
                </a:r>
                <a:r>
                  <a:rPr lang="en-US" altLang="zh-CN" sz="3200" b="1" i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3200" b="1" i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sz="3200" b="1" i="1" baseline="-25000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ji</a:t>
                </a:r>
                <a:r>
                  <a:rPr lang="en-US" altLang="zh-CN" sz="3200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=1, </a:t>
                </a:r>
                <a:r>
                  <a:rPr lang="en-US" altLang="zh-CN" sz="3200" b="1" i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3200" b="1" i="1" baseline="-25000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CN" sz="3200" b="1" i="1" baseline="-25000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3200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3200" b="1" i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3200" b="1" i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3200" b="1" i="1" baseline="-25000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ji</a:t>
                </a:r>
                <a:r>
                  <a:rPr lang="en-US" altLang="zh-CN" sz="3200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=1, </a:t>
                </a:r>
                <a:r>
                  <a:rPr lang="en-US" altLang="zh-CN" sz="3200" b="1" i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sz="3200" b="1" i="1" baseline="-25000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CN" sz="3200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</a:t>
                </a:r>
                <a:r>
                  <a:rPr lang="en-US" altLang="zh-CN" sz="3200" b="1" i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3200" b="1" i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3200" b="1" i="1" baseline="-25000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ji</a:t>
                </a:r>
                <a:r>
                  <a:rPr lang="en-US" altLang="zh-CN" sz="3200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=1</a:t>
                </a:r>
                <a:r>
                  <a:rPr lang="en-US" altLang="zh-CN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b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</a:t>
                </a:r>
                <a:r>
                  <a:rPr lang="en-US" altLang="zh-CN" b="1" i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b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</a:t>
                </a:r>
                <a:r>
                  <a:rPr lang="en-US" altLang="zh-CN" b="1" i="1" dirty="0" err="1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CN" b="1" i="1" dirty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j</a:t>
                </a:r>
                <a:endParaRPr lang="en-US" altLang="zh-CN" b="1" i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zh-CN" altLang="en-US" sz="3200" b="1" dirty="0"/>
                  <a:t>则称</a:t>
                </a:r>
                <a:r>
                  <a:rPr lang="en-US" altLang="zh-CN" sz="3200" b="1" i="1" dirty="0"/>
                  <a:t>P</a:t>
                </a:r>
                <a:r>
                  <a:rPr lang="en-US" altLang="zh-CN" sz="3200" b="1" dirty="0"/>
                  <a:t> </a:t>
                </a:r>
                <a:r>
                  <a:rPr lang="zh-CN" altLang="en-US" sz="3200" b="1" dirty="0"/>
                  <a:t>为</a:t>
                </a:r>
                <a:r>
                  <a:rPr lang="zh-CN" altLang="en-US" sz="3200" b="1" dirty="0">
                    <a:solidFill>
                      <a:srgbClr val="E90101"/>
                    </a:solidFill>
                    <a:latin typeface="黑体" pitchFamily="49" charset="-122"/>
                    <a:ea typeface="黑体" pitchFamily="49" charset="-122"/>
                  </a:rPr>
                  <a:t>三角</a:t>
                </a:r>
                <a:r>
                  <a:rPr lang="en-US" altLang="zh-CN" sz="3200" b="1" dirty="0">
                    <a:solidFill>
                      <a:srgbClr val="E90101"/>
                    </a:solidFill>
                    <a:latin typeface="黑体" pitchFamily="49" charset="-122"/>
                    <a:ea typeface="黑体" pitchFamily="49" charset="-122"/>
                  </a:rPr>
                  <a:t>F</a:t>
                </a:r>
                <a:r>
                  <a:rPr lang="zh-CN" altLang="en-US" sz="3200" b="1" dirty="0">
                    <a:solidFill>
                      <a:srgbClr val="E90101"/>
                    </a:solidFill>
                    <a:latin typeface="黑体" pitchFamily="49" charset="-122"/>
                    <a:ea typeface="黑体" pitchFamily="49" charset="-122"/>
                  </a:rPr>
                  <a:t>数互补判断矩阵</a:t>
                </a:r>
                <a:r>
                  <a:rPr lang="zh-CN" altLang="en-US" sz="3200" b="1" dirty="0"/>
                  <a:t>。</a:t>
                </a:r>
                <a:endParaRPr lang="en-US" altLang="zh-CN" sz="3200" b="1" dirty="0"/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zh-CN" altLang="en-US" sz="3200" b="1" dirty="0">
                    <a:solidFill>
                      <a:srgbClr val="E123BD"/>
                    </a:solidFill>
                  </a:rPr>
                  <a:t>矩阵中</a:t>
                </a:r>
                <a:r>
                  <a:rPr lang="zh-CN" altLang="en-US" sz="3200" b="1" dirty="0">
                    <a:solidFill>
                      <a:srgbClr val="E123B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 </a:t>
                </a:r>
                <a:r>
                  <a:rPr lang="en-US" altLang="zh-CN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3200" b="1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zh-CN" altLang="en-US" sz="3200" b="1" dirty="0">
                    <a:solidFill>
                      <a:srgbClr val="E123B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表示因素</a:t>
                </a:r>
                <a:r>
                  <a:rPr lang="en-US" altLang="zh-CN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altLang="zh-CN" sz="3200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3200" b="1" dirty="0">
                    <a:solidFill>
                      <a:srgbClr val="E123B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优于</a:t>
                </a:r>
                <a:r>
                  <a:rPr lang="en-US" altLang="zh-CN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3200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3200" b="1" dirty="0">
                    <a:solidFill>
                      <a:srgbClr val="E123B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的程度</a:t>
                </a:r>
                <a:r>
                  <a:rPr lang="zh-CN" altLang="en-US" sz="3200" b="1" dirty="0">
                    <a:solidFill>
                      <a:srgbClr val="E123BD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28800"/>
                <a:ext cx="8075240" cy="5040560"/>
              </a:xfrm>
              <a:blipFill>
                <a:blip r:embed="rId2"/>
                <a:stretch>
                  <a:fillRect l="-1509" t="-1451" b="-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447446"/>
              </p:ext>
            </p:extLst>
          </p:nvPr>
        </p:nvGraphicFramePr>
        <p:xfrm>
          <a:off x="1713514" y="1418481"/>
          <a:ext cx="8764973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74760" imgH="914400" progId="Equation.DSMT4">
                  <p:embed/>
                </p:oleObj>
              </mc:Choice>
              <mc:Fallback>
                <p:oleObj name="Equation" r:id="rId3" imgW="39747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13514" y="1418481"/>
                        <a:ext cx="8764973" cy="2016224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AF9ACFF-DE4C-4E80-81A5-C45D38BCDDA2}"/>
              </a:ext>
            </a:extLst>
          </p:cNvPr>
          <p:cNvCxnSpPr>
            <a:cxnSpLocks/>
          </p:cNvCxnSpPr>
          <p:nvPr/>
        </p:nvCxnSpPr>
        <p:spPr>
          <a:xfrm flipV="1">
            <a:off x="2855641" y="1769368"/>
            <a:ext cx="2932187" cy="291480"/>
          </a:xfrm>
          <a:prstGeom prst="straightConnector1">
            <a:avLst/>
          </a:prstGeom>
          <a:ln w="19050">
            <a:solidFill>
              <a:srgbClr val="E9010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21AC489-4E89-4A98-8D5F-B57FBEE4934E}"/>
              </a:ext>
            </a:extLst>
          </p:cNvPr>
          <p:cNvCxnSpPr>
            <a:cxnSpLocks/>
          </p:cNvCxnSpPr>
          <p:nvPr/>
        </p:nvCxnSpPr>
        <p:spPr>
          <a:xfrm flipV="1">
            <a:off x="3503712" y="1666528"/>
            <a:ext cx="1872208" cy="394320"/>
          </a:xfrm>
          <a:prstGeom prst="straightConnector1">
            <a:avLst/>
          </a:prstGeom>
          <a:ln w="19050">
            <a:solidFill>
              <a:srgbClr val="E123B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884E18F-C542-4D0E-8ACE-F3760709F0AB}"/>
              </a:ext>
            </a:extLst>
          </p:cNvPr>
          <p:cNvCxnSpPr>
            <a:cxnSpLocks/>
          </p:cNvCxnSpPr>
          <p:nvPr/>
        </p:nvCxnSpPr>
        <p:spPr>
          <a:xfrm flipV="1">
            <a:off x="4079776" y="1666528"/>
            <a:ext cx="576064" cy="472628"/>
          </a:xfrm>
          <a:prstGeom prst="straightConnector1">
            <a:avLst/>
          </a:prstGeom>
          <a:ln w="19050">
            <a:solidFill>
              <a:srgbClr val="3333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357470E-3747-EF67-400D-56632F082EE2}"/>
              </a:ext>
            </a:extLst>
          </p:cNvPr>
          <p:cNvCxnSpPr/>
          <p:nvPr/>
        </p:nvCxnSpPr>
        <p:spPr>
          <a:xfrm>
            <a:off x="2855640" y="1628800"/>
            <a:ext cx="6984776" cy="1656184"/>
          </a:xfrm>
          <a:prstGeom prst="line">
            <a:avLst/>
          </a:prstGeom>
          <a:ln>
            <a:solidFill>
              <a:srgbClr val="FA7E1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F61ABE-EA59-2B98-8844-C6768E3970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562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349188"/>
            <a:ext cx="10945216" cy="1371600"/>
          </a:xfrm>
        </p:spPr>
        <p:txBody>
          <a:bodyPr/>
          <a:lstStyle/>
          <a:p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 基于三角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数的综合评价指标</a:t>
            </a:r>
            <a:r>
              <a:rPr lang="zh-CN" altLang="en-US" dirty="0">
                <a:solidFill>
                  <a:srgbClr val="008000"/>
                </a:solidFill>
              </a:rPr>
              <a:t>权重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排序步骤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844824"/>
            <a:ext cx="9937104" cy="38862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建立专家集</a:t>
            </a:r>
            <a:r>
              <a:rPr lang="en-US" altLang="zh-CN" b="1" dirty="0"/>
              <a:t>A=(A</a:t>
            </a:r>
            <a:r>
              <a:rPr lang="en-US" altLang="zh-CN" b="1" baseline="30000" dirty="0"/>
              <a:t>1</a:t>
            </a:r>
            <a:r>
              <a:rPr lang="en-US" altLang="zh-CN" b="1" dirty="0"/>
              <a:t>, A</a:t>
            </a:r>
            <a:r>
              <a:rPr lang="en-US" altLang="zh-CN" b="1" baseline="30000" dirty="0"/>
              <a:t>2</a:t>
            </a:r>
            <a:r>
              <a:rPr lang="en-US" altLang="zh-CN" b="1" dirty="0"/>
              <a:t>,…,A</a:t>
            </a:r>
            <a:r>
              <a:rPr lang="en-US" altLang="zh-CN" b="1" baseline="30000" dirty="0"/>
              <a:t>s</a:t>
            </a:r>
            <a:r>
              <a:rPr lang="en-US" altLang="zh-CN" b="1" dirty="0"/>
              <a:t>)</a:t>
            </a:r>
            <a:r>
              <a:rPr lang="zh-CN" altLang="en-US" b="1" dirty="0"/>
              <a:t>和评判标度，确定评价指标集</a:t>
            </a:r>
            <a:r>
              <a:rPr lang="en-US" altLang="zh-CN" b="1" dirty="0"/>
              <a:t>X={X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,X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,…,</a:t>
            </a:r>
            <a:r>
              <a:rPr lang="en-US" altLang="zh-CN" b="1" dirty="0" err="1"/>
              <a:t>X</a:t>
            </a:r>
            <a:r>
              <a:rPr lang="en-US" altLang="zh-CN" b="1" baseline="-25000" dirty="0" err="1"/>
              <a:t>n</a:t>
            </a:r>
            <a:r>
              <a:rPr lang="en-US" altLang="zh-CN" b="1" dirty="0"/>
              <a:t>}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采用加权方法集结各决策者的偏好信息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227408"/>
              </p:ext>
            </p:extLst>
          </p:nvPr>
        </p:nvGraphicFramePr>
        <p:xfrm>
          <a:off x="1487488" y="2968352"/>
          <a:ext cx="9217024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重要性比较</a:t>
                      </a:r>
                      <a:r>
                        <a:rPr lang="zh-CN" altLang="en-US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标度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2400" b="1" i="1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模糊度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2400" b="1" i="1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</a:t>
                      </a:r>
                      <a:r>
                        <a:rPr lang="en-US" altLang="zh-CN" sz="2400" b="1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CN" sz="2400" b="1" i="1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24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i="1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同等重要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0.50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zh-CN" altLang="en-US" sz="2400" b="1" dirty="0"/>
                        <a:t>模糊度是专家给出</a:t>
                      </a:r>
                      <a:r>
                        <a:rPr lang="zh-CN" altLang="en-US" sz="2400" b="1" baseline="0" dirty="0"/>
                        <a:t>的值的可能范围，模糊度越大，专家对给出的标度值越模糊。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比</a:t>
                      </a:r>
                      <a:r>
                        <a:rPr lang="en-US" altLang="zh-CN" sz="24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i="1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重要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&gt;0.50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没有</a:t>
                      </a:r>
                      <a:r>
                        <a:rPr lang="en-US" altLang="zh-CN" sz="24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i="1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zh-CN" alt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重要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&lt;0.50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4583832" y="4767536"/>
            <a:ext cx="26997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err="1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i="1" baseline="-25000" dirty="0" err="1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b="1" i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err="1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i="1" baseline="-25000" dirty="0" err="1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</a:t>
            </a:r>
            <a:r>
              <a:rPr lang="en-US" altLang="zh-CN" sz="2400" b="1" i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i="1" baseline="-25000" dirty="0" err="1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 1</a:t>
            </a:r>
            <a:endParaRPr lang="zh-CN" altLang="en-US" sz="2400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922222"/>
              </p:ext>
            </p:extLst>
          </p:nvPr>
        </p:nvGraphicFramePr>
        <p:xfrm>
          <a:off x="3065902" y="5805265"/>
          <a:ext cx="5735638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81300" imgH="431800" progId="Equation.3">
                  <p:embed/>
                </p:oleObj>
              </mc:Choice>
              <mc:Fallback>
                <p:oleObj name="公式" r:id="rId2" imgW="2781300" imgH="4318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902" y="5805265"/>
                        <a:ext cx="5735638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93B7F-B388-7708-40D9-A2ABC98D1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12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344" y="373644"/>
            <a:ext cx="11593288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 基于三角模糊数的综合评价指标权重排序步骤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3. </a:t>
            </a:r>
            <a:r>
              <a:rPr lang="zh-CN" altLang="en-US" b="1" dirty="0"/>
              <a:t>计算关于方案</a:t>
            </a:r>
            <a:r>
              <a:rPr lang="en-US" altLang="zh-CN" b="1" i="1" dirty="0">
                <a:solidFill>
                  <a:srgbClr val="E123BD"/>
                </a:solidFill>
              </a:rPr>
              <a:t>x</a:t>
            </a:r>
            <a:r>
              <a:rPr lang="en-US" altLang="zh-CN" b="1" i="1" baseline="-25000" dirty="0">
                <a:solidFill>
                  <a:srgbClr val="E123BD"/>
                </a:solidFill>
              </a:rPr>
              <a:t>i</a:t>
            </a:r>
            <a:r>
              <a:rPr lang="zh-CN" altLang="en-US" b="1" dirty="0"/>
              <a:t>的</a:t>
            </a:r>
            <a:r>
              <a:rPr lang="en-US" altLang="zh-CN" b="1" dirty="0"/>
              <a:t>F</a:t>
            </a:r>
            <a:r>
              <a:rPr lang="zh-CN" altLang="en-US" b="1" dirty="0"/>
              <a:t>综合评价值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579220"/>
              </p:ext>
            </p:extLst>
          </p:nvPr>
        </p:nvGraphicFramePr>
        <p:xfrm>
          <a:off x="1271464" y="2565401"/>
          <a:ext cx="8661400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04960" imgH="520560" progId="Equation.DSMT4">
                  <p:embed/>
                </p:oleObj>
              </mc:Choice>
              <mc:Fallback>
                <p:oleObj name="Equation" r:id="rId2" imgW="350496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2565401"/>
                        <a:ext cx="8661400" cy="1287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857718"/>
              </p:ext>
            </p:extLst>
          </p:nvPr>
        </p:nvGraphicFramePr>
        <p:xfrm>
          <a:off x="1523984" y="3791272"/>
          <a:ext cx="5503591" cy="2446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57400" imgH="914400" progId="Equation.3">
                  <p:embed/>
                </p:oleObj>
              </mc:Choice>
              <mc:Fallback>
                <p:oleObj name="公式" r:id="rId4" imgW="2057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984" y="3791272"/>
                        <a:ext cx="5503591" cy="24460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269375"/>
              </p:ext>
            </p:extLst>
          </p:nvPr>
        </p:nvGraphicFramePr>
        <p:xfrm>
          <a:off x="1713514" y="457200"/>
          <a:ext cx="8764973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74760" imgH="914400" progId="Equation.DSMT4">
                  <p:embed/>
                </p:oleObj>
              </mc:Choice>
              <mc:Fallback>
                <p:oleObj name="Equation" r:id="rId6" imgW="39747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13514" y="457200"/>
                        <a:ext cx="8764973" cy="2016224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963631"/>
              </p:ext>
            </p:extLst>
          </p:nvPr>
        </p:nvGraphicFramePr>
        <p:xfrm>
          <a:off x="1648446" y="6108510"/>
          <a:ext cx="517842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200" imgH="279360" progId="Equation.DSMT4">
                  <p:embed/>
                </p:oleObj>
              </mc:Choice>
              <mc:Fallback>
                <p:oleObj name="Equation" r:id="rId8" imgW="20952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446" y="6108510"/>
                        <a:ext cx="5178425" cy="690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189266"/>
              </p:ext>
            </p:extLst>
          </p:nvPr>
        </p:nvGraphicFramePr>
        <p:xfrm>
          <a:off x="6960096" y="5927725"/>
          <a:ext cx="248761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431640" progId="Equation.DSMT4">
                  <p:embed/>
                </p:oleObj>
              </mc:Choice>
              <mc:Fallback>
                <p:oleObj name="Equation" r:id="rId10" imgW="1091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096" y="5927725"/>
                        <a:ext cx="2487613" cy="984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822387"/>
              </p:ext>
            </p:extLst>
          </p:nvPr>
        </p:nvGraphicFramePr>
        <p:xfrm>
          <a:off x="9513614" y="6165304"/>
          <a:ext cx="255905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93760" imgH="253800" progId="Equation.DSMT4">
                  <p:embed/>
                </p:oleObj>
              </mc:Choice>
              <mc:Fallback>
                <p:oleObj name="Equation" r:id="rId12" imgW="1193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3614" y="6165304"/>
                        <a:ext cx="2559050" cy="5445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CBAA3DE-53DC-9F00-B30E-83FFF02069C2}"/>
              </a:ext>
            </a:extLst>
          </p:cNvPr>
          <p:cNvCxnSpPr/>
          <p:nvPr/>
        </p:nvCxnSpPr>
        <p:spPr>
          <a:xfrm>
            <a:off x="2495600" y="908720"/>
            <a:ext cx="7704856" cy="0"/>
          </a:xfrm>
          <a:prstGeom prst="line">
            <a:avLst/>
          </a:prstGeom>
          <a:ln w="38100">
            <a:solidFill>
              <a:srgbClr val="E901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37DCDA7-9F22-9F06-7F69-45FB79C01F21}"/>
              </a:ext>
            </a:extLst>
          </p:cNvPr>
          <p:cNvCxnSpPr>
            <a:cxnSpLocks/>
          </p:cNvCxnSpPr>
          <p:nvPr/>
        </p:nvCxnSpPr>
        <p:spPr>
          <a:xfrm>
            <a:off x="2397870" y="6754723"/>
            <a:ext cx="1980728" cy="0"/>
          </a:xfrm>
          <a:prstGeom prst="line">
            <a:avLst/>
          </a:prstGeom>
          <a:ln w="38100">
            <a:solidFill>
              <a:srgbClr val="E901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0158083-3262-7D0C-FF0B-6D1D0B62E192}"/>
              </a:ext>
            </a:extLst>
          </p:cNvPr>
          <p:cNvCxnSpPr>
            <a:cxnSpLocks/>
          </p:cNvCxnSpPr>
          <p:nvPr/>
        </p:nvCxnSpPr>
        <p:spPr>
          <a:xfrm>
            <a:off x="1930326" y="3852664"/>
            <a:ext cx="3024336" cy="0"/>
          </a:xfrm>
          <a:prstGeom prst="line">
            <a:avLst/>
          </a:prstGeom>
          <a:ln w="38100">
            <a:solidFill>
              <a:srgbClr val="E901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A67D6A4B-8416-9FBF-105E-88CF0D63F5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379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97541"/>
            <a:ext cx="109728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 基于三角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数的综合评价指标权重排序步骤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127448" y="1766442"/>
                <a:ext cx="8229600" cy="502920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1" dirty="0"/>
                  <a:t>4. </a:t>
                </a:r>
                <a:r>
                  <a:rPr lang="zh-CN" altLang="en-US" b="1" dirty="0"/>
                  <a:t>计算</a:t>
                </a:r>
                <a:r>
                  <a:rPr lang="en-US" altLang="zh-CN" b="1" dirty="0"/>
                  <a:t>F</a:t>
                </a:r>
                <a:r>
                  <a:rPr lang="zh-CN" altLang="en-US" b="1" dirty="0"/>
                  <a:t>评价值</a:t>
                </a:r>
                <a:r>
                  <a:rPr lang="en-US" altLang="zh-CN" b="1" i="1" dirty="0" err="1">
                    <a:solidFill>
                      <a:srgbClr val="E123BD"/>
                    </a:solidFill>
                  </a:rPr>
                  <a:t>u</a:t>
                </a:r>
                <a:r>
                  <a:rPr lang="en-US" altLang="zh-CN" b="1" i="1" baseline="-25000" dirty="0" err="1">
                    <a:solidFill>
                      <a:srgbClr val="E123BD"/>
                    </a:solidFill>
                  </a:rPr>
                  <a:t>i</a:t>
                </a:r>
                <a:r>
                  <a:rPr lang="en-US" altLang="zh-CN" b="1" i="1" baseline="-25000" dirty="0">
                    <a:solidFill>
                      <a:srgbClr val="E123BD"/>
                    </a:solidFill>
                  </a:rPr>
                  <a:t> </a:t>
                </a:r>
                <a:r>
                  <a:rPr lang="zh-CN" altLang="en-US" b="1" dirty="0"/>
                  <a:t>的期望值</a:t>
                </a:r>
                <a:endParaRPr lang="en-US" altLang="zh-CN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b="1" dirty="0"/>
                  <a:t>左期望值</a:t>
                </a:r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3333FF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zh-CN" altLang="en-US" sz="2400" b="1" dirty="0"/>
                  <a:t>                     </a:t>
                </a:r>
                <a:r>
                  <a:rPr lang="en-US" altLang="zh-CN" sz="2400" b="1" dirty="0"/>
                  <a:t>, </a:t>
                </a:r>
                <a:r>
                  <a:rPr lang="zh-CN" altLang="en-US" sz="2400" b="1" dirty="0"/>
                  <a:t>右期望值</a:t>
                </a:r>
                <a:endParaRPr lang="en-US" altLang="zh-CN" sz="2400" b="1" dirty="0"/>
              </a:p>
              <a:p>
                <a:pPr marL="857250" lvl="1" indent="-457200"/>
                <a:r>
                  <a:rPr lang="zh-CN" altLang="en-US" sz="2400" b="1" dirty="0"/>
                  <a:t>则</a:t>
                </a:r>
                <a:r>
                  <a:rPr lang="en-US" altLang="zh-CN" sz="2400" b="1" i="1" dirty="0" err="1">
                    <a:solidFill>
                      <a:srgbClr val="E123BD"/>
                    </a:solidFill>
                  </a:rPr>
                  <a:t>u</a:t>
                </a:r>
                <a:r>
                  <a:rPr lang="en-US" altLang="zh-CN" sz="2400" b="1" i="1" baseline="-25000" dirty="0" err="1">
                    <a:solidFill>
                      <a:srgbClr val="E123BD"/>
                    </a:solidFill>
                  </a:rPr>
                  <a:t>i</a:t>
                </a:r>
                <a:r>
                  <a:rPr lang="en-US" altLang="zh-CN" sz="2400" b="1" i="1" baseline="-25000" dirty="0">
                    <a:solidFill>
                      <a:srgbClr val="E123BD"/>
                    </a:solidFill>
                  </a:rPr>
                  <a:t> </a:t>
                </a:r>
                <a:r>
                  <a:rPr lang="zh-CN" altLang="en-US" sz="2400" b="1" dirty="0"/>
                  <a:t>的期望值为</a:t>
                </a:r>
                <a:endParaRPr lang="en-US" altLang="zh-CN" sz="2400" b="1" dirty="0"/>
              </a:p>
              <a:p>
                <a:pPr marL="857250" lvl="1" indent="-457200"/>
                <a:endParaRPr lang="en-US" altLang="zh-CN" sz="2400" b="1" dirty="0"/>
              </a:p>
              <a:p>
                <a:pPr marL="857250" lvl="1" indent="-457200"/>
                <a:endParaRPr lang="en-US" altLang="zh-CN" sz="1600" b="1" i="1" dirty="0">
                  <a:sym typeface="Symbol" panose="05050102010706020507" pitchFamily="18" charset="2"/>
                </a:endParaRPr>
              </a:p>
              <a:p>
                <a:pPr marL="857250" lvl="1" indent="-457200"/>
                <a:r>
                  <a:rPr lang="zh-CN" altLang="zh-CN" sz="2400" b="1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</a:t>
                </a:r>
                <a:r>
                  <a:rPr lang="zh-CN" altLang="en-US" sz="2400" b="1" dirty="0">
                    <a:sym typeface="Symbol" panose="05050102010706020507" pitchFamily="18" charset="2"/>
                  </a:rPr>
                  <a:t>为</a:t>
                </a:r>
                <a:r>
                  <a:rPr lang="zh-CN" altLang="en-US" sz="2400" b="1" dirty="0">
                    <a:solidFill>
                      <a:srgbClr val="008000"/>
                    </a:solidFill>
                    <a:sym typeface="Symbol" panose="05050102010706020507" pitchFamily="18" charset="2"/>
                  </a:rPr>
                  <a:t>乐观</a:t>
                </a:r>
                <a:r>
                  <a:rPr lang="en-US" altLang="zh-CN" sz="2400" b="1" dirty="0">
                    <a:solidFill>
                      <a:srgbClr val="008000"/>
                    </a:solidFill>
                    <a:sym typeface="Symbol" panose="05050102010706020507" pitchFamily="18" charset="2"/>
                  </a:rPr>
                  <a:t>—</a:t>
                </a:r>
                <a:r>
                  <a:rPr lang="zh-CN" altLang="en-US" sz="2400" b="1" dirty="0">
                    <a:solidFill>
                      <a:srgbClr val="008000"/>
                    </a:solidFill>
                    <a:sym typeface="Symbol" panose="05050102010706020507" pitchFamily="18" charset="2"/>
                  </a:rPr>
                  <a:t>悲观系数</a:t>
                </a:r>
                <a:endParaRPr lang="en-US" altLang="zh-CN" sz="2400" b="1" dirty="0">
                  <a:solidFill>
                    <a:srgbClr val="008000"/>
                  </a:solidFill>
                  <a:sym typeface="Symbol" panose="05050102010706020507" pitchFamily="18" charset="2"/>
                </a:endParaRPr>
              </a:p>
              <a:p>
                <a:pPr marL="1257300" lvl="2" indent="-457200"/>
                <a:r>
                  <a:rPr lang="en-US" altLang="zh-CN" b="1" i="1" dirty="0">
                    <a:sym typeface="Symbol" panose="05050102010706020507" pitchFamily="18" charset="2"/>
                  </a:rPr>
                  <a:t> </a:t>
                </a:r>
                <a:r>
                  <a:rPr lang="en-US" altLang="zh-CN" b="1" dirty="0">
                    <a:sym typeface="Symbol" panose="05050102010706020507" pitchFamily="18" charset="2"/>
                  </a:rPr>
                  <a:t>&gt;0.5, </a:t>
                </a:r>
                <a:r>
                  <a:rPr lang="zh-CN" altLang="en-US" b="1" dirty="0">
                    <a:sym typeface="Symbol" panose="05050102010706020507" pitchFamily="18" charset="2"/>
                  </a:rPr>
                  <a:t>表示决策者是悲观的；</a:t>
                </a:r>
                <a:endParaRPr lang="en-US" altLang="zh-CN" b="1" dirty="0">
                  <a:sym typeface="Symbol" panose="05050102010706020507" pitchFamily="18" charset="2"/>
                </a:endParaRPr>
              </a:p>
              <a:p>
                <a:pPr marL="1257300" lvl="2" indent="-457200"/>
                <a:r>
                  <a:rPr lang="en-US" altLang="zh-CN" b="1" i="1" dirty="0">
                    <a:sym typeface="Symbol" panose="05050102010706020507" pitchFamily="18" charset="2"/>
                  </a:rPr>
                  <a:t> </a:t>
                </a:r>
                <a:r>
                  <a:rPr lang="en-US" altLang="zh-CN" b="1" dirty="0">
                    <a:sym typeface="Symbol" panose="05050102010706020507" pitchFamily="18" charset="2"/>
                  </a:rPr>
                  <a:t>&lt;0.5, </a:t>
                </a:r>
                <a:r>
                  <a:rPr lang="zh-CN" altLang="en-US" b="1" dirty="0">
                    <a:sym typeface="Symbol" panose="05050102010706020507" pitchFamily="18" charset="2"/>
                  </a:rPr>
                  <a:t>表示决策者是乐观的；</a:t>
                </a:r>
                <a:endParaRPr lang="en-US" altLang="zh-CN" b="1" dirty="0">
                  <a:sym typeface="Symbol" panose="05050102010706020507" pitchFamily="18" charset="2"/>
                </a:endParaRPr>
              </a:p>
              <a:p>
                <a:pPr marL="1257300" lvl="2" indent="-457200"/>
                <a:r>
                  <a:rPr lang="en-US" altLang="zh-CN" b="1" i="1" dirty="0">
                    <a:sym typeface="Symbol" panose="05050102010706020507" pitchFamily="18" charset="2"/>
                  </a:rPr>
                  <a:t> =</a:t>
                </a:r>
                <a:r>
                  <a:rPr lang="en-US" altLang="zh-CN" b="1" dirty="0">
                    <a:sym typeface="Symbol" panose="05050102010706020507" pitchFamily="18" charset="2"/>
                  </a:rPr>
                  <a:t>0.5, </a:t>
                </a:r>
                <a:r>
                  <a:rPr lang="zh-CN" altLang="en-US" b="1" dirty="0">
                    <a:sym typeface="Symbol" panose="05050102010706020507" pitchFamily="18" charset="2"/>
                  </a:rPr>
                  <a:t>表示决策者是中性的；</a:t>
                </a:r>
                <a:endParaRPr lang="en-US" altLang="zh-CN" b="1" dirty="0">
                  <a:sym typeface="Symbol" panose="05050102010706020507" pitchFamily="18" charset="2"/>
                </a:endParaRPr>
              </a:p>
              <a:p>
                <a:pPr marL="857250" lvl="1" indent="-457200"/>
                <a:r>
                  <a:rPr lang="zh-CN" altLang="en-US" sz="2400" b="1" dirty="0">
                    <a:sym typeface="Symbol" panose="05050102010706020507" pitchFamily="18" charset="2"/>
                  </a:rPr>
                  <a:t>若这时取</a:t>
                </a:r>
                <a:r>
                  <a:rPr lang="en-US" altLang="zh-CN" sz="2400" b="1" i="1" dirty="0">
                    <a:sym typeface="Symbol" panose="05050102010706020507" pitchFamily="18" charset="2"/>
                  </a:rPr>
                  <a:t> =</a:t>
                </a:r>
                <a:r>
                  <a:rPr lang="en-US" altLang="zh-CN" sz="2400" b="1" dirty="0">
                    <a:sym typeface="Symbol" panose="05050102010706020507" pitchFamily="18" charset="2"/>
                  </a:rPr>
                  <a:t>0.5, </a:t>
                </a:r>
                <a:r>
                  <a:rPr lang="zh-CN" altLang="en-US" sz="2400" b="1" dirty="0">
                    <a:sym typeface="Symbol" panose="05050102010706020507" pitchFamily="18" charset="2"/>
                  </a:rPr>
                  <a:t>则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7448" y="1766442"/>
                <a:ext cx="8229600" cy="5029200"/>
              </a:xfrm>
              <a:blipFill>
                <a:blip r:embed="rId2"/>
                <a:stretch>
                  <a:fillRect l="-1926" b="-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274773"/>
              </p:ext>
            </p:extLst>
          </p:nvPr>
        </p:nvGraphicFramePr>
        <p:xfrm>
          <a:off x="5807968" y="2564904"/>
          <a:ext cx="1872208" cy="793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27000" imgH="393480" progId="Equation.DSMT4">
                  <p:embed/>
                </p:oleObj>
              </mc:Choice>
              <mc:Fallback>
                <p:oleObj name="Equation" r:id="rId3" imgW="927000" imgH="3934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07968" y="2564904"/>
                        <a:ext cx="1872208" cy="793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343531"/>
              </p:ext>
            </p:extLst>
          </p:nvPr>
        </p:nvGraphicFramePr>
        <p:xfrm>
          <a:off x="2495600" y="2564904"/>
          <a:ext cx="1800200" cy="807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76240" imgH="393480" progId="Equation.DSMT4">
                  <p:embed/>
                </p:oleObj>
              </mc:Choice>
              <mc:Fallback>
                <p:oleObj name="Equation" r:id="rId5" imgW="876240" imgH="39348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95600" y="2564904"/>
                        <a:ext cx="1800200" cy="807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926704"/>
              </p:ext>
            </p:extLst>
          </p:nvPr>
        </p:nvGraphicFramePr>
        <p:xfrm>
          <a:off x="1919536" y="3796449"/>
          <a:ext cx="6480720" cy="63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36760" imgH="228600" progId="Equation.DSMT4">
                  <p:embed/>
                </p:oleObj>
              </mc:Choice>
              <mc:Fallback>
                <p:oleObj name="Equation" r:id="rId7" imgW="2336760" imgH="2286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9536" y="3796449"/>
                        <a:ext cx="6480720" cy="632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093497"/>
              </p:ext>
            </p:extLst>
          </p:nvPr>
        </p:nvGraphicFramePr>
        <p:xfrm>
          <a:off x="6534330" y="5879440"/>
          <a:ext cx="5295679" cy="969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45960" imgH="393480" progId="Equation.DSMT4">
                  <p:embed/>
                </p:oleObj>
              </mc:Choice>
              <mc:Fallback>
                <p:oleObj name="Equation" r:id="rId9" imgW="2145960" imgH="39348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34330" y="5879440"/>
                        <a:ext cx="5295679" cy="969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C1EF466E-EC5E-8A53-18C8-3529A6D35F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0216" y="1156257"/>
            <a:ext cx="3941376" cy="2693176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5F740CB-E722-90C5-808F-4BEBCB019F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222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 基于三角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数的综合评价指标权重排序步骤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981200"/>
            <a:ext cx="8229600" cy="4688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5. </a:t>
            </a:r>
            <a:r>
              <a:rPr lang="zh-CN" altLang="en-US" b="1" dirty="0"/>
              <a:t>计算排序权向量</a:t>
            </a:r>
            <a:endParaRPr lang="en-US" altLang="zh-CN" b="1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400050" lvl="1" indent="0">
              <a:buNone/>
            </a:pPr>
            <a:r>
              <a:rPr lang="zh-CN" altLang="en-US" sz="3200" b="1" dirty="0"/>
              <a:t>权重排序，</a:t>
            </a:r>
            <a:endParaRPr lang="en-US" altLang="zh-CN" sz="3200" b="1" dirty="0"/>
          </a:p>
          <a:p>
            <a:pPr marL="400050" lvl="1" indent="0">
              <a:buNone/>
            </a:pPr>
            <a:r>
              <a:rPr lang="en-US" altLang="zh-CN" sz="3200" b="1" i="1" dirty="0" err="1">
                <a:solidFill>
                  <a:srgbClr val="E12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3200" b="1" i="1" baseline="-25000" dirty="0" err="1">
                <a:solidFill>
                  <a:srgbClr val="E12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b="1" i="1" baseline="-25000" dirty="0">
                <a:solidFill>
                  <a:srgbClr val="E12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/>
              <a:t>越大，表明与其对应模糊评价值</a:t>
            </a:r>
            <a:r>
              <a:rPr lang="en-US" altLang="zh-CN" sz="3200" b="1" i="1" dirty="0" err="1">
                <a:solidFill>
                  <a:srgbClr val="E123BD"/>
                </a:solidFill>
              </a:rPr>
              <a:t>u</a:t>
            </a:r>
            <a:r>
              <a:rPr lang="en-US" altLang="zh-CN" sz="3200" b="1" i="1" baseline="-25000" dirty="0" err="1">
                <a:solidFill>
                  <a:srgbClr val="E12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b="1" i="1" baseline="-25000" dirty="0">
                <a:solidFill>
                  <a:srgbClr val="E12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/>
              <a:t>越大</a:t>
            </a:r>
            <a:endParaRPr lang="en-US" altLang="zh-CN" sz="3200" b="1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zh-CN" altLang="en-US" sz="20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599095"/>
              </p:ext>
            </p:extLst>
          </p:nvPr>
        </p:nvGraphicFramePr>
        <p:xfrm>
          <a:off x="4151784" y="2864791"/>
          <a:ext cx="2232248" cy="1634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50680" imgH="622080" progId="Equation.3">
                  <p:embed/>
                </p:oleObj>
              </mc:Choice>
              <mc:Fallback>
                <p:oleObj name="公式" r:id="rId2" imgW="850680" imgH="6220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4" y="2864791"/>
                        <a:ext cx="2232248" cy="16342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1D7F51-044B-7BFE-7291-A9D0DC6B55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821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 基于三角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数的装备综合保障评价指标权重排序实例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981200"/>
            <a:ext cx="9083352" cy="4688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专家集</a:t>
            </a:r>
            <a:r>
              <a:rPr lang="en-US" altLang="zh-CN" sz="2800" b="1" dirty="0"/>
              <a:t>A={A</a:t>
            </a:r>
            <a:r>
              <a:rPr lang="en-US" altLang="zh-CN" sz="2800" b="1" baseline="30000" dirty="0"/>
              <a:t>1</a:t>
            </a:r>
            <a:r>
              <a:rPr lang="en-US" altLang="zh-CN" sz="2800" b="1" dirty="0"/>
              <a:t>,A</a:t>
            </a:r>
            <a:r>
              <a:rPr lang="en-US" altLang="zh-CN" sz="2800" b="1" baseline="30000" dirty="0"/>
              <a:t>2</a:t>
            </a:r>
            <a:r>
              <a:rPr lang="en-US" altLang="zh-CN" sz="2800" b="1" dirty="0"/>
              <a:t>,A</a:t>
            </a:r>
            <a:r>
              <a:rPr lang="en-US" altLang="zh-CN" sz="2800" b="1" baseline="30000" dirty="0"/>
              <a:t>3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，加权系数</a:t>
            </a:r>
            <a:r>
              <a:rPr lang="en-US" altLang="zh-CN" sz="2800" b="1" i="1" dirty="0"/>
              <a:t>r </a:t>
            </a:r>
            <a:r>
              <a:rPr lang="en-US" altLang="zh-CN" sz="2800" b="1" dirty="0"/>
              <a:t>=(0.5, 0.3, 0.2)</a:t>
            </a:r>
          </a:p>
          <a:p>
            <a:pPr marL="0" indent="0"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评价指标集</a:t>
            </a:r>
            <a:r>
              <a:rPr lang="en-US" altLang="zh-CN" sz="2800" b="1" dirty="0"/>
              <a:t>X={X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,X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,…,X</a:t>
            </a:r>
            <a:r>
              <a:rPr lang="en-US" altLang="zh-CN" sz="2800" b="1" baseline="-25000" dirty="0"/>
              <a:t>8</a:t>
            </a:r>
            <a:r>
              <a:rPr lang="en-US" altLang="zh-CN" sz="2800" b="1" dirty="0"/>
              <a:t>}</a:t>
            </a:r>
          </a:p>
          <a:p>
            <a:pPr marL="0" indent="0">
              <a:buNone/>
            </a:pPr>
            <a:r>
              <a:rPr lang="en-US" altLang="zh-CN" sz="2400" b="1" dirty="0"/>
              <a:t>   X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信息处理能力</a:t>
            </a:r>
            <a:r>
              <a:rPr lang="en-US" altLang="zh-CN" sz="2400" b="1" dirty="0"/>
              <a:t>)</a:t>
            </a:r>
          </a:p>
          <a:p>
            <a:pPr marL="0" indent="0">
              <a:buNone/>
            </a:pPr>
            <a:r>
              <a:rPr lang="en-US" altLang="zh-CN" sz="2400" b="1" dirty="0"/>
              <a:t>   X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计算机资源保障能力</a:t>
            </a:r>
            <a:r>
              <a:rPr lang="en-US" altLang="zh-CN" sz="2400" b="1" dirty="0"/>
              <a:t>)</a:t>
            </a:r>
          </a:p>
          <a:p>
            <a:pPr marL="0" indent="0">
              <a:buNone/>
            </a:pPr>
            <a:r>
              <a:rPr lang="en-US" altLang="zh-CN" sz="2400" b="1" dirty="0"/>
              <a:t>   X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人员保障能力</a:t>
            </a:r>
            <a:r>
              <a:rPr lang="en-US" altLang="zh-CN" sz="2400" b="1" dirty="0"/>
              <a:t>)</a:t>
            </a:r>
          </a:p>
          <a:p>
            <a:pPr marL="0" indent="0">
              <a:buNone/>
            </a:pPr>
            <a:r>
              <a:rPr lang="en-US" altLang="zh-CN" sz="2400" b="1" dirty="0"/>
              <a:t>   X</a:t>
            </a:r>
            <a:r>
              <a:rPr lang="en-US" altLang="zh-CN" sz="2400" b="1" baseline="-25000" dirty="0"/>
              <a:t>4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保障设备纵使保障能力</a:t>
            </a:r>
            <a:r>
              <a:rPr lang="en-US" altLang="zh-CN" sz="2400" b="1" dirty="0"/>
              <a:t>)</a:t>
            </a:r>
          </a:p>
          <a:p>
            <a:pPr marL="0" indent="0">
              <a:buNone/>
            </a:pPr>
            <a:r>
              <a:rPr lang="en-US" altLang="zh-CN" sz="2400" b="1" dirty="0"/>
              <a:t>   X</a:t>
            </a:r>
            <a:r>
              <a:rPr lang="en-US" altLang="zh-CN" sz="2400" b="1" baseline="-25000" dirty="0"/>
              <a:t>5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技术资料保障能力</a:t>
            </a:r>
            <a:r>
              <a:rPr lang="en-US" altLang="zh-CN" sz="2400" b="1" dirty="0"/>
              <a:t>)</a:t>
            </a:r>
          </a:p>
          <a:p>
            <a:pPr marL="0" indent="0">
              <a:buNone/>
            </a:pPr>
            <a:r>
              <a:rPr lang="en-US" altLang="zh-CN" sz="2400" b="1" dirty="0"/>
              <a:t>   X</a:t>
            </a:r>
            <a:r>
              <a:rPr lang="en-US" altLang="zh-CN" sz="2400" b="1" baseline="-25000" dirty="0"/>
              <a:t>6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管理机制</a:t>
            </a:r>
            <a:r>
              <a:rPr lang="en-US" altLang="zh-CN" sz="2400" b="1" dirty="0"/>
              <a:t>)</a:t>
            </a:r>
          </a:p>
          <a:p>
            <a:pPr marL="0" indent="0">
              <a:buNone/>
            </a:pPr>
            <a:r>
              <a:rPr lang="en-US" altLang="zh-CN" sz="2400" b="1" dirty="0"/>
              <a:t>   X</a:t>
            </a:r>
            <a:r>
              <a:rPr lang="en-US" altLang="zh-CN" sz="2400" b="1" baseline="-25000" dirty="0"/>
              <a:t>7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技术培训能力</a:t>
            </a:r>
            <a:r>
              <a:rPr lang="en-US" altLang="zh-CN" sz="2400" b="1" dirty="0"/>
              <a:t>)</a:t>
            </a:r>
          </a:p>
          <a:p>
            <a:pPr marL="0" indent="0">
              <a:buNone/>
            </a:pPr>
            <a:r>
              <a:rPr lang="en-US" altLang="zh-CN" sz="2400" b="1" dirty="0"/>
              <a:t>   X</a:t>
            </a:r>
            <a:r>
              <a:rPr lang="en-US" altLang="zh-CN" sz="2400" b="1" baseline="-25000" dirty="0"/>
              <a:t>8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供应保障能力</a:t>
            </a:r>
            <a:r>
              <a:rPr lang="en-US" altLang="zh-CN" sz="2400" b="1" dirty="0"/>
              <a:t>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83C97D-C2DF-B057-5548-6C16EC3EFD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208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 基于三角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数的装备综合保障评价指标权重排序实例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432" y="1900242"/>
            <a:ext cx="8291264" cy="4876800"/>
          </a:xfrm>
        </p:spPr>
        <p:txBody>
          <a:bodyPr/>
          <a:lstStyle/>
          <a:p>
            <a:r>
              <a:rPr lang="zh-CN" altLang="en-US" b="1" dirty="0"/>
              <a:t>第一个评判专家的评判矩阵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227" y="2504817"/>
            <a:ext cx="7303673" cy="4353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8616280" y="1556792"/>
            <a:ext cx="3543876" cy="2554545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(</a:t>
            </a:r>
            <a:r>
              <a:rPr lang="zh-CN" altLang="en-US" sz="2000" dirty="0"/>
              <a:t>信息处理能力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(</a:t>
            </a:r>
            <a:r>
              <a:rPr lang="zh-CN" altLang="en-US" sz="2000" dirty="0"/>
              <a:t>计算机资源保障能力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(</a:t>
            </a:r>
            <a:r>
              <a:rPr lang="zh-CN" altLang="en-US" sz="2000" dirty="0"/>
              <a:t>人员保障能力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(</a:t>
            </a:r>
            <a:r>
              <a:rPr lang="zh-CN" altLang="en-US" sz="2000" dirty="0"/>
              <a:t>保障设备纵使保障能力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5</a:t>
            </a:r>
            <a:r>
              <a:rPr lang="en-US" altLang="zh-CN" sz="2000" dirty="0"/>
              <a:t>(</a:t>
            </a:r>
            <a:r>
              <a:rPr lang="zh-CN" altLang="en-US" sz="2000" dirty="0"/>
              <a:t>技术资料保障能力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6</a:t>
            </a:r>
            <a:r>
              <a:rPr lang="en-US" altLang="zh-CN" sz="2000" dirty="0"/>
              <a:t>(</a:t>
            </a:r>
            <a:r>
              <a:rPr lang="zh-CN" altLang="en-US" sz="2000" dirty="0"/>
              <a:t>管理机制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7</a:t>
            </a:r>
            <a:r>
              <a:rPr lang="en-US" altLang="zh-CN" sz="2000" dirty="0"/>
              <a:t>(</a:t>
            </a:r>
            <a:r>
              <a:rPr lang="zh-CN" altLang="en-US" sz="2000" dirty="0"/>
              <a:t>技术培训能力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8</a:t>
            </a:r>
            <a:r>
              <a:rPr lang="en-US" altLang="zh-CN" sz="2000" dirty="0"/>
              <a:t>(</a:t>
            </a:r>
            <a:r>
              <a:rPr lang="zh-CN" altLang="en-US" sz="2000" dirty="0"/>
              <a:t>供应保障能力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AE2480-0AF2-82B4-DE39-2D1B11E882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605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 基于三角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数的装备综合保障评价指标权重排序实例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828800"/>
            <a:ext cx="8291264" cy="4876800"/>
          </a:xfrm>
        </p:spPr>
        <p:txBody>
          <a:bodyPr/>
          <a:lstStyle/>
          <a:p>
            <a:r>
              <a:rPr lang="zh-CN" altLang="en-US" b="1" dirty="0"/>
              <a:t>第二个评判专家的评判矩阵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2492896"/>
            <a:ext cx="7198805" cy="436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8D9751-763F-C1BD-4831-41D30ABD9B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0FB693-A3D1-1B9A-9483-38DE22321517}"/>
              </a:ext>
            </a:extLst>
          </p:cNvPr>
          <p:cNvSpPr/>
          <p:nvPr/>
        </p:nvSpPr>
        <p:spPr>
          <a:xfrm>
            <a:off x="8616280" y="1556792"/>
            <a:ext cx="3543876" cy="2554545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(</a:t>
            </a:r>
            <a:r>
              <a:rPr lang="zh-CN" altLang="en-US" sz="2000" dirty="0"/>
              <a:t>信息处理能力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(</a:t>
            </a:r>
            <a:r>
              <a:rPr lang="zh-CN" altLang="en-US" sz="2000" dirty="0"/>
              <a:t>计算机资源保障能力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(</a:t>
            </a:r>
            <a:r>
              <a:rPr lang="zh-CN" altLang="en-US" sz="2000" dirty="0"/>
              <a:t>人员保障能力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(</a:t>
            </a:r>
            <a:r>
              <a:rPr lang="zh-CN" altLang="en-US" sz="2000" dirty="0"/>
              <a:t>保障设备纵使保障能力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5</a:t>
            </a:r>
            <a:r>
              <a:rPr lang="en-US" altLang="zh-CN" sz="2000" dirty="0"/>
              <a:t>(</a:t>
            </a:r>
            <a:r>
              <a:rPr lang="zh-CN" altLang="en-US" sz="2000" dirty="0"/>
              <a:t>技术资料保障能力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6</a:t>
            </a:r>
            <a:r>
              <a:rPr lang="en-US" altLang="zh-CN" sz="2000" dirty="0"/>
              <a:t>(</a:t>
            </a:r>
            <a:r>
              <a:rPr lang="zh-CN" altLang="en-US" sz="2000" dirty="0"/>
              <a:t>管理机制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7</a:t>
            </a:r>
            <a:r>
              <a:rPr lang="en-US" altLang="zh-CN" sz="2000" dirty="0"/>
              <a:t>(</a:t>
            </a:r>
            <a:r>
              <a:rPr lang="zh-CN" altLang="en-US" sz="2000" dirty="0"/>
              <a:t>技术培训能力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8</a:t>
            </a:r>
            <a:r>
              <a:rPr lang="en-US" altLang="zh-CN" sz="2000" dirty="0"/>
              <a:t>(</a:t>
            </a:r>
            <a:r>
              <a:rPr lang="zh-CN" altLang="en-US" sz="2000" dirty="0"/>
              <a:t>供应保障能力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807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 基于三角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数的装备综合保障评价指标权重排序实例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936576"/>
            <a:ext cx="8291264" cy="4876800"/>
          </a:xfrm>
        </p:spPr>
        <p:txBody>
          <a:bodyPr/>
          <a:lstStyle/>
          <a:p>
            <a:r>
              <a:rPr lang="zh-CN" altLang="en-US" b="1" dirty="0"/>
              <a:t>第三个评判专家的评判矩阵</a:t>
            </a: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2564904"/>
            <a:ext cx="7353588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7227DB-CDB8-77CE-7658-D67C31FFDB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2987C4-DB0F-A0F5-29AA-799E5563CCE7}"/>
              </a:ext>
            </a:extLst>
          </p:cNvPr>
          <p:cNvSpPr/>
          <p:nvPr/>
        </p:nvSpPr>
        <p:spPr>
          <a:xfrm>
            <a:off x="8616280" y="1556792"/>
            <a:ext cx="3543876" cy="2554545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(</a:t>
            </a:r>
            <a:r>
              <a:rPr lang="zh-CN" altLang="en-US" sz="2000" dirty="0"/>
              <a:t>信息处理能力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(</a:t>
            </a:r>
            <a:r>
              <a:rPr lang="zh-CN" altLang="en-US" sz="2000" dirty="0"/>
              <a:t>计算机资源保障能力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(</a:t>
            </a:r>
            <a:r>
              <a:rPr lang="zh-CN" altLang="en-US" sz="2000" dirty="0"/>
              <a:t>人员保障能力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(</a:t>
            </a:r>
            <a:r>
              <a:rPr lang="zh-CN" altLang="en-US" sz="2000" dirty="0"/>
              <a:t>保障设备纵使保障能力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5</a:t>
            </a:r>
            <a:r>
              <a:rPr lang="en-US" altLang="zh-CN" sz="2000" dirty="0"/>
              <a:t>(</a:t>
            </a:r>
            <a:r>
              <a:rPr lang="zh-CN" altLang="en-US" sz="2000" dirty="0"/>
              <a:t>技术资料保障能力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6</a:t>
            </a:r>
            <a:r>
              <a:rPr lang="en-US" altLang="zh-CN" sz="2000" dirty="0"/>
              <a:t>(</a:t>
            </a:r>
            <a:r>
              <a:rPr lang="zh-CN" altLang="en-US" sz="2000" dirty="0"/>
              <a:t>管理机制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7</a:t>
            </a:r>
            <a:r>
              <a:rPr lang="en-US" altLang="zh-CN" sz="2000" dirty="0"/>
              <a:t>(</a:t>
            </a:r>
            <a:r>
              <a:rPr lang="zh-CN" altLang="en-US" sz="2000" dirty="0"/>
              <a:t>技术培训能力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X</a:t>
            </a:r>
            <a:r>
              <a:rPr lang="en-US" altLang="zh-CN" sz="2000" baseline="-25000" dirty="0"/>
              <a:t>8</a:t>
            </a:r>
            <a:r>
              <a:rPr lang="en-US" altLang="zh-CN" sz="2000" dirty="0"/>
              <a:t>(</a:t>
            </a:r>
            <a:r>
              <a:rPr lang="zh-CN" altLang="en-US" sz="2000" dirty="0"/>
              <a:t>供应保障能力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9301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 基于三角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数的装备综合保障评价指标权重排序实例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0954" y="1867381"/>
            <a:ext cx="8291264" cy="4876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采用加权方法集结各决策者的偏好信息</a:t>
            </a:r>
            <a:endParaRPr lang="en-US" altLang="zh-CN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393972"/>
              </p:ext>
            </p:extLst>
          </p:nvPr>
        </p:nvGraphicFramePr>
        <p:xfrm>
          <a:off x="2048767" y="2344997"/>
          <a:ext cx="5735637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81000" imgH="431640" progId="Equation.3">
                  <p:embed/>
                </p:oleObj>
              </mc:Choice>
              <mc:Fallback>
                <p:oleObj name="公式" r:id="rId2" imgW="2781000" imgH="431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8767" y="2344997"/>
                        <a:ext cx="5735637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881641" y="3135136"/>
            <a:ext cx="5688632" cy="3745947"/>
            <a:chOff x="1763688" y="3284984"/>
            <a:chExt cx="5598944" cy="3573016"/>
          </a:xfrm>
        </p:grpSpPr>
        <p:pic>
          <p:nvPicPr>
            <p:cNvPr id="522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688" y="3284984"/>
              <a:ext cx="5524500" cy="180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228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6732" y="5076825"/>
              <a:ext cx="5295900" cy="1781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矩形 8"/>
          <p:cNvSpPr/>
          <p:nvPr/>
        </p:nvSpPr>
        <p:spPr>
          <a:xfrm>
            <a:off x="8680959" y="4456104"/>
            <a:ext cx="3240360" cy="230832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   X</a:t>
            </a:r>
            <a:r>
              <a:rPr lang="en-US" altLang="zh-CN" baseline="-25000" dirty="0"/>
              <a:t>1</a:t>
            </a:r>
            <a:r>
              <a:rPr lang="en-US" altLang="zh-CN" dirty="0"/>
              <a:t>(</a:t>
            </a:r>
            <a:r>
              <a:rPr lang="zh-CN" altLang="en-US" dirty="0"/>
              <a:t>信息处理能力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X</a:t>
            </a:r>
            <a:r>
              <a:rPr lang="en-US" altLang="zh-CN" baseline="-25000" dirty="0"/>
              <a:t>2</a:t>
            </a:r>
            <a:r>
              <a:rPr lang="en-US" altLang="zh-CN" dirty="0"/>
              <a:t>(</a:t>
            </a:r>
            <a:r>
              <a:rPr lang="zh-CN" altLang="en-US" dirty="0"/>
              <a:t>计算机资源保障能力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X</a:t>
            </a:r>
            <a:r>
              <a:rPr lang="en-US" altLang="zh-CN" baseline="-25000" dirty="0"/>
              <a:t>3</a:t>
            </a:r>
            <a:r>
              <a:rPr lang="en-US" altLang="zh-CN" dirty="0"/>
              <a:t>(</a:t>
            </a:r>
            <a:r>
              <a:rPr lang="zh-CN" altLang="en-US" dirty="0"/>
              <a:t>人员保障能力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X</a:t>
            </a:r>
            <a:r>
              <a:rPr lang="en-US" altLang="zh-CN" baseline="-25000" dirty="0"/>
              <a:t>4</a:t>
            </a:r>
            <a:r>
              <a:rPr lang="en-US" altLang="zh-CN" dirty="0"/>
              <a:t>(</a:t>
            </a:r>
            <a:r>
              <a:rPr lang="zh-CN" altLang="en-US" dirty="0"/>
              <a:t>保障设备纵使保障能力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X</a:t>
            </a:r>
            <a:r>
              <a:rPr lang="en-US" altLang="zh-CN" baseline="-25000" dirty="0"/>
              <a:t>5</a:t>
            </a:r>
            <a:r>
              <a:rPr lang="en-US" altLang="zh-CN" dirty="0"/>
              <a:t>(</a:t>
            </a:r>
            <a:r>
              <a:rPr lang="zh-CN" altLang="en-US" dirty="0"/>
              <a:t>技术资料保障能力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X</a:t>
            </a:r>
            <a:r>
              <a:rPr lang="en-US" altLang="zh-CN" baseline="-25000" dirty="0"/>
              <a:t>6</a:t>
            </a:r>
            <a:r>
              <a:rPr lang="en-US" altLang="zh-CN" dirty="0"/>
              <a:t>(</a:t>
            </a:r>
            <a:r>
              <a:rPr lang="zh-CN" altLang="en-US" dirty="0"/>
              <a:t>管理机制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X</a:t>
            </a:r>
            <a:r>
              <a:rPr lang="en-US" altLang="zh-CN" baseline="-25000" dirty="0"/>
              <a:t>7</a:t>
            </a:r>
            <a:r>
              <a:rPr lang="en-US" altLang="zh-CN" dirty="0"/>
              <a:t>(</a:t>
            </a:r>
            <a:r>
              <a:rPr lang="zh-CN" altLang="en-US" dirty="0"/>
              <a:t>技术培训能力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X</a:t>
            </a:r>
            <a:r>
              <a:rPr lang="en-US" altLang="zh-CN" baseline="-25000" dirty="0"/>
              <a:t>8</a:t>
            </a:r>
            <a:r>
              <a:rPr lang="en-US" altLang="zh-CN" dirty="0"/>
              <a:t>(</a:t>
            </a:r>
            <a:r>
              <a:rPr lang="zh-CN" altLang="en-US" dirty="0"/>
              <a:t>供应保障能力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8472264" y="2535288"/>
            <a:ext cx="2223686" cy="461665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=(0.5, 0.3, 0.2)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001778-6198-1784-5373-7582156A32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443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 基于三角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数的装备综合保障评价指标权重排序实例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61120" y="1981200"/>
            <a:ext cx="8291264" cy="4876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3. </a:t>
            </a:r>
            <a:r>
              <a:rPr lang="zh-CN" altLang="en-US" b="1" dirty="0"/>
              <a:t>计算关于因素</a:t>
            </a:r>
            <a:r>
              <a:rPr lang="en-US" altLang="zh-CN" b="1" i="1" dirty="0">
                <a:solidFill>
                  <a:srgbClr val="E123BD"/>
                </a:solidFill>
              </a:rPr>
              <a:t>x</a:t>
            </a:r>
            <a:r>
              <a:rPr lang="en-US" altLang="zh-CN" b="1" i="1" baseline="-25000" dirty="0">
                <a:solidFill>
                  <a:srgbClr val="E123BD"/>
                </a:solidFill>
              </a:rPr>
              <a:t>i</a:t>
            </a:r>
            <a:r>
              <a:rPr lang="zh-CN" altLang="en-US" b="1" dirty="0"/>
              <a:t> 的</a:t>
            </a:r>
            <a:r>
              <a:rPr lang="en-US" altLang="zh-CN" b="1" dirty="0"/>
              <a:t>F</a:t>
            </a:r>
            <a:r>
              <a:rPr lang="zh-CN" altLang="en-US" b="1" dirty="0"/>
              <a:t>综合评价值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en-US" sz="2800" b="1" dirty="0"/>
              <a:t>    则每个指标的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综合评价值为 </a:t>
            </a:r>
            <a:endParaRPr lang="en-US" altLang="zh-CN" sz="2800" b="1" dirty="0"/>
          </a:p>
          <a:p>
            <a:pPr marL="400050" lvl="1" indent="0">
              <a:buNone/>
            </a:pPr>
            <a:r>
              <a:rPr lang="en-US" altLang="zh-CN" b="1" i="1" dirty="0"/>
              <a:t>u</a:t>
            </a:r>
            <a:r>
              <a:rPr lang="en-US" altLang="zh-CN" b="1" baseline="-25000" dirty="0"/>
              <a:t>1 </a:t>
            </a:r>
            <a:r>
              <a:rPr lang="en-US" altLang="zh-CN" b="1" dirty="0"/>
              <a:t>= (0.11,0.15,0.22)          </a:t>
            </a:r>
            <a:r>
              <a:rPr lang="en-US" altLang="zh-CN" b="1" i="1" dirty="0"/>
              <a:t>u</a:t>
            </a:r>
            <a:r>
              <a:rPr lang="en-US" altLang="zh-CN" b="1" baseline="-25000" dirty="0"/>
              <a:t>2 </a:t>
            </a:r>
            <a:r>
              <a:rPr lang="en-US" altLang="zh-CN" b="1" dirty="0"/>
              <a:t>= (0.05,0.09,0.14)       </a:t>
            </a:r>
            <a:endParaRPr lang="zh-CN" altLang="en-US" b="1" dirty="0"/>
          </a:p>
          <a:p>
            <a:pPr marL="400050" lvl="1" indent="0">
              <a:buNone/>
            </a:pPr>
            <a:r>
              <a:rPr lang="en-US" altLang="zh-CN" b="1" i="1" dirty="0"/>
              <a:t>u</a:t>
            </a:r>
            <a:r>
              <a:rPr lang="en-US" altLang="zh-CN" b="1" baseline="-25000" dirty="0"/>
              <a:t>3 </a:t>
            </a:r>
            <a:r>
              <a:rPr lang="en-US" altLang="zh-CN" b="1" dirty="0"/>
              <a:t>= (0.06,0.09,0.16)          </a:t>
            </a:r>
            <a:r>
              <a:rPr lang="en-US" altLang="zh-CN" b="1" i="1" dirty="0"/>
              <a:t>u</a:t>
            </a:r>
            <a:r>
              <a:rPr lang="en-US" altLang="zh-CN" b="1" baseline="-25000" dirty="0"/>
              <a:t>4 </a:t>
            </a:r>
            <a:r>
              <a:rPr lang="en-US" altLang="zh-CN" b="1" dirty="0"/>
              <a:t>= (0.09,0.13,0.19)       </a:t>
            </a:r>
            <a:endParaRPr lang="zh-CN" altLang="en-US" b="1" dirty="0"/>
          </a:p>
          <a:p>
            <a:pPr marL="400050" lvl="1" indent="0">
              <a:buNone/>
            </a:pPr>
            <a:r>
              <a:rPr lang="en-US" altLang="zh-CN" b="1" i="1" dirty="0"/>
              <a:t>u</a:t>
            </a:r>
            <a:r>
              <a:rPr lang="en-US" altLang="zh-CN" b="1" baseline="-25000" dirty="0"/>
              <a:t>5 </a:t>
            </a:r>
            <a:r>
              <a:rPr lang="en-US" altLang="zh-CN" b="1" dirty="0"/>
              <a:t>= (0.07,0.11,0.17)          </a:t>
            </a:r>
            <a:r>
              <a:rPr lang="en-US" altLang="zh-CN" b="1" i="1" dirty="0"/>
              <a:t>u</a:t>
            </a:r>
            <a:r>
              <a:rPr lang="en-US" altLang="zh-CN" b="1" baseline="-25000" dirty="0"/>
              <a:t>6 </a:t>
            </a:r>
            <a:r>
              <a:rPr lang="en-US" altLang="zh-CN" b="1" dirty="0"/>
              <a:t>= (0.09,0.13,0.19)       </a:t>
            </a:r>
            <a:endParaRPr lang="zh-CN" altLang="en-US" b="1" dirty="0"/>
          </a:p>
          <a:p>
            <a:pPr marL="400050" lvl="1" indent="0">
              <a:buNone/>
            </a:pPr>
            <a:r>
              <a:rPr lang="en-US" altLang="zh-CN" b="1" i="1" dirty="0"/>
              <a:t>u</a:t>
            </a:r>
            <a:r>
              <a:rPr lang="en-US" altLang="zh-CN" b="1" baseline="-25000" dirty="0"/>
              <a:t>7 </a:t>
            </a:r>
            <a:r>
              <a:rPr lang="en-US" altLang="zh-CN" b="1" dirty="0"/>
              <a:t>= (0.07,0.11,0.17)          </a:t>
            </a:r>
            <a:r>
              <a:rPr lang="en-US" altLang="zh-CN" b="1" i="1" dirty="0"/>
              <a:t>u</a:t>
            </a:r>
            <a:r>
              <a:rPr lang="en-US" altLang="zh-CN" b="1" baseline="-25000" dirty="0"/>
              <a:t>8 </a:t>
            </a:r>
            <a:r>
              <a:rPr lang="en-US" altLang="zh-CN" b="1" dirty="0"/>
              <a:t>= (0.13,0.18,0.25)       </a:t>
            </a:r>
            <a:endParaRPr lang="zh-CN" altLang="en-US" b="1" dirty="0"/>
          </a:p>
          <a:p>
            <a:pPr marL="400050" lvl="1" indent="0">
              <a:buNone/>
            </a:pPr>
            <a:endParaRPr lang="zh-CN" altLang="en-US" sz="2400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514238"/>
              </p:ext>
            </p:extLst>
          </p:nvPr>
        </p:nvGraphicFramePr>
        <p:xfrm>
          <a:off x="2639616" y="2492896"/>
          <a:ext cx="4524504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09680" imgH="914400" progId="Equation.3">
                  <p:embed/>
                </p:oleObj>
              </mc:Choice>
              <mc:Fallback>
                <p:oleObj name="公式" r:id="rId2" imgW="2209680" imgH="9144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2492896"/>
                        <a:ext cx="4524504" cy="18722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559F85-6562-A25E-6E40-3615560ACD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255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 基于三角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数的装备综合保障评价指标权重排序实例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49896" y="1988840"/>
            <a:ext cx="4762872" cy="38862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4. </a:t>
            </a:r>
            <a:r>
              <a:rPr lang="zh-CN" altLang="en-US" b="1" dirty="0"/>
              <a:t>计算</a:t>
            </a:r>
            <a:r>
              <a:rPr lang="en-US" altLang="zh-CN" b="1" dirty="0"/>
              <a:t>F</a:t>
            </a:r>
            <a:r>
              <a:rPr lang="zh-CN" altLang="en-US" b="1" dirty="0"/>
              <a:t>评价值</a:t>
            </a:r>
            <a:r>
              <a:rPr lang="en-US" altLang="zh-CN" b="1" i="1" dirty="0" err="1">
                <a:solidFill>
                  <a:srgbClr val="E123BD"/>
                </a:solidFill>
              </a:rPr>
              <a:t>u</a:t>
            </a:r>
            <a:r>
              <a:rPr lang="en-US" altLang="zh-CN" b="1" i="1" baseline="-25000" dirty="0" err="1">
                <a:solidFill>
                  <a:srgbClr val="E123BD"/>
                </a:solidFill>
              </a:rPr>
              <a:t>i</a:t>
            </a:r>
            <a:r>
              <a:rPr lang="zh-CN" altLang="en-US" b="1" dirty="0"/>
              <a:t> 的期望值</a:t>
            </a:r>
            <a:endParaRPr lang="en-US" altLang="zh-CN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r>
              <a:rPr lang="zh-CN" altLang="en-US" b="1" dirty="0"/>
              <a:t> 每个指标的</a:t>
            </a:r>
            <a:r>
              <a:rPr lang="en-US" altLang="zh-CN" b="1" dirty="0"/>
              <a:t>F</a:t>
            </a:r>
            <a:r>
              <a:rPr lang="zh-CN" altLang="en-US" b="1" dirty="0"/>
              <a:t>综合评价值 </a:t>
            </a:r>
            <a:endParaRPr lang="en-US" altLang="zh-CN" b="1" dirty="0"/>
          </a:p>
          <a:p>
            <a:pPr marL="400050" lvl="1" indent="0">
              <a:buNone/>
            </a:pPr>
            <a:r>
              <a:rPr lang="en-US" altLang="zh-CN" b="1" i="1" dirty="0"/>
              <a:t>u</a:t>
            </a:r>
            <a:r>
              <a:rPr lang="en-US" altLang="zh-CN" b="1" baseline="-25000" dirty="0"/>
              <a:t>1 </a:t>
            </a:r>
            <a:r>
              <a:rPr lang="en-US" altLang="zh-CN" b="1" dirty="0"/>
              <a:t>= (0.11,0.15,0.22)    </a:t>
            </a:r>
          </a:p>
          <a:p>
            <a:pPr marL="400050" lvl="1" indent="0">
              <a:buNone/>
            </a:pPr>
            <a:r>
              <a:rPr lang="en-US" altLang="zh-CN" b="1" i="1" dirty="0"/>
              <a:t>u</a:t>
            </a:r>
            <a:r>
              <a:rPr lang="en-US" altLang="zh-CN" b="1" baseline="-25000" dirty="0"/>
              <a:t>2 </a:t>
            </a:r>
            <a:r>
              <a:rPr lang="en-US" altLang="zh-CN" b="1" dirty="0"/>
              <a:t>= (0.05,0.09,0.14)       </a:t>
            </a:r>
            <a:endParaRPr lang="zh-CN" altLang="en-US" b="1" dirty="0"/>
          </a:p>
          <a:p>
            <a:pPr marL="400050" lvl="1" indent="0">
              <a:buNone/>
            </a:pPr>
            <a:r>
              <a:rPr lang="en-US" altLang="zh-CN" b="1" i="1" dirty="0"/>
              <a:t>u</a:t>
            </a:r>
            <a:r>
              <a:rPr lang="en-US" altLang="zh-CN" b="1" baseline="-25000" dirty="0"/>
              <a:t>3 </a:t>
            </a:r>
            <a:r>
              <a:rPr lang="en-US" altLang="zh-CN" b="1" dirty="0"/>
              <a:t>= (0.06,0.09,0.16)         </a:t>
            </a:r>
          </a:p>
          <a:p>
            <a:pPr marL="400050" lvl="1" indent="0">
              <a:buNone/>
            </a:pPr>
            <a:r>
              <a:rPr lang="en-US" altLang="zh-CN" b="1" i="1" dirty="0"/>
              <a:t>u</a:t>
            </a:r>
            <a:r>
              <a:rPr lang="en-US" altLang="zh-CN" b="1" baseline="-25000" dirty="0"/>
              <a:t>4 </a:t>
            </a:r>
            <a:r>
              <a:rPr lang="en-US" altLang="zh-CN" b="1" dirty="0"/>
              <a:t>= (0.09,0.13,0.19)       </a:t>
            </a:r>
            <a:endParaRPr lang="zh-CN" altLang="en-US" b="1" dirty="0"/>
          </a:p>
          <a:p>
            <a:pPr marL="400050" lvl="1" indent="0">
              <a:buNone/>
            </a:pPr>
            <a:r>
              <a:rPr lang="en-US" altLang="zh-CN" b="1" i="1" dirty="0"/>
              <a:t>u</a:t>
            </a:r>
            <a:r>
              <a:rPr lang="en-US" altLang="zh-CN" b="1" baseline="-25000" dirty="0"/>
              <a:t>5 </a:t>
            </a:r>
            <a:r>
              <a:rPr lang="en-US" altLang="zh-CN" b="1" dirty="0"/>
              <a:t>= (0.07,0.11,0.17)          </a:t>
            </a:r>
          </a:p>
          <a:p>
            <a:pPr marL="400050" lvl="1" indent="0">
              <a:buNone/>
            </a:pPr>
            <a:r>
              <a:rPr lang="en-US" altLang="zh-CN" b="1" i="1" dirty="0"/>
              <a:t>u</a:t>
            </a:r>
            <a:r>
              <a:rPr lang="en-US" altLang="zh-CN" b="1" baseline="-25000" dirty="0"/>
              <a:t>6 </a:t>
            </a:r>
            <a:r>
              <a:rPr lang="en-US" altLang="zh-CN" b="1" dirty="0"/>
              <a:t>= (0.09,0.13,0.19)       </a:t>
            </a:r>
            <a:endParaRPr lang="zh-CN" altLang="en-US" b="1" dirty="0"/>
          </a:p>
          <a:p>
            <a:pPr marL="400050" lvl="1" indent="0">
              <a:buNone/>
            </a:pPr>
            <a:r>
              <a:rPr lang="en-US" altLang="zh-CN" b="1" i="1" dirty="0"/>
              <a:t>u</a:t>
            </a:r>
            <a:r>
              <a:rPr lang="en-US" altLang="zh-CN" b="1" baseline="-25000" dirty="0"/>
              <a:t>7 </a:t>
            </a:r>
            <a:r>
              <a:rPr lang="en-US" altLang="zh-CN" b="1" dirty="0"/>
              <a:t>= (0.07,0.11,0.17)         </a:t>
            </a:r>
          </a:p>
          <a:p>
            <a:pPr marL="400050" lvl="1" indent="0">
              <a:buNone/>
            </a:pPr>
            <a:r>
              <a:rPr lang="en-US" altLang="zh-CN" b="1" i="1" dirty="0"/>
              <a:t>u</a:t>
            </a:r>
            <a:r>
              <a:rPr lang="en-US" altLang="zh-CN" b="1" baseline="-25000" dirty="0"/>
              <a:t>8 </a:t>
            </a:r>
            <a:r>
              <a:rPr lang="en-US" altLang="zh-CN" b="1" dirty="0"/>
              <a:t>= (0.13,0.18,0.25)       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2822703"/>
            <a:ext cx="4038600" cy="4035297"/>
          </a:xfrm>
          <a:solidFill>
            <a:srgbClr val="CCFFFF"/>
          </a:solidFill>
        </p:spPr>
        <p:txBody>
          <a:bodyPr/>
          <a:lstStyle/>
          <a:p>
            <a:r>
              <a:rPr lang="zh-CN" altLang="en-US" b="1" dirty="0"/>
              <a:t>每个指标的期望值为</a:t>
            </a:r>
            <a:endParaRPr lang="en-US" altLang="zh-CN" b="1" dirty="0"/>
          </a:p>
          <a:p>
            <a:pPr lvl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/>
              <a:t>(</a:t>
            </a:r>
            <a:r>
              <a:rPr lang="en-US" altLang="zh-CN" b="1" i="1" dirty="0"/>
              <a:t>u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) = 0.16</a:t>
            </a:r>
          </a:p>
          <a:p>
            <a:pPr lvl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/>
              <a:t>(</a:t>
            </a:r>
            <a:r>
              <a:rPr lang="en-US" altLang="zh-CN" b="1" i="1" dirty="0"/>
              <a:t>u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) = 0.09</a:t>
            </a:r>
          </a:p>
          <a:p>
            <a:pPr lvl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/>
              <a:t>(</a:t>
            </a:r>
            <a:r>
              <a:rPr lang="en-US" altLang="zh-CN" b="1" i="1" dirty="0"/>
              <a:t>u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) = 0.10</a:t>
            </a:r>
          </a:p>
          <a:p>
            <a:pPr lvl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/>
              <a:t>(</a:t>
            </a:r>
            <a:r>
              <a:rPr lang="en-US" altLang="zh-CN" b="1" i="1" dirty="0"/>
              <a:t>u</a:t>
            </a:r>
            <a:r>
              <a:rPr lang="en-US" altLang="zh-CN" b="1" baseline="-25000" dirty="0"/>
              <a:t>4</a:t>
            </a:r>
            <a:r>
              <a:rPr lang="en-US" altLang="zh-CN" b="1" dirty="0"/>
              <a:t>) = 0.14</a:t>
            </a:r>
          </a:p>
          <a:p>
            <a:pPr lvl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/>
              <a:t>(</a:t>
            </a:r>
            <a:r>
              <a:rPr lang="en-US" altLang="zh-CN" b="1" i="1" dirty="0"/>
              <a:t>u</a:t>
            </a:r>
            <a:r>
              <a:rPr lang="en-US" altLang="zh-CN" b="1" baseline="-25000" dirty="0"/>
              <a:t>5</a:t>
            </a:r>
            <a:r>
              <a:rPr lang="en-US" altLang="zh-CN" b="1" dirty="0"/>
              <a:t>) = 0.11</a:t>
            </a:r>
          </a:p>
          <a:p>
            <a:pPr lvl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/>
              <a:t>(</a:t>
            </a:r>
            <a:r>
              <a:rPr lang="en-US" altLang="zh-CN" b="1" i="1" dirty="0"/>
              <a:t>u</a:t>
            </a:r>
            <a:r>
              <a:rPr lang="en-US" altLang="zh-CN" b="1" baseline="-25000" dirty="0"/>
              <a:t>6</a:t>
            </a:r>
            <a:r>
              <a:rPr lang="en-US" altLang="zh-CN" b="1" dirty="0"/>
              <a:t>) = 0.14</a:t>
            </a:r>
          </a:p>
          <a:p>
            <a:pPr lvl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/>
              <a:t>(</a:t>
            </a:r>
            <a:r>
              <a:rPr lang="en-US" altLang="zh-CN" b="1" i="1" dirty="0"/>
              <a:t>u</a:t>
            </a:r>
            <a:r>
              <a:rPr lang="en-US" altLang="zh-CN" b="1" baseline="-25000" dirty="0"/>
              <a:t>7</a:t>
            </a:r>
            <a:r>
              <a:rPr lang="en-US" altLang="zh-CN" b="1" dirty="0"/>
              <a:t>) = 0.12</a:t>
            </a:r>
          </a:p>
          <a:p>
            <a:pPr lvl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/>
              <a:t>(</a:t>
            </a:r>
            <a:r>
              <a:rPr lang="en-US" altLang="zh-CN" b="1" i="1" dirty="0"/>
              <a:t>u</a:t>
            </a:r>
            <a:r>
              <a:rPr lang="en-US" altLang="zh-CN" b="1" baseline="-25000" dirty="0"/>
              <a:t>8</a:t>
            </a:r>
            <a:r>
              <a:rPr lang="en-US" altLang="zh-CN" b="1" dirty="0"/>
              <a:t>) = 0.19</a:t>
            </a:r>
            <a:endParaRPr lang="zh-CN" altLang="en-US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958945"/>
              </p:ext>
            </p:extLst>
          </p:nvPr>
        </p:nvGraphicFramePr>
        <p:xfrm>
          <a:off x="6528049" y="1772816"/>
          <a:ext cx="3074735" cy="10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360" imgH="393480" progId="Equation.DSMT4">
                  <p:embed/>
                </p:oleObj>
              </mc:Choice>
              <mc:Fallback>
                <p:oleObj name="Equation" r:id="rId2" imgW="12063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28049" y="1772816"/>
                        <a:ext cx="3074735" cy="100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87A44E-EAFF-DE35-CC63-27998CDA32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26C620E-099B-4AAE-A0B9-409ABAEB1F9D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168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 基于三角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数的装备综合保障评价指标权重排序实例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9963" y="2014878"/>
            <a:ext cx="8130374" cy="4876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5. </a:t>
            </a:r>
            <a:r>
              <a:rPr lang="zh-CN" altLang="en-US" b="1" dirty="0"/>
              <a:t>计算排序权向量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    </a:t>
            </a:r>
            <a:r>
              <a:rPr lang="en-US" altLang="zh-CN" sz="2800" b="1" dirty="0">
                <a:solidFill>
                  <a:srgbClr val="3333FF"/>
                </a:solidFill>
              </a:rPr>
              <a:t>W = (0.15,0.08,0.09, 0.13,0.10, 0.13,0.11, 0.18)</a:t>
            </a:r>
          </a:p>
          <a:p>
            <a:pPr marL="0" indent="0">
              <a:buNone/>
            </a:pPr>
            <a:r>
              <a:rPr lang="zh-CN" altLang="en-US" sz="2800" b="1" dirty="0"/>
              <a:t>因此装备综合保障指标的权重排序为：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400" b="1" i="1" dirty="0">
                <a:solidFill>
                  <a:srgbClr val="E123BD"/>
                </a:solidFill>
              </a:rPr>
              <a:t>           </a:t>
            </a:r>
            <a:r>
              <a:rPr lang="en-US" altLang="zh-CN" sz="2800" b="1" i="1" dirty="0">
                <a:solidFill>
                  <a:srgbClr val="E90101"/>
                </a:solidFill>
              </a:rPr>
              <a:t>x</a:t>
            </a:r>
            <a:r>
              <a:rPr lang="en-US" altLang="zh-CN" sz="2800" b="1" baseline="-25000" dirty="0">
                <a:solidFill>
                  <a:srgbClr val="E90101"/>
                </a:solidFill>
              </a:rPr>
              <a:t>8</a:t>
            </a:r>
            <a:r>
              <a:rPr lang="zh-CN" altLang="en-US" sz="2800" b="1" dirty="0">
                <a:solidFill>
                  <a:srgbClr val="E90101"/>
                </a:solidFill>
              </a:rPr>
              <a:t> </a:t>
            </a:r>
            <a:r>
              <a:rPr lang="en-US" altLang="zh-CN" sz="2800" b="1" dirty="0">
                <a:solidFill>
                  <a:srgbClr val="E90101"/>
                </a:solidFill>
              </a:rPr>
              <a:t>&gt;</a:t>
            </a:r>
            <a:r>
              <a:rPr lang="en-US" altLang="zh-CN" sz="2800" b="1" i="1" dirty="0">
                <a:solidFill>
                  <a:srgbClr val="E90101"/>
                </a:solidFill>
              </a:rPr>
              <a:t> x</a:t>
            </a:r>
            <a:r>
              <a:rPr lang="en-US" altLang="zh-CN" sz="2800" b="1" baseline="-25000" dirty="0">
                <a:solidFill>
                  <a:srgbClr val="E90101"/>
                </a:solidFill>
              </a:rPr>
              <a:t>1</a:t>
            </a:r>
            <a:r>
              <a:rPr lang="zh-CN" altLang="en-US" sz="2800" b="1" dirty="0">
                <a:solidFill>
                  <a:srgbClr val="E90101"/>
                </a:solidFill>
              </a:rPr>
              <a:t> </a:t>
            </a:r>
            <a:r>
              <a:rPr lang="en-US" altLang="zh-CN" sz="2800" b="1" dirty="0">
                <a:solidFill>
                  <a:srgbClr val="E90101"/>
                </a:solidFill>
              </a:rPr>
              <a:t>&gt;</a:t>
            </a:r>
            <a:r>
              <a:rPr lang="en-US" altLang="zh-CN" sz="2800" b="1" i="1" dirty="0">
                <a:solidFill>
                  <a:srgbClr val="E90101"/>
                </a:solidFill>
              </a:rPr>
              <a:t> x</a:t>
            </a:r>
            <a:r>
              <a:rPr lang="en-US" altLang="zh-CN" sz="2800" b="1" baseline="-25000" dirty="0">
                <a:solidFill>
                  <a:srgbClr val="E90101"/>
                </a:solidFill>
              </a:rPr>
              <a:t>4</a:t>
            </a:r>
            <a:r>
              <a:rPr lang="zh-CN" altLang="en-US" sz="2800" b="1" dirty="0">
                <a:solidFill>
                  <a:srgbClr val="E90101"/>
                </a:solidFill>
              </a:rPr>
              <a:t> </a:t>
            </a:r>
            <a:r>
              <a:rPr lang="en-US" altLang="zh-CN" sz="2800" b="1" dirty="0">
                <a:solidFill>
                  <a:srgbClr val="E90101"/>
                </a:solidFill>
              </a:rPr>
              <a:t>=</a:t>
            </a:r>
            <a:r>
              <a:rPr lang="en-US" altLang="zh-CN" sz="2800" b="1" i="1" dirty="0">
                <a:solidFill>
                  <a:srgbClr val="E90101"/>
                </a:solidFill>
              </a:rPr>
              <a:t> x</a:t>
            </a:r>
            <a:r>
              <a:rPr lang="en-US" altLang="zh-CN" sz="2800" b="1" baseline="-25000" dirty="0">
                <a:solidFill>
                  <a:srgbClr val="E90101"/>
                </a:solidFill>
              </a:rPr>
              <a:t>6</a:t>
            </a:r>
            <a:r>
              <a:rPr lang="zh-CN" altLang="en-US" sz="2800" b="1" dirty="0">
                <a:solidFill>
                  <a:srgbClr val="E90101"/>
                </a:solidFill>
              </a:rPr>
              <a:t> </a:t>
            </a:r>
            <a:r>
              <a:rPr lang="en-US" altLang="zh-CN" sz="2800" b="1" dirty="0">
                <a:solidFill>
                  <a:srgbClr val="E90101"/>
                </a:solidFill>
              </a:rPr>
              <a:t>&gt;</a:t>
            </a:r>
            <a:r>
              <a:rPr lang="en-US" altLang="zh-CN" sz="2800" b="1" i="1" dirty="0">
                <a:solidFill>
                  <a:srgbClr val="E90101"/>
                </a:solidFill>
              </a:rPr>
              <a:t> x</a:t>
            </a:r>
            <a:r>
              <a:rPr lang="en-US" altLang="zh-CN" sz="2800" b="1" baseline="-25000" dirty="0">
                <a:solidFill>
                  <a:srgbClr val="E90101"/>
                </a:solidFill>
              </a:rPr>
              <a:t>7</a:t>
            </a:r>
            <a:r>
              <a:rPr lang="zh-CN" altLang="en-US" sz="2800" b="1" dirty="0">
                <a:solidFill>
                  <a:srgbClr val="E90101"/>
                </a:solidFill>
              </a:rPr>
              <a:t> </a:t>
            </a:r>
            <a:r>
              <a:rPr lang="en-US" altLang="zh-CN" sz="2800" b="1" dirty="0">
                <a:solidFill>
                  <a:srgbClr val="E90101"/>
                </a:solidFill>
              </a:rPr>
              <a:t>&gt;</a:t>
            </a:r>
            <a:r>
              <a:rPr lang="en-US" altLang="zh-CN" sz="2800" b="1" i="1" dirty="0">
                <a:solidFill>
                  <a:srgbClr val="E90101"/>
                </a:solidFill>
              </a:rPr>
              <a:t> x</a:t>
            </a:r>
            <a:r>
              <a:rPr lang="en-US" altLang="zh-CN" sz="2800" b="1" baseline="-25000" dirty="0">
                <a:solidFill>
                  <a:srgbClr val="E90101"/>
                </a:solidFill>
              </a:rPr>
              <a:t>5</a:t>
            </a:r>
            <a:r>
              <a:rPr lang="zh-CN" altLang="en-US" sz="2800" b="1" dirty="0">
                <a:solidFill>
                  <a:srgbClr val="E90101"/>
                </a:solidFill>
              </a:rPr>
              <a:t> </a:t>
            </a:r>
            <a:r>
              <a:rPr lang="en-US" altLang="zh-CN" sz="2800" b="1" dirty="0">
                <a:solidFill>
                  <a:srgbClr val="E90101"/>
                </a:solidFill>
              </a:rPr>
              <a:t>&gt;</a:t>
            </a:r>
            <a:r>
              <a:rPr lang="en-US" altLang="zh-CN" sz="2800" b="1" i="1" dirty="0">
                <a:solidFill>
                  <a:srgbClr val="E90101"/>
                </a:solidFill>
              </a:rPr>
              <a:t> x</a:t>
            </a:r>
            <a:r>
              <a:rPr lang="en-US" altLang="zh-CN" sz="2800" b="1" baseline="-25000" dirty="0">
                <a:solidFill>
                  <a:srgbClr val="E90101"/>
                </a:solidFill>
              </a:rPr>
              <a:t>3</a:t>
            </a:r>
            <a:r>
              <a:rPr lang="zh-CN" altLang="en-US" sz="2800" b="1" dirty="0">
                <a:solidFill>
                  <a:srgbClr val="E90101"/>
                </a:solidFill>
              </a:rPr>
              <a:t> </a:t>
            </a:r>
            <a:r>
              <a:rPr lang="en-US" altLang="zh-CN" sz="2800" b="1" dirty="0">
                <a:solidFill>
                  <a:srgbClr val="E90101"/>
                </a:solidFill>
              </a:rPr>
              <a:t>&gt;</a:t>
            </a:r>
            <a:r>
              <a:rPr lang="en-US" altLang="zh-CN" sz="2800" b="1" i="1" dirty="0">
                <a:solidFill>
                  <a:srgbClr val="E90101"/>
                </a:solidFill>
              </a:rPr>
              <a:t> x</a:t>
            </a:r>
            <a:r>
              <a:rPr lang="en-US" altLang="zh-CN" sz="2800" b="1" baseline="-25000" dirty="0">
                <a:solidFill>
                  <a:srgbClr val="E90101"/>
                </a:solidFill>
              </a:rPr>
              <a:t>2</a:t>
            </a:r>
            <a:endParaRPr lang="en-US" altLang="zh-CN" sz="2800" b="1" dirty="0"/>
          </a:p>
          <a:p>
            <a:pPr marL="0" indent="0">
              <a:buNone/>
            </a:pPr>
            <a:r>
              <a:rPr lang="zh-CN" altLang="en-US" sz="2800" b="1" dirty="0"/>
              <a:t>因此，</a:t>
            </a:r>
            <a:r>
              <a:rPr lang="zh-CN" altLang="en-US" sz="2800" b="1" u="sng" dirty="0">
                <a:solidFill>
                  <a:srgbClr val="E123BD"/>
                </a:solidFill>
              </a:rPr>
              <a:t>供应保障能力</a:t>
            </a:r>
            <a:r>
              <a:rPr lang="zh-CN" altLang="en-US" sz="2800" b="1" dirty="0"/>
              <a:t>和</a:t>
            </a:r>
            <a:r>
              <a:rPr lang="zh-CN" altLang="en-US" sz="2800" b="1" u="sng" dirty="0">
                <a:solidFill>
                  <a:srgbClr val="E123BD"/>
                </a:solidFill>
              </a:rPr>
              <a:t>信息处理能力</a:t>
            </a:r>
            <a:r>
              <a:rPr lang="zh-CN" altLang="en-US" sz="2800" b="1" dirty="0"/>
              <a:t>成为影响装备综合保障最主要的因素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529822"/>
              </p:ext>
            </p:extLst>
          </p:nvPr>
        </p:nvGraphicFramePr>
        <p:xfrm>
          <a:off x="1912857" y="2698399"/>
          <a:ext cx="1995832" cy="1461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50680" imgH="622080" progId="Equation.3">
                  <p:embed/>
                </p:oleObj>
              </mc:Choice>
              <mc:Fallback>
                <p:oleObj name="公式" r:id="rId2" imgW="850680" imgH="6220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2857" y="2698399"/>
                        <a:ext cx="1995832" cy="14612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3"/>
          <p:cNvSpPr txBox="1">
            <a:spLocks/>
          </p:cNvSpPr>
          <p:nvPr/>
        </p:nvSpPr>
        <p:spPr>
          <a:xfrm>
            <a:off x="5087888" y="2023740"/>
            <a:ext cx="4461110" cy="2229605"/>
          </a:xfrm>
          <a:prstGeom prst="rect">
            <a:avLst/>
          </a:prstGeom>
          <a:solidFill>
            <a:srgbClr val="CCFFFF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400" b="1" kern="0" dirty="0"/>
              <a:t>每个指标的期望值为</a:t>
            </a:r>
            <a:endParaRPr lang="en-US" altLang="zh-CN" sz="2400" b="1" kern="0" dirty="0"/>
          </a:p>
          <a:p>
            <a:pPr lvl="1"/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/>
              <a:t>(</a:t>
            </a:r>
            <a:r>
              <a:rPr lang="en-US" altLang="zh-CN" sz="2400" b="1" i="1" kern="0" dirty="0"/>
              <a:t>u</a:t>
            </a:r>
            <a:r>
              <a:rPr lang="en-US" altLang="zh-CN" sz="2400" b="1" kern="0" baseline="-25000" dirty="0"/>
              <a:t>1</a:t>
            </a:r>
            <a:r>
              <a:rPr lang="en-US" altLang="zh-CN" sz="2400" b="1" kern="0" dirty="0"/>
              <a:t>) = 0.16    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/>
              <a:t>(</a:t>
            </a:r>
            <a:r>
              <a:rPr lang="en-US" altLang="zh-CN" sz="2400" b="1" i="1" kern="0" dirty="0"/>
              <a:t>u</a:t>
            </a:r>
            <a:r>
              <a:rPr lang="en-US" altLang="zh-CN" sz="2400" b="1" kern="0" baseline="-25000" dirty="0"/>
              <a:t>2</a:t>
            </a:r>
            <a:r>
              <a:rPr lang="en-US" altLang="zh-CN" sz="2400" b="1" kern="0" dirty="0"/>
              <a:t>) = 0.09</a:t>
            </a:r>
          </a:p>
          <a:p>
            <a:pPr lvl="1"/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/>
              <a:t>(</a:t>
            </a:r>
            <a:r>
              <a:rPr lang="en-US" altLang="zh-CN" sz="2400" b="1" i="1" kern="0" dirty="0"/>
              <a:t>u</a:t>
            </a:r>
            <a:r>
              <a:rPr lang="en-US" altLang="zh-CN" sz="2400" b="1" kern="0" baseline="-25000" dirty="0"/>
              <a:t>3</a:t>
            </a:r>
            <a:r>
              <a:rPr lang="en-US" altLang="zh-CN" sz="2400" b="1" kern="0" dirty="0"/>
              <a:t>) = 0.10    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/>
              <a:t>(</a:t>
            </a:r>
            <a:r>
              <a:rPr lang="en-US" altLang="zh-CN" sz="2400" b="1" i="1" kern="0" dirty="0"/>
              <a:t>u</a:t>
            </a:r>
            <a:r>
              <a:rPr lang="en-US" altLang="zh-CN" sz="2400" b="1" kern="0" baseline="-25000" dirty="0"/>
              <a:t>4</a:t>
            </a:r>
            <a:r>
              <a:rPr lang="en-US" altLang="zh-CN" sz="2400" b="1" kern="0" dirty="0"/>
              <a:t>) = 0.14</a:t>
            </a:r>
          </a:p>
          <a:p>
            <a:pPr lvl="1"/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/>
              <a:t>(</a:t>
            </a:r>
            <a:r>
              <a:rPr lang="en-US" altLang="zh-CN" sz="2400" b="1" i="1" kern="0" dirty="0"/>
              <a:t>u</a:t>
            </a:r>
            <a:r>
              <a:rPr lang="en-US" altLang="zh-CN" sz="2400" b="1" kern="0" baseline="-25000" dirty="0"/>
              <a:t>5</a:t>
            </a:r>
            <a:r>
              <a:rPr lang="en-US" altLang="zh-CN" sz="2400" b="1" kern="0" dirty="0"/>
              <a:t>) = 0.11    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/>
              <a:t>(</a:t>
            </a:r>
            <a:r>
              <a:rPr lang="en-US" altLang="zh-CN" sz="2400" b="1" i="1" kern="0" dirty="0"/>
              <a:t>u</a:t>
            </a:r>
            <a:r>
              <a:rPr lang="en-US" altLang="zh-CN" sz="2400" b="1" kern="0" baseline="-25000" dirty="0"/>
              <a:t>6</a:t>
            </a:r>
            <a:r>
              <a:rPr lang="en-US" altLang="zh-CN" sz="2400" b="1" kern="0" dirty="0"/>
              <a:t>) = 0.14</a:t>
            </a:r>
          </a:p>
          <a:p>
            <a:pPr lvl="1"/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/>
              <a:t>(</a:t>
            </a:r>
            <a:r>
              <a:rPr lang="en-US" altLang="zh-CN" sz="2400" b="1" i="1" kern="0" dirty="0"/>
              <a:t>u</a:t>
            </a:r>
            <a:r>
              <a:rPr lang="en-US" altLang="zh-CN" sz="2400" b="1" kern="0" baseline="-25000" dirty="0"/>
              <a:t>7</a:t>
            </a:r>
            <a:r>
              <a:rPr lang="en-US" altLang="zh-CN" sz="2400" b="1" kern="0" dirty="0"/>
              <a:t>) = 0.12    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/>
              <a:t>(</a:t>
            </a:r>
            <a:r>
              <a:rPr lang="en-US" altLang="zh-CN" sz="2400" b="1" i="1" kern="0" dirty="0"/>
              <a:t>u</a:t>
            </a:r>
            <a:r>
              <a:rPr lang="en-US" altLang="zh-CN" sz="2400" b="1" kern="0" baseline="-25000" dirty="0"/>
              <a:t>8</a:t>
            </a:r>
            <a:r>
              <a:rPr lang="en-US" altLang="zh-CN" sz="2400" b="1" kern="0" dirty="0"/>
              <a:t>) = 0.19</a:t>
            </a:r>
            <a:endParaRPr lang="zh-CN" altLang="en-US" sz="2400" b="1" kern="0" dirty="0"/>
          </a:p>
        </p:txBody>
      </p:sp>
      <p:sp>
        <p:nvSpPr>
          <p:cNvPr id="8" name="矩形 7"/>
          <p:cNvSpPr/>
          <p:nvPr/>
        </p:nvSpPr>
        <p:spPr>
          <a:xfrm>
            <a:off x="8517741" y="1698800"/>
            <a:ext cx="3563590" cy="2554545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/>
              <a:t>   X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信息处理能力</a:t>
            </a:r>
            <a:r>
              <a:rPr lang="en-US" altLang="zh-CN" sz="2000" b="1" dirty="0"/>
              <a:t>)</a:t>
            </a:r>
          </a:p>
          <a:p>
            <a:r>
              <a:rPr lang="en-US" altLang="zh-CN" sz="2000" b="1" dirty="0"/>
              <a:t>   X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计算机资源保障能力</a:t>
            </a:r>
            <a:r>
              <a:rPr lang="en-US" altLang="zh-CN" sz="2000" b="1" dirty="0"/>
              <a:t>)</a:t>
            </a:r>
          </a:p>
          <a:p>
            <a:r>
              <a:rPr lang="en-US" altLang="zh-CN" sz="2000" b="1" dirty="0"/>
              <a:t>   X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人员保障能力</a:t>
            </a:r>
            <a:r>
              <a:rPr lang="en-US" altLang="zh-CN" sz="2000" b="1" dirty="0"/>
              <a:t>)</a:t>
            </a:r>
          </a:p>
          <a:p>
            <a:r>
              <a:rPr lang="en-US" altLang="zh-CN" sz="2000" b="1" dirty="0"/>
              <a:t>   X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保障设备纵使保障能力</a:t>
            </a:r>
            <a:r>
              <a:rPr lang="en-US" altLang="zh-CN" sz="2000" b="1" dirty="0"/>
              <a:t>)</a:t>
            </a:r>
          </a:p>
          <a:p>
            <a:r>
              <a:rPr lang="en-US" altLang="zh-CN" sz="2000" b="1" dirty="0"/>
              <a:t>   X</a:t>
            </a:r>
            <a:r>
              <a:rPr lang="en-US" altLang="zh-CN" sz="2000" b="1" baseline="-25000" dirty="0"/>
              <a:t>5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技术资料保障能力</a:t>
            </a:r>
            <a:r>
              <a:rPr lang="en-US" altLang="zh-CN" sz="2000" b="1" dirty="0"/>
              <a:t>)</a:t>
            </a:r>
          </a:p>
          <a:p>
            <a:r>
              <a:rPr lang="en-US" altLang="zh-CN" sz="2000" b="1" dirty="0"/>
              <a:t>   X</a:t>
            </a:r>
            <a:r>
              <a:rPr lang="en-US" altLang="zh-CN" sz="2000" b="1" baseline="-25000" dirty="0"/>
              <a:t>6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管理机制</a:t>
            </a:r>
            <a:r>
              <a:rPr lang="en-US" altLang="zh-CN" sz="2000" b="1" dirty="0"/>
              <a:t>)</a:t>
            </a:r>
          </a:p>
          <a:p>
            <a:r>
              <a:rPr lang="en-US" altLang="zh-CN" sz="2000" b="1" dirty="0"/>
              <a:t>   X</a:t>
            </a:r>
            <a:r>
              <a:rPr lang="en-US" altLang="zh-CN" sz="2000" b="1" baseline="-25000" dirty="0"/>
              <a:t>7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技术培训能力</a:t>
            </a:r>
            <a:r>
              <a:rPr lang="en-US" altLang="zh-CN" sz="2000" b="1" dirty="0"/>
              <a:t>)</a:t>
            </a:r>
          </a:p>
          <a:p>
            <a:r>
              <a:rPr lang="en-US" altLang="zh-CN" sz="2000" b="1" dirty="0"/>
              <a:t>   X</a:t>
            </a:r>
            <a:r>
              <a:rPr lang="en-US" altLang="zh-CN" sz="2000" b="1" baseline="-25000" dirty="0"/>
              <a:t>8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供应保障能力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EC304A-E0FF-9000-7500-0EDB8E8C8C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93ED7-0B89-433B-9D6E-F20877EEE05E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323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66"/>
        </a:solidFill>
        <a:ln>
          <a:solidFill>
            <a:srgbClr val="E90101"/>
          </a:solidFill>
        </a:ln>
      </a:spPr>
      <a:bodyPr rtlCol="0" anchor="ctr"/>
      <a:lstStyle>
        <a:defPPr algn="ctr">
          <a:defRPr sz="2800" b="1" dirty="0">
            <a:solidFill>
              <a:srgbClr val="E9010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仿宋" panose="02010609060101010101" pitchFamily="49" charset="-122"/>
            <a:ea typeface="仿宋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31205</TotalTime>
  <Words>4076</Words>
  <Application>Microsoft Office PowerPoint</Application>
  <PresentationFormat>宽屏</PresentationFormat>
  <Paragraphs>573</Paragraphs>
  <Slides>46</Slides>
  <Notes>7</Notes>
  <HiddenSlides>1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63" baseType="lpstr">
      <vt:lpstr>仿宋</vt:lpstr>
      <vt:lpstr>黑体</vt:lpstr>
      <vt:lpstr>楷体_GB2312</vt:lpstr>
      <vt:lpstr>隶书</vt:lpstr>
      <vt:lpstr>宋体</vt:lpstr>
      <vt:lpstr>Arial</vt:lpstr>
      <vt:lpstr>Arial Black</vt:lpstr>
      <vt:lpstr>Cambria Math</vt:lpstr>
      <vt:lpstr>Comic Sans MS</vt:lpstr>
      <vt:lpstr>Latha</vt:lpstr>
      <vt:lpstr>Monotype Corsiva</vt:lpstr>
      <vt:lpstr>Symbol</vt:lpstr>
      <vt:lpstr>Times New Roman</vt:lpstr>
      <vt:lpstr>Wingdings</vt:lpstr>
      <vt:lpstr>Pixel</vt:lpstr>
      <vt:lpstr>公式</vt:lpstr>
      <vt:lpstr>Equation</vt:lpstr>
      <vt:lpstr>第 5 章 扩张原理与模糊数</vt:lpstr>
      <vt:lpstr>5.4   F 数</vt:lpstr>
      <vt:lpstr>证明A是严格F数[P129例1]</vt:lpstr>
      <vt:lpstr>有界F数的充要条件</vt:lpstr>
      <vt:lpstr>F数在实数域R上的运算</vt:lpstr>
      <vt:lpstr>F数在实数域R上的运算</vt:lpstr>
      <vt:lpstr>F数运算举例[P130例2]</vt:lpstr>
      <vt:lpstr>当论域为无限时，F数的运算</vt:lpstr>
      <vt:lpstr>F数运算举例[P130例3]</vt:lpstr>
      <vt:lpstr>F数运算举例[P130例3]续</vt:lpstr>
      <vt:lpstr>F数运算举例[P130例3]</vt:lpstr>
      <vt:lpstr>F数运算举例[P130例3]续</vt:lpstr>
      <vt:lpstr>F数运算举例[P130例3]</vt:lpstr>
      <vt:lpstr>F数运算举例[P130例3]续</vt:lpstr>
      <vt:lpstr>F数运算举例[P130例3]</vt:lpstr>
      <vt:lpstr>F数运算举例[P130例3]续</vt:lpstr>
      <vt:lpstr>F数运算举例</vt:lpstr>
      <vt:lpstr>F数运算举例</vt:lpstr>
      <vt:lpstr>F数运算举例</vt:lpstr>
      <vt:lpstr>讨论——F数运算的不封闭性问题</vt:lpstr>
      <vt:lpstr>讨论——F数运算的不封闭性问题</vt:lpstr>
      <vt:lpstr>F数离散化处理后计算结果 及与未离散时标准值的比较</vt:lpstr>
      <vt:lpstr>F数离散化处理后计算结果及与未离散时 标准值的比较</vt:lpstr>
      <vt:lpstr>讨论——F数运算的不封闭性问题</vt:lpstr>
      <vt:lpstr>5.5 区间数</vt:lpstr>
      <vt:lpstr>区间运算</vt:lpstr>
      <vt:lpstr>区间数运算</vt:lpstr>
      <vt:lpstr>区间数运算举例</vt:lpstr>
      <vt:lpstr>区间数截集运算的性质</vt:lpstr>
      <vt:lpstr>区间数截集运算举例[P134例3]</vt:lpstr>
      <vt:lpstr>5.6 三角F数</vt:lpstr>
      <vt:lpstr>三角F数的运算规则</vt:lpstr>
      <vt:lpstr>三角F数运算举例</vt:lpstr>
      <vt:lpstr>三角F数互补判断矩阵</vt:lpstr>
      <vt:lpstr> 基于三角F数的综合评价指标权重排序步骤</vt:lpstr>
      <vt:lpstr> 基于三角模糊数的综合评价指标权重排序步骤</vt:lpstr>
      <vt:lpstr> 基于三角F数的综合评价指标权重排序步骤</vt:lpstr>
      <vt:lpstr> 基于三角F数的综合评价指标权重排序步骤</vt:lpstr>
      <vt:lpstr> 基于三角F数的装备综合保障评价指标权重排序实例</vt:lpstr>
      <vt:lpstr> 基于三角F数的装备综合保障评价指标权重排序实例</vt:lpstr>
      <vt:lpstr> 基于三角F数的装备综合保障评价指标权重排序实例</vt:lpstr>
      <vt:lpstr> 基于三角F数的装备综合保障评价指标权重排序实例</vt:lpstr>
      <vt:lpstr> 基于三角F数的装备综合保障评价指标权重排序实例</vt:lpstr>
      <vt:lpstr> 基于三角F数的装备综合保障评价指标权重排序实例</vt:lpstr>
      <vt:lpstr> 基于三角F数的装备综合保障评价指标权重排序实例</vt:lpstr>
      <vt:lpstr> 基于三角F数的装备综合保障评价指标权重排序实例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5 章 扩张原理与模糊数</dc:title>
  <dc:creator>凌卫新</dc:creator>
  <cp:lastModifiedBy>wxling66@outlook.com</cp:lastModifiedBy>
  <cp:revision>283</cp:revision>
  <cp:lastPrinted>2013-05-06T17:56:38Z</cp:lastPrinted>
  <dcterms:created xsi:type="dcterms:W3CDTF">2007-05-29T00:51:46Z</dcterms:created>
  <dcterms:modified xsi:type="dcterms:W3CDTF">2026-05-19T12:07:15Z</dcterms:modified>
</cp:coreProperties>
</file>