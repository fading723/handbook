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8" r:id="rId3"/>
    <p:sldId id="259" r:id="rId4"/>
    <p:sldId id="260" r:id="rId5"/>
    <p:sldId id="261" r:id="rId6"/>
    <p:sldId id="302" r:id="rId7"/>
    <p:sldId id="262" r:id="rId8"/>
    <p:sldId id="263" r:id="rId9"/>
    <p:sldId id="264" r:id="rId10"/>
    <p:sldId id="265" r:id="rId11"/>
    <p:sldId id="266" r:id="rId12"/>
    <p:sldId id="267" r:id="rId13"/>
    <p:sldId id="307" r:id="rId14"/>
    <p:sldId id="269" r:id="rId15"/>
    <p:sldId id="322" r:id="rId16"/>
    <p:sldId id="324" r:id="rId17"/>
    <p:sldId id="270" r:id="rId18"/>
    <p:sldId id="271" r:id="rId19"/>
    <p:sldId id="272" r:id="rId20"/>
    <p:sldId id="273" r:id="rId21"/>
    <p:sldId id="308" r:id="rId22"/>
    <p:sldId id="274" r:id="rId23"/>
    <p:sldId id="304" r:id="rId24"/>
    <p:sldId id="305" r:id="rId25"/>
    <p:sldId id="306" r:id="rId26"/>
    <p:sldId id="275" r:id="rId27"/>
    <p:sldId id="276" r:id="rId28"/>
    <p:sldId id="277" r:id="rId29"/>
    <p:sldId id="278" r:id="rId30"/>
    <p:sldId id="280" r:id="rId31"/>
    <p:sldId id="279" r:id="rId32"/>
    <p:sldId id="281" r:id="rId33"/>
    <p:sldId id="282" r:id="rId34"/>
    <p:sldId id="321" r:id="rId3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FF"/>
    <a:srgbClr val="3333FF"/>
    <a:srgbClr val="CCFFFF"/>
    <a:srgbClr val="CCFFCC"/>
    <a:srgbClr val="FFCCFF"/>
    <a:srgbClr val="FA7E19"/>
    <a:srgbClr val="368A44"/>
    <a:srgbClr val="2D70B3"/>
    <a:srgbClr val="C74440"/>
    <a:srgbClr val="5D3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4" y="2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FA36BEA-343F-4D85-829B-D9CEBD578E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07334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B778ABAC-3CDC-4DB0-A3B1-6D85724668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2381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78ABAC-3CDC-4DB0-A3B1-6D8572466841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9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5078BCC-69A3-41F1-8366-8AFECB6DFB49}" type="slidenum">
              <a:rPr lang="en-US" altLang="zh-CN" smtClean="0"/>
              <a:pPr eaLnBrk="1" hangingPunct="1"/>
              <a:t>26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抄</a:t>
            </a:r>
            <a:r>
              <a:rPr lang="en-US" altLang="zh-CN">
                <a:ea typeface="宋体" charset="-122"/>
              </a:rPr>
              <a:t>[</a:t>
            </a:r>
            <a:r>
              <a:rPr lang="zh-CN" altLang="en-US">
                <a:ea typeface="宋体" charset="-122"/>
              </a:rPr>
              <a:t>大</a:t>
            </a:r>
            <a:r>
              <a:rPr lang="en-US" altLang="zh-CN">
                <a:ea typeface="宋体" charset="-122"/>
              </a:rPr>
              <a:t>]=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[</a:t>
            </a:r>
            <a:r>
              <a:rPr lang="zh-CN" altLang="en-US">
                <a:ea typeface="宋体" charset="-122"/>
              </a:rPr>
              <a:t>小</a:t>
            </a:r>
            <a:r>
              <a:rPr lang="en-US" altLang="zh-CN">
                <a:ea typeface="宋体" charset="-122"/>
              </a:rPr>
              <a:t>]=</a:t>
            </a:r>
          </a:p>
        </p:txBody>
      </p:sp>
    </p:spTree>
    <p:extLst>
      <p:ext uri="{BB962C8B-B14F-4D97-AF65-F5344CB8AC3E}">
        <p14:creationId xmlns:p14="http://schemas.microsoft.com/office/powerpoint/2010/main" val="427168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064552" y="6248400"/>
            <a:ext cx="51784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40400-1751-4C94-A91D-AAB64FA72E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56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64275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F5CF5-5E73-4A26-8513-57627EB2B7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735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9FC27-ABA1-404C-BD6D-3501C6ED2A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257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3121C-693F-4015-A4E8-8F23C80E5F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41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9F9B4-50CF-45E1-94FC-A7991B01A6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249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6791" y="6294216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DB9E5-68FA-41D3-8308-57A599AF7D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562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64275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14414-8EDF-4A19-B77D-796EDE5951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458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7D02C-E43B-4D59-A602-1941ED74F9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591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E097D-8754-44A6-80DC-6968D72A2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94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3E1BF-EEE1-4128-9BFB-00F9A1AF60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14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D8F52-DEBB-462D-AFE5-ABB11356F3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676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6377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211F6-B6CE-4113-A7BA-7EFEA5B4F1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387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B90FF-E996-450C-B991-6D11A1A63F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4699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28FB7-C332-46F6-8EE4-66A27D335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6119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AEEE9-2F32-4C9B-A750-08526CEEBF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79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79A38DB-1A72-4076-B0EC-B3D6ACFA35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7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9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45.wmf"/><Relationship Id="rId3" Type="http://schemas.openxmlformats.org/officeDocument/2006/relationships/image" Target="../media/image4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8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4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>
                <a:solidFill>
                  <a:srgbClr val="E8E81C"/>
                </a:solidFill>
                <a:ea typeface="隶书" pitchFamily="49" charset="-122"/>
              </a:rPr>
              <a:t> </a:t>
            </a:r>
            <a:r>
              <a:rPr lang="en-US" altLang="zh-CN" sz="6600" b="1">
                <a:solidFill>
                  <a:srgbClr val="E8E81C"/>
                </a:solidFill>
                <a:ea typeface="隶书" pitchFamily="49" charset="-122"/>
              </a:rPr>
              <a:t>7 </a:t>
            </a: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b="1">
                <a:solidFill>
                  <a:srgbClr val="E8E81C"/>
                </a:solidFill>
                <a:latin typeface="隶书" pitchFamily="49" charset="-122"/>
                <a:ea typeface="隶书" pitchFamily="49" charset="-122"/>
              </a:rPr>
              <a:t>模糊语言与模糊推理</a:t>
            </a:r>
          </a:p>
        </p:txBody>
      </p:sp>
      <p:sp>
        <p:nvSpPr>
          <p:cNvPr id="2" name="矩形 1"/>
          <p:cNvSpPr/>
          <p:nvPr/>
        </p:nvSpPr>
        <p:spPr>
          <a:xfrm>
            <a:off x="3836268" y="4221088"/>
            <a:ext cx="4572000" cy="11293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dirty="0">
                <a:solidFill>
                  <a:srgbClr val="FF0000"/>
                </a:solidFill>
                <a:ea typeface="黑体" pitchFamily="49" charset="-122"/>
              </a:rPr>
              <a:t>7.1  F</a:t>
            </a:r>
            <a:r>
              <a:rPr lang="zh-CN" altLang="en-US" sz="3200" dirty="0">
                <a:solidFill>
                  <a:srgbClr val="FF0000"/>
                </a:solidFill>
                <a:ea typeface="黑体" pitchFamily="49" charset="-122"/>
              </a:rPr>
              <a:t>语言的定义</a:t>
            </a:r>
          </a:p>
          <a:p>
            <a:pPr>
              <a:lnSpc>
                <a:spcPct val="110000"/>
              </a:lnSpc>
            </a:pPr>
            <a:r>
              <a:rPr lang="en-US" altLang="zh-CN" sz="3200" dirty="0">
                <a:solidFill>
                  <a:srgbClr val="FF0000"/>
                </a:solidFill>
                <a:ea typeface="黑体" pitchFamily="49" charset="-122"/>
              </a:rPr>
              <a:t>7.2  F</a:t>
            </a:r>
            <a:r>
              <a:rPr lang="zh-CN" altLang="en-US" sz="3200" dirty="0">
                <a:solidFill>
                  <a:srgbClr val="FF0000"/>
                </a:solidFill>
                <a:ea typeface="黑体" pitchFamily="49" charset="-122"/>
              </a:rPr>
              <a:t>词与</a:t>
            </a:r>
            <a:r>
              <a:rPr lang="en-US" altLang="zh-CN" sz="3200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sz="3200" dirty="0">
                <a:solidFill>
                  <a:srgbClr val="FF0000"/>
                </a:solidFill>
                <a:ea typeface="黑体" pitchFamily="49" charset="-122"/>
              </a:rPr>
              <a:t>算子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B8CEF1-B73B-8494-0113-2A0EA516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740400-1751-4C94-A91D-AAB64FA72E82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latin typeface="黑体" pitchFamily="49" charset="-122"/>
                <a:ea typeface="黑体" pitchFamily="49" charset="-122"/>
              </a:rPr>
              <a:t>模糊语言与模糊推理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981200"/>
            <a:ext cx="10742984" cy="4616450"/>
          </a:xfrm>
        </p:spPr>
        <p:txBody>
          <a:bodyPr/>
          <a:lstStyle/>
          <a:p>
            <a:pPr eaLnBrk="1" hangingPunct="1"/>
            <a:r>
              <a:rPr lang="zh-CN" altLang="en-US" dirty="0"/>
              <a:t>随着科学技术的发展</a:t>
            </a:r>
            <a:r>
              <a:rPr lang="en-US" altLang="zh-CN" dirty="0"/>
              <a:t>,</a:t>
            </a:r>
            <a:r>
              <a:rPr lang="zh-CN" altLang="en-US" dirty="0"/>
              <a:t>人们希望机器能模拟人脑的思维，从而提高计算机的智能，所以关于</a:t>
            </a:r>
            <a:r>
              <a:rPr lang="en-US" altLang="zh-CN" dirty="0"/>
              <a:t>F</a:t>
            </a:r>
            <a:r>
              <a:rPr lang="zh-CN" altLang="en-US" dirty="0"/>
              <a:t>语言和</a:t>
            </a:r>
            <a:r>
              <a:rPr lang="en-US" altLang="zh-CN" dirty="0"/>
              <a:t>F</a:t>
            </a:r>
            <a:r>
              <a:rPr lang="zh-CN" altLang="en-US" dirty="0"/>
              <a:t>推理的研究是一个重要的课题。</a:t>
            </a:r>
          </a:p>
          <a:p>
            <a:pPr eaLnBrk="1" hangingPunct="1"/>
            <a:r>
              <a:rPr lang="en-US" altLang="zh-CN" dirty="0"/>
              <a:t>F</a:t>
            </a:r>
            <a:r>
              <a:rPr lang="zh-CN" altLang="en-US" dirty="0"/>
              <a:t>语言</a:t>
            </a:r>
            <a:r>
              <a:rPr lang="en-US" altLang="zh-CN" dirty="0"/>
              <a:t>——</a:t>
            </a:r>
            <a:r>
              <a:rPr lang="zh-CN" altLang="en-US" dirty="0"/>
              <a:t>自然语言</a:t>
            </a:r>
          </a:p>
          <a:p>
            <a:pPr eaLnBrk="1" hangingPunct="1"/>
            <a:r>
              <a:rPr lang="zh-CN" altLang="en-US" dirty="0"/>
              <a:t>本章用数学语言来表现自然语言，将自然语言形式化，使它转化为计算机能接受的算法语言。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7B774EE-DD6C-6A32-2AC7-A3940547F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7.1 F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语言的定义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484314"/>
            <a:ext cx="10441159" cy="53736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普通的形式语言</a:t>
            </a:r>
            <a:r>
              <a:rPr lang="en-US" altLang="zh-CN" dirty="0">
                <a:solidFill>
                  <a:srgbClr val="CC00CC"/>
                </a:solidFill>
                <a:ea typeface="黑体" pitchFamily="49" charset="-122"/>
              </a:rPr>
              <a:t>——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有限字母组成的序列的集合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不能表达自然语言。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自然语言的重要特点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具有模糊性</a:t>
            </a:r>
          </a:p>
          <a:p>
            <a:pPr eaLnBrk="1" hangingPunct="1"/>
            <a:r>
              <a:rPr lang="en-US" altLang="zh-CN" sz="2800" dirty="0">
                <a:solidFill>
                  <a:srgbClr val="228A2E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228A2E"/>
                </a:solidFill>
                <a:ea typeface="黑体" pitchFamily="49" charset="-122"/>
              </a:rPr>
              <a:t>定义</a:t>
            </a:r>
            <a:r>
              <a:rPr lang="en-US" altLang="zh-CN" sz="2800" dirty="0">
                <a:solidFill>
                  <a:srgbClr val="228A2E"/>
                </a:solidFill>
                <a:ea typeface="黑体" pitchFamily="49" charset="-122"/>
              </a:rPr>
              <a:t>]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语言</a:t>
            </a:r>
            <a:r>
              <a:rPr lang="en-US" altLang="zh-CN" sz="2800" dirty="0">
                <a:ea typeface="黑体" pitchFamily="49" charset="-122"/>
              </a:rPr>
              <a:t>L</a:t>
            </a:r>
            <a:r>
              <a:rPr lang="zh-CN" altLang="en-US" sz="2800" dirty="0">
                <a:ea typeface="黑体" pitchFamily="49" charset="-122"/>
              </a:rPr>
              <a:t>是用四元组表示的系统。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            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L=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E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U——</a:t>
            </a:r>
            <a:r>
              <a:rPr lang="zh-CN" altLang="en-US" dirty="0">
                <a:ea typeface="黑体" pitchFamily="49" charset="-122"/>
              </a:rPr>
              <a:t>论域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T——</a:t>
            </a:r>
            <a:r>
              <a:rPr lang="zh-CN" altLang="en-US" dirty="0">
                <a:ea typeface="黑体" pitchFamily="49" charset="-122"/>
              </a:rPr>
              <a:t>术语集合（表现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中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子集名称的词或术语的集合）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E——</a:t>
            </a:r>
            <a:r>
              <a:rPr lang="zh-CN" altLang="en-US" dirty="0">
                <a:ea typeface="黑体" pitchFamily="49" charset="-122"/>
              </a:rPr>
              <a:t>术语的字母和符号及它们的各种联结构成的集合。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N——</a:t>
            </a:r>
            <a:r>
              <a:rPr lang="zh-CN" altLang="en-US" dirty="0">
                <a:ea typeface="黑体" pitchFamily="49" charset="-122"/>
              </a:rPr>
              <a:t>命名关系（从</a:t>
            </a:r>
            <a:r>
              <a:rPr lang="en-US" altLang="zh-CN" dirty="0">
                <a:ea typeface="黑体" pitchFamily="49" charset="-122"/>
              </a:rPr>
              <a:t>E</a:t>
            </a:r>
            <a:r>
              <a:rPr lang="zh-CN" altLang="en-US" dirty="0">
                <a:ea typeface="黑体" pitchFamily="49" charset="-122"/>
              </a:rPr>
              <a:t>到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关系）</a:t>
            </a:r>
          </a:p>
          <a:p>
            <a:pPr lvl="1" eaLnBrk="1" hangingPunct="1"/>
            <a:endParaRPr lang="en-US" altLang="zh-CN" sz="2400" dirty="0"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79A407-9E30-C625-EF58-7B6C0084BE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228A2E"/>
                </a:solidFill>
              </a:rPr>
              <a:t> F</a:t>
            </a:r>
            <a:r>
              <a:rPr lang="zh-CN" altLang="en-US" sz="4000">
                <a:solidFill>
                  <a:srgbClr val="228A2E"/>
                </a:solidFill>
                <a:ea typeface="黑体" pitchFamily="49" charset="-122"/>
              </a:rPr>
              <a:t>语言四元组：</a:t>
            </a:r>
            <a:r>
              <a:rPr lang="en-US" altLang="zh-CN" sz="4000">
                <a:solidFill>
                  <a:srgbClr val="228A2E"/>
                </a:solidFill>
              </a:rPr>
              <a:t>L=</a:t>
            </a:r>
            <a:r>
              <a:rPr lang="zh-CN" altLang="en-US" sz="4000">
                <a:solidFill>
                  <a:srgbClr val="228A2E"/>
                </a:solidFill>
              </a:rPr>
              <a:t>（</a:t>
            </a:r>
            <a:r>
              <a:rPr lang="en-US" altLang="zh-CN" sz="4000">
                <a:solidFill>
                  <a:srgbClr val="228A2E"/>
                </a:solidFill>
              </a:rPr>
              <a:t>U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T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E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N</a:t>
            </a:r>
            <a:r>
              <a:rPr lang="zh-CN" altLang="en-US" sz="4000">
                <a:solidFill>
                  <a:srgbClr val="228A2E"/>
                </a:solidFill>
              </a:rPr>
              <a:t>）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3" y="1484314"/>
            <a:ext cx="9289282" cy="5373687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术语集合）</a:t>
            </a:r>
            <a:r>
              <a:rPr lang="en-US" altLang="zh-CN" b="1" dirty="0">
                <a:solidFill>
                  <a:schemeClr val="bg2"/>
                </a:solidFill>
                <a:ea typeface="楷体_GB2312" pitchFamily="49" charset="-122"/>
              </a:rPr>
              <a:t>—</a:t>
            </a:r>
            <a:r>
              <a:rPr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表现</a:t>
            </a:r>
            <a:r>
              <a:rPr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U</a:t>
            </a:r>
            <a:r>
              <a:rPr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中</a:t>
            </a:r>
            <a:r>
              <a:rPr lang="en-US" altLang="zh-CN" sz="2800" b="1" dirty="0">
                <a:solidFill>
                  <a:schemeClr val="bg2"/>
                </a:solidFill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chemeClr val="bg2"/>
                </a:solidFill>
                <a:ea typeface="楷体_GB2312" pitchFamily="49" charset="-122"/>
              </a:rPr>
              <a:t>子集名称的词或术语的集合</a:t>
            </a: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U=[1, 100]</a:t>
            </a:r>
            <a:r>
              <a:rPr lang="zh-CN" altLang="en-US" sz="2800" dirty="0">
                <a:ea typeface="黑体" pitchFamily="49" charset="-122"/>
              </a:rPr>
              <a:t>年龄论域，则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T={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儿童，少年，年轻，青年，中年，老年，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.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..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</a:t>
            </a:r>
            <a:r>
              <a:rPr lang="zh-CN" altLang="en-US" sz="2800" dirty="0">
                <a:ea typeface="黑体" pitchFamily="49" charset="-122"/>
              </a:rPr>
              <a:t>并用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sz="2800" dirty="0">
                <a:ea typeface="黑体" pitchFamily="49" charset="-122"/>
              </a:rPr>
              <a:t> </a:t>
            </a:r>
            <a:r>
              <a:rPr lang="zh-CN" altLang="en-US" sz="2800" dirty="0">
                <a:ea typeface="黑体" pitchFamily="49" charset="-122"/>
              </a:rPr>
              <a:t>表示术语“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年轻</a:t>
            </a:r>
            <a:r>
              <a:rPr lang="zh-CN" altLang="en-US" sz="2800" dirty="0">
                <a:ea typeface="黑体" pitchFamily="49" charset="-122"/>
              </a:rPr>
              <a:t>”，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 则“年轻”是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上的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子集</a:t>
            </a:r>
            <a:r>
              <a:rPr lang="zh-CN" altLang="en-US" sz="2800" dirty="0">
                <a:ea typeface="黑体" pitchFamily="49" charset="-122"/>
              </a:rPr>
              <a:t>，用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表示。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当</a:t>
            </a:r>
            <a:r>
              <a:rPr lang="en-US" altLang="zh-CN" sz="2800" dirty="0">
                <a:ea typeface="黑体" pitchFamily="49" charset="-122"/>
              </a:rPr>
              <a:t>u=30</a:t>
            </a:r>
            <a:r>
              <a:rPr lang="zh-CN" altLang="en-US" sz="2800" dirty="0">
                <a:ea typeface="黑体" pitchFamily="49" charset="-122"/>
              </a:rPr>
              <a:t>时，</a:t>
            </a:r>
            <a:r>
              <a:rPr lang="en-US" altLang="zh-CN" sz="2800" dirty="0">
                <a:ea typeface="黑体" pitchFamily="49" charset="-122"/>
              </a:rPr>
              <a:t>A(u)=0.5</a:t>
            </a:r>
          </a:p>
        </p:txBody>
      </p:sp>
      <p:graphicFrame>
        <p:nvGraphicFramePr>
          <p:cNvPr id="922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29303108"/>
              </p:ext>
            </p:extLst>
          </p:nvPr>
        </p:nvGraphicFramePr>
        <p:xfrm>
          <a:off x="1981200" y="4191048"/>
          <a:ext cx="5761037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0800" imgH="736600" progId="Equation.3">
                  <p:embed/>
                </p:oleObj>
              </mc:Choice>
              <mc:Fallback>
                <p:oleObj name="公式" r:id="rId2" imgW="2590800" imgH="736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191048"/>
                        <a:ext cx="5761037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 descr="形状&#10;&#10;描述已自动生成">
            <a:extLst>
              <a:ext uri="{FF2B5EF4-FFF2-40B4-BE49-F238E27FC236}">
                <a16:creationId xmlns:a16="http://schemas.microsoft.com/office/drawing/2014/main" id="{EFD8404B-C4A8-F961-05DC-B6AE0892D8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50" b="13250"/>
          <a:stretch/>
        </p:blipFill>
        <p:spPr>
          <a:xfrm>
            <a:off x="8740004" y="4226397"/>
            <a:ext cx="3140968" cy="2308579"/>
          </a:xfrm>
          <a:prstGeom prst="rect">
            <a:avLst/>
          </a:prstGeom>
          <a:effectLst>
            <a:glow rad="127000">
              <a:srgbClr val="7030A0"/>
            </a:glow>
          </a:effectLst>
        </p:spPr>
      </p:pic>
      <p:pic>
        <p:nvPicPr>
          <p:cNvPr id="5" name="图片 4" descr="形状&#10;&#10;描述已自动生成">
            <a:extLst>
              <a:ext uri="{FF2B5EF4-FFF2-40B4-BE49-F238E27FC236}">
                <a16:creationId xmlns:a16="http://schemas.microsoft.com/office/drawing/2014/main" id="{A262720A-92D3-4AB7-E5D3-83DA8174F7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82" b="13177"/>
          <a:stretch/>
        </p:blipFill>
        <p:spPr>
          <a:xfrm>
            <a:off x="8740004" y="4226397"/>
            <a:ext cx="3140968" cy="2308579"/>
          </a:xfrm>
          <a:prstGeom prst="rect">
            <a:avLst/>
          </a:prstGeom>
          <a:effectLst>
            <a:glow rad="127000">
              <a:srgbClr val="7030A0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1C0E260-CD77-D328-EFC9-289EA22E27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387475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228A2E"/>
                </a:solidFill>
              </a:rPr>
              <a:t> F</a:t>
            </a:r>
            <a:r>
              <a:rPr lang="zh-CN" altLang="en-US" sz="4000">
                <a:solidFill>
                  <a:srgbClr val="228A2E"/>
                </a:solidFill>
                <a:ea typeface="黑体" pitchFamily="49" charset="-122"/>
              </a:rPr>
              <a:t>语言四元组：</a:t>
            </a:r>
            <a:r>
              <a:rPr lang="en-US" altLang="zh-CN" sz="4000">
                <a:solidFill>
                  <a:srgbClr val="228A2E"/>
                </a:solidFill>
              </a:rPr>
              <a:t>L=</a:t>
            </a:r>
            <a:r>
              <a:rPr lang="zh-CN" altLang="en-US" sz="4000">
                <a:solidFill>
                  <a:srgbClr val="228A2E"/>
                </a:solidFill>
              </a:rPr>
              <a:t>（</a:t>
            </a:r>
            <a:r>
              <a:rPr lang="en-US" altLang="zh-CN" sz="4000">
                <a:solidFill>
                  <a:srgbClr val="228A2E"/>
                </a:solidFill>
              </a:rPr>
              <a:t>U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T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E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N</a:t>
            </a:r>
            <a:r>
              <a:rPr lang="zh-CN" altLang="en-US" sz="4000">
                <a:solidFill>
                  <a:srgbClr val="228A2E"/>
                </a:solidFill>
              </a:rPr>
              <a:t>）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916113"/>
            <a:ext cx="10081119" cy="42481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E——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是由表示术语的字母和符号及它们的各种</a:t>
            </a:r>
            <a:r>
              <a:rPr lang="zh-CN" altLang="en-US" b="1" u="sng" dirty="0">
                <a:solidFill>
                  <a:srgbClr val="3333FF"/>
                </a:solidFill>
                <a:ea typeface="楷体_GB2312" pitchFamily="49" charset="-122"/>
              </a:rPr>
              <a:t>联结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构成的集合。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ea typeface="黑体" pitchFamily="49" charset="-122"/>
              </a:rPr>
              <a:t>联结方式不同，就得到</a:t>
            </a:r>
            <a:r>
              <a:rPr lang="en-US" altLang="zh-CN" dirty="0">
                <a:ea typeface="黑体" pitchFamily="49" charset="-122"/>
              </a:rPr>
              <a:t>E</a:t>
            </a:r>
            <a:r>
              <a:rPr lang="zh-CN" altLang="en-US" dirty="0">
                <a:ea typeface="黑体" pitchFamily="49" charset="-122"/>
              </a:rPr>
              <a:t>中不同的元素，它们属于</a:t>
            </a:r>
            <a:r>
              <a:rPr lang="en-US" altLang="zh-CN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的程度也不同。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术语集合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是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E</a:t>
            </a:r>
            <a:r>
              <a:rPr lang="zh-CN" altLang="en-US" dirty="0">
                <a:ea typeface="黑体" pitchFamily="49" charset="-122"/>
              </a:rPr>
              <a:t>上的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集。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   </a:t>
            </a:r>
            <a:r>
              <a:rPr lang="en-US" altLang="zh-CN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：</a:t>
            </a:r>
            <a:r>
              <a:rPr lang="en-US" altLang="zh-CN" dirty="0">
                <a:ea typeface="黑体" pitchFamily="49" charset="-122"/>
              </a:rPr>
              <a:t>E</a:t>
            </a:r>
            <a:r>
              <a:rPr lang="en-US" altLang="zh-CN" sz="3600" dirty="0">
                <a:ea typeface="黑体" pitchFamily="49" charset="-122"/>
              </a:rPr>
              <a:t>→[0, 1]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2303578-BEBF-F2CC-D35D-725AC6464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228A2E"/>
                </a:solidFill>
              </a:rPr>
              <a:t> F</a:t>
            </a:r>
            <a:r>
              <a:rPr lang="zh-CN" altLang="en-US" sz="4000">
                <a:solidFill>
                  <a:srgbClr val="228A2E"/>
                </a:solidFill>
                <a:ea typeface="黑体" pitchFamily="49" charset="-122"/>
              </a:rPr>
              <a:t>语言四元组：</a:t>
            </a:r>
            <a:r>
              <a:rPr lang="en-US" altLang="zh-CN" sz="4000">
                <a:solidFill>
                  <a:srgbClr val="228A2E"/>
                </a:solidFill>
              </a:rPr>
              <a:t>L=</a:t>
            </a:r>
            <a:r>
              <a:rPr lang="zh-CN" altLang="en-US" sz="4000">
                <a:solidFill>
                  <a:srgbClr val="228A2E"/>
                </a:solidFill>
              </a:rPr>
              <a:t>（</a:t>
            </a:r>
            <a:r>
              <a:rPr lang="en-US" altLang="zh-CN" sz="4000">
                <a:solidFill>
                  <a:srgbClr val="228A2E"/>
                </a:solidFill>
              </a:rPr>
              <a:t>U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T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E</a:t>
            </a:r>
            <a:r>
              <a:rPr lang="zh-CN" altLang="en-US" sz="4000">
                <a:solidFill>
                  <a:srgbClr val="228A2E"/>
                </a:solidFill>
              </a:rPr>
              <a:t>，</a:t>
            </a:r>
            <a:r>
              <a:rPr lang="en-US" altLang="zh-CN" sz="4000">
                <a:solidFill>
                  <a:srgbClr val="228A2E"/>
                </a:solidFill>
              </a:rPr>
              <a:t>N</a:t>
            </a:r>
            <a:r>
              <a:rPr lang="zh-CN" altLang="en-US" sz="4000">
                <a:solidFill>
                  <a:srgbClr val="228A2E"/>
                </a:solidFill>
              </a:rPr>
              <a:t>）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412875"/>
            <a:ext cx="10585176" cy="5329238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E</a:t>
            </a:r>
            <a:r>
              <a:rPr lang="zh-CN" altLang="en-US" sz="2800" dirty="0">
                <a:ea typeface="黑体" pitchFamily="49" charset="-122"/>
              </a:rPr>
              <a:t>是</a:t>
            </a:r>
            <a:r>
              <a:rPr lang="en-US" altLang="zh-CN" sz="2800" dirty="0">
                <a:ea typeface="黑体" pitchFamily="49" charset="-122"/>
              </a:rPr>
              <a:t>A={a, b, +}</a:t>
            </a:r>
            <a:r>
              <a:rPr lang="zh-CN" altLang="en-US" sz="2800" dirty="0">
                <a:ea typeface="黑体" pitchFamily="49" charset="-122"/>
              </a:rPr>
              <a:t>上有限序列的全体，则</a:t>
            </a:r>
            <a:r>
              <a:rPr lang="en-US" altLang="zh-CN" sz="2800" dirty="0">
                <a:ea typeface="黑体" pitchFamily="49" charset="-122"/>
              </a:rPr>
              <a:t>T</a:t>
            </a:r>
            <a:r>
              <a:rPr lang="zh-CN" altLang="en-US" sz="2800" dirty="0">
                <a:ea typeface="黑体" pitchFamily="49" charset="-122"/>
              </a:rPr>
              <a:t>中一些序列的隶属函数为：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ea typeface="黑体" pitchFamily="49" charset="-122"/>
              </a:rPr>
              <a:t>T(</a:t>
            </a:r>
            <a:r>
              <a:rPr lang="en-US" altLang="zh-CN" sz="2400" dirty="0" err="1">
                <a:ea typeface="黑体" pitchFamily="49" charset="-122"/>
              </a:rPr>
              <a:t>a+b</a:t>
            </a:r>
            <a:r>
              <a:rPr lang="en-US" altLang="zh-CN" sz="2400" dirty="0">
                <a:ea typeface="黑体" pitchFamily="49" charset="-122"/>
              </a:rPr>
              <a:t>)=1            T(</a:t>
            </a:r>
            <a:r>
              <a:rPr lang="en-US" altLang="zh-CN" sz="2400" dirty="0" err="1">
                <a:ea typeface="黑体" pitchFamily="49" charset="-122"/>
              </a:rPr>
              <a:t>a+b+b</a:t>
            </a:r>
            <a:r>
              <a:rPr lang="en-US" altLang="zh-CN" sz="2400" dirty="0">
                <a:ea typeface="黑体" pitchFamily="49" charset="-122"/>
              </a:rPr>
              <a:t>)=0.6       T(+a)=0.2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400" dirty="0">
                <a:ea typeface="黑体" pitchFamily="49" charset="-122"/>
              </a:rPr>
              <a:t>T(+</a:t>
            </a:r>
            <a:r>
              <a:rPr lang="en-US" altLang="zh-CN" sz="2400" dirty="0" err="1">
                <a:ea typeface="黑体" pitchFamily="49" charset="-122"/>
              </a:rPr>
              <a:t>a+b</a:t>
            </a:r>
            <a:r>
              <a:rPr lang="en-US" altLang="zh-CN" sz="2400" dirty="0">
                <a:ea typeface="黑体" pitchFamily="49" charset="-122"/>
              </a:rPr>
              <a:t>)=0.3       T(++a)=0              T(a++b)=0.8</a:t>
            </a:r>
          </a:p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T(x)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是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x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的形式合理性或文法正确性的度量。</a:t>
            </a:r>
          </a:p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a—“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我”，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b—“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饭”，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+—“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吃”，</a:t>
            </a:r>
            <a:r>
              <a:rPr lang="zh-CN" altLang="en-US" sz="2800" dirty="0">
                <a:ea typeface="黑体" pitchFamily="49" charset="-122"/>
              </a:rPr>
              <a:t>则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</a:t>
            </a:r>
            <a:r>
              <a:rPr lang="en-US" altLang="zh-CN" sz="2400" dirty="0" err="1">
                <a:ea typeface="黑体" pitchFamily="49" charset="-122"/>
              </a:rPr>
              <a:t>a+b</a:t>
            </a:r>
            <a:r>
              <a:rPr lang="en-US" altLang="zh-CN" sz="2400" dirty="0">
                <a:ea typeface="黑体" pitchFamily="49" charset="-122"/>
              </a:rPr>
              <a:t>)=T(</a:t>
            </a:r>
            <a:r>
              <a:rPr lang="zh-CN" altLang="en-US" sz="2400" dirty="0">
                <a:ea typeface="黑体" pitchFamily="49" charset="-122"/>
              </a:rPr>
              <a:t>我吃饭</a:t>
            </a:r>
            <a:r>
              <a:rPr lang="en-US" altLang="zh-CN" sz="2400" dirty="0">
                <a:ea typeface="黑体" pitchFamily="49" charset="-122"/>
              </a:rPr>
              <a:t>)=1   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T(a++b)= T(</a:t>
            </a:r>
            <a:r>
              <a:rPr lang="zh-CN" altLang="en-US" sz="2400" dirty="0">
                <a:ea typeface="黑体" pitchFamily="49" charset="-122"/>
              </a:rPr>
              <a:t>我吃吃饭</a:t>
            </a:r>
            <a:r>
              <a:rPr lang="en-US" altLang="zh-CN" sz="2400" dirty="0">
                <a:ea typeface="黑体" pitchFamily="49" charset="-122"/>
              </a:rPr>
              <a:t>)= 0.8  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T(+a)= T(</a:t>
            </a:r>
            <a:r>
              <a:rPr lang="zh-CN" altLang="en-US" sz="2400" dirty="0">
                <a:ea typeface="黑体" pitchFamily="49" charset="-122"/>
              </a:rPr>
              <a:t>吃我</a:t>
            </a:r>
            <a:r>
              <a:rPr lang="en-US" altLang="zh-CN" sz="2400" dirty="0">
                <a:ea typeface="黑体" pitchFamily="49" charset="-122"/>
              </a:rPr>
              <a:t>)= 0.2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</a:t>
            </a:r>
            <a:r>
              <a:rPr lang="en-US" altLang="zh-CN" sz="2400" dirty="0" err="1">
                <a:ea typeface="黑体" pitchFamily="49" charset="-122"/>
              </a:rPr>
              <a:t>ba</a:t>
            </a:r>
            <a:r>
              <a:rPr lang="en-US" altLang="zh-CN" sz="2400" dirty="0">
                <a:ea typeface="黑体" pitchFamily="49" charset="-122"/>
              </a:rPr>
              <a:t>+)= T(</a:t>
            </a:r>
            <a:r>
              <a:rPr lang="zh-CN" altLang="en-US" sz="2400" dirty="0">
                <a:ea typeface="黑体" pitchFamily="49" charset="-122"/>
              </a:rPr>
              <a:t>饭我吃</a:t>
            </a:r>
            <a:r>
              <a:rPr lang="en-US" altLang="zh-CN" sz="2400" dirty="0">
                <a:ea typeface="黑体" pitchFamily="49" charset="-122"/>
              </a:rPr>
              <a:t>)= 0.8  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T(++a)= T(</a:t>
            </a:r>
            <a:r>
              <a:rPr lang="zh-CN" altLang="en-US" sz="2400" dirty="0">
                <a:ea typeface="黑体" pitchFamily="49" charset="-122"/>
              </a:rPr>
              <a:t>吃吃我</a:t>
            </a:r>
            <a:r>
              <a:rPr lang="en-US" altLang="zh-CN" sz="2400" dirty="0">
                <a:ea typeface="黑体" pitchFamily="49" charset="-122"/>
              </a:rPr>
              <a:t>)= 0    </a:t>
            </a:r>
          </a:p>
          <a:p>
            <a:pPr lvl="1" eaLnBrk="1" hangingPunct="1"/>
            <a:r>
              <a:rPr lang="en-US" altLang="zh-CN" sz="2400" dirty="0">
                <a:ea typeface="黑体" pitchFamily="49" charset="-122"/>
              </a:rPr>
              <a:t>T(bb)= T(</a:t>
            </a:r>
            <a:r>
              <a:rPr lang="zh-CN" altLang="en-US" sz="2400" dirty="0">
                <a:ea typeface="黑体" pitchFamily="49" charset="-122"/>
              </a:rPr>
              <a:t>饭饭</a:t>
            </a:r>
            <a:r>
              <a:rPr lang="en-US" altLang="zh-CN" sz="2400" dirty="0">
                <a:ea typeface="黑体" pitchFamily="49" charset="-122"/>
              </a:rPr>
              <a:t>)= 0.4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D90480-180B-BCC3-4D88-353E8E530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 F</a:t>
            </a:r>
            <a:r>
              <a:rPr lang="zh-CN" altLang="en-US" sz="4000" dirty="0">
                <a:solidFill>
                  <a:srgbClr val="228A2E"/>
                </a:solidFill>
                <a:latin typeface="+mn-lt"/>
                <a:ea typeface="黑体" pitchFamily="49" charset="-122"/>
              </a:rPr>
              <a:t>语言四元组：</a:t>
            </a: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L=</a:t>
            </a:r>
            <a:r>
              <a:rPr lang="zh-CN" altLang="en-US" sz="4000" dirty="0">
                <a:solidFill>
                  <a:srgbClr val="228A2E"/>
                </a:solidFill>
                <a:latin typeface="+mn-lt"/>
              </a:rPr>
              <a:t>（</a:t>
            </a: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U</a:t>
            </a:r>
            <a:r>
              <a:rPr lang="zh-CN" altLang="en-US" sz="4000" dirty="0">
                <a:solidFill>
                  <a:srgbClr val="228A2E"/>
                </a:solidFill>
                <a:latin typeface="+mn-lt"/>
              </a:rPr>
              <a:t>，</a:t>
            </a: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T</a:t>
            </a:r>
            <a:r>
              <a:rPr lang="zh-CN" altLang="en-US" sz="4000" dirty="0">
                <a:solidFill>
                  <a:srgbClr val="228A2E"/>
                </a:solidFill>
                <a:latin typeface="+mn-lt"/>
              </a:rPr>
              <a:t>，</a:t>
            </a: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E</a:t>
            </a:r>
            <a:r>
              <a:rPr lang="zh-CN" altLang="en-US" sz="4000" dirty="0">
                <a:solidFill>
                  <a:srgbClr val="228A2E"/>
                </a:solidFill>
                <a:latin typeface="+mn-lt"/>
              </a:rPr>
              <a:t>，</a:t>
            </a:r>
            <a:r>
              <a:rPr lang="en-US" altLang="zh-CN" sz="4000" dirty="0">
                <a:solidFill>
                  <a:srgbClr val="228A2E"/>
                </a:solidFill>
                <a:latin typeface="+mn-lt"/>
              </a:rPr>
              <a:t>N</a:t>
            </a:r>
            <a:r>
              <a:rPr lang="zh-CN" altLang="en-US" sz="4000" dirty="0">
                <a:solidFill>
                  <a:srgbClr val="228A2E"/>
                </a:solidFill>
              </a:rPr>
              <a:t>）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557338"/>
            <a:ext cx="10585175" cy="53006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N——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命名关系</a:t>
            </a:r>
            <a:r>
              <a:rPr lang="zh-CN" altLang="en-US" dirty="0">
                <a:ea typeface="黑体" pitchFamily="49" charset="-122"/>
              </a:rPr>
              <a:t>（从</a:t>
            </a:r>
            <a:r>
              <a:rPr lang="en-US" altLang="zh-CN" dirty="0">
                <a:ea typeface="黑体" pitchFamily="49" charset="-122"/>
              </a:rPr>
              <a:t>E</a:t>
            </a:r>
            <a:r>
              <a:rPr lang="zh-CN" altLang="en-US" dirty="0">
                <a:ea typeface="黑体" pitchFamily="49" charset="-122"/>
              </a:rPr>
              <a:t>到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关系）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            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：  </a:t>
            </a:r>
            <a:r>
              <a:rPr lang="en-US" altLang="zh-CN" i="1" dirty="0" err="1">
                <a:solidFill>
                  <a:srgbClr val="3333FF"/>
                </a:solidFill>
                <a:ea typeface="黑体" pitchFamily="49" charset="-122"/>
              </a:rPr>
              <a:t>Supp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(T) 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×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en-US" altLang="zh-CN" sz="3600" dirty="0">
                <a:solidFill>
                  <a:srgbClr val="3333FF"/>
                </a:solidFill>
                <a:ea typeface="黑体" pitchFamily="49" charset="-122"/>
              </a:rPr>
              <a:t>→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[0, 1]</a:t>
            </a:r>
          </a:p>
          <a:p>
            <a:pPr lvl="1" eaLnBrk="1" hangingPunct="1"/>
            <a:r>
              <a:rPr lang="zh-CN" altLang="en-US" b="1" dirty="0">
                <a:ea typeface="楷体_GB2312" pitchFamily="49" charset="-122"/>
              </a:rPr>
              <a:t>它是二元函数，即对于</a:t>
            </a:r>
            <a:r>
              <a:rPr lang="en-US" altLang="zh-CN" b="1" i="1" dirty="0" err="1">
                <a:ea typeface="楷体_GB2312" pitchFamily="49" charset="-122"/>
              </a:rPr>
              <a:t>x</a:t>
            </a:r>
            <a:r>
              <a:rPr lang="en-US" altLang="zh-CN" sz="3200" b="1" dirty="0" err="1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ea typeface="楷体_GB2312" pitchFamily="49" charset="-122"/>
              </a:rPr>
              <a:t>Supp</a:t>
            </a:r>
            <a:r>
              <a:rPr lang="en-US" altLang="zh-CN" b="1" dirty="0">
                <a:ea typeface="楷体_GB2312" pitchFamily="49" charset="-122"/>
              </a:rPr>
              <a:t>(T)</a:t>
            </a:r>
            <a:r>
              <a:rPr lang="zh-CN" altLang="en-US" b="1" dirty="0">
                <a:ea typeface="楷体_GB2312" pitchFamily="49" charset="-122"/>
              </a:rPr>
              <a:t>，</a:t>
            </a:r>
            <a:r>
              <a:rPr lang="en-US" altLang="zh-CN" b="1" i="1" dirty="0" err="1">
                <a:ea typeface="楷体_GB2312" pitchFamily="49" charset="-122"/>
              </a:rPr>
              <a:t>y</a:t>
            </a:r>
            <a:r>
              <a:rPr lang="en-US" altLang="zh-CN" sz="3200" b="1" dirty="0" err="1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 err="1">
                <a:ea typeface="楷体_GB2312" pitchFamily="49" charset="-122"/>
              </a:rPr>
              <a:t>U</a:t>
            </a:r>
            <a:r>
              <a:rPr lang="zh-CN" altLang="en-US" b="1" dirty="0">
                <a:ea typeface="楷体_GB2312" pitchFamily="49" charset="-122"/>
              </a:rPr>
              <a:t>，</a:t>
            </a:r>
          </a:p>
          <a:p>
            <a:pPr lvl="1" eaLnBrk="1" hangingPunct="1">
              <a:buNone/>
            </a:pPr>
            <a:r>
              <a:rPr lang="zh-CN" altLang="en-US" b="1" dirty="0">
                <a:ea typeface="楷体_GB2312" pitchFamily="49" charset="-122"/>
              </a:rPr>
              <a:t>   关系程度</a:t>
            </a:r>
            <a:r>
              <a:rPr lang="en-US" altLang="zh-CN" b="1" i="1" dirty="0">
                <a:ea typeface="楷体_GB2312" pitchFamily="49" charset="-122"/>
              </a:rPr>
              <a:t>N</a:t>
            </a:r>
            <a:r>
              <a:rPr lang="en-US" altLang="zh-CN" b="1" dirty="0">
                <a:ea typeface="楷体_GB2312" pitchFamily="49" charset="-122"/>
              </a:rPr>
              <a:t> (</a:t>
            </a:r>
            <a:r>
              <a:rPr lang="en-US" altLang="zh-CN" b="1" i="1" dirty="0">
                <a:ea typeface="楷体_GB2312" pitchFamily="49" charset="-122"/>
              </a:rPr>
              <a:t>x</a:t>
            </a:r>
            <a:r>
              <a:rPr lang="en-US" altLang="zh-CN" b="1" dirty="0">
                <a:ea typeface="楷体_GB2312" pitchFamily="49" charset="-122"/>
              </a:rPr>
              <a:t>, </a:t>
            </a:r>
            <a:r>
              <a:rPr lang="en-US" altLang="zh-CN" b="1" i="1" dirty="0">
                <a:ea typeface="楷体_GB2312" pitchFamily="49" charset="-122"/>
              </a:rPr>
              <a:t>y</a:t>
            </a:r>
            <a:r>
              <a:rPr lang="en-US" altLang="zh-CN" b="1" dirty="0">
                <a:ea typeface="楷体_GB2312" pitchFamily="49" charset="-122"/>
              </a:rPr>
              <a:t>)</a:t>
            </a:r>
            <a:r>
              <a:rPr lang="en-US" altLang="zh-CN" b="1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ea typeface="楷体_GB2312" pitchFamily="49" charset="-122"/>
              </a:rPr>
              <a:t>[0, 1]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例：“年轻”</a:t>
            </a:r>
            <a:r>
              <a:rPr lang="en-US" altLang="zh-CN" dirty="0">
                <a:ea typeface="黑体" pitchFamily="49" charset="-122"/>
              </a:rPr>
              <a:t>(a)</a:t>
            </a:r>
            <a:r>
              <a:rPr lang="zh-CN" altLang="en-US" dirty="0">
                <a:ea typeface="黑体" pitchFamily="49" charset="-122"/>
              </a:rPr>
              <a:t>与“年龄”</a:t>
            </a:r>
            <a:r>
              <a:rPr lang="en-US" altLang="zh-CN" dirty="0">
                <a:ea typeface="黑体" pitchFamily="49" charset="-122"/>
              </a:rPr>
              <a:t>(u)</a:t>
            </a:r>
            <a:r>
              <a:rPr lang="zh-CN" altLang="en-US" dirty="0">
                <a:ea typeface="黑体" pitchFamily="49" charset="-122"/>
              </a:rPr>
              <a:t>的关系表示为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    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N(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a,u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)=A(u)</a:t>
            </a:r>
            <a:r>
              <a:rPr lang="en-US" altLang="zh-CN" dirty="0">
                <a:ea typeface="黑体" pitchFamily="49" charset="-122"/>
              </a:rPr>
              <a:t>       </a:t>
            </a:r>
            <a:r>
              <a:rPr lang="en-US" altLang="zh-CN" sz="2800" dirty="0">
                <a:ea typeface="黑体" pitchFamily="49" charset="-122"/>
              </a:rPr>
              <a:t>(A</a:t>
            </a:r>
            <a:r>
              <a:rPr lang="zh-CN" altLang="en-US" sz="2800" dirty="0">
                <a:ea typeface="黑体" pitchFamily="49" charset="-122"/>
              </a:rPr>
              <a:t>相应于“年轻”的集合</a:t>
            </a:r>
            <a:r>
              <a:rPr lang="en-US" altLang="zh-CN" sz="2800" dirty="0">
                <a:ea typeface="黑体" pitchFamily="49" charset="-122"/>
              </a:rPr>
              <a:t>)</a:t>
            </a:r>
          </a:p>
          <a:p>
            <a:pPr lvl="1" eaLnBrk="1" hangingPunct="1"/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N(</a:t>
            </a:r>
            <a:r>
              <a:rPr lang="en-US" altLang="zh-CN" b="1" dirty="0" err="1">
                <a:solidFill>
                  <a:srgbClr val="228A2E"/>
                </a:solidFill>
                <a:ea typeface="楷体_GB2312" pitchFamily="49" charset="-122"/>
              </a:rPr>
              <a:t>a,u</a:t>
            </a:r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rgbClr val="228A2E"/>
                </a:solidFill>
                <a:ea typeface="楷体_GB2312" pitchFamily="49" charset="-122"/>
              </a:rPr>
              <a:t>表示</a:t>
            </a:r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T</a:t>
            </a:r>
            <a:r>
              <a:rPr lang="zh-CN" altLang="en-US" b="1" dirty="0">
                <a:solidFill>
                  <a:srgbClr val="228A2E"/>
                </a:solidFill>
                <a:ea typeface="楷体_GB2312" pitchFamily="49" charset="-122"/>
              </a:rPr>
              <a:t>中术语</a:t>
            </a:r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228A2E"/>
                </a:solidFill>
                <a:ea typeface="楷体_GB2312" pitchFamily="49" charset="-122"/>
              </a:rPr>
              <a:t>与</a:t>
            </a:r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U</a:t>
            </a:r>
            <a:r>
              <a:rPr lang="zh-CN" altLang="en-US" b="1" dirty="0">
                <a:solidFill>
                  <a:srgbClr val="228A2E"/>
                </a:solidFill>
                <a:ea typeface="楷体_GB2312" pitchFamily="49" charset="-122"/>
              </a:rPr>
              <a:t>中对象</a:t>
            </a:r>
            <a:r>
              <a:rPr lang="en-US" altLang="zh-CN" b="1" dirty="0">
                <a:solidFill>
                  <a:srgbClr val="228A2E"/>
                </a:solidFill>
                <a:ea typeface="楷体_GB2312" pitchFamily="49" charset="-122"/>
              </a:rPr>
              <a:t>u</a:t>
            </a:r>
            <a:r>
              <a:rPr lang="zh-CN" altLang="en-US" b="1" dirty="0">
                <a:solidFill>
                  <a:srgbClr val="228A2E"/>
                </a:solidFill>
                <a:ea typeface="楷体_GB2312" pitchFamily="49" charset="-122"/>
              </a:rPr>
              <a:t>之间的关系程度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当</a:t>
            </a:r>
            <a:r>
              <a:rPr lang="en-US" altLang="zh-CN" dirty="0">
                <a:ea typeface="黑体" pitchFamily="49" charset="-122"/>
              </a:rPr>
              <a:t>u=30</a:t>
            </a:r>
            <a:r>
              <a:rPr lang="zh-CN" altLang="en-US" dirty="0">
                <a:ea typeface="黑体" pitchFamily="49" charset="-122"/>
              </a:rPr>
              <a:t>时，</a:t>
            </a:r>
            <a:r>
              <a:rPr lang="en-US" altLang="zh-CN" dirty="0">
                <a:ea typeface="黑体" pitchFamily="49" charset="-122"/>
              </a:rPr>
              <a:t>N(a,30)=A(30)=0.5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当</a:t>
            </a:r>
            <a:r>
              <a:rPr lang="en-US" altLang="zh-CN" dirty="0">
                <a:ea typeface="黑体" pitchFamily="49" charset="-122"/>
              </a:rPr>
              <a:t>u=35</a:t>
            </a:r>
            <a:r>
              <a:rPr lang="zh-CN" altLang="en-US" dirty="0">
                <a:ea typeface="黑体" pitchFamily="49" charset="-122"/>
              </a:rPr>
              <a:t>时，</a:t>
            </a:r>
            <a:r>
              <a:rPr lang="en-US" altLang="zh-CN" dirty="0">
                <a:ea typeface="黑体" pitchFamily="49" charset="-122"/>
              </a:rPr>
              <a:t>N(a,35)=A(35)=0.2</a:t>
            </a:r>
          </a:p>
        </p:txBody>
      </p:sp>
      <p:pic>
        <p:nvPicPr>
          <p:cNvPr id="6" name="图片 5" descr="形状&#10;&#10;描述已自动生成">
            <a:extLst>
              <a:ext uri="{FF2B5EF4-FFF2-40B4-BE49-F238E27FC236}">
                <a16:creationId xmlns:a16="http://schemas.microsoft.com/office/drawing/2014/main" id="{A53157FF-BC3D-A80E-637F-1FC6EB8481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51" b="11557"/>
          <a:stretch/>
        </p:blipFill>
        <p:spPr>
          <a:xfrm>
            <a:off x="8589468" y="1557338"/>
            <a:ext cx="3242663" cy="2262833"/>
          </a:xfrm>
          <a:prstGeom prst="rect">
            <a:avLst/>
          </a:prstGeom>
          <a:effectLst>
            <a:glow rad="127000">
              <a:srgbClr val="7030A0"/>
            </a:glo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C35450-6241-877C-D97E-C219E2467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3716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rgbClr val="228A2E"/>
                </a:solidFill>
                <a:latin typeface="+mn-lt"/>
              </a:rPr>
              <a:t>7.2  F</a:t>
            </a:r>
            <a:r>
              <a:rPr lang="zh-CN" altLang="en-US" dirty="0">
                <a:solidFill>
                  <a:srgbClr val="228A2E"/>
                </a:solidFill>
                <a:latin typeface="+mn-lt"/>
                <a:ea typeface="黑体" pitchFamily="49" charset="-122"/>
              </a:rPr>
              <a:t>词与 </a:t>
            </a:r>
            <a:r>
              <a:rPr lang="en-US" altLang="zh-CN" dirty="0">
                <a:solidFill>
                  <a:srgbClr val="228A2E"/>
                </a:solidFill>
                <a:latin typeface="+mn-lt"/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228A2E"/>
                </a:solidFill>
                <a:latin typeface="+mn-lt"/>
                <a:ea typeface="黑体" pitchFamily="49" charset="-122"/>
              </a:rPr>
              <a:t>算子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363374"/>
            <a:ext cx="10945215" cy="5300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228A2E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228A2E"/>
                </a:solidFill>
                <a:ea typeface="黑体" pitchFamily="49" charset="-122"/>
              </a:rPr>
              <a:t>定义</a:t>
            </a:r>
            <a:r>
              <a:rPr lang="en-US" altLang="zh-CN" sz="2800" dirty="0">
                <a:solidFill>
                  <a:srgbClr val="228A2E"/>
                </a:solidFill>
                <a:ea typeface="黑体" pitchFamily="49" charset="-122"/>
              </a:rPr>
              <a:t>]</a:t>
            </a:r>
            <a:r>
              <a:rPr lang="zh-CN" altLang="en-US" sz="2800" dirty="0">
                <a:ea typeface="黑体" pitchFamily="49" charset="-122"/>
              </a:rPr>
              <a:t>术语集合</a:t>
            </a:r>
            <a:r>
              <a:rPr lang="en-US" altLang="zh-CN" sz="2800" dirty="0">
                <a:ea typeface="黑体" pitchFamily="49" charset="-122"/>
              </a:rPr>
              <a:t>T</a:t>
            </a:r>
            <a:r>
              <a:rPr lang="zh-CN" altLang="en-US" sz="2800" dirty="0">
                <a:ea typeface="黑体" pitchFamily="49" charset="-122"/>
              </a:rPr>
              <a:t>中单词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词义</a:t>
            </a:r>
            <a:r>
              <a:rPr lang="zh-CN" altLang="en-US" sz="2800" dirty="0">
                <a:ea typeface="黑体" pitchFamily="49" charset="-122"/>
              </a:rPr>
              <a:t>就是</a:t>
            </a:r>
            <a:r>
              <a:rPr lang="en-US" altLang="zh-CN" sz="2800" dirty="0">
                <a:ea typeface="黑体" pitchFamily="49" charset="-122"/>
              </a:rPr>
              <a:t>U</a:t>
            </a:r>
            <a:r>
              <a:rPr lang="zh-CN" altLang="en-US" sz="2800" dirty="0">
                <a:ea typeface="黑体" pitchFamily="49" charset="-122"/>
              </a:rPr>
              <a:t>中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子集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，且对于固定的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，有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A(u) =N(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a,u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)     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u</a:t>
            </a:r>
            <a:r>
              <a:rPr lang="en-US" altLang="zh-CN" sz="3600" dirty="0" err="1">
                <a:solidFill>
                  <a:srgbClr val="FF0000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dirty="0" err="1">
                <a:solidFill>
                  <a:srgbClr val="FF0000"/>
                </a:solidFill>
                <a:ea typeface="黑体" pitchFamily="49" charset="-122"/>
              </a:rPr>
              <a:t>U</a:t>
            </a:r>
            <a:endParaRPr lang="en-US" altLang="zh-CN" dirty="0">
              <a:solidFill>
                <a:srgbClr val="FF0000"/>
              </a:solidFill>
              <a:ea typeface="黑体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>
              <a:solidFill>
                <a:srgbClr val="FF0000"/>
              </a:solidFill>
              <a:ea typeface="黑体" pitchFamily="49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黑体" pitchFamily="49" charset="-122"/>
              </a:rPr>
              <a:t>N(</a:t>
            </a:r>
            <a:r>
              <a:rPr lang="en-US" altLang="zh-CN" dirty="0" err="1">
                <a:ea typeface="黑体" pitchFamily="49" charset="-122"/>
              </a:rPr>
              <a:t>a,u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zh-CN" altLang="en-US" dirty="0">
                <a:ea typeface="黑体" pitchFamily="49" charset="-122"/>
              </a:rPr>
              <a:t>表示对象</a:t>
            </a:r>
            <a:r>
              <a:rPr lang="en-US" altLang="zh-CN" dirty="0">
                <a:ea typeface="黑体" pitchFamily="49" charset="-122"/>
              </a:rPr>
              <a:t>u</a:t>
            </a:r>
            <a:r>
              <a:rPr lang="zh-CN" altLang="en-US" dirty="0">
                <a:ea typeface="黑体" pitchFamily="49" charset="-122"/>
              </a:rPr>
              <a:t>与</a:t>
            </a:r>
            <a:r>
              <a:rPr lang="en-US" altLang="zh-CN" dirty="0"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的关系程度。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CC00CC"/>
                </a:solidFill>
                <a:ea typeface="楷体_GB2312" pitchFamily="49" charset="-122"/>
              </a:rPr>
              <a:t>单词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是表达概念的最小单位。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例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1]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是物体的集合，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T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表示颜色单词的集合，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   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T={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白，灰，黄，红，黑，绿，蓝，</a:t>
            </a:r>
            <a:r>
              <a:rPr lang="en-US" altLang="zh-CN" sz="2800" dirty="0">
                <a:solidFill>
                  <a:srgbClr val="CC00CC"/>
                </a:solidFill>
                <a:ea typeface="黑体" pitchFamily="49" charset="-122"/>
              </a:rPr>
              <a:t>…}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这些单词的词义就是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的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子集。如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dirty="0">
                <a:ea typeface="楷体_GB2312" pitchFamily="49" charset="-122"/>
              </a:rPr>
              <a:t>[</a:t>
            </a:r>
            <a:r>
              <a:rPr lang="zh-CN" altLang="en-US" sz="2400" b="1" dirty="0">
                <a:ea typeface="楷体_GB2312" pitchFamily="49" charset="-122"/>
              </a:rPr>
              <a:t>红</a:t>
            </a:r>
            <a:r>
              <a:rPr lang="en-US" altLang="zh-CN" sz="2400" b="1" dirty="0">
                <a:ea typeface="楷体_GB2312" pitchFamily="49" charset="-122"/>
              </a:rPr>
              <a:t>](u)——</a:t>
            </a:r>
            <a:r>
              <a:rPr lang="zh-CN" altLang="en-US" sz="2400" b="1" dirty="0">
                <a:ea typeface="楷体_GB2312" pitchFamily="49" charset="-122"/>
              </a:rPr>
              <a:t>表示</a:t>
            </a:r>
            <a:r>
              <a:rPr lang="en-US" altLang="zh-CN" sz="2400" b="1" dirty="0">
                <a:ea typeface="楷体_GB2312" pitchFamily="49" charset="-122"/>
              </a:rPr>
              <a:t>U</a:t>
            </a:r>
            <a:r>
              <a:rPr lang="zh-CN" altLang="en-US" sz="2400" b="1" dirty="0">
                <a:ea typeface="楷体_GB2312" pitchFamily="49" charset="-122"/>
              </a:rPr>
              <a:t>中各“物体”属于“红”色的程度。</a:t>
            </a:r>
            <a:r>
              <a:rPr lang="zh-CN" altLang="en-US" sz="2400" dirty="0">
                <a:ea typeface="黑体" pitchFamily="49" charset="-122"/>
              </a:rPr>
              <a:t>   </a:t>
            </a:r>
            <a:endParaRPr lang="zh-CN" altLang="en-US" dirty="0">
              <a:ea typeface="黑体" pitchFamily="49" charset="-122"/>
            </a:endParaRPr>
          </a:p>
        </p:txBody>
      </p:sp>
      <p:graphicFrame>
        <p:nvGraphicFramePr>
          <p:cNvPr id="13317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3981628"/>
              </p:ext>
            </p:extLst>
          </p:nvPr>
        </p:nvGraphicFramePr>
        <p:xfrm>
          <a:off x="6312023" y="1916832"/>
          <a:ext cx="482719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0800" imgH="736600" progId="Equation.3">
                  <p:embed/>
                </p:oleObj>
              </mc:Choice>
              <mc:Fallback>
                <p:oleObj name="公式" r:id="rId2" imgW="2590800" imgH="736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3" y="1916832"/>
                        <a:ext cx="4827197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97A7B5-35F6-6963-D9FB-7B730D832B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词义举例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0283" y="1416919"/>
            <a:ext cx="3744913" cy="3024188"/>
          </a:xfrm>
          <a:solidFill>
            <a:srgbClr val="FFFFCC"/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例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2]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设年龄论域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U=[1,100]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>
                <a:solidFill>
                  <a:srgbClr val="3333FF"/>
                </a:solidFill>
                <a:ea typeface="黑体" pitchFamily="49" charset="-122"/>
              </a:rPr>
              <a:t>单词集合</a:t>
            </a:r>
            <a:r>
              <a:rPr lang="en-US" altLang="zh-CN" sz="2800">
                <a:solidFill>
                  <a:srgbClr val="3333FF"/>
                </a:solidFill>
                <a:ea typeface="黑体" pitchFamily="49" charset="-122"/>
              </a:rPr>
              <a:t>T=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rgbClr val="3333FF"/>
                </a:solidFill>
                <a:ea typeface="黑体" pitchFamily="49" charset="-122"/>
              </a:rPr>
              <a:t>     {</a:t>
            </a:r>
            <a:r>
              <a:rPr lang="zh-CN" altLang="en-US" sz="2800">
                <a:solidFill>
                  <a:srgbClr val="3333FF"/>
                </a:solidFill>
                <a:ea typeface="黑体" pitchFamily="49" charset="-122"/>
              </a:rPr>
              <a:t>年轻，中年，老年</a:t>
            </a:r>
            <a:r>
              <a:rPr lang="en-US" altLang="zh-CN" sz="2800">
                <a:solidFill>
                  <a:srgbClr val="3333FF"/>
                </a:solidFill>
                <a:ea typeface="黑体" pitchFamily="49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则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T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中单词的词义给出如下：</a:t>
            </a:r>
          </a:p>
        </p:txBody>
      </p:sp>
      <p:graphicFrame>
        <p:nvGraphicFramePr>
          <p:cNvPr id="1126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08990926"/>
              </p:ext>
            </p:extLst>
          </p:nvPr>
        </p:nvGraphicFramePr>
        <p:xfrm>
          <a:off x="6172065" y="1769935"/>
          <a:ext cx="4968875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40000" imgH="736600" progId="Equation.3">
                  <p:embed/>
                </p:oleObj>
              </mc:Choice>
              <mc:Fallback>
                <p:oleObj name="公式" r:id="rId2" imgW="2540000" imgH="736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065" y="1769935"/>
                        <a:ext cx="4968875" cy="14398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44610573"/>
              </p:ext>
            </p:extLst>
          </p:nvPr>
        </p:nvGraphicFramePr>
        <p:xfrm>
          <a:off x="6151427" y="3733045"/>
          <a:ext cx="5010150" cy="296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1760" imgH="1676160" progId="Equation.DSMT4">
                  <p:embed/>
                </p:oleObj>
              </mc:Choice>
              <mc:Fallback>
                <p:oleObj name="Equation" r:id="rId4" imgW="2831760" imgH="1676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427" y="3733045"/>
                        <a:ext cx="5010150" cy="296545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043555"/>
              </p:ext>
            </p:extLst>
          </p:nvPr>
        </p:nvGraphicFramePr>
        <p:xfrm>
          <a:off x="447899" y="5294313"/>
          <a:ext cx="4968875" cy="141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90800" imgH="736600" progId="Equation.3">
                  <p:embed/>
                </p:oleObj>
              </mc:Choice>
              <mc:Fallback>
                <p:oleObj name="公式" r:id="rId6" imgW="25908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99" y="5294313"/>
                        <a:ext cx="4968875" cy="141128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图片包含 图表&#10;&#10;描述已自动生成">
            <a:extLst>
              <a:ext uri="{FF2B5EF4-FFF2-40B4-BE49-F238E27FC236}">
                <a16:creationId xmlns:a16="http://schemas.microsoft.com/office/drawing/2014/main" id="{1E16F085-6369-8871-3A29-F165DA80543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1" b="11151"/>
          <a:stretch/>
        </p:blipFill>
        <p:spPr>
          <a:xfrm>
            <a:off x="581805" y="1397040"/>
            <a:ext cx="4650099" cy="3670601"/>
          </a:xfrm>
          <a:prstGeom prst="rect">
            <a:avLst/>
          </a:prstGeom>
          <a:effectLst>
            <a:glow rad="127000">
              <a:srgbClr val="7030A0"/>
            </a:glow>
          </a:effec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CB0574B6-A8A5-8079-8924-0E4024CF946D}"/>
              </a:ext>
            </a:extLst>
          </p:cNvPr>
          <p:cNvGrpSpPr/>
          <p:nvPr/>
        </p:nvGrpSpPr>
        <p:grpSpPr>
          <a:xfrm>
            <a:off x="781108" y="1390250"/>
            <a:ext cx="3457079" cy="818782"/>
            <a:chOff x="250825" y="1602106"/>
            <a:chExt cx="3457079" cy="818782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ECAC251-7175-A5EF-66D6-3707DB717138}"/>
                </a:ext>
              </a:extLst>
            </p:cNvPr>
            <p:cNvSpPr txBox="1"/>
            <p:nvPr/>
          </p:nvSpPr>
          <p:spPr>
            <a:xfrm>
              <a:off x="250825" y="1932751"/>
              <a:ext cx="755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C7444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年轻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6063986-EF17-00A5-4669-5317CFC5B8B1}"/>
                </a:ext>
              </a:extLst>
            </p:cNvPr>
            <p:cNvSpPr txBox="1"/>
            <p:nvPr/>
          </p:nvSpPr>
          <p:spPr>
            <a:xfrm>
              <a:off x="2952453" y="2020778"/>
              <a:ext cx="755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D70B3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老年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4DEC452-3642-9077-2214-840D854AED42}"/>
                </a:ext>
              </a:extLst>
            </p:cNvPr>
            <p:cNvSpPr txBox="1"/>
            <p:nvPr/>
          </p:nvSpPr>
          <p:spPr>
            <a:xfrm>
              <a:off x="1865858" y="1602106"/>
              <a:ext cx="755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368A4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中年</a:t>
              </a: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12BC76-6BE5-3825-714D-7E6CDDDFF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词组定义及举例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9416" y="1557338"/>
            <a:ext cx="10657184" cy="5111750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ea typeface="黑体" pitchFamily="49" charset="-122"/>
              </a:rPr>
              <a:t>词组</a:t>
            </a:r>
            <a:r>
              <a:rPr lang="en-US" altLang="zh-CN" sz="3600" dirty="0">
                <a:solidFill>
                  <a:srgbClr val="FF0000"/>
                </a:solidFill>
                <a:ea typeface="黑体" pitchFamily="49" charset="-122"/>
              </a:rPr>
              <a:t>——</a:t>
            </a:r>
          </a:p>
          <a:p>
            <a:pPr lvl="1" eaLnBrk="1" hangingPunct="1"/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由单词通过“或”</a:t>
            </a:r>
            <a:r>
              <a:rPr lang="en-US" altLang="zh-CN" sz="3200" dirty="0">
                <a:solidFill>
                  <a:schemeClr val="bg2"/>
                </a:solidFill>
                <a:ea typeface="黑体" pitchFamily="49" charset="-122"/>
              </a:rPr>
              <a:t>(∨)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、“且”</a:t>
            </a:r>
            <a:r>
              <a:rPr lang="en-US" altLang="zh-CN" sz="3200" dirty="0">
                <a:solidFill>
                  <a:schemeClr val="bg2"/>
                </a:solidFill>
                <a:ea typeface="黑体" pitchFamily="49" charset="-122"/>
              </a:rPr>
              <a:t>(∧)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和“非”</a:t>
            </a:r>
            <a:r>
              <a:rPr lang="en-US" altLang="zh-CN" sz="3200" dirty="0">
                <a:solidFill>
                  <a:schemeClr val="bg2"/>
                </a:solidFill>
                <a:ea typeface="黑体" pitchFamily="49" charset="-122"/>
              </a:rPr>
              <a:t>(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￣</a:t>
            </a:r>
            <a:r>
              <a:rPr lang="en-US" altLang="zh-CN" sz="32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3200" dirty="0">
                <a:solidFill>
                  <a:schemeClr val="bg2"/>
                </a:solidFill>
                <a:ea typeface="黑体" pitchFamily="49" charset="-122"/>
              </a:rPr>
              <a:t>运算符联结起来构成词组。</a:t>
            </a:r>
          </a:p>
          <a:p>
            <a:pPr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例</a:t>
            </a:r>
            <a:r>
              <a:rPr lang="en-US" altLang="zh-CN" dirty="0">
                <a:ea typeface="黑体" pitchFamily="49" charset="-122"/>
              </a:rPr>
              <a:t>3]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[</a:t>
            </a:r>
            <a:r>
              <a:rPr lang="zh-CN" altLang="en-US" dirty="0">
                <a:ea typeface="黑体" pitchFamily="49" charset="-122"/>
              </a:rPr>
              <a:t>欧亚</a:t>
            </a:r>
            <a:r>
              <a:rPr lang="en-US" altLang="zh-CN" dirty="0">
                <a:ea typeface="黑体" pitchFamily="49" charset="-122"/>
              </a:rPr>
              <a:t>]=[</a:t>
            </a:r>
            <a:r>
              <a:rPr lang="zh-CN" altLang="en-US" dirty="0">
                <a:ea typeface="黑体" pitchFamily="49" charset="-122"/>
              </a:rPr>
              <a:t>欧或亚</a:t>
            </a:r>
            <a:r>
              <a:rPr lang="en-US" altLang="zh-CN" dirty="0">
                <a:ea typeface="黑体" pitchFamily="49" charset="-122"/>
              </a:rPr>
              <a:t>]=[</a:t>
            </a:r>
            <a:r>
              <a:rPr lang="zh-CN" altLang="en-US" dirty="0">
                <a:ea typeface="黑体" pitchFamily="49" charset="-122"/>
              </a:rPr>
              <a:t>欧</a:t>
            </a:r>
            <a:r>
              <a:rPr lang="en-US" altLang="zh-CN" dirty="0">
                <a:ea typeface="黑体" pitchFamily="49" charset="-122"/>
              </a:rPr>
              <a:t>] ∨ [</a:t>
            </a:r>
            <a:r>
              <a:rPr lang="zh-CN" altLang="en-US" dirty="0">
                <a:ea typeface="黑体" pitchFamily="49" charset="-122"/>
              </a:rPr>
              <a:t>亚</a:t>
            </a:r>
            <a:r>
              <a:rPr lang="en-US" altLang="zh-CN" dirty="0"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[</a:t>
            </a:r>
            <a:r>
              <a:rPr lang="zh-CN" altLang="en-US" dirty="0">
                <a:ea typeface="黑体" pitchFamily="49" charset="-122"/>
              </a:rPr>
              <a:t>白马</a:t>
            </a:r>
            <a:r>
              <a:rPr lang="en-US" altLang="zh-CN" dirty="0">
                <a:ea typeface="黑体" pitchFamily="49" charset="-122"/>
              </a:rPr>
              <a:t>]=[</a:t>
            </a:r>
            <a:r>
              <a:rPr lang="zh-CN" altLang="en-US" dirty="0">
                <a:ea typeface="黑体" pitchFamily="49" charset="-122"/>
              </a:rPr>
              <a:t>马且白</a:t>
            </a:r>
            <a:r>
              <a:rPr lang="en-US" altLang="zh-CN" dirty="0">
                <a:ea typeface="黑体" pitchFamily="49" charset="-122"/>
              </a:rPr>
              <a:t>]=[</a:t>
            </a:r>
            <a:r>
              <a:rPr lang="zh-CN" altLang="en-US" dirty="0">
                <a:ea typeface="黑体" pitchFamily="49" charset="-122"/>
              </a:rPr>
              <a:t>马</a:t>
            </a:r>
            <a:r>
              <a:rPr lang="en-US" altLang="zh-CN" dirty="0">
                <a:ea typeface="黑体" pitchFamily="49" charset="-122"/>
              </a:rPr>
              <a:t>] ∧ [</a:t>
            </a:r>
            <a:r>
              <a:rPr lang="zh-CN" altLang="en-US" dirty="0">
                <a:ea typeface="黑体" pitchFamily="49" charset="-122"/>
              </a:rPr>
              <a:t>白</a:t>
            </a:r>
            <a:r>
              <a:rPr lang="en-US" altLang="zh-CN" dirty="0"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[</a:t>
            </a:r>
            <a:r>
              <a:rPr lang="zh-CN" altLang="en-US" dirty="0">
                <a:ea typeface="黑体" pitchFamily="49" charset="-122"/>
              </a:rPr>
              <a:t>非金属</a:t>
            </a:r>
            <a:r>
              <a:rPr lang="en-US" altLang="zh-CN" dirty="0">
                <a:ea typeface="黑体" pitchFamily="49" charset="-122"/>
              </a:rPr>
              <a:t>]=</a:t>
            </a:r>
          </a:p>
          <a:p>
            <a:pPr eaLnBrk="1" hangingPunct="1"/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若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A(u) = N(a, u) ≡0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，则称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为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无词义</a:t>
            </a:r>
            <a:r>
              <a:rPr lang="zh-CN" altLang="en-US" b="1" dirty="0"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6039909"/>
              </p:ext>
            </p:extLst>
          </p:nvPr>
        </p:nvGraphicFramePr>
        <p:xfrm>
          <a:off x="3143672" y="4938712"/>
          <a:ext cx="1295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31613" imgH="241195" progId="Equation.3">
                  <p:embed/>
                </p:oleObj>
              </mc:Choice>
              <mc:Fallback>
                <p:oleObj name="公式" r:id="rId2" imgW="431613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4938712"/>
                        <a:ext cx="1295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A583ED-568B-AB25-F6D2-061529819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词组举例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628776"/>
            <a:ext cx="10153128" cy="5229225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例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4]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设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U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为年龄论域，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T={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不年轻，非中年，中老年，不年轻也不老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则各词的词义为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不年轻</a:t>
            </a:r>
            <a:r>
              <a:rPr lang="en-US" altLang="zh-CN" dirty="0">
                <a:ea typeface="黑体" pitchFamily="49" charset="-122"/>
              </a:rPr>
              <a:t>](u)=1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年轻</a:t>
            </a:r>
            <a:r>
              <a:rPr lang="en-US" altLang="zh-CN" dirty="0">
                <a:ea typeface="黑体" pitchFamily="49" charset="-122"/>
              </a:rPr>
              <a:t>](u)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非中年</a:t>
            </a:r>
            <a:r>
              <a:rPr lang="en-US" altLang="zh-CN" dirty="0">
                <a:ea typeface="黑体" pitchFamily="49" charset="-122"/>
              </a:rPr>
              <a:t>](u)=1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中年</a:t>
            </a:r>
            <a:r>
              <a:rPr lang="en-US" altLang="zh-CN" dirty="0">
                <a:ea typeface="黑体" pitchFamily="49" charset="-122"/>
              </a:rPr>
              <a:t>](u)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ea typeface="黑体" pitchFamily="49" charset="-122"/>
              </a:rPr>
              <a:t>中老年</a:t>
            </a:r>
            <a:r>
              <a:rPr lang="en-US" altLang="zh-CN" dirty="0">
                <a:ea typeface="黑体" pitchFamily="49" charset="-122"/>
              </a:rPr>
              <a:t>](u)=[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中年</a:t>
            </a:r>
            <a:r>
              <a:rPr lang="en-US" altLang="zh-CN" dirty="0">
                <a:ea typeface="黑体" pitchFamily="49" charset="-122"/>
              </a:rPr>
              <a:t>](u) ∨[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老年</a:t>
            </a:r>
            <a:r>
              <a:rPr lang="en-US" altLang="zh-CN" dirty="0">
                <a:ea typeface="黑体" pitchFamily="49" charset="-122"/>
              </a:rPr>
              <a:t>](u)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  [</a:t>
            </a:r>
            <a:r>
              <a:rPr lang="zh-CN" altLang="en-US" dirty="0">
                <a:ea typeface="黑体" pitchFamily="49" charset="-122"/>
              </a:rPr>
              <a:t>不年轻也不老</a:t>
            </a:r>
            <a:r>
              <a:rPr lang="en-US" altLang="zh-CN" dirty="0">
                <a:ea typeface="黑体" pitchFamily="49" charset="-122"/>
              </a:rPr>
              <a:t>](u)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=[</a:t>
            </a:r>
            <a:r>
              <a:rPr lang="zh-CN" altLang="en-US" dirty="0">
                <a:ea typeface="黑体" pitchFamily="49" charset="-122"/>
              </a:rPr>
              <a:t>不年轻</a:t>
            </a:r>
            <a:r>
              <a:rPr lang="en-US" altLang="zh-CN" dirty="0">
                <a:ea typeface="黑体" pitchFamily="49" charset="-122"/>
              </a:rPr>
              <a:t>](u) ∧ [</a:t>
            </a:r>
            <a:r>
              <a:rPr lang="zh-CN" altLang="en-US" dirty="0">
                <a:ea typeface="黑体" pitchFamily="49" charset="-122"/>
              </a:rPr>
              <a:t>不老年</a:t>
            </a:r>
            <a:r>
              <a:rPr lang="en-US" altLang="zh-CN" dirty="0">
                <a:ea typeface="黑体" pitchFamily="49" charset="-122"/>
              </a:rPr>
              <a:t>](u)</a:t>
            </a:r>
          </a:p>
          <a:p>
            <a:pPr lvl="1" eaLnBrk="1" hangingPunct="1">
              <a:buNone/>
            </a:pPr>
            <a:r>
              <a:rPr lang="en-US" altLang="zh-CN" dirty="0">
                <a:ea typeface="黑体" pitchFamily="49" charset="-122"/>
              </a:rPr>
              <a:t>   =(1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年轻</a:t>
            </a:r>
            <a:r>
              <a:rPr lang="en-US" altLang="zh-CN" dirty="0">
                <a:ea typeface="黑体" pitchFamily="49" charset="-122"/>
              </a:rPr>
              <a:t>](u)) ∧(1</a:t>
            </a:r>
            <a:r>
              <a:rPr lang="en-US" altLang="zh-CN" dirty="0">
                <a:ea typeface="黑体" pitchFamily="49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老年</a:t>
            </a:r>
            <a:r>
              <a:rPr lang="en-US" altLang="zh-CN" dirty="0">
                <a:ea typeface="黑体" pitchFamily="49" charset="-122"/>
              </a:rPr>
              <a:t>](u))</a:t>
            </a:r>
            <a:r>
              <a:rPr lang="en-US" altLang="zh-CN" dirty="0"/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F81404-A749-6DDD-5258-DBEA79B74A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333376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算子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268414"/>
            <a:ext cx="10297144" cy="54006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语气算子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>
                <a:ea typeface="楷体_GB2312" pitchFamily="49" charset="-122"/>
              </a:rPr>
              <a:t>在自然语言中，用“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很</a:t>
            </a:r>
            <a:r>
              <a:rPr lang="zh-CN" altLang="en-US" sz="2400" b="1" dirty="0">
                <a:ea typeface="楷体_GB2312" pitchFamily="49" charset="-122"/>
              </a:rPr>
              <a:t>”、“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有点</a:t>
            </a:r>
            <a:r>
              <a:rPr lang="zh-CN" altLang="en-US" sz="2400" b="1" dirty="0">
                <a:ea typeface="楷体_GB2312" pitchFamily="49" charset="-122"/>
              </a:rPr>
              <a:t>”、“</a:t>
            </a:r>
            <a:r>
              <a:rPr lang="zh-CN" altLang="en-US" sz="2400" b="1" dirty="0">
                <a:solidFill>
                  <a:srgbClr val="CC00CC"/>
                </a:solidFill>
                <a:ea typeface="楷体_GB2312" pitchFamily="49" charset="-122"/>
              </a:rPr>
              <a:t>极</a:t>
            </a:r>
            <a:r>
              <a:rPr lang="zh-CN" altLang="en-US" sz="2400" b="1" dirty="0">
                <a:ea typeface="楷体_GB2312" pitchFamily="49" charset="-122"/>
              </a:rPr>
              <a:t>”</a:t>
            </a:r>
            <a:r>
              <a:rPr lang="en-US" altLang="zh-CN" sz="2400" b="1" dirty="0">
                <a:ea typeface="楷体_GB2312" pitchFamily="49" charset="-122"/>
              </a:rPr>
              <a:t>…</a:t>
            </a:r>
            <a:r>
              <a:rPr lang="zh-CN" altLang="en-US" sz="2400" b="1" dirty="0">
                <a:ea typeface="楷体_GB2312" pitchFamily="49" charset="-122"/>
              </a:rPr>
              <a:t>作为前缀放在一个单词前以调整该词词义的肯定程度，使之变为一个新的词，这些前缀称为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语气算子</a:t>
            </a:r>
            <a:r>
              <a:rPr lang="zh-CN" altLang="en-US" sz="2400" dirty="0">
                <a:ea typeface="黑体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如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:  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      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49" charset="-122"/>
              </a:rPr>
              <a:t>4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相当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49" charset="-122"/>
              </a:rPr>
              <a:t>1.25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比较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49" charset="-122"/>
              </a:rPr>
              <a:t>0.75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49" charset="-122"/>
              </a:rPr>
              <a:t>0.5</a:t>
            </a:r>
            <a:r>
              <a:rPr lang="en-US" altLang="zh-CN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        [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baseline="30000" dirty="0">
                <a:solidFill>
                  <a:srgbClr val="FF0000"/>
                </a:solidFill>
                <a:ea typeface="黑体" pitchFamily="49" charset="-122"/>
              </a:rPr>
              <a:t>0.25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ea typeface="黑体" pitchFamily="49" charset="-122"/>
              </a:rPr>
              <a:t>若用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表示相应单词的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集，则有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很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b="1" baseline="30000" dirty="0">
                <a:solidFill>
                  <a:srgbClr val="3333FF"/>
                </a:solidFill>
                <a:ea typeface="黑体" pitchFamily="49" charset="-12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          </a:t>
            </a: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极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4</a:t>
            </a:r>
            <a:r>
              <a:rPr lang="en-US" altLang="zh-CN" b="1" baseline="30000" dirty="0">
                <a:solidFill>
                  <a:srgbClr val="3333FF"/>
                </a:solidFill>
                <a:ea typeface="黑体" pitchFamily="49" charset="-122"/>
              </a:rPr>
              <a:t>  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         </a:t>
            </a: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相当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1.25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比较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0.75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    </a:t>
            </a: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有点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0.5 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    </a:t>
            </a:r>
            <a:r>
              <a:rPr lang="zh-CN" altLang="en-US" b="1" dirty="0">
                <a:solidFill>
                  <a:srgbClr val="3333FF"/>
                </a:solidFill>
                <a:ea typeface="黑体" pitchFamily="49" charset="-122"/>
              </a:rPr>
              <a:t>稍微有点</a:t>
            </a:r>
            <a:r>
              <a:rPr lang="en-US" altLang="zh-CN" b="1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="1" baseline="30000" dirty="0">
                <a:solidFill>
                  <a:srgbClr val="FF0000"/>
                </a:solidFill>
                <a:ea typeface="黑体" pitchFamily="49" charset="-122"/>
              </a:rPr>
              <a:t>0.25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4DF6A0B-42F7-9C66-FB3B-5C84CAE1E7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188913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语气算子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7092" y="1184157"/>
            <a:ext cx="6994525" cy="4383087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z="2800" dirty="0">
                <a:ea typeface="黑体" pitchFamily="49" charset="-122"/>
              </a:rPr>
              <a:t>语气算子是一个</a:t>
            </a:r>
            <a:r>
              <a:rPr lang="zh-CN" altLang="en-US" sz="2800" dirty="0">
                <a:solidFill>
                  <a:srgbClr val="99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变换</a:t>
            </a:r>
            <a:r>
              <a:rPr lang="zh-CN" altLang="en-US" sz="2800" dirty="0">
                <a:ea typeface="黑体" pitchFamily="49" charset="-122"/>
              </a:rPr>
              <a:t>：</a:t>
            </a:r>
          </a:p>
          <a:p>
            <a:pPr eaLnBrk="1" hangingPunct="1">
              <a:lnSpc>
                <a:spcPct val="95000"/>
              </a:lnSpc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           </a:t>
            </a:r>
            <a:r>
              <a:rPr lang="en-US" altLang="zh-CN" sz="2800" dirty="0">
                <a:solidFill>
                  <a:srgbClr val="1D7527"/>
                </a:solidFill>
                <a:ea typeface="黑体" pitchFamily="49" charset="-122"/>
              </a:rPr>
              <a:t>H</a:t>
            </a:r>
            <a:r>
              <a:rPr lang="el-GR" altLang="zh-CN" sz="2800" b="1" i="1" baseline="-25000" dirty="0">
                <a:solidFill>
                  <a:srgbClr val="1D7527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800" dirty="0">
                <a:solidFill>
                  <a:srgbClr val="1D7527"/>
                </a:solidFill>
                <a:ea typeface="黑体" pitchFamily="49" charset="-122"/>
              </a:rPr>
              <a:t>：</a:t>
            </a:r>
            <a:r>
              <a:rPr lang="en-US" altLang="zh-CN" sz="2800" dirty="0">
                <a:solidFill>
                  <a:srgbClr val="1D7527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solidFill>
                  <a:srgbClr val="1D7527"/>
                </a:solidFill>
                <a:ea typeface="黑体" pitchFamily="49" charset="-122"/>
              </a:rPr>
              <a:t>(U) </a:t>
            </a:r>
            <a:r>
              <a:rPr lang="en-US" altLang="zh-CN" sz="2800" dirty="0">
                <a:solidFill>
                  <a:srgbClr val="1D7527"/>
                </a:solidFill>
              </a:rPr>
              <a:t>→</a:t>
            </a:r>
            <a:r>
              <a:rPr lang="en-US" altLang="zh-CN" sz="2800" dirty="0">
                <a:solidFill>
                  <a:srgbClr val="1D7527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sz="2800" dirty="0">
                <a:solidFill>
                  <a:srgbClr val="1D7527"/>
                </a:solidFill>
                <a:ea typeface="黑体" pitchFamily="49" charset="-122"/>
              </a:rPr>
              <a:t>(U)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zh-CN" altLang="en-US" sz="2800" dirty="0">
                <a:ea typeface="黑体" pitchFamily="49" charset="-122"/>
              </a:rPr>
              <a:t>（ </a:t>
            </a:r>
            <a:r>
              <a:rPr lang="el-GR" altLang="zh-CN" sz="28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zh-CN" altLang="en-US" sz="2800" dirty="0">
                <a:ea typeface="黑体" pitchFamily="49" charset="-122"/>
              </a:rPr>
              <a:t>为正实数）</a:t>
            </a:r>
          </a:p>
          <a:p>
            <a:pPr eaLnBrk="1" hangingPunct="1">
              <a:lnSpc>
                <a:spcPct val="95000"/>
              </a:lnSpc>
              <a:buNone/>
            </a:pPr>
            <a:r>
              <a:rPr lang="zh-CN" altLang="en-US" dirty="0"/>
              <a:t>   </a:t>
            </a:r>
            <a:r>
              <a:rPr lang="zh-CN" altLang="en-US" sz="2800" dirty="0"/>
              <a:t> 即：</a:t>
            </a:r>
            <a:r>
              <a:rPr lang="en-US" altLang="zh-CN" sz="2800" dirty="0">
                <a:solidFill>
                  <a:srgbClr val="9900FF"/>
                </a:solidFill>
              </a:rPr>
              <a:t>H</a:t>
            </a:r>
            <a:r>
              <a:rPr lang="el-GR" altLang="zh-CN" sz="2800" b="1" i="1" baseline="-25000" dirty="0">
                <a:solidFill>
                  <a:srgbClr val="99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A=A</a:t>
            </a:r>
            <a:r>
              <a:rPr lang="el-GR" altLang="zh-CN" sz="2800" b="1" i="1" baseline="-25000" dirty="0">
                <a:solidFill>
                  <a:srgbClr val="99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l-GR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 eaLnBrk="1" hangingPunct="1">
              <a:lnSpc>
                <a:spcPct val="95000"/>
              </a:lnSpc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或   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(H</a:t>
            </a:r>
            <a:r>
              <a:rPr lang="el-GR" altLang="zh-CN" sz="2800" b="1" i="1" baseline="-25000" dirty="0">
                <a:solidFill>
                  <a:srgbClr val="99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 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A)(u)=A</a:t>
            </a:r>
            <a:r>
              <a:rPr lang="el-GR" altLang="zh-CN" sz="2800" b="1" i="1" baseline="30000" dirty="0">
                <a:solidFill>
                  <a:srgbClr val="99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(u)=[A(u)]</a:t>
            </a:r>
            <a:r>
              <a:rPr lang="el-GR" altLang="zh-CN" sz="2800" b="1" i="1" baseline="30000" dirty="0">
                <a:solidFill>
                  <a:srgbClr val="9900FF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 </a:t>
            </a:r>
            <a:endParaRPr lang="en-US" altLang="zh-CN" sz="2800" baseline="30000" dirty="0">
              <a:solidFill>
                <a:srgbClr val="9900FF"/>
              </a:solidFill>
              <a:ea typeface="黑体" pitchFamily="49" charset="-122"/>
            </a:endParaRPr>
          </a:p>
          <a:p>
            <a:pPr lvl="1" eaLnBrk="1" hangingPunct="1">
              <a:lnSpc>
                <a:spcPct val="95000"/>
              </a:lnSpc>
            </a:pPr>
            <a:r>
              <a:rPr lang="zh-CN" altLang="en-US" sz="2400" dirty="0">
                <a:ea typeface="黑体" pitchFamily="49" charset="-122"/>
              </a:rPr>
              <a:t>当</a:t>
            </a:r>
            <a:r>
              <a:rPr lang="el-GR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400" dirty="0">
                <a:ea typeface="黑体" pitchFamily="49" charset="-122"/>
              </a:rPr>
              <a:t>&gt;1</a:t>
            </a:r>
            <a:r>
              <a:rPr lang="zh-CN" altLang="en-US" sz="2400" dirty="0">
                <a:ea typeface="黑体" pitchFamily="49" charset="-122"/>
              </a:rPr>
              <a:t>时， </a:t>
            </a:r>
            <a:r>
              <a:rPr lang="en-US" altLang="zh-CN" sz="2400" dirty="0">
                <a:ea typeface="黑体" pitchFamily="49" charset="-122"/>
              </a:rPr>
              <a:t>H</a:t>
            </a:r>
            <a:r>
              <a:rPr lang="el-GR" altLang="zh-CN" sz="2400" b="1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400" dirty="0">
                <a:ea typeface="黑体" pitchFamily="49" charset="-122"/>
              </a:rPr>
              <a:t>A</a:t>
            </a:r>
            <a:r>
              <a:rPr lang="zh-CN" altLang="en-US" sz="2400" dirty="0">
                <a:ea typeface="黑体" pitchFamily="49" charset="-122"/>
              </a:rPr>
              <a:t>叫“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集中化算子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”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400" dirty="0">
                <a:ea typeface="黑体" pitchFamily="49" charset="-122"/>
              </a:rPr>
              <a:t>当</a:t>
            </a:r>
            <a:r>
              <a:rPr lang="el-GR" altLang="zh-CN" sz="24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400" dirty="0">
                <a:ea typeface="黑体" pitchFamily="49" charset="-122"/>
              </a:rPr>
              <a:t>&lt;1</a:t>
            </a:r>
            <a:r>
              <a:rPr lang="zh-CN" altLang="en-US" sz="2400" dirty="0">
                <a:ea typeface="黑体" pitchFamily="49" charset="-122"/>
              </a:rPr>
              <a:t>时， </a:t>
            </a:r>
            <a:r>
              <a:rPr lang="en-US" altLang="zh-CN" sz="2400" dirty="0">
                <a:ea typeface="黑体" pitchFamily="49" charset="-122"/>
              </a:rPr>
              <a:t>H</a:t>
            </a:r>
            <a:r>
              <a:rPr lang="el-GR" altLang="zh-CN" sz="2400" b="1" i="1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 </a:t>
            </a:r>
            <a:r>
              <a:rPr lang="en-US" altLang="zh-CN" sz="2400" dirty="0">
                <a:ea typeface="黑体" pitchFamily="49" charset="-122"/>
              </a:rPr>
              <a:t>A</a:t>
            </a:r>
            <a:r>
              <a:rPr lang="zh-CN" altLang="en-US" sz="2400" dirty="0">
                <a:ea typeface="黑体" pitchFamily="49" charset="-122"/>
              </a:rPr>
              <a:t>叫“</a:t>
            </a:r>
            <a:r>
              <a:rPr lang="zh-CN" altLang="en-US" sz="2400" dirty="0">
                <a:solidFill>
                  <a:srgbClr val="3333FF"/>
                </a:solidFill>
                <a:ea typeface="黑体" pitchFamily="49" charset="-122"/>
              </a:rPr>
              <a:t>散漫化算子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”</a:t>
            </a:r>
          </a:p>
        </p:txBody>
      </p:sp>
      <p:grpSp>
        <p:nvGrpSpPr>
          <p:cNvPr id="107524" name="Group 4"/>
          <p:cNvGrpSpPr>
            <a:grpSpLocks/>
          </p:cNvGrpSpPr>
          <p:nvPr/>
        </p:nvGrpSpPr>
        <p:grpSpPr bwMode="auto">
          <a:xfrm>
            <a:off x="626682" y="3644900"/>
            <a:ext cx="6265863" cy="3213100"/>
            <a:chOff x="1292" y="1480"/>
            <a:chExt cx="3947" cy="2495"/>
          </a:xfrm>
        </p:grpSpPr>
        <p:sp>
          <p:nvSpPr>
            <p:cNvPr id="15365" name="Line 5"/>
            <p:cNvSpPr>
              <a:spLocks noChangeShapeType="1"/>
            </p:cNvSpPr>
            <p:nvPr/>
          </p:nvSpPr>
          <p:spPr bwMode="auto">
            <a:xfrm flipV="1">
              <a:off x="1791" y="1706"/>
              <a:ext cx="2" cy="18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6" name="Line 6"/>
            <p:cNvSpPr>
              <a:spLocks noChangeShapeType="1"/>
            </p:cNvSpPr>
            <p:nvPr/>
          </p:nvSpPr>
          <p:spPr bwMode="auto">
            <a:xfrm>
              <a:off x="1791" y="3612"/>
              <a:ext cx="308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Text Box 7"/>
            <p:cNvSpPr txBox="1">
              <a:spLocks noChangeArrowheads="1"/>
            </p:cNvSpPr>
            <p:nvPr/>
          </p:nvSpPr>
          <p:spPr bwMode="auto">
            <a:xfrm>
              <a:off x="1701" y="3657"/>
              <a:ext cx="3538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                                                                   u</a:t>
              </a:r>
            </a:p>
          </p:txBody>
        </p:sp>
        <p:sp>
          <p:nvSpPr>
            <p:cNvPr id="15368" name="Text Box 8"/>
            <p:cNvSpPr txBox="1">
              <a:spLocks noChangeArrowheads="1"/>
            </p:cNvSpPr>
            <p:nvPr/>
          </p:nvSpPr>
          <p:spPr bwMode="auto">
            <a:xfrm>
              <a:off x="1565" y="2115"/>
              <a:ext cx="45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15369" name="Line 9"/>
            <p:cNvSpPr>
              <a:spLocks noChangeShapeType="1"/>
            </p:cNvSpPr>
            <p:nvPr/>
          </p:nvSpPr>
          <p:spPr bwMode="auto">
            <a:xfrm>
              <a:off x="1837" y="2251"/>
              <a:ext cx="16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Line 10"/>
            <p:cNvSpPr>
              <a:spLocks noChangeShapeType="1"/>
            </p:cNvSpPr>
            <p:nvPr/>
          </p:nvSpPr>
          <p:spPr bwMode="auto">
            <a:xfrm>
              <a:off x="3470" y="2205"/>
              <a:ext cx="2" cy="13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Text Box 11"/>
            <p:cNvSpPr txBox="1">
              <a:spLocks noChangeArrowheads="1"/>
            </p:cNvSpPr>
            <p:nvPr/>
          </p:nvSpPr>
          <p:spPr bwMode="auto">
            <a:xfrm>
              <a:off x="1292" y="1480"/>
              <a:ext cx="1270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    F(u)</a:t>
              </a:r>
            </a:p>
          </p:txBody>
        </p:sp>
        <p:sp>
          <p:nvSpPr>
            <p:cNvPr id="15372" name="Freeform 12"/>
            <p:cNvSpPr>
              <a:spLocks/>
            </p:cNvSpPr>
            <p:nvPr/>
          </p:nvSpPr>
          <p:spPr bwMode="auto">
            <a:xfrm>
              <a:off x="2290" y="2242"/>
              <a:ext cx="2178" cy="1317"/>
            </a:xfrm>
            <a:custGeom>
              <a:avLst/>
              <a:gdLst>
                <a:gd name="T0" fmla="*/ 0 w 1089"/>
                <a:gd name="T1" fmla="*/ 2456 h 945"/>
                <a:gd name="T2" fmla="*/ 1816 w 1089"/>
                <a:gd name="T3" fmla="*/ 2330 h 945"/>
                <a:gd name="T4" fmla="*/ 2904 w 1089"/>
                <a:gd name="T5" fmla="*/ 1718 h 945"/>
                <a:gd name="T6" fmla="*/ 3632 w 1089"/>
                <a:gd name="T7" fmla="*/ 489 h 945"/>
                <a:gd name="T8" fmla="*/ 4720 w 1089"/>
                <a:gd name="T9" fmla="*/ 0 h 945"/>
                <a:gd name="T10" fmla="*/ 5808 w 1089"/>
                <a:gd name="T11" fmla="*/ 489 h 945"/>
                <a:gd name="T12" fmla="*/ 6528 w 1089"/>
                <a:gd name="T13" fmla="*/ 1841 h 945"/>
                <a:gd name="T14" fmla="*/ 8344 w 1089"/>
                <a:gd name="T15" fmla="*/ 2456 h 945"/>
                <a:gd name="T16" fmla="*/ 8712 w 1089"/>
                <a:gd name="T17" fmla="*/ 2456 h 9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9" h="945">
                  <a:moveTo>
                    <a:pt x="0" y="907"/>
                  </a:moveTo>
                  <a:cubicBezTo>
                    <a:pt x="83" y="906"/>
                    <a:pt x="167" y="906"/>
                    <a:pt x="227" y="861"/>
                  </a:cubicBezTo>
                  <a:cubicBezTo>
                    <a:pt x="287" y="816"/>
                    <a:pt x="325" y="748"/>
                    <a:pt x="363" y="635"/>
                  </a:cubicBezTo>
                  <a:cubicBezTo>
                    <a:pt x="401" y="522"/>
                    <a:pt x="416" y="287"/>
                    <a:pt x="454" y="181"/>
                  </a:cubicBezTo>
                  <a:cubicBezTo>
                    <a:pt x="492" y="75"/>
                    <a:pt x="545" y="0"/>
                    <a:pt x="590" y="0"/>
                  </a:cubicBezTo>
                  <a:cubicBezTo>
                    <a:pt x="635" y="0"/>
                    <a:pt x="688" y="68"/>
                    <a:pt x="726" y="181"/>
                  </a:cubicBezTo>
                  <a:cubicBezTo>
                    <a:pt x="764" y="294"/>
                    <a:pt x="763" y="559"/>
                    <a:pt x="816" y="680"/>
                  </a:cubicBezTo>
                  <a:cubicBezTo>
                    <a:pt x="869" y="801"/>
                    <a:pt x="997" y="869"/>
                    <a:pt x="1043" y="907"/>
                  </a:cubicBezTo>
                  <a:cubicBezTo>
                    <a:pt x="1089" y="945"/>
                    <a:pt x="1089" y="926"/>
                    <a:pt x="1089" y="907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3" name="Freeform 13"/>
            <p:cNvSpPr>
              <a:spLocks/>
            </p:cNvSpPr>
            <p:nvPr/>
          </p:nvSpPr>
          <p:spPr bwMode="auto">
            <a:xfrm>
              <a:off x="2245" y="2244"/>
              <a:ext cx="2177" cy="1337"/>
            </a:xfrm>
            <a:custGeom>
              <a:avLst/>
              <a:gdLst>
                <a:gd name="T0" fmla="*/ 0 w 2177"/>
                <a:gd name="T1" fmla="*/ 1322 h 1337"/>
                <a:gd name="T2" fmla="*/ 590 w 2177"/>
                <a:gd name="T3" fmla="*/ 1277 h 1337"/>
                <a:gd name="T4" fmla="*/ 953 w 2177"/>
                <a:gd name="T5" fmla="*/ 1005 h 1337"/>
                <a:gd name="T6" fmla="*/ 1089 w 2177"/>
                <a:gd name="T7" fmla="*/ 279 h 1337"/>
                <a:gd name="T8" fmla="*/ 1225 w 2177"/>
                <a:gd name="T9" fmla="*/ 7 h 1337"/>
                <a:gd name="T10" fmla="*/ 1361 w 2177"/>
                <a:gd name="T11" fmla="*/ 324 h 1337"/>
                <a:gd name="T12" fmla="*/ 1451 w 2177"/>
                <a:gd name="T13" fmla="*/ 959 h 1337"/>
                <a:gd name="T14" fmla="*/ 1769 w 2177"/>
                <a:gd name="T15" fmla="*/ 1277 h 1337"/>
                <a:gd name="T16" fmla="*/ 2177 w 2177"/>
                <a:gd name="T17" fmla="*/ 1322 h 13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77" h="1337">
                  <a:moveTo>
                    <a:pt x="0" y="1322"/>
                  </a:moveTo>
                  <a:cubicBezTo>
                    <a:pt x="215" y="1326"/>
                    <a:pt x="431" y="1330"/>
                    <a:pt x="590" y="1277"/>
                  </a:cubicBezTo>
                  <a:cubicBezTo>
                    <a:pt x="749" y="1224"/>
                    <a:pt x="870" y="1171"/>
                    <a:pt x="953" y="1005"/>
                  </a:cubicBezTo>
                  <a:cubicBezTo>
                    <a:pt x="1036" y="839"/>
                    <a:pt x="1044" y="445"/>
                    <a:pt x="1089" y="279"/>
                  </a:cubicBezTo>
                  <a:cubicBezTo>
                    <a:pt x="1134" y="113"/>
                    <a:pt x="1180" y="0"/>
                    <a:pt x="1225" y="7"/>
                  </a:cubicBezTo>
                  <a:cubicBezTo>
                    <a:pt x="1270" y="14"/>
                    <a:pt x="1323" y="165"/>
                    <a:pt x="1361" y="324"/>
                  </a:cubicBezTo>
                  <a:cubicBezTo>
                    <a:pt x="1399" y="483"/>
                    <a:pt x="1383" y="800"/>
                    <a:pt x="1451" y="959"/>
                  </a:cubicBezTo>
                  <a:cubicBezTo>
                    <a:pt x="1519" y="1118"/>
                    <a:pt x="1648" y="1217"/>
                    <a:pt x="1769" y="1277"/>
                  </a:cubicBezTo>
                  <a:cubicBezTo>
                    <a:pt x="1890" y="1337"/>
                    <a:pt x="2109" y="1314"/>
                    <a:pt x="2177" y="1322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Freeform 14"/>
            <p:cNvSpPr>
              <a:spLocks/>
            </p:cNvSpPr>
            <p:nvPr/>
          </p:nvSpPr>
          <p:spPr bwMode="auto">
            <a:xfrm>
              <a:off x="2109" y="2205"/>
              <a:ext cx="2857" cy="1308"/>
            </a:xfrm>
            <a:custGeom>
              <a:avLst/>
              <a:gdLst>
                <a:gd name="T0" fmla="*/ 0 w 2857"/>
                <a:gd name="T1" fmla="*/ 1308 h 1308"/>
                <a:gd name="T2" fmla="*/ 544 w 2857"/>
                <a:gd name="T3" fmla="*/ 855 h 1308"/>
                <a:gd name="T4" fmla="*/ 952 w 2857"/>
                <a:gd name="T5" fmla="*/ 356 h 1308"/>
                <a:gd name="T6" fmla="*/ 1406 w 2857"/>
                <a:gd name="T7" fmla="*/ 38 h 1308"/>
                <a:gd name="T8" fmla="*/ 2041 w 2857"/>
                <a:gd name="T9" fmla="*/ 583 h 1308"/>
                <a:gd name="T10" fmla="*/ 2540 w 2857"/>
                <a:gd name="T11" fmla="*/ 1036 h 1308"/>
                <a:gd name="T12" fmla="*/ 2857 w 2857"/>
                <a:gd name="T13" fmla="*/ 1263 h 13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57" h="1308">
                  <a:moveTo>
                    <a:pt x="0" y="1308"/>
                  </a:moveTo>
                  <a:cubicBezTo>
                    <a:pt x="192" y="1161"/>
                    <a:pt x="385" y="1014"/>
                    <a:pt x="544" y="855"/>
                  </a:cubicBezTo>
                  <a:cubicBezTo>
                    <a:pt x="703" y="696"/>
                    <a:pt x="808" y="492"/>
                    <a:pt x="952" y="356"/>
                  </a:cubicBezTo>
                  <a:cubicBezTo>
                    <a:pt x="1096" y="220"/>
                    <a:pt x="1225" y="0"/>
                    <a:pt x="1406" y="38"/>
                  </a:cubicBezTo>
                  <a:cubicBezTo>
                    <a:pt x="1587" y="76"/>
                    <a:pt x="1852" y="417"/>
                    <a:pt x="2041" y="583"/>
                  </a:cubicBezTo>
                  <a:cubicBezTo>
                    <a:pt x="2230" y="749"/>
                    <a:pt x="2404" y="923"/>
                    <a:pt x="2540" y="1036"/>
                  </a:cubicBezTo>
                  <a:cubicBezTo>
                    <a:pt x="2676" y="1149"/>
                    <a:pt x="2804" y="1225"/>
                    <a:pt x="2857" y="1263"/>
                  </a:cubicBez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375" name="AutoShape 15"/>
            <p:cNvSpPr>
              <a:spLocks noChangeArrowheads="1"/>
            </p:cNvSpPr>
            <p:nvPr/>
          </p:nvSpPr>
          <p:spPr bwMode="auto">
            <a:xfrm>
              <a:off x="4193" y="2046"/>
              <a:ext cx="680" cy="318"/>
            </a:xfrm>
            <a:prstGeom prst="wedgeRoundRectCallout">
              <a:avLst>
                <a:gd name="adj1" fmla="val -101704"/>
                <a:gd name="adj2" fmla="val 166329"/>
                <a:gd name="adj3" fmla="val 16667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400" b="1">
                  <a:ea typeface="楷体_GB2312" pitchFamily="49" charset="-122"/>
                </a:rPr>
                <a:t>原形</a:t>
              </a:r>
            </a:p>
          </p:txBody>
        </p:sp>
        <p:sp>
          <p:nvSpPr>
            <p:cNvPr id="15376" name="AutoShape 16"/>
            <p:cNvSpPr>
              <a:spLocks noChangeArrowheads="1"/>
            </p:cNvSpPr>
            <p:nvPr/>
          </p:nvSpPr>
          <p:spPr bwMode="auto">
            <a:xfrm>
              <a:off x="2744" y="3657"/>
              <a:ext cx="817" cy="318"/>
            </a:xfrm>
            <a:prstGeom prst="wedgeRoundRectCallout">
              <a:avLst>
                <a:gd name="adj1" fmla="val 75213"/>
                <a:gd name="adj2" fmla="val -162264"/>
                <a:gd name="adj3" fmla="val 16667"/>
              </a:avLst>
            </a:prstGeom>
            <a:solidFill>
              <a:srgbClr val="66FF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集中化</a:t>
              </a:r>
            </a:p>
          </p:txBody>
        </p:sp>
        <p:sp>
          <p:nvSpPr>
            <p:cNvPr id="15377" name="AutoShape 17"/>
            <p:cNvSpPr>
              <a:spLocks noChangeArrowheads="1"/>
            </p:cNvSpPr>
            <p:nvPr/>
          </p:nvSpPr>
          <p:spPr bwMode="auto">
            <a:xfrm>
              <a:off x="2064" y="2478"/>
              <a:ext cx="816" cy="318"/>
            </a:xfrm>
            <a:prstGeom prst="wedgeRoundRectCallout">
              <a:avLst>
                <a:gd name="adj1" fmla="val 24509"/>
                <a:gd name="adj2" fmla="val 122644"/>
                <a:gd name="adj3" fmla="val 16667"/>
              </a:avLst>
            </a:prstGeom>
            <a:solidFill>
              <a:srgbClr val="FBF35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zh-CN" altLang="en-US" sz="2400" b="1">
                  <a:solidFill>
                    <a:srgbClr val="3333FF"/>
                  </a:solidFill>
                  <a:ea typeface="楷体_GB2312" pitchFamily="49" charset="-122"/>
                </a:rPr>
                <a:t>散漫化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A890245-FCAA-0AA4-55CA-974730C18D36}"/>
              </a:ext>
            </a:extLst>
          </p:cNvPr>
          <p:cNvSpPr txBox="1"/>
          <p:nvPr/>
        </p:nvSpPr>
        <p:spPr>
          <a:xfrm>
            <a:off x="8098699" y="2780928"/>
            <a:ext cx="4006402" cy="2895601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49" charset="-122"/>
              </a:rPr>
              <a:t>4 </a:t>
            </a:r>
            <a:r>
              <a:rPr lang="en-US" altLang="zh-CN" sz="28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相当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FF0000"/>
                </a:solidFill>
                <a:ea typeface="黑体" pitchFamily="49" charset="-122"/>
              </a:rPr>
              <a:t>1.25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比较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3333FF"/>
                </a:solidFill>
                <a:ea typeface="黑体" pitchFamily="49" charset="-122"/>
              </a:rPr>
              <a:t>0.75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3333FF"/>
                </a:solidFill>
                <a:ea typeface="黑体" pitchFamily="49" charset="-122"/>
              </a:rPr>
              <a:t>0.5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800" baseline="30000" dirty="0">
                <a:solidFill>
                  <a:srgbClr val="3333FF"/>
                </a:solidFill>
                <a:ea typeface="黑体" pitchFamily="49" charset="-122"/>
              </a:rPr>
              <a:t>0.25 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468C1D-911A-D8BA-B196-75F5F29181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76251"/>
            <a:ext cx="3538538" cy="8112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语气算子举例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7368" y="1366107"/>
            <a:ext cx="8435975" cy="6477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设年龄论域</a:t>
            </a:r>
            <a:r>
              <a:rPr lang="en-US" altLang="zh-CN" dirty="0"/>
              <a:t>U=[0,200]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01382400"/>
              </p:ext>
            </p:extLst>
          </p:nvPr>
        </p:nvGraphicFramePr>
        <p:xfrm>
          <a:off x="2207569" y="1844675"/>
          <a:ext cx="5553721" cy="1273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43120" imgH="812520" progId="Equation.DSMT4">
                  <p:embed/>
                </p:oleObj>
              </mc:Choice>
              <mc:Fallback>
                <p:oleObj name="Equation" r:id="rId2" imgW="3543120" imgH="8125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9" y="1844675"/>
                        <a:ext cx="5553721" cy="1273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75410394"/>
              </p:ext>
            </p:extLst>
          </p:nvPr>
        </p:nvGraphicFramePr>
        <p:xfrm>
          <a:off x="1775521" y="5581650"/>
          <a:ext cx="6100763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27400" imgH="863280" progId="Equation.DSMT4">
                  <p:embed/>
                </p:oleObj>
              </mc:Choice>
              <mc:Fallback>
                <p:oleObj name="Equation" r:id="rId4" imgW="4127400" imgH="8632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5581650"/>
                        <a:ext cx="6100763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011610"/>
              </p:ext>
            </p:extLst>
          </p:nvPr>
        </p:nvGraphicFramePr>
        <p:xfrm>
          <a:off x="1991544" y="3068961"/>
          <a:ext cx="6192838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43120" imgH="812520" progId="Equation.DSMT4">
                  <p:embed/>
                </p:oleObj>
              </mc:Choice>
              <mc:Fallback>
                <p:oleObj name="Equation" r:id="rId6" imgW="3543120" imgH="8125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3068961"/>
                        <a:ext cx="6192838" cy="142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630439"/>
              </p:ext>
            </p:extLst>
          </p:nvPr>
        </p:nvGraphicFramePr>
        <p:xfrm>
          <a:off x="1829287" y="4453286"/>
          <a:ext cx="6138377" cy="142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33560" imgH="863280" progId="Equation.DSMT4">
                  <p:embed/>
                </p:oleObj>
              </mc:Choice>
              <mc:Fallback>
                <p:oleObj name="Equation" r:id="rId8" imgW="3733560" imgH="8632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287" y="4453286"/>
                        <a:ext cx="6138377" cy="1423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Oval 16"/>
          <p:cNvSpPr>
            <a:spLocks noChangeArrowheads="1"/>
          </p:cNvSpPr>
          <p:nvPr/>
        </p:nvSpPr>
        <p:spPr bwMode="auto">
          <a:xfrm>
            <a:off x="5881242" y="2132857"/>
            <a:ext cx="358775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5" name="Oval 17"/>
          <p:cNvSpPr>
            <a:spLocks noChangeArrowheads="1"/>
          </p:cNvSpPr>
          <p:nvPr/>
        </p:nvSpPr>
        <p:spPr bwMode="auto">
          <a:xfrm>
            <a:off x="6095431" y="3356670"/>
            <a:ext cx="358775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6" name="Oval 18"/>
          <p:cNvSpPr>
            <a:spLocks noChangeArrowheads="1"/>
          </p:cNvSpPr>
          <p:nvPr/>
        </p:nvSpPr>
        <p:spPr bwMode="auto">
          <a:xfrm>
            <a:off x="5951985" y="4868838"/>
            <a:ext cx="358775" cy="36036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47" name="Oval 19"/>
          <p:cNvSpPr>
            <a:spLocks noChangeArrowheads="1"/>
          </p:cNvSpPr>
          <p:nvPr/>
        </p:nvSpPr>
        <p:spPr bwMode="auto">
          <a:xfrm>
            <a:off x="6087667" y="5948958"/>
            <a:ext cx="358775" cy="36036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32127"/>
              </p:ext>
            </p:extLst>
          </p:nvPr>
        </p:nvGraphicFramePr>
        <p:xfrm>
          <a:off x="6343227" y="408355"/>
          <a:ext cx="4608513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90800" imgH="736600" progId="Equation.3">
                  <p:embed/>
                </p:oleObj>
              </mc:Choice>
              <mc:Fallback>
                <p:oleObj name="公式" r:id="rId10" imgW="2590800" imgH="736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227" y="408355"/>
                        <a:ext cx="4608513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036527" y="2578100"/>
            <a:ext cx="3023988" cy="334457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4 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相当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1.25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比较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0.75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0.5 </a:t>
            </a:r>
            <a:r>
              <a:rPr lang="en-US" altLang="zh-CN" sz="2400" dirty="0">
                <a:solidFill>
                  <a:srgbClr val="7030A0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A]=[A]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0.25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BF73F22-6872-EFCA-C53D-22D59C744E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4" grpId="0" animBg="1"/>
      <p:bldP spid="22545" grpId="0" animBg="1"/>
      <p:bldP spid="22546" grpId="0" animBg="1"/>
      <p:bldP spid="22547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DB792CB9-5B33-4E84-9A84-66BD9C661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9" y="2132857"/>
            <a:ext cx="6954371" cy="4279613"/>
          </a:xfr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D786759-3548-460E-A4B0-60CD9DBB3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语气算子举例</a:t>
            </a:r>
          </a:p>
        </p:txBody>
      </p:sp>
      <p:graphicFrame>
        <p:nvGraphicFramePr>
          <p:cNvPr id="11" name="Object 20">
            <a:extLst>
              <a:ext uri="{FF2B5EF4-FFF2-40B4-BE49-F238E27FC236}">
                <a16:creationId xmlns:a16="http://schemas.microsoft.com/office/drawing/2014/main" id="{F3C91594-108A-4CF7-B2CF-F0BFC2200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515162"/>
              </p:ext>
            </p:extLst>
          </p:nvPr>
        </p:nvGraphicFramePr>
        <p:xfrm>
          <a:off x="7213284" y="2567020"/>
          <a:ext cx="3897312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812520" progId="Equation.DSMT4">
                  <p:embed/>
                </p:oleObj>
              </mc:Choice>
              <mc:Fallback>
                <p:oleObj name="Equation" r:id="rId3" imgW="2438280" imgH="812520" progId="Equation.DSMT4">
                  <p:embed/>
                  <p:pic>
                    <p:nvPicPr>
                      <p:cNvPr id="163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284" y="2567020"/>
                        <a:ext cx="3897312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D79B722-FFA8-4385-8C9F-D200BA6D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0600" y="3964654"/>
            <a:ext cx="3324633" cy="223657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4 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0.5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</a:t>
            </a:r>
            <a:endParaRPr lang="en-US" altLang="zh-CN" sz="2400" baseline="30000" dirty="0">
              <a:solidFill>
                <a:schemeClr val="bg2"/>
              </a:solidFill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0.25</a:t>
            </a: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DE05FD6F-E51C-4046-ADD2-7F7AB70E2508}"/>
              </a:ext>
            </a:extLst>
          </p:cNvPr>
          <p:cNvSpPr/>
          <p:nvPr/>
        </p:nvSpPr>
        <p:spPr>
          <a:xfrm>
            <a:off x="1556592" y="1554634"/>
            <a:ext cx="1584176" cy="578223"/>
          </a:xfrm>
          <a:prstGeom prst="wedgeRoundRectCallout">
            <a:avLst>
              <a:gd name="adj1" fmla="val 23579"/>
              <a:gd name="adj2" fmla="val 2095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zh-CN" altLang="en-US" sz="2000" dirty="0">
                <a:solidFill>
                  <a:schemeClr val="bg2"/>
                </a:solidFill>
                <a:ea typeface="黑体" pitchFamily="49" charset="-122"/>
              </a:rPr>
              <a:t>老</a:t>
            </a:r>
            <a:endParaRPr lang="zh-CN" altLang="en-US" sz="2000" dirty="0"/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41F32460-C6C7-4A8F-859F-31CFAC696199}"/>
              </a:ext>
            </a:extLst>
          </p:cNvPr>
          <p:cNvSpPr/>
          <p:nvPr/>
        </p:nvSpPr>
        <p:spPr>
          <a:xfrm>
            <a:off x="3791744" y="1333227"/>
            <a:ext cx="1368152" cy="578223"/>
          </a:xfrm>
          <a:prstGeom prst="wedgeRoundRectCallout">
            <a:avLst>
              <a:gd name="adj1" fmla="val -55408"/>
              <a:gd name="adj2" fmla="val 159604"/>
              <a:gd name="adj3" fmla="val 16667"/>
            </a:avLst>
          </a:prstGeom>
          <a:solidFill>
            <a:srgbClr val="00B050"/>
          </a:solidFill>
          <a:ln>
            <a:solidFill>
              <a:srgbClr val="228A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sz="2000" dirty="0">
                <a:solidFill>
                  <a:schemeClr val="bg2"/>
                </a:solidFill>
                <a:ea typeface="黑体" pitchFamily="49" charset="-122"/>
              </a:rPr>
              <a:t>老</a:t>
            </a:r>
            <a:endParaRPr lang="zh-CN" altLang="en-US" sz="2000" dirty="0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14F04FD3-8CDA-4C82-9470-23C7F674FA52}"/>
              </a:ext>
            </a:extLst>
          </p:cNvPr>
          <p:cNvSpPr/>
          <p:nvPr/>
        </p:nvSpPr>
        <p:spPr>
          <a:xfrm>
            <a:off x="3831159" y="5212279"/>
            <a:ext cx="1052972" cy="578223"/>
          </a:xfrm>
          <a:prstGeom prst="wedgeRoundRectCallout">
            <a:avLst>
              <a:gd name="adj1" fmla="val -119769"/>
              <a:gd name="adj2" fmla="val 48629"/>
              <a:gd name="adj3" fmla="val 16667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000" dirty="0">
                <a:solidFill>
                  <a:schemeClr val="bg2"/>
                </a:solidFill>
                <a:ea typeface="黑体" pitchFamily="49" charset="-122"/>
              </a:rPr>
              <a:t>老</a:t>
            </a:r>
            <a:endParaRPr lang="zh-CN" altLang="en-US" sz="2000" dirty="0"/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1A4C9331-5754-4618-A939-561563FC649C}"/>
              </a:ext>
            </a:extLst>
          </p:cNvPr>
          <p:cNvSpPr/>
          <p:nvPr/>
        </p:nvSpPr>
        <p:spPr>
          <a:xfrm>
            <a:off x="4073644" y="4347748"/>
            <a:ext cx="1086253" cy="578223"/>
          </a:xfrm>
          <a:prstGeom prst="wedgeRoundRectCallout">
            <a:avLst>
              <a:gd name="adj1" fmla="val -116165"/>
              <a:gd name="adj2" fmla="val -92864"/>
              <a:gd name="adj3" fmla="val 16667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000" dirty="0">
                <a:solidFill>
                  <a:schemeClr val="bg2"/>
                </a:solidFill>
                <a:ea typeface="黑体" pitchFamily="49" charset="-122"/>
              </a:rPr>
              <a:t>老</a:t>
            </a:r>
            <a:endParaRPr lang="zh-CN" altLang="en-US" sz="2000" dirty="0"/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4BC6760E-CBEB-4D51-9CB3-A6805B7CA46E}"/>
              </a:ext>
            </a:extLst>
          </p:cNvPr>
          <p:cNvSpPr/>
          <p:nvPr/>
        </p:nvSpPr>
        <p:spPr>
          <a:xfrm>
            <a:off x="4884132" y="3337260"/>
            <a:ext cx="960165" cy="578223"/>
          </a:xfrm>
          <a:prstGeom prst="wedgeRoundRectCallout">
            <a:avLst>
              <a:gd name="adj1" fmla="val -190597"/>
              <a:gd name="adj2" fmla="val -98413"/>
              <a:gd name="adj3" fmla="val 166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ea typeface="黑体" pitchFamily="49" charset="-122"/>
              </a:rPr>
              <a:t>老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EE586C-EDE8-382F-4A13-913FFA6A15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31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4" descr="图示&#10;&#10;中度可信度描述已自动生成">
            <a:extLst>
              <a:ext uri="{FF2B5EF4-FFF2-40B4-BE49-F238E27FC236}">
                <a16:creationId xmlns:a16="http://schemas.microsoft.com/office/drawing/2014/main" id="{9A21556B-4AFD-EDF4-FA4C-4D40CAAF54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51" b="14320"/>
          <a:stretch/>
        </p:blipFill>
        <p:spPr bwMode="auto">
          <a:xfrm>
            <a:off x="1981201" y="1638746"/>
            <a:ext cx="8038436" cy="4958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4D786759-3548-460E-A4B0-60CD9DBB3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语气算子举例</a:t>
            </a:r>
          </a:p>
        </p:txBody>
      </p:sp>
      <p:graphicFrame>
        <p:nvGraphicFramePr>
          <p:cNvPr id="11" name="Object 20">
            <a:extLst>
              <a:ext uri="{FF2B5EF4-FFF2-40B4-BE49-F238E27FC236}">
                <a16:creationId xmlns:a16="http://schemas.microsoft.com/office/drawing/2014/main" id="{F3C91594-108A-4CF7-B2CF-F0BFC22007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068285"/>
              </p:ext>
            </p:extLst>
          </p:nvPr>
        </p:nvGraphicFramePr>
        <p:xfrm>
          <a:off x="6888088" y="2586950"/>
          <a:ext cx="3897312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812520" progId="Equation.DSMT4">
                  <p:embed/>
                </p:oleObj>
              </mc:Choice>
              <mc:Fallback>
                <p:oleObj name="Equation" r:id="rId3" imgW="2438280" imgH="812520" progId="Equation.DSMT4">
                  <p:embed/>
                  <p:pic>
                    <p:nvPicPr>
                      <p:cNvPr id="11" name="Object 20">
                        <a:extLst>
                          <a:ext uri="{FF2B5EF4-FFF2-40B4-BE49-F238E27FC236}">
                            <a16:creationId xmlns:a16="http://schemas.microsoft.com/office/drawing/2014/main" id="{F3C91594-108A-4CF7-B2CF-F0BFC2200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2586950"/>
                        <a:ext cx="3897312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3D79B722-FFA8-4385-8C9F-D200BA6D7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505" y="3962444"/>
            <a:ext cx="3180617" cy="2236574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4 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FF0000"/>
                </a:solidFill>
                <a:ea typeface="黑体" pitchFamily="49" charset="-122"/>
              </a:rPr>
              <a:t>2</a:t>
            </a:r>
            <a:r>
              <a:rPr lang="en-US" altLang="zh-CN" sz="2400" baseline="30000" dirty="0">
                <a:solidFill>
                  <a:schemeClr val="bg2"/>
                </a:solidFill>
                <a:ea typeface="黑体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0.5 </a:t>
            </a:r>
            <a:r>
              <a:rPr lang="en-US" altLang="zh-CN" sz="2400" dirty="0">
                <a:solidFill>
                  <a:srgbClr val="7030A0"/>
                </a:solidFill>
                <a:ea typeface="黑体" pitchFamily="49" charset="-122"/>
              </a:rPr>
              <a:t> </a:t>
            </a:r>
            <a:endParaRPr lang="en-US" altLang="zh-CN" sz="2400" baseline="30000" dirty="0">
              <a:solidFill>
                <a:srgbClr val="7030A0"/>
              </a:solidFill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ea typeface="黑体" pitchFamily="49" charset="-122"/>
              </a:rPr>
              <a:t>稍微有点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]=[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r>
              <a:rPr lang="en-US" altLang="zh-CN" sz="2400" dirty="0">
                <a:solidFill>
                  <a:schemeClr val="bg2"/>
                </a:solidFill>
                <a:ea typeface="黑体" pitchFamily="49" charset="-122"/>
              </a:rPr>
              <a:t>]</a:t>
            </a:r>
            <a:r>
              <a:rPr lang="en-US" altLang="zh-CN" sz="2400" baseline="30000" dirty="0">
                <a:solidFill>
                  <a:srgbClr val="7030A0"/>
                </a:solidFill>
                <a:ea typeface="黑体" pitchFamily="49" charset="-122"/>
              </a:rPr>
              <a:t>0.25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41F32460-C6C7-4A8F-859F-31CFAC696199}"/>
              </a:ext>
            </a:extLst>
          </p:cNvPr>
          <p:cNvSpPr/>
          <p:nvPr/>
        </p:nvSpPr>
        <p:spPr>
          <a:xfrm>
            <a:off x="3719736" y="1266602"/>
            <a:ext cx="1368152" cy="578223"/>
          </a:xfrm>
          <a:prstGeom prst="wedgeRoundRectCallout">
            <a:avLst>
              <a:gd name="adj1" fmla="val -55408"/>
              <a:gd name="adj2" fmla="val 159604"/>
              <a:gd name="adj3" fmla="val 16667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有点</a:t>
            </a:r>
            <a:r>
              <a:rPr lang="zh-CN" altLang="en-US" sz="2800" dirty="0">
                <a:solidFill>
                  <a:schemeClr val="bg1"/>
                </a:solidFill>
                <a:ea typeface="黑体" pitchFamily="49" charset="-122"/>
              </a:rPr>
              <a:t>老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14F04FD3-8CDA-4C82-9470-23C7F674FA52}"/>
              </a:ext>
            </a:extLst>
          </p:cNvPr>
          <p:cNvSpPr/>
          <p:nvPr/>
        </p:nvSpPr>
        <p:spPr>
          <a:xfrm>
            <a:off x="3831159" y="5212279"/>
            <a:ext cx="1052972" cy="578223"/>
          </a:xfrm>
          <a:prstGeom prst="wedgeRoundRectCallout">
            <a:avLst>
              <a:gd name="adj1" fmla="val -119769"/>
              <a:gd name="adj2" fmla="val 48629"/>
              <a:gd name="adj3" fmla="val 16667"/>
            </a:avLst>
          </a:prstGeom>
          <a:solidFill>
            <a:srgbClr val="5D3EA4"/>
          </a:solidFill>
          <a:ln>
            <a:solidFill>
              <a:srgbClr val="6042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极</a:t>
            </a:r>
            <a:r>
              <a:rPr lang="zh-CN" altLang="en-US" sz="2800" dirty="0">
                <a:solidFill>
                  <a:schemeClr val="bg1"/>
                </a:solidFill>
                <a:ea typeface="黑体" pitchFamily="49" charset="-122"/>
              </a:rPr>
              <a:t>老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1A4C9331-5754-4618-A939-561563FC649C}"/>
              </a:ext>
            </a:extLst>
          </p:cNvPr>
          <p:cNvSpPr/>
          <p:nvPr/>
        </p:nvSpPr>
        <p:spPr>
          <a:xfrm>
            <a:off x="4073644" y="4347748"/>
            <a:ext cx="1086253" cy="578223"/>
          </a:xfrm>
          <a:prstGeom prst="wedgeRoundRectCallout">
            <a:avLst>
              <a:gd name="adj1" fmla="val -116165"/>
              <a:gd name="adj2" fmla="val -92864"/>
              <a:gd name="adj3" fmla="val 16667"/>
            </a:avLst>
          </a:prstGeom>
          <a:solidFill>
            <a:srgbClr val="388C46"/>
          </a:solidFill>
          <a:ln>
            <a:solidFill>
              <a:srgbClr val="388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很</a:t>
            </a:r>
            <a:r>
              <a:rPr lang="zh-CN" altLang="en-US" sz="2800" dirty="0">
                <a:solidFill>
                  <a:schemeClr val="bg1"/>
                </a:solidFill>
                <a:ea typeface="黑体" pitchFamily="49" charset="-122"/>
              </a:rPr>
              <a:t>老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4BC6760E-CBEB-4D51-9CB3-A6805B7CA46E}"/>
              </a:ext>
            </a:extLst>
          </p:cNvPr>
          <p:cNvSpPr/>
          <p:nvPr/>
        </p:nvSpPr>
        <p:spPr>
          <a:xfrm>
            <a:off x="4884132" y="3337260"/>
            <a:ext cx="960165" cy="578223"/>
          </a:xfrm>
          <a:prstGeom prst="wedgeRoundRectCallout">
            <a:avLst>
              <a:gd name="adj1" fmla="val -190597"/>
              <a:gd name="adj2" fmla="val -98413"/>
              <a:gd name="adj3" fmla="val 16667"/>
            </a:avLst>
          </a:prstGeom>
          <a:solidFill>
            <a:srgbClr val="C7433F"/>
          </a:solidFill>
          <a:ln>
            <a:solidFill>
              <a:srgbClr val="C7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ea typeface="黑体" pitchFamily="49" charset="-122"/>
              </a:rPr>
              <a:t>老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2E685093-5DBE-27F8-8699-8F08E4094324}"/>
              </a:ext>
            </a:extLst>
          </p:cNvPr>
          <p:cNvCxnSpPr/>
          <p:nvPr/>
        </p:nvCxnSpPr>
        <p:spPr>
          <a:xfrm flipV="1">
            <a:off x="1981200" y="1124744"/>
            <a:ext cx="154360" cy="5184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DE05FD6F-E51C-4046-ADD2-7F7AB70E2508}"/>
              </a:ext>
            </a:extLst>
          </p:cNvPr>
          <p:cNvSpPr/>
          <p:nvPr/>
        </p:nvSpPr>
        <p:spPr>
          <a:xfrm>
            <a:off x="1556592" y="1412777"/>
            <a:ext cx="1781481" cy="578223"/>
          </a:xfrm>
          <a:prstGeom prst="wedgeRoundRectCallout">
            <a:avLst>
              <a:gd name="adj1" fmla="val 16472"/>
              <a:gd name="adj2" fmla="val 192512"/>
              <a:gd name="adj3" fmla="val 16667"/>
            </a:avLst>
          </a:prstGeom>
          <a:solidFill>
            <a:srgbClr val="FA7E19"/>
          </a:solidFill>
          <a:ln>
            <a:solidFill>
              <a:srgbClr val="D5AB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FF00"/>
                </a:solidFill>
                <a:ea typeface="黑体" pitchFamily="49" charset="-122"/>
              </a:rPr>
              <a:t>稍微有点</a:t>
            </a:r>
            <a:r>
              <a:rPr lang="zh-CN" altLang="en-US" sz="2400" dirty="0">
                <a:solidFill>
                  <a:schemeClr val="bg2"/>
                </a:solidFill>
                <a:ea typeface="黑体" pitchFamily="49" charset="-122"/>
              </a:rPr>
              <a:t>老</a:t>
            </a:r>
            <a:endParaRPr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1726C0-F06A-2A8F-5B97-B6B7BBA61E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01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化算子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12876"/>
            <a:ext cx="10441160" cy="5256213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大概</a:t>
            </a:r>
            <a:r>
              <a:rPr lang="zh-CN" altLang="en-US" sz="2800" dirty="0">
                <a:ea typeface="黑体" pitchFamily="49" charset="-122"/>
              </a:rPr>
              <a:t>”、“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好象</a:t>
            </a:r>
            <a:r>
              <a:rPr lang="zh-CN" altLang="en-US" sz="2800" dirty="0">
                <a:ea typeface="黑体" pitchFamily="49" charset="-122"/>
              </a:rPr>
              <a:t>”、“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近似于</a:t>
            </a:r>
            <a:r>
              <a:rPr lang="zh-CN" altLang="en-US" sz="2800" dirty="0">
                <a:ea typeface="黑体" pitchFamily="49" charset="-122"/>
              </a:rPr>
              <a:t>”等词也是一个算子，若把它们放在一个词的前面，可将原来确切的词义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化</a:t>
            </a:r>
            <a:r>
              <a:rPr lang="en-US" altLang="zh-CN" sz="2800" dirty="0">
                <a:ea typeface="黑体" pitchFamily="49" charset="-122"/>
              </a:rPr>
              <a:t>——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化算子</a:t>
            </a:r>
          </a:p>
          <a:p>
            <a:pPr eaLnBrk="1" hangingPunct="1"/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化算子的作用相当于</a:t>
            </a:r>
            <a:r>
              <a:rPr lang="en-US" altLang="zh-CN" sz="2800" dirty="0">
                <a:ea typeface="黑体" pitchFamily="49" charset="-122"/>
              </a:rPr>
              <a:t>F</a:t>
            </a:r>
            <a:r>
              <a:rPr lang="zh-CN" altLang="en-US" sz="2800" dirty="0">
                <a:ea typeface="黑体" pitchFamily="49" charset="-122"/>
              </a:rPr>
              <a:t>变换：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       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latin typeface="ITC Zapf Chancery" pitchFamily="66" charset="0"/>
                <a:ea typeface="黑体" pitchFamily="49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(U) →</a:t>
            </a:r>
            <a:r>
              <a:rPr lang="en-US" altLang="zh-CN" dirty="0">
                <a:solidFill>
                  <a:srgbClr val="FF0000"/>
                </a:solidFill>
                <a:latin typeface="Monotype Corsiva" pitchFamily="66" charset="0"/>
                <a:ea typeface="黑体" pitchFamily="49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(U)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F(A)(u)=(E </a:t>
            </a:r>
            <a:r>
              <a:rPr lang="en-US" altLang="zh-CN" sz="2800" b="1" dirty="0">
                <a:solidFill>
                  <a:srgbClr val="FF0000"/>
                </a:solidFill>
              </a:rPr>
              <a:t>◦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 A)(u)=∨(E(u, v)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  <a:sym typeface="Symbol"/>
              </a:rPr>
              <a:t>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A(v))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                                   </a:t>
            </a:r>
            <a:r>
              <a:rPr lang="en-US" altLang="zh-CN" sz="2800" baseline="50000" dirty="0" err="1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sz="2800" baseline="50000" dirty="0" err="1">
                <a:solidFill>
                  <a:srgbClr val="FF0000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aseline="50000" dirty="0" err="1">
                <a:solidFill>
                  <a:srgbClr val="FF0000"/>
                </a:solidFill>
                <a:ea typeface="黑体" pitchFamily="49" charset="-122"/>
              </a:rPr>
              <a:t>U</a:t>
            </a:r>
            <a:endParaRPr lang="en-US" altLang="zh-CN" sz="2800" baseline="50000" dirty="0">
              <a:solidFill>
                <a:srgbClr val="FF0000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aseline="50000" dirty="0">
                <a:solidFill>
                  <a:srgbClr val="3333FF"/>
                </a:solidFill>
                <a:ea typeface="黑体" pitchFamily="49" charset="-122"/>
              </a:rPr>
              <a:t>    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这里，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E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U</a:t>
            </a:r>
            <a:r>
              <a:rPr lang="en-US" altLang="en-US" sz="2800" dirty="0">
                <a:solidFill>
                  <a:srgbClr val="3333FF"/>
                </a:solidFill>
                <a:ea typeface="黑体" pitchFamily="49" charset="-122"/>
              </a:rPr>
              <a:t>×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U 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是 </a:t>
            </a:r>
            <a:r>
              <a:rPr lang="en-US" altLang="zh-CN" sz="2800" dirty="0">
                <a:solidFill>
                  <a:srgbClr val="3333FF"/>
                </a:solidFill>
                <a:ea typeface="黑体" pitchFamily="49" charset="-122"/>
              </a:rPr>
              <a:t>U </a:t>
            </a:r>
            <a:r>
              <a:rPr lang="zh-CN" altLang="en-US" sz="2800" dirty="0">
                <a:solidFill>
                  <a:srgbClr val="3333FF"/>
                </a:solidFill>
                <a:ea typeface="黑体" pitchFamily="49" charset="-122"/>
              </a:rPr>
              <a:t>上的一个相似关系，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   当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U=(-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sym typeface="Symbol"/>
              </a:rPr>
              <a:t>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,+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sym typeface="Symbol"/>
              </a:rPr>
              <a:t> 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时，常取</a:t>
            </a:r>
            <a:endParaRPr lang="zh-CN" altLang="en-US" sz="2400" dirty="0">
              <a:solidFill>
                <a:schemeClr val="bg2"/>
              </a:solidFill>
              <a:ea typeface="黑体" pitchFamily="49" charset="-122"/>
            </a:endParaRPr>
          </a:p>
        </p:txBody>
      </p:sp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640013" y="5445125"/>
          <a:ext cx="6913562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4000" imgH="533400" progId="Equation.3">
                  <p:embed/>
                </p:oleObj>
              </mc:Choice>
              <mc:Fallback>
                <p:oleObj name="公式" r:id="rId2" imgW="27940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445125"/>
                        <a:ext cx="6913562" cy="13160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D149EC-8547-43C9-05C3-E3E8C9060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&#10;&#10;低可信度描述已自动生成">
            <a:extLst>
              <a:ext uri="{FF2B5EF4-FFF2-40B4-BE49-F238E27FC236}">
                <a16:creationId xmlns:a16="http://schemas.microsoft.com/office/drawing/2014/main" id="{1DA93257-2D5C-6497-28DB-7C0EC7667F5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9"/>
          <a:stretch/>
        </p:blipFill>
        <p:spPr>
          <a:xfrm>
            <a:off x="6528048" y="4652963"/>
            <a:ext cx="2553230" cy="1965323"/>
          </a:xfrm>
          <a:prstGeom prst="rect">
            <a:avLst/>
          </a:prstGeom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739775"/>
          </a:xfrm>
        </p:spPr>
        <p:txBody>
          <a:bodyPr/>
          <a:lstStyle/>
          <a:p>
            <a:pPr algn="ctr" eaLnBrk="1" hangingPunct="1"/>
            <a:r>
              <a:rPr lang="en-US" altLang="zh-CN" sz="4000">
                <a:solidFill>
                  <a:srgbClr val="228A2E"/>
                </a:solidFill>
              </a:rPr>
              <a:t>F </a:t>
            </a:r>
            <a:r>
              <a:rPr lang="zh-CN" altLang="en-US" sz="4000">
                <a:solidFill>
                  <a:srgbClr val="228A2E"/>
                </a:solidFill>
                <a:ea typeface="黑体" pitchFamily="49" charset="-122"/>
              </a:rPr>
              <a:t>化算子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1296" y="1412776"/>
            <a:ext cx="4038600" cy="941824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例，设</a:t>
            </a:r>
          </a:p>
        </p:txBody>
      </p:sp>
      <p:graphicFrame>
        <p:nvGraphicFramePr>
          <p:cNvPr id="1843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50258321"/>
              </p:ext>
            </p:extLst>
          </p:nvPr>
        </p:nvGraphicFramePr>
        <p:xfrm>
          <a:off x="2728650" y="1259226"/>
          <a:ext cx="51117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641600" imgH="482600" progId="Equation.3">
                  <p:embed/>
                </p:oleObj>
              </mc:Choice>
              <mc:Fallback>
                <p:oleObj name="公式" r:id="rId3" imgW="26416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650" y="1259226"/>
                        <a:ext cx="51117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000802138"/>
              </p:ext>
            </p:extLst>
          </p:nvPr>
        </p:nvGraphicFramePr>
        <p:xfrm>
          <a:off x="1487488" y="2420888"/>
          <a:ext cx="53292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62200" imgH="279400" progId="Equation.3">
                  <p:embed/>
                </p:oleObj>
              </mc:Choice>
              <mc:Fallback>
                <p:oleObj name="公式" r:id="rId5" imgW="23622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420888"/>
                        <a:ext cx="532923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870293"/>
              </p:ext>
            </p:extLst>
          </p:nvPr>
        </p:nvGraphicFramePr>
        <p:xfrm>
          <a:off x="1487488" y="3212976"/>
          <a:ext cx="7443787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670300" imgH="533400" progId="Equation.3">
                  <p:embed/>
                </p:oleObj>
              </mc:Choice>
              <mc:Fallback>
                <p:oleObj name="公式" r:id="rId7" imgW="3670300" imgH="533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212976"/>
                        <a:ext cx="7443787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AutoShape 12"/>
          <p:cNvSpPr>
            <a:spLocks noChangeArrowheads="1"/>
          </p:cNvSpPr>
          <p:nvPr/>
        </p:nvSpPr>
        <p:spPr bwMode="auto">
          <a:xfrm>
            <a:off x="4008439" y="4581525"/>
            <a:ext cx="1296987" cy="503238"/>
          </a:xfrm>
          <a:prstGeom prst="wedgeRoundRectCallout">
            <a:avLst>
              <a:gd name="adj1" fmla="val -34944"/>
              <a:gd name="adj2" fmla="val 8046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ea typeface="楷体_GB2312" pitchFamily="49" charset="-122"/>
              </a:rPr>
              <a:t>A</a:t>
            </a:r>
            <a:r>
              <a:rPr lang="zh-CN" altLang="en-US" sz="2400" b="1">
                <a:ea typeface="楷体_GB2312" pitchFamily="49" charset="-122"/>
              </a:rPr>
              <a:t>是</a:t>
            </a:r>
            <a:r>
              <a:rPr lang="en-US" altLang="zh-CN" sz="2400" b="1">
                <a:ea typeface="楷体_GB2312" pitchFamily="49" charset="-122"/>
              </a:rPr>
              <a:t>3</a:t>
            </a:r>
          </a:p>
        </p:txBody>
      </p:sp>
      <p:sp>
        <p:nvSpPr>
          <p:cNvPr id="27661" name="AutoShape 13"/>
          <p:cNvSpPr>
            <a:spLocks noChangeArrowheads="1"/>
          </p:cNvSpPr>
          <p:nvPr/>
        </p:nvSpPr>
        <p:spPr bwMode="auto">
          <a:xfrm>
            <a:off x="7896225" y="4365625"/>
            <a:ext cx="2160588" cy="503238"/>
          </a:xfrm>
          <a:prstGeom prst="wedgeRoundRectCallout">
            <a:avLst>
              <a:gd name="adj1" fmla="val -21639"/>
              <a:gd name="adj2" fmla="val 43375"/>
              <a:gd name="adj3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是“大约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3”</a:t>
            </a:r>
          </a:p>
        </p:txBody>
      </p:sp>
      <p:grpSp>
        <p:nvGrpSpPr>
          <p:cNvPr id="27671" name="Group 23"/>
          <p:cNvGrpSpPr>
            <a:grpSpLocks/>
          </p:cNvGrpSpPr>
          <p:nvPr/>
        </p:nvGrpSpPr>
        <p:grpSpPr bwMode="auto">
          <a:xfrm>
            <a:off x="2208214" y="4292601"/>
            <a:ext cx="3024187" cy="2430463"/>
            <a:chOff x="430" y="2160"/>
            <a:chExt cx="2042" cy="1763"/>
          </a:xfrm>
        </p:grpSpPr>
        <p:sp>
          <p:nvSpPr>
            <p:cNvPr id="18445" name="Line 24"/>
            <p:cNvSpPr>
              <a:spLocks noChangeShapeType="1"/>
            </p:cNvSpPr>
            <p:nvPr/>
          </p:nvSpPr>
          <p:spPr bwMode="auto">
            <a:xfrm flipV="1">
              <a:off x="657" y="2296"/>
              <a:ext cx="0" cy="13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25"/>
            <p:cNvSpPr>
              <a:spLocks noChangeShapeType="1"/>
            </p:cNvSpPr>
            <p:nvPr/>
          </p:nvSpPr>
          <p:spPr bwMode="auto">
            <a:xfrm>
              <a:off x="657" y="3657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Text Box 26"/>
            <p:cNvSpPr txBox="1">
              <a:spLocks noChangeArrowheads="1"/>
            </p:cNvSpPr>
            <p:nvPr/>
          </p:nvSpPr>
          <p:spPr bwMode="auto">
            <a:xfrm>
              <a:off x="521" y="3657"/>
              <a:ext cx="1951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      3                  u</a:t>
              </a:r>
            </a:p>
          </p:txBody>
        </p:sp>
        <p:sp>
          <p:nvSpPr>
            <p:cNvPr id="18448" name="Text Box 27"/>
            <p:cNvSpPr txBox="1">
              <a:spLocks noChangeArrowheads="1"/>
            </p:cNvSpPr>
            <p:nvPr/>
          </p:nvSpPr>
          <p:spPr bwMode="auto">
            <a:xfrm>
              <a:off x="430" y="2568"/>
              <a:ext cx="227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18449" name="Line 28"/>
            <p:cNvSpPr>
              <a:spLocks noChangeShapeType="1"/>
            </p:cNvSpPr>
            <p:nvPr/>
          </p:nvSpPr>
          <p:spPr bwMode="auto">
            <a:xfrm>
              <a:off x="657" y="2659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29"/>
            <p:cNvSpPr>
              <a:spLocks noChangeShapeType="1"/>
            </p:cNvSpPr>
            <p:nvPr/>
          </p:nvSpPr>
          <p:spPr bwMode="auto">
            <a:xfrm>
              <a:off x="1474" y="2659"/>
              <a:ext cx="0" cy="998"/>
            </a:xfrm>
            <a:prstGeom prst="line">
              <a:avLst/>
            </a:prstGeom>
            <a:noFill/>
            <a:ln w="38100">
              <a:solidFill>
                <a:srgbClr val="C6413D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451" name="Text Box 30"/>
            <p:cNvSpPr txBox="1">
              <a:spLocks noChangeArrowheads="1"/>
            </p:cNvSpPr>
            <p:nvPr/>
          </p:nvSpPr>
          <p:spPr bwMode="auto">
            <a:xfrm>
              <a:off x="703" y="2160"/>
              <a:ext cx="453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A(u)</a:t>
              </a: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2810722"/>
              </p:ext>
            </p:extLst>
          </p:nvPr>
        </p:nvGraphicFramePr>
        <p:xfrm>
          <a:off x="8297561" y="440449"/>
          <a:ext cx="3518503" cy="962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43100" imgH="533400" progId="Equation.3">
                  <p:embed/>
                </p:oleObj>
              </mc:Choice>
              <mc:Fallback>
                <p:oleObj name="公式" r:id="rId9" imgW="1943100" imgH="5334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7561" y="440449"/>
                        <a:ext cx="3518503" cy="962794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FFFF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utoShape 13"/>
          <p:cNvSpPr>
            <a:spLocks noChangeArrowheads="1"/>
          </p:cNvSpPr>
          <p:nvPr/>
        </p:nvSpPr>
        <p:spPr bwMode="auto">
          <a:xfrm>
            <a:off x="9146165" y="2024834"/>
            <a:ext cx="2926499" cy="1404166"/>
          </a:xfrm>
          <a:prstGeom prst="wedgeRoundRectCallout">
            <a:avLst>
              <a:gd name="adj1" fmla="val -21639"/>
              <a:gd name="adj2" fmla="val 43375"/>
              <a:gd name="adj3" fmla="val 16667"/>
            </a:avLst>
          </a:prstGeom>
          <a:solidFill>
            <a:srgbClr val="CCFFFF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化算子具有将非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集合转变为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F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华文楷体" pitchFamily="2" charset="-122"/>
              </a:rPr>
              <a:t>集合的作用</a:t>
            </a:r>
            <a:endParaRPr lang="en-US" altLang="zh-CN" sz="2800" b="1" dirty="0">
              <a:solidFill>
                <a:srgbClr val="FF0000"/>
              </a:solidFill>
              <a:latin typeface="+mn-lt"/>
              <a:ea typeface="华文楷体" pitchFamily="2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E4101E9-B0EC-4317-7A5F-F6C025C50759}"/>
              </a:ext>
            </a:extLst>
          </p:cNvPr>
          <p:cNvCxnSpPr/>
          <p:nvPr/>
        </p:nvCxnSpPr>
        <p:spPr>
          <a:xfrm flipV="1">
            <a:off x="6536350" y="4435476"/>
            <a:ext cx="0" cy="19653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C4F661B-862B-227D-803A-A3F6AAC96F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0" grpId="0" animBg="1"/>
      <p:bldP spid="27661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739775"/>
          </a:xfrm>
        </p:spPr>
        <p:txBody>
          <a:bodyPr/>
          <a:lstStyle/>
          <a:p>
            <a:pPr algn="ctr" eaLnBrk="1" hangingPunct="1"/>
            <a:r>
              <a:rPr lang="zh-CN" altLang="en-US" sz="4000">
                <a:solidFill>
                  <a:srgbClr val="228A2E"/>
                </a:solidFill>
                <a:ea typeface="黑体" pitchFamily="49" charset="-122"/>
              </a:rPr>
              <a:t>判定化算子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268414"/>
            <a:ext cx="10585176" cy="5400675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黑体" pitchFamily="49" charset="-122"/>
              </a:rPr>
              <a:t>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偏向</a:t>
            </a:r>
            <a:r>
              <a:rPr lang="zh-CN" altLang="en-US" sz="2800" dirty="0">
                <a:ea typeface="黑体" pitchFamily="49" charset="-122"/>
              </a:rPr>
              <a:t>”、“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倾向于</a:t>
            </a:r>
            <a:r>
              <a:rPr lang="zh-CN" altLang="en-US" sz="2800" dirty="0">
                <a:ea typeface="黑体" pitchFamily="49" charset="-122"/>
              </a:rPr>
              <a:t>”、“</a:t>
            </a:r>
            <a:r>
              <a:rPr lang="zh-CN" altLang="en-US" sz="2800" dirty="0">
                <a:solidFill>
                  <a:srgbClr val="CC00CC"/>
                </a:solidFill>
                <a:ea typeface="黑体" pitchFamily="49" charset="-122"/>
              </a:rPr>
              <a:t>多半是</a:t>
            </a:r>
            <a:r>
              <a:rPr lang="zh-CN" altLang="en-US" sz="2800" dirty="0">
                <a:ea typeface="黑体" pitchFamily="49" charset="-122"/>
              </a:rPr>
              <a:t>”等词也是一种算子，可对模糊的词给出粗糙的判断</a:t>
            </a:r>
            <a:r>
              <a:rPr lang="en-US" altLang="zh-CN" sz="2800" dirty="0">
                <a:ea typeface="黑体" pitchFamily="49" charset="-122"/>
              </a:rPr>
              <a:t>——</a:t>
            </a:r>
            <a:r>
              <a:rPr lang="zh-CN" altLang="en-US" sz="2800" dirty="0">
                <a:ea typeface="黑体" pitchFamily="49" charset="-122"/>
              </a:rPr>
              <a:t>判定化算子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记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(0&lt;a&lt;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  <a:cs typeface="Arial" charset="0"/>
              </a:rPr>
              <a:t>½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),  (P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49" charset="-122"/>
              </a:rPr>
              <a:t>a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A)(u) = d</a:t>
            </a:r>
            <a:r>
              <a:rPr lang="en-US" altLang="zh-CN" sz="2800" baseline="-25000" dirty="0">
                <a:solidFill>
                  <a:srgbClr val="FF0000"/>
                </a:solidFill>
                <a:ea typeface="黑体" pitchFamily="49" charset="-122"/>
              </a:rPr>
              <a:t>a 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[A(u)]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   </a:t>
            </a:r>
            <a:r>
              <a:rPr lang="zh-CN" altLang="en-US" sz="2800" dirty="0">
                <a:ea typeface="黑体" pitchFamily="49" charset="-122"/>
              </a:rPr>
              <a:t>其中</a:t>
            </a:r>
            <a:r>
              <a:rPr lang="en-US" altLang="zh-CN" sz="2800" dirty="0">
                <a:ea typeface="黑体" pitchFamily="49" charset="-122"/>
              </a:rPr>
              <a:t>,d</a:t>
            </a:r>
            <a:r>
              <a:rPr lang="en-US" altLang="zh-CN" sz="2800" baseline="-25000" dirty="0">
                <a:ea typeface="黑体" pitchFamily="49" charset="-122"/>
              </a:rPr>
              <a:t>a</a:t>
            </a:r>
            <a:r>
              <a:rPr lang="zh-CN" altLang="en-US" sz="2800" dirty="0">
                <a:ea typeface="黑体" pitchFamily="49" charset="-122"/>
              </a:rPr>
              <a:t>是定义在</a:t>
            </a:r>
            <a:r>
              <a:rPr lang="en-US" altLang="zh-CN" sz="2800" dirty="0">
                <a:ea typeface="黑体" pitchFamily="49" charset="-122"/>
              </a:rPr>
              <a:t>[0,1]</a:t>
            </a:r>
            <a:r>
              <a:rPr lang="zh-CN" altLang="en-US" sz="2800" dirty="0">
                <a:ea typeface="黑体" pitchFamily="49" charset="-122"/>
              </a:rPr>
              <a:t>上的实函数</a:t>
            </a:r>
            <a:endParaRPr lang="zh-CN" altLang="en-US" sz="2400" dirty="0">
              <a:ea typeface="黑体" pitchFamily="49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000" dirty="0">
              <a:ea typeface="黑体" pitchFamily="49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49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49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49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sz="2400" dirty="0">
              <a:ea typeface="黑体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当 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A(u) ≤a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和 </a:t>
            </a:r>
            <a:r>
              <a:rPr lang="en-US" altLang="zh-CN" sz="2800" b="1" dirty="0">
                <a:solidFill>
                  <a:srgbClr val="3333FF"/>
                </a:solidFill>
                <a:ea typeface="楷体_GB2312" pitchFamily="49" charset="-122"/>
              </a:rPr>
              <a:t>A(u) &gt; 1-a </a:t>
            </a:r>
            <a:r>
              <a:rPr lang="zh-CN" altLang="en-US" sz="2800" b="1" dirty="0">
                <a:solidFill>
                  <a:srgbClr val="3333FF"/>
                </a:solidFill>
                <a:ea typeface="楷体_GB2312" pitchFamily="49" charset="-122"/>
              </a:rPr>
              <a:t>时，判定是肯定的；</a:t>
            </a:r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当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a &lt; A(u) ≤ 1-a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时，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A(u) = ½,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即更加模糊。</a:t>
            </a:r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992314" y="3429000"/>
          <a:ext cx="4103687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500" imgH="762000" progId="Equation.3">
                  <p:embed/>
                </p:oleObj>
              </mc:Choice>
              <mc:Fallback>
                <p:oleObj name="公式" r:id="rId2" imgW="17145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429000"/>
                        <a:ext cx="4103687" cy="182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43" name="Group 23"/>
          <p:cNvGrpSpPr>
            <a:grpSpLocks/>
          </p:cNvGrpSpPr>
          <p:nvPr/>
        </p:nvGrpSpPr>
        <p:grpSpPr bwMode="auto">
          <a:xfrm>
            <a:off x="7520977" y="2924944"/>
            <a:ext cx="4047631" cy="2495550"/>
            <a:chOff x="1039" y="1480"/>
            <a:chExt cx="4018" cy="2606"/>
          </a:xfrm>
        </p:grpSpPr>
        <p:sp>
          <p:nvSpPr>
            <p:cNvPr id="19462" name="Line 24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Line 25"/>
            <p:cNvSpPr>
              <a:spLocks noChangeShapeType="1"/>
            </p:cNvSpPr>
            <p:nvPr/>
          </p:nvSpPr>
          <p:spPr bwMode="auto">
            <a:xfrm>
              <a:off x="1383" y="3657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4" name="Text Box 26"/>
            <p:cNvSpPr txBox="1">
              <a:spLocks noChangeArrowheads="1"/>
            </p:cNvSpPr>
            <p:nvPr/>
          </p:nvSpPr>
          <p:spPr bwMode="auto">
            <a:xfrm>
              <a:off x="1337" y="3703"/>
              <a:ext cx="3720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0         a          ½        1-a         1    x</a:t>
              </a:r>
            </a:p>
          </p:txBody>
        </p:sp>
        <p:sp>
          <p:nvSpPr>
            <p:cNvPr id="19465" name="Text Box 27"/>
            <p:cNvSpPr txBox="1">
              <a:spLocks noChangeArrowheads="1"/>
            </p:cNvSpPr>
            <p:nvPr/>
          </p:nvSpPr>
          <p:spPr bwMode="auto">
            <a:xfrm>
              <a:off x="1039" y="2614"/>
              <a:ext cx="363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½ </a:t>
              </a:r>
            </a:p>
          </p:txBody>
        </p:sp>
        <p:sp>
          <p:nvSpPr>
            <p:cNvPr id="19466" name="Text Box 28"/>
            <p:cNvSpPr txBox="1">
              <a:spLocks noChangeArrowheads="1"/>
            </p:cNvSpPr>
            <p:nvPr/>
          </p:nvSpPr>
          <p:spPr bwMode="auto">
            <a:xfrm>
              <a:off x="1058" y="1710"/>
              <a:ext cx="228" cy="3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19467" name="Line 29"/>
            <p:cNvSpPr>
              <a:spLocks noChangeShapeType="1"/>
            </p:cNvSpPr>
            <p:nvPr/>
          </p:nvSpPr>
          <p:spPr bwMode="auto">
            <a:xfrm>
              <a:off x="1383" y="2750"/>
              <a:ext cx="6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Line 30"/>
            <p:cNvSpPr>
              <a:spLocks noChangeShapeType="1"/>
            </p:cNvSpPr>
            <p:nvPr/>
          </p:nvSpPr>
          <p:spPr bwMode="auto">
            <a:xfrm>
              <a:off x="2064" y="2750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31"/>
            <p:cNvSpPr>
              <a:spLocks noChangeShapeType="1"/>
            </p:cNvSpPr>
            <p:nvPr/>
          </p:nvSpPr>
          <p:spPr bwMode="auto">
            <a:xfrm>
              <a:off x="1383" y="1888"/>
              <a:ext cx="2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32"/>
            <p:cNvSpPr>
              <a:spLocks noChangeShapeType="1"/>
            </p:cNvSpPr>
            <p:nvPr/>
          </p:nvSpPr>
          <p:spPr bwMode="auto">
            <a:xfrm>
              <a:off x="3742" y="1888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Line 33"/>
            <p:cNvSpPr>
              <a:spLocks noChangeShapeType="1"/>
            </p:cNvSpPr>
            <p:nvPr/>
          </p:nvSpPr>
          <p:spPr bwMode="auto">
            <a:xfrm>
              <a:off x="2064" y="2750"/>
              <a:ext cx="167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34"/>
            <p:cNvSpPr>
              <a:spLocks noChangeShapeType="1"/>
            </p:cNvSpPr>
            <p:nvPr/>
          </p:nvSpPr>
          <p:spPr bwMode="auto">
            <a:xfrm>
              <a:off x="3742" y="1888"/>
              <a:ext cx="726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35"/>
            <p:cNvSpPr>
              <a:spLocks noChangeShapeType="1"/>
            </p:cNvSpPr>
            <p:nvPr/>
          </p:nvSpPr>
          <p:spPr bwMode="auto">
            <a:xfrm>
              <a:off x="1383" y="3657"/>
              <a:ext cx="681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Line 36"/>
            <p:cNvSpPr>
              <a:spLocks noChangeShapeType="1"/>
            </p:cNvSpPr>
            <p:nvPr/>
          </p:nvSpPr>
          <p:spPr bwMode="auto">
            <a:xfrm>
              <a:off x="4468" y="1888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Text Box 37"/>
            <p:cNvSpPr txBox="1">
              <a:spLocks noChangeArrowheads="1"/>
            </p:cNvSpPr>
            <p:nvPr/>
          </p:nvSpPr>
          <p:spPr bwMode="auto">
            <a:xfrm>
              <a:off x="1428" y="1480"/>
              <a:ext cx="726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d</a:t>
              </a:r>
              <a:r>
                <a:rPr lang="en-US" altLang="zh-CN" baseline="-25000"/>
                <a:t>a</a:t>
              </a:r>
              <a:r>
                <a:rPr lang="en-US" altLang="zh-CN"/>
                <a:t>(x)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985F94-2A71-2A50-1A41-04C3CB6AB5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8112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判定化算子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341439"/>
            <a:ext cx="9015215" cy="403177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特别地，当</a:t>
            </a:r>
            <a:r>
              <a:rPr lang="en-US" altLang="zh-CN" dirty="0">
                <a:ea typeface="黑体" pitchFamily="49" charset="-122"/>
              </a:rPr>
              <a:t>d</a:t>
            </a:r>
            <a:r>
              <a:rPr lang="en-US" altLang="zh-CN" baseline="-25000" dirty="0">
                <a:ea typeface="黑体" pitchFamily="49" charset="-122"/>
              </a:rPr>
              <a:t>a</a:t>
            </a:r>
            <a:r>
              <a:rPr lang="en-US" altLang="zh-CN" dirty="0">
                <a:ea typeface="黑体" pitchFamily="49" charset="-122"/>
              </a:rPr>
              <a:t>(x)</a:t>
            </a:r>
            <a:r>
              <a:rPr lang="zh-CN" altLang="en-US" dirty="0">
                <a:ea typeface="黑体" pitchFamily="49" charset="-122"/>
              </a:rPr>
              <a:t>的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a =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  <a:cs typeface="Arial" charset="0"/>
              </a:rPr>
              <a:t>½</a:t>
            </a:r>
            <a:r>
              <a:rPr lang="zh-CN" altLang="en-US" dirty="0">
                <a:ea typeface="黑体" pitchFamily="49" charset="-122"/>
                <a:cs typeface="Arial" charset="0"/>
              </a:rPr>
              <a:t>时，</a:t>
            </a:r>
            <a:r>
              <a:rPr lang="en-US" altLang="zh-CN" dirty="0">
                <a:ea typeface="黑体" pitchFamily="49" charset="-122"/>
                <a:cs typeface="Arial" charset="0"/>
              </a:rPr>
              <a:t>P</a:t>
            </a:r>
            <a:r>
              <a:rPr lang="en-US" altLang="zh-CN" baseline="-25000" dirty="0">
                <a:ea typeface="黑体" pitchFamily="49" charset="-122"/>
                <a:cs typeface="Arial" charset="0"/>
              </a:rPr>
              <a:t>½</a:t>
            </a:r>
            <a:r>
              <a:rPr lang="zh-CN" altLang="en-US" dirty="0">
                <a:ea typeface="黑体" pitchFamily="49" charset="-122"/>
                <a:cs typeface="Arial" charset="0"/>
              </a:rPr>
              <a:t>称为“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  <a:cs typeface="Arial" charset="0"/>
              </a:rPr>
              <a:t>倾向</a:t>
            </a:r>
            <a:r>
              <a:rPr lang="zh-CN" altLang="en-US" dirty="0">
                <a:ea typeface="黑体" pitchFamily="49" charset="-122"/>
                <a:cs typeface="Arial" charset="0"/>
              </a:rPr>
              <a:t>”：</a:t>
            </a: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49" charset="-122"/>
              <a:cs typeface="Arial" charset="0"/>
            </a:endParaRPr>
          </a:p>
          <a:p>
            <a:pPr eaLnBrk="1" hangingPunct="1"/>
            <a:endParaRPr lang="zh-CN" altLang="en-US" dirty="0">
              <a:solidFill>
                <a:schemeClr val="bg2"/>
              </a:solidFill>
              <a:ea typeface="黑体" pitchFamily="49" charset="-122"/>
              <a:cs typeface="Arial" charset="0"/>
            </a:endParaRPr>
          </a:p>
          <a:p>
            <a:pPr eaLnBrk="1" hangingPunct="1"/>
            <a:endParaRPr lang="zh-CN" altLang="en-US" sz="4800" dirty="0">
              <a:solidFill>
                <a:schemeClr val="bg2"/>
              </a:solidFill>
              <a:ea typeface="黑体" pitchFamily="49" charset="-122"/>
              <a:cs typeface="Arial" charset="0"/>
            </a:endParaRPr>
          </a:p>
          <a:p>
            <a:pPr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一般判断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P</a:t>
            </a:r>
            <a:r>
              <a:rPr lang="en-US" altLang="zh-CN" baseline="-250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½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只能是倾向性的，不能那样肯定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如：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[</a:t>
            </a:r>
            <a:r>
              <a:rPr lang="zh-CN" altLang="en-US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倾向年轻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](u)= P</a:t>
            </a:r>
            <a:r>
              <a:rPr lang="en-US" altLang="zh-CN" baseline="-25000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½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[</a:t>
            </a:r>
            <a:r>
              <a:rPr lang="zh-CN" altLang="en-US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年轻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](u)=d </a:t>
            </a:r>
            <a:r>
              <a:rPr lang="en-US" altLang="zh-CN" baseline="-25000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½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([</a:t>
            </a:r>
            <a:r>
              <a:rPr lang="zh-CN" altLang="en-US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年轻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  <a:cs typeface="Arial" charset="0"/>
              </a:rPr>
              <a:t>](u))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  <a:cs typeface="Arial" charset="0"/>
              </a:rPr>
              <a:t>注意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：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cs typeface="Arial" charset="0"/>
              </a:rPr>
              <a:t>[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  <a:cs typeface="Arial" charset="0"/>
              </a:rPr>
              <a:t>年轻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  <a:cs typeface="Arial" charset="0"/>
              </a:rPr>
              <a:t>](30)=½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  <a:cs typeface="Arial" charset="0"/>
              </a:rPr>
              <a:t>，所以</a:t>
            </a:r>
          </a:p>
        </p:txBody>
      </p:sp>
      <p:graphicFrame>
        <p:nvGraphicFramePr>
          <p:cNvPr id="3277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82888" y="2012950"/>
          <a:ext cx="3313112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08100" imgH="787400" progId="Equation.3">
                  <p:embed/>
                </p:oleObj>
              </mc:Choice>
              <mc:Fallback>
                <p:oleObj name="公式" r:id="rId3" imgW="1308100" imgH="787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012950"/>
                        <a:ext cx="3313112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40550153"/>
              </p:ext>
            </p:extLst>
          </p:nvPr>
        </p:nvGraphicFramePr>
        <p:xfrm>
          <a:off x="2782888" y="5607013"/>
          <a:ext cx="446405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52600" imgH="457200" progId="Equation.3">
                  <p:embed/>
                </p:oleObj>
              </mc:Choice>
              <mc:Fallback>
                <p:oleObj name="公式" r:id="rId5" imgW="17526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5607013"/>
                        <a:ext cx="446405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8484369" y="1988840"/>
            <a:ext cx="3652351" cy="2198687"/>
            <a:chOff x="1084" y="1480"/>
            <a:chExt cx="3973" cy="2672"/>
          </a:xfrm>
        </p:grpSpPr>
        <p:sp>
          <p:nvSpPr>
            <p:cNvPr id="20487" name="Line 24"/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8" name="Line 25"/>
            <p:cNvSpPr>
              <a:spLocks noChangeShapeType="1"/>
            </p:cNvSpPr>
            <p:nvPr/>
          </p:nvSpPr>
          <p:spPr bwMode="auto">
            <a:xfrm>
              <a:off x="1383" y="3657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9" name="Text Box 26"/>
            <p:cNvSpPr txBox="1">
              <a:spLocks noChangeArrowheads="1"/>
            </p:cNvSpPr>
            <p:nvPr/>
          </p:nvSpPr>
          <p:spPr bwMode="auto">
            <a:xfrm>
              <a:off x="1337" y="3703"/>
              <a:ext cx="372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       ½                   1    x</a:t>
              </a:r>
            </a:p>
          </p:txBody>
        </p:sp>
        <p:sp>
          <p:nvSpPr>
            <p:cNvPr id="20490" name="Text Box 28"/>
            <p:cNvSpPr txBox="1">
              <a:spLocks noChangeArrowheads="1"/>
            </p:cNvSpPr>
            <p:nvPr/>
          </p:nvSpPr>
          <p:spPr bwMode="auto">
            <a:xfrm>
              <a:off x="1084" y="1754"/>
              <a:ext cx="228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0491" name="Line 31"/>
            <p:cNvSpPr>
              <a:spLocks noChangeShapeType="1"/>
            </p:cNvSpPr>
            <p:nvPr/>
          </p:nvSpPr>
          <p:spPr bwMode="auto">
            <a:xfrm>
              <a:off x="1383" y="1888"/>
              <a:ext cx="2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32"/>
            <p:cNvSpPr>
              <a:spLocks noChangeShapeType="1"/>
            </p:cNvSpPr>
            <p:nvPr/>
          </p:nvSpPr>
          <p:spPr bwMode="auto">
            <a:xfrm>
              <a:off x="2962" y="1921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Line 33"/>
            <p:cNvSpPr>
              <a:spLocks noChangeShapeType="1"/>
            </p:cNvSpPr>
            <p:nvPr/>
          </p:nvSpPr>
          <p:spPr bwMode="auto">
            <a:xfrm>
              <a:off x="1384" y="3656"/>
              <a:ext cx="157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4" name="Line 34"/>
            <p:cNvSpPr>
              <a:spLocks noChangeShapeType="1"/>
            </p:cNvSpPr>
            <p:nvPr/>
          </p:nvSpPr>
          <p:spPr bwMode="auto">
            <a:xfrm>
              <a:off x="2962" y="1888"/>
              <a:ext cx="1506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Line 36"/>
            <p:cNvSpPr>
              <a:spLocks noChangeShapeType="1"/>
            </p:cNvSpPr>
            <p:nvPr/>
          </p:nvSpPr>
          <p:spPr bwMode="auto">
            <a:xfrm>
              <a:off x="4468" y="1888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Text Box 37"/>
            <p:cNvSpPr txBox="1">
              <a:spLocks noChangeArrowheads="1"/>
            </p:cNvSpPr>
            <p:nvPr/>
          </p:nvSpPr>
          <p:spPr bwMode="auto">
            <a:xfrm>
              <a:off x="1428" y="1480"/>
              <a:ext cx="726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d</a:t>
              </a:r>
              <a:r>
                <a:rPr lang="en-US" altLang="zh-CN" baseline="-25000"/>
                <a:t>a</a:t>
              </a:r>
              <a:r>
                <a:rPr lang="en-US" altLang="zh-CN"/>
                <a:t>(x)</a:t>
              </a:r>
            </a:p>
          </p:txBody>
        </p:sp>
      </p:grpSp>
      <p:pic>
        <p:nvPicPr>
          <p:cNvPr id="2" name="图片 1" descr="形状&#10;&#10;描述已自动生成">
            <a:extLst>
              <a:ext uri="{FF2B5EF4-FFF2-40B4-BE49-F238E27FC236}">
                <a16:creationId xmlns:a16="http://schemas.microsoft.com/office/drawing/2014/main" id="{DFB3D139-5504-5ED9-4376-96A67C19A0A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4" b="11715"/>
          <a:stretch/>
        </p:blipFill>
        <p:spPr>
          <a:xfrm>
            <a:off x="8640316" y="1982926"/>
            <a:ext cx="3140968" cy="2259451"/>
          </a:xfrm>
          <a:prstGeom prst="rect">
            <a:avLst/>
          </a:prstGeom>
          <a:effectLst>
            <a:glow rad="127000">
              <a:srgbClr val="7030A0"/>
            </a:glow>
          </a:effec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7A631C-04D6-2596-40DB-2793C8DDC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00138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F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算子小结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484314"/>
            <a:ext cx="10369152" cy="518477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语气算子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若用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</a:t>
            </a:r>
            <a:r>
              <a:rPr lang="zh-CN" altLang="en-US" dirty="0">
                <a:ea typeface="黑体" pitchFamily="49" charset="-122"/>
              </a:rPr>
              <a:t>表示相应单词的</a:t>
            </a:r>
            <a:r>
              <a:rPr lang="en-US" altLang="zh-CN" dirty="0">
                <a:ea typeface="黑体" pitchFamily="49" charset="-122"/>
              </a:rPr>
              <a:t>F</a:t>
            </a:r>
            <a:r>
              <a:rPr lang="zh-CN" altLang="en-US" dirty="0">
                <a:ea typeface="黑体" pitchFamily="49" charset="-122"/>
              </a:rPr>
              <a:t>集，则有</a:t>
            </a:r>
          </a:p>
          <a:p>
            <a:pPr lvl="2" eaLnBrk="1" hangingPunct="1"/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很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2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      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极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4 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     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相当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1.25</a:t>
            </a:r>
          </a:p>
          <a:p>
            <a:pPr lvl="2" eaLnBrk="1" hangingPunct="1"/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比较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0.75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有点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0.5 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    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稍微有点</a:t>
            </a:r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A=A</a:t>
            </a:r>
            <a:r>
              <a:rPr lang="en-US" altLang="zh-CN" baseline="30000" dirty="0">
                <a:solidFill>
                  <a:srgbClr val="3333FF"/>
                </a:solidFill>
                <a:ea typeface="黑体" pitchFamily="49" charset="-122"/>
              </a:rPr>
              <a:t>0.25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化算子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好象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zh-CN" altLang="en-US" dirty="0">
                <a:ea typeface="黑体" pitchFamily="49" charset="-122"/>
              </a:rPr>
              <a:t>大约</a:t>
            </a:r>
          </a:p>
          <a:p>
            <a:pPr lvl="1" eaLnBrk="1" hangingPunct="1"/>
            <a:endParaRPr lang="zh-CN" altLang="en-US" dirty="0">
              <a:ea typeface="黑体" pitchFamily="49" charset="-122"/>
            </a:endParaRPr>
          </a:p>
          <a:p>
            <a:pPr lvl="1" eaLnBrk="1" hangingPunct="1"/>
            <a:endParaRPr lang="zh-CN" altLang="en-US" sz="1800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F40802"/>
                </a:solidFill>
                <a:ea typeface="黑体" pitchFamily="49" charset="-122"/>
              </a:rPr>
              <a:t>判定化算子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  <a:cs typeface="Arial" charset="0"/>
              </a:rPr>
              <a:t>倾向</a:t>
            </a:r>
            <a:endParaRPr lang="zh-CN" altLang="en-US" dirty="0">
              <a:ea typeface="黑体" pitchFamily="49" charset="-122"/>
            </a:endParaRPr>
          </a:p>
        </p:txBody>
      </p:sp>
      <p:graphicFrame>
        <p:nvGraphicFramePr>
          <p:cNvPr id="10854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71926" y="4149726"/>
          <a:ext cx="6696075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4000" imgH="533400" progId="Equation.3">
                  <p:embed/>
                </p:oleObj>
              </mc:Choice>
              <mc:Fallback>
                <p:oleObj name="公式" r:id="rId2" imgW="27940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6" y="4149726"/>
                        <a:ext cx="6696075" cy="127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08438" y="5646738"/>
          <a:ext cx="360045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35100" imgH="482600" progId="Equation.3">
                  <p:embed/>
                </p:oleObj>
              </mc:Choice>
              <mc:Fallback>
                <p:oleObj name="公式" r:id="rId4" imgW="14351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5646738"/>
                        <a:ext cx="360045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37D163-5D64-9FB9-4C75-FE0816B828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404814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83432" y="1351716"/>
            <a:ext cx="10225136" cy="5369255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自然语言中表示数量的词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dirty="0">
                <a:ea typeface="黑体" pitchFamily="49" charset="-122"/>
              </a:rPr>
              <a:t>如：大、少、重、短</a:t>
            </a:r>
            <a:r>
              <a:rPr lang="en-US" altLang="zh-CN" dirty="0">
                <a:ea typeface="黑体" pitchFamily="49" charset="-122"/>
              </a:rPr>
              <a:t>….</a:t>
            </a:r>
          </a:p>
          <a:p>
            <a:pPr eaLnBrk="1" hangingPunct="1">
              <a:lnSpc>
                <a:spcPct val="95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以及由它们按上述方法扩大的词汇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dirty="0">
                <a:ea typeface="黑体" pitchFamily="49" charset="-122"/>
              </a:rPr>
              <a:t>如：很大、不少、偏重，有点短，</a:t>
            </a:r>
            <a:r>
              <a:rPr lang="en-US" altLang="zh-CN" dirty="0">
                <a:ea typeface="黑体" pitchFamily="49" charset="-122"/>
              </a:rPr>
              <a:t>……</a:t>
            </a:r>
          </a:p>
          <a:p>
            <a:pPr eaLnBrk="1" hangingPunct="1">
              <a:lnSpc>
                <a:spcPct val="95000"/>
              </a:lnSpc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都叫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语言值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，它们是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口语化的数量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。 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它更能体现人类思维判断的特点。</a:t>
            </a:r>
          </a:p>
          <a:p>
            <a:pPr eaLnBrk="1" hangingPunct="1">
              <a:lnSpc>
                <a:spcPct val="95000"/>
              </a:lnSpc>
            </a:pPr>
            <a:r>
              <a:rPr lang="zh-CN" altLang="en-US" u="sng" dirty="0">
                <a:solidFill>
                  <a:srgbClr val="FF0000"/>
                </a:solidFill>
                <a:ea typeface="黑体" pitchFamily="49" charset="-122"/>
              </a:rPr>
              <a:t>语言真值集合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L*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为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{</a:t>
            </a:r>
            <a:r>
              <a:rPr lang="zh-CN" altLang="en-US" b="1" dirty="0">
                <a:solidFill>
                  <a:srgbClr val="3333FF"/>
                </a:solidFill>
                <a:ea typeface="楷体_GB2312" pitchFamily="49" charset="-122"/>
              </a:rPr>
              <a:t>真，有点真，偏向真，很真，极真，完全真，假，有点假，偏向假，很假，极假，完全假，未知，</a:t>
            </a:r>
            <a:r>
              <a:rPr lang="en-US" altLang="zh-CN" b="1" dirty="0">
                <a:solidFill>
                  <a:srgbClr val="3333FF"/>
                </a:solidFill>
                <a:ea typeface="楷体_GB2312" pitchFamily="49" charset="-122"/>
              </a:rPr>
              <a:t>…}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L*</a:t>
            </a:r>
            <a:r>
              <a:rPr lang="zh-CN" altLang="en-US" dirty="0">
                <a:ea typeface="黑体" pitchFamily="49" charset="-122"/>
              </a:rPr>
              <a:t>中的元素称为语言真值，它们都是自然语言的一些判断词，它在</a:t>
            </a:r>
            <a:r>
              <a:rPr lang="en-US" altLang="zh-CN" dirty="0">
                <a:solidFill>
                  <a:srgbClr val="228A2E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控制理论</a:t>
            </a:r>
            <a:r>
              <a:rPr lang="zh-CN" altLang="en-US" dirty="0">
                <a:ea typeface="黑体" pitchFamily="49" charset="-122"/>
              </a:rPr>
              <a:t>中具有十分重要的应用价值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A35F1C-98C9-5520-BC61-EF8AA64D7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3160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几种具有代表性的语言真值定义</a:t>
            </a:r>
          </a:p>
        </p:txBody>
      </p:sp>
      <p:graphicFrame>
        <p:nvGraphicFramePr>
          <p:cNvPr id="91232" name="Group 9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52462178"/>
              </p:ext>
            </p:extLst>
          </p:nvPr>
        </p:nvGraphicFramePr>
        <p:xfrm>
          <a:off x="1703388" y="2060575"/>
          <a:ext cx="8856662" cy="4138960"/>
        </p:xfrm>
        <a:graphic>
          <a:graphicData uri="http://schemas.openxmlformats.org/drawingml/2006/table">
            <a:tbl>
              <a:tblPr/>
              <a:tblGrid>
                <a:gridCol w="16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语言真值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符号表达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隶属函数表达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  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e                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有点真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有点真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e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偏向真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偏向真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e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很真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e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极真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极真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真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e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30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完全真</a:t>
                      </a:r>
                    </a:p>
                  </a:txBody>
                  <a:tcPr marT="45704" marB="457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589" name="Object 8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60739" y="5348288"/>
          <a:ext cx="15065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6600" imgH="279400" progId="Equation.3">
                  <p:embed/>
                </p:oleObj>
              </mc:Choice>
              <mc:Fallback>
                <p:oleObj name="公式" r:id="rId2" imgW="736600" imgH="279400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9" y="5348288"/>
                        <a:ext cx="150653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0" name="Object 8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22864" y="5175250"/>
          <a:ext cx="51847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13000" imgH="457200" progId="Equation.3">
                  <p:embed/>
                </p:oleObj>
              </mc:Choice>
              <mc:Fallback>
                <p:oleObj name="公式" r:id="rId4" imgW="2413000" imgH="457200" progId="Equation.3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4" y="5175250"/>
                        <a:ext cx="51847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EF4259-7E2C-BC57-BEB3-8180203EE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B528FB7-C332-46F6-8EE4-66A27D335B9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1D7527"/>
                </a:solidFill>
                <a:ea typeface="黑体" pitchFamily="49" charset="-122"/>
              </a:rPr>
              <a:t>几种具有代表性的语言真值定义</a:t>
            </a:r>
          </a:p>
        </p:txBody>
      </p:sp>
      <p:graphicFrame>
        <p:nvGraphicFramePr>
          <p:cNvPr id="95346" name="Group 11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20633395"/>
              </p:ext>
            </p:extLst>
          </p:nvPr>
        </p:nvGraphicFramePr>
        <p:xfrm>
          <a:off x="1703389" y="1412875"/>
          <a:ext cx="8713787" cy="54229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语言真值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符号表达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隶属函数表达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  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1-e                 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有点假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有点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(1-e)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偏向假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偏向假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=(1-e)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1/2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anose="05050102010706020507" pitchFamily="18" charset="2"/>
                        </a:rPr>
                        <a:t>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[0, 1]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很假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=(1-e)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∈[0, 1]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极假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H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(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r>
                        <a:rPr kumimoji="0" lang="el-G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极假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[</a:t>
                      </a:r>
                      <a:r>
                        <a:rPr kumimoji="0" lang="el-GR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μ</a:t>
                      </a:r>
                      <a:r>
                        <a:rPr kumimoji="0" lang="zh-CN" alt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假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(e)]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 (1-e)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4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       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  <a:sym typeface="Symbol" pitchFamily="18" charset="2"/>
                        </a:rPr>
                        <a:t>e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∈[0, 1]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82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完全假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0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未知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4617" name="Object 3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216276" y="5157788"/>
          <a:ext cx="14398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36600" imgH="279400" progId="Equation.3">
                  <p:embed/>
                </p:oleObj>
              </mc:Choice>
              <mc:Fallback>
                <p:oleObj name="公式" r:id="rId2" imgW="736600" imgH="2794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5157788"/>
                        <a:ext cx="14398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8" name="Object 3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43476" y="4868864"/>
          <a:ext cx="50403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25700" imgH="457200" progId="Equation.3">
                  <p:embed/>
                </p:oleObj>
              </mc:Choice>
              <mc:Fallback>
                <p:oleObj name="公式" r:id="rId4" imgW="2425700" imgH="4572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6" y="4868864"/>
                        <a:ext cx="5040313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9" name="Object 8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071814" y="6021388"/>
          <a:ext cx="17287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18671" imgH="393529" progId="Equation.3">
                  <p:embed/>
                </p:oleObj>
              </mc:Choice>
              <mc:Fallback>
                <p:oleObj name="公式" r:id="rId6" imgW="1218671" imgH="393529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6021388"/>
                        <a:ext cx="17287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20" name="Object 88"/>
          <p:cNvGraphicFramePr>
            <a:graphicFrameLocks noChangeAspect="1"/>
          </p:cNvGraphicFramePr>
          <p:nvPr/>
        </p:nvGraphicFramePr>
        <p:xfrm>
          <a:off x="4943475" y="5876925"/>
          <a:ext cx="53292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27300" imgH="393700" progId="Equation.3">
                  <p:embed/>
                </p:oleObj>
              </mc:Choice>
              <mc:Fallback>
                <p:oleObj name="公式" r:id="rId8" imgW="2527300" imgH="393700" progId="Equation.3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876925"/>
                        <a:ext cx="5329238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86F201-20B5-83F4-EBA7-37EE9B1D9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FAEEE9-2F32-4C9B-A750-08526CEEBFE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55800" y="457200"/>
            <a:ext cx="8712200" cy="1100138"/>
          </a:xfrm>
        </p:spPr>
        <p:txBody>
          <a:bodyPr/>
          <a:lstStyle/>
          <a:p>
            <a:pPr eaLnBrk="1" hangingPunct="1"/>
            <a:r>
              <a:rPr lang="zh-CN" altLang="en-US" sz="4000">
                <a:solidFill>
                  <a:srgbClr val="1D7527"/>
                </a:solidFill>
                <a:ea typeface="黑体" pitchFamily="49" charset="-122"/>
              </a:rPr>
              <a:t>几种具有代表性的语言真值隶属曲线</a:t>
            </a:r>
          </a:p>
        </p:txBody>
      </p:sp>
      <p:grpSp>
        <p:nvGrpSpPr>
          <p:cNvPr id="25603" name="Group 39"/>
          <p:cNvGrpSpPr>
            <a:grpSpLocks/>
          </p:cNvGrpSpPr>
          <p:nvPr/>
        </p:nvGrpSpPr>
        <p:grpSpPr bwMode="auto">
          <a:xfrm>
            <a:off x="3037715" y="1557338"/>
            <a:ext cx="6441249" cy="5199062"/>
            <a:chOff x="985" y="1298"/>
            <a:chExt cx="3210" cy="2782"/>
          </a:xfrm>
        </p:grpSpPr>
        <p:sp>
          <p:nvSpPr>
            <p:cNvPr id="25604" name="Line 40"/>
            <p:cNvSpPr>
              <a:spLocks noChangeShapeType="1"/>
            </p:cNvSpPr>
            <p:nvPr/>
          </p:nvSpPr>
          <p:spPr bwMode="auto">
            <a:xfrm flipV="1">
              <a:off x="1292" y="1480"/>
              <a:ext cx="0" cy="2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5" name="Line 41"/>
            <p:cNvSpPr>
              <a:spLocks noChangeShapeType="1"/>
            </p:cNvSpPr>
            <p:nvPr/>
          </p:nvSpPr>
          <p:spPr bwMode="auto">
            <a:xfrm>
              <a:off x="1292" y="3884"/>
              <a:ext cx="29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6" name="Line 42"/>
            <p:cNvSpPr>
              <a:spLocks noChangeShapeType="1"/>
            </p:cNvSpPr>
            <p:nvPr/>
          </p:nvSpPr>
          <p:spPr bwMode="auto">
            <a:xfrm>
              <a:off x="1292" y="1706"/>
              <a:ext cx="0" cy="2178"/>
            </a:xfrm>
            <a:prstGeom prst="line">
              <a:avLst/>
            </a:prstGeom>
            <a:noFill/>
            <a:ln w="38100">
              <a:solidFill>
                <a:srgbClr val="13CB4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Line 43"/>
            <p:cNvSpPr>
              <a:spLocks noChangeShapeType="1"/>
            </p:cNvSpPr>
            <p:nvPr/>
          </p:nvSpPr>
          <p:spPr bwMode="auto">
            <a:xfrm>
              <a:off x="3651" y="1706"/>
              <a:ext cx="0" cy="217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Line 44"/>
            <p:cNvSpPr>
              <a:spLocks noChangeShapeType="1"/>
            </p:cNvSpPr>
            <p:nvPr/>
          </p:nvSpPr>
          <p:spPr bwMode="auto">
            <a:xfrm>
              <a:off x="1292" y="1706"/>
              <a:ext cx="2359" cy="0"/>
            </a:xfrm>
            <a:prstGeom prst="line">
              <a:avLst/>
            </a:prstGeom>
            <a:noFill/>
            <a:ln w="38100">
              <a:solidFill>
                <a:srgbClr val="99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Text Box 45"/>
            <p:cNvSpPr txBox="1">
              <a:spLocks noChangeArrowheads="1"/>
            </p:cNvSpPr>
            <p:nvPr/>
          </p:nvSpPr>
          <p:spPr bwMode="auto">
            <a:xfrm>
              <a:off x="1156" y="3884"/>
              <a:ext cx="3039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0                                    ½                                   1         e  </a:t>
              </a:r>
            </a:p>
          </p:txBody>
        </p:sp>
        <p:sp>
          <p:nvSpPr>
            <p:cNvPr id="25610" name="Text Box 46"/>
            <p:cNvSpPr txBox="1">
              <a:spLocks noChangeArrowheads="1"/>
            </p:cNvSpPr>
            <p:nvPr/>
          </p:nvSpPr>
          <p:spPr bwMode="auto">
            <a:xfrm>
              <a:off x="1125" y="2694"/>
              <a:ext cx="272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½ </a:t>
              </a:r>
            </a:p>
          </p:txBody>
        </p:sp>
        <p:sp>
          <p:nvSpPr>
            <p:cNvPr id="25611" name="Text Box 47"/>
            <p:cNvSpPr txBox="1">
              <a:spLocks noChangeArrowheads="1"/>
            </p:cNvSpPr>
            <p:nvPr/>
          </p:nvSpPr>
          <p:spPr bwMode="auto">
            <a:xfrm>
              <a:off x="1154" y="1585"/>
              <a:ext cx="272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5612" name="Line 48"/>
            <p:cNvSpPr>
              <a:spLocks noChangeShapeType="1"/>
            </p:cNvSpPr>
            <p:nvPr/>
          </p:nvSpPr>
          <p:spPr bwMode="auto">
            <a:xfrm>
              <a:off x="1292" y="2795"/>
              <a:ext cx="23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49"/>
            <p:cNvSpPr>
              <a:spLocks noChangeShapeType="1"/>
            </p:cNvSpPr>
            <p:nvPr/>
          </p:nvSpPr>
          <p:spPr bwMode="auto">
            <a:xfrm flipV="1">
              <a:off x="2472" y="1706"/>
              <a:ext cx="0" cy="2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Line 50"/>
            <p:cNvSpPr>
              <a:spLocks noChangeShapeType="1"/>
            </p:cNvSpPr>
            <p:nvPr/>
          </p:nvSpPr>
          <p:spPr bwMode="auto">
            <a:xfrm flipV="1">
              <a:off x="1292" y="1706"/>
              <a:ext cx="2314" cy="217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Line 51"/>
            <p:cNvSpPr>
              <a:spLocks noChangeShapeType="1"/>
            </p:cNvSpPr>
            <p:nvPr/>
          </p:nvSpPr>
          <p:spPr bwMode="auto">
            <a:xfrm>
              <a:off x="1292" y="1706"/>
              <a:ext cx="2359" cy="217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Freeform 52"/>
            <p:cNvSpPr>
              <a:spLocks/>
            </p:cNvSpPr>
            <p:nvPr/>
          </p:nvSpPr>
          <p:spPr bwMode="auto">
            <a:xfrm>
              <a:off x="1292" y="1706"/>
              <a:ext cx="2359" cy="2178"/>
            </a:xfrm>
            <a:custGeom>
              <a:avLst/>
              <a:gdLst>
                <a:gd name="T0" fmla="*/ 0 w 2359"/>
                <a:gd name="T1" fmla="*/ 2178 h 2178"/>
                <a:gd name="T2" fmla="*/ 635 w 2359"/>
                <a:gd name="T3" fmla="*/ 1906 h 2178"/>
                <a:gd name="T4" fmla="*/ 1134 w 2359"/>
                <a:gd name="T5" fmla="*/ 1633 h 2178"/>
                <a:gd name="T6" fmla="*/ 1497 w 2359"/>
                <a:gd name="T7" fmla="*/ 1361 h 2178"/>
                <a:gd name="T8" fmla="*/ 1860 w 2359"/>
                <a:gd name="T9" fmla="*/ 817 h 2178"/>
                <a:gd name="T10" fmla="*/ 2178 w 2359"/>
                <a:gd name="T11" fmla="*/ 318 h 2178"/>
                <a:gd name="T12" fmla="*/ 2359 w 2359"/>
                <a:gd name="T13" fmla="*/ 0 h 2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23" y="2087"/>
                    <a:pt x="446" y="1997"/>
                    <a:pt x="635" y="1906"/>
                  </a:cubicBezTo>
                  <a:cubicBezTo>
                    <a:pt x="824" y="1815"/>
                    <a:pt x="990" y="1724"/>
                    <a:pt x="1134" y="1633"/>
                  </a:cubicBezTo>
                  <a:cubicBezTo>
                    <a:pt x="1278" y="1542"/>
                    <a:pt x="1376" y="1497"/>
                    <a:pt x="1497" y="1361"/>
                  </a:cubicBezTo>
                  <a:cubicBezTo>
                    <a:pt x="1618" y="1225"/>
                    <a:pt x="1747" y="991"/>
                    <a:pt x="1860" y="817"/>
                  </a:cubicBezTo>
                  <a:cubicBezTo>
                    <a:pt x="1973" y="643"/>
                    <a:pt x="2095" y="454"/>
                    <a:pt x="2178" y="318"/>
                  </a:cubicBezTo>
                  <a:cubicBezTo>
                    <a:pt x="2261" y="182"/>
                    <a:pt x="2329" y="53"/>
                    <a:pt x="2359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Freeform 53"/>
            <p:cNvSpPr>
              <a:spLocks/>
            </p:cNvSpPr>
            <p:nvPr/>
          </p:nvSpPr>
          <p:spPr bwMode="auto">
            <a:xfrm rot="10800000">
              <a:off x="1292" y="1706"/>
              <a:ext cx="2314" cy="2178"/>
            </a:xfrm>
            <a:custGeom>
              <a:avLst/>
              <a:gdLst>
                <a:gd name="T0" fmla="*/ 0 w 2359"/>
                <a:gd name="T1" fmla="*/ 2178 h 2178"/>
                <a:gd name="T2" fmla="*/ 599 w 2359"/>
                <a:gd name="T3" fmla="*/ 1906 h 2178"/>
                <a:gd name="T4" fmla="*/ 1070 w 2359"/>
                <a:gd name="T5" fmla="*/ 1633 h 2178"/>
                <a:gd name="T6" fmla="*/ 1413 w 2359"/>
                <a:gd name="T7" fmla="*/ 1361 h 2178"/>
                <a:gd name="T8" fmla="*/ 1756 w 2359"/>
                <a:gd name="T9" fmla="*/ 817 h 2178"/>
                <a:gd name="T10" fmla="*/ 2055 w 2359"/>
                <a:gd name="T11" fmla="*/ 318 h 2178"/>
                <a:gd name="T12" fmla="*/ 2227 w 2359"/>
                <a:gd name="T13" fmla="*/ 0 h 2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23" y="2087"/>
                    <a:pt x="446" y="1997"/>
                    <a:pt x="635" y="1906"/>
                  </a:cubicBezTo>
                  <a:cubicBezTo>
                    <a:pt x="824" y="1815"/>
                    <a:pt x="990" y="1724"/>
                    <a:pt x="1134" y="1633"/>
                  </a:cubicBezTo>
                  <a:cubicBezTo>
                    <a:pt x="1278" y="1542"/>
                    <a:pt x="1376" y="1497"/>
                    <a:pt x="1497" y="1361"/>
                  </a:cubicBezTo>
                  <a:cubicBezTo>
                    <a:pt x="1618" y="1225"/>
                    <a:pt x="1747" y="991"/>
                    <a:pt x="1860" y="817"/>
                  </a:cubicBezTo>
                  <a:cubicBezTo>
                    <a:pt x="1973" y="643"/>
                    <a:pt x="2095" y="454"/>
                    <a:pt x="2178" y="318"/>
                  </a:cubicBezTo>
                  <a:cubicBezTo>
                    <a:pt x="2261" y="182"/>
                    <a:pt x="2329" y="53"/>
                    <a:pt x="2359" y="0"/>
                  </a:cubicBezTo>
                </a:path>
              </a:pathLst>
            </a:custGeom>
            <a:noFill/>
            <a:ln w="28575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Freeform 54"/>
            <p:cNvSpPr>
              <a:spLocks/>
            </p:cNvSpPr>
            <p:nvPr/>
          </p:nvSpPr>
          <p:spPr bwMode="auto">
            <a:xfrm rot="5400000">
              <a:off x="1383" y="1615"/>
              <a:ext cx="2178" cy="2359"/>
            </a:xfrm>
            <a:custGeom>
              <a:avLst/>
              <a:gdLst>
                <a:gd name="T0" fmla="*/ 0 w 2359"/>
                <a:gd name="T1" fmla="*/ 2767 h 2178"/>
                <a:gd name="T2" fmla="*/ 499 w 2359"/>
                <a:gd name="T3" fmla="*/ 2422 h 2178"/>
                <a:gd name="T4" fmla="*/ 893 w 2359"/>
                <a:gd name="T5" fmla="*/ 2075 h 2178"/>
                <a:gd name="T6" fmla="*/ 1178 w 2359"/>
                <a:gd name="T7" fmla="*/ 1729 h 2178"/>
                <a:gd name="T8" fmla="*/ 1463 w 2359"/>
                <a:gd name="T9" fmla="*/ 1039 h 2178"/>
                <a:gd name="T10" fmla="*/ 1715 w 2359"/>
                <a:gd name="T11" fmla="*/ 404 h 2178"/>
                <a:gd name="T12" fmla="*/ 1857 w 2359"/>
                <a:gd name="T13" fmla="*/ 0 h 2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23" y="2087"/>
                    <a:pt x="446" y="1997"/>
                    <a:pt x="635" y="1906"/>
                  </a:cubicBezTo>
                  <a:cubicBezTo>
                    <a:pt x="824" y="1815"/>
                    <a:pt x="990" y="1724"/>
                    <a:pt x="1134" y="1633"/>
                  </a:cubicBezTo>
                  <a:cubicBezTo>
                    <a:pt x="1278" y="1542"/>
                    <a:pt x="1376" y="1497"/>
                    <a:pt x="1497" y="1361"/>
                  </a:cubicBezTo>
                  <a:cubicBezTo>
                    <a:pt x="1618" y="1225"/>
                    <a:pt x="1747" y="991"/>
                    <a:pt x="1860" y="817"/>
                  </a:cubicBezTo>
                  <a:cubicBezTo>
                    <a:pt x="1973" y="643"/>
                    <a:pt x="2095" y="454"/>
                    <a:pt x="2178" y="318"/>
                  </a:cubicBezTo>
                  <a:cubicBezTo>
                    <a:pt x="2261" y="182"/>
                    <a:pt x="2329" y="53"/>
                    <a:pt x="2359" y="0"/>
                  </a:cubicBezTo>
                </a:path>
              </a:pathLst>
            </a:custGeom>
            <a:noFill/>
            <a:ln w="28575" cmpd="sng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Freeform 55"/>
            <p:cNvSpPr>
              <a:spLocks/>
            </p:cNvSpPr>
            <p:nvPr/>
          </p:nvSpPr>
          <p:spPr bwMode="auto">
            <a:xfrm rot="-5400000">
              <a:off x="1406" y="1638"/>
              <a:ext cx="2178" cy="2313"/>
            </a:xfrm>
            <a:custGeom>
              <a:avLst/>
              <a:gdLst>
                <a:gd name="T0" fmla="*/ 0 w 2359"/>
                <a:gd name="T1" fmla="*/ 2608 h 2178"/>
                <a:gd name="T2" fmla="*/ 499 w 2359"/>
                <a:gd name="T3" fmla="*/ 2282 h 2178"/>
                <a:gd name="T4" fmla="*/ 893 w 2359"/>
                <a:gd name="T5" fmla="*/ 1955 h 2178"/>
                <a:gd name="T6" fmla="*/ 1178 w 2359"/>
                <a:gd name="T7" fmla="*/ 1630 h 2178"/>
                <a:gd name="T8" fmla="*/ 1463 w 2359"/>
                <a:gd name="T9" fmla="*/ 979 h 2178"/>
                <a:gd name="T10" fmla="*/ 1715 w 2359"/>
                <a:gd name="T11" fmla="*/ 381 h 2178"/>
                <a:gd name="T12" fmla="*/ 1857 w 2359"/>
                <a:gd name="T13" fmla="*/ 0 h 21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23" y="2087"/>
                    <a:pt x="446" y="1997"/>
                    <a:pt x="635" y="1906"/>
                  </a:cubicBezTo>
                  <a:cubicBezTo>
                    <a:pt x="824" y="1815"/>
                    <a:pt x="990" y="1724"/>
                    <a:pt x="1134" y="1633"/>
                  </a:cubicBezTo>
                  <a:cubicBezTo>
                    <a:pt x="1278" y="1542"/>
                    <a:pt x="1376" y="1497"/>
                    <a:pt x="1497" y="1361"/>
                  </a:cubicBezTo>
                  <a:cubicBezTo>
                    <a:pt x="1618" y="1225"/>
                    <a:pt x="1747" y="991"/>
                    <a:pt x="1860" y="817"/>
                  </a:cubicBezTo>
                  <a:cubicBezTo>
                    <a:pt x="1973" y="643"/>
                    <a:pt x="2095" y="454"/>
                    <a:pt x="2178" y="318"/>
                  </a:cubicBezTo>
                  <a:cubicBezTo>
                    <a:pt x="2261" y="182"/>
                    <a:pt x="2329" y="53"/>
                    <a:pt x="2359" y="0"/>
                  </a:cubicBezTo>
                </a:path>
              </a:pathLst>
            </a:custGeom>
            <a:noFill/>
            <a:ln w="28575" cmpd="sng">
              <a:solidFill>
                <a:srgbClr val="D9CF0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Freeform 56"/>
            <p:cNvSpPr>
              <a:spLocks/>
            </p:cNvSpPr>
            <p:nvPr/>
          </p:nvSpPr>
          <p:spPr bwMode="auto">
            <a:xfrm>
              <a:off x="1292" y="1706"/>
              <a:ext cx="2359" cy="2178"/>
            </a:xfrm>
            <a:custGeom>
              <a:avLst/>
              <a:gdLst>
                <a:gd name="T0" fmla="*/ 0 w 2359"/>
                <a:gd name="T1" fmla="*/ 2178 h 2178"/>
                <a:gd name="T2" fmla="*/ 635 w 2359"/>
                <a:gd name="T3" fmla="*/ 2087 h 2178"/>
                <a:gd name="T4" fmla="*/ 1270 w 2359"/>
                <a:gd name="T5" fmla="*/ 1906 h 2178"/>
                <a:gd name="T6" fmla="*/ 1769 w 2359"/>
                <a:gd name="T7" fmla="*/ 1633 h 2178"/>
                <a:gd name="T8" fmla="*/ 2087 w 2359"/>
                <a:gd name="T9" fmla="*/ 1089 h 2178"/>
                <a:gd name="T10" fmla="*/ 2359 w 2359"/>
                <a:gd name="T11" fmla="*/ 0 h 2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11" y="2155"/>
                    <a:pt x="423" y="2132"/>
                    <a:pt x="635" y="2087"/>
                  </a:cubicBezTo>
                  <a:cubicBezTo>
                    <a:pt x="847" y="2042"/>
                    <a:pt x="1081" y="1982"/>
                    <a:pt x="1270" y="1906"/>
                  </a:cubicBezTo>
                  <a:cubicBezTo>
                    <a:pt x="1459" y="1830"/>
                    <a:pt x="1633" y="1769"/>
                    <a:pt x="1769" y="1633"/>
                  </a:cubicBezTo>
                  <a:cubicBezTo>
                    <a:pt x="1905" y="1497"/>
                    <a:pt x="1989" y="1361"/>
                    <a:pt x="2087" y="1089"/>
                  </a:cubicBezTo>
                  <a:cubicBezTo>
                    <a:pt x="2185" y="817"/>
                    <a:pt x="2314" y="181"/>
                    <a:pt x="2359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Freeform 57"/>
            <p:cNvSpPr>
              <a:spLocks/>
            </p:cNvSpPr>
            <p:nvPr/>
          </p:nvSpPr>
          <p:spPr bwMode="auto">
            <a:xfrm rot="10800000">
              <a:off x="1292" y="1706"/>
              <a:ext cx="2314" cy="2178"/>
            </a:xfrm>
            <a:custGeom>
              <a:avLst/>
              <a:gdLst>
                <a:gd name="T0" fmla="*/ 0 w 2359"/>
                <a:gd name="T1" fmla="*/ 2178 h 2178"/>
                <a:gd name="T2" fmla="*/ 599 w 2359"/>
                <a:gd name="T3" fmla="*/ 2087 h 2178"/>
                <a:gd name="T4" fmla="*/ 1199 w 2359"/>
                <a:gd name="T5" fmla="*/ 1906 h 2178"/>
                <a:gd name="T6" fmla="*/ 1670 w 2359"/>
                <a:gd name="T7" fmla="*/ 1633 h 2178"/>
                <a:gd name="T8" fmla="*/ 1970 w 2359"/>
                <a:gd name="T9" fmla="*/ 1089 h 2178"/>
                <a:gd name="T10" fmla="*/ 2227 w 2359"/>
                <a:gd name="T11" fmla="*/ 0 h 2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11" y="2155"/>
                    <a:pt x="423" y="2132"/>
                    <a:pt x="635" y="2087"/>
                  </a:cubicBezTo>
                  <a:cubicBezTo>
                    <a:pt x="847" y="2042"/>
                    <a:pt x="1081" y="1982"/>
                    <a:pt x="1270" y="1906"/>
                  </a:cubicBezTo>
                  <a:cubicBezTo>
                    <a:pt x="1459" y="1830"/>
                    <a:pt x="1633" y="1769"/>
                    <a:pt x="1769" y="1633"/>
                  </a:cubicBezTo>
                  <a:cubicBezTo>
                    <a:pt x="1905" y="1497"/>
                    <a:pt x="1989" y="1361"/>
                    <a:pt x="2087" y="1089"/>
                  </a:cubicBezTo>
                  <a:cubicBezTo>
                    <a:pt x="2185" y="817"/>
                    <a:pt x="2314" y="181"/>
                    <a:pt x="2359" y="0"/>
                  </a:cubicBezTo>
                </a:path>
              </a:pathLst>
            </a:custGeom>
            <a:noFill/>
            <a:ln w="28575" cmpd="sng">
              <a:solidFill>
                <a:srgbClr val="0099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Freeform 58"/>
            <p:cNvSpPr>
              <a:spLocks/>
            </p:cNvSpPr>
            <p:nvPr/>
          </p:nvSpPr>
          <p:spPr bwMode="auto">
            <a:xfrm rot="5400000">
              <a:off x="1360" y="1638"/>
              <a:ext cx="2178" cy="2314"/>
            </a:xfrm>
            <a:custGeom>
              <a:avLst/>
              <a:gdLst>
                <a:gd name="T0" fmla="*/ 0 w 2359"/>
                <a:gd name="T1" fmla="*/ 2611 h 2178"/>
                <a:gd name="T2" fmla="*/ 499 w 2359"/>
                <a:gd name="T3" fmla="*/ 2502 h 2178"/>
                <a:gd name="T4" fmla="*/ 1000 w 2359"/>
                <a:gd name="T5" fmla="*/ 2285 h 2178"/>
                <a:gd name="T6" fmla="*/ 1392 w 2359"/>
                <a:gd name="T7" fmla="*/ 1958 h 2178"/>
                <a:gd name="T8" fmla="*/ 1643 w 2359"/>
                <a:gd name="T9" fmla="*/ 1306 h 2178"/>
                <a:gd name="T10" fmla="*/ 1857 w 2359"/>
                <a:gd name="T11" fmla="*/ 0 h 2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11" y="2155"/>
                    <a:pt x="423" y="2132"/>
                    <a:pt x="635" y="2087"/>
                  </a:cubicBezTo>
                  <a:cubicBezTo>
                    <a:pt x="847" y="2042"/>
                    <a:pt x="1081" y="1982"/>
                    <a:pt x="1270" y="1906"/>
                  </a:cubicBezTo>
                  <a:cubicBezTo>
                    <a:pt x="1459" y="1830"/>
                    <a:pt x="1633" y="1769"/>
                    <a:pt x="1769" y="1633"/>
                  </a:cubicBezTo>
                  <a:cubicBezTo>
                    <a:pt x="1905" y="1497"/>
                    <a:pt x="1989" y="1361"/>
                    <a:pt x="2087" y="1089"/>
                  </a:cubicBezTo>
                  <a:cubicBezTo>
                    <a:pt x="2185" y="817"/>
                    <a:pt x="2314" y="181"/>
                    <a:pt x="2359" y="0"/>
                  </a:cubicBezTo>
                </a:path>
              </a:pathLst>
            </a:custGeom>
            <a:noFill/>
            <a:ln w="28575" cmpd="sng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Freeform 59"/>
            <p:cNvSpPr>
              <a:spLocks/>
            </p:cNvSpPr>
            <p:nvPr/>
          </p:nvSpPr>
          <p:spPr bwMode="auto">
            <a:xfrm rot="-5400000">
              <a:off x="1406" y="1638"/>
              <a:ext cx="2178" cy="2313"/>
            </a:xfrm>
            <a:custGeom>
              <a:avLst/>
              <a:gdLst>
                <a:gd name="T0" fmla="*/ 0 w 2359"/>
                <a:gd name="T1" fmla="*/ 2608 h 2178"/>
                <a:gd name="T2" fmla="*/ 499 w 2359"/>
                <a:gd name="T3" fmla="*/ 2499 h 2178"/>
                <a:gd name="T4" fmla="*/ 1000 w 2359"/>
                <a:gd name="T5" fmla="*/ 2282 h 2178"/>
                <a:gd name="T6" fmla="*/ 1392 w 2359"/>
                <a:gd name="T7" fmla="*/ 1955 h 2178"/>
                <a:gd name="T8" fmla="*/ 1643 w 2359"/>
                <a:gd name="T9" fmla="*/ 1305 h 2178"/>
                <a:gd name="T10" fmla="*/ 1857 w 2359"/>
                <a:gd name="T11" fmla="*/ 0 h 21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59" h="2178">
                  <a:moveTo>
                    <a:pt x="0" y="2178"/>
                  </a:moveTo>
                  <a:cubicBezTo>
                    <a:pt x="211" y="2155"/>
                    <a:pt x="423" y="2132"/>
                    <a:pt x="635" y="2087"/>
                  </a:cubicBezTo>
                  <a:cubicBezTo>
                    <a:pt x="847" y="2042"/>
                    <a:pt x="1081" y="1982"/>
                    <a:pt x="1270" y="1906"/>
                  </a:cubicBezTo>
                  <a:cubicBezTo>
                    <a:pt x="1459" y="1830"/>
                    <a:pt x="1633" y="1769"/>
                    <a:pt x="1769" y="1633"/>
                  </a:cubicBezTo>
                  <a:cubicBezTo>
                    <a:pt x="1905" y="1497"/>
                    <a:pt x="1989" y="1361"/>
                    <a:pt x="2087" y="1089"/>
                  </a:cubicBezTo>
                  <a:cubicBezTo>
                    <a:pt x="2185" y="817"/>
                    <a:pt x="2314" y="181"/>
                    <a:pt x="2359" y="0"/>
                  </a:cubicBezTo>
                </a:path>
              </a:pathLst>
            </a:custGeom>
            <a:noFill/>
            <a:ln w="28575" cmpd="sng">
              <a:solidFill>
                <a:srgbClr val="CC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Text Box 60"/>
            <p:cNvSpPr txBox="1">
              <a:spLocks noChangeArrowheads="1"/>
            </p:cNvSpPr>
            <p:nvPr/>
          </p:nvSpPr>
          <p:spPr bwMode="auto">
            <a:xfrm>
              <a:off x="1292" y="1298"/>
              <a:ext cx="454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 altLang="zh-CN" b="1" i="1"/>
                <a:t>μ</a:t>
              </a:r>
              <a:r>
                <a:rPr lang="en-US" altLang="zh-CN" b="1"/>
                <a:t>(e)</a:t>
              </a:r>
            </a:p>
          </p:txBody>
        </p:sp>
        <p:sp>
          <p:nvSpPr>
            <p:cNvPr id="25625" name="Text Box 61"/>
            <p:cNvSpPr txBox="1">
              <a:spLocks noChangeArrowheads="1"/>
            </p:cNvSpPr>
            <p:nvPr/>
          </p:nvSpPr>
          <p:spPr bwMode="auto">
            <a:xfrm>
              <a:off x="985" y="2159"/>
              <a:ext cx="227" cy="4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13CB4C"/>
                  </a:solidFill>
                  <a:ea typeface="楷体_GB2312" pitchFamily="49" charset="-122"/>
                </a:rPr>
                <a:t>完全假</a:t>
              </a:r>
            </a:p>
          </p:txBody>
        </p:sp>
        <p:sp>
          <p:nvSpPr>
            <p:cNvPr id="25626" name="Text Box 62"/>
            <p:cNvSpPr txBox="1">
              <a:spLocks noChangeArrowheads="1"/>
            </p:cNvSpPr>
            <p:nvPr/>
          </p:nvSpPr>
          <p:spPr bwMode="auto">
            <a:xfrm>
              <a:off x="3696" y="2160"/>
              <a:ext cx="227" cy="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ea typeface="楷体_GB2312" pitchFamily="49" charset="-122"/>
                </a:rPr>
                <a:t>完全真</a:t>
              </a:r>
            </a:p>
          </p:txBody>
        </p:sp>
        <p:sp>
          <p:nvSpPr>
            <p:cNvPr id="25627" name="Text Box 63"/>
            <p:cNvSpPr txBox="1">
              <a:spLocks noChangeArrowheads="1"/>
            </p:cNvSpPr>
            <p:nvPr/>
          </p:nvSpPr>
          <p:spPr bwMode="auto">
            <a:xfrm>
              <a:off x="2315" y="1444"/>
              <a:ext cx="544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9900FF"/>
                  </a:solidFill>
                  <a:ea typeface="楷体_GB2312" pitchFamily="49" charset="-122"/>
                </a:rPr>
                <a:t>未知</a:t>
              </a:r>
            </a:p>
          </p:txBody>
        </p:sp>
        <p:sp>
          <p:nvSpPr>
            <p:cNvPr id="25628" name="Text Box 64"/>
            <p:cNvSpPr txBox="1">
              <a:spLocks noChangeArrowheads="1"/>
            </p:cNvSpPr>
            <p:nvPr/>
          </p:nvSpPr>
          <p:spPr bwMode="auto">
            <a:xfrm>
              <a:off x="3107" y="1933"/>
              <a:ext cx="182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6E0E"/>
                  </a:solidFill>
                  <a:ea typeface="楷体_GB2312" pitchFamily="49" charset="-122"/>
                </a:rPr>
                <a:t>真</a:t>
              </a:r>
            </a:p>
          </p:txBody>
        </p:sp>
        <p:sp>
          <p:nvSpPr>
            <p:cNvPr id="25629" name="Text Box 65"/>
            <p:cNvSpPr txBox="1">
              <a:spLocks noChangeArrowheads="1"/>
            </p:cNvSpPr>
            <p:nvPr/>
          </p:nvSpPr>
          <p:spPr bwMode="auto">
            <a:xfrm rot="1723856">
              <a:off x="3306" y="2101"/>
              <a:ext cx="271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9999CC"/>
                  </a:solidFill>
                  <a:ea typeface="楷体_GB2312" pitchFamily="49" charset="-122"/>
                </a:rPr>
                <a:t>很真</a:t>
              </a:r>
            </a:p>
          </p:txBody>
        </p:sp>
        <p:sp>
          <p:nvSpPr>
            <p:cNvPr id="25630" name="Text Box 66"/>
            <p:cNvSpPr txBox="1">
              <a:spLocks noChangeArrowheads="1"/>
            </p:cNvSpPr>
            <p:nvPr/>
          </p:nvSpPr>
          <p:spPr bwMode="auto">
            <a:xfrm>
              <a:off x="1576" y="1894"/>
              <a:ext cx="182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3333FF"/>
                  </a:solidFill>
                  <a:ea typeface="楷体_GB2312" pitchFamily="49" charset="-122"/>
                </a:rPr>
                <a:t>假</a:t>
              </a:r>
            </a:p>
          </p:txBody>
        </p:sp>
        <p:sp>
          <p:nvSpPr>
            <p:cNvPr id="25631" name="Text Box 67"/>
            <p:cNvSpPr txBox="1">
              <a:spLocks noChangeArrowheads="1"/>
            </p:cNvSpPr>
            <p:nvPr/>
          </p:nvSpPr>
          <p:spPr bwMode="auto">
            <a:xfrm rot="782985">
              <a:off x="3440" y="2318"/>
              <a:ext cx="227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ea typeface="楷体_GB2312" pitchFamily="49" charset="-122"/>
                </a:rPr>
                <a:t>极真</a:t>
              </a:r>
            </a:p>
          </p:txBody>
        </p:sp>
        <p:sp>
          <p:nvSpPr>
            <p:cNvPr id="25632" name="Text Box 68"/>
            <p:cNvSpPr txBox="1">
              <a:spLocks noChangeArrowheads="1"/>
            </p:cNvSpPr>
            <p:nvPr/>
          </p:nvSpPr>
          <p:spPr bwMode="auto">
            <a:xfrm rot="20021414">
              <a:off x="2772" y="1769"/>
              <a:ext cx="590" cy="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666699"/>
                  </a:solidFill>
                  <a:ea typeface="楷体_GB2312" pitchFamily="49" charset="-122"/>
                </a:rPr>
                <a:t>偏向真</a:t>
              </a:r>
            </a:p>
          </p:txBody>
        </p:sp>
        <p:sp>
          <p:nvSpPr>
            <p:cNvPr id="25633" name="Text Box 69"/>
            <p:cNvSpPr txBox="1">
              <a:spLocks noChangeArrowheads="1"/>
            </p:cNvSpPr>
            <p:nvPr/>
          </p:nvSpPr>
          <p:spPr bwMode="auto">
            <a:xfrm rot="20886128">
              <a:off x="2456" y="1689"/>
              <a:ext cx="590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99CC"/>
                  </a:solidFill>
                  <a:ea typeface="楷体_GB2312" pitchFamily="49" charset="-122"/>
                </a:rPr>
                <a:t>有点真</a:t>
              </a:r>
            </a:p>
          </p:txBody>
        </p:sp>
        <p:sp>
          <p:nvSpPr>
            <p:cNvPr id="25634" name="Text Box 70"/>
            <p:cNvSpPr txBox="1">
              <a:spLocks noChangeArrowheads="1"/>
            </p:cNvSpPr>
            <p:nvPr/>
          </p:nvSpPr>
          <p:spPr bwMode="auto">
            <a:xfrm rot="20010206">
              <a:off x="1514" y="2063"/>
              <a:ext cx="181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8000"/>
                  </a:solidFill>
                  <a:ea typeface="楷体_GB2312" pitchFamily="49" charset="-122"/>
                </a:rPr>
                <a:t>很假</a:t>
              </a:r>
            </a:p>
          </p:txBody>
        </p:sp>
        <p:sp>
          <p:nvSpPr>
            <p:cNvPr id="25635" name="Text Box 71"/>
            <p:cNvSpPr txBox="1">
              <a:spLocks noChangeArrowheads="1"/>
            </p:cNvSpPr>
            <p:nvPr/>
          </p:nvSpPr>
          <p:spPr bwMode="auto">
            <a:xfrm rot="658516">
              <a:off x="1989" y="1701"/>
              <a:ext cx="470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D5812C"/>
                  </a:solidFill>
                  <a:ea typeface="楷体_GB2312" pitchFamily="49" charset="-122"/>
                </a:rPr>
                <a:t>有点假</a:t>
              </a:r>
            </a:p>
          </p:txBody>
        </p:sp>
        <p:sp>
          <p:nvSpPr>
            <p:cNvPr id="25636" name="Text Box 72"/>
            <p:cNvSpPr txBox="1">
              <a:spLocks noChangeArrowheads="1"/>
            </p:cNvSpPr>
            <p:nvPr/>
          </p:nvSpPr>
          <p:spPr bwMode="auto">
            <a:xfrm rot="1557436">
              <a:off x="1709" y="1884"/>
              <a:ext cx="635" cy="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D9CF05"/>
                  </a:solidFill>
                  <a:ea typeface="楷体_GB2312" pitchFamily="49" charset="-122"/>
                </a:rPr>
                <a:t>偏向假</a:t>
              </a:r>
            </a:p>
          </p:txBody>
        </p:sp>
        <p:sp>
          <p:nvSpPr>
            <p:cNvPr id="25637" name="Text Box 73"/>
            <p:cNvSpPr txBox="1">
              <a:spLocks noChangeArrowheads="1"/>
            </p:cNvSpPr>
            <p:nvPr/>
          </p:nvSpPr>
          <p:spPr bwMode="auto">
            <a:xfrm rot="20425843">
              <a:off x="1402" y="2218"/>
              <a:ext cx="227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D5AB2D"/>
                  </a:solidFill>
                  <a:ea typeface="楷体_GB2312" pitchFamily="49" charset="-122"/>
                </a:rPr>
                <a:t>极假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534787-C2EA-F62D-7878-6E7B937D5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D14414-8EDF-4A19-B77D-796EDE59511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语言值的运算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557338"/>
            <a:ext cx="9144248" cy="511175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黑体" pitchFamily="49" charset="-122"/>
              </a:rPr>
              <a:t>设</a:t>
            </a:r>
            <a:r>
              <a:rPr lang="en-US" altLang="zh-CN" sz="2800" dirty="0">
                <a:ea typeface="黑体" pitchFamily="49" charset="-122"/>
              </a:rPr>
              <a:t>U={1,2,…,10}</a:t>
            </a:r>
          </a:p>
          <a:p>
            <a:pPr eaLnBrk="1" hangingPunct="1"/>
            <a:endParaRPr lang="en-US" altLang="zh-CN" sz="4400" dirty="0">
              <a:ea typeface="黑体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语言值的运算方法</a:t>
            </a:r>
          </a:p>
          <a:p>
            <a:pPr lvl="1" eaLnBrk="1" hangingPunct="1"/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逻辑运算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9900FF"/>
                </a:solidFill>
                <a:ea typeface="黑体" pitchFamily="49" charset="-122"/>
              </a:rPr>
              <a:t>不大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](u)=1-[</a:t>
            </a:r>
            <a:r>
              <a:rPr lang="zh-CN" altLang="en-US" sz="2800" dirty="0">
                <a:solidFill>
                  <a:srgbClr val="9900FF"/>
                </a:solidFill>
                <a:ea typeface="黑体" pitchFamily="49" charset="-122"/>
              </a:rPr>
              <a:t>大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](u)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   [</a:t>
            </a:r>
            <a:r>
              <a:rPr lang="zh-CN" altLang="en-US" sz="2800" dirty="0">
                <a:solidFill>
                  <a:srgbClr val="9900FF"/>
                </a:solidFill>
                <a:ea typeface="黑体" pitchFamily="49" charset="-122"/>
              </a:rPr>
              <a:t>不小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](u)=1-[</a:t>
            </a:r>
            <a:r>
              <a:rPr lang="zh-CN" altLang="en-US" sz="2800" dirty="0">
                <a:solidFill>
                  <a:srgbClr val="9900FF"/>
                </a:solidFill>
                <a:ea typeface="黑体" pitchFamily="49" charset="-122"/>
              </a:rPr>
              <a:t>小</a:t>
            </a:r>
            <a:r>
              <a:rPr lang="en-US" altLang="zh-CN" sz="2800" dirty="0">
                <a:solidFill>
                  <a:srgbClr val="9900FF"/>
                </a:solidFill>
                <a:ea typeface="黑体" pitchFamily="49" charset="-122"/>
              </a:rPr>
              <a:t>](u)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   [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不大也不小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](u)=[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不大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] </a:t>
            </a:r>
            <a:r>
              <a:rPr lang="en-US" altLang="zh-CN" sz="28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sym typeface="Symbol"/>
              </a:rPr>
              <a:t> 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[</a:t>
            </a:r>
            <a:r>
              <a:rPr lang="zh-CN" altLang="en-US" sz="2800" dirty="0">
                <a:solidFill>
                  <a:srgbClr val="008000"/>
                </a:solidFill>
                <a:ea typeface="黑体" pitchFamily="49" charset="-122"/>
              </a:rPr>
              <a:t>不小</a:t>
            </a:r>
            <a:r>
              <a:rPr lang="en-US" altLang="zh-CN" sz="2800" dirty="0">
                <a:solidFill>
                  <a:srgbClr val="008000"/>
                </a:solidFill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560758282"/>
              </p:ext>
            </p:extLst>
          </p:nvPr>
        </p:nvGraphicFramePr>
        <p:xfrm>
          <a:off x="4368006" y="3789363"/>
          <a:ext cx="44640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95500" imgH="393700" progId="Equation.3">
                  <p:embed/>
                </p:oleObj>
              </mc:Choice>
              <mc:Fallback>
                <p:oleObj name="公式" r:id="rId3" imgW="20955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006" y="3789363"/>
                        <a:ext cx="44640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125174"/>
              </p:ext>
            </p:extLst>
          </p:nvPr>
        </p:nvGraphicFramePr>
        <p:xfrm>
          <a:off x="4296568" y="1412876"/>
          <a:ext cx="5113338" cy="169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51100" imgH="812800" progId="Equation.3">
                  <p:embed/>
                </p:oleObj>
              </mc:Choice>
              <mc:Fallback>
                <p:oleObj name="公式" r:id="rId5" imgW="2451100" imgH="812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6568" y="1412876"/>
                        <a:ext cx="5113338" cy="169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546876"/>
              </p:ext>
            </p:extLst>
          </p:nvPr>
        </p:nvGraphicFramePr>
        <p:xfrm>
          <a:off x="4368006" y="4581525"/>
          <a:ext cx="50403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362200" imgH="393700" progId="Equation.3">
                  <p:embed/>
                </p:oleObj>
              </mc:Choice>
              <mc:Fallback>
                <p:oleObj name="公式" r:id="rId7" imgW="23622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006" y="4581525"/>
                        <a:ext cx="50403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767703"/>
              </p:ext>
            </p:extLst>
          </p:nvPr>
        </p:nvGraphicFramePr>
        <p:xfrm>
          <a:off x="3791744" y="5949950"/>
          <a:ext cx="4968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120900" imgH="393700" progId="Equation.3">
                  <p:embed/>
                </p:oleObj>
              </mc:Choice>
              <mc:Fallback>
                <p:oleObj name="公式" r:id="rId9" imgW="21209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949950"/>
                        <a:ext cx="49688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4CA04FD-384A-A56A-C0CF-16716E165A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388" y="333376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语言值的运算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84314"/>
            <a:ext cx="9072810" cy="4383087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算子运算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   </a:t>
            </a:r>
            <a:r>
              <a:rPr lang="zh-CN" altLang="en-US" sz="2800" dirty="0">
                <a:ea typeface="黑体" pitchFamily="49" charset="-122"/>
              </a:rPr>
              <a:t>由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(H</a:t>
            </a:r>
            <a:r>
              <a:rPr lang="el-GR" altLang="zh-CN" sz="28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A)(u)=A</a:t>
            </a:r>
            <a:r>
              <a:rPr lang="el-GR" altLang="zh-CN" sz="28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FF0000"/>
                </a:solidFill>
                <a:ea typeface="黑体" pitchFamily="49" charset="-122"/>
              </a:rPr>
              <a:t>(u) </a:t>
            </a:r>
            <a:r>
              <a:rPr lang="zh-CN" altLang="en-US" sz="2800" dirty="0">
                <a:ea typeface="黑体" pitchFamily="49" charset="-122"/>
              </a:rPr>
              <a:t>可得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ea typeface="黑体" pitchFamily="49" charset="-122"/>
              </a:rPr>
              <a:t>   </a:t>
            </a: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很大</a:t>
            </a:r>
            <a:r>
              <a:rPr lang="en-US" altLang="zh-CN" sz="2800" dirty="0">
                <a:ea typeface="黑体" pitchFamily="49" charset="-122"/>
              </a:rPr>
              <a:t>]=H</a:t>
            </a:r>
            <a:r>
              <a:rPr lang="en-US" altLang="zh-CN" sz="2800" baseline="-25000" dirty="0">
                <a:ea typeface="黑体" pitchFamily="49" charset="-122"/>
              </a:rPr>
              <a:t>2</a:t>
            </a: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大</a:t>
            </a:r>
            <a:r>
              <a:rPr lang="en-US" altLang="zh-CN" sz="2800" dirty="0">
                <a:ea typeface="黑体" pitchFamily="49" charset="-122"/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36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ea typeface="黑体" pitchFamily="49" charset="-122"/>
              </a:rPr>
              <a:t>[</a:t>
            </a:r>
            <a:r>
              <a:rPr lang="zh-CN" altLang="en-US" sz="2800" dirty="0">
                <a:ea typeface="黑体" pitchFamily="49" charset="-122"/>
              </a:rPr>
              <a:t>有点小</a:t>
            </a:r>
            <a:r>
              <a:rPr lang="en-US" altLang="zh-CN" sz="2800" dirty="0">
                <a:ea typeface="黑体" pitchFamily="49" charset="-122"/>
              </a:rPr>
              <a:t>]=H</a:t>
            </a:r>
            <a:r>
              <a:rPr lang="en-US" altLang="zh-CN" sz="2800" baseline="-25000" dirty="0">
                <a:ea typeface="黑体" pitchFamily="49" charset="-122"/>
                <a:cs typeface="Arial" charset="0"/>
              </a:rPr>
              <a:t>½</a:t>
            </a:r>
            <a:r>
              <a:rPr lang="en-US" altLang="zh-CN" sz="2800" dirty="0">
                <a:ea typeface="黑体" pitchFamily="49" charset="-122"/>
                <a:cs typeface="Arial" charset="0"/>
              </a:rPr>
              <a:t>[</a:t>
            </a:r>
            <a:r>
              <a:rPr lang="zh-CN" altLang="en-US" sz="2800" dirty="0">
                <a:ea typeface="黑体" pitchFamily="49" charset="-122"/>
                <a:cs typeface="Arial" charset="0"/>
              </a:rPr>
              <a:t>小</a:t>
            </a:r>
            <a:r>
              <a:rPr lang="en-US" altLang="zh-CN" sz="2800" dirty="0">
                <a:ea typeface="黑体" pitchFamily="49" charset="-122"/>
                <a:cs typeface="Arial" charset="0"/>
              </a:rPr>
              <a:t>]</a:t>
            </a:r>
          </a:p>
        </p:txBody>
      </p:sp>
      <p:graphicFrame>
        <p:nvGraphicFramePr>
          <p:cNvPr id="3891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95624960"/>
              </p:ext>
            </p:extLst>
          </p:nvPr>
        </p:nvGraphicFramePr>
        <p:xfrm>
          <a:off x="3575720" y="2565400"/>
          <a:ext cx="59055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40000" imgH="419100" progId="Equation.3">
                  <p:embed/>
                </p:oleObj>
              </mc:Choice>
              <mc:Fallback>
                <p:oleObj name="公式" r:id="rId2" imgW="25400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2565400"/>
                        <a:ext cx="59055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00515369"/>
              </p:ext>
            </p:extLst>
          </p:nvPr>
        </p:nvGraphicFramePr>
        <p:xfrm>
          <a:off x="3575721" y="3645024"/>
          <a:ext cx="58324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89200" imgH="393700" progId="Equation.3">
                  <p:embed/>
                </p:oleObj>
              </mc:Choice>
              <mc:Fallback>
                <p:oleObj name="公式" r:id="rId4" imgW="24892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1" y="3645024"/>
                        <a:ext cx="58324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550006"/>
              </p:ext>
            </p:extLst>
          </p:nvPr>
        </p:nvGraphicFramePr>
        <p:xfrm>
          <a:off x="3635103" y="4724400"/>
          <a:ext cx="53419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419040" progId="Equation.DSMT4">
                  <p:embed/>
                </p:oleObj>
              </mc:Choice>
              <mc:Fallback>
                <p:oleObj name="Equation" r:id="rId6" imgW="2273040" imgH="419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103" y="4724400"/>
                        <a:ext cx="5341937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860272"/>
              </p:ext>
            </p:extLst>
          </p:nvPr>
        </p:nvGraphicFramePr>
        <p:xfrm>
          <a:off x="3647157" y="5734050"/>
          <a:ext cx="453707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400" imgH="393700" progId="Equation.3">
                  <p:embed/>
                </p:oleObj>
              </mc:Choice>
              <mc:Fallback>
                <p:oleObj name="公式" r:id="rId8" imgW="1930400" imgH="393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157" y="5734050"/>
                        <a:ext cx="453707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270471"/>
              </p:ext>
            </p:extLst>
          </p:nvPr>
        </p:nvGraphicFramePr>
        <p:xfrm>
          <a:off x="7824192" y="1115724"/>
          <a:ext cx="39592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51100" imgH="812800" progId="Equation.3">
                  <p:embed/>
                </p:oleObj>
              </mc:Choice>
              <mc:Fallback>
                <p:oleObj name="公式" r:id="rId10" imgW="2451100" imgH="8128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192" y="1115724"/>
                        <a:ext cx="3959225" cy="13112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308B35-4C23-01EB-29CC-BA5DAE1758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1027113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语言值的运算</a:t>
            </a:r>
          </a:p>
        </p:txBody>
      </p:sp>
      <p:sp>
        <p:nvSpPr>
          <p:cNvPr id="4199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127450" y="1484314"/>
            <a:ext cx="8856338" cy="4383087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3333FF"/>
                </a:solidFill>
                <a:ea typeface="黑体" pitchFamily="49" charset="-122"/>
              </a:rPr>
              <a:t>F</a:t>
            </a:r>
            <a:r>
              <a:rPr lang="zh-CN" altLang="en-US" dirty="0">
                <a:solidFill>
                  <a:srgbClr val="3333FF"/>
                </a:solidFill>
                <a:ea typeface="黑体" pitchFamily="49" charset="-122"/>
              </a:rPr>
              <a:t>算子运算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ea typeface="黑体" pitchFamily="49" charset="-122"/>
              </a:rPr>
              <a:t>   </a:t>
            </a:r>
            <a:r>
              <a:rPr lang="zh-CN" altLang="en-US" sz="2800" dirty="0">
                <a:ea typeface="黑体" pitchFamily="49" charset="-122"/>
              </a:rPr>
              <a:t>由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从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得出</a:t>
            </a:r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92657965"/>
              </p:ext>
            </p:extLst>
          </p:nvPr>
        </p:nvGraphicFramePr>
        <p:xfrm>
          <a:off x="2562169" y="5302251"/>
          <a:ext cx="1276548" cy="471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215640" progId="Equation.DSMT4">
                  <p:embed/>
                </p:oleObj>
              </mc:Choice>
              <mc:Fallback>
                <p:oleObj name="Equation" r:id="rId2" imgW="583920" imgH="215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169" y="5302251"/>
                        <a:ext cx="1276548" cy="471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24362146"/>
              </p:ext>
            </p:extLst>
          </p:nvPr>
        </p:nvGraphicFramePr>
        <p:xfrm>
          <a:off x="2220782" y="1727994"/>
          <a:ext cx="3960813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59000" imgH="787400" progId="Equation.3">
                  <p:embed/>
                </p:oleObj>
              </mc:Choice>
              <mc:Fallback>
                <p:oleObj name="公式" r:id="rId4" imgW="21590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782" y="1727994"/>
                        <a:ext cx="3960813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7014756"/>
              </p:ext>
            </p:extLst>
          </p:nvPr>
        </p:nvGraphicFramePr>
        <p:xfrm>
          <a:off x="2207568" y="3357563"/>
          <a:ext cx="4751388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51100" imgH="812800" progId="Equation.3">
                  <p:embed/>
                </p:oleObj>
              </mc:Choice>
              <mc:Fallback>
                <p:oleObj name="公式" r:id="rId6" imgW="2451100" imgH="812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357563"/>
                        <a:ext cx="4751388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5BE26D1E-51AE-43E6-AF15-F6AFC7083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7759"/>
              </p:ext>
            </p:extLst>
          </p:nvPr>
        </p:nvGraphicFramePr>
        <p:xfrm>
          <a:off x="2562170" y="6083284"/>
          <a:ext cx="12430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215640" progId="Equation.DSMT4">
                  <p:embed/>
                </p:oleObj>
              </mc:Choice>
              <mc:Fallback>
                <p:oleObj name="Equation" r:id="rId8" imgW="583920" imgH="215640" progId="Equation.DSMT4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170" y="6083284"/>
                        <a:ext cx="12430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EFBA6F53-C916-4378-BB58-863ED554E0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93370"/>
              </p:ext>
            </p:extLst>
          </p:nvPr>
        </p:nvGraphicFramePr>
        <p:xfrm>
          <a:off x="3896023" y="5085163"/>
          <a:ext cx="267176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393480" progId="Equation.DSMT4">
                  <p:embed/>
                </p:oleObj>
              </mc:Choice>
              <mc:Fallback>
                <p:oleObj name="Equation" r:id="rId10" imgW="1257120" imgH="393480" progId="Equation.DSMT4">
                  <p:embed/>
                  <p:pic>
                    <p:nvPicPr>
                      <p:cNvPr id="41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6023" y="5085163"/>
                        <a:ext cx="267176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ACA3045B-7C4A-43A5-ABFB-38CF9211E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418259"/>
              </p:ext>
            </p:extLst>
          </p:nvPr>
        </p:nvGraphicFramePr>
        <p:xfrm>
          <a:off x="3893069" y="5916613"/>
          <a:ext cx="14843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393480" progId="Equation.DSMT4">
                  <p:embed/>
                </p:oleObj>
              </mc:Choice>
              <mc:Fallback>
                <p:oleObj name="Equation" r:id="rId12" imgW="698400" imgH="39348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5BE26D1E-51AE-43E6-AF15-F6AFC7083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3069" y="5916613"/>
                        <a:ext cx="148431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>
            <a:extLst>
              <a:ext uri="{FF2B5EF4-FFF2-40B4-BE49-F238E27FC236}">
                <a16:creationId xmlns:a16="http://schemas.microsoft.com/office/drawing/2014/main" id="{AF534C2A-792A-1AD3-1A49-0B616D5F78B8}"/>
              </a:ext>
            </a:extLst>
          </p:cNvPr>
          <p:cNvGrpSpPr>
            <a:grpSpLocks/>
          </p:cNvGrpSpPr>
          <p:nvPr/>
        </p:nvGrpSpPr>
        <p:grpSpPr bwMode="auto">
          <a:xfrm>
            <a:off x="8139664" y="1268431"/>
            <a:ext cx="3598442" cy="2198687"/>
            <a:chOff x="1084" y="1480"/>
            <a:chExt cx="3973" cy="2672"/>
          </a:xfrm>
        </p:grpSpPr>
        <p:sp>
          <p:nvSpPr>
            <p:cNvPr id="3" name="Line 24">
              <a:extLst>
                <a:ext uri="{FF2B5EF4-FFF2-40B4-BE49-F238E27FC236}">
                  <a16:creationId xmlns:a16="http://schemas.microsoft.com/office/drawing/2014/main" id="{D17D0C42-40B1-C27C-B9B0-2438720DF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570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25">
              <a:extLst>
                <a:ext uri="{FF2B5EF4-FFF2-40B4-BE49-F238E27FC236}">
                  <a16:creationId xmlns:a16="http://schemas.microsoft.com/office/drawing/2014/main" id="{3CFB353E-45AD-B42A-AB56-A1C75B0E6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657"/>
              <a:ext cx="35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Box 26">
              <a:extLst>
                <a:ext uri="{FF2B5EF4-FFF2-40B4-BE49-F238E27FC236}">
                  <a16:creationId xmlns:a16="http://schemas.microsoft.com/office/drawing/2014/main" id="{08057CDD-00E3-A0DB-E43E-9A9D1A127E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" y="3703"/>
              <a:ext cx="3720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0                   ½                  1    x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08558CEE-14D4-51FA-55CE-8BB57DFAB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1754"/>
              <a:ext cx="228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9" name="Line 31">
              <a:extLst>
                <a:ext uri="{FF2B5EF4-FFF2-40B4-BE49-F238E27FC236}">
                  <a16:creationId xmlns:a16="http://schemas.microsoft.com/office/drawing/2014/main" id="{4E1B1B25-7015-FD75-2F57-94C3198E1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888"/>
              <a:ext cx="23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E41D3A36-17F5-2FC1-2B12-71D14F73C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" y="1921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33">
              <a:extLst>
                <a:ext uri="{FF2B5EF4-FFF2-40B4-BE49-F238E27FC236}">
                  <a16:creationId xmlns:a16="http://schemas.microsoft.com/office/drawing/2014/main" id="{2FC80933-935B-4CC2-87FD-F4932B3C4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3656"/>
              <a:ext cx="157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34">
              <a:extLst>
                <a:ext uri="{FF2B5EF4-FFF2-40B4-BE49-F238E27FC236}">
                  <a16:creationId xmlns:a16="http://schemas.microsoft.com/office/drawing/2014/main" id="{E8BD4081-6091-3C93-3852-AD7B8B14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" y="1888"/>
              <a:ext cx="1506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6">
              <a:extLst>
                <a:ext uri="{FF2B5EF4-FFF2-40B4-BE49-F238E27FC236}">
                  <a16:creationId xmlns:a16="http://schemas.microsoft.com/office/drawing/2014/main" id="{232B1673-3A68-C95C-600D-F356C9336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888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37">
              <a:extLst>
                <a:ext uri="{FF2B5EF4-FFF2-40B4-BE49-F238E27FC236}">
                  <a16:creationId xmlns:a16="http://schemas.microsoft.com/office/drawing/2014/main" id="{ADDF63D1-3661-D6C2-C01B-09A0F7632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8" y="1480"/>
              <a:ext cx="726" cy="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d</a:t>
              </a:r>
              <a:r>
                <a:rPr lang="en-US" altLang="zh-CN" baseline="-25000"/>
                <a:t>a</a:t>
              </a:r>
              <a:r>
                <a:rPr lang="en-US" altLang="zh-CN"/>
                <a:t>(x)</a:t>
              </a:r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0A9B2934-9675-A71F-1EA8-A90ACA082E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9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9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9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19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884238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语言值的运算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5440" y="1412875"/>
            <a:ext cx="9865096" cy="53292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语言值的四则运算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ea typeface="黑体" pitchFamily="49" charset="-122"/>
              </a:rPr>
              <a:t>   设</a:t>
            </a:r>
            <a:r>
              <a:rPr lang="en-US" altLang="zh-CN" sz="2800" dirty="0">
                <a:ea typeface="黑体" pitchFamily="49" charset="-122"/>
              </a:rPr>
              <a:t>A</a:t>
            </a:r>
            <a:r>
              <a:rPr lang="en-US" altLang="zh-CN" sz="2800" dirty="0">
                <a:ea typeface="黑体" pitchFamily="49" charset="-122"/>
                <a:cs typeface="Arial" charset="0"/>
              </a:rPr>
              <a:t>, B</a:t>
            </a:r>
            <a:r>
              <a:rPr lang="zh-CN" altLang="en-US" sz="2800" dirty="0">
                <a:ea typeface="黑体" pitchFamily="49" charset="-122"/>
                <a:cs typeface="Arial" charset="0"/>
              </a:rPr>
              <a:t>是两个语言值，按扩张原理，有如下四则运算公式：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ea typeface="黑体" pitchFamily="49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ea typeface="黑体" pitchFamily="49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4000" dirty="0">
              <a:ea typeface="黑体" pitchFamily="49" charset="-122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  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或表示为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4000" dirty="0">
              <a:solidFill>
                <a:schemeClr val="bg2"/>
              </a:solidFill>
              <a:ea typeface="黑体" pitchFamily="49" charset="-122"/>
              <a:cs typeface="Arial" charset="0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  其中，“</a:t>
            </a:r>
            <a:r>
              <a:rPr lang="zh-CN" altLang="en-US" sz="2800" dirty="0">
                <a:solidFill>
                  <a:srgbClr val="E90101"/>
                </a:solidFill>
                <a:ea typeface="黑体" pitchFamily="49" charset="-122"/>
              </a:rPr>
              <a:t>＊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”表示算子 “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+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-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  <a:cs typeface="Arial" charset="0"/>
              </a:rPr>
              <a:t>，</a:t>
            </a:r>
            <a:r>
              <a:rPr lang="el-GR" altLang="zh-CN" sz="2800" dirty="0">
                <a:solidFill>
                  <a:schemeClr val="bg2"/>
                </a:solidFill>
                <a:ea typeface="黑体" pitchFamily="49" charset="-122"/>
              </a:rPr>
              <a:t>×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，</a:t>
            </a:r>
            <a:r>
              <a:rPr lang="el-GR" altLang="zh-CN" sz="2800" dirty="0">
                <a:solidFill>
                  <a:schemeClr val="bg2"/>
                </a:solidFill>
                <a:ea typeface="黑体" pitchFamily="49" charset="-122"/>
              </a:rPr>
              <a:t>÷</a:t>
            </a:r>
            <a:r>
              <a:rPr lang="en-US" altLang="zh-CN" sz="2800" dirty="0">
                <a:solidFill>
                  <a:schemeClr val="bg2"/>
                </a:solidFill>
                <a:ea typeface="黑体" pitchFamily="49" charset="-122"/>
              </a:rPr>
              <a:t>”</a:t>
            </a:r>
            <a:endParaRPr lang="zh-CN" altLang="el-GR" sz="2800" dirty="0">
              <a:solidFill>
                <a:schemeClr val="bg2"/>
              </a:solidFill>
              <a:ea typeface="黑体" pitchFamily="49" charset="-122"/>
            </a:endParaRPr>
          </a:p>
        </p:txBody>
      </p:sp>
      <p:graphicFrame>
        <p:nvGraphicFramePr>
          <p:cNvPr id="4710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557473369"/>
              </p:ext>
            </p:extLst>
          </p:nvPr>
        </p:nvGraphicFramePr>
        <p:xfrm>
          <a:off x="3359696" y="2636839"/>
          <a:ext cx="5400675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65400" imgH="1193800" progId="Equation.3">
                  <p:embed/>
                </p:oleObj>
              </mc:Choice>
              <mc:Fallback>
                <p:oleObj name="公式" r:id="rId2" imgW="2565400" imgH="119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2636839"/>
                        <a:ext cx="5400675" cy="251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86949916"/>
              </p:ext>
            </p:extLst>
          </p:nvPr>
        </p:nvGraphicFramePr>
        <p:xfrm>
          <a:off x="3359696" y="5373688"/>
          <a:ext cx="47529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46300" imgH="381000" progId="Equation.3">
                  <p:embed/>
                </p:oleObj>
              </mc:Choice>
              <mc:Fallback>
                <p:oleObj name="公式" r:id="rId4" imgW="21463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5373688"/>
                        <a:ext cx="47529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F48021-007E-C2C5-F39F-98201E3C3D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1B90FF-E996-450C-B991-6D11A1A63FD4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57970"/>
            <a:ext cx="8229600" cy="1371600"/>
          </a:xfrm>
        </p:spPr>
        <p:txBody>
          <a:bodyPr/>
          <a:lstStyle/>
          <a:p>
            <a:pPr algn="ctr" eaLnBrk="1" hangingPunct="1"/>
            <a:r>
              <a:rPr lang="zh-CN" altLang="en-US" dirty="0">
                <a:solidFill>
                  <a:srgbClr val="228A2E"/>
                </a:solidFill>
                <a:ea typeface="黑体" pitchFamily="49" charset="-122"/>
              </a:rPr>
              <a:t>语言值四则运算举例</a:t>
            </a:r>
            <a:r>
              <a:rPr lang="en-US" altLang="zh-CN" sz="3200" dirty="0">
                <a:ea typeface="黑体" pitchFamily="49" charset="-122"/>
              </a:rPr>
              <a:t>[P167]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92314" y="2060575"/>
            <a:ext cx="8002587" cy="3886200"/>
          </a:xfrm>
        </p:spPr>
        <p:txBody>
          <a:bodyPr/>
          <a:lstStyle/>
          <a:p>
            <a:pPr eaLnBrk="1" hangingPunct="1"/>
            <a:r>
              <a:rPr lang="zh-CN" altLang="en-US" sz="2800"/>
              <a:t>设</a:t>
            </a:r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>
                <a:solidFill>
                  <a:schemeClr val="bg2"/>
                </a:solidFill>
              </a:rPr>
              <a:t>求</a:t>
            </a:r>
            <a:r>
              <a:rPr lang="en-US" altLang="zh-CN" sz="2800">
                <a:solidFill>
                  <a:schemeClr val="bg2"/>
                </a:solidFill>
              </a:rPr>
              <a:t>A+B</a:t>
            </a:r>
            <a:r>
              <a:rPr lang="zh-CN" altLang="en-US" sz="2800">
                <a:solidFill>
                  <a:schemeClr val="bg2"/>
                </a:solidFill>
              </a:rPr>
              <a:t>，</a:t>
            </a:r>
            <a:r>
              <a:rPr lang="en-US" altLang="zh-CN" sz="2800">
                <a:solidFill>
                  <a:schemeClr val="bg2"/>
                </a:solidFill>
              </a:rPr>
              <a:t>A-B</a:t>
            </a:r>
            <a:r>
              <a:rPr lang="zh-CN" altLang="en-US" sz="2800">
                <a:solidFill>
                  <a:schemeClr val="bg2"/>
                </a:solidFill>
              </a:rPr>
              <a:t>，</a:t>
            </a:r>
            <a:r>
              <a:rPr lang="en-US" altLang="zh-CN" sz="2800">
                <a:solidFill>
                  <a:schemeClr val="bg2"/>
                </a:solidFill>
              </a:rPr>
              <a:t>A</a:t>
            </a:r>
            <a:r>
              <a:rPr lang="el-GR" altLang="zh-CN" sz="2800">
                <a:solidFill>
                  <a:schemeClr val="bg2"/>
                </a:solidFill>
                <a:ea typeface="黑体" pitchFamily="49" charset="-122"/>
              </a:rPr>
              <a:t>×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B</a:t>
            </a:r>
            <a:r>
              <a:rPr lang="zh-CN" altLang="en-US" sz="2800">
                <a:solidFill>
                  <a:schemeClr val="bg2"/>
                </a:solidFill>
                <a:ea typeface="黑体" pitchFamily="49" charset="-122"/>
              </a:rPr>
              <a:t>，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A</a:t>
            </a:r>
            <a:r>
              <a:rPr lang="el-GR" altLang="zh-CN" sz="2800">
                <a:solidFill>
                  <a:schemeClr val="bg2"/>
                </a:solidFill>
                <a:ea typeface="黑体" pitchFamily="49" charset="-122"/>
              </a:rPr>
              <a:t>÷</a:t>
            </a:r>
            <a:r>
              <a:rPr lang="en-US" altLang="zh-CN" sz="2800">
                <a:solidFill>
                  <a:schemeClr val="bg2"/>
                </a:solidFill>
                <a:ea typeface="黑体" pitchFamily="49" charset="-122"/>
              </a:rPr>
              <a:t>B</a:t>
            </a:r>
          </a:p>
        </p:txBody>
      </p:sp>
      <p:graphicFrame>
        <p:nvGraphicFramePr>
          <p:cNvPr id="3072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43250" y="1773238"/>
          <a:ext cx="676910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00300" imgH="393700" progId="Equation.3">
                  <p:embed/>
                </p:oleObj>
              </mc:Choice>
              <mc:Fallback>
                <p:oleObj name="公式" r:id="rId2" imgW="24003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1773238"/>
                        <a:ext cx="6769100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DC70AC-618E-CC20-0BA2-D429014C9F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A211F6-B6CE-4113-A7BA-7EFEA5B4F1FE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en-US" altLang="zh-CN">
                <a:solidFill>
                  <a:srgbClr val="228A2E"/>
                </a:solidFill>
              </a:rPr>
              <a:t>7.3  </a:t>
            </a:r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普通文法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225136" cy="5229225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黑体" pitchFamily="49" charset="-122"/>
              </a:rPr>
              <a:t>从语法结构上看，一个句子是由一些词排成（可重复排列）的有穷序列。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设词的集合为</a:t>
            </a:r>
            <a:r>
              <a:rPr lang="en-US" altLang="zh-CN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，而</a:t>
            </a:r>
            <a:r>
              <a:rPr lang="en-US" altLang="zh-CN" dirty="0">
                <a:ea typeface="黑体" pitchFamily="49" charset="-122"/>
              </a:rPr>
              <a:t>T</a:t>
            </a:r>
            <a:r>
              <a:rPr lang="zh-CN" altLang="en-US" dirty="0">
                <a:ea typeface="黑体" pitchFamily="49" charset="-122"/>
              </a:rPr>
              <a:t>中词的排列全体记为</a:t>
            </a:r>
            <a:r>
              <a:rPr lang="en-US" altLang="zh-CN" dirty="0">
                <a:ea typeface="黑体" pitchFamily="49" charset="-122"/>
              </a:rPr>
              <a:t>T*</a:t>
            </a:r>
          </a:p>
          <a:p>
            <a:pPr lvl="1" eaLnBrk="1" hangingPunct="1"/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如设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T={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a,b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},</a:t>
            </a: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则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bg2"/>
                </a:solidFill>
                <a:ea typeface="黑体" pitchFamily="49" charset="-122"/>
              </a:rPr>
              <a:t>   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T*={</a:t>
            </a:r>
            <a:r>
              <a:rPr lang="el-GR" altLang="zh-CN" dirty="0">
                <a:solidFill>
                  <a:srgbClr val="D5812C"/>
                </a:solidFill>
                <a:ea typeface="黑体" pitchFamily="49" charset="-122"/>
                <a:cs typeface="Arial" charset="0"/>
              </a:rPr>
              <a:t>ε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,a, b, aa, bb, ab,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aaa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bbb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 </a:t>
            </a:r>
            <a:r>
              <a:rPr lang="en-US" altLang="zh-CN" dirty="0" err="1">
                <a:solidFill>
                  <a:schemeClr val="bg2"/>
                </a:solidFill>
                <a:ea typeface="黑体" pitchFamily="49" charset="-122"/>
              </a:rPr>
              <a:t>aab</a:t>
            </a:r>
            <a:r>
              <a:rPr lang="en-US" altLang="zh-CN" dirty="0">
                <a:solidFill>
                  <a:schemeClr val="bg2"/>
                </a:solidFill>
                <a:ea typeface="黑体" pitchFamily="49" charset="-122"/>
              </a:rPr>
              <a:t>,…}</a:t>
            </a:r>
          </a:p>
          <a:p>
            <a:pPr lvl="1" eaLnBrk="1" hangingPunct="1"/>
            <a:r>
              <a:rPr lang="el-GR" altLang="zh-CN" dirty="0">
                <a:solidFill>
                  <a:srgbClr val="D5812C"/>
                </a:solidFill>
                <a:ea typeface="黑体" pitchFamily="49" charset="-122"/>
              </a:rPr>
              <a:t>ε</a:t>
            </a:r>
            <a:r>
              <a:rPr lang="zh-CN" altLang="en-US" dirty="0">
                <a:ea typeface="黑体" pitchFamily="49" charset="-122"/>
              </a:rPr>
              <a:t>是空序列，</a:t>
            </a:r>
            <a:r>
              <a:rPr lang="en-US" altLang="zh-CN" dirty="0">
                <a:ea typeface="黑体" pitchFamily="49" charset="-122"/>
              </a:rPr>
              <a:t>T*</a:t>
            </a:r>
            <a:r>
              <a:rPr lang="zh-CN" altLang="en-US" dirty="0">
                <a:ea typeface="黑体" pitchFamily="49" charset="-122"/>
              </a:rPr>
              <a:t>是无穷序列</a:t>
            </a:r>
          </a:p>
          <a:p>
            <a:pPr lvl="1" eaLnBrk="1" hangingPunct="1"/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注意：并不是词的任意排列都能构成一句话：</a:t>
            </a:r>
          </a:p>
          <a:p>
            <a:pPr lvl="2" eaLnBrk="1" hangingPunct="1"/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如：“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我吃饭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”是句子，“</a:t>
            </a:r>
            <a:r>
              <a:rPr lang="zh-CN" altLang="en-US" sz="2800" u="sng" dirty="0">
                <a:solidFill>
                  <a:schemeClr val="bg2"/>
                </a:solidFill>
                <a:ea typeface="黑体" pitchFamily="49" charset="-122"/>
              </a:rPr>
              <a:t>饭我吃</a:t>
            </a:r>
            <a:r>
              <a:rPr lang="zh-CN" altLang="en-US" sz="2800" dirty="0">
                <a:solidFill>
                  <a:schemeClr val="bg2"/>
                </a:solidFill>
                <a:ea typeface="黑体" pitchFamily="49" charset="-122"/>
              </a:rPr>
              <a:t>”不是句子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可见，</a:t>
            </a:r>
            <a:r>
              <a:rPr lang="zh-CN" altLang="en-US" dirty="0">
                <a:solidFill>
                  <a:srgbClr val="CC00CC"/>
                </a:solidFill>
                <a:ea typeface="黑体" pitchFamily="49" charset="-122"/>
              </a:rPr>
              <a:t>句子</a:t>
            </a:r>
            <a:r>
              <a:rPr kumimoji="1" lang="zh-CN" altLang="en-US" dirty="0">
                <a:solidFill>
                  <a:srgbClr val="CC00CC"/>
                </a:solidFill>
                <a:ea typeface="黑体" pitchFamily="49" charset="-122"/>
                <a:sym typeface="Symbol" pitchFamily="18" charset="2"/>
              </a:rPr>
              <a:t></a:t>
            </a:r>
            <a:r>
              <a:rPr kumimoji="1" lang="en-US" altLang="zh-CN" dirty="0">
                <a:solidFill>
                  <a:srgbClr val="CC00CC"/>
                </a:solidFill>
                <a:ea typeface="黑体" pitchFamily="49" charset="-122"/>
                <a:sym typeface="Symbol" pitchFamily="18" charset="2"/>
              </a:rPr>
              <a:t>T*</a:t>
            </a:r>
            <a:r>
              <a:rPr kumimoji="1" lang="zh-CN" altLang="en-US" dirty="0">
                <a:ea typeface="黑体" pitchFamily="49" charset="-122"/>
                <a:sym typeface="Symbol" pitchFamily="18" charset="2"/>
              </a:rPr>
              <a:t>，组成句子的法则</a:t>
            </a:r>
            <a:r>
              <a:rPr kumimoji="1" lang="en-US" altLang="zh-CN" dirty="0">
                <a:ea typeface="黑体" pitchFamily="49" charset="-122"/>
                <a:sym typeface="Symbol" pitchFamily="18" charset="2"/>
              </a:rPr>
              <a:t>——</a:t>
            </a:r>
            <a:r>
              <a:rPr kumimoji="1" lang="zh-CN" altLang="en-US" dirty="0">
                <a:solidFill>
                  <a:srgbClr val="FF0000"/>
                </a:solidFill>
                <a:ea typeface="黑体" pitchFamily="49" charset="-122"/>
                <a:sym typeface="Symbol" pitchFamily="18" charset="2"/>
              </a:rPr>
              <a:t>文法</a:t>
            </a:r>
            <a:endParaRPr kumimoji="1" lang="zh-CN" altLang="el-GR" dirty="0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5E7BA7-52BA-186D-5262-356DB4200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普通文法的定义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981200"/>
            <a:ext cx="10657184" cy="4687888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1D7527"/>
                </a:solidFill>
                <a:ea typeface="黑体" pitchFamily="49" charset="-122"/>
              </a:rPr>
              <a:t>[</a:t>
            </a:r>
            <a:r>
              <a:rPr lang="zh-CN" altLang="en-US" dirty="0">
                <a:solidFill>
                  <a:srgbClr val="1D7527"/>
                </a:solidFill>
                <a:ea typeface="黑体" pitchFamily="49" charset="-122"/>
              </a:rPr>
              <a:t>定义</a:t>
            </a:r>
            <a:r>
              <a:rPr lang="en-US" altLang="zh-CN" dirty="0">
                <a:solidFill>
                  <a:srgbClr val="1D7527"/>
                </a:solidFill>
                <a:ea typeface="黑体" pitchFamily="49" charset="-122"/>
              </a:rPr>
              <a:t>]</a:t>
            </a:r>
            <a:r>
              <a:rPr lang="zh-CN" altLang="en-US" dirty="0">
                <a:ea typeface="黑体" pitchFamily="49" charset="-122"/>
              </a:rPr>
              <a:t>一个普通文法是指四元组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G=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 </a:t>
            </a:r>
            <a:r>
              <a:rPr lang="en-US" altLang="zh-CN" dirty="0">
                <a:ea typeface="黑体" pitchFamily="49" charset="-122"/>
              </a:rPr>
              <a:t>——</a:t>
            </a:r>
            <a:r>
              <a:rPr lang="zh-CN" altLang="en-US" dirty="0">
                <a:ea typeface="黑体" pitchFamily="49" charset="-122"/>
              </a:rPr>
              <a:t>终极符号的集合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N </a:t>
            </a:r>
            <a:r>
              <a:rPr lang="en-US" altLang="zh-CN" dirty="0">
                <a:ea typeface="黑体" pitchFamily="49" charset="-122"/>
              </a:rPr>
              <a:t>——</a:t>
            </a:r>
            <a:r>
              <a:rPr lang="zh-CN" altLang="en-US" dirty="0">
                <a:ea typeface="黑体" pitchFamily="49" charset="-122"/>
              </a:rPr>
              <a:t>过渡符号的集合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S  ——</a:t>
            </a:r>
            <a:r>
              <a:rPr lang="zh-CN" altLang="en-US" dirty="0">
                <a:ea typeface="黑体" pitchFamily="49" charset="-122"/>
              </a:rPr>
              <a:t>起始符号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P  ——</a:t>
            </a:r>
            <a:r>
              <a:rPr lang="zh-CN" altLang="en-US" dirty="0">
                <a:ea typeface="黑体" pitchFamily="49" charset="-122"/>
              </a:rPr>
              <a:t>规则集合</a:t>
            </a:r>
          </a:p>
          <a:p>
            <a:pPr lvl="1" eaLnBrk="1" hangingPunct="1"/>
            <a:r>
              <a:rPr lang="zh-CN" altLang="en-US" sz="3200" dirty="0">
                <a:ea typeface="黑体" pitchFamily="49" charset="-122"/>
              </a:rPr>
              <a:t>约束条件： 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V</a:t>
            </a:r>
            <a:r>
              <a:rPr lang="en-US" altLang="zh-CN" sz="3200" b="1" baseline="-25000" dirty="0">
                <a:solidFill>
                  <a:srgbClr val="3333FF"/>
                </a:solidFill>
                <a:ea typeface="黑体" pitchFamily="49" charset="-122"/>
              </a:rPr>
              <a:t>T</a:t>
            </a:r>
            <a:r>
              <a:rPr lang="en-US" altLang="en-US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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V</a:t>
            </a:r>
            <a:r>
              <a:rPr lang="en-US" altLang="zh-CN" sz="3200" b="1" baseline="-25000" dirty="0">
                <a:solidFill>
                  <a:srgbClr val="3333FF"/>
                </a:solidFill>
                <a:ea typeface="黑体" pitchFamily="49" charset="-122"/>
              </a:rPr>
              <a:t>N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= </a:t>
            </a:r>
            <a:r>
              <a:rPr lang="en-US" altLang="zh-CN" sz="3200" dirty="0">
                <a:solidFill>
                  <a:srgbClr val="3333FF"/>
                </a:solidFill>
                <a:cs typeface="Arial" charset="0"/>
              </a:rPr>
              <a:t>Ø </a:t>
            </a:r>
            <a:endParaRPr lang="en-US" altLang="zh-CN" sz="3200" b="1" dirty="0">
              <a:solidFill>
                <a:srgbClr val="3333FF"/>
              </a:solidFill>
              <a:ea typeface="黑体" pitchFamily="49" charset="-122"/>
            </a:endParaRPr>
          </a:p>
          <a:p>
            <a:pPr lvl="1" eaLnBrk="1" hangingPunct="1">
              <a:buNone/>
            </a:pP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                     P 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 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{(</a:t>
            </a:r>
            <a:r>
              <a:rPr lang="el-GR" altLang="zh-CN" sz="3200" b="1" dirty="0">
                <a:solidFill>
                  <a:srgbClr val="3333FF"/>
                </a:solidFill>
                <a:ea typeface="黑体" pitchFamily="49" charset="-122"/>
                <a:cs typeface="Arial" charset="0"/>
              </a:rPr>
              <a:t>α</a:t>
            </a:r>
            <a:r>
              <a:rPr lang="el-GR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</a:t>
            </a:r>
            <a:r>
              <a:rPr lang="el-GR" altLang="zh-CN" sz="3200" b="1" dirty="0">
                <a:solidFill>
                  <a:srgbClr val="3333FF"/>
                </a:solidFill>
                <a:ea typeface="黑体" pitchFamily="49" charset="-122"/>
              </a:rPr>
              <a:t>β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)|</a:t>
            </a:r>
            <a:r>
              <a:rPr lang="el-GR" altLang="zh-CN" sz="3200" b="1" dirty="0">
                <a:solidFill>
                  <a:srgbClr val="3333FF"/>
                </a:solidFill>
                <a:ea typeface="黑体" pitchFamily="49" charset="-122"/>
              </a:rPr>
              <a:t>α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S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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V</a:t>
            </a:r>
            <a:r>
              <a:rPr lang="en-US" altLang="zh-CN" sz="3200" b="1" baseline="-25000" dirty="0">
                <a:solidFill>
                  <a:srgbClr val="3333FF"/>
                </a:solidFill>
                <a:ea typeface="黑体" pitchFamily="49" charset="-122"/>
              </a:rPr>
              <a:t>N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, </a:t>
            </a:r>
            <a:r>
              <a:rPr lang="el-GR" altLang="zh-CN" sz="3200" b="1" dirty="0">
                <a:solidFill>
                  <a:srgbClr val="3333FF"/>
                </a:solidFill>
                <a:ea typeface="黑体" pitchFamily="49" charset="-122"/>
              </a:rPr>
              <a:t>β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V</a:t>
            </a:r>
            <a:r>
              <a:rPr lang="en-US" altLang="zh-CN" sz="3200" b="1" baseline="-25000" dirty="0">
                <a:solidFill>
                  <a:srgbClr val="3333FF"/>
                </a:solidFill>
                <a:ea typeface="黑体" pitchFamily="49" charset="-122"/>
              </a:rPr>
              <a:t>T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  <a:sym typeface="Symbol" panose="05050102010706020507" pitchFamily="18" charset="2"/>
              </a:rPr>
              <a:t>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V</a:t>
            </a:r>
            <a:r>
              <a:rPr lang="en-US" altLang="zh-CN" sz="3200" b="1" baseline="-25000" dirty="0">
                <a:solidFill>
                  <a:srgbClr val="3333FF"/>
                </a:solidFill>
                <a:ea typeface="黑体" pitchFamily="49" charset="-122"/>
              </a:rPr>
              <a:t>N</a:t>
            </a:r>
            <a:r>
              <a:rPr lang="en-US" altLang="zh-CN" sz="3200" b="1" dirty="0">
                <a:solidFill>
                  <a:srgbClr val="3333FF"/>
                </a:solidFill>
                <a:ea typeface="黑体" pitchFamily="49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09442D-D69B-734C-B20C-D02A72050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1"/>
            <a:ext cx="8229600" cy="955675"/>
          </a:xfrm>
        </p:spPr>
        <p:txBody>
          <a:bodyPr/>
          <a:lstStyle/>
          <a:p>
            <a:pPr algn="ctr" eaLnBrk="1" hangingPunct="1"/>
            <a:r>
              <a:rPr lang="zh-CN" altLang="en-US">
                <a:solidFill>
                  <a:srgbClr val="228A2E"/>
                </a:solidFill>
                <a:ea typeface="黑体" pitchFamily="49" charset="-122"/>
              </a:rPr>
              <a:t>普通文法的举例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876"/>
            <a:ext cx="10009112" cy="544512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黑体" pitchFamily="49" charset="-122"/>
              </a:rPr>
              <a:t>[P169</a:t>
            </a:r>
            <a:r>
              <a:rPr lang="zh-CN" altLang="en-US" dirty="0">
                <a:ea typeface="黑体" pitchFamily="49" charset="-122"/>
              </a:rPr>
              <a:t>例</a:t>
            </a:r>
            <a:r>
              <a:rPr lang="en-US" altLang="zh-CN" dirty="0">
                <a:ea typeface="黑体" pitchFamily="49" charset="-122"/>
              </a:rPr>
              <a:t>1]</a:t>
            </a:r>
            <a:r>
              <a:rPr lang="zh-CN" altLang="en-US" dirty="0">
                <a:ea typeface="黑体" pitchFamily="49" charset="-122"/>
              </a:rPr>
              <a:t>机器描述等腰三角形的文法：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G=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  <a:ea typeface="黑体" pitchFamily="49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ea typeface="黑体" pitchFamily="49" charset="-122"/>
              </a:rPr>
              <a:t>P</a:t>
            </a:r>
            <a:r>
              <a:rPr lang="zh-CN" altLang="en-US" dirty="0">
                <a:solidFill>
                  <a:srgbClr val="FF0000"/>
                </a:solidFill>
                <a:ea typeface="黑体" pitchFamily="49" charset="-122"/>
              </a:rPr>
              <a:t>）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T</a:t>
            </a:r>
            <a:r>
              <a:rPr lang="en-US" altLang="zh-CN" dirty="0">
                <a:ea typeface="黑体" pitchFamily="49" charset="-122"/>
              </a:rPr>
              <a:t>={a, b, c} </a:t>
            </a:r>
            <a:r>
              <a:rPr lang="zh-CN" altLang="en-US" dirty="0">
                <a:ea typeface="黑体" pitchFamily="49" charset="-122"/>
              </a:rPr>
              <a:t>， 即三边的集合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V</a:t>
            </a:r>
            <a:r>
              <a:rPr lang="en-US" altLang="zh-CN" baseline="-25000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={A, B}</a:t>
            </a:r>
          </a:p>
          <a:p>
            <a:pPr lvl="1" eaLnBrk="1" hangingPunct="1"/>
            <a:r>
              <a:rPr lang="en-US" altLang="zh-CN" dirty="0">
                <a:ea typeface="黑体" pitchFamily="49" charset="-122"/>
              </a:rPr>
              <a:t>P={</a:t>
            </a:r>
            <a:r>
              <a:rPr lang="en-US" altLang="zh-CN" dirty="0" err="1">
                <a:ea typeface="黑体" pitchFamily="49" charset="-122"/>
              </a:rPr>
              <a:t>S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aAc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aAc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A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bB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bB</a:t>
            </a:r>
            <a:r>
              <a:rPr lang="en-US" altLang="zh-CN" dirty="0">
                <a:ea typeface="黑体" pitchFamily="49" charset="-122"/>
              </a:rPr>
              <a:t>, 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 err="1">
                <a:ea typeface="黑体" pitchFamily="49" charset="-122"/>
                <a:sym typeface="Symbol"/>
              </a:rPr>
              <a:t></a:t>
            </a:r>
            <a:r>
              <a:rPr lang="en-US" altLang="zh-CN" dirty="0" err="1">
                <a:ea typeface="黑体" pitchFamily="49" charset="-122"/>
              </a:rPr>
              <a:t>b</a:t>
            </a:r>
            <a:r>
              <a:rPr lang="en-US" altLang="zh-CN" dirty="0">
                <a:ea typeface="黑体" pitchFamily="49" charset="-122"/>
              </a:rPr>
              <a:t>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         </a:t>
            </a:r>
            <a:r>
              <a:rPr lang="en-US" altLang="zh-CN" baseline="50000" dirty="0">
                <a:ea typeface="黑体" pitchFamily="49" charset="-122"/>
              </a:rPr>
              <a:t>p1                p2                  p3              p4               p5</a:t>
            </a:r>
            <a:r>
              <a:rPr lang="en-US" altLang="zh-CN" dirty="0">
                <a:ea typeface="黑体" pitchFamily="49" charset="-122"/>
              </a:rPr>
              <a:t>  </a:t>
            </a:r>
          </a:p>
          <a:p>
            <a:pPr lvl="1" eaLnBrk="1" hangingPunct="1"/>
            <a:r>
              <a:rPr lang="zh-CN" altLang="en-US" dirty="0">
                <a:ea typeface="黑体" pitchFamily="49" charset="-122"/>
              </a:rPr>
              <a:t>若</a:t>
            </a:r>
            <a:r>
              <a:rPr lang="en-US" altLang="zh-CN" dirty="0">
                <a:ea typeface="黑体" pitchFamily="49" charset="-122"/>
              </a:rPr>
              <a:t>a, b, c</a:t>
            </a:r>
            <a:r>
              <a:rPr lang="zh-CN" altLang="en-US" dirty="0">
                <a:ea typeface="黑体" pitchFamily="49" charset="-122"/>
              </a:rPr>
              <a:t>分别表示三角形各边的单位长，且</a:t>
            </a:r>
            <a:r>
              <a:rPr lang="en-US" altLang="zh-CN" dirty="0">
                <a:ea typeface="黑体" pitchFamily="49" charset="-122"/>
              </a:rPr>
              <a:t>a=c,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ea typeface="黑体" pitchFamily="49" charset="-122"/>
              </a:rPr>
              <a:t>   </a:t>
            </a:r>
            <a:r>
              <a:rPr lang="zh-CN" altLang="en-US" dirty="0">
                <a:ea typeface="黑体" pitchFamily="49" charset="-122"/>
              </a:rPr>
              <a:t>则文法生成的句子描述了一个等腰三角形</a:t>
            </a:r>
          </a:p>
          <a:p>
            <a:pPr eaLnBrk="1" hangingPunct="1"/>
            <a:r>
              <a:rPr lang="zh-CN" altLang="en-US" dirty="0">
                <a:ea typeface="黑体" pitchFamily="49" charset="-122"/>
              </a:rPr>
              <a:t>此文法得到字符串形式：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9900FF"/>
                </a:solidFill>
              </a:rPr>
              <a:t>               </a:t>
            </a:r>
            <a:r>
              <a:rPr lang="en-US" altLang="zh-CN" b="1" dirty="0">
                <a:solidFill>
                  <a:srgbClr val="9900FF"/>
                </a:solidFill>
              </a:rPr>
              <a:t>{</a:t>
            </a:r>
            <a:r>
              <a:rPr lang="en-US" altLang="zh-CN" b="1" dirty="0" err="1">
                <a:solidFill>
                  <a:srgbClr val="9900FF"/>
                </a:solidFill>
              </a:rPr>
              <a:t>a</a:t>
            </a:r>
            <a:r>
              <a:rPr lang="en-US" altLang="zh-CN" b="1" baseline="30000" dirty="0" err="1">
                <a:solidFill>
                  <a:srgbClr val="9900FF"/>
                </a:solidFill>
              </a:rPr>
              <a:t>n</a:t>
            </a:r>
            <a:r>
              <a:rPr lang="en-US" altLang="zh-CN" b="1" dirty="0" err="1">
                <a:solidFill>
                  <a:srgbClr val="9900FF"/>
                </a:solidFill>
              </a:rPr>
              <a:t>b</a:t>
            </a:r>
            <a:r>
              <a:rPr lang="en-US" altLang="zh-CN" b="1" baseline="30000" dirty="0" err="1">
                <a:solidFill>
                  <a:srgbClr val="9900FF"/>
                </a:solidFill>
              </a:rPr>
              <a:t>m</a:t>
            </a:r>
            <a:r>
              <a:rPr lang="en-US" altLang="zh-CN" b="1" dirty="0" err="1">
                <a:solidFill>
                  <a:srgbClr val="9900FF"/>
                </a:solidFill>
              </a:rPr>
              <a:t>c</a:t>
            </a:r>
            <a:r>
              <a:rPr lang="en-US" altLang="zh-CN" b="1" baseline="30000" dirty="0" err="1">
                <a:solidFill>
                  <a:srgbClr val="9900FF"/>
                </a:solidFill>
              </a:rPr>
              <a:t>n</a:t>
            </a:r>
            <a:r>
              <a:rPr lang="en-US" altLang="zh-CN" b="1" dirty="0">
                <a:solidFill>
                  <a:srgbClr val="9900FF"/>
                </a:solidFill>
              </a:rPr>
              <a:t>}        n≥1, m≥2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6482B3-FB21-5B0C-1ACA-CFE50BE932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228A2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习题五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11,12,15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/>
              <a:t>习题七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2, 4, 5, 6, 7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CC7F99-1C55-6853-BE84-FA89E8AEC3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7F5CF5-5E73-4A26-8513-57627EB2B75F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0647010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25015</TotalTime>
  <Words>2939</Words>
  <Application>Microsoft Office PowerPoint</Application>
  <PresentationFormat>宽屏</PresentationFormat>
  <Paragraphs>385</Paragraphs>
  <Slides>34</Slides>
  <Notes>2</Notes>
  <HiddenSlides>3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ITC Zapf Chancery</vt:lpstr>
      <vt:lpstr>黑体</vt:lpstr>
      <vt:lpstr>楷体_GB2312</vt:lpstr>
      <vt:lpstr>隶书</vt:lpstr>
      <vt:lpstr>宋体</vt:lpstr>
      <vt:lpstr>Arial</vt:lpstr>
      <vt:lpstr>Arial Black</vt:lpstr>
      <vt:lpstr>Monotype Corsiva</vt:lpstr>
      <vt:lpstr>Times New Roman</vt:lpstr>
      <vt:lpstr>Wingdings</vt:lpstr>
      <vt:lpstr>Pixel</vt:lpstr>
      <vt:lpstr>公式</vt:lpstr>
      <vt:lpstr>Equation</vt:lpstr>
      <vt:lpstr>第 7 章 模糊语言与模糊推理</vt:lpstr>
      <vt:lpstr>模糊语言与模糊推理</vt:lpstr>
      <vt:lpstr>7.1 F语言的定义</vt:lpstr>
      <vt:lpstr> F语言四元组：L=（U，T，E，N）</vt:lpstr>
      <vt:lpstr> F语言四元组：L=（U，T，E，N）</vt:lpstr>
      <vt:lpstr> F语言四元组：L=（U，T，E，N）</vt:lpstr>
      <vt:lpstr> F语言四元组：L=（U，T，E，N）</vt:lpstr>
      <vt:lpstr>7.2  F词与 F算子</vt:lpstr>
      <vt:lpstr>F 词义举例</vt:lpstr>
      <vt:lpstr>F 词组定义及举例</vt:lpstr>
      <vt:lpstr>F 词组举例</vt:lpstr>
      <vt:lpstr>F 算子</vt:lpstr>
      <vt:lpstr>语气算子</vt:lpstr>
      <vt:lpstr>语气算子举例</vt:lpstr>
      <vt:lpstr>语气算子举例</vt:lpstr>
      <vt:lpstr>语气算子举例</vt:lpstr>
      <vt:lpstr>F 化算子</vt:lpstr>
      <vt:lpstr>F 化算子</vt:lpstr>
      <vt:lpstr>判定化算子</vt:lpstr>
      <vt:lpstr>判定化算子</vt:lpstr>
      <vt:lpstr>F 算子小结</vt:lpstr>
      <vt:lpstr>语言值</vt:lpstr>
      <vt:lpstr>几种具有代表性的语言真值定义</vt:lpstr>
      <vt:lpstr>几种具有代表性的语言真值定义</vt:lpstr>
      <vt:lpstr>几种具有代表性的语言真值隶属曲线</vt:lpstr>
      <vt:lpstr>语言值的运算</vt:lpstr>
      <vt:lpstr>语言值的运算</vt:lpstr>
      <vt:lpstr>语言值的运算</vt:lpstr>
      <vt:lpstr>语言值的运算</vt:lpstr>
      <vt:lpstr>语言值四则运算举例[P167]</vt:lpstr>
      <vt:lpstr>7.3  普通文法</vt:lpstr>
      <vt:lpstr>普通文法的定义</vt:lpstr>
      <vt:lpstr>普通文法的举例</vt:lpstr>
      <vt:lpstr>作业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7 章 模糊语言与模糊推理</dc:title>
  <dc:creator>凌卫新</dc:creator>
  <cp:lastModifiedBy>wxling66@outlook.com</cp:lastModifiedBy>
  <cp:revision>316</cp:revision>
  <dcterms:created xsi:type="dcterms:W3CDTF">2007-06-12T00:59:11Z</dcterms:created>
  <dcterms:modified xsi:type="dcterms:W3CDTF">2026-05-18T15:18:50Z</dcterms:modified>
</cp:coreProperties>
</file>