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79" r:id="rId2"/>
  </p:sldMasterIdLst>
  <p:notesMasterIdLst>
    <p:notesMasterId r:id="rId22"/>
  </p:notesMasterIdLst>
  <p:handoutMasterIdLst>
    <p:handoutMasterId r:id="rId23"/>
  </p:handoutMasterIdLst>
  <p:sldIdLst>
    <p:sldId id="257" r:id="rId3"/>
    <p:sldId id="259" r:id="rId4"/>
    <p:sldId id="314" r:id="rId5"/>
    <p:sldId id="328" r:id="rId6"/>
    <p:sldId id="437" r:id="rId7"/>
    <p:sldId id="508" r:id="rId8"/>
    <p:sldId id="404" r:id="rId9"/>
    <p:sldId id="412" r:id="rId10"/>
    <p:sldId id="509" r:id="rId11"/>
    <p:sldId id="414" r:id="rId12"/>
    <p:sldId id="512" r:id="rId13"/>
    <p:sldId id="517" r:id="rId14"/>
    <p:sldId id="518" r:id="rId15"/>
    <p:sldId id="388" r:id="rId16"/>
    <p:sldId id="427" r:id="rId17"/>
    <p:sldId id="519" r:id="rId18"/>
    <p:sldId id="277" r:id="rId19"/>
    <p:sldId id="284" r:id="rId20"/>
    <p:sldId id="334" r:id="rId21"/>
  </p:sldIdLst>
  <p:sldSz cx="12192000" cy="6858000"/>
  <p:notesSz cx="6669088" cy="99282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00CC"/>
    <a:srgbClr val="3333FF"/>
    <a:srgbClr val="008000"/>
    <a:srgbClr val="FFFF00"/>
    <a:srgbClr val="FF99FF"/>
    <a:srgbClr val="66FFFF"/>
    <a:srgbClr val="FFFFCC"/>
    <a:srgbClr val="E5FB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211" autoAdjust="0"/>
    <p:restoredTop sz="89790" autoAdjust="0"/>
  </p:normalViewPr>
  <p:slideViewPr>
    <p:cSldViewPr>
      <p:cViewPr varScale="1">
        <p:scale>
          <a:sx n="56" d="100"/>
          <a:sy n="56" d="100"/>
        </p:scale>
        <p:origin x="84" y="3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8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8CF2E1-7053-498C-9C8A-120DB333825A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7607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B23BA-E973-459A-89F8-621436806A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6060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607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715907"/>
            <a:ext cx="5335270" cy="446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607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370C552B-B808-4BB9-80CB-704898857D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1194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700338" y="509588"/>
            <a:ext cx="4527550" cy="25479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53A572-1A82-4F8B-93EB-524611E05A56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5555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Symbol" pitchFamily="18" charset="2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Symbol" pitchFamily="18" charset="2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Symbol" pitchFamily="18" charset="2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Symbol" pitchFamily="18" charset="2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Symbol" pitchFamily="18" charset="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ymbol" pitchFamily="18" charset="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ymbol" pitchFamily="18" charset="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ymbol" pitchFamily="18" charset="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ymbol" pitchFamily="18" charset="2"/>
                <a:ea typeface="宋体" charset="-122"/>
              </a:defRPr>
            </a:lvl9pPr>
          </a:lstStyle>
          <a:p>
            <a:pPr eaLnBrk="1" hangingPunct="1"/>
            <a:fld id="{1F97D852-59FC-45DB-BA00-24DEADAD42F5}" type="slidenum">
              <a:rPr lang="en-US" altLang="zh-CN" smtClean="0">
                <a:latin typeface="Arial" charset="0"/>
              </a:rPr>
              <a:pPr eaLnBrk="1" hangingPunct="1"/>
              <a:t>6</a:t>
            </a:fld>
            <a:endParaRPr lang="en-US" altLang="zh-CN">
              <a:latin typeface="Arial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00338" y="509588"/>
            <a:ext cx="4527550" cy="2547937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l" eaLnBrk="1" hangingPunct="1">
              <a:lnSpc>
                <a:spcPct val="130000"/>
              </a:lnSpc>
              <a:buFont typeface="Wingdings" pitchFamily="2" charset="2"/>
              <a:buChar char="n"/>
              <a:defRPr/>
            </a:pPr>
            <a:r>
              <a:rPr lang="zh-CN" altLang="en-US" sz="1200" b="1" i="0" dirty="0">
                <a:latin typeface="Times New Roman" pitchFamily="18" charset="0"/>
              </a:rPr>
              <a:t>类似的还可以定义</a:t>
            </a:r>
            <a:r>
              <a:rPr lang="zh-CN" altLang="en-US" sz="1200" b="1" i="0" u="sng" dirty="0">
                <a:solidFill>
                  <a:srgbClr val="008000"/>
                </a:solidFill>
                <a:latin typeface="Times New Roman" pitchFamily="18" charset="0"/>
              </a:rPr>
              <a:t>大于等于关系</a:t>
            </a:r>
            <a:r>
              <a:rPr lang="en-US" altLang="zh-CN" sz="1200" b="1" i="0" u="sng" dirty="0">
                <a:solidFill>
                  <a:srgbClr val="008000"/>
                </a:solidFill>
                <a:latin typeface="Times New Roman" pitchFamily="18" charset="0"/>
              </a:rPr>
              <a:t>, </a:t>
            </a:r>
            <a:r>
              <a:rPr lang="zh-CN" altLang="en-US" sz="1200" b="1" i="0" u="sng" dirty="0">
                <a:solidFill>
                  <a:srgbClr val="008000"/>
                </a:solidFill>
                <a:latin typeface="Times New Roman" pitchFamily="18" charset="0"/>
              </a:rPr>
              <a:t>小于关系</a:t>
            </a:r>
            <a:r>
              <a:rPr lang="en-US" altLang="zh-CN" sz="1200" b="1" i="0" u="sng" dirty="0">
                <a:solidFill>
                  <a:srgbClr val="008000"/>
                </a:solidFill>
                <a:latin typeface="Times New Roman" pitchFamily="18" charset="0"/>
              </a:rPr>
              <a:t>, </a:t>
            </a:r>
            <a:r>
              <a:rPr lang="zh-CN" altLang="en-US" sz="1200" b="1" i="0" u="sng" dirty="0">
                <a:solidFill>
                  <a:srgbClr val="008000"/>
                </a:solidFill>
                <a:latin typeface="Times New Roman" pitchFamily="18" charset="0"/>
              </a:rPr>
              <a:t>大于关系</a:t>
            </a:r>
            <a:r>
              <a:rPr lang="en-US" altLang="zh-CN" sz="1200" b="1" i="0" u="sng" dirty="0">
                <a:solidFill>
                  <a:srgbClr val="008000"/>
                </a:solidFill>
                <a:latin typeface="Times New Roman" pitchFamily="18" charset="0"/>
              </a:rPr>
              <a:t>, </a:t>
            </a:r>
            <a:r>
              <a:rPr lang="zh-CN" altLang="en-US" sz="1200" b="1" i="0" u="sng" dirty="0">
                <a:solidFill>
                  <a:srgbClr val="008000"/>
                </a:solidFill>
                <a:latin typeface="Times New Roman" pitchFamily="18" charset="0"/>
              </a:rPr>
              <a:t>真包含关系</a:t>
            </a:r>
            <a:r>
              <a:rPr lang="zh-CN" altLang="en-US" sz="1200" b="1" i="0" dirty="0">
                <a:latin typeface="Times New Roman" pitchFamily="18" charset="0"/>
              </a:rPr>
              <a:t>等等</a:t>
            </a:r>
            <a:r>
              <a:rPr lang="en-US" altLang="zh-CN" sz="1100" b="1" i="0" dirty="0">
                <a:latin typeface="Times New Roman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70425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老师集合，课程集合，学生集合。老师与可授课程的关系，课程被选与学生的关系。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53A572-1A82-4F8B-93EB-524611E05A56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4283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i="1" dirty="0">
                <a:solidFill>
                  <a:srgbClr val="3333FF"/>
                </a:solidFill>
              </a:rPr>
              <a:t>G</a:t>
            </a:r>
            <a:r>
              <a:rPr lang="en-US" altLang="zh-CN" b="1" dirty="0"/>
              <a:t>∘F  -</a:t>
            </a:r>
            <a:r>
              <a:rPr lang="zh-CN" altLang="en-US" b="1" dirty="0"/>
              <a:t>外公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53A572-1A82-4F8B-93EB-524611E05A56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4543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01CFDF2-697F-4388-A0D4-83EAF81F2AC7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不难知道</a:t>
            </a:r>
            <a:r>
              <a:rPr lang="en-US" altLang="zh-CN"/>
              <a:t>,</a:t>
            </a:r>
            <a:r>
              <a:rPr lang="zh-CN" altLang="en-US"/>
              <a:t>在客观世界中许多两组事物之间的关系</a:t>
            </a:r>
            <a:r>
              <a:rPr lang="en-US" altLang="zh-CN"/>
              <a:t>,</a:t>
            </a:r>
            <a:r>
              <a:rPr lang="zh-CN" altLang="en-US"/>
              <a:t>不宜有”有”或”无”来作肯定或否定的回答</a:t>
            </a:r>
            <a:r>
              <a:rPr lang="en-US" altLang="zh-CN"/>
              <a:t>,</a:t>
            </a:r>
            <a:r>
              <a:rPr lang="zh-CN" altLang="en-US"/>
              <a:t>这时若用</a:t>
            </a:r>
            <a:r>
              <a:rPr lang="en-US" altLang="zh-CN"/>
              <a:t>F</a:t>
            </a:r>
            <a:r>
              <a:rPr lang="zh-CN" altLang="en-US"/>
              <a:t>关系来加以描述</a:t>
            </a:r>
            <a:r>
              <a:rPr lang="en-US" altLang="zh-CN"/>
              <a:t>,</a:t>
            </a:r>
            <a:r>
              <a:rPr lang="zh-CN" altLang="en-US"/>
              <a:t>则可以更好地刻划它们的关系</a:t>
            </a:r>
            <a:r>
              <a:rPr lang="en-US" altLang="zh-CN"/>
              <a:t>.</a:t>
            </a:r>
          </a:p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6542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2049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050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1CCFCAA-4957-4B04-A6A2-B81EEF572B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97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027584"/>
          </a:xfrm>
        </p:spPr>
        <p:txBody>
          <a:bodyPr/>
          <a:lstStyle>
            <a:lvl1pPr algn="ctr">
              <a:defRPr>
                <a:solidFill>
                  <a:srgbClr val="008000"/>
                </a:solidFill>
                <a:latin typeface="+mj-lt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84784"/>
            <a:ext cx="10972800" cy="4382616"/>
          </a:xfrm>
        </p:spPr>
        <p:txBody>
          <a:bodyPr/>
          <a:lstStyle>
            <a:lvl1pPr>
              <a:defRPr>
                <a:latin typeface="+mn-lt"/>
                <a:ea typeface="黑体" panose="02010609060101010101" pitchFamily="49" charset="-122"/>
              </a:defRPr>
            </a:lvl1pPr>
            <a:lvl2pPr>
              <a:defRPr>
                <a:latin typeface="+mn-lt"/>
                <a:ea typeface="黑体" panose="02010609060101010101" pitchFamily="49" charset="-122"/>
              </a:defRPr>
            </a:lvl2pPr>
            <a:lvl3pPr>
              <a:defRPr>
                <a:latin typeface="+mn-lt"/>
                <a:ea typeface="黑体" panose="02010609060101010101" pitchFamily="49" charset="-122"/>
              </a:defRPr>
            </a:lvl3pPr>
            <a:lvl4pPr>
              <a:defRPr>
                <a:latin typeface="+mn-lt"/>
                <a:ea typeface="黑体" panose="02010609060101010101" pitchFamily="49" charset="-122"/>
              </a:defRPr>
            </a:lvl4pPr>
            <a:lvl5pPr>
              <a:defRPr>
                <a:latin typeface="+mn-lt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A72FFD-5C57-4935-A48A-C39F60B379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5531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7749F-56AB-439F-9E0C-BB26C8047E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152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B1E10-EBCB-4CA2-93F3-1A947BCF63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9278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813C25-4A92-492A-975C-6AB26093A2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6190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3B6A06-2B4B-43B4-8EBF-330BC5815B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1863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5B0D1C-3AD4-47E8-8BCC-9930D4C2FF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6650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6EECB0-7CB8-4001-B0C0-75EFE47B18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0997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60E04-37AE-455B-9607-5EAEBA78FA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3807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13CE68-8D0C-4293-B2E0-91AA7850FB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0117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27662E-EC08-455E-A245-A90D87F920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4821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765018-403D-4055-B6D6-D1363568EF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935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CA406-E31B-427D-A2BD-2F5D3E7220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9674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BD33E-19E4-47B8-8A35-264A4FB2E0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4872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2049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050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1CCFCAA-4957-4B04-A6A2-B81EEF572B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4237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027584"/>
          </a:xfrm>
        </p:spPr>
        <p:txBody>
          <a:bodyPr/>
          <a:lstStyle>
            <a:lvl1pPr algn="ctr">
              <a:defRPr>
                <a:solidFill>
                  <a:srgbClr val="008000"/>
                </a:solidFill>
                <a:latin typeface="+mj-lt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84784"/>
            <a:ext cx="10972800" cy="4382616"/>
          </a:xfrm>
        </p:spPr>
        <p:txBody>
          <a:bodyPr/>
          <a:lstStyle>
            <a:lvl1pPr>
              <a:defRPr>
                <a:latin typeface="+mn-lt"/>
                <a:ea typeface="黑体" panose="02010609060101010101" pitchFamily="49" charset="-122"/>
              </a:defRPr>
            </a:lvl1pPr>
            <a:lvl2pPr>
              <a:defRPr>
                <a:latin typeface="+mn-lt"/>
                <a:ea typeface="黑体" panose="02010609060101010101" pitchFamily="49" charset="-122"/>
              </a:defRPr>
            </a:lvl2pPr>
            <a:lvl3pPr>
              <a:defRPr>
                <a:latin typeface="+mn-lt"/>
                <a:ea typeface="黑体" panose="02010609060101010101" pitchFamily="49" charset="-122"/>
              </a:defRPr>
            </a:lvl3pPr>
            <a:lvl4pPr>
              <a:defRPr>
                <a:latin typeface="+mn-lt"/>
                <a:ea typeface="黑体" panose="02010609060101010101" pitchFamily="49" charset="-122"/>
              </a:defRPr>
            </a:lvl4pPr>
            <a:lvl5pPr>
              <a:defRPr>
                <a:latin typeface="+mn-lt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A72FFD-5C57-4935-A48A-C39F60B379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9867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7749F-56AB-439F-9E0C-BB26C8047E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5388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B1E10-EBCB-4CA2-93F3-1A947BCF63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85892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813C25-4A92-492A-975C-6AB26093A2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55868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3B6A06-2B4B-43B4-8EBF-330BC5815B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9796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5B0D1C-3AD4-47E8-8BCC-9930D4C2FF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96648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6EECB0-7CB8-4001-B0C0-75EFE47B18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62097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60E04-37AE-455B-9607-5EAEBA78FA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74409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13CE68-8D0C-4293-B2E0-91AA7850FB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7696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27662E-EC08-455E-A245-A90D87F920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6446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765018-403D-4055-B6D6-D1363568EF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54691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CA406-E31B-427D-A2BD-2F5D3E7220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20530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BD33E-19E4-47B8-8A35-264A4FB2E0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213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pPr>
              <a:defRPr/>
            </a:pPr>
            <a:fld id="{25089447-4447-4CDC-9177-C0E7FDD595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47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pPr>
              <a:defRPr/>
            </a:pPr>
            <a:fld id="{25089447-4447-4CDC-9177-C0E7FDD595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47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389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32176" y="1828800"/>
            <a:ext cx="7083425" cy="2209800"/>
          </a:xfrm>
        </p:spPr>
        <p:txBody>
          <a:bodyPr/>
          <a:lstStyle/>
          <a:p>
            <a:pPr algn="ctr" eaLnBrk="1" hangingPunct="1"/>
            <a:r>
              <a:rPr lang="zh-CN" altLang="en-US" sz="6000" b="1" dirty="0">
                <a:solidFill>
                  <a:srgbClr val="E5FB15"/>
                </a:solidFill>
                <a:latin typeface="隶书" pitchFamily="49" charset="-122"/>
                <a:ea typeface="隶书" pitchFamily="49" charset="-122"/>
              </a:rPr>
              <a:t>第</a:t>
            </a:r>
            <a:r>
              <a:rPr lang="zh-CN" altLang="en-US" sz="6000" b="1" dirty="0">
                <a:solidFill>
                  <a:srgbClr val="E5FB15"/>
                </a:solidFill>
                <a:ea typeface="隶书" pitchFamily="49" charset="-122"/>
              </a:rPr>
              <a:t> </a:t>
            </a:r>
            <a:r>
              <a:rPr lang="en-US" altLang="zh-CN" sz="6000" b="1" dirty="0">
                <a:solidFill>
                  <a:srgbClr val="E5FB15"/>
                </a:solidFill>
                <a:ea typeface="隶书" pitchFamily="49" charset="-122"/>
              </a:rPr>
              <a:t>3 </a:t>
            </a:r>
            <a:r>
              <a:rPr lang="zh-CN" altLang="en-US" sz="6000" b="1" dirty="0">
                <a:solidFill>
                  <a:srgbClr val="E5FB15"/>
                </a:solidFill>
                <a:latin typeface="隶书" pitchFamily="49" charset="-122"/>
                <a:ea typeface="隶书" pitchFamily="49" charset="-122"/>
              </a:rPr>
              <a:t>章</a:t>
            </a:r>
            <a:br>
              <a:rPr lang="zh-CN" altLang="en-US" sz="6000" b="1" dirty="0">
                <a:solidFill>
                  <a:srgbClr val="E5FB15"/>
                </a:solidFill>
                <a:latin typeface="隶书" pitchFamily="49" charset="-122"/>
                <a:ea typeface="隶书" pitchFamily="49" charset="-122"/>
              </a:rPr>
            </a:br>
            <a:r>
              <a:rPr lang="zh-CN" altLang="en-US" sz="6000" b="1" dirty="0">
                <a:solidFill>
                  <a:srgbClr val="E5FB15"/>
                </a:solidFill>
                <a:latin typeface="隶书" pitchFamily="49" charset="-122"/>
                <a:ea typeface="隶书" pitchFamily="49" charset="-122"/>
              </a:rPr>
              <a:t>模糊关系与聚类分析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9548F4F-7A9B-FAB9-FA8C-A09EFB1535B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287689" y="4509120"/>
            <a:ext cx="5904185" cy="1752600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solidFill>
                  <a:srgbClr val="3333FF"/>
                </a:solidFill>
                <a:latin typeface="+mj-lt"/>
                <a:ea typeface="黑体" pitchFamily="2" charset="-122"/>
              </a:rPr>
              <a:t>3.0  </a:t>
            </a:r>
            <a:r>
              <a:rPr lang="zh-CN" altLang="en-US" sz="3200" dirty="0">
                <a:solidFill>
                  <a:srgbClr val="3333FF"/>
                </a:solidFill>
                <a:latin typeface="+mj-lt"/>
                <a:ea typeface="黑体" pitchFamily="2" charset="-122"/>
              </a:rPr>
              <a:t>普通二元关系的定义和表示</a:t>
            </a:r>
            <a:endParaRPr lang="en-US" altLang="zh-CN" sz="3200" dirty="0">
              <a:solidFill>
                <a:srgbClr val="3333FF"/>
              </a:solidFill>
              <a:latin typeface="+mj-lt"/>
              <a:ea typeface="黑体" pitchFamily="2" charset="-122"/>
            </a:endParaRPr>
          </a:p>
          <a:p>
            <a:pPr eaLnBrk="1" hangingPunct="1"/>
            <a:r>
              <a:rPr lang="en-US" altLang="zh-CN" sz="3200" dirty="0">
                <a:solidFill>
                  <a:srgbClr val="3333FF"/>
                </a:solidFill>
                <a:latin typeface="+mj-lt"/>
                <a:ea typeface="黑体" pitchFamily="2" charset="-122"/>
              </a:rPr>
              <a:t>3.1  F</a:t>
            </a:r>
            <a:r>
              <a:rPr lang="zh-CN" altLang="en-US" sz="3200" dirty="0">
                <a:solidFill>
                  <a:srgbClr val="3333FF"/>
                </a:solidFill>
                <a:latin typeface="+mj-lt"/>
                <a:ea typeface="黑体" pitchFamily="2" charset="-122"/>
              </a:rPr>
              <a:t>关系的定义和表示</a:t>
            </a:r>
            <a:endParaRPr lang="en-US" altLang="zh-CN" sz="3200" dirty="0">
              <a:solidFill>
                <a:srgbClr val="3333FF"/>
              </a:solidFill>
              <a:latin typeface="+mj-lt"/>
              <a:ea typeface="黑体" pitchFamily="2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EFC942E-1EFC-8DE6-9BD6-DCBA22C84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CCFCAA-4957-4B04-A6A2-B81EEF572BC4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3160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第三章  模糊关系与聚类分析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1814" y="1916832"/>
            <a:ext cx="6048375" cy="4464496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None/>
            </a:pPr>
            <a:r>
              <a:rPr lang="en-US" altLang="zh-CN" dirty="0">
                <a:solidFill>
                  <a:srgbClr val="3333FF"/>
                </a:solidFill>
                <a:ea typeface="黑体" panose="02010609060101010101" pitchFamily="49" charset="-122"/>
              </a:rPr>
              <a:t>3.0   </a:t>
            </a:r>
            <a:r>
              <a:rPr lang="zh-CN" altLang="en-US" dirty="0">
                <a:solidFill>
                  <a:srgbClr val="3333FF"/>
                </a:solidFill>
                <a:ea typeface="黑体" panose="02010609060101010101" pitchFamily="49" charset="-122"/>
              </a:rPr>
              <a:t>二元关系及表示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3333FF"/>
                </a:solidFill>
                <a:ea typeface="黑体" pitchFamily="2" charset="-122"/>
              </a:rPr>
              <a:t>3.1   F</a:t>
            </a: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关系的定义和性质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ea typeface="黑体" pitchFamily="2" charset="-122"/>
              </a:rPr>
              <a:t>3.2   F</a:t>
            </a:r>
            <a:r>
              <a:rPr lang="zh-CN" altLang="en-US" dirty="0">
                <a:ea typeface="黑体" pitchFamily="2" charset="-122"/>
              </a:rPr>
              <a:t>矩阵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ea typeface="黑体" pitchFamily="2" charset="-122"/>
              </a:rPr>
              <a:t>3.3   F</a:t>
            </a:r>
            <a:r>
              <a:rPr lang="zh-CN" altLang="en-US" dirty="0">
                <a:ea typeface="黑体" pitchFamily="2" charset="-122"/>
              </a:rPr>
              <a:t>关系的对称性与自反性</a:t>
            </a:r>
            <a:endParaRPr lang="zh-CN" altLang="el-GR" dirty="0">
              <a:ea typeface="黑体" pitchFamily="2" charset="-122"/>
              <a:cs typeface="Arial" charset="0"/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ea typeface="黑体" pitchFamily="2" charset="-122"/>
              </a:rPr>
              <a:t>3.4   </a:t>
            </a:r>
            <a:r>
              <a:rPr lang="el-GR" altLang="zh-CN" i="1" dirty="0">
                <a:ea typeface="黑体" pitchFamily="2" charset="-122"/>
              </a:rPr>
              <a:t>λ</a:t>
            </a:r>
            <a:r>
              <a:rPr lang="zh-CN" altLang="en-US" dirty="0">
                <a:ea typeface="黑体" pitchFamily="2" charset="-122"/>
              </a:rPr>
              <a:t>截矩阵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ea typeface="黑体" pitchFamily="2" charset="-122"/>
              </a:rPr>
              <a:t>3.5   F</a:t>
            </a:r>
            <a:r>
              <a:rPr lang="zh-CN" altLang="en-US" dirty="0">
                <a:ea typeface="黑体" pitchFamily="2" charset="-122"/>
              </a:rPr>
              <a:t>关系的合成</a:t>
            </a:r>
            <a:endParaRPr lang="en-US" altLang="zh-CN" dirty="0">
              <a:ea typeface="黑体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dirty="0">
                <a:ea typeface="黑体" pitchFamily="2" charset="-122"/>
              </a:rPr>
              <a:t>3.6   F</a:t>
            </a:r>
            <a:r>
              <a:rPr lang="zh-CN" altLang="en-US" dirty="0">
                <a:ea typeface="黑体" pitchFamily="2" charset="-122"/>
              </a:rPr>
              <a:t>关系的传递性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398D5E4-06E2-204E-11C1-2C73275EA6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3.0</a:t>
            </a:r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普通二元关系的定义和表示</a:t>
            </a:r>
            <a:endParaRPr lang="zh-CN" altLang="en-US" dirty="0">
              <a:solidFill>
                <a:srgbClr val="008000"/>
              </a:solidFill>
              <a:ea typeface="黑体" pitchFamily="2" charset="-122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1" y="1484784"/>
            <a:ext cx="10454952" cy="5373216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笛卡尔积</a:t>
            </a:r>
          </a:p>
          <a:p>
            <a:pPr lvl="1" eaLnBrk="1" hangingPunct="1">
              <a:buNone/>
            </a:pPr>
            <a:r>
              <a:rPr lang="zh-CN" altLang="en-US" sz="2400" dirty="0">
                <a:ea typeface="黑体" pitchFamily="2" charset="-122"/>
              </a:rPr>
              <a:t>设</a:t>
            </a:r>
            <a:r>
              <a:rPr lang="en-US" altLang="zh-CN" sz="2400" i="1" dirty="0">
                <a:ea typeface="黑体" pitchFamily="2" charset="-122"/>
              </a:rPr>
              <a:t>R</a:t>
            </a:r>
            <a:r>
              <a:rPr lang="en-US" altLang="zh-CN" sz="2400" baseline="-25000" dirty="0">
                <a:ea typeface="黑体" pitchFamily="2" charset="-122"/>
              </a:rPr>
              <a:t>1</a:t>
            </a:r>
            <a:r>
              <a:rPr lang="en-US" altLang="zh-CN" sz="2400" dirty="0">
                <a:ea typeface="黑体" pitchFamily="2" charset="-122"/>
              </a:rPr>
              <a:t>,</a:t>
            </a:r>
            <a:r>
              <a:rPr lang="en-US" altLang="zh-CN" sz="2400" i="1" dirty="0">
                <a:ea typeface="黑体" pitchFamily="2" charset="-122"/>
              </a:rPr>
              <a:t>R</a:t>
            </a:r>
            <a:r>
              <a:rPr lang="en-US" altLang="zh-CN" sz="2400" baseline="-25000" dirty="0">
                <a:ea typeface="黑体" pitchFamily="2" charset="-122"/>
              </a:rPr>
              <a:t>2</a:t>
            </a:r>
            <a:r>
              <a:rPr lang="zh-CN" altLang="en-US" sz="2400" dirty="0">
                <a:ea typeface="黑体" pitchFamily="2" charset="-122"/>
              </a:rPr>
              <a:t>为任意两个集合</a:t>
            </a:r>
            <a:r>
              <a:rPr lang="en-US" altLang="zh-CN" sz="2400" dirty="0">
                <a:ea typeface="黑体" pitchFamily="2" charset="-122"/>
              </a:rPr>
              <a:t>,</a:t>
            </a:r>
            <a:r>
              <a:rPr lang="zh-CN" altLang="en-US" sz="2400" dirty="0">
                <a:ea typeface="黑体" pitchFamily="2" charset="-122"/>
              </a:rPr>
              <a:t>若</a:t>
            </a:r>
            <a:r>
              <a:rPr lang="en-US" altLang="zh-CN" sz="2400" dirty="0">
                <a:ea typeface="黑体" pitchFamily="2" charset="-122"/>
              </a:rPr>
              <a:t>x</a:t>
            </a:r>
            <a:r>
              <a:rPr lang="en-US" altLang="zh-CN" sz="2400" dirty="0">
                <a:ea typeface="黑体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ea typeface="黑体" pitchFamily="2" charset="-122"/>
              </a:rPr>
              <a:t>R</a:t>
            </a:r>
            <a:r>
              <a:rPr lang="en-US" altLang="zh-CN" sz="2400" baseline="-25000" dirty="0">
                <a:ea typeface="黑体" pitchFamily="2" charset="-122"/>
              </a:rPr>
              <a:t>1</a:t>
            </a:r>
            <a:r>
              <a:rPr lang="en-US" altLang="zh-CN" sz="2400" dirty="0">
                <a:ea typeface="黑体" pitchFamily="2" charset="-122"/>
              </a:rPr>
              <a:t>, y </a:t>
            </a:r>
            <a:r>
              <a:rPr lang="en-US" altLang="zh-CN" sz="2400" dirty="0">
                <a:ea typeface="黑体" pitchFamily="2" charset="-122"/>
                <a:sym typeface="Symbol" panose="05050102010706020507" pitchFamily="18" charset="2"/>
              </a:rPr>
              <a:t> </a:t>
            </a:r>
            <a:r>
              <a:rPr lang="en-US" altLang="zh-CN" sz="2400" i="1" dirty="0">
                <a:ea typeface="黑体" pitchFamily="2" charset="-122"/>
              </a:rPr>
              <a:t>R</a:t>
            </a:r>
            <a:r>
              <a:rPr lang="en-US" altLang="zh-CN" sz="2400" baseline="-25000" dirty="0">
                <a:ea typeface="黑体" pitchFamily="2" charset="-122"/>
              </a:rPr>
              <a:t>2</a:t>
            </a:r>
            <a:r>
              <a:rPr lang="en-US" altLang="zh-CN" sz="2400" dirty="0">
                <a:ea typeface="黑体" pitchFamily="2" charset="-122"/>
              </a:rPr>
              <a:t>,</a:t>
            </a:r>
            <a:r>
              <a:rPr lang="zh-CN" altLang="en-US" sz="2400" dirty="0">
                <a:ea typeface="黑体" pitchFamily="2" charset="-122"/>
              </a:rPr>
              <a:t>将元素</a:t>
            </a:r>
            <a:r>
              <a:rPr lang="en-US" altLang="zh-CN" sz="2400" dirty="0">
                <a:ea typeface="黑体" pitchFamily="2" charset="-122"/>
              </a:rPr>
              <a:t>x, y</a:t>
            </a:r>
            <a:r>
              <a:rPr lang="zh-CN" altLang="en-US" sz="2400" dirty="0">
                <a:ea typeface="黑体" pitchFamily="2" charset="-122"/>
              </a:rPr>
              <a:t>搭配成元素对</a:t>
            </a:r>
            <a:r>
              <a:rPr lang="en-US" altLang="zh-CN" sz="2400" dirty="0">
                <a:ea typeface="黑体" pitchFamily="2" charset="-122"/>
              </a:rPr>
              <a:t>&lt;x, y&gt;, 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称</a:t>
            </a:r>
            <a:r>
              <a:rPr lang="en-US" altLang="zh-CN" sz="2400" dirty="0">
                <a:solidFill>
                  <a:srgbClr val="FF0000"/>
                </a:solidFill>
                <a:ea typeface="黑体" pitchFamily="2" charset="-122"/>
              </a:rPr>
              <a:t>&lt;x, y&gt;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为</a:t>
            </a:r>
            <a:r>
              <a:rPr lang="en-US" altLang="zh-CN" sz="2400" dirty="0">
                <a:solidFill>
                  <a:srgbClr val="FF0000"/>
                </a:solidFill>
                <a:ea typeface="黑体" pitchFamily="2" charset="-122"/>
              </a:rPr>
              <a:t>x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与</a:t>
            </a:r>
            <a:r>
              <a:rPr lang="en-US" altLang="zh-CN" sz="2400" dirty="0">
                <a:solidFill>
                  <a:srgbClr val="FF0000"/>
                </a:solidFill>
                <a:ea typeface="黑体" pitchFamily="2" charset="-122"/>
              </a:rPr>
              <a:t>y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的序偶</a:t>
            </a:r>
            <a:r>
              <a:rPr lang="en-US" altLang="zh-CN" sz="2400" dirty="0">
                <a:ea typeface="黑体" pitchFamily="2" charset="-122"/>
              </a:rPr>
              <a:t>.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一般地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</a:rPr>
              <a:t>, 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&lt;x, y&gt; ≠ &lt;y, x&gt;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sz="2400" dirty="0">
                <a:ea typeface="黑体" pitchFamily="2" charset="-122"/>
              </a:rPr>
              <a:t>而所有的序偶</a:t>
            </a:r>
            <a:r>
              <a:rPr lang="en-US" altLang="zh-CN" sz="2400" dirty="0">
                <a:ea typeface="黑体" pitchFamily="2" charset="-122"/>
              </a:rPr>
              <a:t>&lt;x, y&gt;</a:t>
            </a:r>
            <a:r>
              <a:rPr lang="zh-CN" altLang="en-US" sz="2400" dirty="0">
                <a:ea typeface="黑体" pitchFamily="2" charset="-122"/>
              </a:rPr>
              <a:t>构成的集合称为</a:t>
            </a:r>
            <a:r>
              <a:rPr lang="en-US" altLang="zh-CN" sz="2400" i="1" dirty="0">
                <a:ea typeface="黑体" pitchFamily="2" charset="-122"/>
              </a:rPr>
              <a:t>R</a:t>
            </a:r>
            <a:r>
              <a:rPr lang="en-US" altLang="zh-CN" sz="2400" baseline="-25000" dirty="0">
                <a:ea typeface="黑体" pitchFamily="2" charset="-122"/>
              </a:rPr>
              <a:t>1</a:t>
            </a:r>
            <a:r>
              <a:rPr lang="zh-CN" altLang="en-US" sz="2400" dirty="0">
                <a:ea typeface="黑体" pitchFamily="2" charset="-122"/>
              </a:rPr>
              <a:t>与</a:t>
            </a:r>
            <a:r>
              <a:rPr lang="en-US" altLang="zh-CN" sz="2400" i="1" dirty="0">
                <a:ea typeface="黑体" pitchFamily="2" charset="-122"/>
              </a:rPr>
              <a:t>R</a:t>
            </a:r>
            <a:r>
              <a:rPr lang="en-US" altLang="zh-CN" sz="2400" baseline="-25000" dirty="0">
                <a:ea typeface="黑体" pitchFamily="2" charset="-122"/>
              </a:rPr>
              <a:t>2</a:t>
            </a:r>
            <a:r>
              <a:rPr lang="zh-CN" altLang="en-US" sz="2400" dirty="0">
                <a:ea typeface="黑体" pitchFamily="2" charset="-122"/>
              </a:rPr>
              <a:t>的</a:t>
            </a:r>
            <a:r>
              <a:rPr lang="zh-CN" altLang="en-US" sz="2400" dirty="0">
                <a:solidFill>
                  <a:srgbClr val="CC00CC"/>
                </a:solidFill>
                <a:ea typeface="黑体" pitchFamily="2" charset="-122"/>
              </a:rPr>
              <a:t>直积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</a:rPr>
              <a:t>(</a:t>
            </a:r>
            <a:r>
              <a:rPr lang="zh-CN" altLang="en-US" sz="2400" dirty="0">
                <a:solidFill>
                  <a:srgbClr val="CC00CC"/>
                </a:solidFill>
                <a:ea typeface="黑体" pitchFamily="2" charset="-122"/>
              </a:rPr>
              <a:t>或笛卡尔积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</a:rPr>
              <a:t>), </a:t>
            </a:r>
            <a:r>
              <a:rPr lang="zh-CN" altLang="en-US" sz="2400" dirty="0">
                <a:ea typeface="黑体" pitchFamily="2" charset="-122"/>
              </a:rPr>
              <a:t>记为</a:t>
            </a:r>
          </a:p>
          <a:p>
            <a:pPr lvl="1" eaLnBrk="1" hangingPunct="1">
              <a:buNone/>
            </a:pPr>
            <a:r>
              <a:rPr lang="zh-CN" altLang="en-US" sz="2400" dirty="0">
                <a:ea typeface="黑体" pitchFamily="2" charset="-122"/>
              </a:rPr>
              <a:t>    </a:t>
            </a:r>
            <a:r>
              <a:rPr lang="en-US" altLang="zh-CN" sz="2400" i="1" dirty="0">
                <a:solidFill>
                  <a:srgbClr val="CC00CC"/>
                </a:solidFill>
                <a:ea typeface="黑体" pitchFamily="2" charset="-122"/>
              </a:rPr>
              <a:t>R</a:t>
            </a:r>
            <a:r>
              <a:rPr lang="en-US" altLang="zh-CN" sz="2400" baseline="-25000" dirty="0">
                <a:solidFill>
                  <a:srgbClr val="CC00CC"/>
                </a:solidFill>
                <a:ea typeface="黑体" pitchFamily="2" charset="-122"/>
              </a:rPr>
              <a:t>1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400" i="1" dirty="0">
                <a:solidFill>
                  <a:srgbClr val="CC00CC"/>
                </a:solidFill>
                <a:ea typeface="黑体" pitchFamily="2" charset="-122"/>
              </a:rPr>
              <a:t>R</a:t>
            </a:r>
            <a:r>
              <a:rPr lang="en-US" altLang="zh-CN" sz="2400" baseline="-25000" dirty="0">
                <a:solidFill>
                  <a:srgbClr val="CC00CC"/>
                </a:solidFill>
                <a:ea typeface="黑体" pitchFamily="2" charset="-122"/>
              </a:rPr>
              <a:t>2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</a:rPr>
              <a:t>={&lt;x, y&gt;| x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solidFill>
                  <a:srgbClr val="CC00CC"/>
                </a:solidFill>
                <a:ea typeface="黑体" pitchFamily="2" charset="-122"/>
              </a:rPr>
              <a:t>R</a:t>
            </a:r>
            <a:r>
              <a:rPr lang="en-US" altLang="zh-CN" sz="2400" baseline="-25000" dirty="0">
                <a:solidFill>
                  <a:srgbClr val="CC00CC"/>
                </a:solidFill>
                <a:ea typeface="黑体" pitchFamily="2" charset="-122"/>
              </a:rPr>
              <a:t>1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</a:rPr>
              <a:t> </a:t>
            </a:r>
            <a:r>
              <a:rPr lang="zh-CN" altLang="en-US" sz="2400" dirty="0">
                <a:solidFill>
                  <a:srgbClr val="CC00CC"/>
                </a:solidFill>
                <a:ea typeface="黑体" pitchFamily="2" charset="-122"/>
              </a:rPr>
              <a:t>且 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</a:rPr>
              <a:t>y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solidFill>
                  <a:srgbClr val="CC00CC"/>
                </a:solidFill>
                <a:ea typeface="黑体" pitchFamily="2" charset="-122"/>
              </a:rPr>
              <a:t>R</a:t>
            </a:r>
            <a:r>
              <a:rPr lang="en-US" altLang="zh-CN" sz="2400" baseline="-25000" dirty="0">
                <a:solidFill>
                  <a:srgbClr val="CC00CC"/>
                </a:solidFill>
                <a:ea typeface="黑体" pitchFamily="2" charset="-122"/>
              </a:rPr>
              <a:t>2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</a:rPr>
              <a:t>}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一般地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</a:rPr>
              <a:t>, </a:t>
            </a:r>
            <a:r>
              <a:rPr lang="en-US" altLang="zh-CN" sz="2800" i="1" dirty="0">
                <a:solidFill>
                  <a:srgbClr val="3333FF"/>
                </a:solidFill>
                <a:ea typeface="黑体" pitchFamily="2" charset="-122"/>
              </a:rPr>
              <a:t>R</a:t>
            </a:r>
            <a:r>
              <a:rPr lang="en-US" altLang="zh-CN" sz="2800" baseline="-25000" dirty="0">
                <a:solidFill>
                  <a:srgbClr val="3333FF"/>
                </a:solidFill>
                <a:ea typeface="黑体" pitchFamily="2" charset="-122"/>
              </a:rPr>
              <a:t>1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800" i="1" dirty="0">
                <a:solidFill>
                  <a:srgbClr val="3333FF"/>
                </a:solidFill>
                <a:ea typeface="黑体" pitchFamily="2" charset="-122"/>
              </a:rPr>
              <a:t>R</a:t>
            </a:r>
            <a:r>
              <a:rPr lang="en-US" altLang="zh-CN" sz="2800" baseline="-25000" dirty="0">
                <a:solidFill>
                  <a:srgbClr val="3333FF"/>
                </a:solidFill>
                <a:ea typeface="黑体" pitchFamily="2" charset="-122"/>
              </a:rPr>
              <a:t>2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  ≠ </a:t>
            </a:r>
            <a:r>
              <a:rPr lang="en-US" altLang="zh-CN" sz="2800" i="1" dirty="0">
                <a:solidFill>
                  <a:srgbClr val="3333FF"/>
                </a:solidFill>
                <a:ea typeface="黑体" pitchFamily="2" charset="-122"/>
              </a:rPr>
              <a:t>R</a:t>
            </a:r>
            <a:r>
              <a:rPr lang="en-US" altLang="zh-CN" sz="2800" baseline="-25000" dirty="0">
                <a:solidFill>
                  <a:srgbClr val="3333FF"/>
                </a:solidFill>
                <a:ea typeface="黑体" pitchFamily="2" charset="-122"/>
              </a:rPr>
              <a:t>2 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800" i="1" dirty="0">
                <a:solidFill>
                  <a:srgbClr val="3333FF"/>
                </a:solidFill>
                <a:ea typeface="黑体" pitchFamily="2" charset="-122"/>
              </a:rPr>
              <a:t>R</a:t>
            </a:r>
            <a:r>
              <a:rPr lang="en-US" altLang="zh-CN" sz="2800" baseline="-25000" dirty="0">
                <a:solidFill>
                  <a:srgbClr val="3333FF"/>
                </a:solidFill>
                <a:ea typeface="黑体" pitchFamily="2" charset="-122"/>
              </a:rPr>
              <a:t>1</a:t>
            </a:r>
            <a:endParaRPr lang="en-US" altLang="zh-CN" sz="2800" dirty="0">
              <a:solidFill>
                <a:srgbClr val="3333FF"/>
              </a:solidFill>
              <a:ea typeface="黑体" pitchFamily="2" charset="-122"/>
            </a:endParaRPr>
          </a:p>
          <a:p>
            <a:pPr eaLnBrk="1" hangingPunct="1"/>
            <a:r>
              <a:rPr lang="zh-CN" altLang="en-US" sz="2800" dirty="0">
                <a:ea typeface="黑体" pitchFamily="2" charset="-122"/>
              </a:rPr>
              <a:t>设</a:t>
            </a:r>
            <a:r>
              <a:rPr lang="en-US" altLang="zh-CN" sz="2800" i="1" dirty="0">
                <a:ea typeface="黑体" pitchFamily="2" charset="-122"/>
              </a:rPr>
              <a:t>R</a:t>
            </a:r>
            <a:r>
              <a:rPr lang="en-US" altLang="zh-CN" sz="2800" baseline="-25000" dirty="0">
                <a:ea typeface="黑体" pitchFamily="2" charset="-122"/>
              </a:rPr>
              <a:t>1</a:t>
            </a:r>
            <a:r>
              <a:rPr lang="en-US" altLang="zh-CN" sz="2800" dirty="0">
                <a:ea typeface="黑体" pitchFamily="2" charset="-122"/>
              </a:rPr>
              <a:t>, </a:t>
            </a:r>
            <a:r>
              <a:rPr lang="en-US" altLang="zh-CN" sz="2800" i="1" dirty="0">
                <a:ea typeface="黑体" pitchFamily="2" charset="-122"/>
              </a:rPr>
              <a:t>R</a:t>
            </a:r>
            <a:r>
              <a:rPr lang="en-US" altLang="zh-CN" sz="2800" baseline="-25000" dirty="0">
                <a:ea typeface="黑体" pitchFamily="2" charset="-122"/>
              </a:rPr>
              <a:t>2</a:t>
            </a:r>
            <a:r>
              <a:rPr lang="en-US" altLang="zh-CN" sz="2800" dirty="0">
                <a:ea typeface="黑体" pitchFamily="2" charset="-122"/>
              </a:rPr>
              <a:t>,…, </a:t>
            </a:r>
            <a:r>
              <a:rPr lang="en-US" altLang="zh-CN" sz="2800" i="1" dirty="0">
                <a:ea typeface="黑体" pitchFamily="2" charset="-122"/>
              </a:rPr>
              <a:t>R</a:t>
            </a:r>
            <a:r>
              <a:rPr lang="en-US" altLang="zh-CN" sz="2800" i="1" baseline="-25000" dirty="0">
                <a:ea typeface="黑体" pitchFamily="2" charset="-122"/>
              </a:rPr>
              <a:t>n</a:t>
            </a:r>
            <a:r>
              <a:rPr lang="en-US" altLang="zh-CN" sz="2800" dirty="0">
                <a:ea typeface="黑体" pitchFamily="2" charset="-122"/>
              </a:rPr>
              <a:t> </a:t>
            </a:r>
            <a:r>
              <a:rPr lang="zh-CN" altLang="en-US" sz="2800" dirty="0">
                <a:ea typeface="黑体" pitchFamily="2" charset="-122"/>
              </a:rPr>
              <a:t>是</a:t>
            </a:r>
            <a:r>
              <a:rPr lang="en-US" altLang="zh-CN" sz="2800" i="1" dirty="0">
                <a:ea typeface="黑体" pitchFamily="2" charset="-122"/>
              </a:rPr>
              <a:t>n</a:t>
            </a:r>
            <a:r>
              <a:rPr lang="zh-CN" altLang="en-US" sz="2800" dirty="0">
                <a:ea typeface="黑体" pitchFamily="2" charset="-122"/>
              </a:rPr>
              <a:t>个集合</a:t>
            </a:r>
            <a:r>
              <a:rPr lang="en-US" altLang="zh-CN" sz="2800" dirty="0">
                <a:ea typeface="黑体" pitchFamily="2" charset="-122"/>
              </a:rPr>
              <a:t>, </a:t>
            </a:r>
            <a:r>
              <a:rPr lang="zh-CN" altLang="en-US" sz="2800" dirty="0">
                <a:ea typeface="黑体" pitchFamily="2" charset="-122"/>
              </a:rPr>
              <a:t>则称</a:t>
            </a:r>
          </a:p>
          <a:p>
            <a:pPr eaLnBrk="1" hangingPunct="1">
              <a:buNone/>
            </a:pPr>
            <a:r>
              <a:rPr lang="zh-CN" altLang="en-US" sz="2800" dirty="0">
                <a:ea typeface="黑体" pitchFamily="2" charset="-122"/>
              </a:rPr>
              <a:t>        </a:t>
            </a:r>
            <a:r>
              <a:rPr lang="en-US" altLang="zh-CN" i="1" dirty="0">
                <a:ea typeface="黑体" pitchFamily="2" charset="-122"/>
              </a:rPr>
              <a:t>R</a:t>
            </a:r>
            <a:r>
              <a:rPr lang="en-US" altLang="zh-CN" baseline="-25000" dirty="0">
                <a:ea typeface="黑体" pitchFamily="2" charset="-122"/>
              </a:rPr>
              <a:t>1</a:t>
            </a:r>
            <a:r>
              <a:rPr lang="en-US" altLang="zh-CN" dirty="0">
                <a:ea typeface="黑体" pitchFamily="2" charset="-122"/>
              </a:rPr>
              <a:t> </a:t>
            </a:r>
            <a:r>
              <a:rPr lang="en-US" altLang="zh-CN" dirty="0">
                <a:ea typeface="黑体" pitchFamily="2" charset="-122"/>
                <a:sym typeface="Symbol" panose="05050102010706020507" pitchFamily="18" charset="2"/>
              </a:rPr>
              <a:t></a:t>
            </a:r>
            <a:r>
              <a:rPr lang="en-US" altLang="zh-CN" dirty="0">
                <a:ea typeface="黑体" pitchFamily="2" charset="-122"/>
              </a:rPr>
              <a:t> </a:t>
            </a:r>
            <a:r>
              <a:rPr lang="en-US" altLang="zh-CN" i="1" dirty="0">
                <a:ea typeface="黑体" pitchFamily="2" charset="-122"/>
              </a:rPr>
              <a:t>R</a:t>
            </a:r>
            <a:r>
              <a:rPr lang="en-US" altLang="zh-CN" baseline="-25000" dirty="0">
                <a:ea typeface="黑体" pitchFamily="2" charset="-122"/>
              </a:rPr>
              <a:t>2 </a:t>
            </a:r>
            <a:r>
              <a:rPr lang="en-US" altLang="zh-CN" dirty="0">
                <a:ea typeface="黑体" pitchFamily="2" charset="-122"/>
                <a:sym typeface="Symbol" panose="05050102010706020507" pitchFamily="18" charset="2"/>
              </a:rPr>
              <a:t> </a:t>
            </a:r>
            <a:r>
              <a:rPr lang="en-US" altLang="zh-CN" dirty="0">
                <a:ea typeface="黑体" pitchFamily="2" charset="-122"/>
              </a:rPr>
              <a:t>…</a:t>
            </a:r>
            <a:r>
              <a:rPr lang="en-US" altLang="zh-CN" dirty="0">
                <a:ea typeface="黑体" pitchFamily="2" charset="-122"/>
                <a:sym typeface="Symbol" panose="05050102010706020507" pitchFamily="18" charset="2"/>
              </a:rPr>
              <a:t> </a:t>
            </a:r>
            <a:r>
              <a:rPr lang="en-US" altLang="zh-CN" dirty="0">
                <a:ea typeface="黑体" pitchFamily="2" charset="-122"/>
              </a:rPr>
              <a:t> </a:t>
            </a:r>
            <a:r>
              <a:rPr lang="en-US" altLang="zh-CN" i="1" dirty="0">
                <a:ea typeface="黑体" pitchFamily="2" charset="-122"/>
              </a:rPr>
              <a:t>R</a:t>
            </a:r>
            <a:r>
              <a:rPr lang="en-US" altLang="zh-CN" baseline="-25000" dirty="0">
                <a:ea typeface="黑体" pitchFamily="2" charset="-122"/>
              </a:rPr>
              <a:t>n</a:t>
            </a:r>
            <a:r>
              <a:rPr lang="en-US" altLang="zh-CN" sz="2800" dirty="0">
                <a:ea typeface="黑体" pitchFamily="2" charset="-122"/>
              </a:rPr>
              <a:t> ={&lt;x</a:t>
            </a:r>
            <a:r>
              <a:rPr lang="en-US" altLang="zh-CN" sz="2800" baseline="-25000" dirty="0">
                <a:ea typeface="黑体" pitchFamily="2" charset="-122"/>
              </a:rPr>
              <a:t>1</a:t>
            </a:r>
            <a:r>
              <a:rPr lang="en-US" altLang="zh-CN" sz="2800" dirty="0">
                <a:ea typeface="黑体" pitchFamily="2" charset="-122"/>
              </a:rPr>
              <a:t>, x</a:t>
            </a:r>
            <a:r>
              <a:rPr lang="en-US" altLang="zh-CN" sz="2800" baseline="-25000" dirty="0">
                <a:ea typeface="黑体" pitchFamily="2" charset="-122"/>
              </a:rPr>
              <a:t>2</a:t>
            </a:r>
            <a:r>
              <a:rPr lang="en-US" altLang="zh-CN" sz="2800" dirty="0">
                <a:ea typeface="黑体" pitchFamily="2" charset="-122"/>
              </a:rPr>
              <a:t>,…,</a:t>
            </a:r>
            <a:r>
              <a:rPr lang="en-US" altLang="zh-CN" sz="2800" dirty="0" err="1">
                <a:ea typeface="黑体" pitchFamily="2" charset="-122"/>
              </a:rPr>
              <a:t>x</a:t>
            </a:r>
            <a:r>
              <a:rPr lang="en-US" altLang="zh-CN" sz="2800" baseline="-25000" dirty="0" err="1">
                <a:ea typeface="黑体" pitchFamily="2" charset="-122"/>
              </a:rPr>
              <a:t>n</a:t>
            </a:r>
            <a:r>
              <a:rPr lang="en-US" altLang="zh-CN" sz="2800" dirty="0">
                <a:ea typeface="黑体" pitchFamily="2" charset="-122"/>
              </a:rPr>
              <a:t>&gt;| x</a:t>
            </a:r>
            <a:r>
              <a:rPr lang="en-US" altLang="zh-CN" sz="2800" baseline="-25000" dirty="0">
                <a:ea typeface="黑体" pitchFamily="2" charset="-122"/>
              </a:rPr>
              <a:t>i</a:t>
            </a:r>
            <a:r>
              <a:rPr lang="en-US" altLang="zh-CN" sz="2800" dirty="0">
                <a:ea typeface="黑体" pitchFamily="2" charset="-122"/>
              </a:rPr>
              <a:t>,</a:t>
            </a:r>
            <a:r>
              <a:rPr lang="en-US" altLang="zh-CN" sz="2800" dirty="0">
                <a:ea typeface="黑体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i="1" dirty="0" err="1">
                <a:ea typeface="黑体" pitchFamily="2" charset="-122"/>
              </a:rPr>
              <a:t>R</a:t>
            </a:r>
            <a:r>
              <a:rPr lang="en-US" altLang="zh-CN" sz="2800" baseline="-25000" dirty="0" err="1">
                <a:ea typeface="黑体" pitchFamily="2" charset="-122"/>
              </a:rPr>
              <a:t>i</a:t>
            </a:r>
            <a:r>
              <a:rPr lang="en-US" altLang="zh-CN" sz="2800" dirty="0" err="1">
                <a:ea typeface="黑体" pitchFamily="2" charset="-122"/>
              </a:rPr>
              <a:t>,i</a:t>
            </a:r>
            <a:r>
              <a:rPr lang="en-US" altLang="zh-CN" sz="2800" dirty="0">
                <a:ea typeface="黑体" pitchFamily="2" charset="-122"/>
              </a:rPr>
              <a:t>=1,2,…,n}</a:t>
            </a:r>
          </a:p>
          <a:p>
            <a:pPr eaLnBrk="1" hangingPunct="1">
              <a:buNone/>
            </a:pPr>
            <a:r>
              <a:rPr lang="en-US" altLang="zh-CN" sz="2800" dirty="0">
                <a:ea typeface="黑体" pitchFamily="2" charset="-122"/>
              </a:rPr>
              <a:t>     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为</a:t>
            </a:r>
            <a:r>
              <a:rPr lang="en-US" altLang="zh-CN" sz="2800" i="1" dirty="0">
                <a:solidFill>
                  <a:srgbClr val="FF0000"/>
                </a:solidFill>
                <a:ea typeface="黑体" pitchFamily="2" charset="-122"/>
              </a:rPr>
              <a:t>R</a:t>
            </a:r>
            <a:r>
              <a:rPr lang="en-US" altLang="zh-CN" sz="2800" baseline="-25000" dirty="0">
                <a:solidFill>
                  <a:srgbClr val="FF0000"/>
                </a:solidFill>
                <a:ea typeface="黑体" pitchFamily="2" charset="-122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, </a:t>
            </a:r>
            <a:r>
              <a:rPr lang="en-US" altLang="zh-CN" sz="2800" i="1" dirty="0">
                <a:solidFill>
                  <a:srgbClr val="FF0000"/>
                </a:solidFill>
                <a:ea typeface="黑体" pitchFamily="2" charset="-122"/>
              </a:rPr>
              <a:t>R</a:t>
            </a:r>
            <a:r>
              <a:rPr lang="en-US" altLang="zh-CN" sz="2800" baseline="-25000" dirty="0">
                <a:solidFill>
                  <a:srgbClr val="FF0000"/>
                </a:solidFill>
                <a:ea typeface="黑体" pitchFamily="2" charset="-122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,…, </a:t>
            </a:r>
            <a:r>
              <a:rPr lang="en-US" altLang="zh-CN" sz="2800" i="1" dirty="0">
                <a:solidFill>
                  <a:srgbClr val="FF0000"/>
                </a:solidFill>
                <a:ea typeface="黑体" pitchFamily="2" charset="-122"/>
              </a:rPr>
              <a:t>R</a:t>
            </a:r>
            <a:r>
              <a:rPr lang="en-US" altLang="zh-CN" sz="2800" i="1" baseline="-25000" dirty="0">
                <a:solidFill>
                  <a:srgbClr val="FF0000"/>
                </a:solidFill>
                <a:ea typeface="黑体" pitchFamily="2" charset="-122"/>
              </a:rPr>
              <a:t>n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的</a:t>
            </a:r>
            <a:r>
              <a:rPr lang="en-US" altLang="zh-CN" sz="2800" i="1" dirty="0">
                <a:solidFill>
                  <a:srgbClr val="FF0000"/>
                </a:solidFill>
                <a:ea typeface="黑体" pitchFamily="2" charset="-122"/>
              </a:rPr>
              <a:t>n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阶笛卡尔积（或称直积）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3026AC5-364E-91B7-2961-4C6905272F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3532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288" y="113184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笛卡儿积举例</a:t>
            </a:r>
          </a:p>
        </p:txBody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1412776"/>
            <a:ext cx="10369152" cy="5373216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00CC"/>
                </a:solidFill>
              </a:rPr>
              <a:t>例  </a:t>
            </a:r>
            <a:r>
              <a:rPr lang="en-US" altLang="zh-CN" b="1" i="1" dirty="0">
                <a:solidFill>
                  <a:srgbClr val="CC00CC"/>
                </a:solidFill>
              </a:rPr>
              <a:t>A</a:t>
            </a:r>
            <a:r>
              <a:rPr lang="en-US" altLang="zh-CN" b="1" dirty="0">
                <a:solidFill>
                  <a:srgbClr val="CC00CC"/>
                </a:solidFill>
              </a:rPr>
              <a:t>={1, 2}, </a:t>
            </a:r>
            <a:r>
              <a:rPr lang="en-US" altLang="zh-CN" b="1" i="1" dirty="0">
                <a:solidFill>
                  <a:srgbClr val="CC00CC"/>
                </a:solidFill>
              </a:rPr>
              <a:t>B</a:t>
            </a:r>
            <a:r>
              <a:rPr lang="en-US" altLang="zh-CN" b="1" dirty="0">
                <a:solidFill>
                  <a:srgbClr val="CC00CC"/>
                </a:solidFill>
              </a:rPr>
              <a:t>={</a:t>
            </a:r>
            <a:r>
              <a:rPr lang="en-US" altLang="zh-CN" b="1" i="1" dirty="0">
                <a:solidFill>
                  <a:srgbClr val="CC00CC"/>
                </a:solidFill>
              </a:rPr>
              <a:t>a</a:t>
            </a:r>
            <a:r>
              <a:rPr lang="en-US" altLang="zh-CN" b="1" dirty="0">
                <a:solidFill>
                  <a:srgbClr val="CC00CC"/>
                </a:solidFill>
              </a:rPr>
              <a:t>, </a:t>
            </a:r>
            <a:r>
              <a:rPr lang="en-US" altLang="zh-CN" b="1" i="1" dirty="0">
                <a:solidFill>
                  <a:srgbClr val="CC00CC"/>
                </a:solidFill>
              </a:rPr>
              <a:t>b</a:t>
            </a:r>
            <a:r>
              <a:rPr lang="en-US" altLang="zh-CN" b="1" dirty="0">
                <a:solidFill>
                  <a:srgbClr val="CC00CC"/>
                </a:solidFill>
              </a:rPr>
              <a:t>, </a:t>
            </a:r>
            <a:r>
              <a:rPr lang="en-US" altLang="zh-CN" b="1" i="1" dirty="0">
                <a:solidFill>
                  <a:srgbClr val="CC00CC"/>
                </a:solidFill>
              </a:rPr>
              <a:t>c</a:t>
            </a:r>
            <a:r>
              <a:rPr lang="en-US" altLang="zh-CN" b="1" dirty="0">
                <a:solidFill>
                  <a:srgbClr val="CC00CC"/>
                </a:solidFill>
              </a:rPr>
              <a:t>}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bg2"/>
                </a:solidFill>
              </a:rPr>
              <a:t> </a:t>
            </a:r>
            <a:r>
              <a:rPr lang="en-US" altLang="zh-CN" b="1" i="1" dirty="0">
                <a:solidFill>
                  <a:srgbClr val="008000"/>
                </a:solidFill>
              </a:rPr>
              <a:t>A</a:t>
            </a:r>
            <a:r>
              <a:rPr lang="en-US" altLang="zh-CN" b="1" dirty="0">
                <a:solidFill>
                  <a:srgbClr val="008000"/>
                </a:solidFill>
                <a:sym typeface="Symbol" pitchFamily="18" charset="2"/>
              </a:rPr>
              <a:t></a:t>
            </a:r>
            <a:r>
              <a:rPr lang="en-US" altLang="zh-CN" b="1" i="1" dirty="0">
                <a:solidFill>
                  <a:srgbClr val="008000"/>
                </a:solidFill>
              </a:rPr>
              <a:t>B</a:t>
            </a:r>
            <a:r>
              <a:rPr lang="en-US" altLang="zh-CN" b="1" i="1" dirty="0">
                <a:solidFill>
                  <a:schemeClr val="bg2"/>
                </a:solidFill>
              </a:rPr>
              <a:t> </a:t>
            </a:r>
            <a:r>
              <a:rPr lang="en-US" altLang="zh-CN" b="1" dirty="0"/>
              <a:t>={&lt;1,</a:t>
            </a:r>
            <a:r>
              <a:rPr lang="en-US" altLang="zh-CN" b="1" i="1" dirty="0"/>
              <a:t>a</a:t>
            </a:r>
            <a:r>
              <a:rPr lang="en-US" altLang="zh-CN" b="1" dirty="0"/>
              <a:t>&gt;, &lt;1,</a:t>
            </a:r>
            <a:r>
              <a:rPr lang="en-US" altLang="zh-CN" b="1" i="1" dirty="0"/>
              <a:t>b</a:t>
            </a:r>
            <a:r>
              <a:rPr lang="en-US" altLang="zh-CN" b="1" dirty="0"/>
              <a:t>&gt;, &lt;1,</a:t>
            </a:r>
            <a:r>
              <a:rPr lang="en-US" altLang="zh-CN" b="1" i="1" dirty="0"/>
              <a:t>c</a:t>
            </a:r>
            <a:r>
              <a:rPr lang="en-US" altLang="zh-CN" b="1" dirty="0"/>
              <a:t>&gt;, &lt;2,</a:t>
            </a:r>
            <a:r>
              <a:rPr lang="en-US" altLang="zh-CN" b="1" i="1" dirty="0"/>
              <a:t>a</a:t>
            </a:r>
            <a:r>
              <a:rPr lang="en-US" altLang="zh-CN" b="1" dirty="0"/>
              <a:t>&gt;, &lt;2,</a:t>
            </a:r>
            <a:r>
              <a:rPr lang="en-US" altLang="zh-CN" b="1" i="1" dirty="0"/>
              <a:t>b</a:t>
            </a:r>
            <a:r>
              <a:rPr lang="en-US" altLang="zh-CN" b="1" dirty="0"/>
              <a:t>&gt;, &lt;2,</a:t>
            </a:r>
            <a:r>
              <a:rPr lang="en-US" altLang="zh-CN" b="1" i="1" dirty="0"/>
              <a:t>c</a:t>
            </a:r>
            <a:r>
              <a:rPr lang="en-US" altLang="zh-CN" b="1" dirty="0"/>
              <a:t>&gt;}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bg2"/>
                </a:solidFill>
              </a:rPr>
              <a:t> </a:t>
            </a:r>
            <a:r>
              <a:rPr lang="en-US" altLang="zh-CN" b="1" i="1" dirty="0">
                <a:solidFill>
                  <a:srgbClr val="008000"/>
                </a:solidFill>
              </a:rPr>
              <a:t>B</a:t>
            </a:r>
            <a:r>
              <a:rPr lang="en-US" altLang="zh-CN" b="1" dirty="0">
                <a:solidFill>
                  <a:srgbClr val="008000"/>
                </a:solidFill>
                <a:sym typeface="Symbol" pitchFamily="18" charset="2"/>
              </a:rPr>
              <a:t></a:t>
            </a:r>
            <a:r>
              <a:rPr lang="en-US" altLang="zh-CN" b="1" i="1" dirty="0">
                <a:solidFill>
                  <a:srgbClr val="008000"/>
                </a:solidFill>
              </a:rPr>
              <a:t>A</a:t>
            </a:r>
            <a:r>
              <a:rPr lang="en-US" altLang="zh-CN" b="1" i="1" dirty="0">
                <a:solidFill>
                  <a:schemeClr val="bg2"/>
                </a:solidFill>
              </a:rPr>
              <a:t> </a:t>
            </a:r>
            <a:r>
              <a:rPr lang="en-US" altLang="zh-CN" b="1" dirty="0"/>
              <a:t>={&lt;</a:t>
            </a:r>
            <a:r>
              <a:rPr lang="en-US" altLang="zh-CN" b="1" i="1" dirty="0"/>
              <a:t>a</a:t>
            </a:r>
            <a:r>
              <a:rPr lang="en-US" altLang="zh-CN" b="1" dirty="0"/>
              <a:t>,1&gt;, &lt;</a:t>
            </a:r>
            <a:r>
              <a:rPr lang="en-US" altLang="zh-CN" b="1" i="1" dirty="0"/>
              <a:t>b</a:t>
            </a:r>
            <a:r>
              <a:rPr lang="en-US" altLang="zh-CN" b="1" dirty="0"/>
              <a:t>,1&gt;, &lt;</a:t>
            </a:r>
            <a:r>
              <a:rPr lang="en-US" altLang="zh-CN" b="1" i="1" dirty="0"/>
              <a:t>c</a:t>
            </a:r>
            <a:r>
              <a:rPr lang="en-US" altLang="zh-CN" b="1" dirty="0"/>
              <a:t>,1&gt;, &lt;</a:t>
            </a:r>
            <a:r>
              <a:rPr lang="en-US" altLang="zh-CN" b="1" i="1" dirty="0"/>
              <a:t>a</a:t>
            </a:r>
            <a:r>
              <a:rPr lang="en-US" altLang="zh-CN" b="1" dirty="0"/>
              <a:t>,2&gt;, &lt;</a:t>
            </a:r>
            <a:r>
              <a:rPr lang="en-US" altLang="zh-CN" b="1" i="1" dirty="0"/>
              <a:t>b</a:t>
            </a:r>
            <a:r>
              <a:rPr lang="en-US" altLang="zh-CN" b="1" dirty="0"/>
              <a:t>,2&gt;, &lt;</a:t>
            </a:r>
            <a:r>
              <a:rPr lang="en-US" altLang="zh-CN" b="1" i="1" dirty="0"/>
              <a:t>c</a:t>
            </a:r>
            <a:r>
              <a:rPr lang="en-US" altLang="zh-CN" b="1" dirty="0"/>
              <a:t>,2&gt;}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b="1" i="1" dirty="0">
                <a:solidFill>
                  <a:srgbClr val="008000"/>
                </a:solidFill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A</a:t>
            </a:r>
            <a:r>
              <a:rPr lang="en-US" altLang="zh-CN" b="1" dirty="0">
                <a:solidFill>
                  <a:srgbClr val="FF0000"/>
                </a:solidFill>
                <a:sym typeface="Symbol" pitchFamily="18" charset="2"/>
              </a:rPr>
              <a:t></a:t>
            </a:r>
            <a:r>
              <a:rPr lang="en-US" altLang="zh-CN" b="1" i="1" dirty="0">
                <a:solidFill>
                  <a:srgbClr val="FF0000"/>
                </a:solidFill>
              </a:rPr>
              <a:t>A</a:t>
            </a:r>
            <a:r>
              <a:rPr lang="en-US" altLang="zh-CN" b="1" i="1" dirty="0">
                <a:solidFill>
                  <a:schemeClr val="bg2"/>
                </a:solidFill>
              </a:rPr>
              <a:t> </a:t>
            </a:r>
            <a:r>
              <a:rPr lang="en-US" altLang="zh-CN" b="1" dirty="0"/>
              <a:t>={&lt;1,1&gt;, &lt;1,2&gt;, &lt;2,1&gt;, &lt;2,2&gt;} </a:t>
            </a:r>
            <a:endParaRPr lang="en-US" altLang="zh-CN" sz="1800" dirty="0"/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3333FF"/>
                </a:solidFill>
                <a:ea typeface="黑体" panose="02010609060101010101" pitchFamily="49" charset="-122"/>
              </a:rPr>
              <a:t>例：设</a:t>
            </a:r>
            <a:r>
              <a:rPr lang="en-US" altLang="zh-CN" i="1" dirty="0">
                <a:solidFill>
                  <a:srgbClr val="3333FF"/>
                </a:solidFill>
                <a:ea typeface="黑体" panose="02010609060101010101" pitchFamily="49" charset="-122"/>
              </a:rPr>
              <a:t>R</a:t>
            </a:r>
            <a:r>
              <a:rPr lang="zh-CN" altLang="en-US" dirty="0">
                <a:solidFill>
                  <a:srgbClr val="3333FF"/>
                </a:solidFill>
                <a:ea typeface="黑体" panose="02010609060101010101" pitchFamily="49" charset="-122"/>
              </a:rPr>
              <a:t>是实数集，即</a:t>
            </a:r>
            <a:r>
              <a:rPr lang="en-US" altLang="zh-CN" i="1" dirty="0">
                <a:solidFill>
                  <a:srgbClr val="3333FF"/>
                </a:solidFill>
                <a:ea typeface="黑体" panose="02010609060101010101" pitchFamily="49" charset="-122"/>
              </a:rPr>
              <a:t>R</a:t>
            </a:r>
            <a:r>
              <a:rPr lang="en-US" altLang="zh-CN" dirty="0">
                <a:solidFill>
                  <a:srgbClr val="3333FF"/>
                </a:solidFill>
                <a:ea typeface="黑体" panose="02010609060101010101" pitchFamily="49" charset="-122"/>
              </a:rPr>
              <a:t>={</a:t>
            </a:r>
            <a:r>
              <a:rPr lang="en-US" altLang="zh-CN" i="1" dirty="0">
                <a:solidFill>
                  <a:srgbClr val="3333FF"/>
                </a:solidFill>
                <a:ea typeface="黑体" panose="02010609060101010101" pitchFamily="49" charset="-122"/>
              </a:rPr>
              <a:t>x</a:t>
            </a:r>
            <a:r>
              <a:rPr lang="en-US" altLang="zh-CN" dirty="0">
                <a:solidFill>
                  <a:srgbClr val="3333FF"/>
                </a:solidFill>
                <a:ea typeface="黑体" panose="02010609060101010101" pitchFamily="49" charset="-122"/>
              </a:rPr>
              <a:t>| -</a:t>
            </a:r>
            <a:r>
              <a:rPr lang="en-US" altLang="zh-CN" dirty="0">
                <a:solidFill>
                  <a:srgbClr val="3333FF"/>
                </a:solidFill>
                <a:ea typeface="黑体" panose="02010609060101010101" pitchFamily="49" charset="-122"/>
                <a:sym typeface="Symbol"/>
              </a:rPr>
              <a:t> </a:t>
            </a:r>
            <a:r>
              <a:rPr lang="en-US" altLang="zh-CN" dirty="0">
                <a:solidFill>
                  <a:srgbClr val="3333FF"/>
                </a:solidFill>
                <a:ea typeface="黑体" panose="02010609060101010101" pitchFamily="49" charset="-122"/>
              </a:rPr>
              <a:t>&lt; </a:t>
            </a:r>
            <a:r>
              <a:rPr lang="en-US" altLang="zh-CN" i="1" dirty="0">
                <a:solidFill>
                  <a:srgbClr val="3333FF"/>
                </a:solidFill>
                <a:ea typeface="黑体" panose="02010609060101010101" pitchFamily="49" charset="-122"/>
              </a:rPr>
              <a:t>x</a:t>
            </a:r>
            <a:r>
              <a:rPr lang="en-US" altLang="zh-CN" dirty="0">
                <a:solidFill>
                  <a:srgbClr val="3333FF"/>
                </a:solidFill>
                <a:ea typeface="黑体" panose="02010609060101010101" pitchFamily="49" charset="-122"/>
              </a:rPr>
              <a:t> &lt; +</a:t>
            </a:r>
            <a:r>
              <a:rPr lang="en-US" altLang="zh-CN" dirty="0">
                <a:solidFill>
                  <a:srgbClr val="3333FF"/>
                </a:solidFill>
                <a:ea typeface="黑体" panose="02010609060101010101" pitchFamily="49" charset="-122"/>
                <a:sym typeface="Symbol"/>
              </a:rPr>
              <a:t> </a:t>
            </a:r>
            <a:r>
              <a:rPr lang="en-US" altLang="zh-CN" dirty="0">
                <a:solidFill>
                  <a:srgbClr val="3333FF"/>
                </a:solidFill>
                <a:ea typeface="黑体" panose="02010609060101010101" pitchFamily="49" charset="-122"/>
                <a:sym typeface="Symbol" pitchFamily="18" charset="2"/>
              </a:rPr>
              <a:t>}</a:t>
            </a:r>
          </a:p>
          <a:p>
            <a:pPr lvl="1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Char char="p"/>
            </a:pPr>
            <a:r>
              <a:rPr lang="zh-CN" altLang="en-US" b="1" dirty="0">
                <a:ea typeface="黑体" panose="02010609060101010101" pitchFamily="49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ea typeface="黑体" panose="02010609060101010101" pitchFamily="49" charset="-122"/>
                <a:sym typeface="Symbol" pitchFamily="18" charset="2"/>
              </a:rPr>
              <a:t>R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sym typeface="Symbol" pitchFamily="18" charset="2"/>
              </a:rPr>
              <a:t>  </a:t>
            </a:r>
            <a:r>
              <a:rPr lang="en-US" altLang="zh-CN" b="1" i="1" dirty="0">
                <a:solidFill>
                  <a:srgbClr val="FF0000"/>
                </a:solidFill>
                <a:ea typeface="黑体" panose="02010609060101010101" pitchFamily="49" charset="-122"/>
                <a:sym typeface="Symbol" pitchFamily="18" charset="2"/>
              </a:rPr>
              <a:t>R </a:t>
            </a:r>
            <a:r>
              <a:rPr lang="en-US" altLang="zh-CN" b="1" dirty="0">
                <a:ea typeface="黑体" panose="02010609060101010101" pitchFamily="49" charset="-122"/>
                <a:sym typeface="Symbol" pitchFamily="18" charset="2"/>
              </a:rPr>
              <a:t>= {&lt;</a:t>
            </a:r>
            <a:r>
              <a:rPr lang="en-US" altLang="zh-CN" b="1" i="1" dirty="0">
                <a:ea typeface="黑体" panose="02010609060101010101" pitchFamily="49" charset="-122"/>
              </a:rPr>
              <a:t>x</a:t>
            </a:r>
            <a:r>
              <a:rPr lang="en-US" altLang="zh-CN" b="1" dirty="0">
                <a:ea typeface="黑体" panose="02010609060101010101" pitchFamily="49" charset="-122"/>
                <a:sym typeface="Symbol" pitchFamily="18" charset="2"/>
              </a:rPr>
              <a:t>, </a:t>
            </a:r>
            <a:r>
              <a:rPr lang="en-US" altLang="zh-CN" b="1" i="1" dirty="0">
                <a:ea typeface="黑体" panose="02010609060101010101" pitchFamily="49" charset="-122"/>
                <a:sym typeface="Symbol" pitchFamily="18" charset="2"/>
              </a:rPr>
              <a:t>y</a:t>
            </a:r>
            <a:r>
              <a:rPr lang="en-US" altLang="zh-CN" b="1" dirty="0">
                <a:ea typeface="黑体" panose="02010609060101010101" pitchFamily="49" charset="-122"/>
                <a:sym typeface="Symbol" pitchFamily="18" charset="2"/>
              </a:rPr>
              <a:t>&gt;| </a:t>
            </a:r>
            <a:r>
              <a:rPr lang="en-US" altLang="zh-CN" b="1" dirty="0">
                <a:ea typeface="黑体" panose="02010609060101010101" pitchFamily="49" charset="-122"/>
              </a:rPr>
              <a:t>-</a:t>
            </a:r>
            <a:r>
              <a:rPr lang="en-US" altLang="zh-CN" b="1" dirty="0">
                <a:ea typeface="黑体" panose="02010609060101010101" pitchFamily="49" charset="-122"/>
                <a:sym typeface="Symbol"/>
              </a:rPr>
              <a:t> </a:t>
            </a:r>
            <a:r>
              <a:rPr lang="en-US" altLang="zh-CN" b="1" dirty="0">
                <a:ea typeface="黑体" panose="02010609060101010101" pitchFamily="49" charset="-122"/>
              </a:rPr>
              <a:t>&lt; </a:t>
            </a:r>
            <a:r>
              <a:rPr lang="en-US" altLang="zh-CN" b="1" i="1" dirty="0">
                <a:ea typeface="黑体" panose="02010609060101010101" pitchFamily="49" charset="-122"/>
              </a:rPr>
              <a:t>x</a:t>
            </a:r>
            <a:r>
              <a:rPr lang="en-US" altLang="zh-CN" b="1" dirty="0">
                <a:ea typeface="黑体" panose="02010609060101010101" pitchFamily="49" charset="-122"/>
              </a:rPr>
              <a:t> &lt; +</a:t>
            </a:r>
            <a:r>
              <a:rPr lang="en-US" altLang="zh-CN" b="1" dirty="0">
                <a:ea typeface="黑体" panose="02010609060101010101" pitchFamily="49" charset="-122"/>
                <a:sym typeface="Symbol"/>
              </a:rPr>
              <a:t></a:t>
            </a:r>
            <a:r>
              <a:rPr lang="en-US" altLang="zh-CN" b="1" dirty="0">
                <a:ea typeface="黑体" panose="02010609060101010101" pitchFamily="49" charset="-122"/>
                <a:sym typeface="Symbol" pitchFamily="18" charset="2"/>
              </a:rPr>
              <a:t>, </a:t>
            </a:r>
            <a:r>
              <a:rPr lang="en-US" altLang="zh-CN" b="1" dirty="0">
                <a:ea typeface="黑体" panose="02010609060101010101" pitchFamily="49" charset="-122"/>
              </a:rPr>
              <a:t>-</a:t>
            </a:r>
            <a:r>
              <a:rPr lang="en-US" altLang="zh-CN" b="1" dirty="0">
                <a:ea typeface="黑体" panose="02010609060101010101" pitchFamily="49" charset="-122"/>
                <a:sym typeface="Symbol"/>
              </a:rPr>
              <a:t> </a:t>
            </a:r>
            <a:r>
              <a:rPr lang="en-US" altLang="zh-CN" b="1" dirty="0">
                <a:ea typeface="黑体" panose="02010609060101010101" pitchFamily="49" charset="-122"/>
              </a:rPr>
              <a:t>&lt; </a:t>
            </a:r>
            <a:r>
              <a:rPr lang="en-US" altLang="zh-CN" b="1" i="1" dirty="0">
                <a:ea typeface="黑体" panose="02010609060101010101" pitchFamily="49" charset="-122"/>
              </a:rPr>
              <a:t>y </a:t>
            </a:r>
            <a:r>
              <a:rPr lang="en-US" altLang="zh-CN" b="1" dirty="0">
                <a:ea typeface="黑体" panose="02010609060101010101" pitchFamily="49" charset="-122"/>
              </a:rPr>
              <a:t>&lt; +</a:t>
            </a:r>
            <a:r>
              <a:rPr lang="en-US" altLang="zh-CN" b="1" dirty="0">
                <a:ea typeface="黑体" panose="02010609060101010101" pitchFamily="49" charset="-122"/>
                <a:sym typeface="Symbol"/>
              </a:rPr>
              <a:t></a:t>
            </a:r>
            <a:r>
              <a:rPr lang="en-US" altLang="zh-CN" b="1" dirty="0">
                <a:ea typeface="黑体" panose="02010609060101010101" pitchFamily="49" charset="-122"/>
                <a:sym typeface="Symbol" pitchFamily="18" charset="2"/>
              </a:rPr>
              <a:t>}</a:t>
            </a:r>
          </a:p>
          <a:p>
            <a:pPr lvl="1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Char char="p"/>
            </a:pPr>
            <a:r>
              <a:rPr lang="zh-CN" altLang="en-US" b="1" dirty="0">
                <a:ea typeface="黑体" panose="02010609060101010101" pitchFamily="49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ea typeface="黑体" panose="02010609060101010101" pitchFamily="49" charset="-122"/>
                <a:sym typeface="Symbol" pitchFamily="18" charset="2"/>
              </a:rPr>
              <a:t>R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sym typeface="Symbol" pitchFamily="18" charset="2"/>
              </a:rPr>
              <a:t>  </a:t>
            </a:r>
            <a:r>
              <a:rPr lang="en-US" altLang="zh-CN" b="1" i="1" dirty="0">
                <a:solidFill>
                  <a:srgbClr val="FF0000"/>
                </a:solidFill>
                <a:ea typeface="黑体" panose="02010609060101010101" pitchFamily="49" charset="-122"/>
                <a:sym typeface="Symbol" pitchFamily="18" charset="2"/>
              </a:rPr>
              <a:t>R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sym typeface="Symbol" pitchFamily="18" charset="2"/>
              </a:rPr>
              <a:t>  </a:t>
            </a:r>
            <a:r>
              <a:rPr lang="en-US" altLang="zh-CN" b="1" i="1" dirty="0">
                <a:solidFill>
                  <a:srgbClr val="FF0000"/>
                </a:solidFill>
                <a:ea typeface="黑体" panose="02010609060101010101" pitchFamily="49" charset="-122"/>
                <a:sym typeface="Symbol" pitchFamily="18" charset="2"/>
              </a:rPr>
              <a:t>R </a:t>
            </a:r>
            <a:r>
              <a:rPr lang="en-US" altLang="zh-CN" b="1" dirty="0">
                <a:ea typeface="黑体" panose="02010609060101010101" pitchFamily="49" charset="-122"/>
                <a:sym typeface="Symbol" pitchFamily="18" charset="2"/>
              </a:rPr>
              <a:t>={&lt;</a:t>
            </a:r>
            <a:r>
              <a:rPr lang="en-US" altLang="zh-CN" b="1" i="1" dirty="0">
                <a:ea typeface="黑体" panose="02010609060101010101" pitchFamily="49" charset="-122"/>
              </a:rPr>
              <a:t>x</a:t>
            </a:r>
            <a:r>
              <a:rPr lang="en-US" altLang="zh-CN" b="1" dirty="0">
                <a:ea typeface="黑体" panose="02010609060101010101" pitchFamily="49" charset="-122"/>
                <a:sym typeface="Symbol" pitchFamily="18" charset="2"/>
              </a:rPr>
              <a:t>, </a:t>
            </a:r>
            <a:r>
              <a:rPr lang="en-US" altLang="zh-CN" b="1" i="1" dirty="0">
                <a:ea typeface="黑体" panose="02010609060101010101" pitchFamily="49" charset="-122"/>
                <a:sym typeface="Symbol" pitchFamily="18" charset="2"/>
              </a:rPr>
              <a:t>y</a:t>
            </a:r>
            <a:r>
              <a:rPr lang="en-US" altLang="zh-CN" b="1" dirty="0">
                <a:ea typeface="黑体" panose="02010609060101010101" pitchFamily="49" charset="-122"/>
                <a:sym typeface="Symbol" pitchFamily="18" charset="2"/>
              </a:rPr>
              <a:t>, </a:t>
            </a:r>
            <a:r>
              <a:rPr lang="en-US" altLang="zh-CN" b="1" i="1" dirty="0">
                <a:ea typeface="黑体" panose="02010609060101010101" pitchFamily="49" charset="-122"/>
                <a:sym typeface="Symbol" pitchFamily="18" charset="2"/>
              </a:rPr>
              <a:t>z</a:t>
            </a:r>
            <a:r>
              <a:rPr lang="en-US" altLang="zh-CN" b="1" dirty="0">
                <a:ea typeface="黑体" panose="02010609060101010101" pitchFamily="49" charset="-122"/>
                <a:sym typeface="Symbol" pitchFamily="18" charset="2"/>
              </a:rPr>
              <a:t>&gt;| </a:t>
            </a:r>
            <a:r>
              <a:rPr lang="en-US" altLang="zh-CN" b="1" dirty="0">
                <a:ea typeface="黑体" panose="02010609060101010101" pitchFamily="49" charset="-122"/>
              </a:rPr>
              <a:t>-</a:t>
            </a:r>
            <a:r>
              <a:rPr lang="en-US" altLang="zh-CN" b="1" dirty="0">
                <a:ea typeface="黑体" panose="02010609060101010101" pitchFamily="49" charset="-122"/>
                <a:sym typeface="Symbol"/>
              </a:rPr>
              <a:t></a:t>
            </a:r>
            <a:r>
              <a:rPr lang="en-US" altLang="zh-CN" b="1" dirty="0">
                <a:ea typeface="黑体" panose="02010609060101010101" pitchFamily="49" charset="-122"/>
              </a:rPr>
              <a:t>&lt; </a:t>
            </a:r>
            <a:r>
              <a:rPr lang="en-US" altLang="zh-CN" b="1" i="1" dirty="0">
                <a:ea typeface="黑体" panose="02010609060101010101" pitchFamily="49" charset="-122"/>
              </a:rPr>
              <a:t>x</a:t>
            </a:r>
            <a:r>
              <a:rPr lang="en-US" altLang="zh-CN" b="1" dirty="0">
                <a:ea typeface="黑体" panose="02010609060101010101" pitchFamily="49" charset="-122"/>
              </a:rPr>
              <a:t> &lt;+</a:t>
            </a:r>
            <a:r>
              <a:rPr lang="en-US" altLang="zh-CN" b="1" dirty="0">
                <a:ea typeface="黑体" panose="02010609060101010101" pitchFamily="49" charset="-122"/>
                <a:sym typeface="Symbol"/>
              </a:rPr>
              <a:t></a:t>
            </a:r>
            <a:r>
              <a:rPr lang="en-US" altLang="zh-CN" b="1" dirty="0">
                <a:ea typeface="黑体" panose="02010609060101010101" pitchFamily="49" charset="-122"/>
                <a:sym typeface="Symbol" pitchFamily="18" charset="2"/>
              </a:rPr>
              <a:t>, </a:t>
            </a:r>
            <a:r>
              <a:rPr lang="en-US" altLang="zh-CN" b="1" dirty="0">
                <a:ea typeface="黑体" panose="02010609060101010101" pitchFamily="49" charset="-122"/>
              </a:rPr>
              <a:t>-</a:t>
            </a:r>
            <a:r>
              <a:rPr lang="en-US" altLang="zh-CN" b="1" dirty="0">
                <a:ea typeface="黑体" panose="02010609060101010101" pitchFamily="49" charset="-122"/>
                <a:sym typeface="Symbol"/>
              </a:rPr>
              <a:t> </a:t>
            </a:r>
            <a:r>
              <a:rPr lang="en-US" altLang="zh-CN" b="1" dirty="0">
                <a:ea typeface="黑体" panose="02010609060101010101" pitchFamily="49" charset="-122"/>
              </a:rPr>
              <a:t>&lt; </a:t>
            </a:r>
            <a:r>
              <a:rPr lang="en-US" altLang="zh-CN" b="1" i="1" dirty="0">
                <a:ea typeface="黑体" panose="02010609060101010101" pitchFamily="49" charset="-122"/>
              </a:rPr>
              <a:t>y </a:t>
            </a:r>
            <a:r>
              <a:rPr lang="en-US" altLang="zh-CN" b="1" dirty="0">
                <a:ea typeface="黑体" panose="02010609060101010101" pitchFamily="49" charset="-122"/>
              </a:rPr>
              <a:t>&lt;+</a:t>
            </a:r>
            <a:r>
              <a:rPr lang="en-US" altLang="zh-CN" b="1" dirty="0">
                <a:ea typeface="黑体" panose="02010609060101010101" pitchFamily="49" charset="-122"/>
                <a:sym typeface="Symbol"/>
              </a:rPr>
              <a:t></a:t>
            </a:r>
            <a:r>
              <a:rPr lang="en-US" altLang="zh-CN" b="1" dirty="0">
                <a:ea typeface="黑体" panose="02010609060101010101" pitchFamily="49" charset="-122"/>
                <a:sym typeface="Symbol" pitchFamily="18" charset="2"/>
              </a:rPr>
              <a:t> , </a:t>
            </a:r>
            <a:r>
              <a:rPr lang="en-US" altLang="zh-CN" b="1" dirty="0">
                <a:ea typeface="黑体" panose="02010609060101010101" pitchFamily="49" charset="-122"/>
              </a:rPr>
              <a:t>-</a:t>
            </a:r>
            <a:r>
              <a:rPr lang="en-US" altLang="zh-CN" b="1" dirty="0">
                <a:ea typeface="黑体" panose="02010609060101010101" pitchFamily="49" charset="-122"/>
                <a:sym typeface="Symbol"/>
              </a:rPr>
              <a:t></a:t>
            </a:r>
            <a:r>
              <a:rPr lang="en-US" altLang="zh-CN" b="1" dirty="0">
                <a:ea typeface="黑体" panose="02010609060101010101" pitchFamily="49" charset="-122"/>
              </a:rPr>
              <a:t>&lt; </a:t>
            </a:r>
            <a:r>
              <a:rPr lang="en-US" altLang="zh-CN" b="1" i="1" dirty="0">
                <a:ea typeface="黑体" panose="02010609060101010101" pitchFamily="49" charset="-122"/>
              </a:rPr>
              <a:t>z </a:t>
            </a:r>
            <a:r>
              <a:rPr lang="en-US" altLang="zh-CN" b="1" dirty="0">
                <a:ea typeface="黑体" panose="02010609060101010101" pitchFamily="49" charset="-122"/>
              </a:rPr>
              <a:t>&lt;+</a:t>
            </a:r>
            <a:r>
              <a:rPr lang="en-US" altLang="zh-CN" b="1" dirty="0">
                <a:ea typeface="黑体" panose="02010609060101010101" pitchFamily="49" charset="-122"/>
                <a:sym typeface="Symbol"/>
              </a:rPr>
              <a:t></a:t>
            </a:r>
            <a:r>
              <a:rPr lang="en-US" altLang="zh-CN" b="1" dirty="0">
                <a:ea typeface="黑体" panose="02010609060101010101" pitchFamily="49" charset="-122"/>
                <a:sym typeface="Symbol" pitchFamily="18" charset="2"/>
              </a:rPr>
              <a:t>}</a:t>
            </a:r>
            <a:endParaRPr lang="en-US" altLang="zh-CN" b="1" dirty="0">
              <a:ea typeface="黑体" panose="02010609060101010101" pitchFamily="49" charset="-122"/>
            </a:endParaRPr>
          </a:p>
        </p:txBody>
      </p:sp>
      <p:sp>
        <p:nvSpPr>
          <p:cNvPr id="338948" name="AutoShape 4"/>
          <p:cNvSpPr>
            <a:spLocks noChangeArrowheads="1"/>
          </p:cNvSpPr>
          <p:nvPr/>
        </p:nvSpPr>
        <p:spPr bwMode="auto">
          <a:xfrm>
            <a:off x="7824193" y="1269132"/>
            <a:ext cx="2592387" cy="647700"/>
          </a:xfrm>
          <a:prstGeom prst="wedgeRoundRectCallout">
            <a:avLst>
              <a:gd name="adj1" fmla="val -46634"/>
              <a:gd name="adj2" fmla="val -32106"/>
              <a:gd name="adj3" fmla="val 16667"/>
            </a:avLst>
          </a:prstGeom>
          <a:solidFill>
            <a:srgbClr val="FAAE4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Symbol" pitchFamily="18" charset="2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Symbol" pitchFamily="18" charset="2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Symbol" pitchFamily="18" charset="2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Symbol" pitchFamily="18" charset="2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Symbol" pitchFamily="18" charset="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ymbol" pitchFamily="18" charset="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ymbol" pitchFamily="18" charset="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ymbol" pitchFamily="18" charset="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ymbol" pitchFamily="18" charset="2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2800" b="1" i="1" dirty="0">
                <a:latin typeface="Arial" charset="0"/>
                <a:sym typeface="Symbol" pitchFamily="18" charset="2"/>
              </a:rPr>
              <a:t>A</a:t>
            </a:r>
            <a:r>
              <a:rPr kumimoji="1" lang="en-US" altLang="zh-CN" sz="2800" b="1" dirty="0">
                <a:latin typeface="Arial" charset="0"/>
                <a:sym typeface="Symbol" pitchFamily="18" charset="2"/>
              </a:rPr>
              <a:t>  </a:t>
            </a:r>
            <a:r>
              <a:rPr kumimoji="1" lang="en-US" altLang="zh-CN" sz="2800" b="1" i="1" dirty="0">
                <a:latin typeface="Arial" charset="0"/>
                <a:sym typeface="Symbol" pitchFamily="18" charset="2"/>
              </a:rPr>
              <a:t>B</a:t>
            </a:r>
            <a:r>
              <a:rPr kumimoji="1" lang="en-US" altLang="zh-CN" sz="2800" b="1" dirty="0">
                <a:latin typeface="Arial" charset="0"/>
                <a:sym typeface="Symbol" pitchFamily="18" charset="2"/>
              </a:rPr>
              <a:t>  </a:t>
            </a:r>
            <a:r>
              <a:rPr kumimoji="1" lang="en-US" altLang="zh-CN" sz="2800" b="1" i="1" dirty="0">
                <a:latin typeface="Arial" charset="0"/>
                <a:sym typeface="Symbol" pitchFamily="18" charset="2"/>
              </a:rPr>
              <a:t>B</a:t>
            </a:r>
            <a:r>
              <a:rPr kumimoji="1" lang="en-US" altLang="zh-CN" sz="2800" b="1" dirty="0">
                <a:latin typeface="Arial" charset="0"/>
                <a:sym typeface="Symbol" pitchFamily="18" charset="2"/>
              </a:rPr>
              <a:t>  </a:t>
            </a:r>
            <a:r>
              <a:rPr kumimoji="1" lang="en-US" altLang="zh-CN" sz="2800" b="1" i="1" dirty="0">
                <a:latin typeface="Arial" charset="0"/>
                <a:sym typeface="Symbol" pitchFamily="18" charset="2"/>
              </a:rPr>
              <a:t>A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235EF01-25C6-17E8-2621-7762C82CDE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11BC8A-30EB-1FD9-C8FC-14367D76D114}"/>
              </a:ext>
            </a:extLst>
          </p:cNvPr>
          <p:cNvSpPr txBox="1"/>
          <p:nvPr/>
        </p:nvSpPr>
        <p:spPr>
          <a:xfrm>
            <a:off x="983432" y="3501008"/>
            <a:ext cx="88184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 b="1" i="1" dirty="0">
                <a:solidFill>
                  <a:srgbClr val="FF0000"/>
                </a:solidFill>
              </a:rPr>
              <a:t>A</a:t>
            </a:r>
            <a:r>
              <a:rPr lang="en-US" altLang="zh-CN" sz="2800" b="1" baseline="30000" dirty="0">
                <a:solidFill>
                  <a:srgbClr val="FF0000"/>
                </a:solidFill>
              </a:rPr>
              <a:t>2 </a:t>
            </a:r>
            <a:r>
              <a:rPr lang="en-US" altLang="zh-CN" sz="2800" b="1" dirty="0">
                <a:solidFill>
                  <a:srgbClr val="FF0000"/>
                </a:solidFill>
              </a:rPr>
              <a:t>=</a:t>
            </a:r>
            <a:endParaRPr lang="zh-CN" altLang="en-US" sz="2800" baseline="30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9C326C-6C22-C7E5-AD6A-5283C1337948}"/>
              </a:ext>
            </a:extLst>
          </p:cNvPr>
          <p:cNvSpPr txBox="1"/>
          <p:nvPr/>
        </p:nvSpPr>
        <p:spPr>
          <a:xfrm>
            <a:off x="839416" y="5138028"/>
            <a:ext cx="97159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 b="1" i="1" dirty="0">
                <a:solidFill>
                  <a:srgbClr val="FF0000"/>
                </a:solidFill>
              </a:rPr>
              <a:t>R</a:t>
            </a:r>
            <a:r>
              <a:rPr lang="en-US" altLang="zh-CN" sz="2800" b="1" baseline="30000" dirty="0">
                <a:solidFill>
                  <a:srgbClr val="FF0000"/>
                </a:solidFill>
              </a:rPr>
              <a:t>2 </a:t>
            </a:r>
            <a:r>
              <a:rPr lang="en-US" altLang="zh-CN" sz="2800" b="1" dirty="0">
                <a:solidFill>
                  <a:srgbClr val="FF0000"/>
                </a:solidFill>
              </a:rPr>
              <a:t>=</a:t>
            </a:r>
            <a:endParaRPr lang="zh-CN" altLang="en-US" sz="2800" baseline="30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0F788E-97B3-FBC3-40EA-3EA7397D38A3}"/>
              </a:ext>
            </a:extLst>
          </p:cNvPr>
          <p:cNvSpPr txBox="1"/>
          <p:nvPr/>
        </p:nvSpPr>
        <p:spPr>
          <a:xfrm>
            <a:off x="839416" y="5930116"/>
            <a:ext cx="971593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 b="1" i="1" dirty="0">
                <a:solidFill>
                  <a:srgbClr val="FF0000"/>
                </a:solidFill>
              </a:rPr>
              <a:t>R</a:t>
            </a:r>
            <a:r>
              <a:rPr lang="en-US" altLang="zh-CN" sz="2800" b="1" baseline="30000" dirty="0">
                <a:solidFill>
                  <a:srgbClr val="FF0000"/>
                </a:solidFill>
              </a:rPr>
              <a:t>3 </a:t>
            </a:r>
            <a:r>
              <a:rPr lang="en-US" altLang="zh-CN" sz="2800" b="1" dirty="0">
                <a:solidFill>
                  <a:srgbClr val="FF0000"/>
                </a:solidFill>
              </a:rPr>
              <a:t>=</a:t>
            </a:r>
            <a:endParaRPr lang="zh-CN" altLang="en-US" sz="2800" baseline="30000" dirty="0"/>
          </a:p>
        </p:txBody>
      </p:sp>
    </p:spTree>
    <p:extLst>
      <p:ext uri="{BB962C8B-B14F-4D97-AF65-F5344CB8AC3E}">
        <p14:creationId xmlns:p14="http://schemas.microsoft.com/office/powerpoint/2010/main" val="27501477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8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8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8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8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8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47" grpId="0" build="p"/>
      <p:bldP spid="338948" grpId="0" animBg="1"/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950366" y="461818"/>
            <a:ext cx="6172200" cy="85725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普通二元关系</a:t>
            </a:r>
            <a:endParaRPr lang="zh-CN" altLang="en-US" dirty="0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319068"/>
            <a:ext cx="9865096" cy="538653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FF3300"/>
                </a:solidFill>
              </a:rPr>
              <a:t>定义</a:t>
            </a:r>
            <a:r>
              <a:rPr lang="zh-CN" altLang="en-US" sz="2800" b="1" dirty="0">
                <a:solidFill>
                  <a:srgbClr val="FF3300"/>
                </a:solidFill>
              </a:rPr>
              <a:t> </a:t>
            </a:r>
          </a:p>
          <a:p>
            <a:pPr lvl="1" eaLnBrk="1" hangingPunct="1">
              <a:defRPr/>
            </a:pPr>
            <a:r>
              <a:rPr lang="zh-CN" altLang="en-US" b="1" dirty="0"/>
              <a:t>设</a:t>
            </a:r>
            <a:r>
              <a:rPr lang="en-US" altLang="zh-CN" b="1" i="1" dirty="0"/>
              <a:t>A</a:t>
            </a:r>
            <a:r>
              <a:rPr lang="en-US" altLang="zh-CN" b="1" dirty="0"/>
              <a:t>,</a:t>
            </a:r>
            <a:r>
              <a:rPr lang="en-US" altLang="zh-CN" b="1" i="1" dirty="0"/>
              <a:t>B</a:t>
            </a:r>
            <a:r>
              <a:rPr lang="zh-CN" altLang="en-US" b="1" dirty="0"/>
              <a:t>为集合</a:t>
            </a:r>
            <a:r>
              <a:rPr lang="en-US" altLang="zh-CN" b="1" dirty="0"/>
              <a:t>,  </a:t>
            </a:r>
            <a:r>
              <a:rPr lang="en-US" altLang="zh-CN" b="1" i="1" u="sng" dirty="0">
                <a:solidFill>
                  <a:srgbClr val="CC00CC"/>
                </a:solidFill>
              </a:rPr>
              <a:t>A</a:t>
            </a:r>
            <a:r>
              <a:rPr lang="en-US" altLang="zh-CN" b="1" u="sng" dirty="0">
                <a:solidFill>
                  <a:srgbClr val="CC00CC"/>
                </a:solidFill>
                <a:sym typeface="Symbol"/>
              </a:rPr>
              <a:t></a:t>
            </a:r>
            <a:r>
              <a:rPr lang="en-US" altLang="zh-CN" b="1" i="1" u="sng" dirty="0">
                <a:solidFill>
                  <a:srgbClr val="CC00CC"/>
                </a:solidFill>
              </a:rPr>
              <a:t>B</a:t>
            </a:r>
            <a:r>
              <a:rPr lang="zh-CN" altLang="en-US" b="1" u="sng" dirty="0">
                <a:solidFill>
                  <a:srgbClr val="CC00CC"/>
                </a:solidFill>
              </a:rPr>
              <a:t>的任何子集</a:t>
            </a:r>
            <a:r>
              <a:rPr lang="zh-CN" altLang="en-US" b="1" dirty="0"/>
              <a:t>所定义的二元关系叫做</a:t>
            </a:r>
            <a:r>
              <a:rPr lang="zh-CN" altLang="en-US" b="1" dirty="0">
                <a:solidFill>
                  <a:srgbClr val="FF3300"/>
                </a:solidFill>
              </a:rPr>
              <a:t>从</a:t>
            </a:r>
            <a:r>
              <a:rPr lang="en-US" altLang="zh-CN" b="1" i="1" dirty="0">
                <a:solidFill>
                  <a:srgbClr val="FF3300"/>
                </a:solidFill>
              </a:rPr>
              <a:t>A</a:t>
            </a:r>
            <a:r>
              <a:rPr lang="zh-CN" altLang="en-US" b="1" dirty="0">
                <a:solidFill>
                  <a:srgbClr val="FF3300"/>
                </a:solidFill>
              </a:rPr>
              <a:t>到</a:t>
            </a:r>
            <a:r>
              <a:rPr lang="en-US" altLang="zh-CN" b="1" i="1" dirty="0">
                <a:solidFill>
                  <a:srgbClr val="FF3300"/>
                </a:solidFill>
              </a:rPr>
              <a:t>B</a:t>
            </a:r>
            <a:r>
              <a:rPr lang="zh-CN" altLang="en-US" b="1" dirty="0">
                <a:solidFill>
                  <a:srgbClr val="FF3300"/>
                </a:solidFill>
              </a:rPr>
              <a:t>的二元关系</a:t>
            </a:r>
            <a:r>
              <a:rPr lang="en-US" altLang="zh-CN" b="1" dirty="0"/>
              <a:t>, </a:t>
            </a:r>
            <a:r>
              <a:rPr lang="zh-CN" altLang="en-US" b="1" dirty="0"/>
              <a:t>若</a:t>
            </a:r>
            <a:r>
              <a:rPr lang="en-US" altLang="zh-CN" b="1" i="1" dirty="0"/>
              <a:t>A</a:t>
            </a:r>
            <a:r>
              <a:rPr lang="en-US" altLang="zh-CN" b="1" dirty="0"/>
              <a:t>=</a:t>
            </a:r>
            <a:r>
              <a:rPr lang="en-US" altLang="zh-CN" b="1" i="1" dirty="0"/>
              <a:t>B</a:t>
            </a:r>
            <a:r>
              <a:rPr lang="zh-CN" altLang="en-US" b="1" dirty="0"/>
              <a:t>时则叫 </a:t>
            </a:r>
            <a:r>
              <a:rPr lang="en-US" altLang="zh-CN" b="1" i="1" dirty="0">
                <a:solidFill>
                  <a:srgbClr val="FF3300"/>
                </a:solidFill>
              </a:rPr>
              <a:t>A</a:t>
            </a:r>
            <a:r>
              <a:rPr lang="zh-CN" altLang="en-US" b="1" dirty="0">
                <a:solidFill>
                  <a:srgbClr val="FF3300"/>
                </a:solidFill>
              </a:rPr>
              <a:t>上的二元关系</a:t>
            </a:r>
            <a:r>
              <a:rPr lang="en-US" altLang="zh-CN" b="1" dirty="0"/>
              <a:t>.</a:t>
            </a:r>
          </a:p>
          <a:p>
            <a:pPr eaLnBrk="1" hangingPunct="1">
              <a:defRPr/>
            </a:pPr>
            <a:r>
              <a:rPr lang="zh-CN" altLang="en-US" b="1" dirty="0">
                <a:solidFill>
                  <a:srgbClr val="3333FF"/>
                </a:solidFill>
              </a:rPr>
              <a:t>例：</a:t>
            </a:r>
            <a:r>
              <a:rPr lang="en-US" altLang="zh-CN" b="1" i="1" dirty="0">
                <a:solidFill>
                  <a:srgbClr val="3333FF"/>
                </a:solidFill>
              </a:rPr>
              <a:t>A</a:t>
            </a:r>
            <a:r>
              <a:rPr lang="en-US" altLang="zh-CN" b="1" dirty="0">
                <a:solidFill>
                  <a:srgbClr val="3333FF"/>
                </a:solidFill>
              </a:rPr>
              <a:t>={0,1}, </a:t>
            </a:r>
            <a:r>
              <a:rPr lang="en-US" altLang="zh-CN" b="1" i="1" dirty="0">
                <a:solidFill>
                  <a:srgbClr val="3333FF"/>
                </a:solidFill>
              </a:rPr>
              <a:t>B</a:t>
            </a:r>
            <a:r>
              <a:rPr lang="en-US" altLang="zh-CN" b="1" dirty="0">
                <a:solidFill>
                  <a:srgbClr val="3333FF"/>
                </a:solidFill>
              </a:rPr>
              <a:t>={1,2,3}, </a:t>
            </a:r>
          </a:p>
          <a:p>
            <a:pPr marL="342900" lvl="1" indent="0" eaLnBrk="1" hangingPunct="1">
              <a:buNone/>
              <a:defRPr/>
            </a:pPr>
            <a:r>
              <a:rPr lang="en-US" altLang="zh-CN" dirty="0"/>
              <a:t>     </a:t>
            </a:r>
            <a:r>
              <a:rPr lang="en-US" altLang="zh-CN" i="1" dirty="0">
                <a:solidFill>
                  <a:srgbClr val="3333FF"/>
                </a:solidFill>
              </a:rPr>
              <a:t>R</a:t>
            </a:r>
            <a:r>
              <a:rPr lang="en-US" altLang="zh-CN" baseline="-25000" dirty="0">
                <a:solidFill>
                  <a:srgbClr val="3333FF"/>
                </a:solidFill>
              </a:rPr>
              <a:t>1</a:t>
            </a:r>
            <a:r>
              <a:rPr lang="en-US" altLang="zh-CN" dirty="0">
                <a:solidFill>
                  <a:srgbClr val="3333FF"/>
                </a:solidFill>
              </a:rPr>
              <a:t>={&lt;0,2&gt;},  </a:t>
            </a:r>
            <a:r>
              <a:rPr lang="en-US" altLang="zh-CN" i="1" dirty="0">
                <a:solidFill>
                  <a:srgbClr val="3333FF"/>
                </a:solidFill>
              </a:rPr>
              <a:t>R</a:t>
            </a:r>
            <a:r>
              <a:rPr lang="en-US" altLang="zh-CN" baseline="-25000" dirty="0">
                <a:solidFill>
                  <a:srgbClr val="3333FF"/>
                </a:solidFill>
              </a:rPr>
              <a:t>2</a:t>
            </a:r>
            <a:r>
              <a:rPr lang="en-US" altLang="zh-CN" dirty="0">
                <a:solidFill>
                  <a:srgbClr val="3333FF"/>
                </a:solidFill>
              </a:rPr>
              <a:t>=</a:t>
            </a:r>
            <a:r>
              <a:rPr lang="en-US" altLang="zh-CN" i="1" dirty="0">
                <a:solidFill>
                  <a:srgbClr val="3333FF"/>
                </a:solidFill>
              </a:rPr>
              <a:t>A</a:t>
            </a:r>
            <a:r>
              <a:rPr lang="en-US" altLang="zh-CN" dirty="0">
                <a:solidFill>
                  <a:srgbClr val="3333FF"/>
                </a:solidFill>
                <a:sym typeface="Symbol"/>
              </a:rPr>
              <a:t></a:t>
            </a:r>
            <a:r>
              <a:rPr lang="en-US" altLang="zh-CN" i="1" dirty="0">
                <a:solidFill>
                  <a:srgbClr val="3333FF"/>
                </a:solidFill>
              </a:rPr>
              <a:t>B</a:t>
            </a:r>
            <a:r>
              <a:rPr lang="en-US" altLang="zh-CN" dirty="0">
                <a:solidFill>
                  <a:srgbClr val="3333FF"/>
                </a:solidFill>
              </a:rPr>
              <a:t>,  </a:t>
            </a:r>
            <a:r>
              <a:rPr lang="en-US" altLang="zh-CN" i="1" dirty="0">
                <a:solidFill>
                  <a:srgbClr val="3333FF"/>
                </a:solidFill>
              </a:rPr>
              <a:t>R</a:t>
            </a:r>
            <a:r>
              <a:rPr lang="en-US" altLang="zh-CN" baseline="-25000" dirty="0">
                <a:solidFill>
                  <a:srgbClr val="3333FF"/>
                </a:solidFill>
              </a:rPr>
              <a:t>3</a:t>
            </a:r>
            <a:r>
              <a:rPr lang="en-US" altLang="zh-CN" dirty="0">
                <a:solidFill>
                  <a:srgbClr val="3333FF"/>
                </a:solidFill>
              </a:rPr>
              <a:t>=</a:t>
            </a:r>
            <a:r>
              <a:rPr lang="en-US" altLang="zh-CN" dirty="0">
                <a:solidFill>
                  <a:srgbClr val="3333FF"/>
                </a:solidFill>
                <a:sym typeface="Symbol" pitchFamily="18" charset="2"/>
              </a:rPr>
              <a:t></a:t>
            </a:r>
            <a:r>
              <a:rPr lang="en-US" altLang="zh-CN" dirty="0">
                <a:solidFill>
                  <a:srgbClr val="3333FF"/>
                </a:solidFill>
              </a:rPr>
              <a:t>,  </a:t>
            </a:r>
            <a:r>
              <a:rPr lang="en-US" altLang="zh-CN" i="1" dirty="0">
                <a:solidFill>
                  <a:srgbClr val="3333FF"/>
                </a:solidFill>
              </a:rPr>
              <a:t>R</a:t>
            </a:r>
            <a:r>
              <a:rPr lang="en-US" altLang="zh-CN" baseline="-25000" dirty="0">
                <a:solidFill>
                  <a:srgbClr val="3333FF"/>
                </a:solidFill>
              </a:rPr>
              <a:t>4</a:t>
            </a:r>
            <a:r>
              <a:rPr lang="en-US" altLang="zh-CN" dirty="0">
                <a:solidFill>
                  <a:srgbClr val="3333FF"/>
                </a:solidFill>
              </a:rPr>
              <a:t>={&lt;1,1&gt;}. </a:t>
            </a:r>
          </a:p>
          <a:p>
            <a:pPr lvl="1" eaLnBrk="1" hangingPunct="1">
              <a:defRPr/>
            </a:pPr>
            <a:r>
              <a:rPr lang="zh-CN" altLang="en-US" b="1" dirty="0">
                <a:solidFill>
                  <a:srgbClr val="008000"/>
                </a:solidFill>
              </a:rPr>
              <a:t> </a:t>
            </a:r>
            <a:r>
              <a:rPr lang="en-US" altLang="zh-CN" b="1" i="1" dirty="0">
                <a:solidFill>
                  <a:srgbClr val="008000"/>
                </a:solidFill>
              </a:rPr>
              <a:t>R</a:t>
            </a:r>
            <a:r>
              <a:rPr lang="en-US" altLang="zh-CN" b="1" baseline="-25000" dirty="0">
                <a:solidFill>
                  <a:srgbClr val="008000"/>
                </a:solidFill>
              </a:rPr>
              <a:t>1</a:t>
            </a:r>
            <a:r>
              <a:rPr lang="en-US" altLang="zh-CN" b="1" dirty="0">
                <a:solidFill>
                  <a:srgbClr val="008000"/>
                </a:solidFill>
              </a:rPr>
              <a:t>, </a:t>
            </a:r>
            <a:r>
              <a:rPr lang="en-US" altLang="zh-CN" b="1" i="1" dirty="0">
                <a:solidFill>
                  <a:srgbClr val="008000"/>
                </a:solidFill>
              </a:rPr>
              <a:t>R</a:t>
            </a:r>
            <a:r>
              <a:rPr lang="en-US" altLang="zh-CN" b="1" baseline="-25000" dirty="0">
                <a:solidFill>
                  <a:srgbClr val="008000"/>
                </a:solidFill>
              </a:rPr>
              <a:t>2</a:t>
            </a:r>
            <a:r>
              <a:rPr lang="en-US" altLang="zh-CN" b="1" dirty="0">
                <a:solidFill>
                  <a:srgbClr val="008000"/>
                </a:solidFill>
              </a:rPr>
              <a:t>, </a:t>
            </a:r>
            <a:r>
              <a:rPr lang="en-US" altLang="zh-CN" b="1" i="1" dirty="0">
                <a:solidFill>
                  <a:srgbClr val="008000"/>
                </a:solidFill>
              </a:rPr>
              <a:t>R</a:t>
            </a:r>
            <a:r>
              <a:rPr lang="en-US" altLang="zh-CN" b="1" baseline="-25000" dirty="0">
                <a:solidFill>
                  <a:srgbClr val="008000"/>
                </a:solidFill>
              </a:rPr>
              <a:t>3</a:t>
            </a:r>
            <a:r>
              <a:rPr lang="en-US" altLang="zh-CN" b="1" dirty="0">
                <a:solidFill>
                  <a:srgbClr val="008000"/>
                </a:solidFill>
              </a:rPr>
              <a:t>, </a:t>
            </a:r>
            <a:r>
              <a:rPr lang="en-US" altLang="zh-CN" b="1" i="1" dirty="0">
                <a:solidFill>
                  <a:srgbClr val="008000"/>
                </a:solidFill>
              </a:rPr>
              <a:t>R</a:t>
            </a:r>
            <a:r>
              <a:rPr lang="en-US" altLang="zh-CN" b="1" baseline="-25000" dirty="0">
                <a:solidFill>
                  <a:srgbClr val="008000"/>
                </a:solidFill>
              </a:rPr>
              <a:t>4</a:t>
            </a:r>
            <a:r>
              <a:rPr lang="zh-CN" altLang="en-US" b="1" dirty="0">
                <a:solidFill>
                  <a:srgbClr val="008000"/>
                </a:solidFill>
              </a:rPr>
              <a:t>是从 </a:t>
            </a:r>
            <a:r>
              <a:rPr lang="en-US" altLang="zh-CN" b="1" i="1" dirty="0">
                <a:solidFill>
                  <a:srgbClr val="008000"/>
                </a:solidFill>
              </a:rPr>
              <a:t>A </a:t>
            </a:r>
            <a:r>
              <a:rPr lang="zh-CN" altLang="en-US" b="1" dirty="0">
                <a:solidFill>
                  <a:srgbClr val="008000"/>
                </a:solidFill>
              </a:rPr>
              <a:t>到 </a:t>
            </a:r>
            <a:r>
              <a:rPr lang="en-US" altLang="zh-CN" b="1" i="1" dirty="0">
                <a:solidFill>
                  <a:srgbClr val="008000"/>
                </a:solidFill>
              </a:rPr>
              <a:t>B </a:t>
            </a:r>
            <a:r>
              <a:rPr lang="zh-CN" altLang="en-US" b="1" dirty="0">
                <a:solidFill>
                  <a:srgbClr val="008000"/>
                </a:solidFill>
              </a:rPr>
              <a:t>的二元关系</a:t>
            </a:r>
            <a:r>
              <a:rPr lang="en-US" altLang="zh-CN" b="1" dirty="0">
                <a:solidFill>
                  <a:srgbClr val="008000"/>
                </a:solidFill>
              </a:rPr>
              <a:t>, </a:t>
            </a:r>
          </a:p>
          <a:p>
            <a:pPr lvl="1" eaLnBrk="1" hangingPunct="1">
              <a:defRPr/>
            </a:pPr>
            <a:r>
              <a:rPr lang="en-US" altLang="zh-CN" b="1" i="1" dirty="0">
                <a:solidFill>
                  <a:srgbClr val="008000"/>
                </a:solidFill>
              </a:rPr>
              <a:t> </a:t>
            </a:r>
            <a:r>
              <a:rPr lang="zh-CN" altLang="en-US" b="1" dirty="0">
                <a:solidFill>
                  <a:srgbClr val="008000"/>
                </a:solidFill>
              </a:rPr>
              <a:t>同时</a:t>
            </a:r>
            <a:r>
              <a:rPr lang="en-US" altLang="zh-CN" b="1" i="1" dirty="0">
                <a:solidFill>
                  <a:srgbClr val="008000"/>
                </a:solidFill>
              </a:rPr>
              <a:t>R</a:t>
            </a:r>
            <a:r>
              <a:rPr lang="en-US" altLang="zh-CN" b="1" baseline="-25000" dirty="0">
                <a:solidFill>
                  <a:srgbClr val="008000"/>
                </a:solidFill>
              </a:rPr>
              <a:t>3</a:t>
            </a:r>
            <a:r>
              <a:rPr lang="zh-CN" altLang="en-US" b="1" dirty="0">
                <a:solidFill>
                  <a:srgbClr val="008000"/>
                </a:solidFill>
              </a:rPr>
              <a:t>和</a:t>
            </a:r>
            <a:r>
              <a:rPr lang="en-US" altLang="zh-CN" b="1" i="1" dirty="0">
                <a:solidFill>
                  <a:srgbClr val="008000"/>
                </a:solidFill>
              </a:rPr>
              <a:t>R</a:t>
            </a:r>
            <a:r>
              <a:rPr lang="en-US" altLang="zh-CN" b="1" baseline="-25000" dirty="0">
                <a:solidFill>
                  <a:srgbClr val="008000"/>
                </a:solidFill>
              </a:rPr>
              <a:t>4</a:t>
            </a:r>
            <a:r>
              <a:rPr lang="zh-CN" altLang="en-US" b="1" dirty="0">
                <a:solidFill>
                  <a:srgbClr val="008000"/>
                </a:solidFill>
              </a:rPr>
              <a:t>也分别是 </a:t>
            </a:r>
            <a:r>
              <a:rPr lang="en-US" altLang="zh-CN" b="1" i="1" dirty="0">
                <a:solidFill>
                  <a:srgbClr val="008000"/>
                </a:solidFill>
              </a:rPr>
              <a:t>A</a:t>
            </a:r>
            <a:r>
              <a:rPr lang="zh-CN" altLang="en-US" b="1" dirty="0">
                <a:solidFill>
                  <a:srgbClr val="008000"/>
                </a:solidFill>
              </a:rPr>
              <a:t>上的和</a:t>
            </a:r>
            <a:r>
              <a:rPr lang="en-US" altLang="zh-CN" b="1" i="1" dirty="0">
                <a:solidFill>
                  <a:srgbClr val="008000"/>
                </a:solidFill>
              </a:rPr>
              <a:t>B</a:t>
            </a:r>
            <a:r>
              <a:rPr lang="zh-CN" altLang="en-US" b="1" dirty="0">
                <a:solidFill>
                  <a:srgbClr val="008000"/>
                </a:solidFill>
              </a:rPr>
              <a:t>上的二元关系。</a:t>
            </a:r>
            <a:endParaRPr lang="en-US" altLang="zh-CN" b="1" dirty="0">
              <a:solidFill>
                <a:srgbClr val="008000"/>
              </a:solidFill>
            </a:endParaRPr>
          </a:p>
          <a:p>
            <a:r>
              <a:rPr lang="zh-CN" altLang="en-US" dirty="0"/>
              <a:t>设</a:t>
            </a:r>
            <a:r>
              <a:rPr lang="en-US" altLang="zh-CN" dirty="0"/>
              <a:t>U</a:t>
            </a:r>
            <a:r>
              <a:rPr lang="zh-CN" altLang="en-US" dirty="0"/>
              <a:t>表示全校学生的集合</a:t>
            </a:r>
            <a:r>
              <a:rPr lang="en-US" altLang="zh-CN" dirty="0"/>
              <a:t>,V</a:t>
            </a:r>
            <a:r>
              <a:rPr lang="zh-CN" altLang="en-US" dirty="0"/>
              <a:t>表示所开课程的集合</a:t>
            </a:r>
            <a:r>
              <a:rPr lang="en-US" altLang="zh-CN" dirty="0"/>
              <a:t>,</a:t>
            </a:r>
            <a:r>
              <a:rPr lang="zh-CN" altLang="en-US" dirty="0"/>
              <a:t>令</a:t>
            </a:r>
          </a:p>
          <a:p>
            <a:pPr>
              <a:buNone/>
            </a:pPr>
            <a:r>
              <a:rPr lang="zh-CN" altLang="en-US" b="1" dirty="0">
                <a:solidFill>
                  <a:srgbClr val="CC00CC"/>
                </a:solidFill>
              </a:rPr>
              <a:t>               </a:t>
            </a:r>
            <a:r>
              <a:rPr lang="en-US" altLang="zh-CN" b="1" dirty="0">
                <a:solidFill>
                  <a:srgbClr val="CC00CC"/>
                </a:solidFill>
              </a:rPr>
              <a:t>R={ (</a:t>
            </a:r>
            <a:r>
              <a:rPr lang="en-US" altLang="zh-CN" b="1" dirty="0" err="1">
                <a:solidFill>
                  <a:srgbClr val="CC00CC"/>
                </a:solidFill>
              </a:rPr>
              <a:t>u,v</a:t>
            </a:r>
            <a:r>
              <a:rPr lang="en-US" altLang="zh-CN" b="1" dirty="0">
                <a:solidFill>
                  <a:srgbClr val="CC00CC"/>
                </a:solidFill>
              </a:rPr>
              <a:t>)| v</a:t>
            </a:r>
            <a:r>
              <a:rPr lang="zh-CN" altLang="en-US" b="1" dirty="0">
                <a:solidFill>
                  <a:srgbClr val="CC00CC"/>
                </a:solidFill>
              </a:rPr>
              <a:t>是</a:t>
            </a:r>
            <a:r>
              <a:rPr lang="en-US" altLang="zh-CN" b="1" dirty="0">
                <a:solidFill>
                  <a:srgbClr val="CC00CC"/>
                </a:solidFill>
              </a:rPr>
              <a:t>u</a:t>
            </a:r>
            <a:r>
              <a:rPr lang="zh-CN" altLang="en-US" b="1" dirty="0">
                <a:solidFill>
                  <a:srgbClr val="CC00CC"/>
                </a:solidFill>
              </a:rPr>
              <a:t>所选的课程 </a:t>
            </a:r>
            <a:r>
              <a:rPr lang="en-US" altLang="zh-CN" b="1" dirty="0">
                <a:solidFill>
                  <a:srgbClr val="CC00CC"/>
                </a:solidFill>
              </a:rPr>
              <a:t>}</a:t>
            </a:r>
          </a:p>
          <a:p>
            <a:pPr lvl="1"/>
            <a:r>
              <a:rPr lang="zh-CN" altLang="en-US" sz="3200" dirty="0">
                <a:solidFill>
                  <a:srgbClr val="3333FF"/>
                </a:solidFill>
              </a:rPr>
              <a:t>则</a:t>
            </a:r>
            <a:r>
              <a:rPr lang="en-US" altLang="zh-CN" sz="3200" dirty="0">
                <a:solidFill>
                  <a:srgbClr val="3333FF"/>
                </a:solidFill>
              </a:rPr>
              <a:t>R</a:t>
            </a:r>
            <a:r>
              <a:rPr lang="zh-CN" altLang="en-US" sz="3200" dirty="0">
                <a:solidFill>
                  <a:srgbClr val="3333FF"/>
                </a:solidFill>
              </a:rPr>
              <a:t>表示从</a:t>
            </a:r>
            <a:r>
              <a:rPr lang="en-US" altLang="zh-CN" sz="3200" dirty="0">
                <a:solidFill>
                  <a:srgbClr val="3333FF"/>
                </a:solidFill>
              </a:rPr>
              <a:t>U</a:t>
            </a:r>
            <a:r>
              <a:rPr lang="zh-CN" altLang="en-US" sz="3200" dirty="0">
                <a:solidFill>
                  <a:srgbClr val="3333FF"/>
                </a:solidFill>
              </a:rPr>
              <a:t>到</a:t>
            </a:r>
            <a:r>
              <a:rPr lang="en-US" altLang="zh-CN" sz="3200" dirty="0">
                <a:solidFill>
                  <a:srgbClr val="3333FF"/>
                </a:solidFill>
              </a:rPr>
              <a:t>V</a:t>
            </a:r>
            <a:r>
              <a:rPr lang="zh-CN" altLang="en-US" sz="3200" dirty="0">
                <a:solidFill>
                  <a:srgbClr val="3333FF"/>
                </a:solidFill>
              </a:rPr>
              <a:t>的”选课”关系</a:t>
            </a:r>
          </a:p>
          <a:p>
            <a:pPr marL="0" indent="0" eaLnBrk="1" hangingPunct="1">
              <a:lnSpc>
                <a:spcPct val="110000"/>
              </a:lnSpc>
              <a:buNone/>
              <a:defRPr/>
            </a:pPr>
            <a:endParaRPr lang="en-US" altLang="zh-CN" b="1" dirty="0">
              <a:solidFill>
                <a:srgbClr val="008000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E16BD7-506D-34A7-FDCA-314B22668B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493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7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7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009900" y="334421"/>
            <a:ext cx="6172200" cy="85725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8000"/>
                </a:solidFill>
                <a:ea typeface="黑体" panose="02010609060101010101" pitchFamily="49" charset="-122"/>
              </a:rPr>
              <a:t>集合</a:t>
            </a:r>
            <a:r>
              <a:rPr lang="en-US" altLang="zh-CN" i="1" dirty="0">
                <a:solidFill>
                  <a:srgbClr val="008000"/>
                </a:solidFill>
                <a:ea typeface="黑体" panose="02010609060101010101" pitchFamily="49" charset="-122"/>
              </a:rPr>
              <a:t>A</a:t>
            </a:r>
            <a:r>
              <a:rPr lang="zh-CN" altLang="en-US" dirty="0">
                <a:solidFill>
                  <a:srgbClr val="008000"/>
                </a:solidFill>
                <a:ea typeface="黑体" panose="02010609060101010101" pitchFamily="49" charset="-122"/>
              </a:rPr>
              <a:t>上重要的二元关系</a:t>
            </a:r>
          </a:p>
        </p:txBody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392" y="1377050"/>
            <a:ext cx="10657184" cy="5364318"/>
          </a:xfrm>
        </p:spPr>
        <p:txBody>
          <a:bodyPr/>
          <a:lstStyle/>
          <a:p>
            <a:pPr eaLnBrk="1" hangingPunct="1">
              <a:lnSpc>
                <a:spcPct val="133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设</a:t>
            </a:r>
            <a:r>
              <a:rPr lang="en-US" altLang="zh-CN" b="1" i="1" dirty="0">
                <a:solidFill>
                  <a:srgbClr val="FF0000"/>
                </a:solidFill>
              </a:rPr>
              <a:t>A</a:t>
            </a:r>
            <a:r>
              <a:rPr lang="zh-CN" altLang="en-US" b="1" dirty="0">
                <a:solidFill>
                  <a:srgbClr val="FF0000"/>
                </a:solidFill>
              </a:rPr>
              <a:t>为任意集合</a:t>
            </a:r>
          </a:p>
          <a:p>
            <a:pPr lvl="1" eaLnBrk="1" hangingPunct="1">
              <a:lnSpc>
                <a:spcPct val="133000"/>
              </a:lnSpc>
            </a:pPr>
            <a:r>
              <a:rPr lang="zh-CN" altLang="en-US" b="1" dirty="0">
                <a:solidFill>
                  <a:srgbClr val="3333FF"/>
                </a:solidFill>
              </a:rPr>
              <a:t>空关系</a:t>
            </a:r>
            <a:r>
              <a:rPr lang="zh-CN" altLang="en-US" b="1" dirty="0">
                <a:solidFill>
                  <a:srgbClr val="3333FF"/>
                </a:solidFill>
                <a:sym typeface="Symbol" pitchFamily="18" charset="2"/>
              </a:rPr>
              <a:t></a:t>
            </a:r>
          </a:p>
          <a:p>
            <a:pPr lvl="1" eaLnBrk="1" hangingPunct="1">
              <a:lnSpc>
                <a:spcPct val="133000"/>
              </a:lnSpc>
            </a:pPr>
            <a:r>
              <a:rPr lang="zh-CN" altLang="en-US" b="1" dirty="0">
                <a:solidFill>
                  <a:srgbClr val="3333FF"/>
                </a:solidFill>
              </a:rPr>
              <a:t>全域关系</a:t>
            </a:r>
            <a:r>
              <a:rPr lang="en-US" altLang="zh-CN" b="1" i="1" dirty="0">
                <a:solidFill>
                  <a:srgbClr val="3333FF"/>
                </a:solidFill>
              </a:rPr>
              <a:t>E</a:t>
            </a:r>
            <a:r>
              <a:rPr lang="en-US" altLang="zh-CN" b="1" i="1" baseline="-25000" dirty="0">
                <a:solidFill>
                  <a:srgbClr val="3333FF"/>
                </a:solidFill>
              </a:rPr>
              <a:t>A</a:t>
            </a:r>
            <a:r>
              <a:rPr lang="en-US" altLang="zh-CN" b="1" dirty="0"/>
              <a:t>={&lt;</a:t>
            </a:r>
            <a:r>
              <a:rPr lang="en-US" altLang="zh-CN" b="1" i="1" dirty="0"/>
              <a:t>x</a:t>
            </a:r>
            <a:r>
              <a:rPr lang="en-US" altLang="zh-CN" b="1" dirty="0"/>
              <a:t>, </a:t>
            </a:r>
            <a:r>
              <a:rPr lang="en-US" altLang="zh-CN" b="1" i="1" dirty="0"/>
              <a:t>y</a:t>
            </a:r>
            <a:r>
              <a:rPr lang="en-US" altLang="zh-CN" b="1" dirty="0"/>
              <a:t>&gt;|</a:t>
            </a:r>
            <a:r>
              <a:rPr lang="en-US" altLang="zh-CN" b="1" i="1" dirty="0" err="1"/>
              <a:t>x</a:t>
            </a:r>
            <a:r>
              <a:rPr lang="en-US" altLang="zh-CN" b="1" dirty="0" err="1">
                <a:sym typeface="Symbol" panose="05050102010706020507" pitchFamily="18" charset="2"/>
              </a:rPr>
              <a:t></a:t>
            </a:r>
            <a:r>
              <a:rPr lang="en-US" altLang="zh-CN" b="1" i="1" dirty="0" err="1"/>
              <a:t>A</a:t>
            </a:r>
            <a:r>
              <a:rPr lang="en-US" altLang="zh-CN" b="1" dirty="0" err="1"/>
              <a:t>∧</a:t>
            </a:r>
            <a:r>
              <a:rPr lang="en-US" altLang="zh-CN" b="1" i="1" dirty="0" err="1"/>
              <a:t>y</a:t>
            </a:r>
            <a:r>
              <a:rPr lang="en-US" altLang="zh-CN" b="1" dirty="0" err="1">
                <a:sym typeface="Symbol" panose="05050102010706020507" pitchFamily="18" charset="2"/>
              </a:rPr>
              <a:t></a:t>
            </a:r>
            <a:r>
              <a:rPr lang="en-US" altLang="zh-CN" b="1" i="1" dirty="0" err="1"/>
              <a:t>A</a:t>
            </a:r>
            <a:r>
              <a:rPr lang="en-US" altLang="zh-CN" b="1" dirty="0"/>
              <a:t>}=</a:t>
            </a:r>
            <a:r>
              <a:rPr lang="en-US" altLang="zh-CN" b="1" i="1" dirty="0"/>
              <a:t>A</a:t>
            </a:r>
            <a:r>
              <a:rPr lang="en-US" altLang="zh-CN" b="1" dirty="0"/>
              <a:t>×</a:t>
            </a:r>
            <a:r>
              <a:rPr lang="en-US" altLang="zh-CN" b="1" i="1" dirty="0"/>
              <a:t>A</a:t>
            </a:r>
            <a:endParaRPr lang="en-US" altLang="zh-CN" b="1" dirty="0"/>
          </a:p>
          <a:p>
            <a:pPr lvl="1" eaLnBrk="1" hangingPunct="1">
              <a:lnSpc>
                <a:spcPct val="133000"/>
              </a:lnSpc>
            </a:pPr>
            <a:r>
              <a:rPr lang="zh-CN" altLang="en-US" b="1" dirty="0">
                <a:solidFill>
                  <a:srgbClr val="3333FF"/>
                </a:solidFill>
              </a:rPr>
              <a:t>恒等关系</a:t>
            </a: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solidFill>
                  <a:srgbClr val="3333FF"/>
                </a:solidFill>
              </a:rPr>
              <a:t>A</a:t>
            </a:r>
            <a:r>
              <a:rPr lang="en-US" altLang="zh-CN" b="1" i="1" dirty="0">
                <a:solidFill>
                  <a:srgbClr val="3333FF"/>
                </a:solidFill>
              </a:rPr>
              <a:t> </a:t>
            </a:r>
            <a:r>
              <a:rPr lang="en-US" altLang="zh-CN" b="1" dirty="0"/>
              <a:t>={&lt;</a:t>
            </a:r>
            <a:r>
              <a:rPr lang="en-US" altLang="zh-CN" b="1" i="1" dirty="0"/>
              <a:t>x</a:t>
            </a:r>
            <a:r>
              <a:rPr lang="en-US" altLang="zh-CN" b="1" dirty="0"/>
              <a:t>, </a:t>
            </a:r>
            <a:r>
              <a:rPr lang="en-US" altLang="zh-CN" b="1" i="1" dirty="0"/>
              <a:t>x</a:t>
            </a:r>
            <a:r>
              <a:rPr lang="en-US" altLang="zh-CN" b="1" dirty="0"/>
              <a:t>&gt;|</a:t>
            </a:r>
            <a:r>
              <a:rPr lang="en-US" altLang="zh-CN" b="1" i="1" dirty="0" err="1"/>
              <a:t>x</a:t>
            </a:r>
            <a:r>
              <a:rPr lang="en-US" altLang="zh-CN" b="1" dirty="0" err="1">
                <a:sym typeface="Symbol" panose="05050102010706020507" pitchFamily="18" charset="2"/>
              </a:rPr>
              <a:t></a:t>
            </a:r>
            <a:r>
              <a:rPr lang="en-US" altLang="zh-CN" b="1" i="1" dirty="0" err="1"/>
              <a:t>A</a:t>
            </a:r>
            <a:r>
              <a:rPr lang="en-US" altLang="zh-CN" b="1" dirty="0"/>
              <a:t>}</a:t>
            </a:r>
          </a:p>
          <a:p>
            <a:pPr lvl="1" eaLnBrk="1" hangingPunct="1">
              <a:lnSpc>
                <a:spcPct val="133000"/>
              </a:lnSpc>
            </a:pPr>
            <a:r>
              <a:rPr lang="zh-CN" altLang="en-US" b="1" dirty="0">
                <a:solidFill>
                  <a:srgbClr val="3333FF"/>
                </a:solidFill>
              </a:rPr>
              <a:t>小于等于关系</a:t>
            </a:r>
            <a:r>
              <a:rPr lang="en-US" altLang="zh-CN" b="1" i="1" dirty="0">
                <a:solidFill>
                  <a:srgbClr val="3333FF"/>
                </a:solidFill>
              </a:rPr>
              <a:t>L</a:t>
            </a:r>
            <a:r>
              <a:rPr lang="en-US" altLang="zh-CN" b="1" i="1" baseline="-25000" dirty="0">
                <a:solidFill>
                  <a:srgbClr val="3333FF"/>
                </a:solidFill>
              </a:rPr>
              <a:t>A</a:t>
            </a:r>
            <a:r>
              <a:rPr lang="en-US" altLang="zh-CN" sz="1800" b="1" dirty="0">
                <a:solidFill>
                  <a:srgbClr val="FF3300"/>
                </a:solidFill>
              </a:rPr>
              <a:t> </a:t>
            </a:r>
          </a:p>
          <a:p>
            <a:pPr lvl="2" eaLnBrk="1" hangingPunct="1">
              <a:lnSpc>
                <a:spcPct val="133000"/>
              </a:lnSpc>
              <a:buNone/>
            </a:pPr>
            <a:r>
              <a:rPr lang="en-US" altLang="zh-CN" sz="2800" b="1" i="1" dirty="0"/>
              <a:t>L</a:t>
            </a:r>
            <a:r>
              <a:rPr lang="en-US" altLang="zh-CN" sz="2800" b="1" i="1" baseline="-25000" dirty="0"/>
              <a:t>A</a:t>
            </a:r>
            <a:r>
              <a:rPr lang="en-US" altLang="zh-CN" sz="2800" b="1" dirty="0"/>
              <a:t>={&lt;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, </a:t>
            </a:r>
            <a:r>
              <a:rPr lang="en-US" altLang="zh-CN" sz="2800" b="1" i="1" dirty="0"/>
              <a:t>y</a:t>
            </a:r>
            <a:r>
              <a:rPr lang="en-US" altLang="zh-CN" sz="2800" b="1" dirty="0"/>
              <a:t>&gt;| </a:t>
            </a:r>
            <a:r>
              <a:rPr lang="en-US" altLang="zh-CN" sz="2800" b="1" i="1" dirty="0" err="1"/>
              <a:t>x</a:t>
            </a:r>
            <a:r>
              <a:rPr lang="en-US" altLang="zh-CN" sz="2800" b="1" dirty="0" err="1"/>
              <a:t>,</a:t>
            </a:r>
            <a:r>
              <a:rPr lang="en-US" altLang="zh-CN" sz="2800" b="1" i="1" dirty="0" err="1"/>
              <a:t>y</a:t>
            </a:r>
            <a:r>
              <a:rPr lang="en-US" altLang="zh-CN" sz="2800" b="1" dirty="0" err="1"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/>
              <a:t>A</a:t>
            </a:r>
            <a:r>
              <a:rPr lang="en-US" altLang="zh-CN" sz="2800" b="1" dirty="0" err="1"/>
              <a:t>∧</a:t>
            </a:r>
            <a:r>
              <a:rPr lang="en-US" altLang="zh-CN" sz="2800" b="1" i="1" dirty="0" err="1"/>
              <a:t>x</a:t>
            </a:r>
            <a:r>
              <a:rPr lang="en-US" altLang="zh-CN" sz="2800" b="1" dirty="0" err="1"/>
              <a:t>≤</a:t>
            </a:r>
            <a:r>
              <a:rPr lang="en-US" altLang="zh-CN" sz="2800" b="1" i="1" dirty="0" err="1"/>
              <a:t>y</a:t>
            </a:r>
            <a:r>
              <a:rPr lang="en-US" altLang="zh-CN" sz="2800" b="1" dirty="0"/>
              <a:t>}, </a:t>
            </a:r>
            <a:r>
              <a:rPr lang="en-US" altLang="zh-CN" sz="2800" b="1" i="1" dirty="0"/>
              <a:t>A</a:t>
            </a:r>
            <a:r>
              <a:rPr lang="en-US" altLang="zh-CN" sz="2800" b="1" dirty="0">
                <a:sym typeface="Symbol" pitchFamily="18" charset="2"/>
              </a:rPr>
              <a:t></a:t>
            </a:r>
            <a:r>
              <a:rPr lang="en-US" altLang="zh-CN" sz="2800" b="1" i="1" dirty="0">
                <a:solidFill>
                  <a:srgbClr val="008000"/>
                </a:solidFill>
              </a:rPr>
              <a:t>R</a:t>
            </a:r>
            <a:r>
              <a:rPr lang="zh-CN" altLang="en-US" sz="2800" b="1" dirty="0"/>
              <a:t>，</a:t>
            </a:r>
            <a:r>
              <a:rPr lang="en-US" altLang="zh-CN" sz="2800" b="1" i="1" dirty="0">
                <a:solidFill>
                  <a:srgbClr val="008000"/>
                </a:solidFill>
              </a:rPr>
              <a:t>R</a:t>
            </a:r>
            <a:r>
              <a:rPr lang="zh-CN" altLang="en-US" sz="2800" b="1" dirty="0"/>
              <a:t>为实数集合 </a:t>
            </a:r>
          </a:p>
          <a:p>
            <a:pPr lvl="1" eaLnBrk="1" hangingPunct="1">
              <a:lnSpc>
                <a:spcPct val="133000"/>
              </a:lnSpc>
            </a:pPr>
            <a:r>
              <a:rPr lang="zh-CN" altLang="en-US" b="1" dirty="0">
                <a:solidFill>
                  <a:srgbClr val="3333FF"/>
                </a:solidFill>
              </a:rPr>
              <a:t>整除关系</a:t>
            </a:r>
            <a:r>
              <a:rPr lang="en-US" altLang="zh-CN" b="1" i="1" dirty="0">
                <a:solidFill>
                  <a:srgbClr val="3333FF"/>
                </a:solidFill>
              </a:rPr>
              <a:t>D</a:t>
            </a:r>
            <a:r>
              <a:rPr lang="en-US" altLang="zh-CN" b="1" i="1" baseline="-25000" dirty="0">
                <a:solidFill>
                  <a:srgbClr val="3333FF"/>
                </a:solidFill>
              </a:rPr>
              <a:t>A</a:t>
            </a:r>
            <a:endParaRPr lang="en-US" altLang="zh-CN" sz="1800" b="1" dirty="0">
              <a:solidFill>
                <a:srgbClr val="3333FF"/>
              </a:solidFill>
            </a:endParaRPr>
          </a:p>
          <a:p>
            <a:pPr lvl="2" eaLnBrk="1" hangingPunct="1">
              <a:lnSpc>
                <a:spcPct val="133000"/>
              </a:lnSpc>
              <a:buNone/>
            </a:pPr>
            <a:r>
              <a:rPr lang="en-US" altLang="zh-CN" sz="2800" b="1" i="1" dirty="0"/>
              <a:t>D</a:t>
            </a:r>
            <a:r>
              <a:rPr lang="en-US" altLang="zh-CN" sz="2800" b="1" i="1" baseline="-25000" dirty="0"/>
              <a:t>A</a:t>
            </a:r>
            <a:r>
              <a:rPr lang="en-US" altLang="zh-CN" sz="2800" b="1" dirty="0"/>
              <a:t>=</a:t>
            </a:r>
            <a:r>
              <a:rPr lang="en-US" altLang="zh-CN" sz="2800" b="1" i="1" baseline="-25000" dirty="0"/>
              <a:t> </a:t>
            </a:r>
            <a:r>
              <a:rPr lang="en-US" altLang="zh-CN" sz="2800" b="1" dirty="0"/>
              <a:t>{&lt;</a:t>
            </a:r>
            <a:r>
              <a:rPr lang="en-US" altLang="zh-CN" sz="2800" b="1" i="1" dirty="0" err="1"/>
              <a:t>x</a:t>
            </a:r>
            <a:r>
              <a:rPr lang="en-US" altLang="zh-CN" sz="2800" b="1" dirty="0" err="1"/>
              <a:t>,</a:t>
            </a:r>
            <a:r>
              <a:rPr lang="en-US" altLang="zh-CN" sz="2800" b="1" i="1" dirty="0" err="1"/>
              <a:t>y</a:t>
            </a:r>
            <a:r>
              <a:rPr lang="en-US" altLang="zh-CN" sz="2800" b="1" dirty="0"/>
              <a:t>&gt;| </a:t>
            </a:r>
            <a:r>
              <a:rPr lang="en-US" altLang="zh-CN" sz="2800" b="1" i="1" dirty="0" err="1"/>
              <a:t>x</a:t>
            </a:r>
            <a:r>
              <a:rPr lang="en-US" altLang="zh-CN" sz="2800" b="1" dirty="0" err="1"/>
              <a:t>,</a:t>
            </a:r>
            <a:r>
              <a:rPr lang="en-US" altLang="zh-CN" sz="2800" b="1" i="1" dirty="0" err="1"/>
              <a:t>y</a:t>
            </a:r>
            <a:r>
              <a:rPr lang="en-US" altLang="zh-CN" sz="2800" b="1" dirty="0" err="1">
                <a:sym typeface="Symbol" panose="05050102010706020507" pitchFamily="18" charset="2"/>
              </a:rPr>
              <a:t></a:t>
            </a:r>
            <a:r>
              <a:rPr lang="en-US" altLang="zh-CN" sz="2800" b="1" i="1" dirty="0" err="1"/>
              <a:t>A</a:t>
            </a:r>
            <a:r>
              <a:rPr lang="en-US" altLang="zh-CN" sz="2800" b="1" dirty="0" err="1"/>
              <a:t>∧</a:t>
            </a:r>
            <a:r>
              <a:rPr lang="en-US" altLang="zh-CN" sz="2800" b="1" i="1" dirty="0" err="1"/>
              <a:t>x</a:t>
            </a:r>
            <a:r>
              <a:rPr lang="zh-CN" altLang="en-US" sz="2800" b="1" dirty="0"/>
              <a:t>整除</a:t>
            </a:r>
            <a:r>
              <a:rPr lang="en-US" altLang="zh-CN" sz="2800" b="1" i="1" dirty="0"/>
              <a:t>y</a:t>
            </a:r>
            <a:r>
              <a:rPr lang="en-US" altLang="zh-CN" sz="2800" b="1" dirty="0"/>
              <a:t>}, A</a:t>
            </a:r>
            <a:r>
              <a:rPr lang="en-US" altLang="zh-CN" sz="2800" b="1" dirty="0">
                <a:sym typeface="Symbol" pitchFamily="18" charset="2"/>
              </a:rPr>
              <a:t></a:t>
            </a:r>
            <a:r>
              <a:rPr lang="en-US" altLang="zh-CN" sz="2800" b="1" i="1" dirty="0">
                <a:solidFill>
                  <a:srgbClr val="008000"/>
                </a:solidFill>
              </a:rPr>
              <a:t>Z</a:t>
            </a:r>
            <a:r>
              <a:rPr lang="en-US" altLang="zh-CN" sz="2800" b="1" dirty="0">
                <a:solidFill>
                  <a:srgbClr val="008000"/>
                </a:solidFill>
              </a:rPr>
              <a:t>*</a:t>
            </a:r>
            <a:r>
              <a:rPr lang="en-US" altLang="zh-CN" sz="2800" b="1" dirty="0"/>
              <a:t>, </a:t>
            </a:r>
            <a:r>
              <a:rPr lang="en-US" altLang="zh-CN" sz="2800" b="1" i="1" dirty="0">
                <a:solidFill>
                  <a:srgbClr val="008000"/>
                </a:solidFill>
              </a:rPr>
              <a:t>Z</a:t>
            </a:r>
            <a:r>
              <a:rPr lang="en-US" altLang="zh-CN" sz="2800" b="1" dirty="0">
                <a:solidFill>
                  <a:srgbClr val="008000"/>
                </a:solidFill>
              </a:rPr>
              <a:t>*</a:t>
            </a:r>
            <a:r>
              <a:rPr lang="zh-CN" altLang="en-US" sz="2800" b="1" dirty="0"/>
              <a:t>为非</a:t>
            </a:r>
            <a:r>
              <a:rPr lang="en-US" altLang="zh-CN" sz="2800" b="1" dirty="0"/>
              <a:t>0</a:t>
            </a:r>
            <a:r>
              <a:rPr lang="zh-CN" altLang="en-US" sz="2800" b="1" dirty="0"/>
              <a:t>整数集   </a:t>
            </a:r>
          </a:p>
        </p:txBody>
      </p:sp>
      <p:sp>
        <p:nvSpPr>
          <p:cNvPr id="372740" name="Rectangle 4"/>
          <p:cNvSpPr>
            <a:spLocks noChangeArrowheads="1"/>
          </p:cNvSpPr>
          <p:nvPr/>
        </p:nvSpPr>
        <p:spPr bwMode="auto">
          <a:xfrm>
            <a:off x="6242112" y="1377050"/>
            <a:ext cx="5879976" cy="3996166"/>
          </a:xfrm>
          <a:prstGeom prst="rect">
            <a:avLst/>
          </a:prstGeom>
          <a:solidFill>
            <a:srgbClr val="FBFDA1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57175" indent="-257175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n"/>
            </a:pP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设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A={1, 2, 3}</a:t>
            </a:r>
            <a:endParaRPr lang="en-US" altLang="zh-CN" sz="2400" b="1" dirty="0">
              <a:solidFill>
                <a:srgbClr val="FF0000"/>
              </a:solidFill>
              <a:ea typeface="黑体" pitchFamily="49" charset="-122"/>
            </a:endParaRPr>
          </a:p>
          <a:p>
            <a:pPr marL="557213" lvl="1" indent="-214313"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E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A</a:t>
            </a:r>
            <a:r>
              <a:rPr lang="en-US" altLang="zh-CN" sz="2400" b="1" dirty="0">
                <a:ea typeface="楷体_GB2312" pitchFamily="49" charset="-122"/>
              </a:rPr>
              <a:t>={&lt;1,1&gt;, &lt;1,2&gt;, &lt;1,3&gt;,&lt;2,1&gt;,&lt;2,2&gt;,</a:t>
            </a:r>
          </a:p>
          <a:p>
            <a:pPr marL="557213" lvl="1" indent="-214313"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ea typeface="楷体_GB2312" pitchFamily="49" charset="-122"/>
              </a:rPr>
              <a:t>       &lt;2,3&gt;, &lt;3,1&gt;, &lt;3,2&gt;, &lt;3,3&gt;}=A×A</a:t>
            </a:r>
          </a:p>
          <a:p>
            <a:pPr marL="557213" lvl="1" indent="-214313"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A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ea typeface="楷体_GB2312" pitchFamily="49" charset="-122"/>
              </a:rPr>
              <a:t>={&lt;1,1&gt;,&lt;2, 2&gt;,&lt;3,3&gt;}</a:t>
            </a:r>
          </a:p>
          <a:p>
            <a:pPr marL="557213" lvl="1" indent="-214313"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L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A</a:t>
            </a:r>
            <a:r>
              <a:rPr lang="en-US" altLang="zh-CN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ea typeface="楷体_GB2312" pitchFamily="49" charset="-122"/>
              </a:rPr>
              <a:t>={&lt;1,1&gt;,&lt;1,2&gt;, &lt;1,3&gt;,&lt;2,2&gt;, &lt;2,3&gt;,</a:t>
            </a:r>
          </a:p>
          <a:p>
            <a:pPr marL="557213" lvl="1" indent="-214313"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ea typeface="楷体_GB2312" pitchFamily="49" charset="-122"/>
              </a:rPr>
              <a:t>        &lt;3,3&gt;}</a:t>
            </a:r>
            <a:r>
              <a:rPr lang="en-US" altLang="zh-CN" b="1" dirty="0">
                <a:ea typeface="楷体_GB2312" pitchFamily="49" charset="-122"/>
              </a:rPr>
              <a:t> </a:t>
            </a:r>
          </a:p>
          <a:p>
            <a:pPr marL="557213" lvl="1" indent="-214313"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D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A</a:t>
            </a:r>
            <a:r>
              <a:rPr lang="en-US" altLang="zh-CN" sz="2400" b="1" dirty="0">
                <a:ea typeface="楷体_GB2312" pitchFamily="49" charset="-122"/>
              </a:rPr>
              <a:t>={&lt;1,1&gt;,&lt;1,2&gt;, &lt;1,3&gt;,&lt;2,2&gt;, &lt;3,3&gt;}</a:t>
            </a:r>
            <a:r>
              <a:rPr lang="en-US" altLang="zh-CN" sz="2400" i="0" dirty="0">
                <a:ea typeface="楷体_GB2312" pitchFamily="49" charset="-122"/>
              </a:rPr>
              <a:t> </a:t>
            </a:r>
            <a:endParaRPr lang="en-US" altLang="zh-CN" sz="2000" i="0" dirty="0">
              <a:latin typeface="Arial" charset="0"/>
              <a:ea typeface="楷体_GB2312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144E144-FA73-27E0-D7E1-63160C8110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2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2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2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27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2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27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727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27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727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727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727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39" grpId="0" build="p"/>
      <p:bldP spid="372740" grpId="0" uiExpand="1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15888"/>
            <a:ext cx="8229600" cy="11430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关系的表示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341438"/>
            <a:ext cx="10081119" cy="52562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用</a:t>
            </a:r>
            <a:r>
              <a:rPr lang="zh-CN" altLang="en-US" b="1" u="sng" dirty="0">
                <a:solidFill>
                  <a:srgbClr val="FF0000"/>
                </a:solidFill>
              </a:rPr>
              <a:t>矩阵</a:t>
            </a:r>
            <a:r>
              <a:rPr lang="zh-CN" altLang="en-US" b="1" dirty="0">
                <a:solidFill>
                  <a:srgbClr val="FF0000"/>
                </a:solidFill>
              </a:rPr>
              <a:t>表示二元关系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b="1" dirty="0"/>
              <a:t>设</a:t>
            </a:r>
            <a:r>
              <a:rPr lang="en-US" altLang="zh-CN" b="1" i="1" dirty="0"/>
              <a:t>A</a:t>
            </a:r>
            <a:r>
              <a:rPr lang="zh-CN" altLang="en-US" b="1" dirty="0"/>
              <a:t>，</a:t>
            </a:r>
            <a:r>
              <a:rPr lang="en-US" altLang="zh-CN" b="1" i="1" dirty="0"/>
              <a:t>B</a:t>
            </a:r>
            <a:r>
              <a:rPr lang="zh-CN" altLang="en-US" b="1" dirty="0"/>
              <a:t>分别为 </a:t>
            </a:r>
            <a:r>
              <a:rPr lang="en-US" altLang="zh-CN" b="1" i="1" dirty="0"/>
              <a:t>A</a:t>
            </a:r>
            <a:r>
              <a:rPr lang="en-US" altLang="zh-CN" b="1" dirty="0"/>
              <a:t>={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,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,…,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m</a:t>
            </a:r>
            <a:r>
              <a:rPr lang="en-US" altLang="zh-CN" b="1" dirty="0">
                <a:sym typeface="Symbol" pitchFamily="18" charset="2"/>
              </a:rPr>
              <a:t>}, </a:t>
            </a:r>
            <a:r>
              <a:rPr lang="en-US" altLang="zh-CN" b="1" i="1" dirty="0"/>
              <a:t>B</a:t>
            </a:r>
            <a:r>
              <a:rPr lang="en-US" altLang="zh-CN" b="1" dirty="0"/>
              <a:t>={</a:t>
            </a:r>
            <a:r>
              <a:rPr lang="en-US" altLang="zh-CN" b="1" i="1" dirty="0"/>
              <a:t>b</a:t>
            </a:r>
            <a:r>
              <a:rPr lang="en-US" altLang="zh-CN" sz="3200" b="1" baseline="-25000" dirty="0"/>
              <a:t>1</a:t>
            </a:r>
            <a:r>
              <a:rPr lang="en-US" altLang="zh-CN" b="1" dirty="0"/>
              <a:t>,</a:t>
            </a:r>
            <a:r>
              <a:rPr lang="en-US" altLang="zh-CN" b="1" i="1" dirty="0"/>
              <a:t>b</a:t>
            </a:r>
            <a:r>
              <a:rPr lang="en-US" altLang="zh-CN" sz="3200" b="1" baseline="-25000" dirty="0"/>
              <a:t>2</a:t>
            </a:r>
            <a:r>
              <a:rPr lang="en-US" altLang="zh-CN" b="1" dirty="0"/>
              <a:t>,…,</a:t>
            </a:r>
            <a:r>
              <a:rPr lang="en-US" altLang="zh-CN" b="1" i="1" dirty="0"/>
              <a:t>b</a:t>
            </a:r>
            <a:r>
              <a:rPr lang="en-US" altLang="zh-CN" sz="3200" b="1" baseline="-25000" dirty="0"/>
              <a:t>n</a:t>
            </a:r>
            <a:r>
              <a:rPr lang="en-US" altLang="zh-CN" b="1" dirty="0">
                <a:sym typeface="Symbol" pitchFamily="18" charset="2"/>
              </a:rPr>
              <a:t>}</a:t>
            </a:r>
            <a:r>
              <a:rPr lang="zh-CN" altLang="en-US" b="1" dirty="0"/>
              <a:t>，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b="1" i="1" dirty="0"/>
              <a:t>R</a:t>
            </a:r>
            <a:r>
              <a:rPr lang="zh-CN" altLang="en-US" b="1" dirty="0"/>
              <a:t>是</a:t>
            </a:r>
            <a:r>
              <a:rPr lang="en-US" altLang="zh-CN" b="1" i="1" dirty="0"/>
              <a:t>A</a:t>
            </a:r>
            <a:r>
              <a:rPr lang="zh-CN" altLang="en-US" b="1" dirty="0"/>
              <a:t>到</a:t>
            </a:r>
            <a:r>
              <a:rPr lang="en-US" altLang="zh-CN" b="1" i="1" dirty="0"/>
              <a:t>B</a:t>
            </a:r>
            <a:r>
              <a:rPr lang="zh-CN" altLang="en-US" b="1" dirty="0"/>
              <a:t>的二元关系，</a:t>
            </a:r>
            <a:r>
              <a:rPr lang="en-US" altLang="zh-CN" b="1" i="1" dirty="0"/>
              <a:t>R</a:t>
            </a:r>
            <a:r>
              <a:rPr lang="zh-CN" altLang="en-US" b="1" dirty="0"/>
              <a:t>的关系矩阵定义为：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400" b="1" i="1" dirty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400" b="1" i="1" dirty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400" b="1" i="1" dirty="0"/>
          </a:p>
          <a:p>
            <a:pPr eaLnBrk="1" hangingPunct="1">
              <a:lnSpc>
                <a:spcPct val="90000"/>
              </a:lnSpc>
            </a:pPr>
            <a:endParaRPr lang="zh-CN" altLang="en-US" sz="2800" b="1" dirty="0"/>
          </a:p>
          <a:p>
            <a:pPr eaLnBrk="1" hangingPunct="1">
              <a:lnSpc>
                <a:spcPct val="90000"/>
              </a:lnSpc>
            </a:pPr>
            <a:endParaRPr lang="zh-CN" altLang="en-US" sz="2800" b="1" dirty="0"/>
          </a:p>
          <a:p>
            <a:pPr eaLnBrk="1" hangingPunct="1">
              <a:lnSpc>
                <a:spcPct val="90000"/>
              </a:lnSpc>
            </a:pPr>
            <a:endParaRPr lang="zh-CN" altLang="en-US" sz="2800" b="1" dirty="0"/>
          </a:p>
          <a:p>
            <a:pPr eaLnBrk="1" hangingPunct="1">
              <a:lnSpc>
                <a:spcPct val="90000"/>
              </a:lnSpc>
            </a:pPr>
            <a:endParaRPr lang="en-US" altLang="zh-CN" sz="2800" b="1" i="1" dirty="0"/>
          </a:p>
          <a:p>
            <a:pPr eaLnBrk="1" hangingPunct="1">
              <a:lnSpc>
                <a:spcPct val="90000"/>
              </a:lnSpc>
            </a:pPr>
            <a:r>
              <a:rPr lang="en-US" altLang="zh-CN" b="1" i="1" dirty="0"/>
              <a:t>M</a:t>
            </a:r>
            <a:r>
              <a:rPr lang="en-US" altLang="zh-CN" b="1" i="1" baseline="-25000" dirty="0"/>
              <a:t>R</a:t>
            </a:r>
            <a:r>
              <a:rPr lang="zh-CN" altLang="en-US" b="1" dirty="0"/>
              <a:t>称为二元关系</a:t>
            </a:r>
            <a:r>
              <a:rPr lang="en-US" altLang="zh-CN" b="1" i="1" dirty="0"/>
              <a:t>R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关系矩阵</a:t>
            </a:r>
            <a:r>
              <a:rPr lang="zh-CN" altLang="en-US" b="1" dirty="0"/>
              <a:t>。</a:t>
            </a:r>
          </a:p>
        </p:txBody>
      </p:sp>
      <p:graphicFrame>
        <p:nvGraphicFramePr>
          <p:cNvPr id="9216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071814" y="3213101"/>
          <a:ext cx="31591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447" imgH="241195" progId="Equation.DSMT4">
                  <p:embed/>
                </p:oleObj>
              </mc:Choice>
              <mc:Fallback>
                <p:oleObj name="Equation" r:id="rId2" imgW="812447" imgH="241195" progId="Equation.DSMT4">
                  <p:embed/>
                  <p:pic>
                    <p:nvPicPr>
                      <p:cNvPr id="921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3213101"/>
                        <a:ext cx="315912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6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847850" y="4365626"/>
          <a:ext cx="8662988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24200" imgH="457200" progId="Equation.DSMT4">
                  <p:embed/>
                </p:oleObj>
              </mc:Choice>
              <mc:Fallback>
                <p:oleObj name="Equation" r:id="rId4" imgW="3124200" imgH="457200" progId="Equation.DSMT4">
                  <p:embed/>
                  <p:pic>
                    <p:nvPicPr>
                      <p:cNvPr id="921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4365626"/>
                        <a:ext cx="8662988" cy="1266825"/>
                      </a:xfrm>
                      <a:prstGeom prst="rect">
                        <a:avLst/>
                      </a:prstGeom>
                      <a:solidFill>
                        <a:srgbClr val="FDF7A5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659EA7-87C6-8B7A-5D8F-377A3D125F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55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1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2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7142190"/>
              </p:ext>
            </p:extLst>
          </p:nvPr>
        </p:nvGraphicFramePr>
        <p:xfrm>
          <a:off x="6672064" y="4095564"/>
          <a:ext cx="4032250" cy="266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31366" imgH="1167893" progId="Equation.DSMT4">
                  <p:embed/>
                </p:oleObj>
              </mc:Choice>
              <mc:Fallback>
                <p:oleObj name="Equation" r:id="rId2" imgW="1231366" imgH="1167893" progId="Equation.DSMT4">
                  <p:embed/>
                  <p:pic>
                    <p:nvPicPr>
                      <p:cNvPr id="942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064" y="4095564"/>
                        <a:ext cx="4032250" cy="266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" name="Rectangle 6"/>
          <p:cNvSpPr>
            <a:spLocks noGrp="1" noChangeArrowheads="1"/>
          </p:cNvSpPr>
          <p:nvPr>
            <p:ph type="title"/>
          </p:nvPr>
        </p:nvSpPr>
        <p:spPr>
          <a:xfrm>
            <a:off x="2043112" y="185192"/>
            <a:ext cx="8229600" cy="13716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8000"/>
                </a:solidFill>
                <a:latin typeface="+mn-lt"/>
                <a:ea typeface="黑体" panose="02010609060101010101" pitchFamily="49" charset="-122"/>
              </a:rPr>
              <a:t>用矩阵表示从</a:t>
            </a:r>
            <a:r>
              <a:rPr lang="en-US" altLang="zh-CN" dirty="0">
                <a:solidFill>
                  <a:srgbClr val="008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zh-CN" altLang="en-US" dirty="0">
                <a:solidFill>
                  <a:srgbClr val="008000"/>
                </a:solidFill>
                <a:latin typeface="+mn-lt"/>
                <a:ea typeface="黑体" panose="02010609060101010101" pitchFamily="49" charset="-122"/>
              </a:rPr>
              <a:t>到</a:t>
            </a:r>
            <a:r>
              <a:rPr lang="en-US" altLang="zh-CN" dirty="0">
                <a:solidFill>
                  <a:srgbClr val="008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zh-CN" altLang="en-US" dirty="0">
                <a:solidFill>
                  <a:srgbClr val="008000"/>
                </a:solidFill>
                <a:latin typeface="+mn-lt"/>
                <a:ea typeface="黑体" panose="02010609060101010101" pitchFamily="49" charset="-122"/>
              </a:rPr>
              <a:t>的二元关系</a:t>
            </a:r>
          </a:p>
        </p:txBody>
      </p:sp>
      <p:sp>
        <p:nvSpPr>
          <p:cNvPr id="9421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199456" y="1484314"/>
            <a:ext cx="10081120" cy="2663825"/>
          </a:xfrm>
          <a:solidFill>
            <a:srgbClr val="FFCCCC"/>
          </a:solidFill>
        </p:spPr>
        <p:txBody>
          <a:bodyPr/>
          <a:lstStyle/>
          <a:p>
            <a:pPr marL="609600" indent="-609600" eaLnBrk="1" hangingPunct="1"/>
            <a:r>
              <a:rPr lang="zh-CN" altLang="en-US" b="1" dirty="0"/>
              <a:t>设</a:t>
            </a:r>
            <a:r>
              <a:rPr lang="en-US" altLang="zh-CN" b="1" i="1" dirty="0"/>
              <a:t>A</a:t>
            </a:r>
            <a:r>
              <a:rPr lang="en-US" altLang="zh-CN" b="1" dirty="0"/>
              <a:t>={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,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,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,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4</a:t>
            </a:r>
            <a:r>
              <a:rPr lang="en-US" altLang="zh-CN" b="1" dirty="0"/>
              <a:t>}</a:t>
            </a:r>
            <a:r>
              <a:rPr lang="zh-CN" altLang="en-US" b="1" dirty="0"/>
              <a:t>，</a:t>
            </a:r>
            <a:r>
              <a:rPr lang="en-US" altLang="zh-CN" b="1" i="1" dirty="0"/>
              <a:t>B</a:t>
            </a:r>
            <a:r>
              <a:rPr lang="en-US" altLang="zh-CN" b="1" dirty="0"/>
              <a:t>={</a:t>
            </a:r>
            <a:r>
              <a:rPr lang="en-US" altLang="zh-CN" b="1" i="1" dirty="0"/>
              <a:t>b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,</a:t>
            </a:r>
            <a:r>
              <a:rPr lang="en-US" altLang="zh-CN" b="1" i="1" dirty="0"/>
              <a:t>b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,</a:t>
            </a:r>
            <a:r>
              <a:rPr lang="en-US" altLang="zh-CN" b="1" i="1" dirty="0"/>
              <a:t>b</a:t>
            </a:r>
            <a:r>
              <a:rPr lang="en-US" altLang="zh-CN" b="1" baseline="-25000" dirty="0"/>
              <a:t>3</a:t>
            </a:r>
            <a:r>
              <a:rPr lang="en-US" altLang="zh-CN" b="1" dirty="0">
                <a:sym typeface="Symbol" pitchFamily="18" charset="2"/>
              </a:rPr>
              <a:t>}</a:t>
            </a:r>
            <a:r>
              <a:rPr lang="zh-CN" altLang="en-US" b="1" dirty="0"/>
              <a:t>，</a:t>
            </a:r>
            <a:r>
              <a:rPr lang="en-US" altLang="zh-CN" b="1" i="1" dirty="0"/>
              <a:t>R</a:t>
            </a:r>
            <a:r>
              <a:rPr lang="zh-CN" altLang="en-US" b="1" dirty="0"/>
              <a:t>是</a:t>
            </a:r>
            <a:r>
              <a:rPr lang="en-US" altLang="zh-CN" b="1" i="1" dirty="0"/>
              <a:t>A</a:t>
            </a:r>
            <a:r>
              <a:rPr lang="zh-CN" altLang="en-US" b="1" dirty="0"/>
              <a:t>到</a:t>
            </a:r>
            <a:r>
              <a:rPr lang="en-US" altLang="zh-CN" b="1" i="1" dirty="0"/>
              <a:t>B</a:t>
            </a:r>
            <a:r>
              <a:rPr lang="zh-CN" altLang="en-US" b="1" dirty="0"/>
              <a:t>的二元关系，定义为：</a:t>
            </a:r>
          </a:p>
          <a:p>
            <a:pPr marL="609600" indent="-609600" eaLnBrk="1" hangingPunct="1">
              <a:buNone/>
            </a:pPr>
            <a:r>
              <a:rPr lang="en-US" altLang="zh-CN" b="1" i="1" dirty="0"/>
              <a:t>R </a:t>
            </a:r>
            <a:r>
              <a:rPr lang="en-US" altLang="zh-CN" b="1" dirty="0"/>
              <a:t>= {</a:t>
            </a:r>
            <a:r>
              <a:rPr lang="en-US" altLang="zh-CN" b="1" dirty="0">
                <a:sym typeface="Symbol" pitchFamily="18" charset="2"/>
              </a:rPr>
              <a:t>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,</a:t>
            </a:r>
            <a:r>
              <a:rPr lang="en-US" altLang="zh-CN" b="1" i="1" dirty="0"/>
              <a:t>b</a:t>
            </a:r>
            <a:r>
              <a:rPr lang="en-US" altLang="zh-CN" b="1" baseline="-25000" dirty="0"/>
              <a:t>1</a:t>
            </a:r>
            <a:r>
              <a:rPr lang="en-US" altLang="zh-CN" b="1" dirty="0">
                <a:sym typeface="Symbol" pitchFamily="18" charset="2"/>
              </a:rPr>
              <a:t></a:t>
            </a:r>
            <a:r>
              <a:rPr lang="en-US" altLang="zh-CN" b="1" dirty="0"/>
              <a:t>, </a:t>
            </a:r>
            <a:r>
              <a:rPr lang="en-US" altLang="zh-CN" b="1" dirty="0">
                <a:sym typeface="Symbol" pitchFamily="18" charset="2"/>
              </a:rPr>
              <a:t>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,</a:t>
            </a:r>
            <a:r>
              <a:rPr lang="en-US" altLang="zh-CN" b="1" i="1" dirty="0"/>
              <a:t>b</a:t>
            </a:r>
            <a:r>
              <a:rPr lang="en-US" altLang="zh-CN" b="1" baseline="-25000" dirty="0"/>
              <a:t>3</a:t>
            </a:r>
            <a:r>
              <a:rPr lang="en-US" altLang="zh-CN" b="1" dirty="0">
                <a:sym typeface="Symbol" pitchFamily="18" charset="2"/>
              </a:rPr>
              <a:t></a:t>
            </a:r>
            <a:r>
              <a:rPr lang="en-US" altLang="zh-CN" b="1" dirty="0"/>
              <a:t>, </a:t>
            </a:r>
            <a:r>
              <a:rPr lang="en-US" altLang="zh-CN" b="1" dirty="0">
                <a:sym typeface="Symbol" pitchFamily="18" charset="2"/>
              </a:rPr>
              <a:t>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,</a:t>
            </a:r>
            <a:r>
              <a:rPr lang="en-US" altLang="zh-CN" b="1" i="1" dirty="0"/>
              <a:t>b</a:t>
            </a:r>
            <a:r>
              <a:rPr lang="en-US" altLang="zh-CN" b="1" baseline="-25000" dirty="0"/>
              <a:t>2</a:t>
            </a:r>
            <a:r>
              <a:rPr lang="en-US" altLang="zh-CN" b="1" dirty="0">
                <a:sym typeface="Symbol" pitchFamily="18" charset="2"/>
              </a:rPr>
              <a:t></a:t>
            </a:r>
            <a:r>
              <a:rPr lang="en-US" altLang="zh-CN" b="1" dirty="0"/>
              <a:t>, </a:t>
            </a:r>
            <a:r>
              <a:rPr lang="en-US" altLang="zh-CN" b="1" dirty="0">
                <a:sym typeface="Symbol" pitchFamily="18" charset="2"/>
              </a:rPr>
              <a:t>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,</a:t>
            </a:r>
            <a:r>
              <a:rPr lang="en-US" altLang="zh-CN" b="1" i="1" dirty="0"/>
              <a:t>b</a:t>
            </a:r>
            <a:r>
              <a:rPr lang="en-US" altLang="zh-CN" b="1" baseline="-25000" dirty="0"/>
              <a:t>3</a:t>
            </a:r>
            <a:r>
              <a:rPr lang="en-US" altLang="zh-CN" b="1" dirty="0">
                <a:sym typeface="Symbol" pitchFamily="18" charset="2"/>
              </a:rPr>
              <a:t></a:t>
            </a:r>
            <a:r>
              <a:rPr lang="en-US" altLang="zh-CN" b="1" dirty="0"/>
              <a:t>,  </a:t>
            </a:r>
            <a:r>
              <a:rPr lang="en-US" altLang="zh-CN" b="1" dirty="0">
                <a:sym typeface="Symbol" pitchFamily="18" charset="2"/>
              </a:rPr>
              <a:t>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,</a:t>
            </a:r>
            <a:r>
              <a:rPr lang="en-US" altLang="zh-CN" b="1" i="1" dirty="0"/>
              <a:t>b</a:t>
            </a:r>
            <a:r>
              <a:rPr lang="en-US" altLang="zh-CN" b="1" baseline="-25000" dirty="0"/>
              <a:t>1</a:t>
            </a:r>
            <a:r>
              <a:rPr lang="en-US" altLang="zh-CN" b="1" dirty="0">
                <a:sym typeface="Symbol" pitchFamily="18" charset="2"/>
              </a:rPr>
              <a:t></a:t>
            </a:r>
            <a:r>
              <a:rPr lang="en-US" altLang="zh-CN" b="1" dirty="0"/>
              <a:t>, </a:t>
            </a:r>
            <a:r>
              <a:rPr lang="en-US" altLang="zh-CN" b="1" dirty="0">
                <a:sym typeface="Symbol" pitchFamily="18" charset="2"/>
              </a:rPr>
              <a:t>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4</a:t>
            </a:r>
            <a:r>
              <a:rPr lang="en-US" altLang="zh-CN" b="1" dirty="0"/>
              <a:t>,</a:t>
            </a:r>
            <a:r>
              <a:rPr lang="en-US" altLang="zh-CN" b="1" i="1" dirty="0"/>
              <a:t>b</a:t>
            </a:r>
            <a:r>
              <a:rPr lang="en-US" altLang="zh-CN" b="1" baseline="-25000" dirty="0"/>
              <a:t>1</a:t>
            </a:r>
            <a:r>
              <a:rPr lang="en-US" altLang="zh-CN" b="1" dirty="0">
                <a:sym typeface="Symbol" pitchFamily="18" charset="2"/>
              </a:rPr>
              <a:t></a:t>
            </a:r>
            <a:r>
              <a:rPr lang="en-US" altLang="zh-CN" b="1" dirty="0"/>
              <a:t>,</a:t>
            </a:r>
            <a:r>
              <a:rPr lang="en-US" altLang="zh-CN" b="1" dirty="0">
                <a:sym typeface="Symbol" pitchFamily="18" charset="2"/>
              </a:rPr>
              <a:t>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4</a:t>
            </a:r>
            <a:r>
              <a:rPr lang="en-US" altLang="zh-CN" b="1" dirty="0"/>
              <a:t>,</a:t>
            </a:r>
            <a:r>
              <a:rPr lang="en-US" altLang="zh-CN" b="1" i="1" dirty="0"/>
              <a:t>b</a:t>
            </a:r>
            <a:r>
              <a:rPr lang="en-US" altLang="zh-CN" b="1" baseline="-25000" dirty="0"/>
              <a:t>2</a:t>
            </a:r>
            <a:r>
              <a:rPr lang="en-US" altLang="zh-CN" b="1" dirty="0">
                <a:sym typeface="Symbol" pitchFamily="18" charset="2"/>
              </a:rPr>
              <a:t>}</a:t>
            </a:r>
            <a:endParaRPr lang="en-US" altLang="zh-CN" b="1" dirty="0"/>
          </a:p>
          <a:p>
            <a:pPr marL="609600" indent="-609600" eaLnBrk="1" hangingPunct="1"/>
            <a:r>
              <a:rPr lang="zh-CN" altLang="en-US" b="1" dirty="0"/>
              <a:t>则</a:t>
            </a:r>
            <a:r>
              <a:rPr lang="en-US" altLang="zh-CN" b="1" i="1" dirty="0"/>
              <a:t>R</a:t>
            </a:r>
            <a:r>
              <a:rPr lang="zh-CN" altLang="en-US" b="1" dirty="0"/>
              <a:t>的关系矩阵为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703388" y="4652964"/>
          <a:ext cx="369570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500" imgH="457200" progId="Equation.DSMT4">
                  <p:embed/>
                </p:oleObj>
              </mc:Choice>
              <mc:Fallback>
                <p:oleObj name="Equation" r:id="rId4" imgW="1333500" imgH="45720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4652964"/>
                        <a:ext cx="3695700" cy="1266825"/>
                      </a:xfrm>
                      <a:prstGeom prst="rect">
                        <a:avLst/>
                      </a:prstGeom>
                      <a:solidFill>
                        <a:srgbClr val="FDF7A5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5CCDC68-4064-BABA-263E-D3877A4DC6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16088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2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5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260648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latin typeface="+mn-lt"/>
                <a:ea typeface="黑体" panose="02010609060101010101" pitchFamily="49" charset="-122"/>
              </a:rPr>
              <a:t>用矩阵表示</a:t>
            </a:r>
            <a:r>
              <a:rPr lang="en-US" altLang="zh-CN" dirty="0">
                <a:solidFill>
                  <a:srgbClr val="008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zh-CN" altLang="en-US" dirty="0">
                <a:solidFill>
                  <a:srgbClr val="008000"/>
                </a:solidFill>
                <a:latin typeface="+mn-lt"/>
                <a:ea typeface="黑体" panose="02010609060101010101" pitchFamily="49" charset="-122"/>
              </a:rPr>
              <a:t>上的二元关系</a:t>
            </a:r>
          </a:p>
        </p:txBody>
      </p:sp>
      <p:sp>
        <p:nvSpPr>
          <p:cNvPr id="104451" name="Text Box 3"/>
          <p:cNvSpPr txBox="1">
            <a:spLocks noChangeArrowheads="1"/>
          </p:cNvSpPr>
          <p:nvPr/>
        </p:nvSpPr>
        <p:spPr bwMode="auto">
          <a:xfrm>
            <a:off x="1271464" y="1674814"/>
            <a:ext cx="9721080" cy="1474058"/>
          </a:xfrm>
          <a:prstGeom prst="rect">
            <a:avLst/>
          </a:prstGeom>
          <a:solidFill>
            <a:srgbClr val="D9FFF8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zh-CN" sz="3200" b="1" i="1" dirty="0"/>
              <a:t>A</a:t>
            </a:r>
            <a:r>
              <a:rPr lang="en-US" altLang="zh-CN" sz="3200" b="1" dirty="0"/>
              <a:t>={1,2,3,4}, </a:t>
            </a:r>
            <a:r>
              <a:rPr lang="en-US" altLang="zh-CN" sz="3200" b="1" i="1" dirty="0"/>
              <a:t>R</a:t>
            </a:r>
            <a:r>
              <a:rPr lang="en-US" altLang="zh-CN" sz="3200" b="1" dirty="0"/>
              <a:t>={&lt;1,1&gt;,&lt;1,2&gt;,&lt;2,3&gt;,&lt;2,4&gt;,&lt;4,2&gt;},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zh-CN" sz="3200" b="1" i="1" dirty="0"/>
              <a:t>R</a:t>
            </a:r>
            <a:r>
              <a:rPr lang="zh-CN" altLang="en-US" sz="3200" b="1" dirty="0"/>
              <a:t>的关系矩阵</a:t>
            </a:r>
            <a:r>
              <a:rPr lang="en-US" altLang="zh-CN" sz="3200" b="1" i="1" dirty="0"/>
              <a:t>M</a:t>
            </a:r>
            <a:r>
              <a:rPr lang="en-US" altLang="zh-CN" sz="3200" b="1" i="1" baseline="-25000" dirty="0"/>
              <a:t>R</a:t>
            </a:r>
            <a:r>
              <a:rPr lang="zh-CN" altLang="en-US" sz="3200" b="1" dirty="0"/>
              <a:t>如下：</a:t>
            </a:r>
          </a:p>
        </p:txBody>
      </p:sp>
      <p:graphicFrame>
        <p:nvGraphicFramePr>
          <p:cNvPr id="1044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8512246"/>
              </p:ext>
            </p:extLst>
          </p:nvPr>
        </p:nvGraphicFramePr>
        <p:xfrm>
          <a:off x="6767274" y="3548574"/>
          <a:ext cx="3451225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1143000" progId="Equation.DSMT4">
                  <p:embed/>
                </p:oleObj>
              </mc:Choice>
              <mc:Fallback>
                <p:oleObj name="Equation" r:id="rId2" imgW="1371600" imgH="1143000" progId="Equation.DSMT4">
                  <p:embed/>
                  <p:pic>
                    <p:nvPicPr>
                      <p:cNvPr id="1044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7274" y="3548574"/>
                        <a:ext cx="3451225" cy="2895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75DDB30-10E8-464E-9E89-505201B265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276638"/>
              </p:ext>
            </p:extLst>
          </p:nvPr>
        </p:nvGraphicFramePr>
        <p:xfrm>
          <a:off x="1847528" y="4549775"/>
          <a:ext cx="369570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500" imgH="457200" progId="Equation.DSMT4">
                  <p:embed/>
                </p:oleObj>
              </mc:Choice>
              <mc:Fallback>
                <p:oleObj name="Equation" r:id="rId4" imgW="1333500" imgH="4572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75DDB30-10E8-464E-9E89-505201B265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4549775"/>
                        <a:ext cx="3695700" cy="1266825"/>
                      </a:xfrm>
                      <a:prstGeom prst="rect">
                        <a:avLst/>
                      </a:prstGeom>
                      <a:solidFill>
                        <a:srgbClr val="FDF7A5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AED36E1-E673-7AC8-E8AF-4D9FF0EB6F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291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62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271464" y="1916832"/>
            <a:ext cx="10081120" cy="3886200"/>
          </a:xfrm>
          <a:solidFill>
            <a:srgbClr val="FFFFCC"/>
          </a:solidFill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kumimoji="1"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kumimoji="1" lang="zh-CN" altLang="en-US" b="1" u="sng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关系图</a:t>
            </a:r>
            <a:r>
              <a:rPr kumimoji="1"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表示二元关系</a:t>
            </a:r>
          </a:p>
          <a:p>
            <a:pPr lvl="1" eaLnBrk="1" hangingPunct="1">
              <a:lnSpc>
                <a:spcPct val="120000"/>
              </a:lnSpc>
            </a:pPr>
            <a:r>
              <a:rPr kumimoji="1" lang="zh-CN" altLang="en-US" b="1" dirty="0"/>
              <a:t>以集合中的元素为顶点，若</a:t>
            </a:r>
            <a:r>
              <a:rPr kumimoji="1" lang="en-US" altLang="zh-CN" b="1" dirty="0">
                <a:solidFill>
                  <a:srgbClr val="3333FF"/>
                </a:solidFill>
              </a:rPr>
              <a:t>&lt;</a:t>
            </a:r>
            <a:r>
              <a:rPr kumimoji="1" lang="en-US" altLang="zh-CN" b="1" i="1" dirty="0">
                <a:solidFill>
                  <a:srgbClr val="3333FF"/>
                </a:solidFill>
              </a:rPr>
              <a:t>x</a:t>
            </a:r>
            <a:r>
              <a:rPr kumimoji="1" lang="en-US" altLang="zh-CN" b="1" baseline="-25000" dirty="0">
                <a:solidFill>
                  <a:srgbClr val="3333FF"/>
                </a:solidFill>
              </a:rPr>
              <a:t>i</a:t>
            </a:r>
            <a:r>
              <a:rPr kumimoji="1" lang="en-US" altLang="zh-CN" b="1" dirty="0">
                <a:solidFill>
                  <a:srgbClr val="3333FF"/>
                </a:solidFill>
              </a:rPr>
              <a:t>, </a:t>
            </a:r>
            <a:r>
              <a:rPr kumimoji="1" lang="en-US" altLang="zh-CN" b="1" i="1" dirty="0" err="1">
                <a:solidFill>
                  <a:srgbClr val="3333FF"/>
                </a:solidFill>
              </a:rPr>
              <a:t>x</a:t>
            </a:r>
            <a:r>
              <a:rPr kumimoji="1" lang="en-US" altLang="zh-CN" b="1" baseline="-25000" dirty="0" err="1">
                <a:solidFill>
                  <a:srgbClr val="3333FF"/>
                </a:solidFill>
              </a:rPr>
              <a:t>j</a:t>
            </a:r>
            <a:r>
              <a:rPr kumimoji="1" lang="en-US" altLang="zh-CN" b="1" dirty="0">
                <a:solidFill>
                  <a:srgbClr val="3333FF"/>
                </a:solidFill>
              </a:rPr>
              <a:t>&gt;</a:t>
            </a:r>
            <a:r>
              <a:rPr kumimoji="1" lang="en-US" altLang="zh-CN" b="1" dirty="0">
                <a:solidFill>
                  <a:srgbClr val="3333FF"/>
                </a:solidFill>
                <a:sym typeface="Symbol" pitchFamily="18" charset="2"/>
              </a:rPr>
              <a:t></a:t>
            </a:r>
            <a:r>
              <a:rPr kumimoji="1" lang="en-US" altLang="zh-CN" b="1" i="1" dirty="0">
                <a:solidFill>
                  <a:srgbClr val="3333FF"/>
                </a:solidFill>
                <a:sym typeface="Symbol" pitchFamily="18" charset="2"/>
              </a:rPr>
              <a:t>R</a:t>
            </a:r>
            <a:r>
              <a:rPr kumimoji="1" lang="zh-CN" altLang="en-US" b="1" dirty="0">
                <a:sym typeface="Symbol" pitchFamily="18" charset="2"/>
              </a:rPr>
              <a:t>，则用一条带箭头的弧线把</a:t>
            </a:r>
            <a:r>
              <a:rPr kumimoji="1" lang="en-US" altLang="zh-CN" b="1" i="1" dirty="0"/>
              <a:t>x</a:t>
            </a:r>
            <a:r>
              <a:rPr kumimoji="1" lang="en-US" altLang="zh-CN" b="1" i="1" baseline="-25000" dirty="0"/>
              <a:t>i</a:t>
            </a:r>
            <a:r>
              <a:rPr kumimoji="1" lang="zh-CN" altLang="en-US" b="1" dirty="0"/>
              <a:t>和</a:t>
            </a:r>
            <a:r>
              <a:rPr kumimoji="1" lang="en-US" altLang="zh-CN" b="1" i="1" dirty="0" err="1"/>
              <a:t>x</a:t>
            </a:r>
            <a:r>
              <a:rPr kumimoji="1" lang="en-US" altLang="zh-CN" b="1" i="1" baseline="-25000" dirty="0" err="1"/>
              <a:t>j</a:t>
            </a:r>
            <a:r>
              <a:rPr kumimoji="1" lang="zh-CN" altLang="en-US" b="1" dirty="0"/>
              <a:t>连起来，箭头的方向由</a:t>
            </a:r>
            <a:r>
              <a:rPr kumimoji="1" lang="en-US" altLang="zh-CN" b="1" i="1" dirty="0"/>
              <a:t>x</a:t>
            </a:r>
            <a:r>
              <a:rPr kumimoji="1" lang="en-US" altLang="zh-CN" b="1" i="1" baseline="-25000" dirty="0"/>
              <a:t>i</a:t>
            </a:r>
            <a:r>
              <a:rPr kumimoji="1" lang="zh-CN" altLang="en-US" b="1" dirty="0"/>
              <a:t>指向</a:t>
            </a:r>
            <a:r>
              <a:rPr kumimoji="1" lang="en-US" altLang="zh-CN" b="1" i="1" dirty="0" err="1"/>
              <a:t>x</a:t>
            </a:r>
            <a:r>
              <a:rPr kumimoji="1" lang="en-US" altLang="zh-CN" b="1" i="1" baseline="-25000" dirty="0" err="1"/>
              <a:t>j</a:t>
            </a:r>
            <a:r>
              <a:rPr kumimoji="1" lang="zh-CN" altLang="en-US" b="1" dirty="0"/>
              <a:t>，得到的图就是表示</a:t>
            </a:r>
            <a:r>
              <a:rPr kumimoji="1" lang="en-US" altLang="zh-CN" b="1" i="1" dirty="0"/>
              <a:t>R</a:t>
            </a:r>
            <a:r>
              <a:rPr kumimoji="1" lang="zh-CN" altLang="en-US" b="1" dirty="0"/>
              <a:t>的关系图。</a:t>
            </a:r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4727575" y="2492375"/>
            <a:ext cx="8686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0" hangingPunct="0"/>
            <a:endParaRPr kumimoji="1" lang="en-US" altLang="zh-CN" sz="3200">
              <a:latin typeface="Times New Roman" pitchFamily="18" charset="0"/>
            </a:endParaRPr>
          </a:p>
          <a:p>
            <a:pPr algn="l" eaLnBrk="0" hangingPunct="0"/>
            <a:endParaRPr kumimoji="1" lang="en-US" altLang="zh-CN" sz="3200">
              <a:latin typeface="华文新魏" pitchFamily="2" charset="-122"/>
              <a:ea typeface="华文新魏" pitchFamily="2" charset="-122"/>
            </a:endParaRPr>
          </a:p>
        </p:txBody>
      </p:sp>
      <p:cxnSp>
        <p:nvCxnSpPr>
          <p:cNvPr id="100355" name="AutoShape 3"/>
          <p:cNvCxnSpPr>
            <a:cxnSpLocks noChangeShapeType="1"/>
          </p:cNvCxnSpPr>
          <p:nvPr/>
        </p:nvCxnSpPr>
        <p:spPr bwMode="auto">
          <a:xfrm>
            <a:off x="6024563" y="5013325"/>
            <a:ext cx="836612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0356" name="Line 4"/>
          <p:cNvSpPr>
            <a:spLocks noChangeShapeType="1"/>
          </p:cNvSpPr>
          <p:nvPr/>
        </p:nvSpPr>
        <p:spPr bwMode="auto">
          <a:xfrm>
            <a:off x="6862763" y="5013325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endParaRPr lang="zh-CN" altLang="en-US"/>
          </a:p>
        </p:txBody>
      </p:sp>
      <p:sp>
        <p:nvSpPr>
          <p:cNvPr id="100357" name="Oval 5"/>
          <p:cNvSpPr>
            <a:spLocks noChangeArrowheads="1"/>
          </p:cNvSpPr>
          <p:nvPr/>
        </p:nvSpPr>
        <p:spPr bwMode="auto">
          <a:xfrm>
            <a:off x="5872163" y="4937125"/>
            <a:ext cx="152400" cy="152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58" name="Oval 6"/>
          <p:cNvSpPr>
            <a:spLocks noChangeArrowheads="1"/>
          </p:cNvSpPr>
          <p:nvPr/>
        </p:nvSpPr>
        <p:spPr bwMode="auto">
          <a:xfrm>
            <a:off x="7583488" y="4941888"/>
            <a:ext cx="152400" cy="152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59" name="Text Box 7"/>
          <p:cNvSpPr txBox="1">
            <a:spLocks noChangeArrowheads="1"/>
          </p:cNvSpPr>
          <p:nvPr/>
        </p:nvSpPr>
        <p:spPr bwMode="auto">
          <a:xfrm>
            <a:off x="5414963" y="5089525"/>
            <a:ext cx="990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32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kumimoji="1" lang="en-US" altLang="zh-CN" sz="3200" b="1" baseline="-2500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</a:p>
        </p:txBody>
      </p:sp>
      <p:sp>
        <p:nvSpPr>
          <p:cNvPr id="100360" name="Text Box 8"/>
          <p:cNvSpPr txBox="1">
            <a:spLocks noChangeArrowheads="1"/>
          </p:cNvSpPr>
          <p:nvPr/>
        </p:nvSpPr>
        <p:spPr bwMode="auto">
          <a:xfrm>
            <a:off x="7319963" y="5089525"/>
            <a:ext cx="76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32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kumimoji="1" lang="en-US" altLang="zh-CN" sz="3200" b="1" baseline="-2500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</a:t>
            </a:r>
          </a:p>
        </p:txBody>
      </p:sp>
      <p:sp>
        <p:nvSpPr>
          <p:cNvPr id="24585" name="Rectangle 9"/>
          <p:cNvSpPr>
            <a:spLocks noGrp="1" noChangeArrowheads="1"/>
          </p:cNvSpPr>
          <p:nvPr>
            <p:ph type="title"/>
          </p:nvPr>
        </p:nvSpPr>
        <p:spPr>
          <a:xfrm>
            <a:off x="1981200" y="351959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关系的表示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D4BFDE1-EF3D-1217-AC20-1C1048EB5E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26602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6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62" grpId="0" build="p" animBg="1"/>
      <p:bldP spid="100356" grpId="0" animBg="1"/>
      <p:bldP spid="100357" grpId="0" animBg="1"/>
      <p:bldP spid="100358" grpId="0" animBg="1"/>
      <p:bldP spid="100359" grpId="0" autoUpdateAnimBg="0"/>
      <p:bldP spid="10036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BF3DCFE-43E1-4F01-B856-1F203ED36C3E}"/>
              </a:ext>
            </a:extLst>
          </p:cNvPr>
          <p:cNvSpPr/>
          <p:nvPr/>
        </p:nvSpPr>
        <p:spPr bwMode="auto">
          <a:xfrm>
            <a:off x="1343472" y="1340768"/>
            <a:ext cx="9793088" cy="2276120"/>
          </a:xfrm>
          <a:prstGeom prst="rect">
            <a:avLst/>
          </a:prstGeom>
          <a:solidFill>
            <a:srgbClr val="FFCC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i="1"/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253892"/>
            <a:ext cx="8229600" cy="13716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8000"/>
                </a:solidFill>
                <a:latin typeface="+mn-lt"/>
                <a:ea typeface="黑体" panose="02010609060101010101" pitchFamily="49" charset="-122"/>
              </a:rPr>
              <a:t>用关系图表示从</a:t>
            </a:r>
            <a:r>
              <a:rPr lang="en-US" altLang="zh-CN" dirty="0">
                <a:solidFill>
                  <a:srgbClr val="008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zh-CN" altLang="en-US" dirty="0">
                <a:solidFill>
                  <a:srgbClr val="008000"/>
                </a:solidFill>
                <a:latin typeface="+mn-lt"/>
                <a:ea typeface="黑体" panose="02010609060101010101" pitchFamily="49" charset="-122"/>
              </a:rPr>
              <a:t>到</a:t>
            </a:r>
            <a:r>
              <a:rPr lang="en-US" altLang="zh-CN" dirty="0">
                <a:solidFill>
                  <a:srgbClr val="008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zh-CN" altLang="en-US" dirty="0">
                <a:solidFill>
                  <a:srgbClr val="008000"/>
                </a:solidFill>
                <a:latin typeface="+mn-lt"/>
                <a:ea typeface="黑体" panose="02010609060101010101" pitchFamily="49" charset="-122"/>
              </a:rPr>
              <a:t>的二元关系</a:t>
            </a:r>
          </a:p>
        </p:txBody>
      </p:sp>
      <p:sp>
        <p:nvSpPr>
          <p:cNvPr id="105476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343472" y="1412876"/>
            <a:ext cx="9793088" cy="2605088"/>
          </a:xfrm>
        </p:spPr>
        <p:txBody>
          <a:bodyPr/>
          <a:lstStyle/>
          <a:p>
            <a:pPr marL="609600" indent="-609600" eaLnBrk="1" hangingPunct="1"/>
            <a:r>
              <a:rPr lang="zh-CN" altLang="en-US" b="1" dirty="0"/>
              <a:t>设</a:t>
            </a:r>
            <a:r>
              <a:rPr lang="en-US" altLang="zh-CN" b="1" i="1" dirty="0"/>
              <a:t>A</a:t>
            </a:r>
            <a:r>
              <a:rPr lang="en-US" altLang="zh-CN" b="1" dirty="0"/>
              <a:t>={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,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,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,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4</a:t>
            </a:r>
            <a:r>
              <a:rPr lang="en-US" altLang="zh-CN" b="1" dirty="0"/>
              <a:t>}</a:t>
            </a:r>
            <a:r>
              <a:rPr lang="zh-CN" altLang="en-US" b="1" dirty="0"/>
              <a:t>，</a:t>
            </a:r>
            <a:r>
              <a:rPr lang="en-US" altLang="zh-CN" b="1" i="1" dirty="0"/>
              <a:t>B</a:t>
            </a:r>
            <a:r>
              <a:rPr lang="en-US" altLang="zh-CN" b="1" dirty="0"/>
              <a:t>={</a:t>
            </a:r>
            <a:r>
              <a:rPr lang="en-US" altLang="zh-CN" b="1" i="1" dirty="0"/>
              <a:t>b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,</a:t>
            </a:r>
            <a:r>
              <a:rPr lang="en-US" altLang="zh-CN" b="1" i="1" dirty="0"/>
              <a:t>b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,</a:t>
            </a:r>
            <a:r>
              <a:rPr lang="en-US" altLang="zh-CN" b="1" i="1" dirty="0"/>
              <a:t>b</a:t>
            </a:r>
            <a:r>
              <a:rPr lang="en-US" altLang="zh-CN" b="1" baseline="-25000" dirty="0"/>
              <a:t>3</a:t>
            </a:r>
            <a:r>
              <a:rPr lang="en-US" altLang="zh-CN" b="1" dirty="0">
                <a:sym typeface="Symbol" pitchFamily="18" charset="2"/>
              </a:rPr>
              <a:t>}</a:t>
            </a:r>
            <a:r>
              <a:rPr lang="zh-CN" altLang="en-US" b="1" dirty="0"/>
              <a:t>，</a:t>
            </a:r>
            <a:r>
              <a:rPr lang="en-US" altLang="zh-CN" b="1" i="1" dirty="0"/>
              <a:t>R</a:t>
            </a:r>
            <a:r>
              <a:rPr lang="zh-CN" altLang="en-US" b="1" dirty="0"/>
              <a:t>是</a:t>
            </a:r>
            <a:r>
              <a:rPr lang="en-US" altLang="zh-CN" b="1" i="1" dirty="0"/>
              <a:t>A</a:t>
            </a:r>
            <a:r>
              <a:rPr lang="zh-CN" altLang="en-US" b="1" dirty="0"/>
              <a:t>到</a:t>
            </a:r>
            <a:r>
              <a:rPr lang="en-US" altLang="zh-CN" b="1" i="1" dirty="0"/>
              <a:t>B</a:t>
            </a:r>
            <a:r>
              <a:rPr lang="zh-CN" altLang="en-US" b="1" dirty="0"/>
              <a:t>的二元关系，定义为：</a:t>
            </a:r>
          </a:p>
          <a:p>
            <a:pPr marL="609600" indent="-609600" eaLnBrk="1" hangingPunct="1">
              <a:buNone/>
            </a:pPr>
            <a:r>
              <a:rPr lang="en-US" altLang="zh-CN" b="1" i="1" dirty="0"/>
              <a:t>R</a:t>
            </a:r>
            <a:r>
              <a:rPr lang="en-US" altLang="zh-CN" b="1" dirty="0"/>
              <a:t>={</a:t>
            </a:r>
            <a:r>
              <a:rPr lang="en-US" altLang="zh-CN" b="1" dirty="0">
                <a:sym typeface="Symbol" pitchFamily="18" charset="2"/>
              </a:rPr>
              <a:t>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,</a:t>
            </a:r>
            <a:r>
              <a:rPr lang="en-US" altLang="zh-CN" b="1" i="1" dirty="0"/>
              <a:t>b</a:t>
            </a:r>
            <a:r>
              <a:rPr lang="en-US" altLang="zh-CN" b="1" baseline="-25000" dirty="0"/>
              <a:t>1</a:t>
            </a:r>
            <a:r>
              <a:rPr lang="en-US" altLang="zh-CN" b="1" dirty="0">
                <a:sym typeface="Symbol" pitchFamily="18" charset="2"/>
              </a:rPr>
              <a:t></a:t>
            </a:r>
            <a:r>
              <a:rPr lang="en-US" altLang="zh-CN" b="1" dirty="0"/>
              <a:t>, </a:t>
            </a:r>
            <a:r>
              <a:rPr lang="en-US" altLang="zh-CN" b="1" dirty="0">
                <a:sym typeface="Symbol" pitchFamily="18" charset="2"/>
              </a:rPr>
              <a:t>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,</a:t>
            </a:r>
            <a:r>
              <a:rPr lang="en-US" altLang="zh-CN" b="1" i="1" dirty="0"/>
              <a:t>b</a:t>
            </a:r>
            <a:r>
              <a:rPr lang="en-US" altLang="zh-CN" b="1" baseline="-25000" dirty="0"/>
              <a:t>3</a:t>
            </a:r>
            <a:r>
              <a:rPr lang="en-US" altLang="zh-CN" b="1" dirty="0">
                <a:sym typeface="Symbol" pitchFamily="18" charset="2"/>
              </a:rPr>
              <a:t></a:t>
            </a:r>
            <a:r>
              <a:rPr lang="en-US" altLang="zh-CN" b="1" dirty="0"/>
              <a:t>, </a:t>
            </a:r>
            <a:r>
              <a:rPr lang="en-US" altLang="zh-CN" b="1" dirty="0">
                <a:sym typeface="Symbol" pitchFamily="18" charset="2"/>
              </a:rPr>
              <a:t>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,</a:t>
            </a:r>
            <a:r>
              <a:rPr lang="en-US" altLang="zh-CN" b="1" i="1" dirty="0"/>
              <a:t>b</a:t>
            </a:r>
            <a:r>
              <a:rPr lang="en-US" altLang="zh-CN" b="1" baseline="-25000" dirty="0"/>
              <a:t>2</a:t>
            </a:r>
            <a:r>
              <a:rPr lang="en-US" altLang="zh-CN" b="1" dirty="0">
                <a:sym typeface="Symbol" pitchFamily="18" charset="2"/>
              </a:rPr>
              <a:t></a:t>
            </a:r>
            <a:r>
              <a:rPr lang="en-US" altLang="zh-CN" b="1" dirty="0"/>
              <a:t>, </a:t>
            </a:r>
            <a:r>
              <a:rPr lang="en-US" altLang="zh-CN" b="1" dirty="0">
                <a:sym typeface="Symbol" pitchFamily="18" charset="2"/>
              </a:rPr>
              <a:t>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,</a:t>
            </a:r>
            <a:r>
              <a:rPr lang="en-US" altLang="zh-CN" b="1" i="1" dirty="0"/>
              <a:t>b</a:t>
            </a:r>
            <a:r>
              <a:rPr lang="en-US" altLang="zh-CN" b="1" baseline="-25000" dirty="0"/>
              <a:t>3</a:t>
            </a:r>
            <a:r>
              <a:rPr lang="en-US" altLang="zh-CN" b="1" dirty="0">
                <a:sym typeface="Symbol" pitchFamily="18" charset="2"/>
              </a:rPr>
              <a:t></a:t>
            </a:r>
            <a:r>
              <a:rPr lang="en-US" altLang="zh-CN" b="1" dirty="0"/>
              <a:t>, </a:t>
            </a:r>
            <a:r>
              <a:rPr lang="en-US" altLang="zh-CN" b="1" dirty="0">
                <a:sym typeface="Symbol" pitchFamily="18" charset="2"/>
              </a:rPr>
              <a:t>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,</a:t>
            </a:r>
            <a:r>
              <a:rPr lang="en-US" altLang="zh-CN" b="1" i="1" dirty="0"/>
              <a:t>b</a:t>
            </a:r>
            <a:r>
              <a:rPr lang="en-US" altLang="zh-CN" b="1" baseline="-25000" dirty="0"/>
              <a:t>1</a:t>
            </a:r>
            <a:r>
              <a:rPr lang="en-US" altLang="zh-CN" b="1" dirty="0">
                <a:sym typeface="Symbol" pitchFamily="18" charset="2"/>
              </a:rPr>
              <a:t></a:t>
            </a:r>
            <a:r>
              <a:rPr lang="en-US" altLang="zh-CN" b="1" dirty="0"/>
              <a:t>, </a:t>
            </a:r>
            <a:r>
              <a:rPr lang="en-US" altLang="zh-CN" b="1" dirty="0">
                <a:sym typeface="Symbol" pitchFamily="18" charset="2"/>
              </a:rPr>
              <a:t>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4</a:t>
            </a:r>
            <a:r>
              <a:rPr lang="en-US" altLang="zh-CN" b="1" dirty="0"/>
              <a:t>,</a:t>
            </a:r>
            <a:r>
              <a:rPr lang="en-US" altLang="zh-CN" b="1" i="1" dirty="0"/>
              <a:t>b</a:t>
            </a:r>
            <a:r>
              <a:rPr lang="en-US" altLang="zh-CN" b="1" baseline="-25000" dirty="0"/>
              <a:t>1</a:t>
            </a:r>
            <a:r>
              <a:rPr lang="en-US" altLang="zh-CN" b="1" dirty="0">
                <a:sym typeface="Symbol" pitchFamily="18" charset="2"/>
              </a:rPr>
              <a:t></a:t>
            </a:r>
            <a:r>
              <a:rPr lang="en-US" altLang="zh-CN" b="1" dirty="0"/>
              <a:t>,</a:t>
            </a:r>
            <a:r>
              <a:rPr lang="en-US" altLang="zh-CN" b="1" dirty="0">
                <a:sym typeface="Symbol" pitchFamily="18" charset="2"/>
              </a:rPr>
              <a:t></a:t>
            </a:r>
            <a:r>
              <a:rPr lang="en-US" altLang="zh-CN" b="1" i="1" dirty="0"/>
              <a:t>a</a:t>
            </a:r>
            <a:r>
              <a:rPr lang="en-US" altLang="zh-CN" b="1" baseline="-25000" dirty="0"/>
              <a:t>4</a:t>
            </a:r>
            <a:r>
              <a:rPr lang="en-US" altLang="zh-CN" b="1" dirty="0"/>
              <a:t>,</a:t>
            </a:r>
            <a:r>
              <a:rPr lang="en-US" altLang="zh-CN" b="1" i="1" dirty="0"/>
              <a:t>b</a:t>
            </a:r>
            <a:r>
              <a:rPr lang="en-US" altLang="zh-CN" b="1" baseline="-25000" dirty="0"/>
              <a:t>2</a:t>
            </a:r>
            <a:r>
              <a:rPr lang="en-US" altLang="zh-CN" b="1" dirty="0">
                <a:sym typeface="Symbol" pitchFamily="18" charset="2"/>
              </a:rPr>
              <a:t>}</a:t>
            </a:r>
            <a:endParaRPr lang="en-US" altLang="zh-CN" b="1" dirty="0"/>
          </a:p>
          <a:p>
            <a:pPr marL="609600" indent="-609600" eaLnBrk="1" hangingPunct="1"/>
            <a:r>
              <a:rPr lang="zh-CN" altLang="en-US" b="1" dirty="0">
                <a:solidFill>
                  <a:srgbClr val="3333FF"/>
                </a:solidFill>
              </a:rPr>
              <a:t>则</a:t>
            </a:r>
            <a:r>
              <a:rPr lang="en-US" altLang="zh-CN" b="1" i="1" dirty="0">
                <a:solidFill>
                  <a:srgbClr val="3333FF"/>
                </a:solidFill>
              </a:rPr>
              <a:t>R</a:t>
            </a:r>
            <a:r>
              <a:rPr lang="zh-CN" altLang="en-US" b="1" dirty="0">
                <a:solidFill>
                  <a:srgbClr val="3333FF"/>
                </a:solidFill>
              </a:rPr>
              <a:t>的关系图</a:t>
            </a:r>
            <a:r>
              <a:rPr lang="en-US" altLang="zh-CN" b="1" i="1" dirty="0">
                <a:solidFill>
                  <a:srgbClr val="3333FF"/>
                </a:solidFill>
              </a:rPr>
              <a:t>G</a:t>
            </a:r>
            <a:r>
              <a:rPr lang="en-US" altLang="zh-CN" b="1" i="1" baseline="-25000" dirty="0">
                <a:solidFill>
                  <a:srgbClr val="3333FF"/>
                </a:solidFill>
              </a:rPr>
              <a:t>R</a:t>
            </a:r>
            <a:r>
              <a:rPr lang="zh-CN" altLang="en-US" b="1" dirty="0">
                <a:solidFill>
                  <a:srgbClr val="3333FF"/>
                </a:solidFill>
              </a:rPr>
              <a:t>为</a:t>
            </a:r>
            <a:r>
              <a:rPr lang="en-US" altLang="zh-CN" b="1" dirty="0"/>
              <a:t>:</a:t>
            </a:r>
            <a:endParaRPr lang="zh-CN" altLang="en-US" b="1" dirty="0"/>
          </a:p>
        </p:txBody>
      </p:sp>
      <p:pic>
        <p:nvPicPr>
          <p:cNvPr id="2560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072" y="3708036"/>
            <a:ext cx="3505200" cy="318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BABE3D00-5895-4980-A8E5-499BABB594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3694842"/>
              </p:ext>
            </p:extLst>
          </p:nvPr>
        </p:nvGraphicFramePr>
        <p:xfrm>
          <a:off x="2279576" y="4109112"/>
          <a:ext cx="3456384" cy="266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31560" imgH="1168200" progId="Equation.DSMT4">
                  <p:embed/>
                </p:oleObj>
              </mc:Choice>
              <mc:Fallback>
                <p:oleObj name="Equation" r:id="rId3" imgW="1231560" imgH="1168200" progId="Equation.DSMT4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BABE3D00-5895-4980-A8E5-499BABB594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4109112"/>
                        <a:ext cx="3456384" cy="266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9F3A2-7150-6A82-C74B-7967C5AF4F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1CA406-E31B-427D-A2BD-2F5D3E7220A4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86127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5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54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03213"/>
            <a:ext cx="8229600" cy="13716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8000"/>
                </a:solidFill>
                <a:ea typeface="黑体" panose="02010609060101010101" pitchFamily="49" charset="-122"/>
              </a:rPr>
              <a:t>用关系图表示从</a:t>
            </a:r>
            <a:r>
              <a:rPr lang="en-US" altLang="zh-CN" dirty="0">
                <a:solidFill>
                  <a:srgbClr val="008000"/>
                </a:solidFill>
                <a:ea typeface="黑体" panose="02010609060101010101" pitchFamily="49" charset="-122"/>
              </a:rPr>
              <a:t>A</a:t>
            </a:r>
            <a:r>
              <a:rPr lang="zh-CN" altLang="en-US" dirty="0">
                <a:solidFill>
                  <a:srgbClr val="008000"/>
                </a:solidFill>
                <a:ea typeface="黑体" panose="02010609060101010101" pitchFamily="49" charset="-122"/>
              </a:rPr>
              <a:t>上的二元关系</a:t>
            </a:r>
          </a:p>
        </p:txBody>
      </p:sp>
      <p:sp>
        <p:nvSpPr>
          <p:cNvPr id="102403" name="Text Box 3"/>
          <p:cNvSpPr txBox="1">
            <a:spLocks noChangeArrowheads="1"/>
          </p:cNvSpPr>
          <p:nvPr/>
        </p:nvSpPr>
        <p:spPr bwMode="auto">
          <a:xfrm>
            <a:off x="1487488" y="1658849"/>
            <a:ext cx="9217024" cy="1215526"/>
          </a:xfrm>
          <a:prstGeom prst="rect">
            <a:avLst/>
          </a:prstGeom>
          <a:solidFill>
            <a:srgbClr val="D9FFF8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en-US" altLang="zh-CN" sz="3200" b="1" i="1" dirty="0"/>
              <a:t>A</a:t>
            </a:r>
            <a:r>
              <a:rPr lang="en-US" altLang="zh-CN" sz="3200" b="1" dirty="0"/>
              <a:t>={1,2,3,4},</a:t>
            </a:r>
            <a:r>
              <a:rPr lang="en-US" altLang="zh-CN" sz="3200" b="1" i="1" dirty="0"/>
              <a:t>R</a:t>
            </a:r>
            <a:r>
              <a:rPr lang="en-US" altLang="zh-CN" sz="3200" b="1" dirty="0"/>
              <a:t>={&lt;1,1&gt;,&lt;1,2&gt;,&lt;2,3&gt;,&lt;2,4&gt;,&lt;4,2&gt;},</a:t>
            </a:r>
          </a:p>
          <a:p>
            <a:pPr algn="l" eaLnBrk="1" hangingPunct="1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</a:rPr>
              <a:t>R</a:t>
            </a:r>
            <a:r>
              <a:rPr lang="zh-CN" altLang="en-US" sz="3200" b="1" dirty="0">
                <a:solidFill>
                  <a:srgbClr val="FF0000"/>
                </a:solidFill>
              </a:rPr>
              <a:t>的关系图</a:t>
            </a:r>
            <a:r>
              <a:rPr lang="en-US" altLang="zh-CN" sz="3200" b="1" i="1" dirty="0">
                <a:solidFill>
                  <a:srgbClr val="FF0000"/>
                </a:solidFill>
              </a:rPr>
              <a:t>G</a:t>
            </a:r>
            <a:r>
              <a:rPr lang="en-US" altLang="zh-CN" sz="3200" b="1" i="1" baseline="-25000" dirty="0">
                <a:solidFill>
                  <a:srgbClr val="FF0000"/>
                </a:solidFill>
              </a:rPr>
              <a:t>R</a:t>
            </a:r>
            <a:r>
              <a:rPr lang="zh-CN" altLang="en-US" sz="3200" b="1" dirty="0">
                <a:solidFill>
                  <a:srgbClr val="FF0000"/>
                </a:solidFill>
              </a:rPr>
              <a:t>如下</a:t>
            </a:r>
            <a:r>
              <a:rPr lang="zh-CN" altLang="en-US" sz="3200" b="1" dirty="0"/>
              <a:t>：</a:t>
            </a:r>
          </a:p>
        </p:txBody>
      </p:sp>
      <p:pic>
        <p:nvPicPr>
          <p:cNvPr id="102405" name="Picture 5" descr="7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005" y="3119345"/>
            <a:ext cx="2309415" cy="2221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47DE78E3-0333-47E3-AE50-A6D4811374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0364251"/>
              </p:ext>
            </p:extLst>
          </p:nvPr>
        </p:nvGraphicFramePr>
        <p:xfrm>
          <a:off x="1852636" y="2931130"/>
          <a:ext cx="3179361" cy="2667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71600" imgH="1143000" progId="Equation.DSMT4">
                  <p:embed/>
                </p:oleObj>
              </mc:Choice>
              <mc:Fallback>
                <p:oleObj name="Equation" r:id="rId3" imgW="1371600" imgH="1143000" progId="Equation.DSMT4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47DE78E3-0333-47E3-AE50-A6D4811374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2636" y="2931130"/>
                        <a:ext cx="3179361" cy="266750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379A5AD-D08B-82EA-13BD-DBC9C7D52B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2647B4C-F2C8-9B1D-4DB7-52FE72533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5611212"/>
            <a:ext cx="9865096" cy="121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altLang="zh-CN" kern="0" dirty="0"/>
              <a:t>|</a:t>
            </a:r>
            <a:r>
              <a:rPr lang="en-US" altLang="zh-CN" i="1" kern="0" dirty="0"/>
              <a:t>A</a:t>
            </a:r>
            <a:r>
              <a:rPr lang="en-US" altLang="zh-CN" kern="0" dirty="0"/>
              <a:t>|=4,  |</a:t>
            </a:r>
            <a:r>
              <a:rPr lang="en-US" altLang="zh-CN" i="1" kern="0" dirty="0"/>
              <a:t>A</a:t>
            </a:r>
            <a:r>
              <a:rPr lang="en-US" altLang="zh-CN" kern="0" dirty="0">
                <a:sym typeface="Symbol"/>
              </a:rPr>
              <a:t></a:t>
            </a:r>
            <a:r>
              <a:rPr lang="en-US" altLang="zh-CN" i="1" kern="0" dirty="0"/>
              <a:t>A</a:t>
            </a:r>
            <a:r>
              <a:rPr lang="en-US" altLang="zh-CN" kern="0" dirty="0"/>
              <a:t>|=</a:t>
            </a:r>
          </a:p>
          <a:p>
            <a:pPr marL="0" indent="-57150" eaLnBrk="1" hangingPunct="1">
              <a:buFont typeface="Wingdings" pitchFamily="2" charset="2"/>
              <a:buNone/>
              <a:defRPr/>
            </a:pPr>
            <a:r>
              <a:rPr lang="en-US" altLang="zh-CN" kern="0" dirty="0"/>
              <a:t>   </a:t>
            </a:r>
            <a:r>
              <a:rPr lang="zh-CN" altLang="en-US" kern="0" dirty="0"/>
              <a:t>即 </a:t>
            </a:r>
            <a:r>
              <a:rPr lang="en-US" altLang="zh-CN" kern="0" dirty="0"/>
              <a:t>|A|=n</a:t>
            </a:r>
            <a:r>
              <a:rPr lang="zh-CN" altLang="en-US" kern="0" dirty="0"/>
              <a:t>时，</a:t>
            </a:r>
            <a:r>
              <a:rPr lang="zh-CN" altLang="en-US" b="1" kern="0" dirty="0"/>
              <a:t> </a:t>
            </a:r>
            <a:r>
              <a:rPr lang="en-US" altLang="zh-CN" b="1" i="1" kern="0" dirty="0"/>
              <a:t>A</a:t>
            </a:r>
            <a:r>
              <a:rPr lang="zh-CN" altLang="en-US" b="1" kern="0" dirty="0"/>
              <a:t>上有 </a:t>
            </a:r>
            <a:r>
              <a:rPr lang="en-US" altLang="zh-CN" b="1" kern="0" dirty="0">
                <a:solidFill>
                  <a:srgbClr val="FF0000"/>
                </a:solidFill>
              </a:rPr>
              <a:t>2</a:t>
            </a:r>
            <a:r>
              <a:rPr lang="en-US" altLang="zh-CN" b="1" i="1" kern="0" baseline="30000" dirty="0">
                <a:solidFill>
                  <a:srgbClr val="FF0000"/>
                </a:solidFill>
              </a:rPr>
              <a:t>n</a:t>
            </a:r>
            <a:r>
              <a:rPr lang="en-US" altLang="zh-CN" b="1" kern="0" baseline="50000" dirty="0">
                <a:solidFill>
                  <a:srgbClr val="FF0000"/>
                </a:solidFill>
              </a:rPr>
              <a:t>2</a:t>
            </a:r>
            <a:r>
              <a:rPr lang="zh-CN" altLang="en-US" b="1" kern="0" dirty="0"/>
              <a:t>个不同的二元关系</a:t>
            </a:r>
            <a:r>
              <a:rPr lang="en-US" altLang="zh-CN" b="1" kern="0" dirty="0"/>
              <a:t>.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F5012A-F78D-8F37-6DEC-C0E77DD9D3C9}"/>
              </a:ext>
            </a:extLst>
          </p:cNvPr>
          <p:cNvSpPr txBox="1"/>
          <p:nvPr/>
        </p:nvSpPr>
        <p:spPr>
          <a:xfrm flipH="1">
            <a:off x="4252466" y="5592278"/>
            <a:ext cx="8640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16</a:t>
            </a:r>
            <a:r>
              <a:rPr lang="en-US" altLang="zh-CN" sz="3200" b="1" dirty="0"/>
              <a:t>,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E33647-5F34-684E-B1C3-55B446758218}"/>
              </a:ext>
            </a:extLst>
          </p:cNvPr>
          <p:cNvSpPr txBox="1"/>
          <p:nvPr/>
        </p:nvSpPr>
        <p:spPr>
          <a:xfrm>
            <a:off x="5072474" y="5611211"/>
            <a:ext cx="31793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i="1" u="sng" dirty="0"/>
              <a:t>A</a:t>
            </a:r>
            <a:r>
              <a:rPr lang="en-US" altLang="zh-CN" sz="3200" b="1" u="sng" dirty="0"/>
              <a:t> </a:t>
            </a:r>
            <a:r>
              <a:rPr lang="en-US" altLang="zh-CN" sz="3200" b="1" u="sng" dirty="0">
                <a:sym typeface="Symbol"/>
              </a:rPr>
              <a:t> </a:t>
            </a:r>
            <a:r>
              <a:rPr lang="en-US" altLang="zh-CN" sz="3200" b="1" i="1" u="sng" dirty="0"/>
              <a:t>A</a:t>
            </a:r>
            <a:r>
              <a:rPr lang="zh-CN" altLang="en-US" sz="3200" b="1" u="sng" dirty="0"/>
              <a:t>的子集有</a:t>
            </a:r>
            <a:endParaRPr lang="zh-CN" altLang="en-US" sz="3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782C7D-6506-B0BD-3E16-F3EB7D8507CB}"/>
              </a:ext>
            </a:extLst>
          </p:cNvPr>
          <p:cNvSpPr txBox="1"/>
          <p:nvPr/>
        </p:nvSpPr>
        <p:spPr>
          <a:xfrm>
            <a:off x="7716255" y="5611210"/>
            <a:ext cx="12950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u="sng" dirty="0">
                <a:solidFill>
                  <a:srgbClr val="FF0000"/>
                </a:solidFill>
              </a:rPr>
              <a:t>16</a:t>
            </a:r>
            <a:r>
              <a:rPr lang="en-US" altLang="zh-CN" sz="3200" b="1" u="sng" baseline="50000" dirty="0">
                <a:solidFill>
                  <a:srgbClr val="FF0000"/>
                </a:solidFill>
              </a:rPr>
              <a:t>2</a:t>
            </a:r>
            <a:r>
              <a:rPr lang="zh-CN" altLang="en-US" sz="3200" b="1" u="sng" dirty="0"/>
              <a:t>个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94027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animBg="1"/>
      <p:bldP spid="3" grpId="0" uiExpand="1" build="p"/>
      <p:bldP spid="4" grpId="0"/>
      <p:bldP spid="5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15888"/>
            <a:ext cx="8229600" cy="1371600"/>
          </a:xfrm>
          <a:noFill/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二元关系的运算</a:t>
            </a:r>
          </a:p>
        </p:txBody>
      </p:sp>
      <p:sp>
        <p:nvSpPr>
          <p:cNvPr id="384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412876"/>
            <a:ext cx="10225136" cy="52562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设</a:t>
            </a:r>
            <a:r>
              <a:rPr lang="en-US" altLang="zh-CN" b="1" i="1" dirty="0"/>
              <a:t>R</a:t>
            </a:r>
            <a:r>
              <a:rPr lang="en-US" altLang="zh-CN" b="1" dirty="0">
                <a:sym typeface="Symbol" panose="05050102010706020507" pitchFamily="18" charset="2"/>
              </a:rPr>
              <a:t></a:t>
            </a:r>
            <a:r>
              <a:rPr lang="en-US" altLang="zh-CN" b="1" i="1" dirty="0"/>
              <a:t>A</a:t>
            </a:r>
            <a:r>
              <a:rPr lang="en-US" altLang="zh-CN" b="1" dirty="0">
                <a:sym typeface="Symbol" panose="05050102010706020507" pitchFamily="18" charset="2"/>
              </a:rPr>
              <a:t></a:t>
            </a:r>
            <a:r>
              <a:rPr lang="en-US" altLang="zh-CN" b="1" i="1" dirty="0"/>
              <a:t>B</a:t>
            </a:r>
            <a:r>
              <a:rPr lang="zh-CN" altLang="en-US" b="1" dirty="0"/>
              <a:t>，</a:t>
            </a:r>
            <a:r>
              <a:rPr lang="en-US" altLang="zh-CN" b="1" i="1" dirty="0"/>
              <a:t>R</a:t>
            </a:r>
            <a:r>
              <a:rPr lang="zh-CN" altLang="en-US" b="1" dirty="0"/>
              <a:t>是集合，则经典集合的运算性质全都满足，如：</a:t>
            </a:r>
            <a:endParaRPr lang="en-US" altLang="zh-CN" b="1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/>
              <a:t>幂等律、交换律、结合律、分配律、排中律</a:t>
            </a:r>
            <a:r>
              <a:rPr lang="en-US" altLang="zh-CN" b="1" dirty="0"/>
              <a:t>…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关系</a:t>
            </a:r>
            <a:r>
              <a:rPr lang="en-US" altLang="zh-CN" b="1" i="1" dirty="0">
                <a:solidFill>
                  <a:srgbClr val="FF3300"/>
                </a:solidFill>
              </a:rPr>
              <a:t>R</a:t>
            </a:r>
            <a:r>
              <a:rPr lang="zh-CN" altLang="en-US" b="1" dirty="0">
                <a:solidFill>
                  <a:srgbClr val="FF3300"/>
                </a:solidFill>
              </a:rPr>
              <a:t>的逆</a:t>
            </a:r>
            <a:r>
              <a:rPr lang="en-US" altLang="zh-CN" b="1" i="1" dirty="0">
                <a:solidFill>
                  <a:srgbClr val="FF0000"/>
                </a:solidFill>
              </a:rPr>
              <a:t>R</a:t>
            </a:r>
            <a:r>
              <a:rPr lang="en-US" altLang="zh-CN" b="1" baseline="30000" dirty="0">
                <a:solidFill>
                  <a:srgbClr val="FF0000"/>
                </a:solidFill>
                <a:sym typeface="Symbol" pitchFamily="18" charset="2"/>
              </a:rPr>
              <a:t>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en-US" altLang="zh-CN" b="1" dirty="0">
                <a:solidFill>
                  <a:srgbClr val="CC00CC"/>
                </a:solidFill>
              </a:rPr>
              <a:t> </a:t>
            </a:r>
            <a:r>
              <a:rPr lang="en-US" altLang="zh-CN" b="1" dirty="0"/>
              <a:t>= {&lt;</a:t>
            </a:r>
            <a:r>
              <a:rPr lang="en-US" altLang="zh-CN" b="1" i="1" dirty="0" err="1">
                <a:solidFill>
                  <a:srgbClr val="CC00CC"/>
                </a:solidFill>
              </a:rPr>
              <a:t>y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x</a:t>
            </a:r>
            <a:r>
              <a:rPr lang="en-US" altLang="zh-CN" b="1" dirty="0"/>
              <a:t>&gt; | &lt;</a:t>
            </a:r>
            <a:r>
              <a:rPr lang="en-US" altLang="zh-CN" b="1" i="1" dirty="0" err="1"/>
              <a:t>x</a:t>
            </a:r>
            <a:r>
              <a:rPr lang="en-US" altLang="zh-CN" b="1" dirty="0" err="1"/>
              <a:t>,</a:t>
            </a:r>
            <a:r>
              <a:rPr lang="en-US" altLang="zh-CN" b="1" i="1" dirty="0" err="1">
                <a:solidFill>
                  <a:srgbClr val="CC00CC"/>
                </a:solidFill>
              </a:rPr>
              <a:t>y</a:t>
            </a:r>
            <a:r>
              <a:rPr lang="en-US" altLang="zh-CN" b="1" dirty="0"/>
              <a:t>&gt;</a:t>
            </a:r>
            <a:r>
              <a:rPr lang="en-US" altLang="zh-CN" b="1" dirty="0">
                <a:sym typeface="Symbol" pitchFamily="18" charset="2"/>
              </a:rPr>
              <a:t></a:t>
            </a:r>
            <a:r>
              <a:rPr lang="en-US" altLang="zh-CN" b="1" i="1" dirty="0">
                <a:sym typeface="Symbol" pitchFamily="18" charset="2"/>
              </a:rPr>
              <a:t>R </a:t>
            </a:r>
            <a:r>
              <a:rPr lang="en-US" altLang="zh-CN" b="1" dirty="0"/>
              <a:t>}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3333FF"/>
                </a:solidFill>
              </a:rPr>
              <a:t>如“小于等于关系</a:t>
            </a:r>
            <a:r>
              <a:rPr lang="en-US" altLang="zh-CN" b="1" i="1" dirty="0">
                <a:solidFill>
                  <a:srgbClr val="3333FF"/>
                </a:solidFill>
              </a:rPr>
              <a:t>R</a:t>
            </a:r>
            <a:r>
              <a:rPr lang="zh-CN" altLang="en-US" b="1" dirty="0">
                <a:solidFill>
                  <a:srgbClr val="3333FF"/>
                </a:solidFill>
              </a:rPr>
              <a:t>”</a:t>
            </a:r>
            <a:r>
              <a:rPr lang="en-US" altLang="zh-CN" b="1" i="1" dirty="0">
                <a:solidFill>
                  <a:srgbClr val="3333FF"/>
                </a:solidFill>
              </a:rPr>
              <a:t> </a:t>
            </a:r>
            <a:endParaRPr lang="en-US" altLang="zh-CN" b="1" dirty="0">
              <a:solidFill>
                <a:srgbClr val="3333FF"/>
              </a:solidFill>
            </a:endParaRPr>
          </a:p>
          <a:p>
            <a:pPr marL="457200" lvl="1" indent="0" eaLnBrk="1" hangingPunct="1">
              <a:lnSpc>
                <a:spcPct val="120000"/>
              </a:lnSpc>
              <a:buNone/>
            </a:pPr>
            <a:r>
              <a:rPr lang="zh-CN" altLang="en-US" b="1" i="1" dirty="0">
                <a:solidFill>
                  <a:srgbClr val="3333FF"/>
                </a:solidFill>
              </a:rPr>
              <a:t>             </a:t>
            </a:r>
            <a:r>
              <a:rPr lang="en-US" altLang="zh-CN" b="1" i="1" dirty="0">
                <a:solidFill>
                  <a:srgbClr val="3333FF"/>
                </a:solidFill>
              </a:rPr>
              <a:t>R</a:t>
            </a:r>
            <a:r>
              <a:rPr lang="en-US" altLang="zh-CN" b="1" dirty="0">
                <a:solidFill>
                  <a:srgbClr val="3333FF"/>
                </a:solidFill>
              </a:rPr>
              <a:t>={&lt;1,2&gt;, &lt;2,3&gt;, &lt;1,4&gt;, &lt;2,2&gt;}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CC00CC"/>
                </a:solidFill>
              </a:rPr>
              <a:t>则 </a:t>
            </a:r>
            <a:r>
              <a:rPr lang="en-US" altLang="zh-CN" b="1" i="1" dirty="0">
                <a:solidFill>
                  <a:srgbClr val="CC00CC"/>
                </a:solidFill>
              </a:rPr>
              <a:t>R </a:t>
            </a:r>
            <a:r>
              <a:rPr lang="en-US" altLang="zh-CN" b="1" baseline="30000" dirty="0">
                <a:solidFill>
                  <a:srgbClr val="CC00CC"/>
                </a:solidFill>
                <a:sym typeface="Symbol" pitchFamily="18" charset="2"/>
              </a:rPr>
              <a:t></a:t>
            </a:r>
            <a:r>
              <a:rPr lang="en-US" altLang="zh-CN" b="1" baseline="30000" dirty="0">
                <a:solidFill>
                  <a:srgbClr val="CC00CC"/>
                </a:solidFill>
              </a:rPr>
              <a:t>1</a:t>
            </a:r>
            <a:r>
              <a:rPr lang="en-US" altLang="zh-CN" b="1" dirty="0">
                <a:solidFill>
                  <a:srgbClr val="CC00CC"/>
                </a:solidFill>
              </a:rPr>
              <a:t> ={&lt;2,1&gt;, &lt;3,2&gt;, &lt;4,1&gt;, &lt;2,2&gt;} </a:t>
            </a:r>
          </a:p>
          <a:p>
            <a:pPr marL="457200" lvl="1" indent="0" eaLnBrk="1" hangingPunct="1">
              <a:lnSpc>
                <a:spcPct val="120000"/>
              </a:lnSpc>
              <a:buNone/>
            </a:pPr>
            <a:r>
              <a:rPr lang="en-US" altLang="zh-CN" b="1" dirty="0">
                <a:solidFill>
                  <a:srgbClr val="CC00CC"/>
                </a:solidFill>
              </a:rPr>
              <a:t>        </a:t>
            </a:r>
            <a:r>
              <a:rPr lang="zh-CN" altLang="en-US" b="1" dirty="0">
                <a:solidFill>
                  <a:srgbClr val="CC00CC"/>
                </a:solidFill>
              </a:rPr>
              <a:t>为“大于等于关系”</a:t>
            </a:r>
            <a:endParaRPr lang="en-US" altLang="zh-CN" b="1" dirty="0">
              <a:solidFill>
                <a:srgbClr val="CC00CC"/>
              </a:solidFill>
            </a:endParaRPr>
          </a:p>
          <a:p>
            <a:pPr marL="457200" lvl="1" indent="0" eaLnBrk="1" hangingPunct="1">
              <a:buNone/>
            </a:pPr>
            <a:endParaRPr lang="en-US" altLang="zh-CN" b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59B9F71-E0EA-86B6-64F1-3E1E0D7CC1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898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4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84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4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15888"/>
            <a:ext cx="8229600" cy="1371600"/>
          </a:xfrm>
          <a:noFill/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二元关系的合成运算</a:t>
            </a:r>
          </a:p>
        </p:txBody>
      </p:sp>
      <p:sp>
        <p:nvSpPr>
          <p:cNvPr id="384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1464" y="1252538"/>
            <a:ext cx="9937104" cy="5256212"/>
          </a:xfrm>
        </p:spPr>
        <p:txBody>
          <a:bodyPr/>
          <a:lstStyle/>
          <a:p>
            <a:pPr eaLnBrk="1" hangingPunct="1"/>
            <a:r>
              <a:rPr lang="en-US" altLang="zh-CN" b="1" i="1" dirty="0">
                <a:solidFill>
                  <a:srgbClr val="FF0000"/>
                </a:solidFill>
              </a:rPr>
              <a:t>F</a:t>
            </a:r>
            <a:r>
              <a:rPr lang="en-US" altLang="zh-CN" b="1" dirty="0">
                <a:solidFill>
                  <a:srgbClr val="FF0000"/>
                </a:solidFill>
              </a:rPr>
              <a:t>∘G = {&lt;</a:t>
            </a:r>
            <a:r>
              <a:rPr lang="en-US" altLang="zh-CN" b="1" i="1" dirty="0" err="1">
                <a:solidFill>
                  <a:srgbClr val="FF0000"/>
                </a:solidFill>
              </a:rPr>
              <a:t>x</a:t>
            </a:r>
            <a:r>
              <a:rPr lang="en-US" altLang="zh-CN" b="1" dirty="0" err="1">
                <a:solidFill>
                  <a:srgbClr val="FF0000"/>
                </a:solidFill>
              </a:rPr>
              <a:t>,y</a:t>
            </a:r>
            <a:r>
              <a:rPr lang="en-US" altLang="zh-CN" b="1" dirty="0">
                <a:solidFill>
                  <a:srgbClr val="FF0000"/>
                </a:solidFill>
              </a:rPr>
              <a:t>&gt; | </a:t>
            </a:r>
            <a:r>
              <a:rPr lang="en-US" altLang="zh-CN" b="1" dirty="0">
                <a:solidFill>
                  <a:srgbClr val="FF0000"/>
                </a:solidFill>
                <a:sym typeface="Symbol" pitchFamily="18" charset="2"/>
              </a:rPr>
              <a:t></a:t>
            </a:r>
            <a:r>
              <a:rPr lang="en-US" altLang="zh-CN" b="1" dirty="0">
                <a:solidFill>
                  <a:srgbClr val="008000"/>
                </a:solidFill>
              </a:rPr>
              <a:t>z</a:t>
            </a:r>
            <a:r>
              <a:rPr lang="en-US" altLang="zh-CN" b="1" dirty="0">
                <a:solidFill>
                  <a:srgbClr val="FF0000"/>
                </a:solidFill>
              </a:rPr>
              <a:t> (&lt;</a:t>
            </a:r>
            <a:r>
              <a:rPr lang="en-US" altLang="zh-CN" b="1" i="1" dirty="0" err="1">
                <a:solidFill>
                  <a:srgbClr val="FF0000"/>
                </a:solidFill>
              </a:rPr>
              <a:t>x</a:t>
            </a:r>
            <a:r>
              <a:rPr lang="en-US" altLang="zh-CN" b="1" dirty="0" err="1">
                <a:solidFill>
                  <a:srgbClr val="FF0000"/>
                </a:solidFill>
              </a:rPr>
              <a:t>,</a:t>
            </a:r>
            <a:r>
              <a:rPr lang="en-US" altLang="zh-CN" b="1" dirty="0" err="1">
                <a:solidFill>
                  <a:srgbClr val="008000"/>
                </a:solidFill>
              </a:rPr>
              <a:t>z</a:t>
            </a:r>
            <a:r>
              <a:rPr lang="en-US" altLang="zh-CN" b="1" dirty="0">
                <a:solidFill>
                  <a:srgbClr val="FF0000"/>
                </a:solidFill>
              </a:rPr>
              <a:t>&gt;</a:t>
            </a:r>
            <a:r>
              <a:rPr lang="en-US" altLang="zh-CN" b="1" dirty="0">
                <a:solidFill>
                  <a:srgbClr val="FF0000"/>
                </a:solidFill>
                <a:sym typeface="Symbol" pitchFamily="18" charset="2"/>
              </a:rPr>
              <a:t></a:t>
            </a:r>
            <a:r>
              <a:rPr lang="en-US" altLang="zh-CN" b="1" i="1" dirty="0">
                <a:solidFill>
                  <a:srgbClr val="FF0000"/>
                </a:solidFill>
                <a:sym typeface="Symbol" pitchFamily="18" charset="2"/>
              </a:rPr>
              <a:t>G</a:t>
            </a:r>
            <a:r>
              <a:rPr lang="en-US" altLang="zh-CN" b="1" dirty="0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altLang="zh-CN" b="1" dirty="0">
                <a:solidFill>
                  <a:srgbClr val="FF0000"/>
                </a:solidFill>
              </a:rPr>
              <a:t>&lt;</a:t>
            </a:r>
            <a:r>
              <a:rPr lang="en-US" altLang="zh-CN" b="1" dirty="0" err="1">
                <a:solidFill>
                  <a:srgbClr val="008000"/>
                </a:solidFill>
              </a:rPr>
              <a:t>z</a:t>
            </a:r>
            <a:r>
              <a:rPr lang="en-US" altLang="zh-CN" b="1" dirty="0" err="1">
                <a:solidFill>
                  <a:srgbClr val="FF0000"/>
                </a:solidFill>
              </a:rPr>
              <a:t>,</a:t>
            </a:r>
            <a:r>
              <a:rPr lang="en-US" altLang="zh-CN" b="1" i="1" dirty="0" err="1">
                <a:solidFill>
                  <a:srgbClr val="FF0000"/>
                </a:solidFill>
              </a:rPr>
              <a:t>y</a:t>
            </a:r>
            <a:r>
              <a:rPr lang="en-US" altLang="zh-CN" b="1" dirty="0">
                <a:solidFill>
                  <a:srgbClr val="FF0000"/>
                </a:solidFill>
              </a:rPr>
              <a:t>&gt;</a:t>
            </a:r>
            <a:r>
              <a:rPr lang="en-US" altLang="zh-CN" b="1" dirty="0">
                <a:solidFill>
                  <a:srgbClr val="FF0000"/>
                </a:solidFill>
                <a:sym typeface="Symbol" pitchFamily="18" charset="2"/>
              </a:rPr>
              <a:t></a:t>
            </a:r>
            <a:r>
              <a:rPr lang="en-US" altLang="zh-CN" b="1" i="1" dirty="0">
                <a:solidFill>
                  <a:srgbClr val="FF0000"/>
                </a:solidFill>
                <a:sym typeface="Symbol" pitchFamily="18" charset="2"/>
              </a:rPr>
              <a:t>F</a:t>
            </a:r>
            <a:r>
              <a:rPr lang="en-US" altLang="zh-CN" b="1" dirty="0">
                <a:solidFill>
                  <a:srgbClr val="FF0000"/>
                </a:solidFill>
              </a:rPr>
              <a:t>) }</a:t>
            </a:r>
            <a:r>
              <a:rPr lang="en-US" altLang="zh-CN" sz="3600" b="1" dirty="0">
                <a:solidFill>
                  <a:srgbClr val="FF0000"/>
                </a:solidFill>
              </a:rPr>
              <a:t> </a:t>
            </a:r>
          </a:p>
          <a:p>
            <a:pPr eaLnBrk="1" hangingPunct="1"/>
            <a:endParaRPr lang="en-US" altLang="zh-CN" sz="3600" b="1" dirty="0">
              <a:solidFill>
                <a:srgbClr val="FF0000"/>
              </a:solidFill>
            </a:endParaRPr>
          </a:p>
          <a:p>
            <a:pPr eaLnBrk="1" hangingPunct="1"/>
            <a:endParaRPr lang="en-US" altLang="zh-CN" sz="3600" b="1" dirty="0">
              <a:solidFill>
                <a:srgbClr val="FF0000"/>
              </a:solidFill>
            </a:endParaRPr>
          </a:p>
          <a:p>
            <a:pPr eaLnBrk="1" hangingPunct="1"/>
            <a:endParaRPr lang="en-US" altLang="zh-CN" sz="3600" b="1" dirty="0">
              <a:solidFill>
                <a:srgbClr val="FF0000"/>
              </a:solidFill>
            </a:endParaRPr>
          </a:p>
          <a:p>
            <a:pPr eaLnBrk="1" hangingPunct="1"/>
            <a:endParaRPr lang="en-US" altLang="zh-CN" sz="3600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b="1" dirty="0">
                <a:solidFill>
                  <a:srgbClr val="3333FF"/>
                </a:solidFill>
              </a:rPr>
              <a:t>如：</a:t>
            </a:r>
            <a:r>
              <a:rPr lang="zh-CN" altLang="en-US" b="1" i="1" dirty="0">
                <a:solidFill>
                  <a:srgbClr val="3333FF"/>
                </a:solidFill>
              </a:rPr>
              <a:t> </a:t>
            </a:r>
            <a:r>
              <a:rPr lang="en-US" altLang="zh-CN" b="1" i="1" dirty="0">
                <a:solidFill>
                  <a:srgbClr val="3333FF"/>
                </a:solidFill>
              </a:rPr>
              <a:t>R </a:t>
            </a:r>
            <a:r>
              <a:rPr lang="en-US" altLang="zh-CN" b="1" dirty="0">
                <a:solidFill>
                  <a:srgbClr val="3333FF"/>
                </a:solidFill>
              </a:rPr>
              <a:t>={&lt;1,2&gt;, &lt;2,3&gt;, &lt;1,4&gt;, &lt;2,2&gt;}</a:t>
            </a:r>
          </a:p>
          <a:p>
            <a:pPr lvl="2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i="1" dirty="0">
                <a:solidFill>
                  <a:srgbClr val="3333FF"/>
                </a:solidFill>
              </a:rPr>
              <a:t>      S </a:t>
            </a:r>
            <a:r>
              <a:rPr lang="en-US" altLang="zh-CN" sz="2800" b="1" dirty="0">
                <a:solidFill>
                  <a:srgbClr val="3333FF"/>
                </a:solidFill>
              </a:rPr>
              <a:t>= {&lt;1,1&gt;, &lt;1,3&gt;, &lt;2,3&gt;, &lt;3,2&gt;, &lt;3,3&gt;} 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b="1" dirty="0"/>
              <a:t>   </a:t>
            </a:r>
            <a:r>
              <a:rPr lang="zh-CN" altLang="en-US" b="1" dirty="0"/>
              <a:t>则</a:t>
            </a:r>
            <a:r>
              <a:rPr lang="en-US" altLang="zh-CN" b="1" i="1" dirty="0"/>
              <a:t>R</a:t>
            </a:r>
            <a:r>
              <a:rPr lang="en-US" altLang="zh-CN" b="1" dirty="0"/>
              <a:t>∘</a:t>
            </a:r>
            <a:r>
              <a:rPr lang="en-US" altLang="zh-CN" b="1" i="1" dirty="0"/>
              <a:t>S</a:t>
            </a:r>
            <a:r>
              <a:rPr lang="en-US" altLang="zh-CN" b="1" dirty="0"/>
              <a:t> = {&lt;1,2&gt;, &lt;1,4&gt;, &lt;3,2&gt;, &lt;3,3&gt;} 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b="1" i="1" dirty="0"/>
              <a:t>      S</a:t>
            </a:r>
            <a:r>
              <a:rPr lang="en-US" altLang="zh-CN" b="1" dirty="0"/>
              <a:t>∘</a:t>
            </a:r>
            <a:r>
              <a:rPr lang="en-US" altLang="zh-CN" b="1" i="1" dirty="0"/>
              <a:t>R</a:t>
            </a:r>
            <a:r>
              <a:rPr lang="en-US" altLang="zh-CN" b="1" dirty="0"/>
              <a:t> = {&lt;1,3&gt;, &lt;2,2&gt;, &lt;2,3&gt;}</a:t>
            </a:r>
            <a:r>
              <a:rPr lang="en-US" altLang="zh-CN" b="1" i="1" dirty="0"/>
              <a:t>  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B8924F-6FC8-471F-BE37-1EAFA1EB6AFD}"/>
              </a:ext>
            </a:extLst>
          </p:cNvPr>
          <p:cNvSpPr/>
          <p:nvPr/>
        </p:nvSpPr>
        <p:spPr>
          <a:xfrm>
            <a:off x="8231696" y="3830503"/>
            <a:ext cx="2249334" cy="584775"/>
          </a:xfrm>
          <a:prstGeom prst="rect">
            <a:avLst/>
          </a:prstGeom>
          <a:solidFill>
            <a:srgbClr val="FFFF00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r>
              <a:rPr lang="en-US" altLang="zh-CN" sz="3200" b="1" i="1" dirty="0"/>
              <a:t>R</a:t>
            </a:r>
            <a:r>
              <a:rPr lang="en-US" altLang="zh-CN" sz="3200" b="1" dirty="0"/>
              <a:t>∘</a:t>
            </a:r>
            <a:r>
              <a:rPr lang="en-US" altLang="zh-CN" sz="3200" b="1" i="1" dirty="0"/>
              <a:t>S</a:t>
            </a:r>
            <a:r>
              <a:rPr lang="en-US" altLang="zh-CN" sz="3200" b="1" dirty="0"/>
              <a:t> </a:t>
            </a:r>
            <a:r>
              <a:rPr lang="en-US" altLang="zh-CN" sz="3200" b="1" dirty="0">
                <a:sym typeface="Symbol" panose="05050102010706020507" pitchFamily="18" charset="2"/>
              </a:rPr>
              <a:t></a:t>
            </a:r>
            <a:r>
              <a:rPr lang="en-US" altLang="zh-CN" sz="3200" b="1" dirty="0"/>
              <a:t> </a:t>
            </a:r>
            <a:r>
              <a:rPr lang="en-US" altLang="zh-CN" sz="3200" b="1" i="1" dirty="0"/>
              <a:t>S</a:t>
            </a:r>
            <a:r>
              <a:rPr lang="en-US" altLang="zh-CN" sz="3200" b="1" dirty="0"/>
              <a:t>∘</a:t>
            </a:r>
            <a:r>
              <a:rPr lang="en-US" altLang="zh-CN" sz="3200" b="1" i="1" dirty="0"/>
              <a:t>R</a:t>
            </a:r>
            <a:r>
              <a:rPr lang="en-US" altLang="zh-CN" sz="3200" b="1" dirty="0"/>
              <a:t> </a:t>
            </a:r>
            <a:endParaRPr lang="zh-CN" altLang="en-US" sz="32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08CF7EA-69D2-5643-4899-52CCF16D0467}"/>
              </a:ext>
            </a:extLst>
          </p:cNvPr>
          <p:cNvGrpSpPr/>
          <p:nvPr/>
        </p:nvGrpSpPr>
        <p:grpSpPr>
          <a:xfrm>
            <a:off x="2324973" y="1749403"/>
            <a:ext cx="6702017" cy="2650378"/>
            <a:chOff x="800972" y="1749403"/>
            <a:chExt cx="6702017" cy="2650378"/>
          </a:xfrm>
        </p:grpSpPr>
        <p:grpSp>
          <p:nvGrpSpPr>
            <p:cNvPr id="82" name="组合 81"/>
            <p:cNvGrpSpPr>
              <a:grpSpLocks/>
            </p:cNvGrpSpPr>
            <p:nvPr/>
          </p:nvGrpSpPr>
          <p:grpSpPr bwMode="auto">
            <a:xfrm>
              <a:off x="1368814" y="1977852"/>
              <a:ext cx="5636192" cy="2421929"/>
              <a:chOff x="1558613" y="2060575"/>
              <a:chExt cx="5562912" cy="2572175"/>
            </a:xfrm>
          </p:grpSpPr>
          <p:sp>
            <p:nvSpPr>
              <p:cNvPr id="83" name="Oval 4"/>
              <p:cNvSpPr>
                <a:spLocks noChangeArrowheads="1"/>
              </p:cNvSpPr>
              <p:nvPr/>
            </p:nvSpPr>
            <p:spPr bwMode="auto">
              <a:xfrm>
                <a:off x="1577975" y="2153774"/>
                <a:ext cx="1095918" cy="17195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" name="Oval 5"/>
              <p:cNvSpPr>
                <a:spLocks noChangeArrowheads="1"/>
              </p:cNvSpPr>
              <p:nvPr/>
            </p:nvSpPr>
            <p:spPr bwMode="auto">
              <a:xfrm>
                <a:off x="3769809" y="2153774"/>
                <a:ext cx="1095918" cy="17195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" name="Oval 6"/>
              <p:cNvSpPr>
                <a:spLocks noChangeArrowheads="1"/>
              </p:cNvSpPr>
              <p:nvPr/>
            </p:nvSpPr>
            <p:spPr bwMode="auto">
              <a:xfrm>
                <a:off x="6025608" y="2153774"/>
                <a:ext cx="1095917" cy="17195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3333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zh-CN">
                  <a:solidFill>
                    <a:srgbClr val="3333FF"/>
                  </a:solidFill>
                </a:endParaRPr>
              </a:p>
            </p:txBody>
          </p:sp>
          <p:sp>
            <p:nvSpPr>
              <p:cNvPr id="86" name="Oval 8"/>
              <p:cNvSpPr>
                <a:spLocks noChangeArrowheads="1"/>
              </p:cNvSpPr>
              <p:nvPr/>
            </p:nvSpPr>
            <p:spPr bwMode="auto">
              <a:xfrm>
                <a:off x="2028567" y="2479455"/>
                <a:ext cx="129349" cy="93198"/>
              </a:xfrm>
              <a:prstGeom prst="ellipse">
                <a:avLst/>
              </a:prstGeom>
              <a:solidFill>
                <a:srgbClr val="008000"/>
              </a:solidFill>
              <a:ln w="28575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" name="Oval 9"/>
              <p:cNvSpPr>
                <a:spLocks noChangeArrowheads="1"/>
              </p:cNvSpPr>
              <p:nvPr/>
            </p:nvSpPr>
            <p:spPr bwMode="auto">
              <a:xfrm>
                <a:off x="2028567" y="3221968"/>
                <a:ext cx="129349" cy="93199"/>
              </a:xfrm>
              <a:prstGeom prst="ellipse">
                <a:avLst/>
              </a:prstGeom>
              <a:solidFill>
                <a:srgbClr val="008000"/>
              </a:solidFill>
              <a:ln w="28575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" name="Oval 10"/>
              <p:cNvSpPr>
                <a:spLocks noChangeArrowheads="1"/>
              </p:cNvSpPr>
              <p:nvPr/>
            </p:nvSpPr>
            <p:spPr bwMode="auto">
              <a:xfrm>
                <a:off x="4220401" y="2479455"/>
                <a:ext cx="129349" cy="93198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9" name="Oval 11"/>
              <p:cNvSpPr>
                <a:spLocks noChangeArrowheads="1"/>
              </p:cNvSpPr>
              <p:nvPr/>
            </p:nvSpPr>
            <p:spPr bwMode="auto">
              <a:xfrm>
                <a:off x="4220401" y="2897311"/>
                <a:ext cx="129349" cy="93198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" name="Oval 12"/>
              <p:cNvSpPr>
                <a:spLocks noChangeArrowheads="1"/>
              </p:cNvSpPr>
              <p:nvPr/>
            </p:nvSpPr>
            <p:spPr bwMode="auto">
              <a:xfrm>
                <a:off x="4220401" y="3408364"/>
                <a:ext cx="129349" cy="93199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" name="Oval 13"/>
              <p:cNvSpPr>
                <a:spLocks noChangeArrowheads="1"/>
              </p:cNvSpPr>
              <p:nvPr/>
            </p:nvSpPr>
            <p:spPr bwMode="auto">
              <a:xfrm>
                <a:off x="6541584" y="2664827"/>
                <a:ext cx="129350" cy="93199"/>
              </a:xfrm>
              <a:prstGeom prst="ellipse">
                <a:avLst/>
              </a:prstGeom>
              <a:solidFill>
                <a:srgbClr val="3333FF"/>
              </a:solidFill>
              <a:ln w="28575">
                <a:solidFill>
                  <a:srgbClr val="3333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" name="Oval 14"/>
              <p:cNvSpPr>
                <a:spLocks noChangeArrowheads="1"/>
              </p:cNvSpPr>
              <p:nvPr/>
            </p:nvSpPr>
            <p:spPr bwMode="auto">
              <a:xfrm>
                <a:off x="6541584" y="3269079"/>
                <a:ext cx="129350" cy="93199"/>
              </a:xfrm>
              <a:prstGeom prst="ellipse">
                <a:avLst/>
              </a:prstGeom>
              <a:solidFill>
                <a:srgbClr val="3333FF"/>
              </a:solidFill>
              <a:ln w="28575">
                <a:solidFill>
                  <a:srgbClr val="3333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" name="Text Box 15"/>
              <p:cNvSpPr txBox="1">
                <a:spLocks noChangeArrowheads="1"/>
              </p:cNvSpPr>
              <p:nvPr/>
            </p:nvSpPr>
            <p:spPr bwMode="auto">
              <a:xfrm>
                <a:off x="1642831" y="2411597"/>
                <a:ext cx="555428" cy="4249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cs typeface="Arial" charset="0"/>
                  </a:rPr>
                  <a:t>x</a:t>
                </a:r>
                <a:r>
                  <a:rPr lang="en-US" altLang="zh-CN" sz="2000" b="1" baseline="-25000">
                    <a:latin typeface="Symbol" pitchFamily="18" charset="2"/>
                  </a:rPr>
                  <a:t>1</a:t>
                </a:r>
              </a:p>
            </p:txBody>
          </p:sp>
          <p:sp>
            <p:nvSpPr>
              <p:cNvPr id="94" name="Text Box 16"/>
              <p:cNvSpPr txBox="1">
                <a:spLocks noChangeArrowheads="1"/>
              </p:cNvSpPr>
              <p:nvPr/>
            </p:nvSpPr>
            <p:spPr bwMode="auto">
              <a:xfrm>
                <a:off x="1558613" y="3099872"/>
                <a:ext cx="555428" cy="4249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cs typeface="Arial" charset="0"/>
                  </a:rPr>
                  <a:t>x</a:t>
                </a:r>
                <a:r>
                  <a:rPr lang="en-US" altLang="zh-CN" sz="2000" b="1" baseline="-25000" dirty="0">
                    <a:latin typeface="Symbol" pitchFamily="18" charset="2"/>
                  </a:rPr>
                  <a:t>2</a:t>
                </a:r>
              </a:p>
            </p:txBody>
          </p:sp>
          <p:sp>
            <p:nvSpPr>
              <p:cNvPr id="95" name="Text Box 17"/>
              <p:cNvSpPr txBox="1">
                <a:spLocks noChangeArrowheads="1"/>
              </p:cNvSpPr>
              <p:nvPr/>
            </p:nvSpPr>
            <p:spPr bwMode="auto">
              <a:xfrm>
                <a:off x="4008490" y="3354465"/>
                <a:ext cx="890497" cy="4249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cs typeface="Arial" charset="0"/>
                  </a:rPr>
                  <a:t>z</a:t>
                </a:r>
                <a:r>
                  <a:rPr lang="en-US" altLang="zh-CN" sz="2000" b="1" baseline="-25000" dirty="0">
                    <a:latin typeface="Symbol" pitchFamily="18" charset="2"/>
                  </a:rPr>
                  <a:t>3</a:t>
                </a:r>
              </a:p>
            </p:txBody>
          </p:sp>
          <p:sp>
            <p:nvSpPr>
              <p:cNvPr id="96" name="Text Box 18"/>
              <p:cNvSpPr txBox="1">
                <a:spLocks noChangeArrowheads="1"/>
              </p:cNvSpPr>
              <p:nvPr/>
            </p:nvSpPr>
            <p:spPr bwMode="auto">
              <a:xfrm>
                <a:off x="3761838" y="2623231"/>
                <a:ext cx="595249" cy="4249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cs typeface="Arial" charset="0"/>
                  </a:rPr>
                  <a:t>z</a:t>
                </a:r>
                <a:r>
                  <a:rPr lang="en-US" altLang="zh-CN" sz="2000" b="1" baseline="-25000" dirty="0">
                    <a:latin typeface="Symbol" pitchFamily="18" charset="2"/>
                  </a:rPr>
                  <a:t>2</a:t>
                </a:r>
              </a:p>
            </p:txBody>
          </p:sp>
          <p:sp>
            <p:nvSpPr>
              <p:cNvPr id="97" name="Text Box 19"/>
              <p:cNvSpPr txBox="1">
                <a:spLocks noChangeArrowheads="1"/>
              </p:cNvSpPr>
              <p:nvPr/>
            </p:nvSpPr>
            <p:spPr bwMode="auto">
              <a:xfrm>
                <a:off x="4092473" y="2087906"/>
                <a:ext cx="450590" cy="4249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cs typeface="Arial" charset="0"/>
                  </a:rPr>
                  <a:t>z</a:t>
                </a:r>
                <a:r>
                  <a:rPr lang="en-US" altLang="zh-CN" sz="2000" b="1" baseline="-25000" dirty="0">
                    <a:latin typeface="Symbol" pitchFamily="18" charset="2"/>
                  </a:rPr>
                  <a:t>1</a:t>
                </a:r>
              </a:p>
            </p:txBody>
          </p:sp>
          <p:sp>
            <p:nvSpPr>
              <p:cNvPr id="98" name="Text Box 20"/>
              <p:cNvSpPr txBox="1">
                <a:spLocks noChangeArrowheads="1"/>
              </p:cNvSpPr>
              <p:nvPr/>
            </p:nvSpPr>
            <p:spPr bwMode="auto">
              <a:xfrm>
                <a:off x="6320422" y="2164380"/>
                <a:ext cx="773254" cy="4249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cs typeface="Arial" charset="0"/>
                  </a:rPr>
                  <a:t>y</a:t>
                </a:r>
                <a:r>
                  <a:rPr lang="en-US" altLang="zh-CN" sz="2000" b="1" baseline="-25000" dirty="0">
                    <a:latin typeface="Symbol" pitchFamily="18" charset="2"/>
                  </a:rPr>
                  <a:t>1</a:t>
                </a:r>
              </a:p>
            </p:txBody>
          </p:sp>
          <p:sp>
            <p:nvSpPr>
              <p:cNvPr id="99" name="Text Box 21"/>
              <p:cNvSpPr txBox="1">
                <a:spLocks noChangeArrowheads="1"/>
              </p:cNvSpPr>
              <p:nvPr/>
            </p:nvSpPr>
            <p:spPr bwMode="auto">
              <a:xfrm>
                <a:off x="6391494" y="2852657"/>
                <a:ext cx="707869" cy="4249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cs typeface="Arial" charset="0"/>
                  </a:rPr>
                  <a:t>y</a:t>
                </a:r>
                <a:r>
                  <a:rPr lang="en-US" altLang="zh-CN" sz="2000" b="1" baseline="-25000">
                    <a:latin typeface="Symbol" pitchFamily="18" charset="2"/>
                  </a:rPr>
                  <a:t>2</a:t>
                </a:r>
              </a:p>
            </p:txBody>
          </p:sp>
          <p:cxnSp>
            <p:nvCxnSpPr>
              <p:cNvPr id="100" name="AutoShape 23"/>
              <p:cNvCxnSpPr>
                <a:cxnSpLocks noChangeShapeType="1"/>
              </p:cNvCxnSpPr>
              <p:nvPr/>
            </p:nvCxnSpPr>
            <p:spPr bwMode="auto">
              <a:xfrm>
                <a:off x="2092530" y="2525542"/>
                <a:ext cx="2115078" cy="23556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1" name="AutoShape 25"/>
              <p:cNvCxnSpPr>
                <a:cxnSpLocks noChangeShapeType="1"/>
                <a:endCxn id="90" idx="2"/>
              </p:cNvCxnSpPr>
              <p:nvPr/>
            </p:nvCxnSpPr>
            <p:spPr bwMode="auto">
              <a:xfrm>
                <a:off x="2028567" y="3315166"/>
                <a:ext cx="2179041" cy="140309"/>
              </a:xfrm>
              <a:prstGeom prst="curvedConnector3">
                <a:avLst>
                  <a:gd name="adj1" fmla="val 50292"/>
                </a:avLst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02" name="Line 27"/>
              <p:cNvSpPr>
                <a:spLocks noChangeShapeType="1"/>
              </p:cNvSpPr>
              <p:nvPr/>
            </p:nvSpPr>
            <p:spPr bwMode="auto">
              <a:xfrm flipV="1">
                <a:off x="4349750" y="2758025"/>
                <a:ext cx="2257220" cy="1853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Line 28"/>
              <p:cNvSpPr>
                <a:spLocks noChangeShapeType="1"/>
              </p:cNvSpPr>
              <p:nvPr/>
            </p:nvSpPr>
            <p:spPr bwMode="auto">
              <a:xfrm flipV="1">
                <a:off x="4349750" y="3362277"/>
                <a:ext cx="2191834" cy="9217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104" name="AutoShape 29"/>
              <p:cNvCxnSpPr>
                <a:cxnSpLocks noChangeShapeType="1"/>
              </p:cNvCxnSpPr>
              <p:nvPr/>
            </p:nvCxnSpPr>
            <p:spPr bwMode="auto">
              <a:xfrm rot="16200000" flipH="1">
                <a:off x="4361470" y="1111612"/>
                <a:ext cx="60425" cy="4467533"/>
              </a:xfrm>
              <a:prstGeom prst="curvedConnector3">
                <a:avLst>
                  <a:gd name="adj1" fmla="val 1305083"/>
                </a:avLst>
              </a:prstGeom>
              <a:noFill/>
              <a:ln w="38100">
                <a:solidFill>
                  <a:srgbClr val="CC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05" name="Rectangle 31"/>
              <p:cNvSpPr>
                <a:spLocks noChangeArrowheads="1"/>
              </p:cNvSpPr>
              <p:nvPr/>
            </p:nvSpPr>
            <p:spPr bwMode="auto">
              <a:xfrm>
                <a:off x="5252354" y="2107686"/>
                <a:ext cx="399022" cy="5556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 dirty="0">
                    <a:solidFill>
                      <a:srgbClr val="3333FF"/>
                    </a:solidFill>
                    <a:cs typeface="Arial" charset="0"/>
                  </a:rPr>
                  <a:t>F</a:t>
                </a:r>
              </a:p>
            </p:txBody>
          </p:sp>
          <p:sp>
            <p:nvSpPr>
              <p:cNvPr id="106" name="Rectangle 32"/>
              <p:cNvSpPr>
                <a:spLocks noChangeArrowheads="1"/>
              </p:cNvSpPr>
              <p:nvPr/>
            </p:nvSpPr>
            <p:spPr bwMode="auto">
              <a:xfrm>
                <a:off x="3060520" y="2060575"/>
                <a:ext cx="457561" cy="5556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 dirty="0">
                    <a:solidFill>
                      <a:srgbClr val="008000"/>
                    </a:solidFill>
                    <a:cs typeface="Arial" charset="0"/>
                  </a:rPr>
                  <a:t>G</a:t>
                </a:r>
              </a:p>
            </p:txBody>
          </p:sp>
          <p:sp>
            <p:nvSpPr>
              <p:cNvPr id="107" name="Rectangle 31"/>
              <p:cNvSpPr>
                <a:spLocks noChangeArrowheads="1"/>
              </p:cNvSpPr>
              <p:nvPr/>
            </p:nvSpPr>
            <p:spPr bwMode="auto">
              <a:xfrm>
                <a:off x="3769809" y="4077072"/>
                <a:ext cx="1095918" cy="5556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2800" b="1" i="1" dirty="0">
                    <a:solidFill>
                      <a:srgbClr val="3333FF"/>
                    </a:solidFill>
                    <a:cs typeface="Arial" charset="0"/>
                  </a:rPr>
                  <a:t>F</a:t>
                </a:r>
                <a:r>
                  <a:rPr lang="en-US" altLang="zh-CN" sz="2800" b="1" dirty="0">
                    <a:solidFill>
                      <a:srgbClr val="3333FF"/>
                    </a:solidFill>
                  </a:rPr>
                  <a:t> </a:t>
                </a:r>
                <a:r>
                  <a:rPr lang="en-US" altLang="zh-CN" sz="2800" b="1" dirty="0">
                    <a:solidFill>
                      <a:srgbClr val="FF0000"/>
                    </a:solidFill>
                  </a:rPr>
                  <a:t>∘ </a:t>
                </a:r>
                <a:r>
                  <a:rPr lang="en-US" altLang="zh-CN" sz="2800" b="1" i="1" dirty="0">
                    <a:solidFill>
                      <a:srgbClr val="008000"/>
                    </a:solidFill>
                    <a:cs typeface="Arial" charset="0"/>
                  </a:rPr>
                  <a:t>G</a:t>
                </a:r>
              </a:p>
            </p:txBody>
          </p:sp>
        </p:grpSp>
        <p:sp>
          <p:nvSpPr>
            <p:cNvPr id="3" name="Rectangle 32">
              <a:extLst>
                <a:ext uri="{FF2B5EF4-FFF2-40B4-BE49-F238E27FC236}">
                  <a16:creationId xmlns:a16="http://schemas.microsoft.com/office/drawing/2014/main" id="{CED6937E-918D-FE47-29FB-CAB549EB7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972" y="2543900"/>
              <a:ext cx="42351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 dirty="0">
                  <a:cs typeface="Arial" charset="0"/>
                </a:rPr>
                <a:t>X</a:t>
              </a:r>
            </a:p>
          </p:txBody>
        </p:sp>
        <p:sp>
          <p:nvSpPr>
            <p:cNvPr id="4" name="Rectangle 32">
              <a:extLst>
                <a:ext uri="{FF2B5EF4-FFF2-40B4-BE49-F238E27FC236}">
                  <a16:creationId xmlns:a16="http://schemas.microsoft.com/office/drawing/2014/main" id="{1C279307-1984-4243-7175-8836809E3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9475" y="2592063"/>
              <a:ext cx="42351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 dirty="0">
                  <a:cs typeface="Arial" charset="0"/>
                </a:rPr>
                <a:t>Y</a:t>
              </a:r>
            </a:p>
          </p:txBody>
        </p:sp>
        <p:sp>
          <p:nvSpPr>
            <p:cNvPr id="5" name="Rectangle 32">
              <a:extLst>
                <a:ext uri="{FF2B5EF4-FFF2-40B4-BE49-F238E27FC236}">
                  <a16:creationId xmlns:a16="http://schemas.microsoft.com/office/drawing/2014/main" id="{0FA6D1CE-E8B9-019A-A4C7-4A4226845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1838" y="1749403"/>
              <a:ext cx="40427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 dirty="0">
                  <a:cs typeface="Arial" charset="0"/>
                </a:rPr>
                <a:t>Z</a:t>
              </a:r>
            </a:p>
          </p:txBody>
        </p:sp>
      </p:grp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6B0F36-446B-9BD0-C7D7-FDA1E6A541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9228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4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4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4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4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3" grpId="0" uiExpand="1" build="p"/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28819"/>
            <a:ext cx="8229600" cy="1371600"/>
          </a:xfrm>
          <a:noFill/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二元关系的合成运算举例</a:t>
            </a:r>
            <a:endParaRPr lang="zh-CN" altLang="en-US" dirty="0"/>
          </a:p>
        </p:txBody>
      </p:sp>
      <p:sp>
        <p:nvSpPr>
          <p:cNvPr id="384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181101"/>
            <a:ext cx="10297144" cy="55610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b="1" i="1" dirty="0">
                <a:solidFill>
                  <a:srgbClr val="3333FF"/>
                </a:solidFill>
              </a:rPr>
              <a:t>F</a:t>
            </a:r>
            <a:r>
              <a:rPr lang="en-US" altLang="zh-CN" b="1" dirty="0">
                <a:solidFill>
                  <a:srgbClr val="FF0000"/>
                </a:solidFill>
              </a:rPr>
              <a:t>∘</a:t>
            </a:r>
            <a:r>
              <a:rPr lang="en-US" altLang="zh-CN" b="1" i="1" dirty="0">
                <a:solidFill>
                  <a:srgbClr val="008000"/>
                </a:solidFill>
              </a:rPr>
              <a:t>G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/>
              <a:t>= {&lt;</a:t>
            </a:r>
            <a:r>
              <a:rPr lang="en-US" altLang="zh-CN" b="1" i="1" dirty="0" err="1">
                <a:solidFill>
                  <a:srgbClr val="008000"/>
                </a:solidFill>
              </a:rPr>
              <a:t>x</a:t>
            </a:r>
            <a:r>
              <a:rPr lang="en-US" altLang="zh-CN" b="1" dirty="0" err="1"/>
              <a:t>,</a:t>
            </a:r>
            <a:r>
              <a:rPr lang="en-US" altLang="zh-CN" b="1" dirty="0" err="1">
                <a:solidFill>
                  <a:srgbClr val="3333FF"/>
                </a:solidFill>
              </a:rPr>
              <a:t>y</a:t>
            </a:r>
            <a:r>
              <a:rPr lang="en-US" altLang="zh-CN" b="1" dirty="0"/>
              <a:t>&gt; |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sym typeface="Symbol" pitchFamily="18" charset="2"/>
              </a:rPr>
              <a:t></a:t>
            </a:r>
            <a:r>
              <a:rPr lang="en-US" altLang="zh-CN" b="1" i="1" dirty="0">
                <a:solidFill>
                  <a:srgbClr val="FF0000"/>
                </a:solidFill>
              </a:rPr>
              <a:t>z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/>
              <a:t>(&lt;</a:t>
            </a:r>
            <a:r>
              <a:rPr lang="en-US" altLang="zh-CN" b="1" i="1" dirty="0" err="1">
                <a:solidFill>
                  <a:srgbClr val="008000"/>
                </a:solidFill>
              </a:rPr>
              <a:t>x</a:t>
            </a:r>
            <a:r>
              <a:rPr lang="en-US" altLang="zh-CN" b="1" dirty="0" err="1"/>
              <a:t>,</a:t>
            </a:r>
            <a:r>
              <a:rPr lang="en-US" altLang="zh-CN" b="1" dirty="0" err="1">
                <a:solidFill>
                  <a:srgbClr val="FF0000"/>
                </a:solidFill>
              </a:rPr>
              <a:t>z</a:t>
            </a:r>
            <a:r>
              <a:rPr lang="en-US" altLang="zh-CN" b="1" dirty="0"/>
              <a:t>&gt;</a:t>
            </a:r>
            <a:r>
              <a:rPr lang="en-US" altLang="zh-CN" b="1" dirty="0">
                <a:sym typeface="Symbol" pitchFamily="18" charset="2"/>
              </a:rPr>
              <a:t></a:t>
            </a:r>
            <a:r>
              <a:rPr lang="en-US" altLang="zh-CN" b="1" i="1" dirty="0">
                <a:solidFill>
                  <a:srgbClr val="008000"/>
                </a:solidFill>
                <a:sym typeface="Symbol" pitchFamily="18" charset="2"/>
              </a:rPr>
              <a:t>G</a:t>
            </a:r>
            <a:r>
              <a:rPr lang="en-US" altLang="zh-CN" b="1" dirty="0">
                <a:sym typeface="Symbol" pitchFamily="18" charset="2"/>
              </a:rPr>
              <a:t></a:t>
            </a:r>
            <a:r>
              <a:rPr lang="en-US" altLang="zh-CN" b="1" dirty="0"/>
              <a:t>&lt;</a:t>
            </a:r>
            <a:r>
              <a:rPr lang="en-US" altLang="zh-CN" b="1" dirty="0" err="1">
                <a:solidFill>
                  <a:srgbClr val="FF0000"/>
                </a:solidFill>
              </a:rPr>
              <a:t>z</a:t>
            </a:r>
            <a:r>
              <a:rPr lang="en-US" altLang="zh-CN" b="1" dirty="0" err="1"/>
              <a:t>,</a:t>
            </a:r>
            <a:r>
              <a:rPr lang="en-US" altLang="zh-CN" b="1" i="1" dirty="0" err="1">
                <a:solidFill>
                  <a:srgbClr val="3333FF"/>
                </a:solidFill>
              </a:rPr>
              <a:t>y</a:t>
            </a:r>
            <a:r>
              <a:rPr lang="en-US" altLang="zh-CN" b="1" dirty="0"/>
              <a:t>&gt;</a:t>
            </a:r>
            <a:r>
              <a:rPr lang="en-US" altLang="zh-CN" b="1" dirty="0">
                <a:sym typeface="Symbol" pitchFamily="18" charset="2"/>
              </a:rPr>
              <a:t></a:t>
            </a:r>
            <a:r>
              <a:rPr lang="en-US" altLang="zh-CN" b="1" i="1" dirty="0">
                <a:solidFill>
                  <a:srgbClr val="3333FF"/>
                </a:solidFill>
                <a:sym typeface="Symbol" pitchFamily="18" charset="2"/>
              </a:rPr>
              <a:t>F</a:t>
            </a:r>
            <a:r>
              <a:rPr lang="en-US" altLang="zh-CN" b="1" dirty="0"/>
              <a:t>)}</a:t>
            </a:r>
            <a:r>
              <a:rPr lang="en-US" altLang="zh-CN" sz="3600" b="1" dirty="0">
                <a:solidFill>
                  <a:srgbClr val="FF0000"/>
                </a:solidFill>
              </a:rPr>
              <a:t> </a:t>
            </a:r>
          </a:p>
          <a:p>
            <a:pPr eaLnBrk="1" hangingPunct="1">
              <a:defRPr/>
            </a:pPr>
            <a:endParaRPr lang="en-US" altLang="zh-CN" sz="3600" b="1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  <a:defRPr/>
            </a:pPr>
            <a:endParaRPr lang="en-US" altLang="zh-CN" sz="2400" b="1" dirty="0">
              <a:solidFill>
                <a:srgbClr val="FF0000"/>
              </a:solidFill>
            </a:endParaRPr>
          </a:p>
          <a:p>
            <a:pPr lvl="1" eaLnBrk="1" hangingPunct="1">
              <a:defRPr/>
            </a:pPr>
            <a:r>
              <a:rPr lang="zh-CN" altLang="en-US" b="1" dirty="0">
                <a:latin typeface="+mj-lt"/>
                <a:ea typeface="宋体" panose="02010600030101010101" pitchFamily="2" charset="-122"/>
              </a:rPr>
              <a:t>设</a:t>
            </a:r>
            <a:r>
              <a:rPr lang="en-US" altLang="zh-CN" b="1" i="1" dirty="0">
                <a:solidFill>
                  <a:srgbClr val="3333FF"/>
                </a:solidFill>
                <a:latin typeface="+mj-lt"/>
                <a:ea typeface="宋体" panose="02010600030101010101" pitchFamily="2" charset="-122"/>
              </a:rPr>
              <a:t>F</a:t>
            </a:r>
            <a:r>
              <a:rPr lang="zh-CN" altLang="en-US" b="1" dirty="0">
                <a:latin typeface="+mj-lt"/>
                <a:ea typeface="宋体" panose="02010600030101010101" pitchFamily="2" charset="-122"/>
              </a:rPr>
              <a:t>、</a:t>
            </a:r>
            <a:r>
              <a:rPr lang="en-US" altLang="zh-CN" b="1" i="1" dirty="0">
                <a:solidFill>
                  <a:srgbClr val="008000"/>
                </a:solidFill>
                <a:latin typeface="+mj-lt"/>
                <a:ea typeface="宋体" panose="02010600030101010101" pitchFamily="2" charset="-122"/>
              </a:rPr>
              <a:t>G</a:t>
            </a:r>
            <a:r>
              <a:rPr lang="zh-CN" altLang="en-US" b="1" dirty="0">
                <a:latin typeface="+mj-lt"/>
                <a:ea typeface="宋体" panose="02010600030101010101" pitchFamily="2" charset="-122"/>
              </a:rPr>
              <a:t>均是</a:t>
            </a:r>
            <a:r>
              <a:rPr lang="en-US" altLang="zh-CN" b="1" i="1" dirty="0">
                <a:latin typeface="+mj-lt"/>
                <a:ea typeface="宋体" panose="02010600030101010101" pitchFamily="2" charset="-122"/>
              </a:rPr>
              <a:t>P</a:t>
            </a:r>
            <a:r>
              <a:rPr lang="zh-CN" altLang="en-US" b="1" dirty="0">
                <a:latin typeface="+mj-lt"/>
                <a:ea typeface="宋体" panose="02010600030101010101" pitchFamily="2" charset="-122"/>
              </a:rPr>
              <a:t>上的关系，</a:t>
            </a:r>
            <a:r>
              <a:rPr lang="en-US" altLang="zh-CN" b="1" i="1" dirty="0">
                <a:latin typeface="+mj-lt"/>
                <a:ea typeface="宋体" panose="02010600030101010101" pitchFamily="2" charset="-122"/>
              </a:rPr>
              <a:t>P</a:t>
            </a:r>
            <a:r>
              <a:rPr lang="zh-CN" altLang="en-US" b="1" dirty="0">
                <a:latin typeface="+mj-lt"/>
                <a:ea typeface="宋体" panose="02010600030101010101" pitchFamily="2" charset="-122"/>
              </a:rPr>
              <a:t>是所有人的集合</a:t>
            </a:r>
            <a:r>
              <a:rPr lang="zh-CN" altLang="en-US" dirty="0"/>
              <a:t>。</a:t>
            </a:r>
            <a:endParaRPr lang="en-US" altLang="zh-CN" dirty="0"/>
          </a:p>
          <a:p>
            <a:pPr marL="857250" lvl="2" indent="0" eaLnBrk="1" hangingPunct="1">
              <a:buNone/>
              <a:defRPr/>
            </a:pPr>
            <a:r>
              <a:rPr lang="en-US" altLang="zh-CN" b="1" i="1" dirty="0">
                <a:solidFill>
                  <a:srgbClr val="3333FF"/>
                </a:solidFill>
              </a:rPr>
              <a:t>  F </a:t>
            </a:r>
            <a:r>
              <a:rPr lang="en-US" altLang="zh-CN" b="1" dirty="0"/>
              <a:t>={&lt;</a:t>
            </a:r>
            <a:r>
              <a:rPr lang="en-US" altLang="zh-CN" b="1" i="1" dirty="0" err="1"/>
              <a:t>x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y</a:t>
            </a:r>
            <a:r>
              <a:rPr lang="en-US" altLang="zh-CN" b="1" dirty="0"/>
              <a:t>&gt; | </a:t>
            </a:r>
            <a:r>
              <a:rPr lang="en-US" altLang="zh-CN" b="1" i="1" dirty="0"/>
              <a:t>x</a:t>
            </a:r>
            <a:r>
              <a:rPr lang="en-US" altLang="zh-CN" b="1" dirty="0"/>
              <a:t>, </a:t>
            </a:r>
            <a:r>
              <a:rPr lang="en-US" altLang="zh-CN" b="1" i="1" dirty="0" err="1"/>
              <a:t>y</a:t>
            </a:r>
            <a:r>
              <a:rPr lang="en-US" altLang="zh-CN" b="1" dirty="0" err="1">
                <a:sym typeface="Symbol" pitchFamily="18" charset="2"/>
              </a:rPr>
              <a:t></a:t>
            </a:r>
            <a:r>
              <a:rPr lang="en-US" altLang="zh-CN" b="1" i="1" dirty="0" err="1">
                <a:sym typeface="Symbol" pitchFamily="18" charset="2"/>
              </a:rPr>
              <a:t>P</a:t>
            </a:r>
            <a:r>
              <a:rPr lang="en-US" altLang="zh-CN" b="1" dirty="0"/>
              <a:t> </a:t>
            </a:r>
            <a:r>
              <a:rPr lang="en-US" altLang="zh-CN" b="1" dirty="0">
                <a:sym typeface="Symbol" pitchFamily="18" charset="2"/>
              </a:rPr>
              <a:t> </a:t>
            </a:r>
            <a:r>
              <a:rPr lang="en-US" altLang="zh-CN" b="1" i="1" dirty="0">
                <a:sym typeface="Symbol" pitchFamily="18" charset="2"/>
              </a:rPr>
              <a:t>x</a:t>
            </a:r>
            <a:r>
              <a:rPr lang="zh-CN" altLang="en-US" b="1" dirty="0">
                <a:sym typeface="Symbol" pitchFamily="18" charset="2"/>
              </a:rPr>
              <a:t>是</a:t>
            </a:r>
            <a:r>
              <a:rPr lang="en-US" altLang="zh-CN" b="1" i="1" dirty="0">
                <a:sym typeface="Symbol" pitchFamily="18" charset="2"/>
              </a:rPr>
              <a:t>y</a:t>
            </a:r>
            <a:r>
              <a:rPr lang="zh-CN" altLang="en-US" b="1" dirty="0">
                <a:sym typeface="Symbol" pitchFamily="18" charset="2"/>
              </a:rPr>
              <a:t>的 </a:t>
            </a:r>
            <a:r>
              <a:rPr lang="zh-CN" altLang="en-US" b="1" dirty="0">
                <a:solidFill>
                  <a:srgbClr val="3333FF"/>
                </a:solidFill>
                <a:sym typeface="Symbol" pitchFamily="18" charset="2"/>
              </a:rPr>
              <a:t>父亲</a:t>
            </a:r>
            <a:r>
              <a:rPr lang="zh-CN" altLang="en-US" b="1" dirty="0">
                <a:sym typeface="Symbol" pitchFamily="18" charset="2"/>
              </a:rPr>
              <a:t> </a:t>
            </a:r>
            <a:r>
              <a:rPr lang="en-US" altLang="zh-CN" b="1" dirty="0"/>
              <a:t>}</a:t>
            </a:r>
          </a:p>
          <a:p>
            <a:pPr marL="857250" lvl="2" indent="0" eaLnBrk="1" hangingPunct="1">
              <a:buNone/>
              <a:defRPr/>
            </a:pPr>
            <a:r>
              <a:rPr lang="en-US" altLang="zh-CN" b="1" i="1" dirty="0">
                <a:solidFill>
                  <a:srgbClr val="008000"/>
                </a:solidFill>
              </a:rPr>
              <a:t> G</a:t>
            </a:r>
            <a:r>
              <a:rPr lang="en-US" altLang="zh-CN" b="1" i="1" dirty="0">
                <a:solidFill>
                  <a:srgbClr val="3333FF"/>
                </a:solidFill>
              </a:rPr>
              <a:t> </a:t>
            </a:r>
            <a:r>
              <a:rPr lang="en-US" altLang="zh-CN" b="1" dirty="0"/>
              <a:t>={&lt;</a:t>
            </a:r>
            <a:r>
              <a:rPr lang="en-US" altLang="zh-CN" b="1" i="1" dirty="0" err="1"/>
              <a:t>x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y</a:t>
            </a:r>
            <a:r>
              <a:rPr lang="en-US" altLang="zh-CN" b="1" dirty="0"/>
              <a:t>&gt; | </a:t>
            </a:r>
            <a:r>
              <a:rPr lang="en-US" altLang="zh-CN" b="1" i="1" dirty="0"/>
              <a:t>x</a:t>
            </a:r>
            <a:r>
              <a:rPr lang="en-US" altLang="zh-CN" b="1" dirty="0"/>
              <a:t>, </a:t>
            </a:r>
            <a:r>
              <a:rPr lang="en-US" altLang="zh-CN" b="1" i="1" dirty="0" err="1"/>
              <a:t>y</a:t>
            </a:r>
            <a:r>
              <a:rPr lang="en-US" altLang="zh-CN" b="1" dirty="0" err="1">
                <a:sym typeface="Symbol" pitchFamily="18" charset="2"/>
              </a:rPr>
              <a:t></a:t>
            </a:r>
            <a:r>
              <a:rPr lang="en-US" altLang="zh-CN" b="1" i="1" dirty="0" err="1">
                <a:sym typeface="Symbol" pitchFamily="18" charset="2"/>
              </a:rPr>
              <a:t>P</a:t>
            </a:r>
            <a:r>
              <a:rPr lang="en-US" altLang="zh-CN" b="1" dirty="0"/>
              <a:t> </a:t>
            </a:r>
            <a:r>
              <a:rPr lang="en-US" altLang="zh-CN" b="1" dirty="0">
                <a:sym typeface="Symbol" pitchFamily="18" charset="2"/>
              </a:rPr>
              <a:t> </a:t>
            </a:r>
            <a:r>
              <a:rPr lang="en-US" altLang="zh-CN" b="1" i="1" dirty="0">
                <a:sym typeface="Symbol" pitchFamily="18" charset="2"/>
              </a:rPr>
              <a:t>x</a:t>
            </a:r>
            <a:r>
              <a:rPr lang="zh-CN" altLang="en-US" b="1" dirty="0">
                <a:sym typeface="Symbol" pitchFamily="18" charset="2"/>
              </a:rPr>
              <a:t>是</a:t>
            </a:r>
            <a:r>
              <a:rPr lang="en-US" altLang="zh-CN" b="1" i="1" dirty="0">
                <a:sym typeface="Symbol" pitchFamily="18" charset="2"/>
              </a:rPr>
              <a:t>y</a:t>
            </a:r>
            <a:r>
              <a:rPr lang="zh-CN" altLang="en-US" b="1" dirty="0">
                <a:sym typeface="Symbol" pitchFamily="18" charset="2"/>
              </a:rPr>
              <a:t>的 </a:t>
            </a:r>
            <a:r>
              <a:rPr lang="zh-CN" altLang="en-US" b="1" dirty="0">
                <a:solidFill>
                  <a:srgbClr val="008000"/>
                </a:solidFill>
                <a:sym typeface="Symbol" pitchFamily="18" charset="2"/>
              </a:rPr>
              <a:t>母亲</a:t>
            </a:r>
            <a:r>
              <a:rPr lang="zh-CN" altLang="en-US" b="1" dirty="0">
                <a:sym typeface="Symbol" pitchFamily="18" charset="2"/>
              </a:rPr>
              <a:t> </a:t>
            </a:r>
            <a:r>
              <a:rPr lang="en-US" altLang="zh-CN" b="1" dirty="0"/>
              <a:t>}</a:t>
            </a:r>
          </a:p>
          <a:p>
            <a:pPr marL="914400" lvl="2" indent="0" eaLnBrk="1" hangingPunct="1">
              <a:buNone/>
              <a:defRPr/>
            </a:pPr>
            <a:r>
              <a:rPr lang="en-US" altLang="zh-CN" b="1" i="1" dirty="0">
                <a:solidFill>
                  <a:srgbClr val="3333FF"/>
                </a:solidFill>
              </a:rPr>
              <a:t>F</a:t>
            </a:r>
            <a:r>
              <a:rPr lang="en-US" altLang="zh-CN" b="1" dirty="0"/>
              <a:t>∘</a:t>
            </a:r>
            <a:r>
              <a:rPr lang="en-US" altLang="zh-CN" b="1" i="1" dirty="0">
                <a:solidFill>
                  <a:srgbClr val="3333FF"/>
                </a:solidFill>
              </a:rPr>
              <a:t>F</a:t>
            </a:r>
            <a:r>
              <a:rPr lang="en-US" altLang="zh-CN" b="1" dirty="0">
                <a:solidFill>
                  <a:srgbClr val="3333FF"/>
                </a:solidFill>
              </a:rPr>
              <a:t> </a:t>
            </a:r>
            <a:r>
              <a:rPr lang="en-US" altLang="zh-CN" b="1" dirty="0"/>
              <a:t> = {&lt;</a:t>
            </a:r>
            <a:r>
              <a:rPr lang="en-US" altLang="zh-CN" b="1" i="1" dirty="0" err="1"/>
              <a:t>x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y</a:t>
            </a:r>
            <a:r>
              <a:rPr lang="en-US" altLang="zh-CN" b="1" dirty="0"/>
              <a:t>&gt; | </a:t>
            </a:r>
            <a:r>
              <a:rPr lang="en-US" altLang="zh-CN" b="1" i="1" dirty="0"/>
              <a:t>x</a:t>
            </a:r>
            <a:r>
              <a:rPr lang="en-US" altLang="zh-CN" b="1" dirty="0"/>
              <a:t>, </a:t>
            </a:r>
            <a:r>
              <a:rPr lang="en-US" altLang="zh-CN" b="1" i="1" dirty="0" err="1"/>
              <a:t>y</a:t>
            </a:r>
            <a:r>
              <a:rPr lang="en-US" altLang="zh-CN" b="1" dirty="0" err="1">
                <a:sym typeface="Symbol" pitchFamily="18" charset="2"/>
              </a:rPr>
              <a:t></a:t>
            </a:r>
            <a:r>
              <a:rPr lang="en-US" altLang="zh-CN" b="1" i="1" dirty="0" err="1">
                <a:sym typeface="Symbol" pitchFamily="18" charset="2"/>
              </a:rPr>
              <a:t>P</a:t>
            </a:r>
            <a:r>
              <a:rPr lang="en-US" altLang="zh-CN" b="1" dirty="0"/>
              <a:t> </a:t>
            </a:r>
            <a:r>
              <a:rPr lang="en-US" altLang="zh-CN" b="1" dirty="0">
                <a:sym typeface="Symbol" pitchFamily="18" charset="2"/>
              </a:rPr>
              <a:t> </a:t>
            </a:r>
            <a:r>
              <a:rPr lang="en-US" altLang="zh-CN" b="1" i="1" dirty="0">
                <a:sym typeface="Symbol" pitchFamily="18" charset="2"/>
              </a:rPr>
              <a:t>x</a:t>
            </a:r>
            <a:r>
              <a:rPr lang="zh-CN" altLang="en-US" b="1" dirty="0">
                <a:sym typeface="Symbol" pitchFamily="18" charset="2"/>
              </a:rPr>
              <a:t>是</a:t>
            </a:r>
            <a:r>
              <a:rPr lang="en-US" altLang="zh-CN" b="1" i="1" dirty="0">
                <a:sym typeface="Symbol" pitchFamily="18" charset="2"/>
              </a:rPr>
              <a:t>y</a:t>
            </a:r>
            <a:r>
              <a:rPr lang="zh-CN" altLang="en-US" b="1" dirty="0">
                <a:sym typeface="Symbol" pitchFamily="18" charset="2"/>
              </a:rPr>
              <a:t>的 </a:t>
            </a:r>
            <a:r>
              <a:rPr lang="zh-CN" altLang="en-US" b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zh-CN" altLang="en-US" b="1" dirty="0">
                <a:sym typeface="Symbol" pitchFamily="18" charset="2"/>
              </a:rPr>
              <a:t>         </a:t>
            </a:r>
            <a:r>
              <a:rPr lang="en-US" altLang="zh-CN" b="1" dirty="0"/>
              <a:t>}</a:t>
            </a:r>
          </a:p>
          <a:p>
            <a:pPr marL="914400" lvl="2" indent="0" eaLnBrk="1" hangingPunct="1">
              <a:buNone/>
              <a:defRPr/>
            </a:pPr>
            <a:r>
              <a:rPr lang="en-US" altLang="zh-CN" b="1" i="1" dirty="0">
                <a:solidFill>
                  <a:srgbClr val="008000"/>
                </a:solidFill>
              </a:rPr>
              <a:t>G</a:t>
            </a:r>
            <a:r>
              <a:rPr lang="en-US" altLang="zh-CN" b="1" dirty="0"/>
              <a:t>∘</a:t>
            </a:r>
            <a:r>
              <a:rPr lang="en-US" altLang="zh-CN" b="1" i="1" dirty="0">
                <a:solidFill>
                  <a:srgbClr val="008000"/>
                </a:solidFill>
              </a:rPr>
              <a:t>G</a:t>
            </a:r>
            <a:r>
              <a:rPr lang="en-US" altLang="zh-CN" b="1" dirty="0"/>
              <a:t>  = {&lt;</a:t>
            </a:r>
            <a:r>
              <a:rPr lang="en-US" altLang="zh-CN" b="1" i="1" dirty="0" err="1"/>
              <a:t>x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y</a:t>
            </a:r>
            <a:r>
              <a:rPr lang="en-US" altLang="zh-CN" b="1" dirty="0"/>
              <a:t>&gt; | </a:t>
            </a:r>
            <a:r>
              <a:rPr lang="en-US" altLang="zh-CN" b="1" i="1" dirty="0"/>
              <a:t>x</a:t>
            </a:r>
            <a:r>
              <a:rPr lang="en-US" altLang="zh-CN" b="1" dirty="0"/>
              <a:t>, </a:t>
            </a:r>
            <a:r>
              <a:rPr lang="en-US" altLang="zh-CN" b="1" i="1" dirty="0" err="1"/>
              <a:t>y</a:t>
            </a:r>
            <a:r>
              <a:rPr lang="en-US" altLang="zh-CN" b="1" dirty="0" err="1">
                <a:sym typeface="Symbol" pitchFamily="18" charset="2"/>
              </a:rPr>
              <a:t></a:t>
            </a:r>
            <a:r>
              <a:rPr lang="en-US" altLang="zh-CN" b="1" i="1" dirty="0" err="1">
                <a:sym typeface="Symbol" pitchFamily="18" charset="2"/>
              </a:rPr>
              <a:t>P</a:t>
            </a:r>
            <a:r>
              <a:rPr lang="en-US" altLang="zh-CN" b="1" dirty="0"/>
              <a:t> </a:t>
            </a:r>
            <a:r>
              <a:rPr lang="en-US" altLang="zh-CN" b="1" dirty="0">
                <a:sym typeface="Symbol" pitchFamily="18" charset="2"/>
              </a:rPr>
              <a:t> </a:t>
            </a:r>
            <a:r>
              <a:rPr lang="en-US" altLang="zh-CN" b="1" i="1" dirty="0">
                <a:sym typeface="Symbol" pitchFamily="18" charset="2"/>
              </a:rPr>
              <a:t>x</a:t>
            </a:r>
            <a:r>
              <a:rPr lang="zh-CN" altLang="en-US" b="1" dirty="0">
                <a:sym typeface="Symbol" pitchFamily="18" charset="2"/>
              </a:rPr>
              <a:t>是</a:t>
            </a:r>
            <a:r>
              <a:rPr lang="en-US" altLang="zh-CN" b="1" i="1" dirty="0">
                <a:sym typeface="Symbol" pitchFamily="18" charset="2"/>
              </a:rPr>
              <a:t>y</a:t>
            </a:r>
            <a:r>
              <a:rPr lang="zh-CN" altLang="en-US" b="1" dirty="0">
                <a:sym typeface="Symbol" pitchFamily="18" charset="2"/>
              </a:rPr>
              <a:t>的          </a:t>
            </a:r>
            <a:r>
              <a:rPr lang="en-US" altLang="zh-CN" b="1" dirty="0"/>
              <a:t>}</a:t>
            </a:r>
          </a:p>
          <a:p>
            <a:pPr marL="914400" lvl="2" indent="0" eaLnBrk="1" hangingPunct="1">
              <a:buNone/>
              <a:defRPr/>
            </a:pPr>
            <a:r>
              <a:rPr lang="en-US" altLang="zh-CN" b="1" i="1" dirty="0">
                <a:solidFill>
                  <a:srgbClr val="3333FF"/>
                </a:solidFill>
              </a:rPr>
              <a:t>F</a:t>
            </a:r>
            <a:r>
              <a:rPr lang="en-US" altLang="zh-CN" b="1" dirty="0"/>
              <a:t>∘</a:t>
            </a:r>
            <a:r>
              <a:rPr lang="en-US" altLang="zh-CN" b="1" i="1" dirty="0">
                <a:solidFill>
                  <a:srgbClr val="008000"/>
                </a:solidFill>
              </a:rPr>
              <a:t>G</a:t>
            </a:r>
            <a:r>
              <a:rPr lang="en-US" altLang="zh-CN" b="1" dirty="0"/>
              <a:t>  = {&lt;</a:t>
            </a:r>
            <a:r>
              <a:rPr lang="en-US" altLang="zh-CN" b="1" i="1" dirty="0" err="1"/>
              <a:t>x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y</a:t>
            </a:r>
            <a:r>
              <a:rPr lang="en-US" altLang="zh-CN" b="1" dirty="0"/>
              <a:t>&gt; | </a:t>
            </a:r>
            <a:r>
              <a:rPr lang="en-US" altLang="zh-CN" b="1" i="1" dirty="0"/>
              <a:t>x</a:t>
            </a:r>
            <a:r>
              <a:rPr lang="en-US" altLang="zh-CN" b="1" dirty="0"/>
              <a:t>, </a:t>
            </a:r>
            <a:r>
              <a:rPr lang="en-US" altLang="zh-CN" b="1" i="1" dirty="0" err="1"/>
              <a:t>y</a:t>
            </a:r>
            <a:r>
              <a:rPr lang="en-US" altLang="zh-CN" b="1" dirty="0" err="1">
                <a:sym typeface="Symbol" pitchFamily="18" charset="2"/>
              </a:rPr>
              <a:t></a:t>
            </a:r>
            <a:r>
              <a:rPr lang="en-US" altLang="zh-CN" b="1" i="1" dirty="0" err="1">
                <a:sym typeface="Symbol" pitchFamily="18" charset="2"/>
              </a:rPr>
              <a:t>P</a:t>
            </a:r>
            <a:r>
              <a:rPr lang="en-US" altLang="zh-CN" b="1" dirty="0"/>
              <a:t> </a:t>
            </a:r>
            <a:r>
              <a:rPr lang="en-US" altLang="zh-CN" b="1" dirty="0">
                <a:sym typeface="Symbol" pitchFamily="18" charset="2"/>
              </a:rPr>
              <a:t> </a:t>
            </a:r>
            <a:r>
              <a:rPr lang="en-US" altLang="zh-CN" b="1" i="1" dirty="0">
                <a:sym typeface="Symbol" pitchFamily="18" charset="2"/>
              </a:rPr>
              <a:t>x</a:t>
            </a:r>
            <a:r>
              <a:rPr lang="zh-CN" altLang="en-US" b="1" dirty="0">
                <a:sym typeface="Symbol" pitchFamily="18" charset="2"/>
              </a:rPr>
              <a:t>是</a:t>
            </a:r>
            <a:r>
              <a:rPr lang="en-US" altLang="zh-CN" b="1" i="1" dirty="0">
                <a:sym typeface="Symbol" pitchFamily="18" charset="2"/>
              </a:rPr>
              <a:t>y</a:t>
            </a:r>
            <a:r>
              <a:rPr lang="zh-CN" altLang="en-US" b="1" dirty="0">
                <a:sym typeface="Symbol" pitchFamily="18" charset="2"/>
              </a:rPr>
              <a:t>的 </a:t>
            </a:r>
            <a:r>
              <a:rPr lang="zh-CN" altLang="en-US" b="1" dirty="0">
                <a:solidFill>
                  <a:srgbClr val="FF0000"/>
                </a:solidFill>
                <a:sym typeface="Symbol" pitchFamily="18" charset="2"/>
              </a:rPr>
              <a:t>         </a:t>
            </a:r>
            <a:r>
              <a:rPr lang="zh-CN" altLang="en-US" b="1" dirty="0">
                <a:sym typeface="Symbol" pitchFamily="18" charset="2"/>
              </a:rPr>
              <a:t> </a:t>
            </a:r>
            <a:r>
              <a:rPr lang="en-US" altLang="zh-CN" b="1" dirty="0"/>
              <a:t>}</a:t>
            </a:r>
          </a:p>
          <a:p>
            <a:pPr marL="914400" lvl="2" indent="0" eaLnBrk="1" hangingPunct="1">
              <a:buNone/>
              <a:defRPr/>
            </a:pPr>
            <a:r>
              <a:rPr lang="en-US" altLang="zh-CN" b="1" i="1" dirty="0">
                <a:solidFill>
                  <a:srgbClr val="008000"/>
                </a:solidFill>
              </a:rPr>
              <a:t>G</a:t>
            </a:r>
            <a:r>
              <a:rPr lang="en-US" altLang="zh-CN" b="1" baseline="30000" dirty="0"/>
              <a:t>-1</a:t>
            </a:r>
            <a:r>
              <a:rPr lang="en-US" altLang="zh-CN" b="1" dirty="0"/>
              <a:t>∘</a:t>
            </a:r>
            <a:r>
              <a:rPr lang="en-US" altLang="zh-CN" b="1" i="1" dirty="0">
                <a:solidFill>
                  <a:srgbClr val="3333FF"/>
                </a:solidFill>
              </a:rPr>
              <a:t>F</a:t>
            </a:r>
            <a:r>
              <a:rPr lang="en-US" altLang="zh-CN" b="1" dirty="0"/>
              <a:t>  = {&lt;</a:t>
            </a:r>
            <a:r>
              <a:rPr lang="en-US" altLang="zh-CN" b="1" i="1" dirty="0" err="1"/>
              <a:t>x</a:t>
            </a:r>
            <a:r>
              <a:rPr lang="en-US" altLang="zh-CN" b="1" dirty="0" err="1"/>
              <a:t>,</a:t>
            </a:r>
            <a:r>
              <a:rPr lang="en-US" altLang="zh-CN" b="1" i="1" dirty="0" err="1"/>
              <a:t>y</a:t>
            </a:r>
            <a:r>
              <a:rPr lang="en-US" altLang="zh-CN" b="1" dirty="0"/>
              <a:t>&gt; | </a:t>
            </a:r>
            <a:r>
              <a:rPr lang="en-US" altLang="zh-CN" b="1" i="1" dirty="0"/>
              <a:t>x</a:t>
            </a:r>
            <a:r>
              <a:rPr lang="en-US" altLang="zh-CN" b="1" dirty="0"/>
              <a:t>, </a:t>
            </a:r>
            <a:r>
              <a:rPr lang="en-US" altLang="zh-CN" b="1" i="1" dirty="0" err="1"/>
              <a:t>y</a:t>
            </a:r>
            <a:r>
              <a:rPr lang="en-US" altLang="zh-CN" b="1" dirty="0" err="1">
                <a:sym typeface="Symbol" pitchFamily="18" charset="2"/>
              </a:rPr>
              <a:t></a:t>
            </a:r>
            <a:r>
              <a:rPr lang="en-US" altLang="zh-CN" b="1" i="1" dirty="0" err="1">
                <a:sym typeface="Symbol" pitchFamily="18" charset="2"/>
              </a:rPr>
              <a:t>P</a:t>
            </a:r>
            <a:r>
              <a:rPr lang="en-US" altLang="zh-CN" b="1" dirty="0"/>
              <a:t> </a:t>
            </a:r>
            <a:r>
              <a:rPr lang="en-US" altLang="zh-CN" b="1" dirty="0">
                <a:sym typeface="Symbol" pitchFamily="18" charset="2"/>
              </a:rPr>
              <a:t> </a:t>
            </a:r>
            <a:r>
              <a:rPr lang="en-US" altLang="zh-CN" b="1" i="1" dirty="0">
                <a:sym typeface="Symbol" pitchFamily="18" charset="2"/>
              </a:rPr>
              <a:t>x</a:t>
            </a:r>
            <a:r>
              <a:rPr lang="zh-CN" altLang="en-US" b="1" dirty="0">
                <a:sym typeface="Symbol" pitchFamily="18" charset="2"/>
              </a:rPr>
              <a:t>是</a:t>
            </a:r>
            <a:r>
              <a:rPr lang="en-US" altLang="zh-CN" b="1" i="1" dirty="0">
                <a:sym typeface="Symbol" pitchFamily="18" charset="2"/>
              </a:rPr>
              <a:t>y</a:t>
            </a:r>
            <a:r>
              <a:rPr lang="zh-CN" altLang="en-US" b="1" dirty="0">
                <a:sym typeface="Symbol" pitchFamily="18" charset="2"/>
              </a:rPr>
              <a:t>的 </a:t>
            </a:r>
            <a:r>
              <a:rPr lang="zh-CN" altLang="en-US" b="1" dirty="0">
                <a:solidFill>
                  <a:srgbClr val="FF0000"/>
                </a:solidFill>
                <a:sym typeface="Symbol" pitchFamily="18" charset="2"/>
              </a:rPr>
              <a:t>        </a:t>
            </a:r>
            <a:r>
              <a:rPr lang="en-US" altLang="zh-CN" b="1" dirty="0"/>
              <a:t>}</a:t>
            </a:r>
          </a:p>
        </p:txBody>
      </p:sp>
      <p:grpSp>
        <p:nvGrpSpPr>
          <p:cNvPr id="3076" name="组合 29"/>
          <p:cNvGrpSpPr>
            <a:grpSpLocks/>
          </p:cNvGrpSpPr>
          <p:nvPr/>
        </p:nvGrpSpPr>
        <p:grpSpPr bwMode="auto">
          <a:xfrm>
            <a:off x="3359151" y="1772815"/>
            <a:ext cx="5616575" cy="2014060"/>
            <a:chOff x="1577975" y="1845168"/>
            <a:chExt cx="5543550" cy="3015205"/>
          </a:xfrm>
        </p:grpSpPr>
        <p:sp>
          <p:nvSpPr>
            <p:cNvPr id="3081" name="Oval 4"/>
            <p:cNvSpPr>
              <a:spLocks noChangeArrowheads="1"/>
            </p:cNvSpPr>
            <p:nvPr/>
          </p:nvSpPr>
          <p:spPr bwMode="auto">
            <a:xfrm>
              <a:off x="1577975" y="2153774"/>
              <a:ext cx="1095918" cy="171955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2" name="Oval 5"/>
            <p:cNvSpPr>
              <a:spLocks noChangeArrowheads="1"/>
            </p:cNvSpPr>
            <p:nvPr/>
          </p:nvSpPr>
          <p:spPr bwMode="auto">
            <a:xfrm>
              <a:off x="3769809" y="2153774"/>
              <a:ext cx="1095918" cy="171955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3" name="Oval 6"/>
            <p:cNvSpPr>
              <a:spLocks noChangeArrowheads="1"/>
            </p:cNvSpPr>
            <p:nvPr/>
          </p:nvSpPr>
          <p:spPr bwMode="auto">
            <a:xfrm>
              <a:off x="6025608" y="2153774"/>
              <a:ext cx="1095917" cy="171955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zh-CN">
                <a:solidFill>
                  <a:srgbClr val="3333FF"/>
                </a:solidFill>
              </a:endParaRPr>
            </a:p>
          </p:txBody>
        </p:sp>
        <p:sp>
          <p:nvSpPr>
            <p:cNvPr id="3084" name="Oval 8"/>
            <p:cNvSpPr>
              <a:spLocks noChangeArrowheads="1"/>
            </p:cNvSpPr>
            <p:nvPr/>
          </p:nvSpPr>
          <p:spPr bwMode="auto">
            <a:xfrm>
              <a:off x="2028567" y="2479455"/>
              <a:ext cx="129349" cy="93198"/>
            </a:xfrm>
            <a:prstGeom prst="ellipse">
              <a:avLst/>
            </a:prstGeom>
            <a:solidFill>
              <a:srgbClr val="008000"/>
            </a:solidFill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5" name="Oval 9"/>
            <p:cNvSpPr>
              <a:spLocks noChangeArrowheads="1"/>
            </p:cNvSpPr>
            <p:nvPr/>
          </p:nvSpPr>
          <p:spPr bwMode="auto">
            <a:xfrm>
              <a:off x="2028567" y="3221968"/>
              <a:ext cx="129349" cy="93199"/>
            </a:xfrm>
            <a:prstGeom prst="ellipse">
              <a:avLst/>
            </a:prstGeom>
            <a:solidFill>
              <a:srgbClr val="008000"/>
            </a:solidFill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6" name="Oval 10"/>
            <p:cNvSpPr>
              <a:spLocks noChangeArrowheads="1"/>
            </p:cNvSpPr>
            <p:nvPr/>
          </p:nvSpPr>
          <p:spPr bwMode="auto">
            <a:xfrm>
              <a:off x="4220401" y="2479455"/>
              <a:ext cx="129349" cy="93198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7" name="Oval 11"/>
            <p:cNvSpPr>
              <a:spLocks noChangeArrowheads="1"/>
            </p:cNvSpPr>
            <p:nvPr/>
          </p:nvSpPr>
          <p:spPr bwMode="auto">
            <a:xfrm>
              <a:off x="4220401" y="2897311"/>
              <a:ext cx="129349" cy="93198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8" name="Oval 12"/>
            <p:cNvSpPr>
              <a:spLocks noChangeArrowheads="1"/>
            </p:cNvSpPr>
            <p:nvPr/>
          </p:nvSpPr>
          <p:spPr bwMode="auto">
            <a:xfrm>
              <a:off x="4220401" y="3408364"/>
              <a:ext cx="129349" cy="93199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9" name="Oval 13"/>
            <p:cNvSpPr>
              <a:spLocks noChangeArrowheads="1"/>
            </p:cNvSpPr>
            <p:nvPr/>
          </p:nvSpPr>
          <p:spPr bwMode="auto">
            <a:xfrm>
              <a:off x="6541584" y="2664827"/>
              <a:ext cx="129350" cy="93199"/>
            </a:xfrm>
            <a:prstGeom prst="ellipse">
              <a:avLst/>
            </a:prstGeom>
            <a:solidFill>
              <a:srgbClr val="3333FF"/>
            </a:solidFill>
            <a:ln w="28575">
              <a:solidFill>
                <a:srgbClr val="3333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0" name="Oval 14"/>
            <p:cNvSpPr>
              <a:spLocks noChangeArrowheads="1"/>
            </p:cNvSpPr>
            <p:nvPr/>
          </p:nvSpPr>
          <p:spPr bwMode="auto">
            <a:xfrm>
              <a:off x="6541584" y="3269079"/>
              <a:ext cx="129350" cy="93199"/>
            </a:xfrm>
            <a:prstGeom prst="ellipse">
              <a:avLst/>
            </a:prstGeom>
            <a:solidFill>
              <a:srgbClr val="3333FF"/>
            </a:solidFill>
            <a:ln w="28575">
              <a:solidFill>
                <a:srgbClr val="3333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1" name="Text Box 15"/>
            <p:cNvSpPr txBox="1">
              <a:spLocks noChangeArrowheads="1"/>
            </p:cNvSpPr>
            <p:nvPr/>
          </p:nvSpPr>
          <p:spPr bwMode="auto">
            <a:xfrm>
              <a:off x="1899217" y="2446880"/>
              <a:ext cx="555428" cy="598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cs typeface="Arial" charset="0"/>
                </a:rPr>
                <a:t>x</a:t>
              </a:r>
              <a:r>
                <a:rPr lang="en-US" altLang="zh-CN" sz="2000" b="1" baseline="-25000">
                  <a:latin typeface="Symbol" pitchFamily="18" charset="2"/>
                </a:rPr>
                <a:t>1</a:t>
              </a:r>
            </a:p>
          </p:txBody>
        </p:sp>
        <p:sp>
          <p:nvSpPr>
            <p:cNvPr id="3092" name="Text Box 16"/>
            <p:cNvSpPr txBox="1">
              <a:spLocks noChangeArrowheads="1"/>
            </p:cNvSpPr>
            <p:nvPr/>
          </p:nvSpPr>
          <p:spPr bwMode="auto">
            <a:xfrm>
              <a:off x="1899217" y="3362277"/>
              <a:ext cx="555428" cy="598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cs typeface="Arial" charset="0"/>
                </a:rPr>
                <a:t>x</a:t>
              </a:r>
              <a:r>
                <a:rPr lang="en-US" altLang="zh-CN" sz="2000" b="1" baseline="-25000">
                  <a:latin typeface="Symbol" pitchFamily="18" charset="2"/>
                </a:rPr>
                <a:t>2</a:t>
              </a:r>
            </a:p>
          </p:txBody>
        </p:sp>
        <p:sp>
          <p:nvSpPr>
            <p:cNvPr id="3093" name="Text Box 17"/>
            <p:cNvSpPr txBox="1">
              <a:spLocks noChangeArrowheads="1"/>
            </p:cNvSpPr>
            <p:nvPr/>
          </p:nvSpPr>
          <p:spPr bwMode="auto">
            <a:xfrm>
              <a:off x="4156436" y="3354465"/>
              <a:ext cx="890497" cy="598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cs typeface="Arial" charset="0"/>
                </a:rPr>
                <a:t>z</a:t>
              </a:r>
              <a:r>
                <a:rPr lang="en-US" altLang="zh-CN" sz="2000" b="1" baseline="-25000">
                  <a:latin typeface="Symbol" pitchFamily="18" charset="2"/>
                </a:rPr>
                <a:t>3</a:t>
              </a:r>
            </a:p>
          </p:txBody>
        </p:sp>
        <p:sp>
          <p:nvSpPr>
            <p:cNvPr id="3094" name="Text Box 18"/>
            <p:cNvSpPr txBox="1">
              <a:spLocks noChangeArrowheads="1"/>
            </p:cNvSpPr>
            <p:nvPr/>
          </p:nvSpPr>
          <p:spPr bwMode="auto">
            <a:xfrm>
              <a:off x="3833774" y="2599694"/>
              <a:ext cx="595249" cy="598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cs typeface="Arial" charset="0"/>
                </a:rPr>
                <a:t>z</a:t>
              </a:r>
              <a:r>
                <a:rPr lang="en-US" altLang="zh-CN" sz="2000" b="1" baseline="-25000">
                  <a:latin typeface="Symbol" pitchFamily="18" charset="2"/>
                </a:rPr>
                <a:t>2</a:t>
              </a:r>
            </a:p>
          </p:txBody>
        </p:sp>
        <p:sp>
          <p:nvSpPr>
            <p:cNvPr id="3095" name="Text Box 19"/>
            <p:cNvSpPr txBox="1">
              <a:spLocks noChangeArrowheads="1"/>
            </p:cNvSpPr>
            <p:nvPr/>
          </p:nvSpPr>
          <p:spPr bwMode="auto">
            <a:xfrm>
              <a:off x="4092473" y="1952747"/>
              <a:ext cx="450590" cy="598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cs typeface="Arial" charset="0"/>
                </a:rPr>
                <a:t>z</a:t>
              </a:r>
              <a:r>
                <a:rPr lang="en-US" altLang="zh-CN" sz="2000" b="1" baseline="-25000">
                  <a:latin typeface="Symbol" pitchFamily="18" charset="2"/>
                </a:rPr>
                <a:t>1</a:t>
              </a:r>
            </a:p>
          </p:txBody>
        </p:sp>
        <p:sp>
          <p:nvSpPr>
            <p:cNvPr id="3096" name="Text Box 20"/>
            <p:cNvSpPr txBox="1">
              <a:spLocks noChangeArrowheads="1"/>
            </p:cNvSpPr>
            <p:nvPr/>
          </p:nvSpPr>
          <p:spPr bwMode="auto">
            <a:xfrm>
              <a:off x="6348271" y="2060574"/>
              <a:ext cx="773254" cy="598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cs typeface="Arial" charset="0"/>
                </a:rPr>
                <a:t>y</a:t>
              </a:r>
              <a:r>
                <a:rPr lang="en-US" altLang="zh-CN" sz="2000" b="1" baseline="-25000">
                  <a:latin typeface="Symbol" pitchFamily="18" charset="2"/>
                </a:rPr>
                <a:t>1</a:t>
              </a:r>
            </a:p>
          </p:txBody>
        </p:sp>
        <p:sp>
          <p:nvSpPr>
            <p:cNvPr id="3097" name="Text Box 21"/>
            <p:cNvSpPr txBox="1">
              <a:spLocks noChangeArrowheads="1"/>
            </p:cNvSpPr>
            <p:nvPr/>
          </p:nvSpPr>
          <p:spPr bwMode="auto">
            <a:xfrm>
              <a:off x="6413656" y="2707519"/>
              <a:ext cx="707869" cy="598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cs typeface="Arial" charset="0"/>
                </a:rPr>
                <a:t>y</a:t>
              </a:r>
              <a:r>
                <a:rPr lang="en-US" altLang="zh-CN" sz="2000" b="1" baseline="-25000">
                  <a:latin typeface="Symbol" pitchFamily="18" charset="2"/>
                </a:rPr>
                <a:t>2</a:t>
              </a:r>
            </a:p>
          </p:txBody>
        </p:sp>
        <p:cxnSp>
          <p:nvCxnSpPr>
            <p:cNvPr id="3098" name="AutoShape 23"/>
            <p:cNvCxnSpPr>
              <a:cxnSpLocks noChangeShapeType="1"/>
            </p:cNvCxnSpPr>
            <p:nvPr/>
          </p:nvCxnSpPr>
          <p:spPr bwMode="auto">
            <a:xfrm>
              <a:off x="2092530" y="2525542"/>
              <a:ext cx="2115078" cy="2355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99" name="AutoShape 25"/>
            <p:cNvCxnSpPr>
              <a:cxnSpLocks noChangeShapeType="1"/>
              <a:endCxn id="3088" idx="2"/>
            </p:cNvCxnSpPr>
            <p:nvPr/>
          </p:nvCxnSpPr>
          <p:spPr bwMode="auto">
            <a:xfrm>
              <a:off x="2028567" y="3315166"/>
              <a:ext cx="2179041" cy="140309"/>
            </a:xfrm>
            <a:prstGeom prst="curvedConnector3">
              <a:avLst>
                <a:gd name="adj1" fmla="val 50292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00" name="Line 27"/>
            <p:cNvSpPr>
              <a:spLocks noChangeShapeType="1"/>
            </p:cNvSpPr>
            <p:nvPr/>
          </p:nvSpPr>
          <p:spPr bwMode="auto">
            <a:xfrm flipV="1">
              <a:off x="4349750" y="2758025"/>
              <a:ext cx="2257220" cy="1853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1" name="Line 28"/>
            <p:cNvSpPr>
              <a:spLocks noChangeShapeType="1"/>
            </p:cNvSpPr>
            <p:nvPr/>
          </p:nvSpPr>
          <p:spPr bwMode="auto">
            <a:xfrm flipV="1">
              <a:off x="4349750" y="3362277"/>
              <a:ext cx="2191834" cy="9217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102" name="AutoShape 29"/>
            <p:cNvCxnSpPr>
              <a:cxnSpLocks noChangeShapeType="1"/>
            </p:cNvCxnSpPr>
            <p:nvPr/>
          </p:nvCxnSpPr>
          <p:spPr bwMode="auto">
            <a:xfrm rot="16200000" flipH="1">
              <a:off x="4361470" y="1111612"/>
              <a:ext cx="60425" cy="4467533"/>
            </a:xfrm>
            <a:prstGeom prst="curvedConnector3">
              <a:avLst>
                <a:gd name="adj1" fmla="val 1305083"/>
              </a:avLst>
            </a:prstGeom>
            <a:noFill/>
            <a:ln w="38100">
              <a:solidFill>
                <a:srgbClr val="CC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03" name="Rectangle 31"/>
            <p:cNvSpPr>
              <a:spLocks noChangeArrowheads="1"/>
            </p:cNvSpPr>
            <p:nvPr/>
          </p:nvSpPr>
          <p:spPr bwMode="auto">
            <a:xfrm>
              <a:off x="5252354" y="2107687"/>
              <a:ext cx="399022" cy="783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 dirty="0">
                  <a:solidFill>
                    <a:srgbClr val="3333FF"/>
                  </a:solidFill>
                  <a:cs typeface="Arial" charset="0"/>
                </a:rPr>
                <a:t>F</a:t>
              </a:r>
            </a:p>
          </p:txBody>
        </p:sp>
        <p:sp>
          <p:nvSpPr>
            <p:cNvPr id="3104" name="Rectangle 32"/>
            <p:cNvSpPr>
              <a:spLocks noChangeArrowheads="1"/>
            </p:cNvSpPr>
            <p:nvPr/>
          </p:nvSpPr>
          <p:spPr bwMode="auto">
            <a:xfrm>
              <a:off x="3060520" y="1845168"/>
              <a:ext cx="457561" cy="783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 dirty="0">
                  <a:solidFill>
                    <a:srgbClr val="008000"/>
                  </a:solidFill>
                  <a:cs typeface="Arial" charset="0"/>
                </a:rPr>
                <a:t>G</a:t>
              </a:r>
            </a:p>
          </p:txBody>
        </p:sp>
        <p:sp>
          <p:nvSpPr>
            <p:cNvPr id="3105" name="Rectangle 31"/>
            <p:cNvSpPr>
              <a:spLocks noChangeArrowheads="1"/>
            </p:cNvSpPr>
            <p:nvPr/>
          </p:nvSpPr>
          <p:spPr bwMode="auto">
            <a:xfrm>
              <a:off x="3769809" y="4077072"/>
              <a:ext cx="1095918" cy="783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 dirty="0">
                  <a:solidFill>
                    <a:srgbClr val="3333FF"/>
                  </a:solidFill>
                  <a:cs typeface="Arial" charset="0"/>
                </a:rPr>
                <a:t>F</a:t>
              </a:r>
              <a:r>
                <a:rPr lang="en-US" altLang="zh-CN" sz="2800" b="1" dirty="0">
                  <a:solidFill>
                    <a:srgbClr val="3333FF"/>
                  </a:solidFill>
                </a:rPr>
                <a:t> 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∘ </a:t>
              </a:r>
              <a:r>
                <a:rPr lang="en-US" altLang="zh-CN" sz="2800" b="1" i="1" dirty="0">
                  <a:solidFill>
                    <a:srgbClr val="008000"/>
                  </a:solidFill>
                  <a:cs typeface="Arial" charset="0"/>
                </a:rPr>
                <a:t>G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6528048" y="4987159"/>
            <a:ext cx="1029148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爷爷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556724" y="5419207"/>
            <a:ext cx="102235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外婆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612806" y="5877768"/>
            <a:ext cx="995362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奶奶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690986" y="6309568"/>
            <a:ext cx="98919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b="1" dirty="0">
                <a:solidFill>
                  <a:srgbClr val="FF0000"/>
                </a:solidFill>
                <a:sym typeface="Symbol" pitchFamily="18" charset="2"/>
              </a:rPr>
              <a:t>丈夫</a:t>
            </a:r>
            <a:endParaRPr lang="zh-CN" altLang="en-US" sz="1600" dirty="0"/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5B4C6D2B-161C-5265-14D4-B1F913651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111" y="2220877"/>
            <a:ext cx="4235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i="1" dirty="0">
                <a:cs typeface="Arial" charset="0"/>
              </a:rPr>
              <a:t>X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1F1C72C9-D11B-8B5F-80F8-ABEB6EF2B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7206" y="2251688"/>
            <a:ext cx="4235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i="1" dirty="0">
                <a:cs typeface="Arial" charset="0"/>
              </a:rPr>
              <a:t>Y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7539EF97-AA6B-82C9-7C33-75CEB1DA5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2690" y="1716713"/>
            <a:ext cx="4042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i="1" dirty="0">
                <a:cs typeface="Arial" charset="0"/>
              </a:rPr>
              <a:t>Z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43D016-5055-53BF-A42F-8B6A11BA04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2163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4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4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4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4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84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84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840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3" grpId="0" uiExpand="1" build="p"/>
      <p:bldP spid="2" grpId="0" uiExpand="1"/>
      <p:bldP spid="57" grpId="0" uiExpand="1"/>
      <p:bldP spid="58" grpId="0" uiExpand="1"/>
      <p:bldP spid="5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8933-01EB-0F4C-B132-023966845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95EE5EDB-9D2E-53CC-9846-13709A29F8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3" y="115888"/>
            <a:ext cx="8229600" cy="1371600"/>
          </a:xfrm>
          <a:noFill/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二元关系的合成运算</a:t>
            </a:r>
          </a:p>
        </p:txBody>
      </p:sp>
      <p:sp>
        <p:nvSpPr>
          <p:cNvPr id="384003" name="Rectangle 3">
            <a:extLst>
              <a:ext uri="{FF2B5EF4-FFF2-40B4-BE49-F238E27FC236}">
                <a16:creationId xmlns:a16="http://schemas.microsoft.com/office/drawing/2014/main" id="{DA79259D-31E4-4477-5615-1C7AC2CA23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63750" y="1252538"/>
            <a:ext cx="8362950" cy="5256212"/>
          </a:xfrm>
        </p:spPr>
        <p:txBody>
          <a:bodyPr/>
          <a:lstStyle/>
          <a:p>
            <a:pPr eaLnBrk="1" hangingPunct="1"/>
            <a:r>
              <a:rPr lang="en-US" altLang="zh-CN" b="1" i="1" dirty="0">
                <a:solidFill>
                  <a:srgbClr val="FF0000"/>
                </a:solidFill>
              </a:rPr>
              <a:t>F</a:t>
            </a:r>
            <a:r>
              <a:rPr lang="en-US" altLang="zh-CN" b="1" dirty="0">
                <a:solidFill>
                  <a:srgbClr val="FF0000"/>
                </a:solidFill>
              </a:rPr>
              <a:t>∘G = {&lt;</a:t>
            </a:r>
            <a:r>
              <a:rPr lang="en-US" altLang="zh-CN" b="1" i="1" dirty="0" err="1">
                <a:solidFill>
                  <a:srgbClr val="FF0000"/>
                </a:solidFill>
              </a:rPr>
              <a:t>x</a:t>
            </a:r>
            <a:r>
              <a:rPr lang="en-US" altLang="zh-CN" b="1" dirty="0" err="1">
                <a:solidFill>
                  <a:srgbClr val="FF0000"/>
                </a:solidFill>
              </a:rPr>
              <a:t>,y</a:t>
            </a:r>
            <a:r>
              <a:rPr lang="en-US" altLang="zh-CN" b="1" dirty="0">
                <a:solidFill>
                  <a:srgbClr val="FF0000"/>
                </a:solidFill>
              </a:rPr>
              <a:t>&gt; | </a:t>
            </a:r>
            <a:r>
              <a:rPr lang="en-US" altLang="zh-CN" b="1" dirty="0">
                <a:solidFill>
                  <a:srgbClr val="FF0000"/>
                </a:solidFill>
                <a:sym typeface="Symbol" pitchFamily="18" charset="2"/>
              </a:rPr>
              <a:t></a:t>
            </a:r>
            <a:r>
              <a:rPr lang="en-US" altLang="zh-CN" b="1" dirty="0">
                <a:solidFill>
                  <a:srgbClr val="008000"/>
                </a:solidFill>
              </a:rPr>
              <a:t>z</a:t>
            </a:r>
            <a:r>
              <a:rPr lang="en-US" altLang="zh-CN" b="1" dirty="0">
                <a:solidFill>
                  <a:srgbClr val="FF0000"/>
                </a:solidFill>
              </a:rPr>
              <a:t> (&lt;</a:t>
            </a:r>
            <a:r>
              <a:rPr lang="en-US" altLang="zh-CN" b="1" i="1" dirty="0" err="1">
                <a:solidFill>
                  <a:srgbClr val="FF0000"/>
                </a:solidFill>
              </a:rPr>
              <a:t>x</a:t>
            </a:r>
            <a:r>
              <a:rPr lang="en-US" altLang="zh-CN" b="1" dirty="0" err="1">
                <a:solidFill>
                  <a:srgbClr val="FF0000"/>
                </a:solidFill>
              </a:rPr>
              <a:t>,</a:t>
            </a:r>
            <a:r>
              <a:rPr lang="en-US" altLang="zh-CN" b="1" dirty="0" err="1">
                <a:solidFill>
                  <a:srgbClr val="008000"/>
                </a:solidFill>
              </a:rPr>
              <a:t>z</a:t>
            </a:r>
            <a:r>
              <a:rPr lang="en-US" altLang="zh-CN" b="1" dirty="0">
                <a:solidFill>
                  <a:srgbClr val="FF0000"/>
                </a:solidFill>
              </a:rPr>
              <a:t>&gt;</a:t>
            </a:r>
            <a:r>
              <a:rPr lang="en-US" altLang="zh-CN" b="1" dirty="0">
                <a:solidFill>
                  <a:srgbClr val="FF0000"/>
                </a:solidFill>
                <a:sym typeface="Symbol" pitchFamily="18" charset="2"/>
              </a:rPr>
              <a:t></a:t>
            </a:r>
            <a:r>
              <a:rPr lang="en-US" altLang="zh-CN" b="1" i="1" dirty="0">
                <a:solidFill>
                  <a:srgbClr val="FF0000"/>
                </a:solidFill>
                <a:sym typeface="Symbol" pitchFamily="18" charset="2"/>
              </a:rPr>
              <a:t>G</a:t>
            </a:r>
            <a:r>
              <a:rPr lang="en-US" altLang="zh-CN" b="1" dirty="0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altLang="zh-CN" b="1" dirty="0">
                <a:solidFill>
                  <a:srgbClr val="FF0000"/>
                </a:solidFill>
              </a:rPr>
              <a:t>&lt;</a:t>
            </a:r>
            <a:r>
              <a:rPr lang="en-US" altLang="zh-CN" b="1" dirty="0" err="1">
                <a:solidFill>
                  <a:srgbClr val="008000"/>
                </a:solidFill>
              </a:rPr>
              <a:t>z</a:t>
            </a:r>
            <a:r>
              <a:rPr lang="en-US" altLang="zh-CN" b="1" dirty="0" err="1">
                <a:solidFill>
                  <a:srgbClr val="FF0000"/>
                </a:solidFill>
              </a:rPr>
              <a:t>,</a:t>
            </a:r>
            <a:r>
              <a:rPr lang="en-US" altLang="zh-CN" b="1" i="1" dirty="0" err="1">
                <a:solidFill>
                  <a:srgbClr val="FF0000"/>
                </a:solidFill>
              </a:rPr>
              <a:t>y</a:t>
            </a:r>
            <a:r>
              <a:rPr lang="en-US" altLang="zh-CN" b="1" dirty="0">
                <a:solidFill>
                  <a:srgbClr val="FF0000"/>
                </a:solidFill>
              </a:rPr>
              <a:t>&gt;</a:t>
            </a:r>
            <a:r>
              <a:rPr lang="en-US" altLang="zh-CN" b="1" dirty="0">
                <a:solidFill>
                  <a:srgbClr val="FF0000"/>
                </a:solidFill>
                <a:sym typeface="Symbol" pitchFamily="18" charset="2"/>
              </a:rPr>
              <a:t></a:t>
            </a:r>
            <a:r>
              <a:rPr lang="en-US" altLang="zh-CN" b="1" i="1" dirty="0">
                <a:solidFill>
                  <a:srgbClr val="FF0000"/>
                </a:solidFill>
                <a:sym typeface="Symbol" pitchFamily="18" charset="2"/>
              </a:rPr>
              <a:t>F</a:t>
            </a:r>
            <a:r>
              <a:rPr lang="en-US" altLang="zh-CN" b="1" dirty="0">
                <a:solidFill>
                  <a:srgbClr val="FF0000"/>
                </a:solidFill>
              </a:rPr>
              <a:t>) }</a:t>
            </a:r>
            <a:r>
              <a:rPr lang="en-US" altLang="zh-CN" sz="3600" b="1" dirty="0">
                <a:solidFill>
                  <a:srgbClr val="FF0000"/>
                </a:solidFill>
              </a:rPr>
              <a:t> </a:t>
            </a:r>
          </a:p>
          <a:p>
            <a:pPr eaLnBrk="1" hangingPunct="1"/>
            <a:endParaRPr lang="en-US" altLang="zh-CN" sz="3600" b="1" dirty="0">
              <a:solidFill>
                <a:srgbClr val="FF0000"/>
              </a:solidFill>
            </a:endParaRPr>
          </a:p>
          <a:p>
            <a:pPr eaLnBrk="1" hangingPunct="1"/>
            <a:endParaRPr lang="en-US" altLang="zh-CN" sz="3600" b="1" dirty="0">
              <a:solidFill>
                <a:srgbClr val="FF0000"/>
              </a:solidFill>
            </a:endParaRPr>
          </a:p>
          <a:p>
            <a:pPr eaLnBrk="1" hangingPunct="1"/>
            <a:endParaRPr lang="en-US" altLang="zh-CN" sz="3600" b="1" dirty="0">
              <a:solidFill>
                <a:srgbClr val="FF0000"/>
              </a:solidFill>
            </a:endParaRPr>
          </a:p>
          <a:p>
            <a:pPr eaLnBrk="1" hangingPunct="1"/>
            <a:endParaRPr lang="en-US" altLang="zh-CN" sz="36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rgbClr val="3333FF"/>
                </a:solidFill>
              </a:rPr>
              <a:t>用特征函数表示：</a:t>
            </a:r>
            <a:endParaRPr lang="en-US" altLang="zh-CN" b="1" dirty="0">
              <a:solidFill>
                <a:srgbClr val="3333FF"/>
              </a:solidFill>
            </a:endParaRPr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lang="zh-CN" altLang="en-US" b="1" i="1" dirty="0">
                <a:solidFill>
                  <a:srgbClr val="3333FF"/>
                </a:solidFill>
              </a:rPr>
              <a:t> </a:t>
            </a:r>
            <a:endParaRPr lang="en-US" altLang="zh-CN" b="1" i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64B71F1-DD7C-E3DB-9A1E-F1405B0EF933}"/>
              </a:ext>
            </a:extLst>
          </p:cNvPr>
          <p:cNvGrpSpPr/>
          <p:nvPr/>
        </p:nvGrpSpPr>
        <p:grpSpPr>
          <a:xfrm>
            <a:off x="2324973" y="1749403"/>
            <a:ext cx="6702017" cy="2650378"/>
            <a:chOff x="800972" y="1749403"/>
            <a:chExt cx="6702017" cy="2650378"/>
          </a:xfrm>
        </p:grpSpPr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8BC18523-F383-31C8-C78B-DDBDC1F5EE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8814" y="1977852"/>
              <a:ext cx="5636192" cy="2421929"/>
              <a:chOff x="1558613" y="2060575"/>
              <a:chExt cx="5562912" cy="2572175"/>
            </a:xfrm>
          </p:grpSpPr>
          <p:sp>
            <p:nvSpPr>
              <p:cNvPr id="83" name="Oval 4">
                <a:extLst>
                  <a:ext uri="{FF2B5EF4-FFF2-40B4-BE49-F238E27FC236}">
                    <a16:creationId xmlns:a16="http://schemas.microsoft.com/office/drawing/2014/main" id="{6F8584B9-39AA-732E-572B-60495AA411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7975" y="2153774"/>
                <a:ext cx="1095918" cy="17195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" name="Oval 5">
                <a:extLst>
                  <a:ext uri="{FF2B5EF4-FFF2-40B4-BE49-F238E27FC236}">
                    <a16:creationId xmlns:a16="http://schemas.microsoft.com/office/drawing/2014/main" id="{C2C3CA87-D881-A9A6-A1CD-F52B146EF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9809" y="2153774"/>
                <a:ext cx="1095918" cy="17195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" name="Oval 6">
                <a:extLst>
                  <a:ext uri="{FF2B5EF4-FFF2-40B4-BE49-F238E27FC236}">
                    <a16:creationId xmlns:a16="http://schemas.microsoft.com/office/drawing/2014/main" id="{E22CBA7B-1A5C-4E21-9436-6ECB42517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5608" y="2153774"/>
                <a:ext cx="1095917" cy="171955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3333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zh-CN">
                  <a:solidFill>
                    <a:srgbClr val="3333FF"/>
                  </a:solidFill>
                </a:endParaRPr>
              </a:p>
            </p:txBody>
          </p:sp>
          <p:sp>
            <p:nvSpPr>
              <p:cNvPr id="86" name="Oval 8">
                <a:extLst>
                  <a:ext uri="{FF2B5EF4-FFF2-40B4-BE49-F238E27FC236}">
                    <a16:creationId xmlns:a16="http://schemas.microsoft.com/office/drawing/2014/main" id="{D005AF79-8BB3-B098-49E2-869B9044AB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8567" y="2479455"/>
                <a:ext cx="129349" cy="93198"/>
              </a:xfrm>
              <a:prstGeom prst="ellipse">
                <a:avLst/>
              </a:prstGeom>
              <a:solidFill>
                <a:srgbClr val="008000"/>
              </a:solidFill>
              <a:ln w="28575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" name="Oval 9">
                <a:extLst>
                  <a:ext uri="{FF2B5EF4-FFF2-40B4-BE49-F238E27FC236}">
                    <a16:creationId xmlns:a16="http://schemas.microsoft.com/office/drawing/2014/main" id="{BA998928-C4D5-A07D-62C2-F4374979EF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8567" y="3221968"/>
                <a:ext cx="129349" cy="93199"/>
              </a:xfrm>
              <a:prstGeom prst="ellipse">
                <a:avLst/>
              </a:prstGeom>
              <a:solidFill>
                <a:srgbClr val="008000"/>
              </a:solidFill>
              <a:ln w="28575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" name="Oval 10">
                <a:extLst>
                  <a:ext uri="{FF2B5EF4-FFF2-40B4-BE49-F238E27FC236}">
                    <a16:creationId xmlns:a16="http://schemas.microsoft.com/office/drawing/2014/main" id="{0E8EF742-F717-40F4-41AD-14AD8B3365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401" y="2479455"/>
                <a:ext cx="129349" cy="93198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9" name="Oval 11">
                <a:extLst>
                  <a:ext uri="{FF2B5EF4-FFF2-40B4-BE49-F238E27FC236}">
                    <a16:creationId xmlns:a16="http://schemas.microsoft.com/office/drawing/2014/main" id="{4AB080F7-920C-BBE3-523D-B22985CA8A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401" y="2897311"/>
                <a:ext cx="129349" cy="93198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" name="Oval 12">
                <a:extLst>
                  <a:ext uri="{FF2B5EF4-FFF2-40B4-BE49-F238E27FC236}">
                    <a16:creationId xmlns:a16="http://schemas.microsoft.com/office/drawing/2014/main" id="{8292665D-571D-2533-B83E-C69E3D4F6B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401" y="3408364"/>
                <a:ext cx="129349" cy="93199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" name="Oval 13">
                <a:extLst>
                  <a:ext uri="{FF2B5EF4-FFF2-40B4-BE49-F238E27FC236}">
                    <a16:creationId xmlns:a16="http://schemas.microsoft.com/office/drawing/2014/main" id="{4293FBC0-94DA-0D8D-6A32-2189E4BBA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41584" y="2664827"/>
                <a:ext cx="129350" cy="93199"/>
              </a:xfrm>
              <a:prstGeom prst="ellipse">
                <a:avLst/>
              </a:prstGeom>
              <a:solidFill>
                <a:srgbClr val="3333FF"/>
              </a:solidFill>
              <a:ln w="28575">
                <a:solidFill>
                  <a:srgbClr val="3333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" name="Oval 14">
                <a:extLst>
                  <a:ext uri="{FF2B5EF4-FFF2-40B4-BE49-F238E27FC236}">
                    <a16:creationId xmlns:a16="http://schemas.microsoft.com/office/drawing/2014/main" id="{22008946-5B82-6A22-F2FF-38985B542F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41584" y="3269079"/>
                <a:ext cx="129350" cy="93199"/>
              </a:xfrm>
              <a:prstGeom prst="ellipse">
                <a:avLst/>
              </a:prstGeom>
              <a:solidFill>
                <a:srgbClr val="3333FF"/>
              </a:solidFill>
              <a:ln w="28575">
                <a:solidFill>
                  <a:srgbClr val="3333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" name="Text Box 15">
                <a:extLst>
                  <a:ext uri="{FF2B5EF4-FFF2-40B4-BE49-F238E27FC236}">
                    <a16:creationId xmlns:a16="http://schemas.microsoft.com/office/drawing/2014/main" id="{61DF5B12-7A4A-FAFF-4AC7-91418DE4D1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2831" y="2411597"/>
                <a:ext cx="555428" cy="4249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cs typeface="Arial" charset="0"/>
                  </a:rPr>
                  <a:t>x</a:t>
                </a:r>
                <a:r>
                  <a:rPr lang="en-US" altLang="zh-CN" sz="2000" b="1" baseline="-25000">
                    <a:latin typeface="Symbol" pitchFamily="18" charset="2"/>
                  </a:rPr>
                  <a:t>1</a:t>
                </a:r>
              </a:p>
            </p:txBody>
          </p:sp>
          <p:sp>
            <p:nvSpPr>
              <p:cNvPr id="94" name="Text Box 16">
                <a:extLst>
                  <a:ext uri="{FF2B5EF4-FFF2-40B4-BE49-F238E27FC236}">
                    <a16:creationId xmlns:a16="http://schemas.microsoft.com/office/drawing/2014/main" id="{82600863-897F-928A-7407-00FB01F5DE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58613" y="3099872"/>
                <a:ext cx="555428" cy="4249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cs typeface="Arial" charset="0"/>
                  </a:rPr>
                  <a:t>x</a:t>
                </a:r>
                <a:r>
                  <a:rPr lang="en-US" altLang="zh-CN" sz="2000" b="1" baseline="-25000" dirty="0">
                    <a:latin typeface="Symbol" pitchFamily="18" charset="2"/>
                  </a:rPr>
                  <a:t>2</a:t>
                </a:r>
              </a:p>
            </p:txBody>
          </p:sp>
          <p:sp>
            <p:nvSpPr>
              <p:cNvPr id="95" name="Text Box 17">
                <a:extLst>
                  <a:ext uri="{FF2B5EF4-FFF2-40B4-BE49-F238E27FC236}">
                    <a16:creationId xmlns:a16="http://schemas.microsoft.com/office/drawing/2014/main" id="{422337E2-6E45-D8A3-0A7B-93C0749C6D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8490" y="3354465"/>
                <a:ext cx="890497" cy="4249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cs typeface="Arial" charset="0"/>
                  </a:rPr>
                  <a:t>z</a:t>
                </a:r>
                <a:r>
                  <a:rPr lang="en-US" altLang="zh-CN" sz="2000" b="1" baseline="-25000" dirty="0">
                    <a:latin typeface="Symbol" pitchFamily="18" charset="2"/>
                  </a:rPr>
                  <a:t>3</a:t>
                </a:r>
              </a:p>
            </p:txBody>
          </p:sp>
          <p:sp>
            <p:nvSpPr>
              <p:cNvPr id="96" name="Text Box 18">
                <a:extLst>
                  <a:ext uri="{FF2B5EF4-FFF2-40B4-BE49-F238E27FC236}">
                    <a16:creationId xmlns:a16="http://schemas.microsoft.com/office/drawing/2014/main" id="{94B0E3AA-C380-C43F-E7C9-4BB49D9F43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1838" y="2623231"/>
                <a:ext cx="595249" cy="4249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cs typeface="Arial" charset="0"/>
                  </a:rPr>
                  <a:t>z</a:t>
                </a:r>
                <a:r>
                  <a:rPr lang="en-US" altLang="zh-CN" sz="2000" b="1" baseline="-25000" dirty="0">
                    <a:latin typeface="Symbol" pitchFamily="18" charset="2"/>
                  </a:rPr>
                  <a:t>2</a:t>
                </a:r>
              </a:p>
            </p:txBody>
          </p:sp>
          <p:sp>
            <p:nvSpPr>
              <p:cNvPr id="97" name="Text Box 19">
                <a:extLst>
                  <a:ext uri="{FF2B5EF4-FFF2-40B4-BE49-F238E27FC236}">
                    <a16:creationId xmlns:a16="http://schemas.microsoft.com/office/drawing/2014/main" id="{195391B0-BDFB-4C40-E1A8-7CDDC93F10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92473" y="2087906"/>
                <a:ext cx="450590" cy="4249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cs typeface="Arial" charset="0"/>
                  </a:rPr>
                  <a:t>z</a:t>
                </a:r>
                <a:r>
                  <a:rPr lang="en-US" altLang="zh-CN" sz="2000" b="1" baseline="-25000" dirty="0">
                    <a:latin typeface="Symbol" pitchFamily="18" charset="2"/>
                  </a:rPr>
                  <a:t>1</a:t>
                </a:r>
              </a:p>
            </p:txBody>
          </p:sp>
          <p:sp>
            <p:nvSpPr>
              <p:cNvPr id="98" name="Text Box 20">
                <a:extLst>
                  <a:ext uri="{FF2B5EF4-FFF2-40B4-BE49-F238E27FC236}">
                    <a16:creationId xmlns:a16="http://schemas.microsoft.com/office/drawing/2014/main" id="{BB2A1C43-177C-654F-A760-677B8A2608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0422" y="2164380"/>
                <a:ext cx="773254" cy="4249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cs typeface="Arial" charset="0"/>
                  </a:rPr>
                  <a:t>y</a:t>
                </a:r>
                <a:r>
                  <a:rPr lang="en-US" altLang="zh-CN" sz="2000" b="1" baseline="-25000" dirty="0">
                    <a:latin typeface="Symbol" pitchFamily="18" charset="2"/>
                  </a:rPr>
                  <a:t>1</a:t>
                </a:r>
              </a:p>
            </p:txBody>
          </p:sp>
          <p:sp>
            <p:nvSpPr>
              <p:cNvPr id="99" name="Text Box 21">
                <a:extLst>
                  <a:ext uri="{FF2B5EF4-FFF2-40B4-BE49-F238E27FC236}">
                    <a16:creationId xmlns:a16="http://schemas.microsoft.com/office/drawing/2014/main" id="{886E7B48-8336-D825-C628-C485131E9C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91494" y="2852657"/>
                <a:ext cx="707869" cy="4249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cs typeface="Arial" charset="0"/>
                  </a:rPr>
                  <a:t>y</a:t>
                </a:r>
                <a:r>
                  <a:rPr lang="en-US" altLang="zh-CN" sz="2000" b="1" baseline="-25000">
                    <a:latin typeface="Symbol" pitchFamily="18" charset="2"/>
                  </a:rPr>
                  <a:t>2</a:t>
                </a:r>
              </a:p>
            </p:txBody>
          </p:sp>
          <p:cxnSp>
            <p:nvCxnSpPr>
              <p:cNvPr id="100" name="AutoShape 23">
                <a:extLst>
                  <a:ext uri="{FF2B5EF4-FFF2-40B4-BE49-F238E27FC236}">
                    <a16:creationId xmlns:a16="http://schemas.microsoft.com/office/drawing/2014/main" id="{B2A649D6-6844-45B9-3E1E-830AC08472D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092530" y="2525542"/>
                <a:ext cx="2115078" cy="23556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1" name="AutoShape 25">
                <a:extLst>
                  <a:ext uri="{FF2B5EF4-FFF2-40B4-BE49-F238E27FC236}">
                    <a16:creationId xmlns:a16="http://schemas.microsoft.com/office/drawing/2014/main" id="{D0E3A8B4-003E-CDE6-A95B-BBA1031545F2}"/>
                  </a:ext>
                </a:extLst>
              </p:cNvPr>
              <p:cNvCxnSpPr>
                <a:cxnSpLocks noChangeShapeType="1"/>
                <a:endCxn id="90" idx="2"/>
              </p:cNvCxnSpPr>
              <p:nvPr/>
            </p:nvCxnSpPr>
            <p:spPr bwMode="auto">
              <a:xfrm>
                <a:off x="2028567" y="3315166"/>
                <a:ext cx="2179041" cy="140309"/>
              </a:xfrm>
              <a:prstGeom prst="curvedConnector3">
                <a:avLst>
                  <a:gd name="adj1" fmla="val 50292"/>
                </a:avLst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02" name="Line 27">
                <a:extLst>
                  <a:ext uri="{FF2B5EF4-FFF2-40B4-BE49-F238E27FC236}">
                    <a16:creationId xmlns:a16="http://schemas.microsoft.com/office/drawing/2014/main" id="{EF3D7165-01FD-4DD8-55C4-DAAD241AF2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9750" y="2758025"/>
                <a:ext cx="2257220" cy="1853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Line 28">
                <a:extLst>
                  <a:ext uri="{FF2B5EF4-FFF2-40B4-BE49-F238E27FC236}">
                    <a16:creationId xmlns:a16="http://schemas.microsoft.com/office/drawing/2014/main" id="{848B426D-414E-1FCB-BDA8-BE5A980AF8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9750" y="3362277"/>
                <a:ext cx="2191834" cy="9217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104" name="AutoShape 29">
                <a:extLst>
                  <a:ext uri="{FF2B5EF4-FFF2-40B4-BE49-F238E27FC236}">
                    <a16:creationId xmlns:a16="http://schemas.microsoft.com/office/drawing/2014/main" id="{2D80F0EC-ECC3-787F-ADD9-5C8F8BE5C24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4361470" y="1111612"/>
                <a:ext cx="60425" cy="4467533"/>
              </a:xfrm>
              <a:prstGeom prst="curvedConnector3">
                <a:avLst>
                  <a:gd name="adj1" fmla="val 1305083"/>
                </a:avLst>
              </a:prstGeom>
              <a:noFill/>
              <a:ln w="38100">
                <a:solidFill>
                  <a:srgbClr val="CC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05" name="Rectangle 31">
                <a:extLst>
                  <a:ext uri="{FF2B5EF4-FFF2-40B4-BE49-F238E27FC236}">
                    <a16:creationId xmlns:a16="http://schemas.microsoft.com/office/drawing/2014/main" id="{BBD0BDED-791C-2E2B-4EFA-298DF5B0D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354" y="2107686"/>
                <a:ext cx="399022" cy="5556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 dirty="0">
                    <a:solidFill>
                      <a:srgbClr val="3333FF"/>
                    </a:solidFill>
                    <a:cs typeface="Arial" charset="0"/>
                  </a:rPr>
                  <a:t>F</a:t>
                </a:r>
              </a:p>
            </p:txBody>
          </p:sp>
          <p:sp>
            <p:nvSpPr>
              <p:cNvPr id="106" name="Rectangle 32">
                <a:extLst>
                  <a:ext uri="{FF2B5EF4-FFF2-40B4-BE49-F238E27FC236}">
                    <a16:creationId xmlns:a16="http://schemas.microsoft.com/office/drawing/2014/main" id="{49A3BCD0-116E-6BEF-8976-9473FB9C31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0520" y="2060575"/>
                <a:ext cx="457561" cy="5556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 dirty="0">
                    <a:solidFill>
                      <a:srgbClr val="008000"/>
                    </a:solidFill>
                    <a:cs typeface="Arial" charset="0"/>
                  </a:rPr>
                  <a:t>G</a:t>
                </a:r>
              </a:p>
            </p:txBody>
          </p:sp>
          <p:sp>
            <p:nvSpPr>
              <p:cNvPr id="107" name="Rectangle 31">
                <a:extLst>
                  <a:ext uri="{FF2B5EF4-FFF2-40B4-BE49-F238E27FC236}">
                    <a16:creationId xmlns:a16="http://schemas.microsoft.com/office/drawing/2014/main" id="{CDE8594E-579E-30D0-8CCB-DEAA7A9E9E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9809" y="4077072"/>
                <a:ext cx="1095918" cy="5556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2800" b="1" i="1" dirty="0">
                    <a:solidFill>
                      <a:srgbClr val="3333FF"/>
                    </a:solidFill>
                    <a:cs typeface="Arial" charset="0"/>
                  </a:rPr>
                  <a:t>F</a:t>
                </a:r>
                <a:r>
                  <a:rPr lang="en-US" altLang="zh-CN" sz="2800" b="1" dirty="0">
                    <a:solidFill>
                      <a:srgbClr val="3333FF"/>
                    </a:solidFill>
                  </a:rPr>
                  <a:t> </a:t>
                </a:r>
                <a:r>
                  <a:rPr lang="en-US" altLang="zh-CN" sz="2800" b="1" dirty="0">
                    <a:solidFill>
                      <a:srgbClr val="FF0000"/>
                    </a:solidFill>
                  </a:rPr>
                  <a:t>∘ </a:t>
                </a:r>
                <a:r>
                  <a:rPr lang="en-US" altLang="zh-CN" sz="2800" b="1" i="1" dirty="0">
                    <a:solidFill>
                      <a:srgbClr val="008000"/>
                    </a:solidFill>
                    <a:cs typeface="Arial" charset="0"/>
                  </a:rPr>
                  <a:t>G</a:t>
                </a:r>
              </a:p>
            </p:txBody>
          </p:sp>
        </p:grpSp>
        <p:sp>
          <p:nvSpPr>
            <p:cNvPr id="3" name="Rectangle 32">
              <a:extLst>
                <a:ext uri="{FF2B5EF4-FFF2-40B4-BE49-F238E27FC236}">
                  <a16:creationId xmlns:a16="http://schemas.microsoft.com/office/drawing/2014/main" id="{D9AE56C7-7F69-3F5E-A737-AA98505F3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972" y="2543900"/>
              <a:ext cx="42351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 dirty="0">
                  <a:cs typeface="Arial" charset="0"/>
                </a:rPr>
                <a:t>X</a:t>
              </a:r>
            </a:p>
          </p:txBody>
        </p:sp>
        <p:sp>
          <p:nvSpPr>
            <p:cNvPr id="4" name="Rectangle 32">
              <a:extLst>
                <a:ext uri="{FF2B5EF4-FFF2-40B4-BE49-F238E27FC236}">
                  <a16:creationId xmlns:a16="http://schemas.microsoft.com/office/drawing/2014/main" id="{3ABCE666-55F9-F8FF-7DCA-D97F4AB61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9475" y="2592063"/>
              <a:ext cx="42351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 dirty="0">
                  <a:cs typeface="Arial" charset="0"/>
                </a:rPr>
                <a:t>Y</a:t>
              </a:r>
            </a:p>
          </p:txBody>
        </p:sp>
        <p:sp>
          <p:nvSpPr>
            <p:cNvPr id="5" name="Rectangle 32">
              <a:extLst>
                <a:ext uri="{FF2B5EF4-FFF2-40B4-BE49-F238E27FC236}">
                  <a16:creationId xmlns:a16="http://schemas.microsoft.com/office/drawing/2014/main" id="{7D09C909-90C9-BFFE-5D11-4CDFA79C8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1838" y="1749403"/>
              <a:ext cx="40427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 dirty="0">
                  <a:cs typeface="Arial" charset="0"/>
                </a:rPr>
                <a:t>Z</a:t>
              </a:r>
            </a:p>
          </p:txBody>
        </p:sp>
      </p:grp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FD5C7EFB-3721-F240-DAF8-5D58E3E05E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941956"/>
              </p:ext>
            </p:extLst>
          </p:nvPr>
        </p:nvGraphicFramePr>
        <p:xfrm>
          <a:off x="2214562" y="5456279"/>
          <a:ext cx="776287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22280" imgH="266400" progId="Equation.DSMT4">
                  <p:embed/>
                </p:oleObj>
              </mc:Choice>
              <mc:Fallback>
                <p:oleObj name="Equation" r:id="rId2" imgW="2222280" imgH="266400" progId="Equation.DSMT4">
                  <p:embed/>
                  <p:pic>
                    <p:nvPicPr>
                      <p:cNvPr id="307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2" y="5456279"/>
                        <a:ext cx="7762875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2E3DA00-578E-1A24-10E5-615BC07859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1446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4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3.1 F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关系的定义和性质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557339"/>
            <a:ext cx="10081120" cy="518477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黑体" pitchFamily="2" charset="-122"/>
              </a:rPr>
              <a:t>[</a:t>
            </a:r>
            <a:r>
              <a:rPr lang="zh-CN" altLang="en-US" sz="2800" dirty="0">
                <a:ea typeface="黑体" pitchFamily="2" charset="-122"/>
              </a:rPr>
              <a:t>定义</a:t>
            </a:r>
            <a:r>
              <a:rPr lang="en-US" altLang="zh-CN" sz="2800" dirty="0">
                <a:ea typeface="黑体" pitchFamily="2" charset="-122"/>
              </a:rPr>
              <a:t>]</a:t>
            </a:r>
            <a:r>
              <a:rPr lang="zh-CN" altLang="en-US" sz="2800" dirty="0">
                <a:ea typeface="黑体" pitchFamily="2" charset="-122"/>
              </a:rPr>
              <a:t>设</a:t>
            </a:r>
            <a:r>
              <a:rPr lang="en-US" altLang="zh-CN" sz="2800" i="1" dirty="0">
                <a:ea typeface="黑体" pitchFamily="2" charset="-122"/>
              </a:rPr>
              <a:t>R</a:t>
            </a:r>
            <a:r>
              <a:rPr lang="zh-CN" altLang="en-US" sz="2800" dirty="0">
                <a:ea typeface="黑体" pitchFamily="2" charset="-122"/>
              </a:rPr>
              <a:t>是</a:t>
            </a:r>
            <a:r>
              <a:rPr lang="en-US" altLang="zh-CN" sz="2800" i="1" dirty="0">
                <a:ea typeface="黑体" pitchFamily="2" charset="-122"/>
              </a:rPr>
              <a:t>U</a:t>
            </a:r>
            <a:r>
              <a:rPr lang="en-US" altLang="en-US" sz="2800" dirty="0">
                <a:ea typeface="黑体" pitchFamily="2" charset="-122"/>
              </a:rPr>
              <a:t>×</a:t>
            </a:r>
            <a:r>
              <a:rPr lang="en-US" altLang="zh-CN" sz="2800" i="1" dirty="0">
                <a:ea typeface="黑体" pitchFamily="2" charset="-122"/>
              </a:rPr>
              <a:t>V</a:t>
            </a:r>
            <a:r>
              <a:rPr lang="zh-CN" altLang="en-US" sz="2800" dirty="0">
                <a:ea typeface="黑体" pitchFamily="2" charset="-122"/>
              </a:rPr>
              <a:t>上的一个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子集</a:t>
            </a:r>
            <a:r>
              <a:rPr lang="en-US" altLang="zh-CN" sz="2800" dirty="0">
                <a:ea typeface="黑体" pitchFamily="2" charset="-122"/>
              </a:rPr>
              <a:t>,</a:t>
            </a:r>
            <a:r>
              <a:rPr lang="zh-CN" altLang="en-US" sz="2800" dirty="0">
                <a:ea typeface="黑体" pitchFamily="2" charset="-122"/>
              </a:rPr>
              <a:t>它的隶属函数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             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R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: 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U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×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V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  <a:sym typeface="Symbol"/>
              </a:rPr>
              <a:t>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</a:rPr>
              <a:t>[0, 1]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                (</a:t>
            </a:r>
            <a:r>
              <a:rPr lang="en-US" altLang="zh-CN" sz="2800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, </a:t>
            </a:r>
            <a:r>
              <a:rPr lang="en-US" altLang="zh-CN" sz="2800" i="1" dirty="0">
                <a:solidFill>
                  <a:srgbClr val="3333FF"/>
                </a:solidFill>
                <a:ea typeface="黑体" pitchFamily="2" charset="-122"/>
              </a:rPr>
              <a:t>v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) |→</a:t>
            </a:r>
            <a:r>
              <a:rPr lang="en-US" altLang="zh-CN" sz="2800" i="1" dirty="0">
                <a:solidFill>
                  <a:srgbClr val="3333FF"/>
                </a:solidFill>
                <a:ea typeface="黑体" pitchFamily="2" charset="-122"/>
              </a:rPr>
              <a:t>R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(</a:t>
            </a:r>
            <a:r>
              <a:rPr lang="en-US" altLang="zh-CN" sz="2800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, </a:t>
            </a:r>
            <a:r>
              <a:rPr lang="en-US" altLang="zh-CN" sz="2800" i="1" dirty="0">
                <a:solidFill>
                  <a:srgbClr val="3333FF"/>
                </a:solidFill>
                <a:ea typeface="黑体" pitchFamily="2" charset="-122"/>
              </a:rPr>
              <a:t>v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            确定了</a:t>
            </a:r>
            <a:r>
              <a:rPr lang="en-US" altLang="zh-CN" sz="2800" i="1" dirty="0">
                <a:ea typeface="黑体" pitchFamily="2" charset="-122"/>
              </a:rPr>
              <a:t>U</a:t>
            </a:r>
            <a:r>
              <a:rPr lang="zh-CN" altLang="en-US" sz="2800" dirty="0">
                <a:ea typeface="黑体" pitchFamily="2" charset="-122"/>
              </a:rPr>
              <a:t>中的</a:t>
            </a:r>
            <a:r>
              <a:rPr lang="zh-CN" altLang="en-US" sz="2800" u="sng" dirty="0">
                <a:ea typeface="黑体" pitchFamily="2" charset="-122"/>
              </a:rPr>
              <a:t>元素</a:t>
            </a:r>
            <a:r>
              <a:rPr lang="en-US" altLang="zh-CN" sz="2800" i="1" u="sng" dirty="0">
                <a:ea typeface="黑体" pitchFamily="2" charset="-122"/>
              </a:rPr>
              <a:t>u</a:t>
            </a:r>
            <a:r>
              <a:rPr lang="zh-CN" altLang="en-US" sz="2800" dirty="0">
                <a:ea typeface="黑体" pitchFamily="2" charset="-122"/>
              </a:rPr>
              <a:t>与</a:t>
            </a:r>
            <a:r>
              <a:rPr lang="en-US" altLang="zh-CN" sz="2800" i="1" dirty="0">
                <a:ea typeface="黑体" pitchFamily="2" charset="-122"/>
              </a:rPr>
              <a:t>V</a:t>
            </a:r>
            <a:r>
              <a:rPr lang="zh-CN" altLang="en-US" sz="2800" dirty="0">
                <a:ea typeface="黑体" pitchFamily="2" charset="-122"/>
              </a:rPr>
              <a:t>中的</a:t>
            </a:r>
            <a:r>
              <a:rPr lang="zh-CN" altLang="en-US" sz="2800" u="sng" dirty="0">
                <a:ea typeface="黑体" pitchFamily="2" charset="-122"/>
              </a:rPr>
              <a:t>元素</a:t>
            </a:r>
            <a:r>
              <a:rPr lang="en-US" altLang="zh-CN" sz="2800" i="1" u="sng" dirty="0">
                <a:ea typeface="黑体" pitchFamily="2" charset="-122"/>
              </a:rPr>
              <a:t>v</a:t>
            </a:r>
            <a:r>
              <a:rPr lang="zh-CN" altLang="en-US" sz="2800" dirty="0">
                <a:ea typeface="黑体" pitchFamily="2" charset="-122"/>
              </a:rPr>
              <a:t>的关系程度</a:t>
            </a:r>
            <a:r>
              <a:rPr lang="en-US" altLang="zh-CN" sz="2800" dirty="0">
                <a:ea typeface="黑体" pitchFamily="2" charset="-122"/>
              </a:rPr>
              <a:t>,</a:t>
            </a:r>
            <a:r>
              <a:rPr lang="zh-CN" altLang="en-US" sz="2800" dirty="0">
                <a:ea typeface="黑体" pitchFamily="2" charset="-122"/>
              </a:rPr>
              <a:t>则称</a:t>
            </a:r>
            <a:r>
              <a:rPr lang="en-US" altLang="zh-CN" sz="2800" i="1" dirty="0">
                <a:ea typeface="黑体" pitchFamily="2" charset="-122"/>
              </a:rPr>
              <a:t>R</a:t>
            </a:r>
            <a:r>
              <a:rPr lang="zh-CN" altLang="en-US" sz="2800" dirty="0">
                <a:ea typeface="黑体" pitchFamily="2" charset="-122"/>
              </a:rPr>
              <a:t>为</a:t>
            </a:r>
            <a:r>
              <a:rPr lang="en-US" altLang="zh-CN" sz="2800" i="1" dirty="0">
                <a:ea typeface="黑体" pitchFamily="2" charset="-122"/>
              </a:rPr>
              <a:t>U</a:t>
            </a:r>
            <a:r>
              <a:rPr lang="zh-CN" altLang="en-US" sz="2800" dirty="0">
                <a:ea typeface="黑体" pitchFamily="2" charset="-122"/>
              </a:rPr>
              <a:t>到</a:t>
            </a:r>
            <a:r>
              <a:rPr lang="en-US" altLang="zh-CN" sz="2800" i="1" dirty="0">
                <a:ea typeface="黑体" pitchFamily="2" charset="-122"/>
              </a:rPr>
              <a:t>V</a:t>
            </a:r>
            <a:r>
              <a:rPr lang="zh-CN" altLang="en-US" sz="2800" dirty="0">
                <a:ea typeface="黑体" pitchFamily="2" charset="-122"/>
              </a:rPr>
              <a:t>的一个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F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关系</a:t>
            </a:r>
            <a:r>
              <a:rPr lang="en-US" altLang="zh-CN" sz="2800" dirty="0">
                <a:ea typeface="黑体" pitchFamily="2" charset="-122"/>
              </a:rPr>
              <a:t>,</a:t>
            </a:r>
            <a:r>
              <a:rPr lang="zh-CN" altLang="en-US" sz="2800" dirty="0">
                <a:ea typeface="黑体" pitchFamily="2" charset="-122"/>
              </a:rPr>
              <a:t>记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2" charset="-122"/>
            </a:endParaRPr>
          </a:p>
          <a:p>
            <a:pPr eaLnBrk="1" hangingPunct="1"/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可见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,F</a:t>
            </a: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关系</a:t>
            </a:r>
            <a:r>
              <a:rPr lang="en-US" altLang="zh-CN" sz="2800" i="1" dirty="0">
                <a:solidFill>
                  <a:srgbClr val="CC00CC"/>
                </a:solidFill>
                <a:ea typeface="黑体" pitchFamily="2" charset="-122"/>
              </a:rPr>
              <a:t>R</a:t>
            </a: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由隶属函数</a:t>
            </a:r>
            <a:r>
              <a:rPr lang="en-US" altLang="zh-CN" sz="2800" i="1" dirty="0">
                <a:solidFill>
                  <a:srgbClr val="CC00CC"/>
                </a:solidFill>
                <a:ea typeface="黑体" pitchFamily="2" charset="-122"/>
              </a:rPr>
              <a:t>R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: </a:t>
            </a:r>
            <a:r>
              <a:rPr lang="en-US" altLang="zh-CN" sz="2800" i="1" dirty="0">
                <a:solidFill>
                  <a:srgbClr val="CC00CC"/>
                </a:solidFill>
                <a:ea typeface="黑体" pitchFamily="2" charset="-122"/>
              </a:rPr>
              <a:t>U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×</a:t>
            </a:r>
            <a:r>
              <a:rPr lang="en-US" altLang="zh-CN" sz="2800" i="1" dirty="0">
                <a:solidFill>
                  <a:srgbClr val="CC00CC"/>
                </a:solidFill>
                <a:ea typeface="黑体" pitchFamily="2" charset="-122"/>
              </a:rPr>
              <a:t>V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→[0, 1]</a:t>
            </a: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所刻画</a:t>
            </a:r>
          </a:p>
          <a:p>
            <a:pPr eaLnBrk="1" hangingPunct="1"/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反之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,F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关系也是 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U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×</a:t>
            </a: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V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上的一个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F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集</a:t>
            </a:r>
          </a:p>
          <a:p>
            <a:pPr eaLnBrk="1" hangingPunct="1"/>
            <a:r>
              <a:rPr lang="zh-CN" altLang="en-US" sz="2800" dirty="0">
                <a:ea typeface="黑体" pitchFamily="2" charset="-122"/>
              </a:rPr>
              <a:t>所有从</a:t>
            </a:r>
            <a:r>
              <a:rPr lang="en-US" altLang="zh-CN" sz="2800" i="1" dirty="0">
                <a:ea typeface="黑体" pitchFamily="2" charset="-122"/>
              </a:rPr>
              <a:t>U</a:t>
            </a:r>
            <a:r>
              <a:rPr lang="en-US" altLang="zh-CN" sz="2800" dirty="0">
                <a:ea typeface="黑体" pitchFamily="2" charset="-122"/>
              </a:rPr>
              <a:t>×</a:t>
            </a:r>
            <a:r>
              <a:rPr lang="en-US" altLang="zh-CN" sz="2800" i="1" dirty="0">
                <a:ea typeface="黑体" pitchFamily="2" charset="-122"/>
              </a:rPr>
              <a:t>V</a:t>
            </a:r>
            <a:r>
              <a:rPr lang="zh-CN" altLang="en-US" sz="2800" dirty="0">
                <a:ea typeface="黑体" pitchFamily="2" charset="-122"/>
              </a:rPr>
              <a:t>得到的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关系的集合</a:t>
            </a:r>
            <a:r>
              <a:rPr lang="en-US" altLang="zh-CN" sz="2800" dirty="0">
                <a:ea typeface="黑体" pitchFamily="2" charset="-122"/>
              </a:rPr>
              <a:t>,</a:t>
            </a:r>
            <a:r>
              <a:rPr lang="zh-CN" altLang="en-US" sz="2800" dirty="0">
                <a:ea typeface="黑体" pitchFamily="2" charset="-122"/>
              </a:rPr>
              <a:t>可记为</a:t>
            </a:r>
            <a:r>
              <a:rPr lang="en-US" altLang="zh-CN" sz="2800" dirty="0"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sz="2800" dirty="0">
                <a:ea typeface="黑体" pitchFamily="2" charset="-122"/>
              </a:rPr>
              <a:t>(</a:t>
            </a:r>
            <a:r>
              <a:rPr lang="en-US" altLang="zh-CN" sz="2800" i="1" dirty="0">
                <a:ea typeface="黑体" pitchFamily="2" charset="-122"/>
              </a:rPr>
              <a:t>U</a:t>
            </a:r>
            <a:r>
              <a:rPr lang="en-US" altLang="zh-CN" sz="2800" dirty="0">
                <a:ea typeface="黑体" pitchFamily="2" charset="-122"/>
              </a:rPr>
              <a:t>×</a:t>
            </a:r>
            <a:r>
              <a:rPr lang="en-US" altLang="zh-CN" sz="2800" i="1" dirty="0">
                <a:ea typeface="黑体" pitchFamily="2" charset="-122"/>
              </a:rPr>
              <a:t>V</a:t>
            </a:r>
            <a:r>
              <a:rPr lang="en-US" altLang="zh-CN" sz="2800" dirty="0">
                <a:ea typeface="黑体" pitchFamily="2" charset="-122"/>
              </a:rPr>
              <a:t>)</a:t>
            </a:r>
          </a:p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latin typeface="Monotype Corsiva" pitchFamily="66" charset="0"/>
                <a:ea typeface="黑体" pitchFamily="2" charset="-122"/>
              </a:rPr>
              <a:t>F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ea typeface="黑体" pitchFamily="2" charset="-122"/>
              </a:rPr>
              <a:t>U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×</a:t>
            </a:r>
            <a:r>
              <a:rPr lang="en-US" altLang="zh-CN" sz="2800" i="1" dirty="0">
                <a:solidFill>
                  <a:srgbClr val="FF0000"/>
                </a:solidFill>
                <a:ea typeface="黑体" pitchFamily="2" charset="-122"/>
              </a:rPr>
              <a:t>U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)</a:t>
            </a:r>
            <a:r>
              <a:rPr lang="zh-CN" altLang="en-US" sz="2800" dirty="0">
                <a:ea typeface="黑体" pitchFamily="2" charset="-122"/>
              </a:rPr>
              <a:t>表示从</a:t>
            </a:r>
            <a:r>
              <a:rPr lang="en-US" altLang="zh-CN" sz="2800" i="1" dirty="0">
                <a:ea typeface="黑体" pitchFamily="2" charset="-122"/>
              </a:rPr>
              <a:t>U</a:t>
            </a:r>
            <a:r>
              <a:rPr lang="zh-CN" altLang="en-US" sz="2800" dirty="0">
                <a:ea typeface="黑体" pitchFamily="2" charset="-122"/>
              </a:rPr>
              <a:t>上的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关系</a:t>
            </a:r>
            <a:r>
              <a:rPr lang="en-US" altLang="zh-CN" sz="2800" dirty="0">
                <a:ea typeface="黑体" pitchFamily="2" charset="-122"/>
              </a:rPr>
              <a:t>(</a:t>
            </a:r>
            <a:r>
              <a:rPr lang="en-US" altLang="zh-CN" sz="2800" i="1" dirty="0">
                <a:solidFill>
                  <a:srgbClr val="008000"/>
                </a:solidFill>
                <a:ea typeface="黑体" pitchFamily="2" charset="-122"/>
              </a:rPr>
              <a:t>U</a:t>
            </a:r>
            <a:r>
              <a:rPr lang="zh-CN" altLang="en-US" sz="2800" dirty="0">
                <a:solidFill>
                  <a:srgbClr val="008000"/>
                </a:solidFill>
                <a:ea typeface="黑体" pitchFamily="2" charset="-122"/>
              </a:rPr>
              <a:t>上的二元关系</a:t>
            </a:r>
            <a:r>
              <a:rPr lang="en-US" altLang="zh-CN" sz="2800" dirty="0">
                <a:ea typeface="黑体" pitchFamily="2" charset="-122"/>
              </a:rPr>
              <a:t>)</a:t>
            </a:r>
          </a:p>
        </p:txBody>
      </p:sp>
      <p:graphicFrame>
        <p:nvGraphicFramePr>
          <p:cNvPr id="2867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9362359"/>
              </p:ext>
            </p:extLst>
          </p:nvPr>
        </p:nvGraphicFramePr>
        <p:xfrm>
          <a:off x="4871864" y="3856038"/>
          <a:ext cx="1944688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672808" imgH="203112" progId="Equation.3">
                  <p:embed/>
                </p:oleObj>
              </mc:Choice>
              <mc:Fallback>
                <p:oleObj name="公式" r:id="rId3" imgW="672808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864" y="3856038"/>
                        <a:ext cx="1944688" cy="587375"/>
                      </a:xfrm>
                      <a:prstGeom prst="rect">
                        <a:avLst/>
                      </a:prstGeom>
                      <a:solidFill>
                        <a:srgbClr val="CACA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9D4AE1C-C291-2706-C745-EBEBCE708C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765018-403D-4055-B6D6-D1363568EF02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983432" y="1268414"/>
            <a:ext cx="1015312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chemeClr val="bg2"/>
                </a:solidFill>
                <a:ea typeface="黑体" pitchFamily="2" charset="-122"/>
              </a:rPr>
              <a:t>设：</a:t>
            </a:r>
            <a:r>
              <a:rPr kumimoji="1" lang="zh-CN" altLang="en-US" sz="3200" dirty="0">
                <a:solidFill>
                  <a:srgbClr val="FF0000"/>
                </a:solidFill>
                <a:ea typeface="黑体" pitchFamily="2" charset="-122"/>
              </a:rPr>
              <a:t>身高论域</a:t>
            </a:r>
            <a:r>
              <a:rPr kumimoji="1" lang="en-US" altLang="zh-CN" sz="3200" i="1" dirty="0">
                <a:solidFill>
                  <a:srgbClr val="FF0000"/>
                </a:solidFill>
                <a:ea typeface="黑体" pitchFamily="2" charset="-122"/>
              </a:rPr>
              <a:t>X</a:t>
            </a:r>
            <a:r>
              <a:rPr kumimoji="1" lang="en-US" altLang="zh-CN" sz="3200" i="1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kumimoji="1" lang="en-US" altLang="zh-CN" sz="3200" dirty="0">
                <a:solidFill>
                  <a:schemeClr val="bg2"/>
                </a:solidFill>
                <a:ea typeface="黑体" pitchFamily="2" charset="-122"/>
              </a:rPr>
              <a:t>={140, 150, 160, 170, 180} (</a:t>
            </a:r>
            <a:r>
              <a:rPr kumimoji="1" lang="zh-CN" altLang="en-US" sz="3200" dirty="0">
                <a:solidFill>
                  <a:schemeClr val="bg2"/>
                </a:solidFill>
                <a:ea typeface="黑体" pitchFamily="2" charset="-122"/>
              </a:rPr>
              <a:t>单位：</a:t>
            </a:r>
            <a:r>
              <a:rPr kumimoji="1" lang="en-US" altLang="zh-CN" sz="3200" dirty="0">
                <a:solidFill>
                  <a:schemeClr val="bg2"/>
                </a:solidFill>
                <a:ea typeface="黑体" pitchFamily="2" charset="-122"/>
              </a:rPr>
              <a:t>cm), </a:t>
            </a:r>
          </a:p>
          <a:p>
            <a:r>
              <a:rPr kumimoji="1" lang="en-US" altLang="zh-CN" sz="3200" dirty="0">
                <a:solidFill>
                  <a:schemeClr val="bg2"/>
                </a:solidFill>
                <a:ea typeface="黑体" pitchFamily="2" charset="-122"/>
              </a:rPr>
              <a:t>       </a:t>
            </a:r>
            <a:r>
              <a:rPr kumimoji="1" lang="zh-CN" altLang="en-US" sz="3200" dirty="0">
                <a:solidFill>
                  <a:srgbClr val="CC00CC"/>
                </a:solidFill>
                <a:ea typeface="黑体" pitchFamily="2" charset="-122"/>
              </a:rPr>
              <a:t>体重论域</a:t>
            </a:r>
            <a:r>
              <a:rPr kumimoji="1" lang="en-US" altLang="zh-CN" sz="3200" i="1" dirty="0">
                <a:solidFill>
                  <a:srgbClr val="CC00CC"/>
                </a:solidFill>
                <a:ea typeface="黑体" pitchFamily="2" charset="-122"/>
              </a:rPr>
              <a:t>Y </a:t>
            </a:r>
            <a:r>
              <a:rPr kumimoji="1" lang="en-US" altLang="zh-CN" sz="3200" dirty="0">
                <a:solidFill>
                  <a:schemeClr val="bg2"/>
                </a:solidFill>
                <a:ea typeface="黑体" pitchFamily="2" charset="-122"/>
              </a:rPr>
              <a:t>={40, 50, 60, 70, 80}(</a:t>
            </a:r>
            <a:r>
              <a:rPr kumimoji="1" lang="zh-CN" altLang="en-US" sz="3200" dirty="0">
                <a:solidFill>
                  <a:schemeClr val="bg2"/>
                </a:solidFill>
                <a:ea typeface="黑体" pitchFamily="2" charset="-122"/>
              </a:rPr>
              <a:t>单位：</a:t>
            </a:r>
            <a:r>
              <a:rPr kumimoji="1" lang="en-US" altLang="zh-CN" sz="3200" dirty="0">
                <a:solidFill>
                  <a:schemeClr val="bg2"/>
                </a:solidFill>
                <a:ea typeface="黑体" pitchFamily="2" charset="-122"/>
              </a:rPr>
              <a:t>kg)</a:t>
            </a:r>
            <a:r>
              <a:rPr kumimoji="1" lang="zh-CN" altLang="en-US" sz="3200" dirty="0">
                <a:solidFill>
                  <a:schemeClr val="bg2"/>
                </a:solidFill>
                <a:ea typeface="黑体" pitchFamily="2" charset="-122"/>
              </a:rPr>
              <a:t>，</a:t>
            </a:r>
            <a:endParaRPr kumimoji="1" lang="en-US" altLang="zh-CN" sz="3200" dirty="0">
              <a:solidFill>
                <a:schemeClr val="bg2"/>
              </a:solidFill>
              <a:ea typeface="黑体" pitchFamily="2" charset="-122"/>
            </a:endParaRPr>
          </a:p>
          <a:p>
            <a:r>
              <a:rPr kumimoji="1" lang="zh-CN" altLang="en-US" sz="3200" dirty="0">
                <a:solidFill>
                  <a:schemeClr val="bg2"/>
                </a:solidFill>
                <a:ea typeface="黑体" pitchFamily="2" charset="-122"/>
              </a:rPr>
              <a:t>下表给出了</a:t>
            </a:r>
            <a:r>
              <a:rPr kumimoji="1" lang="zh-CN" altLang="en-US" sz="3200" u="sng" dirty="0">
                <a:solidFill>
                  <a:srgbClr val="FF0000"/>
                </a:solidFill>
                <a:ea typeface="黑体" pitchFamily="2" charset="-122"/>
              </a:rPr>
              <a:t>身高</a:t>
            </a:r>
            <a:r>
              <a:rPr kumimoji="1" lang="zh-CN" altLang="en-US" sz="3200" u="sng" dirty="0">
                <a:solidFill>
                  <a:schemeClr val="bg2"/>
                </a:solidFill>
                <a:ea typeface="黑体" pitchFamily="2" charset="-122"/>
              </a:rPr>
              <a:t>与</a:t>
            </a:r>
            <a:r>
              <a:rPr kumimoji="1" lang="zh-CN" altLang="en-US" sz="3200" u="sng" dirty="0">
                <a:solidFill>
                  <a:srgbClr val="CC00CC"/>
                </a:solidFill>
                <a:ea typeface="黑体" pitchFamily="2" charset="-122"/>
              </a:rPr>
              <a:t>体重</a:t>
            </a:r>
            <a:r>
              <a:rPr kumimoji="1" lang="zh-CN" altLang="en-US" sz="3200" dirty="0">
                <a:solidFill>
                  <a:schemeClr val="bg2"/>
                </a:solidFill>
                <a:ea typeface="黑体" pitchFamily="2" charset="-122"/>
              </a:rPr>
              <a:t>的模糊关系</a:t>
            </a:r>
            <a:r>
              <a:rPr kumimoji="1" lang="en-US" altLang="zh-CN" sz="3200" dirty="0">
                <a:solidFill>
                  <a:schemeClr val="bg2"/>
                </a:solidFill>
                <a:ea typeface="黑体" pitchFamily="2" charset="-122"/>
              </a:rPr>
              <a:t>.</a:t>
            </a:r>
          </a:p>
        </p:txBody>
      </p:sp>
      <p:graphicFrame>
        <p:nvGraphicFramePr>
          <p:cNvPr id="38970" name="Group 58"/>
          <p:cNvGraphicFramePr>
            <a:graphicFrameLocks noGrp="1"/>
          </p:cNvGraphicFramePr>
          <p:nvPr/>
        </p:nvGraphicFramePr>
        <p:xfrm>
          <a:off x="2782888" y="2924175"/>
          <a:ext cx="7199312" cy="3756026"/>
        </p:xfrm>
        <a:graphic>
          <a:graphicData uri="http://schemas.openxmlformats.org/drawingml/2006/table">
            <a:tbl>
              <a:tblPr/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8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B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775" name="Rectangle 55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811213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关系举例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1</a:t>
            </a:r>
            <a:endParaRPr lang="en-US" altLang="zh-CN" dirty="0">
              <a:solidFill>
                <a:srgbClr val="008000"/>
              </a:solidFill>
              <a:ea typeface="黑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F22C721-94C5-4F99-A750-3D7C4C354B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作业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2351584" y="1981200"/>
            <a:ext cx="7560840" cy="3886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习题三</a:t>
            </a:r>
            <a:endParaRPr lang="en-US" altLang="zh-CN" dirty="0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780EC50-6025-59B5-77DB-2C25E09EF5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A72FFD-5C57-4935-A48A-C39F60B379DD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0165711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30874</TotalTime>
  <Words>2069</Words>
  <Application>Microsoft Office PowerPoint</Application>
  <PresentationFormat>宽屏</PresentationFormat>
  <Paragraphs>257</Paragraphs>
  <Slides>19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黑体</vt:lpstr>
      <vt:lpstr>华文新魏</vt:lpstr>
      <vt:lpstr>楷体_GB2312</vt:lpstr>
      <vt:lpstr>隶书</vt:lpstr>
      <vt:lpstr>Arial</vt:lpstr>
      <vt:lpstr>Arial Black</vt:lpstr>
      <vt:lpstr>Monotype Corsiva</vt:lpstr>
      <vt:lpstr>Symbol</vt:lpstr>
      <vt:lpstr>Times New Roman</vt:lpstr>
      <vt:lpstr>Wingdings</vt:lpstr>
      <vt:lpstr>Pixel</vt:lpstr>
      <vt:lpstr>1_Pixel</vt:lpstr>
      <vt:lpstr>Equation</vt:lpstr>
      <vt:lpstr>公式</vt:lpstr>
      <vt:lpstr>第 3 章 模糊关系与聚类分析</vt:lpstr>
      <vt:lpstr>第三章  模糊关系与聚类分析</vt:lpstr>
      <vt:lpstr>3.0 普通二元关系的定义和表示</vt:lpstr>
      <vt:lpstr>笛卡儿积举例</vt:lpstr>
      <vt:lpstr>普通二元关系</vt:lpstr>
      <vt:lpstr>集合A上重要的二元关系</vt:lpstr>
      <vt:lpstr>关系的表示</vt:lpstr>
      <vt:lpstr>用矩阵表示从A到B的二元关系</vt:lpstr>
      <vt:lpstr>用矩阵表示A上的二元关系</vt:lpstr>
      <vt:lpstr>关系的表示</vt:lpstr>
      <vt:lpstr>用关系图表示从A到B的二元关系</vt:lpstr>
      <vt:lpstr>用关系图表示从A上的二元关系</vt:lpstr>
      <vt:lpstr>二元关系的运算</vt:lpstr>
      <vt:lpstr>二元关系的合成运算</vt:lpstr>
      <vt:lpstr>二元关系的合成运算举例</vt:lpstr>
      <vt:lpstr>二元关系的合成运算</vt:lpstr>
      <vt:lpstr>3.1 F关系的定义和性质</vt:lpstr>
      <vt:lpstr>F关系举例1</vt:lpstr>
      <vt:lpstr>作业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3 章 模糊关系与聚类分析</dc:title>
  <dc:creator>凌卫新</dc:creator>
  <cp:lastModifiedBy>wxling66@outlook.com</cp:lastModifiedBy>
  <cp:revision>175</cp:revision>
  <cp:lastPrinted>2015-03-30T16:16:52Z</cp:lastPrinted>
  <dcterms:created xsi:type="dcterms:W3CDTF">2008-03-21T16:00:48Z</dcterms:created>
  <dcterms:modified xsi:type="dcterms:W3CDTF">2026-03-31T11:33:41Z</dcterms:modified>
</cp:coreProperties>
</file>