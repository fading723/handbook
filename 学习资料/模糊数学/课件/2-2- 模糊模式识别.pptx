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9"/>
  </p:notesMasterIdLst>
  <p:handoutMasterIdLst>
    <p:handoutMasterId r:id="rId70"/>
  </p:handoutMasterIdLst>
  <p:sldIdLst>
    <p:sldId id="459" r:id="rId2"/>
    <p:sldId id="482" r:id="rId3"/>
    <p:sldId id="492" r:id="rId4"/>
    <p:sldId id="483" r:id="rId5"/>
    <p:sldId id="484" r:id="rId6"/>
    <p:sldId id="485" r:id="rId7"/>
    <p:sldId id="486" r:id="rId8"/>
    <p:sldId id="387" r:id="rId9"/>
    <p:sldId id="461" r:id="rId10"/>
    <p:sldId id="462" r:id="rId11"/>
    <p:sldId id="463" r:id="rId12"/>
    <p:sldId id="464" r:id="rId13"/>
    <p:sldId id="465" r:id="rId14"/>
    <p:sldId id="466" r:id="rId15"/>
    <p:sldId id="468" r:id="rId16"/>
    <p:sldId id="469" r:id="rId17"/>
    <p:sldId id="470" r:id="rId18"/>
    <p:sldId id="471" r:id="rId19"/>
    <p:sldId id="472" r:id="rId20"/>
    <p:sldId id="473" r:id="rId21"/>
    <p:sldId id="474" r:id="rId22"/>
    <p:sldId id="475" r:id="rId23"/>
    <p:sldId id="476" r:id="rId24"/>
    <p:sldId id="477" r:id="rId25"/>
    <p:sldId id="478" r:id="rId26"/>
    <p:sldId id="479" r:id="rId27"/>
    <p:sldId id="487" r:id="rId28"/>
    <p:sldId id="480" r:id="rId29"/>
    <p:sldId id="481" r:id="rId30"/>
    <p:sldId id="489" r:id="rId31"/>
    <p:sldId id="490" r:id="rId32"/>
    <p:sldId id="491" r:id="rId33"/>
    <p:sldId id="382" r:id="rId34"/>
    <p:sldId id="460" r:id="rId35"/>
    <p:sldId id="383" r:id="rId36"/>
    <p:sldId id="384" r:id="rId37"/>
    <p:sldId id="283" r:id="rId38"/>
    <p:sldId id="350" r:id="rId39"/>
    <p:sldId id="295" r:id="rId40"/>
    <p:sldId id="438" r:id="rId41"/>
    <p:sldId id="298" r:id="rId42"/>
    <p:sldId id="300" r:id="rId43"/>
    <p:sldId id="301" r:id="rId44"/>
    <p:sldId id="440" r:id="rId45"/>
    <p:sldId id="391" r:id="rId46"/>
    <p:sldId id="442" r:id="rId47"/>
    <p:sldId id="299" r:id="rId48"/>
    <p:sldId id="455" r:id="rId49"/>
    <p:sldId id="445" r:id="rId50"/>
    <p:sldId id="446" r:id="rId51"/>
    <p:sldId id="447" r:id="rId52"/>
    <p:sldId id="449" r:id="rId53"/>
    <p:sldId id="398" r:id="rId54"/>
    <p:sldId id="396" r:id="rId55"/>
    <p:sldId id="397" r:id="rId56"/>
    <p:sldId id="399" r:id="rId57"/>
    <p:sldId id="400" r:id="rId58"/>
    <p:sldId id="309" r:id="rId59"/>
    <p:sldId id="311" r:id="rId60"/>
    <p:sldId id="313" r:id="rId61"/>
    <p:sldId id="314" r:id="rId62"/>
    <p:sldId id="351" r:id="rId63"/>
    <p:sldId id="347" r:id="rId64"/>
    <p:sldId id="377" r:id="rId65"/>
    <p:sldId id="380" r:id="rId66"/>
    <p:sldId id="379" r:id="rId67"/>
    <p:sldId id="409" r:id="rId68"/>
  </p:sldIdLst>
  <p:sldSz cx="12192000" cy="6858000"/>
  <p:notesSz cx="6669088" cy="9928225"/>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C74440"/>
    <a:srgbClr val="FA7A11"/>
    <a:srgbClr val="3333FF"/>
    <a:srgbClr val="008000"/>
    <a:srgbClr val="66FFFF"/>
    <a:srgbClr val="FF0000"/>
    <a:srgbClr val="6042A6"/>
    <a:srgbClr val="FFE1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89655" autoAdjust="0"/>
  </p:normalViewPr>
  <p:slideViewPr>
    <p:cSldViewPr>
      <p:cViewPr varScale="1">
        <p:scale>
          <a:sx n="51" d="100"/>
          <a:sy n="51" d="100"/>
        </p:scale>
        <p:origin x="102" y="696"/>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2017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154627" name="Rectangle 3"/>
          <p:cNvSpPr>
            <a:spLocks noGrp="1" noChangeArrowheads="1"/>
          </p:cNvSpPr>
          <p:nvPr>
            <p:ph type="dt" sz="quarter"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154628" name="Rectangle 4"/>
          <p:cNvSpPr>
            <a:spLocks noGrp="1" noChangeArrowheads="1"/>
          </p:cNvSpPr>
          <p:nvPr>
            <p:ph type="ftr" sz="quarter" idx="2"/>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154629" name="Rectangle 5"/>
          <p:cNvSpPr>
            <a:spLocks noGrp="1" noChangeArrowheads="1"/>
          </p:cNvSpPr>
          <p:nvPr>
            <p:ph type="sldNum" sz="quarter" idx="3"/>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9660E36E-6B96-4F7D-BEC2-2F182EA4B20E}" type="slidenum">
              <a:rPr lang="en-US" altLang="zh-CN"/>
              <a:pPr>
                <a:defRPr/>
              </a:pPr>
              <a:t>‹#›</a:t>
            </a:fld>
            <a:endParaRPr lang="en-US" altLang="zh-CN"/>
          </a:p>
        </p:txBody>
      </p:sp>
    </p:spTree>
    <p:extLst>
      <p:ext uri="{BB962C8B-B14F-4D97-AF65-F5344CB8AC3E}">
        <p14:creationId xmlns:p14="http://schemas.microsoft.com/office/powerpoint/2010/main" val="711887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15363" name="Rectangle 3"/>
          <p:cNvSpPr>
            <a:spLocks noGrp="1" noChangeArrowheads="1"/>
          </p:cNvSpPr>
          <p:nvPr>
            <p:ph type="dt"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666909" y="4715907"/>
            <a:ext cx="5335270"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15367" name="Rectangle 7"/>
          <p:cNvSpPr>
            <a:spLocks noGrp="1" noChangeArrowheads="1"/>
          </p:cNvSpPr>
          <p:nvPr>
            <p:ph type="sldNum" sz="quarter" idx="5"/>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307F09C4-A9D0-419C-AC3A-A9D24839F077}" type="slidenum">
              <a:rPr lang="en-US" altLang="zh-CN"/>
              <a:pPr>
                <a:defRPr/>
              </a:pPr>
              <a:t>‹#›</a:t>
            </a:fld>
            <a:endParaRPr lang="en-US" altLang="zh-CN"/>
          </a:p>
        </p:txBody>
      </p:sp>
    </p:spTree>
    <p:extLst>
      <p:ext uri="{BB962C8B-B14F-4D97-AF65-F5344CB8AC3E}">
        <p14:creationId xmlns:p14="http://schemas.microsoft.com/office/powerpoint/2010/main" val="35391899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42FB152-066A-47D6-9306-08699FFFA1EE}" type="slidenum">
              <a:rPr lang="en-US" altLang="zh-CN" smtClean="0"/>
              <a:pPr eaLnBrk="1" hangingPunct="1"/>
              <a:t>5</a:t>
            </a:fld>
            <a:endParaRPr lang="en-US" altLang="zh-CN"/>
          </a:p>
        </p:txBody>
      </p:sp>
      <p:sp>
        <p:nvSpPr>
          <p:cNvPr id="68611" name="Rectangle 2"/>
          <p:cNvSpPr>
            <a:spLocks noGrp="1" noRot="1" noChangeAspect="1" noChangeArrowheads="1" noTextEdit="1"/>
          </p:cNvSpPr>
          <p:nvPr>
            <p:ph type="sldImg"/>
          </p:nvPr>
        </p:nvSpPr>
        <p:spPr>
          <a:xfrm>
            <a:off x="26988" y="744538"/>
            <a:ext cx="6615112" cy="3722687"/>
          </a:xfrm>
          <a:ln/>
        </p:spPr>
      </p:sp>
      <p:sp>
        <p:nvSpPr>
          <p:cNvPr id="68612" name="Rectangle 3"/>
          <p:cNvSpPr>
            <a:spLocks noGrp="1" noChangeArrowheads="1"/>
          </p:cNvSpPr>
          <p:nvPr>
            <p:ph type="body" idx="1"/>
          </p:nvPr>
        </p:nvSpPr>
        <p:spPr>
          <a:noFill/>
        </p:spPr>
        <p:txBody>
          <a:bodyPr/>
          <a:lstStyle/>
          <a:p>
            <a:pPr eaLnBrk="1" hangingPunct="1"/>
            <a:endParaRPr lang="zh-CN" altLang="en-US" dirty="0">
              <a:latin typeface="Arial" pitchFamily="34" charset="0"/>
            </a:endParaRPr>
          </a:p>
        </p:txBody>
      </p:sp>
    </p:spTree>
    <p:extLst>
      <p:ext uri="{BB962C8B-B14F-4D97-AF65-F5344CB8AC3E}">
        <p14:creationId xmlns:p14="http://schemas.microsoft.com/office/powerpoint/2010/main" val="3168260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646ED3C-E851-4DBF-9E78-79CF8A422C9D}" type="slidenum">
              <a:rPr lang="en-US" altLang="zh-CN" smtClean="0"/>
              <a:pPr eaLnBrk="1" hangingPunct="1"/>
              <a:t>6</a:t>
            </a:fld>
            <a:endParaRPr lang="en-US" altLang="zh-CN"/>
          </a:p>
        </p:txBody>
      </p:sp>
      <p:sp>
        <p:nvSpPr>
          <p:cNvPr id="69635" name="Rectangle 2"/>
          <p:cNvSpPr>
            <a:spLocks noGrp="1" noRot="1" noChangeAspect="1" noChangeArrowheads="1" noTextEdit="1"/>
          </p:cNvSpPr>
          <p:nvPr>
            <p:ph type="sldImg"/>
          </p:nvPr>
        </p:nvSpPr>
        <p:spPr>
          <a:xfrm>
            <a:off x="26988" y="744538"/>
            <a:ext cx="6615112" cy="3722687"/>
          </a:xfrm>
          <a:ln/>
        </p:spPr>
      </p:sp>
      <p:sp>
        <p:nvSpPr>
          <p:cNvPr id="69636" name="Rectangle 3"/>
          <p:cNvSpPr>
            <a:spLocks noGrp="1" noChangeArrowheads="1"/>
          </p:cNvSpPr>
          <p:nvPr>
            <p:ph type="body" idx="1"/>
          </p:nvPr>
        </p:nvSpPr>
        <p:spPr>
          <a:noFill/>
        </p:spPr>
        <p:txBody>
          <a:bodyPr/>
          <a:lstStyle/>
          <a:p>
            <a:pPr eaLnBrk="1" hangingPunct="1"/>
            <a:r>
              <a:rPr lang="zh-CN" altLang="en-US" sz="1000">
                <a:solidFill>
                  <a:schemeClr val="bg2"/>
                </a:solidFill>
                <a:latin typeface="Arial" pitchFamily="34" charset="0"/>
                <a:ea typeface="黑体" pitchFamily="49" charset="-122"/>
              </a:rPr>
              <a:t>它用随机区间的思想来处理</a:t>
            </a:r>
            <a:r>
              <a:rPr lang="en-US" altLang="zh-CN" sz="1000">
                <a:solidFill>
                  <a:schemeClr val="bg2"/>
                </a:solidFill>
                <a:latin typeface="Arial" pitchFamily="34" charset="0"/>
                <a:ea typeface="黑体" pitchFamily="49" charset="-122"/>
              </a:rPr>
              <a:t>F</a:t>
            </a:r>
            <a:r>
              <a:rPr lang="zh-CN" altLang="en-US" sz="1000">
                <a:solidFill>
                  <a:schemeClr val="bg2"/>
                </a:solidFill>
                <a:latin typeface="Arial" pitchFamily="34" charset="0"/>
                <a:ea typeface="黑体" pitchFamily="49" charset="-122"/>
              </a:rPr>
              <a:t>性的试验模型</a:t>
            </a:r>
            <a:endParaRPr lang="zh-CN" altLang="en-US" sz="1400">
              <a:solidFill>
                <a:srgbClr val="FF0000"/>
              </a:solidFill>
              <a:latin typeface="Arial" pitchFamily="34" charset="0"/>
              <a:ea typeface="黑体" pitchFamily="49" charset="-122"/>
            </a:endParaRPr>
          </a:p>
          <a:p>
            <a:pPr eaLnBrk="1" hangingPunct="1"/>
            <a:r>
              <a:rPr lang="zh-CN" altLang="en-US" sz="1400">
                <a:solidFill>
                  <a:srgbClr val="FF0000"/>
                </a:solidFill>
                <a:latin typeface="Arial" pitchFamily="34" charset="0"/>
                <a:ea typeface="黑体" pitchFamily="49" charset="-122"/>
              </a:rPr>
              <a:t>如：</a:t>
            </a:r>
            <a:r>
              <a:rPr lang="en-US" altLang="zh-CN" sz="1400">
                <a:solidFill>
                  <a:srgbClr val="FF0000"/>
                </a:solidFill>
                <a:latin typeface="Arial" pitchFamily="34" charset="0"/>
                <a:ea typeface="黑体" pitchFamily="49" charset="-122"/>
              </a:rPr>
              <a:t>A1=‘</a:t>
            </a:r>
            <a:r>
              <a:rPr lang="zh-CN" altLang="en-US" sz="1400">
                <a:solidFill>
                  <a:srgbClr val="FF0000"/>
                </a:solidFill>
                <a:latin typeface="Arial" pitchFamily="34" charset="0"/>
                <a:ea typeface="黑体" pitchFamily="49" charset="-122"/>
              </a:rPr>
              <a:t>矮个子‘，</a:t>
            </a:r>
            <a:r>
              <a:rPr lang="en-US" altLang="zh-CN" sz="1400">
                <a:solidFill>
                  <a:srgbClr val="FF0000"/>
                </a:solidFill>
                <a:latin typeface="Arial" pitchFamily="34" charset="0"/>
                <a:ea typeface="黑体" pitchFamily="49" charset="-122"/>
              </a:rPr>
              <a:t>A2=’</a:t>
            </a:r>
            <a:r>
              <a:rPr lang="zh-CN" altLang="en-US" sz="1400">
                <a:solidFill>
                  <a:srgbClr val="FF0000"/>
                </a:solidFill>
                <a:latin typeface="Arial" pitchFamily="34" charset="0"/>
                <a:ea typeface="黑体" pitchFamily="49" charset="-122"/>
              </a:rPr>
              <a:t>中等个子‘，</a:t>
            </a:r>
            <a:r>
              <a:rPr lang="en-US" altLang="zh-CN" sz="1400">
                <a:solidFill>
                  <a:srgbClr val="FF0000"/>
                </a:solidFill>
                <a:latin typeface="Arial" pitchFamily="34" charset="0"/>
                <a:ea typeface="黑体" pitchFamily="49" charset="-122"/>
              </a:rPr>
              <a:t>A3=’</a:t>
            </a:r>
            <a:r>
              <a:rPr lang="zh-CN" altLang="en-US" sz="1400">
                <a:solidFill>
                  <a:srgbClr val="FF0000"/>
                </a:solidFill>
                <a:latin typeface="Arial" pitchFamily="34" charset="0"/>
                <a:ea typeface="黑体" pitchFamily="49" charset="-122"/>
              </a:rPr>
              <a:t>高个子‘，</a:t>
            </a:r>
          </a:p>
        </p:txBody>
      </p:sp>
    </p:spTree>
    <p:extLst>
      <p:ext uri="{BB962C8B-B14F-4D97-AF65-F5344CB8AC3E}">
        <p14:creationId xmlns:p14="http://schemas.microsoft.com/office/powerpoint/2010/main" val="4221212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4D37921-6FE7-4095-996B-279FE5C34B69}" type="slidenum">
              <a:rPr lang="en-US" altLang="zh-CN" smtClean="0"/>
              <a:pPr eaLnBrk="1" hangingPunct="1"/>
              <a:t>10</a:t>
            </a:fld>
            <a:endParaRPr lang="en-US" altLang="zh-CN"/>
          </a:p>
        </p:txBody>
      </p:sp>
      <p:sp>
        <p:nvSpPr>
          <p:cNvPr id="70659" name="Rectangle 2"/>
          <p:cNvSpPr>
            <a:spLocks noGrp="1" noRot="1" noChangeAspect="1" noChangeArrowheads="1" noTextEdit="1"/>
          </p:cNvSpPr>
          <p:nvPr>
            <p:ph type="sldImg"/>
          </p:nvPr>
        </p:nvSpPr>
        <p:spPr>
          <a:xfrm>
            <a:off x="26988" y="744538"/>
            <a:ext cx="6615112" cy="3722687"/>
          </a:xfrm>
          <a:ln/>
        </p:spPr>
      </p:sp>
      <p:sp>
        <p:nvSpPr>
          <p:cNvPr id="70660" name="Rectangle 3"/>
          <p:cNvSpPr>
            <a:spLocks noGrp="1" noChangeArrowheads="1"/>
          </p:cNvSpPr>
          <p:nvPr>
            <p:ph type="body" idx="1"/>
          </p:nvPr>
        </p:nvSpPr>
        <p:spPr>
          <a:noFill/>
        </p:spPr>
        <p:txBody>
          <a:bodyPr/>
          <a:lstStyle/>
          <a:p>
            <a:pPr eaLnBrk="1" hangingPunct="1"/>
            <a:r>
              <a:rPr lang="en-US" altLang="zh-CN">
                <a:latin typeface="Arial" pitchFamily="34" charset="0"/>
              </a:rPr>
              <a:t>(1)</a:t>
            </a:r>
            <a:r>
              <a:rPr lang="zh-CN" altLang="en-US">
                <a:latin typeface="Arial" pitchFamily="34" charset="0"/>
              </a:rPr>
              <a:t>大赛评委对</a:t>
            </a:r>
            <a:r>
              <a:rPr lang="en-US" altLang="zh-CN">
                <a:latin typeface="Arial" pitchFamily="34" charset="0"/>
              </a:rPr>
              <a:t>U</a:t>
            </a:r>
            <a:r>
              <a:rPr lang="zh-CN" altLang="en-US">
                <a:latin typeface="Arial" pitchFamily="34" charset="0"/>
              </a:rPr>
              <a:t>中各元素两两相对评分，去掉最高分和最低分后取平均值获得如下结果：</a:t>
            </a:r>
            <a:r>
              <a:rPr lang="en-US" altLang="zh-CN">
                <a:latin typeface="Arial" pitchFamily="34" charset="0"/>
              </a:rPr>
              <a:t>f</a:t>
            </a:r>
            <a:r>
              <a:rPr lang="en-US" altLang="zh-CN" baseline="-25000">
                <a:latin typeface="Arial" pitchFamily="34" charset="0"/>
              </a:rPr>
              <a:t>j</a:t>
            </a:r>
            <a:r>
              <a:rPr lang="en-US" altLang="zh-CN">
                <a:latin typeface="Arial" pitchFamily="34" charset="0"/>
              </a:rPr>
              <a:t>(i)——</a:t>
            </a:r>
            <a:r>
              <a:rPr lang="zh-CN" altLang="en-US">
                <a:latin typeface="Arial" pitchFamily="34" charset="0"/>
              </a:rPr>
              <a:t>表示相对于</a:t>
            </a:r>
            <a:r>
              <a:rPr lang="en-US" altLang="zh-CN">
                <a:latin typeface="Arial" pitchFamily="34" charset="0"/>
              </a:rPr>
              <a:t>uj</a:t>
            </a:r>
            <a:r>
              <a:rPr lang="zh-CN" altLang="en-US">
                <a:latin typeface="Arial" pitchFamily="34" charset="0"/>
              </a:rPr>
              <a:t>而言，</a:t>
            </a:r>
            <a:r>
              <a:rPr lang="en-US" altLang="zh-CN">
                <a:latin typeface="Arial" pitchFamily="34" charset="0"/>
              </a:rPr>
              <a:t>ui</a:t>
            </a:r>
            <a:r>
              <a:rPr lang="zh-CN" altLang="en-US">
                <a:latin typeface="Arial" pitchFamily="34" charset="0"/>
              </a:rPr>
              <a:t>具有特性</a:t>
            </a:r>
            <a:r>
              <a:rPr lang="en-US" altLang="zh-CN">
                <a:latin typeface="Arial" pitchFamily="34" charset="0"/>
              </a:rPr>
              <a:t>P</a:t>
            </a:r>
            <a:r>
              <a:rPr lang="zh-CN" altLang="en-US">
                <a:latin typeface="Arial" pitchFamily="34" charset="0"/>
              </a:rPr>
              <a:t>的程度</a:t>
            </a:r>
          </a:p>
          <a:p>
            <a:pPr eaLnBrk="1" hangingPunct="1"/>
            <a:r>
              <a:rPr lang="en-US" altLang="zh-CN">
                <a:latin typeface="Arial" pitchFamily="34" charset="0"/>
              </a:rPr>
              <a:t>(2)Cij</a:t>
            </a:r>
            <a:r>
              <a:rPr lang="zh-CN" altLang="en-US">
                <a:latin typeface="Arial" pitchFamily="34" charset="0"/>
              </a:rPr>
              <a:t>表明</a:t>
            </a:r>
            <a:r>
              <a:rPr lang="en-US" altLang="zh-CN">
                <a:latin typeface="Arial" pitchFamily="34" charset="0"/>
              </a:rPr>
              <a:t>ui</a:t>
            </a:r>
            <a:r>
              <a:rPr lang="zh-CN" altLang="en-US">
                <a:latin typeface="Arial" pitchFamily="34" charset="0"/>
              </a:rPr>
              <a:t>优于</a:t>
            </a:r>
            <a:r>
              <a:rPr lang="en-US" altLang="zh-CN">
                <a:latin typeface="Arial" pitchFamily="34" charset="0"/>
              </a:rPr>
              <a:t>uj</a:t>
            </a:r>
            <a:r>
              <a:rPr lang="zh-CN" altLang="en-US">
                <a:latin typeface="Arial" pitchFamily="34" charset="0"/>
              </a:rPr>
              <a:t>的可能性，当</a:t>
            </a:r>
            <a:r>
              <a:rPr lang="en-US" altLang="zh-CN">
                <a:latin typeface="Arial" pitchFamily="34" charset="0"/>
              </a:rPr>
              <a:t>fj(i)&gt;fi(j)</a:t>
            </a:r>
            <a:r>
              <a:rPr lang="zh-CN" altLang="en-US">
                <a:latin typeface="Arial" pitchFamily="34" charset="0"/>
              </a:rPr>
              <a:t>时，</a:t>
            </a:r>
            <a:r>
              <a:rPr lang="en-US" altLang="zh-CN">
                <a:latin typeface="Arial" pitchFamily="34" charset="0"/>
              </a:rPr>
              <a:t>ui</a:t>
            </a:r>
            <a:r>
              <a:rPr lang="zh-CN" altLang="en-US">
                <a:latin typeface="Arial" pitchFamily="34" charset="0"/>
              </a:rPr>
              <a:t>绝对优于</a:t>
            </a:r>
            <a:r>
              <a:rPr lang="en-US" altLang="zh-CN">
                <a:latin typeface="Arial" pitchFamily="34" charset="0"/>
              </a:rPr>
              <a:t>uj</a:t>
            </a:r>
          </a:p>
        </p:txBody>
      </p:sp>
    </p:spTree>
    <p:extLst>
      <p:ext uri="{BB962C8B-B14F-4D97-AF65-F5344CB8AC3E}">
        <p14:creationId xmlns:p14="http://schemas.microsoft.com/office/powerpoint/2010/main" val="4122455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69B7A8F6-EDA9-4DAD-A0B8-4109FBEE6AEF}" type="slidenum">
              <a:rPr lang="en-US" altLang="zh-CN" smtClean="0"/>
              <a:pPr eaLnBrk="1" hangingPunct="1"/>
              <a:t>15</a:t>
            </a:fld>
            <a:endParaRPr lang="en-US" altLang="zh-CN"/>
          </a:p>
        </p:txBody>
      </p:sp>
      <p:sp>
        <p:nvSpPr>
          <p:cNvPr id="72707" name="Rectangle 2"/>
          <p:cNvSpPr>
            <a:spLocks noGrp="1" noRot="1" noChangeAspect="1" noChangeArrowheads="1" noTextEdit="1"/>
          </p:cNvSpPr>
          <p:nvPr>
            <p:ph type="sldImg"/>
          </p:nvPr>
        </p:nvSpPr>
        <p:spPr>
          <a:xfrm>
            <a:off x="26988" y="744538"/>
            <a:ext cx="6615112" cy="3722687"/>
          </a:xfrm>
          <a:ln/>
        </p:spPr>
      </p:sp>
      <p:sp>
        <p:nvSpPr>
          <p:cNvPr id="72708" name="Rectangle 3"/>
          <p:cNvSpPr>
            <a:spLocks noGrp="1" noChangeArrowheads="1"/>
          </p:cNvSpPr>
          <p:nvPr>
            <p:ph type="body" idx="1"/>
          </p:nvPr>
        </p:nvSpPr>
        <p:spPr>
          <a:noFill/>
        </p:spPr>
        <p:txBody>
          <a:bodyPr/>
          <a:lstStyle/>
          <a:p>
            <a:pPr eaLnBrk="1" hangingPunct="1"/>
            <a:r>
              <a:rPr lang="zh-CN" altLang="en-US">
                <a:latin typeface="Arial" pitchFamily="34" charset="0"/>
              </a:rPr>
              <a:t>如</a:t>
            </a:r>
            <a:r>
              <a:rPr lang="en-US" altLang="zh-CN">
                <a:latin typeface="Arial" pitchFamily="34" charset="0"/>
              </a:rPr>
              <a:t>P40</a:t>
            </a:r>
            <a:r>
              <a:rPr lang="zh-CN" altLang="en-US">
                <a:latin typeface="Arial" pitchFamily="34" charset="0"/>
              </a:rPr>
              <a:t>例</a:t>
            </a:r>
            <a:r>
              <a:rPr lang="en-US" altLang="zh-CN">
                <a:latin typeface="Arial" pitchFamily="34" charset="0"/>
              </a:rPr>
              <a:t>1:</a:t>
            </a:r>
            <a:r>
              <a:rPr lang="zh-CN" altLang="en-US">
                <a:latin typeface="Arial" pitchFamily="34" charset="0"/>
              </a:rPr>
              <a:t>年表</a:t>
            </a:r>
            <a:r>
              <a:rPr lang="en-US" altLang="zh-CN">
                <a:latin typeface="Arial" pitchFamily="34" charset="0"/>
              </a:rPr>
              <a:t>,</a:t>
            </a:r>
            <a:r>
              <a:rPr lang="zh-CN" altLang="en-US">
                <a:latin typeface="Arial" pitchFamily="34" charset="0"/>
              </a:rPr>
              <a:t>中年</a:t>
            </a:r>
            <a:r>
              <a:rPr lang="en-US" altLang="zh-CN">
                <a:latin typeface="Arial" pitchFamily="34" charset="0"/>
              </a:rPr>
              <a:t>,</a:t>
            </a:r>
            <a:r>
              <a:rPr lang="zh-CN" altLang="en-US">
                <a:latin typeface="Arial" pitchFamily="34" charset="0"/>
              </a:rPr>
              <a:t>老年的隶属函数分布属于</a:t>
            </a:r>
            <a:r>
              <a:rPr lang="en-US" altLang="zh-CN">
                <a:latin typeface="Arial" pitchFamily="34" charset="0"/>
              </a:rPr>
              <a:t>F</a:t>
            </a:r>
            <a:r>
              <a:rPr lang="zh-CN" altLang="en-US">
                <a:latin typeface="Arial" pitchFamily="34" charset="0"/>
              </a:rPr>
              <a:t>分布</a:t>
            </a:r>
            <a:r>
              <a:rPr lang="en-US" altLang="zh-CN">
                <a:latin typeface="Arial" pitchFamily="34" charset="0"/>
              </a:rPr>
              <a:t>,</a:t>
            </a:r>
            <a:r>
              <a:rPr lang="zh-CN" altLang="en-US">
                <a:latin typeface="Arial" pitchFamily="34" charset="0"/>
              </a:rPr>
              <a:t>而上页例子</a:t>
            </a:r>
            <a:r>
              <a:rPr lang="en-US" altLang="zh-CN">
                <a:latin typeface="Arial" pitchFamily="34" charset="0"/>
              </a:rPr>
              <a:t>(</a:t>
            </a:r>
            <a:r>
              <a:rPr lang="zh-CN" altLang="en-US">
                <a:latin typeface="Arial" pitchFamily="34" charset="0"/>
              </a:rPr>
              <a:t>汽车舒适性</a:t>
            </a:r>
            <a:r>
              <a:rPr lang="en-US" altLang="zh-CN">
                <a:latin typeface="Arial" pitchFamily="34" charset="0"/>
              </a:rPr>
              <a:t>)</a:t>
            </a:r>
            <a:r>
              <a:rPr lang="zh-CN" altLang="en-US">
                <a:latin typeface="Arial" pitchFamily="34" charset="0"/>
              </a:rPr>
              <a:t>不属于分布</a:t>
            </a:r>
            <a:r>
              <a:rPr lang="en-US" altLang="zh-CN">
                <a:latin typeface="Arial" pitchFamily="34" charset="0"/>
              </a:rPr>
              <a:t>.</a:t>
            </a:r>
          </a:p>
          <a:p>
            <a:pPr eaLnBrk="1" hangingPunct="1"/>
            <a:endParaRPr lang="en-US" altLang="zh-CN">
              <a:latin typeface="Arial" pitchFamily="34" charset="0"/>
            </a:endParaRPr>
          </a:p>
        </p:txBody>
      </p:sp>
    </p:spTree>
    <p:extLst>
      <p:ext uri="{BB962C8B-B14F-4D97-AF65-F5344CB8AC3E}">
        <p14:creationId xmlns:p14="http://schemas.microsoft.com/office/powerpoint/2010/main" val="3465150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69B7A8F6-EDA9-4DAD-A0B8-4109FBEE6AEF}" type="slidenum">
              <a:rPr lang="en-US" altLang="zh-CN" smtClean="0"/>
              <a:pPr eaLnBrk="1" hangingPunct="1"/>
              <a:t>16</a:t>
            </a:fld>
            <a:endParaRPr lang="en-US" altLang="zh-CN"/>
          </a:p>
        </p:txBody>
      </p:sp>
      <p:sp>
        <p:nvSpPr>
          <p:cNvPr id="72707" name="Rectangle 2"/>
          <p:cNvSpPr>
            <a:spLocks noGrp="1" noRot="1" noChangeAspect="1" noChangeArrowheads="1" noTextEdit="1"/>
          </p:cNvSpPr>
          <p:nvPr>
            <p:ph type="sldImg"/>
          </p:nvPr>
        </p:nvSpPr>
        <p:spPr>
          <a:xfrm>
            <a:off x="26988" y="744538"/>
            <a:ext cx="6615112" cy="3722687"/>
          </a:xfrm>
          <a:ln/>
        </p:spPr>
      </p:sp>
      <p:sp>
        <p:nvSpPr>
          <p:cNvPr id="72708" name="Rectangle 3"/>
          <p:cNvSpPr>
            <a:spLocks noGrp="1" noChangeArrowheads="1"/>
          </p:cNvSpPr>
          <p:nvPr>
            <p:ph type="body" idx="1"/>
          </p:nvPr>
        </p:nvSpPr>
        <p:spPr>
          <a:noFill/>
        </p:spPr>
        <p:txBody>
          <a:bodyPr/>
          <a:lstStyle/>
          <a:p>
            <a:pPr eaLnBrk="1" hangingPunct="1"/>
            <a:r>
              <a:rPr lang="zh-CN" altLang="en-US">
                <a:latin typeface="Arial" pitchFamily="34" charset="0"/>
              </a:rPr>
              <a:t>如</a:t>
            </a:r>
            <a:r>
              <a:rPr lang="en-US" altLang="zh-CN">
                <a:latin typeface="Arial" pitchFamily="34" charset="0"/>
              </a:rPr>
              <a:t>P40</a:t>
            </a:r>
            <a:r>
              <a:rPr lang="zh-CN" altLang="en-US">
                <a:latin typeface="Arial" pitchFamily="34" charset="0"/>
              </a:rPr>
              <a:t>例</a:t>
            </a:r>
            <a:r>
              <a:rPr lang="en-US" altLang="zh-CN">
                <a:latin typeface="Arial" pitchFamily="34" charset="0"/>
              </a:rPr>
              <a:t>1:</a:t>
            </a:r>
            <a:r>
              <a:rPr lang="zh-CN" altLang="en-US">
                <a:latin typeface="Arial" pitchFamily="34" charset="0"/>
              </a:rPr>
              <a:t>年表</a:t>
            </a:r>
            <a:r>
              <a:rPr lang="en-US" altLang="zh-CN">
                <a:latin typeface="Arial" pitchFamily="34" charset="0"/>
              </a:rPr>
              <a:t>,</a:t>
            </a:r>
            <a:r>
              <a:rPr lang="zh-CN" altLang="en-US">
                <a:latin typeface="Arial" pitchFamily="34" charset="0"/>
              </a:rPr>
              <a:t>中年</a:t>
            </a:r>
            <a:r>
              <a:rPr lang="en-US" altLang="zh-CN">
                <a:latin typeface="Arial" pitchFamily="34" charset="0"/>
              </a:rPr>
              <a:t>,</a:t>
            </a:r>
            <a:r>
              <a:rPr lang="zh-CN" altLang="en-US">
                <a:latin typeface="Arial" pitchFamily="34" charset="0"/>
              </a:rPr>
              <a:t>老年的隶属函数分布属于</a:t>
            </a:r>
            <a:r>
              <a:rPr lang="en-US" altLang="zh-CN">
                <a:latin typeface="Arial" pitchFamily="34" charset="0"/>
              </a:rPr>
              <a:t>F</a:t>
            </a:r>
            <a:r>
              <a:rPr lang="zh-CN" altLang="en-US">
                <a:latin typeface="Arial" pitchFamily="34" charset="0"/>
              </a:rPr>
              <a:t>分布</a:t>
            </a:r>
            <a:r>
              <a:rPr lang="en-US" altLang="zh-CN">
                <a:latin typeface="Arial" pitchFamily="34" charset="0"/>
              </a:rPr>
              <a:t>,</a:t>
            </a:r>
            <a:r>
              <a:rPr lang="zh-CN" altLang="en-US">
                <a:latin typeface="Arial" pitchFamily="34" charset="0"/>
              </a:rPr>
              <a:t>而上页例子</a:t>
            </a:r>
            <a:r>
              <a:rPr lang="en-US" altLang="zh-CN">
                <a:latin typeface="Arial" pitchFamily="34" charset="0"/>
              </a:rPr>
              <a:t>(</a:t>
            </a:r>
            <a:r>
              <a:rPr lang="zh-CN" altLang="en-US">
                <a:latin typeface="Arial" pitchFamily="34" charset="0"/>
              </a:rPr>
              <a:t>汽车舒适性</a:t>
            </a:r>
            <a:r>
              <a:rPr lang="en-US" altLang="zh-CN">
                <a:latin typeface="Arial" pitchFamily="34" charset="0"/>
              </a:rPr>
              <a:t>)</a:t>
            </a:r>
            <a:r>
              <a:rPr lang="zh-CN" altLang="en-US">
                <a:latin typeface="Arial" pitchFamily="34" charset="0"/>
              </a:rPr>
              <a:t>不属于分布</a:t>
            </a:r>
            <a:r>
              <a:rPr lang="en-US" altLang="zh-CN">
                <a:latin typeface="Arial" pitchFamily="34" charset="0"/>
              </a:rPr>
              <a:t>.</a:t>
            </a:r>
          </a:p>
          <a:p>
            <a:pPr eaLnBrk="1" hangingPunct="1"/>
            <a:endParaRPr lang="en-US" altLang="zh-CN">
              <a:latin typeface="Arial" pitchFamily="34" charset="0"/>
            </a:endParaRPr>
          </a:p>
        </p:txBody>
      </p:sp>
    </p:spTree>
    <p:extLst>
      <p:ext uri="{BB962C8B-B14F-4D97-AF65-F5344CB8AC3E}">
        <p14:creationId xmlns:p14="http://schemas.microsoft.com/office/powerpoint/2010/main" val="3177389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17</a:t>
            </a:fld>
            <a:endParaRPr lang="en-US" altLang="zh-CN"/>
          </a:p>
        </p:txBody>
      </p:sp>
    </p:spTree>
    <p:extLst>
      <p:ext uri="{BB962C8B-B14F-4D97-AF65-F5344CB8AC3E}">
        <p14:creationId xmlns:p14="http://schemas.microsoft.com/office/powerpoint/2010/main" val="3305222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18</a:t>
            </a:fld>
            <a:endParaRPr lang="en-US" altLang="zh-CN"/>
          </a:p>
        </p:txBody>
      </p:sp>
    </p:spTree>
    <p:extLst>
      <p:ext uri="{BB962C8B-B14F-4D97-AF65-F5344CB8AC3E}">
        <p14:creationId xmlns:p14="http://schemas.microsoft.com/office/powerpoint/2010/main" val="4286212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19</a:t>
            </a:fld>
            <a:endParaRPr lang="en-US" altLang="zh-CN"/>
          </a:p>
        </p:txBody>
      </p:sp>
    </p:spTree>
    <p:extLst>
      <p:ext uri="{BB962C8B-B14F-4D97-AF65-F5344CB8AC3E}">
        <p14:creationId xmlns:p14="http://schemas.microsoft.com/office/powerpoint/2010/main" val="2677587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20</a:t>
            </a:fld>
            <a:endParaRPr lang="en-US" altLang="zh-CN"/>
          </a:p>
        </p:txBody>
      </p:sp>
    </p:spTree>
    <p:extLst>
      <p:ext uri="{BB962C8B-B14F-4D97-AF65-F5344CB8AC3E}">
        <p14:creationId xmlns:p14="http://schemas.microsoft.com/office/powerpoint/2010/main" val="1518630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21</a:t>
            </a:fld>
            <a:endParaRPr lang="en-US" altLang="zh-CN"/>
          </a:p>
        </p:txBody>
      </p:sp>
    </p:spTree>
    <p:extLst>
      <p:ext uri="{BB962C8B-B14F-4D97-AF65-F5344CB8AC3E}">
        <p14:creationId xmlns:p14="http://schemas.microsoft.com/office/powerpoint/2010/main" val="1961572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22</a:t>
            </a:fld>
            <a:endParaRPr lang="en-US" altLang="zh-CN"/>
          </a:p>
        </p:txBody>
      </p:sp>
    </p:spTree>
    <p:extLst>
      <p:ext uri="{BB962C8B-B14F-4D97-AF65-F5344CB8AC3E}">
        <p14:creationId xmlns:p14="http://schemas.microsoft.com/office/powerpoint/2010/main" val="1788118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23</a:t>
            </a:fld>
            <a:endParaRPr lang="en-US" altLang="zh-CN"/>
          </a:p>
        </p:txBody>
      </p:sp>
    </p:spTree>
    <p:extLst>
      <p:ext uri="{BB962C8B-B14F-4D97-AF65-F5344CB8AC3E}">
        <p14:creationId xmlns:p14="http://schemas.microsoft.com/office/powerpoint/2010/main" val="1221246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77AE8BA-02E3-404F-A933-D6AB885DE8A3}" type="slidenum">
              <a:rPr lang="en-US" altLang="zh-CN" smtClean="0"/>
              <a:pPr>
                <a:defRPr/>
              </a:pPr>
              <a:t>24</a:t>
            </a:fld>
            <a:endParaRPr lang="en-US" altLang="zh-CN"/>
          </a:p>
        </p:txBody>
      </p:sp>
    </p:spTree>
    <p:extLst>
      <p:ext uri="{BB962C8B-B14F-4D97-AF65-F5344CB8AC3E}">
        <p14:creationId xmlns:p14="http://schemas.microsoft.com/office/powerpoint/2010/main" val="391161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zh-CN" altLang="en-US" dirty="0"/>
              <a:t>生物神经元</a:t>
            </a:r>
            <a:r>
              <a:rPr lang="en-US" altLang="zh-CN" dirty="0"/>
              <a:t>——</a:t>
            </a:r>
            <a:r>
              <a:rPr lang="zh-CN" altLang="en-US" dirty="0"/>
              <a:t>神经元是大脑处理信息的基本单元</a:t>
            </a:r>
          </a:p>
          <a:p>
            <a:r>
              <a:rPr lang="zh-CN" altLang="en-US" dirty="0"/>
              <a:t>人脑大约由</a:t>
            </a:r>
            <a:r>
              <a:rPr lang="en-US" altLang="zh-CN" dirty="0"/>
              <a:t>10</a:t>
            </a:r>
            <a:r>
              <a:rPr lang="en-US" altLang="zh-CN" baseline="30000" dirty="0"/>
              <a:t>11</a:t>
            </a:r>
            <a:r>
              <a:rPr lang="zh-CN" altLang="en-US" dirty="0"/>
              <a:t>个神经元组成，神经元互相连接成神经网络</a:t>
            </a:r>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35</a:t>
            </a:fld>
            <a:endParaRPr lang="en-US" altLang="zh-CN"/>
          </a:p>
        </p:txBody>
      </p:sp>
    </p:spTree>
    <p:extLst>
      <p:ext uri="{BB962C8B-B14F-4D97-AF65-F5344CB8AC3E}">
        <p14:creationId xmlns:p14="http://schemas.microsoft.com/office/powerpoint/2010/main" val="352130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36</a:t>
            </a:fld>
            <a:endParaRPr lang="en-US" altLang="zh-CN"/>
          </a:p>
        </p:txBody>
      </p:sp>
    </p:spTree>
    <p:extLst>
      <p:ext uri="{BB962C8B-B14F-4D97-AF65-F5344CB8AC3E}">
        <p14:creationId xmlns:p14="http://schemas.microsoft.com/office/powerpoint/2010/main" val="396704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6FCCF939-BE6E-46D0-97C5-E7EC85434D7C}" type="slidenum">
              <a:rPr lang="en-US" altLang="zh-CN" smtClean="0"/>
              <a:pPr eaLnBrk="1" hangingPunct="1"/>
              <a:t>41</a:t>
            </a:fld>
            <a:endParaRPr lang="en-US" altLang="zh-CN"/>
          </a:p>
        </p:txBody>
      </p:sp>
      <p:sp>
        <p:nvSpPr>
          <p:cNvPr id="73731" name="Rectangle 2"/>
          <p:cNvSpPr>
            <a:spLocks noGrp="1" noRot="1" noChangeAspect="1" noChangeArrowheads="1" noTextEdit="1"/>
          </p:cNvSpPr>
          <p:nvPr>
            <p:ph type="sldImg"/>
          </p:nvPr>
        </p:nvSpPr>
        <p:spPr>
          <a:xfrm>
            <a:off x="26988" y="744538"/>
            <a:ext cx="6615112" cy="3722687"/>
          </a:xfrm>
          <a:ln/>
        </p:spPr>
      </p:sp>
      <p:sp>
        <p:nvSpPr>
          <p:cNvPr id="73732" name="Rectangle 3"/>
          <p:cNvSpPr>
            <a:spLocks noGrp="1" noChangeArrowheads="1"/>
          </p:cNvSpPr>
          <p:nvPr>
            <p:ph type="body" idx="1"/>
          </p:nvPr>
        </p:nvSpPr>
        <p:spPr>
          <a:noFill/>
        </p:spPr>
        <p:txBody>
          <a:bodyPr/>
          <a:lstStyle/>
          <a:p>
            <a:pPr lvl="0" algn="just" eaLnBrk="1" hangingPunct="1"/>
            <a:r>
              <a:rPr lang="zh-CN" altLang="en-US" b="1" dirty="0">
                <a:latin typeface="Times New Roman" pitchFamily="18" charset="0"/>
                <a:ea typeface="黑体" pitchFamily="49" charset="-122"/>
              </a:rPr>
              <a:t>输入层</a:t>
            </a:r>
            <a:r>
              <a:rPr lang="zh-CN" altLang="en-US" b="1" dirty="0">
                <a:latin typeface="宋体" pitchFamily="2" charset="-122"/>
              </a:rPr>
              <a:t>：被记作第</a:t>
            </a:r>
            <a:r>
              <a:rPr lang="en-US" altLang="zh-CN" b="1" dirty="0">
                <a:latin typeface="Times New Roman" pitchFamily="18" charset="0"/>
              </a:rPr>
              <a:t>0</a:t>
            </a:r>
            <a:r>
              <a:rPr lang="zh-CN" altLang="en-US" b="1" dirty="0">
                <a:latin typeface="宋体" pitchFamily="2" charset="-122"/>
              </a:rPr>
              <a:t>层。该层负责接收来自网络外部的信息</a:t>
            </a:r>
            <a:endParaRPr lang="zh-CN" altLang="en-US" b="1" dirty="0">
              <a:latin typeface="Times New Roman" pitchFamily="18" charset="0"/>
            </a:endParaRPr>
          </a:p>
          <a:p>
            <a:pPr eaLnBrk="1" hangingPunct="1"/>
            <a:endParaRPr lang="en-US" altLang="zh-CN" dirty="0">
              <a:latin typeface="Arial" pitchFamily="34" charset="0"/>
            </a:endParaRPr>
          </a:p>
        </p:txBody>
      </p:sp>
    </p:spTree>
    <p:extLst>
      <p:ext uri="{BB962C8B-B14F-4D97-AF65-F5344CB8AC3E}">
        <p14:creationId xmlns:p14="http://schemas.microsoft.com/office/powerpoint/2010/main" val="2239281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034F7B3E-965F-4720-94C3-31BFCAC6BFD6}" type="slidenum">
              <a:rPr lang="en-US" altLang="zh-CN" smtClean="0"/>
              <a:pPr eaLnBrk="1" hangingPunct="1"/>
              <a:t>43</a:t>
            </a:fld>
            <a:endParaRPr lang="en-US" altLang="zh-CN"/>
          </a:p>
        </p:txBody>
      </p:sp>
      <p:sp>
        <p:nvSpPr>
          <p:cNvPr id="74755" name="Rectangle 2"/>
          <p:cNvSpPr>
            <a:spLocks noGrp="1" noRot="1" noChangeAspect="1" noChangeArrowheads="1" noTextEdit="1"/>
          </p:cNvSpPr>
          <p:nvPr>
            <p:ph type="sldImg"/>
          </p:nvPr>
        </p:nvSpPr>
        <p:spPr>
          <a:xfrm>
            <a:off x="26988" y="744538"/>
            <a:ext cx="6615112" cy="3722687"/>
          </a:xfrm>
          <a:ln/>
        </p:spPr>
      </p:sp>
      <p:sp>
        <p:nvSpPr>
          <p:cNvPr id="74756" name="Rectangle 3"/>
          <p:cNvSpPr>
            <a:spLocks noGrp="1" noChangeArrowheads="1"/>
          </p:cNvSpPr>
          <p:nvPr>
            <p:ph type="body" idx="1"/>
          </p:nvPr>
        </p:nvSpPr>
        <p:spPr>
          <a:noFill/>
        </p:spPr>
        <p:txBody>
          <a:bodyPr/>
          <a:lstStyle/>
          <a:p>
            <a:pPr eaLnBrk="1" hangingPunct="1"/>
            <a:r>
              <a:rPr lang="zh-CN" altLang="en-US" dirty="0"/>
              <a:t>一个神经网络的拓扑结构确定之后，为了使它具有某种智能特性，还必须有相应的学习方法与之配合。可以这样说，</a:t>
            </a:r>
            <a:r>
              <a:rPr lang="zh-CN" altLang="en-US" dirty="0">
                <a:latin typeface="Arial" pitchFamily="34" charset="0"/>
              </a:rPr>
              <a:t>无导师学习</a:t>
            </a:r>
            <a:r>
              <a:rPr lang="en-US" altLang="zh-CN" dirty="0">
                <a:latin typeface="Arial" pitchFamily="34" charset="0"/>
              </a:rPr>
              <a:t>——</a:t>
            </a:r>
            <a:r>
              <a:rPr lang="zh-CN" altLang="en-US" dirty="0">
                <a:latin typeface="Arial" pitchFamily="34" charset="0"/>
              </a:rPr>
              <a:t>去噪，聚类等预处理</a:t>
            </a:r>
          </a:p>
        </p:txBody>
      </p:sp>
    </p:spTree>
    <p:extLst>
      <p:ext uri="{BB962C8B-B14F-4D97-AF65-F5344CB8AC3E}">
        <p14:creationId xmlns:p14="http://schemas.microsoft.com/office/powerpoint/2010/main" val="3514946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itchFamily="34" charset="0"/>
              </a:rPr>
              <a:t>无导师学习</a:t>
            </a:r>
            <a:r>
              <a:rPr lang="en-US" altLang="zh-CN" dirty="0">
                <a:latin typeface="Arial" pitchFamily="34" charset="0"/>
              </a:rPr>
              <a:t>——</a:t>
            </a:r>
            <a:r>
              <a:rPr lang="zh-CN" altLang="en-US" dirty="0">
                <a:latin typeface="Arial" pitchFamily="34" charset="0"/>
              </a:rPr>
              <a:t>去噪，聚类等预处理</a:t>
            </a:r>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44</a:t>
            </a:fld>
            <a:endParaRPr lang="en-US" altLang="zh-CN"/>
          </a:p>
        </p:txBody>
      </p:sp>
    </p:spTree>
    <p:extLst>
      <p:ext uri="{BB962C8B-B14F-4D97-AF65-F5344CB8AC3E}">
        <p14:creationId xmlns:p14="http://schemas.microsoft.com/office/powerpoint/2010/main" val="11835186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45</a:t>
            </a:fld>
            <a:endParaRPr lang="en-US" altLang="zh-CN"/>
          </a:p>
        </p:txBody>
      </p:sp>
    </p:spTree>
    <p:extLst>
      <p:ext uri="{BB962C8B-B14F-4D97-AF65-F5344CB8AC3E}">
        <p14:creationId xmlns:p14="http://schemas.microsoft.com/office/powerpoint/2010/main" val="1508208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3333FF"/>
                </a:solidFill>
                <a:latin typeface="Times New Roman" panose="02020603050405020304" pitchFamily="18" charset="0"/>
              </a:rPr>
              <a:t>即通过</a:t>
            </a:r>
            <a:r>
              <a:rPr lang="zh-CN" altLang="zh-CN" b="1" dirty="0">
                <a:solidFill>
                  <a:srgbClr val="3333FF"/>
                </a:solidFill>
                <a:latin typeface="Times New Roman" panose="02020603050405020304" pitchFamily="18" charset="0"/>
              </a:rPr>
              <a:t>改变单元间的连接权重来减小系统实际输出与</a:t>
            </a:r>
            <a:r>
              <a:rPr lang="zh-CN" altLang="en-US" b="1" dirty="0">
                <a:solidFill>
                  <a:srgbClr val="3333FF"/>
                </a:solidFill>
                <a:latin typeface="Times New Roman" panose="02020603050405020304" pitchFamily="18" charset="0"/>
              </a:rPr>
              <a:t>理想</a:t>
            </a:r>
            <a:r>
              <a:rPr lang="zh-CN" altLang="zh-CN" b="1" dirty="0">
                <a:solidFill>
                  <a:srgbClr val="3333FF"/>
                </a:solidFill>
                <a:latin typeface="Times New Roman" panose="02020603050405020304" pitchFamily="18" charset="0"/>
              </a:rPr>
              <a:t>输出间的误差</a:t>
            </a:r>
            <a:r>
              <a:rPr lang="en-US" altLang="zh-CN" b="1" dirty="0">
                <a:solidFill>
                  <a:srgbClr val="3333FF"/>
                </a:solidFill>
                <a:latin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46</a:t>
            </a:fld>
            <a:endParaRPr lang="en-US" altLang="zh-CN"/>
          </a:p>
        </p:txBody>
      </p:sp>
    </p:spTree>
    <p:extLst>
      <p:ext uri="{BB962C8B-B14F-4D97-AF65-F5344CB8AC3E}">
        <p14:creationId xmlns:p14="http://schemas.microsoft.com/office/powerpoint/2010/main" val="59904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en-US" altLang="zh-CN" dirty="0"/>
              <a:t>[</a:t>
            </a:r>
            <a:r>
              <a:rPr lang="en-US" altLang="zh-CN" dirty="0" err="1"/>
              <a:t>O</a:t>
            </a:r>
            <a:r>
              <a:rPr lang="en-US" altLang="zh-CN" baseline="-25000" dirty="0" err="1"/>
              <a:t>j</a:t>
            </a:r>
            <a:r>
              <a:rPr lang="en-US" altLang="zh-CN" dirty="0"/>
              <a:t>]’=[(1+e</a:t>
            </a:r>
            <a:r>
              <a:rPr lang="en-US" altLang="zh-CN" baseline="30000" dirty="0"/>
              <a:t>-x</a:t>
            </a:r>
            <a:r>
              <a:rPr lang="en-US" altLang="zh-CN" dirty="0"/>
              <a:t>)</a:t>
            </a:r>
            <a:r>
              <a:rPr lang="en-US" altLang="zh-CN" baseline="30000" dirty="0"/>
              <a:t>-1</a:t>
            </a:r>
            <a:r>
              <a:rPr lang="en-US" altLang="zh-CN" dirty="0"/>
              <a:t>]’=e</a:t>
            </a:r>
            <a:r>
              <a:rPr lang="en-US" altLang="zh-CN" baseline="30000" dirty="0"/>
              <a:t>-x</a:t>
            </a:r>
            <a:r>
              <a:rPr lang="en-US" altLang="zh-CN" dirty="0"/>
              <a:t>/(1+e</a:t>
            </a:r>
            <a:r>
              <a:rPr lang="en-US" altLang="zh-CN" baseline="30000" dirty="0"/>
              <a:t>-x</a:t>
            </a:r>
            <a:r>
              <a:rPr lang="en-US" altLang="zh-CN" dirty="0"/>
              <a:t>)</a:t>
            </a:r>
            <a:r>
              <a:rPr lang="en-US" altLang="zh-CN" baseline="30000" dirty="0"/>
              <a:t>2 </a:t>
            </a:r>
            <a:r>
              <a:rPr lang="en-US" altLang="zh-CN" dirty="0"/>
              <a:t>=(1+e</a:t>
            </a:r>
            <a:r>
              <a:rPr lang="en-US" altLang="zh-CN" baseline="30000" dirty="0"/>
              <a:t>-x</a:t>
            </a:r>
            <a:r>
              <a:rPr lang="en-US" altLang="zh-CN" dirty="0"/>
              <a:t>)</a:t>
            </a:r>
            <a:r>
              <a:rPr lang="en-US" altLang="zh-CN" baseline="30000" dirty="0"/>
              <a:t>-1 </a:t>
            </a:r>
            <a:r>
              <a:rPr lang="en-US" altLang="zh-CN" dirty="0"/>
              <a:t>*[1-(1+e</a:t>
            </a:r>
            <a:r>
              <a:rPr lang="en-US" altLang="zh-CN" baseline="30000" dirty="0"/>
              <a:t>-x</a:t>
            </a:r>
            <a:r>
              <a:rPr lang="en-US" altLang="zh-CN" dirty="0"/>
              <a:t>)</a:t>
            </a:r>
            <a:r>
              <a:rPr lang="en-US" altLang="zh-CN" baseline="30000" dirty="0"/>
              <a:t>-1</a:t>
            </a:r>
            <a:r>
              <a:rPr lang="en-US" altLang="zh-CN" dirty="0"/>
              <a:t>]=</a:t>
            </a:r>
            <a:r>
              <a:rPr lang="en-US" altLang="zh-CN" dirty="0" err="1"/>
              <a:t>O</a:t>
            </a:r>
            <a:r>
              <a:rPr lang="en-US" altLang="zh-CN" baseline="-25000" dirty="0" err="1"/>
              <a:t>j</a:t>
            </a:r>
            <a:r>
              <a:rPr lang="en-US" altLang="zh-CN" baseline="0" dirty="0"/>
              <a:t> </a:t>
            </a:r>
            <a:r>
              <a:rPr lang="en-US" altLang="zh-CN" dirty="0"/>
              <a:t>*(1- </a:t>
            </a:r>
            <a:r>
              <a:rPr lang="en-US" altLang="zh-CN" dirty="0" err="1"/>
              <a:t>O</a:t>
            </a:r>
            <a:r>
              <a:rPr lang="en-US" altLang="zh-CN" baseline="-25000" dirty="0" err="1"/>
              <a:t>j</a:t>
            </a:r>
            <a:r>
              <a:rPr lang="en-US" altLang="zh-CN" baseline="0" dirty="0"/>
              <a:t>)</a:t>
            </a:r>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51</a:t>
            </a:fld>
            <a:endParaRPr lang="en-US" altLang="zh-CN"/>
          </a:p>
        </p:txBody>
      </p:sp>
    </p:spTree>
    <p:extLst>
      <p:ext uri="{BB962C8B-B14F-4D97-AF65-F5344CB8AC3E}">
        <p14:creationId xmlns:p14="http://schemas.microsoft.com/office/powerpoint/2010/main" val="2209742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D9B8228-0253-4917-B709-4700EA740D76}" type="slidenum">
              <a:rPr lang="en-US" altLang="zh-CN" smtClean="0"/>
              <a:pPr eaLnBrk="1" hangingPunct="1"/>
              <a:t>58</a:t>
            </a:fld>
            <a:endParaRPr lang="en-US" altLang="zh-CN"/>
          </a:p>
        </p:txBody>
      </p:sp>
      <p:sp>
        <p:nvSpPr>
          <p:cNvPr id="76803" name="Rectangle 2"/>
          <p:cNvSpPr>
            <a:spLocks noGrp="1" noRot="1" noChangeAspect="1" noChangeArrowheads="1" noTextEdit="1"/>
          </p:cNvSpPr>
          <p:nvPr>
            <p:ph type="sldImg"/>
          </p:nvPr>
        </p:nvSpPr>
        <p:spPr>
          <a:xfrm>
            <a:off x="26988" y="744538"/>
            <a:ext cx="6615112" cy="3722687"/>
          </a:xfrm>
          <a:ln/>
        </p:spPr>
      </p:sp>
      <p:sp>
        <p:nvSpPr>
          <p:cNvPr id="76804" name="Rectangle 3"/>
          <p:cNvSpPr>
            <a:spLocks noGrp="1" noChangeArrowheads="1"/>
          </p:cNvSpPr>
          <p:nvPr>
            <p:ph type="body" idx="1"/>
          </p:nvPr>
        </p:nvSpPr>
        <p:spPr>
          <a:noFill/>
        </p:spPr>
        <p:txBody>
          <a:bodyPr/>
          <a:lstStyle/>
          <a:p>
            <a:pPr eaLnBrk="1" hangingPunct="1"/>
            <a:r>
              <a:rPr lang="zh-CN" altLang="en-US">
                <a:latin typeface="黑体" pitchFamily="49" charset="-122"/>
                <a:ea typeface="黑体" pitchFamily="49" charset="-122"/>
              </a:rPr>
              <a:t>隐层单元数过少</a:t>
            </a:r>
            <a:r>
              <a:rPr lang="en-US" altLang="zh-CN">
                <a:latin typeface="Arial" pitchFamily="34" charset="0"/>
                <a:ea typeface="黑体" pitchFamily="49" charset="-122"/>
              </a:rPr>
              <a:t>——</a:t>
            </a:r>
            <a:r>
              <a:rPr lang="zh-CN" altLang="en-US">
                <a:latin typeface="黑体" pitchFamily="49" charset="-122"/>
                <a:ea typeface="黑体" pitchFamily="49" charset="-122"/>
              </a:rPr>
              <a:t>会导致训练精度不高，隐层单元数过多</a:t>
            </a:r>
            <a:r>
              <a:rPr lang="en-US" altLang="zh-CN">
                <a:latin typeface="Arial" pitchFamily="34" charset="0"/>
                <a:ea typeface="黑体" pitchFamily="49" charset="-122"/>
              </a:rPr>
              <a:t>——</a:t>
            </a:r>
            <a:r>
              <a:rPr lang="zh-CN" altLang="en-US">
                <a:latin typeface="黑体" pitchFamily="49" charset="-122"/>
                <a:ea typeface="黑体" pitchFamily="49" charset="-122"/>
              </a:rPr>
              <a:t>会导致训练精度很高，网络退化为查表功能，网络泛化性能不高。</a:t>
            </a:r>
          </a:p>
        </p:txBody>
      </p:sp>
    </p:spTree>
    <p:extLst>
      <p:ext uri="{BB962C8B-B14F-4D97-AF65-F5344CB8AC3E}">
        <p14:creationId xmlns:p14="http://schemas.microsoft.com/office/powerpoint/2010/main" val="3497164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ADF0D41-DB1A-4E60-9363-734C4589DADA}" type="slidenum">
              <a:rPr lang="en-US" altLang="zh-CN" smtClean="0"/>
              <a:pPr eaLnBrk="1" hangingPunct="1"/>
              <a:t>59</a:t>
            </a:fld>
            <a:endParaRPr lang="en-US" altLang="zh-CN"/>
          </a:p>
        </p:txBody>
      </p:sp>
      <p:sp>
        <p:nvSpPr>
          <p:cNvPr id="77827" name="Rectangle 2"/>
          <p:cNvSpPr>
            <a:spLocks noGrp="1" noRot="1" noChangeAspect="1" noChangeArrowheads="1" noTextEdit="1"/>
          </p:cNvSpPr>
          <p:nvPr>
            <p:ph type="sldImg"/>
          </p:nvPr>
        </p:nvSpPr>
        <p:spPr>
          <a:xfrm>
            <a:off x="26988" y="744538"/>
            <a:ext cx="6615112" cy="3722687"/>
          </a:xfrm>
          <a:ln/>
        </p:spPr>
      </p:sp>
      <p:sp>
        <p:nvSpPr>
          <p:cNvPr id="77828" name="Rectangle 3"/>
          <p:cNvSpPr>
            <a:spLocks noGrp="1" noChangeArrowheads="1"/>
          </p:cNvSpPr>
          <p:nvPr>
            <p:ph type="body" idx="1"/>
          </p:nvPr>
        </p:nvSpPr>
        <p:spPr>
          <a:noFill/>
        </p:spPr>
        <p:txBody>
          <a:bodyPr/>
          <a:lstStyle/>
          <a:p>
            <a:pPr eaLnBrk="1" hangingPunct="1"/>
            <a:r>
              <a:rPr lang="zh-CN" altLang="en-US">
                <a:latin typeface="Arial" pitchFamily="34" charset="0"/>
              </a:rPr>
              <a:t>可用变学习率的方法</a:t>
            </a:r>
          </a:p>
        </p:txBody>
      </p:sp>
    </p:spTree>
    <p:extLst>
      <p:ext uri="{BB962C8B-B14F-4D97-AF65-F5344CB8AC3E}">
        <p14:creationId xmlns:p14="http://schemas.microsoft.com/office/powerpoint/2010/main" val="104291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CC70E5B-6881-4690-8297-56D9D3522DFB}" type="slidenum">
              <a:rPr lang="en-US" altLang="zh-CN" smtClean="0"/>
              <a:pPr eaLnBrk="1" hangingPunct="1"/>
              <a:t>63</a:t>
            </a:fld>
            <a:endParaRPr lang="en-US" altLang="zh-CN"/>
          </a:p>
        </p:txBody>
      </p:sp>
      <p:sp>
        <p:nvSpPr>
          <p:cNvPr id="78851" name="Rectangle 2"/>
          <p:cNvSpPr>
            <a:spLocks noGrp="1" noRot="1" noChangeAspect="1" noChangeArrowheads="1" noTextEdit="1"/>
          </p:cNvSpPr>
          <p:nvPr>
            <p:ph type="sldImg"/>
          </p:nvPr>
        </p:nvSpPr>
        <p:spPr>
          <a:xfrm>
            <a:off x="26988" y="744538"/>
            <a:ext cx="6615112" cy="3722687"/>
          </a:xfrm>
          <a:ln/>
        </p:spPr>
      </p:sp>
      <p:sp>
        <p:nvSpPr>
          <p:cNvPr id="78852" name="Rectangle 3"/>
          <p:cNvSpPr>
            <a:spLocks noGrp="1" noChangeArrowheads="1"/>
          </p:cNvSpPr>
          <p:nvPr>
            <p:ph type="body" idx="1"/>
          </p:nvPr>
        </p:nvSpPr>
        <p:spPr>
          <a:noFill/>
        </p:spPr>
        <p:txBody>
          <a:bodyPr/>
          <a:lstStyle/>
          <a:p>
            <a:pPr eaLnBrk="1" hangingPunct="1"/>
            <a:endParaRPr lang="zh-CN" altLang="en-US" dirty="0">
              <a:latin typeface="Arial" pitchFamily="34" charset="0"/>
            </a:endParaRPr>
          </a:p>
        </p:txBody>
      </p:sp>
    </p:spTree>
    <p:extLst>
      <p:ext uri="{BB962C8B-B14F-4D97-AF65-F5344CB8AC3E}">
        <p14:creationId xmlns:p14="http://schemas.microsoft.com/office/powerpoint/2010/main" val="33203880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itchFamily="34" charset="0"/>
              </a:rPr>
              <a:t>用一</a:t>
            </a:r>
            <a:r>
              <a:rPr lang="en-US" altLang="zh-CN" dirty="0">
                <a:latin typeface="Arial" pitchFamily="34" charset="0"/>
              </a:rPr>
              <a:t>NN</a:t>
            </a:r>
            <a:r>
              <a:rPr lang="zh-CN" altLang="en-US" dirty="0">
                <a:latin typeface="Arial" pitchFamily="34" charset="0"/>
              </a:rPr>
              <a:t>区分三类</a:t>
            </a:r>
            <a:r>
              <a:rPr lang="en-US" altLang="zh-CN" dirty="0">
                <a:latin typeface="Arial" pitchFamily="34" charset="0"/>
              </a:rPr>
              <a:t>R1</a:t>
            </a:r>
            <a:r>
              <a:rPr lang="zh-CN" altLang="en-US" dirty="0">
                <a:latin typeface="Arial" pitchFamily="34" charset="0"/>
              </a:rPr>
              <a:t>，</a:t>
            </a:r>
            <a:r>
              <a:rPr lang="en-US" altLang="zh-CN" dirty="0">
                <a:latin typeface="Arial" pitchFamily="34" charset="0"/>
              </a:rPr>
              <a:t>R2</a:t>
            </a:r>
            <a:r>
              <a:rPr lang="zh-CN" altLang="en-US" dirty="0">
                <a:latin typeface="Arial" pitchFamily="34" charset="0"/>
              </a:rPr>
              <a:t>，</a:t>
            </a:r>
            <a:r>
              <a:rPr lang="en-US" altLang="zh-CN" dirty="0">
                <a:latin typeface="Arial" pitchFamily="34" charset="0"/>
              </a:rPr>
              <a:t>R3</a:t>
            </a:r>
            <a:r>
              <a:rPr lang="zh-CN" altLang="en-US" dirty="0">
                <a:latin typeface="Arial" pitchFamily="34" charset="0"/>
              </a:rPr>
              <a:t>的二输入，三输出</a:t>
            </a:r>
            <a:r>
              <a:rPr lang="en-US" altLang="zh-CN" dirty="0">
                <a:latin typeface="Arial" pitchFamily="34" charset="0"/>
              </a:rPr>
              <a:t>NN</a:t>
            </a:r>
            <a:r>
              <a:rPr lang="zh-CN" altLang="en-US" dirty="0">
                <a:latin typeface="Arial" pitchFamily="34" charset="0"/>
              </a:rPr>
              <a:t>，数据构造、学习过程。</a:t>
            </a:r>
          </a:p>
          <a:p>
            <a:endParaRPr lang="zh-CN" altLang="en-US" dirty="0"/>
          </a:p>
        </p:txBody>
      </p:sp>
      <p:sp>
        <p:nvSpPr>
          <p:cNvPr id="4" name="灯片编号占位符 3"/>
          <p:cNvSpPr>
            <a:spLocks noGrp="1"/>
          </p:cNvSpPr>
          <p:nvPr>
            <p:ph type="sldNum" sz="quarter" idx="10"/>
          </p:nvPr>
        </p:nvSpPr>
        <p:spPr/>
        <p:txBody>
          <a:bodyPr/>
          <a:lstStyle/>
          <a:p>
            <a:pPr>
              <a:defRPr/>
            </a:pPr>
            <a:fld id="{307F09C4-A9D0-419C-AC3A-A9D24839F077}" type="slidenum">
              <a:rPr lang="en-US" altLang="zh-CN" smtClean="0"/>
              <a:pPr>
                <a:defRPr/>
              </a:pPr>
              <a:t>64</a:t>
            </a:fld>
            <a:endParaRPr lang="en-US" altLang="zh-CN"/>
          </a:p>
        </p:txBody>
      </p:sp>
    </p:spTree>
    <p:extLst>
      <p:ext uri="{BB962C8B-B14F-4D97-AF65-F5344CB8AC3E}">
        <p14:creationId xmlns:p14="http://schemas.microsoft.com/office/powerpoint/2010/main" val="2034809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grpSp>
      <p:sp>
        <p:nvSpPr>
          <p:cNvPr id="6163"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pPr lvl="0"/>
            <a:r>
              <a:rPr lang="zh-CN" altLang="en-US" noProof="0"/>
              <a:t>单击此处编辑母版标题样式</a:t>
            </a:r>
          </a:p>
        </p:txBody>
      </p:sp>
      <p:sp>
        <p:nvSpPr>
          <p:cNvPr id="6164"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609600" y="6248400"/>
            <a:ext cx="28448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48D69D65-CBC8-4289-B93A-CE1FBA8CD216}" type="slidenum">
              <a:rPr lang="en-US" altLang="zh-CN"/>
              <a:pPr>
                <a:defRPr/>
              </a:pPr>
              <a:t>‹#›</a:t>
            </a:fld>
            <a:endParaRPr lang="en-US" altLang="zh-CN"/>
          </a:p>
        </p:txBody>
      </p:sp>
    </p:spTree>
    <p:extLst>
      <p:ext uri="{BB962C8B-B14F-4D97-AF65-F5344CB8AC3E}">
        <p14:creationId xmlns:p14="http://schemas.microsoft.com/office/powerpoint/2010/main" val="116660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solidFill>
                  <a:srgbClr val="008000"/>
                </a:solidFill>
                <a:latin typeface="+mn-lt"/>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mn-lt"/>
                <a:ea typeface="黑体" panose="02010609060101010101" pitchFamily="49" charset="-122"/>
              </a:defRPr>
            </a:lvl1pPr>
            <a:lvl2pPr>
              <a:defRPr>
                <a:latin typeface="+mn-lt"/>
                <a:ea typeface="黑体" panose="02010609060101010101" pitchFamily="49" charset="-122"/>
              </a:defRPr>
            </a:lvl2pPr>
            <a:lvl3pPr>
              <a:defRPr>
                <a:latin typeface="+mn-lt"/>
                <a:ea typeface="黑体" panose="02010609060101010101" pitchFamily="49" charset="-122"/>
              </a:defRPr>
            </a:lvl3pPr>
            <a:lvl4pPr>
              <a:defRPr>
                <a:latin typeface="+mn-lt"/>
                <a:ea typeface="黑体" panose="02010609060101010101" pitchFamily="49" charset="-122"/>
              </a:defRPr>
            </a:lvl4pPr>
            <a:lvl5pPr>
              <a:defRPr>
                <a:latin typeface="+mn-lt"/>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0FB5469-1AEB-496D-971A-66705BF2F73C}"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602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4D9FD8C8-662C-4924-BD47-35BF12EE7A37}"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633776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78D790EF-66D8-41F5-A04A-4E0BA9DEB82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65623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0DBE15B9-59D8-46B3-8A13-35CC0A973E83}"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28046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FEF569DF-D019-4843-B296-F7B6269C71E5}"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69517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1240398B-3681-435F-A1B8-D490B121ECC3}"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67410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BFCB289-C18A-452A-8432-62455CD5B570}"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620303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D4722E2-30ED-4102-ACBB-56D52E87C56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18670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6A7C46DC-5DB4-40FF-86E4-5D721AEDB04A}"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22135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31CB7852-75A4-4B68-9B1E-52E8B21E5B47}"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98629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76C4EDA0-D764-474C-A15B-7C3CFCC0E433}"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691031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ln/>
        </p:spPr>
        <p:txBody>
          <a:bodyPr/>
          <a:lstStyle>
            <a:lvl1pPr>
              <a:defRPr/>
            </a:lvl1pPr>
          </a:lstStyle>
          <a:p>
            <a:pPr>
              <a:defRPr/>
            </a:pPr>
            <a:fld id="{6E623E09-9292-430A-945A-636A50DBB6F1}"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57365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表格占位符 2"/>
          <p:cNvSpPr>
            <a:spLocks noGrp="1"/>
          </p:cNvSpPr>
          <p:nvPr>
            <p:ph type="tbl" idx="1"/>
          </p:nvPr>
        </p:nvSpPr>
        <p:spPr>
          <a:xfrm>
            <a:off x="609600" y="1981200"/>
            <a:ext cx="10972800" cy="3886200"/>
          </a:xfrm>
        </p:spPr>
        <p:txBody>
          <a:bodyPr/>
          <a:lstStyle/>
          <a:p>
            <a:pPr lvl="0"/>
            <a:endParaRPr lang="zh-CN" altLang="en-US" noProof="0"/>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80D5EF37-78AF-4CB4-937F-E187B8314658}"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99270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atin typeface="Arial" charset="0"/>
              </a:defRPr>
            </a:lvl1pPr>
          </a:lstStyle>
          <a:p>
            <a:pPr>
              <a:defRPr/>
            </a:pPr>
            <a:endParaRPr lang="en-US" altLang="zh-CN"/>
          </a:p>
        </p:txBody>
      </p:sp>
      <p:sp>
        <p:nvSpPr>
          <p:cNvPr id="5123" name="Rectangle 3"/>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pPr>
              <a:defRPr/>
            </a:pPr>
            <a:fld id="{6870AF17-C0A4-442D-A613-1295C8D24688}"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93"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2.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oleObject" Target="../embeddings/oleObject11.bin"/><Relationship Id="rId3" Type="http://schemas.openxmlformats.org/officeDocument/2006/relationships/image" Target="../media/image7.wmf"/><Relationship Id="rId7" Type="http://schemas.openxmlformats.org/officeDocument/2006/relationships/image" Target="../media/image9.wmf"/><Relationship Id="rId12"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13.xml"/><Relationship Id="rId6" Type="http://schemas.openxmlformats.org/officeDocument/2006/relationships/oleObject" Target="../embeddings/oleObject8.bin"/><Relationship Id="rId11" Type="http://schemas.openxmlformats.org/officeDocument/2006/relationships/oleObject" Target="../embeddings/oleObject10.bin"/><Relationship Id="rId5" Type="http://schemas.openxmlformats.org/officeDocument/2006/relationships/image" Target="../media/image8.wmf"/><Relationship Id="rId10" Type="http://schemas.openxmlformats.org/officeDocument/2006/relationships/image" Target="../media/image10.wmf"/><Relationship Id="rId4" Type="http://schemas.openxmlformats.org/officeDocument/2006/relationships/oleObject" Target="../embeddings/oleObject7.bin"/><Relationship Id="rId9" Type="http://schemas.openxmlformats.org/officeDocument/2006/relationships/oleObject" Target="../embeddings/oleObject9.bin"/><Relationship Id="rId14" Type="http://schemas.openxmlformats.org/officeDocument/2006/relationships/image" Target="../media/image12.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4.wmf"/><Relationship Id="rId5" Type="http://schemas.openxmlformats.org/officeDocument/2006/relationships/oleObject" Target="../embeddings/oleObject13.bin"/><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5.bin"/><Relationship Id="rId1" Type="http://schemas.openxmlformats.org/officeDocument/2006/relationships/slideLayout" Target="../slideLayouts/slideLayout13.xml"/><Relationship Id="rId5" Type="http://schemas.openxmlformats.org/officeDocument/2006/relationships/image" Target="../media/image17.wmf"/><Relationship Id="rId4"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7.bin"/><Relationship Id="rId1" Type="http://schemas.openxmlformats.org/officeDocument/2006/relationships/slideLayout" Target="../slideLayouts/slideLayout13.xml"/><Relationship Id="rId5" Type="http://schemas.openxmlformats.org/officeDocument/2006/relationships/image" Target="../media/image18.wmf"/><Relationship Id="rId4"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20.bin"/><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3.png"/><Relationship Id="rId7" Type="http://schemas.openxmlformats.org/officeDocument/2006/relationships/oleObject" Target="../embeddings/oleObject23.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22.bin"/><Relationship Id="rId10" Type="http://schemas.openxmlformats.org/officeDocument/2006/relationships/image" Target="../media/image26.wmf"/><Relationship Id="rId4" Type="http://schemas.microsoft.com/office/2007/relationships/hdphoto" Target="../media/hdphoto1.wdp"/><Relationship Id="rId9" Type="http://schemas.openxmlformats.org/officeDocument/2006/relationships/oleObject" Target="../embeddings/oleObject24.bin"/></Relationships>
</file>

<file path=ppt/slides/_rels/slide1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oleObject" Target="../embeddings/oleObject25.bin"/><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wmf"/><Relationship Id="rId11" Type="http://schemas.microsoft.com/office/2007/relationships/hdphoto" Target="../media/hdphoto3.wdp"/><Relationship Id="rId5" Type="http://schemas.openxmlformats.org/officeDocument/2006/relationships/oleObject" Target="../embeddings/oleObject26.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27.bin"/></Relationships>
</file>

<file path=ppt/slides/_rels/slide19.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oleObject" Target="../embeddings/oleObject29.bin"/><Relationship Id="rId12" Type="http://schemas.microsoft.com/office/2007/relationships/hdphoto" Target="../media/hdphoto5.wdp"/><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2.wmf"/><Relationship Id="rId11" Type="http://schemas.openxmlformats.org/officeDocument/2006/relationships/image" Target="../media/image35.png"/><Relationship Id="rId5" Type="http://schemas.openxmlformats.org/officeDocument/2006/relationships/oleObject" Target="../embeddings/oleObject28.bin"/><Relationship Id="rId10" Type="http://schemas.openxmlformats.org/officeDocument/2006/relationships/image" Target="../media/image34.wmf"/><Relationship Id="rId4" Type="http://schemas.microsoft.com/office/2007/relationships/hdphoto" Target="../media/hdphoto4.wdp"/><Relationship Id="rId9" Type="http://schemas.openxmlformats.org/officeDocument/2006/relationships/oleObject" Target="../embeddings/oleObject30.bin"/></Relationships>
</file>

<file path=ppt/slides/_rels/slide20.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8.wmf"/><Relationship Id="rId11" Type="http://schemas.openxmlformats.org/officeDocument/2006/relationships/image" Target="../media/image41.png"/><Relationship Id="rId5" Type="http://schemas.openxmlformats.org/officeDocument/2006/relationships/oleObject" Target="../embeddings/oleObject32.bin"/><Relationship Id="rId10" Type="http://schemas.microsoft.com/office/2007/relationships/hdphoto" Target="../media/hdphoto6.wdp"/><Relationship Id="rId4" Type="http://schemas.openxmlformats.org/officeDocument/2006/relationships/image" Target="../media/image37.wmf"/><Relationship Id="rId9" Type="http://schemas.openxmlformats.org/officeDocument/2006/relationships/image" Target="../media/image40.png"/></Relationships>
</file>

<file path=ppt/slides/_rels/slide21.xml.rels><?xml version="1.0" encoding="UTF-8" standalone="yes"?>
<Relationships xmlns="http://schemas.openxmlformats.org/package/2006/relationships"><Relationship Id="rId8" Type="http://schemas.openxmlformats.org/officeDocument/2006/relationships/image" Target="../media/image44.wmf"/><Relationship Id="rId13" Type="http://schemas.microsoft.com/office/2007/relationships/hdphoto" Target="../media/hdphoto8.wdp"/><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3.wmf"/><Relationship Id="rId11" Type="http://schemas.microsoft.com/office/2007/relationships/hdphoto" Target="../media/hdphoto7.wdp"/><Relationship Id="rId5" Type="http://schemas.openxmlformats.org/officeDocument/2006/relationships/oleObject" Target="../embeddings/oleObject35.bin"/><Relationship Id="rId15" Type="http://schemas.microsoft.com/office/2007/relationships/hdphoto" Target="../media/hdphoto9.wdp"/><Relationship Id="rId10" Type="http://schemas.openxmlformats.org/officeDocument/2006/relationships/image" Target="../media/image46.png"/><Relationship Id="rId4" Type="http://schemas.openxmlformats.org/officeDocument/2006/relationships/image" Target="../media/image42.wmf"/><Relationship Id="rId9" Type="http://schemas.openxmlformats.org/officeDocument/2006/relationships/image" Target="../media/image45.png"/><Relationship Id="rId1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0.wdp"/></Relationships>
</file>

<file path=ppt/slides/_rels/slide23.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49.png"/><Relationship Id="rId7" Type="http://schemas.openxmlformats.org/officeDocument/2006/relationships/oleObject" Target="../embeddings/oleObject38.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0.wmf"/><Relationship Id="rId5" Type="http://schemas.openxmlformats.org/officeDocument/2006/relationships/oleObject" Target="../embeddings/oleObject37.bin"/><Relationship Id="rId4" Type="http://schemas.microsoft.com/office/2007/relationships/hdphoto" Target="../media/hdphoto10.wdp"/></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3.wmf"/><Relationship Id="rId5" Type="http://schemas.openxmlformats.org/officeDocument/2006/relationships/oleObject" Target="../embeddings/oleObject39.bin"/><Relationship Id="rId4" Type="http://schemas.microsoft.com/office/2007/relationships/hdphoto" Target="../media/hdphoto10.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6.wmf"/><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5" Type="http://schemas.openxmlformats.org/officeDocument/2006/relationships/image" Target="../media/image55.wmf"/><Relationship Id="rId4" Type="http://schemas.openxmlformats.org/officeDocument/2006/relationships/oleObject" Target="../embeddings/oleObject41.bin"/></Relationships>
</file>

<file path=ppt/slides/_rels/slide2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7.wmf"/><Relationship Id="rId7" Type="http://schemas.openxmlformats.org/officeDocument/2006/relationships/image" Target="../media/image58.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4.bin"/><Relationship Id="rId5" Type="http://schemas.microsoft.com/office/2007/relationships/hdphoto" Target="../media/hdphoto8.wdp"/><Relationship Id="rId4" Type="http://schemas.openxmlformats.org/officeDocument/2006/relationships/image" Target="../media/image47.png"/><Relationship Id="rId9" Type="http://schemas.openxmlformats.org/officeDocument/2006/relationships/image" Target="../media/image60.png"/></Relationships>
</file>

<file path=ppt/slides/_rels/slide2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5.wmf"/><Relationship Id="rId4" Type="http://schemas.openxmlformats.org/officeDocument/2006/relationships/oleObject" Target="../embeddings/oleObject45.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71.wmf"/><Relationship Id="rId3" Type="http://schemas.microsoft.com/office/2007/relationships/hdphoto" Target="../media/hdphoto12.wdp"/><Relationship Id="rId7" Type="http://schemas.openxmlformats.org/officeDocument/2006/relationships/image" Target="../media/image68.wmf"/><Relationship Id="rId12" Type="http://schemas.openxmlformats.org/officeDocument/2006/relationships/oleObject" Target="../embeddings/oleObject50.bin"/><Relationship Id="rId17" Type="http://schemas.openxmlformats.org/officeDocument/2006/relationships/image" Target="../media/image73.wmf"/><Relationship Id="rId2" Type="http://schemas.openxmlformats.org/officeDocument/2006/relationships/image" Target="../media/image66.png"/><Relationship Id="rId16" Type="http://schemas.openxmlformats.org/officeDocument/2006/relationships/oleObject" Target="../embeddings/oleObject52.bin"/><Relationship Id="rId1" Type="http://schemas.openxmlformats.org/officeDocument/2006/relationships/slideLayout" Target="../slideLayouts/slideLayout2.xml"/><Relationship Id="rId6" Type="http://schemas.openxmlformats.org/officeDocument/2006/relationships/oleObject" Target="../embeddings/oleObject47.bin"/><Relationship Id="rId11" Type="http://schemas.openxmlformats.org/officeDocument/2006/relationships/image" Target="../media/image70.wmf"/><Relationship Id="rId5" Type="http://schemas.openxmlformats.org/officeDocument/2006/relationships/image" Target="../media/image67.wmf"/><Relationship Id="rId15" Type="http://schemas.openxmlformats.org/officeDocument/2006/relationships/image" Target="../media/image72.w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69.wmf"/><Relationship Id="rId14" Type="http://schemas.openxmlformats.org/officeDocument/2006/relationships/oleObject" Target="../embeddings/oleObject51.bin"/></Relationships>
</file>

<file path=ppt/slides/_rels/slide32.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microsoft.com/office/2007/relationships/hdphoto" Target="../media/hdphoto12.wdp"/><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6.wmf"/><Relationship Id="rId11" Type="http://schemas.openxmlformats.org/officeDocument/2006/relationships/image" Target="../media/image66.png"/><Relationship Id="rId5" Type="http://schemas.openxmlformats.org/officeDocument/2006/relationships/oleObject" Target="../embeddings/oleObject54.bin"/><Relationship Id="rId10" Type="http://schemas.openxmlformats.org/officeDocument/2006/relationships/image" Target="../media/image78.wmf"/><Relationship Id="rId4" Type="http://schemas.openxmlformats.org/officeDocument/2006/relationships/image" Target="../media/image75.wmf"/><Relationship Id="rId9" Type="http://schemas.openxmlformats.org/officeDocument/2006/relationships/oleObject" Target="../embeddings/oleObject56.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emf"/></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2.w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oleObject" Target="../embeddings/oleObject59.bin"/><Relationship Id="rId5" Type="http://schemas.openxmlformats.org/officeDocument/2006/relationships/image" Target="../media/image81.wmf"/><Relationship Id="rId4" Type="http://schemas.openxmlformats.org/officeDocument/2006/relationships/oleObject" Target="../embeddings/oleObject58.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4.wmf"/><Relationship Id="rId5" Type="http://schemas.openxmlformats.org/officeDocument/2006/relationships/oleObject" Target="../embeddings/oleObject59.bin"/><Relationship Id="rId4" Type="http://schemas.openxmlformats.org/officeDocument/2006/relationships/image" Target="../media/image83.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oleObject" Target="../embeddings/oleObject60.bin"/><Relationship Id="rId7" Type="http://schemas.openxmlformats.org/officeDocument/2006/relationships/image" Target="../media/image80.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7.wmf"/><Relationship Id="rId11" Type="http://schemas.openxmlformats.org/officeDocument/2006/relationships/image" Target="../media/image84.wmf"/><Relationship Id="rId5" Type="http://schemas.openxmlformats.org/officeDocument/2006/relationships/oleObject" Target="../embeddings/oleObject61.bin"/><Relationship Id="rId10" Type="http://schemas.openxmlformats.org/officeDocument/2006/relationships/oleObject" Target="../embeddings/oleObject59.bin"/><Relationship Id="rId4" Type="http://schemas.openxmlformats.org/officeDocument/2006/relationships/image" Target="../media/image86.wmf"/><Relationship Id="rId9" Type="http://schemas.openxmlformats.org/officeDocument/2006/relationships/image" Target="../media/image83.wmf"/></Relationships>
</file>

<file path=ppt/slides/_rels/slide3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8.wmf"/><Relationship Id="rId7" Type="http://schemas.openxmlformats.org/officeDocument/2006/relationships/image" Target="../media/image91.png"/><Relationship Id="rId2" Type="http://schemas.openxmlformats.org/officeDocument/2006/relationships/oleObject" Target="../embeddings/oleObject62.bin"/><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image" Target="../media/image89.wmf"/><Relationship Id="rId4" Type="http://schemas.openxmlformats.org/officeDocument/2006/relationships/oleObject" Target="../embeddings/oleObject63.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93.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5.wmf"/><Relationship Id="rId5" Type="http://schemas.openxmlformats.org/officeDocument/2006/relationships/oleObject" Target="../embeddings/oleObject66.bin"/><Relationship Id="rId4" Type="http://schemas.openxmlformats.org/officeDocument/2006/relationships/image" Target="../media/image94.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image" Target="../media/image97.wmf"/><Relationship Id="rId7" Type="http://schemas.openxmlformats.org/officeDocument/2006/relationships/image" Target="../media/image99.wmf"/><Relationship Id="rId2" Type="http://schemas.openxmlformats.org/officeDocument/2006/relationships/oleObject" Target="../embeddings/oleObject67.bin"/><Relationship Id="rId1" Type="http://schemas.openxmlformats.org/officeDocument/2006/relationships/slideLayout" Target="../slideLayouts/slideLayout2.xml"/><Relationship Id="rId6" Type="http://schemas.openxmlformats.org/officeDocument/2006/relationships/oleObject" Target="../embeddings/oleObject69.bin"/><Relationship Id="rId11" Type="http://schemas.openxmlformats.org/officeDocument/2006/relationships/image" Target="../media/image101.wmf"/><Relationship Id="rId5" Type="http://schemas.openxmlformats.org/officeDocument/2006/relationships/image" Target="../media/image98.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100.wmf"/></Relationships>
</file>

<file path=ppt/slides/_rels/slide50.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72.bin"/><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51.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4.wmf"/><Relationship Id="rId11" Type="http://schemas.openxmlformats.org/officeDocument/2006/relationships/image" Target="../media/image96.png"/><Relationship Id="rId5" Type="http://schemas.openxmlformats.org/officeDocument/2006/relationships/oleObject" Target="../embeddings/oleObject74.bin"/><Relationship Id="rId10" Type="http://schemas.openxmlformats.org/officeDocument/2006/relationships/image" Target="../media/image106.wmf"/><Relationship Id="rId4" Type="http://schemas.openxmlformats.org/officeDocument/2006/relationships/image" Target="../media/image103.wmf"/><Relationship Id="rId9" Type="http://schemas.openxmlformats.org/officeDocument/2006/relationships/oleObject" Target="../embeddings/oleObject76.bin"/></Relationships>
</file>

<file path=ppt/slides/_rels/slide52.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107.wmf"/><Relationship Id="rId7" Type="http://schemas.openxmlformats.org/officeDocument/2006/relationships/image" Target="../media/image109.wmf"/><Relationship Id="rId2" Type="http://schemas.openxmlformats.org/officeDocument/2006/relationships/oleObject" Target="../embeddings/oleObject77.bin"/><Relationship Id="rId1" Type="http://schemas.openxmlformats.org/officeDocument/2006/relationships/slideLayout" Target="../slideLayouts/slideLayout2.xml"/><Relationship Id="rId6" Type="http://schemas.openxmlformats.org/officeDocument/2006/relationships/oleObject" Target="../embeddings/oleObject79.bin"/><Relationship Id="rId5" Type="http://schemas.openxmlformats.org/officeDocument/2006/relationships/image" Target="../media/image108.wmf"/><Relationship Id="rId4" Type="http://schemas.openxmlformats.org/officeDocument/2006/relationships/oleObject" Target="../embeddings/oleObject78.bin"/></Relationships>
</file>

<file path=ppt/slides/_rels/slide53.xml.rels><?xml version="1.0" encoding="UTF-8" standalone="yes"?>
<Relationships xmlns="http://schemas.openxmlformats.org/package/2006/relationships"><Relationship Id="rId3" Type="http://schemas.openxmlformats.org/officeDocument/2006/relationships/image" Target="../media/image110.emf"/><Relationship Id="rId2" Type="http://schemas.openxmlformats.org/officeDocument/2006/relationships/oleObject" Target="../embeddings/oleObject80.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81.bin"/><Relationship Id="rId1" Type="http://schemas.openxmlformats.org/officeDocument/2006/relationships/slideLayout" Target="../slideLayouts/slideLayout2.xml"/><Relationship Id="rId6" Type="http://schemas.openxmlformats.org/officeDocument/2006/relationships/oleObject" Target="../embeddings/oleObject83.bin"/><Relationship Id="rId5" Type="http://schemas.openxmlformats.org/officeDocument/2006/relationships/image" Target="../media/image112.wmf"/><Relationship Id="rId4" Type="http://schemas.openxmlformats.org/officeDocument/2006/relationships/oleObject" Target="../embeddings/oleObject82.bin"/><Relationship Id="rId9" Type="http://schemas.openxmlformats.org/officeDocument/2006/relationships/image" Target="../media/image114.e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image" Target="../media/image115.emf"/><Relationship Id="rId7" Type="http://schemas.openxmlformats.org/officeDocument/2006/relationships/image" Target="../media/image112.wmf"/><Relationship Id="rId2" Type="http://schemas.openxmlformats.org/officeDocument/2006/relationships/oleObject" Target="../embeddings/oleObject85.bin"/><Relationship Id="rId1" Type="http://schemas.openxmlformats.org/officeDocument/2006/relationships/slideLayout" Target="../slideLayouts/slideLayout2.xml"/><Relationship Id="rId6" Type="http://schemas.openxmlformats.org/officeDocument/2006/relationships/oleObject" Target="../embeddings/oleObject87.bin"/><Relationship Id="rId11" Type="http://schemas.openxmlformats.org/officeDocument/2006/relationships/image" Target="../media/image114.emf"/><Relationship Id="rId5" Type="http://schemas.openxmlformats.org/officeDocument/2006/relationships/image" Target="../media/image111.wmf"/><Relationship Id="rId10" Type="http://schemas.openxmlformats.org/officeDocument/2006/relationships/oleObject" Target="../embeddings/oleObject84.bin"/><Relationship Id="rId4" Type="http://schemas.openxmlformats.org/officeDocument/2006/relationships/oleObject" Target="../embeddings/oleObject86.bin"/><Relationship Id="rId9" Type="http://schemas.openxmlformats.org/officeDocument/2006/relationships/image" Target="../media/image113.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86.bin"/><Relationship Id="rId1" Type="http://schemas.openxmlformats.org/officeDocument/2006/relationships/slideLayout" Target="../slideLayouts/slideLayout2.xml"/><Relationship Id="rId6" Type="http://schemas.openxmlformats.org/officeDocument/2006/relationships/oleObject" Target="../embeddings/oleObject88.bin"/><Relationship Id="rId11" Type="http://schemas.openxmlformats.org/officeDocument/2006/relationships/image" Target="../media/image114.emf"/><Relationship Id="rId5" Type="http://schemas.openxmlformats.org/officeDocument/2006/relationships/image" Target="../media/image112.wmf"/><Relationship Id="rId10" Type="http://schemas.openxmlformats.org/officeDocument/2006/relationships/oleObject" Target="../embeddings/oleObject84.bin"/><Relationship Id="rId4" Type="http://schemas.openxmlformats.org/officeDocument/2006/relationships/oleObject" Target="../embeddings/oleObject87.bin"/><Relationship Id="rId9" Type="http://schemas.openxmlformats.org/officeDocument/2006/relationships/image" Target="../media/image116.e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86.bin"/><Relationship Id="rId1" Type="http://schemas.openxmlformats.org/officeDocument/2006/relationships/slideLayout" Target="../slideLayouts/slideLayout2.xml"/><Relationship Id="rId6" Type="http://schemas.openxmlformats.org/officeDocument/2006/relationships/oleObject" Target="../embeddings/oleObject88.bin"/><Relationship Id="rId5" Type="http://schemas.openxmlformats.org/officeDocument/2006/relationships/image" Target="../media/image112.wmf"/><Relationship Id="rId4" Type="http://schemas.openxmlformats.org/officeDocument/2006/relationships/oleObject" Target="../embeddings/oleObject87.bin"/><Relationship Id="rId9" Type="http://schemas.openxmlformats.org/officeDocument/2006/relationships/image" Target="../media/image117.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119.wmf"/><Relationship Id="rId5" Type="http://schemas.openxmlformats.org/officeDocument/2006/relationships/oleObject" Target="../embeddings/oleObject92.bin"/><Relationship Id="rId4" Type="http://schemas.openxmlformats.org/officeDocument/2006/relationships/image" Target="../media/image118.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20.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oleObject" Target="../embeddings/oleObject94.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algn="ctr" eaLnBrk="1" hangingPunct="1"/>
            <a:r>
              <a:rPr lang="zh-CN" altLang="en-US" sz="7200" b="1" dirty="0">
                <a:solidFill>
                  <a:srgbClr val="FFFF66"/>
                </a:solidFill>
                <a:latin typeface="隶书" pitchFamily="49" charset="-122"/>
                <a:ea typeface="隶书" pitchFamily="49" charset="-122"/>
              </a:rPr>
              <a:t>第</a:t>
            </a:r>
            <a:r>
              <a:rPr lang="zh-CN" altLang="en-US" sz="7200" b="1" dirty="0">
                <a:solidFill>
                  <a:srgbClr val="FFFF66"/>
                </a:solidFill>
                <a:ea typeface="隶书" pitchFamily="49" charset="-122"/>
              </a:rPr>
              <a:t> </a:t>
            </a:r>
            <a:r>
              <a:rPr lang="en-US" altLang="zh-CN" sz="7200" b="1" dirty="0">
                <a:solidFill>
                  <a:srgbClr val="FFFF66"/>
                </a:solidFill>
                <a:ea typeface="隶书" pitchFamily="49" charset="-122"/>
              </a:rPr>
              <a:t>2 </a:t>
            </a:r>
            <a:r>
              <a:rPr lang="zh-CN" altLang="en-US" sz="7200" b="1" dirty="0">
                <a:solidFill>
                  <a:srgbClr val="FFFF66"/>
                </a:solidFill>
                <a:latin typeface="隶书" pitchFamily="49" charset="-122"/>
                <a:ea typeface="隶书" pitchFamily="49" charset="-122"/>
              </a:rPr>
              <a:t>章</a:t>
            </a:r>
            <a:br>
              <a:rPr lang="zh-CN" altLang="en-US" sz="7200" b="1" dirty="0">
                <a:solidFill>
                  <a:srgbClr val="FFFF66"/>
                </a:solidFill>
                <a:latin typeface="隶书" pitchFamily="49" charset="-122"/>
                <a:ea typeface="隶书" pitchFamily="49" charset="-122"/>
              </a:rPr>
            </a:br>
            <a:r>
              <a:rPr lang="zh-CN" altLang="en-US" sz="7200" b="1" dirty="0">
                <a:solidFill>
                  <a:srgbClr val="FFFF66"/>
                </a:solidFill>
                <a:latin typeface="隶书" pitchFamily="49" charset="-122"/>
                <a:ea typeface="隶书" pitchFamily="49" charset="-122"/>
              </a:rPr>
              <a:t>模糊模式识别</a:t>
            </a:r>
          </a:p>
        </p:txBody>
      </p:sp>
      <p:sp>
        <p:nvSpPr>
          <p:cNvPr id="3075" name="Rectangle 3"/>
          <p:cNvSpPr>
            <a:spLocks noGrp="1" noChangeArrowheads="1"/>
          </p:cNvSpPr>
          <p:nvPr>
            <p:ph type="subTitle" idx="1"/>
          </p:nvPr>
        </p:nvSpPr>
        <p:spPr>
          <a:xfrm>
            <a:off x="4151784" y="4267200"/>
            <a:ext cx="6019800" cy="2402160"/>
          </a:xfrm>
        </p:spPr>
        <p:txBody>
          <a:bodyPr/>
          <a:lstStyle/>
          <a:p>
            <a:pPr eaLnBrk="1" hangingPunct="1">
              <a:buFont typeface="Wingdings" pitchFamily="2" charset="2"/>
              <a:buNone/>
            </a:pPr>
            <a:r>
              <a:rPr lang="en-US" altLang="zh-CN" sz="2800" dirty="0">
                <a:ea typeface="黑体" pitchFamily="2" charset="-122"/>
              </a:rPr>
              <a:t>1 </a:t>
            </a:r>
            <a:r>
              <a:rPr lang="zh-CN" altLang="en-US" sz="2800" dirty="0">
                <a:ea typeface="黑体" pitchFamily="2" charset="-122"/>
              </a:rPr>
              <a:t>模糊模式识别的直接方法</a:t>
            </a:r>
          </a:p>
          <a:p>
            <a:pPr eaLnBrk="1" hangingPunct="1">
              <a:buFont typeface="Wingdings" pitchFamily="2" charset="2"/>
              <a:buNone/>
            </a:pPr>
            <a:r>
              <a:rPr lang="en-US" altLang="zh-CN" sz="2800" dirty="0">
                <a:ea typeface="黑体" pitchFamily="2" charset="-122"/>
              </a:rPr>
              <a:t>2 </a:t>
            </a:r>
            <a:r>
              <a:rPr lang="zh-CN" altLang="en-US" sz="2800" dirty="0">
                <a:ea typeface="黑体" pitchFamily="2" charset="-122"/>
              </a:rPr>
              <a:t>模糊集的贴近度</a:t>
            </a:r>
          </a:p>
          <a:p>
            <a:pPr eaLnBrk="1" hangingPunct="1">
              <a:buFont typeface="Wingdings" pitchFamily="2" charset="2"/>
              <a:buNone/>
            </a:pPr>
            <a:r>
              <a:rPr lang="en-US" altLang="zh-CN" sz="2800" dirty="0">
                <a:ea typeface="黑体" pitchFamily="2" charset="-122"/>
              </a:rPr>
              <a:t>3 </a:t>
            </a:r>
            <a:r>
              <a:rPr lang="zh-CN" altLang="en-US" sz="2800" dirty="0">
                <a:ea typeface="黑体" pitchFamily="2" charset="-122"/>
              </a:rPr>
              <a:t>格贴近度</a:t>
            </a:r>
          </a:p>
          <a:p>
            <a:pPr eaLnBrk="1" hangingPunct="1">
              <a:buFont typeface="Wingdings" pitchFamily="2" charset="2"/>
              <a:buNone/>
            </a:pPr>
            <a:r>
              <a:rPr lang="en-US" altLang="zh-CN" sz="2800" dirty="0">
                <a:ea typeface="黑体" pitchFamily="2" charset="-122"/>
              </a:rPr>
              <a:t>4 </a:t>
            </a:r>
            <a:r>
              <a:rPr lang="zh-CN" altLang="en-US" sz="2800" dirty="0">
                <a:ea typeface="黑体" pitchFamily="2" charset="-122"/>
              </a:rPr>
              <a:t>模糊模式识别原则</a:t>
            </a:r>
          </a:p>
          <a:p>
            <a:pPr eaLnBrk="1" hangingPunct="1">
              <a:buFont typeface="Wingdings" pitchFamily="2" charset="2"/>
              <a:buNone/>
            </a:pPr>
            <a:r>
              <a:rPr lang="en-US" altLang="zh-CN" sz="2800" dirty="0">
                <a:solidFill>
                  <a:srgbClr val="0000FF"/>
                </a:solidFill>
                <a:ea typeface="黑体" pitchFamily="2" charset="-122"/>
              </a:rPr>
              <a:t>5 </a:t>
            </a:r>
            <a:r>
              <a:rPr lang="zh-CN" altLang="en-US" sz="2800" dirty="0">
                <a:solidFill>
                  <a:srgbClr val="0000FF"/>
                </a:solidFill>
                <a:ea typeface="黑体" pitchFamily="2" charset="-122"/>
              </a:rPr>
              <a:t>确定隶属函数的方法综述</a:t>
            </a:r>
          </a:p>
        </p:txBody>
      </p:sp>
      <p:sp>
        <p:nvSpPr>
          <p:cNvPr id="2" name="灯片编号占位符 1">
            <a:extLst>
              <a:ext uri="{FF2B5EF4-FFF2-40B4-BE49-F238E27FC236}">
                <a16:creationId xmlns:a16="http://schemas.microsoft.com/office/drawing/2014/main" id="{6AE9BBE8-8A2E-66D2-6425-009709D99BFD}"/>
              </a:ext>
            </a:extLst>
          </p:cNvPr>
          <p:cNvSpPr>
            <a:spLocks noGrp="1"/>
          </p:cNvSpPr>
          <p:nvPr>
            <p:ph type="sldNum" sz="quarter" idx="12"/>
          </p:nvPr>
        </p:nvSpPr>
        <p:spPr/>
        <p:txBody>
          <a:bodyPr/>
          <a:lstStyle/>
          <a:p>
            <a:pPr>
              <a:defRPr/>
            </a:pPr>
            <a:fld id="{48D69D65-CBC8-4289-B93A-CE1FBA8CD216}" type="slidenum">
              <a:rPr lang="en-US" altLang="zh-CN" smtClean="0"/>
              <a:pPr>
                <a:defRPr/>
              </a:pPr>
              <a:t>1</a:t>
            </a:fld>
            <a:endParaRPr lang="en-US" altLang="zh-CN"/>
          </a:p>
        </p:txBody>
      </p:sp>
    </p:spTree>
    <p:extLst>
      <p:ext uri="{BB962C8B-B14F-4D97-AF65-F5344CB8AC3E}">
        <p14:creationId xmlns:p14="http://schemas.microsoft.com/office/powerpoint/2010/main" val="701185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04664"/>
            <a:ext cx="8229600" cy="1371600"/>
          </a:xfrm>
        </p:spPr>
        <p:txBody>
          <a:bodyPr/>
          <a:lstStyle/>
          <a:p>
            <a:pPr algn="ctr"/>
            <a:r>
              <a:rPr lang="zh-CN" altLang="en-US" dirty="0">
                <a:solidFill>
                  <a:srgbClr val="008000"/>
                </a:solidFill>
                <a:ea typeface="黑体" pitchFamily="2" charset="-122"/>
              </a:rPr>
              <a:t>确定隶属函数的方法</a:t>
            </a:r>
            <a:endParaRPr lang="zh-CN" altLang="en-US" dirty="0"/>
          </a:p>
        </p:txBody>
      </p:sp>
      <p:sp>
        <p:nvSpPr>
          <p:cNvPr id="3" name="内容占位符 2"/>
          <p:cNvSpPr>
            <a:spLocks noGrp="1"/>
          </p:cNvSpPr>
          <p:nvPr>
            <p:ph idx="1"/>
          </p:nvPr>
        </p:nvSpPr>
        <p:spPr>
          <a:xfrm>
            <a:off x="1559496" y="1340768"/>
            <a:ext cx="8733656" cy="5112568"/>
          </a:xfrm>
        </p:spPr>
        <p:txBody>
          <a:bodyPr/>
          <a:lstStyle/>
          <a:p>
            <a:r>
              <a:rPr lang="zh-CN" altLang="en-US" dirty="0">
                <a:ea typeface="黑体" pitchFamily="2" charset="-122"/>
              </a:rPr>
              <a:t>方法</a:t>
            </a:r>
            <a:r>
              <a:rPr lang="en-US" altLang="zh-CN" dirty="0">
                <a:ea typeface="黑体" pitchFamily="2" charset="-122"/>
              </a:rPr>
              <a:t>1</a:t>
            </a:r>
            <a:r>
              <a:rPr lang="zh-CN" altLang="en-US" dirty="0">
                <a:ea typeface="黑体" pitchFamily="2" charset="-122"/>
              </a:rPr>
              <a:t>：直觉法</a:t>
            </a:r>
            <a:endParaRPr lang="en-US" altLang="zh-CN" dirty="0">
              <a:ea typeface="黑体" pitchFamily="2" charset="-122"/>
            </a:endParaRPr>
          </a:p>
          <a:p>
            <a:r>
              <a:rPr lang="zh-CN" altLang="en-US" dirty="0">
                <a:ea typeface="黑体" pitchFamily="2" charset="-122"/>
              </a:rPr>
              <a:t>方法</a:t>
            </a:r>
            <a:r>
              <a:rPr lang="en-US" altLang="zh-CN" dirty="0">
                <a:ea typeface="黑体" pitchFamily="2" charset="-122"/>
              </a:rPr>
              <a:t>2</a:t>
            </a:r>
            <a:r>
              <a:rPr lang="zh-CN" altLang="en-US" dirty="0">
                <a:ea typeface="黑体" pitchFamily="2" charset="-122"/>
              </a:rPr>
              <a:t>：推理法</a:t>
            </a:r>
            <a:endParaRPr lang="en-US" altLang="zh-CN" dirty="0">
              <a:ea typeface="黑体" pitchFamily="2" charset="-122"/>
            </a:endParaRPr>
          </a:p>
          <a:p>
            <a:r>
              <a:rPr lang="zh-CN" altLang="en-US" dirty="0">
                <a:ea typeface="黑体" pitchFamily="2" charset="-122"/>
              </a:rPr>
              <a:t>方法</a:t>
            </a:r>
            <a:r>
              <a:rPr lang="en-US" altLang="zh-CN" dirty="0">
                <a:ea typeface="黑体" pitchFamily="2" charset="-122"/>
              </a:rPr>
              <a:t>3</a:t>
            </a:r>
            <a:r>
              <a:rPr lang="zh-CN" altLang="en-US" dirty="0">
                <a:ea typeface="黑体" pitchFamily="2" charset="-122"/>
              </a:rPr>
              <a:t>：</a:t>
            </a:r>
            <a:r>
              <a:rPr lang="en-US" altLang="zh-CN" dirty="0">
                <a:ea typeface="黑体" pitchFamily="49" charset="-122"/>
              </a:rPr>
              <a:t>F</a:t>
            </a:r>
            <a:r>
              <a:rPr lang="zh-CN" altLang="en-US" dirty="0">
                <a:ea typeface="黑体" pitchFamily="49" charset="-122"/>
              </a:rPr>
              <a:t>统计方法</a:t>
            </a:r>
            <a:endParaRPr lang="en-US" altLang="zh-CN" dirty="0"/>
          </a:p>
          <a:p>
            <a:r>
              <a:rPr lang="zh-CN" altLang="en-US" dirty="0">
                <a:solidFill>
                  <a:srgbClr val="3333FF"/>
                </a:solidFill>
                <a:ea typeface="黑体" pitchFamily="49" charset="-122"/>
              </a:rPr>
              <a:t>方法</a:t>
            </a:r>
            <a:r>
              <a:rPr lang="en-US" altLang="zh-CN" dirty="0">
                <a:solidFill>
                  <a:srgbClr val="3333FF"/>
                </a:solidFill>
                <a:ea typeface="黑体" pitchFamily="49" charset="-122"/>
              </a:rPr>
              <a:t>4</a:t>
            </a:r>
            <a:r>
              <a:rPr lang="zh-CN" altLang="en-US" dirty="0">
                <a:solidFill>
                  <a:srgbClr val="3333FF"/>
                </a:solidFill>
                <a:ea typeface="黑体" pitchFamily="49" charset="-122"/>
              </a:rPr>
              <a:t>：多相</a:t>
            </a:r>
            <a:r>
              <a:rPr lang="en-US" altLang="zh-CN" dirty="0">
                <a:solidFill>
                  <a:srgbClr val="3333FF"/>
                </a:solidFill>
                <a:ea typeface="黑体" pitchFamily="49" charset="-122"/>
              </a:rPr>
              <a:t>F</a:t>
            </a:r>
            <a:r>
              <a:rPr lang="zh-CN" altLang="en-US" dirty="0">
                <a:solidFill>
                  <a:srgbClr val="3333FF"/>
                </a:solidFill>
                <a:ea typeface="黑体" pitchFamily="49" charset="-122"/>
              </a:rPr>
              <a:t>统计</a:t>
            </a:r>
            <a:endParaRPr lang="en-US" altLang="zh-CN" dirty="0">
              <a:solidFill>
                <a:srgbClr val="3333FF"/>
              </a:solidFill>
              <a:ea typeface="黑体" pitchFamily="49" charset="-122"/>
            </a:endParaRPr>
          </a:p>
          <a:p>
            <a:r>
              <a:rPr lang="zh-CN" altLang="en-US" dirty="0">
                <a:solidFill>
                  <a:srgbClr val="3333FF"/>
                </a:solidFill>
                <a:ea typeface="黑体" pitchFamily="49" charset="-122"/>
              </a:rPr>
              <a:t>方法</a:t>
            </a:r>
            <a:r>
              <a:rPr lang="en-US" altLang="zh-CN" dirty="0">
                <a:solidFill>
                  <a:srgbClr val="3333FF"/>
                </a:solidFill>
                <a:ea typeface="黑体" pitchFamily="49" charset="-122"/>
              </a:rPr>
              <a:t>5</a:t>
            </a:r>
            <a:r>
              <a:rPr lang="zh-CN" altLang="en-US" dirty="0">
                <a:solidFill>
                  <a:srgbClr val="3333FF"/>
                </a:solidFill>
                <a:ea typeface="黑体" pitchFamily="49" charset="-122"/>
              </a:rPr>
              <a:t>：二元排序法</a:t>
            </a:r>
            <a:endParaRPr lang="en-US" altLang="zh-CN" dirty="0">
              <a:solidFill>
                <a:srgbClr val="3333FF"/>
              </a:solidFill>
              <a:ea typeface="黑体" pitchFamily="49" charset="-122"/>
            </a:endParaRPr>
          </a:p>
          <a:p>
            <a:r>
              <a:rPr lang="zh-CN" altLang="en-US" dirty="0">
                <a:solidFill>
                  <a:srgbClr val="3333FF"/>
                </a:solidFill>
                <a:ea typeface="黑体" pitchFamily="49" charset="-122"/>
              </a:rPr>
              <a:t>方法</a:t>
            </a:r>
            <a:r>
              <a:rPr lang="en-US" altLang="zh-CN" dirty="0">
                <a:solidFill>
                  <a:srgbClr val="3333FF"/>
                </a:solidFill>
                <a:ea typeface="黑体" pitchFamily="49" charset="-122"/>
              </a:rPr>
              <a:t>6</a:t>
            </a:r>
            <a:r>
              <a:rPr lang="zh-CN" altLang="en-US" dirty="0">
                <a:solidFill>
                  <a:srgbClr val="3333FF"/>
                </a:solidFill>
                <a:ea typeface="黑体" pitchFamily="49" charset="-122"/>
              </a:rPr>
              <a:t>：</a:t>
            </a:r>
            <a:r>
              <a:rPr lang="en-US" altLang="zh-CN" dirty="0">
                <a:solidFill>
                  <a:srgbClr val="3333FF"/>
                </a:solidFill>
                <a:ea typeface="黑体" pitchFamily="49" charset="-122"/>
              </a:rPr>
              <a:t>F</a:t>
            </a:r>
            <a:r>
              <a:rPr lang="zh-CN" altLang="en-US" dirty="0">
                <a:solidFill>
                  <a:srgbClr val="3333FF"/>
                </a:solidFill>
                <a:ea typeface="黑体" pitchFamily="49" charset="-122"/>
              </a:rPr>
              <a:t>分布法</a:t>
            </a:r>
            <a:endParaRPr lang="en-US" altLang="zh-CN" dirty="0">
              <a:solidFill>
                <a:srgbClr val="3333FF"/>
              </a:solidFill>
              <a:ea typeface="黑体" pitchFamily="49" charset="-122"/>
            </a:endParaRPr>
          </a:p>
          <a:p>
            <a:r>
              <a:rPr lang="zh-CN" altLang="en-US" dirty="0">
                <a:solidFill>
                  <a:srgbClr val="3333FF"/>
                </a:solidFill>
                <a:ea typeface="黑体" pitchFamily="49" charset="-122"/>
              </a:rPr>
              <a:t>方法</a:t>
            </a:r>
            <a:r>
              <a:rPr lang="en-US" altLang="zh-CN" dirty="0">
                <a:solidFill>
                  <a:srgbClr val="3333FF"/>
                </a:solidFill>
                <a:ea typeface="黑体" pitchFamily="49" charset="-122"/>
              </a:rPr>
              <a:t>7</a:t>
            </a:r>
            <a:r>
              <a:rPr lang="zh-CN" altLang="en-US" dirty="0">
                <a:solidFill>
                  <a:srgbClr val="3333FF"/>
                </a:solidFill>
                <a:ea typeface="黑体" pitchFamily="49" charset="-122"/>
              </a:rPr>
              <a:t>：插值法</a:t>
            </a:r>
            <a:endParaRPr lang="en-US" altLang="zh-CN" dirty="0">
              <a:solidFill>
                <a:srgbClr val="3333FF"/>
              </a:solidFill>
              <a:ea typeface="黑体" pitchFamily="49" charset="-122"/>
            </a:endParaRPr>
          </a:p>
          <a:p>
            <a:r>
              <a:rPr lang="zh-CN" altLang="en-US" dirty="0">
                <a:solidFill>
                  <a:srgbClr val="3333FF"/>
                </a:solidFill>
                <a:ea typeface="黑体" pitchFamily="49" charset="-122"/>
              </a:rPr>
              <a:t>方法</a:t>
            </a:r>
            <a:r>
              <a:rPr lang="en-US" altLang="zh-CN" dirty="0">
                <a:solidFill>
                  <a:srgbClr val="3333FF"/>
                </a:solidFill>
                <a:ea typeface="黑体" pitchFamily="49" charset="-122"/>
              </a:rPr>
              <a:t>8</a:t>
            </a:r>
            <a:r>
              <a:rPr lang="zh-CN" altLang="en-US" dirty="0">
                <a:solidFill>
                  <a:srgbClr val="3333FF"/>
                </a:solidFill>
                <a:ea typeface="黑体" pitchFamily="49" charset="-122"/>
              </a:rPr>
              <a:t>：神经网络方法</a:t>
            </a:r>
            <a:endParaRPr lang="en-US" altLang="zh-CN" dirty="0">
              <a:solidFill>
                <a:srgbClr val="3333FF"/>
              </a:solidFill>
              <a:ea typeface="黑体" pitchFamily="49" charset="-122"/>
            </a:endParaRPr>
          </a:p>
          <a:p>
            <a:r>
              <a:rPr lang="zh-CN" altLang="en-US" dirty="0">
                <a:ea typeface="黑体" pitchFamily="49" charset="-122"/>
              </a:rPr>
              <a:t>方法</a:t>
            </a:r>
            <a:r>
              <a:rPr lang="en-US" altLang="zh-CN" dirty="0">
                <a:ea typeface="黑体" pitchFamily="49" charset="-122"/>
              </a:rPr>
              <a:t>9</a:t>
            </a:r>
            <a:r>
              <a:rPr lang="zh-CN" altLang="en-US" dirty="0">
                <a:ea typeface="黑体" pitchFamily="49" charset="-122"/>
              </a:rPr>
              <a:t>：遗传算法方法</a:t>
            </a:r>
            <a:endParaRPr lang="zh-CN" altLang="en-US" dirty="0"/>
          </a:p>
          <a:p>
            <a:pPr marL="0" indent="0">
              <a:lnSpc>
                <a:spcPct val="120000"/>
              </a:lnSpc>
              <a:buNone/>
            </a:pPr>
            <a:endParaRPr lang="zh-CN" altLang="en-US" dirty="0"/>
          </a:p>
        </p:txBody>
      </p:sp>
      <p:sp>
        <p:nvSpPr>
          <p:cNvPr id="4" name="灯片编号占位符 3">
            <a:extLst>
              <a:ext uri="{FF2B5EF4-FFF2-40B4-BE49-F238E27FC236}">
                <a16:creationId xmlns:a16="http://schemas.microsoft.com/office/drawing/2014/main" id="{86F88B5C-ABF5-00A5-E0FA-AC7223A03D0C}"/>
              </a:ext>
            </a:extLst>
          </p:cNvPr>
          <p:cNvSpPr>
            <a:spLocks noGrp="1"/>
          </p:cNvSpPr>
          <p:nvPr>
            <p:ph type="sldNum" sz="quarter" idx="11"/>
          </p:nvPr>
        </p:nvSpPr>
        <p:spPr/>
        <p:txBody>
          <a:bodyPr/>
          <a:lstStyle/>
          <a:p>
            <a:pPr>
              <a:defRPr/>
            </a:pPr>
            <a:fld id="{E0FB5469-1AEB-496D-971A-66705BF2F73C}" type="slidenum">
              <a:rPr lang="en-US" altLang="zh-CN" smtClean="0"/>
              <a:pPr>
                <a:defRPr/>
              </a:pPr>
              <a:t>2</a:t>
            </a:fld>
            <a:endParaRPr lang="en-US" altLang="zh-CN"/>
          </a:p>
        </p:txBody>
      </p:sp>
    </p:spTree>
    <p:extLst>
      <p:ext uri="{BB962C8B-B14F-4D97-AF65-F5344CB8AC3E}">
        <p14:creationId xmlns:p14="http://schemas.microsoft.com/office/powerpoint/2010/main" val="2199091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1981200" y="457200"/>
            <a:ext cx="8229600" cy="884238"/>
          </a:xfrm>
        </p:spPr>
        <p:txBody>
          <a:bodyPr/>
          <a:lstStyle/>
          <a:p>
            <a:pPr eaLnBrk="1" hangingPunct="1"/>
            <a:r>
              <a:rPr lang="zh-CN" altLang="en-US">
                <a:solidFill>
                  <a:srgbClr val="008000"/>
                </a:solidFill>
                <a:ea typeface="黑体" pitchFamily="49" charset="-122"/>
              </a:rPr>
              <a:t>隶属函数确定方法</a:t>
            </a:r>
            <a:r>
              <a:rPr lang="en-US" altLang="zh-CN">
                <a:solidFill>
                  <a:srgbClr val="008000"/>
                </a:solidFill>
                <a:ea typeface="黑体" pitchFamily="49" charset="-122"/>
              </a:rPr>
              <a:t>3</a:t>
            </a:r>
            <a:r>
              <a:rPr lang="zh-CN" altLang="en-US">
                <a:solidFill>
                  <a:srgbClr val="008000"/>
                </a:solidFill>
                <a:ea typeface="黑体" pitchFamily="49" charset="-122"/>
              </a:rPr>
              <a:t>：</a:t>
            </a:r>
            <a:r>
              <a:rPr lang="en-US" altLang="zh-CN">
                <a:solidFill>
                  <a:srgbClr val="008000"/>
                </a:solidFill>
                <a:ea typeface="黑体" pitchFamily="49" charset="-122"/>
              </a:rPr>
              <a:t>F</a:t>
            </a:r>
            <a:r>
              <a:rPr lang="zh-CN" altLang="en-US">
                <a:solidFill>
                  <a:srgbClr val="008000"/>
                </a:solidFill>
                <a:ea typeface="黑体" pitchFamily="49" charset="-122"/>
              </a:rPr>
              <a:t>统计方法</a:t>
            </a:r>
          </a:p>
        </p:txBody>
      </p:sp>
      <p:sp>
        <p:nvSpPr>
          <p:cNvPr id="103427" name="Rectangle 3"/>
          <p:cNvSpPr>
            <a:spLocks noGrp="1" noChangeArrowheads="1"/>
          </p:cNvSpPr>
          <p:nvPr>
            <p:ph type="body" sz="half" idx="1"/>
          </p:nvPr>
        </p:nvSpPr>
        <p:spPr>
          <a:xfrm>
            <a:off x="911424" y="1494913"/>
            <a:ext cx="10009112" cy="3518413"/>
          </a:xfrm>
        </p:spPr>
        <p:txBody>
          <a:bodyPr/>
          <a:lstStyle/>
          <a:p>
            <a:pPr marL="609600" indent="-609600" eaLnBrk="1" hangingPunct="1">
              <a:buSzTx/>
            </a:pPr>
            <a:r>
              <a:rPr lang="en-US" altLang="zh-CN" sz="2800" dirty="0">
                <a:solidFill>
                  <a:srgbClr val="FF0000"/>
                </a:solidFill>
                <a:ea typeface="黑体" pitchFamily="49" charset="-122"/>
              </a:rPr>
              <a:t>F</a:t>
            </a:r>
            <a:r>
              <a:rPr lang="zh-CN" altLang="en-US" sz="2800" dirty="0">
                <a:solidFill>
                  <a:srgbClr val="FF0000"/>
                </a:solidFill>
                <a:ea typeface="黑体" pitchFamily="49" charset="-122"/>
              </a:rPr>
              <a:t>统计试验目的：</a:t>
            </a:r>
            <a:r>
              <a:rPr lang="zh-CN" altLang="en-US" sz="2800" dirty="0">
                <a:solidFill>
                  <a:schemeClr val="bg2"/>
                </a:solidFill>
                <a:ea typeface="黑体" pitchFamily="49" charset="-122"/>
              </a:rPr>
              <a:t>用确定性手段去研究不确定性</a:t>
            </a:r>
          </a:p>
          <a:p>
            <a:pPr marL="609600" indent="-609600" eaLnBrk="1" hangingPunct="1"/>
            <a:r>
              <a:rPr lang="en-US" altLang="zh-CN" sz="2800" dirty="0">
                <a:solidFill>
                  <a:srgbClr val="FF00FF"/>
                </a:solidFill>
                <a:ea typeface="黑体" pitchFamily="49" charset="-122"/>
              </a:rPr>
              <a:t>F</a:t>
            </a:r>
            <a:r>
              <a:rPr lang="zh-CN" altLang="en-US" sz="2800" dirty="0">
                <a:solidFill>
                  <a:srgbClr val="FF00FF"/>
                </a:solidFill>
                <a:ea typeface="黑体" pitchFamily="49" charset="-122"/>
              </a:rPr>
              <a:t>统计试验的基本要求：</a:t>
            </a:r>
          </a:p>
          <a:p>
            <a:pPr marL="990600" lvl="1" indent="-533400" eaLnBrk="1" hangingPunct="1">
              <a:buSzTx/>
            </a:pPr>
            <a:r>
              <a:rPr lang="zh-CN" altLang="en-US" sz="2400" b="1" dirty="0">
                <a:ea typeface="楷体_GB2312" pitchFamily="49" charset="-122"/>
              </a:rPr>
              <a:t>要对</a:t>
            </a:r>
            <a:r>
              <a:rPr lang="en-US" altLang="zh-CN" sz="2400" b="1" dirty="0">
                <a:ea typeface="楷体_GB2312" pitchFamily="49" charset="-122"/>
              </a:rPr>
              <a:t>U</a:t>
            </a:r>
            <a:r>
              <a:rPr lang="zh-CN" altLang="en-US" sz="2400" b="1" dirty="0">
                <a:ea typeface="楷体_GB2312" pitchFamily="49" charset="-122"/>
              </a:rPr>
              <a:t>上固定的元素</a:t>
            </a:r>
            <a:r>
              <a:rPr lang="en-US" altLang="zh-CN" sz="2400" b="1" dirty="0">
                <a:solidFill>
                  <a:srgbClr val="008000"/>
                </a:solidFill>
                <a:ea typeface="楷体_GB2312" pitchFamily="49" charset="-122"/>
              </a:rPr>
              <a:t>u</a:t>
            </a:r>
            <a:r>
              <a:rPr lang="en-US" altLang="zh-CN" sz="2400" b="1" baseline="-25000" dirty="0">
                <a:solidFill>
                  <a:srgbClr val="008000"/>
                </a:solidFill>
                <a:ea typeface="楷体_GB2312" pitchFamily="49" charset="-122"/>
              </a:rPr>
              <a:t>0</a:t>
            </a:r>
            <a:r>
              <a:rPr lang="zh-CN" altLang="en-US" sz="2400" b="1" dirty="0">
                <a:ea typeface="楷体_GB2312" pitchFamily="49" charset="-122"/>
              </a:rPr>
              <a:t>是否属于</a:t>
            </a:r>
            <a:r>
              <a:rPr lang="en-US" altLang="zh-CN" sz="2400" b="1" dirty="0">
                <a:ea typeface="楷体_GB2312" pitchFamily="49" charset="-122"/>
              </a:rPr>
              <a:t>U</a:t>
            </a:r>
            <a:r>
              <a:rPr lang="zh-CN" altLang="en-US" sz="2400" b="1" dirty="0">
                <a:ea typeface="楷体_GB2312" pitchFamily="49" charset="-122"/>
              </a:rPr>
              <a:t>上一个可变动的集合</a:t>
            </a:r>
            <a:r>
              <a:rPr lang="en-US" altLang="zh-CN" sz="2400" b="1" dirty="0">
                <a:solidFill>
                  <a:srgbClr val="FF0000"/>
                </a:solidFill>
                <a:ea typeface="楷体_GB2312" pitchFamily="49" charset="-122"/>
              </a:rPr>
              <a:t>A*</a:t>
            </a:r>
            <a:r>
              <a:rPr lang="zh-CN" altLang="en-US" sz="2400" b="1" dirty="0">
                <a:ea typeface="楷体_GB2312" pitchFamily="49" charset="-122"/>
              </a:rPr>
              <a:t>（</a:t>
            </a:r>
            <a:r>
              <a:rPr lang="en-US" altLang="zh-CN" sz="2400" b="1" dirty="0">
                <a:solidFill>
                  <a:srgbClr val="FF0000"/>
                </a:solidFill>
                <a:ea typeface="楷体_GB2312" pitchFamily="49" charset="-122"/>
              </a:rPr>
              <a:t>A*</a:t>
            </a:r>
            <a:r>
              <a:rPr lang="zh-CN" altLang="en-US" sz="2400" b="1" dirty="0">
                <a:ea typeface="楷体_GB2312" pitchFamily="49" charset="-122"/>
              </a:rPr>
              <a:t>为</a:t>
            </a:r>
            <a:r>
              <a:rPr lang="en-US" altLang="zh-CN" sz="2400" b="1" dirty="0">
                <a:ea typeface="楷体_GB2312" pitchFamily="49" charset="-122"/>
              </a:rPr>
              <a:t>F</a:t>
            </a:r>
            <a:r>
              <a:rPr lang="zh-CN" altLang="en-US" sz="2400" b="1" dirty="0">
                <a:ea typeface="楷体_GB2312" pitchFamily="49" charset="-122"/>
              </a:rPr>
              <a:t>集</a:t>
            </a:r>
            <a:r>
              <a:rPr lang="en-US" altLang="zh-CN" sz="2400" b="1" dirty="0">
                <a:ea typeface="楷体_GB2312" pitchFamily="49" charset="-122"/>
              </a:rPr>
              <a:t>A</a:t>
            </a:r>
            <a:r>
              <a:rPr lang="zh-CN" altLang="en-US" sz="2400" b="1" dirty="0">
                <a:ea typeface="楷体_GB2312" pitchFamily="49" charset="-122"/>
              </a:rPr>
              <a:t>的可塑边界）作确切判断；</a:t>
            </a:r>
          </a:p>
          <a:p>
            <a:pPr marL="990600" lvl="1" indent="-533400" eaLnBrk="1" hangingPunct="1">
              <a:buSzTx/>
            </a:pPr>
            <a:r>
              <a:rPr lang="zh-CN" altLang="en-US" sz="2400" b="1" dirty="0">
                <a:ea typeface="楷体_GB2312" pitchFamily="49" charset="-122"/>
              </a:rPr>
              <a:t>在各次试验中，</a:t>
            </a:r>
            <a:r>
              <a:rPr lang="en-US" altLang="zh-CN" sz="2400" b="1" dirty="0">
                <a:solidFill>
                  <a:srgbClr val="008000"/>
                </a:solidFill>
                <a:ea typeface="楷体_GB2312" pitchFamily="49" charset="-122"/>
              </a:rPr>
              <a:t>u</a:t>
            </a:r>
            <a:r>
              <a:rPr lang="en-US" altLang="zh-CN" sz="2400" b="1" baseline="-25000" dirty="0">
                <a:solidFill>
                  <a:srgbClr val="008000"/>
                </a:solidFill>
                <a:ea typeface="楷体_GB2312" pitchFamily="49" charset="-122"/>
              </a:rPr>
              <a:t>0</a:t>
            </a:r>
            <a:r>
              <a:rPr lang="zh-CN" altLang="en-US" sz="2400" b="1" dirty="0">
                <a:ea typeface="楷体_GB2312" pitchFamily="49" charset="-122"/>
              </a:rPr>
              <a:t>是固定的，而</a:t>
            </a:r>
            <a:r>
              <a:rPr lang="en-US" altLang="zh-CN" sz="2400" b="1" dirty="0">
                <a:solidFill>
                  <a:srgbClr val="FF0000"/>
                </a:solidFill>
                <a:ea typeface="楷体_GB2312" pitchFamily="49" charset="-122"/>
              </a:rPr>
              <a:t>A*</a:t>
            </a:r>
            <a:r>
              <a:rPr lang="zh-CN" altLang="en-US" sz="2400" b="1" dirty="0">
                <a:ea typeface="楷体_GB2312" pitchFamily="49" charset="-122"/>
              </a:rPr>
              <a:t>在随机变动，做</a:t>
            </a:r>
            <a:r>
              <a:rPr lang="en-US" altLang="zh-CN" sz="2400" b="1" dirty="0">
                <a:ea typeface="楷体_GB2312" pitchFamily="49" charset="-122"/>
              </a:rPr>
              <a:t>n</a:t>
            </a:r>
            <a:r>
              <a:rPr lang="zh-CN" altLang="en-US" sz="2400" b="1" dirty="0">
                <a:ea typeface="楷体_GB2312" pitchFamily="49" charset="-122"/>
              </a:rPr>
              <a:t>次试验，计算</a:t>
            </a:r>
            <a:endParaRPr lang="zh-CN" altLang="en-US" sz="2400" b="1" dirty="0">
              <a:solidFill>
                <a:srgbClr val="FF0000"/>
              </a:solidFill>
              <a:ea typeface="楷体_GB2312" pitchFamily="49" charset="-122"/>
            </a:endParaRPr>
          </a:p>
        </p:txBody>
      </p:sp>
      <p:graphicFrame>
        <p:nvGraphicFramePr>
          <p:cNvPr id="103428" name="Object 4"/>
          <p:cNvGraphicFramePr>
            <a:graphicFrameLocks noGrp="1" noChangeAspect="1"/>
          </p:cNvGraphicFramePr>
          <p:nvPr>
            <p:ph sz="half" idx="2"/>
            <p:extLst>
              <p:ext uri="{D42A27DB-BD31-4B8C-83A1-F6EECF244321}">
                <p14:modId xmlns:p14="http://schemas.microsoft.com/office/powerpoint/2010/main" val="1990861198"/>
              </p:ext>
            </p:extLst>
          </p:nvPr>
        </p:nvGraphicFramePr>
        <p:xfrm>
          <a:off x="2639616" y="3824201"/>
          <a:ext cx="5635194" cy="1044959"/>
        </p:xfrm>
        <a:graphic>
          <a:graphicData uri="http://schemas.openxmlformats.org/presentationml/2006/ole">
            <mc:AlternateContent xmlns:mc="http://schemas.openxmlformats.org/markup-compatibility/2006">
              <mc:Choice xmlns:v="urn:schemas-microsoft-com:vml" Requires="v">
                <p:oleObj name="Equation" r:id="rId2" imgW="2400300" imgH="406400" progId="Equation.DSMT4">
                  <p:embed/>
                </p:oleObj>
              </mc:Choice>
              <mc:Fallback>
                <p:oleObj name="Equation" r:id="rId2" imgW="2400300" imgH="406400" progId="Equation.DSMT4">
                  <p:embed/>
                  <p:pic>
                    <p:nvPicPr>
                      <p:cNvPr id="103428"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616" y="3824201"/>
                        <a:ext cx="5635194" cy="1044959"/>
                      </a:xfrm>
                      <a:prstGeom prst="rect">
                        <a:avLst/>
                      </a:prstGeom>
                      <a:solidFill>
                        <a:srgbClr val="FFFF00"/>
                      </a:solidFill>
                    </p:spPr>
                  </p:pic>
                </p:oleObj>
              </mc:Fallback>
            </mc:AlternateContent>
          </a:graphicData>
        </a:graphic>
      </p:graphicFrame>
      <p:grpSp>
        <p:nvGrpSpPr>
          <p:cNvPr id="103438" name="Group 14"/>
          <p:cNvGrpSpPr>
            <a:grpSpLocks/>
          </p:cNvGrpSpPr>
          <p:nvPr/>
        </p:nvGrpSpPr>
        <p:grpSpPr bwMode="auto">
          <a:xfrm>
            <a:off x="8544272" y="4792306"/>
            <a:ext cx="3130550" cy="1733038"/>
            <a:chOff x="3696" y="3067"/>
            <a:chExt cx="2064" cy="1276"/>
          </a:xfrm>
        </p:grpSpPr>
        <p:sp>
          <p:nvSpPr>
            <p:cNvPr id="6153" name="Rectangle 5"/>
            <p:cNvSpPr>
              <a:spLocks noChangeArrowheads="1"/>
            </p:cNvSpPr>
            <p:nvPr/>
          </p:nvSpPr>
          <p:spPr bwMode="auto">
            <a:xfrm>
              <a:off x="3696" y="3067"/>
              <a:ext cx="2064" cy="125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 name="Oval 6"/>
            <p:cNvSpPr>
              <a:spLocks noChangeArrowheads="1"/>
            </p:cNvSpPr>
            <p:nvPr/>
          </p:nvSpPr>
          <p:spPr bwMode="auto">
            <a:xfrm>
              <a:off x="4399" y="3322"/>
              <a:ext cx="862" cy="861"/>
            </a:xfrm>
            <a:prstGeom prst="ellipse">
              <a:avLst/>
            </a:prstGeom>
            <a:noFill/>
            <a:ln w="38100">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 name="Text Box 7"/>
            <p:cNvSpPr txBox="1">
              <a:spLocks noChangeArrowheads="1"/>
            </p:cNvSpPr>
            <p:nvPr/>
          </p:nvSpPr>
          <p:spPr bwMode="auto">
            <a:xfrm>
              <a:off x="3946" y="4048"/>
              <a:ext cx="227"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000" b="1"/>
                <a:t>U</a:t>
              </a:r>
            </a:p>
          </p:txBody>
        </p:sp>
        <p:sp>
          <p:nvSpPr>
            <p:cNvPr id="6157" name="Text Box 9"/>
            <p:cNvSpPr txBox="1">
              <a:spLocks noChangeArrowheads="1"/>
            </p:cNvSpPr>
            <p:nvPr/>
          </p:nvSpPr>
          <p:spPr bwMode="auto">
            <a:xfrm>
              <a:off x="4626" y="3413"/>
              <a:ext cx="318"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000" b="1">
                  <a:solidFill>
                    <a:srgbClr val="008000"/>
                  </a:solidFill>
                </a:rPr>
                <a:t>u</a:t>
              </a:r>
              <a:r>
                <a:rPr lang="en-US" altLang="zh-CN" sz="2000" b="1" baseline="-25000">
                  <a:solidFill>
                    <a:srgbClr val="008000"/>
                  </a:solidFill>
                </a:rPr>
                <a:t>0</a:t>
              </a:r>
            </a:p>
          </p:txBody>
        </p:sp>
        <p:sp>
          <p:nvSpPr>
            <p:cNvPr id="6158" name="Text Box 10"/>
            <p:cNvSpPr txBox="1">
              <a:spLocks noChangeArrowheads="1"/>
            </p:cNvSpPr>
            <p:nvPr/>
          </p:nvSpPr>
          <p:spPr bwMode="auto">
            <a:xfrm>
              <a:off x="4717" y="3821"/>
              <a:ext cx="431"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400" b="1" dirty="0">
                  <a:solidFill>
                    <a:srgbClr val="FF0000"/>
                  </a:solidFill>
                </a:rPr>
                <a:t>A</a:t>
              </a:r>
              <a:r>
                <a:rPr lang="en-US" altLang="zh-CN" sz="2400" b="1" baseline="30000" dirty="0">
                  <a:solidFill>
                    <a:srgbClr val="FF0000"/>
                  </a:solidFill>
                </a:rPr>
                <a:t>*</a:t>
              </a:r>
            </a:p>
          </p:txBody>
        </p:sp>
      </p:grpSp>
      <p:sp>
        <p:nvSpPr>
          <p:cNvPr id="103435" name="Rectangle 11"/>
          <p:cNvSpPr>
            <a:spLocks noChangeArrowheads="1"/>
          </p:cNvSpPr>
          <p:nvPr/>
        </p:nvSpPr>
        <p:spPr bwMode="auto">
          <a:xfrm>
            <a:off x="1419742" y="4841844"/>
            <a:ext cx="656776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ea typeface="楷体_GB2312" pitchFamily="49" charset="-122"/>
              </a:rPr>
              <a:t>随着</a:t>
            </a:r>
            <a:r>
              <a:rPr lang="en-US" altLang="zh-CN" sz="2800" b="1" dirty="0">
                <a:ea typeface="楷体_GB2312" pitchFamily="49" charset="-122"/>
              </a:rPr>
              <a:t>n</a:t>
            </a:r>
            <a:r>
              <a:rPr lang="zh-CN" altLang="en-US" sz="2800" b="1" dirty="0">
                <a:ea typeface="楷体_GB2312" pitchFamily="49" charset="-122"/>
              </a:rPr>
              <a:t>的增大，隶属频率也会呈现稳定性，</a:t>
            </a:r>
            <a:r>
              <a:rPr lang="zh-CN" altLang="en-US" sz="2800" b="1" dirty="0">
                <a:solidFill>
                  <a:srgbClr val="FF0000"/>
                </a:solidFill>
                <a:ea typeface="楷体_GB2312" pitchFamily="49" charset="-122"/>
              </a:rPr>
              <a:t>频率稳定值叫做</a:t>
            </a:r>
            <a:r>
              <a:rPr lang="en-US" altLang="zh-CN" sz="2800" b="1" dirty="0">
                <a:solidFill>
                  <a:srgbClr val="FF0000"/>
                </a:solidFill>
                <a:ea typeface="楷体_GB2312" pitchFamily="49" charset="-122"/>
              </a:rPr>
              <a:t>u</a:t>
            </a:r>
            <a:r>
              <a:rPr lang="en-US" altLang="zh-CN" sz="2800" b="1" baseline="-25000" dirty="0">
                <a:solidFill>
                  <a:srgbClr val="FF0000"/>
                </a:solidFill>
                <a:ea typeface="楷体_GB2312" pitchFamily="49" charset="-122"/>
              </a:rPr>
              <a:t>0</a:t>
            </a:r>
            <a:r>
              <a:rPr lang="zh-CN" altLang="en-US" sz="2800" b="1" dirty="0">
                <a:solidFill>
                  <a:srgbClr val="FF0000"/>
                </a:solidFill>
                <a:ea typeface="楷体_GB2312" pitchFamily="49" charset="-122"/>
              </a:rPr>
              <a:t>对</a:t>
            </a:r>
            <a:r>
              <a:rPr lang="en-US" altLang="zh-CN" sz="2800" b="1" dirty="0">
                <a:solidFill>
                  <a:srgbClr val="FF0000"/>
                </a:solidFill>
                <a:ea typeface="楷体_GB2312" pitchFamily="49" charset="-122"/>
              </a:rPr>
              <a:t>F</a:t>
            </a:r>
            <a:r>
              <a:rPr lang="zh-CN" altLang="en-US" sz="2800" b="1" dirty="0">
                <a:solidFill>
                  <a:srgbClr val="FF0000"/>
                </a:solidFill>
                <a:ea typeface="楷体_GB2312" pitchFamily="49" charset="-122"/>
              </a:rPr>
              <a:t>集</a:t>
            </a:r>
            <a:r>
              <a:rPr lang="en-US" altLang="zh-CN" sz="2800" b="1" dirty="0">
                <a:solidFill>
                  <a:srgbClr val="FF0000"/>
                </a:solidFill>
                <a:ea typeface="楷体_GB2312" pitchFamily="49" charset="-122"/>
              </a:rPr>
              <a:t>A</a:t>
            </a:r>
            <a:r>
              <a:rPr lang="zh-CN" altLang="en-US" sz="2800" b="1" dirty="0">
                <a:solidFill>
                  <a:srgbClr val="FF0000"/>
                </a:solidFill>
                <a:ea typeface="楷体_GB2312" pitchFamily="49" charset="-122"/>
              </a:rPr>
              <a:t>的隶属度。</a:t>
            </a:r>
          </a:p>
        </p:txBody>
      </p:sp>
      <p:graphicFrame>
        <p:nvGraphicFramePr>
          <p:cNvPr id="2" name="对象 1"/>
          <p:cNvGraphicFramePr>
            <a:graphicFrameLocks noChangeAspect="1"/>
          </p:cNvGraphicFramePr>
          <p:nvPr>
            <p:extLst>
              <p:ext uri="{D42A27DB-BD31-4B8C-83A1-F6EECF244321}">
                <p14:modId xmlns:p14="http://schemas.microsoft.com/office/powerpoint/2010/main" val="2085512717"/>
              </p:ext>
            </p:extLst>
          </p:nvPr>
        </p:nvGraphicFramePr>
        <p:xfrm>
          <a:off x="2661357" y="5795951"/>
          <a:ext cx="4324983" cy="1017643"/>
        </p:xfrm>
        <a:graphic>
          <a:graphicData uri="http://schemas.openxmlformats.org/presentationml/2006/ole">
            <mc:AlternateContent xmlns:mc="http://schemas.openxmlformats.org/markup-compatibility/2006">
              <mc:Choice xmlns:v="urn:schemas-microsoft-com:vml" Requires="v">
                <p:oleObj name="公式" r:id="rId4" imgW="1726451" imgH="406224" progId="Equation.3">
                  <p:embed/>
                </p:oleObj>
              </mc:Choice>
              <mc:Fallback>
                <p:oleObj name="公式" r:id="rId4" imgW="1726451" imgH="406224" progId="Equation.3">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1357" y="5795951"/>
                        <a:ext cx="4324983" cy="1017643"/>
                      </a:xfrm>
                      <a:prstGeom prst="rect">
                        <a:avLst/>
                      </a:prstGeom>
                      <a:solidFill>
                        <a:schemeClr val="accent1"/>
                      </a:solidFill>
                    </p:spPr>
                  </p:pic>
                </p:oleObj>
              </mc:Fallback>
            </mc:AlternateContent>
          </a:graphicData>
        </a:graphic>
      </p:graphicFrame>
      <p:sp>
        <p:nvSpPr>
          <p:cNvPr id="3" name="灯片编号占位符 2">
            <a:extLst>
              <a:ext uri="{FF2B5EF4-FFF2-40B4-BE49-F238E27FC236}">
                <a16:creationId xmlns:a16="http://schemas.microsoft.com/office/drawing/2014/main" id="{05D6A209-256F-5CFE-9FA4-B1450E42C236}"/>
              </a:ext>
            </a:extLst>
          </p:cNvPr>
          <p:cNvSpPr>
            <a:spLocks noGrp="1"/>
          </p:cNvSpPr>
          <p:nvPr>
            <p:ph type="sldNum" sz="quarter" idx="11"/>
          </p:nvPr>
        </p:nvSpPr>
        <p:spPr>
          <a:xfrm>
            <a:off x="185319" y="6368253"/>
            <a:ext cx="726105" cy="369609"/>
          </a:xfrm>
        </p:spPr>
        <p:txBody>
          <a:bodyPr/>
          <a:lstStyle/>
          <a:p>
            <a:pPr>
              <a:defRPr/>
            </a:pPr>
            <a:fld id="{BA3F9D6D-36EA-4C0E-B0C7-CC24F67A8C74}" type="slidenum">
              <a:rPr lang="en-US" altLang="zh-CN" smtClean="0"/>
              <a:pPr>
                <a:defRPr/>
              </a:pPr>
              <a:t>3</a:t>
            </a:fld>
            <a:endParaRPr lang="en-US" altLang="zh-CN" dirty="0"/>
          </a:p>
        </p:txBody>
      </p:sp>
    </p:spTree>
    <p:extLst>
      <p:ext uri="{BB962C8B-B14F-4D97-AF65-F5344CB8AC3E}">
        <p14:creationId xmlns:p14="http://schemas.microsoft.com/office/powerpoint/2010/main" val="1120713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wipe(left)">
                                      <p:cBhvr>
                                        <p:cTn id="7" dur="500"/>
                                        <p:tgtEl>
                                          <p:spTgt spid="103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27">
                                            <p:txEl>
                                              <p:pRg st="1" end="1"/>
                                            </p:txEl>
                                          </p:spTgt>
                                        </p:tgtEl>
                                        <p:attrNameLst>
                                          <p:attrName>style.visibility</p:attrName>
                                        </p:attrNameLst>
                                      </p:cBhvr>
                                      <p:to>
                                        <p:strVal val="visible"/>
                                      </p:to>
                                    </p:set>
                                    <p:animEffect transition="in" filter="wipe(left)">
                                      <p:cBhvr>
                                        <p:cTn id="12" dur="500"/>
                                        <p:tgtEl>
                                          <p:spTgt spid="103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03438"/>
                                        </p:tgtEl>
                                        <p:attrNameLst>
                                          <p:attrName>style.visibility</p:attrName>
                                        </p:attrNameLst>
                                      </p:cBhvr>
                                      <p:to>
                                        <p:strVal val="visible"/>
                                      </p:to>
                                    </p:set>
                                    <p:anim calcmode="lin" valueType="num">
                                      <p:cBhvr additive="base">
                                        <p:cTn id="17" dur="500" fill="hold"/>
                                        <p:tgtEl>
                                          <p:spTgt spid="103438"/>
                                        </p:tgtEl>
                                        <p:attrNameLst>
                                          <p:attrName>ppt_x</p:attrName>
                                        </p:attrNameLst>
                                      </p:cBhvr>
                                      <p:tavLst>
                                        <p:tav tm="0">
                                          <p:val>
                                            <p:strVal val="#ppt_x"/>
                                          </p:val>
                                        </p:tav>
                                        <p:tav tm="100000">
                                          <p:val>
                                            <p:strVal val="#ppt_x"/>
                                          </p:val>
                                        </p:tav>
                                      </p:tavLst>
                                    </p:anim>
                                    <p:anim calcmode="lin" valueType="num">
                                      <p:cBhvr additive="base">
                                        <p:cTn id="18" dur="500" fill="hold"/>
                                        <p:tgtEl>
                                          <p:spTgt spid="10343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3427">
                                            <p:txEl>
                                              <p:pRg st="2" end="2"/>
                                            </p:txEl>
                                          </p:spTgt>
                                        </p:tgtEl>
                                        <p:attrNameLst>
                                          <p:attrName>style.visibility</p:attrName>
                                        </p:attrNameLst>
                                      </p:cBhvr>
                                      <p:to>
                                        <p:strVal val="visible"/>
                                      </p:to>
                                    </p:set>
                                    <p:animEffect transition="in" filter="wipe(left)">
                                      <p:cBhvr>
                                        <p:cTn id="23" dur="500"/>
                                        <p:tgtEl>
                                          <p:spTgt spid="10342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3427">
                                            <p:txEl>
                                              <p:pRg st="3" end="3"/>
                                            </p:txEl>
                                          </p:spTgt>
                                        </p:tgtEl>
                                        <p:attrNameLst>
                                          <p:attrName>style.visibility</p:attrName>
                                        </p:attrNameLst>
                                      </p:cBhvr>
                                      <p:to>
                                        <p:strVal val="visible"/>
                                      </p:to>
                                    </p:set>
                                    <p:animEffect transition="in" filter="wipe(left)">
                                      <p:cBhvr>
                                        <p:cTn id="28" dur="500"/>
                                        <p:tgtEl>
                                          <p:spTgt spid="103427">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03428"/>
                                        </p:tgtEl>
                                        <p:attrNameLst>
                                          <p:attrName>style.visibility</p:attrName>
                                        </p:attrNameLst>
                                      </p:cBhvr>
                                      <p:to>
                                        <p:strVal val="visible"/>
                                      </p:to>
                                    </p:set>
                                    <p:animEffect transition="in" filter="wipe(left)">
                                      <p:cBhvr>
                                        <p:cTn id="33" dur="500"/>
                                        <p:tgtEl>
                                          <p:spTgt spid="10342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3435"/>
                                        </p:tgtEl>
                                        <p:attrNameLst>
                                          <p:attrName>style.visibility</p:attrName>
                                        </p:attrNameLst>
                                      </p:cBhvr>
                                      <p:to>
                                        <p:strVal val="visible"/>
                                      </p:to>
                                    </p:set>
                                    <p:animEffect transition="in" filter="wipe(left)">
                                      <p:cBhvr>
                                        <p:cTn id="38" dur="500"/>
                                        <p:tgtEl>
                                          <p:spTgt spid="10343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uiExpand="1" build="p"/>
      <p:bldP spid="1034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991544" y="404664"/>
            <a:ext cx="8229600" cy="1171600"/>
          </a:xfrm>
        </p:spPr>
        <p:txBody>
          <a:bodyPr/>
          <a:lstStyle/>
          <a:p>
            <a:pPr algn="ctr"/>
            <a:r>
              <a:rPr lang="zh-CN" altLang="en-US" dirty="0">
                <a:solidFill>
                  <a:srgbClr val="008000"/>
                </a:solidFill>
                <a:ea typeface="黑体" pitchFamily="49" charset="-122"/>
              </a:rPr>
              <a:t>隶属函数确定方法</a:t>
            </a:r>
            <a:r>
              <a:rPr lang="en-US" altLang="zh-CN" dirty="0">
                <a:solidFill>
                  <a:srgbClr val="008000"/>
                </a:solidFill>
                <a:ea typeface="黑体" pitchFamily="49" charset="-122"/>
              </a:rPr>
              <a:t>4</a:t>
            </a:r>
            <a:r>
              <a:rPr lang="zh-CN" altLang="en-US" dirty="0">
                <a:solidFill>
                  <a:srgbClr val="008000"/>
                </a:solidFill>
                <a:ea typeface="黑体" pitchFamily="49" charset="-122"/>
              </a:rPr>
              <a:t>：多相</a:t>
            </a:r>
            <a:r>
              <a:rPr lang="en-US" altLang="zh-CN" dirty="0">
                <a:solidFill>
                  <a:srgbClr val="008000"/>
                </a:solidFill>
                <a:ea typeface="黑体" pitchFamily="49" charset="-122"/>
              </a:rPr>
              <a:t>F</a:t>
            </a:r>
            <a:r>
              <a:rPr lang="zh-CN" altLang="en-US" dirty="0">
                <a:solidFill>
                  <a:srgbClr val="008000"/>
                </a:solidFill>
                <a:ea typeface="黑体" pitchFamily="49" charset="-122"/>
              </a:rPr>
              <a:t>统计</a:t>
            </a:r>
            <a:endParaRPr lang="zh-CN" altLang="en-US" dirty="0"/>
          </a:p>
        </p:txBody>
      </p:sp>
      <p:sp>
        <p:nvSpPr>
          <p:cNvPr id="6" name="内容占位符 5"/>
          <p:cNvSpPr>
            <a:spLocks noGrp="1"/>
          </p:cNvSpPr>
          <p:nvPr>
            <p:ph idx="1"/>
          </p:nvPr>
        </p:nvSpPr>
        <p:spPr>
          <a:xfrm>
            <a:off x="911424" y="1576264"/>
            <a:ext cx="10297144" cy="5112568"/>
          </a:xfrm>
        </p:spPr>
        <p:txBody>
          <a:bodyPr/>
          <a:lstStyle/>
          <a:p>
            <a:r>
              <a:rPr lang="zh-CN" altLang="en-US" sz="2800" dirty="0">
                <a:latin typeface="黑体" pitchFamily="49" charset="-122"/>
                <a:ea typeface="黑体" pitchFamily="49" charset="-122"/>
              </a:rPr>
              <a:t>给定</a:t>
            </a:r>
            <a:r>
              <a:rPr lang="en-US" altLang="zh-CN" sz="2800" dirty="0"/>
              <a:t> </a:t>
            </a:r>
            <a:r>
              <a:rPr lang="en-US" altLang="zh-CN" sz="2800" i="1" dirty="0"/>
              <a:t> P</a:t>
            </a:r>
            <a:r>
              <a:rPr lang="en-US" altLang="zh-CN" sz="2800" i="1" baseline="-25000" dirty="0"/>
              <a:t>m</a:t>
            </a:r>
            <a:r>
              <a:rPr lang="en-US" altLang="zh-CN" sz="2800" dirty="0"/>
              <a:t>={</a:t>
            </a:r>
            <a:r>
              <a:rPr lang="en-US" altLang="zh-CN" sz="2800" i="1" dirty="0"/>
              <a:t>A</a:t>
            </a:r>
            <a:r>
              <a:rPr lang="en-US" altLang="zh-CN" sz="2800" baseline="-25000" dirty="0"/>
              <a:t>1</a:t>
            </a:r>
            <a:r>
              <a:rPr lang="en-US" altLang="zh-CN" sz="2800" dirty="0"/>
              <a:t>, </a:t>
            </a:r>
            <a:r>
              <a:rPr lang="en-US" altLang="zh-CN" sz="2800" i="1" dirty="0"/>
              <a:t>A</a:t>
            </a:r>
            <a:r>
              <a:rPr lang="en-US" altLang="zh-CN" sz="2800" baseline="-25000" dirty="0"/>
              <a:t>2</a:t>
            </a:r>
            <a:r>
              <a:rPr lang="en-US" altLang="zh-CN" sz="2800" dirty="0"/>
              <a:t>, …, </a:t>
            </a:r>
            <a:r>
              <a:rPr lang="en-US" altLang="zh-CN" sz="2800" i="1" dirty="0"/>
              <a:t>A</a:t>
            </a:r>
            <a:r>
              <a:rPr lang="en-US" altLang="zh-CN" sz="2800" i="1" baseline="-25000" dirty="0"/>
              <a:t>m</a:t>
            </a:r>
            <a:r>
              <a:rPr lang="en-US" altLang="zh-CN" sz="2800" dirty="0"/>
              <a:t>}, </a:t>
            </a:r>
            <a:r>
              <a:rPr lang="en-US" altLang="zh-CN" sz="2800" i="1" dirty="0" err="1"/>
              <a:t>A</a:t>
            </a:r>
            <a:r>
              <a:rPr lang="en-US" altLang="zh-CN" sz="2800" i="1" baseline="-25000" dirty="0" err="1"/>
              <a:t>i</a:t>
            </a:r>
            <a:r>
              <a:rPr lang="en-US" altLang="zh-CN" sz="2800" dirty="0" err="1">
                <a:ea typeface="黑体" pitchFamily="49" charset="-122"/>
                <a:sym typeface="Symbol" pitchFamily="18" charset="2"/>
              </a:rPr>
              <a:t></a:t>
            </a:r>
            <a:r>
              <a:rPr lang="en-US" altLang="zh-CN" sz="2800" dirty="0" err="1">
                <a:latin typeface="Monotype Corsiva" pitchFamily="66" charset="0"/>
                <a:ea typeface="黑体" pitchFamily="49" charset="-122"/>
                <a:sym typeface="Symbol" pitchFamily="18" charset="2"/>
              </a:rPr>
              <a:t>F</a:t>
            </a:r>
            <a:r>
              <a:rPr lang="en-US" altLang="zh-CN" sz="2800" dirty="0">
                <a:ea typeface="黑体" pitchFamily="49" charset="-122"/>
                <a:sym typeface="Symbol" pitchFamily="18" charset="2"/>
              </a:rPr>
              <a:t>(U), </a:t>
            </a:r>
            <a:r>
              <a:rPr lang="en-US" altLang="zh-CN" sz="2800" i="1" dirty="0" err="1">
                <a:ea typeface="黑体" pitchFamily="49" charset="-122"/>
                <a:sym typeface="Symbol" pitchFamily="18" charset="2"/>
              </a:rPr>
              <a:t>i</a:t>
            </a:r>
            <a:r>
              <a:rPr lang="en-US" altLang="zh-CN" sz="2800" dirty="0">
                <a:ea typeface="黑体" pitchFamily="49" charset="-122"/>
                <a:sym typeface="Symbol" pitchFamily="18" charset="2"/>
              </a:rPr>
              <a:t>=1,2,…,</a:t>
            </a:r>
            <a:r>
              <a:rPr lang="en-US" altLang="zh-CN" sz="2800" i="1" dirty="0">
                <a:ea typeface="黑体" pitchFamily="49" charset="-122"/>
                <a:sym typeface="Symbol" pitchFamily="18" charset="2"/>
              </a:rPr>
              <a:t>m</a:t>
            </a:r>
          </a:p>
          <a:p>
            <a:pPr marL="0" indent="0">
              <a:buNone/>
            </a:pPr>
            <a:r>
              <a:rPr lang="zh-CN" altLang="en-US" sz="2800" dirty="0">
                <a:ea typeface="黑体" pitchFamily="49" charset="-122"/>
                <a:sym typeface="Symbol" pitchFamily="18" charset="2"/>
              </a:rPr>
              <a:t>   若每次试验的结果都能确定一个映射</a:t>
            </a:r>
            <a:endParaRPr lang="en-US" altLang="zh-CN" sz="2800" dirty="0">
              <a:ea typeface="黑体" pitchFamily="49" charset="-122"/>
              <a:sym typeface="Symbol" pitchFamily="18" charset="2"/>
            </a:endParaRPr>
          </a:p>
          <a:p>
            <a:pPr marL="0" indent="0">
              <a:buNone/>
            </a:pPr>
            <a:r>
              <a:rPr lang="en-US" altLang="zh-CN" sz="2800" b="1" dirty="0">
                <a:solidFill>
                  <a:srgbClr val="3333FF"/>
                </a:solidFill>
              </a:rPr>
              <a:t>                </a:t>
            </a:r>
            <a:r>
              <a:rPr lang="en-US" altLang="zh-CN" sz="2800" b="1" i="1" dirty="0">
                <a:solidFill>
                  <a:srgbClr val="3333FF"/>
                </a:solidFill>
              </a:rPr>
              <a:t>e</a:t>
            </a:r>
            <a:r>
              <a:rPr lang="en-US" altLang="zh-CN" sz="2800" b="1" dirty="0">
                <a:solidFill>
                  <a:srgbClr val="3333FF"/>
                </a:solidFill>
              </a:rPr>
              <a:t>: </a:t>
            </a:r>
            <a:r>
              <a:rPr lang="en-US" altLang="zh-CN" sz="2800" b="1" i="1" dirty="0">
                <a:solidFill>
                  <a:srgbClr val="3333FF"/>
                </a:solidFill>
              </a:rPr>
              <a:t>U</a:t>
            </a:r>
            <a:r>
              <a:rPr lang="en-US" altLang="zh-CN" sz="2800" b="1" dirty="0">
                <a:solidFill>
                  <a:srgbClr val="3333FF"/>
                </a:solidFill>
              </a:rPr>
              <a:t> → </a:t>
            </a:r>
            <a:r>
              <a:rPr lang="en-US" altLang="zh-CN" sz="2800" b="1" i="1" dirty="0">
                <a:solidFill>
                  <a:srgbClr val="3333FF"/>
                </a:solidFill>
              </a:rPr>
              <a:t>P</a:t>
            </a:r>
            <a:r>
              <a:rPr lang="en-US" altLang="zh-CN" sz="2800" b="1" i="1" baseline="-25000" dirty="0">
                <a:solidFill>
                  <a:srgbClr val="3333FF"/>
                </a:solidFill>
              </a:rPr>
              <a:t>m</a:t>
            </a:r>
            <a:endParaRPr lang="en-US" altLang="zh-CN" sz="2800" b="1" i="1" dirty="0">
              <a:solidFill>
                <a:srgbClr val="3333FF"/>
              </a:solidFill>
              <a:ea typeface="黑体" pitchFamily="49" charset="-122"/>
            </a:endParaRPr>
          </a:p>
          <a:p>
            <a:pPr marL="0" indent="0">
              <a:buNone/>
            </a:pPr>
            <a:r>
              <a:rPr lang="zh-CN" altLang="en-US" sz="2800" dirty="0">
                <a:ea typeface="黑体" pitchFamily="49" charset="-122"/>
                <a:sym typeface="Symbol" pitchFamily="18" charset="2"/>
              </a:rPr>
              <a:t>    称此试验为</a:t>
            </a:r>
            <a:r>
              <a:rPr lang="zh-CN" altLang="en-US" sz="2800" dirty="0">
                <a:solidFill>
                  <a:srgbClr val="FF0000"/>
                </a:solidFill>
                <a:ea typeface="黑体" pitchFamily="49" charset="-122"/>
                <a:sym typeface="Symbol" pitchFamily="18" charset="2"/>
              </a:rPr>
              <a:t>对</a:t>
            </a:r>
            <a:r>
              <a:rPr lang="en-US" altLang="zh-CN" sz="2800" i="1" dirty="0">
                <a:solidFill>
                  <a:srgbClr val="FF0000"/>
                </a:solidFill>
              </a:rPr>
              <a:t>P</a:t>
            </a:r>
            <a:r>
              <a:rPr lang="en-US" altLang="zh-CN" sz="2800" i="1" baseline="-25000" dirty="0">
                <a:solidFill>
                  <a:srgbClr val="FF0000"/>
                </a:solidFill>
              </a:rPr>
              <a:t>m</a:t>
            </a:r>
            <a:r>
              <a:rPr lang="zh-CN" altLang="en-US" sz="2800" dirty="0">
                <a:solidFill>
                  <a:srgbClr val="FF0000"/>
                </a:solidFill>
                <a:ea typeface="黑体" pitchFamily="49" charset="-122"/>
                <a:sym typeface="Symbol" pitchFamily="18" charset="2"/>
              </a:rPr>
              <a:t>的</a:t>
            </a:r>
            <a:r>
              <a:rPr lang="en-US" altLang="zh-CN" sz="2800" i="1" dirty="0">
                <a:solidFill>
                  <a:srgbClr val="FF0000"/>
                </a:solidFill>
                <a:ea typeface="黑体" pitchFamily="49" charset="-122"/>
                <a:sym typeface="Symbol" pitchFamily="18" charset="2"/>
              </a:rPr>
              <a:t>m</a:t>
            </a:r>
            <a:r>
              <a:rPr lang="zh-CN" altLang="en-US" sz="2800" dirty="0">
                <a:solidFill>
                  <a:srgbClr val="FF0000"/>
                </a:solidFill>
                <a:ea typeface="黑体" pitchFamily="49" charset="-122"/>
                <a:sym typeface="Symbol" pitchFamily="18" charset="2"/>
              </a:rPr>
              <a:t>相</a:t>
            </a:r>
            <a:r>
              <a:rPr lang="en-US" altLang="zh-CN" sz="2800" dirty="0">
                <a:solidFill>
                  <a:srgbClr val="FF0000"/>
                </a:solidFill>
                <a:ea typeface="黑体" pitchFamily="49" charset="-122"/>
                <a:sym typeface="Symbol" pitchFamily="18" charset="2"/>
              </a:rPr>
              <a:t>F</a:t>
            </a:r>
            <a:r>
              <a:rPr lang="zh-CN" altLang="en-US" sz="2800" dirty="0">
                <a:solidFill>
                  <a:srgbClr val="FF0000"/>
                </a:solidFill>
                <a:ea typeface="黑体" pitchFamily="49" charset="-122"/>
                <a:sym typeface="Symbol" pitchFamily="18" charset="2"/>
              </a:rPr>
              <a:t>统计试验</a:t>
            </a:r>
            <a:r>
              <a:rPr lang="zh-CN" altLang="en-US" sz="2800" dirty="0">
                <a:ea typeface="黑体" pitchFamily="49" charset="-122"/>
                <a:sym typeface="Symbol" pitchFamily="18" charset="2"/>
              </a:rPr>
              <a:t>，称</a:t>
            </a:r>
            <a:r>
              <a:rPr lang="en-US" altLang="zh-CN" sz="2800" dirty="0"/>
              <a:t> </a:t>
            </a:r>
            <a:r>
              <a:rPr lang="en-US" altLang="zh-CN" sz="2800" i="1" dirty="0">
                <a:solidFill>
                  <a:srgbClr val="008000"/>
                </a:solidFill>
              </a:rPr>
              <a:t>P</a:t>
            </a:r>
            <a:r>
              <a:rPr lang="en-US" altLang="zh-CN" sz="2800" i="1" baseline="-25000" dirty="0">
                <a:solidFill>
                  <a:srgbClr val="008000"/>
                </a:solidFill>
              </a:rPr>
              <a:t>m</a:t>
            </a:r>
            <a:r>
              <a:rPr lang="zh-CN" altLang="en-US" sz="2800" dirty="0">
                <a:solidFill>
                  <a:srgbClr val="008000"/>
                </a:solidFill>
                <a:ea typeface="黑体" pitchFamily="49" charset="-122"/>
                <a:sym typeface="Symbol" pitchFamily="18" charset="2"/>
              </a:rPr>
              <a:t>为</a:t>
            </a:r>
            <a:r>
              <a:rPr lang="en-US" altLang="zh-CN" sz="2800" i="1" dirty="0">
                <a:solidFill>
                  <a:srgbClr val="008000"/>
                </a:solidFill>
                <a:ea typeface="黑体" pitchFamily="49" charset="-122"/>
                <a:sym typeface="Symbol" pitchFamily="18" charset="2"/>
              </a:rPr>
              <a:t>m</a:t>
            </a:r>
            <a:r>
              <a:rPr lang="zh-CN" altLang="en-US" sz="2800" dirty="0">
                <a:solidFill>
                  <a:srgbClr val="008000"/>
                </a:solidFill>
                <a:ea typeface="黑体" pitchFamily="49" charset="-122"/>
                <a:sym typeface="Symbol" pitchFamily="18" charset="2"/>
              </a:rPr>
              <a:t>相集</a:t>
            </a:r>
            <a:endParaRPr lang="en-US" altLang="zh-CN" sz="2800" dirty="0">
              <a:solidFill>
                <a:srgbClr val="008000"/>
              </a:solidFill>
              <a:ea typeface="黑体" pitchFamily="49" charset="-122"/>
              <a:sym typeface="Symbol" pitchFamily="18" charset="2"/>
            </a:endParaRPr>
          </a:p>
          <a:p>
            <a:r>
              <a:rPr lang="zh-CN" altLang="en-US" sz="2800" dirty="0">
                <a:solidFill>
                  <a:srgbClr val="6042A6"/>
                </a:solidFill>
                <a:ea typeface="黑体" pitchFamily="49" charset="-122"/>
                <a:sym typeface="Symbol" pitchFamily="18" charset="2"/>
              </a:rPr>
              <a:t>例如：</a:t>
            </a:r>
            <a:endParaRPr lang="en-US" altLang="zh-CN" sz="2800" dirty="0">
              <a:solidFill>
                <a:srgbClr val="6042A6"/>
              </a:solidFill>
              <a:ea typeface="黑体" pitchFamily="49" charset="-122"/>
              <a:sym typeface="Symbol" pitchFamily="18" charset="2"/>
            </a:endParaRPr>
          </a:p>
          <a:p>
            <a:pPr lvl="1"/>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高个子</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中等个子</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矮个子</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老</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中</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青</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为三相集</a:t>
            </a:r>
            <a:r>
              <a:rPr lang="en-US" altLang="zh-CN" sz="2400" b="1" dirty="0">
                <a:latin typeface="楷体" pitchFamily="49" charset="-122"/>
                <a:ea typeface="楷体" pitchFamily="49" charset="-122"/>
                <a:sym typeface="Symbol" pitchFamily="18" charset="2"/>
              </a:rPr>
              <a:t>;</a:t>
            </a:r>
          </a:p>
          <a:p>
            <a:pPr lvl="1"/>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小雨，中雨，大雨，大暴雨</a:t>
            </a:r>
            <a:r>
              <a:rPr lang="en-US" altLang="zh-CN" sz="2400" b="1" dirty="0">
                <a:latin typeface="楷体" pitchFamily="49" charset="-122"/>
                <a:ea typeface="楷体" pitchFamily="49" charset="-122"/>
                <a:sym typeface="Symbol" pitchFamily="18" charset="2"/>
              </a:rPr>
              <a:t>}</a:t>
            </a:r>
            <a:r>
              <a:rPr lang="zh-CN" altLang="en-US" sz="2400" b="1" dirty="0">
                <a:latin typeface="楷体" pitchFamily="49" charset="-122"/>
                <a:ea typeface="楷体" pitchFamily="49" charset="-122"/>
                <a:sym typeface="Symbol" pitchFamily="18" charset="2"/>
              </a:rPr>
              <a:t>为四相集。</a:t>
            </a:r>
            <a:endParaRPr lang="en-US" altLang="zh-CN" sz="2400" b="1" dirty="0">
              <a:latin typeface="楷体" pitchFamily="49" charset="-122"/>
              <a:ea typeface="楷体" pitchFamily="49" charset="-122"/>
              <a:sym typeface="Symbol" pitchFamily="18" charset="2"/>
            </a:endParaRPr>
          </a:p>
          <a:p>
            <a:r>
              <a:rPr lang="zh-CN" altLang="en-US" sz="2800" dirty="0">
                <a:ea typeface="黑体" pitchFamily="49" charset="-122"/>
                <a:sym typeface="Symbol" pitchFamily="18" charset="2"/>
              </a:rPr>
              <a:t>多相统计的结果，能得到各相在论域</a:t>
            </a:r>
            <a:r>
              <a:rPr lang="en-US" altLang="zh-CN" sz="2800" dirty="0">
                <a:ea typeface="黑体" pitchFamily="49" charset="-122"/>
                <a:sym typeface="Symbol" pitchFamily="18" charset="2"/>
              </a:rPr>
              <a:t>U</a:t>
            </a:r>
            <a:r>
              <a:rPr lang="zh-CN" altLang="en-US" sz="2800" dirty="0">
                <a:ea typeface="黑体" pitchFamily="49" charset="-122"/>
                <a:sym typeface="Symbol" pitchFamily="18" charset="2"/>
              </a:rPr>
              <a:t>上的隶属函数，它们具有性质：   </a:t>
            </a:r>
            <a:endParaRPr lang="en-US" altLang="zh-CN" sz="2800" dirty="0">
              <a:ea typeface="黑体" pitchFamily="49" charset="-122"/>
              <a:sym typeface="Symbol" pitchFamily="18" charset="2"/>
            </a:endParaRPr>
          </a:p>
          <a:p>
            <a:pPr marL="0" indent="0">
              <a:buNone/>
            </a:pPr>
            <a:r>
              <a:rPr lang="en-US" altLang="zh-CN" sz="2800" dirty="0">
                <a:solidFill>
                  <a:srgbClr val="CC00CC"/>
                </a:solidFill>
                <a:ea typeface="黑体" pitchFamily="49" charset="-122"/>
                <a:sym typeface="Symbol" pitchFamily="18" charset="2"/>
              </a:rPr>
              <a:t>     </a:t>
            </a:r>
            <a:r>
              <a:rPr lang="zh-CN" altLang="en-US" sz="2800" dirty="0">
                <a:solidFill>
                  <a:srgbClr val="CC00CC"/>
                </a:solidFill>
                <a:ea typeface="黑体" pitchFamily="49" charset="-122"/>
                <a:sym typeface="Symbol" pitchFamily="18" charset="2"/>
              </a:rPr>
              <a:t></a:t>
            </a:r>
            <a:r>
              <a:rPr lang="en-US" altLang="zh-CN" sz="2800" i="1" dirty="0" err="1">
                <a:solidFill>
                  <a:srgbClr val="CC00CC"/>
                </a:solidFill>
                <a:ea typeface="黑体" pitchFamily="49" charset="-122"/>
                <a:sym typeface="Symbol" pitchFamily="18" charset="2"/>
              </a:rPr>
              <a:t>u</a:t>
            </a:r>
            <a:r>
              <a:rPr lang="en-US" altLang="zh-CN" sz="2800" dirty="0" err="1">
                <a:solidFill>
                  <a:srgbClr val="CC00CC"/>
                </a:solidFill>
                <a:ea typeface="黑体" pitchFamily="49" charset="-122"/>
                <a:sym typeface="Symbol" pitchFamily="18" charset="2"/>
              </a:rPr>
              <a:t>U</a:t>
            </a:r>
            <a:r>
              <a:rPr lang="en-US" altLang="zh-CN" sz="2800" dirty="0">
                <a:solidFill>
                  <a:srgbClr val="CC00CC"/>
                </a:solidFill>
                <a:ea typeface="黑体" pitchFamily="49" charset="-122"/>
                <a:sym typeface="Symbol" pitchFamily="18" charset="2"/>
              </a:rPr>
              <a:t>, </a:t>
            </a:r>
            <a:r>
              <a:rPr lang="en-US" altLang="zh-CN" sz="2800" b="1" i="1" dirty="0">
                <a:solidFill>
                  <a:srgbClr val="CC00CC"/>
                </a:solidFill>
              </a:rPr>
              <a:t>A</a:t>
            </a:r>
            <a:r>
              <a:rPr lang="en-US" altLang="zh-CN" sz="2800" b="1" baseline="-25000" dirty="0">
                <a:solidFill>
                  <a:srgbClr val="CC00CC"/>
                </a:solidFill>
              </a:rPr>
              <a:t>1</a:t>
            </a:r>
            <a:r>
              <a:rPr lang="en-US" altLang="zh-CN" sz="2800" b="1" dirty="0">
                <a:solidFill>
                  <a:srgbClr val="CC00CC"/>
                </a:solidFill>
                <a:ea typeface="黑体" pitchFamily="49" charset="-122"/>
                <a:sym typeface="Symbol" pitchFamily="18" charset="2"/>
              </a:rPr>
              <a:t>(</a:t>
            </a:r>
            <a:r>
              <a:rPr lang="en-US" altLang="zh-CN" sz="2800" b="1" i="1" dirty="0">
                <a:solidFill>
                  <a:srgbClr val="CC00CC"/>
                </a:solidFill>
                <a:ea typeface="黑体" pitchFamily="49" charset="-122"/>
                <a:sym typeface="Symbol" pitchFamily="18" charset="2"/>
              </a:rPr>
              <a:t>u</a:t>
            </a:r>
            <a:r>
              <a:rPr lang="en-US" altLang="zh-CN" sz="2800" b="1" dirty="0">
                <a:solidFill>
                  <a:srgbClr val="CC00CC"/>
                </a:solidFill>
                <a:ea typeface="黑体" pitchFamily="49" charset="-122"/>
                <a:sym typeface="Symbol" pitchFamily="18" charset="2"/>
              </a:rPr>
              <a:t>)+</a:t>
            </a:r>
            <a:r>
              <a:rPr lang="en-US" altLang="zh-CN" sz="2800" b="1" i="1" dirty="0">
                <a:solidFill>
                  <a:srgbClr val="CC00CC"/>
                </a:solidFill>
              </a:rPr>
              <a:t>A</a:t>
            </a:r>
            <a:r>
              <a:rPr lang="en-US" altLang="zh-CN" sz="2800" b="1" baseline="-25000" dirty="0">
                <a:solidFill>
                  <a:srgbClr val="CC00CC"/>
                </a:solidFill>
              </a:rPr>
              <a:t>2</a:t>
            </a:r>
            <a:r>
              <a:rPr lang="en-US" altLang="zh-CN" sz="2800" b="1" dirty="0">
                <a:solidFill>
                  <a:srgbClr val="CC00CC"/>
                </a:solidFill>
                <a:ea typeface="黑体" pitchFamily="49" charset="-122"/>
                <a:sym typeface="Symbol" pitchFamily="18" charset="2"/>
              </a:rPr>
              <a:t>(</a:t>
            </a:r>
            <a:r>
              <a:rPr lang="en-US" altLang="zh-CN" sz="2800" b="1" i="1" dirty="0">
                <a:solidFill>
                  <a:srgbClr val="CC00CC"/>
                </a:solidFill>
                <a:ea typeface="黑体" pitchFamily="49" charset="-122"/>
                <a:sym typeface="Symbol" pitchFamily="18" charset="2"/>
              </a:rPr>
              <a:t>u</a:t>
            </a:r>
            <a:r>
              <a:rPr lang="en-US" altLang="zh-CN" sz="2800" b="1" dirty="0">
                <a:solidFill>
                  <a:srgbClr val="CC00CC"/>
                </a:solidFill>
                <a:ea typeface="黑体" pitchFamily="49" charset="-122"/>
                <a:sym typeface="Symbol" pitchFamily="18" charset="2"/>
              </a:rPr>
              <a:t>)+</a:t>
            </a:r>
            <a:r>
              <a:rPr lang="en-US" altLang="zh-CN" sz="2800" b="1" dirty="0">
                <a:solidFill>
                  <a:srgbClr val="CC00CC"/>
                </a:solidFill>
              </a:rPr>
              <a:t> …+ </a:t>
            </a:r>
            <a:r>
              <a:rPr lang="en-US" altLang="zh-CN" sz="2800" b="1" i="1" dirty="0">
                <a:solidFill>
                  <a:srgbClr val="CC00CC"/>
                </a:solidFill>
              </a:rPr>
              <a:t>A</a:t>
            </a:r>
            <a:r>
              <a:rPr lang="en-US" altLang="zh-CN" sz="2800" b="1" i="1" baseline="-25000" dirty="0">
                <a:solidFill>
                  <a:srgbClr val="CC00CC"/>
                </a:solidFill>
              </a:rPr>
              <a:t>m</a:t>
            </a:r>
            <a:r>
              <a:rPr lang="en-US" altLang="zh-CN" sz="2800" b="1" dirty="0">
                <a:solidFill>
                  <a:srgbClr val="CC00CC"/>
                </a:solidFill>
                <a:ea typeface="黑体" pitchFamily="49" charset="-122"/>
                <a:sym typeface="Symbol" pitchFamily="18" charset="2"/>
              </a:rPr>
              <a:t>(</a:t>
            </a:r>
            <a:r>
              <a:rPr lang="en-US" altLang="zh-CN" sz="2800" b="1" i="1" dirty="0">
                <a:solidFill>
                  <a:srgbClr val="CC00CC"/>
                </a:solidFill>
                <a:ea typeface="黑体" pitchFamily="49" charset="-122"/>
                <a:sym typeface="Symbol" pitchFamily="18" charset="2"/>
              </a:rPr>
              <a:t>u</a:t>
            </a:r>
            <a:r>
              <a:rPr lang="en-US" altLang="zh-CN" sz="2800" b="1" dirty="0">
                <a:solidFill>
                  <a:srgbClr val="CC00CC"/>
                </a:solidFill>
                <a:ea typeface="黑体" pitchFamily="49" charset="-122"/>
                <a:sym typeface="Symbol" pitchFamily="18" charset="2"/>
              </a:rPr>
              <a:t>) = 1</a:t>
            </a:r>
            <a:endParaRPr lang="en-US" altLang="zh-CN" sz="2400" dirty="0">
              <a:ea typeface="黑体" pitchFamily="49" charset="-122"/>
              <a:sym typeface="Symbol" pitchFamily="18" charset="2"/>
            </a:endParaRPr>
          </a:p>
          <a:p>
            <a:pPr marL="0" indent="0">
              <a:buNone/>
            </a:pPr>
            <a:r>
              <a:rPr lang="en-US" altLang="zh-CN" dirty="0">
                <a:ea typeface="黑体" pitchFamily="49" charset="-122"/>
                <a:sym typeface="Symbol" pitchFamily="18" charset="2"/>
              </a:rPr>
              <a:t> </a:t>
            </a:r>
            <a:endParaRPr lang="zh-CN" altLang="en-US" dirty="0"/>
          </a:p>
        </p:txBody>
      </p:sp>
      <p:sp>
        <p:nvSpPr>
          <p:cNvPr id="2" name="灯片编号占位符 1">
            <a:extLst>
              <a:ext uri="{FF2B5EF4-FFF2-40B4-BE49-F238E27FC236}">
                <a16:creationId xmlns:a16="http://schemas.microsoft.com/office/drawing/2014/main" id="{7EFFF0A8-9A5F-F9BD-5E88-D4A8FDFB631C}"/>
              </a:ext>
            </a:extLst>
          </p:cNvPr>
          <p:cNvSpPr>
            <a:spLocks noGrp="1"/>
          </p:cNvSpPr>
          <p:nvPr>
            <p:ph type="sldNum" sz="quarter" idx="11"/>
          </p:nvPr>
        </p:nvSpPr>
        <p:spPr/>
        <p:txBody>
          <a:bodyPr/>
          <a:lstStyle/>
          <a:p>
            <a:pPr>
              <a:defRPr/>
            </a:pPr>
            <a:fld id="{E0FB5469-1AEB-496D-971A-66705BF2F73C}" type="slidenum">
              <a:rPr lang="en-US" altLang="zh-CN" smtClean="0"/>
              <a:pPr>
                <a:defRPr/>
              </a:pPr>
              <a:t>4</a:t>
            </a:fld>
            <a:endParaRPr lang="en-US" altLang="zh-CN"/>
          </a:p>
        </p:txBody>
      </p:sp>
    </p:spTree>
    <p:extLst>
      <p:ext uri="{BB962C8B-B14F-4D97-AF65-F5344CB8AC3E}">
        <p14:creationId xmlns:p14="http://schemas.microsoft.com/office/powerpoint/2010/main" val="180288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left)">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left)">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wipe(left)">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wipe(left)">
                                      <p:cBhvr>
                                        <p:cTn id="5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457201"/>
            <a:ext cx="8229600" cy="1027113"/>
          </a:xfrm>
        </p:spPr>
        <p:txBody>
          <a:bodyPr/>
          <a:lstStyle/>
          <a:p>
            <a:pPr algn="ctr" eaLnBrk="1" hangingPunct="1"/>
            <a:r>
              <a:rPr lang="zh-CN" altLang="en-US" dirty="0">
                <a:solidFill>
                  <a:srgbClr val="008000"/>
                </a:solidFill>
                <a:ea typeface="黑体" pitchFamily="49" charset="-122"/>
              </a:rPr>
              <a:t>隶属函数确定方法</a:t>
            </a:r>
            <a:r>
              <a:rPr lang="en-US" altLang="zh-CN" dirty="0">
                <a:solidFill>
                  <a:srgbClr val="008000"/>
                </a:solidFill>
                <a:ea typeface="黑体" pitchFamily="49" charset="-122"/>
              </a:rPr>
              <a:t>4</a:t>
            </a:r>
            <a:r>
              <a:rPr lang="zh-CN" altLang="en-US" dirty="0">
                <a:solidFill>
                  <a:srgbClr val="008000"/>
                </a:solidFill>
                <a:ea typeface="黑体" pitchFamily="49" charset="-122"/>
              </a:rPr>
              <a:t>：三分法</a:t>
            </a:r>
          </a:p>
        </p:txBody>
      </p:sp>
      <p:sp>
        <p:nvSpPr>
          <p:cNvPr id="105475" name="Rectangle 3"/>
          <p:cNvSpPr>
            <a:spLocks noGrp="1" noChangeArrowheads="1"/>
          </p:cNvSpPr>
          <p:nvPr>
            <p:ph type="body" sz="half" idx="1"/>
          </p:nvPr>
        </p:nvSpPr>
        <p:spPr>
          <a:xfrm>
            <a:off x="551384" y="1628775"/>
            <a:ext cx="10657184" cy="3671888"/>
          </a:xfrm>
        </p:spPr>
        <p:txBody>
          <a:bodyPr/>
          <a:lstStyle/>
          <a:p>
            <a:pPr eaLnBrk="1" hangingPunct="1">
              <a:lnSpc>
                <a:spcPct val="105000"/>
              </a:lnSpc>
            </a:pPr>
            <a:r>
              <a:rPr lang="en-US" altLang="zh-CN" sz="2800" dirty="0">
                <a:solidFill>
                  <a:srgbClr val="FF0000"/>
                </a:solidFill>
              </a:rPr>
              <a:t>[</a:t>
            </a:r>
            <a:r>
              <a:rPr lang="zh-CN" altLang="en-US" sz="2800" dirty="0">
                <a:solidFill>
                  <a:srgbClr val="FF0000"/>
                </a:solidFill>
                <a:ea typeface="黑体" pitchFamily="49" charset="-122"/>
              </a:rPr>
              <a:t>定理</a:t>
            </a:r>
            <a:r>
              <a:rPr lang="en-US" altLang="zh-CN" sz="2800" dirty="0">
                <a:solidFill>
                  <a:srgbClr val="FF0000"/>
                </a:solidFill>
              </a:rPr>
              <a:t>]</a:t>
            </a:r>
            <a:r>
              <a:rPr lang="zh-CN" altLang="en-US" sz="2800" dirty="0"/>
              <a:t>设</a:t>
            </a:r>
            <a:r>
              <a:rPr lang="en-US" altLang="zh-CN" sz="2800" dirty="0"/>
              <a:t>A</a:t>
            </a:r>
            <a:r>
              <a:rPr lang="en-US" altLang="zh-CN" sz="2800" baseline="-25000" dirty="0"/>
              <a:t>1</a:t>
            </a:r>
            <a:r>
              <a:rPr lang="en-US" altLang="zh-CN" sz="2800" dirty="0"/>
              <a:t>,A</a:t>
            </a:r>
            <a:r>
              <a:rPr lang="en-US" altLang="zh-CN" sz="2800" baseline="-25000" dirty="0"/>
              <a:t>2</a:t>
            </a:r>
            <a:r>
              <a:rPr lang="en-US" altLang="zh-CN" sz="2800" dirty="0"/>
              <a:t>,A</a:t>
            </a:r>
            <a:r>
              <a:rPr lang="en-US" altLang="zh-CN" sz="2800" baseline="-25000" dirty="0"/>
              <a:t>3</a:t>
            </a:r>
            <a:r>
              <a:rPr lang="en-US" altLang="zh-CN" sz="2800" dirty="0"/>
              <a:t> </a:t>
            </a:r>
            <a:r>
              <a:rPr lang="en-US" altLang="zh-CN" sz="2800" dirty="0">
                <a:ea typeface="黑体" pitchFamily="49" charset="-122"/>
                <a:sym typeface="Symbol" pitchFamily="18" charset="2"/>
              </a:rPr>
              <a:t></a:t>
            </a:r>
            <a:r>
              <a:rPr lang="en-US" altLang="zh-CN" sz="2800" dirty="0">
                <a:latin typeface="Monotype Corsiva" pitchFamily="66" charset="0"/>
                <a:ea typeface="黑体" pitchFamily="49" charset="-122"/>
                <a:sym typeface="Symbol" pitchFamily="18" charset="2"/>
              </a:rPr>
              <a:t>F</a:t>
            </a:r>
            <a:r>
              <a:rPr lang="en-US" altLang="zh-CN" sz="2800" dirty="0">
                <a:ea typeface="黑体" pitchFamily="49" charset="-122"/>
                <a:sym typeface="Symbol" pitchFamily="18" charset="2"/>
              </a:rPr>
              <a:t>(U), </a:t>
            </a:r>
            <a:r>
              <a:rPr lang="zh-CN" altLang="en-US" sz="2800" dirty="0">
                <a:ea typeface="黑体" pitchFamily="49" charset="-122"/>
                <a:sym typeface="Symbol" pitchFamily="18" charset="2"/>
              </a:rPr>
              <a:t>而</a:t>
            </a:r>
            <a:r>
              <a:rPr lang="en-US" altLang="zh-CN" sz="2800" dirty="0">
                <a:ea typeface="黑体" pitchFamily="49" charset="-122"/>
                <a:sym typeface="Symbol" pitchFamily="18" charset="2"/>
              </a:rPr>
              <a:t>(</a:t>
            </a:r>
            <a:r>
              <a:rPr lang="el-GR" altLang="zh-CN" sz="2800" i="1" dirty="0">
                <a:ea typeface="黑体" pitchFamily="49" charset="-122"/>
                <a:cs typeface="Arial" pitchFamily="34" charset="0"/>
              </a:rPr>
              <a:t>ξ</a:t>
            </a:r>
            <a:r>
              <a:rPr lang="en-US" altLang="zh-CN" sz="2800" dirty="0">
                <a:ea typeface="黑体" pitchFamily="49" charset="-122"/>
                <a:cs typeface="Arial" pitchFamily="34" charset="0"/>
              </a:rPr>
              <a:t>,</a:t>
            </a:r>
            <a:r>
              <a:rPr lang="el-GR" altLang="zh-CN" sz="2800" i="1" dirty="0">
                <a:ea typeface="黑体" pitchFamily="49" charset="-122"/>
              </a:rPr>
              <a:t>η</a:t>
            </a:r>
            <a:r>
              <a:rPr lang="en-US" altLang="zh-CN" sz="2800" dirty="0">
                <a:ea typeface="黑体" pitchFamily="49" charset="-122"/>
              </a:rPr>
              <a:t>)</a:t>
            </a:r>
            <a:r>
              <a:rPr lang="zh-CN" altLang="en-US" sz="2800" dirty="0">
                <a:ea typeface="黑体" pitchFamily="49" charset="-122"/>
              </a:rPr>
              <a:t>为随机向量，且满足</a:t>
            </a:r>
            <a:r>
              <a:rPr lang="en-US" altLang="zh-CN" sz="2800" i="1" dirty="0">
                <a:solidFill>
                  <a:srgbClr val="CC00CC"/>
                </a:solidFill>
                <a:ea typeface="黑体" pitchFamily="49" charset="-122"/>
              </a:rPr>
              <a:t>P</a:t>
            </a:r>
            <a:r>
              <a:rPr lang="en-US" altLang="zh-CN" sz="2800" dirty="0">
                <a:solidFill>
                  <a:srgbClr val="CC00CC"/>
                </a:solidFill>
                <a:ea typeface="黑体" pitchFamily="49" charset="-122"/>
              </a:rPr>
              <a:t>{ </a:t>
            </a:r>
            <a:r>
              <a:rPr lang="el-GR" altLang="zh-CN" sz="2800" i="1" dirty="0">
                <a:solidFill>
                  <a:srgbClr val="CC00CC"/>
                </a:solidFill>
                <a:ea typeface="黑体" pitchFamily="49" charset="-122"/>
              </a:rPr>
              <a:t>ξ</a:t>
            </a:r>
            <a:r>
              <a:rPr lang="en-US" altLang="zh-CN" sz="2800" i="1" dirty="0">
                <a:solidFill>
                  <a:srgbClr val="CC00CC"/>
                </a:solidFill>
                <a:ea typeface="黑体" pitchFamily="49" charset="-122"/>
              </a:rPr>
              <a:t> </a:t>
            </a:r>
            <a:r>
              <a:rPr lang="en-US" altLang="zh-CN" sz="2800" dirty="0">
                <a:solidFill>
                  <a:srgbClr val="CC00CC"/>
                </a:solidFill>
                <a:ea typeface="黑体" pitchFamily="49" charset="-122"/>
              </a:rPr>
              <a:t>≤ </a:t>
            </a:r>
            <a:r>
              <a:rPr lang="el-GR" altLang="zh-CN" sz="2800" i="1" dirty="0">
                <a:solidFill>
                  <a:srgbClr val="CC00CC"/>
                </a:solidFill>
                <a:ea typeface="黑体" pitchFamily="49" charset="-122"/>
              </a:rPr>
              <a:t>η</a:t>
            </a:r>
            <a:r>
              <a:rPr lang="en-US" altLang="zh-CN" sz="2800" dirty="0">
                <a:solidFill>
                  <a:srgbClr val="CC00CC"/>
                </a:solidFill>
                <a:ea typeface="黑体" pitchFamily="49" charset="-122"/>
              </a:rPr>
              <a:t> } =1</a:t>
            </a:r>
            <a:r>
              <a:rPr lang="zh-CN" altLang="en-US" sz="2800" dirty="0">
                <a:ea typeface="黑体" pitchFamily="49" charset="-122"/>
              </a:rPr>
              <a:t>，而</a:t>
            </a:r>
            <a:r>
              <a:rPr lang="zh-CN" altLang="en-US" sz="2800" dirty="0">
                <a:ea typeface="黑体" pitchFamily="49" charset="-122"/>
                <a:sym typeface="Symbol" pitchFamily="18" charset="2"/>
              </a:rPr>
              <a:t></a:t>
            </a:r>
            <a:r>
              <a:rPr lang="en-US" altLang="zh-CN" sz="2800" i="1" dirty="0" err="1">
                <a:ea typeface="黑体" pitchFamily="49" charset="-122"/>
                <a:sym typeface="Symbol" pitchFamily="18" charset="2"/>
              </a:rPr>
              <a:t>u</a:t>
            </a:r>
            <a:r>
              <a:rPr lang="en-US" altLang="zh-CN" sz="2800" dirty="0" err="1">
                <a:ea typeface="黑体" pitchFamily="49" charset="-122"/>
                <a:sym typeface="Symbol" pitchFamily="18" charset="2"/>
              </a:rPr>
              <a:t>,</a:t>
            </a:r>
            <a:r>
              <a:rPr lang="en-US" altLang="zh-CN" sz="2800" i="1" dirty="0" err="1">
                <a:ea typeface="黑体" pitchFamily="49" charset="-122"/>
                <a:sym typeface="Symbol" pitchFamily="18" charset="2"/>
              </a:rPr>
              <a:t>v</a:t>
            </a:r>
            <a:r>
              <a:rPr lang="en-US" altLang="zh-CN" sz="2800" dirty="0">
                <a:ea typeface="黑体" pitchFamily="49" charset="-122"/>
                <a:sym typeface="Symbol" pitchFamily="18" charset="2"/>
              </a:rPr>
              <a:t> U, (</a:t>
            </a:r>
            <a:r>
              <a:rPr lang="en-US" altLang="zh-CN" sz="2800" i="1" dirty="0" err="1">
                <a:ea typeface="黑体" pitchFamily="49" charset="-122"/>
                <a:sym typeface="Symbol" pitchFamily="18" charset="2"/>
              </a:rPr>
              <a:t>u</a:t>
            </a:r>
            <a:r>
              <a:rPr lang="en-US" altLang="zh-CN" sz="2800" dirty="0" err="1">
                <a:ea typeface="黑体" pitchFamily="49" charset="-122"/>
                <a:sym typeface="Symbol" pitchFamily="18" charset="2"/>
              </a:rPr>
              <a:t>,</a:t>
            </a:r>
            <a:r>
              <a:rPr lang="en-US" altLang="zh-CN" sz="2800" i="1" dirty="0" err="1">
                <a:ea typeface="黑体" pitchFamily="49" charset="-122"/>
                <a:sym typeface="Symbol" pitchFamily="18" charset="2"/>
              </a:rPr>
              <a:t>v</a:t>
            </a:r>
            <a:r>
              <a:rPr lang="en-US" altLang="zh-CN" sz="2800" dirty="0">
                <a:ea typeface="黑体" pitchFamily="49" charset="-122"/>
                <a:sym typeface="Symbol" pitchFamily="18" charset="2"/>
              </a:rPr>
              <a:t>)</a:t>
            </a:r>
            <a:r>
              <a:rPr lang="zh-CN" altLang="en-US" sz="2800" dirty="0">
                <a:ea typeface="黑体" pitchFamily="49" charset="-122"/>
                <a:sym typeface="Symbol" pitchFamily="18" charset="2"/>
              </a:rPr>
              <a:t>能确定映射</a:t>
            </a:r>
          </a:p>
          <a:p>
            <a:pPr eaLnBrk="1" hangingPunct="1">
              <a:lnSpc>
                <a:spcPct val="105000"/>
              </a:lnSpc>
              <a:buFont typeface="Wingdings" pitchFamily="2" charset="2"/>
              <a:buNone/>
            </a:pPr>
            <a:endParaRPr lang="zh-CN" altLang="en-US" sz="2400" dirty="0">
              <a:ea typeface="黑体" pitchFamily="49" charset="-122"/>
              <a:sym typeface="Symbol" pitchFamily="18" charset="2"/>
            </a:endParaRPr>
          </a:p>
          <a:p>
            <a:pPr eaLnBrk="1" hangingPunct="1">
              <a:lnSpc>
                <a:spcPct val="105000"/>
              </a:lnSpc>
              <a:buFont typeface="Wingdings" pitchFamily="2" charset="2"/>
              <a:buNone/>
            </a:pPr>
            <a:endParaRPr lang="zh-CN" altLang="en-US" sz="2800" dirty="0">
              <a:ea typeface="黑体" pitchFamily="49" charset="-122"/>
              <a:sym typeface="Symbol" pitchFamily="18" charset="2"/>
            </a:endParaRPr>
          </a:p>
          <a:p>
            <a:pPr eaLnBrk="1" hangingPunct="1">
              <a:lnSpc>
                <a:spcPct val="105000"/>
              </a:lnSpc>
              <a:buFont typeface="Wingdings" pitchFamily="2" charset="2"/>
              <a:buNone/>
            </a:pPr>
            <a:endParaRPr lang="zh-CN" altLang="en-US" sz="2800" dirty="0">
              <a:ea typeface="黑体" pitchFamily="49" charset="-122"/>
              <a:sym typeface="Symbol" pitchFamily="18" charset="2"/>
            </a:endParaRPr>
          </a:p>
          <a:p>
            <a:pPr eaLnBrk="1" hangingPunct="1">
              <a:lnSpc>
                <a:spcPct val="105000"/>
              </a:lnSpc>
              <a:buFont typeface="Wingdings" pitchFamily="2" charset="2"/>
              <a:buNone/>
            </a:pPr>
            <a:r>
              <a:rPr lang="zh-CN" altLang="en-US" sz="2800" dirty="0">
                <a:ea typeface="黑体" pitchFamily="49" charset="-122"/>
                <a:sym typeface="Symbol" pitchFamily="18" charset="2"/>
              </a:rPr>
              <a:t>    又若</a:t>
            </a:r>
            <a:r>
              <a:rPr lang="en-US" altLang="zh-CN" sz="2800" i="1" dirty="0">
                <a:ea typeface="黑体" pitchFamily="49" charset="-122"/>
                <a:sym typeface="Symbol" pitchFamily="18" charset="2"/>
              </a:rPr>
              <a:t>P</a:t>
            </a:r>
            <a:r>
              <a:rPr lang="el-GR" altLang="zh-CN" sz="2800" i="1" baseline="-25000" dirty="0">
                <a:ea typeface="黑体" pitchFamily="49" charset="-122"/>
              </a:rPr>
              <a:t>ξ</a:t>
            </a:r>
            <a:r>
              <a:rPr lang="en-US" altLang="zh-CN" sz="2800" dirty="0">
                <a:ea typeface="黑体" pitchFamily="49" charset="-122"/>
              </a:rPr>
              <a:t>(</a:t>
            </a:r>
            <a:r>
              <a:rPr lang="en-US" altLang="zh-CN" sz="2800" i="1" dirty="0">
                <a:ea typeface="黑体" pitchFamily="49" charset="-122"/>
              </a:rPr>
              <a:t>u</a:t>
            </a:r>
            <a:r>
              <a:rPr lang="en-US" altLang="zh-CN" sz="2800" dirty="0">
                <a:ea typeface="黑体" pitchFamily="49" charset="-122"/>
              </a:rPr>
              <a:t>),</a:t>
            </a:r>
            <a:r>
              <a:rPr lang="en-US" altLang="zh-CN" sz="2800" i="1" dirty="0">
                <a:ea typeface="黑体" pitchFamily="49" charset="-122"/>
              </a:rPr>
              <a:t>P</a:t>
            </a:r>
            <a:r>
              <a:rPr lang="el-GR" altLang="zh-CN" sz="2800" i="1" baseline="-25000" dirty="0">
                <a:ea typeface="黑体" pitchFamily="49" charset="-122"/>
              </a:rPr>
              <a:t>η</a:t>
            </a:r>
            <a:r>
              <a:rPr lang="en-US" altLang="zh-CN" sz="2800" dirty="0">
                <a:ea typeface="黑体" pitchFamily="49" charset="-122"/>
              </a:rPr>
              <a:t>(</a:t>
            </a:r>
            <a:r>
              <a:rPr lang="en-US" altLang="zh-CN" sz="2800" i="1" dirty="0">
                <a:ea typeface="黑体" pitchFamily="49" charset="-122"/>
              </a:rPr>
              <a:t>v</a:t>
            </a:r>
            <a:r>
              <a:rPr lang="en-US" altLang="zh-CN" sz="2800" dirty="0">
                <a:ea typeface="黑体" pitchFamily="49" charset="-122"/>
              </a:rPr>
              <a:t>)</a:t>
            </a:r>
            <a:r>
              <a:rPr lang="zh-CN" altLang="en-US" sz="2800" dirty="0">
                <a:ea typeface="黑体" pitchFamily="49" charset="-122"/>
              </a:rPr>
              <a:t>分别为</a:t>
            </a:r>
            <a:r>
              <a:rPr lang="el-GR" altLang="zh-CN" sz="2800" i="1" dirty="0">
                <a:ea typeface="黑体" pitchFamily="49" charset="-122"/>
              </a:rPr>
              <a:t>ξ</a:t>
            </a:r>
            <a:r>
              <a:rPr lang="en-US" altLang="zh-CN" sz="2800" dirty="0">
                <a:ea typeface="黑体" pitchFamily="49" charset="-122"/>
              </a:rPr>
              <a:t>, </a:t>
            </a:r>
            <a:r>
              <a:rPr lang="el-GR" altLang="zh-CN" sz="2800" i="1" dirty="0">
                <a:ea typeface="黑体" pitchFamily="49" charset="-122"/>
              </a:rPr>
              <a:t>η</a:t>
            </a:r>
            <a:r>
              <a:rPr lang="zh-CN" altLang="en-US" sz="2800" dirty="0">
                <a:ea typeface="黑体" pitchFamily="49" charset="-122"/>
              </a:rPr>
              <a:t>的概率密度函数，而</a:t>
            </a:r>
            <a:r>
              <a:rPr lang="en-US" altLang="zh-CN" sz="2800" i="1" dirty="0">
                <a:ea typeface="黑体" pitchFamily="49" charset="-122"/>
              </a:rPr>
              <a:t>P</a:t>
            </a:r>
            <a:r>
              <a:rPr lang="en-US" altLang="zh-CN" sz="2800" dirty="0">
                <a:ea typeface="黑体" pitchFamily="49" charset="-122"/>
              </a:rPr>
              <a:t>(</a:t>
            </a:r>
            <a:r>
              <a:rPr lang="en-US" altLang="zh-CN" sz="2800" i="1" dirty="0" err="1">
                <a:ea typeface="黑体" pitchFamily="49" charset="-122"/>
              </a:rPr>
              <a:t>u</a:t>
            </a:r>
            <a:r>
              <a:rPr lang="en-US" altLang="zh-CN" sz="2800" dirty="0" err="1">
                <a:ea typeface="黑体" pitchFamily="49" charset="-122"/>
              </a:rPr>
              <a:t>,</a:t>
            </a:r>
            <a:r>
              <a:rPr lang="en-US" altLang="zh-CN" sz="2800" i="1" dirty="0" err="1">
                <a:ea typeface="黑体" pitchFamily="49" charset="-122"/>
              </a:rPr>
              <a:t>v</a:t>
            </a:r>
            <a:r>
              <a:rPr lang="en-US" altLang="zh-CN" sz="2800" dirty="0">
                <a:ea typeface="黑体" pitchFamily="49" charset="-122"/>
              </a:rPr>
              <a:t>)</a:t>
            </a:r>
            <a:r>
              <a:rPr lang="zh-CN" altLang="en-US" sz="2800" dirty="0">
                <a:ea typeface="黑体" pitchFamily="49" charset="-122"/>
              </a:rPr>
              <a:t>为</a:t>
            </a:r>
            <a:r>
              <a:rPr lang="el-GR" altLang="zh-CN" sz="2800" i="1" dirty="0">
                <a:ea typeface="黑体" pitchFamily="49" charset="-122"/>
              </a:rPr>
              <a:t>ξ</a:t>
            </a:r>
            <a:r>
              <a:rPr lang="en-US" altLang="zh-CN" sz="2800" dirty="0">
                <a:ea typeface="黑体" pitchFamily="49" charset="-122"/>
              </a:rPr>
              <a:t>, </a:t>
            </a:r>
            <a:r>
              <a:rPr lang="el-GR" altLang="zh-CN" sz="2800" i="1" dirty="0">
                <a:ea typeface="黑体" pitchFamily="49" charset="-122"/>
              </a:rPr>
              <a:t>η</a:t>
            </a:r>
            <a:r>
              <a:rPr lang="zh-CN" altLang="en-US" sz="2800" dirty="0">
                <a:ea typeface="黑体" pitchFamily="49" charset="-122"/>
              </a:rPr>
              <a:t>的联合概率密度函数，则</a:t>
            </a:r>
            <a:endParaRPr lang="zh-CN" altLang="en-US" sz="2800" dirty="0">
              <a:ea typeface="黑体" pitchFamily="49" charset="-122"/>
              <a:sym typeface="Symbol" pitchFamily="18" charset="2"/>
            </a:endParaRPr>
          </a:p>
        </p:txBody>
      </p:sp>
      <p:graphicFrame>
        <p:nvGraphicFramePr>
          <p:cNvPr id="105476" name="Object 4"/>
          <p:cNvGraphicFramePr>
            <a:graphicFrameLocks noGrp="1" noChangeAspect="1"/>
          </p:cNvGraphicFramePr>
          <p:nvPr>
            <p:ph sz="quarter" idx="2"/>
          </p:nvPr>
        </p:nvGraphicFramePr>
        <p:xfrm>
          <a:off x="2871788" y="2492376"/>
          <a:ext cx="3422650" cy="1724025"/>
        </p:xfrm>
        <a:graphic>
          <a:graphicData uri="http://schemas.openxmlformats.org/presentationml/2006/ole">
            <mc:AlternateContent xmlns:mc="http://schemas.openxmlformats.org/markup-compatibility/2006">
              <mc:Choice xmlns:v="urn:schemas-microsoft-com:vml" Requires="v">
                <p:oleObj name="公式" r:id="rId3" imgW="1663700" imgH="838200" progId="Equation.3">
                  <p:embed/>
                </p:oleObj>
              </mc:Choice>
              <mc:Fallback>
                <p:oleObj name="公式" r:id="rId3" imgW="1663700" imgH="838200" progId="Equation.3">
                  <p:embed/>
                  <p:pic>
                    <p:nvPicPr>
                      <p:cNvPr id="105476"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1788" y="2492376"/>
                        <a:ext cx="3422650" cy="172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478" name="Object 6"/>
          <p:cNvGraphicFramePr>
            <a:graphicFrameLocks noGrp="1" noChangeAspect="1"/>
          </p:cNvGraphicFramePr>
          <p:nvPr>
            <p:ph sz="quarter" idx="3"/>
            <p:extLst>
              <p:ext uri="{D42A27DB-BD31-4B8C-83A1-F6EECF244321}">
                <p14:modId xmlns:p14="http://schemas.microsoft.com/office/powerpoint/2010/main" val="2847418400"/>
              </p:ext>
            </p:extLst>
          </p:nvPr>
        </p:nvGraphicFramePr>
        <p:xfrm>
          <a:off x="2384566" y="5070136"/>
          <a:ext cx="3639228" cy="1771289"/>
        </p:xfrm>
        <a:graphic>
          <a:graphicData uri="http://schemas.openxmlformats.org/presentationml/2006/ole">
            <mc:AlternateContent xmlns:mc="http://schemas.openxmlformats.org/markup-compatibility/2006">
              <mc:Choice xmlns:v="urn:schemas-microsoft-com:vml" Requires="v">
                <p:oleObj name="Equation" r:id="rId5" imgW="1930320" imgH="939600" progId="Equation.DSMT4">
                  <p:embed/>
                </p:oleObj>
              </mc:Choice>
              <mc:Fallback>
                <p:oleObj name="Equation" r:id="rId5" imgW="1930320" imgH="939600" progId="Equation.DSMT4">
                  <p:embed/>
                  <p:pic>
                    <p:nvPicPr>
                      <p:cNvPr id="105478" name="Object 6"/>
                      <p:cNvPicPr>
                        <a:picLocks noGrp="1" noChangeAspect="1" noChangeArrowheads="1"/>
                      </p:cNvPicPr>
                      <p:nvPr/>
                    </p:nvPicPr>
                    <p:blipFill>
                      <a:blip r:embed="rId6"/>
                      <a:srcRect/>
                      <a:stretch>
                        <a:fillRect/>
                      </a:stretch>
                    </p:blipFill>
                    <p:spPr bwMode="auto">
                      <a:xfrm>
                        <a:off x="2384566" y="5070136"/>
                        <a:ext cx="3639228" cy="1771289"/>
                      </a:xfrm>
                      <a:prstGeom prst="rect">
                        <a:avLst/>
                      </a:prstGeom>
                      <a:noFill/>
                    </p:spPr>
                  </p:pic>
                </p:oleObj>
              </mc:Fallback>
            </mc:AlternateContent>
          </a:graphicData>
        </a:graphic>
      </p:graphicFrame>
      <p:sp>
        <p:nvSpPr>
          <p:cNvPr id="2" name="矩形: 圆角 1">
            <a:extLst>
              <a:ext uri="{FF2B5EF4-FFF2-40B4-BE49-F238E27FC236}">
                <a16:creationId xmlns:a16="http://schemas.microsoft.com/office/drawing/2014/main" id="{2B9F35BF-5CF9-AFC6-889F-2BCAF1507B5D}"/>
              </a:ext>
            </a:extLst>
          </p:cNvPr>
          <p:cNvSpPr/>
          <p:nvPr/>
        </p:nvSpPr>
        <p:spPr>
          <a:xfrm>
            <a:off x="7344816" y="2205434"/>
            <a:ext cx="4799856" cy="3255935"/>
          </a:xfrm>
          <a:prstGeom prst="roundRect">
            <a:avLst/>
          </a:prstGeom>
          <a:solidFill>
            <a:srgbClr val="0066FF"/>
          </a:solidFill>
          <a:ln>
            <a:solidFill>
              <a:srgbClr val="002060"/>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lnSpc>
                <a:spcPct val="110000"/>
              </a:lnSpc>
            </a:pPr>
            <a:r>
              <a:rPr lang="zh-CN" altLang="en-US" sz="2800" b="1" dirty="0">
                <a:solidFill>
                  <a:srgbClr val="FFE1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三分法</a:t>
            </a:r>
            <a:r>
              <a:rPr lang="zh-CN" altLang="en-US" sz="2800" b="1" dirty="0">
                <a:solidFill>
                  <a:srgbClr val="FFFF00"/>
                </a:solidFill>
                <a:effectLst>
                  <a:outerShdw blurRad="38100" dist="38100" dir="2700000" algn="tl">
                    <a:srgbClr val="000000">
                      <a:alpha val="43137"/>
                    </a:srgbClr>
                  </a:outerShdw>
                </a:effectLst>
                <a:latin typeface="Arial" pitchFamily="34" charset="0"/>
              </a:rPr>
              <a:t>可等价于</a:t>
            </a:r>
            <a:r>
              <a:rPr lang="en-US" altLang="zh-CN" sz="2800" b="1" dirty="0">
                <a:solidFill>
                  <a:srgbClr val="FFFF00"/>
                </a:solidFill>
                <a:effectLst>
                  <a:outerShdw blurRad="38100" dist="38100" dir="2700000" algn="tl">
                    <a:srgbClr val="000000">
                      <a:alpha val="43137"/>
                    </a:srgbClr>
                  </a:outerShdw>
                </a:effectLst>
                <a:latin typeface="Arial" pitchFamily="34" charset="0"/>
              </a:rPr>
              <a:t>F</a:t>
            </a:r>
            <a:r>
              <a:rPr lang="zh-CN" altLang="en-US" sz="2800" b="1" dirty="0">
                <a:solidFill>
                  <a:srgbClr val="FFFF00"/>
                </a:solidFill>
                <a:effectLst>
                  <a:outerShdw blurRad="38100" dist="38100" dir="2700000" algn="tl">
                    <a:srgbClr val="000000">
                      <a:alpha val="43137"/>
                    </a:srgbClr>
                  </a:outerShdw>
                </a:effectLst>
                <a:latin typeface="Arial" pitchFamily="34" charset="0"/>
              </a:rPr>
              <a:t>随机试验</a:t>
            </a:r>
            <a:r>
              <a:rPr lang="en-US" altLang="zh-CN" sz="2800" b="1" dirty="0">
                <a:solidFill>
                  <a:srgbClr val="FFFF00"/>
                </a:solidFill>
                <a:effectLst>
                  <a:outerShdw blurRad="38100" dist="38100" dir="2700000" algn="tl">
                    <a:srgbClr val="000000">
                      <a:alpha val="43137"/>
                    </a:srgbClr>
                  </a:outerShdw>
                </a:effectLst>
                <a:latin typeface="Arial" pitchFamily="34" charset="0"/>
              </a:rPr>
              <a:t>:</a:t>
            </a:r>
          </a:p>
          <a:p>
            <a:pPr marL="342900" indent="-342900">
              <a:lnSpc>
                <a:spcPct val="110000"/>
              </a:lnSpc>
              <a:buFont typeface="Wingdings" panose="05000000000000000000" pitchFamily="2" charset="2"/>
              <a:buChar char="l"/>
            </a:pPr>
            <a:r>
              <a:rPr lang="zh-CN" altLang="en-US" sz="2800" b="1" dirty="0">
                <a:solidFill>
                  <a:srgbClr val="FFFF00"/>
                </a:solidFill>
                <a:effectLst>
                  <a:outerShdw blurRad="38100" dist="38100" dir="2700000" algn="tl">
                    <a:srgbClr val="000000">
                      <a:alpha val="43137"/>
                    </a:srgbClr>
                  </a:outerShdw>
                </a:effectLst>
                <a:latin typeface="Arial" pitchFamily="34" charset="0"/>
              </a:rPr>
              <a:t>视</a:t>
            </a:r>
            <a:r>
              <a:rPr lang="en-US" altLang="zh-CN" sz="2800" b="1" dirty="0">
                <a:solidFill>
                  <a:srgbClr val="FFFF00"/>
                </a:solidFill>
                <a:effectLst>
                  <a:outerShdw blurRad="38100" dist="38100" dir="2700000" algn="tl">
                    <a:srgbClr val="000000">
                      <a:alpha val="43137"/>
                    </a:srgbClr>
                  </a:outerShdw>
                </a:effectLst>
                <a:latin typeface="Arial" pitchFamily="34" charset="0"/>
              </a:rPr>
              <a:t>(</a:t>
            </a:r>
            <a:r>
              <a:rPr lang="en-US" altLang="zh-CN" sz="2800" b="1" i="1" dirty="0" err="1">
                <a:solidFill>
                  <a:srgbClr val="CC00CC"/>
                </a:solidFill>
                <a:effectLst>
                  <a:outerShdw blurRad="38100" dist="38100" dir="2700000" algn="tl">
                    <a:srgbClr val="000000">
                      <a:alpha val="43137"/>
                    </a:srgbClr>
                  </a:outerShdw>
                </a:effectLst>
                <a:latin typeface="Arial" pitchFamily="34" charset="0"/>
              </a:rPr>
              <a:t>u</a:t>
            </a:r>
            <a:r>
              <a:rPr lang="en-US" altLang="zh-CN" sz="2800" b="1" dirty="0" err="1">
                <a:solidFill>
                  <a:srgbClr val="CC00CC"/>
                </a:solidFill>
                <a:effectLst>
                  <a:outerShdw blurRad="38100" dist="38100" dir="2700000" algn="tl">
                    <a:srgbClr val="000000">
                      <a:alpha val="43137"/>
                    </a:srgbClr>
                  </a:outerShdw>
                </a:effectLst>
                <a:latin typeface="Arial" pitchFamily="34" charset="0"/>
              </a:rPr>
              <a:t>,</a:t>
            </a:r>
            <a:r>
              <a:rPr lang="en-US" altLang="zh-CN" sz="2800" b="1" i="1" dirty="0" err="1">
                <a:solidFill>
                  <a:srgbClr val="CC00CC"/>
                </a:solidFill>
                <a:effectLst>
                  <a:outerShdw blurRad="38100" dist="38100" dir="2700000" algn="tl">
                    <a:srgbClr val="000000">
                      <a:alpha val="43137"/>
                    </a:srgbClr>
                  </a:outerShdw>
                </a:effectLst>
                <a:latin typeface="Arial" pitchFamily="34" charset="0"/>
              </a:rPr>
              <a:t>v</a:t>
            </a:r>
            <a:r>
              <a:rPr lang="en-US" altLang="zh-CN" sz="2800" b="1" dirty="0">
                <a:solidFill>
                  <a:srgbClr val="FFFF00"/>
                </a:solidFill>
                <a:effectLst>
                  <a:outerShdw blurRad="38100" dist="38100" dir="2700000" algn="tl">
                    <a:srgbClr val="000000">
                      <a:alpha val="43137"/>
                    </a:srgbClr>
                  </a:outerShdw>
                </a:effectLst>
                <a:latin typeface="Arial" pitchFamily="34" charset="0"/>
              </a:rPr>
              <a:t>) </a:t>
            </a:r>
            <a:r>
              <a:rPr lang="zh-CN" altLang="en-US" sz="2800" b="1" dirty="0">
                <a:solidFill>
                  <a:srgbClr val="FFFF00"/>
                </a:solidFill>
                <a:effectLst>
                  <a:outerShdw blurRad="38100" dist="38100" dir="2700000" algn="tl">
                    <a:srgbClr val="000000">
                      <a:alpha val="43137"/>
                    </a:srgbClr>
                  </a:outerShdw>
                </a:effectLst>
                <a:latin typeface="Arial" pitchFamily="34" charset="0"/>
              </a:rPr>
              <a:t>为二维随机向量观察值，对其进行抽样</a:t>
            </a:r>
            <a:r>
              <a:rPr lang="en-US" altLang="zh-CN" sz="2800" b="1" dirty="0">
                <a:solidFill>
                  <a:srgbClr val="FFFF00"/>
                </a:solidFill>
                <a:effectLst>
                  <a:outerShdw blurRad="38100" dist="38100" dir="2700000" algn="tl">
                    <a:srgbClr val="000000">
                      <a:alpha val="43137"/>
                    </a:srgbClr>
                  </a:outerShdw>
                </a:effectLst>
                <a:latin typeface="Arial" pitchFamily="34" charset="0"/>
              </a:rPr>
              <a:t>;</a:t>
            </a:r>
          </a:p>
          <a:p>
            <a:pPr marL="342900" indent="-342900">
              <a:lnSpc>
                <a:spcPct val="110000"/>
              </a:lnSpc>
              <a:buFont typeface="Wingdings" panose="05000000000000000000" pitchFamily="2" charset="2"/>
              <a:buChar char="l"/>
            </a:pPr>
            <a:r>
              <a:rPr lang="zh-CN" altLang="en-US" sz="2800" b="1" dirty="0">
                <a:solidFill>
                  <a:srgbClr val="FFFF00"/>
                </a:solidFill>
                <a:effectLst>
                  <a:outerShdw blurRad="38100" dist="38100" dir="2700000" algn="tl">
                    <a:srgbClr val="000000">
                      <a:alpha val="43137"/>
                    </a:srgbClr>
                  </a:outerShdw>
                </a:effectLst>
                <a:latin typeface="Arial" pitchFamily="34" charset="0"/>
              </a:rPr>
              <a:t>再求得</a:t>
            </a:r>
            <a:r>
              <a:rPr lang="en-US" altLang="zh-CN" sz="2800" b="1" i="1" dirty="0">
                <a:solidFill>
                  <a:srgbClr val="CC00CC"/>
                </a:solidFill>
                <a:effectLst>
                  <a:outerShdw blurRad="38100" dist="38100" dir="2700000" algn="tl">
                    <a:srgbClr val="000000">
                      <a:alpha val="43137"/>
                    </a:srgbClr>
                  </a:outerShdw>
                </a:effectLst>
                <a:latin typeface="Arial" pitchFamily="34" charset="0"/>
              </a:rPr>
              <a:t>u</a:t>
            </a:r>
            <a:r>
              <a:rPr lang="en-US" altLang="zh-CN" sz="2800" b="1" dirty="0">
                <a:solidFill>
                  <a:srgbClr val="CC00CC"/>
                </a:solidFill>
                <a:effectLst>
                  <a:outerShdw blurRad="38100" dist="38100" dir="2700000" algn="tl">
                    <a:srgbClr val="000000">
                      <a:alpha val="43137"/>
                    </a:srgbClr>
                  </a:outerShdw>
                </a:effectLst>
                <a:latin typeface="Arial" pitchFamily="34" charset="0"/>
              </a:rPr>
              <a:t>, </a:t>
            </a:r>
            <a:r>
              <a:rPr lang="en-US" altLang="zh-CN" sz="2800" b="1" i="1" dirty="0">
                <a:solidFill>
                  <a:srgbClr val="CC00CC"/>
                </a:solidFill>
                <a:effectLst>
                  <a:outerShdw blurRad="38100" dist="38100" dir="2700000" algn="tl">
                    <a:srgbClr val="000000">
                      <a:alpha val="43137"/>
                    </a:srgbClr>
                  </a:outerShdw>
                </a:effectLst>
                <a:latin typeface="Arial" pitchFamily="34" charset="0"/>
              </a:rPr>
              <a:t>v</a:t>
            </a:r>
            <a:r>
              <a:rPr lang="zh-CN" altLang="en-US" sz="2800" b="1" dirty="0">
                <a:solidFill>
                  <a:srgbClr val="FFFF00"/>
                </a:solidFill>
                <a:effectLst>
                  <a:outerShdw blurRad="38100" dist="38100" dir="2700000" algn="tl">
                    <a:srgbClr val="000000">
                      <a:alpha val="43137"/>
                    </a:srgbClr>
                  </a:outerShdw>
                </a:effectLst>
                <a:latin typeface="Arial" pitchFamily="34" charset="0"/>
              </a:rPr>
              <a:t>的概率分布</a:t>
            </a:r>
            <a:r>
              <a:rPr lang="en-US" altLang="zh-CN" sz="2800" b="1" dirty="0">
                <a:solidFill>
                  <a:srgbClr val="FFFF00"/>
                </a:solidFill>
                <a:effectLst>
                  <a:outerShdw blurRad="38100" dist="38100" dir="2700000" algn="tl">
                    <a:srgbClr val="000000">
                      <a:alpha val="43137"/>
                    </a:srgbClr>
                  </a:outerShdw>
                </a:effectLst>
                <a:latin typeface="Arial" pitchFamily="34" charset="0"/>
              </a:rPr>
              <a:t>;</a:t>
            </a:r>
          </a:p>
          <a:p>
            <a:pPr marL="342900" indent="-342900">
              <a:lnSpc>
                <a:spcPct val="110000"/>
              </a:lnSpc>
              <a:buFont typeface="Wingdings" panose="05000000000000000000" pitchFamily="2" charset="2"/>
              <a:buChar char="l"/>
            </a:pPr>
            <a:r>
              <a:rPr lang="zh-CN" altLang="en-US" sz="2800" b="1" dirty="0">
                <a:solidFill>
                  <a:srgbClr val="FFFF00"/>
                </a:solidFill>
                <a:effectLst>
                  <a:outerShdw blurRad="38100" dist="38100" dir="2700000" algn="tl">
                    <a:srgbClr val="000000">
                      <a:alpha val="43137"/>
                    </a:srgbClr>
                  </a:outerShdw>
                </a:effectLst>
                <a:latin typeface="Arial" pitchFamily="34" charset="0"/>
              </a:rPr>
              <a:t>从而得到</a:t>
            </a:r>
            <a:r>
              <a:rPr lang="en-US" altLang="zh-CN" sz="2800" b="1" dirty="0">
                <a:solidFill>
                  <a:srgbClr val="FFFF00"/>
                </a:solidFill>
                <a:effectLst>
                  <a:outerShdw blurRad="38100" dist="38100" dir="2700000" algn="tl">
                    <a:srgbClr val="000000">
                      <a:alpha val="43137"/>
                    </a:srgbClr>
                  </a:outerShdw>
                </a:effectLst>
                <a:latin typeface="Arial" pitchFamily="34" charset="0"/>
              </a:rPr>
              <a:t>F</a:t>
            </a:r>
            <a:r>
              <a:rPr lang="zh-CN" altLang="en-US" sz="2800" b="1" dirty="0">
                <a:solidFill>
                  <a:srgbClr val="FFFF00"/>
                </a:solidFill>
                <a:effectLst>
                  <a:outerShdw blurRad="38100" dist="38100" dir="2700000" algn="tl">
                    <a:srgbClr val="000000">
                      <a:alpha val="43137"/>
                    </a:srgbClr>
                  </a:outerShdw>
                </a:effectLst>
                <a:latin typeface="Arial" pitchFamily="34" charset="0"/>
              </a:rPr>
              <a:t>集</a:t>
            </a:r>
            <a:r>
              <a:rPr lang="en-US" altLang="zh-CN" sz="2800" b="1" dirty="0">
                <a:solidFill>
                  <a:srgbClr val="FFFF00"/>
                </a:solidFill>
                <a:effectLst>
                  <a:outerShdw blurRad="38100" dist="38100" dir="2700000" algn="tl">
                    <a:srgbClr val="000000">
                      <a:alpha val="43137"/>
                    </a:srgbClr>
                  </a:outerShdw>
                </a:effectLst>
                <a:latin typeface="Arial" pitchFamily="34" charset="0"/>
              </a:rPr>
              <a:t>A</a:t>
            </a:r>
            <a:r>
              <a:rPr lang="en-US" altLang="zh-CN" sz="2800" b="1" baseline="-25000" dirty="0">
                <a:solidFill>
                  <a:srgbClr val="FFFF00"/>
                </a:solidFill>
                <a:effectLst>
                  <a:outerShdw blurRad="38100" dist="38100" dir="2700000" algn="tl">
                    <a:srgbClr val="000000">
                      <a:alpha val="43137"/>
                    </a:srgbClr>
                  </a:outerShdw>
                </a:effectLst>
                <a:latin typeface="Arial" pitchFamily="34" charset="0"/>
              </a:rPr>
              <a:t>1</a:t>
            </a:r>
            <a:r>
              <a:rPr lang="zh-CN" altLang="en-US" sz="2800" b="1" baseline="-25000" dirty="0">
                <a:solidFill>
                  <a:srgbClr val="FFFF00"/>
                </a:solidFill>
                <a:effectLst>
                  <a:outerShdw blurRad="38100" dist="38100" dir="2700000" algn="tl">
                    <a:srgbClr val="000000">
                      <a:alpha val="43137"/>
                    </a:srgbClr>
                  </a:outerShdw>
                </a:effectLst>
                <a:latin typeface="Arial" pitchFamily="34" charset="0"/>
              </a:rPr>
              <a:t> </a:t>
            </a:r>
            <a:r>
              <a:rPr lang="en-US" altLang="zh-CN" sz="2800" b="1" dirty="0">
                <a:solidFill>
                  <a:srgbClr val="FFFF00"/>
                </a:solidFill>
                <a:effectLst>
                  <a:outerShdw blurRad="38100" dist="38100" dir="2700000" algn="tl">
                    <a:srgbClr val="000000">
                      <a:alpha val="43137"/>
                    </a:srgbClr>
                  </a:outerShdw>
                </a:effectLst>
                <a:latin typeface="Arial" pitchFamily="34" charset="0"/>
              </a:rPr>
              <a:t>,A</a:t>
            </a:r>
            <a:r>
              <a:rPr lang="en-US" altLang="zh-CN" sz="2800" b="1" baseline="-25000" dirty="0">
                <a:solidFill>
                  <a:srgbClr val="FFFF00"/>
                </a:solidFill>
                <a:effectLst>
                  <a:outerShdw blurRad="38100" dist="38100" dir="2700000" algn="tl">
                    <a:srgbClr val="000000">
                      <a:alpha val="43137"/>
                    </a:srgbClr>
                  </a:outerShdw>
                </a:effectLst>
                <a:latin typeface="Arial" pitchFamily="34" charset="0"/>
              </a:rPr>
              <a:t>2 ,</a:t>
            </a:r>
            <a:r>
              <a:rPr lang="en-US" altLang="zh-CN" sz="2800" b="1" dirty="0">
                <a:solidFill>
                  <a:srgbClr val="FFFF00"/>
                </a:solidFill>
                <a:effectLst>
                  <a:outerShdw blurRad="38100" dist="38100" dir="2700000" algn="tl">
                    <a:srgbClr val="000000">
                      <a:alpha val="43137"/>
                    </a:srgbClr>
                  </a:outerShdw>
                </a:effectLst>
                <a:latin typeface="Arial" pitchFamily="34" charset="0"/>
              </a:rPr>
              <a:t>A</a:t>
            </a:r>
            <a:r>
              <a:rPr lang="en-US" altLang="zh-CN" sz="2800" b="1" baseline="-25000" dirty="0">
                <a:solidFill>
                  <a:srgbClr val="FFFF00"/>
                </a:solidFill>
                <a:effectLst>
                  <a:outerShdw blurRad="38100" dist="38100" dir="2700000" algn="tl">
                    <a:srgbClr val="000000">
                      <a:alpha val="43137"/>
                    </a:srgbClr>
                  </a:outerShdw>
                </a:effectLst>
                <a:latin typeface="Arial" pitchFamily="34" charset="0"/>
              </a:rPr>
              <a:t>3</a:t>
            </a:r>
            <a:r>
              <a:rPr lang="zh-CN" altLang="en-US" sz="2800" b="1" dirty="0">
                <a:solidFill>
                  <a:srgbClr val="FFFF00"/>
                </a:solidFill>
                <a:effectLst>
                  <a:outerShdw blurRad="38100" dist="38100" dir="2700000" algn="tl">
                    <a:srgbClr val="000000">
                      <a:alpha val="43137"/>
                    </a:srgbClr>
                  </a:outerShdw>
                </a:effectLst>
                <a:latin typeface="Arial" pitchFamily="34" charset="0"/>
              </a:rPr>
              <a:t>的隶属函数。</a:t>
            </a:r>
          </a:p>
        </p:txBody>
      </p:sp>
      <p:graphicFrame>
        <p:nvGraphicFramePr>
          <p:cNvPr id="3" name="Object 6">
            <a:extLst>
              <a:ext uri="{FF2B5EF4-FFF2-40B4-BE49-F238E27FC236}">
                <a16:creationId xmlns:a16="http://schemas.microsoft.com/office/drawing/2014/main" id="{8C823A33-4563-3295-F646-DE9BE93F5059}"/>
              </a:ext>
            </a:extLst>
          </p:cNvPr>
          <p:cNvGraphicFramePr>
            <a:graphicFrameLocks noChangeAspect="1"/>
          </p:cNvGraphicFramePr>
          <p:nvPr>
            <p:extLst>
              <p:ext uri="{D42A27DB-BD31-4B8C-83A1-F6EECF244321}">
                <p14:modId xmlns:p14="http://schemas.microsoft.com/office/powerpoint/2010/main" val="2090555490"/>
              </p:ext>
            </p:extLst>
          </p:nvPr>
        </p:nvGraphicFramePr>
        <p:xfrm>
          <a:off x="6023992" y="5230842"/>
          <a:ext cx="3567113" cy="1516063"/>
        </p:xfrm>
        <a:graphic>
          <a:graphicData uri="http://schemas.openxmlformats.org/presentationml/2006/ole">
            <mc:AlternateContent xmlns:mc="http://schemas.openxmlformats.org/markup-compatibility/2006">
              <mc:Choice xmlns:v="urn:schemas-microsoft-com:vml" Requires="v">
                <p:oleObj name="Equation" r:id="rId7" imgW="1676160" imgH="711000" progId="Equation.DSMT4">
                  <p:embed/>
                </p:oleObj>
              </mc:Choice>
              <mc:Fallback>
                <p:oleObj name="Equation" r:id="rId7" imgW="1676160" imgH="711000" progId="Equation.DSMT4">
                  <p:embed/>
                  <p:pic>
                    <p:nvPicPr>
                      <p:cNvPr id="105478" name="Object 6"/>
                      <p:cNvPicPr>
                        <a:picLocks noGrp="1" noChangeAspect="1" noChangeArrowheads="1"/>
                      </p:cNvPicPr>
                      <p:nvPr/>
                    </p:nvPicPr>
                    <p:blipFill>
                      <a:blip r:embed="rId8"/>
                      <a:srcRect/>
                      <a:stretch>
                        <a:fillRect/>
                      </a:stretch>
                    </p:blipFill>
                    <p:spPr bwMode="auto">
                      <a:xfrm>
                        <a:off x="6023992" y="5230842"/>
                        <a:ext cx="3567113" cy="1516063"/>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07E91067-DB7B-6A89-A047-23D5C7F95133}"/>
              </a:ext>
            </a:extLst>
          </p:cNvPr>
          <p:cNvSpPr>
            <a:spLocks noGrp="1"/>
          </p:cNvSpPr>
          <p:nvPr>
            <p:ph type="sldNum" sz="quarter" idx="11"/>
          </p:nvPr>
        </p:nvSpPr>
        <p:spPr/>
        <p:txBody>
          <a:bodyPr/>
          <a:lstStyle/>
          <a:p>
            <a:pPr>
              <a:defRPr/>
            </a:pPr>
            <a:fld id="{6E623E09-9292-430A-945A-636A50DBB6F1}" type="slidenum">
              <a:rPr lang="en-US" altLang="zh-CN" smtClean="0"/>
              <a:pPr>
                <a:defRPr/>
              </a:pPr>
              <a:t>5</a:t>
            </a:fld>
            <a:endParaRPr lang="en-US" altLang="zh-CN"/>
          </a:p>
        </p:txBody>
      </p:sp>
    </p:spTree>
    <p:extLst>
      <p:ext uri="{BB962C8B-B14F-4D97-AF65-F5344CB8AC3E}">
        <p14:creationId xmlns:p14="http://schemas.microsoft.com/office/powerpoint/2010/main" val="18763212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animEffect transition="in" filter="wipe(left)">
                                      <p:cBhvr>
                                        <p:cTn id="7" dur="500"/>
                                        <p:tgtEl>
                                          <p:spTgt spid="1054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5476"/>
                                        </p:tgtEl>
                                        <p:attrNameLst>
                                          <p:attrName>style.visibility</p:attrName>
                                        </p:attrNameLst>
                                      </p:cBhvr>
                                      <p:to>
                                        <p:strVal val="visible"/>
                                      </p:to>
                                    </p:set>
                                    <p:animEffect transition="in" filter="wipe(left)">
                                      <p:cBhvr>
                                        <p:cTn id="12" dur="500"/>
                                        <p:tgtEl>
                                          <p:spTgt spid="1054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5475">
                                            <p:txEl>
                                              <p:pRg st="4" end="4"/>
                                            </p:txEl>
                                          </p:spTgt>
                                        </p:tgtEl>
                                        <p:attrNameLst>
                                          <p:attrName>style.visibility</p:attrName>
                                        </p:attrNameLst>
                                      </p:cBhvr>
                                      <p:to>
                                        <p:strVal val="visible"/>
                                      </p:to>
                                    </p:set>
                                    <p:animEffect transition="in" filter="wipe(left)">
                                      <p:cBhvr>
                                        <p:cTn id="17" dur="500"/>
                                        <p:tgtEl>
                                          <p:spTgt spid="10547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5478"/>
                                        </p:tgtEl>
                                        <p:attrNameLst>
                                          <p:attrName>style.visibility</p:attrName>
                                        </p:attrNameLst>
                                      </p:cBhvr>
                                      <p:to>
                                        <p:strVal val="visible"/>
                                      </p:to>
                                    </p:set>
                                    <p:animEffect transition="in" filter="wipe(left)">
                                      <p:cBhvr>
                                        <p:cTn id="22" dur="500"/>
                                        <p:tgtEl>
                                          <p:spTgt spid="1054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53" presetClass="entr" presetSubtype="16" fill="hold" nodeType="with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anim calcmode="lin" valueType="num">
                                      <p:cBhvr>
                                        <p:cTn id="35"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wipe(left)">
                                      <p:cBhvr>
                                        <p:cTn id="42" dur="500"/>
                                        <p:tgtEl>
                                          <p:spTgt spid="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xEl>
                                              <p:pRg st="2" end="2"/>
                                            </p:txEl>
                                          </p:spTgt>
                                        </p:tgtEl>
                                        <p:attrNameLst>
                                          <p:attrName>style.visibility</p:attrName>
                                        </p:attrNameLst>
                                      </p:cBhvr>
                                      <p:to>
                                        <p:strVal val="visible"/>
                                      </p:to>
                                    </p:set>
                                    <p:animEffect transition="in" filter="wipe(left)">
                                      <p:cBhvr>
                                        <p:cTn id="47" dur="500"/>
                                        <p:tgtEl>
                                          <p:spTgt spid="2">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animEffect transition="in" filter="wipe(left)">
                                      <p:cBhvr>
                                        <p:cTn id="5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81200" y="457200"/>
            <a:ext cx="8229600" cy="1100138"/>
          </a:xfrm>
        </p:spPr>
        <p:txBody>
          <a:bodyPr/>
          <a:lstStyle/>
          <a:p>
            <a:pPr eaLnBrk="1" hangingPunct="1"/>
            <a:r>
              <a:rPr lang="zh-CN" altLang="en-US">
                <a:solidFill>
                  <a:srgbClr val="008000"/>
                </a:solidFill>
                <a:ea typeface="黑体" pitchFamily="49" charset="-122"/>
              </a:rPr>
              <a:t>隶属函数确定方法</a:t>
            </a:r>
            <a:r>
              <a:rPr lang="en-US" altLang="zh-CN">
                <a:solidFill>
                  <a:srgbClr val="008000"/>
                </a:solidFill>
                <a:ea typeface="黑体" pitchFamily="49" charset="-122"/>
              </a:rPr>
              <a:t>4</a:t>
            </a:r>
            <a:r>
              <a:rPr lang="zh-CN" altLang="en-US">
                <a:solidFill>
                  <a:srgbClr val="008000"/>
                </a:solidFill>
                <a:ea typeface="黑体" pitchFamily="49" charset="-122"/>
              </a:rPr>
              <a:t>：三分法</a:t>
            </a:r>
          </a:p>
        </p:txBody>
      </p:sp>
      <p:sp>
        <p:nvSpPr>
          <p:cNvPr id="29699" name="Rectangle 3"/>
          <p:cNvSpPr>
            <a:spLocks noGrp="1" noChangeArrowheads="1"/>
          </p:cNvSpPr>
          <p:nvPr>
            <p:ph type="body" idx="1"/>
          </p:nvPr>
        </p:nvSpPr>
        <p:spPr>
          <a:xfrm>
            <a:off x="709835" y="1447101"/>
            <a:ext cx="10568038" cy="5229225"/>
          </a:xfrm>
        </p:spPr>
        <p:txBody>
          <a:bodyPr/>
          <a:lstStyle/>
          <a:p>
            <a:pPr eaLnBrk="1" hangingPunct="1">
              <a:lnSpc>
                <a:spcPct val="95000"/>
              </a:lnSpc>
            </a:pPr>
            <a:r>
              <a:rPr lang="zh-CN" altLang="en-US" sz="2800" dirty="0"/>
              <a:t>对于同一论域</a:t>
            </a:r>
            <a:r>
              <a:rPr lang="en-US" altLang="zh-CN" sz="2800" dirty="0"/>
              <a:t>U</a:t>
            </a:r>
            <a:r>
              <a:rPr lang="zh-CN" altLang="en-US" sz="2800" dirty="0"/>
              <a:t>中三个相关的</a:t>
            </a:r>
            <a:r>
              <a:rPr lang="en-US" altLang="zh-CN" sz="2800" dirty="0"/>
              <a:t>F</a:t>
            </a:r>
            <a:r>
              <a:rPr lang="zh-CN" altLang="en-US" sz="2800" dirty="0"/>
              <a:t>概念</a:t>
            </a:r>
            <a:r>
              <a:rPr lang="en-US" altLang="zh-CN" sz="2800" dirty="0"/>
              <a:t>A</a:t>
            </a:r>
            <a:r>
              <a:rPr lang="en-US" altLang="zh-CN" sz="2800" baseline="-25000" dirty="0"/>
              <a:t>1</a:t>
            </a:r>
            <a:r>
              <a:rPr lang="zh-CN" altLang="en-US" sz="2800" dirty="0"/>
              <a:t>、</a:t>
            </a:r>
            <a:r>
              <a:rPr lang="en-US" altLang="zh-CN" sz="2800" dirty="0"/>
              <a:t>A</a:t>
            </a:r>
            <a:r>
              <a:rPr lang="en-US" altLang="zh-CN" sz="2800" baseline="-25000" dirty="0"/>
              <a:t>2</a:t>
            </a:r>
            <a:r>
              <a:rPr lang="zh-CN" altLang="en-US" sz="2800" dirty="0"/>
              <a:t>和</a:t>
            </a:r>
            <a:r>
              <a:rPr lang="en-US" altLang="zh-CN" sz="2800" dirty="0"/>
              <a:t>A</a:t>
            </a:r>
            <a:r>
              <a:rPr lang="en-US" altLang="zh-CN" sz="2800" baseline="-25000" dirty="0"/>
              <a:t>3</a:t>
            </a:r>
            <a:r>
              <a:rPr lang="zh-CN" altLang="en-US" sz="2800" dirty="0"/>
              <a:t>，</a:t>
            </a:r>
          </a:p>
          <a:p>
            <a:pPr eaLnBrk="1" hangingPunct="1">
              <a:lnSpc>
                <a:spcPct val="95000"/>
              </a:lnSpc>
            </a:pPr>
            <a:r>
              <a:rPr lang="zh-CN" altLang="en-US" sz="2800" dirty="0"/>
              <a:t>每次</a:t>
            </a:r>
            <a:r>
              <a:rPr lang="en-US" altLang="zh-CN" sz="2800" dirty="0"/>
              <a:t>F</a:t>
            </a:r>
            <a:r>
              <a:rPr lang="zh-CN" altLang="en-US" sz="2800" dirty="0"/>
              <a:t>试验确定</a:t>
            </a:r>
            <a:r>
              <a:rPr lang="en-US" altLang="zh-CN" sz="2800" dirty="0"/>
              <a:t>U</a:t>
            </a:r>
            <a:r>
              <a:rPr lang="zh-CN" altLang="en-US" sz="2800" dirty="0"/>
              <a:t>的一次划分，即确定一数对</a:t>
            </a:r>
            <a:r>
              <a:rPr lang="en-US" altLang="zh-CN" sz="2800" b="1" dirty="0">
                <a:solidFill>
                  <a:srgbClr val="3333FF"/>
                </a:solidFill>
              </a:rPr>
              <a:t>(</a:t>
            </a:r>
            <a:r>
              <a:rPr lang="el-GR" altLang="zh-CN" sz="2800" b="1" i="1" dirty="0">
                <a:solidFill>
                  <a:srgbClr val="3333FF"/>
                </a:solidFill>
                <a:cs typeface="Arial" pitchFamily="34" charset="0"/>
              </a:rPr>
              <a:t>ξ</a:t>
            </a:r>
            <a:r>
              <a:rPr lang="en-US" altLang="zh-CN" sz="2800" b="1" dirty="0">
                <a:solidFill>
                  <a:srgbClr val="3333FF"/>
                </a:solidFill>
              </a:rPr>
              <a:t>, </a:t>
            </a:r>
            <a:r>
              <a:rPr lang="el-GR" altLang="zh-CN" sz="2800" b="1" i="1" dirty="0">
                <a:solidFill>
                  <a:srgbClr val="3333FF"/>
                </a:solidFill>
              </a:rPr>
              <a:t>η</a:t>
            </a:r>
            <a:r>
              <a:rPr lang="en-US" altLang="zh-CN" sz="2800" b="1" dirty="0">
                <a:solidFill>
                  <a:srgbClr val="3333FF"/>
                </a:solidFill>
              </a:rPr>
              <a:t>)</a:t>
            </a:r>
            <a:r>
              <a:rPr lang="en-US" altLang="zh-CN" sz="2800" dirty="0"/>
              <a:t>, </a:t>
            </a:r>
            <a:r>
              <a:rPr lang="zh-CN" altLang="en-US" sz="2800" dirty="0"/>
              <a:t>使</a:t>
            </a:r>
          </a:p>
          <a:p>
            <a:pPr lvl="1" eaLnBrk="1" hangingPunct="1">
              <a:lnSpc>
                <a:spcPct val="95000"/>
              </a:lnSpc>
            </a:pPr>
            <a:r>
              <a:rPr lang="el-GR" altLang="zh-CN" i="1" dirty="0">
                <a:solidFill>
                  <a:srgbClr val="FF0000"/>
                </a:solidFill>
              </a:rPr>
              <a:t>ξ</a:t>
            </a:r>
            <a:r>
              <a:rPr lang="zh-CN" altLang="en-US" dirty="0">
                <a:solidFill>
                  <a:srgbClr val="FF0000"/>
                </a:solidFill>
              </a:rPr>
              <a:t>作为</a:t>
            </a:r>
            <a:r>
              <a:rPr lang="en-US" altLang="zh-CN" i="1" dirty="0">
                <a:solidFill>
                  <a:srgbClr val="FF0000"/>
                </a:solidFill>
              </a:rPr>
              <a:t>A</a:t>
            </a:r>
            <a:r>
              <a:rPr lang="en-US" altLang="zh-CN" baseline="-25000" dirty="0">
                <a:solidFill>
                  <a:srgbClr val="FF0000"/>
                </a:solidFill>
              </a:rPr>
              <a:t>1</a:t>
            </a:r>
            <a:r>
              <a:rPr lang="zh-CN" altLang="en-US" dirty="0">
                <a:solidFill>
                  <a:srgbClr val="FF0000"/>
                </a:solidFill>
              </a:rPr>
              <a:t>和</a:t>
            </a:r>
            <a:r>
              <a:rPr lang="en-US" altLang="zh-CN" i="1" dirty="0">
                <a:solidFill>
                  <a:srgbClr val="FF0000"/>
                </a:solidFill>
              </a:rPr>
              <a:t>A</a:t>
            </a:r>
            <a:r>
              <a:rPr lang="en-US" altLang="zh-CN" baseline="-25000" dirty="0">
                <a:solidFill>
                  <a:srgbClr val="FF0000"/>
                </a:solidFill>
              </a:rPr>
              <a:t>2</a:t>
            </a:r>
            <a:r>
              <a:rPr lang="zh-CN" altLang="en-US" dirty="0">
                <a:solidFill>
                  <a:srgbClr val="FF0000"/>
                </a:solidFill>
              </a:rPr>
              <a:t>的分界点， </a:t>
            </a:r>
            <a:r>
              <a:rPr lang="el-GR" altLang="zh-CN" i="1" dirty="0">
                <a:solidFill>
                  <a:srgbClr val="FF0000"/>
                </a:solidFill>
              </a:rPr>
              <a:t>η</a:t>
            </a:r>
            <a:r>
              <a:rPr lang="zh-CN" altLang="en-US" dirty="0">
                <a:solidFill>
                  <a:srgbClr val="FF0000"/>
                </a:solidFill>
              </a:rPr>
              <a:t>作为</a:t>
            </a:r>
            <a:r>
              <a:rPr lang="en-US" altLang="zh-CN" i="1" dirty="0">
                <a:solidFill>
                  <a:srgbClr val="FF0000"/>
                </a:solidFill>
              </a:rPr>
              <a:t>A</a:t>
            </a:r>
            <a:r>
              <a:rPr lang="en-US" altLang="zh-CN" baseline="-25000" dirty="0">
                <a:solidFill>
                  <a:srgbClr val="FF0000"/>
                </a:solidFill>
              </a:rPr>
              <a:t>2</a:t>
            </a:r>
            <a:r>
              <a:rPr lang="zh-CN" altLang="en-US" dirty="0">
                <a:solidFill>
                  <a:srgbClr val="FF0000"/>
                </a:solidFill>
              </a:rPr>
              <a:t>和</a:t>
            </a:r>
            <a:r>
              <a:rPr lang="en-US" altLang="zh-CN" i="1" dirty="0">
                <a:solidFill>
                  <a:srgbClr val="FF0000"/>
                </a:solidFill>
              </a:rPr>
              <a:t>A</a:t>
            </a:r>
            <a:r>
              <a:rPr lang="en-US" altLang="zh-CN" baseline="-25000" dirty="0">
                <a:solidFill>
                  <a:srgbClr val="FF0000"/>
                </a:solidFill>
              </a:rPr>
              <a:t>3</a:t>
            </a:r>
            <a:r>
              <a:rPr lang="zh-CN" altLang="en-US" dirty="0">
                <a:solidFill>
                  <a:srgbClr val="FF0000"/>
                </a:solidFill>
              </a:rPr>
              <a:t>的分界点</a:t>
            </a:r>
          </a:p>
          <a:p>
            <a:pPr eaLnBrk="1" hangingPunct="1">
              <a:lnSpc>
                <a:spcPct val="95000"/>
              </a:lnSpc>
            </a:pPr>
            <a:r>
              <a:rPr lang="en-US" altLang="zh-CN" sz="2800" b="1" dirty="0">
                <a:ea typeface="楷体_GB2312" pitchFamily="49" charset="-122"/>
              </a:rPr>
              <a:t>A</a:t>
            </a:r>
            <a:r>
              <a:rPr lang="en-US" altLang="zh-CN" sz="2800" b="1" baseline="-25000" dirty="0">
                <a:ea typeface="楷体_GB2312" pitchFamily="49" charset="-122"/>
              </a:rPr>
              <a:t>1</a:t>
            </a:r>
            <a:r>
              <a:rPr lang="zh-CN" altLang="en-US" sz="2800" b="1" dirty="0">
                <a:ea typeface="楷体_GB2312" pitchFamily="49" charset="-122"/>
              </a:rPr>
              <a:t>、</a:t>
            </a:r>
            <a:r>
              <a:rPr lang="en-US" altLang="zh-CN" sz="2800" b="1" dirty="0">
                <a:ea typeface="楷体_GB2312" pitchFamily="49" charset="-122"/>
              </a:rPr>
              <a:t>A</a:t>
            </a:r>
            <a:r>
              <a:rPr lang="en-US" altLang="zh-CN" sz="2800" b="1" baseline="-25000" dirty="0">
                <a:ea typeface="楷体_GB2312" pitchFamily="49" charset="-122"/>
              </a:rPr>
              <a:t>2</a:t>
            </a:r>
            <a:r>
              <a:rPr lang="zh-CN" altLang="en-US" sz="2800" b="1" dirty="0">
                <a:ea typeface="楷体_GB2312" pitchFamily="49" charset="-122"/>
              </a:rPr>
              <a:t>和 </a:t>
            </a:r>
            <a:r>
              <a:rPr lang="en-US" altLang="zh-CN" sz="2800" b="1" dirty="0">
                <a:ea typeface="楷体_GB2312" pitchFamily="49" charset="-122"/>
              </a:rPr>
              <a:t>A</a:t>
            </a:r>
            <a:r>
              <a:rPr lang="en-US" altLang="zh-CN" sz="2800" b="1" baseline="-25000" dirty="0">
                <a:ea typeface="楷体_GB2312" pitchFamily="49" charset="-122"/>
              </a:rPr>
              <a:t>3</a:t>
            </a:r>
            <a:r>
              <a:rPr lang="zh-CN" altLang="en-US" sz="2800" b="1" dirty="0">
                <a:ea typeface="楷体_GB2312" pitchFamily="49" charset="-122"/>
              </a:rPr>
              <a:t>的区间是随机区间，从而 </a:t>
            </a:r>
            <a:r>
              <a:rPr lang="el-GR" altLang="zh-CN" sz="2800" i="1" dirty="0"/>
              <a:t>ξ</a:t>
            </a:r>
            <a:r>
              <a:rPr lang="en-US" altLang="zh-CN" sz="2800" i="1" dirty="0"/>
              <a:t> </a:t>
            </a:r>
            <a:r>
              <a:rPr lang="zh-CN" altLang="en-US" sz="2800" b="1" dirty="0">
                <a:ea typeface="楷体_GB2312" pitchFamily="49" charset="-122"/>
              </a:rPr>
              <a:t>和 </a:t>
            </a:r>
            <a:r>
              <a:rPr lang="el-GR" altLang="zh-CN" sz="2800" i="1" dirty="0"/>
              <a:t>η</a:t>
            </a:r>
            <a:r>
              <a:rPr lang="en-US" altLang="zh-CN" sz="2800" i="1" dirty="0"/>
              <a:t> </a:t>
            </a:r>
            <a:r>
              <a:rPr lang="zh-CN" altLang="en-US" sz="2800" b="1" dirty="0">
                <a:ea typeface="楷体_GB2312" pitchFamily="49" charset="-122"/>
              </a:rPr>
              <a:t>是随机变量，它们具有正态分布的特性：</a:t>
            </a:r>
          </a:p>
          <a:p>
            <a:pPr eaLnBrk="1" hangingPunct="1">
              <a:lnSpc>
                <a:spcPct val="95000"/>
              </a:lnSpc>
              <a:buFont typeface="Wingdings" pitchFamily="2" charset="2"/>
              <a:buNone/>
            </a:pPr>
            <a:r>
              <a:rPr lang="zh-CN" altLang="en-US" sz="2400" b="1" dirty="0">
                <a:solidFill>
                  <a:srgbClr val="FF0000"/>
                </a:solidFill>
                <a:cs typeface="Arial" pitchFamily="34" charset="0"/>
              </a:rPr>
              <a:t>     </a:t>
            </a:r>
            <a:r>
              <a:rPr lang="el-GR" altLang="zh-CN" i="1" dirty="0">
                <a:solidFill>
                  <a:srgbClr val="FF0000"/>
                </a:solidFill>
              </a:rPr>
              <a:t>ξ</a:t>
            </a:r>
            <a:r>
              <a:rPr lang="zh-CN" altLang="en-US" b="1" dirty="0">
                <a:solidFill>
                  <a:srgbClr val="FF0000"/>
                </a:solidFill>
                <a:cs typeface="Arial" pitchFamily="34" charset="0"/>
              </a:rPr>
              <a:t>：</a:t>
            </a:r>
            <a:r>
              <a:rPr lang="en-US" altLang="zh-CN" b="1" i="1" dirty="0">
                <a:solidFill>
                  <a:srgbClr val="FF0000"/>
                </a:solidFill>
                <a:cs typeface="Arial" pitchFamily="34" charset="0"/>
              </a:rPr>
              <a:t>N</a:t>
            </a:r>
            <a:r>
              <a:rPr lang="en-US" altLang="zh-CN" b="1" dirty="0">
                <a:solidFill>
                  <a:srgbClr val="FF0000"/>
                </a:solidFill>
                <a:cs typeface="Arial" pitchFamily="34" charset="0"/>
              </a:rPr>
              <a:t>(</a:t>
            </a:r>
            <a:r>
              <a:rPr lang="en-US" altLang="zh-CN" b="1" i="1" dirty="0">
                <a:solidFill>
                  <a:srgbClr val="FF0000"/>
                </a:solidFill>
                <a:cs typeface="Arial" pitchFamily="34" charset="0"/>
              </a:rPr>
              <a:t>a</a:t>
            </a:r>
            <a:r>
              <a:rPr lang="en-US" altLang="zh-CN" b="1" baseline="-25000" dirty="0">
                <a:solidFill>
                  <a:srgbClr val="FF0000"/>
                </a:solidFill>
                <a:cs typeface="Arial" pitchFamily="34" charset="0"/>
              </a:rPr>
              <a:t>1</a:t>
            </a:r>
            <a:r>
              <a:rPr lang="en-US" altLang="zh-CN" b="1" dirty="0">
                <a:solidFill>
                  <a:srgbClr val="FF0000"/>
                </a:solidFill>
                <a:cs typeface="Arial" pitchFamily="34" charset="0"/>
              </a:rPr>
              <a:t>,</a:t>
            </a:r>
            <a:r>
              <a:rPr lang="el-GR" altLang="zh-CN" b="1" i="1" dirty="0">
                <a:solidFill>
                  <a:srgbClr val="FF0000"/>
                </a:solidFill>
                <a:cs typeface="Arial" pitchFamily="34" charset="0"/>
              </a:rPr>
              <a:t>σ</a:t>
            </a:r>
            <a:r>
              <a:rPr lang="en-US" altLang="zh-CN" b="1" baseline="-25000" dirty="0">
                <a:solidFill>
                  <a:srgbClr val="FF0000"/>
                </a:solidFill>
                <a:cs typeface="Arial" pitchFamily="34" charset="0"/>
              </a:rPr>
              <a:t>1</a:t>
            </a:r>
            <a:r>
              <a:rPr lang="en-US" altLang="zh-CN" b="1" baseline="30000" dirty="0">
                <a:solidFill>
                  <a:srgbClr val="FF0000"/>
                </a:solidFill>
              </a:rPr>
              <a:t>2</a:t>
            </a:r>
            <a:r>
              <a:rPr lang="en-US" altLang="zh-CN" b="1" dirty="0">
                <a:solidFill>
                  <a:srgbClr val="FF0000"/>
                </a:solidFill>
              </a:rPr>
              <a:t>)    </a:t>
            </a:r>
            <a:r>
              <a:rPr lang="el-GR" altLang="zh-CN" i="1" dirty="0">
                <a:solidFill>
                  <a:srgbClr val="FF0000"/>
                </a:solidFill>
              </a:rPr>
              <a:t>η</a:t>
            </a:r>
            <a:r>
              <a:rPr lang="zh-CN" altLang="en-US" b="1" dirty="0">
                <a:solidFill>
                  <a:srgbClr val="FF0000"/>
                </a:solidFill>
                <a:cs typeface="Arial" pitchFamily="34" charset="0"/>
              </a:rPr>
              <a:t>：</a:t>
            </a:r>
            <a:r>
              <a:rPr lang="en-US" altLang="zh-CN" b="1" i="1" dirty="0">
                <a:solidFill>
                  <a:srgbClr val="FF0000"/>
                </a:solidFill>
                <a:cs typeface="Arial" pitchFamily="34" charset="0"/>
              </a:rPr>
              <a:t>N</a:t>
            </a:r>
            <a:r>
              <a:rPr lang="en-US" altLang="zh-CN" b="1" dirty="0">
                <a:solidFill>
                  <a:srgbClr val="FF0000"/>
                </a:solidFill>
                <a:cs typeface="Arial" pitchFamily="34" charset="0"/>
              </a:rPr>
              <a:t>(</a:t>
            </a:r>
            <a:r>
              <a:rPr lang="en-US" altLang="zh-CN" b="1" i="1" dirty="0">
                <a:solidFill>
                  <a:srgbClr val="FF0000"/>
                </a:solidFill>
                <a:cs typeface="Arial" pitchFamily="34" charset="0"/>
              </a:rPr>
              <a:t>a</a:t>
            </a:r>
            <a:r>
              <a:rPr lang="en-US" altLang="zh-CN" b="1" baseline="-25000" dirty="0">
                <a:solidFill>
                  <a:srgbClr val="FF0000"/>
                </a:solidFill>
                <a:cs typeface="Arial" pitchFamily="34" charset="0"/>
              </a:rPr>
              <a:t>2</a:t>
            </a:r>
            <a:r>
              <a:rPr lang="en-US" altLang="zh-CN" b="1" dirty="0">
                <a:solidFill>
                  <a:srgbClr val="FF0000"/>
                </a:solidFill>
                <a:cs typeface="Arial" pitchFamily="34" charset="0"/>
              </a:rPr>
              <a:t>,</a:t>
            </a:r>
            <a:r>
              <a:rPr lang="el-GR" altLang="zh-CN" b="1" i="1" dirty="0">
                <a:solidFill>
                  <a:srgbClr val="FF0000"/>
                </a:solidFill>
                <a:cs typeface="Arial" pitchFamily="34" charset="0"/>
              </a:rPr>
              <a:t>σ</a:t>
            </a:r>
            <a:r>
              <a:rPr lang="en-US" altLang="zh-CN" b="1" baseline="-25000" dirty="0">
                <a:solidFill>
                  <a:srgbClr val="FF0000"/>
                </a:solidFill>
                <a:cs typeface="Arial" pitchFamily="34" charset="0"/>
              </a:rPr>
              <a:t>2</a:t>
            </a:r>
            <a:r>
              <a:rPr lang="en-US" altLang="zh-CN" b="1" baseline="30000" dirty="0">
                <a:solidFill>
                  <a:srgbClr val="FF0000"/>
                </a:solidFill>
              </a:rPr>
              <a:t>2</a:t>
            </a:r>
            <a:r>
              <a:rPr lang="en-US" altLang="zh-CN" b="1" dirty="0">
                <a:solidFill>
                  <a:srgbClr val="FF0000"/>
                </a:solidFill>
              </a:rPr>
              <a:t>)</a:t>
            </a:r>
            <a:r>
              <a:rPr lang="en-US" altLang="zh-CN" dirty="0">
                <a:solidFill>
                  <a:srgbClr val="FF0000"/>
                </a:solidFill>
              </a:rPr>
              <a:t> </a:t>
            </a:r>
            <a:endParaRPr lang="en-US" altLang="zh-CN" sz="3600" dirty="0">
              <a:solidFill>
                <a:srgbClr val="FF0000"/>
              </a:solidFill>
            </a:endParaRPr>
          </a:p>
          <a:p>
            <a:pPr eaLnBrk="1" hangingPunct="1">
              <a:lnSpc>
                <a:spcPct val="95000"/>
              </a:lnSpc>
            </a:pPr>
            <a:r>
              <a:rPr lang="zh-CN" altLang="en-US" sz="2800" dirty="0"/>
              <a:t>而数对</a:t>
            </a:r>
            <a:r>
              <a:rPr lang="en-US" altLang="zh-CN" sz="2800" dirty="0"/>
              <a:t>(</a:t>
            </a:r>
            <a:r>
              <a:rPr lang="el-GR" altLang="zh-CN" sz="2800" i="1" dirty="0"/>
              <a:t>ξ</a:t>
            </a:r>
            <a:r>
              <a:rPr lang="en-US" altLang="zh-CN" sz="2800" dirty="0"/>
              <a:t>, </a:t>
            </a:r>
            <a:r>
              <a:rPr lang="el-GR" altLang="zh-CN" sz="2800" i="1" dirty="0"/>
              <a:t>η</a:t>
            </a:r>
            <a:r>
              <a:rPr lang="en-US" altLang="zh-CN" sz="2800" dirty="0"/>
              <a:t>)</a:t>
            </a:r>
            <a:r>
              <a:rPr lang="zh-CN" altLang="en-US" sz="2800" dirty="0"/>
              <a:t>确定映射：</a:t>
            </a:r>
          </a:p>
          <a:p>
            <a:pPr eaLnBrk="1" hangingPunct="1">
              <a:lnSpc>
                <a:spcPct val="95000"/>
              </a:lnSpc>
              <a:buFont typeface="Wingdings" pitchFamily="2" charset="2"/>
              <a:buNone/>
            </a:pPr>
            <a:r>
              <a:rPr lang="zh-CN" altLang="en-US" sz="2800" b="1" dirty="0">
                <a:solidFill>
                  <a:srgbClr val="3333FF"/>
                </a:solidFill>
              </a:rPr>
              <a:t>      </a:t>
            </a:r>
            <a:r>
              <a:rPr lang="en-US" altLang="zh-CN" sz="2800" b="1" dirty="0">
                <a:solidFill>
                  <a:srgbClr val="3333FF"/>
                </a:solidFill>
              </a:rPr>
              <a:t>e(</a:t>
            </a:r>
            <a:r>
              <a:rPr lang="el-GR" altLang="zh-CN" sz="2800" i="1" dirty="0">
                <a:solidFill>
                  <a:srgbClr val="3333FF"/>
                </a:solidFill>
              </a:rPr>
              <a:t>ξ</a:t>
            </a:r>
            <a:r>
              <a:rPr lang="en-US" altLang="zh-CN" sz="2800" dirty="0">
                <a:solidFill>
                  <a:srgbClr val="3333FF"/>
                </a:solidFill>
              </a:rPr>
              <a:t>, </a:t>
            </a:r>
            <a:r>
              <a:rPr lang="el-GR" altLang="zh-CN" sz="2800" i="1" dirty="0">
                <a:solidFill>
                  <a:srgbClr val="3333FF"/>
                </a:solidFill>
              </a:rPr>
              <a:t>η</a:t>
            </a:r>
            <a:r>
              <a:rPr lang="en-US" altLang="zh-CN" sz="2800" b="1" dirty="0">
                <a:solidFill>
                  <a:srgbClr val="3333FF"/>
                </a:solidFill>
              </a:rPr>
              <a:t>): U→{</a:t>
            </a:r>
            <a:r>
              <a:rPr lang="en-US" altLang="zh-CN" sz="2800" b="1" i="1" dirty="0">
                <a:solidFill>
                  <a:srgbClr val="3333FF"/>
                </a:solidFill>
              </a:rPr>
              <a:t>A</a:t>
            </a:r>
            <a:r>
              <a:rPr lang="en-US" altLang="zh-CN" sz="2800" b="1" baseline="-25000" dirty="0">
                <a:solidFill>
                  <a:srgbClr val="3333FF"/>
                </a:solidFill>
              </a:rPr>
              <a:t>1</a:t>
            </a:r>
            <a:r>
              <a:rPr lang="en-US" altLang="zh-CN" sz="2800" b="1" dirty="0">
                <a:solidFill>
                  <a:srgbClr val="3333FF"/>
                </a:solidFill>
              </a:rPr>
              <a:t>, </a:t>
            </a:r>
            <a:r>
              <a:rPr lang="en-US" altLang="zh-CN" sz="2800" b="1" i="1" dirty="0">
                <a:solidFill>
                  <a:srgbClr val="3333FF"/>
                </a:solidFill>
              </a:rPr>
              <a:t>A</a:t>
            </a:r>
            <a:r>
              <a:rPr lang="en-US" altLang="zh-CN" sz="2800" b="1" baseline="-25000" dirty="0">
                <a:solidFill>
                  <a:srgbClr val="3333FF"/>
                </a:solidFill>
              </a:rPr>
              <a:t>2</a:t>
            </a:r>
            <a:r>
              <a:rPr lang="en-US" altLang="zh-CN" sz="2800" b="1" dirty="0">
                <a:solidFill>
                  <a:srgbClr val="3333FF"/>
                </a:solidFill>
              </a:rPr>
              <a:t>, </a:t>
            </a:r>
            <a:r>
              <a:rPr lang="en-US" altLang="zh-CN" sz="2800" b="1" i="1" dirty="0">
                <a:solidFill>
                  <a:srgbClr val="3333FF"/>
                </a:solidFill>
              </a:rPr>
              <a:t>A</a:t>
            </a:r>
            <a:r>
              <a:rPr lang="en-US" altLang="zh-CN" sz="2800" b="1" baseline="-25000" dirty="0">
                <a:solidFill>
                  <a:srgbClr val="3333FF"/>
                </a:solidFill>
              </a:rPr>
              <a:t>3</a:t>
            </a:r>
            <a:r>
              <a:rPr lang="en-US" altLang="zh-CN" sz="2800" b="1" dirty="0">
                <a:solidFill>
                  <a:srgbClr val="3333FF"/>
                </a:solidFill>
              </a:rPr>
              <a:t>}</a:t>
            </a:r>
          </a:p>
          <a:p>
            <a:pPr eaLnBrk="1" hangingPunct="1"/>
            <a:r>
              <a:rPr lang="zh-CN" altLang="en-US" sz="2800" dirty="0"/>
              <a:t>反之，给定</a:t>
            </a:r>
            <a:r>
              <a:rPr lang="en-US" altLang="zh-CN" sz="2800" dirty="0"/>
              <a:t>(</a:t>
            </a:r>
            <a:r>
              <a:rPr lang="el-GR" altLang="zh-CN" sz="2800" i="1" dirty="0"/>
              <a:t>ξ</a:t>
            </a:r>
            <a:r>
              <a:rPr lang="en-US" altLang="zh-CN" sz="2800" dirty="0"/>
              <a:t>, </a:t>
            </a:r>
            <a:r>
              <a:rPr lang="el-GR" altLang="zh-CN" sz="2800" i="1" dirty="0"/>
              <a:t>η</a:t>
            </a:r>
            <a:r>
              <a:rPr lang="en-US" altLang="zh-CN" sz="2800" dirty="0"/>
              <a:t>)</a:t>
            </a:r>
            <a:r>
              <a:rPr lang="zh-CN" altLang="en-US" sz="2800" dirty="0"/>
              <a:t>，也就确定了</a:t>
            </a:r>
          </a:p>
          <a:p>
            <a:pPr eaLnBrk="1" hangingPunct="1">
              <a:buNone/>
            </a:pPr>
            <a:r>
              <a:rPr lang="zh-CN" altLang="en-US" sz="2800" dirty="0"/>
              <a:t>   映射</a:t>
            </a:r>
            <a:r>
              <a:rPr lang="en-US" altLang="zh-CN" sz="2800" dirty="0"/>
              <a:t>e</a:t>
            </a:r>
            <a:r>
              <a:rPr lang="zh-CN" altLang="en-US" sz="2800" dirty="0"/>
              <a:t>，即分出</a:t>
            </a:r>
            <a:r>
              <a:rPr lang="en-US" altLang="zh-CN" sz="2800" i="1" dirty="0"/>
              <a:t>A</a:t>
            </a:r>
            <a:r>
              <a:rPr lang="en-US" altLang="zh-CN" sz="2800" baseline="-25000" dirty="0"/>
              <a:t>1</a:t>
            </a:r>
            <a:r>
              <a:rPr lang="zh-CN" altLang="en-US" sz="2800" dirty="0"/>
              <a:t>、</a:t>
            </a:r>
            <a:r>
              <a:rPr lang="en-US" altLang="zh-CN" sz="2800" i="1" dirty="0"/>
              <a:t>A</a:t>
            </a:r>
            <a:r>
              <a:rPr lang="en-US" altLang="zh-CN" sz="2800" baseline="-25000" dirty="0"/>
              <a:t>2</a:t>
            </a:r>
            <a:r>
              <a:rPr lang="zh-CN" altLang="en-US" sz="2800" dirty="0"/>
              <a:t>和</a:t>
            </a:r>
            <a:r>
              <a:rPr lang="en-US" altLang="zh-CN" sz="2800" i="1" dirty="0"/>
              <a:t>A</a:t>
            </a:r>
            <a:r>
              <a:rPr lang="en-US" altLang="zh-CN" sz="2800" baseline="-25000" dirty="0"/>
              <a:t>3</a:t>
            </a:r>
            <a:r>
              <a:rPr lang="zh-CN" altLang="en-US" sz="2800" dirty="0"/>
              <a:t>，</a:t>
            </a:r>
          </a:p>
          <a:p>
            <a:pPr eaLnBrk="1" hangingPunct="1">
              <a:buFont typeface="Wingdings" pitchFamily="2" charset="2"/>
              <a:buNone/>
            </a:pPr>
            <a:r>
              <a:rPr lang="zh-CN" altLang="en-US" sz="2800" dirty="0"/>
              <a:t>   从而使</a:t>
            </a:r>
            <a:r>
              <a:rPr lang="en-US" altLang="zh-CN" sz="2800" dirty="0"/>
              <a:t>F</a:t>
            </a:r>
            <a:r>
              <a:rPr lang="zh-CN" altLang="en-US" sz="2800" dirty="0"/>
              <a:t>概念明确化。</a:t>
            </a:r>
          </a:p>
        </p:txBody>
      </p:sp>
      <p:grpSp>
        <p:nvGrpSpPr>
          <p:cNvPr id="6" name="组合 5">
            <a:extLst>
              <a:ext uri="{FF2B5EF4-FFF2-40B4-BE49-F238E27FC236}">
                <a16:creationId xmlns:a16="http://schemas.microsoft.com/office/drawing/2014/main" id="{34C924FA-986E-77F8-DAC3-852A70ED9A33}"/>
              </a:ext>
            </a:extLst>
          </p:cNvPr>
          <p:cNvGrpSpPr/>
          <p:nvPr/>
        </p:nvGrpSpPr>
        <p:grpSpPr>
          <a:xfrm>
            <a:off x="6496001" y="3861659"/>
            <a:ext cx="5504655" cy="2691454"/>
            <a:chOff x="899592" y="3140968"/>
            <a:chExt cx="4409349" cy="2406819"/>
          </a:xfrm>
        </p:grpSpPr>
        <p:pic>
          <p:nvPicPr>
            <p:cNvPr id="7" name="图片 6" descr="图示&#10;&#10;描述已自动生成">
              <a:extLst>
                <a:ext uri="{FF2B5EF4-FFF2-40B4-BE49-F238E27FC236}">
                  <a16:creationId xmlns:a16="http://schemas.microsoft.com/office/drawing/2014/main" id="{54ED804F-7B21-F6B1-A74C-A136CC5841B4}"/>
                </a:ext>
              </a:extLst>
            </p:cNvPr>
            <p:cNvPicPr>
              <a:picLocks noChangeAspect="1"/>
            </p:cNvPicPr>
            <p:nvPr/>
          </p:nvPicPr>
          <p:blipFill rotWithShape="1">
            <a:blip r:embed="rId3">
              <a:extLst>
                <a:ext uri="{28A0092B-C50C-407E-A947-70E740481C1C}">
                  <a14:useLocalDpi xmlns:a14="http://schemas.microsoft.com/office/drawing/2010/main" val="0"/>
                </a:ext>
              </a:extLst>
            </a:blip>
            <a:srcRect r="11604"/>
            <a:stretch/>
          </p:blipFill>
          <p:spPr>
            <a:xfrm>
              <a:off x="899592" y="3429000"/>
              <a:ext cx="4409348" cy="2083254"/>
            </a:xfrm>
            <a:prstGeom prst="rect">
              <a:avLst/>
            </a:prstGeom>
          </p:spPr>
        </p:pic>
        <p:sp>
          <p:nvSpPr>
            <p:cNvPr id="8" name="Text Box 36">
              <a:extLst>
                <a:ext uri="{FF2B5EF4-FFF2-40B4-BE49-F238E27FC236}">
                  <a16:creationId xmlns:a16="http://schemas.microsoft.com/office/drawing/2014/main" id="{2B48B85A-FF68-6235-77C5-321D04950F37}"/>
                </a:ext>
              </a:extLst>
            </p:cNvPr>
            <p:cNvSpPr txBox="1">
              <a:spLocks noChangeArrowheads="1"/>
            </p:cNvSpPr>
            <p:nvPr/>
          </p:nvSpPr>
          <p:spPr bwMode="auto">
            <a:xfrm>
              <a:off x="1259633" y="3140968"/>
              <a:ext cx="4049308" cy="357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000" dirty="0">
                  <a:solidFill>
                    <a:srgbClr val="C74440"/>
                  </a:solidFill>
                </a:rPr>
                <a:t>A</a:t>
              </a:r>
              <a:r>
                <a:rPr lang="en-US" altLang="zh-CN" sz="2000" baseline="-25000" dirty="0">
                  <a:solidFill>
                    <a:srgbClr val="C74440"/>
                  </a:solidFill>
                </a:rPr>
                <a:t>1</a:t>
              </a:r>
              <a:r>
                <a:rPr lang="en-US" altLang="zh-CN" sz="2000" dirty="0">
                  <a:solidFill>
                    <a:srgbClr val="C74440"/>
                  </a:solidFill>
                </a:rPr>
                <a:t>                          </a:t>
              </a:r>
              <a:r>
                <a:rPr lang="en-US" altLang="zh-CN" sz="2000" dirty="0">
                  <a:solidFill>
                    <a:srgbClr val="008000"/>
                  </a:solidFill>
                </a:rPr>
                <a:t>A</a:t>
              </a:r>
              <a:r>
                <a:rPr lang="en-US" altLang="zh-CN" sz="2000" baseline="-25000" dirty="0">
                  <a:solidFill>
                    <a:srgbClr val="008000"/>
                  </a:solidFill>
                </a:rPr>
                <a:t>2</a:t>
              </a:r>
              <a:r>
                <a:rPr lang="en-US" altLang="zh-CN" sz="2000" dirty="0">
                  <a:solidFill>
                    <a:srgbClr val="9900FF"/>
                  </a:solidFill>
                </a:rPr>
                <a:t>                     A</a:t>
              </a:r>
              <a:r>
                <a:rPr lang="en-US" altLang="zh-CN" sz="2000" baseline="-25000" dirty="0">
                  <a:solidFill>
                    <a:srgbClr val="9900FF"/>
                  </a:solidFill>
                </a:rPr>
                <a:t>3</a:t>
              </a:r>
            </a:p>
          </p:txBody>
        </p:sp>
        <p:sp>
          <p:nvSpPr>
            <p:cNvPr id="9" name="Text Box 40">
              <a:extLst>
                <a:ext uri="{FF2B5EF4-FFF2-40B4-BE49-F238E27FC236}">
                  <a16:creationId xmlns:a16="http://schemas.microsoft.com/office/drawing/2014/main" id="{AAC7D9A3-E82F-F41C-1008-E9DC59F6174B}"/>
                </a:ext>
              </a:extLst>
            </p:cNvPr>
            <p:cNvSpPr txBox="1">
              <a:spLocks noChangeArrowheads="1"/>
            </p:cNvSpPr>
            <p:nvPr/>
          </p:nvSpPr>
          <p:spPr bwMode="auto">
            <a:xfrm>
              <a:off x="2195736" y="5217514"/>
              <a:ext cx="2880320" cy="330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                           a</a:t>
              </a:r>
              <a:r>
                <a:rPr lang="en-US" altLang="zh-CN" baseline="-25000" dirty="0">
                  <a:solidFill>
                    <a:srgbClr val="FF0000"/>
                  </a:solidFill>
                </a:rPr>
                <a:t>2</a:t>
              </a:r>
            </a:p>
          </p:txBody>
        </p:sp>
        <p:sp>
          <p:nvSpPr>
            <p:cNvPr id="10" name="Line 38">
              <a:extLst>
                <a:ext uri="{FF2B5EF4-FFF2-40B4-BE49-F238E27FC236}">
                  <a16:creationId xmlns:a16="http://schemas.microsoft.com/office/drawing/2014/main" id="{F273E837-6FFF-15E8-46A3-B1233CD318F1}"/>
                </a:ext>
              </a:extLst>
            </p:cNvPr>
            <p:cNvSpPr>
              <a:spLocks noChangeShapeType="1"/>
            </p:cNvSpPr>
            <p:nvPr/>
          </p:nvSpPr>
          <p:spPr bwMode="auto">
            <a:xfrm>
              <a:off x="2371800" y="3541078"/>
              <a:ext cx="0" cy="179705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38">
              <a:extLst>
                <a:ext uri="{FF2B5EF4-FFF2-40B4-BE49-F238E27FC236}">
                  <a16:creationId xmlns:a16="http://schemas.microsoft.com/office/drawing/2014/main" id="{92B1CE69-4EB3-9FBE-E96C-E4AB7B938EC7}"/>
                </a:ext>
              </a:extLst>
            </p:cNvPr>
            <p:cNvSpPr>
              <a:spLocks noChangeShapeType="1"/>
            </p:cNvSpPr>
            <p:nvPr/>
          </p:nvSpPr>
          <p:spPr bwMode="auto">
            <a:xfrm>
              <a:off x="3883968" y="3541078"/>
              <a:ext cx="0" cy="179705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a:extLst>
              <a:ext uri="{FF2B5EF4-FFF2-40B4-BE49-F238E27FC236}">
                <a16:creationId xmlns:a16="http://schemas.microsoft.com/office/drawing/2014/main" id="{66557010-DAF3-8882-EAEB-5C7F360DB6BE}"/>
              </a:ext>
            </a:extLst>
          </p:cNvPr>
          <p:cNvSpPr>
            <a:spLocks noGrp="1"/>
          </p:cNvSpPr>
          <p:nvPr>
            <p:ph type="sldNum" sz="quarter" idx="11"/>
          </p:nvPr>
        </p:nvSpPr>
        <p:spPr/>
        <p:txBody>
          <a:bodyPr/>
          <a:lstStyle/>
          <a:p>
            <a:pPr>
              <a:defRPr/>
            </a:pPr>
            <a:fld id="{E0FB5469-1AEB-496D-971A-66705BF2F73C}" type="slidenum">
              <a:rPr lang="en-US" altLang="zh-CN" smtClean="0"/>
              <a:pPr>
                <a:defRPr/>
              </a:pPr>
              <a:t>6</a:t>
            </a:fld>
            <a:endParaRPr lang="en-US" altLang="zh-CN"/>
          </a:p>
        </p:txBody>
      </p:sp>
    </p:spTree>
    <p:extLst>
      <p:ext uri="{BB962C8B-B14F-4D97-AF65-F5344CB8AC3E}">
        <p14:creationId xmlns:p14="http://schemas.microsoft.com/office/powerpoint/2010/main" val="30421537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wipe(left)">
                                      <p:cBhvr>
                                        <p:cTn id="7" dur="500"/>
                                        <p:tgtEl>
                                          <p:spTgt spid="29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wipe(left)">
                                      <p:cBhvr>
                                        <p:cTn id="12" dur="500"/>
                                        <p:tgtEl>
                                          <p:spTgt spid="29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wipe(left)">
                                      <p:cBhvr>
                                        <p:cTn id="17" dur="500"/>
                                        <p:tgtEl>
                                          <p:spTgt spid="296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699">
                                            <p:txEl>
                                              <p:pRg st="3" end="3"/>
                                            </p:txEl>
                                          </p:spTgt>
                                        </p:tgtEl>
                                        <p:attrNameLst>
                                          <p:attrName>style.visibility</p:attrName>
                                        </p:attrNameLst>
                                      </p:cBhvr>
                                      <p:to>
                                        <p:strVal val="visible"/>
                                      </p:to>
                                    </p:set>
                                    <p:animEffect transition="in" filter="wipe(left)">
                                      <p:cBhvr>
                                        <p:cTn id="22" dur="500"/>
                                        <p:tgtEl>
                                          <p:spTgt spid="296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Effect transition="in" filter="wipe(left)">
                                      <p:cBhvr>
                                        <p:cTn id="27" dur="500"/>
                                        <p:tgtEl>
                                          <p:spTgt spid="296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9699">
                                            <p:txEl>
                                              <p:pRg st="5" end="5"/>
                                            </p:txEl>
                                          </p:spTgt>
                                        </p:tgtEl>
                                        <p:attrNameLst>
                                          <p:attrName>style.visibility</p:attrName>
                                        </p:attrNameLst>
                                      </p:cBhvr>
                                      <p:to>
                                        <p:strVal val="visible"/>
                                      </p:to>
                                    </p:set>
                                    <p:animEffect transition="in" filter="wipe(left)">
                                      <p:cBhvr>
                                        <p:cTn id="38" dur="500"/>
                                        <p:tgtEl>
                                          <p:spTgt spid="29699">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9699">
                                            <p:txEl>
                                              <p:pRg st="6" end="6"/>
                                            </p:txEl>
                                          </p:spTgt>
                                        </p:tgtEl>
                                        <p:attrNameLst>
                                          <p:attrName>style.visibility</p:attrName>
                                        </p:attrNameLst>
                                      </p:cBhvr>
                                      <p:to>
                                        <p:strVal val="visible"/>
                                      </p:to>
                                    </p:set>
                                    <p:animEffect transition="in" filter="wipe(left)">
                                      <p:cBhvr>
                                        <p:cTn id="43" dur="500"/>
                                        <p:tgtEl>
                                          <p:spTgt spid="29699">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9699">
                                            <p:txEl>
                                              <p:pRg st="7" end="7"/>
                                            </p:txEl>
                                          </p:spTgt>
                                        </p:tgtEl>
                                        <p:attrNameLst>
                                          <p:attrName>style.visibility</p:attrName>
                                        </p:attrNameLst>
                                      </p:cBhvr>
                                      <p:to>
                                        <p:strVal val="visible"/>
                                      </p:to>
                                    </p:set>
                                    <p:animEffect transition="in" filter="wipe(left)">
                                      <p:cBhvr>
                                        <p:cTn id="48" dur="500"/>
                                        <p:tgtEl>
                                          <p:spTgt spid="29699">
                                            <p:txEl>
                                              <p:pRg st="7" end="7"/>
                                            </p:txEl>
                                          </p:spTgt>
                                        </p:tgtEl>
                                      </p:cBhvr>
                                    </p:animEffect>
                                  </p:childTnLst>
                                </p:cTn>
                              </p:par>
                            </p:childTnLst>
                          </p:cTn>
                        </p:par>
                        <p:par>
                          <p:cTn id="49" fill="hold" nodeType="afterGroup">
                            <p:stCondLst>
                              <p:cond delay="500"/>
                            </p:stCondLst>
                            <p:childTnLst>
                              <p:par>
                                <p:cTn id="50" presetID="22" presetClass="entr" presetSubtype="8" fill="hold" nodeType="afterEffect">
                                  <p:stCondLst>
                                    <p:cond delay="0"/>
                                  </p:stCondLst>
                                  <p:childTnLst>
                                    <p:set>
                                      <p:cBhvr>
                                        <p:cTn id="51" dur="1" fill="hold">
                                          <p:stCondLst>
                                            <p:cond delay="0"/>
                                          </p:stCondLst>
                                        </p:cTn>
                                        <p:tgtEl>
                                          <p:spTgt spid="29699">
                                            <p:txEl>
                                              <p:pRg st="8" end="8"/>
                                            </p:txEl>
                                          </p:spTgt>
                                        </p:tgtEl>
                                        <p:attrNameLst>
                                          <p:attrName>style.visibility</p:attrName>
                                        </p:attrNameLst>
                                      </p:cBhvr>
                                      <p:to>
                                        <p:strVal val="visible"/>
                                      </p:to>
                                    </p:set>
                                    <p:animEffect transition="in" filter="wipe(left)">
                                      <p:cBhvr>
                                        <p:cTn id="52" dur="500"/>
                                        <p:tgtEl>
                                          <p:spTgt spid="29699">
                                            <p:txEl>
                                              <p:pRg st="8" end="8"/>
                                            </p:txEl>
                                          </p:spTgt>
                                        </p:tgtEl>
                                      </p:cBhvr>
                                    </p:animEffect>
                                  </p:childTnLst>
                                </p:cTn>
                              </p:par>
                            </p:childTnLst>
                          </p:cTn>
                        </p:par>
                        <p:par>
                          <p:cTn id="53" fill="hold" nodeType="afterGroup">
                            <p:stCondLst>
                              <p:cond delay="1000"/>
                            </p:stCondLst>
                            <p:childTnLst>
                              <p:par>
                                <p:cTn id="54" presetID="22" presetClass="entr" presetSubtype="8" fill="hold" nodeType="afterEffect">
                                  <p:stCondLst>
                                    <p:cond delay="0"/>
                                  </p:stCondLst>
                                  <p:childTnLst>
                                    <p:set>
                                      <p:cBhvr>
                                        <p:cTn id="55" dur="1" fill="hold">
                                          <p:stCondLst>
                                            <p:cond delay="0"/>
                                          </p:stCondLst>
                                        </p:cTn>
                                        <p:tgtEl>
                                          <p:spTgt spid="29699">
                                            <p:txEl>
                                              <p:pRg st="9" end="9"/>
                                            </p:txEl>
                                          </p:spTgt>
                                        </p:tgtEl>
                                        <p:attrNameLst>
                                          <p:attrName>style.visibility</p:attrName>
                                        </p:attrNameLst>
                                      </p:cBhvr>
                                      <p:to>
                                        <p:strVal val="visible"/>
                                      </p:to>
                                    </p:set>
                                    <p:animEffect transition="in" filter="wipe(left)">
                                      <p:cBhvr>
                                        <p:cTn id="56" dur="500"/>
                                        <p:tgtEl>
                                          <p:spTgt spid="296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92313" y="333376"/>
            <a:ext cx="8229600" cy="1027113"/>
          </a:xfrm>
        </p:spPr>
        <p:txBody>
          <a:bodyPr/>
          <a:lstStyle/>
          <a:p>
            <a:pPr eaLnBrk="1" hangingPunct="1"/>
            <a:r>
              <a:rPr lang="zh-CN" altLang="en-US" dirty="0">
                <a:solidFill>
                  <a:srgbClr val="008000"/>
                </a:solidFill>
                <a:ea typeface="黑体" pitchFamily="49" charset="-122"/>
              </a:rPr>
              <a:t>三分法举例</a:t>
            </a:r>
          </a:p>
        </p:txBody>
      </p:sp>
      <p:sp>
        <p:nvSpPr>
          <p:cNvPr id="30723" name="Rectangle 3"/>
          <p:cNvSpPr>
            <a:spLocks noGrp="1" noChangeArrowheads="1"/>
          </p:cNvSpPr>
          <p:nvPr>
            <p:ph type="body" sz="half" idx="1"/>
          </p:nvPr>
        </p:nvSpPr>
        <p:spPr>
          <a:xfrm>
            <a:off x="911424" y="1557338"/>
            <a:ext cx="10225135" cy="5300662"/>
          </a:xfrm>
        </p:spPr>
        <p:txBody>
          <a:bodyPr/>
          <a:lstStyle/>
          <a:p>
            <a:pPr eaLnBrk="1" hangingPunct="1"/>
            <a:r>
              <a:rPr lang="zh-CN" altLang="en-US" sz="2800" dirty="0">
                <a:ea typeface="黑体" pitchFamily="49" charset="-122"/>
              </a:rPr>
              <a:t>试建立下列三个</a:t>
            </a:r>
            <a:r>
              <a:rPr lang="en-US" altLang="zh-CN" sz="2800" dirty="0">
                <a:ea typeface="黑体" pitchFamily="49" charset="-122"/>
              </a:rPr>
              <a:t>F</a:t>
            </a:r>
            <a:r>
              <a:rPr lang="zh-CN" altLang="en-US" sz="2800" dirty="0">
                <a:ea typeface="黑体" pitchFamily="49" charset="-122"/>
              </a:rPr>
              <a:t>集隶属函数：</a:t>
            </a:r>
          </a:p>
          <a:p>
            <a:pPr eaLnBrk="1" hangingPunct="1">
              <a:buFont typeface="Wingdings" pitchFamily="2" charset="2"/>
              <a:buNone/>
            </a:pPr>
            <a:r>
              <a:rPr lang="zh-CN" altLang="en-US" sz="2800" dirty="0">
                <a:solidFill>
                  <a:srgbClr val="FF0000"/>
                </a:solidFill>
                <a:ea typeface="黑体" pitchFamily="49" charset="-122"/>
              </a:rPr>
              <a:t>  </a:t>
            </a:r>
            <a:r>
              <a:rPr lang="en-US" altLang="zh-CN" sz="2800" dirty="0">
                <a:solidFill>
                  <a:srgbClr val="FF0000"/>
                </a:solidFill>
                <a:ea typeface="黑体" pitchFamily="49" charset="-122"/>
              </a:rPr>
              <a:t>A</a:t>
            </a:r>
            <a:r>
              <a:rPr lang="en-US" altLang="zh-CN" sz="2800" baseline="-25000" dirty="0">
                <a:solidFill>
                  <a:srgbClr val="FF0000"/>
                </a:solidFill>
                <a:ea typeface="黑体" pitchFamily="49" charset="-122"/>
              </a:rPr>
              <a:t>1</a:t>
            </a:r>
            <a:r>
              <a:rPr lang="en-US" altLang="zh-CN" sz="2800" dirty="0">
                <a:solidFill>
                  <a:srgbClr val="FF0000"/>
                </a:solidFill>
                <a:ea typeface="黑体" pitchFamily="49" charset="-122"/>
              </a:rPr>
              <a:t>=“</a:t>
            </a:r>
            <a:r>
              <a:rPr lang="zh-CN" altLang="en-US" sz="2800" dirty="0">
                <a:solidFill>
                  <a:srgbClr val="FF0000"/>
                </a:solidFill>
                <a:ea typeface="黑体" pitchFamily="49" charset="-122"/>
              </a:rPr>
              <a:t>矮个子”</a:t>
            </a:r>
            <a:r>
              <a:rPr lang="en-US" altLang="zh-CN" sz="2800" dirty="0">
                <a:solidFill>
                  <a:srgbClr val="FF0000"/>
                </a:solidFill>
                <a:ea typeface="黑体" pitchFamily="49" charset="-122"/>
              </a:rPr>
              <a:t>,A</a:t>
            </a:r>
            <a:r>
              <a:rPr lang="en-US" altLang="zh-CN" sz="2800" baseline="-25000" dirty="0">
                <a:solidFill>
                  <a:srgbClr val="FF0000"/>
                </a:solidFill>
                <a:ea typeface="黑体" pitchFamily="49" charset="-122"/>
              </a:rPr>
              <a:t>2</a:t>
            </a:r>
            <a:r>
              <a:rPr lang="en-US" altLang="zh-CN" sz="2800" dirty="0">
                <a:solidFill>
                  <a:srgbClr val="FF0000"/>
                </a:solidFill>
                <a:ea typeface="黑体" pitchFamily="49" charset="-122"/>
              </a:rPr>
              <a:t>=“</a:t>
            </a:r>
            <a:r>
              <a:rPr lang="zh-CN" altLang="en-US" sz="2800" dirty="0">
                <a:solidFill>
                  <a:srgbClr val="FF0000"/>
                </a:solidFill>
                <a:ea typeface="黑体" pitchFamily="49" charset="-122"/>
              </a:rPr>
              <a:t>中等个子”</a:t>
            </a:r>
            <a:endParaRPr lang="en-US" altLang="zh-CN" sz="2800" dirty="0">
              <a:solidFill>
                <a:srgbClr val="FF0000"/>
              </a:solidFill>
              <a:ea typeface="黑体" pitchFamily="49" charset="-122"/>
            </a:endParaRPr>
          </a:p>
          <a:p>
            <a:pPr eaLnBrk="1" hangingPunct="1">
              <a:buFont typeface="Wingdings" pitchFamily="2" charset="2"/>
              <a:buNone/>
            </a:pPr>
            <a:r>
              <a:rPr lang="en-US" altLang="zh-CN" sz="2800" dirty="0">
                <a:solidFill>
                  <a:srgbClr val="FF0000"/>
                </a:solidFill>
                <a:ea typeface="黑体" pitchFamily="49" charset="-122"/>
              </a:rPr>
              <a:t>  A</a:t>
            </a:r>
            <a:r>
              <a:rPr lang="en-US" altLang="zh-CN" sz="2800" baseline="-25000" dirty="0">
                <a:solidFill>
                  <a:srgbClr val="FF0000"/>
                </a:solidFill>
                <a:ea typeface="黑体" pitchFamily="49" charset="-122"/>
              </a:rPr>
              <a:t>3</a:t>
            </a:r>
            <a:r>
              <a:rPr lang="en-US" altLang="zh-CN" sz="2800" dirty="0">
                <a:solidFill>
                  <a:srgbClr val="FF0000"/>
                </a:solidFill>
                <a:ea typeface="黑体" pitchFamily="49" charset="-122"/>
              </a:rPr>
              <a:t>=“</a:t>
            </a:r>
            <a:r>
              <a:rPr lang="zh-CN" altLang="en-US" sz="2800" dirty="0">
                <a:solidFill>
                  <a:srgbClr val="FF0000"/>
                </a:solidFill>
                <a:ea typeface="黑体" pitchFamily="49" charset="-122"/>
              </a:rPr>
              <a:t>高个子”，</a:t>
            </a:r>
            <a:r>
              <a:rPr lang="en-US" altLang="zh-CN" sz="2800" dirty="0">
                <a:solidFill>
                  <a:srgbClr val="3333FF"/>
                </a:solidFill>
                <a:ea typeface="黑体" pitchFamily="49" charset="-122"/>
              </a:rPr>
              <a:t>U=(0,3)</a:t>
            </a:r>
            <a:r>
              <a:rPr lang="en-US" altLang="zh-CN" sz="2800" dirty="0">
                <a:ea typeface="黑体" pitchFamily="49" charset="-122"/>
              </a:rPr>
              <a:t>(m)</a:t>
            </a:r>
          </a:p>
          <a:p>
            <a:pPr eaLnBrk="1" hangingPunct="1"/>
            <a:r>
              <a:rPr lang="zh-CN" altLang="en-US" sz="2800" dirty="0">
                <a:ea typeface="黑体" pitchFamily="49" charset="-122"/>
              </a:rPr>
              <a:t>每次</a:t>
            </a:r>
            <a:r>
              <a:rPr lang="en-US" altLang="zh-CN" sz="2800" dirty="0">
                <a:ea typeface="黑体" pitchFamily="49" charset="-122"/>
              </a:rPr>
              <a:t>F</a:t>
            </a:r>
            <a:r>
              <a:rPr lang="zh-CN" altLang="en-US" sz="2800" dirty="0">
                <a:ea typeface="黑体" pitchFamily="49" charset="-122"/>
              </a:rPr>
              <a:t>试验确定</a:t>
            </a:r>
            <a:r>
              <a:rPr lang="en-US" altLang="zh-CN" sz="2800" dirty="0">
                <a:ea typeface="黑体" pitchFamily="49" charset="-122"/>
              </a:rPr>
              <a:t>U</a:t>
            </a:r>
            <a:r>
              <a:rPr lang="zh-CN" altLang="en-US" sz="2800" dirty="0">
                <a:ea typeface="黑体" pitchFamily="49" charset="-122"/>
              </a:rPr>
              <a:t>的一次划分，即确定一数对</a:t>
            </a:r>
            <a:r>
              <a:rPr lang="en-US" altLang="zh-CN" sz="2800" dirty="0"/>
              <a:t>(</a:t>
            </a:r>
            <a:r>
              <a:rPr lang="el-GR" altLang="zh-CN" sz="2800" dirty="0">
                <a:ea typeface="黑体" pitchFamily="49" charset="-122"/>
                <a:cs typeface="Arial" pitchFamily="34" charset="0"/>
              </a:rPr>
              <a:t>ξ</a:t>
            </a:r>
            <a:r>
              <a:rPr lang="en-US" altLang="zh-CN" sz="2800" dirty="0">
                <a:ea typeface="黑体" pitchFamily="49" charset="-122"/>
              </a:rPr>
              <a:t>,</a:t>
            </a:r>
            <a:r>
              <a:rPr lang="el-GR" altLang="zh-CN" sz="2800" dirty="0">
                <a:ea typeface="黑体" pitchFamily="49" charset="-122"/>
              </a:rPr>
              <a:t>η</a:t>
            </a:r>
            <a:r>
              <a:rPr lang="en-US" altLang="zh-CN" sz="2800" dirty="0"/>
              <a:t>)</a:t>
            </a:r>
          </a:p>
          <a:p>
            <a:pPr lvl="1" eaLnBrk="1" hangingPunct="1"/>
            <a:r>
              <a:rPr lang="en-US" altLang="zh-CN" dirty="0"/>
              <a:t> </a:t>
            </a:r>
            <a:r>
              <a:rPr lang="el-GR" altLang="zh-CN" i="1" dirty="0">
                <a:solidFill>
                  <a:srgbClr val="3333FF"/>
                </a:solidFill>
                <a:ea typeface="黑体" pitchFamily="49" charset="-122"/>
              </a:rPr>
              <a:t>ξ</a:t>
            </a:r>
            <a:r>
              <a:rPr lang="en-US" altLang="zh-CN" dirty="0">
                <a:solidFill>
                  <a:srgbClr val="3333FF"/>
                </a:solidFill>
                <a:ea typeface="黑体" pitchFamily="49" charset="-122"/>
              </a:rPr>
              <a:t>: </a:t>
            </a:r>
            <a:r>
              <a:rPr lang="en-US" altLang="zh-CN" dirty="0">
                <a:ea typeface="黑体" pitchFamily="49" charset="-122"/>
              </a:rPr>
              <a:t> </a:t>
            </a:r>
            <a:r>
              <a:rPr lang="en-US" altLang="zh-CN" dirty="0">
                <a:solidFill>
                  <a:srgbClr val="3333FF"/>
                </a:solidFill>
                <a:ea typeface="黑体" pitchFamily="49" charset="-122"/>
              </a:rPr>
              <a:t>A</a:t>
            </a:r>
            <a:r>
              <a:rPr lang="en-US" altLang="zh-CN" baseline="-25000" dirty="0">
                <a:solidFill>
                  <a:srgbClr val="3333FF"/>
                </a:solidFill>
                <a:ea typeface="黑体" pitchFamily="49" charset="-122"/>
              </a:rPr>
              <a:t>1</a:t>
            </a:r>
            <a:r>
              <a:rPr lang="zh-CN" altLang="en-US" dirty="0">
                <a:solidFill>
                  <a:srgbClr val="3333FF"/>
                </a:solidFill>
                <a:ea typeface="黑体" pitchFamily="49" charset="-122"/>
              </a:rPr>
              <a:t>与</a:t>
            </a:r>
            <a:r>
              <a:rPr lang="en-US" altLang="zh-CN" dirty="0">
                <a:solidFill>
                  <a:srgbClr val="3333FF"/>
                </a:solidFill>
                <a:ea typeface="黑体" pitchFamily="49" charset="-122"/>
              </a:rPr>
              <a:t>A</a:t>
            </a:r>
            <a:r>
              <a:rPr lang="en-US" altLang="zh-CN" baseline="-25000" dirty="0">
                <a:solidFill>
                  <a:srgbClr val="3333FF"/>
                </a:solidFill>
                <a:ea typeface="黑体" pitchFamily="49" charset="-122"/>
              </a:rPr>
              <a:t>2</a:t>
            </a:r>
            <a:r>
              <a:rPr lang="zh-CN" altLang="en-US" dirty="0">
                <a:solidFill>
                  <a:srgbClr val="3333FF"/>
                </a:solidFill>
                <a:ea typeface="黑体" pitchFamily="49" charset="-122"/>
              </a:rPr>
              <a:t>分界点，</a:t>
            </a:r>
            <a:r>
              <a:rPr lang="el-GR" altLang="zh-CN" i="1" dirty="0">
                <a:solidFill>
                  <a:srgbClr val="3333FF"/>
                </a:solidFill>
                <a:ea typeface="黑体" pitchFamily="49" charset="-122"/>
              </a:rPr>
              <a:t>η</a:t>
            </a:r>
            <a:r>
              <a:rPr lang="zh-CN" altLang="en-US" dirty="0">
                <a:solidFill>
                  <a:srgbClr val="3333FF"/>
                </a:solidFill>
                <a:ea typeface="黑体" pitchFamily="49" charset="-122"/>
              </a:rPr>
              <a:t>：</a:t>
            </a:r>
            <a:r>
              <a:rPr lang="en-US" altLang="zh-CN" dirty="0">
                <a:solidFill>
                  <a:srgbClr val="3333FF"/>
                </a:solidFill>
                <a:ea typeface="黑体" pitchFamily="49" charset="-122"/>
              </a:rPr>
              <a:t>A</a:t>
            </a:r>
            <a:r>
              <a:rPr lang="en-US" altLang="zh-CN" baseline="-25000" dirty="0">
                <a:solidFill>
                  <a:srgbClr val="3333FF"/>
                </a:solidFill>
                <a:ea typeface="黑体" pitchFamily="49" charset="-122"/>
              </a:rPr>
              <a:t>2</a:t>
            </a:r>
            <a:r>
              <a:rPr lang="zh-CN" altLang="en-US" dirty="0">
                <a:solidFill>
                  <a:srgbClr val="3333FF"/>
                </a:solidFill>
                <a:ea typeface="黑体" pitchFamily="49" charset="-122"/>
              </a:rPr>
              <a:t>与</a:t>
            </a:r>
            <a:r>
              <a:rPr lang="en-US" altLang="zh-CN" dirty="0">
                <a:solidFill>
                  <a:srgbClr val="3333FF"/>
                </a:solidFill>
                <a:ea typeface="黑体" pitchFamily="49" charset="-122"/>
              </a:rPr>
              <a:t>A</a:t>
            </a:r>
            <a:r>
              <a:rPr lang="en-US" altLang="zh-CN" baseline="-25000" dirty="0">
                <a:solidFill>
                  <a:srgbClr val="3333FF"/>
                </a:solidFill>
                <a:ea typeface="黑体" pitchFamily="49" charset="-122"/>
              </a:rPr>
              <a:t>3</a:t>
            </a:r>
            <a:r>
              <a:rPr lang="zh-CN" altLang="en-US" dirty="0">
                <a:solidFill>
                  <a:srgbClr val="3333FF"/>
                </a:solidFill>
                <a:ea typeface="黑体" pitchFamily="49" charset="-122"/>
              </a:rPr>
              <a:t>分界点</a:t>
            </a:r>
          </a:p>
          <a:p>
            <a:pPr eaLnBrk="1" hangingPunct="1"/>
            <a:r>
              <a:rPr lang="zh-CN" altLang="en-US" sz="2800" dirty="0">
                <a:ea typeface="黑体" pitchFamily="49" charset="-122"/>
              </a:rPr>
              <a:t>反之</a:t>
            </a:r>
            <a:r>
              <a:rPr lang="en-US" altLang="zh-CN" sz="2800" dirty="0">
                <a:ea typeface="黑体" pitchFamily="49" charset="-122"/>
              </a:rPr>
              <a:t>,</a:t>
            </a:r>
            <a:r>
              <a:rPr lang="zh-CN" altLang="en-US" sz="2800" dirty="0">
                <a:ea typeface="黑体" pitchFamily="49" charset="-122"/>
              </a:rPr>
              <a:t>给定</a:t>
            </a:r>
            <a:r>
              <a:rPr lang="en-US" altLang="zh-CN" sz="2800" dirty="0">
                <a:ea typeface="黑体" pitchFamily="49" charset="-122"/>
              </a:rPr>
              <a:t>(</a:t>
            </a:r>
            <a:r>
              <a:rPr lang="el-GR" altLang="zh-CN" sz="2800" i="1" dirty="0">
                <a:ea typeface="黑体" pitchFamily="49" charset="-122"/>
              </a:rPr>
              <a:t>ξ</a:t>
            </a:r>
            <a:r>
              <a:rPr lang="en-US" altLang="zh-CN" sz="2800" dirty="0">
                <a:ea typeface="黑体" pitchFamily="49" charset="-122"/>
              </a:rPr>
              <a:t>,</a:t>
            </a:r>
            <a:r>
              <a:rPr lang="el-GR" altLang="zh-CN" sz="2800" i="1" dirty="0">
                <a:ea typeface="黑体" pitchFamily="49" charset="-122"/>
              </a:rPr>
              <a:t>η</a:t>
            </a:r>
            <a:r>
              <a:rPr lang="en-US" altLang="zh-CN" sz="2800" dirty="0">
                <a:ea typeface="黑体" pitchFamily="49" charset="-122"/>
              </a:rPr>
              <a:t>)</a:t>
            </a:r>
            <a:r>
              <a:rPr lang="zh-CN" altLang="en-US" sz="2800" dirty="0">
                <a:ea typeface="黑体" pitchFamily="49" charset="-122"/>
              </a:rPr>
              <a:t>也就确定了映射</a:t>
            </a:r>
            <a:r>
              <a:rPr lang="en-US" altLang="zh-CN" sz="2800" b="1" dirty="0">
                <a:solidFill>
                  <a:srgbClr val="3333FF"/>
                </a:solidFill>
              </a:rPr>
              <a:t>e: U→{</a:t>
            </a:r>
            <a:r>
              <a:rPr lang="en-US" altLang="zh-CN" sz="2800" b="1" i="1" dirty="0">
                <a:solidFill>
                  <a:srgbClr val="3333FF"/>
                </a:solidFill>
              </a:rPr>
              <a:t>A</a:t>
            </a:r>
            <a:r>
              <a:rPr lang="en-US" altLang="zh-CN" sz="2800" b="1" baseline="-25000" dirty="0">
                <a:solidFill>
                  <a:srgbClr val="3333FF"/>
                </a:solidFill>
              </a:rPr>
              <a:t>1</a:t>
            </a:r>
            <a:r>
              <a:rPr lang="en-US" altLang="zh-CN" sz="2800" b="1" dirty="0">
                <a:solidFill>
                  <a:srgbClr val="3333FF"/>
                </a:solidFill>
              </a:rPr>
              <a:t>, </a:t>
            </a:r>
            <a:r>
              <a:rPr lang="en-US" altLang="zh-CN" sz="2800" b="1" i="1" dirty="0">
                <a:solidFill>
                  <a:srgbClr val="3333FF"/>
                </a:solidFill>
              </a:rPr>
              <a:t>A</a:t>
            </a:r>
            <a:r>
              <a:rPr lang="en-US" altLang="zh-CN" sz="2800" b="1" baseline="-25000" dirty="0">
                <a:solidFill>
                  <a:srgbClr val="3333FF"/>
                </a:solidFill>
              </a:rPr>
              <a:t>2</a:t>
            </a:r>
            <a:r>
              <a:rPr lang="en-US" altLang="zh-CN" sz="2800" b="1" dirty="0">
                <a:solidFill>
                  <a:srgbClr val="3333FF"/>
                </a:solidFill>
              </a:rPr>
              <a:t>, </a:t>
            </a:r>
            <a:r>
              <a:rPr lang="en-US" altLang="zh-CN" sz="2800" b="1" i="1" dirty="0">
                <a:solidFill>
                  <a:srgbClr val="3333FF"/>
                </a:solidFill>
              </a:rPr>
              <a:t>A</a:t>
            </a:r>
            <a:r>
              <a:rPr lang="en-US" altLang="zh-CN" sz="2800" b="1" baseline="-25000" dirty="0">
                <a:solidFill>
                  <a:srgbClr val="3333FF"/>
                </a:solidFill>
              </a:rPr>
              <a:t>3</a:t>
            </a:r>
            <a:r>
              <a:rPr lang="en-US" altLang="zh-CN" sz="2800" b="1" dirty="0">
                <a:solidFill>
                  <a:srgbClr val="3333FF"/>
                </a:solidFill>
              </a:rPr>
              <a:t>}</a:t>
            </a:r>
            <a:r>
              <a:rPr lang="zh-CN" altLang="en-US" sz="2800" dirty="0">
                <a:ea typeface="黑体" pitchFamily="49" charset="-122"/>
              </a:rPr>
              <a:t>，即分出</a:t>
            </a:r>
            <a:r>
              <a:rPr lang="en-US" altLang="zh-CN" sz="2800" dirty="0">
                <a:ea typeface="黑体" pitchFamily="49" charset="-122"/>
              </a:rPr>
              <a:t>A</a:t>
            </a:r>
            <a:r>
              <a:rPr lang="en-US" altLang="zh-CN" sz="2800" baseline="-25000" dirty="0">
                <a:ea typeface="黑体" pitchFamily="49" charset="-122"/>
              </a:rPr>
              <a:t>1</a:t>
            </a:r>
            <a:r>
              <a:rPr lang="zh-CN" altLang="en-US" sz="2800" dirty="0">
                <a:ea typeface="黑体" pitchFamily="49" charset="-122"/>
              </a:rPr>
              <a:t>、</a:t>
            </a:r>
            <a:r>
              <a:rPr lang="en-US" altLang="zh-CN" sz="2800" dirty="0">
                <a:ea typeface="黑体" pitchFamily="49" charset="-122"/>
              </a:rPr>
              <a:t>A</a:t>
            </a:r>
            <a:r>
              <a:rPr lang="en-US" altLang="zh-CN" sz="2800" baseline="-25000" dirty="0">
                <a:ea typeface="黑体" pitchFamily="49" charset="-122"/>
              </a:rPr>
              <a:t>2</a:t>
            </a:r>
            <a:r>
              <a:rPr lang="zh-CN" altLang="en-US" sz="2800" dirty="0">
                <a:ea typeface="黑体" pitchFamily="49" charset="-122"/>
              </a:rPr>
              <a:t>和</a:t>
            </a:r>
            <a:r>
              <a:rPr lang="en-US" altLang="zh-CN" sz="2800" dirty="0">
                <a:ea typeface="黑体" pitchFamily="49" charset="-122"/>
              </a:rPr>
              <a:t>A</a:t>
            </a:r>
            <a:r>
              <a:rPr lang="en-US" altLang="zh-CN" sz="2800" baseline="-25000" dirty="0">
                <a:ea typeface="黑体" pitchFamily="49" charset="-122"/>
              </a:rPr>
              <a:t>3</a:t>
            </a:r>
            <a:r>
              <a:rPr lang="zh-CN" altLang="en-US" sz="2800" dirty="0">
                <a:ea typeface="黑体" pitchFamily="49" charset="-122"/>
              </a:rPr>
              <a:t>，从而使</a:t>
            </a:r>
            <a:r>
              <a:rPr lang="en-US" altLang="zh-CN" sz="2800" dirty="0">
                <a:ea typeface="黑体" pitchFamily="49" charset="-122"/>
              </a:rPr>
              <a:t>F</a:t>
            </a:r>
            <a:r>
              <a:rPr lang="zh-CN" altLang="en-US" sz="2800" dirty="0">
                <a:ea typeface="黑体" pitchFamily="49" charset="-122"/>
              </a:rPr>
              <a:t>概念明确化。 </a:t>
            </a:r>
          </a:p>
          <a:p>
            <a:pPr eaLnBrk="1" hangingPunct="1"/>
            <a:r>
              <a:rPr lang="en-US" altLang="zh-CN" sz="2800" dirty="0">
                <a:ea typeface="黑体" pitchFamily="49" charset="-122"/>
              </a:rPr>
              <a:t>A</a:t>
            </a:r>
            <a:r>
              <a:rPr lang="en-US" altLang="zh-CN" sz="2800" baseline="-25000" dirty="0">
                <a:ea typeface="黑体" pitchFamily="49" charset="-122"/>
              </a:rPr>
              <a:t>1</a:t>
            </a:r>
            <a:r>
              <a:rPr lang="zh-CN" altLang="en-US" sz="2800" dirty="0">
                <a:ea typeface="黑体" pitchFamily="49" charset="-122"/>
              </a:rPr>
              <a:t>、</a:t>
            </a:r>
            <a:r>
              <a:rPr lang="en-US" altLang="zh-CN" sz="2800" dirty="0">
                <a:ea typeface="黑体" pitchFamily="49" charset="-122"/>
              </a:rPr>
              <a:t>A</a:t>
            </a:r>
            <a:r>
              <a:rPr lang="en-US" altLang="zh-CN" sz="2800" baseline="-25000" dirty="0">
                <a:ea typeface="黑体" pitchFamily="49" charset="-122"/>
              </a:rPr>
              <a:t>2</a:t>
            </a:r>
            <a:r>
              <a:rPr lang="zh-CN" altLang="en-US" sz="2800" dirty="0">
                <a:ea typeface="黑体" pitchFamily="49" charset="-122"/>
              </a:rPr>
              <a:t>和 </a:t>
            </a:r>
            <a:r>
              <a:rPr lang="en-US" altLang="zh-CN" sz="2800" dirty="0">
                <a:ea typeface="黑体" pitchFamily="49" charset="-122"/>
              </a:rPr>
              <a:t>A</a:t>
            </a:r>
            <a:r>
              <a:rPr lang="en-US" altLang="zh-CN" sz="2800" baseline="-25000" dirty="0">
                <a:ea typeface="黑体" pitchFamily="49" charset="-122"/>
              </a:rPr>
              <a:t>3</a:t>
            </a:r>
            <a:r>
              <a:rPr lang="zh-CN" altLang="en-US" sz="2800" dirty="0">
                <a:ea typeface="黑体" pitchFamily="49" charset="-122"/>
              </a:rPr>
              <a:t>的区间是随机区间，从而</a:t>
            </a:r>
            <a:r>
              <a:rPr lang="el-GR" altLang="zh-CN" sz="2800" i="1" dirty="0">
                <a:ea typeface="黑体" pitchFamily="49" charset="-122"/>
              </a:rPr>
              <a:t>ξ</a:t>
            </a:r>
            <a:r>
              <a:rPr lang="zh-CN" altLang="en-US" sz="2800" dirty="0">
                <a:ea typeface="黑体" pitchFamily="49" charset="-122"/>
              </a:rPr>
              <a:t>和</a:t>
            </a:r>
            <a:r>
              <a:rPr lang="el-GR" altLang="zh-CN" sz="2800" i="1" dirty="0">
                <a:ea typeface="黑体" pitchFamily="49" charset="-122"/>
              </a:rPr>
              <a:t>η</a:t>
            </a:r>
            <a:r>
              <a:rPr lang="zh-CN" altLang="en-US" sz="2800" dirty="0">
                <a:ea typeface="黑体" pitchFamily="49" charset="-122"/>
              </a:rPr>
              <a:t>是随机变量，现假设它们都服从正态分布：</a:t>
            </a:r>
          </a:p>
          <a:p>
            <a:pPr eaLnBrk="1" hangingPunct="1">
              <a:buFont typeface="Wingdings" pitchFamily="2" charset="2"/>
              <a:buNone/>
            </a:pPr>
            <a:r>
              <a:rPr lang="zh-CN" altLang="en-US" sz="2800" dirty="0">
                <a:cs typeface="Arial" pitchFamily="34" charset="0"/>
              </a:rPr>
              <a:t>        </a:t>
            </a:r>
            <a:r>
              <a:rPr lang="el-GR" altLang="zh-CN" i="1" dirty="0">
                <a:solidFill>
                  <a:srgbClr val="CC00CC"/>
                </a:solidFill>
                <a:ea typeface="黑体" pitchFamily="49" charset="-122"/>
              </a:rPr>
              <a:t>ξ</a:t>
            </a:r>
            <a:r>
              <a:rPr lang="en-US" altLang="zh-CN" dirty="0">
                <a:solidFill>
                  <a:srgbClr val="CC00CC"/>
                </a:solidFill>
                <a:ea typeface="黑体" pitchFamily="49" charset="-122"/>
              </a:rPr>
              <a:t> </a:t>
            </a:r>
            <a:r>
              <a:rPr lang="zh-CN" altLang="en-US" sz="2800" dirty="0">
                <a:solidFill>
                  <a:srgbClr val="CC00CC"/>
                </a:solidFill>
                <a:cs typeface="Arial" pitchFamily="34" charset="0"/>
              </a:rPr>
              <a:t>：</a:t>
            </a:r>
            <a:r>
              <a:rPr lang="en-US" altLang="zh-CN" sz="2800" i="1" dirty="0">
                <a:solidFill>
                  <a:srgbClr val="CC00CC"/>
                </a:solidFill>
                <a:cs typeface="Arial" pitchFamily="34" charset="0"/>
              </a:rPr>
              <a:t>N</a:t>
            </a:r>
            <a:r>
              <a:rPr lang="en-US" altLang="zh-CN" sz="2800" dirty="0">
                <a:solidFill>
                  <a:srgbClr val="CC00CC"/>
                </a:solidFill>
                <a:cs typeface="Arial" pitchFamily="34" charset="0"/>
              </a:rPr>
              <a:t>(</a:t>
            </a:r>
            <a:r>
              <a:rPr lang="en-US" altLang="zh-CN" sz="2800" i="1" dirty="0">
                <a:solidFill>
                  <a:srgbClr val="CC00CC"/>
                </a:solidFill>
                <a:cs typeface="Arial" pitchFamily="34" charset="0"/>
              </a:rPr>
              <a:t>a</a:t>
            </a:r>
            <a:r>
              <a:rPr lang="en-US" altLang="zh-CN" sz="2800" baseline="-25000" dirty="0">
                <a:solidFill>
                  <a:srgbClr val="CC00CC"/>
                </a:solidFill>
                <a:cs typeface="Arial" pitchFamily="34" charset="0"/>
              </a:rPr>
              <a:t>1</a:t>
            </a:r>
            <a:r>
              <a:rPr lang="en-US" altLang="zh-CN" sz="2800" dirty="0">
                <a:solidFill>
                  <a:srgbClr val="CC00CC"/>
                </a:solidFill>
                <a:cs typeface="Arial" pitchFamily="34" charset="0"/>
              </a:rPr>
              <a:t>,</a:t>
            </a:r>
            <a:r>
              <a:rPr lang="el-GR" altLang="zh-CN" sz="2800" i="1" dirty="0">
                <a:solidFill>
                  <a:srgbClr val="CC00CC"/>
                </a:solidFill>
                <a:cs typeface="Arial" pitchFamily="34" charset="0"/>
              </a:rPr>
              <a:t>σ</a:t>
            </a:r>
            <a:r>
              <a:rPr lang="en-US" altLang="zh-CN" sz="2800" baseline="-25000" dirty="0">
                <a:solidFill>
                  <a:srgbClr val="CC00CC"/>
                </a:solidFill>
                <a:cs typeface="Arial" pitchFamily="34" charset="0"/>
              </a:rPr>
              <a:t>1</a:t>
            </a:r>
            <a:r>
              <a:rPr lang="en-US" altLang="zh-CN" sz="2800" baseline="30000" dirty="0">
                <a:solidFill>
                  <a:srgbClr val="CC00CC"/>
                </a:solidFill>
              </a:rPr>
              <a:t>2</a:t>
            </a:r>
            <a:r>
              <a:rPr lang="en-US" altLang="zh-CN" sz="2800" dirty="0">
                <a:solidFill>
                  <a:srgbClr val="CC00CC"/>
                </a:solidFill>
              </a:rPr>
              <a:t>)     </a:t>
            </a:r>
            <a:r>
              <a:rPr lang="el-GR" altLang="zh-CN" i="1" dirty="0">
                <a:solidFill>
                  <a:srgbClr val="CC00CC"/>
                </a:solidFill>
                <a:ea typeface="黑体" pitchFamily="49" charset="-122"/>
              </a:rPr>
              <a:t>η</a:t>
            </a:r>
            <a:r>
              <a:rPr lang="zh-CN" altLang="en-US" sz="2800" dirty="0">
                <a:solidFill>
                  <a:srgbClr val="CC00CC"/>
                </a:solidFill>
                <a:cs typeface="Arial" pitchFamily="34" charset="0"/>
              </a:rPr>
              <a:t>：</a:t>
            </a:r>
            <a:r>
              <a:rPr lang="en-US" altLang="zh-CN" sz="2800" i="1" dirty="0">
                <a:solidFill>
                  <a:srgbClr val="CC00CC"/>
                </a:solidFill>
                <a:cs typeface="Arial" pitchFamily="34" charset="0"/>
              </a:rPr>
              <a:t>N</a:t>
            </a:r>
            <a:r>
              <a:rPr lang="en-US" altLang="zh-CN" sz="2800" dirty="0">
                <a:solidFill>
                  <a:srgbClr val="CC00CC"/>
                </a:solidFill>
                <a:cs typeface="Arial" pitchFamily="34" charset="0"/>
              </a:rPr>
              <a:t>(</a:t>
            </a:r>
            <a:r>
              <a:rPr lang="en-US" altLang="zh-CN" sz="2800" i="1" dirty="0">
                <a:solidFill>
                  <a:srgbClr val="CC00CC"/>
                </a:solidFill>
                <a:cs typeface="Arial" pitchFamily="34" charset="0"/>
              </a:rPr>
              <a:t>a</a:t>
            </a:r>
            <a:r>
              <a:rPr lang="en-US" altLang="zh-CN" sz="2800" baseline="-25000" dirty="0">
                <a:solidFill>
                  <a:srgbClr val="CC00CC"/>
                </a:solidFill>
                <a:cs typeface="Arial" pitchFamily="34" charset="0"/>
              </a:rPr>
              <a:t>2</a:t>
            </a:r>
            <a:r>
              <a:rPr lang="en-US" altLang="zh-CN" sz="2800" dirty="0">
                <a:solidFill>
                  <a:srgbClr val="CC00CC"/>
                </a:solidFill>
                <a:cs typeface="Arial" pitchFamily="34" charset="0"/>
              </a:rPr>
              <a:t>,</a:t>
            </a:r>
            <a:r>
              <a:rPr lang="el-GR" altLang="zh-CN" sz="2800" i="1" dirty="0">
                <a:solidFill>
                  <a:srgbClr val="CC00CC"/>
                </a:solidFill>
                <a:cs typeface="Arial" pitchFamily="34" charset="0"/>
              </a:rPr>
              <a:t>σ</a:t>
            </a:r>
            <a:r>
              <a:rPr lang="en-US" altLang="zh-CN" sz="2800" baseline="-25000" dirty="0">
                <a:solidFill>
                  <a:srgbClr val="CC00CC"/>
                </a:solidFill>
                <a:cs typeface="Arial" pitchFamily="34" charset="0"/>
              </a:rPr>
              <a:t>2</a:t>
            </a:r>
            <a:r>
              <a:rPr lang="en-US" altLang="zh-CN" sz="2800" baseline="30000" dirty="0">
                <a:solidFill>
                  <a:srgbClr val="CC00CC"/>
                </a:solidFill>
              </a:rPr>
              <a:t>2</a:t>
            </a:r>
            <a:r>
              <a:rPr lang="en-US" altLang="zh-CN" sz="2800" dirty="0">
                <a:solidFill>
                  <a:srgbClr val="CC00CC"/>
                </a:solidFill>
              </a:rPr>
              <a:t>) </a:t>
            </a:r>
          </a:p>
        </p:txBody>
      </p:sp>
      <p:grpSp>
        <p:nvGrpSpPr>
          <p:cNvPr id="29" name="组合 28">
            <a:extLst>
              <a:ext uri="{FF2B5EF4-FFF2-40B4-BE49-F238E27FC236}">
                <a16:creationId xmlns:a16="http://schemas.microsoft.com/office/drawing/2014/main" id="{B90BA0ED-BE3B-7FEC-5A0C-060B64C0C190}"/>
              </a:ext>
            </a:extLst>
          </p:cNvPr>
          <p:cNvGrpSpPr/>
          <p:nvPr/>
        </p:nvGrpSpPr>
        <p:grpSpPr>
          <a:xfrm>
            <a:off x="6312024" y="551074"/>
            <a:ext cx="5533502" cy="2445878"/>
            <a:chOff x="4583113" y="235974"/>
            <a:chExt cx="4409349" cy="2445878"/>
          </a:xfrm>
        </p:grpSpPr>
        <p:grpSp>
          <p:nvGrpSpPr>
            <p:cNvPr id="2" name="组合 1">
              <a:extLst>
                <a:ext uri="{FF2B5EF4-FFF2-40B4-BE49-F238E27FC236}">
                  <a16:creationId xmlns:a16="http://schemas.microsoft.com/office/drawing/2014/main" id="{54F17DC6-18D2-F0EC-CE9D-13105DB21726}"/>
                </a:ext>
              </a:extLst>
            </p:cNvPr>
            <p:cNvGrpSpPr/>
            <p:nvPr/>
          </p:nvGrpSpPr>
          <p:grpSpPr>
            <a:xfrm>
              <a:off x="4583113" y="235974"/>
              <a:ext cx="4409349" cy="2445878"/>
              <a:chOff x="899592" y="3140968"/>
              <a:chExt cx="4409349" cy="2445878"/>
            </a:xfrm>
          </p:grpSpPr>
          <p:pic>
            <p:nvPicPr>
              <p:cNvPr id="3" name="图片 2" descr="图示&#10;&#10;描述已自动生成">
                <a:extLst>
                  <a:ext uri="{FF2B5EF4-FFF2-40B4-BE49-F238E27FC236}">
                    <a16:creationId xmlns:a16="http://schemas.microsoft.com/office/drawing/2014/main" id="{B0639B22-18D3-27F6-FA98-B1AFB24D7177}"/>
                  </a:ext>
                </a:extLst>
              </p:cNvPr>
              <p:cNvPicPr>
                <a:picLocks noChangeAspect="1"/>
              </p:cNvPicPr>
              <p:nvPr/>
            </p:nvPicPr>
            <p:blipFill rotWithShape="1">
              <a:blip r:embed="rId2">
                <a:extLst>
                  <a:ext uri="{28A0092B-C50C-407E-A947-70E740481C1C}">
                    <a14:useLocalDpi xmlns:a14="http://schemas.microsoft.com/office/drawing/2010/main" val="0"/>
                  </a:ext>
                </a:extLst>
              </a:blip>
              <a:srcRect r="11604"/>
              <a:stretch/>
            </p:blipFill>
            <p:spPr>
              <a:xfrm>
                <a:off x="899592" y="3429000"/>
                <a:ext cx="4409348" cy="2083254"/>
              </a:xfrm>
              <a:prstGeom prst="rect">
                <a:avLst/>
              </a:prstGeom>
            </p:spPr>
          </p:pic>
          <p:sp>
            <p:nvSpPr>
              <p:cNvPr id="24" name="Text Box 36">
                <a:extLst>
                  <a:ext uri="{FF2B5EF4-FFF2-40B4-BE49-F238E27FC236}">
                    <a16:creationId xmlns:a16="http://schemas.microsoft.com/office/drawing/2014/main" id="{A4BBCFCD-AAD2-CE3F-114C-685C9432B51C}"/>
                  </a:ext>
                </a:extLst>
              </p:cNvPr>
              <p:cNvSpPr txBox="1">
                <a:spLocks noChangeArrowheads="1"/>
              </p:cNvSpPr>
              <p:nvPr/>
            </p:nvSpPr>
            <p:spPr bwMode="auto">
              <a:xfrm>
                <a:off x="1259633" y="3140968"/>
                <a:ext cx="40493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000" dirty="0">
                    <a:solidFill>
                      <a:srgbClr val="C74440"/>
                    </a:solidFill>
                  </a:rPr>
                  <a:t>A</a:t>
                </a:r>
                <a:r>
                  <a:rPr lang="en-US" altLang="zh-CN" sz="2000" baseline="-25000" dirty="0">
                    <a:solidFill>
                      <a:srgbClr val="C74440"/>
                    </a:solidFill>
                  </a:rPr>
                  <a:t>1</a:t>
                </a:r>
                <a:r>
                  <a:rPr lang="en-US" altLang="zh-CN" sz="2000" dirty="0">
                    <a:solidFill>
                      <a:srgbClr val="C74440"/>
                    </a:solidFill>
                  </a:rPr>
                  <a:t>                          </a:t>
                </a:r>
                <a:r>
                  <a:rPr lang="en-US" altLang="zh-CN" sz="2000" dirty="0">
                    <a:solidFill>
                      <a:srgbClr val="008000"/>
                    </a:solidFill>
                  </a:rPr>
                  <a:t>A</a:t>
                </a:r>
                <a:r>
                  <a:rPr lang="en-US" altLang="zh-CN" sz="2000" baseline="-25000" dirty="0">
                    <a:solidFill>
                      <a:srgbClr val="008000"/>
                    </a:solidFill>
                  </a:rPr>
                  <a:t>2</a:t>
                </a:r>
                <a:r>
                  <a:rPr lang="en-US" altLang="zh-CN" sz="2000" dirty="0">
                    <a:solidFill>
                      <a:srgbClr val="9900FF"/>
                    </a:solidFill>
                  </a:rPr>
                  <a:t>                       A</a:t>
                </a:r>
                <a:r>
                  <a:rPr lang="en-US" altLang="zh-CN" sz="2000" baseline="-25000" dirty="0">
                    <a:solidFill>
                      <a:srgbClr val="9900FF"/>
                    </a:solidFill>
                  </a:rPr>
                  <a:t>3</a:t>
                </a:r>
              </a:p>
            </p:txBody>
          </p:sp>
          <p:sp>
            <p:nvSpPr>
              <p:cNvPr id="25" name="Text Box 40">
                <a:extLst>
                  <a:ext uri="{FF2B5EF4-FFF2-40B4-BE49-F238E27FC236}">
                    <a16:creationId xmlns:a16="http://schemas.microsoft.com/office/drawing/2014/main" id="{D55C9683-8CD1-F769-3C10-0AD175FDE118}"/>
                  </a:ext>
                </a:extLst>
              </p:cNvPr>
              <p:cNvSpPr txBox="1">
                <a:spLocks noChangeArrowheads="1"/>
              </p:cNvSpPr>
              <p:nvPr/>
            </p:nvSpPr>
            <p:spPr bwMode="auto">
              <a:xfrm>
                <a:off x="2195736" y="5217514"/>
                <a:ext cx="28803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                            a</a:t>
                </a:r>
                <a:r>
                  <a:rPr lang="en-US" altLang="zh-CN" baseline="-25000" dirty="0">
                    <a:solidFill>
                      <a:srgbClr val="FF0000"/>
                    </a:solidFill>
                  </a:rPr>
                  <a:t>2</a:t>
                </a:r>
              </a:p>
            </p:txBody>
          </p:sp>
          <p:sp>
            <p:nvSpPr>
              <p:cNvPr id="26" name="Line 38">
                <a:extLst>
                  <a:ext uri="{FF2B5EF4-FFF2-40B4-BE49-F238E27FC236}">
                    <a16:creationId xmlns:a16="http://schemas.microsoft.com/office/drawing/2014/main" id="{693639DB-FDBF-3854-A12F-B6A609CA7726}"/>
                  </a:ext>
                </a:extLst>
              </p:cNvPr>
              <p:cNvSpPr>
                <a:spLocks noChangeShapeType="1"/>
              </p:cNvSpPr>
              <p:nvPr/>
            </p:nvSpPr>
            <p:spPr bwMode="auto">
              <a:xfrm>
                <a:off x="2391453" y="3541078"/>
                <a:ext cx="0" cy="179705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8">
                <a:extLst>
                  <a:ext uri="{FF2B5EF4-FFF2-40B4-BE49-F238E27FC236}">
                    <a16:creationId xmlns:a16="http://schemas.microsoft.com/office/drawing/2014/main" id="{183A2531-4CBA-409C-ED19-81E786BF243D}"/>
                  </a:ext>
                </a:extLst>
              </p:cNvPr>
              <p:cNvSpPr>
                <a:spLocks noChangeShapeType="1"/>
              </p:cNvSpPr>
              <p:nvPr/>
            </p:nvSpPr>
            <p:spPr bwMode="auto">
              <a:xfrm>
                <a:off x="3883315" y="3541078"/>
                <a:ext cx="0" cy="179705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 name="矩形 27">
              <a:extLst>
                <a:ext uri="{FF2B5EF4-FFF2-40B4-BE49-F238E27FC236}">
                  <a16:creationId xmlns:a16="http://schemas.microsoft.com/office/drawing/2014/main" id="{CDE43291-8AF7-8263-B58B-DFC0BE2A67AC}"/>
                </a:ext>
              </a:extLst>
            </p:cNvPr>
            <p:cNvSpPr/>
            <p:nvPr/>
          </p:nvSpPr>
          <p:spPr>
            <a:xfrm>
              <a:off x="6948263" y="2388480"/>
              <a:ext cx="299144" cy="17412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grpSp>
      <p:sp>
        <p:nvSpPr>
          <p:cNvPr id="4" name="灯片编号占位符 3">
            <a:extLst>
              <a:ext uri="{FF2B5EF4-FFF2-40B4-BE49-F238E27FC236}">
                <a16:creationId xmlns:a16="http://schemas.microsoft.com/office/drawing/2014/main" id="{07F97710-29C9-D1B9-7ED2-B9CAF3934A88}"/>
              </a:ext>
            </a:extLst>
          </p:cNvPr>
          <p:cNvSpPr>
            <a:spLocks noGrp="1"/>
          </p:cNvSpPr>
          <p:nvPr>
            <p:ph type="sldNum" sz="quarter" idx="11"/>
          </p:nvPr>
        </p:nvSpPr>
        <p:spPr/>
        <p:txBody>
          <a:bodyPr/>
          <a:lstStyle/>
          <a:p>
            <a:pPr>
              <a:defRPr/>
            </a:pPr>
            <a:fld id="{76C4EDA0-D764-474C-A15B-7C3CFCC0E433}" type="slidenum">
              <a:rPr lang="en-US" altLang="zh-CN" smtClean="0"/>
              <a:pPr>
                <a:defRPr/>
              </a:pPr>
              <a:t>7</a:t>
            </a:fld>
            <a:endParaRPr lang="en-US" altLang="zh-CN"/>
          </a:p>
        </p:txBody>
      </p:sp>
    </p:spTree>
    <p:extLst>
      <p:ext uri="{BB962C8B-B14F-4D97-AF65-F5344CB8AC3E}">
        <p14:creationId xmlns:p14="http://schemas.microsoft.com/office/powerpoint/2010/main" val="20146432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wipe(up)">
                                      <p:cBhvr>
                                        <p:cTn id="7" dur="500"/>
                                        <p:tgtEl>
                                          <p:spTgt spid="30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wipe(up)">
                                      <p:cBhvr>
                                        <p:cTn id="12" dur="500"/>
                                        <p:tgtEl>
                                          <p:spTgt spid="30723">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0723">
                                            <p:txEl>
                                              <p:pRg st="2" end="2"/>
                                            </p:txEl>
                                          </p:spTgt>
                                        </p:tgtEl>
                                        <p:attrNameLst>
                                          <p:attrName>style.visibility</p:attrName>
                                        </p:attrNameLst>
                                      </p:cBhvr>
                                      <p:to>
                                        <p:strVal val="visible"/>
                                      </p:to>
                                    </p:set>
                                    <p:animEffect transition="in" filter="wipe(up)">
                                      <p:cBhvr>
                                        <p:cTn id="16" dur="500"/>
                                        <p:tgtEl>
                                          <p:spTgt spid="3072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0723">
                                            <p:txEl>
                                              <p:pRg st="3" end="3"/>
                                            </p:txEl>
                                          </p:spTgt>
                                        </p:tgtEl>
                                        <p:attrNameLst>
                                          <p:attrName>style.visibility</p:attrName>
                                        </p:attrNameLst>
                                      </p:cBhvr>
                                      <p:to>
                                        <p:strVal val="visible"/>
                                      </p:to>
                                    </p:set>
                                    <p:animEffect transition="in" filter="wipe(up)">
                                      <p:cBhvr>
                                        <p:cTn id="21" dur="500"/>
                                        <p:tgtEl>
                                          <p:spTgt spid="30723">
                                            <p:txEl>
                                              <p:pRg st="3" end="3"/>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0723">
                                            <p:txEl>
                                              <p:pRg st="4" end="4"/>
                                            </p:txEl>
                                          </p:spTgt>
                                        </p:tgtEl>
                                        <p:attrNameLst>
                                          <p:attrName>style.visibility</p:attrName>
                                        </p:attrNameLst>
                                      </p:cBhvr>
                                      <p:to>
                                        <p:strVal val="visible"/>
                                      </p:to>
                                    </p:set>
                                    <p:animEffect transition="in" filter="wipe(up)">
                                      <p:cBhvr>
                                        <p:cTn id="24" dur="500"/>
                                        <p:tgtEl>
                                          <p:spTgt spid="30723">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0723">
                                            <p:txEl>
                                              <p:pRg st="5" end="5"/>
                                            </p:txEl>
                                          </p:spTgt>
                                        </p:tgtEl>
                                        <p:attrNameLst>
                                          <p:attrName>style.visibility</p:attrName>
                                        </p:attrNameLst>
                                      </p:cBhvr>
                                      <p:to>
                                        <p:strVal val="visible"/>
                                      </p:to>
                                    </p:set>
                                    <p:animEffect transition="in" filter="wipe(up)">
                                      <p:cBhvr>
                                        <p:cTn id="29" dur="500"/>
                                        <p:tgtEl>
                                          <p:spTgt spid="30723">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0723">
                                            <p:txEl>
                                              <p:pRg st="6" end="6"/>
                                            </p:txEl>
                                          </p:spTgt>
                                        </p:tgtEl>
                                        <p:attrNameLst>
                                          <p:attrName>style.visibility</p:attrName>
                                        </p:attrNameLst>
                                      </p:cBhvr>
                                      <p:to>
                                        <p:strVal val="visible"/>
                                      </p:to>
                                    </p:set>
                                    <p:animEffect transition="in" filter="wipe(up)">
                                      <p:cBhvr>
                                        <p:cTn id="34" dur="500"/>
                                        <p:tgtEl>
                                          <p:spTgt spid="30723">
                                            <p:txEl>
                                              <p:pRg st="6" end="6"/>
                                            </p:txEl>
                                          </p:spTgt>
                                        </p:tgtEl>
                                      </p:cBhvr>
                                    </p:animEffect>
                                  </p:childTnLst>
                                </p:cTn>
                              </p:par>
                            </p:childTnLst>
                          </p:cTn>
                        </p:par>
                        <p:par>
                          <p:cTn id="35" fill="hold" nodeType="afterGroup">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30723">
                                            <p:txEl>
                                              <p:pRg st="7" end="7"/>
                                            </p:txEl>
                                          </p:spTgt>
                                        </p:tgtEl>
                                        <p:attrNameLst>
                                          <p:attrName>style.visibility</p:attrName>
                                        </p:attrNameLst>
                                      </p:cBhvr>
                                      <p:to>
                                        <p:strVal val="visible"/>
                                      </p:to>
                                    </p:set>
                                    <p:animEffect transition="in" filter="wipe(up)">
                                      <p:cBhvr>
                                        <p:cTn id="38" dur="500"/>
                                        <p:tgtEl>
                                          <p:spTgt spid="3072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3"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1+#ppt_w/2"/>
                                          </p:val>
                                        </p:tav>
                                        <p:tav tm="100000">
                                          <p:val>
                                            <p:strVal val="#ppt_x"/>
                                          </p:val>
                                        </p:tav>
                                      </p:tavLst>
                                    </p:anim>
                                    <p:anim calcmode="lin" valueType="num">
                                      <p:cBhvr additive="base">
                                        <p:cTn id="44"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81200" y="457201"/>
            <a:ext cx="8229600" cy="955675"/>
          </a:xfrm>
        </p:spPr>
        <p:txBody>
          <a:bodyPr/>
          <a:lstStyle/>
          <a:p>
            <a:pPr algn="ctr" eaLnBrk="1" hangingPunct="1"/>
            <a:r>
              <a:rPr lang="zh-CN" altLang="en-US" dirty="0">
                <a:solidFill>
                  <a:srgbClr val="008000"/>
                </a:solidFill>
                <a:ea typeface="黑体" pitchFamily="49" charset="-122"/>
              </a:rPr>
              <a:t>三分法举例</a:t>
            </a:r>
          </a:p>
        </p:txBody>
      </p:sp>
      <p:sp>
        <p:nvSpPr>
          <p:cNvPr id="110595" name="Rectangle 3"/>
          <p:cNvSpPr>
            <a:spLocks noGrp="1" noChangeArrowheads="1"/>
          </p:cNvSpPr>
          <p:nvPr>
            <p:ph type="body" sz="half" idx="1"/>
          </p:nvPr>
        </p:nvSpPr>
        <p:spPr>
          <a:xfrm>
            <a:off x="911424" y="1412876"/>
            <a:ext cx="10153128" cy="5256213"/>
          </a:xfrm>
        </p:spPr>
        <p:txBody>
          <a:bodyPr/>
          <a:lstStyle/>
          <a:p>
            <a:pPr eaLnBrk="1" hangingPunct="1"/>
            <a:r>
              <a:rPr lang="zh-CN" altLang="en-US" sz="2800" dirty="0">
                <a:ea typeface="黑体" pitchFamily="49" charset="-122"/>
              </a:rPr>
              <a:t>试建立下列三个</a:t>
            </a:r>
            <a:r>
              <a:rPr lang="en-US" altLang="zh-CN" sz="2800" dirty="0">
                <a:ea typeface="黑体" pitchFamily="49" charset="-122"/>
              </a:rPr>
              <a:t>F</a:t>
            </a:r>
            <a:r>
              <a:rPr lang="zh-CN" altLang="en-US" sz="2800" dirty="0">
                <a:ea typeface="黑体" pitchFamily="49" charset="-122"/>
              </a:rPr>
              <a:t>集隶属函数：</a:t>
            </a:r>
          </a:p>
          <a:p>
            <a:pPr eaLnBrk="1" hangingPunct="1">
              <a:buFont typeface="Wingdings" pitchFamily="2" charset="2"/>
              <a:buNone/>
            </a:pPr>
            <a:r>
              <a:rPr lang="zh-CN" altLang="en-US" sz="2800" dirty="0">
                <a:solidFill>
                  <a:srgbClr val="FF0000"/>
                </a:solidFill>
                <a:ea typeface="黑体" pitchFamily="49" charset="-122"/>
              </a:rPr>
              <a:t>  </a:t>
            </a:r>
            <a:r>
              <a:rPr lang="en-US" altLang="zh-CN" sz="2800" dirty="0">
                <a:solidFill>
                  <a:srgbClr val="FF0000"/>
                </a:solidFill>
                <a:ea typeface="黑体" pitchFamily="49" charset="-122"/>
              </a:rPr>
              <a:t>A</a:t>
            </a:r>
            <a:r>
              <a:rPr lang="en-US" altLang="zh-CN" sz="2800" baseline="-25000" dirty="0">
                <a:solidFill>
                  <a:srgbClr val="FF0000"/>
                </a:solidFill>
                <a:ea typeface="黑体" pitchFamily="49" charset="-122"/>
              </a:rPr>
              <a:t>1</a:t>
            </a:r>
            <a:r>
              <a:rPr lang="en-US" altLang="zh-CN" sz="2800" dirty="0">
                <a:solidFill>
                  <a:srgbClr val="FF0000"/>
                </a:solidFill>
                <a:ea typeface="黑体" pitchFamily="49" charset="-122"/>
              </a:rPr>
              <a:t>=“</a:t>
            </a:r>
            <a:r>
              <a:rPr lang="zh-CN" altLang="en-US" sz="2800" dirty="0">
                <a:solidFill>
                  <a:srgbClr val="FF0000"/>
                </a:solidFill>
                <a:ea typeface="黑体" pitchFamily="49" charset="-122"/>
              </a:rPr>
              <a:t>矮个子”，</a:t>
            </a:r>
            <a:r>
              <a:rPr lang="en-US" altLang="zh-CN" sz="2800" dirty="0">
                <a:solidFill>
                  <a:srgbClr val="FF0000"/>
                </a:solidFill>
                <a:ea typeface="黑体" pitchFamily="49" charset="-122"/>
              </a:rPr>
              <a:t>A</a:t>
            </a:r>
            <a:r>
              <a:rPr lang="en-US" altLang="zh-CN" sz="2800" baseline="-25000" dirty="0">
                <a:solidFill>
                  <a:srgbClr val="FF0000"/>
                </a:solidFill>
                <a:ea typeface="黑体" pitchFamily="49" charset="-122"/>
              </a:rPr>
              <a:t>2</a:t>
            </a:r>
            <a:r>
              <a:rPr lang="en-US" altLang="zh-CN" sz="2800" dirty="0">
                <a:solidFill>
                  <a:srgbClr val="FF0000"/>
                </a:solidFill>
                <a:ea typeface="黑体" pitchFamily="49" charset="-122"/>
              </a:rPr>
              <a:t>=“</a:t>
            </a:r>
            <a:r>
              <a:rPr lang="zh-CN" altLang="en-US" sz="2800" dirty="0">
                <a:solidFill>
                  <a:srgbClr val="FF0000"/>
                </a:solidFill>
                <a:ea typeface="黑体" pitchFamily="49" charset="-122"/>
              </a:rPr>
              <a:t>中等个子”，</a:t>
            </a:r>
            <a:r>
              <a:rPr lang="en-US" altLang="zh-CN" sz="2800" dirty="0">
                <a:solidFill>
                  <a:srgbClr val="FF0000"/>
                </a:solidFill>
                <a:ea typeface="黑体" pitchFamily="49" charset="-122"/>
              </a:rPr>
              <a:t>A</a:t>
            </a:r>
            <a:r>
              <a:rPr lang="en-US" altLang="zh-CN" sz="2800" baseline="-25000" dirty="0">
                <a:solidFill>
                  <a:srgbClr val="FF0000"/>
                </a:solidFill>
                <a:ea typeface="黑体" pitchFamily="49" charset="-122"/>
              </a:rPr>
              <a:t>3</a:t>
            </a:r>
            <a:r>
              <a:rPr lang="en-US" altLang="zh-CN" sz="2800" dirty="0">
                <a:solidFill>
                  <a:srgbClr val="FF0000"/>
                </a:solidFill>
                <a:ea typeface="黑体" pitchFamily="49" charset="-122"/>
              </a:rPr>
              <a:t>=“</a:t>
            </a:r>
            <a:r>
              <a:rPr lang="zh-CN" altLang="en-US" sz="2800" dirty="0">
                <a:solidFill>
                  <a:srgbClr val="FF0000"/>
                </a:solidFill>
                <a:ea typeface="黑体" pitchFamily="49" charset="-122"/>
              </a:rPr>
              <a:t>高个子”</a:t>
            </a:r>
            <a:r>
              <a:rPr lang="zh-CN" altLang="en-US" sz="2800" dirty="0">
                <a:ea typeface="黑体" pitchFamily="49" charset="-122"/>
              </a:rPr>
              <a:t>，</a:t>
            </a:r>
            <a:r>
              <a:rPr lang="en-US" altLang="zh-CN" sz="2800" dirty="0">
                <a:solidFill>
                  <a:srgbClr val="3333FF"/>
                </a:solidFill>
                <a:ea typeface="黑体" pitchFamily="49" charset="-122"/>
              </a:rPr>
              <a:t>U=(0,3)</a:t>
            </a:r>
            <a:r>
              <a:rPr lang="en-US" altLang="zh-CN" sz="2800" dirty="0">
                <a:ea typeface="黑体" pitchFamily="49" charset="-122"/>
              </a:rPr>
              <a:t>(m)</a:t>
            </a:r>
          </a:p>
          <a:p>
            <a:pPr eaLnBrk="1" hangingPunct="1"/>
            <a:r>
              <a:rPr lang="zh-CN" altLang="en-US" sz="2800" b="1" dirty="0"/>
              <a:t>按</a:t>
            </a:r>
            <a:r>
              <a:rPr lang="en-US" altLang="zh-CN" sz="2800" b="1" dirty="0"/>
              <a:t>[</a:t>
            </a:r>
            <a:r>
              <a:rPr lang="zh-CN" altLang="en-US" sz="2800" b="1" dirty="0"/>
              <a:t>定理</a:t>
            </a:r>
            <a:r>
              <a:rPr lang="en-US" altLang="zh-CN" sz="2800" b="1" dirty="0"/>
              <a:t>]</a:t>
            </a:r>
            <a:r>
              <a:rPr lang="zh-CN" altLang="en-US" sz="2800" b="1" dirty="0"/>
              <a:t>有</a:t>
            </a:r>
          </a:p>
          <a:p>
            <a:pPr eaLnBrk="1" hangingPunct="1"/>
            <a:endParaRPr lang="zh-CN" altLang="en-US" sz="2400" dirty="0"/>
          </a:p>
          <a:p>
            <a:pPr eaLnBrk="1" hangingPunct="1"/>
            <a:endParaRPr lang="zh-CN" altLang="en-US" dirty="0"/>
          </a:p>
          <a:p>
            <a:pPr eaLnBrk="1" hangingPunct="1">
              <a:buFont typeface="Wingdings" pitchFamily="2" charset="2"/>
              <a:buNone/>
            </a:pPr>
            <a:r>
              <a:rPr lang="zh-CN" altLang="en-US" sz="2400" b="1" dirty="0"/>
              <a:t>    其中：</a:t>
            </a:r>
          </a:p>
        </p:txBody>
      </p:sp>
      <p:graphicFrame>
        <p:nvGraphicFramePr>
          <p:cNvPr id="110596" name="Object 4"/>
          <p:cNvGraphicFramePr>
            <a:graphicFrameLocks noGrp="1" noChangeAspect="1"/>
          </p:cNvGraphicFramePr>
          <p:nvPr>
            <p:ph sz="quarter" idx="2"/>
            <p:extLst>
              <p:ext uri="{D42A27DB-BD31-4B8C-83A1-F6EECF244321}">
                <p14:modId xmlns:p14="http://schemas.microsoft.com/office/powerpoint/2010/main" val="3098201755"/>
              </p:ext>
            </p:extLst>
          </p:nvPr>
        </p:nvGraphicFramePr>
        <p:xfrm>
          <a:off x="2212807" y="2736011"/>
          <a:ext cx="2358585" cy="1027005"/>
        </p:xfrm>
        <a:graphic>
          <a:graphicData uri="http://schemas.openxmlformats.org/presentationml/2006/ole">
            <mc:AlternateContent xmlns:mc="http://schemas.openxmlformats.org/markup-compatibility/2006">
              <mc:Choice xmlns:v="urn:schemas-microsoft-com:vml" Requires="v">
                <p:oleObj name="Equation" r:id="rId2" imgW="1079280" imgH="469800" progId="Equation.DSMT4">
                  <p:embed/>
                </p:oleObj>
              </mc:Choice>
              <mc:Fallback>
                <p:oleObj name="Equation" r:id="rId2" imgW="1079280" imgH="469800" progId="Equation.DSMT4">
                  <p:embed/>
                  <p:pic>
                    <p:nvPicPr>
                      <p:cNvPr id="110596" name="Object 4"/>
                      <p:cNvPicPr>
                        <a:picLocks noGrp="1" noChangeAspect="1" noChangeArrowheads="1"/>
                      </p:cNvPicPr>
                      <p:nvPr/>
                    </p:nvPicPr>
                    <p:blipFill>
                      <a:blip r:embed="rId3"/>
                      <a:srcRect/>
                      <a:stretch>
                        <a:fillRect/>
                      </a:stretch>
                    </p:blipFill>
                    <p:spPr bwMode="auto">
                      <a:xfrm>
                        <a:off x="2212807" y="2736011"/>
                        <a:ext cx="2358585" cy="1027005"/>
                      </a:xfrm>
                      <a:prstGeom prst="rect">
                        <a:avLst/>
                      </a:prstGeom>
                      <a:noFill/>
                    </p:spPr>
                  </p:pic>
                </p:oleObj>
              </mc:Fallback>
            </mc:AlternateContent>
          </a:graphicData>
        </a:graphic>
      </p:graphicFrame>
      <p:graphicFrame>
        <p:nvGraphicFramePr>
          <p:cNvPr id="110600" name="Object 8"/>
          <p:cNvGraphicFramePr>
            <a:graphicFrameLocks noChangeAspect="1"/>
          </p:cNvGraphicFramePr>
          <p:nvPr>
            <p:extLst>
              <p:ext uri="{D42A27DB-BD31-4B8C-83A1-F6EECF244321}">
                <p14:modId xmlns:p14="http://schemas.microsoft.com/office/powerpoint/2010/main" val="2453571719"/>
              </p:ext>
            </p:extLst>
          </p:nvPr>
        </p:nvGraphicFramePr>
        <p:xfrm>
          <a:off x="2212807" y="4851177"/>
          <a:ext cx="4089400" cy="954087"/>
        </p:xfrm>
        <a:graphic>
          <a:graphicData uri="http://schemas.openxmlformats.org/presentationml/2006/ole">
            <mc:AlternateContent xmlns:mc="http://schemas.openxmlformats.org/markup-compatibility/2006">
              <mc:Choice xmlns:v="urn:schemas-microsoft-com:vml" Requires="v">
                <p:oleObj name="Equation" r:id="rId4" imgW="2057400" imgH="482400" progId="Equation.DSMT4">
                  <p:embed/>
                </p:oleObj>
              </mc:Choice>
              <mc:Fallback>
                <p:oleObj name="Equation" r:id="rId4" imgW="2057400" imgH="482400" progId="Equation.DSMT4">
                  <p:embed/>
                  <p:pic>
                    <p:nvPicPr>
                      <p:cNvPr id="110600" name="Object 8"/>
                      <p:cNvPicPr>
                        <a:picLocks noChangeAspect="1" noChangeArrowheads="1"/>
                      </p:cNvPicPr>
                      <p:nvPr/>
                    </p:nvPicPr>
                    <p:blipFill>
                      <a:blip r:embed="rId5"/>
                      <a:srcRect/>
                      <a:stretch>
                        <a:fillRect/>
                      </a:stretch>
                    </p:blipFill>
                    <p:spPr bwMode="auto">
                      <a:xfrm>
                        <a:off x="2212807" y="4851177"/>
                        <a:ext cx="4089400"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01" name="Object 9"/>
          <p:cNvGraphicFramePr>
            <a:graphicFrameLocks noChangeAspect="1"/>
          </p:cNvGraphicFramePr>
          <p:nvPr>
            <p:extLst>
              <p:ext uri="{D42A27DB-BD31-4B8C-83A1-F6EECF244321}">
                <p14:modId xmlns:p14="http://schemas.microsoft.com/office/powerpoint/2010/main" val="3576961849"/>
              </p:ext>
            </p:extLst>
          </p:nvPr>
        </p:nvGraphicFramePr>
        <p:xfrm>
          <a:off x="2261251" y="3741439"/>
          <a:ext cx="2664147" cy="983705"/>
        </p:xfrm>
        <a:graphic>
          <a:graphicData uri="http://schemas.openxmlformats.org/presentationml/2006/ole">
            <mc:AlternateContent xmlns:mc="http://schemas.openxmlformats.org/markup-compatibility/2006">
              <mc:Choice xmlns:v="urn:schemas-microsoft-com:vml" Requires="v">
                <p:oleObj name="公式" r:id="rId6" imgW="1307532" imgH="482391" progId="Equation.3">
                  <p:embed/>
                </p:oleObj>
              </mc:Choice>
              <mc:Fallback>
                <p:oleObj name="公式" r:id="rId6" imgW="1307532" imgH="482391" progId="Equation.3">
                  <p:embed/>
                  <p:pic>
                    <p:nvPicPr>
                      <p:cNvPr id="110601"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1251" y="3741439"/>
                        <a:ext cx="2664147" cy="9837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7" name="组合 36">
            <a:extLst>
              <a:ext uri="{FF2B5EF4-FFF2-40B4-BE49-F238E27FC236}">
                <a16:creationId xmlns:a16="http://schemas.microsoft.com/office/drawing/2014/main" id="{CDC1A4F2-5DE3-CC27-AF0C-106F63BA52C3}"/>
              </a:ext>
            </a:extLst>
          </p:cNvPr>
          <p:cNvGrpSpPr/>
          <p:nvPr/>
        </p:nvGrpSpPr>
        <p:grpSpPr>
          <a:xfrm>
            <a:off x="6744073" y="3719426"/>
            <a:ext cx="5472607" cy="2445878"/>
            <a:chOff x="4583113" y="235974"/>
            <a:chExt cx="4528521" cy="2445878"/>
          </a:xfrm>
        </p:grpSpPr>
        <p:grpSp>
          <p:nvGrpSpPr>
            <p:cNvPr id="38" name="组合 37">
              <a:extLst>
                <a:ext uri="{FF2B5EF4-FFF2-40B4-BE49-F238E27FC236}">
                  <a16:creationId xmlns:a16="http://schemas.microsoft.com/office/drawing/2014/main" id="{38674001-63D2-992A-EFFC-311A49CA641C}"/>
                </a:ext>
              </a:extLst>
            </p:cNvPr>
            <p:cNvGrpSpPr/>
            <p:nvPr/>
          </p:nvGrpSpPr>
          <p:grpSpPr>
            <a:xfrm>
              <a:off x="4583113" y="235974"/>
              <a:ext cx="4528521" cy="2445878"/>
              <a:chOff x="899592" y="3140968"/>
              <a:chExt cx="4528521" cy="2445878"/>
            </a:xfrm>
          </p:grpSpPr>
          <p:pic>
            <p:nvPicPr>
              <p:cNvPr id="40" name="图片 39" descr="图示&#10;&#10;描述已自动生成">
                <a:extLst>
                  <a:ext uri="{FF2B5EF4-FFF2-40B4-BE49-F238E27FC236}">
                    <a16:creationId xmlns:a16="http://schemas.microsoft.com/office/drawing/2014/main" id="{45C56DBE-A9EE-4FD6-5F36-96062074305C}"/>
                  </a:ext>
                </a:extLst>
              </p:cNvPr>
              <p:cNvPicPr>
                <a:picLocks noChangeAspect="1"/>
              </p:cNvPicPr>
              <p:nvPr/>
            </p:nvPicPr>
            <p:blipFill rotWithShape="1">
              <a:blip r:embed="rId8">
                <a:extLst>
                  <a:ext uri="{28A0092B-C50C-407E-A947-70E740481C1C}">
                    <a14:useLocalDpi xmlns:a14="http://schemas.microsoft.com/office/drawing/2010/main" val="0"/>
                  </a:ext>
                </a:extLst>
              </a:blip>
              <a:srcRect r="11604"/>
              <a:stretch/>
            </p:blipFill>
            <p:spPr>
              <a:xfrm>
                <a:off x="899592" y="3429000"/>
                <a:ext cx="4409348" cy="2083254"/>
              </a:xfrm>
              <a:prstGeom prst="rect">
                <a:avLst/>
              </a:prstGeom>
            </p:spPr>
          </p:pic>
          <p:sp>
            <p:nvSpPr>
              <p:cNvPr id="41" name="Text Box 36">
                <a:extLst>
                  <a:ext uri="{FF2B5EF4-FFF2-40B4-BE49-F238E27FC236}">
                    <a16:creationId xmlns:a16="http://schemas.microsoft.com/office/drawing/2014/main" id="{0180FF3B-DA6C-3698-EBB8-60365B773F77}"/>
                  </a:ext>
                </a:extLst>
              </p:cNvPr>
              <p:cNvSpPr txBox="1">
                <a:spLocks noChangeArrowheads="1"/>
              </p:cNvSpPr>
              <p:nvPr/>
            </p:nvSpPr>
            <p:spPr bwMode="auto">
              <a:xfrm>
                <a:off x="1378805" y="3140968"/>
                <a:ext cx="40493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000" dirty="0">
                    <a:solidFill>
                      <a:srgbClr val="C74440"/>
                    </a:solidFill>
                  </a:rPr>
                  <a:t>A</a:t>
                </a:r>
                <a:r>
                  <a:rPr lang="en-US" altLang="zh-CN" sz="2000" baseline="-25000" dirty="0">
                    <a:solidFill>
                      <a:srgbClr val="C74440"/>
                    </a:solidFill>
                  </a:rPr>
                  <a:t>1</a:t>
                </a:r>
                <a:r>
                  <a:rPr lang="en-US" altLang="zh-CN" sz="2000" dirty="0">
                    <a:solidFill>
                      <a:srgbClr val="C74440"/>
                    </a:solidFill>
                  </a:rPr>
                  <a:t>                      </a:t>
                </a:r>
                <a:r>
                  <a:rPr lang="en-US" altLang="zh-CN" sz="2000" dirty="0">
                    <a:solidFill>
                      <a:srgbClr val="008000"/>
                    </a:solidFill>
                  </a:rPr>
                  <a:t>A</a:t>
                </a:r>
                <a:r>
                  <a:rPr lang="en-US" altLang="zh-CN" sz="2000" baseline="-25000" dirty="0">
                    <a:solidFill>
                      <a:srgbClr val="008000"/>
                    </a:solidFill>
                  </a:rPr>
                  <a:t>2</a:t>
                </a:r>
                <a:r>
                  <a:rPr lang="en-US" altLang="zh-CN" sz="2000" dirty="0">
                    <a:solidFill>
                      <a:srgbClr val="9900FF"/>
                    </a:solidFill>
                  </a:rPr>
                  <a:t>                     A</a:t>
                </a:r>
                <a:r>
                  <a:rPr lang="en-US" altLang="zh-CN" sz="2000" baseline="-25000" dirty="0">
                    <a:solidFill>
                      <a:srgbClr val="9900FF"/>
                    </a:solidFill>
                  </a:rPr>
                  <a:t>3 </a:t>
                </a:r>
              </a:p>
            </p:txBody>
          </p:sp>
          <p:sp>
            <p:nvSpPr>
              <p:cNvPr id="42" name="Text Box 40">
                <a:extLst>
                  <a:ext uri="{FF2B5EF4-FFF2-40B4-BE49-F238E27FC236}">
                    <a16:creationId xmlns:a16="http://schemas.microsoft.com/office/drawing/2014/main" id="{978A1A56-CFE4-95C0-53A2-E465DDCB58F0}"/>
                  </a:ext>
                </a:extLst>
              </p:cNvPr>
              <p:cNvSpPr txBox="1">
                <a:spLocks noChangeArrowheads="1"/>
              </p:cNvSpPr>
              <p:nvPr/>
            </p:nvSpPr>
            <p:spPr bwMode="auto">
              <a:xfrm>
                <a:off x="2195736" y="5217514"/>
                <a:ext cx="28803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                          a</a:t>
                </a:r>
                <a:r>
                  <a:rPr lang="en-US" altLang="zh-CN" baseline="-25000" dirty="0">
                    <a:solidFill>
                      <a:srgbClr val="FF0000"/>
                    </a:solidFill>
                  </a:rPr>
                  <a:t>2</a:t>
                </a:r>
              </a:p>
            </p:txBody>
          </p:sp>
          <p:sp>
            <p:nvSpPr>
              <p:cNvPr id="43" name="Line 38">
                <a:extLst>
                  <a:ext uri="{FF2B5EF4-FFF2-40B4-BE49-F238E27FC236}">
                    <a16:creationId xmlns:a16="http://schemas.microsoft.com/office/drawing/2014/main" id="{E72F4EB7-0994-B276-7E9C-7CDFB9B2BA39}"/>
                  </a:ext>
                </a:extLst>
              </p:cNvPr>
              <p:cNvSpPr>
                <a:spLocks noChangeShapeType="1"/>
              </p:cNvSpPr>
              <p:nvPr/>
            </p:nvSpPr>
            <p:spPr bwMode="auto">
              <a:xfrm>
                <a:off x="2389237" y="3535946"/>
                <a:ext cx="0" cy="179705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38">
                <a:extLst>
                  <a:ext uri="{FF2B5EF4-FFF2-40B4-BE49-F238E27FC236}">
                    <a16:creationId xmlns:a16="http://schemas.microsoft.com/office/drawing/2014/main" id="{373147AD-4206-D009-A018-80F398989279}"/>
                  </a:ext>
                </a:extLst>
              </p:cNvPr>
              <p:cNvSpPr>
                <a:spLocks noChangeShapeType="1"/>
              </p:cNvSpPr>
              <p:nvPr/>
            </p:nvSpPr>
            <p:spPr bwMode="auto">
              <a:xfrm>
                <a:off x="3878882" y="3541078"/>
                <a:ext cx="0" cy="179705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 name="矩形 38">
              <a:extLst>
                <a:ext uri="{FF2B5EF4-FFF2-40B4-BE49-F238E27FC236}">
                  <a16:creationId xmlns:a16="http://schemas.microsoft.com/office/drawing/2014/main" id="{A3D158FA-F3C1-2C4B-1A46-04B67156EF05}"/>
                </a:ext>
              </a:extLst>
            </p:cNvPr>
            <p:cNvSpPr/>
            <p:nvPr/>
          </p:nvSpPr>
          <p:spPr>
            <a:xfrm>
              <a:off x="6948263" y="2388480"/>
              <a:ext cx="299144" cy="17412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grpSp>
      <p:sp>
        <p:nvSpPr>
          <p:cNvPr id="28" name="Text Box 34"/>
          <p:cNvSpPr txBox="1">
            <a:spLocks noChangeArrowheads="1"/>
          </p:cNvSpPr>
          <p:nvPr/>
        </p:nvSpPr>
        <p:spPr bwMode="auto">
          <a:xfrm>
            <a:off x="8173510" y="3717032"/>
            <a:ext cx="7308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i="1" dirty="0">
                <a:solidFill>
                  <a:srgbClr val="FF0000"/>
                </a:solidFill>
              </a:rPr>
              <a:t>P</a:t>
            </a:r>
            <a:r>
              <a:rPr lang="en-US" altLang="zh-CN" b="1" i="1" baseline="-25000" dirty="0">
                <a:solidFill>
                  <a:srgbClr val="FF0000"/>
                </a:solidFill>
                <a:sym typeface="Symbol"/>
              </a:rPr>
              <a:t></a:t>
            </a:r>
            <a:r>
              <a:rPr lang="en-US" altLang="zh-CN" b="1" dirty="0">
                <a:solidFill>
                  <a:srgbClr val="FF0000"/>
                </a:solidFill>
                <a:sym typeface="Symbol"/>
              </a:rPr>
              <a:t>(x)</a:t>
            </a:r>
            <a:endParaRPr lang="en-US" altLang="zh-CN" b="1" dirty="0">
              <a:solidFill>
                <a:srgbClr val="FF0000"/>
              </a:solidFill>
            </a:endParaRPr>
          </a:p>
        </p:txBody>
      </p:sp>
      <p:sp>
        <p:nvSpPr>
          <p:cNvPr id="29" name="Text Box 34"/>
          <p:cNvSpPr txBox="1">
            <a:spLocks noChangeArrowheads="1"/>
          </p:cNvSpPr>
          <p:nvPr/>
        </p:nvSpPr>
        <p:spPr bwMode="auto">
          <a:xfrm>
            <a:off x="9901702" y="3789040"/>
            <a:ext cx="7308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i="1" dirty="0">
                <a:solidFill>
                  <a:srgbClr val="FF0000"/>
                </a:solidFill>
              </a:rPr>
              <a:t>P</a:t>
            </a:r>
            <a:r>
              <a:rPr lang="en-US" altLang="zh-CN" b="1" i="1" baseline="-25000" dirty="0">
                <a:solidFill>
                  <a:srgbClr val="FF0000"/>
                </a:solidFill>
                <a:sym typeface="Symbol"/>
              </a:rPr>
              <a:t></a:t>
            </a:r>
            <a:r>
              <a:rPr lang="en-US" altLang="zh-CN" b="1" dirty="0">
                <a:solidFill>
                  <a:srgbClr val="FF0000"/>
                </a:solidFill>
                <a:sym typeface="Symbol"/>
              </a:rPr>
              <a:t>(x)</a:t>
            </a:r>
            <a:endParaRPr lang="en-US" altLang="zh-CN" b="1" dirty="0">
              <a:solidFill>
                <a:srgbClr val="FF0000"/>
              </a:solidFill>
            </a:endParaRPr>
          </a:p>
        </p:txBody>
      </p:sp>
      <p:graphicFrame>
        <p:nvGraphicFramePr>
          <p:cNvPr id="110598" name="Object 6"/>
          <p:cNvGraphicFramePr>
            <a:graphicFrameLocks noGrp="1" noChangeAspect="1"/>
          </p:cNvGraphicFramePr>
          <p:nvPr>
            <p:ph sz="quarter" idx="3"/>
            <p:extLst>
              <p:ext uri="{D42A27DB-BD31-4B8C-83A1-F6EECF244321}">
                <p14:modId xmlns:p14="http://schemas.microsoft.com/office/powerpoint/2010/main" val="1014931134"/>
              </p:ext>
            </p:extLst>
          </p:nvPr>
        </p:nvGraphicFramePr>
        <p:xfrm>
          <a:off x="2256978" y="5944303"/>
          <a:ext cx="5568593" cy="866496"/>
        </p:xfrm>
        <a:graphic>
          <a:graphicData uri="http://schemas.openxmlformats.org/presentationml/2006/ole">
            <mc:AlternateContent xmlns:mc="http://schemas.openxmlformats.org/markup-compatibility/2006">
              <mc:Choice xmlns:v="urn:schemas-microsoft-com:vml" Requires="v">
                <p:oleObj name="Equation" r:id="rId9" imgW="3098520" imgH="482400" progId="Equation.DSMT4">
                  <p:embed/>
                </p:oleObj>
              </mc:Choice>
              <mc:Fallback>
                <p:oleObj name="Equation" r:id="rId9" imgW="3098520" imgH="482400" progId="Equation.DSMT4">
                  <p:embed/>
                  <p:pic>
                    <p:nvPicPr>
                      <p:cNvPr id="110598" name="Object 6"/>
                      <p:cNvPicPr>
                        <a:picLocks noGrp="1" noChangeAspect="1" noChangeArrowheads="1"/>
                      </p:cNvPicPr>
                      <p:nvPr/>
                    </p:nvPicPr>
                    <p:blipFill>
                      <a:blip r:embed="rId10"/>
                      <a:srcRect/>
                      <a:stretch>
                        <a:fillRect/>
                      </a:stretch>
                    </p:blipFill>
                    <p:spPr bwMode="auto">
                      <a:xfrm>
                        <a:off x="2256978" y="5944303"/>
                        <a:ext cx="5568593" cy="866496"/>
                      </a:xfrm>
                      <a:prstGeom prst="rect">
                        <a:avLst/>
                      </a:prstGeom>
                      <a:noFill/>
                    </p:spPr>
                  </p:pic>
                </p:oleObj>
              </mc:Fallback>
            </mc:AlternateContent>
          </a:graphicData>
        </a:graphic>
      </p:graphicFrame>
      <p:sp>
        <p:nvSpPr>
          <p:cNvPr id="2" name="灯片编号占位符 1">
            <a:extLst>
              <a:ext uri="{FF2B5EF4-FFF2-40B4-BE49-F238E27FC236}">
                <a16:creationId xmlns:a16="http://schemas.microsoft.com/office/drawing/2014/main" id="{D24FCCDD-7758-FC07-0303-A83C0EDB7CE4}"/>
              </a:ext>
            </a:extLst>
          </p:cNvPr>
          <p:cNvSpPr>
            <a:spLocks noGrp="1"/>
          </p:cNvSpPr>
          <p:nvPr>
            <p:ph type="sldNum" sz="quarter" idx="11"/>
          </p:nvPr>
        </p:nvSpPr>
        <p:spPr/>
        <p:txBody>
          <a:bodyPr/>
          <a:lstStyle/>
          <a:p>
            <a:pPr>
              <a:defRPr/>
            </a:pPr>
            <a:fld id="{6E623E09-9292-430A-945A-636A50DBB6F1}" type="slidenum">
              <a:rPr lang="en-US" altLang="zh-CN" smtClean="0"/>
              <a:pPr>
                <a:defRPr/>
              </a:pPr>
              <a:t>8</a:t>
            </a:fld>
            <a:endParaRPr lang="en-US" altLang="zh-CN"/>
          </a:p>
        </p:txBody>
      </p:sp>
      <p:graphicFrame>
        <p:nvGraphicFramePr>
          <p:cNvPr id="3" name="Object 4">
            <a:extLst>
              <a:ext uri="{FF2B5EF4-FFF2-40B4-BE49-F238E27FC236}">
                <a16:creationId xmlns:a16="http://schemas.microsoft.com/office/drawing/2014/main" id="{89978174-CDAE-C697-63CB-3B9DC6D1883D}"/>
              </a:ext>
            </a:extLst>
          </p:cNvPr>
          <p:cNvGraphicFramePr>
            <a:graphicFrameLocks noChangeAspect="1"/>
          </p:cNvGraphicFramePr>
          <p:nvPr>
            <p:extLst>
              <p:ext uri="{D42A27DB-BD31-4B8C-83A1-F6EECF244321}">
                <p14:modId xmlns:p14="http://schemas.microsoft.com/office/powerpoint/2010/main" val="795874267"/>
              </p:ext>
            </p:extLst>
          </p:nvPr>
        </p:nvGraphicFramePr>
        <p:xfrm>
          <a:off x="4571780" y="2782608"/>
          <a:ext cx="1873522" cy="936761"/>
        </p:xfrm>
        <a:graphic>
          <a:graphicData uri="http://schemas.openxmlformats.org/presentationml/2006/ole">
            <mc:AlternateContent xmlns:mc="http://schemas.openxmlformats.org/markup-compatibility/2006">
              <mc:Choice xmlns:v="urn:schemas-microsoft-com:vml" Requires="v">
                <p:oleObj name="Equation" r:id="rId11" imgW="914400" imgH="457200" progId="Equation.DSMT4">
                  <p:embed/>
                </p:oleObj>
              </mc:Choice>
              <mc:Fallback>
                <p:oleObj name="Equation" r:id="rId11" imgW="914400" imgH="457200" progId="Equation.DSMT4">
                  <p:embed/>
                  <p:pic>
                    <p:nvPicPr>
                      <p:cNvPr id="110596" name="Object 4"/>
                      <p:cNvPicPr>
                        <a:picLocks noGrp="1" noChangeAspect="1" noChangeArrowheads="1"/>
                      </p:cNvPicPr>
                      <p:nvPr/>
                    </p:nvPicPr>
                    <p:blipFill>
                      <a:blip r:embed="rId12"/>
                      <a:srcRect/>
                      <a:stretch>
                        <a:fillRect/>
                      </a:stretch>
                    </p:blipFill>
                    <p:spPr bwMode="auto">
                      <a:xfrm>
                        <a:off x="4571780" y="2782608"/>
                        <a:ext cx="1873522" cy="936761"/>
                      </a:xfrm>
                      <a:prstGeom prst="rect">
                        <a:avLst/>
                      </a:prstGeom>
                      <a:noFill/>
                    </p:spPr>
                  </p:pic>
                </p:oleObj>
              </mc:Fallback>
            </mc:AlternateContent>
          </a:graphicData>
        </a:graphic>
      </p:graphicFrame>
      <p:graphicFrame>
        <p:nvGraphicFramePr>
          <p:cNvPr id="4" name="Object 4">
            <a:extLst>
              <a:ext uri="{FF2B5EF4-FFF2-40B4-BE49-F238E27FC236}">
                <a16:creationId xmlns:a16="http://schemas.microsoft.com/office/drawing/2014/main" id="{41FEF354-B558-1267-48CC-A49CFE8A38BA}"/>
              </a:ext>
            </a:extLst>
          </p:cNvPr>
          <p:cNvGraphicFramePr>
            <a:graphicFrameLocks noChangeAspect="1"/>
          </p:cNvGraphicFramePr>
          <p:nvPr>
            <p:extLst>
              <p:ext uri="{D42A27DB-BD31-4B8C-83A1-F6EECF244321}">
                <p14:modId xmlns:p14="http://schemas.microsoft.com/office/powerpoint/2010/main" val="1898324242"/>
              </p:ext>
            </p:extLst>
          </p:nvPr>
        </p:nvGraphicFramePr>
        <p:xfrm>
          <a:off x="6445302" y="2751301"/>
          <a:ext cx="2045102" cy="996424"/>
        </p:xfrm>
        <a:graphic>
          <a:graphicData uri="http://schemas.openxmlformats.org/presentationml/2006/ole">
            <mc:AlternateContent xmlns:mc="http://schemas.openxmlformats.org/markup-compatibility/2006">
              <mc:Choice xmlns:v="urn:schemas-microsoft-com:vml" Requires="v">
                <p:oleObj name="Equation" r:id="rId13" imgW="990360" imgH="482400" progId="Equation.DSMT4">
                  <p:embed/>
                </p:oleObj>
              </mc:Choice>
              <mc:Fallback>
                <p:oleObj name="Equation" r:id="rId13" imgW="990360" imgH="482400" progId="Equation.DSMT4">
                  <p:embed/>
                  <p:pic>
                    <p:nvPicPr>
                      <p:cNvPr id="3" name="Object 4">
                        <a:extLst>
                          <a:ext uri="{FF2B5EF4-FFF2-40B4-BE49-F238E27FC236}">
                            <a16:creationId xmlns:a16="http://schemas.microsoft.com/office/drawing/2014/main" id="{89978174-CDAE-C697-63CB-3B9DC6D1883D}"/>
                          </a:ext>
                        </a:extLst>
                      </p:cNvPr>
                      <p:cNvPicPr>
                        <a:picLocks noGrp="1" noChangeAspect="1" noChangeArrowheads="1"/>
                      </p:cNvPicPr>
                      <p:nvPr/>
                    </p:nvPicPr>
                    <p:blipFill>
                      <a:blip r:embed="rId14"/>
                      <a:srcRect/>
                      <a:stretch>
                        <a:fillRect/>
                      </a:stretch>
                    </p:blipFill>
                    <p:spPr bwMode="auto">
                      <a:xfrm>
                        <a:off x="6445302" y="2751301"/>
                        <a:ext cx="2045102" cy="996424"/>
                      </a:xfrm>
                      <a:prstGeom prst="rect">
                        <a:avLst/>
                      </a:prstGeom>
                      <a:noFill/>
                    </p:spPr>
                  </p:pic>
                </p:oleObj>
              </mc:Fallback>
            </mc:AlternateContent>
          </a:graphicData>
        </a:graphic>
      </p:graphicFrame>
    </p:spTree>
    <p:extLst>
      <p:ext uri="{BB962C8B-B14F-4D97-AF65-F5344CB8AC3E}">
        <p14:creationId xmlns:p14="http://schemas.microsoft.com/office/powerpoint/2010/main" val="38351792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0595">
                                            <p:txEl>
                                              <p:pRg st="2" end="2"/>
                                            </p:txEl>
                                          </p:spTgt>
                                        </p:tgtEl>
                                        <p:attrNameLst>
                                          <p:attrName>style.visibility</p:attrName>
                                        </p:attrNameLst>
                                      </p:cBhvr>
                                      <p:to>
                                        <p:strVal val="visible"/>
                                      </p:to>
                                    </p:set>
                                    <p:animEffect transition="in" filter="wipe(left)">
                                      <p:cBhvr>
                                        <p:cTn id="7" dur="500"/>
                                        <p:tgtEl>
                                          <p:spTgt spid="11059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0596"/>
                                        </p:tgtEl>
                                        <p:attrNameLst>
                                          <p:attrName>style.visibility</p:attrName>
                                        </p:attrNameLst>
                                      </p:cBhvr>
                                      <p:to>
                                        <p:strVal val="visible"/>
                                      </p:to>
                                    </p:set>
                                    <p:animEffect transition="in" filter="wipe(left)">
                                      <p:cBhvr>
                                        <p:cTn id="12" dur="500"/>
                                        <p:tgtEl>
                                          <p:spTgt spid="110596"/>
                                        </p:tgtEl>
                                      </p:cBhvr>
                                    </p:animEffect>
                                  </p:childTnLst>
                                </p:cTn>
                              </p:par>
                            </p:childTnLst>
                          </p:cTn>
                        </p:par>
                      </p:childTnLst>
                    </p:cTn>
                  </p:par>
                  <p:par>
                    <p:cTn id="13" fill="hold">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0595">
                                            <p:txEl>
                                              <p:pRg st="5" end="5"/>
                                            </p:txEl>
                                          </p:spTgt>
                                        </p:tgtEl>
                                        <p:attrNameLst>
                                          <p:attrName>style.visibility</p:attrName>
                                        </p:attrNameLst>
                                      </p:cBhvr>
                                      <p:to>
                                        <p:strVal val="visible"/>
                                      </p:to>
                                    </p:set>
                                    <p:animEffect transition="in" filter="wipe(left)">
                                      <p:cBhvr>
                                        <p:cTn id="27" dur="500"/>
                                        <p:tgtEl>
                                          <p:spTgt spid="110595">
                                            <p:txEl>
                                              <p:pRg st="5" end="5"/>
                                            </p:txEl>
                                          </p:spTgt>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110601"/>
                                        </p:tgtEl>
                                        <p:attrNameLst>
                                          <p:attrName>style.visibility</p:attrName>
                                        </p:attrNameLst>
                                      </p:cBhvr>
                                      <p:to>
                                        <p:strVal val="visible"/>
                                      </p:to>
                                    </p:set>
                                    <p:animEffect transition="in" filter="wipe(left)">
                                      <p:cBhvr>
                                        <p:cTn id="31" dur="500"/>
                                        <p:tgtEl>
                                          <p:spTgt spid="11060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10600"/>
                                        </p:tgtEl>
                                        <p:attrNameLst>
                                          <p:attrName>style.visibility</p:attrName>
                                        </p:attrNameLst>
                                      </p:cBhvr>
                                      <p:to>
                                        <p:strVal val="visible"/>
                                      </p:to>
                                    </p:set>
                                    <p:animEffect transition="in" filter="wipe(left)">
                                      <p:cBhvr>
                                        <p:cTn id="36" dur="500"/>
                                        <p:tgtEl>
                                          <p:spTgt spid="11060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10598"/>
                                        </p:tgtEl>
                                        <p:attrNameLst>
                                          <p:attrName>style.visibility</p:attrName>
                                        </p:attrNameLst>
                                      </p:cBhvr>
                                      <p:to>
                                        <p:strVal val="visible"/>
                                      </p:to>
                                    </p:set>
                                    <p:animEffect transition="in" filter="wipe(left)">
                                      <p:cBhvr>
                                        <p:cTn id="41" dur="500"/>
                                        <p:tgtEl>
                                          <p:spTgt spid="11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847851" y="457201"/>
            <a:ext cx="8640763" cy="1027113"/>
          </a:xfrm>
        </p:spPr>
        <p:txBody>
          <a:bodyPr/>
          <a:lstStyle/>
          <a:p>
            <a:pPr algn="ctr" eaLnBrk="1" hangingPunct="1"/>
            <a:r>
              <a:rPr lang="zh-CN" altLang="en-US" dirty="0">
                <a:solidFill>
                  <a:srgbClr val="008000"/>
                </a:solidFill>
                <a:ea typeface="黑体" pitchFamily="49" charset="-122"/>
              </a:rPr>
              <a:t>隶属函数确定方法</a:t>
            </a:r>
            <a:r>
              <a:rPr lang="en-US" altLang="zh-CN" dirty="0">
                <a:solidFill>
                  <a:srgbClr val="008000"/>
                </a:solidFill>
                <a:ea typeface="黑体" pitchFamily="49" charset="-122"/>
              </a:rPr>
              <a:t>5</a:t>
            </a:r>
            <a:r>
              <a:rPr lang="zh-CN" altLang="en-US" dirty="0">
                <a:solidFill>
                  <a:srgbClr val="008000"/>
                </a:solidFill>
                <a:ea typeface="黑体" pitchFamily="49" charset="-122"/>
              </a:rPr>
              <a:t>：二元排序法</a:t>
            </a:r>
          </a:p>
        </p:txBody>
      </p:sp>
      <p:sp>
        <p:nvSpPr>
          <p:cNvPr id="34819" name="Rectangle 3"/>
          <p:cNvSpPr>
            <a:spLocks noGrp="1" noChangeArrowheads="1"/>
          </p:cNvSpPr>
          <p:nvPr>
            <p:ph type="body" idx="1"/>
          </p:nvPr>
        </p:nvSpPr>
        <p:spPr>
          <a:xfrm>
            <a:off x="1055440" y="1628776"/>
            <a:ext cx="10009112" cy="5040585"/>
          </a:xfrm>
        </p:spPr>
        <p:txBody>
          <a:bodyPr/>
          <a:lstStyle/>
          <a:p>
            <a:pPr eaLnBrk="1" hangingPunct="1">
              <a:lnSpc>
                <a:spcPct val="150000"/>
              </a:lnSpc>
            </a:pPr>
            <a:r>
              <a:rPr lang="zh-CN" altLang="en-US" dirty="0">
                <a:latin typeface="黑体" pitchFamily="49" charset="-122"/>
                <a:ea typeface="黑体" pitchFamily="49" charset="-122"/>
              </a:rPr>
              <a:t>当在做</a:t>
            </a:r>
            <a:r>
              <a:rPr lang="zh-CN" altLang="en-US" u="sng" dirty="0">
                <a:solidFill>
                  <a:srgbClr val="CC00CC"/>
                </a:solidFill>
                <a:latin typeface="黑体" pitchFamily="49" charset="-122"/>
                <a:ea typeface="黑体" pitchFamily="49" charset="-122"/>
              </a:rPr>
              <a:t>多相</a:t>
            </a:r>
            <a:r>
              <a:rPr lang="en-US" altLang="zh-CN" u="sng" dirty="0">
                <a:solidFill>
                  <a:srgbClr val="CC00CC"/>
                </a:solidFill>
                <a:latin typeface="黑体" pitchFamily="49" charset="-122"/>
                <a:ea typeface="黑体" pitchFamily="49" charset="-122"/>
              </a:rPr>
              <a:t>F</a:t>
            </a:r>
            <a:r>
              <a:rPr lang="zh-CN" altLang="en-US" u="sng" dirty="0">
                <a:solidFill>
                  <a:srgbClr val="CC00CC"/>
                </a:solidFill>
                <a:latin typeface="黑体" pitchFamily="49" charset="-122"/>
                <a:ea typeface="黑体" pitchFamily="49" charset="-122"/>
              </a:rPr>
              <a:t>统计</a:t>
            </a:r>
            <a:r>
              <a:rPr lang="zh-CN" altLang="en-US" dirty="0">
                <a:latin typeface="黑体" pitchFamily="49" charset="-122"/>
                <a:ea typeface="黑体" pitchFamily="49" charset="-122"/>
              </a:rPr>
              <a:t>时，被调查者往往很难从众多的</a:t>
            </a:r>
            <a:r>
              <a:rPr lang="en-US" altLang="zh-CN" dirty="0">
                <a:latin typeface="黑体" pitchFamily="49" charset="-122"/>
                <a:ea typeface="黑体" pitchFamily="49" charset="-122"/>
              </a:rPr>
              <a:t>F</a:t>
            </a:r>
            <a:r>
              <a:rPr lang="zh-CN" altLang="en-US" dirty="0">
                <a:latin typeface="黑体" pitchFamily="49" charset="-122"/>
                <a:ea typeface="黑体" pitchFamily="49" charset="-122"/>
              </a:rPr>
              <a:t>集中选择出唯一的隶属度为</a:t>
            </a:r>
            <a:r>
              <a:rPr lang="en-US" altLang="zh-CN" dirty="0">
                <a:solidFill>
                  <a:srgbClr val="FF0000"/>
                </a:solidFill>
                <a:latin typeface="黑体" pitchFamily="49" charset="-122"/>
                <a:ea typeface="黑体" pitchFamily="49" charset="-122"/>
              </a:rPr>
              <a:t>1</a:t>
            </a:r>
            <a:r>
              <a:rPr lang="zh-CN" altLang="en-US" dirty="0">
                <a:latin typeface="黑体" pitchFamily="49" charset="-122"/>
                <a:ea typeface="黑体" pitchFamily="49" charset="-122"/>
              </a:rPr>
              <a:t>的</a:t>
            </a:r>
            <a:r>
              <a:rPr lang="en-US" altLang="zh-CN" dirty="0">
                <a:latin typeface="黑体" pitchFamily="49" charset="-122"/>
                <a:ea typeface="黑体" pitchFamily="49" charset="-122"/>
              </a:rPr>
              <a:t>F</a:t>
            </a:r>
            <a:r>
              <a:rPr lang="zh-CN" altLang="en-US" dirty="0">
                <a:solidFill>
                  <a:schemeClr val="bg2"/>
                </a:solidFill>
                <a:latin typeface="黑体" pitchFamily="49" charset="-122"/>
                <a:ea typeface="黑体" pitchFamily="49" charset="-122"/>
              </a:rPr>
              <a:t>集，</a:t>
            </a:r>
          </a:p>
          <a:p>
            <a:pPr eaLnBrk="1" hangingPunct="1">
              <a:lnSpc>
                <a:spcPct val="150000"/>
              </a:lnSpc>
            </a:pPr>
            <a:r>
              <a:rPr lang="zh-CN" altLang="en-US" dirty="0">
                <a:latin typeface="黑体" pitchFamily="49" charset="-122"/>
                <a:ea typeface="黑体" pitchFamily="49" charset="-122"/>
              </a:rPr>
              <a:t>实际上，人们最习惯于</a:t>
            </a:r>
            <a:r>
              <a:rPr lang="zh-CN" altLang="en-US" dirty="0">
                <a:solidFill>
                  <a:srgbClr val="FA7A11"/>
                </a:solidFill>
                <a:latin typeface="黑体" pitchFamily="49" charset="-122"/>
                <a:ea typeface="黑体" pitchFamily="49" charset="-122"/>
              </a:rPr>
              <a:t>两两比较</a:t>
            </a:r>
            <a:r>
              <a:rPr lang="zh-CN" altLang="en-US" dirty="0">
                <a:solidFill>
                  <a:schemeClr val="bg2"/>
                </a:solidFill>
                <a:latin typeface="黑体" pitchFamily="49" charset="-122"/>
                <a:ea typeface="黑体" pitchFamily="49" charset="-122"/>
              </a:rPr>
              <a:t>（即二元对比）</a:t>
            </a:r>
            <a:endParaRPr lang="en-US" altLang="zh-CN" dirty="0">
              <a:solidFill>
                <a:schemeClr val="bg2"/>
              </a:solidFill>
              <a:latin typeface="黑体" pitchFamily="49" charset="-122"/>
              <a:ea typeface="黑体" pitchFamily="49" charset="-122"/>
            </a:endParaRPr>
          </a:p>
          <a:p>
            <a:pPr eaLnBrk="1" hangingPunct="1">
              <a:lnSpc>
                <a:spcPct val="150000"/>
              </a:lnSpc>
            </a:pPr>
            <a:r>
              <a:rPr lang="zh-CN" altLang="en-US" dirty="0">
                <a:latin typeface="黑体" pitchFamily="49" charset="-122"/>
                <a:ea typeface="黑体" pitchFamily="49" charset="-122"/>
              </a:rPr>
              <a:t>如：“小红比小明更热情”，设“</a:t>
            </a:r>
            <a:r>
              <a:rPr lang="zh-CN" altLang="en-US" dirty="0">
                <a:solidFill>
                  <a:srgbClr val="00B0F0"/>
                </a:solidFill>
                <a:latin typeface="黑体" pitchFamily="49" charset="-122"/>
                <a:ea typeface="黑体" pitchFamily="49" charset="-122"/>
              </a:rPr>
              <a:t>热情</a:t>
            </a:r>
            <a:r>
              <a:rPr lang="zh-CN" altLang="en-US" dirty="0">
                <a:latin typeface="黑体" pitchFamily="49" charset="-122"/>
                <a:ea typeface="黑体" pitchFamily="49" charset="-122"/>
              </a:rPr>
              <a:t>”的</a:t>
            </a:r>
            <a:r>
              <a:rPr lang="en-US" altLang="zh-CN" dirty="0">
                <a:latin typeface="黑体" pitchFamily="49" charset="-122"/>
                <a:ea typeface="黑体" pitchFamily="49" charset="-122"/>
              </a:rPr>
              <a:t>F</a:t>
            </a:r>
            <a:r>
              <a:rPr lang="zh-CN" altLang="en-US" dirty="0">
                <a:latin typeface="黑体" pitchFamily="49" charset="-122"/>
                <a:ea typeface="黑体" pitchFamily="49" charset="-122"/>
              </a:rPr>
              <a:t>集为</a:t>
            </a:r>
            <a:r>
              <a:rPr lang="en-US" altLang="zh-CN" dirty="0">
                <a:solidFill>
                  <a:srgbClr val="66FFFF"/>
                </a:solidFill>
                <a:ea typeface="黑体" pitchFamily="49" charset="-122"/>
              </a:rPr>
              <a:t>A</a:t>
            </a:r>
            <a:r>
              <a:rPr lang="zh-CN" altLang="en-US" dirty="0">
                <a:latin typeface="黑体" pitchFamily="49" charset="-122"/>
                <a:ea typeface="黑体" pitchFamily="49" charset="-122"/>
              </a:rPr>
              <a:t>，则有</a:t>
            </a:r>
            <a:r>
              <a:rPr lang="zh-CN" altLang="en-US" dirty="0">
                <a:ea typeface="黑体" pitchFamily="49" charset="-122"/>
              </a:rPr>
              <a:t>：</a:t>
            </a:r>
            <a:r>
              <a:rPr lang="en-US" altLang="zh-CN" dirty="0">
                <a:solidFill>
                  <a:srgbClr val="66FFFF"/>
                </a:solidFill>
                <a:ea typeface="黑体" pitchFamily="49" charset="-122"/>
              </a:rPr>
              <a:t>A</a:t>
            </a:r>
            <a:r>
              <a:rPr lang="en-US" altLang="zh-CN" dirty="0">
                <a:ea typeface="黑体" pitchFamily="49" charset="-122"/>
              </a:rPr>
              <a:t>(</a:t>
            </a:r>
            <a:r>
              <a:rPr lang="zh-CN" altLang="en-US" dirty="0">
                <a:ea typeface="黑体" pitchFamily="49" charset="-122"/>
              </a:rPr>
              <a:t>小红</a:t>
            </a:r>
            <a:r>
              <a:rPr lang="en-US" altLang="zh-CN" dirty="0">
                <a:ea typeface="黑体" pitchFamily="49" charset="-122"/>
              </a:rPr>
              <a:t>) </a:t>
            </a:r>
            <a:r>
              <a:rPr lang="en-US" altLang="zh-CN" dirty="0">
                <a:ea typeface="黑体" pitchFamily="49" charset="-122"/>
                <a:sym typeface="Symbol" panose="05050102010706020507" pitchFamily="18" charset="2"/>
              </a:rPr>
              <a:t> </a:t>
            </a:r>
            <a:r>
              <a:rPr lang="en-US" altLang="zh-CN" dirty="0">
                <a:solidFill>
                  <a:srgbClr val="66FFFF"/>
                </a:solidFill>
                <a:ea typeface="黑体" pitchFamily="49" charset="-122"/>
              </a:rPr>
              <a:t>A</a:t>
            </a:r>
            <a:r>
              <a:rPr lang="en-US" altLang="zh-CN" dirty="0">
                <a:ea typeface="黑体" pitchFamily="49" charset="-122"/>
              </a:rPr>
              <a:t>(</a:t>
            </a:r>
            <a:r>
              <a:rPr lang="zh-CN" altLang="en-US" dirty="0">
                <a:ea typeface="黑体" pitchFamily="49" charset="-122"/>
              </a:rPr>
              <a:t>小明</a:t>
            </a:r>
            <a:r>
              <a:rPr lang="en-US" altLang="zh-CN" dirty="0">
                <a:ea typeface="黑体" pitchFamily="49" charset="-122"/>
              </a:rPr>
              <a:t>)</a:t>
            </a:r>
            <a:r>
              <a:rPr lang="zh-CN" altLang="en-US" dirty="0">
                <a:ea typeface="黑体" pitchFamily="49" charset="-122"/>
              </a:rPr>
              <a:t> </a:t>
            </a:r>
            <a:r>
              <a:rPr lang="zh-CN" altLang="en-US" dirty="0">
                <a:latin typeface="黑体" pitchFamily="49" charset="-122"/>
                <a:ea typeface="黑体" pitchFamily="49" charset="-122"/>
              </a:rPr>
              <a:t>；</a:t>
            </a:r>
          </a:p>
          <a:p>
            <a:pPr eaLnBrk="1" hangingPunct="1">
              <a:lnSpc>
                <a:spcPct val="150000"/>
              </a:lnSpc>
            </a:pPr>
            <a:r>
              <a:rPr lang="zh-CN" altLang="en-US" u="sng" dirty="0">
                <a:solidFill>
                  <a:srgbClr val="FF0000"/>
                </a:solidFill>
                <a:latin typeface="黑体" pitchFamily="49" charset="-122"/>
                <a:ea typeface="黑体" pitchFamily="49" charset="-122"/>
              </a:rPr>
              <a:t>二元排序法</a:t>
            </a:r>
            <a:r>
              <a:rPr lang="zh-CN" altLang="en-US" dirty="0">
                <a:latin typeface="黑体" pitchFamily="49" charset="-122"/>
                <a:ea typeface="黑体" pitchFamily="49" charset="-122"/>
              </a:rPr>
              <a:t>就是用这种方法可以决定隶属关系的次序。</a:t>
            </a:r>
          </a:p>
        </p:txBody>
      </p:sp>
      <p:sp>
        <p:nvSpPr>
          <p:cNvPr id="2" name="灯片编号占位符 1">
            <a:extLst>
              <a:ext uri="{FF2B5EF4-FFF2-40B4-BE49-F238E27FC236}">
                <a16:creationId xmlns:a16="http://schemas.microsoft.com/office/drawing/2014/main" id="{0E67B4DD-A775-F2A2-E6AD-55C49B3CAB38}"/>
              </a:ext>
            </a:extLst>
          </p:cNvPr>
          <p:cNvSpPr>
            <a:spLocks noGrp="1"/>
          </p:cNvSpPr>
          <p:nvPr>
            <p:ph type="sldNum" sz="quarter" idx="11"/>
          </p:nvPr>
        </p:nvSpPr>
        <p:spPr/>
        <p:txBody>
          <a:bodyPr/>
          <a:lstStyle/>
          <a:p>
            <a:pPr>
              <a:defRPr/>
            </a:pPr>
            <a:fld id="{E0FB5469-1AEB-496D-971A-66705BF2F73C}" type="slidenum">
              <a:rPr lang="en-US" altLang="zh-CN" smtClean="0"/>
              <a:pPr>
                <a:defRPr/>
              </a:pPr>
              <a:t>9</a:t>
            </a:fld>
            <a:endParaRPr lang="en-US" altLang="zh-CN"/>
          </a:p>
        </p:txBody>
      </p:sp>
    </p:spTree>
    <p:extLst>
      <p:ext uri="{BB962C8B-B14F-4D97-AF65-F5344CB8AC3E}">
        <p14:creationId xmlns:p14="http://schemas.microsoft.com/office/powerpoint/2010/main" val="3036558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up)">
                                      <p:cBhvr>
                                        <p:cTn id="7" dur="500"/>
                                        <p:tgtEl>
                                          <p:spTgt spid="34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wipe(up)">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wipe(up)">
                                      <p:cBhvr>
                                        <p:cTn id="17" dur="500"/>
                                        <p:tgtEl>
                                          <p:spTgt spid="34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wipe(up)">
                                      <p:cBhvr>
                                        <p:cTn id="22" dur="500"/>
                                        <p:tgtEl>
                                          <p:spTgt spid="34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标注 2"/>
          <p:cNvSpPr/>
          <p:nvPr/>
        </p:nvSpPr>
        <p:spPr>
          <a:xfrm>
            <a:off x="7101095" y="3818080"/>
            <a:ext cx="3315386" cy="1296144"/>
          </a:xfrm>
          <a:prstGeom prst="wedgeRoundRectCallout">
            <a:avLst>
              <a:gd name="adj1" fmla="val -95182"/>
              <a:gd name="adj2" fmla="val 62500"/>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90" name="Rectangle 2"/>
          <p:cNvSpPr>
            <a:spLocks noGrp="1" noChangeArrowheads="1"/>
          </p:cNvSpPr>
          <p:nvPr>
            <p:ph type="title"/>
          </p:nvPr>
        </p:nvSpPr>
        <p:spPr>
          <a:xfrm>
            <a:off x="1981200" y="457201"/>
            <a:ext cx="8229600" cy="955675"/>
          </a:xfrm>
        </p:spPr>
        <p:txBody>
          <a:bodyPr/>
          <a:lstStyle/>
          <a:p>
            <a:pPr eaLnBrk="1" hangingPunct="1"/>
            <a:r>
              <a:rPr lang="zh-CN" altLang="en-US" dirty="0">
                <a:solidFill>
                  <a:srgbClr val="008000"/>
                </a:solidFill>
                <a:ea typeface="黑体" pitchFamily="49" charset="-122"/>
              </a:rPr>
              <a:t>二元排序法</a:t>
            </a:r>
            <a:r>
              <a:rPr lang="en-US" altLang="zh-CN" dirty="0">
                <a:solidFill>
                  <a:srgbClr val="008000"/>
                </a:solidFill>
                <a:ea typeface="黑体" pitchFamily="49" charset="-122"/>
              </a:rPr>
              <a:t>——1. </a:t>
            </a:r>
            <a:r>
              <a:rPr lang="zh-CN" altLang="en-US" dirty="0">
                <a:solidFill>
                  <a:srgbClr val="008000"/>
                </a:solidFill>
                <a:ea typeface="黑体" pitchFamily="49" charset="-122"/>
              </a:rPr>
              <a:t>相对比较法</a:t>
            </a:r>
          </a:p>
        </p:txBody>
      </p:sp>
      <p:sp>
        <p:nvSpPr>
          <p:cNvPr id="113667" name="Rectangle 3"/>
          <p:cNvSpPr>
            <a:spLocks noGrp="1" noChangeArrowheads="1"/>
          </p:cNvSpPr>
          <p:nvPr>
            <p:ph type="body" sz="half" idx="1"/>
          </p:nvPr>
        </p:nvSpPr>
        <p:spPr>
          <a:xfrm>
            <a:off x="1199456" y="1412876"/>
            <a:ext cx="10009111" cy="3744913"/>
          </a:xfrm>
        </p:spPr>
        <p:txBody>
          <a:bodyPr/>
          <a:lstStyle/>
          <a:p>
            <a:pPr eaLnBrk="1" hangingPunct="1"/>
            <a:r>
              <a:rPr lang="zh-CN" altLang="en-US" dirty="0">
                <a:ea typeface="黑体" pitchFamily="49" charset="-122"/>
              </a:rPr>
              <a:t>设</a:t>
            </a:r>
            <a:r>
              <a:rPr lang="en-US" altLang="zh-CN" dirty="0">
                <a:ea typeface="黑体" pitchFamily="49" charset="-122"/>
              </a:rPr>
              <a:t>A</a:t>
            </a:r>
            <a:r>
              <a:rPr lang="zh-CN" altLang="en-US" dirty="0">
                <a:ea typeface="黑体" pitchFamily="49" charset="-122"/>
              </a:rPr>
              <a:t>市、 </a:t>
            </a:r>
            <a:r>
              <a:rPr lang="en-US" altLang="zh-CN" dirty="0">
                <a:ea typeface="黑体" pitchFamily="49" charset="-122"/>
              </a:rPr>
              <a:t>B</a:t>
            </a:r>
            <a:r>
              <a:rPr lang="zh-CN" altLang="en-US" dirty="0">
                <a:ea typeface="黑体" pitchFamily="49" charset="-122"/>
              </a:rPr>
              <a:t>市、 </a:t>
            </a:r>
            <a:r>
              <a:rPr lang="en-US" altLang="zh-CN" dirty="0">
                <a:ea typeface="黑体" pitchFamily="49" charset="-122"/>
              </a:rPr>
              <a:t>C</a:t>
            </a:r>
            <a:r>
              <a:rPr lang="zh-CN" altLang="en-US" dirty="0">
                <a:ea typeface="黑体" pitchFamily="49" charset="-122"/>
              </a:rPr>
              <a:t>市三支代表队参加烹饪大赛，</a:t>
            </a:r>
          </a:p>
          <a:p>
            <a:pPr lvl="1" eaLnBrk="1" hangingPunct="1"/>
            <a:r>
              <a:rPr lang="zh-CN" altLang="en-US" b="1" dirty="0">
                <a:ea typeface="楷体_GB2312" pitchFamily="49" charset="-122"/>
              </a:rPr>
              <a:t>即</a:t>
            </a:r>
            <a:r>
              <a:rPr lang="en-US" altLang="zh-CN" b="1" dirty="0">
                <a:ea typeface="楷体_GB2312" pitchFamily="49" charset="-122"/>
              </a:rPr>
              <a:t>U={A</a:t>
            </a:r>
            <a:r>
              <a:rPr lang="zh-CN" altLang="en-US" b="1" dirty="0">
                <a:ea typeface="楷体_GB2312" pitchFamily="49" charset="-122"/>
              </a:rPr>
              <a:t>队</a:t>
            </a:r>
            <a:r>
              <a:rPr lang="en-US" altLang="zh-CN" b="1" dirty="0">
                <a:ea typeface="楷体_GB2312" pitchFamily="49" charset="-122"/>
              </a:rPr>
              <a:t>(x)</a:t>
            </a:r>
            <a:r>
              <a:rPr lang="zh-CN" altLang="en-US" b="1" dirty="0">
                <a:ea typeface="楷体_GB2312" pitchFamily="49" charset="-122"/>
              </a:rPr>
              <a:t>，</a:t>
            </a:r>
            <a:r>
              <a:rPr lang="en-US" altLang="zh-CN" b="1" dirty="0">
                <a:ea typeface="楷体_GB2312" pitchFamily="49" charset="-122"/>
              </a:rPr>
              <a:t>B</a:t>
            </a:r>
            <a:r>
              <a:rPr lang="zh-CN" altLang="en-US" b="1" dirty="0">
                <a:ea typeface="楷体_GB2312" pitchFamily="49" charset="-122"/>
              </a:rPr>
              <a:t>队</a:t>
            </a:r>
            <a:r>
              <a:rPr lang="en-US" altLang="zh-CN" b="1" dirty="0">
                <a:ea typeface="楷体_GB2312" pitchFamily="49" charset="-122"/>
              </a:rPr>
              <a:t>(y)</a:t>
            </a:r>
            <a:r>
              <a:rPr lang="zh-CN" altLang="en-US" b="1" dirty="0">
                <a:ea typeface="楷体_GB2312" pitchFamily="49" charset="-122"/>
              </a:rPr>
              <a:t>，</a:t>
            </a:r>
            <a:r>
              <a:rPr lang="en-US" altLang="zh-CN" b="1" dirty="0">
                <a:ea typeface="楷体_GB2312" pitchFamily="49" charset="-122"/>
              </a:rPr>
              <a:t>C</a:t>
            </a:r>
            <a:r>
              <a:rPr lang="zh-CN" altLang="en-US" b="1" dirty="0">
                <a:ea typeface="楷体_GB2312" pitchFamily="49" charset="-122"/>
              </a:rPr>
              <a:t>队</a:t>
            </a:r>
            <a:r>
              <a:rPr lang="en-US" altLang="zh-CN" b="1" dirty="0">
                <a:ea typeface="楷体_GB2312" pitchFamily="49" charset="-122"/>
              </a:rPr>
              <a:t>(z)}</a:t>
            </a:r>
          </a:p>
          <a:p>
            <a:pPr lvl="1" eaLnBrk="1" hangingPunct="1"/>
            <a:r>
              <a:rPr lang="en-US" altLang="zh-CN" b="1" i="1" dirty="0">
                <a:solidFill>
                  <a:srgbClr val="008000"/>
                </a:solidFill>
                <a:ea typeface="楷体_GB2312" pitchFamily="49" charset="-122"/>
              </a:rPr>
              <a:t>P</a:t>
            </a:r>
            <a:r>
              <a:rPr lang="en-US" altLang="zh-CN" b="1" dirty="0">
                <a:solidFill>
                  <a:srgbClr val="008000"/>
                </a:solidFill>
                <a:ea typeface="楷体_GB2312" pitchFamily="49" charset="-122"/>
              </a:rPr>
              <a:t>=“</a:t>
            </a:r>
            <a:r>
              <a:rPr lang="zh-CN" altLang="en-US" b="1" dirty="0">
                <a:solidFill>
                  <a:srgbClr val="008000"/>
                </a:solidFill>
                <a:ea typeface="楷体_GB2312" pitchFamily="49" charset="-122"/>
              </a:rPr>
              <a:t>厨艺高”，求</a:t>
            </a:r>
            <a:r>
              <a:rPr lang="en-US" altLang="zh-CN" b="1" i="1" dirty="0">
                <a:solidFill>
                  <a:srgbClr val="008000"/>
                </a:solidFill>
                <a:ea typeface="楷体_GB2312" pitchFamily="49" charset="-122"/>
              </a:rPr>
              <a:t>P</a:t>
            </a:r>
            <a:r>
              <a:rPr lang="zh-CN" altLang="en-US" b="1" dirty="0">
                <a:solidFill>
                  <a:srgbClr val="008000"/>
                </a:solidFill>
                <a:ea typeface="楷体_GB2312" pitchFamily="49" charset="-122"/>
              </a:rPr>
              <a:t>的隶属函数</a:t>
            </a:r>
          </a:p>
          <a:p>
            <a:pPr eaLnBrk="1" hangingPunct="1"/>
            <a:r>
              <a:rPr lang="zh-CN" altLang="en-US" sz="2800" dirty="0">
                <a:solidFill>
                  <a:srgbClr val="FF0000"/>
                </a:solidFill>
                <a:ea typeface="黑体" pitchFamily="49" charset="-122"/>
              </a:rPr>
              <a:t>建立二元相对比较级</a:t>
            </a:r>
          </a:p>
          <a:p>
            <a:pPr lvl="1" eaLnBrk="1" hangingPunct="1"/>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err="1">
                <a:solidFill>
                  <a:srgbClr val="3333FF"/>
                </a:solidFill>
                <a:latin typeface="Times New Roman" panose="02020603050405020304" pitchFamily="18" charset="0"/>
                <a:cs typeface="Times New Roman" panose="02020603050405020304" pitchFamily="18" charset="0"/>
              </a:rPr>
              <a:t>f</a:t>
            </a:r>
            <a:r>
              <a:rPr lang="en-US" altLang="zh-CN" sz="2400" b="1" i="1" baseline="-25000" dirty="0" err="1">
                <a:solidFill>
                  <a:srgbClr val="3333FF"/>
                </a:solidFill>
                <a:latin typeface="Times New Roman" panose="02020603050405020304" pitchFamily="18" charset="0"/>
                <a:cs typeface="Times New Roman" panose="02020603050405020304" pitchFamily="18" charset="0"/>
              </a:rPr>
              <a:t>y</a:t>
            </a:r>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a:solidFill>
                  <a:srgbClr val="3333FF"/>
                </a:solidFill>
                <a:latin typeface="Times New Roman" panose="02020603050405020304" pitchFamily="18" charset="0"/>
                <a:cs typeface="Times New Roman" panose="02020603050405020304" pitchFamily="18" charset="0"/>
              </a:rPr>
              <a:t>x</a:t>
            </a:r>
            <a:r>
              <a:rPr lang="en-US" altLang="zh-CN" sz="2400" b="1" dirty="0">
                <a:solidFill>
                  <a:srgbClr val="3333FF"/>
                </a:solidFill>
                <a:latin typeface="Times New Roman" panose="02020603050405020304" pitchFamily="18" charset="0"/>
                <a:cs typeface="Times New Roman" panose="02020603050405020304" pitchFamily="18" charset="0"/>
              </a:rPr>
              <a:t>), </a:t>
            </a:r>
            <a:r>
              <a:rPr lang="en-US" altLang="zh-CN" sz="2400" b="1" i="1" dirty="0" err="1">
                <a:solidFill>
                  <a:srgbClr val="3333FF"/>
                </a:solidFill>
                <a:latin typeface="Times New Roman" panose="02020603050405020304" pitchFamily="18" charset="0"/>
                <a:cs typeface="Times New Roman" panose="02020603050405020304" pitchFamily="18" charset="0"/>
              </a:rPr>
              <a:t>f</a:t>
            </a:r>
            <a:r>
              <a:rPr lang="en-US" altLang="zh-CN" sz="2400" b="1" i="1" baseline="-25000" dirty="0" err="1">
                <a:solidFill>
                  <a:srgbClr val="3333FF"/>
                </a:solidFill>
                <a:latin typeface="Times New Roman" panose="02020603050405020304" pitchFamily="18" charset="0"/>
                <a:cs typeface="Times New Roman" panose="02020603050405020304" pitchFamily="18" charset="0"/>
              </a:rPr>
              <a:t>x</a:t>
            </a:r>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a:solidFill>
                  <a:srgbClr val="3333FF"/>
                </a:solidFill>
                <a:latin typeface="Times New Roman" panose="02020603050405020304" pitchFamily="18" charset="0"/>
                <a:cs typeface="Times New Roman" panose="02020603050405020304" pitchFamily="18" charset="0"/>
              </a:rPr>
              <a:t>y</a:t>
            </a:r>
            <a:r>
              <a:rPr lang="en-US" altLang="zh-CN" sz="2400" b="1" dirty="0">
                <a:solidFill>
                  <a:srgbClr val="3333FF"/>
                </a:solidFill>
                <a:latin typeface="Times New Roman" panose="02020603050405020304" pitchFamily="18" charset="0"/>
                <a:cs typeface="Times New Roman" panose="02020603050405020304" pitchFamily="18" charset="0"/>
              </a:rPr>
              <a:t>))=(0.8, 0.7)</a:t>
            </a:r>
          </a:p>
          <a:p>
            <a:pPr lvl="1" eaLnBrk="1" hangingPunct="1"/>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err="1">
                <a:solidFill>
                  <a:srgbClr val="3333FF"/>
                </a:solidFill>
                <a:latin typeface="Times New Roman" panose="02020603050405020304" pitchFamily="18" charset="0"/>
                <a:cs typeface="Times New Roman" panose="02020603050405020304" pitchFamily="18" charset="0"/>
              </a:rPr>
              <a:t>f</a:t>
            </a:r>
            <a:r>
              <a:rPr lang="en-US" altLang="zh-CN" sz="2400" b="1" i="1" baseline="-25000" dirty="0" err="1">
                <a:solidFill>
                  <a:srgbClr val="3333FF"/>
                </a:solidFill>
                <a:latin typeface="Times New Roman" panose="02020603050405020304" pitchFamily="18" charset="0"/>
                <a:cs typeface="Times New Roman" panose="02020603050405020304" pitchFamily="18" charset="0"/>
              </a:rPr>
              <a:t>z</a:t>
            </a:r>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a:solidFill>
                  <a:srgbClr val="3333FF"/>
                </a:solidFill>
                <a:latin typeface="Times New Roman" panose="02020603050405020304" pitchFamily="18" charset="0"/>
                <a:cs typeface="Times New Roman" panose="02020603050405020304" pitchFamily="18" charset="0"/>
              </a:rPr>
              <a:t>y</a:t>
            </a:r>
            <a:r>
              <a:rPr lang="en-US" altLang="zh-CN" sz="2400" b="1" dirty="0">
                <a:solidFill>
                  <a:srgbClr val="3333FF"/>
                </a:solidFill>
                <a:latin typeface="Times New Roman" panose="02020603050405020304" pitchFamily="18" charset="0"/>
                <a:cs typeface="Times New Roman" panose="02020603050405020304" pitchFamily="18" charset="0"/>
              </a:rPr>
              <a:t>), </a:t>
            </a:r>
            <a:r>
              <a:rPr lang="en-US" altLang="zh-CN" sz="2400" b="1" i="1" dirty="0" err="1">
                <a:solidFill>
                  <a:srgbClr val="3333FF"/>
                </a:solidFill>
                <a:latin typeface="Times New Roman" panose="02020603050405020304" pitchFamily="18" charset="0"/>
                <a:cs typeface="Times New Roman" panose="02020603050405020304" pitchFamily="18" charset="0"/>
              </a:rPr>
              <a:t>f</a:t>
            </a:r>
            <a:r>
              <a:rPr lang="en-US" altLang="zh-CN" sz="2400" b="1" i="1" baseline="-25000" dirty="0" err="1">
                <a:solidFill>
                  <a:srgbClr val="3333FF"/>
                </a:solidFill>
                <a:latin typeface="Times New Roman" panose="02020603050405020304" pitchFamily="18" charset="0"/>
                <a:cs typeface="Times New Roman" panose="02020603050405020304" pitchFamily="18" charset="0"/>
              </a:rPr>
              <a:t>y</a:t>
            </a:r>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a:solidFill>
                  <a:srgbClr val="3333FF"/>
                </a:solidFill>
                <a:latin typeface="Times New Roman" panose="02020603050405020304" pitchFamily="18" charset="0"/>
                <a:cs typeface="Times New Roman" panose="02020603050405020304" pitchFamily="18" charset="0"/>
              </a:rPr>
              <a:t>z</a:t>
            </a:r>
            <a:r>
              <a:rPr lang="en-US" altLang="zh-CN" sz="2400" b="1" dirty="0">
                <a:solidFill>
                  <a:srgbClr val="3333FF"/>
                </a:solidFill>
                <a:latin typeface="Times New Roman" panose="02020603050405020304" pitchFamily="18" charset="0"/>
                <a:cs typeface="Times New Roman" panose="02020603050405020304" pitchFamily="18" charset="0"/>
              </a:rPr>
              <a:t>))=(0.8, 0.4)</a:t>
            </a:r>
          </a:p>
          <a:p>
            <a:pPr lvl="1" eaLnBrk="1" hangingPunct="1"/>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err="1">
                <a:solidFill>
                  <a:srgbClr val="3333FF"/>
                </a:solidFill>
                <a:latin typeface="Times New Roman" panose="02020603050405020304" pitchFamily="18" charset="0"/>
                <a:cs typeface="Times New Roman" panose="02020603050405020304" pitchFamily="18" charset="0"/>
              </a:rPr>
              <a:t>f</a:t>
            </a:r>
            <a:r>
              <a:rPr lang="en-US" altLang="zh-CN" sz="2400" b="1" i="1" baseline="-25000" dirty="0" err="1">
                <a:solidFill>
                  <a:srgbClr val="3333FF"/>
                </a:solidFill>
                <a:latin typeface="Times New Roman" panose="02020603050405020304" pitchFamily="18" charset="0"/>
                <a:cs typeface="Times New Roman" panose="02020603050405020304" pitchFamily="18" charset="0"/>
              </a:rPr>
              <a:t>x</a:t>
            </a:r>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a:solidFill>
                  <a:srgbClr val="3333FF"/>
                </a:solidFill>
                <a:latin typeface="Times New Roman" panose="02020603050405020304" pitchFamily="18" charset="0"/>
                <a:cs typeface="Times New Roman" panose="02020603050405020304" pitchFamily="18" charset="0"/>
              </a:rPr>
              <a:t>z</a:t>
            </a:r>
            <a:r>
              <a:rPr lang="en-US" altLang="zh-CN" sz="2400" b="1" dirty="0">
                <a:solidFill>
                  <a:srgbClr val="3333FF"/>
                </a:solidFill>
                <a:latin typeface="Times New Roman" panose="02020603050405020304" pitchFamily="18" charset="0"/>
                <a:cs typeface="Times New Roman" panose="02020603050405020304" pitchFamily="18" charset="0"/>
              </a:rPr>
              <a:t>), </a:t>
            </a:r>
            <a:r>
              <a:rPr lang="en-US" altLang="zh-CN" sz="2400" b="1" i="1" dirty="0" err="1">
                <a:solidFill>
                  <a:srgbClr val="3333FF"/>
                </a:solidFill>
                <a:latin typeface="Times New Roman" panose="02020603050405020304" pitchFamily="18" charset="0"/>
                <a:cs typeface="Times New Roman" panose="02020603050405020304" pitchFamily="18" charset="0"/>
              </a:rPr>
              <a:t>f</a:t>
            </a:r>
            <a:r>
              <a:rPr lang="en-US" altLang="zh-CN" sz="2400" b="1" i="1" baseline="-25000" dirty="0" err="1">
                <a:solidFill>
                  <a:srgbClr val="3333FF"/>
                </a:solidFill>
                <a:latin typeface="Times New Roman" panose="02020603050405020304" pitchFamily="18" charset="0"/>
                <a:cs typeface="Times New Roman" panose="02020603050405020304" pitchFamily="18" charset="0"/>
              </a:rPr>
              <a:t>z</a:t>
            </a:r>
            <a:r>
              <a:rPr lang="en-US" altLang="zh-CN" sz="2400" b="1" dirty="0">
                <a:solidFill>
                  <a:srgbClr val="3333FF"/>
                </a:solidFill>
                <a:latin typeface="Times New Roman" panose="02020603050405020304" pitchFamily="18" charset="0"/>
                <a:cs typeface="Times New Roman" panose="02020603050405020304" pitchFamily="18" charset="0"/>
              </a:rPr>
              <a:t>(</a:t>
            </a:r>
            <a:r>
              <a:rPr lang="en-US" altLang="zh-CN" sz="2400" b="1" i="1" dirty="0">
                <a:solidFill>
                  <a:srgbClr val="3333FF"/>
                </a:solidFill>
                <a:latin typeface="Times New Roman" panose="02020603050405020304" pitchFamily="18" charset="0"/>
                <a:cs typeface="Times New Roman" panose="02020603050405020304" pitchFamily="18" charset="0"/>
              </a:rPr>
              <a:t>x</a:t>
            </a:r>
            <a:r>
              <a:rPr lang="en-US" altLang="zh-CN" sz="2400" b="1" dirty="0">
                <a:solidFill>
                  <a:srgbClr val="3333FF"/>
                </a:solidFill>
                <a:latin typeface="Times New Roman" panose="02020603050405020304" pitchFamily="18" charset="0"/>
                <a:cs typeface="Times New Roman" panose="02020603050405020304" pitchFamily="18" charset="0"/>
              </a:rPr>
              <a:t>))=(0.5, 0.9)</a:t>
            </a:r>
          </a:p>
          <a:p>
            <a:pPr eaLnBrk="1" hangingPunct="1"/>
            <a:r>
              <a:rPr lang="zh-CN" altLang="en-US" sz="2800" dirty="0">
                <a:solidFill>
                  <a:srgbClr val="FF0000"/>
                </a:solidFill>
                <a:ea typeface="黑体" pitchFamily="49" charset="-122"/>
              </a:rPr>
              <a:t>建立相及矩阵</a:t>
            </a:r>
            <a:r>
              <a:rPr lang="en-US" altLang="zh-CN" sz="2800" i="1" dirty="0">
                <a:solidFill>
                  <a:srgbClr val="FF0000"/>
                </a:solidFill>
              </a:rPr>
              <a:t>C</a:t>
            </a:r>
          </a:p>
        </p:txBody>
      </p:sp>
      <p:graphicFrame>
        <p:nvGraphicFramePr>
          <p:cNvPr id="113669" name="Object 5"/>
          <p:cNvGraphicFramePr>
            <a:graphicFrameLocks noGrp="1" noChangeAspect="1"/>
          </p:cNvGraphicFramePr>
          <p:nvPr>
            <p:ph sz="quarter" idx="2"/>
            <p:extLst>
              <p:ext uri="{D42A27DB-BD31-4B8C-83A1-F6EECF244321}">
                <p14:modId xmlns:p14="http://schemas.microsoft.com/office/powerpoint/2010/main" val="3470877188"/>
              </p:ext>
            </p:extLst>
          </p:nvPr>
        </p:nvGraphicFramePr>
        <p:xfrm>
          <a:off x="3720354" y="5072063"/>
          <a:ext cx="2952750" cy="1765300"/>
        </p:xfrm>
        <a:graphic>
          <a:graphicData uri="http://schemas.openxmlformats.org/presentationml/2006/ole">
            <mc:AlternateContent xmlns:mc="http://schemas.openxmlformats.org/markup-compatibility/2006">
              <mc:Choice xmlns:v="urn:schemas-microsoft-com:vml" Requires="v">
                <p:oleObj name="Equation" r:id="rId3" imgW="1231560" imgH="736560" progId="Equation.DSMT4">
                  <p:embed/>
                </p:oleObj>
              </mc:Choice>
              <mc:Fallback>
                <p:oleObj name="Equation" r:id="rId3" imgW="1231560" imgH="736560" progId="Equation.DSMT4">
                  <p:embed/>
                  <p:pic>
                    <p:nvPicPr>
                      <p:cNvPr id="113669" name="Object 5"/>
                      <p:cNvPicPr>
                        <a:picLocks noGrp="1" noChangeAspect="1" noChangeArrowheads="1"/>
                      </p:cNvPicPr>
                      <p:nvPr/>
                    </p:nvPicPr>
                    <p:blipFill>
                      <a:blip r:embed="rId4"/>
                      <a:srcRect/>
                      <a:stretch>
                        <a:fillRect/>
                      </a:stretch>
                    </p:blipFill>
                    <p:spPr bwMode="auto">
                      <a:xfrm>
                        <a:off x="3720354" y="5072063"/>
                        <a:ext cx="2952750" cy="176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668" name="AutoShape 4"/>
          <p:cNvSpPr>
            <a:spLocks noChangeArrowheads="1"/>
          </p:cNvSpPr>
          <p:nvPr/>
        </p:nvSpPr>
        <p:spPr bwMode="auto">
          <a:xfrm>
            <a:off x="6096000" y="2780928"/>
            <a:ext cx="5832647" cy="936625"/>
          </a:xfrm>
          <a:prstGeom prst="wedgeRoundRectCallout">
            <a:avLst>
              <a:gd name="adj1" fmla="val -74484"/>
              <a:gd name="adj2" fmla="val 52784"/>
              <a:gd name="adj3" fmla="val 16667"/>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30000"/>
              </a:spcBef>
            </a:pPr>
            <a:r>
              <a:rPr lang="en-US" altLang="zh-CN" sz="2800" b="1" i="1" dirty="0">
                <a:latin typeface="Times New Roman" panose="02020603050405020304" pitchFamily="18" charset="0"/>
                <a:ea typeface="楷体_GB2312" pitchFamily="49" charset="-122"/>
                <a:cs typeface="Times New Roman" panose="02020603050405020304" pitchFamily="18" charset="0"/>
              </a:rPr>
              <a:t>f</a:t>
            </a:r>
            <a:r>
              <a:rPr lang="en-US" altLang="zh-CN" sz="2800" b="1" i="1" baseline="-25000" dirty="0">
                <a:latin typeface="Times New Roman" panose="02020603050405020304" pitchFamily="18" charset="0"/>
                <a:ea typeface="楷体_GB2312" pitchFamily="49" charset="-122"/>
                <a:cs typeface="Times New Roman" panose="02020603050405020304" pitchFamily="18" charset="0"/>
              </a:rPr>
              <a:t>j </a:t>
            </a:r>
            <a:r>
              <a:rPr lang="en-US" altLang="zh-CN" sz="2800" b="1" dirty="0">
                <a:latin typeface="Times New Roman" panose="02020603050405020304" pitchFamily="18" charset="0"/>
                <a:ea typeface="楷体_GB2312" pitchFamily="49" charset="-122"/>
                <a:cs typeface="Times New Roman" panose="02020603050405020304" pitchFamily="18" charset="0"/>
              </a:rPr>
              <a:t>( </a:t>
            </a:r>
            <a:r>
              <a:rPr lang="en-US" altLang="zh-CN" sz="2800" b="1" i="1" dirty="0" err="1">
                <a:latin typeface="Times New Roman" panose="02020603050405020304" pitchFamily="18" charset="0"/>
                <a:ea typeface="楷体_GB2312" pitchFamily="49" charset="-122"/>
                <a:cs typeface="Times New Roman" panose="02020603050405020304" pitchFamily="18" charset="0"/>
              </a:rPr>
              <a:t>i</a:t>
            </a:r>
            <a:r>
              <a:rPr lang="en-US" altLang="zh-CN" sz="2800" b="1" i="1" dirty="0">
                <a:latin typeface="Times New Roman" panose="02020603050405020304" pitchFamily="18" charset="0"/>
                <a:ea typeface="楷体_GB2312" pitchFamily="49" charset="-122"/>
                <a:cs typeface="Times New Roman" panose="02020603050405020304" pitchFamily="18" charset="0"/>
              </a:rPr>
              <a:t> </a:t>
            </a:r>
            <a:r>
              <a:rPr lang="en-US" altLang="zh-CN" sz="2800" b="1" dirty="0">
                <a:latin typeface="Times New Roman" panose="02020603050405020304" pitchFamily="18" charset="0"/>
                <a:ea typeface="楷体_GB2312" pitchFamily="49" charset="-122"/>
                <a:cs typeface="Times New Roman" panose="02020603050405020304" pitchFamily="18" charset="0"/>
              </a:rPr>
              <a:t>) ——</a:t>
            </a:r>
            <a:r>
              <a:rPr lang="zh-CN" altLang="en-US" sz="2800" b="1" dirty="0">
                <a:latin typeface="Times New Roman" panose="02020603050405020304" pitchFamily="18" charset="0"/>
                <a:ea typeface="楷体_GB2312" pitchFamily="49" charset="-122"/>
                <a:cs typeface="Times New Roman" panose="02020603050405020304" pitchFamily="18" charset="0"/>
              </a:rPr>
              <a:t>表示相对于</a:t>
            </a:r>
            <a:r>
              <a:rPr lang="en-US" altLang="zh-CN" sz="2800" b="1" i="1" dirty="0" err="1">
                <a:latin typeface="Times New Roman" panose="02020603050405020304" pitchFamily="18" charset="0"/>
                <a:ea typeface="楷体_GB2312" pitchFamily="49" charset="-122"/>
                <a:cs typeface="Times New Roman" panose="02020603050405020304" pitchFamily="18" charset="0"/>
              </a:rPr>
              <a:t>u</a:t>
            </a:r>
            <a:r>
              <a:rPr lang="en-US" altLang="zh-CN" sz="2800" b="1" i="1" baseline="-25000" dirty="0" err="1">
                <a:latin typeface="Times New Roman" panose="02020603050405020304" pitchFamily="18" charset="0"/>
                <a:ea typeface="楷体_GB2312" pitchFamily="49" charset="-122"/>
                <a:cs typeface="Times New Roman" panose="02020603050405020304" pitchFamily="18" charset="0"/>
              </a:rPr>
              <a:t>j</a:t>
            </a:r>
            <a:r>
              <a:rPr lang="en-US" altLang="zh-CN" sz="2800" b="1" i="1" baseline="-25000" dirty="0">
                <a:latin typeface="Times New Roman" panose="02020603050405020304" pitchFamily="18" charset="0"/>
                <a:ea typeface="楷体_GB2312" pitchFamily="49" charset="-122"/>
                <a:cs typeface="Times New Roman" panose="02020603050405020304" pitchFamily="18" charset="0"/>
              </a:rPr>
              <a:t> </a:t>
            </a:r>
            <a:r>
              <a:rPr lang="zh-CN" altLang="en-US" sz="2800" b="1" dirty="0">
                <a:latin typeface="Times New Roman" panose="02020603050405020304" pitchFamily="18" charset="0"/>
                <a:ea typeface="楷体_GB2312" pitchFamily="49" charset="-122"/>
                <a:cs typeface="Times New Roman" panose="02020603050405020304" pitchFamily="18" charset="0"/>
              </a:rPr>
              <a:t>而言，</a:t>
            </a:r>
            <a:r>
              <a:rPr lang="en-US" altLang="zh-CN" sz="2800" b="1" i="1" dirty="0" err="1">
                <a:latin typeface="Times New Roman" panose="02020603050405020304" pitchFamily="18" charset="0"/>
                <a:ea typeface="楷体_GB2312" pitchFamily="49" charset="-122"/>
                <a:cs typeface="Times New Roman" panose="02020603050405020304" pitchFamily="18" charset="0"/>
              </a:rPr>
              <a:t>u</a:t>
            </a:r>
            <a:r>
              <a:rPr lang="en-US" altLang="zh-CN" sz="2800" b="1" i="1" baseline="-25000" dirty="0" err="1">
                <a:latin typeface="Times New Roman" panose="02020603050405020304" pitchFamily="18" charset="0"/>
                <a:ea typeface="楷体_GB2312" pitchFamily="49" charset="-122"/>
                <a:cs typeface="Times New Roman" panose="02020603050405020304" pitchFamily="18" charset="0"/>
              </a:rPr>
              <a:t>i</a:t>
            </a:r>
            <a:r>
              <a:rPr lang="en-US" altLang="zh-CN" sz="2800" b="1" i="1" baseline="-25000" dirty="0">
                <a:latin typeface="Times New Roman" panose="02020603050405020304" pitchFamily="18" charset="0"/>
                <a:ea typeface="楷体_GB2312" pitchFamily="49" charset="-122"/>
                <a:cs typeface="Times New Roman" panose="02020603050405020304" pitchFamily="18" charset="0"/>
              </a:rPr>
              <a:t> </a:t>
            </a:r>
            <a:r>
              <a:rPr lang="zh-CN" altLang="en-US" sz="2800" b="1" dirty="0">
                <a:latin typeface="Times New Roman" panose="02020603050405020304" pitchFamily="18" charset="0"/>
                <a:ea typeface="楷体_GB2312" pitchFamily="49" charset="-122"/>
                <a:cs typeface="Times New Roman" panose="02020603050405020304" pitchFamily="18" charset="0"/>
              </a:rPr>
              <a:t>具有特性 </a:t>
            </a:r>
            <a:r>
              <a:rPr lang="en-US" altLang="zh-CN" sz="2800" b="1" i="1" dirty="0">
                <a:latin typeface="Times New Roman" panose="02020603050405020304" pitchFamily="18" charset="0"/>
                <a:ea typeface="楷体_GB2312" pitchFamily="49" charset="-122"/>
                <a:cs typeface="Times New Roman" panose="02020603050405020304" pitchFamily="18" charset="0"/>
              </a:rPr>
              <a:t>P </a:t>
            </a:r>
            <a:r>
              <a:rPr lang="zh-CN" altLang="en-US" sz="2800" b="1" dirty="0">
                <a:latin typeface="Times New Roman" panose="02020603050405020304" pitchFamily="18" charset="0"/>
                <a:ea typeface="楷体_GB2312" pitchFamily="49" charset="-122"/>
                <a:cs typeface="Times New Roman" panose="02020603050405020304" pitchFamily="18" charset="0"/>
              </a:rPr>
              <a:t>的程度</a:t>
            </a:r>
          </a:p>
        </p:txBody>
      </p:sp>
      <p:graphicFrame>
        <p:nvGraphicFramePr>
          <p:cNvPr id="113674" name="Object 10"/>
          <p:cNvGraphicFramePr>
            <a:graphicFrameLocks noGrp="1" noChangeAspect="1"/>
          </p:cNvGraphicFramePr>
          <p:nvPr>
            <p:ph sz="quarter" idx="3"/>
            <p:extLst>
              <p:ext uri="{D42A27DB-BD31-4B8C-83A1-F6EECF244321}">
                <p14:modId xmlns:p14="http://schemas.microsoft.com/office/powerpoint/2010/main" val="2398372103"/>
              </p:ext>
            </p:extLst>
          </p:nvPr>
        </p:nvGraphicFramePr>
        <p:xfrm>
          <a:off x="6673105" y="5076825"/>
          <a:ext cx="2735263" cy="1760538"/>
        </p:xfrm>
        <a:graphic>
          <a:graphicData uri="http://schemas.openxmlformats.org/presentationml/2006/ole">
            <mc:AlternateContent xmlns:mc="http://schemas.openxmlformats.org/markup-compatibility/2006">
              <mc:Choice xmlns:v="urn:schemas-microsoft-com:vml" Requires="v">
                <p:oleObj name="Equation" r:id="rId5" imgW="1104840" imgH="711000" progId="Equation.DSMT4">
                  <p:embed/>
                </p:oleObj>
              </mc:Choice>
              <mc:Fallback>
                <p:oleObj name="Equation" r:id="rId5" imgW="1104840" imgH="711000" progId="Equation.DSMT4">
                  <p:embed/>
                  <p:pic>
                    <p:nvPicPr>
                      <p:cNvPr id="113674" name="Object 10"/>
                      <p:cNvPicPr>
                        <a:picLocks noGrp="1" noChangeAspect="1" noChangeArrowheads="1"/>
                      </p:cNvPicPr>
                      <p:nvPr/>
                    </p:nvPicPr>
                    <p:blipFill>
                      <a:blip r:embed="rId6"/>
                      <a:srcRect/>
                      <a:stretch>
                        <a:fillRect/>
                      </a:stretch>
                    </p:blipFill>
                    <p:spPr bwMode="auto">
                      <a:xfrm>
                        <a:off x="6673105" y="5076825"/>
                        <a:ext cx="2735263" cy="176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Grp="1" noChangeAspect="1"/>
          </p:cNvGraphicFramePr>
          <p:nvPr>
            <p:extLst>
              <p:ext uri="{D42A27DB-BD31-4B8C-83A1-F6EECF244321}">
                <p14:modId xmlns:p14="http://schemas.microsoft.com/office/powerpoint/2010/main" val="1160795487"/>
              </p:ext>
            </p:extLst>
          </p:nvPr>
        </p:nvGraphicFramePr>
        <p:xfrm>
          <a:off x="7173349" y="3818081"/>
          <a:ext cx="2817762" cy="1296144"/>
        </p:xfrm>
        <a:graphic>
          <a:graphicData uri="http://schemas.openxmlformats.org/presentationml/2006/ole">
            <mc:AlternateContent xmlns:mc="http://schemas.openxmlformats.org/markup-compatibility/2006">
              <mc:Choice xmlns:v="urn:schemas-microsoft-com:vml" Requires="v">
                <p:oleObj name="Equation" r:id="rId7" imgW="1587240" imgH="736560" progId="Equation.DSMT4">
                  <p:embed/>
                </p:oleObj>
              </mc:Choice>
              <mc:Fallback>
                <p:oleObj name="Equation" r:id="rId7" imgW="1587240" imgH="736560" progId="Equation.DSMT4">
                  <p:embed/>
                  <p:pic>
                    <p:nvPicPr>
                      <p:cNvPr id="2" name="对象 1"/>
                      <p:cNvPicPr>
                        <a:picLocks noGrp="1" noChangeAspect="1" noChangeArrowheads="1"/>
                      </p:cNvPicPr>
                      <p:nvPr/>
                    </p:nvPicPr>
                    <p:blipFill>
                      <a:blip r:embed="rId8"/>
                      <a:srcRect/>
                      <a:stretch>
                        <a:fillRect/>
                      </a:stretch>
                    </p:blipFill>
                    <p:spPr bwMode="auto">
                      <a:xfrm>
                        <a:off x="7173349" y="3818081"/>
                        <a:ext cx="2817762" cy="1296144"/>
                      </a:xfrm>
                      <a:prstGeom prst="rect">
                        <a:avLst/>
                      </a:prstGeom>
                      <a:noFill/>
                      <a:ln>
                        <a:noFill/>
                      </a:ln>
                    </p:spPr>
                  </p:pic>
                </p:oleObj>
              </mc:Fallback>
            </mc:AlternateContent>
          </a:graphicData>
        </a:graphic>
      </p:graphicFrame>
      <p:sp>
        <p:nvSpPr>
          <p:cNvPr id="4" name="灯片编号占位符 3">
            <a:extLst>
              <a:ext uri="{FF2B5EF4-FFF2-40B4-BE49-F238E27FC236}">
                <a16:creationId xmlns:a16="http://schemas.microsoft.com/office/drawing/2014/main" id="{D518FA31-1A5A-957E-24B3-FD68A7F37B1C}"/>
              </a:ext>
            </a:extLst>
          </p:cNvPr>
          <p:cNvSpPr>
            <a:spLocks noGrp="1"/>
          </p:cNvSpPr>
          <p:nvPr>
            <p:ph type="sldNum" sz="quarter" idx="11"/>
          </p:nvPr>
        </p:nvSpPr>
        <p:spPr/>
        <p:txBody>
          <a:bodyPr/>
          <a:lstStyle/>
          <a:p>
            <a:pPr>
              <a:defRPr/>
            </a:pPr>
            <a:fld id="{6E623E09-9292-430A-945A-636A50DBB6F1}" type="slidenum">
              <a:rPr lang="en-US" altLang="zh-CN" smtClean="0"/>
              <a:pPr>
                <a:defRPr/>
              </a:pPr>
              <a:t>10</a:t>
            </a:fld>
            <a:endParaRPr lang="en-US" altLang="zh-CN"/>
          </a:p>
        </p:txBody>
      </p:sp>
    </p:spTree>
    <p:extLst>
      <p:ext uri="{BB962C8B-B14F-4D97-AF65-F5344CB8AC3E}">
        <p14:creationId xmlns:p14="http://schemas.microsoft.com/office/powerpoint/2010/main" val="19565143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wipe(left)">
                                      <p:cBhvr>
                                        <p:cTn id="7" dur="500"/>
                                        <p:tgtEl>
                                          <p:spTgt spid="113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wipe(left)">
                                      <p:cBhvr>
                                        <p:cTn id="12" dur="500"/>
                                        <p:tgtEl>
                                          <p:spTgt spid="1136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3667">
                                            <p:txEl>
                                              <p:pRg st="2" end="2"/>
                                            </p:txEl>
                                          </p:spTgt>
                                        </p:tgtEl>
                                        <p:attrNameLst>
                                          <p:attrName>style.visibility</p:attrName>
                                        </p:attrNameLst>
                                      </p:cBhvr>
                                      <p:to>
                                        <p:strVal val="visible"/>
                                      </p:to>
                                    </p:set>
                                    <p:animEffect transition="in" filter="wipe(left)">
                                      <p:cBhvr>
                                        <p:cTn id="17" dur="500"/>
                                        <p:tgtEl>
                                          <p:spTgt spid="1136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3667">
                                            <p:txEl>
                                              <p:pRg st="3" end="3"/>
                                            </p:txEl>
                                          </p:spTgt>
                                        </p:tgtEl>
                                        <p:attrNameLst>
                                          <p:attrName>style.visibility</p:attrName>
                                        </p:attrNameLst>
                                      </p:cBhvr>
                                      <p:to>
                                        <p:strVal val="visible"/>
                                      </p:to>
                                    </p:set>
                                    <p:animEffect transition="in" filter="wipe(left)">
                                      <p:cBhvr>
                                        <p:cTn id="22" dur="500"/>
                                        <p:tgtEl>
                                          <p:spTgt spid="1136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3667">
                                            <p:txEl>
                                              <p:pRg st="4" end="4"/>
                                            </p:txEl>
                                          </p:spTgt>
                                        </p:tgtEl>
                                        <p:attrNameLst>
                                          <p:attrName>style.visibility</p:attrName>
                                        </p:attrNameLst>
                                      </p:cBhvr>
                                      <p:to>
                                        <p:strVal val="visible"/>
                                      </p:to>
                                    </p:set>
                                    <p:animEffect transition="in" filter="wipe(left)">
                                      <p:cBhvr>
                                        <p:cTn id="27" dur="500"/>
                                        <p:tgtEl>
                                          <p:spTgt spid="1136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113668"/>
                                        </p:tgtEl>
                                        <p:attrNameLst>
                                          <p:attrName>style.visibility</p:attrName>
                                        </p:attrNameLst>
                                      </p:cBhvr>
                                      <p:to>
                                        <p:strVal val="visible"/>
                                      </p:to>
                                    </p:set>
                                    <p:anim calcmode="lin" valueType="num">
                                      <p:cBhvr additive="base">
                                        <p:cTn id="32" dur="500" fill="hold"/>
                                        <p:tgtEl>
                                          <p:spTgt spid="113668"/>
                                        </p:tgtEl>
                                        <p:attrNameLst>
                                          <p:attrName>ppt_x</p:attrName>
                                        </p:attrNameLst>
                                      </p:cBhvr>
                                      <p:tavLst>
                                        <p:tav tm="0">
                                          <p:val>
                                            <p:strVal val="1+#ppt_w/2"/>
                                          </p:val>
                                        </p:tav>
                                        <p:tav tm="100000">
                                          <p:val>
                                            <p:strVal val="#ppt_x"/>
                                          </p:val>
                                        </p:tav>
                                      </p:tavLst>
                                    </p:anim>
                                    <p:anim calcmode="lin" valueType="num">
                                      <p:cBhvr additive="base">
                                        <p:cTn id="33" dur="500" fill="hold"/>
                                        <p:tgtEl>
                                          <p:spTgt spid="113668"/>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13667">
                                            <p:txEl>
                                              <p:pRg st="5" end="5"/>
                                            </p:txEl>
                                          </p:spTgt>
                                        </p:tgtEl>
                                        <p:attrNameLst>
                                          <p:attrName>style.visibility</p:attrName>
                                        </p:attrNameLst>
                                      </p:cBhvr>
                                      <p:to>
                                        <p:strVal val="visible"/>
                                      </p:to>
                                    </p:set>
                                    <p:animEffect transition="in" filter="wipe(left)">
                                      <p:cBhvr>
                                        <p:cTn id="38" dur="500"/>
                                        <p:tgtEl>
                                          <p:spTgt spid="113667">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13667">
                                            <p:txEl>
                                              <p:pRg st="6" end="6"/>
                                            </p:txEl>
                                          </p:spTgt>
                                        </p:tgtEl>
                                        <p:attrNameLst>
                                          <p:attrName>style.visibility</p:attrName>
                                        </p:attrNameLst>
                                      </p:cBhvr>
                                      <p:to>
                                        <p:strVal val="visible"/>
                                      </p:to>
                                    </p:set>
                                    <p:animEffect transition="in" filter="wipe(left)">
                                      <p:cBhvr>
                                        <p:cTn id="43" dur="500"/>
                                        <p:tgtEl>
                                          <p:spTgt spid="113667">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13667">
                                            <p:txEl>
                                              <p:pRg st="7" end="7"/>
                                            </p:txEl>
                                          </p:spTgt>
                                        </p:tgtEl>
                                        <p:attrNameLst>
                                          <p:attrName>style.visibility</p:attrName>
                                        </p:attrNameLst>
                                      </p:cBhvr>
                                      <p:to>
                                        <p:strVal val="visible"/>
                                      </p:to>
                                    </p:set>
                                    <p:animEffect transition="in" filter="wipe(left)">
                                      <p:cBhvr>
                                        <p:cTn id="48" dur="500"/>
                                        <p:tgtEl>
                                          <p:spTgt spid="113667">
                                            <p:txEl>
                                              <p:pRg st="7" end="7"/>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13669"/>
                                        </p:tgtEl>
                                        <p:attrNameLst>
                                          <p:attrName>style.visibility</p:attrName>
                                        </p:attrNameLst>
                                      </p:cBhvr>
                                      <p:to>
                                        <p:strVal val="visible"/>
                                      </p:to>
                                    </p:set>
                                    <p:animEffect transition="in" filter="wipe(left)">
                                      <p:cBhvr>
                                        <p:cTn id="53" dur="500"/>
                                        <p:tgtEl>
                                          <p:spTgt spid="11366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left)">
                                      <p:cBhvr>
                                        <p:cTn id="58" dur="500"/>
                                        <p:tgtEl>
                                          <p:spTgt spid="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fade">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13674"/>
                                        </p:tgtEl>
                                        <p:attrNameLst>
                                          <p:attrName>style.visibility</p:attrName>
                                        </p:attrNameLst>
                                      </p:cBhvr>
                                      <p:to>
                                        <p:strVal val="visible"/>
                                      </p:to>
                                    </p:set>
                                    <p:animEffect transition="in" filter="wipe(left)">
                                      <p:cBhvr>
                                        <p:cTn id="66" dur="500"/>
                                        <p:tgtEl>
                                          <p:spTgt spid="113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366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81200" y="457201"/>
            <a:ext cx="8229600" cy="1027113"/>
          </a:xfrm>
        </p:spPr>
        <p:txBody>
          <a:bodyPr/>
          <a:lstStyle/>
          <a:p>
            <a:pPr algn="ctr" eaLnBrk="1" hangingPunct="1"/>
            <a:r>
              <a:rPr lang="zh-CN" altLang="en-US">
                <a:solidFill>
                  <a:srgbClr val="008000"/>
                </a:solidFill>
                <a:ea typeface="黑体" pitchFamily="49" charset="-122"/>
              </a:rPr>
              <a:t>二元排序法</a:t>
            </a:r>
            <a:r>
              <a:rPr lang="en-US" altLang="zh-CN">
                <a:solidFill>
                  <a:srgbClr val="008000"/>
                </a:solidFill>
                <a:ea typeface="黑体" pitchFamily="49" charset="-122"/>
              </a:rPr>
              <a:t>——1. </a:t>
            </a:r>
            <a:r>
              <a:rPr lang="zh-CN" altLang="en-US">
                <a:solidFill>
                  <a:srgbClr val="008000"/>
                </a:solidFill>
                <a:ea typeface="黑体" pitchFamily="49" charset="-122"/>
              </a:rPr>
              <a:t>相对比较法</a:t>
            </a:r>
          </a:p>
        </p:txBody>
      </p:sp>
      <p:sp>
        <p:nvSpPr>
          <p:cNvPr id="119811" name="Rectangle 3"/>
          <p:cNvSpPr>
            <a:spLocks noGrp="1" noChangeArrowheads="1"/>
          </p:cNvSpPr>
          <p:nvPr>
            <p:ph type="body" sz="half" idx="1"/>
          </p:nvPr>
        </p:nvSpPr>
        <p:spPr>
          <a:xfrm>
            <a:off x="1055440" y="1484314"/>
            <a:ext cx="10225136" cy="4383087"/>
          </a:xfrm>
        </p:spPr>
        <p:txBody>
          <a:bodyPr/>
          <a:lstStyle/>
          <a:p>
            <a:pPr eaLnBrk="1" hangingPunct="1"/>
            <a:r>
              <a:rPr lang="zh-CN" altLang="en-US" dirty="0">
                <a:solidFill>
                  <a:srgbClr val="FF0000"/>
                </a:solidFill>
                <a:ea typeface="黑体" pitchFamily="49" charset="-122"/>
              </a:rPr>
              <a:t>求隶属函数</a:t>
            </a:r>
          </a:p>
          <a:p>
            <a:pPr lvl="1" eaLnBrk="1" hangingPunct="1"/>
            <a:r>
              <a:rPr lang="zh-CN" altLang="en-US" b="1" dirty="0">
                <a:ea typeface="楷体_GB2312" pitchFamily="49" charset="-122"/>
              </a:rPr>
              <a:t>取相及矩阵中</a:t>
            </a:r>
            <a:r>
              <a:rPr lang="zh-CN" altLang="en-US" b="1" u="sng" dirty="0">
                <a:solidFill>
                  <a:srgbClr val="0066FF"/>
                </a:solidFill>
                <a:ea typeface="楷体_GB2312" pitchFamily="49" charset="-122"/>
              </a:rPr>
              <a:t>各行的最小值</a:t>
            </a:r>
            <a:r>
              <a:rPr lang="zh-CN" altLang="en-US" b="1" dirty="0">
                <a:ea typeface="楷体_GB2312" pitchFamily="49" charset="-122"/>
              </a:rPr>
              <a:t>为各行元素的隶属度</a:t>
            </a:r>
          </a:p>
          <a:p>
            <a:pPr lvl="1" eaLnBrk="1" hangingPunct="1">
              <a:buFont typeface="Wingdings" pitchFamily="2" charset="2"/>
              <a:buNone/>
            </a:pPr>
            <a:r>
              <a:rPr lang="zh-CN" altLang="en-US" dirty="0"/>
              <a:t>     </a:t>
            </a:r>
          </a:p>
          <a:p>
            <a:pPr lvl="1" eaLnBrk="1" hangingPunct="1">
              <a:buFont typeface="Wingdings" pitchFamily="2" charset="2"/>
              <a:buNone/>
            </a:pPr>
            <a:endParaRPr lang="zh-CN" altLang="en-US" dirty="0"/>
          </a:p>
          <a:p>
            <a:pPr lvl="1" eaLnBrk="1" hangingPunct="1">
              <a:buFont typeface="Wingdings" pitchFamily="2" charset="2"/>
              <a:buNone/>
            </a:pPr>
            <a:endParaRPr lang="zh-CN" altLang="en-US" dirty="0"/>
          </a:p>
          <a:p>
            <a:pPr lvl="1" eaLnBrk="1" hangingPunct="1">
              <a:buFont typeface="Wingdings" pitchFamily="2" charset="2"/>
              <a:buNone/>
            </a:pPr>
            <a:endParaRPr lang="zh-CN" altLang="en-US" sz="1800" dirty="0"/>
          </a:p>
          <a:p>
            <a:pPr lvl="1" eaLnBrk="1" hangingPunct="1">
              <a:buFont typeface="Wingdings" pitchFamily="2" charset="2"/>
              <a:buNone/>
            </a:pPr>
            <a:r>
              <a:rPr lang="el-GR" altLang="zh-CN" sz="3200" b="1" i="1" dirty="0">
                <a:solidFill>
                  <a:srgbClr val="3333FF"/>
                </a:solidFill>
                <a:latin typeface="Times New Roman" panose="02020603050405020304" pitchFamily="18" charset="0"/>
                <a:cs typeface="Times New Roman" panose="02020603050405020304" pitchFamily="18" charset="0"/>
              </a:rPr>
              <a:t>μ</a:t>
            </a:r>
            <a:r>
              <a:rPr lang="en-US" altLang="zh-CN" sz="3200" b="1" i="1" baseline="-25000" dirty="0">
                <a:solidFill>
                  <a:srgbClr val="3333FF"/>
                </a:solidFill>
                <a:latin typeface="Times New Roman" panose="02020603050405020304" pitchFamily="18" charset="0"/>
                <a:cs typeface="Times New Roman" panose="02020603050405020304" pitchFamily="18" charset="0"/>
              </a:rPr>
              <a:t>P</a:t>
            </a:r>
            <a:r>
              <a:rPr lang="en-US" altLang="zh-CN" sz="3200" b="1" dirty="0">
                <a:solidFill>
                  <a:srgbClr val="3333FF"/>
                </a:solidFill>
                <a:latin typeface="Times New Roman" panose="02020603050405020304" pitchFamily="18" charset="0"/>
                <a:cs typeface="Times New Roman" panose="02020603050405020304" pitchFamily="18" charset="0"/>
              </a:rPr>
              <a:t>(</a:t>
            </a:r>
            <a:r>
              <a:rPr lang="en-US" altLang="zh-CN" sz="3200" b="1" i="1" dirty="0" err="1">
                <a:solidFill>
                  <a:srgbClr val="3333FF"/>
                </a:solidFill>
                <a:latin typeface="Times New Roman" panose="02020603050405020304" pitchFamily="18" charset="0"/>
                <a:cs typeface="Times New Roman" panose="02020603050405020304" pitchFamily="18" charset="0"/>
              </a:rPr>
              <a:t>u</a:t>
            </a:r>
            <a:r>
              <a:rPr lang="en-US" altLang="zh-CN" sz="3200" b="1" i="1" baseline="-25000" dirty="0" err="1">
                <a:solidFill>
                  <a:srgbClr val="3333FF"/>
                </a:solidFill>
                <a:latin typeface="Times New Roman" panose="02020603050405020304" pitchFamily="18" charset="0"/>
                <a:cs typeface="Times New Roman" panose="02020603050405020304" pitchFamily="18" charset="0"/>
              </a:rPr>
              <a:t>i</a:t>
            </a:r>
            <a:r>
              <a:rPr lang="en-US" altLang="zh-CN" sz="3200" b="1" dirty="0">
                <a:solidFill>
                  <a:srgbClr val="3333FF"/>
                </a:solidFill>
                <a:latin typeface="Times New Roman" panose="02020603050405020304" pitchFamily="18" charset="0"/>
                <a:cs typeface="Times New Roman" panose="02020603050405020304" pitchFamily="18" charset="0"/>
              </a:rPr>
              <a:t>)=</a:t>
            </a:r>
            <a:r>
              <a:rPr lang="en-US" altLang="zh-CN" sz="3200" b="1" i="1" dirty="0">
                <a:solidFill>
                  <a:srgbClr val="3333FF"/>
                </a:solidFill>
                <a:latin typeface="Times New Roman" panose="02020603050405020304" pitchFamily="18" charset="0"/>
                <a:cs typeface="Times New Roman" panose="02020603050405020304" pitchFamily="18" charset="0"/>
              </a:rPr>
              <a:t>min</a:t>
            </a:r>
            <a:r>
              <a:rPr lang="en-US" altLang="zh-CN" sz="3200" b="1" dirty="0">
                <a:solidFill>
                  <a:srgbClr val="3333FF"/>
                </a:solidFill>
                <a:latin typeface="Times New Roman" panose="02020603050405020304" pitchFamily="18" charset="0"/>
                <a:cs typeface="Times New Roman" panose="02020603050405020304" pitchFamily="18" charset="0"/>
              </a:rPr>
              <a:t>(</a:t>
            </a:r>
            <a:r>
              <a:rPr lang="en-US" altLang="zh-CN" sz="3200" b="1" i="1" dirty="0" err="1">
                <a:solidFill>
                  <a:srgbClr val="3333FF"/>
                </a:solidFill>
                <a:latin typeface="Times New Roman" panose="02020603050405020304" pitchFamily="18" charset="0"/>
                <a:cs typeface="Times New Roman" panose="02020603050405020304" pitchFamily="18" charset="0"/>
              </a:rPr>
              <a:t>c</a:t>
            </a:r>
            <a:r>
              <a:rPr lang="en-US" altLang="zh-CN" sz="3200" b="1" i="1" baseline="-25000" dirty="0" err="1">
                <a:solidFill>
                  <a:srgbClr val="3333FF"/>
                </a:solidFill>
                <a:latin typeface="Times New Roman" panose="02020603050405020304" pitchFamily="18" charset="0"/>
                <a:cs typeface="Times New Roman" panose="02020603050405020304" pitchFamily="18" charset="0"/>
              </a:rPr>
              <a:t>ij</a:t>
            </a:r>
            <a:r>
              <a:rPr lang="en-US" altLang="zh-CN" sz="3200" b="1" dirty="0">
                <a:solidFill>
                  <a:srgbClr val="3333FF"/>
                </a:solidFill>
                <a:latin typeface="Times New Roman" panose="02020603050405020304" pitchFamily="18" charset="0"/>
                <a:cs typeface="Times New Roman" panose="02020603050405020304" pitchFamily="18" charset="0"/>
              </a:rPr>
              <a:t>)</a:t>
            </a:r>
          </a:p>
        </p:txBody>
      </p:sp>
      <p:graphicFrame>
        <p:nvGraphicFramePr>
          <p:cNvPr id="119812" name="Object 4"/>
          <p:cNvGraphicFramePr>
            <a:graphicFrameLocks noGrp="1" noChangeAspect="1"/>
          </p:cNvGraphicFramePr>
          <p:nvPr>
            <p:ph sz="quarter" idx="2"/>
            <p:extLst>
              <p:ext uri="{D42A27DB-BD31-4B8C-83A1-F6EECF244321}">
                <p14:modId xmlns:p14="http://schemas.microsoft.com/office/powerpoint/2010/main" val="928581127"/>
              </p:ext>
            </p:extLst>
          </p:nvPr>
        </p:nvGraphicFramePr>
        <p:xfrm>
          <a:off x="2998788" y="2720976"/>
          <a:ext cx="3097212" cy="1806575"/>
        </p:xfrm>
        <a:graphic>
          <a:graphicData uri="http://schemas.openxmlformats.org/presentationml/2006/ole">
            <mc:AlternateContent xmlns:mc="http://schemas.openxmlformats.org/markup-compatibility/2006">
              <mc:Choice xmlns:v="urn:schemas-microsoft-com:vml" Requires="v">
                <p:oleObj name="公式" r:id="rId2" imgW="1218671" imgH="710891" progId="Equation.3">
                  <p:embed/>
                </p:oleObj>
              </mc:Choice>
              <mc:Fallback>
                <p:oleObj name="公式" r:id="rId2" imgW="1218671" imgH="710891" progId="Equation.3">
                  <p:embed/>
                  <p:pic>
                    <p:nvPicPr>
                      <p:cNvPr id="119812"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8788" y="2720976"/>
                        <a:ext cx="3097212" cy="180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4" name="Object 6"/>
          <p:cNvGraphicFramePr>
            <a:graphicFrameLocks noGrp="1" noChangeAspect="1"/>
          </p:cNvGraphicFramePr>
          <p:nvPr>
            <p:ph sz="quarter" idx="3"/>
            <p:extLst>
              <p:ext uri="{D42A27DB-BD31-4B8C-83A1-F6EECF244321}">
                <p14:modId xmlns:p14="http://schemas.microsoft.com/office/powerpoint/2010/main" val="4204384024"/>
              </p:ext>
            </p:extLst>
          </p:nvPr>
        </p:nvGraphicFramePr>
        <p:xfrm>
          <a:off x="2571565" y="5197476"/>
          <a:ext cx="3735387" cy="1339850"/>
        </p:xfrm>
        <a:graphic>
          <a:graphicData uri="http://schemas.openxmlformats.org/presentationml/2006/ole">
            <mc:AlternateContent xmlns:mc="http://schemas.openxmlformats.org/markup-compatibility/2006">
              <mc:Choice xmlns:v="urn:schemas-microsoft-com:vml" Requires="v">
                <p:oleObj name="公式" r:id="rId4" imgW="1168400" imgH="419100" progId="Equation.3">
                  <p:embed/>
                </p:oleObj>
              </mc:Choice>
              <mc:Fallback>
                <p:oleObj name="公式" r:id="rId4" imgW="1168400" imgH="419100" progId="Equation.3">
                  <p:embed/>
                  <p:pic>
                    <p:nvPicPr>
                      <p:cNvPr id="119814"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1565" y="5197476"/>
                        <a:ext cx="3735387" cy="1339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16" name="Text Box 8"/>
          <p:cNvSpPr txBox="1">
            <a:spLocks noChangeArrowheads="1"/>
          </p:cNvSpPr>
          <p:nvPr/>
        </p:nvSpPr>
        <p:spPr bwMode="auto">
          <a:xfrm>
            <a:off x="7828653" y="4346532"/>
            <a:ext cx="3779837" cy="2462213"/>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zh-CN" altLang="en-US" sz="2800" b="1" dirty="0">
                <a:ea typeface="楷体_GB2312" pitchFamily="49" charset="-122"/>
              </a:rPr>
              <a:t>由隶属函数可看出，</a:t>
            </a:r>
            <a:endParaRPr lang="en-US" altLang="zh-CN" sz="2800" b="1" dirty="0">
              <a:ea typeface="楷体_GB2312" pitchFamily="49" charset="-122"/>
            </a:endParaRPr>
          </a:p>
          <a:p>
            <a:pPr marL="457200" indent="-457200" eaLnBrk="1" hangingPunct="1">
              <a:spcBef>
                <a:spcPct val="50000"/>
              </a:spcBef>
              <a:buFont typeface="Wingdings" panose="05000000000000000000" pitchFamily="2" charset="2"/>
              <a:buChar char="l"/>
            </a:pPr>
            <a:r>
              <a:rPr lang="en-US" altLang="zh-CN" sz="2800" b="1" dirty="0">
                <a:ea typeface="楷体_GB2312" pitchFamily="49" charset="-122"/>
              </a:rPr>
              <a:t>A</a:t>
            </a:r>
            <a:r>
              <a:rPr lang="zh-CN" altLang="en-US" sz="2800" b="1" dirty="0">
                <a:ea typeface="楷体_GB2312" pitchFamily="49" charset="-122"/>
              </a:rPr>
              <a:t>市代表队厨艺最高</a:t>
            </a:r>
            <a:endParaRPr lang="en-US" altLang="zh-CN" sz="2800" b="1" dirty="0">
              <a:ea typeface="楷体_GB2312" pitchFamily="49" charset="-122"/>
            </a:endParaRPr>
          </a:p>
          <a:p>
            <a:pPr marL="457200" indent="-457200" eaLnBrk="1" hangingPunct="1">
              <a:spcBef>
                <a:spcPct val="50000"/>
              </a:spcBef>
              <a:buFont typeface="Wingdings" panose="05000000000000000000" pitchFamily="2" charset="2"/>
              <a:buChar char="l"/>
            </a:pPr>
            <a:r>
              <a:rPr lang="zh-CN" altLang="en-US" sz="2800" b="1" dirty="0">
                <a:ea typeface="楷体_GB2312" pitchFamily="49" charset="-122"/>
              </a:rPr>
              <a:t>其次是</a:t>
            </a:r>
            <a:r>
              <a:rPr lang="en-US" altLang="zh-CN" sz="2800" b="1" dirty="0">
                <a:ea typeface="楷体_GB2312" pitchFamily="49" charset="-122"/>
              </a:rPr>
              <a:t>B</a:t>
            </a:r>
            <a:r>
              <a:rPr lang="zh-CN" altLang="en-US" sz="2800" b="1" dirty="0">
                <a:ea typeface="楷体_GB2312" pitchFamily="49" charset="-122"/>
              </a:rPr>
              <a:t>队，</a:t>
            </a:r>
            <a:endParaRPr lang="en-US" altLang="zh-CN" sz="2800" b="1" dirty="0">
              <a:ea typeface="楷体_GB2312" pitchFamily="49" charset="-122"/>
            </a:endParaRPr>
          </a:p>
          <a:p>
            <a:pPr marL="457200" indent="-457200" eaLnBrk="1" hangingPunct="1">
              <a:spcBef>
                <a:spcPct val="50000"/>
              </a:spcBef>
              <a:buFont typeface="Wingdings" panose="05000000000000000000" pitchFamily="2" charset="2"/>
              <a:buChar char="l"/>
            </a:pPr>
            <a:r>
              <a:rPr lang="zh-CN" altLang="en-US" sz="2800" b="1" dirty="0">
                <a:ea typeface="楷体_GB2312" pitchFamily="49" charset="-122"/>
              </a:rPr>
              <a:t>再次是</a:t>
            </a:r>
            <a:r>
              <a:rPr lang="en-US" altLang="zh-CN" sz="2800" b="1" dirty="0">
                <a:ea typeface="楷体_GB2312" pitchFamily="49" charset="-122"/>
              </a:rPr>
              <a:t>C</a:t>
            </a:r>
            <a:r>
              <a:rPr lang="zh-CN" altLang="en-US" sz="2800" b="1" dirty="0">
                <a:ea typeface="楷体_GB2312" pitchFamily="49" charset="-122"/>
              </a:rPr>
              <a:t>队</a:t>
            </a:r>
          </a:p>
        </p:txBody>
      </p:sp>
      <p:sp>
        <p:nvSpPr>
          <p:cNvPr id="2" name="灯片编号占位符 1">
            <a:extLst>
              <a:ext uri="{FF2B5EF4-FFF2-40B4-BE49-F238E27FC236}">
                <a16:creationId xmlns:a16="http://schemas.microsoft.com/office/drawing/2014/main" id="{ACAB8A55-6474-1DF0-DFC8-6C4DC544544E}"/>
              </a:ext>
            </a:extLst>
          </p:cNvPr>
          <p:cNvSpPr>
            <a:spLocks noGrp="1"/>
          </p:cNvSpPr>
          <p:nvPr>
            <p:ph type="sldNum" sz="quarter" idx="11"/>
          </p:nvPr>
        </p:nvSpPr>
        <p:spPr>
          <a:xfrm>
            <a:off x="9192344" y="6351545"/>
            <a:ext cx="2844800" cy="457200"/>
          </a:xfrm>
        </p:spPr>
        <p:txBody>
          <a:bodyPr/>
          <a:lstStyle/>
          <a:p>
            <a:pPr>
              <a:defRPr/>
            </a:pPr>
            <a:fld id="{6E623E09-9292-430A-945A-636A50DBB6F1}" type="slidenum">
              <a:rPr lang="en-US" altLang="zh-CN" smtClean="0"/>
              <a:pPr>
                <a:defRPr/>
              </a:pPr>
              <a:t>11</a:t>
            </a:fld>
            <a:endParaRPr lang="en-US" altLang="zh-CN" dirty="0"/>
          </a:p>
        </p:txBody>
      </p:sp>
    </p:spTree>
    <p:extLst>
      <p:ext uri="{BB962C8B-B14F-4D97-AF65-F5344CB8AC3E}">
        <p14:creationId xmlns:p14="http://schemas.microsoft.com/office/powerpoint/2010/main" val="12353162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Effect transition="in" filter="wipe(left)">
                                      <p:cBhvr>
                                        <p:cTn id="7" dur="500"/>
                                        <p:tgtEl>
                                          <p:spTgt spid="119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9811">
                                            <p:txEl>
                                              <p:pRg st="1" end="1"/>
                                            </p:txEl>
                                          </p:spTgt>
                                        </p:tgtEl>
                                        <p:attrNameLst>
                                          <p:attrName>style.visibility</p:attrName>
                                        </p:attrNameLst>
                                      </p:cBhvr>
                                      <p:to>
                                        <p:strVal val="visible"/>
                                      </p:to>
                                    </p:set>
                                    <p:animEffect transition="in" filter="wipe(left)">
                                      <p:cBhvr>
                                        <p:cTn id="12" dur="500"/>
                                        <p:tgtEl>
                                          <p:spTgt spid="1198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9811">
                                            <p:txEl>
                                              <p:pRg st="6" end="6"/>
                                            </p:txEl>
                                          </p:spTgt>
                                        </p:tgtEl>
                                        <p:attrNameLst>
                                          <p:attrName>style.visibility</p:attrName>
                                        </p:attrNameLst>
                                      </p:cBhvr>
                                      <p:to>
                                        <p:strVal val="visible"/>
                                      </p:to>
                                    </p:set>
                                    <p:animEffect transition="in" filter="wipe(left)">
                                      <p:cBhvr>
                                        <p:cTn id="17" dur="500"/>
                                        <p:tgtEl>
                                          <p:spTgt spid="119811">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9814"/>
                                        </p:tgtEl>
                                        <p:attrNameLst>
                                          <p:attrName>style.visibility</p:attrName>
                                        </p:attrNameLst>
                                      </p:cBhvr>
                                      <p:to>
                                        <p:strVal val="visible"/>
                                      </p:to>
                                    </p:set>
                                    <p:animEffect transition="in" filter="wipe(left)">
                                      <p:cBhvr>
                                        <p:cTn id="22" dur="500"/>
                                        <p:tgtEl>
                                          <p:spTgt spid="1198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9816"/>
                                        </p:tgtEl>
                                        <p:attrNameLst>
                                          <p:attrName>style.visibility</p:attrName>
                                        </p:attrNameLst>
                                      </p:cBhvr>
                                      <p:to>
                                        <p:strVal val="visible"/>
                                      </p:to>
                                    </p:set>
                                    <p:animEffect transition="in" filter="wipe(up)">
                                      <p:cBhvr>
                                        <p:cTn id="27" dur="500"/>
                                        <p:tgtEl>
                                          <p:spTgt spid="119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81200" y="457201"/>
            <a:ext cx="8229600" cy="1027113"/>
          </a:xfrm>
        </p:spPr>
        <p:txBody>
          <a:bodyPr/>
          <a:lstStyle/>
          <a:p>
            <a:pPr algn="ctr" eaLnBrk="1" hangingPunct="1"/>
            <a:r>
              <a:rPr lang="zh-CN" altLang="en-US">
                <a:solidFill>
                  <a:srgbClr val="008000"/>
                </a:solidFill>
                <a:ea typeface="黑体" pitchFamily="49" charset="-122"/>
              </a:rPr>
              <a:t>二元排序法</a:t>
            </a:r>
            <a:r>
              <a:rPr lang="en-US" altLang="zh-CN">
                <a:solidFill>
                  <a:srgbClr val="008000"/>
                </a:solidFill>
                <a:ea typeface="黑体" pitchFamily="49" charset="-122"/>
              </a:rPr>
              <a:t>——1. </a:t>
            </a:r>
            <a:r>
              <a:rPr lang="zh-CN" altLang="en-US">
                <a:solidFill>
                  <a:srgbClr val="008000"/>
                </a:solidFill>
                <a:ea typeface="黑体" pitchFamily="49" charset="-122"/>
              </a:rPr>
              <a:t>相对比较法</a:t>
            </a:r>
          </a:p>
        </p:txBody>
      </p:sp>
      <p:sp>
        <p:nvSpPr>
          <p:cNvPr id="192515" name="Rectangle 3"/>
          <p:cNvSpPr>
            <a:spLocks noGrp="1" noChangeArrowheads="1"/>
          </p:cNvSpPr>
          <p:nvPr>
            <p:ph type="body" sz="half" idx="1"/>
          </p:nvPr>
        </p:nvSpPr>
        <p:spPr>
          <a:xfrm>
            <a:off x="1127448" y="1484314"/>
            <a:ext cx="9577064" cy="4383087"/>
          </a:xfrm>
        </p:spPr>
        <p:txBody>
          <a:bodyPr/>
          <a:lstStyle/>
          <a:p>
            <a:pPr eaLnBrk="1" hangingPunct="1"/>
            <a:r>
              <a:rPr lang="zh-CN" altLang="en-US" dirty="0">
                <a:solidFill>
                  <a:srgbClr val="FF0000"/>
                </a:solidFill>
                <a:ea typeface="黑体" pitchFamily="49" charset="-122"/>
              </a:rPr>
              <a:t>求隶属函数</a:t>
            </a:r>
          </a:p>
          <a:p>
            <a:pPr lvl="1" eaLnBrk="1" hangingPunct="1"/>
            <a:r>
              <a:rPr lang="zh-CN" altLang="en-US" b="1" dirty="0">
                <a:ea typeface="楷体_GB2312" pitchFamily="49" charset="-122"/>
              </a:rPr>
              <a:t>取相及矩阵中</a:t>
            </a:r>
            <a:r>
              <a:rPr lang="zh-CN" altLang="en-US" b="1" u="sng" dirty="0">
                <a:solidFill>
                  <a:srgbClr val="CC00CC"/>
                </a:solidFill>
                <a:ea typeface="楷体_GB2312" pitchFamily="49" charset="-122"/>
              </a:rPr>
              <a:t>各行的算术平均值</a:t>
            </a:r>
            <a:r>
              <a:rPr lang="zh-CN" altLang="en-US" b="1" dirty="0">
                <a:ea typeface="楷体_GB2312" pitchFamily="49" charset="-122"/>
              </a:rPr>
              <a:t>为各行元素的隶属度</a:t>
            </a:r>
          </a:p>
          <a:p>
            <a:pPr lvl="1" eaLnBrk="1" hangingPunct="1">
              <a:buFont typeface="Wingdings" pitchFamily="2" charset="2"/>
              <a:buNone/>
            </a:pPr>
            <a:r>
              <a:rPr lang="zh-CN" altLang="en-US" dirty="0"/>
              <a:t>     </a:t>
            </a:r>
          </a:p>
          <a:p>
            <a:pPr lvl="1" eaLnBrk="1" hangingPunct="1">
              <a:buFont typeface="Wingdings" pitchFamily="2" charset="2"/>
              <a:buNone/>
            </a:pPr>
            <a:endParaRPr lang="zh-CN" altLang="en-US" dirty="0"/>
          </a:p>
          <a:p>
            <a:pPr lvl="1" eaLnBrk="1" hangingPunct="1">
              <a:buFont typeface="Wingdings" pitchFamily="2" charset="2"/>
              <a:buNone/>
            </a:pPr>
            <a:endParaRPr lang="zh-CN" altLang="en-US" sz="4800" dirty="0"/>
          </a:p>
          <a:p>
            <a:pPr lvl="1" eaLnBrk="1" hangingPunct="1">
              <a:buFont typeface="Wingdings" pitchFamily="2" charset="2"/>
              <a:buNone/>
            </a:pPr>
            <a:r>
              <a:rPr lang="el-GR" altLang="zh-CN" sz="3200" b="1" i="1" dirty="0">
                <a:solidFill>
                  <a:srgbClr val="CC00CC"/>
                </a:solidFill>
                <a:latin typeface="Times New Roman" panose="02020603050405020304" pitchFamily="18" charset="0"/>
                <a:cs typeface="Times New Roman" panose="02020603050405020304" pitchFamily="18" charset="0"/>
              </a:rPr>
              <a:t>μ</a:t>
            </a:r>
            <a:r>
              <a:rPr lang="en-US" altLang="zh-CN" sz="3200" b="1" i="1" baseline="-25000" dirty="0">
                <a:solidFill>
                  <a:srgbClr val="CC00CC"/>
                </a:solidFill>
                <a:latin typeface="Times New Roman" panose="02020603050405020304" pitchFamily="18" charset="0"/>
                <a:cs typeface="Times New Roman" panose="02020603050405020304" pitchFamily="18" charset="0"/>
              </a:rPr>
              <a:t>P</a:t>
            </a:r>
            <a:r>
              <a:rPr lang="en-US" altLang="zh-CN" sz="3200" b="1" dirty="0">
                <a:solidFill>
                  <a:srgbClr val="CC00CC"/>
                </a:solidFill>
                <a:latin typeface="Times New Roman" panose="02020603050405020304" pitchFamily="18" charset="0"/>
                <a:cs typeface="Times New Roman" panose="02020603050405020304" pitchFamily="18" charset="0"/>
              </a:rPr>
              <a:t>(</a:t>
            </a:r>
            <a:r>
              <a:rPr lang="en-US" altLang="zh-CN" sz="3200" b="1" i="1" dirty="0" err="1">
                <a:solidFill>
                  <a:srgbClr val="CC00CC"/>
                </a:solidFill>
                <a:latin typeface="Times New Roman" panose="02020603050405020304" pitchFamily="18" charset="0"/>
                <a:cs typeface="Times New Roman" panose="02020603050405020304" pitchFamily="18" charset="0"/>
              </a:rPr>
              <a:t>u</a:t>
            </a:r>
            <a:r>
              <a:rPr lang="en-US" altLang="zh-CN" sz="3200" b="1" i="1" baseline="-25000" dirty="0" err="1">
                <a:solidFill>
                  <a:srgbClr val="CC00CC"/>
                </a:solidFill>
                <a:latin typeface="Times New Roman" panose="02020603050405020304" pitchFamily="18" charset="0"/>
                <a:cs typeface="Times New Roman" panose="02020603050405020304" pitchFamily="18" charset="0"/>
              </a:rPr>
              <a:t>i</a:t>
            </a:r>
            <a:r>
              <a:rPr lang="en-US" altLang="zh-CN" sz="3200" b="1" dirty="0">
                <a:solidFill>
                  <a:srgbClr val="CC00CC"/>
                </a:solidFill>
                <a:latin typeface="Times New Roman" panose="02020603050405020304" pitchFamily="18" charset="0"/>
                <a:cs typeface="Times New Roman" panose="02020603050405020304" pitchFamily="18" charset="0"/>
              </a:rPr>
              <a:t>)=1/3</a:t>
            </a:r>
            <a:r>
              <a:rPr lang="en-US" altLang="zh-CN" b="1" dirty="0">
                <a:solidFill>
                  <a:srgbClr val="CC00CC"/>
                </a:solidFill>
                <a:latin typeface="Times New Roman" panose="02020603050405020304" pitchFamily="18" charset="0"/>
                <a:cs typeface="Times New Roman" panose="02020603050405020304" pitchFamily="18" charset="0"/>
              </a:rPr>
              <a:t>×(</a:t>
            </a:r>
            <a:r>
              <a:rPr lang="en-US" altLang="zh-CN" sz="3200" b="1" i="1" dirty="0">
                <a:solidFill>
                  <a:srgbClr val="CC00CC"/>
                </a:solidFill>
                <a:latin typeface="Times New Roman" panose="02020603050405020304" pitchFamily="18" charset="0"/>
                <a:cs typeface="Times New Roman" panose="02020603050405020304" pitchFamily="18" charset="0"/>
              </a:rPr>
              <a:t>c</a:t>
            </a:r>
            <a:r>
              <a:rPr lang="en-US" altLang="zh-CN" sz="3200" b="1" i="1" baseline="-25000" dirty="0">
                <a:solidFill>
                  <a:srgbClr val="CC00CC"/>
                </a:solidFill>
                <a:latin typeface="Times New Roman" panose="02020603050405020304" pitchFamily="18" charset="0"/>
                <a:cs typeface="Times New Roman" panose="02020603050405020304" pitchFamily="18" charset="0"/>
              </a:rPr>
              <a:t>i</a:t>
            </a:r>
            <a:r>
              <a:rPr lang="en-US" altLang="zh-CN" sz="3200" b="1" baseline="-25000" dirty="0">
                <a:solidFill>
                  <a:srgbClr val="CC00CC"/>
                </a:solidFill>
                <a:latin typeface="Times New Roman" panose="02020603050405020304" pitchFamily="18" charset="0"/>
                <a:cs typeface="Times New Roman" panose="02020603050405020304" pitchFamily="18" charset="0"/>
              </a:rPr>
              <a:t>1</a:t>
            </a:r>
            <a:r>
              <a:rPr lang="en-US" altLang="zh-CN" sz="3200" b="1" dirty="0">
                <a:solidFill>
                  <a:srgbClr val="CC00CC"/>
                </a:solidFill>
                <a:latin typeface="Times New Roman" panose="02020603050405020304" pitchFamily="18" charset="0"/>
                <a:cs typeface="Times New Roman" panose="02020603050405020304" pitchFamily="18" charset="0"/>
              </a:rPr>
              <a:t>+</a:t>
            </a:r>
            <a:r>
              <a:rPr lang="en-US" altLang="zh-CN" sz="3200" b="1" i="1" dirty="0">
                <a:solidFill>
                  <a:srgbClr val="CC00CC"/>
                </a:solidFill>
                <a:latin typeface="Times New Roman" panose="02020603050405020304" pitchFamily="18" charset="0"/>
                <a:cs typeface="Times New Roman" panose="02020603050405020304" pitchFamily="18" charset="0"/>
              </a:rPr>
              <a:t>c</a:t>
            </a:r>
            <a:r>
              <a:rPr lang="en-US" altLang="zh-CN" sz="3200" b="1" i="1" baseline="-25000" dirty="0">
                <a:solidFill>
                  <a:srgbClr val="CC00CC"/>
                </a:solidFill>
                <a:latin typeface="Times New Roman" panose="02020603050405020304" pitchFamily="18" charset="0"/>
                <a:cs typeface="Times New Roman" panose="02020603050405020304" pitchFamily="18" charset="0"/>
              </a:rPr>
              <a:t>i</a:t>
            </a:r>
            <a:r>
              <a:rPr lang="en-US" altLang="zh-CN" sz="3200" b="1" baseline="-25000" dirty="0">
                <a:solidFill>
                  <a:srgbClr val="CC00CC"/>
                </a:solidFill>
                <a:latin typeface="Times New Roman" panose="02020603050405020304" pitchFamily="18" charset="0"/>
                <a:cs typeface="Times New Roman" panose="02020603050405020304" pitchFamily="18" charset="0"/>
              </a:rPr>
              <a:t>2</a:t>
            </a:r>
            <a:r>
              <a:rPr lang="en-US" altLang="zh-CN" sz="3200" b="1" dirty="0">
                <a:solidFill>
                  <a:srgbClr val="CC00CC"/>
                </a:solidFill>
                <a:latin typeface="Times New Roman" panose="02020603050405020304" pitchFamily="18" charset="0"/>
                <a:cs typeface="Times New Roman" panose="02020603050405020304" pitchFamily="18" charset="0"/>
              </a:rPr>
              <a:t>+</a:t>
            </a:r>
            <a:r>
              <a:rPr lang="en-US" altLang="zh-CN" sz="3200" b="1" i="1" dirty="0">
                <a:solidFill>
                  <a:srgbClr val="CC00CC"/>
                </a:solidFill>
                <a:latin typeface="Times New Roman" panose="02020603050405020304" pitchFamily="18" charset="0"/>
                <a:cs typeface="Times New Roman" panose="02020603050405020304" pitchFamily="18" charset="0"/>
              </a:rPr>
              <a:t>c</a:t>
            </a:r>
            <a:r>
              <a:rPr lang="en-US" altLang="zh-CN" sz="3200" b="1" i="1" baseline="-25000" dirty="0">
                <a:solidFill>
                  <a:srgbClr val="CC00CC"/>
                </a:solidFill>
                <a:latin typeface="Times New Roman" panose="02020603050405020304" pitchFamily="18" charset="0"/>
                <a:cs typeface="Times New Roman" panose="02020603050405020304" pitchFamily="18" charset="0"/>
              </a:rPr>
              <a:t>i</a:t>
            </a:r>
            <a:r>
              <a:rPr lang="en-US" altLang="zh-CN" sz="3200" b="1" baseline="-25000" dirty="0">
                <a:solidFill>
                  <a:srgbClr val="CC00CC"/>
                </a:solidFill>
                <a:latin typeface="Times New Roman" panose="02020603050405020304" pitchFamily="18" charset="0"/>
                <a:cs typeface="Times New Roman" panose="02020603050405020304" pitchFamily="18" charset="0"/>
              </a:rPr>
              <a:t>3</a:t>
            </a:r>
            <a:r>
              <a:rPr lang="en-US" altLang="zh-CN" b="1" dirty="0">
                <a:solidFill>
                  <a:srgbClr val="CC00CC"/>
                </a:solidFill>
                <a:latin typeface="Times New Roman" panose="02020603050405020304" pitchFamily="18" charset="0"/>
                <a:cs typeface="Times New Roman" panose="02020603050405020304" pitchFamily="18" charset="0"/>
              </a:rPr>
              <a:t>)</a:t>
            </a:r>
            <a:endParaRPr lang="en-US" altLang="zh-CN" sz="3200" b="1" dirty="0">
              <a:solidFill>
                <a:srgbClr val="CC00CC"/>
              </a:solidFill>
              <a:latin typeface="Times New Roman" panose="02020603050405020304" pitchFamily="18" charset="0"/>
              <a:cs typeface="Times New Roman" panose="02020603050405020304" pitchFamily="18" charset="0"/>
            </a:endParaRPr>
          </a:p>
        </p:txBody>
      </p:sp>
      <p:graphicFrame>
        <p:nvGraphicFramePr>
          <p:cNvPr id="192516" name="Object 4"/>
          <p:cNvGraphicFramePr>
            <a:graphicFrameLocks noGrp="1" noChangeAspect="1"/>
          </p:cNvGraphicFramePr>
          <p:nvPr>
            <p:ph sz="quarter" idx="2"/>
            <p:extLst>
              <p:ext uri="{D42A27DB-BD31-4B8C-83A1-F6EECF244321}">
                <p14:modId xmlns:p14="http://schemas.microsoft.com/office/powerpoint/2010/main" val="353457648"/>
              </p:ext>
            </p:extLst>
          </p:nvPr>
        </p:nvGraphicFramePr>
        <p:xfrm>
          <a:off x="2782888" y="2774553"/>
          <a:ext cx="3097212" cy="1806575"/>
        </p:xfrm>
        <a:graphic>
          <a:graphicData uri="http://schemas.openxmlformats.org/presentationml/2006/ole">
            <mc:AlternateContent xmlns:mc="http://schemas.openxmlformats.org/markup-compatibility/2006">
              <mc:Choice xmlns:v="urn:schemas-microsoft-com:vml" Requires="v">
                <p:oleObj name="公式" r:id="rId2" imgW="1218671" imgH="710891" progId="Equation.3">
                  <p:embed/>
                </p:oleObj>
              </mc:Choice>
              <mc:Fallback>
                <p:oleObj name="公式" r:id="rId2" imgW="1218671" imgH="710891" progId="Equation.3">
                  <p:embed/>
                  <p:pic>
                    <p:nvPicPr>
                      <p:cNvPr id="192516"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2774553"/>
                        <a:ext cx="3097212" cy="180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2517" name="Object 5"/>
          <p:cNvGraphicFramePr>
            <a:graphicFrameLocks noGrp="1" noChangeAspect="1"/>
          </p:cNvGraphicFramePr>
          <p:nvPr>
            <p:ph sz="quarter" idx="3"/>
            <p:extLst>
              <p:ext uri="{D42A27DB-BD31-4B8C-83A1-F6EECF244321}">
                <p14:modId xmlns:p14="http://schemas.microsoft.com/office/powerpoint/2010/main" val="3342372919"/>
              </p:ext>
            </p:extLst>
          </p:nvPr>
        </p:nvGraphicFramePr>
        <p:xfrm>
          <a:off x="2332156" y="5347069"/>
          <a:ext cx="3816350" cy="1271588"/>
        </p:xfrm>
        <a:graphic>
          <a:graphicData uri="http://schemas.openxmlformats.org/presentationml/2006/ole">
            <mc:AlternateContent xmlns:mc="http://schemas.openxmlformats.org/markup-compatibility/2006">
              <mc:Choice xmlns:v="urn:schemas-microsoft-com:vml" Requires="v">
                <p:oleObj name="公式" r:id="rId4" imgW="1257300" imgH="419100" progId="Equation.3">
                  <p:embed/>
                </p:oleObj>
              </mc:Choice>
              <mc:Fallback>
                <p:oleObj name="公式" r:id="rId4" imgW="1257300" imgH="419100" progId="Equation.3">
                  <p:embed/>
                  <p:pic>
                    <p:nvPicPr>
                      <p:cNvPr id="192517" name="Object 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2156" y="5347069"/>
                        <a:ext cx="3816350" cy="127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a:extLst>
              <a:ext uri="{FF2B5EF4-FFF2-40B4-BE49-F238E27FC236}">
                <a16:creationId xmlns:a16="http://schemas.microsoft.com/office/drawing/2014/main" id="{67B51B5F-A0AA-BACF-8239-2230246240C1}"/>
              </a:ext>
            </a:extLst>
          </p:cNvPr>
          <p:cNvSpPr>
            <a:spLocks noGrp="1"/>
          </p:cNvSpPr>
          <p:nvPr>
            <p:ph type="sldNum" sz="quarter" idx="11"/>
          </p:nvPr>
        </p:nvSpPr>
        <p:spPr>
          <a:xfrm>
            <a:off x="9324176" y="6361873"/>
            <a:ext cx="2844800" cy="457200"/>
          </a:xfrm>
        </p:spPr>
        <p:txBody>
          <a:bodyPr/>
          <a:lstStyle/>
          <a:p>
            <a:pPr>
              <a:defRPr/>
            </a:pPr>
            <a:fld id="{6E623E09-9292-430A-945A-636A50DBB6F1}" type="slidenum">
              <a:rPr lang="en-US" altLang="zh-CN" smtClean="0"/>
              <a:pPr>
                <a:defRPr/>
              </a:pPr>
              <a:t>12</a:t>
            </a:fld>
            <a:endParaRPr lang="en-US" altLang="zh-CN"/>
          </a:p>
        </p:txBody>
      </p:sp>
      <p:sp>
        <p:nvSpPr>
          <p:cNvPr id="3" name="Text Box 8">
            <a:extLst>
              <a:ext uri="{FF2B5EF4-FFF2-40B4-BE49-F238E27FC236}">
                <a16:creationId xmlns:a16="http://schemas.microsoft.com/office/drawing/2014/main" id="{EC27653F-B8AE-39EC-28AB-F7277F97FC78}"/>
              </a:ext>
            </a:extLst>
          </p:cNvPr>
          <p:cNvSpPr txBox="1">
            <a:spLocks noChangeArrowheads="1"/>
          </p:cNvSpPr>
          <p:nvPr/>
        </p:nvSpPr>
        <p:spPr bwMode="auto">
          <a:xfrm>
            <a:off x="7434257" y="4306106"/>
            <a:ext cx="3779837" cy="2462213"/>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zh-CN" altLang="en-US" sz="2800" b="1" dirty="0">
                <a:ea typeface="楷体_GB2312" pitchFamily="49" charset="-122"/>
              </a:rPr>
              <a:t>由隶属函数可看出，</a:t>
            </a:r>
            <a:endParaRPr lang="en-US" altLang="zh-CN" sz="2800" b="1" dirty="0">
              <a:ea typeface="楷体_GB2312" pitchFamily="49" charset="-122"/>
            </a:endParaRPr>
          </a:p>
          <a:p>
            <a:pPr marL="457200" indent="-457200" eaLnBrk="1" hangingPunct="1">
              <a:spcBef>
                <a:spcPct val="50000"/>
              </a:spcBef>
              <a:buFont typeface="Wingdings" panose="05000000000000000000" pitchFamily="2" charset="2"/>
              <a:buChar char="l"/>
            </a:pPr>
            <a:r>
              <a:rPr lang="en-US" altLang="zh-CN" sz="2800" b="1" dirty="0">
                <a:ea typeface="楷体_GB2312" pitchFamily="49" charset="-122"/>
              </a:rPr>
              <a:t>A</a:t>
            </a:r>
            <a:r>
              <a:rPr lang="zh-CN" altLang="en-US" sz="2800" b="1" dirty="0">
                <a:ea typeface="楷体_GB2312" pitchFamily="49" charset="-122"/>
              </a:rPr>
              <a:t>市代表队厨艺最高</a:t>
            </a:r>
            <a:endParaRPr lang="en-US" altLang="zh-CN" sz="2800" b="1" dirty="0">
              <a:ea typeface="楷体_GB2312" pitchFamily="49" charset="-122"/>
            </a:endParaRPr>
          </a:p>
          <a:p>
            <a:pPr marL="457200" indent="-457200" eaLnBrk="1" hangingPunct="1">
              <a:spcBef>
                <a:spcPct val="50000"/>
              </a:spcBef>
              <a:buFont typeface="Wingdings" panose="05000000000000000000" pitchFamily="2" charset="2"/>
              <a:buChar char="l"/>
            </a:pPr>
            <a:r>
              <a:rPr lang="zh-CN" altLang="en-US" sz="2800" b="1" dirty="0">
                <a:ea typeface="楷体_GB2312" pitchFamily="49" charset="-122"/>
              </a:rPr>
              <a:t>其次是</a:t>
            </a:r>
            <a:r>
              <a:rPr lang="en-US" altLang="zh-CN" sz="2800" b="1" dirty="0">
                <a:ea typeface="楷体_GB2312" pitchFamily="49" charset="-122"/>
              </a:rPr>
              <a:t>B</a:t>
            </a:r>
            <a:r>
              <a:rPr lang="zh-CN" altLang="en-US" sz="2800" b="1" dirty="0">
                <a:ea typeface="楷体_GB2312" pitchFamily="49" charset="-122"/>
              </a:rPr>
              <a:t>队，</a:t>
            </a:r>
            <a:endParaRPr lang="en-US" altLang="zh-CN" sz="2800" b="1" dirty="0">
              <a:ea typeface="楷体_GB2312" pitchFamily="49" charset="-122"/>
            </a:endParaRPr>
          </a:p>
          <a:p>
            <a:pPr marL="457200" indent="-457200" eaLnBrk="1" hangingPunct="1">
              <a:spcBef>
                <a:spcPct val="50000"/>
              </a:spcBef>
              <a:buFont typeface="Wingdings" panose="05000000000000000000" pitchFamily="2" charset="2"/>
              <a:buChar char="l"/>
            </a:pPr>
            <a:r>
              <a:rPr lang="zh-CN" altLang="en-US" sz="2800" b="1" dirty="0">
                <a:ea typeface="楷体_GB2312" pitchFamily="49" charset="-122"/>
              </a:rPr>
              <a:t>再次是</a:t>
            </a:r>
            <a:r>
              <a:rPr lang="en-US" altLang="zh-CN" sz="2800" b="1" dirty="0">
                <a:ea typeface="楷体_GB2312" pitchFamily="49" charset="-122"/>
              </a:rPr>
              <a:t>C</a:t>
            </a:r>
            <a:r>
              <a:rPr lang="zh-CN" altLang="en-US" sz="2800" b="1" dirty="0">
                <a:ea typeface="楷体_GB2312" pitchFamily="49" charset="-122"/>
              </a:rPr>
              <a:t>队</a:t>
            </a:r>
          </a:p>
        </p:txBody>
      </p:sp>
    </p:spTree>
    <p:extLst>
      <p:ext uri="{BB962C8B-B14F-4D97-AF65-F5344CB8AC3E}">
        <p14:creationId xmlns:p14="http://schemas.microsoft.com/office/powerpoint/2010/main" val="38708466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2515">
                                            <p:txEl>
                                              <p:pRg st="1" end="1"/>
                                            </p:txEl>
                                          </p:spTgt>
                                        </p:tgtEl>
                                        <p:attrNameLst>
                                          <p:attrName>style.visibility</p:attrName>
                                        </p:attrNameLst>
                                      </p:cBhvr>
                                      <p:to>
                                        <p:strVal val="visible"/>
                                      </p:to>
                                    </p:set>
                                    <p:animEffect transition="in" filter="wipe(left)">
                                      <p:cBhvr>
                                        <p:cTn id="7" dur="500"/>
                                        <p:tgtEl>
                                          <p:spTgt spid="1925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2515">
                                            <p:txEl>
                                              <p:pRg st="5" end="5"/>
                                            </p:txEl>
                                          </p:spTgt>
                                        </p:tgtEl>
                                        <p:attrNameLst>
                                          <p:attrName>style.visibility</p:attrName>
                                        </p:attrNameLst>
                                      </p:cBhvr>
                                      <p:to>
                                        <p:strVal val="visible"/>
                                      </p:to>
                                    </p:set>
                                    <p:animEffect transition="in" filter="wipe(left)">
                                      <p:cBhvr>
                                        <p:cTn id="12" dur="500"/>
                                        <p:tgtEl>
                                          <p:spTgt spid="192515">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2517"/>
                                        </p:tgtEl>
                                        <p:attrNameLst>
                                          <p:attrName>style.visibility</p:attrName>
                                        </p:attrNameLst>
                                      </p:cBhvr>
                                      <p:to>
                                        <p:strVal val="visible"/>
                                      </p:to>
                                    </p:set>
                                    <p:animEffect transition="in" filter="wipe(left)">
                                      <p:cBhvr>
                                        <p:cTn id="17" dur="500"/>
                                        <p:tgtEl>
                                          <p:spTgt spid="1925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81200" y="457201"/>
            <a:ext cx="8229600" cy="1027113"/>
          </a:xfrm>
        </p:spPr>
        <p:txBody>
          <a:bodyPr/>
          <a:lstStyle/>
          <a:p>
            <a:pPr algn="ctr" eaLnBrk="1" hangingPunct="1"/>
            <a:r>
              <a:rPr lang="zh-CN" altLang="en-US">
                <a:solidFill>
                  <a:srgbClr val="008000"/>
                </a:solidFill>
                <a:ea typeface="黑体" pitchFamily="49" charset="-122"/>
              </a:rPr>
              <a:t>二元排序法</a:t>
            </a:r>
            <a:r>
              <a:rPr lang="en-US" altLang="zh-CN">
                <a:solidFill>
                  <a:srgbClr val="008000"/>
                </a:solidFill>
                <a:ea typeface="黑体" pitchFamily="49" charset="-122"/>
              </a:rPr>
              <a:t>——2. </a:t>
            </a:r>
            <a:r>
              <a:rPr lang="zh-CN" altLang="en-US">
                <a:solidFill>
                  <a:srgbClr val="008000"/>
                </a:solidFill>
                <a:ea typeface="黑体" pitchFamily="49" charset="-122"/>
              </a:rPr>
              <a:t>择优比较法</a:t>
            </a:r>
          </a:p>
        </p:txBody>
      </p:sp>
      <p:sp>
        <p:nvSpPr>
          <p:cNvPr id="35843" name="Rectangle 3"/>
          <p:cNvSpPr>
            <a:spLocks noGrp="1" noChangeArrowheads="1"/>
          </p:cNvSpPr>
          <p:nvPr>
            <p:ph type="body" sz="half" idx="1"/>
          </p:nvPr>
        </p:nvSpPr>
        <p:spPr>
          <a:xfrm>
            <a:off x="1343472" y="1556792"/>
            <a:ext cx="9649072" cy="1080120"/>
          </a:xfrm>
        </p:spPr>
        <p:txBody>
          <a:bodyPr/>
          <a:lstStyle/>
          <a:p>
            <a:pPr eaLnBrk="1" hangingPunct="1">
              <a:lnSpc>
                <a:spcPct val="90000"/>
              </a:lnSpc>
              <a:buFont typeface="Wingdings" pitchFamily="2" charset="2"/>
              <a:buNone/>
            </a:pPr>
            <a:r>
              <a:rPr lang="zh-CN" altLang="en-US" dirty="0">
                <a:ea typeface="黑体" pitchFamily="49" charset="-122"/>
              </a:rPr>
              <a:t>假如生产乒乓球拍，要问用什么颜色最好？</a:t>
            </a:r>
          </a:p>
          <a:p>
            <a:pPr eaLnBrk="1" hangingPunct="1">
              <a:lnSpc>
                <a:spcPct val="90000"/>
              </a:lnSpc>
              <a:buFont typeface="Wingdings" pitchFamily="2" charset="2"/>
              <a:buNone/>
            </a:pPr>
            <a:r>
              <a:rPr lang="zh-CN" altLang="en-US" dirty="0">
                <a:solidFill>
                  <a:srgbClr val="FF0000"/>
                </a:solidFill>
                <a:ea typeface="黑体" pitchFamily="49" charset="-122"/>
              </a:rPr>
              <a:t>论域</a:t>
            </a:r>
            <a:r>
              <a:rPr lang="en-US" altLang="zh-CN" dirty="0">
                <a:solidFill>
                  <a:srgbClr val="FF0000"/>
                </a:solidFill>
                <a:ea typeface="黑体" pitchFamily="49" charset="-122"/>
              </a:rPr>
              <a:t>U={</a:t>
            </a:r>
            <a:r>
              <a:rPr lang="zh-CN" altLang="en-US" dirty="0">
                <a:solidFill>
                  <a:srgbClr val="FF0000"/>
                </a:solidFill>
                <a:ea typeface="黑体" pitchFamily="49" charset="-122"/>
              </a:rPr>
              <a:t>红，橙，黄，绿，蓝</a:t>
            </a:r>
            <a:r>
              <a:rPr lang="en-US" altLang="zh-CN" dirty="0">
                <a:solidFill>
                  <a:srgbClr val="FF0000"/>
                </a:solidFill>
                <a:ea typeface="黑体" pitchFamily="49" charset="-122"/>
              </a:rPr>
              <a:t>}</a:t>
            </a:r>
          </a:p>
        </p:txBody>
      </p:sp>
      <p:graphicFrame>
        <p:nvGraphicFramePr>
          <p:cNvPr id="35903" name="Group 63"/>
          <p:cNvGraphicFramePr>
            <a:graphicFrameLocks noGrp="1"/>
          </p:cNvGraphicFramePr>
          <p:nvPr>
            <p:ph sz="half" idx="2"/>
            <p:extLst>
              <p:ext uri="{D42A27DB-BD31-4B8C-83A1-F6EECF244321}">
                <p14:modId xmlns:p14="http://schemas.microsoft.com/office/powerpoint/2010/main" val="1798844109"/>
              </p:ext>
            </p:extLst>
          </p:nvPr>
        </p:nvGraphicFramePr>
        <p:xfrm>
          <a:off x="7332032" y="2909727"/>
          <a:ext cx="3533775" cy="3109080"/>
        </p:xfrm>
        <a:graphic>
          <a:graphicData uri="http://schemas.openxmlformats.org/drawingml/2006/table">
            <a:tbl>
              <a:tblPr/>
              <a:tblGrid>
                <a:gridCol w="588963">
                  <a:extLst>
                    <a:ext uri="{9D8B030D-6E8A-4147-A177-3AD203B41FA5}">
                      <a16:colId xmlns:a16="http://schemas.microsoft.com/office/drawing/2014/main" val="20000"/>
                    </a:ext>
                  </a:extLst>
                </a:gridCol>
                <a:gridCol w="588962">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88963">
                  <a:extLst>
                    <a:ext uri="{9D8B030D-6E8A-4147-A177-3AD203B41FA5}">
                      <a16:colId xmlns:a16="http://schemas.microsoft.com/office/drawing/2014/main" val="20004"/>
                    </a:ext>
                  </a:extLst>
                </a:gridCol>
                <a:gridCol w="588962">
                  <a:extLst>
                    <a:ext uri="{9D8B030D-6E8A-4147-A177-3AD203B41FA5}">
                      <a16:colId xmlns:a16="http://schemas.microsoft.com/office/drawing/2014/main" val="20005"/>
                    </a:ext>
                  </a:extLst>
                </a:gridCol>
              </a:tblGrid>
              <a:tr h="3963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3333FF"/>
                        </a:solidFill>
                        <a:effectLst/>
                        <a:latin typeface="Arial" charset="0"/>
                        <a:ea typeface="楷体_GB2312" pitchFamily="49" charset="-12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红</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橙</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黄</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dirty="0">
                          <a:ln>
                            <a:noFill/>
                          </a:ln>
                          <a:solidFill>
                            <a:srgbClr val="3333FF"/>
                          </a:solidFill>
                          <a:effectLst/>
                          <a:latin typeface="Arial" charset="0"/>
                          <a:ea typeface="楷体_GB2312" pitchFamily="49" charset="-122"/>
                        </a:rPr>
                        <a:t>绿</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dirty="0">
                          <a:ln>
                            <a:noFill/>
                          </a:ln>
                          <a:solidFill>
                            <a:srgbClr val="3333FF"/>
                          </a:solidFill>
                          <a:effectLst/>
                          <a:latin typeface="Arial" charset="0"/>
                          <a:ea typeface="楷体_GB2312" pitchFamily="49" charset="-122"/>
                        </a:rPr>
                        <a:t>蓝</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extLst>
                  <a:ext uri="{0D108BD9-81ED-4DB2-BD59-A6C34878D82A}">
                    <a16:rowId xmlns:a16="http://schemas.microsoft.com/office/drawing/2014/main" val="10000"/>
                  </a:ext>
                </a:extLst>
              </a:tr>
              <a:tr h="4684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红</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66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66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dirty="0">
                        <a:ln>
                          <a:noFill/>
                        </a:ln>
                        <a:solidFill>
                          <a:srgbClr val="FF66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dirty="0">
                        <a:ln>
                          <a:noFill/>
                        </a:ln>
                        <a:solidFill>
                          <a:srgbClr val="FF66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66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652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橙</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1</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652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黄</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5</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2</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652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绿</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8</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6</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3</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652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800" b="1" i="0" u="none" strike="noStrike" cap="none" normalizeH="0" baseline="0">
                          <a:ln>
                            <a:noFill/>
                          </a:ln>
                          <a:solidFill>
                            <a:srgbClr val="3333FF"/>
                          </a:solidFill>
                          <a:effectLst/>
                          <a:latin typeface="Arial" charset="0"/>
                          <a:ea typeface="楷体_GB2312" pitchFamily="49" charset="-122"/>
                        </a:rPr>
                        <a:t>蓝</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6F4A2"/>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10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a:ln>
                            <a:noFill/>
                          </a:ln>
                          <a:solidFill>
                            <a:srgbClr val="FF0000"/>
                          </a:solidFill>
                          <a:effectLst/>
                          <a:latin typeface="Arial" charset="0"/>
                          <a:ea typeface="楷体_GB2312" pitchFamily="49" charset="-122"/>
                        </a:rPr>
                        <a:t>9</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dirty="0">
                          <a:ln>
                            <a:noFill/>
                          </a:ln>
                          <a:solidFill>
                            <a:srgbClr val="FF0000"/>
                          </a:solidFill>
                          <a:effectLst/>
                          <a:latin typeface="Arial" charset="0"/>
                          <a:ea typeface="楷体_GB2312" pitchFamily="49" charset="-122"/>
                        </a:rPr>
                        <a:t>7</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1" i="0" u="none" strike="noStrike" cap="none" normalizeH="0" baseline="0" dirty="0">
                          <a:ln>
                            <a:noFill/>
                          </a:ln>
                          <a:solidFill>
                            <a:srgbClr val="FF0000"/>
                          </a:solidFill>
                          <a:effectLst/>
                          <a:latin typeface="Arial" charset="0"/>
                          <a:ea typeface="楷体_GB2312" pitchFamily="49" charset="-122"/>
                        </a:rPr>
                        <a:t>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800" b="1" i="0" u="none" strike="noStrike" cap="none" normalizeH="0" baseline="0" dirty="0">
                        <a:ln>
                          <a:noFill/>
                        </a:ln>
                        <a:solidFill>
                          <a:srgbClr val="FF0000"/>
                        </a:solidFill>
                        <a:effectLst/>
                        <a:latin typeface="Arial" charset="0"/>
                        <a:ea typeface="楷体_GB2312"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 name="文本框 2">
            <a:extLst>
              <a:ext uri="{FF2B5EF4-FFF2-40B4-BE49-F238E27FC236}">
                <a16:creationId xmlns:a16="http://schemas.microsoft.com/office/drawing/2014/main" id="{0040CB34-9FA6-9CB2-18BF-4642D5F0C575}"/>
              </a:ext>
            </a:extLst>
          </p:cNvPr>
          <p:cNvSpPr txBox="1"/>
          <p:nvPr/>
        </p:nvSpPr>
        <p:spPr>
          <a:xfrm>
            <a:off x="1343472" y="2909727"/>
            <a:ext cx="5094659" cy="2754408"/>
          </a:xfrm>
          <a:prstGeom prst="rect">
            <a:avLst/>
          </a:prstGeom>
          <a:noFill/>
        </p:spPr>
        <p:txBody>
          <a:bodyPr wrap="square">
            <a:spAutoFit/>
          </a:bodyPr>
          <a:lstStyle/>
          <a:p>
            <a:pPr eaLnBrk="1" hangingPunct="1">
              <a:lnSpc>
                <a:spcPct val="110000"/>
              </a:lnSpc>
              <a:buFont typeface="Wingdings" pitchFamily="2" charset="2"/>
              <a:buNone/>
            </a:pPr>
            <a:r>
              <a:rPr lang="zh-CN" altLang="en-US" sz="3200" dirty="0">
                <a:solidFill>
                  <a:schemeClr val="bg2"/>
                </a:solidFill>
                <a:ea typeface="黑体" pitchFamily="49" charset="-122"/>
              </a:rPr>
              <a:t>从乒乓球爱好者中随机抽样</a:t>
            </a:r>
            <a:r>
              <a:rPr lang="en-US" altLang="zh-CN" sz="3200" u="sng" dirty="0">
                <a:solidFill>
                  <a:schemeClr val="bg2"/>
                </a:solidFill>
                <a:ea typeface="黑体" pitchFamily="49" charset="-122"/>
              </a:rPr>
              <a:t>500</a:t>
            </a:r>
            <a:r>
              <a:rPr lang="zh-CN" altLang="en-US" sz="3200" u="sng" dirty="0">
                <a:solidFill>
                  <a:schemeClr val="bg2"/>
                </a:solidFill>
                <a:ea typeface="黑体" pitchFamily="49" charset="-122"/>
              </a:rPr>
              <a:t>人</a:t>
            </a:r>
            <a:r>
              <a:rPr lang="zh-CN" altLang="en-US" sz="3200" dirty="0">
                <a:solidFill>
                  <a:schemeClr val="bg2"/>
                </a:solidFill>
                <a:ea typeface="黑体" pitchFamily="49" charset="-122"/>
              </a:rPr>
              <a:t>，</a:t>
            </a:r>
            <a:r>
              <a:rPr lang="zh-CN" altLang="en-US" sz="3200" u="sng" dirty="0">
                <a:solidFill>
                  <a:schemeClr val="bg2"/>
                </a:solidFill>
                <a:ea typeface="黑体" pitchFamily="49" charset="-122"/>
              </a:rPr>
              <a:t>每人测两次</a:t>
            </a:r>
            <a:r>
              <a:rPr lang="zh-CN" altLang="en-US" sz="3200" dirty="0">
                <a:solidFill>
                  <a:schemeClr val="bg2"/>
                </a:solidFill>
                <a:ea typeface="黑体" pitchFamily="49" charset="-122"/>
              </a:rPr>
              <a:t>，每次按右表中顺序对比两种颜色，择优指定一种作为自己所喜爱者。</a:t>
            </a:r>
          </a:p>
        </p:txBody>
      </p:sp>
      <p:sp>
        <p:nvSpPr>
          <p:cNvPr id="2" name="灯片编号占位符 1">
            <a:extLst>
              <a:ext uri="{FF2B5EF4-FFF2-40B4-BE49-F238E27FC236}">
                <a16:creationId xmlns:a16="http://schemas.microsoft.com/office/drawing/2014/main" id="{DBD70A4F-C94A-9F71-D90C-EF7E6C656C0D}"/>
              </a:ext>
            </a:extLst>
          </p:cNvPr>
          <p:cNvSpPr>
            <a:spLocks noGrp="1"/>
          </p:cNvSpPr>
          <p:nvPr>
            <p:ph type="sldNum" sz="quarter" idx="11"/>
          </p:nvPr>
        </p:nvSpPr>
        <p:spPr/>
        <p:txBody>
          <a:bodyPr/>
          <a:lstStyle/>
          <a:p>
            <a:pPr>
              <a:defRPr/>
            </a:pPr>
            <a:fld id="{76C4EDA0-D764-474C-A15B-7C3CFCC0E433}" type="slidenum">
              <a:rPr lang="en-US" altLang="zh-CN" smtClean="0"/>
              <a:pPr>
                <a:defRPr/>
              </a:pPr>
              <a:t>13</a:t>
            </a:fld>
            <a:endParaRPr lang="en-US" altLang="zh-CN"/>
          </a:p>
        </p:txBody>
      </p:sp>
    </p:spTree>
    <p:extLst>
      <p:ext uri="{BB962C8B-B14F-4D97-AF65-F5344CB8AC3E}">
        <p14:creationId xmlns:p14="http://schemas.microsoft.com/office/powerpoint/2010/main" val="35009419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up)">
                                      <p:cBhvr>
                                        <p:cTn id="7" dur="500"/>
                                        <p:tgtEl>
                                          <p:spTgt spid="35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wipe(up)">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5903"/>
                                        </p:tgtEl>
                                        <p:attrNameLst>
                                          <p:attrName>style.visibility</p:attrName>
                                        </p:attrNameLst>
                                      </p:cBhvr>
                                      <p:to>
                                        <p:strVal val="visible"/>
                                      </p:to>
                                    </p:set>
                                    <p:anim calcmode="lin" valueType="num">
                                      <p:cBhvr additive="base">
                                        <p:cTn id="22" dur="500" fill="hold"/>
                                        <p:tgtEl>
                                          <p:spTgt spid="35903"/>
                                        </p:tgtEl>
                                        <p:attrNameLst>
                                          <p:attrName>ppt_x</p:attrName>
                                        </p:attrNameLst>
                                      </p:cBhvr>
                                      <p:tavLst>
                                        <p:tav tm="0">
                                          <p:val>
                                            <p:strVal val="#ppt_x"/>
                                          </p:val>
                                        </p:tav>
                                        <p:tav tm="100000">
                                          <p:val>
                                            <p:strVal val="#ppt_x"/>
                                          </p:val>
                                        </p:tav>
                                      </p:tavLst>
                                    </p:anim>
                                    <p:anim calcmode="lin" valueType="num">
                                      <p:cBhvr additive="base">
                                        <p:cTn id="23" dur="500" fill="hold"/>
                                        <p:tgtEl>
                                          <p:spTgt spid="359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066" name="Picture 1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968" y="4581128"/>
            <a:ext cx="4608512"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2"/>
          <p:cNvSpPr>
            <a:spLocks noGrp="1" noChangeArrowheads="1"/>
          </p:cNvSpPr>
          <p:nvPr>
            <p:ph type="title"/>
          </p:nvPr>
        </p:nvSpPr>
        <p:spPr>
          <a:xfrm>
            <a:off x="1981200" y="332656"/>
            <a:ext cx="8229600" cy="955675"/>
          </a:xfrm>
        </p:spPr>
        <p:txBody>
          <a:bodyPr/>
          <a:lstStyle/>
          <a:p>
            <a:pPr algn="ctr" eaLnBrk="1" hangingPunct="1"/>
            <a:r>
              <a:rPr lang="zh-CN" altLang="en-US" dirty="0">
                <a:solidFill>
                  <a:srgbClr val="008000"/>
                </a:solidFill>
                <a:ea typeface="黑体" pitchFamily="49" charset="-122"/>
              </a:rPr>
              <a:t>二元排序法</a:t>
            </a:r>
            <a:r>
              <a:rPr lang="en-US" altLang="zh-CN" dirty="0">
                <a:solidFill>
                  <a:srgbClr val="008000"/>
                </a:solidFill>
                <a:ea typeface="黑体" pitchFamily="49" charset="-122"/>
              </a:rPr>
              <a:t>——2. </a:t>
            </a:r>
            <a:r>
              <a:rPr lang="zh-CN" altLang="en-US" dirty="0">
                <a:solidFill>
                  <a:srgbClr val="008000"/>
                </a:solidFill>
                <a:ea typeface="黑体" pitchFamily="49" charset="-122"/>
              </a:rPr>
              <a:t>择优比较法</a:t>
            </a:r>
          </a:p>
        </p:txBody>
      </p:sp>
      <p:graphicFrame>
        <p:nvGraphicFramePr>
          <p:cNvPr id="40068" name="Group 132"/>
          <p:cNvGraphicFramePr>
            <a:graphicFrameLocks noGrp="1"/>
          </p:cNvGraphicFramePr>
          <p:nvPr>
            <p:ph idx="1"/>
            <p:extLst>
              <p:ext uri="{D42A27DB-BD31-4B8C-83A1-F6EECF244321}">
                <p14:modId xmlns:p14="http://schemas.microsoft.com/office/powerpoint/2010/main" val="778714187"/>
              </p:ext>
            </p:extLst>
          </p:nvPr>
        </p:nvGraphicFramePr>
        <p:xfrm>
          <a:off x="2135186" y="1268760"/>
          <a:ext cx="7848600" cy="3200162"/>
        </p:xfrm>
        <a:graphic>
          <a:graphicData uri="http://schemas.openxmlformats.org/drawingml/2006/table">
            <a:tbl>
              <a:tblPr/>
              <a:tblGrid>
                <a:gridCol w="941388">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942975">
                  <a:extLst>
                    <a:ext uri="{9D8B030D-6E8A-4147-A177-3AD203B41FA5}">
                      <a16:colId xmlns:a16="http://schemas.microsoft.com/office/drawing/2014/main" val="20002"/>
                    </a:ext>
                  </a:extLst>
                </a:gridCol>
                <a:gridCol w="939800">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gridCol w="938212">
                  <a:extLst>
                    <a:ext uri="{9D8B030D-6E8A-4147-A177-3AD203B41FA5}">
                      <a16:colId xmlns:a16="http://schemas.microsoft.com/office/drawing/2014/main" val="20005"/>
                    </a:ext>
                  </a:extLst>
                </a:gridCol>
                <a:gridCol w="1323975">
                  <a:extLst>
                    <a:ext uri="{9D8B030D-6E8A-4147-A177-3AD203B41FA5}">
                      <a16:colId xmlns:a16="http://schemas.microsoft.com/office/drawing/2014/main" val="20006"/>
                    </a:ext>
                  </a:extLst>
                </a:gridCol>
                <a:gridCol w="879475">
                  <a:extLst>
                    <a:ext uri="{9D8B030D-6E8A-4147-A177-3AD203B41FA5}">
                      <a16:colId xmlns:a16="http://schemas.microsoft.com/office/drawing/2014/main" val="20007"/>
                    </a:ext>
                  </a:extLst>
                </a:gridCol>
              </a:tblGrid>
              <a:tr h="51806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Arial" charset="0"/>
                        <a:ea typeface="楷体_GB2312" pitchFamily="49"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红</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橙</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黄</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绿</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蓝</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800" b="0" i="0" u="none" strike="noStrike" cap="none" normalizeH="0" baseline="0">
                          <a:ln>
                            <a:noFill/>
                          </a:ln>
                          <a:solidFill>
                            <a:schemeClr val="bg2"/>
                          </a:solidFill>
                          <a:effectLst/>
                          <a:latin typeface="Arial" charset="0"/>
                          <a:ea typeface="宋体" pitchFamily="2" charset="-122"/>
                        </a:rPr>
                        <a:t>∑</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排序</a:t>
                      </a: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894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红</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517</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525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545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661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bg2"/>
                          </a:solidFill>
                          <a:effectLst/>
                          <a:latin typeface="Arial" charset="0"/>
                          <a:ea typeface="楷体_GB2312" pitchFamily="49" charset="-122"/>
                        </a:rPr>
                        <a:t>2248</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Arial" charset="0"/>
                          <a:ea typeface="楷体_GB2312" pitchFamily="49" charset="-122"/>
                        </a:rPr>
                        <a:t>2</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16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橙</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483</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841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477</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576</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bg2"/>
                          </a:solidFill>
                          <a:effectLst/>
                          <a:latin typeface="Arial" charset="0"/>
                          <a:ea typeface="楷体_GB2312" pitchFamily="49" charset="-122"/>
                        </a:rPr>
                        <a:t>2377</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Arial" charset="0"/>
                          <a:ea typeface="楷体_GB2312" pitchFamily="49" charset="-122"/>
                        </a:rPr>
                        <a:t>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6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rgbClr val="FF0000"/>
                          </a:solidFill>
                          <a:effectLst/>
                          <a:latin typeface="Arial" charset="0"/>
                          <a:ea typeface="楷体_GB2312" pitchFamily="49" charset="-122"/>
                        </a:rPr>
                        <a:t>黄</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475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159</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534</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614</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bg2"/>
                          </a:solidFill>
                          <a:effectLst/>
                          <a:latin typeface="Arial" charset="0"/>
                          <a:ea typeface="楷体_GB2312" pitchFamily="49" charset="-122"/>
                        </a:rPr>
                        <a:t>1782</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Arial" charset="0"/>
                          <a:ea typeface="楷体_GB2312" pitchFamily="49" charset="-122"/>
                        </a:rPr>
                        <a:t>4</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6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绿</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455</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523</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466</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643</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bg2"/>
                          </a:solidFill>
                          <a:effectLst/>
                          <a:latin typeface="Arial" charset="0"/>
                          <a:ea typeface="楷体_GB2312" pitchFamily="49" charset="-122"/>
                        </a:rPr>
                        <a:t>2087</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Arial" charset="0"/>
                          <a:ea typeface="楷体_GB2312" pitchFamily="49" charset="-122"/>
                        </a:rPr>
                        <a:t>3</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16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rgbClr val="FF0000"/>
                          </a:solidFill>
                          <a:effectLst/>
                          <a:latin typeface="Arial" charset="0"/>
                          <a:ea typeface="楷体_GB2312" pitchFamily="49" charset="-122"/>
                        </a:rPr>
                        <a:t>蓝</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339</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524</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386</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357</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bg2"/>
                          </a:solidFill>
                          <a:effectLst/>
                          <a:latin typeface="Arial" charset="0"/>
                          <a:ea typeface="楷体_GB2312" pitchFamily="49" charset="-122"/>
                        </a:rPr>
                        <a:t>1506</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Arial" charset="0"/>
                          <a:ea typeface="楷体_GB2312" pitchFamily="49" charset="-122"/>
                        </a:rPr>
                        <a:t>5</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16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chemeClr val="bg2"/>
                          </a:solidFill>
                          <a:effectLst/>
                          <a:latin typeface="Arial" charset="0"/>
                          <a:ea typeface="楷体_GB2312" pitchFamily="49" charset="-122"/>
                        </a:rPr>
                        <a:t>合计</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chemeClr val="tx1"/>
                        </a:solidFill>
                        <a:effectLst/>
                        <a:latin typeface="Arial" charset="0"/>
                        <a:ea typeface="楷体_GB2312" pitchFamily="49"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bg2"/>
                          </a:solidFill>
                          <a:effectLst/>
                          <a:latin typeface="Arial" charset="0"/>
                          <a:ea typeface="楷体_GB2312" pitchFamily="49" charset="-122"/>
                        </a:rPr>
                        <a:t>10000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dirty="0">
                        <a:ln>
                          <a:noFill/>
                        </a:ln>
                        <a:solidFill>
                          <a:schemeClr val="bg2"/>
                        </a:solidFill>
                        <a:effectLst/>
                        <a:latin typeface="Arial" charset="0"/>
                        <a:ea typeface="楷体_GB2312" pitchFamily="49" charset="-122"/>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0016" name="Text Box 80"/>
          <p:cNvSpPr txBox="1">
            <a:spLocks noChangeArrowheads="1"/>
          </p:cNvSpPr>
          <p:nvPr/>
        </p:nvSpPr>
        <p:spPr bwMode="auto">
          <a:xfrm>
            <a:off x="2135186" y="4679742"/>
            <a:ext cx="2808287"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2000" b="1" dirty="0">
                <a:solidFill>
                  <a:schemeClr val="bg2"/>
                </a:solidFill>
                <a:ea typeface="楷体_GB2312" pitchFamily="49" charset="-122"/>
              </a:rPr>
              <a:t>A(</a:t>
            </a:r>
            <a:r>
              <a:rPr lang="zh-CN" altLang="en-US" sz="2000" b="1" dirty="0">
                <a:solidFill>
                  <a:schemeClr val="bg2"/>
                </a:solidFill>
                <a:ea typeface="楷体_GB2312" pitchFamily="49" charset="-122"/>
              </a:rPr>
              <a:t>红</a:t>
            </a:r>
            <a:r>
              <a:rPr lang="en-US" altLang="zh-CN" sz="2000" b="1" dirty="0">
                <a:solidFill>
                  <a:schemeClr val="bg2"/>
                </a:solidFill>
                <a:ea typeface="楷体_GB2312" pitchFamily="49" charset="-122"/>
              </a:rPr>
              <a:t>)=0.2248 </a:t>
            </a:r>
          </a:p>
          <a:p>
            <a:pPr eaLnBrk="1" hangingPunct="1">
              <a:spcBef>
                <a:spcPct val="50000"/>
              </a:spcBef>
            </a:pPr>
            <a:r>
              <a:rPr lang="en-US" altLang="zh-CN" sz="2000" b="1" dirty="0">
                <a:solidFill>
                  <a:schemeClr val="bg2"/>
                </a:solidFill>
                <a:ea typeface="楷体_GB2312" pitchFamily="49" charset="-122"/>
              </a:rPr>
              <a:t>A(</a:t>
            </a:r>
            <a:r>
              <a:rPr lang="zh-CN" altLang="en-US" sz="2000" b="1" dirty="0">
                <a:solidFill>
                  <a:schemeClr val="bg2"/>
                </a:solidFill>
                <a:ea typeface="楷体_GB2312" pitchFamily="49" charset="-122"/>
              </a:rPr>
              <a:t>橙</a:t>
            </a:r>
            <a:r>
              <a:rPr lang="en-US" altLang="zh-CN" sz="2000" b="1" dirty="0">
                <a:solidFill>
                  <a:schemeClr val="bg2"/>
                </a:solidFill>
                <a:ea typeface="楷体_GB2312" pitchFamily="49" charset="-122"/>
              </a:rPr>
              <a:t>)=0.2377</a:t>
            </a:r>
          </a:p>
          <a:p>
            <a:pPr eaLnBrk="1" hangingPunct="1">
              <a:spcBef>
                <a:spcPct val="50000"/>
              </a:spcBef>
            </a:pPr>
            <a:r>
              <a:rPr lang="en-US" altLang="zh-CN" sz="2000" b="1" dirty="0">
                <a:solidFill>
                  <a:schemeClr val="bg2"/>
                </a:solidFill>
                <a:ea typeface="楷体_GB2312" pitchFamily="49" charset="-122"/>
              </a:rPr>
              <a:t>A(</a:t>
            </a:r>
            <a:r>
              <a:rPr lang="zh-CN" altLang="en-US" sz="2000" b="1" dirty="0">
                <a:solidFill>
                  <a:schemeClr val="bg2"/>
                </a:solidFill>
                <a:ea typeface="楷体_GB2312" pitchFamily="49" charset="-122"/>
              </a:rPr>
              <a:t>黄</a:t>
            </a:r>
            <a:r>
              <a:rPr lang="en-US" altLang="zh-CN" sz="2000" b="1" dirty="0">
                <a:solidFill>
                  <a:schemeClr val="bg2"/>
                </a:solidFill>
                <a:ea typeface="楷体_GB2312" pitchFamily="49" charset="-122"/>
              </a:rPr>
              <a:t>)=0.1728</a:t>
            </a:r>
          </a:p>
          <a:p>
            <a:pPr eaLnBrk="1" hangingPunct="1">
              <a:spcBef>
                <a:spcPct val="50000"/>
              </a:spcBef>
            </a:pPr>
            <a:r>
              <a:rPr lang="en-US" altLang="zh-CN" sz="2000" b="1" dirty="0">
                <a:solidFill>
                  <a:schemeClr val="bg2"/>
                </a:solidFill>
                <a:ea typeface="楷体_GB2312" pitchFamily="49" charset="-122"/>
              </a:rPr>
              <a:t>A(</a:t>
            </a:r>
            <a:r>
              <a:rPr lang="zh-CN" altLang="en-US" sz="2000" b="1" dirty="0">
                <a:solidFill>
                  <a:schemeClr val="bg2"/>
                </a:solidFill>
                <a:ea typeface="楷体_GB2312" pitchFamily="49" charset="-122"/>
              </a:rPr>
              <a:t>绿</a:t>
            </a:r>
            <a:r>
              <a:rPr lang="en-US" altLang="zh-CN" sz="2000" b="1" dirty="0">
                <a:solidFill>
                  <a:schemeClr val="bg2"/>
                </a:solidFill>
                <a:ea typeface="楷体_GB2312" pitchFamily="49" charset="-122"/>
              </a:rPr>
              <a:t>)=0.2087</a:t>
            </a:r>
          </a:p>
          <a:p>
            <a:pPr eaLnBrk="1" hangingPunct="1">
              <a:spcBef>
                <a:spcPct val="50000"/>
              </a:spcBef>
            </a:pPr>
            <a:r>
              <a:rPr lang="en-US" altLang="zh-CN" sz="2000" b="1" dirty="0">
                <a:solidFill>
                  <a:schemeClr val="bg2"/>
                </a:solidFill>
                <a:ea typeface="楷体_GB2312" pitchFamily="49" charset="-122"/>
              </a:rPr>
              <a:t>A(</a:t>
            </a:r>
            <a:r>
              <a:rPr lang="zh-CN" altLang="en-US" sz="2000" b="1" dirty="0">
                <a:solidFill>
                  <a:schemeClr val="bg2"/>
                </a:solidFill>
                <a:ea typeface="楷体_GB2312" pitchFamily="49" charset="-122"/>
              </a:rPr>
              <a:t>蓝</a:t>
            </a:r>
            <a:r>
              <a:rPr lang="en-US" altLang="zh-CN" sz="2000" b="1" dirty="0">
                <a:solidFill>
                  <a:schemeClr val="bg2"/>
                </a:solidFill>
                <a:ea typeface="楷体_GB2312" pitchFamily="49" charset="-122"/>
              </a:rPr>
              <a:t>)=0.1056</a:t>
            </a:r>
          </a:p>
        </p:txBody>
      </p:sp>
      <p:sp>
        <p:nvSpPr>
          <p:cNvPr id="2" name="灯片编号占位符 1">
            <a:extLst>
              <a:ext uri="{FF2B5EF4-FFF2-40B4-BE49-F238E27FC236}">
                <a16:creationId xmlns:a16="http://schemas.microsoft.com/office/drawing/2014/main" id="{939C998C-1E49-5E0F-A627-CB2C905D525F}"/>
              </a:ext>
            </a:extLst>
          </p:cNvPr>
          <p:cNvSpPr>
            <a:spLocks noGrp="1"/>
          </p:cNvSpPr>
          <p:nvPr>
            <p:ph type="sldNum" sz="quarter" idx="11"/>
          </p:nvPr>
        </p:nvSpPr>
        <p:spPr/>
        <p:txBody>
          <a:bodyPr/>
          <a:lstStyle/>
          <a:p>
            <a:pPr>
              <a:defRPr/>
            </a:pPr>
            <a:fld id="{80D5EF37-78AF-4CB4-937F-E187B8314658}" type="slidenum">
              <a:rPr lang="en-US" altLang="zh-CN" smtClean="0"/>
              <a:pPr>
                <a:defRPr/>
              </a:pPr>
              <a:t>14</a:t>
            </a:fld>
            <a:endParaRPr lang="en-US" altLang="zh-CN"/>
          </a:p>
        </p:txBody>
      </p:sp>
    </p:spTree>
    <p:extLst>
      <p:ext uri="{BB962C8B-B14F-4D97-AF65-F5344CB8AC3E}">
        <p14:creationId xmlns:p14="http://schemas.microsoft.com/office/powerpoint/2010/main" val="4001863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016"/>
                                        </p:tgtEl>
                                        <p:attrNameLst>
                                          <p:attrName>style.visibility</p:attrName>
                                        </p:attrNameLst>
                                      </p:cBhvr>
                                      <p:to>
                                        <p:strVal val="visible"/>
                                      </p:to>
                                    </p:set>
                                    <p:anim calcmode="lin" valueType="num">
                                      <p:cBhvr additive="base">
                                        <p:cTn id="7" dur="500" fill="hold"/>
                                        <p:tgtEl>
                                          <p:spTgt spid="40016"/>
                                        </p:tgtEl>
                                        <p:attrNameLst>
                                          <p:attrName>ppt_x</p:attrName>
                                        </p:attrNameLst>
                                      </p:cBhvr>
                                      <p:tavLst>
                                        <p:tav tm="0">
                                          <p:val>
                                            <p:strVal val="#ppt_x"/>
                                          </p:val>
                                        </p:tav>
                                        <p:tav tm="100000">
                                          <p:val>
                                            <p:strVal val="#ppt_x"/>
                                          </p:val>
                                        </p:tav>
                                      </p:tavLst>
                                    </p:anim>
                                    <p:anim calcmode="lin" valueType="num">
                                      <p:cBhvr additive="base">
                                        <p:cTn id="8" dur="500" fill="hold"/>
                                        <p:tgtEl>
                                          <p:spTgt spid="400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0066"/>
                                        </p:tgtEl>
                                        <p:attrNameLst>
                                          <p:attrName>style.visibility</p:attrName>
                                        </p:attrNameLst>
                                      </p:cBhvr>
                                      <p:to>
                                        <p:strVal val="visible"/>
                                      </p:to>
                                    </p:set>
                                    <p:anim calcmode="lin" valueType="num">
                                      <p:cBhvr additive="base">
                                        <p:cTn id="13" dur="500" fill="hold"/>
                                        <p:tgtEl>
                                          <p:spTgt spid="40066"/>
                                        </p:tgtEl>
                                        <p:attrNameLst>
                                          <p:attrName>ppt_x</p:attrName>
                                        </p:attrNameLst>
                                      </p:cBhvr>
                                      <p:tavLst>
                                        <p:tav tm="0">
                                          <p:val>
                                            <p:strVal val="#ppt_x"/>
                                          </p:val>
                                        </p:tav>
                                        <p:tav tm="100000">
                                          <p:val>
                                            <p:strVal val="#ppt_x"/>
                                          </p:val>
                                        </p:tav>
                                      </p:tavLst>
                                    </p:anim>
                                    <p:anim calcmode="lin" valueType="num">
                                      <p:cBhvr additive="base">
                                        <p:cTn id="14" dur="500" fill="hold"/>
                                        <p:tgtEl>
                                          <p:spTgt spid="40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457200"/>
            <a:ext cx="8229600" cy="1100138"/>
          </a:xfrm>
        </p:spPr>
        <p:txBody>
          <a:bodyPr/>
          <a:lstStyle/>
          <a:p>
            <a:pPr algn="ctr" eaLnBrk="1" hangingPunct="1"/>
            <a:r>
              <a:rPr lang="zh-CN" altLang="en-US">
                <a:solidFill>
                  <a:srgbClr val="008000"/>
                </a:solidFill>
                <a:ea typeface="黑体" pitchFamily="49" charset="-122"/>
              </a:rPr>
              <a:t>隶属函数确定方法</a:t>
            </a:r>
            <a:r>
              <a:rPr lang="en-US" altLang="zh-CN">
                <a:solidFill>
                  <a:srgbClr val="008000"/>
                </a:solidFill>
                <a:ea typeface="黑体" pitchFamily="49" charset="-122"/>
              </a:rPr>
              <a:t>6</a:t>
            </a:r>
            <a:r>
              <a:rPr lang="zh-CN" altLang="en-US">
                <a:solidFill>
                  <a:srgbClr val="008000"/>
                </a:solidFill>
                <a:ea typeface="黑体" pitchFamily="49" charset="-122"/>
              </a:rPr>
              <a:t>：</a:t>
            </a:r>
            <a:r>
              <a:rPr lang="en-US" altLang="zh-CN">
                <a:solidFill>
                  <a:srgbClr val="008000"/>
                </a:solidFill>
                <a:ea typeface="黑体" pitchFamily="49" charset="-122"/>
              </a:rPr>
              <a:t>F</a:t>
            </a:r>
            <a:r>
              <a:rPr lang="zh-CN" altLang="en-US">
                <a:solidFill>
                  <a:srgbClr val="008000"/>
                </a:solidFill>
                <a:ea typeface="黑体" pitchFamily="49" charset="-122"/>
              </a:rPr>
              <a:t>分布法</a:t>
            </a:r>
          </a:p>
        </p:txBody>
      </p:sp>
      <p:sp>
        <p:nvSpPr>
          <p:cNvPr id="41987" name="Rectangle 3"/>
          <p:cNvSpPr>
            <a:spLocks noGrp="1" noChangeArrowheads="1"/>
          </p:cNvSpPr>
          <p:nvPr>
            <p:ph type="body" idx="1"/>
          </p:nvPr>
        </p:nvSpPr>
        <p:spPr>
          <a:xfrm>
            <a:off x="1199456" y="1484314"/>
            <a:ext cx="10009112" cy="5373687"/>
          </a:xfrm>
        </p:spPr>
        <p:txBody>
          <a:bodyPr/>
          <a:lstStyle/>
          <a:p>
            <a:pPr eaLnBrk="1" hangingPunct="1"/>
            <a:r>
              <a:rPr lang="zh-CN" altLang="en-US" dirty="0">
                <a:solidFill>
                  <a:schemeClr val="bg2"/>
                </a:solidFill>
                <a:ea typeface="黑体" pitchFamily="49" charset="-122"/>
              </a:rPr>
              <a:t>把</a:t>
            </a:r>
            <a:r>
              <a:rPr lang="zh-CN" altLang="en-US" u="sng" dirty="0">
                <a:solidFill>
                  <a:schemeClr val="bg2"/>
                </a:solidFill>
                <a:ea typeface="黑体" pitchFamily="49" charset="-122"/>
              </a:rPr>
              <a:t>实数</a:t>
            </a:r>
            <a:r>
              <a:rPr lang="en-US" altLang="zh-CN" u="sng" dirty="0">
                <a:solidFill>
                  <a:schemeClr val="bg2"/>
                </a:solidFill>
                <a:ea typeface="黑体" pitchFamily="49" charset="-122"/>
              </a:rPr>
              <a:t>R</a:t>
            </a:r>
            <a:r>
              <a:rPr lang="zh-CN" altLang="en-US" dirty="0">
                <a:solidFill>
                  <a:schemeClr val="bg2"/>
                </a:solidFill>
                <a:ea typeface="黑体" pitchFamily="49" charset="-122"/>
              </a:rPr>
              <a:t>上</a:t>
            </a:r>
            <a:r>
              <a:rPr lang="en-US" altLang="zh-CN" dirty="0">
                <a:solidFill>
                  <a:schemeClr val="bg2"/>
                </a:solidFill>
                <a:ea typeface="黑体" pitchFamily="49" charset="-122"/>
              </a:rPr>
              <a:t>F</a:t>
            </a:r>
            <a:r>
              <a:rPr lang="zh-CN" altLang="en-US" dirty="0">
                <a:solidFill>
                  <a:schemeClr val="bg2"/>
                </a:solidFill>
                <a:ea typeface="黑体" pitchFamily="49" charset="-122"/>
              </a:rPr>
              <a:t>集的隶属函数称为</a:t>
            </a:r>
            <a:r>
              <a:rPr lang="en-US" altLang="zh-CN" dirty="0">
                <a:solidFill>
                  <a:srgbClr val="FF0000"/>
                </a:solidFill>
                <a:ea typeface="黑体" pitchFamily="49" charset="-122"/>
              </a:rPr>
              <a:t>F</a:t>
            </a:r>
            <a:r>
              <a:rPr lang="zh-CN" altLang="en-US" dirty="0">
                <a:solidFill>
                  <a:srgbClr val="FF0000"/>
                </a:solidFill>
                <a:ea typeface="黑体" pitchFamily="49" charset="-122"/>
              </a:rPr>
              <a:t>分布</a:t>
            </a:r>
          </a:p>
          <a:p>
            <a:pPr eaLnBrk="1" hangingPunct="1"/>
            <a:r>
              <a:rPr lang="en-US" altLang="zh-CN" dirty="0">
                <a:ea typeface="黑体" pitchFamily="49" charset="-122"/>
              </a:rPr>
              <a:t>F</a:t>
            </a:r>
            <a:r>
              <a:rPr lang="zh-CN" altLang="en-US" dirty="0">
                <a:ea typeface="黑体" pitchFamily="49" charset="-122"/>
              </a:rPr>
              <a:t>分布的三种类型：</a:t>
            </a:r>
          </a:p>
          <a:p>
            <a:pPr lvl="1" eaLnBrk="1" hangingPunct="1">
              <a:lnSpc>
                <a:spcPct val="130000"/>
              </a:lnSpc>
            </a:pPr>
            <a:r>
              <a:rPr lang="zh-CN" altLang="en-US" dirty="0">
                <a:solidFill>
                  <a:srgbClr val="FF0000"/>
                </a:solidFill>
                <a:ea typeface="黑体" pitchFamily="49" charset="-122"/>
              </a:rPr>
              <a:t>偏小型</a:t>
            </a:r>
            <a:endParaRPr lang="en-US" altLang="zh-CN" dirty="0">
              <a:solidFill>
                <a:srgbClr val="FF0000"/>
              </a:solidFill>
              <a:ea typeface="黑体" pitchFamily="49" charset="-122"/>
            </a:endParaRPr>
          </a:p>
          <a:p>
            <a:pPr lvl="2" eaLnBrk="1" hangingPunct="1">
              <a:lnSpc>
                <a:spcPct val="130000"/>
              </a:lnSpc>
            </a:pPr>
            <a:r>
              <a:rPr lang="zh-CN" altLang="en-US" sz="2800" dirty="0">
                <a:ea typeface="黑体" pitchFamily="49" charset="-122"/>
              </a:rPr>
              <a:t>小、冷、年轻</a:t>
            </a:r>
            <a:endParaRPr lang="en-US" altLang="zh-CN" sz="2800" dirty="0">
              <a:ea typeface="黑体" pitchFamily="49" charset="-122"/>
            </a:endParaRPr>
          </a:p>
          <a:p>
            <a:pPr lvl="1" eaLnBrk="1" hangingPunct="1">
              <a:lnSpc>
                <a:spcPct val="130000"/>
              </a:lnSpc>
            </a:pPr>
            <a:r>
              <a:rPr lang="zh-CN" altLang="en-US" dirty="0">
                <a:solidFill>
                  <a:srgbClr val="0000FF"/>
                </a:solidFill>
                <a:ea typeface="黑体" pitchFamily="49" charset="-122"/>
              </a:rPr>
              <a:t>中间型</a:t>
            </a:r>
            <a:endParaRPr lang="en-US" altLang="zh-CN" dirty="0">
              <a:solidFill>
                <a:srgbClr val="0000FF"/>
              </a:solidFill>
              <a:ea typeface="黑体" pitchFamily="49" charset="-122"/>
            </a:endParaRPr>
          </a:p>
          <a:p>
            <a:pPr lvl="2" eaLnBrk="1" hangingPunct="1">
              <a:lnSpc>
                <a:spcPct val="130000"/>
              </a:lnSpc>
            </a:pPr>
            <a:r>
              <a:rPr lang="zh-CN" altLang="en-US" sz="2800" dirty="0">
                <a:ea typeface="黑体" pitchFamily="49" charset="-122"/>
              </a:rPr>
              <a:t>中、暖、中年</a:t>
            </a:r>
            <a:endParaRPr lang="en-US" altLang="zh-CN" sz="2800" dirty="0">
              <a:ea typeface="黑体" pitchFamily="49" charset="-122"/>
            </a:endParaRPr>
          </a:p>
          <a:p>
            <a:pPr lvl="1" eaLnBrk="1" hangingPunct="1">
              <a:lnSpc>
                <a:spcPct val="130000"/>
              </a:lnSpc>
            </a:pPr>
            <a:r>
              <a:rPr lang="zh-CN" altLang="en-US" dirty="0">
                <a:solidFill>
                  <a:srgbClr val="CC00CC"/>
                </a:solidFill>
                <a:ea typeface="黑体" pitchFamily="49" charset="-122"/>
              </a:rPr>
              <a:t>偏大型</a:t>
            </a:r>
            <a:endParaRPr lang="en-US" altLang="zh-CN" dirty="0">
              <a:solidFill>
                <a:srgbClr val="CC00CC"/>
              </a:solidFill>
              <a:ea typeface="黑体" pitchFamily="49" charset="-122"/>
            </a:endParaRPr>
          </a:p>
          <a:p>
            <a:pPr lvl="2" eaLnBrk="1" hangingPunct="1">
              <a:lnSpc>
                <a:spcPct val="130000"/>
              </a:lnSpc>
            </a:pPr>
            <a:r>
              <a:rPr lang="zh-CN" altLang="en-US" sz="2800" dirty="0">
                <a:ea typeface="黑体" pitchFamily="49" charset="-122"/>
              </a:rPr>
              <a:t>大、热、年老</a:t>
            </a:r>
          </a:p>
        </p:txBody>
      </p:sp>
      <p:graphicFrame>
        <p:nvGraphicFramePr>
          <p:cNvPr id="4" name="Object 4"/>
          <p:cNvGraphicFramePr>
            <a:graphicFrameLocks noChangeAspect="1"/>
          </p:cNvGraphicFramePr>
          <p:nvPr/>
        </p:nvGraphicFramePr>
        <p:xfrm>
          <a:off x="6115567" y="2759666"/>
          <a:ext cx="3265402" cy="1076631"/>
        </p:xfrm>
        <a:graphic>
          <a:graphicData uri="http://schemas.openxmlformats.org/presentationml/2006/ole">
            <mc:AlternateContent xmlns:mc="http://schemas.openxmlformats.org/markup-compatibility/2006">
              <mc:Choice xmlns:v="urn:schemas-microsoft-com:vml" Requires="v">
                <p:oleObj name="Equation" r:id="rId3" imgW="1447560" imgH="457200" progId="Equation.DSMT4">
                  <p:embed/>
                </p:oleObj>
              </mc:Choice>
              <mc:Fallback>
                <p:oleObj name="Equation" r:id="rId3" imgW="1447560" imgH="457200" progId="Equation.DSMT4">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567" y="2759666"/>
                        <a:ext cx="3265402" cy="1076631"/>
                      </a:xfrm>
                      <a:prstGeom prst="rect">
                        <a:avLst/>
                      </a:prstGeom>
                      <a:solidFill>
                        <a:srgbClr val="FFCCFF"/>
                      </a:solidFill>
                      <a:ln>
                        <a:noFill/>
                      </a:ln>
                      <a:effectLst/>
                    </p:spPr>
                  </p:pic>
                </p:oleObj>
              </mc:Fallback>
            </mc:AlternateContent>
          </a:graphicData>
        </a:graphic>
      </p:graphicFrame>
      <p:graphicFrame>
        <p:nvGraphicFramePr>
          <p:cNvPr id="5" name="Object 4"/>
          <p:cNvGraphicFramePr>
            <a:graphicFrameLocks noChangeAspect="1"/>
          </p:cNvGraphicFramePr>
          <p:nvPr/>
        </p:nvGraphicFramePr>
        <p:xfrm>
          <a:off x="6140608" y="5604216"/>
          <a:ext cx="3240360" cy="1060824"/>
        </p:xfrm>
        <a:graphic>
          <a:graphicData uri="http://schemas.openxmlformats.org/presentationml/2006/ole">
            <mc:AlternateContent xmlns:mc="http://schemas.openxmlformats.org/markup-compatibility/2006">
              <mc:Choice xmlns:v="urn:schemas-microsoft-com:vml" Requires="v">
                <p:oleObj name="Equation" r:id="rId5" imgW="1460160" imgH="457200" progId="Equation.DSMT4">
                  <p:embed/>
                </p:oleObj>
              </mc:Choice>
              <mc:Fallback>
                <p:oleObj name="Equation" r:id="rId5" imgW="1460160" imgH="457200" progId="Equation.DSMT4">
                  <p:embed/>
                  <p:pic>
                    <p:nvPicPr>
                      <p:cNvPr id="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0608" y="5604216"/>
                        <a:ext cx="3240360" cy="1060824"/>
                      </a:xfrm>
                      <a:prstGeom prst="rect">
                        <a:avLst/>
                      </a:prstGeom>
                      <a:solidFill>
                        <a:schemeClr val="folHlink"/>
                      </a:solidFill>
                      <a:ln>
                        <a:noFill/>
                      </a:ln>
                      <a:effectLst/>
                    </p:spPr>
                  </p:pic>
                </p:oleObj>
              </mc:Fallback>
            </mc:AlternateContent>
          </a:graphicData>
        </a:graphic>
      </p:graphicFrame>
      <p:graphicFrame>
        <p:nvGraphicFramePr>
          <p:cNvPr id="6" name="Object 4"/>
          <p:cNvGraphicFramePr>
            <a:graphicFrameLocks noChangeAspect="1"/>
          </p:cNvGraphicFramePr>
          <p:nvPr/>
        </p:nvGraphicFramePr>
        <p:xfrm>
          <a:off x="6151414" y="4005065"/>
          <a:ext cx="3229554" cy="1442313"/>
        </p:xfrm>
        <a:graphic>
          <a:graphicData uri="http://schemas.openxmlformats.org/presentationml/2006/ole">
            <mc:AlternateContent xmlns:mc="http://schemas.openxmlformats.org/markup-compatibility/2006">
              <mc:Choice xmlns:v="urn:schemas-microsoft-com:vml" Requires="v">
                <p:oleObj name="Equation" r:id="rId7" imgW="1663560" imgH="711000" progId="Equation.DSMT4">
                  <p:embed/>
                </p:oleObj>
              </mc:Choice>
              <mc:Fallback>
                <p:oleObj name="Equation" r:id="rId7" imgW="1663560" imgH="711000" progId="Equation.DSMT4">
                  <p:embed/>
                  <p:pic>
                    <p:nvPicPr>
                      <p:cNvPr id="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1414" y="4005065"/>
                        <a:ext cx="3229554" cy="1442313"/>
                      </a:xfrm>
                      <a:prstGeom prst="rect">
                        <a:avLst/>
                      </a:prstGeom>
                      <a:solidFill>
                        <a:srgbClr val="66FFFF"/>
                      </a:solidFill>
                      <a:ln>
                        <a:noFill/>
                      </a:ln>
                      <a:effectLst/>
                    </p:spPr>
                  </p:pic>
                </p:oleObj>
              </mc:Fallback>
            </mc:AlternateContent>
          </a:graphicData>
        </a:graphic>
      </p:graphicFrame>
      <p:sp>
        <p:nvSpPr>
          <p:cNvPr id="2" name="矩形 1"/>
          <p:cNvSpPr/>
          <p:nvPr/>
        </p:nvSpPr>
        <p:spPr>
          <a:xfrm>
            <a:off x="9904746" y="4495388"/>
            <a:ext cx="2175596" cy="461665"/>
          </a:xfrm>
          <a:prstGeom prst="rect">
            <a:avLst/>
          </a:prstGeom>
        </p:spPr>
        <p:txBody>
          <a:bodyPr wrap="none">
            <a:spAutoFit/>
          </a:bodyPr>
          <a:lstStyle/>
          <a:p>
            <a:r>
              <a:rPr lang="zh-CN" altLang="en-US" sz="2400" b="1" dirty="0">
                <a:solidFill>
                  <a:srgbClr val="008000"/>
                </a:solidFill>
                <a:effectLst>
                  <a:outerShdw blurRad="38100" dist="38100" dir="2700000" algn="tl">
                    <a:srgbClr val="000000">
                      <a:alpha val="43137"/>
                    </a:srgbClr>
                  </a:outerShdw>
                </a:effectLst>
              </a:rPr>
              <a:t>其中</a:t>
            </a:r>
            <a:r>
              <a:rPr lang="en-US" altLang="zh-CN" sz="2400" b="1" i="1" dirty="0" err="1">
                <a:solidFill>
                  <a:srgbClr val="008000"/>
                </a:solidFill>
                <a:effectLst>
                  <a:outerShdw blurRad="38100" dist="38100" dir="2700000" algn="tl">
                    <a:srgbClr val="000000">
                      <a:alpha val="43137"/>
                    </a:srgbClr>
                  </a:outerShdw>
                </a:effectLst>
              </a:rPr>
              <a:t>a</a:t>
            </a:r>
            <a:r>
              <a:rPr lang="en-US" altLang="zh-CN" sz="2400" b="1" dirty="0" err="1">
                <a:solidFill>
                  <a:srgbClr val="008000"/>
                </a:solidFill>
                <a:effectLst>
                  <a:outerShdw blurRad="38100" dist="38100" dir="2700000" algn="tl">
                    <a:srgbClr val="000000">
                      <a:alpha val="43137"/>
                    </a:srgbClr>
                  </a:outerShdw>
                </a:effectLst>
              </a:rPr>
              <a:t>,</a:t>
            </a:r>
            <a:r>
              <a:rPr lang="en-US" altLang="zh-CN" sz="2400" b="1" i="1" dirty="0" err="1">
                <a:solidFill>
                  <a:srgbClr val="008000"/>
                </a:solidFill>
                <a:effectLst>
                  <a:outerShdw blurRad="38100" dist="38100" dir="2700000" algn="tl">
                    <a:srgbClr val="000000">
                      <a:alpha val="43137"/>
                    </a:srgbClr>
                  </a:outerShdw>
                </a:effectLst>
              </a:rPr>
              <a:t>b</a:t>
            </a:r>
            <a:r>
              <a:rPr lang="zh-CN" altLang="en-US" sz="2400" b="1" dirty="0">
                <a:solidFill>
                  <a:srgbClr val="008000"/>
                </a:solidFill>
                <a:effectLst>
                  <a:outerShdw blurRad="38100" dist="38100" dir="2700000" algn="tl">
                    <a:srgbClr val="000000">
                      <a:alpha val="43137"/>
                    </a:srgbClr>
                  </a:outerShdw>
                </a:effectLst>
              </a:rPr>
              <a:t>为常数</a:t>
            </a:r>
          </a:p>
        </p:txBody>
      </p:sp>
      <p:sp>
        <p:nvSpPr>
          <p:cNvPr id="3" name="灯片编号占位符 2">
            <a:extLst>
              <a:ext uri="{FF2B5EF4-FFF2-40B4-BE49-F238E27FC236}">
                <a16:creationId xmlns:a16="http://schemas.microsoft.com/office/drawing/2014/main" id="{16114453-7AFE-528D-4128-89617EE8C3F1}"/>
              </a:ext>
            </a:extLst>
          </p:cNvPr>
          <p:cNvSpPr>
            <a:spLocks noGrp="1"/>
          </p:cNvSpPr>
          <p:nvPr>
            <p:ph type="sldNum" sz="quarter" idx="11"/>
          </p:nvPr>
        </p:nvSpPr>
        <p:spPr/>
        <p:txBody>
          <a:bodyPr/>
          <a:lstStyle/>
          <a:p>
            <a:pPr>
              <a:defRPr/>
            </a:pPr>
            <a:fld id="{E0FB5469-1AEB-496D-971A-66705BF2F73C}" type="slidenum">
              <a:rPr lang="en-US" altLang="zh-CN" smtClean="0"/>
              <a:pPr>
                <a:defRPr/>
              </a:pPr>
              <a:t>15</a:t>
            </a:fld>
            <a:endParaRPr lang="en-US" altLang="zh-CN"/>
          </a:p>
        </p:txBody>
      </p:sp>
    </p:spTree>
    <p:extLst>
      <p:ext uri="{BB962C8B-B14F-4D97-AF65-F5344CB8AC3E}">
        <p14:creationId xmlns:p14="http://schemas.microsoft.com/office/powerpoint/2010/main" val="15727012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wipe(up)">
                                      <p:cBhvr>
                                        <p:cTn id="7" dur="500"/>
                                        <p:tgtEl>
                                          <p:spTgt spid="41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Effect transition="in" filter="wipe(up)">
                                      <p:cBhvr>
                                        <p:cTn id="12" dur="500"/>
                                        <p:tgtEl>
                                          <p:spTgt spid="419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Effect transition="in" filter="wipe(up)">
                                      <p:cBhvr>
                                        <p:cTn id="17" dur="500"/>
                                        <p:tgtEl>
                                          <p:spTgt spid="419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1+#ppt_w/2"/>
                                          </p:val>
                                        </p:tav>
                                        <p:tav tm="100000">
                                          <p:val>
                                            <p:strVal val="#ppt_x"/>
                                          </p:val>
                                        </p:tav>
                                      </p:tavLst>
                                    </p:anim>
                                    <p:anim calcmode="lin" valueType="num">
                                      <p:cBhvr additive="base">
                                        <p:cTn id="23"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1987">
                                            <p:txEl>
                                              <p:pRg st="3" end="3"/>
                                            </p:txEl>
                                          </p:spTgt>
                                        </p:tgtEl>
                                        <p:attrNameLst>
                                          <p:attrName>style.visibility</p:attrName>
                                        </p:attrNameLst>
                                      </p:cBhvr>
                                      <p:to>
                                        <p:strVal val="visible"/>
                                      </p:to>
                                    </p:set>
                                    <p:animEffect transition="in" filter="wipe(up)">
                                      <p:cBhvr>
                                        <p:cTn id="28" dur="500"/>
                                        <p:tgtEl>
                                          <p:spTgt spid="4198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1987">
                                            <p:txEl>
                                              <p:pRg st="4" end="4"/>
                                            </p:txEl>
                                          </p:spTgt>
                                        </p:tgtEl>
                                        <p:attrNameLst>
                                          <p:attrName>style.visibility</p:attrName>
                                        </p:attrNameLst>
                                      </p:cBhvr>
                                      <p:to>
                                        <p:strVal val="visible"/>
                                      </p:to>
                                    </p:set>
                                    <p:animEffect transition="in" filter="wipe(up)">
                                      <p:cBhvr>
                                        <p:cTn id="33" dur="500"/>
                                        <p:tgtEl>
                                          <p:spTgt spid="41987">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additive="base">
                                        <p:cTn id="38" dur="500" fill="hold"/>
                                        <p:tgtEl>
                                          <p:spTgt spid="6"/>
                                        </p:tgtEl>
                                        <p:attrNameLst>
                                          <p:attrName>ppt_x</p:attrName>
                                        </p:attrNameLst>
                                      </p:cBhvr>
                                      <p:tavLst>
                                        <p:tav tm="0">
                                          <p:val>
                                            <p:strVal val="1+#ppt_w/2"/>
                                          </p:val>
                                        </p:tav>
                                        <p:tav tm="100000">
                                          <p:val>
                                            <p:strVal val="#ppt_x"/>
                                          </p:val>
                                        </p:tav>
                                      </p:tavLst>
                                    </p:anim>
                                    <p:anim calcmode="lin" valueType="num">
                                      <p:cBhvr additive="base">
                                        <p:cTn id="3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additive="base">
                                        <p:cTn id="44" dur="500" fill="hold"/>
                                        <p:tgtEl>
                                          <p:spTgt spid="2"/>
                                        </p:tgtEl>
                                        <p:attrNameLst>
                                          <p:attrName>ppt_x</p:attrName>
                                        </p:attrNameLst>
                                      </p:cBhvr>
                                      <p:tavLst>
                                        <p:tav tm="0">
                                          <p:val>
                                            <p:strVal val="#ppt_x"/>
                                          </p:val>
                                        </p:tav>
                                        <p:tav tm="100000">
                                          <p:val>
                                            <p:strVal val="#ppt_x"/>
                                          </p:val>
                                        </p:tav>
                                      </p:tavLst>
                                    </p:anim>
                                    <p:anim calcmode="lin" valueType="num">
                                      <p:cBhvr additive="base">
                                        <p:cTn id="4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41987">
                                            <p:txEl>
                                              <p:pRg st="5" end="5"/>
                                            </p:txEl>
                                          </p:spTgt>
                                        </p:tgtEl>
                                        <p:attrNameLst>
                                          <p:attrName>style.visibility</p:attrName>
                                        </p:attrNameLst>
                                      </p:cBhvr>
                                      <p:to>
                                        <p:strVal val="visible"/>
                                      </p:to>
                                    </p:set>
                                    <p:animEffect transition="in" filter="wipe(up)">
                                      <p:cBhvr>
                                        <p:cTn id="50" dur="500"/>
                                        <p:tgtEl>
                                          <p:spTgt spid="41987">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41987">
                                            <p:txEl>
                                              <p:pRg st="6" end="6"/>
                                            </p:txEl>
                                          </p:spTgt>
                                        </p:tgtEl>
                                        <p:attrNameLst>
                                          <p:attrName>style.visibility</p:attrName>
                                        </p:attrNameLst>
                                      </p:cBhvr>
                                      <p:to>
                                        <p:strVal val="visible"/>
                                      </p:to>
                                    </p:set>
                                    <p:animEffect transition="in" filter="wipe(up)">
                                      <p:cBhvr>
                                        <p:cTn id="55" dur="500"/>
                                        <p:tgtEl>
                                          <p:spTgt spid="41987">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6"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 calcmode="lin" valueType="num">
                                      <p:cBhvr additive="base">
                                        <p:cTn id="60" dur="500" fill="hold"/>
                                        <p:tgtEl>
                                          <p:spTgt spid="5"/>
                                        </p:tgtEl>
                                        <p:attrNameLst>
                                          <p:attrName>ppt_x</p:attrName>
                                        </p:attrNameLst>
                                      </p:cBhvr>
                                      <p:tavLst>
                                        <p:tav tm="0">
                                          <p:val>
                                            <p:strVal val="1+#ppt_w/2"/>
                                          </p:val>
                                        </p:tav>
                                        <p:tav tm="100000">
                                          <p:val>
                                            <p:strVal val="#ppt_x"/>
                                          </p:val>
                                        </p:tav>
                                      </p:tavLst>
                                    </p:anim>
                                    <p:anim calcmode="lin" valueType="num">
                                      <p:cBhvr additive="base">
                                        <p:cTn id="6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41987">
                                            <p:txEl>
                                              <p:pRg st="7" end="7"/>
                                            </p:txEl>
                                          </p:spTgt>
                                        </p:tgtEl>
                                        <p:attrNameLst>
                                          <p:attrName>style.visibility</p:attrName>
                                        </p:attrNameLst>
                                      </p:cBhvr>
                                      <p:to>
                                        <p:strVal val="visible"/>
                                      </p:to>
                                    </p:set>
                                    <p:animEffect transition="in" filter="wipe(up)">
                                      <p:cBhvr>
                                        <p:cTn id="66" dur="500"/>
                                        <p:tgtEl>
                                          <p:spTgt spid="419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p:bldP spid="2" grpId="0" uiExpan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457200"/>
            <a:ext cx="8229600" cy="1100138"/>
          </a:xfrm>
        </p:spPr>
        <p:txBody>
          <a:bodyPr/>
          <a:lstStyle/>
          <a:p>
            <a:pPr algn="ctr" eaLnBrk="1" hangingPunct="1"/>
            <a:r>
              <a:rPr lang="zh-CN" altLang="en-US">
                <a:solidFill>
                  <a:srgbClr val="008000"/>
                </a:solidFill>
                <a:ea typeface="黑体" pitchFamily="49" charset="-122"/>
              </a:rPr>
              <a:t>隶属函数确定方法</a:t>
            </a:r>
            <a:r>
              <a:rPr lang="en-US" altLang="zh-CN">
                <a:solidFill>
                  <a:srgbClr val="008000"/>
                </a:solidFill>
                <a:ea typeface="黑体" pitchFamily="49" charset="-122"/>
              </a:rPr>
              <a:t>6</a:t>
            </a:r>
            <a:r>
              <a:rPr lang="zh-CN" altLang="en-US">
                <a:solidFill>
                  <a:srgbClr val="008000"/>
                </a:solidFill>
                <a:ea typeface="黑体" pitchFamily="49" charset="-122"/>
              </a:rPr>
              <a:t>：</a:t>
            </a:r>
            <a:r>
              <a:rPr lang="en-US" altLang="zh-CN">
                <a:solidFill>
                  <a:srgbClr val="008000"/>
                </a:solidFill>
                <a:ea typeface="黑体" pitchFamily="49" charset="-122"/>
              </a:rPr>
              <a:t>F</a:t>
            </a:r>
            <a:r>
              <a:rPr lang="zh-CN" altLang="en-US">
                <a:solidFill>
                  <a:srgbClr val="008000"/>
                </a:solidFill>
                <a:ea typeface="黑体" pitchFamily="49" charset="-122"/>
              </a:rPr>
              <a:t>分布法</a:t>
            </a:r>
          </a:p>
        </p:txBody>
      </p:sp>
      <p:sp>
        <p:nvSpPr>
          <p:cNvPr id="41987" name="Rectangle 3"/>
          <p:cNvSpPr>
            <a:spLocks noGrp="1" noChangeArrowheads="1"/>
          </p:cNvSpPr>
          <p:nvPr>
            <p:ph type="body" idx="1"/>
          </p:nvPr>
        </p:nvSpPr>
        <p:spPr>
          <a:xfrm>
            <a:off x="1055440" y="1484314"/>
            <a:ext cx="9217273" cy="5373687"/>
          </a:xfrm>
        </p:spPr>
        <p:txBody>
          <a:bodyPr/>
          <a:lstStyle/>
          <a:p>
            <a:pPr eaLnBrk="1" hangingPunct="1">
              <a:lnSpc>
                <a:spcPct val="120000"/>
              </a:lnSpc>
            </a:pPr>
            <a:r>
              <a:rPr lang="zh-CN" altLang="en-US" dirty="0">
                <a:ea typeface="黑体" pitchFamily="49" charset="-122"/>
              </a:rPr>
              <a:t>常用的几种</a:t>
            </a:r>
            <a:r>
              <a:rPr lang="en-US" altLang="zh-CN" dirty="0">
                <a:ea typeface="黑体" pitchFamily="49" charset="-122"/>
              </a:rPr>
              <a:t>F</a:t>
            </a:r>
            <a:r>
              <a:rPr lang="zh-CN" altLang="en-US" dirty="0">
                <a:ea typeface="黑体" pitchFamily="49" charset="-122"/>
              </a:rPr>
              <a:t>分布类型（</a:t>
            </a:r>
            <a:r>
              <a:rPr lang="en-US" altLang="zh-CN" dirty="0">
                <a:ea typeface="黑体" pitchFamily="49" charset="-122"/>
              </a:rPr>
              <a:t>P49~52</a:t>
            </a:r>
            <a:r>
              <a:rPr lang="zh-CN" altLang="en-US" dirty="0">
                <a:ea typeface="黑体" pitchFamily="49" charset="-122"/>
              </a:rPr>
              <a:t>）</a:t>
            </a:r>
          </a:p>
          <a:p>
            <a:pPr lvl="1" eaLnBrk="1" hangingPunct="1">
              <a:lnSpc>
                <a:spcPct val="120000"/>
              </a:lnSpc>
            </a:pPr>
            <a:r>
              <a:rPr lang="zh-CN" altLang="en-US" sz="3200" dirty="0">
                <a:solidFill>
                  <a:srgbClr val="008000"/>
                </a:solidFill>
                <a:ea typeface="黑体" pitchFamily="49" charset="-122"/>
              </a:rPr>
              <a:t>矩形分布与半矩形分布</a:t>
            </a:r>
            <a:r>
              <a:rPr lang="zh-CN" altLang="en-US" sz="3200" dirty="0">
                <a:ea typeface="黑体" pitchFamily="49" charset="-122"/>
              </a:rPr>
              <a:t>（参数：</a:t>
            </a:r>
            <a:r>
              <a:rPr lang="en-US" altLang="zh-CN" sz="3200" dirty="0">
                <a:ea typeface="黑体" pitchFamily="49" charset="-122"/>
              </a:rPr>
              <a:t>a, b</a:t>
            </a:r>
            <a:r>
              <a:rPr lang="zh-CN" altLang="en-US" sz="3200" dirty="0">
                <a:ea typeface="黑体" pitchFamily="49" charset="-122"/>
              </a:rPr>
              <a:t>）</a:t>
            </a:r>
            <a:endParaRPr lang="zh-CN" altLang="en-US" dirty="0">
              <a:ea typeface="黑体" pitchFamily="49" charset="-122"/>
            </a:endParaRPr>
          </a:p>
          <a:p>
            <a:pPr lvl="1" eaLnBrk="1" hangingPunct="1">
              <a:lnSpc>
                <a:spcPct val="120000"/>
              </a:lnSpc>
            </a:pPr>
            <a:r>
              <a:rPr lang="zh-CN" altLang="en-US" sz="3200" dirty="0">
                <a:solidFill>
                  <a:srgbClr val="008000"/>
                </a:solidFill>
                <a:ea typeface="黑体" pitchFamily="49" charset="-122"/>
              </a:rPr>
              <a:t>梯形分布与半梯形分布</a:t>
            </a:r>
            <a:r>
              <a:rPr lang="zh-CN" altLang="en-US" sz="3200" dirty="0">
                <a:ea typeface="黑体" pitchFamily="49" charset="-122"/>
              </a:rPr>
              <a:t>（参数：</a:t>
            </a:r>
            <a:r>
              <a:rPr lang="en-US" altLang="zh-CN" sz="3200" dirty="0">
                <a:ea typeface="黑体" pitchFamily="49" charset="-122"/>
              </a:rPr>
              <a:t>a, b, c, d</a:t>
            </a:r>
            <a:r>
              <a:rPr lang="zh-CN" altLang="en-US" sz="3200" dirty="0">
                <a:ea typeface="黑体" pitchFamily="49" charset="-122"/>
              </a:rPr>
              <a:t>）</a:t>
            </a:r>
            <a:endParaRPr lang="zh-CN" altLang="en-US" dirty="0">
              <a:ea typeface="黑体" pitchFamily="49" charset="-122"/>
            </a:endParaRPr>
          </a:p>
          <a:p>
            <a:pPr lvl="1" eaLnBrk="1" hangingPunct="1">
              <a:lnSpc>
                <a:spcPct val="120000"/>
              </a:lnSpc>
            </a:pPr>
            <a:r>
              <a:rPr lang="zh-CN" altLang="en-US" sz="3200" dirty="0">
                <a:solidFill>
                  <a:srgbClr val="008000"/>
                </a:solidFill>
                <a:ea typeface="黑体" pitchFamily="49" charset="-122"/>
              </a:rPr>
              <a:t>抛物型分布</a:t>
            </a:r>
            <a:r>
              <a:rPr lang="zh-CN" altLang="en-US" sz="3200" dirty="0">
                <a:ea typeface="黑体" pitchFamily="49" charset="-122"/>
              </a:rPr>
              <a:t>（参数：</a:t>
            </a:r>
            <a:r>
              <a:rPr lang="en-US" altLang="zh-CN" sz="3200" dirty="0">
                <a:ea typeface="黑体" pitchFamily="49" charset="-122"/>
              </a:rPr>
              <a:t>a, b, c, d, k</a:t>
            </a:r>
            <a:r>
              <a:rPr lang="zh-CN" altLang="en-US" sz="3200" dirty="0">
                <a:ea typeface="黑体" pitchFamily="49" charset="-122"/>
              </a:rPr>
              <a:t>）</a:t>
            </a:r>
            <a:endParaRPr lang="zh-CN" altLang="en-US" dirty="0">
              <a:ea typeface="黑体" pitchFamily="49" charset="-122"/>
            </a:endParaRPr>
          </a:p>
          <a:p>
            <a:pPr lvl="1" eaLnBrk="1" hangingPunct="1">
              <a:lnSpc>
                <a:spcPct val="120000"/>
              </a:lnSpc>
            </a:pPr>
            <a:r>
              <a:rPr lang="zh-CN" altLang="en-US" sz="3200" dirty="0">
                <a:solidFill>
                  <a:srgbClr val="008000"/>
                </a:solidFill>
                <a:ea typeface="黑体" pitchFamily="49" charset="-122"/>
              </a:rPr>
              <a:t>正态分布</a:t>
            </a:r>
            <a:r>
              <a:rPr lang="zh-CN" altLang="en-US" sz="3200" dirty="0">
                <a:ea typeface="黑体" pitchFamily="49" charset="-122"/>
              </a:rPr>
              <a:t>（参数：</a:t>
            </a:r>
            <a:r>
              <a:rPr lang="en-US" altLang="zh-CN" sz="3200" dirty="0">
                <a:ea typeface="黑体" pitchFamily="49" charset="-122"/>
              </a:rPr>
              <a:t>a, </a:t>
            </a:r>
            <a:r>
              <a:rPr lang="en-US" altLang="zh-CN" sz="3200" dirty="0">
                <a:ea typeface="黑体" pitchFamily="49" charset="-122"/>
                <a:sym typeface="Symbol" pitchFamily="18" charset="2"/>
              </a:rPr>
              <a:t></a:t>
            </a:r>
            <a:r>
              <a:rPr lang="en-US" altLang="zh-CN" sz="3200" dirty="0">
                <a:ea typeface="黑体" pitchFamily="49" charset="-122"/>
              </a:rPr>
              <a:t> </a:t>
            </a:r>
            <a:r>
              <a:rPr lang="zh-CN" altLang="en-US" sz="3200" dirty="0">
                <a:ea typeface="黑体" pitchFamily="49" charset="-122"/>
              </a:rPr>
              <a:t>）</a:t>
            </a:r>
            <a:endParaRPr lang="zh-CN" altLang="en-US" dirty="0">
              <a:ea typeface="黑体" pitchFamily="49" charset="-122"/>
            </a:endParaRPr>
          </a:p>
          <a:p>
            <a:pPr lvl="1" eaLnBrk="1" hangingPunct="1">
              <a:lnSpc>
                <a:spcPct val="120000"/>
              </a:lnSpc>
            </a:pPr>
            <a:r>
              <a:rPr lang="zh-CN" altLang="en-US" sz="3200" dirty="0">
                <a:solidFill>
                  <a:srgbClr val="008000"/>
                </a:solidFill>
                <a:ea typeface="黑体" pitchFamily="49" charset="-122"/>
              </a:rPr>
              <a:t>柯西分布</a:t>
            </a:r>
            <a:r>
              <a:rPr lang="zh-CN" altLang="en-US" sz="3200" dirty="0">
                <a:ea typeface="黑体" pitchFamily="49" charset="-122"/>
              </a:rPr>
              <a:t>（参数：</a:t>
            </a:r>
            <a:r>
              <a:rPr lang="en-US" altLang="zh-CN" sz="3200" dirty="0">
                <a:ea typeface="黑体" pitchFamily="49" charset="-122"/>
              </a:rPr>
              <a:t>a, </a:t>
            </a:r>
            <a:r>
              <a:rPr lang="el-GR" altLang="zh-CN" sz="3200" dirty="0">
                <a:latin typeface="Times New Roman" pitchFamily="18" charset="0"/>
                <a:cs typeface="Times New Roman" pitchFamily="18" charset="0"/>
              </a:rPr>
              <a:t>α</a:t>
            </a:r>
            <a:r>
              <a:rPr lang="en-US" altLang="zh-CN" sz="3200" dirty="0">
                <a:latin typeface="Times New Roman" pitchFamily="18" charset="0"/>
                <a:cs typeface="Times New Roman" pitchFamily="18" charset="0"/>
              </a:rPr>
              <a:t>, </a:t>
            </a:r>
            <a:r>
              <a:rPr lang="el-GR" altLang="zh-CN" sz="3200" dirty="0">
                <a:latin typeface="Times New Roman" pitchFamily="18" charset="0"/>
                <a:cs typeface="Times New Roman" pitchFamily="18" charset="0"/>
              </a:rPr>
              <a:t>β</a:t>
            </a:r>
            <a:r>
              <a:rPr lang="zh-CN" altLang="en-US" sz="3200" dirty="0">
                <a:ea typeface="黑体" pitchFamily="49" charset="-122"/>
              </a:rPr>
              <a:t>）</a:t>
            </a:r>
            <a:endParaRPr lang="zh-CN" altLang="en-US" dirty="0">
              <a:ea typeface="黑体" pitchFamily="49" charset="-122"/>
            </a:endParaRPr>
          </a:p>
          <a:p>
            <a:pPr lvl="1" eaLnBrk="1" hangingPunct="1">
              <a:lnSpc>
                <a:spcPct val="120000"/>
              </a:lnSpc>
            </a:pPr>
            <a:r>
              <a:rPr lang="zh-CN" altLang="en-US" sz="3200" dirty="0">
                <a:solidFill>
                  <a:srgbClr val="008000"/>
                </a:solidFill>
                <a:ea typeface="黑体" pitchFamily="49" charset="-122"/>
              </a:rPr>
              <a:t>岭形分布</a:t>
            </a:r>
            <a:r>
              <a:rPr lang="zh-CN" altLang="en-US" sz="3200" dirty="0">
                <a:ea typeface="黑体" pitchFamily="49" charset="-122"/>
              </a:rPr>
              <a:t>（参数：</a:t>
            </a:r>
            <a:r>
              <a:rPr lang="en-US" altLang="zh-CN" sz="3200" dirty="0">
                <a:ea typeface="黑体" pitchFamily="49" charset="-122"/>
              </a:rPr>
              <a:t>a</a:t>
            </a:r>
            <a:r>
              <a:rPr lang="en-US" altLang="zh-CN" sz="3200" baseline="-25000" dirty="0">
                <a:ea typeface="黑体" pitchFamily="49" charset="-122"/>
              </a:rPr>
              <a:t>1</a:t>
            </a:r>
            <a:r>
              <a:rPr lang="en-US" altLang="zh-CN" sz="3200" dirty="0">
                <a:ea typeface="黑体" pitchFamily="49" charset="-122"/>
              </a:rPr>
              <a:t>, a</a:t>
            </a:r>
            <a:r>
              <a:rPr lang="en-US" altLang="zh-CN" sz="3200" baseline="-25000" dirty="0">
                <a:ea typeface="黑体" pitchFamily="49" charset="-122"/>
              </a:rPr>
              <a:t>2</a:t>
            </a:r>
            <a:r>
              <a:rPr lang="zh-CN" altLang="en-US" sz="3200" dirty="0">
                <a:ea typeface="黑体" pitchFamily="49" charset="-122"/>
              </a:rPr>
              <a:t>）</a:t>
            </a:r>
          </a:p>
        </p:txBody>
      </p:sp>
      <p:sp>
        <p:nvSpPr>
          <p:cNvPr id="2" name="灯片编号占位符 1">
            <a:extLst>
              <a:ext uri="{FF2B5EF4-FFF2-40B4-BE49-F238E27FC236}">
                <a16:creationId xmlns:a16="http://schemas.microsoft.com/office/drawing/2014/main" id="{F611A3D5-6BF4-A25A-134A-47E0C7E2744E}"/>
              </a:ext>
            </a:extLst>
          </p:cNvPr>
          <p:cNvSpPr>
            <a:spLocks noGrp="1"/>
          </p:cNvSpPr>
          <p:nvPr>
            <p:ph type="sldNum" sz="quarter" idx="11"/>
          </p:nvPr>
        </p:nvSpPr>
        <p:spPr/>
        <p:txBody>
          <a:bodyPr/>
          <a:lstStyle/>
          <a:p>
            <a:pPr>
              <a:defRPr/>
            </a:pPr>
            <a:fld id="{E0FB5469-1AEB-496D-971A-66705BF2F73C}" type="slidenum">
              <a:rPr lang="en-US" altLang="zh-CN" smtClean="0"/>
              <a:pPr>
                <a:defRPr/>
              </a:pPr>
              <a:t>16</a:t>
            </a:fld>
            <a:endParaRPr lang="en-US" altLang="zh-CN"/>
          </a:p>
        </p:txBody>
      </p:sp>
    </p:spTree>
    <p:extLst>
      <p:ext uri="{BB962C8B-B14F-4D97-AF65-F5344CB8AC3E}">
        <p14:creationId xmlns:p14="http://schemas.microsoft.com/office/powerpoint/2010/main" val="3297277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wipe(up)">
                                      <p:cBhvr>
                                        <p:cTn id="7" dur="500"/>
                                        <p:tgtEl>
                                          <p:spTgt spid="4198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1987">
                                            <p:txEl>
                                              <p:pRg st="1" end="1"/>
                                            </p:txEl>
                                          </p:spTgt>
                                        </p:tgtEl>
                                        <p:attrNameLst>
                                          <p:attrName>style.visibility</p:attrName>
                                        </p:attrNameLst>
                                      </p:cBhvr>
                                      <p:to>
                                        <p:strVal val="visible"/>
                                      </p:to>
                                    </p:set>
                                    <p:animEffect transition="in" filter="wipe(up)">
                                      <p:cBhvr>
                                        <p:cTn id="10" dur="500"/>
                                        <p:tgtEl>
                                          <p:spTgt spid="4198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animEffect transition="in" filter="wipe(up)">
                                      <p:cBhvr>
                                        <p:cTn id="15" dur="500"/>
                                        <p:tgtEl>
                                          <p:spTgt spid="4198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41987">
                                            <p:txEl>
                                              <p:pRg st="3" end="3"/>
                                            </p:txEl>
                                          </p:spTgt>
                                        </p:tgtEl>
                                        <p:attrNameLst>
                                          <p:attrName>style.visibility</p:attrName>
                                        </p:attrNameLst>
                                      </p:cBhvr>
                                      <p:to>
                                        <p:strVal val="visible"/>
                                      </p:to>
                                    </p:set>
                                    <p:animEffect transition="in" filter="wipe(up)">
                                      <p:cBhvr>
                                        <p:cTn id="20" dur="500"/>
                                        <p:tgtEl>
                                          <p:spTgt spid="4198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41987">
                                            <p:txEl>
                                              <p:pRg st="4" end="4"/>
                                            </p:txEl>
                                          </p:spTgt>
                                        </p:tgtEl>
                                        <p:attrNameLst>
                                          <p:attrName>style.visibility</p:attrName>
                                        </p:attrNameLst>
                                      </p:cBhvr>
                                      <p:to>
                                        <p:strVal val="visible"/>
                                      </p:to>
                                    </p:set>
                                    <p:animEffect transition="in" filter="wipe(up)">
                                      <p:cBhvr>
                                        <p:cTn id="25" dur="500"/>
                                        <p:tgtEl>
                                          <p:spTgt spid="41987">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1987">
                                            <p:txEl>
                                              <p:pRg st="5" end="5"/>
                                            </p:txEl>
                                          </p:spTgt>
                                        </p:tgtEl>
                                        <p:attrNameLst>
                                          <p:attrName>style.visibility</p:attrName>
                                        </p:attrNameLst>
                                      </p:cBhvr>
                                      <p:to>
                                        <p:strVal val="visible"/>
                                      </p:to>
                                    </p:set>
                                    <p:animEffect transition="in" filter="wipe(up)">
                                      <p:cBhvr>
                                        <p:cTn id="30" dur="500"/>
                                        <p:tgtEl>
                                          <p:spTgt spid="41987">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41987">
                                            <p:txEl>
                                              <p:pRg st="6" end="6"/>
                                            </p:txEl>
                                          </p:spTgt>
                                        </p:tgtEl>
                                        <p:attrNameLst>
                                          <p:attrName>style.visibility</p:attrName>
                                        </p:attrNameLst>
                                      </p:cBhvr>
                                      <p:to>
                                        <p:strVal val="visible"/>
                                      </p:to>
                                    </p:set>
                                    <p:animEffect transition="in" filter="wipe(up)">
                                      <p:cBhvr>
                                        <p:cTn id="35" dur="500"/>
                                        <p:tgtEl>
                                          <p:spTgt spid="419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481864"/>
            <a:ext cx="8229600" cy="1371600"/>
          </a:xfrm>
        </p:spPr>
        <p:txBody>
          <a:bodyPr/>
          <a:lstStyle/>
          <a:p>
            <a:pPr lvl="1" algn="ctr"/>
            <a:r>
              <a:rPr lang="zh-CN" altLang="en-US" dirty="0">
                <a:solidFill>
                  <a:srgbClr val="008000"/>
                </a:solidFill>
                <a:ea typeface="黑体" pitchFamily="49" charset="-122"/>
              </a:rPr>
              <a:t>矩形分布</a:t>
            </a:r>
            <a:r>
              <a:rPr lang="en-US" altLang="zh-CN" dirty="0">
                <a:ea typeface="黑体" pitchFamily="49" charset="-122"/>
              </a:rPr>
              <a:t>(</a:t>
            </a:r>
            <a:r>
              <a:rPr lang="zh-CN" altLang="en-US" dirty="0">
                <a:ea typeface="黑体" pitchFamily="49" charset="-122"/>
              </a:rPr>
              <a:t>参数：</a:t>
            </a:r>
            <a:r>
              <a:rPr lang="en-US" altLang="zh-CN" dirty="0">
                <a:ea typeface="黑体" pitchFamily="49" charset="-122"/>
              </a:rPr>
              <a:t>a, b)</a:t>
            </a:r>
            <a:endParaRPr lang="zh-CN" altLang="en-US" dirty="0"/>
          </a:p>
        </p:txBody>
      </p:sp>
      <p:pic>
        <p:nvPicPr>
          <p:cNvPr id="4" name="Picture 5"/>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34" r="70590" b="1"/>
          <a:stretch/>
        </p:blipFill>
        <p:spPr bwMode="auto">
          <a:xfrm>
            <a:off x="2567607" y="1808070"/>
            <a:ext cx="1512169" cy="15361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32012" r="35844"/>
          <a:stretch/>
        </p:blipFill>
        <p:spPr bwMode="auto">
          <a:xfrm>
            <a:off x="2495601" y="5373372"/>
            <a:ext cx="1512169" cy="15211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64194"/>
          <a:stretch/>
        </p:blipFill>
        <p:spPr bwMode="auto">
          <a:xfrm>
            <a:off x="2351585" y="3620360"/>
            <a:ext cx="1512169" cy="14840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Object 4"/>
          <p:cNvGraphicFramePr>
            <a:graphicFrameLocks noChangeAspect="1"/>
          </p:cNvGraphicFramePr>
          <p:nvPr/>
        </p:nvGraphicFramePr>
        <p:xfrm>
          <a:off x="5349865" y="2064807"/>
          <a:ext cx="4125912" cy="1076325"/>
        </p:xfrm>
        <a:graphic>
          <a:graphicData uri="http://schemas.openxmlformats.org/presentationml/2006/ole">
            <mc:AlternateContent xmlns:mc="http://schemas.openxmlformats.org/markup-compatibility/2006">
              <mc:Choice xmlns:v="urn:schemas-microsoft-com:vml" Requires="v">
                <p:oleObj name="Equation" r:id="rId5" imgW="1828800" imgH="457200" progId="Equation.DSMT4">
                  <p:embed/>
                </p:oleObj>
              </mc:Choice>
              <mc:Fallback>
                <p:oleObj name="Equation" r:id="rId5" imgW="1828800" imgH="457200" progId="Equation.DSMT4">
                  <p:embed/>
                  <p:pic>
                    <p:nvPicPr>
                      <p:cNvPr id="7" name="Object 4"/>
                      <p:cNvPicPr>
                        <a:picLocks noChangeAspect="1" noChangeArrowheads="1"/>
                      </p:cNvPicPr>
                      <p:nvPr/>
                    </p:nvPicPr>
                    <p:blipFill>
                      <a:blip r:embed="rId6"/>
                      <a:srcRect/>
                      <a:stretch>
                        <a:fillRect/>
                      </a:stretch>
                    </p:blipFill>
                    <p:spPr bwMode="auto">
                      <a:xfrm>
                        <a:off x="5349865" y="2064807"/>
                        <a:ext cx="4125912" cy="1076325"/>
                      </a:xfrm>
                      <a:prstGeom prst="rect">
                        <a:avLst/>
                      </a:prstGeom>
                      <a:solidFill>
                        <a:srgbClr val="FFCCFF"/>
                      </a:solidFill>
                      <a:ln>
                        <a:noFill/>
                      </a:ln>
                      <a:effec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3834770673"/>
              </p:ext>
            </p:extLst>
          </p:nvPr>
        </p:nvGraphicFramePr>
        <p:xfrm>
          <a:off x="5398743" y="5560659"/>
          <a:ext cx="4077033" cy="1060450"/>
        </p:xfrm>
        <a:graphic>
          <a:graphicData uri="http://schemas.openxmlformats.org/presentationml/2006/ole">
            <mc:AlternateContent xmlns:mc="http://schemas.openxmlformats.org/markup-compatibility/2006">
              <mc:Choice xmlns:v="urn:schemas-microsoft-com:vml" Requires="v">
                <p:oleObj name="Equation" r:id="rId7" imgW="1790640" imgH="457200" progId="Equation.DSMT4">
                  <p:embed/>
                </p:oleObj>
              </mc:Choice>
              <mc:Fallback>
                <p:oleObj name="Equation" r:id="rId7" imgW="1790640" imgH="457200" progId="Equation.DSMT4">
                  <p:embed/>
                  <p:pic>
                    <p:nvPicPr>
                      <p:cNvPr id="8" name="Object 4"/>
                      <p:cNvPicPr>
                        <a:picLocks noChangeAspect="1" noChangeArrowheads="1"/>
                      </p:cNvPicPr>
                      <p:nvPr/>
                    </p:nvPicPr>
                    <p:blipFill>
                      <a:blip r:embed="rId8"/>
                      <a:srcRect/>
                      <a:stretch>
                        <a:fillRect/>
                      </a:stretch>
                    </p:blipFill>
                    <p:spPr bwMode="auto">
                      <a:xfrm>
                        <a:off x="5398743" y="5560659"/>
                        <a:ext cx="4077033" cy="1060450"/>
                      </a:xfrm>
                      <a:prstGeom prst="rect">
                        <a:avLst/>
                      </a:prstGeom>
                      <a:solidFill>
                        <a:schemeClr val="folHlink"/>
                      </a:solidFill>
                      <a:ln>
                        <a:noFill/>
                      </a:ln>
                      <a:effectLst/>
                    </p:spPr>
                  </p:pic>
                </p:oleObj>
              </mc:Fallback>
            </mc:AlternateContent>
          </a:graphicData>
        </a:graphic>
      </p:graphicFrame>
      <p:grpSp>
        <p:nvGrpSpPr>
          <p:cNvPr id="12" name="组合 11"/>
          <p:cNvGrpSpPr/>
          <p:nvPr/>
        </p:nvGrpSpPr>
        <p:grpSpPr>
          <a:xfrm>
            <a:off x="5303912" y="3573017"/>
            <a:ext cx="4171864" cy="1450891"/>
            <a:chOff x="3779912" y="3573016"/>
            <a:chExt cx="4171864" cy="1450891"/>
          </a:xfrm>
        </p:grpSpPr>
        <p:sp>
          <p:nvSpPr>
            <p:cNvPr id="11" name="矩形 10"/>
            <p:cNvSpPr/>
            <p:nvPr/>
          </p:nvSpPr>
          <p:spPr>
            <a:xfrm>
              <a:off x="3779912" y="3573016"/>
              <a:ext cx="1368152" cy="1440160"/>
            </a:xfrm>
            <a:prstGeom prst="rect">
              <a:avLst/>
            </a:prstGeom>
            <a:solidFill>
              <a:srgbClr val="66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Object 4"/>
            <p:cNvGraphicFramePr>
              <a:graphicFrameLocks noChangeAspect="1"/>
            </p:cNvGraphicFramePr>
            <p:nvPr>
              <p:extLst>
                <p:ext uri="{D42A27DB-BD31-4B8C-83A1-F6EECF244321}">
                  <p14:modId xmlns:p14="http://schemas.microsoft.com/office/powerpoint/2010/main" val="1771215561"/>
                </p:ext>
              </p:extLst>
            </p:nvPr>
          </p:nvGraphicFramePr>
          <p:xfrm>
            <a:off x="5147517" y="3580869"/>
            <a:ext cx="2804259" cy="1443038"/>
          </p:xfrm>
          <a:graphic>
            <a:graphicData uri="http://schemas.openxmlformats.org/presentationml/2006/ole">
              <mc:AlternateContent xmlns:mc="http://schemas.openxmlformats.org/markup-compatibility/2006">
                <mc:Choice xmlns:v="urn:schemas-microsoft-com:vml" Requires="v">
                  <p:oleObj name="Equation" r:id="rId9" imgW="1409400" imgH="711000" progId="Equation.DSMT4">
                    <p:embed/>
                  </p:oleObj>
                </mc:Choice>
                <mc:Fallback>
                  <p:oleObj name="Equation" r:id="rId9" imgW="1409400" imgH="711000" progId="Equation.DSMT4">
                    <p:embed/>
                    <p:pic>
                      <p:nvPicPr>
                        <p:cNvPr id="9" name="Object 4"/>
                        <p:cNvPicPr>
                          <a:picLocks noChangeAspect="1" noChangeArrowheads="1"/>
                        </p:cNvPicPr>
                        <p:nvPr/>
                      </p:nvPicPr>
                      <p:blipFill>
                        <a:blip r:embed="rId10"/>
                        <a:srcRect/>
                        <a:stretch>
                          <a:fillRect/>
                        </a:stretch>
                      </p:blipFill>
                      <p:spPr bwMode="auto">
                        <a:xfrm>
                          <a:off x="5147517" y="3580869"/>
                          <a:ext cx="2804259" cy="1443038"/>
                        </a:xfrm>
                        <a:prstGeom prst="rect">
                          <a:avLst/>
                        </a:prstGeom>
                        <a:solidFill>
                          <a:srgbClr val="66FFFF"/>
                        </a:solidFill>
                        <a:ln>
                          <a:noFill/>
                        </a:ln>
                        <a:effectLst/>
                      </p:spPr>
                    </p:pic>
                  </p:oleObj>
                </mc:Fallback>
              </mc:AlternateContent>
            </a:graphicData>
          </a:graphic>
        </p:graphicFrame>
        <p:sp>
          <p:nvSpPr>
            <p:cNvPr id="10" name="TextBox 9"/>
            <p:cNvSpPr txBox="1"/>
            <p:nvPr/>
          </p:nvSpPr>
          <p:spPr>
            <a:xfrm>
              <a:off x="3779912" y="4005064"/>
              <a:ext cx="1368152" cy="523220"/>
            </a:xfrm>
            <a:prstGeom prst="rect">
              <a:avLst/>
            </a:prstGeom>
            <a:noFill/>
          </p:spPr>
          <p:txBody>
            <a:bodyPr wrap="square" rtlCol="0">
              <a:spAutoFit/>
            </a:bodyPr>
            <a:lstStyle/>
            <a:p>
              <a:r>
                <a:rPr lang="zh-CN" altLang="en-US" sz="2800" b="1" dirty="0"/>
                <a:t>中间型</a:t>
              </a:r>
            </a:p>
          </p:txBody>
        </p:sp>
      </p:grpSp>
      <p:sp>
        <p:nvSpPr>
          <p:cNvPr id="3" name="灯片编号占位符 2">
            <a:extLst>
              <a:ext uri="{FF2B5EF4-FFF2-40B4-BE49-F238E27FC236}">
                <a16:creationId xmlns:a16="http://schemas.microsoft.com/office/drawing/2014/main" id="{3046853B-DA9A-BF65-AACF-B40383812B02}"/>
              </a:ext>
            </a:extLst>
          </p:cNvPr>
          <p:cNvSpPr>
            <a:spLocks noGrp="1"/>
          </p:cNvSpPr>
          <p:nvPr>
            <p:ph type="sldNum" sz="quarter" idx="11"/>
          </p:nvPr>
        </p:nvSpPr>
        <p:spPr/>
        <p:txBody>
          <a:bodyPr/>
          <a:lstStyle/>
          <a:p>
            <a:pPr>
              <a:defRPr/>
            </a:pPr>
            <a:fld id="{E0FB5469-1AEB-496D-971A-66705BF2F73C}" type="slidenum">
              <a:rPr lang="en-US" altLang="zh-CN" smtClean="0"/>
              <a:pPr>
                <a:defRPr/>
              </a:pPr>
              <a:t>17</a:t>
            </a:fld>
            <a:endParaRPr lang="en-US" altLang="zh-CN"/>
          </a:p>
        </p:txBody>
      </p:sp>
    </p:spTree>
    <p:extLst>
      <p:ext uri="{BB962C8B-B14F-4D97-AF65-F5344CB8AC3E}">
        <p14:creationId xmlns:p14="http://schemas.microsoft.com/office/powerpoint/2010/main" val="205083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4"/>
          <p:cNvGraphicFramePr>
            <a:graphicFrameLocks noChangeAspect="1"/>
          </p:cNvGraphicFramePr>
          <p:nvPr>
            <p:extLst>
              <p:ext uri="{D42A27DB-BD31-4B8C-83A1-F6EECF244321}">
                <p14:modId xmlns:p14="http://schemas.microsoft.com/office/powerpoint/2010/main" val="2282842919"/>
              </p:ext>
            </p:extLst>
          </p:nvPr>
        </p:nvGraphicFramePr>
        <p:xfrm>
          <a:off x="7017568" y="2763426"/>
          <a:ext cx="4191000" cy="3092450"/>
        </p:xfrm>
        <a:graphic>
          <a:graphicData uri="http://schemas.openxmlformats.org/presentationml/2006/ole">
            <mc:AlternateContent xmlns:mc="http://schemas.openxmlformats.org/markup-compatibility/2006">
              <mc:Choice xmlns:v="urn:schemas-microsoft-com:vml" Requires="v">
                <p:oleObj name="Equation" r:id="rId3" imgW="2158920" imgH="1523880" progId="Equation.DSMT4">
                  <p:embed/>
                </p:oleObj>
              </mc:Choice>
              <mc:Fallback>
                <p:oleObj name="Equation" r:id="rId3" imgW="2158920" imgH="1523880" progId="Equation.DSMT4">
                  <p:embed/>
                  <p:pic>
                    <p:nvPicPr>
                      <p:cNvPr id="9" name="Object 4"/>
                      <p:cNvPicPr>
                        <a:picLocks noChangeAspect="1" noChangeArrowheads="1"/>
                      </p:cNvPicPr>
                      <p:nvPr/>
                    </p:nvPicPr>
                    <p:blipFill>
                      <a:blip r:embed="rId4"/>
                      <a:srcRect/>
                      <a:stretch>
                        <a:fillRect/>
                      </a:stretch>
                    </p:blipFill>
                    <p:spPr bwMode="auto">
                      <a:xfrm>
                        <a:off x="7017568" y="2763426"/>
                        <a:ext cx="4191000" cy="3092450"/>
                      </a:xfrm>
                      <a:prstGeom prst="rect">
                        <a:avLst/>
                      </a:prstGeom>
                      <a:solidFill>
                        <a:srgbClr val="66FFFF"/>
                      </a:solidFill>
                      <a:ln>
                        <a:noFill/>
                      </a:ln>
                      <a:effectLst/>
                    </p:spPr>
                  </p:pic>
                </p:oleObj>
              </mc:Fallback>
            </mc:AlternateContent>
          </a:graphicData>
        </a:graphic>
      </p:graphicFrame>
      <p:sp>
        <p:nvSpPr>
          <p:cNvPr id="2" name="标题 1"/>
          <p:cNvSpPr>
            <a:spLocks noGrp="1"/>
          </p:cNvSpPr>
          <p:nvPr>
            <p:ph type="title"/>
          </p:nvPr>
        </p:nvSpPr>
        <p:spPr>
          <a:xfrm>
            <a:off x="1981200" y="188640"/>
            <a:ext cx="8229600" cy="1371600"/>
          </a:xfrm>
        </p:spPr>
        <p:txBody>
          <a:bodyPr/>
          <a:lstStyle/>
          <a:p>
            <a:pPr lvl="1" algn="ctr" eaLnBrk="1" hangingPunct="1">
              <a:lnSpc>
                <a:spcPct val="120000"/>
              </a:lnSpc>
            </a:pPr>
            <a:r>
              <a:rPr lang="zh-CN" altLang="en-US" dirty="0">
                <a:solidFill>
                  <a:srgbClr val="008000"/>
                </a:solidFill>
                <a:ea typeface="黑体" pitchFamily="49" charset="-122"/>
              </a:rPr>
              <a:t>梯形分布</a:t>
            </a:r>
            <a:r>
              <a:rPr lang="zh-CN" altLang="en-US" dirty="0">
                <a:ea typeface="黑体" pitchFamily="49" charset="-122"/>
              </a:rPr>
              <a:t>（参数：</a:t>
            </a:r>
            <a:r>
              <a:rPr lang="en-US" altLang="zh-CN" dirty="0">
                <a:ea typeface="黑体" pitchFamily="49" charset="-122"/>
              </a:rPr>
              <a:t>a, b, c, d</a:t>
            </a:r>
            <a:r>
              <a:rPr lang="zh-CN" altLang="en-US" dirty="0">
                <a:ea typeface="黑体" pitchFamily="49" charset="-122"/>
              </a:rPr>
              <a:t>）</a:t>
            </a:r>
          </a:p>
        </p:txBody>
      </p:sp>
      <p:graphicFrame>
        <p:nvGraphicFramePr>
          <p:cNvPr id="7" name="Object 4"/>
          <p:cNvGraphicFramePr>
            <a:graphicFrameLocks noChangeAspect="1"/>
          </p:cNvGraphicFramePr>
          <p:nvPr>
            <p:extLst>
              <p:ext uri="{D42A27DB-BD31-4B8C-83A1-F6EECF244321}">
                <p14:modId xmlns:p14="http://schemas.microsoft.com/office/powerpoint/2010/main" val="1800829920"/>
              </p:ext>
            </p:extLst>
          </p:nvPr>
        </p:nvGraphicFramePr>
        <p:xfrm>
          <a:off x="3312912" y="1340834"/>
          <a:ext cx="3652928" cy="1587915"/>
        </p:xfrm>
        <a:graphic>
          <a:graphicData uri="http://schemas.openxmlformats.org/presentationml/2006/ole">
            <mc:AlternateContent xmlns:mc="http://schemas.openxmlformats.org/markup-compatibility/2006">
              <mc:Choice xmlns:v="urn:schemas-microsoft-com:vml" Requires="v">
                <p:oleObj name="Equation" r:id="rId5" imgW="2133360" imgH="888840" progId="Equation.DSMT4">
                  <p:embed/>
                </p:oleObj>
              </mc:Choice>
              <mc:Fallback>
                <p:oleObj name="Equation" r:id="rId5" imgW="2133360" imgH="888840" progId="Equation.DSMT4">
                  <p:embed/>
                  <p:pic>
                    <p:nvPicPr>
                      <p:cNvPr id="7" name="Object 4"/>
                      <p:cNvPicPr>
                        <a:picLocks noChangeAspect="1" noChangeArrowheads="1"/>
                      </p:cNvPicPr>
                      <p:nvPr/>
                    </p:nvPicPr>
                    <p:blipFill>
                      <a:blip r:embed="rId6"/>
                      <a:srcRect/>
                      <a:stretch>
                        <a:fillRect/>
                      </a:stretch>
                    </p:blipFill>
                    <p:spPr bwMode="auto">
                      <a:xfrm>
                        <a:off x="3312912" y="1340834"/>
                        <a:ext cx="3652928" cy="1587915"/>
                      </a:xfrm>
                      <a:prstGeom prst="rect">
                        <a:avLst/>
                      </a:prstGeom>
                      <a:solidFill>
                        <a:srgbClr val="FFCCFF"/>
                      </a:solidFill>
                      <a:ln>
                        <a:noFill/>
                      </a:ln>
                      <a:effectLst/>
                    </p:spPr>
                  </p:pic>
                </p:oleObj>
              </mc:Fallback>
            </mc:AlternateContent>
          </a:graphicData>
        </a:graphic>
      </p:graphicFrame>
      <p:pic>
        <p:nvPicPr>
          <p:cNvPr id="10" name="Picture 4"/>
          <p:cNvPicPr>
            <a:picLocks noChangeAspect="1" noChangeArrowheads="1"/>
          </p:cNvPicPr>
          <p:nvPr/>
        </p:nvPicPr>
        <p:blipFill rotWithShape="1">
          <a:blip r:embed="rId7">
            <a:extLst>
              <a:ext uri="{BEBA8EAE-BF5A-486C-A8C5-ECC9F3942E4B}">
                <a14:imgProps xmlns:a14="http://schemas.microsoft.com/office/drawing/2010/main">
                  <a14:imgLayer r:embed="rId8">
                    <a14:imgEffect>
                      <a14:brightnessContrast bright="20000" contrast="40000"/>
                    </a14:imgEffect>
                  </a14:imgLayer>
                </a14:imgProps>
              </a:ext>
              <a:ext uri="{28A0092B-C50C-407E-A947-70E740481C1C}">
                <a14:useLocalDpi xmlns:a14="http://schemas.microsoft.com/office/drawing/2010/main" val="0"/>
              </a:ext>
            </a:extLst>
          </a:blip>
          <a:srcRect t="4869" r="70403" b="12484"/>
          <a:stretch/>
        </p:blipFill>
        <p:spPr bwMode="auto">
          <a:xfrm>
            <a:off x="1271464" y="1196752"/>
            <a:ext cx="1825424" cy="188089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p:cNvPicPr>
            <a:picLocks noChangeAspect="1" noChangeArrowheads="1"/>
          </p:cNvPicPr>
          <p:nvPr/>
        </p:nvPicPr>
        <p:blipFill rotWithShape="1">
          <a:blip r:embed="rId7">
            <a:extLst>
              <a:ext uri="{BEBA8EAE-BF5A-486C-A8C5-ECC9F3942E4B}">
                <a14:imgProps xmlns:a14="http://schemas.microsoft.com/office/drawing/2010/main">
                  <a14:imgLayer r:embed="rId8">
                    <a14:imgEffect>
                      <a14:brightnessContrast bright="20000" contrast="40000"/>
                    </a14:imgEffect>
                  </a14:imgLayer>
                </a14:imgProps>
              </a:ext>
              <a:ext uri="{28A0092B-C50C-407E-A947-70E740481C1C}">
                <a14:useLocalDpi xmlns:a14="http://schemas.microsoft.com/office/drawing/2010/main" val="0"/>
              </a:ext>
            </a:extLst>
          </a:blip>
          <a:srcRect l="34437" t="5416" r="35963" b="11935"/>
          <a:stretch/>
        </p:blipFill>
        <p:spPr bwMode="auto">
          <a:xfrm>
            <a:off x="1271464" y="4932480"/>
            <a:ext cx="1825576" cy="188089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Object 4"/>
          <p:cNvGraphicFramePr>
            <a:graphicFrameLocks noChangeAspect="1"/>
          </p:cNvGraphicFramePr>
          <p:nvPr>
            <p:extLst>
              <p:ext uri="{D42A27DB-BD31-4B8C-83A1-F6EECF244321}">
                <p14:modId xmlns:p14="http://schemas.microsoft.com/office/powerpoint/2010/main" val="585104173"/>
              </p:ext>
            </p:extLst>
          </p:nvPr>
        </p:nvGraphicFramePr>
        <p:xfrm>
          <a:off x="3319288" y="5276088"/>
          <a:ext cx="3639119" cy="1581912"/>
        </p:xfrm>
        <a:graphic>
          <a:graphicData uri="http://schemas.openxmlformats.org/presentationml/2006/ole">
            <mc:AlternateContent xmlns:mc="http://schemas.openxmlformats.org/markup-compatibility/2006">
              <mc:Choice xmlns:v="urn:schemas-microsoft-com:vml" Requires="v">
                <p:oleObj name="Equation" r:id="rId9" imgW="2133360" imgH="888840" progId="Equation.DSMT4">
                  <p:embed/>
                </p:oleObj>
              </mc:Choice>
              <mc:Fallback>
                <p:oleObj name="Equation" r:id="rId9" imgW="2133360" imgH="888840" progId="Equation.DSMT4">
                  <p:embed/>
                  <p:pic>
                    <p:nvPicPr>
                      <p:cNvPr id="13" name="Object 4"/>
                      <p:cNvPicPr>
                        <a:picLocks noChangeAspect="1" noChangeArrowheads="1"/>
                      </p:cNvPicPr>
                      <p:nvPr/>
                    </p:nvPicPr>
                    <p:blipFill>
                      <a:blip r:embed="rId10"/>
                      <a:srcRect/>
                      <a:stretch>
                        <a:fillRect/>
                      </a:stretch>
                    </p:blipFill>
                    <p:spPr bwMode="auto">
                      <a:xfrm>
                        <a:off x="3319288" y="5276088"/>
                        <a:ext cx="3639119" cy="1581912"/>
                      </a:xfrm>
                      <a:prstGeom prst="rect">
                        <a:avLst/>
                      </a:prstGeom>
                      <a:solidFill>
                        <a:schemeClr val="accent6">
                          <a:lumMod val="40000"/>
                          <a:lumOff val="60000"/>
                        </a:schemeClr>
                      </a:solidFill>
                      <a:ln>
                        <a:noFill/>
                      </a:ln>
                      <a:effectLst/>
                    </p:spPr>
                  </p:pic>
                </p:oleObj>
              </mc:Fallback>
            </mc:AlternateContent>
          </a:graphicData>
        </a:graphic>
      </p:graphicFrame>
      <p:pic>
        <p:nvPicPr>
          <p:cNvPr id="11" name="Picture 4"/>
          <p:cNvPicPr>
            <a:picLocks noChangeAspect="1" noChangeArrowheads="1"/>
          </p:cNvPicPr>
          <p:nvPr/>
        </p:nvPicPr>
        <p:blipFill rotWithShape="1">
          <a:blip r:embed="rId7">
            <a:extLst>
              <a:ext uri="{BEBA8EAE-BF5A-486C-A8C5-ECC9F3942E4B}">
                <a14:imgProps xmlns:a14="http://schemas.microsoft.com/office/drawing/2010/main">
                  <a14:imgLayer r:embed="rId11">
                    <a14:imgEffect>
                      <a14:brightnessContrast bright="20000" contrast="40000"/>
                    </a14:imgEffect>
                  </a14:imgLayer>
                </a14:imgProps>
              </a:ext>
              <a:ext uri="{28A0092B-C50C-407E-A947-70E740481C1C}">
                <a14:useLocalDpi xmlns:a14="http://schemas.microsoft.com/office/drawing/2010/main" val="0"/>
              </a:ext>
            </a:extLst>
          </a:blip>
          <a:srcRect l="67979" t="4779" r="626" b="12573"/>
          <a:stretch/>
        </p:blipFill>
        <p:spPr bwMode="auto">
          <a:xfrm>
            <a:off x="4895086" y="3161970"/>
            <a:ext cx="1936218" cy="1880897"/>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1C054822-EC4D-8FCE-E8AA-B8CE6BD561F5}"/>
              </a:ext>
            </a:extLst>
          </p:cNvPr>
          <p:cNvSpPr>
            <a:spLocks noGrp="1"/>
          </p:cNvSpPr>
          <p:nvPr>
            <p:ph type="sldNum" sz="quarter" idx="11"/>
          </p:nvPr>
        </p:nvSpPr>
        <p:spPr/>
        <p:txBody>
          <a:bodyPr/>
          <a:lstStyle/>
          <a:p>
            <a:pPr>
              <a:defRPr/>
            </a:pPr>
            <a:fld id="{E0FB5469-1AEB-496D-971A-66705BF2F73C}" type="slidenum">
              <a:rPr lang="en-US" altLang="zh-CN" smtClean="0"/>
              <a:pPr>
                <a:defRPr/>
              </a:pPr>
              <a:t>18</a:t>
            </a:fld>
            <a:endParaRPr lang="en-US" altLang="zh-CN"/>
          </a:p>
        </p:txBody>
      </p:sp>
    </p:spTree>
    <p:extLst>
      <p:ext uri="{BB962C8B-B14F-4D97-AF65-F5344CB8AC3E}">
        <p14:creationId xmlns:p14="http://schemas.microsoft.com/office/powerpoint/2010/main" val="61972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5"/>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5015880" y="3216342"/>
            <a:ext cx="2415073" cy="18688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Object 4"/>
          <p:cNvGraphicFramePr>
            <a:graphicFrameLocks noChangeAspect="1"/>
          </p:cNvGraphicFramePr>
          <p:nvPr>
            <p:extLst>
              <p:ext uri="{D42A27DB-BD31-4B8C-83A1-F6EECF244321}">
                <p14:modId xmlns:p14="http://schemas.microsoft.com/office/powerpoint/2010/main" val="1677568094"/>
              </p:ext>
            </p:extLst>
          </p:nvPr>
        </p:nvGraphicFramePr>
        <p:xfrm>
          <a:off x="7392144" y="2635251"/>
          <a:ext cx="4610100" cy="3349625"/>
        </p:xfrm>
        <a:graphic>
          <a:graphicData uri="http://schemas.openxmlformats.org/presentationml/2006/ole">
            <mc:AlternateContent xmlns:mc="http://schemas.openxmlformats.org/markup-compatibility/2006">
              <mc:Choice xmlns:v="urn:schemas-microsoft-com:vml" Requires="v">
                <p:oleObj name="Equation" r:id="rId5" imgW="2374560" imgH="1650960" progId="Equation.DSMT4">
                  <p:embed/>
                </p:oleObj>
              </mc:Choice>
              <mc:Fallback>
                <p:oleObj name="Equation" r:id="rId5" imgW="2374560" imgH="1650960" progId="Equation.DSMT4">
                  <p:embed/>
                  <p:pic>
                    <p:nvPicPr>
                      <p:cNvPr id="9" name="Object 4"/>
                      <p:cNvPicPr>
                        <a:picLocks noChangeAspect="1" noChangeArrowheads="1"/>
                      </p:cNvPicPr>
                      <p:nvPr/>
                    </p:nvPicPr>
                    <p:blipFill>
                      <a:blip r:embed="rId6"/>
                      <a:srcRect/>
                      <a:stretch>
                        <a:fillRect/>
                      </a:stretch>
                    </p:blipFill>
                    <p:spPr bwMode="auto">
                      <a:xfrm>
                        <a:off x="7392144" y="2635251"/>
                        <a:ext cx="4610100" cy="3349625"/>
                      </a:xfrm>
                      <a:prstGeom prst="rect">
                        <a:avLst/>
                      </a:prstGeom>
                      <a:solidFill>
                        <a:srgbClr val="66FFFF"/>
                      </a:solidFill>
                      <a:ln>
                        <a:noFill/>
                      </a:ln>
                      <a:effectLst/>
                    </p:spPr>
                  </p:pic>
                </p:oleObj>
              </mc:Fallback>
            </mc:AlternateContent>
          </a:graphicData>
        </a:graphic>
      </p:graphicFrame>
      <p:sp>
        <p:nvSpPr>
          <p:cNvPr id="2" name="标题 1"/>
          <p:cNvSpPr>
            <a:spLocks noGrp="1"/>
          </p:cNvSpPr>
          <p:nvPr>
            <p:ph type="title"/>
          </p:nvPr>
        </p:nvSpPr>
        <p:spPr>
          <a:xfrm>
            <a:off x="1981200" y="260648"/>
            <a:ext cx="8229600" cy="1371600"/>
          </a:xfrm>
        </p:spPr>
        <p:txBody>
          <a:bodyPr/>
          <a:lstStyle/>
          <a:p>
            <a:pPr lvl="1" algn="ctr" eaLnBrk="1" hangingPunct="1">
              <a:lnSpc>
                <a:spcPct val="120000"/>
              </a:lnSpc>
            </a:pPr>
            <a:r>
              <a:rPr lang="zh-CN" altLang="en-US" dirty="0">
                <a:solidFill>
                  <a:srgbClr val="008000"/>
                </a:solidFill>
                <a:ea typeface="黑体" pitchFamily="49" charset="-122"/>
              </a:rPr>
              <a:t>抛物型分布</a:t>
            </a:r>
            <a:r>
              <a:rPr lang="zh-CN" altLang="en-US" dirty="0">
                <a:ea typeface="黑体" pitchFamily="49" charset="-122"/>
              </a:rPr>
              <a:t>（参数：</a:t>
            </a:r>
            <a:r>
              <a:rPr lang="en-US" altLang="zh-CN" dirty="0">
                <a:ea typeface="黑体" pitchFamily="49" charset="-122"/>
              </a:rPr>
              <a:t>a, b, c, d, k</a:t>
            </a:r>
            <a:r>
              <a:rPr lang="zh-CN" altLang="en-US" dirty="0">
                <a:ea typeface="黑体" pitchFamily="49" charset="-122"/>
              </a:rPr>
              <a:t>）</a:t>
            </a:r>
          </a:p>
        </p:txBody>
      </p:sp>
      <p:graphicFrame>
        <p:nvGraphicFramePr>
          <p:cNvPr id="7" name="Object 4"/>
          <p:cNvGraphicFramePr>
            <a:graphicFrameLocks noChangeAspect="1"/>
          </p:cNvGraphicFramePr>
          <p:nvPr>
            <p:extLst>
              <p:ext uri="{D42A27DB-BD31-4B8C-83A1-F6EECF244321}">
                <p14:modId xmlns:p14="http://schemas.microsoft.com/office/powerpoint/2010/main" val="29207985"/>
              </p:ext>
            </p:extLst>
          </p:nvPr>
        </p:nvGraphicFramePr>
        <p:xfrm>
          <a:off x="3143672" y="1433721"/>
          <a:ext cx="4237162" cy="1724025"/>
        </p:xfrm>
        <a:graphic>
          <a:graphicData uri="http://schemas.openxmlformats.org/presentationml/2006/ole">
            <mc:AlternateContent xmlns:mc="http://schemas.openxmlformats.org/markup-compatibility/2006">
              <mc:Choice xmlns:v="urn:schemas-microsoft-com:vml" Requires="v">
                <p:oleObj name="Equation" r:id="rId7" imgW="2349360" imgH="965160" progId="Equation.DSMT4">
                  <p:embed/>
                </p:oleObj>
              </mc:Choice>
              <mc:Fallback>
                <p:oleObj name="Equation" r:id="rId7" imgW="2349360" imgH="965160" progId="Equation.DSMT4">
                  <p:embed/>
                  <p:pic>
                    <p:nvPicPr>
                      <p:cNvPr id="7" name="Object 4"/>
                      <p:cNvPicPr>
                        <a:picLocks noChangeAspect="1" noChangeArrowheads="1"/>
                      </p:cNvPicPr>
                      <p:nvPr/>
                    </p:nvPicPr>
                    <p:blipFill>
                      <a:blip r:embed="rId8"/>
                      <a:srcRect/>
                      <a:stretch>
                        <a:fillRect/>
                      </a:stretch>
                    </p:blipFill>
                    <p:spPr bwMode="auto">
                      <a:xfrm>
                        <a:off x="3143672" y="1433721"/>
                        <a:ext cx="4237162" cy="1724025"/>
                      </a:xfrm>
                      <a:prstGeom prst="rect">
                        <a:avLst/>
                      </a:prstGeom>
                      <a:solidFill>
                        <a:srgbClr val="FFCCFF"/>
                      </a:solidFill>
                      <a:ln>
                        <a:noFill/>
                      </a:ln>
                      <a:effectLst/>
                    </p:spPr>
                  </p:pic>
                </p:oleObj>
              </mc:Fallback>
            </mc:AlternateContent>
          </a:graphicData>
        </a:graphic>
      </p:graphicFrame>
      <p:graphicFrame>
        <p:nvGraphicFramePr>
          <p:cNvPr id="13" name="Object 4"/>
          <p:cNvGraphicFramePr>
            <a:graphicFrameLocks noChangeAspect="1"/>
          </p:cNvGraphicFramePr>
          <p:nvPr>
            <p:extLst>
              <p:ext uri="{D42A27DB-BD31-4B8C-83A1-F6EECF244321}">
                <p14:modId xmlns:p14="http://schemas.microsoft.com/office/powerpoint/2010/main" val="3675944421"/>
              </p:ext>
            </p:extLst>
          </p:nvPr>
        </p:nvGraphicFramePr>
        <p:xfrm>
          <a:off x="3143671" y="5085184"/>
          <a:ext cx="4006850" cy="1716088"/>
        </p:xfrm>
        <a:graphic>
          <a:graphicData uri="http://schemas.openxmlformats.org/presentationml/2006/ole">
            <mc:AlternateContent xmlns:mc="http://schemas.openxmlformats.org/markup-compatibility/2006">
              <mc:Choice xmlns:v="urn:schemas-microsoft-com:vml" Requires="v">
                <p:oleObj name="Equation" r:id="rId9" imgW="2349360" imgH="965160" progId="Equation.DSMT4">
                  <p:embed/>
                </p:oleObj>
              </mc:Choice>
              <mc:Fallback>
                <p:oleObj name="Equation" r:id="rId9" imgW="2349360" imgH="965160" progId="Equation.DSMT4">
                  <p:embed/>
                  <p:pic>
                    <p:nvPicPr>
                      <p:cNvPr id="13" name="Object 4"/>
                      <p:cNvPicPr>
                        <a:picLocks noChangeAspect="1" noChangeArrowheads="1"/>
                      </p:cNvPicPr>
                      <p:nvPr/>
                    </p:nvPicPr>
                    <p:blipFill>
                      <a:blip r:embed="rId10"/>
                      <a:srcRect/>
                      <a:stretch>
                        <a:fillRect/>
                      </a:stretch>
                    </p:blipFill>
                    <p:spPr bwMode="auto">
                      <a:xfrm>
                        <a:off x="3143671" y="5085184"/>
                        <a:ext cx="4006850" cy="1716088"/>
                      </a:xfrm>
                      <a:prstGeom prst="rect">
                        <a:avLst/>
                      </a:prstGeom>
                      <a:solidFill>
                        <a:schemeClr val="accent6">
                          <a:lumMod val="40000"/>
                          <a:lumOff val="60000"/>
                        </a:schemeClr>
                      </a:solidFill>
                      <a:ln>
                        <a:noFill/>
                      </a:ln>
                      <a:effectLst/>
                    </p:spPr>
                  </p:pic>
                </p:oleObj>
              </mc:Fallback>
            </mc:AlternateContent>
          </a:graphicData>
        </a:graphic>
      </p:graphicFrame>
      <p:pic>
        <p:nvPicPr>
          <p:cNvPr id="14" name="Picture 4"/>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20000" contrast="40000"/>
                    </a14:imgEffect>
                  </a14:imgLayer>
                </a14:imgProps>
              </a:ext>
              <a:ext uri="{28A0092B-C50C-407E-A947-70E740481C1C}">
                <a14:useLocalDpi xmlns:a14="http://schemas.microsoft.com/office/drawing/2010/main" val="0"/>
              </a:ext>
            </a:extLst>
          </a:blip>
          <a:srcRect t="16" r="49987" b="9898"/>
          <a:stretch/>
        </p:blipFill>
        <p:spPr bwMode="auto">
          <a:xfrm>
            <a:off x="1055440" y="1484784"/>
            <a:ext cx="2209006" cy="1777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p:cNvPicPr>
            <a:picLocks noChangeAspect="1" noChangeArrowheads="1"/>
          </p:cNvPicPr>
          <p:nvPr/>
        </p:nvPicPr>
        <p:blipFill rotWithShape="1">
          <a:blip r:embed="rId13">
            <a:extLst>
              <a:ext uri="{BEBA8EAE-BF5A-486C-A8C5-ECC9F3942E4B}">
                <a14:imgProps xmlns:a14="http://schemas.microsoft.com/office/drawing/2010/main">
                  <a14:imgLayer r:embed="rId12">
                    <a14:imgEffect>
                      <a14:brightnessContrast bright="20000" contrast="-40000"/>
                    </a14:imgEffect>
                  </a14:imgLayer>
                </a14:imgProps>
              </a:ext>
              <a:ext uri="{28A0092B-C50C-407E-A947-70E740481C1C}">
                <a14:useLocalDpi xmlns:a14="http://schemas.microsoft.com/office/drawing/2010/main" val="0"/>
              </a:ext>
            </a:extLst>
          </a:blip>
          <a:srcRect l="51414" t="3045" r="851" b="11739"/>
          <a:stretch/>
        </p:blipFill>
        <p:spPr bwMode="auto">
          <a:xfrm>
            <a:off x="983432" y="5026588"/>
            <a:ext cx="2160240" cy="1763805"/>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94810415-E4DC-41A4-56A0-4366736EEB79}"/>
              </a:ext>
            </a:extLst>
          </p:cNvPr>
          <p:cNvSpPr>
            <a:spLocks noGrp="1"/>
          </p:cNvSpPr>
          <p:nvPr>
            <p:ph type="sldNum" sz="quarter" idx="11"/>
          </p:nvPr>
        </p:nvSpPr>
        <p:spPr/>
        <p:txBody>
          <a:bodyPr/>
          <a:lstStyle/>
          <a:p>
            <a:pPr>
              <a:defRPr/>
            </a:pPr>
            <a:fld id="{E0FB5469-1AEB-496D-971A-66705BF2F73C}" type="slidenum">
              <a:rPr lang="en-US" altLang="zh-CN" smtClean="0"/>
              <a:pPr>
                <a:defRPr/>
              </a:pPr>
              <a:t>19</a:t>
            </a:fld>
            <a:endParaRPr lang="en-US" altLang="zh-CN"/>
          </a:p>
        </p:txBody>
      </p:sp>
    </p:spTree>
    <p:extLst>
      <p:ext uri="{BB962C8B-B14F-4D97-AF65-F5344CB8AC3E}">
        <p14:creationId xmlns:p14="http://schemas.microsoft.com/office/powerpoint/2010/main" val="77571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481864"/>
            <a:ext cx="8229600" cy="1371600"/>
          </a:xfrm>
        </p:spPr>
        <p:txBody>
          <a:bodyPr/>
          <a:lstStyle/>
          <a:p>
            <a:pPr lvl="1" algn="ctr" eaLnBrk="1" hangingPunct="1">
              <a:lnSpc>
                <a:spcPct val="120000"/>
              </a:lnSpc>
            </a:pPr>
            <a:r>
              <a:rPr lang="zh-CN" altLang="en-US" dirty="0">
                <a:solidFill>
                  <a:srgbClr val="008000"/>
                </a:solidFill>
                <a:ea typeface="黑体" pitchFamily="49" charset="-122"/>
              </a:rPr>
              <a:t>正态分布</a:t>
            </a:r>
            <a:r>
              <a:rPr lang="zh-CN" altLang="en-US" dirty="0">
                <a:ea typeface="黑体" pitchFamily="49" charset="-122"/>
              </a:rPr>
              <a:t>（参数：</a:t>
            </a:r>
            <a:r>
              <a:rPr lang="en-US" altLang="zh-CN" dirty="0">
                <a:ea typeface="黑体" pitchFamily="49" charset="-122"/>
              </a:rPr>
              <a:t>a, </a:t>
            </a:r>
            <a:r>
              <a:rPr lang="en-US" altLang="zh-CN" dirty="0">
                <a:ea typeface="黑体" pitchFamily="49" charset="-122"/>
                <a:sym typeface="Symbol" pitchFamily="18" charset="2"/>
              </a:rPr>
              <a:t></a:t>
            </a:r>
            <a:r>
              <a:rPr lang="en-US" altLang="zh-CN" dirty="0">
                <a:ea typeface="黑体" pitchFamily="49" charset="-122"/>
              </a:rPr>
              <a:t> </a:t>
            </a:r>
            <a:r>
              <a:rPr lang="zh-CN" altLang="en-US" dirty="0">
                <a:ea typeface="黑体" pitchFamily="49" charset="-122"/>
              </a:rPr>
              <a:t>）</a:t>
            </a:r>
          </a:p>
        </p:txBody>
      </p:sp>
      <p:graphicFrame>
        <p:nvGraphicFramePr>
          <p:cNvPr id="7" name="Object 4"/>
          <p:cNvGraphicFramePr>
            <a:graphicFrameLocks noChangeAspect="1"/>
          </p:cNvGraphicFramePr>
          <p:nvPr>
            <p:extLst>
              <p:ext uri="{D42A27DB-BD31-4B8C-83A1-F6EECF244321}">
                <p14:modId xmlns:p14="http://schemas.microsoft.com/office/powerpoint/2010/main" val="2799900154"/>
              </p:ext>
            </p:extLst>
          </p:nvPr>
        </p:nvGraphicFramePr>
        <p:xfrm>
          <a:off x="5164138" y="1855789"/>
          <a:ext cx="4745506" cy="1495425"/>
        </p:xfrm>
        <a:graphic>
          <a:graphicData uri="http://schemas.openxmlformats.org/presentationml/2006/ole">
            <mc:AlternateContent xmlns:mc="http://schemas.openxmlformats.org/markup-compatibility/2006">
              <mc:Choice xmlns:v="urn:schemas-microsoft-com:vml" Requires="v">
                <p:oleObj name="Equation" r:id="rId3" imgW="1993680" imgH="634680" progId="Equation.DSMT4">
                  <p:embed/>
                </p:oleObj>
              </mc:Choice>
              <mc:Fallback>
                <p:oleObj name="Equation" r:id="rId3" imgW="1993680" imgH="634680" progId="Equation.DSMT4">
                  <p:embed/>
                  <p:pic>
                    <p:nvPicPr>
                      <p:cNvPr id="7" name="Object 4"/>
                      <p:cNvPicPr>
                        <a:picLocks noChangeAspect="1" noChangeArrowheads="1"/>
                      </p:cNvPicPr>
                      <p:nvPr/>
                    </p:nvPicPr>
                    <p:blipFill>
                      <a:blip r:embed="rId4"/>
                      <a:srcRect/>
                      <a:stretch>
                        <a:fillRect/>
                      </a:stretch>
                    </p:blipFill>
                    <p:spPr bwMode="auto">
                      <a:xfrm>
                        <a:off x="5164138" y="1855789"/>
                        <a:ext cx="4745506" cy="1495425"/>
                      </a:xfrm>
                      <a:prstGeom prst="rect">
                        <a:avLst/>
                      </a:prstGeom>
                      <a:solidFill>
                        <a:srgbClr val="FFCCFF"/>
                      </a:solidFill>
                      <a:ln>
                        <a:noFill/>
                      </a:ln>
                      <a:effec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1136977871"/>
              </p:ext>
            </p:extLst>
          </p:nvPr>
        </p:nvGraphicFramePr>
        <p:xfrm>
          <a:off x="5151512" y="5354638"/>
          <a:ext cx="4760912" cy="1473200"/>
        </p:xfrm>
        <a:graphic>
          <a:graphicData uri="http://schemas.openxmlformats.org/presentationml/2006/ole">
            <mc:AlternateContent xmlns:mc="http://schemas.openxmlformats.org/markup-compatibility/2006">
              <mc:Choice xmlns:v="urn:schemas-microsoft-com:vml" Requires="v">
                <p:oleObj name="Equation" r:id="rId5" imgW="2145960" imgH="634680" progId="Equation.DSMT4">
                  <p:embed/>
                </p:oleObj>
              </mc:Choice>
              <mc:Fallback>
                <p:oleObj name="Equation" r:id="rId5" imgW="2145960" imgH="634680" progId="Equation.DSMT4">
                  <p:embed/>
                  <p:pic>
                    <p:nvPicPr>
                      <p:cNvPr id="8" name="Object 4"/>
                      <p:cNvPicPr>
                        <a:picLocks noChangeAspect="1" noChangeArrowheads="1"/>
                      </p:cNvPicPr>
                      <p:nvPr/>
                    </p:nvPicPr>
                    <p:blipFill>
                      <a:blip r:embed="rId6"/>
                      <a:srcRect/>
                      <a:stretch>
                        <a:fillRect/>
                      </a:stretch>
                    </p:blipFill>
                    <p:spPr bwMode="auto">
                      <a:xfrm>
                        <a:off x="5151512" y="5354638"/>
                        <a:ext cx="4760912" cy="1473200"/>
                      </a:xfrm>
                      <a:prstGeom prst="rect">
                        <a:avLst/>
                      </a:prstGeom>
                      <a:solidFill>
                        <a:schemeClr val="folHlink"/>
                      </a:solidFill>
                      <a:ln>
                        <a:noFill/>
                      </a:ln>
                      <a:effec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3154127867"/>
              </p:ext>
            </p:extLst>
          </p:nvPr>
        </p:nvGraphicFramePr>
        <p:xfrm>
          <a:off x="5166918" y="3717033"/>
          <a:ext cx="4745506" cy="1155289"/>
        </p:xfrm>
        <a:graphic>
          <a:graphicData uri="http://schemas.openxmlformats.org/presentationml/2006/ole">
            <mc:AlternateContent xmlns:mc="http://schemas.openxmlformats.org/markup-compatibility/2006">
              <mc:Choice xmlns:v="urn:schemas-microsoft-com:vml" Requires="v">
                <p:oleObj name="Equation" r:id="rId7" imgW="1536480" imgH="380880" progId="Equation.DSMT4">
                  <p:embed/>
                </p:oleObj>
              </mc:Choice>
              <mc:Fallback>
                <p:oleObj name="Equation" r:id="rId7" imgW="1536480" imgH="380880" progId="Equation.DSMT4">
                  <p:embed/>
                  <p:pic>
                    <p:nvPicPr>
                      <p:cNvPr id="9" name="Object 4"/>
                      <p:cNvPicPr>
                        <a:picLocks noChangeAspect="1" noChangeArrowheads="1"/>
                      </p:cNvPicPr>
                      <p:nvPr/>
                    </p:nvPicPr>
                    <p:blipFill>
                      <a:blip r:embed="rId8"/>
                      <a:srcRect/>
                      <a:stretch>
                        <a:fillRect/>
                      </a:stretch>
                    </p:blipFill>
                    <p:spPr bwMode="auto">
                      <a:xfrm>
                        <a:off x="5166918" y="3717033"/>
                        <a:ext cx="4745506" cy="1155289"/>
                      </a:xfrm>
                      <a:prstGeom prst="rect">
                        <a:avLst/>
                      </a:prstGeom>
                      <a:solidFill>
                        <a:srgbClr val="66FFFF"/>
                      </a:solidFill>
                      <a:ln>
                        <a:noFill/>
                      </a:ln>
                      <a:effectLst/>
                    </p:spPr>
                  </p:pic>
                </p:oleObj>
              </mc:Fallback>
            </mc:AlternateContent>
          </a:graphicData>
        </a:graphic>
      </p:graphicFrame>
      <p:pic>
        <p:nvPicPr>
          <p:cNvPr id="10" name="Picture 4"/>
          <p:cNvPicPr>
            <a:picLocks noChangeAspect="1" noChangeArrowheads="1"/>
          </p:cNvPicPr>
          <p:nvPr/>
        </p:nvPicPr>
        <p:blipFill rotWithShape="1">
          <a:blip r:embed="rId9">
            <a:extLst>
              <a:ext uri="{BEBA8EAE-BF5A-486C-A8C5-ECC9F3942E4B}">
                <a14:imgProps xmlns:a14="http://schemas.microsoft.com/office/drawing/2010/main">
                  <a14:imgLayer r:embed="rId10">
                    <a14:imgEffect>
                      <a14:brightnessContrast bright="20000" contrast="40000"/>
                    </a14:imgEffect>
                  </a14:imgLayer>
                </a14:imgProps>
              </a:ext>
              <a:ext uri="{28A0092B-C50C-407E-A947-70E740481C1C}">
                <a14:useLocalDpi xmlns:a14="http://schemas.microsoft.com/office/drawing/2010/main" val="0"/>
              </a:ext>
            </a:extLst>
          </a:blip>
          <a:srcRect t="6" r="73092" b="9604"/>
          <a:stretch/>
        </p:blipFill>
        <p:spPr bwMode="auto">
          <a:xfrm>
            <a:off x="1801908" y="1656292"/>
            <a:ext cx="2133852" cy="17727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p:cNvPicPr>
            <a:picLocks noChangeAspect="1" noChangeArrowheads="1"/>
          </p:cNvPicPr>
          <p:nvPr/>
        </p:nvPicPr>
        <p:blipFill rotWithShape="1">
          <a:blip r:embed="rId11">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30268" t="-382" r="40133" b="9991"/>
          <a:stretch/>
        </p:blipFill>
        <p:spPr bwMode="auto">
          <a:xfrm>
            <a:off x="1778984" y="5229201"/>
            <a:ext cx="2228784" cy="168319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p:cNvPicPr>
            <a:picLocks noChangeAspect="1" noChangeArrowheads="1"/>
          </p:cNvPicPr>
          <p:nvPr/>
        </p:nvPicPr>
        <p:blipFill rotWithShape="1">
          <a:blip r:embed="rId11">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8478" b="9518"/>
          <a:stretch/>
        </p:blipFill>
        <p:spPr bwMode="auto">
          <a:xfrm>
            <a:off x="1801908" y="3472294"/>
            <a:ext cx="2277868" cy="1684899"/>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EC1F949B-AC67-CD7B-A00A-D08D0F463DF0}"/>
              </a:ext>
            </a:extLst>
          </p:cNvPr>
          <p:cNvSpPr>
            <a:spLocks noGrp="1"/>
          </p:cNvSpPr>
          <p:nvPr>
            <p:ph type="sldNum" sz="quarter" idx="11"/>
          </p:nvPr>
        </p:nvSpPr>
        <p:spPr/>
        <p:txBody>
          <a:bodyPr/>
          <a:lstStyle/>
          <a:p>
            <a:pPr>
              <a:defRPr/>
            </a:pPr>
            <a:fld id="{E0FB5469-1AEB-496D-971A-66705BF2F73C}" type="slidenum">
              <a:rPr lang="en-US" altLang="zh-CN" smtClean="0"/>
              <a:pPr>
                <a:defRPr/>
              </a:pPr>
              <a:t>20</a:t>
            </a:fld>
            <a:endParaRPr lang="en-US" altLang="zh-CN"/>
          </a:p>
        </p:txBody>
      </p:sp>
    </p:spTree>
    <p:extLst>
      <p:ext uri="{BB962C8B-B14F-4D97-AF65-F5344CB8AC3E}">
        <p14:creationId xmlns:p14="http://schemas.microsoft.com/office/powerpoint/2010/main" val="130910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481864"/>
            <a:ext cx="8229600" cy="1371600"/>
          </a:xfrm>
        </p:spPr>
        <p:txBody>
          <a:bodyPr/>
          <a:lstStyle/>
          <a:p>
            <a:pPr lvl="1" algn="ctr" eaLnBrk="1" hangingPunct="1">
              <a:lnSpc>
                <a:spcPct val="120000"/>
              </a:lnSpc>
            </a:pPr>
            <a:r>
              <a:rPr lang="zh-CN" altLang="en-US" dirty="0">
                <a:solidFill>
                  <a:srgbClr val="008000"/>
                </a:solidFill>
                <a:ea typeface="黑体" pitchFamily="49" charset="-122"/>
              </a:rPr>
              <a:t>柯西分布</a:t>
            </a:r>
            <a:r>
              <a:rPr lang="zh-CN" altLang="en-US" dirty="0">
                <a:ea typeface="黑体" pitchFamily="49" charset="-122"/>
              </a:rPr>
              <a:t>（参数：</a:t>
            </a:r>
            <a:r>
              <a:rPr lang="en-US" altLang="zh-CN" dirty="0">
                <a:ea typeface="黑体" pitchFamily="49" charset="-122"/>
              </a:rPr>
              <a:t>a, </a:t>
            </a:r>
            <a:r>
              <a:rPr lang="zh-CN" altLang="en-US" dirty="0">
                <a:ea typeface="黑体" pitchFamily="49" charset="-122"/>
                <a:sym typeface="Symbol"/>
              </a:rPr>
              <a:t></a:t>
            </a:r>
            <a:r>
              <a:rPr lang="en-US" altLang="zh-CN" dirty="0">
                <a:ea typeface="黑体" pitchFamily="49" charset="-122"/>
              </a:rPr>
              <a:t>, </a:t>
            </a:r>
            <a:r>
              <a:rPr lang="zh-CN" altLang="en-US" dirty="0">
                <a:ea typeface="黑体" pitchFamily="49" charset="-122"/>
                <a:sym typeface="Symbol"/>
              </a:rPr>
              <a:t></a:t>
            </a:r>
            <a:r>
              <a:rPr lang="en-US" altLang="zh-CN" dirty="0">
                <a:ea typeface="黑体" pitchFamily="49" charset="-122"/>
              </a:rPr>
              <a:t> </a:t>
            </a:r>
            <a:r>
              <a:rPr lang="zh-CN" altLang="en-US" dirty="0">
                <a:ea typeface="黑体" pitchFamily="49" charset="-122"/>
              </a:rPr>
              <a:t>）</a:t>
            </a:r>
          </a:p>
        </p:txBody>
      </p:sp>
      <p:graphicFrame>
        <p:nvGraphicFramePr>
          <p:cNvPr id="7" name="Object 4"/>
          <p:cNvGraphicFramePr>
            <a:graphicFrameLocks noChangeAspect="1"/>
          </p:cNvGraphicFramePr>
          <p:nvPr>
            <p:extLst>
              <p:ext uri="{D42A27DB-BD31-4B8C-83A1-F6EECF244321}">
                <p14:modId xmlns:p14="http://schemas.microsoft.com/office/powerpoint/2010/main" val="1615114715"/>
              </p:ext>
            </p:extLst>
          </p:nvPr>
        </p:nvGraphicFramePr>
        <p:xfrm>
          <a:off x="4032250" y="1773239"/>
          <a:ext cx="6548438" cy="1470025"/>
        </p:xfrm>
        <a:graphic>
          <a:graphicData uri="http://schemas.openxmlformats.org/presentationml/2006/ole">
            <mc:AlternateContent xmlns:mc="http://schemas.openxmlformats.org/markup-compatibility/2006">
              <mc:Choice xmlns:v="urn:schemas-microsoft-com:vml" Requires="v">
                <p:oleObj name="Equation" r:id="rId3" imgW="3187440" imgH="685800" progId="Equation.DSMT4">
                  <p:embed/>
                </p:oleObj>
              </mc:Choice>
              <mc:Fallback>
                <p:oleObj name="Equation" r:id="rId3" imgW="3187440" imgH="685800" progId="Equation.DSMT4">
                  <p:embed/>
                  <p:pic>
                    <p:nvPicPr>
                      <p:cNvPr id="7" name="Object 4"/>
                      <p:cNvPicPr>
                        <a:picLocks noChangeAspect="1" noChangeArrowheads="1"/>
                      </p:cNvPicPr>
                      <p:nvPr/>
                    </p:nvPicPr>
                    <p:blipFill>
                      <a:blip r:embed="rId4"/>
                      <a:srcRect/>
                      <a:stretch>
                        <a:fillRect/>
                      </a:stretch>
                    </p:blipFill>
                    <p:spPr bwMode="auto">
                      <a:xfrm>
                        <a:off x="4032250" y="1773239"/>
                        <a:ext cx="6548438" cy="1470025"/>
                      </a:xfrm>
                      <a:prstGeom prst="rect">
                        <a:avLst/>
                      </a:prstGeom>
                      <a:solidFill>
                        <a:srgbClr val="FFCCFF"/>
                      </a:solidFill>
                      <a:ln>
                        <a:noFill/>
                      </a:ln>
                      <a:effec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710759215"/>
              </p:ext>
            </p:extLst>
          </p:nvPr>
        </p:nvGraphicFramePr>
        <p:xfrm>
          <a:off x="4054476" y="5294314"/>
          <a:ext cx="6526213" cy="1462087"/>
        </p:xfrm>
        <a:graphic>
          <a:graphicData uri="http://schemas.openxmlformats.org/presentationml/2006/ole">
            <mc:AlternateContent xmlns:mc="http://schemas.openxmlformats.org/markup-compatibility/2006">
              <mc:Choice xmlns:v="urn:schemas-microsoft-com:vml" Requires="v">
                <p:oleObj name="Equation" r:id="rId5" imgW="3238200" imgH="685800" progId="Equation.DSMT4">
                  <p:embed/>
                </p:oleObj>
              </mc:Choice>
              <mc:Fallback>
                <p:oleObj name="Equation" r:id="rId5" imgW="3238200" imgH="685800" progId="Equation.DSMT4">
                  <p:embed/>
                  <p:pic>
                    <p:nvPicPr>
                      <p:cNvPr id="8" name="Object 4"/>
                      <p:cNvPicPr>
                        <a:picLocks noChangeAspect="1" noChangeArrowheads="1"/>
                      </p:cNvPicPr>
                      <p:nvPr/>
                    </p:nvPicPr>
                    <p:blipFill>
                      <a:blip r:embed="rId6"/>
                      <a:srcRect/>
                      <a:stretch>
                        <a:fillRect/>
                      </a:stretch>
                    </p:blipFill>
                    <p:spPr bwMode="auto">
                      <a:xfrm>
                        <a:off x="4054476" y="5294314"/>
                        <a:ext cx="6526213" cy="1462087"/>
                      </a:xfrm>
                      <a:prstGeom prst="rect">
                        <a:avLst/>
                      </a:prstGeom>
                      <a:solidFill>
                        <a:schemeClr val="folHlink"/>
                      </a:solidFill>
                      <a:ln>
                        <a:noFill/>
                      </a:ln>
                      <a:effec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446205237"/>
              </p:ext>
            </p:extLst>
          </p:nvPr>
        </p:nvGraphicFramePr>
        <p:xfrm>
          <a:off x="4033839" y="3789041"/>
          <a:ext cx="6562725" cy="942975"/>
        </p:xfrm>
        <a:graphic>
          <a:graphicData uri="http://schemas.openxmlformats.org/presentationml/2006/ole">
            <mc:AlternateContent xmlns:mc="http://schemas.openxmlformats.org/markup-compatibility/2006">
              <mc:Choice xmlns:v="urn:schemas-microsoft-com:vml" Requires="v">
                <p:oleObj name="Equation" r:id="rId7" imgW="3047760" imgH="419040" progId="Equation.DSMT4">
                  <p:embed/>
                </p:oleObj>
              </mc:Choice>
              <mc:Fallback>
                <p:oleObj name="Equation" r:id="rId7" imgW="3047760" imgH="419040" progId="Equation.DSMT4">
                  <p:embed/>
                  <p:pic>
                    <p:nvPicPr>
                      <p:cNvPr id="9" name="Object 4"/>
                      <p:cNvPicPr>
                        <a:picLocks noChangeAspect="1" noChangeArrowheads="1"/>
                      </p:cNvPicPr>
                      <p:nvPr/>
                    </p:nvPicPr>
                    <p:blipFill>
                      <a:blip r:embed="rId8"/>
                      <a:srcRect/>
                      <a:stretch>
                        <a:fillRect/>
                      </a:stretch>
                    </p:blipFill>
                    <p:spPr bwMode="auto">
                      <a:xfrm>
                        <a:off x="4033839" y="3789041"/>
                        <a:ext cx="6562725" cy="942975"/>
                      </a:xfrm>
                      <a:prstGeom prst="rect">
                        <a:avLst/>
                      </a:prstGeom>
                      <a:solidFill>
                        <a:srgbClr val="66FFFF"/>
                      </a:solidFill>
                      <a:ln>
                        <a:noFill/>
                      </a:ln>
                      <a:effectLst/>
                    </p:spPr>
                  </p:pic>
                </p:oleObj>
              </mc:Fallback>
            </mc:AlternateContent>
          </a:graphicData>
        </a:graphic>
      </p:graphicFrame>
      <p:pic>
        <p:nvPicPr>
          <p:cNvPr id="10" name="Picture 4"/>
          <p:cNvPicPr>
            <a:picLocks noChangeAspect="1" noChangeArrowheads="1"/>
          </p:cNvPicPr>
          <p:nvPr/>
        </p:nvPicPr>
        <p:blipFill rotWithShape="1">
          <a:blip r:embed="rId9">
            <a:extLst>
              <a:ext uri="{28A0092B-C50C-407E-A947-70E740481C1C}">
                <a14:useLocalDpi xmlns:a14="http://schemas.microsoft.com/office/drawing/2010/main" val="0"/>
              </a:ext>
            </a:extLst>
          </a:blip>
          <a:srcRect t="6" r="73092" b="9604"/>
          <a:stretch/>
        </p:blipFill>
        <p:spPr bwMode="auto">
          <a:xfrm>
            <a:off x="1909662" y="1700808"/>
            <a:ext cx="2026098" cy="168319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0">
            <a:extLst>
              <a:ext uri="{BEBA8EAE-BF5A-486C-A8C5-ECC9F3942E4B}">
                <a14:imgProps xmlns:a14="http://schemas.microsoft.com/office/drawing/2010/main">
                  <a14:imgLayer r:embed="rId11">
                    <a14:imgEffect>
                      <a14:brightnessContrast bright="20000" contrast="20000"/>
                    </a14:imgEffect>
                  </a14:imgLayer>
                </a14:imgProps>
              </a:ext>
              <a:ext uri="{28A0092B-C50C-407E-A947-70E740481C1C}">
                <a14:useLocalDpi xmlns:a14="http://schemas.microsoft.com/office/drawing/2010/main" val="0"/>
              </a:ext>
            </a:extLst>
          </a:blip>
          <a:srcRect b="11116"/>
          <a:stretch/>
        </p:blipFill>
        <p:spPr bwMode="auto">
          <a:xfrm>
            <a:off x="1926092" y="3356993"/>
            <a:ext cx="2009668" cy="168806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5"/>
          <p:cNvPicPr>
            <a:picLocks noChangeAspect="1" noChangeArrowheads="1"/>
          </p:cNvPicPr>
          <p:nvPr/>
        </p:nvPicPr>
        <p:blipFill rotWithShape="1">
          <a:blip r:embed="rId12">
            <a:extLst>
              <a:ext uri="{BEBA8EAE-BF5A-486C-A8C5-ECC9F3942E4B}">
                <a14:imgProps xmlns:a14="http://schemas.microsoft.com/office/drawing/2010/main">
                  <a14:imgLayer r:embed="rId13">
                    <a14:imgEffect>
                      <a14:brightnessContrast bright="20000" contrast="40000"/>
                    </a14:imgEffect>
                  </a14:imgLayer>
                </a14:imgProps>
              </a:ext>
              <a:ext uri="{28A0092B-C50C-407E-A947-70E740481C1C}">
                <a14:useLocalDpi xmlns:a14="http://schemas.microsoft.com/office/drawing/2010/main" val="0"/>
              </a:ext>
            </a:extLst>
          </a:blip>
          <a:srcRect r="2339" b="12656"/>
          <a:stretch/>
        </p:blipFill>
        <p:spPr bwMode="auto">
          <a:xfrm>
            <a:off x="1981200" y="1556793"/>
            <a:ext cx="1944166" cy="17764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p:cNvPicPr>
            <a:picLocks noChangeAspect="1" noChangeArrowheads="1"/>
          </p:cNvPicPr>
          <p:nvPr/>
        </p:nvPicPr>
        <p:blipFill rotWithShape="1">
          <a:blip r:embed="rId14">
            <a:extLst>
              <a:ext uri="{BEBA8EAE-BF5A-486C-A8C5-ECC9F3942E4B}">
                <a14:imgProps xmlns:a14="http://schemas.microsoft.com/office/drawing/2010/main">
                  <a14:imgLayer r:embed="rId15">
                    <a14:imgEffect>
                      <a14:brightnessContrast bright="20000" contrast="20000"/>
                    </a14:imgEffect>
                  </a14:imgLayer>
                </a14:imgProps>
              </a:ext>
              <a:ext uri="{28A0092B-C50C-407E-A947-70E740481C1C}">
                <a14:useLocalDpi xmlns:a14="http://schemas.microsoft.com/office/drawing/2010/main" val="0"/>
              </a:ext>
            </a:extLst>
          </a:blip>
          <a:srcRect r="2295" b="7601"/>
          <a:stretch/>
        </p:blipFill>
        <p:spPr bwMode="auto">
          <a:xfrm>
            <a:off x="1950118" y="5085184"/>
            <a:ext cx="1975249" cy="1782164"/>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28DB4601-68C6-2E8F-6283-987F99D5B3D0}"/>
              </a:ext>
            </a:extLst>
          </p:cNvPr>
          <p:cNvSpPr>
            <a:spLocks noGrp="1"/>
          </p:cNvSpPr>
          <p:nvPr>
            <p:ph type="sldNum" sz="quarter" idx="11"/>
          </p:nvPr>
        </p:nvSpPr>
        <p:spPr/>
        <p:txBody>
          <a:bodyPr/>
          <a:lstStyle/>
          <a:p>
            <a:pPr>
              <a:defRPr/>
            </a:pPr>
            <a:fld id="{E0FB5469-1AEB-496D-971A-66705BF2F73C}" type="slidenum">
              <a:rPr lang="en-US" altLang="zh-CN" smtClean="0"/>
              <a:pPr>
                <a:defRPr/>
              </a:pPr>
              <a:t>21</a:t>
            </a:fld>
            <a:endParaRPr lang="en-US" altLang="zh-CN"/>
          </a:p>
        </p:txBody>
      </p:sp>
    </p:spTree>
    <p:extLst>
      <p:ext uri="{BB962C8B-B14F-4D97-AF65-F5344CB8AC3E}">
        <p14:creationId xmlns:p14="http://schemas.microsoft.com/office/powerpoint/2010/main" val="139473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lgn="ctr" eaLnBrk="1" hangingPunct="1">
              <a:lnSpc>
                <a:spcPct val="120000"/>
              </a:lnSpc>
            </a:pPr>
            <a:r>
              <a:rPr lang="zh-CN" altLang="en-US" dirty="0">
                <a:solidFill>
                  <a:srgbClr val="008000"/>
                </a:solidFill>
                <a:ea typeface="黑体" pitchFamily="49" charset="-122"/>
              </a:rPr>
              <a:t>岭形分布</a:t>
            </a:r>
            <a:r>
              <a:rPr lang="zh-CN" altLang="en-US" dirty="0">
                <a:ea typeface="黑体" pitchFamily="49" charset="-122"/>
              </a:rPr>
              <a:t>（参数：</a:t>
            </a:r>
            <a:r>
              <a:rPr lang="en-US" altLang="zh-CN" dirty="0">
                <a:ea typeface="黑体" pitchFamily="49" charset="-122"/>
              </a:rPr>
              <a:t>a</a:t>
            </a:r>
            <a:r>
              <a:rPr lang="en-US" altLang="zh-CN" baseline="-25000" dirty="0">
                <a:ea typeface="黑体" pitchFamily="49" charset="-122"/>
              </a:rPr>
              <a:t>1</a:t>
            </a:r>
            <a:r>
              <a:rPr lang="en-US" altLang="zh-CN" dirty="0">
                <a:ea typeface="黑体" pitchFamily="49" charset="-122"/>
              </a:rPr>
              <a:t>, a</a:t>
            </a:r>
            <a:r>
              <a:rPr lang="en-US" altLang="zh-CN" baseline="-25000" dirty="0">
                <a:ea typeface="黑体" pitchFamily="49" charset="-122"/>
              </a:rPr>
              <a:t>2</a:t>
            </a:r>
            <a:r>
              <a:rPr lang="en-US" altLang="zh-CN" dirty="0">
                <a:ea typeface="黑体" pitchFamily="49" charset="-122"/>
              </a:rPr>
              <a:t>, a</a:t>
            </a:r>
            <a:r>
              <a:rPr lang="en-US" altLang="zh-CN" baseline="-25000" dirty="0">
                <a:ea typeface="黑体" pitchFamily="49" charset="-122"/>
              </a:rPr>
              <a:t>3</a:t>
            </a:r>
            <a:r>
              <a:rPr lang="en-US" altLang="zh-CN" dirty="0">
                <a:ea typeface="黑体" pitchFamily="49" charset="-122"/>
              </a:rPr>
              <a:t>, a</a:t>
            </a:r>
            <a:r>
              <a:rPr lang="en-US" altLang="zh-CN" baseline="-25000" dirty="0">
                <a:ea typeface="黑体" pitchFamily="49" charset="-122"/>
              </a:rPr>
              <a:t>4 </a:t>
            </a:r>
            <a:r>
              <a:rPr lang="zh-CN" altLang="en-US" dirty="0">
                <a:ea typeface="黑体" pitchFamily="49" charset="-122"/>
              </a:rPr>
              <a:t>）</a:t>
            </a:r>
          </a:p>
        </p:txBody>
      </p:sp>
      <p:sp>
        <p:nvSpPr>
          <p:cNvPr id="4" name="内容占位符 3"/>
          <p:cNvSpPr>
            <a:spLocks noGrp="1"/>
          </p:cNvSpPr>
          <p:nvPr>
            <p:ph idx="1"/>
          </p:nvPr>
        </p:nvSpPr>
        <p:spPr>
          <a:xfrm>
            <a:off x="1981200" y="5779919"/>
            <a:ext cx="8229600" cy="592653"/>
          </a:xfrm>
        </p:spPr>
        <p:txBody>
          <a:bodyPr/>
          <a:lstStyle/>
          <a:p>
            <a:pPr marL="0" indent="0">
              <a:buNone/>
            </a:pPr>
            <a:r>
              <a:rPr lang="zh-CN" altLang="en-US" b="1" dirty="0"/>
              <a:t>偏小型                 偏大型                     中间型</a:t>
            </a:r>
          </a:p>
        </p:txBody>
      </p:sp>
      <p:pic>
        <p:nvPicPr>
          <p:cNvPr id="16" name="Picture 4"/>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09600" y="2132857"/>
            <a:ext cx="10972800" cy="3647062"/>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BE77C957-0750-75C1-E684-912CCFD2CF03}"/>
              </a:ext>
            </a:extLst>
          </p:cNvPr>
          <p:cNvSpPr>
            <a:spLocks noGrp="1"/>
          </p:cNvSpPr>
          <p:nvPr>
            <p:ph type="sldNum" sz="quarter" idx="11"/>
          </p:nvPr>
        </p:nvSpPr>
        <p:spPr/>
        <p:txBody>
          <a:bodyPr/>
          <a:lstStyle/>
          <a:p>
            <a:pPr>
              <a:defRPr/>
            </a:pPr>
            <a:fld id="{E0FB5469-1AEB-496D-971A-66705BF2F73C}" type="slidenum">
              <a:rPr lang="en-US" altLang="zh-CN" smtClean="0"/>
              <a:pPr>
                <a:defRPr/>
              </a:pPr>
              <a:t>22</a:t>
            </a:fld>
            <a:endParaRPr lang="en-US" altLang="zh-CN"/>
          </a:p>
        </p:txBody>
      </p:sp>
    </p:spTree>
    <p:extLst>
      <p:ext uri="{BB962C8B-B14F-4D97-AF65-F5344CB8AC3E}">
        <p14:creationId xmlns:p14="http://schemas.microsoft.com/office/powerpoint/2010/main" val="2585660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60648"/>
            <a:ext cx="8229600" cy="1371600"/>
          </a:xfrm>
        </p:spPr>
        <p:txBody>
          <a:bodyPr/>
          <a:lstStyle/>
          <a:p>
            <a:pPr lvl="1" algn="ctr" eaLnBrk="1" hangingPunct="1">
              <a:lnSpc>
                <a:spcPct val="120000"/>
              </a:lnSpc>
            </a:pPr>
            <a:r>
              <a:rPr lang="zh-CN" altLang="en-US" dirty="0">
                <a:solidFill>
                  <a:srgbClr val="008000"/>
                </a:solidFill>
                <a:ea typeface="黑体" pitchFamily="49" charset="-122"/>
              </a:rPr>
              <a:t>岭形分布</a:t>
            </a:r>
            <a:r>
              <a:rPr lang="zh-CN" altLang="en-US" dirty="0">
                <a:ea typeface="黑体" pitchFamily="49" charset="-122"/>
              </a:rPr>
              <a:t>（参数：</a:t>
            </a:r>
            <a:r>
              <a:rPr lang="en-US" altLang="zh-CN" dirty="0">
                <a:ea typeface="黑体" pitchFamily="49" charset="-122"/>
              </a:rPr>
              <a:t>a</a:t>
            </a:r>
            <a:r>
              <a:rPr lang="en-US" altLang="zh-CN" baseline="-25000" dirty="0">
                <a:ea typeface="黑体" pitchFamily="49" charset="-122"/>
              </a:rPr>
              <a:t>1</a:t>
            </a:r>
            <a:r>
              <a:rPr lang="en-US" altLang="zh-CN" dirty="0">
                <a:ea typeface="黑体" pitchFamily="49" charset="-122"/>
              </a:rPr>
              <a:t>, a</a:t>
            </a:r>
            <a:r>
              <a:rPr lang="en-US" altLang="zh-CN" baseline="-25000" dirty="0">
                <a:ea typeface="黑体" pitchFamily="49" charset="-122"/>
              </a:rPr>
              <a:t>2</a:t>
            </a:r>
            <a:r>
              <a:rPr lang="en-US" altLang="zh-CN" dirty="0">
                <a:ea typeface="黑体" pitchFamily="49" charset="-122"/>
              </a:rPr>
              <a:t>, a</a:t>
            </a:r>
            <a:r>
              <a:rPr lang="en-US" altLang="zh-CN" baseline="-25000" dirty="0">
                <a:ea typeface="黑体" pitchFamily="49" charset="-122"/>
              </a:rPr>
              <a:t>3</a:t>
            </a:r>
            <a:r>
              <a:rPr lang="en-US" altLang="zh-CN" dirty="0">
                <a:ea typeface="黑体" pitchFamily="49" charset="-122"/>
              </a:rPr>
              <a:t>, a</a:t>
            </a:r>
            <a:r>
              <a:rPr lang="en-US" altLang="zh-CN" baseline="-25000" dirty="0">
                <a:ea typeface="黑体" pitchFamily="49" charset="-122"/>
              </a:rPr>
              <a:t>4 </a:t>
            </a:r>
            <a:r>
              <a:rPr lang="zh-CN" altLang="en-US" dirty="0">
                <a:ea typeface="黑体" pitchFamily="49" charset="-122"/>
              </a:rPr>
              <a:t>）</a:t>
            </a:r>
          </a:p>
        </p:txBody>
      </p:sp>
      <p:pic>
        <p:nvPicPr>
          <p:cNvPr id="16" name="Picture 4"/>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1" r="71975" b="10618"/>
          <a:stretch/>
        </p:blipFill>
        <p:spPr bwMode="auto">
          <a:xfrm>
            <a:off x="1487489" y="1268760"/>
            <a:ext cx="3108534" cy="271380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4"/>
          <p:cNvGraphicFramePr>
            <a:graphicFrameLocks noChangeAspect="1"/>
          </p:cNvGraphicFramePr>
          <p:nvPr>
            <p:extLst>
              <p:ext uri="{D42A27DB-BD31-4B8C-83A1-F6EECF244321}">
                <p14:modId xmlns:p14="http://schemas.microsoft.com/office/powerpoint/2010/main" val="2044577419"/>
              </p:ext>
            </p:extLst>
          </p:nvPr>
        </p:nvGraphicFramePr>
        <p:xfrm>
          <a:off x="4853749" y="1556793"/>
          <a:ext cx="5565775" cy="2130425"/>
        </p:xfrm>
        <a:graphic>
          <a:graphicData uri="http://schemas.openxmlformats.org/presentationml/2006/ole">
            <mc:AlternateContent xmlns:mc="http://schemas.openxmlformats.org/markup-compatibility/2006">
              <mc:Choice xmlns:v="urn:schemas-microsoft-com:vml" Requires="v">
                <p:oleObj name="Equation" r:id="rId5" imgW="3085920" imgH="1193760" progId="Equation.DSMT4">
                  <p:embed/>
                </p:oleObj>
              </mc:Choice>
              <mc:Fallback>
                <p:oleObj name="Equation" r:id="rId5" imgW="3085920" imgH="1193760" progId="Equation.DSMT4">
                  <p:embed/>
                  <p:pic>
                    <p:nvPicPr>
                      <p:cNvPr id="4" name="Object 4"/>
                      <p:cNvPicPr>
                        <a:picLocks noChangeAspect="1" noChangeArrowheads="1"/>
                      </p:cNvPicPr>
                      <p:nvPr/>
                    </p:nvPicPr>
                    <p:blipFill>
                      <a:blip r:embed="rId6"/>
                      <a:srcRect/>
                      <a:stretch>
                        <a:fillRect/>
                      </a:stretch>
                    </p:blipFill>
                    <p:spPr bwMode="auto">
                      <a:xfrm>
                        <a:off x="4853749" y="1556793"/>
                        <a:ext cx="5565775" cy="2130425"/>
                      </a:xfrm>
                      <a:prstGeom prst="rect">
                        <a:avLst/>
                      </a:prstGeom>
                      <a:solidFill>
                        <a:srgbClr val="FFCCFF"/>
                      </a:solidFill>
                      <a:ln>
                        <a:noFill/>
                      </a:ln>
                      <a:effectLst/>
                    </p:spPr>
                  </p:pic>
                </p:oleObj>
              </mc:Fallback>
            </mc:AlternateContent>
          </a:graphicData>
        </a:graphic>
      </p:graphicFrame>
      <p:pic>
        <p:nvPicPr>
          <p:cNvPr id="5" name="Picture 4"/>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31229" r="37543" b="10617"/>
          <a:stretch/>
        </p:blipFill>
        <p:spPr bwMode="auto">
          <a:xfrm>
            <a:off x="1673915" y="3963277"/>
            <a:ext cx="2894723" cy="28947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Object 4"/>
          <p:cNvGraphicFramePr>
            <a:graphicFrameLocks noChangeAspect="1"/>
          </p:cNvGraphicFramePr>
          <p:nvPr>
            <p:extLst>
              <p:ext uri="{D42A27DB-BD31-4B8C-83A1-F6EECF244321}">
                <p14:modId xmlns:p14="http://schemas.microsoft.com/office/powerpoint/2010/main" val="3551972249"/>
              </p:ext>
            </p:extLst>
          </p:nvPr>
        </p:nvGraphicFramePr>
        <p:xfrm>
          <a:off x="4831843" y="4221089"/>
          <a:ext cx="5564187" cy="2132013"/>
        </p:xfrm>
        <a:graphic>
          <a:graphicData uri="http://schemas.openxmlformats.org/presentationml/2006/ole">
            <mc:AlternateContent xmlns:mc="http://schemas.openxmlformats.org/markup-compatibility/2006">
              <mc:Choice xmlns:v="urn:schemas-microsoft-com:vml" Requires="v">
                <p:oleObj name="Equation" r:id="rId7" imgW="3085920" imgH="1193760" progId="Equation.DSMT4">
                  <p:embed/>
                </p:oleObj>
              </mc:Choice>
              <mc:Fallback>
                <p:oleObj name="Equation" r:id="rId7" imgW="3085920" imgH="1193760" progId="Equation.DSMT4">
                  <p:embed/>
                  <p:pic>
                    <p:nvPicPr>
                      <p:cNvPr id="6" name="Object 4"/>
                      <p:cNvPicPr>
                        <a:picLocks noChangeAspect="1" noChangeArrowheads="1"/>
                      </p:cNvPicPr>
                      <p:nvPr/>
                    </p:nvPicPr>
                    <p:blipFill>
                      <a:blip r:embed="rId8"/>
                      <a:srcRect/>
                      <a:stretch>
                        <a:fillRect/>
                      </a:stretch>
                    </p:blipFill>
                    <p:spPr bwMode="auto">
                      <a:xfrm>
                        <a:off x="4831843" y="4221089"/>
                        <a:ext cx="5564187" cy="2132013"/>
                      </a:xfrm>
                      <a:prstGeom prst="rect">
                        <a:avLst/>
                      </a:prstGeom>
                      <a:solidFill>
                        <a:schemeClr val="accent6">
                          <a:lumMod val="20000"/>
                          <a:lumOff val="80000"/>
                        </a:schemeClr>
                      </a:solid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73ECAF80-2BF5-E9EF-D4C8-023F8BD02CEE}"/>
              </a:ext>
            </a:extLst>
          </p:cNvPr>
          <p:cNvSpPr>
            <a:spLocks noGrp="1"/>
          </p:cNvSpPr>
          <p:nvPr>
            <p:ph type="sldNum" sz="quarter" idx="11"/>
          </p:nvPr>
        </p:nvSpPr>
        <p:spPr/>
        <p:txBody>
          <a:bodyPr/>
          <a:lstStyle/>
          <a:p>
            <a:pPr>
              <a:defRPr/>
            </a:pPr>
            <a:fld id="{E0FB5469-1AEB-496D-971A-66705BF2F73C}" type="slidenum">
              <a:rPr lang="en-US" altLang="zh-CN" smtClean="0"/>
              <a:pPr>
                <a:defRPr/>
              </a:pPr>
              <a:t>23</a:t>
            </a:fld>
            <a:endParaRPr lang="en-US" altLang="zh-CN"/>
          </a:p>
        </p:txBody>
      </p:sp>
    </p:spTree>
    <p:extLst>
      <p:ext uri="{BB962C8B-B14F-4D97-AF65-F5344CB8AC3E}">
        <p14:creationId xmlns:p14="http://schemas.microsoft.com/office/powerpoint/2010/main" val="113862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64848" b="18097"/>
          <a:stretch/>
        </p:blipFill>
        <p:spPr bwMode="auto">
          <a:xfrm>
            <a:off x="407368" y="2315427"/>
            <a:ext cx="4608512" cy="357571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Object 4"/>
          <p:cNvGraphicFramePr>
            <a:graphicFrameLocks noChangeAspect="1"/>
          </p:cNvGraphicFramePr>
          <p:nvPr>
            <p:extLst>
              <p:ext uri="{D42A27DB-BD31-4B8C-83A1-F6EECF244321}">
                <p14:modId xmlns:p14="http://schemas.microsoft.com/office/powerpoint/2010/main" val="1723007172"/>
              </p:ext>
            </p:extLst>
          </p:nvPr>
        </p:nvGraphicFramePr>
        <p:xfrm>
          <a:off x="5375920" y="2132856"/>
          <a:ext cx="6088063" cy="3760787"/>
        </p:xfrm>
        <a:graphic>
          <a:graphicData uri="http://schemas.openxmlformats.org/presentationml/2006/ole">
            <mc:AlternateContent xmlns:mc="http://schemas.openxmlformats.org/markup-compatibility/2006">
              <mc:Choice xmlns:v="urn:schemas-microsoft-com:vml" Requires="v">
                <p:oleObj name="Equation" r:id="rId5" imgW="3136680" imgH="1854000" progId="Equation.DSMT4">
                  <p:embed/>
                </p:oleObj>
              </mc:Choice>
              <mc:Fallback>
                <p:oleObj name="Equation" r:id="rId5" imgW="3136680" imgH="1854000" progId="Equation.DSMT4">
                  <p:embed/>
                  <p:pic>
                    <p:nvPicPr>
                      <p:cNvPr id="9" name="Object 4"/>
                      <p:cNvPicPr>
                        <a:picLocks noChangeAspect="1" noChangeArrowheads="1"/>
                      </p:cNvPicPr>
                      <p:nvPr/>
                    </p:nvPicPr>
                    <p:blipFill>
                      <a:blip r:embed="rId6"/>
                      <a:srcRect/>
                      <a:stretch>
                        <a:fillRect/>
                      </a:stretch>
                    </p:blipFill>
                    <p:spPr bwMode="auto">
                      <a:xfrm>
                        <a:off x="5375920" y="2132856"/>
                        <a:ext cx="6088063" cy="3760787"/>
                      </a:xfrm>
                      <a:prstGeom prst="rect">
                        <a:avLst/>
                      </a:prstGeom>
                      <a:solidFill>
                        <a:srgbClr val="66FFFF"/>
                      </a:solidFill>
                      <a:ln>
                        <a:noFill/>
                      </a:ln>
                      <a:effectLst/>
                    </p:spPr>
                  </p:pic>
                </p:oleObj>
              </mc:Fallback>
            </mc:AlternateContent>
          </a:graphicData>
        </a:graphic>
      </p:graphicFrame>
      <p:sp>
        <p:nvSpPr>
          <p:cNvPr id="2" name="标题 1"/>
          <p:cNvSpPr>
            <a:spLocks noGrp="1"/>
          </p:cNvSpPr>
          <p:nvPr>
            <p:ph type="title"/>
          </p:nvPr>
        </p:nvSpPr>
        <p:spPr>
          <a:xfrm>
            <a:off x="1981200" y="332656"/>
            <a:ext cx="8229600" cy="1371600"/>
          </a:xfrm>
        </p:spPr>
        <p:txBody>
          <a:bodyPr/>
          <a:lstStyle/>
          <a:p>
            <a:pPr lvl="1" algn="ctr" eaLnBrk="1" hangingPunct="1">
              <a:lnSpc>
                <a:spcPct val="120000"/>
              </a:lnSpc>
            </a:pPr>
            <a:r>
              <a:rPr lang="zh-CN" altLang="en-US" dirty="0">
                <a:solidFill>
                  <a:srgbClr val="008000"/>
                </a:solidFill>
                <a:ea typeface="黑体" pitchFamily="49" charset="-122"/>
              </a:rPr>
              <a:t>岭形分布</a:t>
            </a:r>
            <a:r>
              <a:rPr lang="zh-CN" altLang="en-US" dirty="0">
                <a:ea typeface="黑体" pitchFamily="49" charset="-122"/>
              </a:rPr>
              <a:t>（参数：</a:t>
            </a:r>
            <a:r>
              <a:rPr lang="en-US" altLang="zh-CN" dirty="0">
                <a:ea typeface="黑体" pitchFamily="49" charset="-122"/>
              </a:rPr>
              <a:t>a</a:t>
            </a:r>
            <a:r>
              <a:rPr lang="en-US" altLang="zh-CN" baseline="-25000" dirty="0">
                <a:ea typeface="黑体" pitchFamily="49" charset="-122"/>
              </a:rPr>
              <a:t>1</a:t>
            </a:r>
            <a:r>
              <a:rPr lang="en-US" altLang="zh-CN" dirty="0">
                <a:ea typeface="黑体" pitchFamily="49" charset="-122"/>
              </a:rPr>
              <a:t>, a</a:t>
            </a:r>
            <a:r>
              <a:rPr lang="en-US" altLang="zh-CN" baseline="-25000" dirty="0">
                <a:ea typeface="黑体" pitchFamily="49" charset="-122"/>
              </a:rPr>
              <a:t>2</a:t>
            </a:r>
            <a:r>
              <a:rPr lang="en-US" altLang="zh-CN" dirty="0">
                <a:ea typeface="黑体" pitchFamily="49" charset="-122"/>
              </a:rPr>
              <a:t>, a</a:t>
            </a:r>
            <a:r>
              <a:rPr lang="en-US" altLang="zh-CN" baseline="-25000" dirty="0">
                <a:ea typeface="黑体" pitchFamily="49" charset="-122"/>
              </a:rPr>
              <a:t>3</a:t>
            </a:r>
            <a:r>
              <a:rPr lang="en-US" altLang="zh-CN" dirty="0">
                <a:ea typeface="黑体" pitchFamily="49" charset="-122"/>
              </a:rPr>
              <a:t>, a</a:t>
            </a:r>
            <a:r>
              <a:rPr lang="en-US" altLang="zh-CN" baseline="-25000" dirty="0">
                <a:ea typeface="黑体" pitchFamily="49" charset="-122"/>
              </a:rPr>
              <a:t>4 </a:t>
            </a:r>
            <a:r>
              <a:rPr lang="zh-CN" altLang="en-US" dirty="0">
                <a:ea typeface="黑体" pitchFamily="49" charset="-122"/>
              </a:rPr>
              <a:t>）</a:t>
            </a:r>
          </a:p>
        </p:txBody>
      </p:sp>
      <p:sp>
        <p:nvSpPr>
          <p:cNvPr id="3" name="灯片编号占位符 2">
            <a:extLst>
              <a:ext uri="{FF2B5EF4-FFF2-40B4-BE49-F238E27FC236}">
                <a16:creationId xmlns:a16="http://schemas.microsoft.com/office/drawing/2014/main" id="{DE083502-85C7-7EEB-A626-6B036EC8E59E}"/>
              </a:ext>
            </a:extLst>
          </p:cNvPr>
          <p:cNvSpPr>
            <a:spLocks noGrp="1"/>
          </p:cNvSpPr>
          <p:nvPr>
            <p:ph type="sldNum" sz="quarter" idx="11"/>
          </p:nvPr>
        </p:nvSpPr>
        <p:spPr/>
        <p:txBody>
          <a:bodyPr/>
          <a:lstStyle/>
          <a:p>
            <a:pPr>
              <a:defRPr/>
            </a:pPr>
            <a:fld id="{E0FB5469-1AEB-496D-971A-66705BF2F73C}" type="slidenum">
              <a:rPr lang="en-US" altLang="zh-CN" smtClean="0"/>
              <a:pPr>
                <a:defRPr/>
              </a:pPr>
              <a:t>24</a:t>
            </a:fld>
            <a:endParaRPr lang="en-US" altLang="zh-CN"/>
          </a:p>
        </p:txBody>
      </p:sp>
    </p:spTree>
    <p:extLst>
      <p:ext uri="{BB962C8B-B14F-4D97-AF65-F5344CB8AC3E}">
        <p14:creationId xmlns:p14="http://schemas.microsoft.com/office/powerpoint/2010/main" val="120698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pPr algn="ctr"/>
            <a:r>
              <a:rPr lang="zh-CN" altLang="en-US" dirty="0">
                <a:solidFill>
                  <a:srgbClr val="008000"/>
                </a:solidFill>
                <a:latin typeface="黑体" panose="02010609060101010101" pitchFamily="49" charset="-122"/>
                <a:ea typeface="黑体" panose="02010609060101010101" pitchFamily="49" charset="-122"/>
              </a:rPr>
              <a:t>选择</a:t>
            </a:r>
            <a:r>
              <a:rPr lang="en-US" altLang="zh-CN" dirty="0">
                <a:solidFill>
                  <a:srgbClr val="008000"/>
                </a:solidFill>
                <a:latin typeface="黑体" panose="02010609060101010101" pitchFamily="49" charset="-122"/>
                <a:ea typeface="黑体" panose="02010609060101010101" pitchFamily="49" charset="-122"/>
              </a:rPr>
              <a:t>F</a:t>
            </a:r>
            <a:r>
              <a:rPr lang="zh-CN" altLang="en-US" dirty="0">
                <a:solidFill>
                  <a:srgbClr val="008000"/>
                </a:solidFill>
                <a:latin typeface="黑体" panose="02010609060101010101" pitchFamily="49" charset="-122"/>
                <a:ea typeface="黑体" panose="02010609060101010101" pitchFamily="49" charset="-122"/>
              </a:rPr>
              <a:t>分布的两种方式</a:t>
            </a:r>
          </a:p>
        </p:txBody>
      </p:sp>
      <p:sp>
        <p:nvSpPr>
          <p:cNvPr id="684035" name="Rectangle 3"/>
          <p:cNvSpPr>
            <a:spLocks noGrp="1" noChangeArrowheads="1"/>
          </p:cNvSpPr>
          <p:nvPr>
            <p:ph type="body" idx="1"/>
          </p:nvPr>
        </p:nvSpPr>
        <p:spPr>
          <a:xfrm>
            <a:off x="767408" y="1981200"/>
            <a:ext cx="10814992" cy="4267200"/>
          </a:xfrm>
        </p:spPr>
        <p:txBody>
          <a:bodyPr/>
          <a:lstStyle/>
          <a:p>
            <a:pPr marL="514350" indent="-514350">
              <a:lnSpc>
                <a:spcPct val="120000"/>
              </a:lnSpc>
              <a:buFont typeface="+mj-lt"/>
              <a:buAutoNum type="arabicPeriod"/>
            </a:pPr>
            <a:r>
              <a:rPr lang="zh-CN" altLang="en-US" dirty="0">
                <a:solidFill>
                  <a:srgbClr val="FF0000"/>
                </a:solidFill>
                <a:latin typeface="黑体" panose="02010609060101010101" pitchFamily="49" charset="-122"/>
                <a:ea typeface="黑体" panose="02010609060101010101" pitchFamily="49" charset="-122"/>
              </a:rPr>
              <a:t>直接根据讨论对象的特点选择</a:t>
            </a:r>
            <a:r>
              <a:rPr lang="en-US" altLang="zh-CN"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指派</a:t>
            </a:r>
          </a:p>
          <a:p>
            <a:pPr marL="514350" indent="-514350">
              <a:lnSpc>
                <a:spcPct val="120000"/>
              </a:lnSpc>
              <a:buFont typeface="+mj-lt"/>
              <a:buAutoNum type="arabicPeriod"/>
            </a:pPr>
            <a:r>
              <a:rPr lang="zh-CN" altLang="en-US" dirty="0">
                <a:solidFill>
                  <a:srgbClr val="FF0000"/>
                </a:solidFill>
                <a:latin typeface="黑体" panose="02010609060101010101" pitchFamily="49" charset="-122"/>
                <a:ea typeface="黑体" panose="02010609060101010101" pitchFamily="49" charset="-122"/>
              </a:rPr>
              <a:t>利用模糊统计</a:t>
            </a:r>
            <a:r>
              <a:rPr lang="en-US" altLang="zh-CN"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拟合</a:t>
            </a:r>
          </a:p>
          <a:p>
            <a:pPr lvl="1">
              <a:lnSpc>
                <a:spcPct val="120000"/>
              </a:lnSpc>
            </a:pPr>
            <a:r>
              <a:rPr lang="zh-CN" altLang="en-US" sz="3200" dirty="0">
                <a:latin typeface="黑体" panose="02010609060101010101" pitchFamily="49" charset="-122"/>
                <a:ea typeface="黑体" panose="02010609060101010101" pitchFamily="49" charset="-122"/>
              </a:rPr>
              <a:t>通过统计资料得到大致曲线</a:t>
            </a:r>
          </a:p>
          <a:p>
            <a:pPr lvl="1">
              <a:lnSpc>
                <a:spcPct val="120000"/>
              </a:lnSpc>
            </a:pPr>
            <a:r>
              <a:rPr lang="zh-CN" altLang="en-US" sz="3200" dirty="0">
                <a:latin typeface="黑体" panose="02010609060101010101" pitchFamily="49" charset="-122"/>
                <a:ea typeface="黑体" panose="02010609060101010101" pitchFamily="49" charset="-122"/>
              </a:rPr>
              <a:t>与</a:t>
            </a:r>
            <a:r>
              <a:rPr lang="en-US" altLang="zh-CN" sz="3200" dirty="0">
                <a:latin typeface="黑体" panose="02010609060101010101" pitchFamily="49" charset="-122"/>
                <a:ea typeface="黑体" panose="02010609060101010101" pitchFamily="49" charset="-122"/>
              </a:rPr>
              <a:t>F</a:t>
            </a:r>
            <a:r>
              <a:rPr lang="zh-CN" altLang="en-US" sz="3200" dirty="0">
                <a:latin typeface="黑体" panose="02010609060101010101" pitchFamily="49" charset="-122"/>
                <a:ea typeface="黑体" panose="02010609060101010101" pitchFamily="49" charset="-122"/>
              </a:rPr>
              <a:t>分布做比较，选择最相似分布</a:t>
            </a:r>
          </a:p>
          <a:p>
            <a:pPr lvl="1">
              <a:lnSpc>
                <a:spcPct val="120000"/>
              </a:lnSpc>
            </a:pPr>
            <a:r>
              <a:rPr lang="zh-CN" altLang="en-US" sz="3200" dirty="0">
                <a:latin typeface="黑体" panose="02010609060101010101" pitchFamily="49" charset="-122"/>
                <a:ea typeface="黑体" panose="02010609060101010101" pitchFamily="49" charset="-122"/>
              </a:rPr>
              <a:t>根据实验确定较符合实际的参数</a:t>
            </a:r>
          </a:p>
          <a:p>
            <a:pPr lvl="1">
              <a:lnSpc>
                <a:spcPct val="120000"/>
              </a:lnSpc>
            </a:pPr>
            <a:r>
              <a:rPr lang="zh-CN" altLang="en-US" sz="3200" dirty="0">
                <a:latin typeface="黑体" panose="02010609060101010101" pitchFamily="49" charset="-122"/>
                <a:ea typeface="黑体" panose="02010609060101010101" pitchFamily="49" charset="-122"/>
              </a:rPr>
              <a:t>得到隶属函数表达式</a:t>
            </a:r>
          </a:p>
        </p:txBody>
      </p:sp>
      <p:sp>
        <p:nvSpPr>
          <p:cNvPr id="2" name="灯片编号占位符 1">
            <a:extLst>
              <a:ext uri="{FF2B5EF4-FFF2-40B4-BE49-F238E27FC236}">
                <a16:creationId xmlns:a16="http://schemas.microsoft.com/office/drawing/2014/main" id="{004C08A0-32FB-F19D-0A80-B1966FFCE8A6}"/>
              </a:ext>
            </a:extLst>
          </p:cNvPr>
          <p:cNvSpPr>
            <a:spLocks noGrp="1"/>
          </p:cNvSpPr>
          <p:nvPr>
            <p:ph type="sldNum" sz="quarter" idx="11"/>
          </p:nvPr>
        </p:nvSpPr>
        <p:spPr/>
        <p:txBody>
          <a:bodyPr/>
          <a:lstStyle/>
          <a:p>
            <a:pPr>
              <a:defRPr/>
            </a:pPr>
            <a:fld id="{E0FB5469-1AEB-496D-971A-66705BF2F73C}" type="slidenum">
              <a:rPr lang="en-US" altLang="zh-CN" smtClean="0"/>
              <a:pPr>
                <a:defRPr/>
              </a:pPr>
              <a:t>25</a:t>
            </a:fld>
            <a:endParaRPr lang="en-US" altLang="zh-CN"/>
          </a:p>
        </p:txBody>
      </p:sp>
    </p:spTree>
    <p:extLst>
      <p:ext uri="{BB962C8B-B14F-4D97-AF65-F5344CB8AC3E}">
        <p14:creationId xmlns:p14="http://schemas.microsoft.com/office/powerpoint/2010/main" val="340978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4035">
                                            <p:txEl>
                                              <p:pRg st="0" end="0"/>
                                            </p:txEl>
                                          </p:spTgt>
                                        </p:tgtEl>
                                        <p:attrNameLst>
                                          <p:attrName>style.visibility</p:attrName>
                                        </p:attrNameLst>
                                      </p:cBhvr>
                                      <p:to>
                                        <p:strVal val="visible"/>
                                      </p:to>
                                    </p:set>
                                    <p:animEffect transition="in" filter="wipe(left)">
                                      <p:cBhvr>
                                        <p:cTn id="7" dur="500"/>
                                        <p:tgtEl>
                                          <p:spTgt spid="684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4035">
                                            <p:txEl>
                                              <p:pRg st="1" end="1"/>
                                            </p:txEl>
                                          </p:spTgt>
                                        </p:tgtEl>
                                        <p:attrNameLst>
                                          <p:attrName>style.visibility</p:attrName>
                                        </p:attrNameLst>
                                      </p:cBhvr>
                                      <p:to>
                                        <p:strVal val="visible"/>
                                      </p:to>
                                    </p:set>
                                    <p:animEffect transition="in" filter="wipe(left)">
                                      <p:cBhvr>
                                        <p:cTn id="12" dur="500"/>
                                        <p:tgtEl>
                                          <p:spTgt spid="684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84035">
                                            <p:txEl>
                                              <p:pRg st="2" end="2"/>
                                            </p:txEl>
                                          </p:spTgt>
                                        </p:tgtEl>
                                        <p:attrNameLst>
                                          <p:attrName>style.visibility</p:attrName>
                                        </p:attrNameLst>
                                      </p:cBhvr>
                                      <p:to>
                                        <p:strVal val="visible"/>
                                      </p:to>
                                    </p:set>
                                    <p:animEffect transition="in" filter="wipe(left)">
                                      <p:cBhvr>
                                        <p:cTn id="17" dur="500"/>
                                        <p:tgtEl>
                                          <p:spTgt spid="6840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84035">
                                            <p:txEl>
                                              <p:pRg st="3" end="3"/>
                                            </p:txEl>
                                          </p:spTgt>
                                        </p:tgtEl>
                                        <p:attrNameLst>
                                          <p:attrName>style.visibility</p:attrName>
                                        </p:attrNameLst>
                                      </p:cBhvr>
                                      <p:to>
                                        <p:strVal val="visible"/>
                                      </p:to>
                                    </p:set>
                                    <p:animEffect transition="in" filter="wipe(left)">
                                      <p:cBhvr>
                                        <p:cTn id="22" dur="500"/>
                                        <p:tgtEl>
                                          <p:spTgt spid="6840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84035">
                                            <p:txEl>
                                              <p:pRg st="4" end="4"/>
                                            </p:txEl>
                                          </p:spTgt>
                                        </p:tgtEl>
                                        <p:attrNameLst>
                                          <p:attrName>style.visibility</p:attrName>
                                        </p:attrNameLst>
                                      </p:cBhvr>
                                      <p:to>
                                        <p:strVal val="visible"/>
                                      </p:to>
                                    </p:set>
                                    <p:animEffect transition="in" filter="wipe(left)">
                                      <p:cBhvr>
                                        <p:cTn id="27" dur="500"/>
                                        <p:tgtEl>
                                          <p:spTgt spid="6840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84035">
                                            <p:txEl>
                                              <p:pRg st="5" end="5"/>
                                            </p:txEl>
                                          </p:spTgt>
                                        </p:tgtEl>
                                        <p:attrNameLst>
                                          <p:attrName>style.visibility</p:attrName>
                                        </p:attrNameLst>
                                      </p:cBhvr>
                                      <p:to>
                                        <p:strVal val="visible"/>
                                      </p:to>
                                    </p:set>
                                    <p:animEffect transition="in" filter="wipe(left)">
                                      <p:cBhvr>
                                        <p:cTn id="32" dur="500"/>
                                        <p:tgtEl>
                                          <p:spTgt spid="6840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92313" y="333375"/>
            <a:ext cx="8229600" cy="1100138"/>
          </a:xfrm>
        </p:spPr>
        <p:txBody>
          <a:bodyPr/>
          <a:lstStyle/>
          <a:p>
            <a:pPr algn="ctr" eaLnBrk="1" hangingPunct="1"/>
            <a:r>
              <a:rPr lang="en-US" altLang="zh-CN">
                <a:solidFill>
                  <a:srgbClr val="008000"/>
                </a:solidFill>
                <a:ea typeface="黑体" pitchFamily="49" charset="-122"/>
              </a:rPr>
              <a:t>F</a:t>
            </a:r>
            <a:r>
              <a:rPr lang="zh-CN" altLang="en-US">
                <a:solidFill>
                  <a:srgbClr val="008000"/>
                </a:solidFill>
                <a:ea typeface="黑体" pitchFamily="49" charset="-122"/>
              </a:rPr>
              <a:t>分布的应用</a:t>
            </a:r>
          </a:p>
        </p:txBody>
      </p:sp>
      <p:sp>
        <p:nvSpPr>
          <p:cNvPr id="128003" name="Rectangle 3"/>
          <p:cNvSpPr>
            <a:spLocks noGrp="1" noChangeArrowheads="1"/>
          </p:cNvSpPr>
          <p:nvPr>
            <p:ph type="body" idx="1"/>
          </p:nvPr>
        </p:nvSpPr>
        <p:spPr>
          <a:xfrm>
            <a:off x="1055442" y="1125539"/>
            <a:ext cx="10225134" cy="3671887"/>
          </a:xfrm>
        </p:spPr>
        <p:txBody>
          <a:bodyPr/>
          <a:lstStyle/>
          <a:p>
            <a:pPr eaLnBrk="1" hangingPunct="1"/>
            <a:r>
              <a:rPr lang="zh-CN" altLang="en-US" dirty="0">
                <a:solidFill>
                  <a:srgbClr val="FF0000"/>
                </a:solidFill>
                <a:ea typeface="黑体" pitchFamily="49" charset="-122"/>
              </a:rPr>
              <a:t>指派</a:t>
            </a:r>
          </a:p>
          <a:p>
            <a:pPr lvl="1" eaLnBrk="1" hangingPunct="1"/>
            <a:r>
              <a:rPr lang="zh-CN" altLang="en-US" b="1" dirty="0">
                <a:latin typeface="楷体_GB2312" pitchFamily="49" charset="-122"/>
                <a:ea typeface="楷体_GB2312" pitchFamily="49" charset="-122"/>
              </a:rPr>
              <a:t>就是根据研究对象的性质套用现成的</a:t>
            </a:r>
            <a:r>
              <a:rPr lang="en-US" altLang="zh-CN" b="1" dirty="0">
                <a:ea typeface="楷体_GB2312" pitchFamily="49" charset="-122"/>
              </a:rPr>
              <a:t>F</a:t>
            </a:r>
            <a:r>
              <a:rPr lang="zh-CN" altLang="en-US" b="1" dirty="0">
                <a:latin typeface="楷体_GB2312" pitchFamily="49" charset="-122"/>
                <a:ea typeface="楷体_GB2312" pitchFamily="49" charset="-122"/>
              </a:rPr>
              <a:t>分布</a:t>
            </a:r>
          </a:p>
          <a:p>
            <a:pPr lvl="1" eaLnBrk="1" hangingPunct="1"/>
            <a:r>
              <a:rPr lang="zh-CN" altLang="en-US" sz="2400" dirty="0">
                <a:solidFill>
                  <a:schemeClr val="bg2"/>
                </a:solidFill>
                <a:ea typeface="黑体" pitchFamily="49" charset="-122"/>
              </a:rPr>
              <a:t>例：设</a:t>
            </a:r>
            <a:r>
              <a:rPr lang="en-US" altLang="zh-CN" sz="2400" dirty="0">
                <a:solidFill>
                  <a:schemeClr val="bg2"/>
                </a:solidFill>
                <a:ea typeface="黑体" pitchFamily="49" charset="-122"/>
              </a:rPr>
              <a:t>U=[0,100]</a:t>
            </a:r>
            <a:r>
              <a:rPr lang="zh-CN" altLang="en-US" sz="2400" dirty="0">
                <a:solidFill>
                  <a:schemeClr val="bg2"/>
                </a:solidFill>
                <a:ea typeface="黑体" pitchFamily="49" charset="-122"/>
              </a:rPr>
              <a:t>，在</a:t>
            </a:r>
            <a:r>
              <a:rPr lang="en-US" altLang="zh-CN" sz="2400" dirty="0">
                <a:solidFill>
                  <a:schemeClr val="bg2"/>
                </a:solidFill>
                <a:ea typeface="黑体" pitchFamily="49" charset="-122"/>
              </a:rPr>
              <a:t>U</a:t>
            </a:r>
            <a:r>
              <a:rPr lang="zh-CN" altLang="en-US" sz="2400" dirty="0">
                <a:solidFill>
                  <a:schemeClr val="bg2"/>
                </a:solidFill>
                <a:ea typeface="黑体" pitchFamily="49" charset="-122"/>
              </a:rPr>
              <a:t>上建立学生成绩的</a:t>
            </a:r>
            <a:r>
              <a:rPr lang="en-US" altLang="zh-CN" sz="2400" dirty="0">
                <a:solidFill>
                  <a:schemeClr val="bg2"/>
                </a:solidFill>
                <a:ea typeface="黑体" pitchFamily="49" charset="-122"/>
              </a:rPr>
              <a:t>3</a:t>
            </a:r>
            <a:r>
              <a:rPr lang="zh-CN" altLang="en-US" sz="2400" dirty="0">
                <a:solidFill>
                  <a:schemeClr val="bg2"/>
                </a:solidFill>
                <a:ea typeface="黑体" pitchFamily="49" charset="-122"/>
              </a:rPr>
              <a:t>个</a:t>
            </a:r>
            <a:r>
              <a:rPr lang="en-US" altLang="zh-CN" sz="2400" dirty="0">
                <a:solidFill>
                  <a:schemeClr val="bg2"/>
                </a:solidFill>
                <a:ea typeface="黑体" pitchFamily="49" charset="-122"/>
              </a:rPr>
              <a:t>F</a:t>
            </a:r>
            <a:r>
              <a:rPr lang="zh-CN" altLang="en-US" sz="2400" dirty="0">
                <a:solidFill>
                  <a:schemeClr val="bg2"/>
                </a:solidFill>
                <a:ea typeface="黑体" pitchFamily="49" charset="-122"/>
              </a:rPr>
              <a:t>集合</a:t>
            </a:r>
            <a:r>
              <a:rPr lang="en-US" altLang="zh-CN" sz="2400" dirty="0">
                <a:solidFill>
                  <a:schemeClr val="bg2"/>
                </a:solidFill>
                <a:ea typeface="黑体" pitchFamily="49" charset="-122"/>
              </a:rPr>
              <a:t>A=“</a:t>
            </a:r>
            <a:r>
              <a:rPr lang="zh-CN" altLang="en-US" sz="2400" dirty="0">
                <a:solidFill>
                  <a:schemeClr val="bg2"/>
                </a:solidFill>
                <a:ea typeface="黑体" pitchFamily="49" charset="-122"/>
              </a:rPr>
              <a:t>优”，</a:t>
            </a:r>
            <a:r>
              <a:rPr lang="en-US" altLang="zh-CN" sz="2400" dirty="0">
                <a:solidFill>
                  <a:schemeClr val="bg2"/>
                </a:solidFill>
                <a:ea typeface="黑体" pitchFamily="49" charset="-122"/>
              </a:rPr>
              <a:t>B=“</a:t>
            </a:r>
            <a:r>
              <a:rPr lang="zh-CN" altLang="en-US" sz="2400" dirty="0">
                <a:solidFill>
                  <a:schemeClr val="bg2"/>
                </a:solidFill>
                <a:ea typeface="黑体" pitchFamily="49" charset="-122"/>
              </a:rPr>
              <a:t>良”，</a:t>
            </a:r>
            <a:r>
              <a:rPr lang="en-US" altLang="zh-CN" sz="2400" dirty="0">
                <a:solidFill>
                  <a:schemeClr val="bg2"/>
                </a:solidFill>
                <a:ea typeface="黑体" pitchFamily="49" charset="-122"/>
              </a:rPr>
              <a:t>C=“</a:t>
            </a:r>
            <a:r>
              <a:rPr lang="zh-CN" altLang="en-US" sz="2400" dirty="0">
                <a:solidFill>
                  <a:schemeClr val="bg2"/>
                </a:solidFill>
                <a:ea typeface="黑体" pitchFamily="49" charset="-122"/>
              </a:rPr>
              <a:t>差”</a:t>
            </a:r>
          </a:p>
          <a:p>
            <a:pPr lvl="1" eaLnBrk="1" hangingPunct="1"/>
            <a:r>
              <a:rPr lang="zh-CN" altLang="en-US" sz="2400" dirty="0">
                <a:solidFill>
                  <a:schemeClr val="bg2"/>
                </a:solidFill>
                <a:ea typeface="黑体" pitchFamily="49" charset="-122"/>
              </a:rPr>
              <a:t>用指派方法可以指定</a:t>
            </a:r>
            <a:r>
              <a:rPr lang="zh-CN" altLang="en-US" sz="2400" u="sng" dirty="0">
                <a:solidFill>
                  <a:srgbClr val="FF0000"/>
                </a:solidFill>
                <a:ea typeface="黑体" pitchFamily="49" charset="-122"/>
              </a:rPr>
              <a:t>矩形</a:t>
            </a:r>
            <a:r>
              <a:rPr lang="en-US" altLang="zh-CN" sz="2400" u="sng" dirty="0">
                <a:solidFill>
                  <a:srgbClr val="FF0000"/>
                </a:solidFill>
                <a:ea typeface="黑体" pitchFamily="49" charset="-122"/>
              </a:rPr>
              <a:t>F</a:t>
            </a:r>
            <a:r>
              <a:rPr lang="zh-CN" altLang="en-US" sz="2400" u="sng" dirty="0">
                <a:solidFill>
                  <a:srgbClr val="FF0000"/>
                </a:solidFill>
                <a:ea typeface="黑体" pitchFamily="49" charset="-122"/>
              </a:rPr>
              <a:t>分布</a:t>
            </a:r>
            <a:r>
              <a:rPr lang="zh-CN" altLang="en-US" sz="2400" dirty="0">
                <a:solidFill>
                  <a:schemeClr val="bg2"/>
                </a:solidFill>
                <a:ea typeface="黑体" pitchFamily="49" charset="-122"/>
              </a:rPr>
              <a:t>为</a:t>
            </a:r>
            <a:r>
              <a:rPr lang="en-US" altLang="zh-CN" sz="2400" dirty="0">
                <a:solidFill>
                  <a:schemeClr val="bg2"/>
                </a:solidFill>
                <a:ea typeface="黑体" pitchFamily="49" charset="-122"/>
              </a:rPr>
              <a:t>F</a:t>
            </a:r>
            <a:r>
              <a:rPr lang="zh-CN" altLang="en-US" sz="2400" dirty="0">
                <a:solidFill>
                  <a:schemeClr val="bg2"/>
                </a:solidFill>
                <a:ea typeface="黑体" pitchFamily="49" charset="-122"/>
              </a:rPr>
              <a:t>集合</a:t>
            </a:r>
            <a:r>
              <a:rPr lang="en-US" altLang="zh-CN" sz="2400" dirty="0">
                <a:solidFill>
                  <a:schemeClr val="bg2"/>
                </a:solidFill>
                <a:ea typeface="黑体" pitchFamily="49" charset="-122"/>
              </a:rPr>
              <a:t>A</a:t>
            </a:r>
            <a:r>
              <a:rPr lang="zh-CN" altLang="en-US" sz="2400" dirty="0">
                <a:solidFill>
                  <a:schemeClr val="bg2"/>
                </a:solidFill>
                <a:ea typeface="黑体" pitchFamily="49" charset="-122"/>
              </a:rPr>
              <a:t>、</a:t>
            </a:r>
            <a:r>
              <a:rPr lang="en-US" altLang="zh-CN" sz="2400" dirty="0">
                <a:solidFill>
                  <a:schemeClr val="bg2"/>
                </a:solidFill>
                <a:ea typeface="黑体" pitchFamily="49" charset="-122"/>
              </a:rPr>
              <a:t>B</a:t>
            </a:r>
            <a:r>
              <a:rPr lang="zh-CN" altLang="en-US" sz="2400" dirty="0">
                <a:solidFill>
                  <a:schemeClr val="bg2"/>
                </a:solidFill>
                <a:ea typeface="黑体" pitchFamily="49" charset="-122"/>
              </a:rPr>
              <a:t>、</a:t>
            </a:r>
            <a:r>
              <a:rPr lang="en-US" altLang="zh-CN" sz="2400" dirty="0">
                <a:solidFill>
                  <a:schemeClr val="bg2"/>
                </a:solidFill>
                <a:ea typeface="黑体" pitchFamily="49" charset="-122"/>
              </a:rPr>
              <a:t>C</a:t>
            </a:r>
            <a:r>
              <a:rPr lang="zh-CN" altLang="en-US" sz="2400" dirty="0">
                <a:solidFill>
                  <a:schemeClr val="bg2"/>
                </a:solidFill>
                <a:ea typeface="黑体" pitchFamily="49" charset="-122"/>
              </a:rPr>
              <a:t>的隶属函数</a:t>
            </a:r>
          </a:p>
          <a:p>
            <a:pPr lvl="2" eaLnBrk="1" hangingPunct="1"/>
            <a:r>
              <a:rPr lang="en-US" altLang="zh-CN" b="1" dirty="0">
                <a:ea typeface="楷体_GB2312" pitchFamily="49" charset="-122"/>
              </a:rPr>
              <a:t>F</a:t>
            </a:r>
            <a:r>
              <a:rPr lang="zh-CN" altLang="en-US" b="1" dirty="0">
                <a:ea typeface="楷体_GB2312" pitchFamily="49" charset="-122"/>
              </a:rPr>
              <a:t>集合</a:t>
            </a:r>
            <a:r>
              <a:rPr lang="en-US" altLang="zh-CN" b="1" dirty="0">
                <a:ea typeface="楷体_GB2312" pitchFamily="49" charset="-122"/>
              </a:rPr>
              <a:t>C</a:t>
            </a:r>
            <a:r>
              <a:rPr lang="zh-CN" altLang="en-US" b="1" dirty="0">
                <a:ea typeface="楷体_GB2312" pitchFamily="49" charset="-122"/>
              </a:rPr>
              <a:t>：偏小型（</a:t>
            </a:r>
            <a:r>
              <a:rPr lang="en-US" altLang="zh-CN" b="1" dirty="0">
                <a:ea typeface="楷体_GB2312" pitchFamily="49" charset="-122"/>
              </a:rPr>
              <a:t>a=60)</a:t>
            </a:r>
          </a:p>
          <a:p>
            <a:pPr lvl="2" eaLnBrk="1" hangingPunct="1"/>
            <a:r>
              <a:rPr lang="en-US" altLang="zh-CN" b="1" dirty="0">
                <a:ea typeface="楷体_GB2312" pitchFamily="49" charset="-122"/>
              </a:rPr>
              <a:t>F</a:t>
            </a:r>
            <a:r>
              <a:rPr lang="zh-CN" altLang="en-US" b="1" dirty="0">
                <a:ea typeface="楷体_GB2312" pitchFamily="49" charset="-122"/>
              </a:rPr>
              <a:t>集合</a:t>
            </a:r>
            <a:r>
              <a:rPr lang="en-US" altLang="zh-CN" b="1" dirty="0">
                <a:ea typeface="楷体_GB2312" pitchFamily="49" charset="-122"/>
              </a:rPr>
              <a:t>B</a:t>
            </a:r>
            <a:r>
              <a:rPr lang="zh-CN" altLang="en-US" b="1" dirty="0">
                <a:ea typeface="楷体_GB2312" pitchFamily="49" charset="-122"/>
              </a:rPr>
              <a:t>：中间型（</a:t>
            </a:r>
            <a:r>
              <a:rPr lang="en-US" altLang="zh-CN" b="1" dirty="0">
                <a:ea typeface="楷体_GB2312" pitchFamily="49" charset="-122"/>
              </a:rPr>
              <a:t>a=60</a:t>
            </a:r>
            <a:r>
              <a:rPr lang="zh-CN" altLang="en-US" b="1" dirty="0">
                <a:ea typeface="楷体_GB2312" pitchFamily="49" charset="-122"/>
              </a:rPr>
              <a:t>，</a:t>
            </a:r>
            <a:r>
              <a:rPr lang="en-US" altLang="zh-CN" b="1" dirty="0">
                <a:ea typeface="楷体_GB2312" pitchFamily="49" charset="-122"/>
              </a:rPr>
              <a:t>b=80)</a:t>
            </a:r>
          </a:p>
          <a:p>
            <a:pPr lvl="2" eaLnBrk="1" hangingPunct="1"/>
            <a:r>
              <a:rPr lang="en-US" altLang="zh-CN" b="1" dirty="0">
                <a:ea typeface="楷体_GB2312" pitchFamily="49" charset="-122"/>
              </a:rPr>
              <a:t>F</a:t>
            </a:r>
            <a:r>
              <a:rPr lang="zh-CN" altLang="en-US" b="1" dirty="0">
                <a:ea typeface="楷体_GB2312" pitchFamily="49" charset="-122"/>
              </a:rPr>
              <a:t>集合</a:t>
            </a:r>
            <a:r>
              <a:rPr lang="en-US" altLang="zh-CN" b="1" dirty="0">
                <a:ea typeface="楷体_GB2312" pitchFamily="49" charset="-122"/>
              </a:rPr>
              <a:t>A</a:t>
            </a:r>
            <a:r>
              <a:rPr lang="zh-CN" altLang="en-US" b="1" dirty="0">
                <a:ea typeface="楷体_GB2312" pitchFamily="49" charset="-122"/>
              </a:rPr>
              <a:t>：偏大型（</a:t>
            </a:r>
            <a:r>
              <a:rPr lang="en-US" altLang="zh-CN" b="1" dirty="0">
                <a:ea typeface="楷体_GB2312" pitchFamily="49" charset="-122"/>
              </a:rPr>
              <a:t>a=80)</a:t>
            </a:r>
          </a:p>
        </p:txBody>
      </p:sp>
      <p:grpSp>
        <p:nvGrpSpPr>
          <p:cNvPr id="128004" name="Group 4"/>
          <p:cNvGrpSpPr>
            <a:grpSpLocks/>
          </p:cNvGrpSpPr>
          <p:nvPr/>
        </p:nvGrpSpPr>
        <p:grpSpPr bwMode="auto">
          <a:xfrm>
            <a:off x="1774825" y="4856164"/>
            <a:ext cx="8642350" cy="2001837"/>
            <a:chOff x="158" y="2704"/>
            <a:chExt cx="5444" cy="1688"/>
          </a:xfrm>
        </p:grpSpPr>
        <p:sp>
          <p:nvSpPr>
            <p:cNvPr id="19461" name="Line 5"/>
            <p:cNvSpPr>
              <a:spLocks noChangeShapeType="1"/>
            </p:cNvSpPr>
            <p:nvPr/>
          </p:nvSpPr>
          <p:spPr bwMode="auto">
            <a:xfrm flipV="1">
              <a:off x="340" y="2931"/>
              <a:ext cx="0" cy="113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2" name="Line 6"/>
            <p:cNvSpPr>
              <a:spLocks noChangeShapeType="1"/>
            </p:cNvSpPr>
            <p:nvPr/>
          </p:nvSpPr>
          <p:spPr bwMode="auto">
            <a:xfrm>
              <a:off x="340" y="4065"/>
              <a:ext cx="127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3" name="Line 7"/>
            <p:cNvSpPr>
              <a:spLocks noChangeShapeType="1"/>
            </p:cNvSpPr>
            <p:nvPr/>
          </p:nvSpPr>
          <p:spPr bwMode="auto">
            <a:xfrm flipV="1">
              <a:off x="2154" y="2931"/>
              <a:ext cx="0" cy="113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4" name="Line 8"/>
            <p:cNvSpPr>
              <a:spLocks noChangeShapeType="1"/>
            </p:cNvSpPr>
            <p:nvPr/>
          </p:nvSpPr>
          <p:spPr bwMode="auto">
            <a:xfrm>
              <a:off x="2154" y="4065"/>
              <a:ext cx="127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5" name="Line 9"/>
            <p:cNvSpPr>
              <a:spLocks noChangeShapeType="1"/>
            </p:cNvSpPr>
            <p:nvPr/>
          </p:nvSpPr>
          <p:spPr bwMode="auto">
            <a:xfrm flipV="1">
              <a:off x="4014" y="2931"/>
              <a:ext cx="0" cy="113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6" name="Line 10"/>
            <p:cNvSpPr>
              <a:spLocks noChangeShapeType="1"/>
            </p:cNvSpPr>
            <p:nvPr/>
          </p:nvSpPr>
          <p:spPr bwMode="auto">
            <a:xfrm>
              <a:off x="4014" y="4065"/>
              <a:ext cx="127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7" name="Text Box 11"/>
            <p:cNvSpPr txBox="1">
              <a:spLocks noChangeArrowheads="1"/>
            </p:cNvSpPr>
            <p:nvPr/>
          </p:nvSpPr>
          <p:spPr bwMode="auto">
            <a:xfrm>
              <a:off x="204" y="2704"/>
              <a:ext cx="4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C(x)</a:t>
              </a:r>
            </a:p>
          </p:txBody>
        </p:sp>
        <p:sp>
          <p:nvSpPr>
            <p:cNvPr id="19468" name="Text Box 12"/>
            <p:cNvSpPr txBox="1">
              <a:spLocks noChangeArrowheads="1"/>
            </p:cNvSpPr>
            <p:nvPr/>
          </p:nvSpPr>
          <p:spPr bwMode="auto">
            <a:xfrm>
              <a:off x="1927" y="2704"/>
              <a:ext cx="4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B(x)</a:t>
              </a:r>
            </a:p>
          </p:txBody>
        </p:sp>
        <p:sp>
          <p:nvSpPr>
            <p:cNvPr id="19469" name="Text Box 13"/>
            <p:cNvSpPr txBox="1">
              <a:spLocks noChangeArrowheads="1"/>
            </p:cNvSpPr>
            <p:nvPr/>
          </p:nvSpPr>
          <p:spPr bwMode="auto">
            <a:xfrm>
              <a:off x="3833" y="2704"/>
              <a:ext cx="4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A(x)</a:t>
              </a:r>
            </a:p>
          </p:txBody>
        </p:sp>
        <p:sp>
          <p:nvSpPr>
            <p:cNvPr id="19470" name="Text Box 14"/>
            <p:cNvSpPr txBox="1">
              <a:spLocks noChangeArrowheads="1"/>
            </p:cNvSpPr>
            <p:nvPr/>
          </p:nvSpPr>
          <p:spPr bwMode="auto">
            <a:xfrm>
              <a:off x="249" y="4108"/>
              <a:ext cx="1633"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600"/>
                <a:t>0        a                        x</a:t>
              </a:r>
            </a:p>
          </p:txBody>
        </p:sp>
        <p:sp>
          <p:nvSpPr>
            <p:cNvPr id="19471" name="Text Box 15"/>
            <p:cNvSpPr txBox="1">
              <a:spLocks noChangeArrowheads="1"/>
            </p:cNvSpPr>
            <p:nvPr/>
          </p:nvSpPr>
          <p:spPr bwMode="auto">
            <a:xfrm>
              <a:off x="2064" y="4108"/>
              <a:ext cx="1633"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600"/>
                <a:t>0        a         b            x</a:t>
              </a:r>
            </a:p>
          </p:txBody>
        </p:sp>
        <p:sp>
          <p:nvSpPr>
            <p:cNvPr id="19472" name="Text Box 16"/>
            <p:cNvSpPr txBox="1">
              <a:spLocks noChangeArrowheads="1"/>
            </p:cNvSpPr>
            <p:nvPr/>
          </p:nvSpPr>
          <p:spPr bwMode="auto">
            <a:xfrm>
              <a:off x="3969" y="4108"/>
              <a:ext cx="1633"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sz="1600"/>
                <a:t>0                  a              x</a:t>
              </a:r>
            </a:p>
          </p:txBody>
        </p:sp>
        <p:sp>
          <p:nvSpPr>
            <p:cNvPr id="19473" name="Text Box 17"/>
            <p:cNvSpPr txBox="1">
              <a:spLocks noChangeArrowheads="1"/>
            </p:cNvSpPr>
            <p:nvPr/>
          </p:nvSpPr>
          <p:spPr bwMode="auto">
            <a:xfrm>
              <a:off x="158" y="3023"/>
              <a:ext cx="18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1</a:t>
              </a:r>
            </a:p>
          </p:txBody>
        </p:sp>
        <p:sp>
          <p:nvSpPr>
            <p:cNvPr id="19474" name="Text Box 18"/>
            <p:cNvSpPr txBox="1">
              <a:spLocks noChangeArrowheads="1"/>
            </p:cNvSpPr>
            <p:nvPr/>
          </p:nvSpPr>
          <p:spPr bwMode="auto">
            <a:xfrm>
              <a:off x="3833" y="3067"/>
              <a:ext cx="18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1</a:t>
              </a:r>
            </a:p>
          </p:txBody>
        </p:sp>
        <p:sp>
          <p:nvSpPr>
            <p:cNvPr id="19475" name="Text Box 19"/>
            <p:cNvSpPr txBox="1">
              <a:spLocks noChangeArrowheads="1"/>
            </p:cNvSpPr>
            <p:nvPr/>
          </p:nvSpPr>
          <p:spPr bwMode="auto">
            <a:xfrm>
              <a:off x="1927" y="3023"/>
              <a:ext cx="182"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1</a:t>
              </a:r>
            </a:p>
          </p:txBody>
        </p:sp>
        <p:sp>
          <p:nvSpPr>
            <p:cNvPr id="19476" name="Line 20"/>
            <p:cNvSpPr>
              <a:spLocks noChangeShapeType="1"/>
            </p:cNvSpPr>
            <p:nvPr/>
          </p:nvSpPr>
          <p:spPr bwMode="auto">
            <a:xfrm>
              <a:off x="340" y="3158"/>
              <a:ext cx="317"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7" name="Line 21"/>
            <p:cNvSpPr>
              <a:spLocks noChangeShapeType="1"/>
            </p:cNvSpPr>
            <p:nvPr/>
          </p:nvSpPr>
          <p:spPr bwMode="auto">
            <a:xfrm>
              <a:off x="657" y="3158"/>
              <a:ext cx="0" cy="907"/>
            </a:xfrm>
            <a:prstGeom prst="line">
              <a:avLst/>
            </a:prstGeom>
            <a:noFill/>
            <a:ln w="19050">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8" name="Line 22"/>
            <p:cNvSpPr>
              <a:spLocks noChangeShapeType="1"/>
            </p:cNvSpPr>
            <p:nvPr/>
          </p:nvSpPr>
          <p:spPr bwMode="auto">
            <a:xfrm>
              <a:off x="4785" y="3158"/>
              <a:ext cx="0" cy="907"/>
            </a:xfrm>
            <a:prstGeom prst="line">
              <a:avLst/>
            </a:prstGeom>
            <a:noFill/>
            <a:ln w="19050">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9" name="Line 23"/>
            <p:cNvSpPr>
              <a:spLocks noChangeShapeType="1"/>
            </p:cNvSpPr>
            <p:nvPr/>
          </p:nvSpPr>
          <p:spPr bwMode="auto">
            <a:xfrm>
              <a:off x="2880" y="3158"/>
              <a:ext cx="0" cy="907"/>
            </a:xfrm>
            <a:prstGeom prst="line">
              <a:avLst/>
            </a:prstGeom>
            <a:noFill/>
            <a:ln w="19050">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0" name="Line 24"/>
            <p:cNvSpPr>
              <a:spLocks noChangeShapeType="1"/>
            </p:cNvSpPr>
            <p:nvPr/>
          </p:nvSpPr>
          <p:spPr bwMode="auto">
            <a:xfrm>
              <a:off x="2517" y="3158"/>
              <a:ext cx="0" cy="907"/>
            </a:xfrm>
            <a:prstGeom prst="line">
              <a:avLst/>
            </a:prstGeom>
            <a:noFill/>
            <a:ln w="19050">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1" name="Line 25"/>
            <p:cNvSpPr>
              <a:spLocks noChangeShapeType="1"/>
            </p:cNvSpPr>
            <p:nvPr/>
          </p:nvSpPr>
          <p:spPr bwMode="auto">
            <a:xfrm>
              <a:off x="4785" y="3158"/>
              <a:ext cx="317"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2" name="Line 26"/>
            <p:cNvSpPr>
              <a:spLocks noChangeShapeType="1"/>
            </p:cNvSpPr>
            <p:nvPr/>
          </p:nvSpPr>
          <p:spPr bwMode="auto">
            <a:xfrm>
              <a:off x="2517" y="3158"/>
              <a:ext cx="363"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 name="Object 4">
            <a:extLst>
              <a:ext uri="{FF2B5EF4-FFF2-40B4-BE49-F238E27FC236}">
                <a16:creationId xmlns:a16="http://schemas.microsoft.com/office/drawing/2014/main" id="{72211850-CC9F-158B-ED11-B2492B3E4495}"/>
              </a:ext>
            </a:extLst>
          </p:cNvPr>
          <p:cNvGraphicFramePr>
            <a:graphicFrameLocks noChangeAspect="1"/>
          </p:cNvGraphicFramePr>
          <p:nvPr>
            <p:extLst>
              <p:ext uri="{D42A27DB-BD31-4B8C-83A1-F6EECF244321}">
                <p14:modId xmlns:p14="http://schemas.microsoft.com/office/powerpoint/2010/main" val="486544671"/>
              </p:ext>
            </p:extLst>
          </p:nvPr>
        </p:nvGraphicFramePr>
        <p:xfrm>
          <a:off x="2670922" y="5417580"/>
          <a:ext cx="1481136" cy="669903"/>
        </p:xfrm>
        <a:graphic>
          <a:graphicData uri="http://schemas.openxmlformats.org/presentationml/2006/ole">
            <mc:AlternateContent xmlns:mc="http://schemas.openxmlformats.org/markup-compatibility/2006">
              <mc:Choice xmlns:v="urn:schemas-microsoft-com:vml" Requires="v">
                <p:oleObj name="Equation" r:id="rId2" imgW="1054080" imgH="457200" progId="Equation.DSMT4">
                  <p:embed/>
                </p:oleObj>
              </mc:Choice>
              <mc:Fallback>
                <p:oleObj name="Equation" r:id="rId2" imgW="1054080" imgH="457200" progId="Equation.DSMT4">
                  <p:embed/>
                  <p:pic>
                    <p:nvPicPr>
                      <p:cNvPr id="2" name="Object 4">
                        <a:extLst>
                          <a:ext uri="{FF2B5EF4-FFF2-40B4-BE49-F238E27FC236}">
                            <a16:creationId xmlns:a16="http://schemas.microsoft.com/office/drawing/2014/main" id="{72211850-CC9F-158B-ED11-B2492B3E4495}"/>
                          </a:ext>
                        </a:extLst>
                      </p:cNvPr>
                      <p:cNvPicPr>
                        <a:picLocks noChangeAspect="1" noChangeArrowheads="1"/>
                      </p:cNvPicPr>
                      <p:nvPr/>
                    </p:nvPicPr>
                    <p:blipFill>
                      <a:blip r:embed="rId3"/>
                      <a:srcRect/>
                      <a:stretch>
                        <a:fillRect/>
                      </a:stretch>
                    </p:blipFill>
                    <p:spPr bwMode="auto">
                      <a:xfrm>
                        <a:off x="2670922" y="5417580"/>
                        <a:ext cx="1481136" cy="669903"/>
                      </a:xfrm>
                      <a:prstGeom prst="rect">
                        <a:avLst/>
                      </a:prstGeom>
                      <a:solidFill>
                        <a:srgbClr val="FFCCFF"/>
                      </a:solidFill>
                      <a:ln>
                        <a:noFill/>
                      </a:ln>
                      <a:effectLst/>
                    </p:spPr>
                  </p:pic>
                </p:oleObj>
              </mc:Fallback>
            </mc:AlternateContent>
          </a:graphicData>
        </a:graphic>
      </p:graphicFrame>
      <p:graphicFrame>
        <p:nvGraphicFramePr>
          <p:cNvPr id="3" name="Object 4">
            <a:extLst>
              <a:ext uri="{FF2B5EF4-FFF2-40B4-BE49-F238E27FC236}">
                <a16:creationId xmlns:a16="http://schemas.microsoft.com/office/drawing/2014/main" id="{6DE564DA-7F1E-35F4-81C8-6E881F7E708F}"/>
              </a:ext>
            </a:extLst>
          </p:cNvPr>
          <p:cNvGraphicFramePr>
            <a:graphicFrameLocks noChangeAspect="1"/>
          </p:cNvGraphicFramePr>
          <p:nvPr>
            <p:extLst>
              <p:ext uri="{D42A27DB-BD31-4B8C-83A1-F6EECF244321}">
                <p14:modId xmlns:p14="http://schemas.microsoft.com/office/powerpoint/2010/main" val="376218170"/>
              </p:ext>
            </p:extLst>
          </p:nvPr>
        </p:nvGraphicFramePr>
        <p:xfrm>
          <a:off x="9721851" y="5431884"/>
          <a:ext cx="1679574" cy="761680"/>
        </p:xfrm>
        <a:graphic>
          <a:graphicData uri="http://schemas.openxmlformats.org/presentationml/2006/ole">
            <mc:AlternateContent xmlns:mc="http://schemas.openxmlformats.org/markup-compatibility/2006">
              <mc:Choice xmlns:v="urn:schemas-microsoft-com:vml" Requires="v">
                <p:oleObj name="Equation" r:id="rId4" imgW="1054080" imgH="457200" progId="Equation.DSMT4">
                  <p:embed/>
                </p:oleObj>
              </mc:Choice>
              <mc:Fallback>
                <p:oleObj name="Equation" r:id="rId4" imgW="1054080" imgH="457200" progId="Equation.DSMT4">
                  <p:embed/>
                  <p:pic>
                    <p:nvPicPr>
                      <p:cNvPr id="3" name="Object 4">
                        <a:extLst>
                          <a:ext uri="{FF2B5EF4-FFF2-40B4-BE49-F238E27FC236}">
                            <a16:creationId xmlns:a16="http://schemas.microsoft.com/office/drawing/2014/main" id="{6DE564DA-7F1E-35F4-81C8-6E881F7E708F}"/>
                          </a:ext>
                        </a:extLst>
                      </p:cNvPr>
                      <p:cNvPicPr>
                        <a:picLocks noChangeAspect="1" noChangeArrowheads="1"/>
                      </p:cNvPicPr>
                      <p:nvPr/>
                    </p:nvPicPr>
                    <p:blipFill>
                      <a:blip r:embed="rId5"/>
                      <a:srcRect/>
                      <a:stretch>
                        <a:fillRect/>
                      </a:stretch>
                    </p:blipFill>
                    <p:spPr bwMode="auto">
                      <a:xfrm>
                        <a:off x="9721851" y="5431884"/>
                        <a:ext cx="1679574" cy="761680"/>
                      </a:xfrm>
                      <a:prstGeom prst="rect">
                        <a:avLst/>
                      </a:prstGeom>
                      <a:solidFill>
                        <a:schemeClr val="folHlink"/>
                      </a:solidFill>
                      <a:ln>
                        <a:noFill/>
                      </a:ln>
                      <a:effectLst/>
                    </p:spPr>
                  </p:pic>
                </p:oleObj>
              </mc:Fallback>
            </mc:AlternateContent>
          </a:graphicData>
        </a:graphic>
      </p:graphicFrame>
      <p:graphicFrame>
        <p:nvGraphicFramePr>
          <p:cNvPr id="6" name="Object 4">
            <a:extLst>
              <a:ext uri="{FF2B5EF4-FFF2-40B4-BE49-F238E27FC236}">
                <a16:creationId xmlns:a16="http://schemas.microsoft.com/office/drawing/2014/main" id="{EB9B8BA5-3B96-6353-7BCB-77A62699AF07}"/>
              </a:ext>
            </a:extLst>
          </p:cNvPr>
          <p:cNvGraphicFramePr>
            <a:graphicFrameLocks noChangeAspect="1"/>
          </p:cNvGraphicFramePr>
          <p:nvPr>
            <p:extLst>
              <p:ext uri="{D42A27DB-BD31-4B8C-83A1-F6EECF244321}">
                <p14:modId xmlns:p14="http://schemas.microsoft.com/office/powerpoint/2010/main" val="30644835"/>
              </p:ext>
            </p:extLst>
          </p:nvPr>
        </p:nvGraphicFramePr>
        <p:xfrm>
          <a:off x="6197697" y="5442237"/>
          <a:ext cx="1338166" cy="790893"/>
        </p:xfrm>
        <a:graphic>
          <a:graphicData uri="http://schemas.openxmlformats.org/presentationml/2006/ole">
            <mc:AlternateContent xmlns:mc="http://schemas.openxmlformats.org/markup-compatibility/2006">
              <mc:Choice xmlns:v="urn:schemas-microsoft-com:vml" Requires="v">
                <p:oleObj name="Equation" r:id="rId6" imgW="1257120" imgH="711000" progId="Equation.DSMT4">
                  <p:embed/>
                </p:oleObj>
              </mc:Choice>
              <mc:Fallback>
                <p:oleObj name="Equation" r:id="rId6" imgW="1257120" imgH="711000" progId="Equation.DSMT4">
                  <p:embed/>
                  <p:pic>
                    <p:nvPicPr>
                      <p:cNvPr id="6" name="Object 4">
                        <a:extLst>
                          <a:ext uri="{FF2B5EF4-FFF2-40B4-BE49-F238E27FC236}">
                            <a16:creationId xmlns:a16="http://schemas.microsoft.com/office/drawing/2014/main" id="{EB9B8BA5-3B96-6353-7BCB-77A62699AF07}"/>
                          </a:ext>
                        </a:extLst>
                      </p:cNvPr>
                      <p:cNvPicPr>
                        <a:picLocks noChangeAspect="1" noChangeArrowheads="1"/>
                      </p:cNvPicPr>
                      <p:nvPr/>
                    </p:nvPicPr>
                    <p:blipFill>
                      <a:blip r:embed="rId7"/>
                      <a:srcRect/>
                      <a:stretch>
                        <a:fillRect/>
                      </a:stretch>
                    </p:blipFill>
                    <p:spPr bwMode="auto">
                      <a:xfrm>
                        <a:off x="6197697" y="5442237"/>
                        <a:ext cx="1338166" cy="790893"/>
                      </a:xfrm>
                      <a:prstGeom prst="rect">
                        <a:avLst/>
                      </a:prstGeom>
                      <a:solidFill>
                        <a:srgbClr val="66FFFF"/>
                      </a:solid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9DC330A9-5E0B-5E46-C350-D03B06BB992E}"/>
              </a:ext>
            </a:extLst>
          </p:cNvPr>
          <p:cNvSpPr>
            <a:spLocks noGrp="1"/>
          </p:cNvSpPr>
          <p:nvPr>
            <p:ph type="sldNum" sz="quarter" idx="11"/>
          </p:nvPr>
        </p:nvSpPr>
        <p:spPr/>
        <p:txBody>
          <a:bodyPr/>
          <a:lstStyle/>
          <a:p>
            <a:pPr>
              <a:defRPr/>
            </a:pPr>
            <a:fld id="{E0FB5469-1AEB-496D-971A-66705BF2F73C}" type="slidenum">
              <a:rPr lang="en-US" altLang="zh-CN" smtClean="0"/>
              <a:pPr>
                <a:defRPr/>
              </a:pPr>
              <a:t>26</a:t>
            </a:fld>
            <a:endParaRPr lang="en-US" altLang="zh-CN"/>
          </a:p>
        </p:txBody>
      </p:sp>
    </p:spTree>
    <p:extLst>
      <p:ext uri="{BB962C8B-B14F-4D97-AF65-F5344CB8AC3E}">
        <p14:creationId xmlns:p14="http://schemas.microsoft.com/office/powerpoint/2010/main" val="37861851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wipe(left)">
                                      <p:cBhvr>
                                        <p:cTn id="7" dur="500"/>
                                        <p:tgtEl>
                                          <p:spTgt spid="1280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8003">
                                            <p:txEl>
                                              <p:pRg st="1" end="1"/>
                                            </p:txEl>
                                          </p:spTgt>
                                        </p:tgtEl>
                                        <p:attrNameLst>
                                          <p:attrName>style.visibility</p:attrName>
                                        </p:attrNameLst>
                                      </p:cBhvr>
                                      <p:to>
                                        <p:strVal val="visible"/>
                                      </p:to>
                                    </p:set>
                                    <p:animEffect transition="in" filter="wipe(left)">
                                      <p:cBhvr>
                                        <p:cTn id="12" dur="500"/>
                                        <p:tgtEl>
                                          <p:spTgt spid="1280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8003">
                                            <p:txEl>
                                              <p:pRg st="2" end="2"/>
                                            </p:txEl>
                                          </p:spTgt>
                                        </p:tgtEl>
                                        <p:attrNameLst>
                                          <p:attrName>style.visibility</p:attrName>
                                        </p:attrNameLst>
                                      </p:cBhvr>
                                      <p:to>
                                        <p:strVal val="visible"/>
                                      </p:to>
                                    </p:set>
                                    <p:animEffect transition="in" filter="wipe(left)">
                                      <p:cBhvr>
                                        <p:cTn id="17" dur="500"/>
                                        <p:tgtEl>
                                          <p:spTgt spid="1280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8003">
                                            <p:txEl>
                                              <p:pRg st="3" end="3"/>
                                            </p:txEl>
                                          </p:spTgt>
                                        </p:tgtEl>
                                        <p:attrNameLst>
                                          <p:attrName>style.visibility</p:attrName>
                                        </p:attrNameLst>
                                      </p:cBhvr>
                                      <p:to>
                                        <p:strVal val="visible"/>
                                      </p:to>
                                    </p:set>
                                    <p:animEffect transition="in" filter="wipe(left)">
                                      <p:cBhvr>
                                        <p:cTn id="22" dur="500"/>
                                        <p:tgtEl>
                                          <p:spTgt spid="1280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8003">
                                            <p:txEl>
                                              <p:pRg st="4" end="4"/>
                                            </p:txEl>
                                          </p:spTgt>
                                        </p:tgtEl>
                                        <p:attrNameLst>
                                          <p:attrName>style.visibility</p:attrName>
                                        </p:attrNameLst>
                                      </p:cBhvr>
                                      <p:to>
                                        <p:strVal val="visible"/>
                                      </p:to>
                                    </p:set>
                                    <p:animEffect transition="in" filter="wipe(left)">
                                      <p:cBhvr>
                                        <p:cTn id="27" dur="500"/>
                                        <p:tgtEl>
                                          <p:spTgt spid="1280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8003">
                                            <p:txEl>
                                              <p:pRg st="5" end="5"/>
                                            </p:txEl>
                                          </p:spTgt>
                                        </p:tgtEl>
                                        <p:attrNameLst>
                                          <p:attrName>style.visibility</p:attrName>
                                        </p:attrNameLst>
                                      </p:cBhvr>
                                      <p:to>
                                        <p:strVal val="visible"/>
                                      </p:to>
                                    </p:set>
                                    <p:animEffect transition="in" filter="wipe(left)">
                                      <p:cBhvr>
                                        <p:cTn id="32" dur="500"/>
                                        <p:tgtEl>
                                          <p:spTgt spid="1280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28003">
                                            <p:txEl>
                                              <p:pRg st="6" end="6"/>
                                            </p:txEl>
                                          </p:spTgt>
                                        </p:tgtEl>
                                        <p:attrNameLst>
                                          <p:attrName>style.visibility</p:attrName>
                                        </p:attrNameLst>
                                      </p:cBhvr>
                                      <p:to>
                                        <p:strVal val="visible"/>
                                      </p:to>
                                    </p:set>
                                    <p:animEffect transition="in" filter="wipe(left)">
                                      <p:cBhvr>
                                        <p:cTn id="37" dur="500"/>
                                        <p:tgtEl>
                                          <p:spTgt spid="12800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128004"/>
                                        </p:tgtEl>
                                        <p:attrNameLst>
                                          <p:attrName>style.visibility</p:attrName>
                                        </p:attrNameLst>
                                      </p:cBhvr>
                                      <p:to>
                                        <p:strVal val="visible"/>
                                      </p:to>
                                    </p:set>
                                    <p:anim calcmode="lin" valueType="num">
                                      <p:cBhvr additive="base">
                                        <p:cTn id="42" dur="500" fill="hold"/>
                                        <p:tgtEl>
                                          <p:spTgt spid="128004"/>
                                        </p:tgtEl>
                                        <p:attrNameLst>
                                          <p:attrName>ppt_x</p:attrName>
                                        </p:attrNameLst>
                                      </p:cBhvr>
                                      <p:tavLst>
                                        <p:tav tm="0">
                                          <p:val>
                                            <p:strVal val="#ppt_x"/>
                                          </p:val>
                                        </p:tav>
                                        <p:tav tm="100000">
                                          <p:val>
                                            <p:strVal val="#ppt_x"/>
                                          </p:val>
                                        </p:tav>
                                      </p:tavLst>
                                    </p:anim>
                                    <p:anim calcmode="lin" valueType="num">
                                      <p:cBhvr additive="base">
                                        <p:cTn id="43" dur="500" fill="hold"/>
                                        <p:tgtEl>
                                          <p:spTgt spid="128004"/>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1000"/>
                                        <p:tgtEl>
                                          <p:spTgt spid="2"/>
                                        </p:tgtEl>
                                      </p:cBhvr>
                                    </p:animEffect>
                                    <p:anim calcmode="lin" valueType="num">
                                      <p:cBhvr>
                                        <p:cTn id="49" dur="1000" fill="hold"/>
                                        <p:tgtEl>
                                          <p:spTgt spid="2"/>
                                        </p:tgtEl>
                                        <p:attrNameLst>
                                          <p:attrName>ppt_x</p:attrName>
                                        </p:attrNameLst>
                                      </p:cBhvr>
                                      <p:tavLst>
                                        <p:tav tm="0">
                                          <p:val>
                                            <p:strVal val="#ppt_x"/>
                                          </p:val>
                                        </p:tav>
                                        <p:tav tm="100000">
                                          <p:val>
                                            <p:strVal val="#ppt_x"/>
                                          </p:val>
                                        </p:tav>
                                      </p:tavLst>
                                    </p:anim>
                                    <p:anim calcmode="lin" valueType="num">
                                      <p:cBhvr>
                                        <p:cTn id="5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1000"/>
                                        <p:tgtEl>
                                          <p:spTgt spid="6"/>
                                        </p:tgtEl>
                                      </p:cBhvr>
                                    </p:animEffect>
                                    <p:anim calcmode="lin" valueType="num">
                                      <p:cBhvr>
                                        <p:cTn id="56" dur="1000" fill="hold"/>
                                        <p:tgtEl>
                                          <p:spTgt spid="6"/>
                                        </p:tgtEl>
                                        <p:attrNameLst>
                                          <p:attrName>ppt_x</p:attrName>
                                        </p:attrNameLst>
                                      </p:cBhvr>
                                      <p:tavLst>
                                        <p:tav tm="0">
                                          <p:val>
                                            <p:strVal val="#ppt_x"/>
                                          </p:val>
                                        </p:tav>
                                        <p:tav tm="100000">
                                          <p:val>
                                            <p:strVal val="#ppt_x"/>
                                          </p:val>
                                        </p:tav>
                                      </p:tavLst>
                                    </p:anim>
                                    <p:anim calcmode="lin" valueType="num">
                                      <p:cBhvr>
                                        <p:cTn id="5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1000"/>
                                        <p:tgtEl>
                                          <p:spTgt spid="3"/>
                                        </p:tgtEl>
                                      </p:cBhvr>
                                    </p:animEffect>
                                    <p:anim calcmode="lin" valueType="num">
                                      <p:cBhvr>
                                        <p:cTn id="63" dur="1000" fill="hold"/>
                                        <p:tgtEl>
                                          <p:spTgt spid="3"/>
                                        </p:tgtEl>
                                        <p:attrNameLst>
                                          <p:attrName>ppt_x</p:attrName>
                                        </p:attrNameLst>
                                      </p:cBhvr>
                                      <p:tavLst>
                                        <p:tav tm="0">
                                          <p:val>
                                            <p:strVal val="#ppt_x"/>
                                          </p:val>
                                        </p:tav>
                                        <p:tav tm="100000">
                                          <p:val>
                                            <p:strVal val="#ppt_x"/>
                                          </p:val>
                                        </p:tav>
                                      </p:tavLst>
                                    </p:anim>
                                    <p:anim calcmode="lin" valueType="num">
                                      <p:cBhvr>
                                        <p:cTn id="6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92313" y="333375"/>
            <a:ext cx="8229600" cy="1100138"/>
          </a:xfrm>
        </p:spPr>
        <p:txBody>
          <a:bodyPr/>
          <a:lstStyle/>
          <a:p>
            <a:pPr algn="ctr" eaLnBrk="1" hangingPunct="1"/>
            <a:r>
              <a:rPr lang="en-US" altLang="zh-CN">
                <a:solidFill>
                  <a:srgbClr val="008000"/>
                </a:solidFill>
                <a:ea typeface="黑体" pitchFamily="49" charset="-122"/>
              </a:rPr>
              <a:t>F</a:t>
            </a:r>
            <a:r>
              <a:rPr lang="zh-CN" altLang="en-US">
                <a:solidFill>
                  <a:srgbClr val="008000"/>
                </a:solidFill>
                <a:ea typeface="黑体" pitchFamily="49" charset="-122"/>
              </a:rPr>
              <a:t>分布的应用</a:t>
            </a:r>
          </a:p>
        </p:txBody>
      </p:sp>
      <p:sp>
        <p:nvSpPr>
          <p:cNvPr id="128003" name="Rectangle 3"/>
          <p:cNvSpPr>
            <a:spLocks noGrp="1" noChangeArrowheads="1"/>
          </p:cNvSpPr>
          <p:nvPr>
            <p:ph type="body" idx="1"/>
          </p:nvPr>
        </p:nvSpPr>
        <p:spPr>
          <a:xfrm>
            <a:off x="407368" y="1125539"/>
            <a:ext cx="9526513" cy="3920561"/>
          </a:xfrm>
        </p:spPr>
        <p:txBody>
          <a:bodyPr/>
          <a:lstStyle/>
          <a:p>
            <a:pPr eaLnBrk="1" hangingPunct="1">
              <a:lnSpc>
                <a:spcPct val="90000"/>
              </a:lnSpc>
            </a:pPr>
            <a:r>
              <a:rPr lang="zh-CN" altLang="en-US" dirty="0">
                <a:solidFill>
                  <a:srgbClr val="FF0000"/>
                </a:solidFill>
                <a:ea typeface="黑体" pitchFamily="49" charset="-122"/>
              </a:rPr>
              <a:t>指派</a:t>
            </a:r>
          </a:p>
          <a:p>
            <a:pPr lvl="1" eaLnBrk="1" hangingPunct="1">
              <a:lnSpc>
                <a:spcPct val="90000"/>
              </a:lnSpc>
            </a:pPr>
            <a:r>
              <a:rPr lang="zh-CN" altLang="en-US" b="1" dirty="0">
                <a:latin typeface="楷体_GB2312" pitchFamily="49" charset="-122"/>
                <a:ea typeface="楷体_GB2312" pitchFamily="49" charset="-122"/>
              </a:rPr>
              <a:t>就是根据研究对象的性质套用现成的</a:t>
            </a:r>
            <a:r>
              <a:rPr lang="en-US" altLang="zh-CN" b="1" dirty="0">
                <a:ea typeface="楷体_GB2312" pitchFamily="49" charset="-122"/>
              </a:rPr>
              <a:t>F</a:t>
            </a:r>
            <a:r>
              <a:rPr lang="zh-CN" altLang="en-US" b="1" dirty="0">
                <a:latin typeface="楷体_GB2312" pitchFamily="49" charset="-122"/>
                <a:ea typeface="楷体_GB2312" pitchFamily="49" charset="-122"/>
              </a:rPr>
              <a:t>分布</a:t>
            </a:r>
          </a:p>
          <a:p>
            <a:pPr lvl="1" eaLnBrk="1" hangingPunct="1">
              <a:lnSpc>
                <a:spcPct val="90000"/>
              </a:lnSpc>
            </a:pPr>
            <a:r>
              <a:rPr lang="zh-CN" altLang="en-US" sz="2400" dirty="0">
                <a:solidFill>
                  <a:schemeClr val="bg2"/>
                </a:solidFill>
                <a:ea typeface="黑体" pitchFamily="49" charset="-122"/>
              </a:rPr>
              <a:t>例：设</a:t>
            </a:r>
            <a:r>
              <a:rPr lang="en-US" altLang="zh-CN" sz="2400" dirty="0">
                <a:solidFill>
                  <a:schemeClr val="bg2"/>
                </a:solidFill>
                <a:ea typeface="黑体" pitchFamily="49" charset="-122"/>
              </a:rPr>
              <a:t>U=[0,100]</a:t>
            </a:r>
            <a:r>
              <a:rPr lang="zh-CN" altLang="en-US" sz="2400" dirty="0">
                <a:solidFill>
                  <a:schemeClr val="bg2"/>
                </a:solidFill>
                <a:ea typeface="黑体" pitchFamily="49" charset="-122"/>
              </a:rPr>
              <a:t>，在</a:t>
            </a:r>
            <a:r>
              <a:rPr lang="en-US" altLang="zh-CN" sz="2400" dirty="0">
                <a:solidFill>
                  <a:schemeClr val="bg2"/>
                </a:solidFill>
                <a:ea typeface="黑体" pitchFamily="49" charset="-122"/>
              </a:rPr>
              <a:t>U</a:t>
            </a:r>
            <a:r>
              <a:rPr lang="zh-CN" altLang="en-US" sz="2400" dirty="0">
                <a:solidFill>
                  <a:schemeClr val="bg2"/>
                </a:solidFill>
                <a:ea typeface="黑体" pitchFamily="49" charset="-122"/>
              </a:rPr>
              <a:t>上建立</a:t>
            </a:r>
            <a:r>
              <a:rPr lang="en-US" altLang="zh-CN" sz="2400" dirty="0">
                <a:solidFill>
                  <a:srgbClr val="FF0000"/>
                </a:solidFill>
                <a:ea typeface="黑体" pitchFamily="49" charset="-122"/>
              </a:rPr>
              <a:t>”</a:t>
            </a:r>
            <a:r>
              <a:rPr lang="zh-CN" altLang="en-US" sz="2400" dirty="0">
                <a:solidFill>
                  <a:srgbClr val="FF0000"/>
                </a:solidFill>
                <a:ea typeface="黑体" pitchFamily="49" charset="-122"/>
              </a:rPr>
              <a:t>年轻人</a:t>
            </a:r>
            <a:r>
              <a:rPr lang="en-US" altLang="zh-CN" sz="2400" dirty="0">
                <a:solidFill>
                  <a:srgbClr val="FF0000"/>
                </a:solidFill>
                <a:ea typeface="黑体" pitchFamily="49" charset="-122"/>
              </a:rPr>
              <a:t>”</a:t>
            </a:r>
            <a:r>
              <a:rPr lang="zh-CN" altLang="en-US" sz="2400" dirty="0">
                <a:solidFill>
                  <a:schemeClr val="bg2"/>
                </a:solidFill>
                <a:ea typeface="黑体" pitchFamily="49" charset="-122"/>
              </a:rPr>
              <a:t>的隶属函数 </a:t>
            </a:r>
          </a:p>
          <a:p>
            <a:pPr marL="457200" lvl="1" indent="0" eaLnBrk="1" hangingPunct="1">
              <a:lnSpc>
                <a:spcPct val="90000"/>
              </a:lnSpc>
              <a:buNone/>
            </a:pPr>
            <a:r>
              <a:rPr lang="zh-CN" altLang="en-US" sz="2400" dirty="0">
                <a:solidFill>
                  <a:schemeClr val="bg2"/>
                </a:solidFill>
                <a:ea typeface="黑体" pitchFamily="49" charset="-122"/>
              </a:rPr>
              <a:t>通过进行统计，发现曲线与柯西分布的偏小型相似，取</a:t>
            </a:r>
          </a:p>
          <a:p>
            <a:pPr lvl="2" eaLnBrk="1" hangingPunct="1">
              <a:lnSpc>
                <a:spcPct val="90000"/>
              </a:lnSpc>
            </a:pPr>
            <a:r>
              <a:rPr lang="en-US" altLang="zh-CN" b="1" dirty="0">
                <a:ea typeface="楷体_GB2312" pitchFamily="49" charset="-122"/>
              </a:rPr>
              <a:t>a = 25</a:t>
            </a:r>
          </a:p>
          <a:p>
            <a:pPr lvl="2" eaLnBrk="1" hangingPunct="1">
              <a:lnSpc>
                <a:spcPct val="90000"/>
              </a:lnSpc>
            </a:pPr>
            <a:r>
              <a:rPr lang="en-US" altLang="zh-CN" b="1" i="1" dirty="0">
                <a:solidFill>
                  <a:srgbClr val="C74440"/>
                </a:solidFill>
                <a:ea typeface="楷体_GB2312" pitchFamily="49" charset="-122"/>
                <a:sym typeface="Symbol" panose="05050102010706020507" pitchFamily="18" charset="2"/>
              </a:rPr>
              <a:t> </a:t>
            </a:r>
            <a:r>
              <a:rPr lang="en-US" altLang="zh-CN" b="1" dirty="0">
                <a:solidFill>
                  <a:srgbClr val="C74440"/>
                </a:solidFill>
                <a:ea typeface="楷体_GB2312" pitchFamily="49" charset="-122"/>
                <a:sym typeface="Symbol" panose="05050102010706020507" pitchFamily="18" charset="2"/>
              </a:rPr>
              <a:t>= 2</a:t>
            </a:r>
          </a:p>
          <a:p>
            <a:pPr lvl="2" eaLnBrk="1" hangingPunct="1">
              <a:lnSpc>
                <a:spcPct val="90000"/>
              </a:lnSpc>
            </a:pPr>
            <a:r>
              <a:rPr lang="en-US" altLang="zh-CN" b="1" i="1" dirty="0">
                <a:solidFill>
                  <a:srgbClr val="CC00CC"/>
                </a:solidFill>
                <a:ea typeface="楷体_GB2312" pitchFamily="49" charset="-122"/>
                <a:sym typeface="Symbol" panose="05050102010706020507" pitchFamily="18" charset="2"/>
              </a:rPr>
              <a:t> </a:t>
            </a:r>
            <a:r>
              <a:rPr lang="en-US" altLang="zh-CN" b="1" dirty="0">
                <a:solidFill>
                  <a:srgbClr val="CC00CC"/>
                </a:solidFill>
                <a:ea typeface="楷体_GB2312" pitchFamily="49" charset="-122"/>
                <a:sym typeface="Symbol" panose="05050102010706020507" pitchFamily="18" charset="2"/>
              </a:rPr>
              <a:t>= </a:t>
            </a:r>
            <a:r>
              <a:rPr lang="zh-CN" altLang="en-US" b="1" dirty="0">
                <a:solidFill>
                  <a:srgbClr val="CC00CC"/>
                </a:solidFill>
                <a:ea typeface="楷体_GB2312" pitchFamily="49" charset="-122"/>
                <a:sym typeface="Symbol" panose="05050102010706020507" pitchFamily="18" charset="2"/>
              </a:rPr>
              <a:t>？</a:t>
            </a:r>
            <a:endParaRPr lang="en-US" altLang="zh-CN" b="1" dirty="0">
              <a:solidFill>
                <a:srgbClr val="CC00CC"/>
              </a:solidFill>
              <a:ea typeface="楷体_GB2312" pitchFamily="49" charset="-122"/>
              <a:sym typeface="Symbol" panose="05050102010706020507" pitchFamily="18" charset="2"/>
            </a:endParaRPr>
          </a:p>
          <a:p>
            <a:pPr lvl="2" eaLnBrk="1" hangingPunct="1">
              <a:lnSpc>
                <a:spcPct val="90000"/>
              </a:lnSpc>
            </a:pPr>
            <a:r>
              <a:rPr lang="zh-CN" altLang="en-US" b="1" dirty="0">
                <a:ea typeface="楷体_GB2312" pitchFamily="49" charset="-122"/>
                <a:sym typeface="Symbol" panose="05050102010706020507" pitchFamily="18" charset="2"/>
              </a:rPr>
              <a:t>考虑最模糊的点（</a:t>
            </a:r>
            <a:r>
              <a:rPr lang="en-US" altLang="zh-CN" b="1" dirty="0">
                <a:solidFill>
                  <a:srgbClr val="FA7A11"/>
                </a:solidFill>
                <a:ea typeface="楷体_GB2312" pitchFamily="49" charset="-122"/>
                <a:sym typeface="Symbol" panose="05050102010706020507" pitchFamily="18" charset="2"/>
              </a:rPr>
              <a:t>A(30)=0.5</a:t>
            </a:r>
            <a:r>
              <a:rPr lang="zh-CN" altLang="en-US" b="1" dirty="0">
                <a:ea typeface="楷体_GB2312" pitchFamily="49" charset="-122"/>
                <a:sym typeface="Symbol" panose="05050102010706020507" pitchFamily="18" charset="2"/>
              </a:rPr>
              <a:t>）</a:t>
            </a:r>
            <a:endParaRPr lang="en-US" altLang="zh-CN" b="1" dirty="0">
              <a:ea typeface="楷体_GB2312" pitchFamily="49" charset="-122"/>
              <a:sym typeface="Symbol" panose="05050102010706020507" pitchFamily="18" charset="2"/>
            </a:endParaRPr>
          </a:p>
          <a:p>
            <a:pPr lvl="2" eaLnBrk="1" hangingPunct="1">
              <a:lnSpc>
                <a:spcPct val="90000"/>
              </a:lnSpc>
            </a:pPr>
            <a:r>
              <a:rPr lang="zh-CN" altLang="en-US" b="1" dirty="0">
                <a:ea typeface="楷体_GB2312" pitchFamily="49" charset="-122"/>
                <a:sym typeface="Symbol" panose="05050102010706020507" pitchFamily="18" charset="2"/>
              </a:rPr>
              <a:t>得</a:t>
            </a:r>
            <a:r>
              <a:rPr lang="en-US" altLang="zh-CN" sz="2800" b="1" i="1" dirty="0">
                <a:solidFill>
                  <a:srgbClr val="CC00CC"/>
                </a:solidFill>
                <a:ea typeface="楷体_GB2312" pitchFamily="49" charset="-122"/>
                <a:sym typeface="Symbol" panose="05050102010706020507" pitchFamily="18" charset="2"/>
              </a:rPr>
              <a:t> </a:t>
            </a:r>
            <a:r>
              <a:rPr lang="en-US" altLang="zh-CN" sz="2800" b="1" dirty="0">
                <a:solidFill>
                  <a:srgbClr val="CC00CC"/>
                </a:solidFill>
                <a:ea typeface="楷体_GB2312" pitchFamily="49" charset="-122"/>
                <a:sym typeface="Symbol" panose="05050102010706020507" pitchFamily="18" charset="2"/>
              </a:rPr>
              <a:t>=1/25</a:t>
            </a:r>
            <a:endParaRPr lang="en-US" altLang="zh-CN" b="1" dirty="0">
              <a:solidFill>
                <a:srgbClr val="CC00CC"/>
              </a:solidFill>
              <a:ea typeface="楷体_GB2312" pitchFamily="49" charset="-122"/>
              <a:sym typeface="Symbol" panose="05050102010706020507" pitchFamily="18" charset="2"/>
            </a:endParaRPr>
          </a:p>
          <a:p>
            <a:pPr lvl="2" eaLnBrk="1" hangingPunct="1">
              <a:lnSpc>
                <a:spcPct val="90000"/>
              </a:lnSpc>
            </a:pPr>
            <a:endParaRPr lang="en-US" altLang="zh-CN" b="1" dirty="0">
              <a:ea typeface="楷体_GB2312" pitchFamily="49" charset="-122"/>
            </a:endParaRPr>
          </a:p>
        </p:txBody>
      </p:sp>
      <p:graphicFrame>
        <p:nvGraphicFramePr>
          <p:cNvPr id="27" name="Object 4">
            <a:extLst>
              <a:ext uri="{FF2B5EF4-FFF2-40B4-BE49-F238E27FC236}">
                <a16:creationId xmlns:a16="http://schemas.microsoft.com/office/drawing/2014/main" id="{0756B10D-BB54-411D-B084-548E31F859D7}"/>
              </a:ext>
            </a:extLst>
          </p:cNvPr>
          <p:cNvGraphicFramePr>
            <a:graphicFrameLocks noChangeAspect="1"/>
          </p:cNvGraphicFramePr>
          <p:nvPr>
            <p:extLst>
              <p:ext uri="{D42A27DB-BD31-4B8C-83A1-F6EECF244321}">
                <p14:modId xmlns:p14="http://schemas.microsoft.com/office/powerpoint/2010/main" val="3868108847"/>
              </p:ext>
            </p:extLst>
          </p:nvPr>
        </p:nvGraphicFramePr>
        <p:xfrm>
          <a:off x="4608514" y="5353051"/>
          <a:ext cx="5348287" cy="1470025"/>
        </p:xfrm>
        <a:graphic>
          <a:graphicData uri="http://schemas.openxmlformats.org/presentationml/2006/ole">
            <mc:AlternateContent xmlns:mc="http://schemas.openxmlformats.org/markup-compatibility/2006">
              <mc:Choice xmlns:v="urn:schemas-microsoft-com:vml" Requires="v">
                <p:oleObj name="Equation" r:id="rId2" imgW="2603160" imgH="685800" progId="Equation.DSMT4">
                  <p:embed/>
                </p:oleObj>
              </mc:Choice>
              <mc:Fallback>
                <p:oleObj name="Equation" r:id="rId2" imgW="2603160" imgH="685800" progId="Equation.DSMT4">
                  <p:embed/>
                  <p:pic>
                    <p:nvPicPr>
                      <p:cNvPr id="27" name="Object 4">
                        <a:extLst>
                          <a:ext uri="{FF2B5EF4-FFF2-40B4-BE49-F238E27FC236}">
                            <a16:creationId xmlns:a16="http://schemas.microsoft.com/office/drawing/2014/main" id="{0756B10D-BB54-411D-B084-548E31F859D7}"/>
                          </a:ext>
                        </a:extLst>
                      </p:cNvPr>
                      <p:cNvPicPr>
                        <a:picLocks noChangeAspect="1" noChangeArrowheads="1"/>
                      </p:cNvPicPr>
                      <p:nvPr/>
                    </p:nvPicPr>
                    <p:blipFill>
                      <a:blip r:embed="rId3"/>
                      <a:srcRect/>
                      <a:stretch>
                        <a:fillRect/>
                      </a:stretch>
                    </p:blipFill>
                    <p:spPr bwMode="auto">
                      <a:xfrm>
                        <a:off x="4608514" y="5353051"/>
                        <a:ext cx="5348287" cy="1470025"/>
                      </a:xfrm>
                      <a:prstGeom prst="rect">
                        <a:avLst/>
                      </a:prstGeom>
                      <a:solidFill>
                        <a:srgbClr val="FFCCFF"/>
                      </a:solidFill>
                      <a:ln>
                        <a:noFill/>
                      </a:ln>
                      <a:effectLst/>
                    </p:spPr>
                  </p:pic>
                </p:oleObj>
              </mc:Fallback>
            </mc:AlternateContent>
          </a:graphicData>
        </a:graphic>
      </p:graphicFrame>
      <p:pic>
        <p:nvPicPr>
          <p:cNvPr id="29" name="Picture 5">
            <a:extLst>
              <a:ext uri="{FF2B5EF4-FFF2-40B4-BE49-F238E27FC236}">
                <a16:creationId xmlns:a16="http://schemas.microsoft.com/office/drawing/2014/main" id="{00F0CE6E-7017-4AD6-AEC8-46FD77866B67}"/>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r="2339" b="12656"/>
          <a:stretch/>
        </p:blipFill>
        <p:spPr bwMode="auto">
          <a:xfrm>
            <a:off x="2224747" y="5046100"/>
            <a:ext cx="1944166" cy="17764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0" name="Object 4">
            <a:extLst>
              <a:ext uri="{FF2B5EF4-FFF2-40B4-BE49-F238E27FC236}">
                <a16:creationId xmlns:a16="http://schemas.microsoft.com/office/drawing/2014/main" id="{E2A9617E-5876-47FE-A489-B94193D237E0}"/>
              </a:ext>
            </a:extLst>
          </p:cNvPr>
          <p:cNvGraphicFramePr>
            <a:graphicFrameLocks noChangeAspect="1"/>
          </p:cNvGraphicFramePr>
          <p:nvPr>
            <p:extLst>
              <p:ext uri="{D42A27DB-BD31-4B8C-83A1-F6EECF244321}">
                <p14:modId xmlns:p14="http://schemas.microsoft.com/office/powerpoint/2010/main" val="3091454411"/>
              </p:ext>
            </p:extLst>
          </p:nvPr>
        </p:nvGraphicFramePr>
        <p:xfrm>
          <a:off x="4155922" y="3127032"/>
          <a:ext cx="4460875" cy="1851025"/>
        </p:xfrm>
        <a:graphic>
          <a:graphicData uri="http://schemas.openxmlformats.org/presentationml/2006/ole">
            <mc:AlternateContent xmlns:mc="http://schemas.openxmlformats.org/markup-compatibility/2006">
              <mc:Choice xmlns:v="urn:schemas-microsoft-com:vml" Requires="v">
                <p:oleObj name="Equation" r:id="rId6" imgW="2171520" imgH="863280" progId="Equation.DSMT4">
                  <p:embed/>
                </p:oleObj>
              </mc:Choice>
              <mc:Fallback>
                <p:oleObj name="Equation" r:id="rId6" imgW="2171520" imgH="863280" progId="Equation.DSMT4">
                  <p:embed/>
                  <p:pic>
                    <p:nvPicPr>
                      <p:cNvPr id="30" name="Object 4">
                        <a:extLst>
                          <a:ext uri="{FF2B5EF4-FFF2-40B4-BE49-F238E27FC236}">
                            <a16:creationId xmlns:a16="http://schemas.microsoft.com/office/drawing/2014/main" id="{E2A9617E-5876-47FE-A489-B94193D237E0}"/>
                          </a:ext>
                        </a:extLst>
                      </p:cNvPr>
                      <p:cNvPicPr>
                        <a:picLocks noChangeAspect="1" noChangeArrowheads="1"/>
                      </p:cNvPicPr>
                      <p:nvPr/>
                    </p:nvPicPr>
                    <p:blipFill>
                      <a:blip r:embed="rId7"/>
                      <a:srcRect/>
                      <a:stretch>
                        <a:fillRect/>
                      </a:stretch>
                    </p:blipFill>
                    <p:spPr bwMode="auto">
                      <a:xfrm>
                        <a:off x="4155922" y="3127032"/>
                        <a:ext cx="4460875" cy="1851025"/>
                      </a:xfrm>
                      <a:prstGeom prst="rect">
                        <a:avLst/>
                      </a:prstGeom>
                      <a:solidFill>
                        <a:srgbClr val="66FFFF"/>
                      </a:solidFill>
                      <a:ln>
                        <a:noFill/>
                      </a:ln>
                      <a:effectLst/>
                    </p:spPr>
                  </p:pic>
                </p:oleObj>
              </mc:Fallback>
            </mc:AlternateContent>
          </a:graphicData>
        </a:graphic>
      </p:graphicFrame>
      <p:pic>
        <p:nvPicPr>
          <p:cNvPr id="7" name="图片 6" descr="图片包含 图示&#10;&#10;描述已自动生成">
            <a:extLst>
              <a:ext uri="{FF2B5EF4-FFF2-40B4-BE49-F238E27FC236}">
                <a16:creationId xmlns:a16="http://schemas.microsoft.com/office/drawing/2014/main" id="{A169D9C5-6122-69EA-7CB0-F024C473528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31444" y="3010833"/>
            <a:ext cx="2522458" cy="1979428"/>
          </a:xfrm>
          <a:prstGeom prst="rect">
            <a:avLst/>
          </a:prstGeom>
          <a:effectLst>
            <a:glow rad="127000">
              <a:srgbClr val="0066FF"/>
            </a:glow>
          </a:effectLst>
        </p:spPr>
      </p:pic>
      <p:grpSp>
        <p:nvGrpSpPr>
          <p:cNvPr id="13" name="组合 12">
            <a:extLst>
              <a:ext uri="{FF2B5EF4-FFF2-40B4-BE49-F238E27FC236}">
                <a16:creationId xmlns:a16="http://schemas.microsoft.com/office/drawing/2014/main" id="{4BF2B42C-4E0B-497A-2F1A-03D4F908203A}"/>
              </a:ext>
            </a:extLst>
          </p:cNvPr>
          <p:cNvGrpSpPr/>
          <p:nvPr/>
        </p:nvGrpSpPr>
        <p:grpSpPr>
          <a:xfrm>
            <a:off x="8688288" y="109054"/>
            <a:ext cx="3419872" cy="2371465"/>
            <a:chOff x="5724129" y="44624"/>
            <a:chExt cx="3419872" cy="2371465"/>
          </a:xfrm>
        </p:grpSpPr>
        <p:pic>
          <p:nvPicPr>
            <p:cNvPr id="9" name="图片 8" descr="直方图&#10;&#10;低可信度描述已自动生成">
              <a:extLst>
                <a:ext uri="{FF2B5EF4-FFF2-40B4-BE49-F238E27FC236}">
                  <a16:creationId xmlns:a16="http://schemas.microsoft.com/office/drawing/2014/main" id="{C96D142E-547C-A16E-9CB7-FC74FC7F61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24129" y="44624"/>
              <a:ext cx="3419872" cy="2371465"/>
            </a:xfrm>
            <a:prstGeom prst="rect">
              <a:avLst/>
            </a:prstGeom>
            <a:effectLst>
              <a:glow rad="127000">
                <a:srgbClr val="C74440"/>
              </a:glow>
            </a:effectLst>
          </p:spPr>
        </p:pic>
        <p:sp>
          <p:nvSpPr>
            <p:cNvPr id="10" name="文本框 9">
              <a:extLst>
                <a:ext uri="{FF2B5EF4-FFF2-40B4-BE49-F238E27FC236}">
                  <a16:creationId xmlns:a16="http://schemas.microsoft.com/office/drawing/2014/main" id="{249C5EDA-A944-2628-B3B6-6833A66EEDED}"/>
                </a:ext>
              </a:extLst>
            </p:cNvPr>
            <p:cNvSpPr txBox="1"/>
            <p:nvPr/>
          </p:nvSpPr>
          <p:spPr>
            <a:xfrm>
              <a:off x="6966013" y="953161"/>
              <a:ext cx="936104" cy="369332"/>
            </a:xfrm>
            <a:prstGeom prst="rect">
              <a:avLst/>
            </a:prstGeom>
            <a:noFill/>
          </p:spPr>
          <p:txBody>
            <a:bodyPr wrap="square" rtlCol="0">
              <a:spAutoFit/>
            </a:bodyPr>
            <a:lstStyle/>
            <a:p>
              <a:r>
                <a:rPr lang="zh-CN" altLang="en-US" b="1" i="1" dirty="0">
                  <a:solidFill>
                    <a:srgbClr val="008000"/>
                  </a:solidFill>
                  <a:sym typeface="Symbol" panose="05050102010706020507" pitchFamily="18" charset="2"/>
                </a:rPr>
                <a:t></a:t>
              </a:r>
              <a:r>
                <a:rPr lang="zh-CN" altLang="en-US" b="1" dirty="0">
                  <a:solidFill>
                    <a:srgbClr val="008000"/>
                  </a:solidFill>
                  <a:sym typeface="Symbol" panose="05050102010706020507" pitchFamily="18" charset="2"/>
                </a:rPr>
                <a:t> </a:t>
              </a:r>
              <a:r>
                <a:rPr lang="en-US" altLang="zh-CN" b="1" dirty="0">
                  <a:solidFill>
                    <a:srgbClr val="008000"/>
                  </a:solidFill>
                  <a:sym typeface="Symbol" panose="05050102010706020507" pitchFamily="18" charset="2"/>
                </a:rPr>
                <a:t>=1.7</a:t>
              </a:r>
              <a:endParaRPr lang="zh-CN" altLang="en-US" b="1" dirty="0">
                <a:solidFill>
                  <a:srgbClr val="008000"/>
                </a:solidFill>
              </a:endParaRPr>
            </a:p>
          </p:txBody>
        </p:sp>
        <p:sp>
          <p:nvSpPr>
            <p:cNvPr id="11" name="文本框 10">
              <a:extLst>
                <a:ext uri="{FF2B5EF4-FFF2-40B4-BE49-F238E27FC236}">
                  <a16:creationId xmlns:a16="http://schemas.microsoft.com/office/drawing/2014/main" id="{7E5007D8-59C0-0A14-144A-96CB5BF04BF4}"/>
                </a:ext>
              </a:extLst>
            </p:cNvPr>
            <p:cNvSpPr txBox="1"/>
            <p:nvPr/>
          </p:nvSpPr>
          <p:spPr>
            <a:xfrm>
              <a:off x="6189243" y="1845901"/>
              <a:ext cx="756085" cy="369332"/>
            </a:xfrm>
            <a:prstGeom prst="rect">
              <a:avLst/>
            </a:prstGeom>
            <a:noFill/>
          </p:spPr>
          <p:txBody>
            <a:bodyPr wrap="square" rtlCol="0">
              <a:spAutoFit/>
            </a:bodyPr>
            <a:lstStyle/>
            <a:p>
              <a:r>
                <a:rPr lang="zh-CN" altLang="en-US" b="1" i="1" dirty="0">
                  <a:solidFill>
                    <a:srgbClr val="0066FF"/>
                  </a:solidFill>
                  <a:sym typeface="Symbol" panose="05050102010706020507" pitchFamily="18" charset="2"/>
                </a:rPr>
                <a:t></a:t>
              </a:r>
              <a:r>
                <a:rPr lang="zh-CN" altLang="en-US" b="1" dirty="0">
                  <a:solidFill>
                    <a:srgbClr val="0066FF"/>
                  </a:solidFill>
                  <a:sym typeface="Symbol" panose="05050102010706020507" pitchFamily="18" charset="2"/>
                </a:rPr>
                <a:t> </a:t>
              </a:r>
              <a:r>
                <a:rPr lang="en-US" altLang="zh-CN" b="1" dirty="0">
                  <a:solidFill>
                    <a:srgbClr val="0066FF"/>
                  </a:solidFill>
                  <a:sym typeface="Symbol" panose="05050102010706020507" pitchFamily="18" charset="2"/>
                </a:rPr>
                <a:t>= 3</a:t>
              </a:r>
              <a:endParaRPr lang="zh-CN" altLang="en-US" b="1" dirty="0">
                <a:solidFill>
                  <a:srgbClr val="0066FF"/>
                </a:solidFill>
              </a:endParaRPr>
            </a:p>
          </p:txBody>
        </p:sp>
        <p:sp>
          <p:nvSpPr>
            <p:cNvPr id="12" name="文本框 11">
              <a:extLst>
                <a:ext uri="{FF2B5EF4-FFF2-40B4-BE49-F238E27FC236}">
                  <a16:creationId xmlns:a16="http://schemas.microsoft.com/office/drawing/2014/main" id="{E4AC473E-A251-BB6B-EE11-458714E3424E}"/>
                </a:ext>
              </a:extLst>
            </p:cNvPr>
            <p:cNvSpPr txBox="1"/>
            <p:nvPr/>
          </p:nvSpPr>
          <p:spPr>
            <a:xfrm>
              <a:off x="6948265" y="1683967"/>
              <a:ext cx="936104" cy="369332"/>
            </a:xfrm>
            <a:prstGeom prst="rect">
              <a:avLst/>
            </a:prstGeom>
            <a:noFill/>
          </p:spPr>
          <p:txBody>
            <a:bodyPr wrap="square" rtlCol="0">
              <a:spAutoFit/>
            </a:bodyPr>
            <a:lstStyle/>
            <a:p>
              <a:r>
                <a:rPr lang="zh-CN" altLang="en-US" b="1" i="1" dirty="0">
                  <a:solidFill>
                    <a:srgbClr val="C74440"/>
                  </a:solidFill>
                  <a:sym typeface="Symbol" panose="05050102010706020507" pitchFamily="18" charset="2"/>
                </a:rPr>
                <a:t></a:t>
              </a:r>
              <a:r>
                <a:rPr lang="zh-CN" altLang="en-US" b="1" dirty="0">
                  <a:solidFill>
                    <a:srgbClr val="C74440"/>
                  </a:solidFill>
                  <a:sym typeface="Symbol" panose="05050102010706020507" pitchFamily="18" charset="2"/>
                </a:rPr>
                <a:t> </a:t>
              </a:r>
              <a:r>
                <a:rPr lang="en-US" altLang="zh-CN" b="1" dirty="0">
                  <a:solidFill>
                    <a:srgbClr val="C74440"/>
                  </a:solidFill>
                  <a:sym typeface="Symbol" panose="05050102010706020507" pitchFamily="18" charset="2"/>
                </a:rPr>
                <a:t>=2</a:t>
              </a:r>
              <a:endParaRPr lang="zh-CN" altLang="en-US" b="1" dirty="0">
                <a:solidFill>
                  <a:srgbClr val="C74440"/>
                </a:solidFill>
              </a:endParaRPr>
            </a:p>
          </p:txBody>
        </p:sp>
      </p:grpSp>
      <p:sp>
        <p:nvSpPr>
          <p:cNvPr id="2" name="灯片编号占位符 1">
            <a:extLst>
              <a:ext uri="{FF2B5EF4-FFF2-40B4-BE49-F238E27FC236}">
                <a16:creationId xmlns:a16="http://schemas.microsoft.com/office/drawing/2014/main" id="{ED27F406-071A-6F03-F47A-829B37A67AFA}"/>
              </a:ext>
            </a:extLst>
          </p:cNvPr>
          <p:cNvSpPr>
            <a:spLocks noGrp="1"/>
          </p:cNvSpPr>
          <p:nvPr>
            <p:ph type="sldNum" sz="quarter" idx="11"/>
          </p:nvPr>
        </p:nvSpPr>
        <p:spPr/>
        <p:txBody>
          <a:bodyPr/>
          <a:lstStyle/>
          <a:p>
            <a:pPr>
              <a:defRPr/>
            </a:pPr>
            <a:fld id="{E0FB5469-1AEB-496D-971A-66705BF2F73C}" type="slidenum">
              <a:rPr lang="en-US" altLang="zh-CN" smtClean="0"/>
              <a:pPr>
                <a:defRPr/>
              </a:pPr>
              <a:t>27</a:t>
            </a:fld>
            <a:endParaRPr lang="en-US" altLang="zh-CN" dirty="0"/>
          </a:p>
        </p:txBody>
      </p:sp>
    </p:spTree>
    <p:extLst>
      <p:ext uri="{BB962C8B-B14F-4D97-AF65-F5344CB8AC3E}">
        <p14:creationId xmlns:p14="http://schemas.microsoft.com/office/powerpoint/2010/main" val="4175447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8003">
                                            <p:txEl>
                                              <p:pRg st="2" end="2"/>
                                            </p:txEl>
                                          </p:spTgt>
                                        </p:tgtEl>
                                        <p:attrNameLst>
                                          <p:attrName>style.visibility</p:attrName>
                                        </p:attrNameLst>
                                      </p:cBhvr>
                                      <p:to>
                                        <p:strVal val="visible"/>
                                      </p:to>
                                    </p:set>
                                    <p:animEffect transition="in" filter="wipe(left)">
                                      <p:cBhvr>
                                        <p:cTn id="7" dur="500"/>
                                        <p:tgtEl>
                                          <p:spTgt spid="12800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8003">
                                            <p:txEl>
                                              <p:pRg st="3" end="3"/>
                                            </p:txEl>
                                          </p:spTgt>
                                        </p:tgtEl>
                                        <p:attrNameLst>
                                          <p:attrName>style.visibility</p:attrName>
                                        </p:attrNameLst>
                                      </p:cBhvr>
                                      <p:to>
                                        <p:strVal val="visible"/>
                                      </p:to>
                                    </p:set>
                                    <p:animEffect transition="in" filter="wipe(left)">
                                      <p:cBhvr>
                                        <p:cTn id="12" dur="500"/>
                                        <p:tgtEl>
                                          <p:spTgt spid="12800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28003">
                                            <p:txEl>
                                              <p:pRg st="4" end="4"/>
                                            </p:txEl>
                                          </p:spTgt>
                                        </p:tgtEl>
                                        <p:attrNameLst>
                                          <p:attrName>style.visibility</p:attrName>
                                        </p:attrNameLst>
                                      </p:cBhvr>
                                      <p:to>
                                        <p:strVal val="visible"/>
                                      </p:to>
                                    </p:set>
                                    <p:animEffect transition="in" filter="wipe(left)">
                                      <p:cBhvr>
                                        <p:cTn id="28" dur="500"/>
                                        <p:tgtEl>
                                          <p:spTgt spid="128003">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28003">
                                            <p:txEl>
                                              <p:pRg st="5" end="5"/>
                                            </p:txEl>
                                          </p:spTgt>
                                        </p:tgtEl>
                                        <p:attrNameLst>
                                          <p:attrName>style.visibility</p:attrName>
                                        </p:attrNameLst>
                                      </p:cBhvr>
                                      <p:to>
                                        <p:strVal val="visible"/>
                                      </p:to>
                                    </p:set>
                                    <p:animEffect transition="in" filter="wipe(left)">
                                      <p:cBhvr>
                                        <p:cTn id="33" dur="500"/>
                                        <p:tgtEl>
                                          <p:spTgt spid="12800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28003">
                                            <p:txEl>
                                              <p:pRg st="6" end="6"/>
                                            </p:txEl>
                                          </p:spTgt>
                                        </p:tgtEl>
                                        <p:attrNameLst>
                                          <p:attrName>style.visibility</p:attrName>
                                        </p:attrNameLst>
                                      </p:cBhvr>
                                      <p:to>
                                        <p:strVal val="visible"/>
                                      </p:to>
                                    </p:set>
                                    <p:animEffect transition="in" filter="wipe(left)">
                                      <p:cBhvr>
                                        <p:cTn id="38" dur="500"/>
                                        <p:tgtEl>
                                          <p:spTgt spid="12800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28003">
                                            <p:txEl>
                                              <p:pRg st="7" end="7"/>
                                            </p:txEl>
                                          </p:spTgt>
                                        </p:tgtEl>
                                        <p:attrNameLst>
                                          <p:attrName>style.visibility</p:attrName>
                                        </p:attrNameLst>
                                      </p:cBhvr>
                                      <p:to>
                                        <p:strVal val="visible"/>
                                      </p:to>
                                    </p:set>
                                    <p:animEffect transition="in" filter="wipe(left)">
                                      <p:cBhvr>
                                        <p:cTn id="43" dur="500"/>
                                        <p:tgtEl>
                                          <p:spTgt spid="128003">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28003">
                                            <p:txEl>
                                              <p:pRg st="8" end="8"/>
                                            </p:txEl>
                                          </p:spTgt>
                                        </p:tgtEl>
                                        <p:attrNameLst>
                                          <p:attrName>style.visibility</p:attrName>
                                        </p:attrNameLst>
                                      </p:cBhvr>
                                      <p:to>
                                        <p:strVal val="visible"/>
                                      </p:to>
                                    </p:set>
                                    <p:animEffect transition="in" filter="wipe(left)">
                                      <p:cBhvr>
                                        <p:cTn id="48" dur="500"/>
                                        <p:tgtEl>
                                          <p:spTgt spid="128003">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additive="base">
                                        <p:cTn id="53" dur="500" fill="hold"/>
                                        <p:tgtEl>
                                          <p:spTgt spid="30"/>
                                        </p:tgtEl>
                                        <p:attrNameLst>
                                          <p:attrName>ppt_x</p:attrName>
                                        </p:attrNameLst>
                                      </p:cBhvr>
                                      <p:tavLst>
                                        <p:tav tm="0">
                                          <p:val>
                                            <p:strVal val="#ppt_x"/>
                                          </p:val>
                                        </p:tav>
                                        <p:tav tm="100000">
                                          <p:val>
                                            <p:strVal val="#ppt_x"/>
                                          </p:val>
                                        </p:tav>
                                      </p:tavLst>
                                    </p:anim>
                                    <p:anim calcmode="lin" valueType="num">
                                      <p:cBhvr additive="base">
                                        <p:cTn id="5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p:cTn id="59" dur="500" fill="hold"/>
                                        <p:tgtEl>
                                          <p:spTgt spid="7"/>
                                        </p:tgtEl>
                                        <p:attrNameLst>
                                          <p:attrName>ppt_w</p:attrName>
                                        </p:attrNameLst>
                                      </p:cBhvr>
                                      <p:tavLst>
                                        <p:tav tm="0">
                                          <p:val>
                                            <p:fltVal val="0"/>
                                          </p:val>
                                        </p:tav>
                                        <p:tav tm="100000">
                                          <p:val>
                                            <p:strVal val="#ppt_w"/>
                                          </p:val>
                                        </p:tav>
                                      </p:tavLst>
                                    </p:anim>
                                    <p:anim calcmode="lin" valueType="num">
                                      <p:cBhvr>
                                        <p:cTn id="60" dur="500" fill="hold"/>
                                        <p:tgtEl>
                                          <p:spTgt spid="7"/>
                                        </p:tgtEl>
                                        <p:attrNameLst>
                                          <p:attrName>ppt_h</p:attrName>
                                        </p:attrNameLst>
                                      </p:cBhvr>
                                      <p:tavLst>
                                        <p:tav tm="0">
                                          <p:val>
                                            <p:fltVal val="0"/>
                                          </p:val>
                                        </p:tav>
                                        <p:tav tm="100000">
                                          <p:val>
                                            <p:strVal val="#ppt_h"/>
                                          </p:val>
                                        </p:tav>
                                      </p:tavLst>
                                    </p:anim>
                                    <p:animEffect transition="in" filter="fade">
                                      <p:cBhvr>
                                        <p:cTn id="61" dur="500"/>
                                        <p:tgtEl>
                                          <p:spTgt spid="7"/>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42"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barn(outHorizontal)">
                                      <p:cBhvr>
                                        <p:cTn id="6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27"/>
          <p:cNvSpPr>
            <a:spLocks noGrp="1" noChangeArrowheads="1"/>
          </p:cNvSpPr>
          <p:nvPr>
            <p:ph type="title"/>
          </p:nvPr>
        </p:nvSpPr>
        <p:spPr>
          <a:xfrm>
            <a:off x="1774825" y="404814"/>
            <a:ext cx="3322638" cy="1152525"/>
          </a:xfrm>
        </p:spPr>
        <p:txBody>
          <a:bodyPr/>
          <a:lstStyle/>
          <a:p>
            <a:pPr eaLnBrk="1" hangingPunct="1"/>
            <a:r>
              <a:rPr lang="en-US" altLang="zh-CN">
                <a:solidFill>
                  <a:srgbClr val="008000"/>
                </a:solidFill>
                <a:ea typeface="黑体" pitchFamily="49" charset="-122"/>
              </a:rPr>
              <a:t>F</a:t>
            </a:r>
            <a:r>
              <a:rPr lang="zh-CN" altLang="en-US">
                <a:solidFill>
                  <a:srgbClr val="008000"/>
                </a:solidFill>
                <a:ea typeface="黑体" pitchFamily="49" charset="-122"/>
              </a:rPr>
              <a:t>分布的应用</a:t>
            </a:r>
          </a:p>
        </p:txBody>
      </p:sp>
      <p:sp>
        <p:nvSpPr>
          <p:cNvPr id="131300" name="Rectangle 228"/>
          <p:cNvSpPr>
            <a:spLocks noGrp="1" noChangeArrowheads="1"/>
          </p:cNvSpPr>
          <p:nvPr>
            <p:ph type="body" idx="1"/>
          </p:nvPr>
        </p:nvSpPr>
        <p:spPr>
          <a:xfrm>
            <a:off x="676993" y="1572637"/>
            <a:ext cx="5419007" cy="2492896"/>
          </a:xfrm>
        </p:spPr>
        <p:txBody>
          <a:bodyPr/>
          <a:lstStyle/>
          <a:p>
            <a:pPr eaLnBrk="1" hangingPunct="1"/>
            <a:r>
              <a:rPr lang="zh-CN" altLang="en-US" dirty="0">
                <a:solidFill>
                  <a:srgbClr val="FF0000"/>
                </a:solidFill>
                <a:ea typeface="黑体" pitchFamily="49" charset="-122"/>
              </a:rPr>
              <a:t>拟合</a:t>
            </a:r>
          </a:p>
          <a:p>
            <a:pPr lvl="1" eaLnBrk="1" hangingPunct="1"/>
            <a:r>
              <a:rPr lang="zh-CN" altLang="en-US" dirty="0"/>
              <a:t>对已有论域</a:t>
            </a:r>
            <a:r>
              <a:rPr lang="en-US" altLang="zh-CN" dirty="0"/>
              <a:t>U</a:t>
            </a:r>
            <a:r>
              <a:rPr lang="zh-CN" altLang="en-US" dirty="0"/>
              <a:t>的实数形式元素的</a:t>
            </a:r>
            <a:r>
              <a:rPr lang="en-US" altLang="zh-CN" dirty="0"/>
              <a:t>F</a:t>
            </a:r>
            <a:r>
              <a:rPr lang="zh-CN" altLang="en-US" dirty="0"/>
              <a:t>集合的隶属度，可用现成的</a:t>
            </a:r>
            <a:r>
              <a:rPr lang="en-US" altLang="zh-CN" dirty="0"/>
              <a:t>F</a:t>
            </a:r>
            <a:r>
              <a:rPr lang="zh-CN" altLang="en-US" dirty="0"/>
              <a:t>分布去拟合</a:t>
            </a:r>
          </a:p>
          <a:p>
            <a:pPr lvl="1" eaLnBrk="1" hangingPunct="1"/>
            <a:r>
              <a:rPr lang="zh-CN" altLang="en-US" b="1" dirty="0">
                <a:latin typeface="楷体_GB2312" pitchFamily="49" charset="-122"/>
                <a:ea typeface="楷体_GB2312" pitchFamily="49" charset="-122"/>
              </a:rPr>
              <a:t>如对</a:t>
            </a:r>
            <a:r>
              <a:rPr lang="zh-CN" altLang="en-US" b="1" dirty="0">
                <a:ea typeface="楷体_GB2312" pitchFamily="49" charset="-122"/>
              </a:rPr>
              <a:t>“</a:t>
            </a:r>
            <a:r>
              <a:rPr lang="zh-CN" altLang="en-US" b="1" dirty="0">
                <a:solidFill>
                  <a:srgbClr val="CC00CC"/>
                </a:solidFill>
                <a:latin typeface="楷体_GB2312" pitchFamily="49" charset="-122"/>
                <a:ea typeface="楷体_GB2312" pitchFamily="49" charset="-122"/>
              </a:rPr>
              <a:t>年青人</a:t>
            </a:r>
            <a:r>
              <a:rPr lang="zh-CN" altLang="en-US" b="1" dirty="0">
                <a:ea typeface="楷体_GB2312" pitchFamily="49" charset="-122"/>
              </a:rPr>
              <a:t>”</a:t>
            </a:r>
            <a:r>
              <a:rPr lang="en-US" altLang="zh-CN" b="1" dirty="0">
                <a:ea typeface="楷体_GB2312" pitchFamily="49" charset="-122"/>
              </a:rPr>
              <a:t>F</a:t>
            </a:r>
            <a:r>
              <a:rPr lang="zh-CN" altLang="en-US" b="1" dirty="0">
                <a:latin typeface="楷体_GB2312" pitchFamily="49" charset="-122"/>
                <a:ea typeface="楷体_GB2312" pitchFamily="49" charset="-122"/>
              </a:rPr>
              <a:t>分布的拟合</a:t>
            </a:r>
          </a:p>
        </p:txBody>
      </p:sp>
      <p:graphicFrame>
        <p:nvGraphicFramePr>
          <p:cNvPr id="131306" name="Group 234"/>
          <p:cNvGraphicFramePr>
            <a:graphicFrameLocks noGrp="1"/>
          </p:cNvGraphicFramePr>
          <p:nvPr>
            <p:ph idx="4294967295"/>
            <p:extLst>
              <p:ext uri="{D42A27DB-BD31-4B8C-83A1-F6EECF244321}">
                <p14:modId xmlns:p14="http://schemas.microsoft.com/office/powerpoint/2010/main" val="1020745063"/>
              </p:ext>
            </p:extLst>
          </p:nvPr>
        </p:nvGraphicFramePr>
        <p:xfrm>
          <a:off x="6457428" y="436564"/>
          <a:ext cx="5183188" cy="6426199"/>
        </p:xfrm>
        <a:graphic>
          <a:graphicData uri="http://schemas.openxmlformats.org/drawingml/2006/table">
            <a:tbl>
              <a:tblPr/>
              <a:tblGrid>
                <a:gridCol w="720725">
                  <a:extLst>
                    <a:ext uri="{9D8B030D-6E8A-4147-A177-3AD203B41FA5}">
                      <a16:colId xmlns:a16="http://schemas.microsoft.com/office/drawing/2014/main" val="20000"/>
                    </a:ext>
                  </a:extLst>
                </a:gridCol>
                <a:gridCol w="585788">
                  <a:extLst>
                    <a:ext uri="{9D8B030D-6E8A-4147-A177-3AD203B41FA5}">
                      <a16:colId xmlns:a16="http://schemas.microsoft.com/office/drawing/2014/main" val="20001"/>
                    </a:ext>
                  </a:extLst>
                </a:gridCol>
                <a:gridCol w="774700">
                  <a:extLst>
                    <a:ext uri="{9D8B030D-6E8A-4147-A177-3AD203B41FA5}">
                      <a16:colId xmlns:a16="http://schemas.microsoft.com/office/drawing/2014/main" val="20002"/>
                    </a:ext>
                  </a:extLst>
                </a:gridCol>
                <a:gridCol w="774700">
                  <a:extLst>
                    <a:ext uri="{9D8B030D-6E8A-4147-A177-3AD203B41FA5}">
                      <a16:colId xmlns:a16="http://schemas.microsoft.com/office/drawing/2014/main" val="20003"/>
                    </a:ext>
                  </a:extLst>
                </a:gridCol>
                <a:gridCol w="774700">
                  <a:extLst>
                    <a:ext uri="{9D8B030D-6E8A-4147-A177-3AD203B41FA5}">
                      <a16:colId xmlns:a16="http://schemas.microsoft.com/office/drawing/2014/main" val="20004"/>
                    </a:ext>
                  </a:extLst>
                </a:gridCol>
                <a:gridCol w="776287">
                  <a:extLst>
                    <a:ext uri="{9D8B030D-6E8A-4147-A177-3AD203B41FA5}">
                      <a16:colId xmlns:a16="http://schemas.microsoft.com/office/drawing/2014/main" val="20005"/>
                    </a:ext>
                  </a:extLst>
                </a:gridCol>
                <a:gridCol w="776288">
                  <a:extLst>
                    <a:ext uri="{9D8B030D-6E8A-4147-A177-3AD203B41FA5}">
                      <a16:colId xmlns:a16="http://schemas.microsoft.com/office/drawing/2014/main" val="20006"/>
                    </a:ext>
                  </a:extLst>
                </a:gridCol>
              </a:tblGrid>
              <a:tr h="25877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dirty="0">
                          <a:ln>
                            <a:noFill/>
                          </a:ln>
                          <a:solidFill>
                            <a:schemeClr val="tx1"/>
                          </a:solidFill>
                          <a:effectLst/>
                          <a:latin typeface="Arial" charset="0"/>
                          <a:ea typeface="楷体_GB2312" pitchFamily="49" charset="-122"/>
                        </a:rPr>
                        <a:t>元素</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楷体_GB2312" pitchFamily="49" charset="-122"/>
                        </a:rPr>
                        <a:t>隶属度</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楷体_GB2312" pitchFamily="49" charset="-122"/>
                        </a:rPr>
                        <a:t>矩形分布</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楷体_GB2312" pitchFamily="49" charset="-122"/>
                        </a:rPr>
                        <a:t>梯形分布</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楷体_GB2312" pitchFamily="49" charset="-122"/>
                        </a:rPr>
                        <a:t>2</a:t>
                      </a:r>
                      <a:r>
                        <a:rPr kumimoji="0" lang="zh-CN" altLang="en-US" sz="1200" b="1" i="0" u="none" strike="noStrike" cap="none" normalizeH="0" baseline="0">
                          <a:ln>
                            <a:noFill/>
                          </a:ln>
                          <a:solidFill>
                            <a:schemeClr val="tx1"/>
                          </a:solidFill>
                          <a:effectLst/>
                          <a:latin typeface="Arial" charset="0"/>
                          <a:ea typeface="楷体_GB2312" pitchFamily="49" charset="-122"/>
                        </a:rPr>
                        <a:t>次抛物线</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楷体_GB2312" pitchFamily="49" charset="-122"/>
                        </a:rPr>
                        <a:t>3</a:t>
                      </a:r>
                      <a:r>
                        <a:rPr kumimoji="0" lang="zh-CN" altLang="en-US" sz="1200" b="1" i="0" u="none" strike="noStrike" cap="none" normalizeH="0" baseline="0">
                          <a:ln>
                            <a:noFill/>
                          </a:ln>
                          <a:solidFill>
                            <a:schemeClr val="tx1"/>
                          </a:solidFill>
                          <a:effectLst/>
                          <a:latin typeface="Arial" charset="0"/>
                          <a:ea typeface="楷体_GB2312" pitchFamily="49" charset="-122"/>
                        </a:rPr>
                        <a:t>次抛物线</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楷体_GB2312" pitchFamily="49" charset="-122"/>
                        </a:rPr>
                        <a:t>正态分布</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66"/>
                    </a:solidFill>
                  </a:tcPr>
                </a:tc>
                <a:extLst>
                  <a:ext uri="{0D108BD9-81ED-4DB2-BD59-A6C34878D82A}">
                    <a16:rowId xmlns:a16="http://schemas.microsoft.com/office/drawing/2014/main" val="10000"/>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14</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0.02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0.06</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489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15</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0.21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chemeClr val="tx1"/>
                          </a:solidFill>
                          <a:effectLst/>
                          <a:latin typeface="Arial" charset="0"/>
                          <a:ea typeface="宋体" pitchFamily="2" charset="-122"/>
                        </a:rPr>
                        <a:t>0.17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chemeClr val="tx1"/>
                          </a:solidFill>
                          <a:effectLst/>
                          <a:latin typeface="Arial" charset="0"/>
                          <a:ea typeface="宋体" pitchFamily="2" charset="-122"/>
                        </a:rPr>
                        <a:t>0.03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16</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0.40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0.33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0.04</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0.16</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17</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0.52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0.25</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0.23</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18</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0.96</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0.67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0.44</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0.33</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19</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0.97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0.83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0.69</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0.58</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0.44</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489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20</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0.57</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21</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0.7</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211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22</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0.82</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23</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rgbClr val="3333FF"/>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0.91</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24</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0.98</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489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25</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rgbClr val="3333FF"/>
                          </a:solidFill>
                          <a:effectLst/>
                          <a:latin typeface="Arial" charset="0"/>
                          <a:ea typeface="宋体" pitchFamily="2" charset="-122"/>
                        </a:rPr>
                        <a:t>0.99</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26</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0.8</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0.92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0.84</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0.77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0.98</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27</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0.78</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0.83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0.69</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0.58</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0.91</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28</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rgbClr val="3333FF"/>
                          </a:solidFill>
                          <a:effectLst/>
                          <a:latin typeface="Arial" charset="0"/>
                          <a:ea typeface="宋体" pitchFamily="2" charset="-122"/>
                        </a:rPr>
                        <a:t>0.77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0.75</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0.56</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0.42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0.82</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29</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0.62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0.67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0.44</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0.7</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5489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30</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rgbClr val="3333FF"/>
                          </a:solidFill>
                          <a:effectLst/>
                          <a:latin typeface="Arial" charset="0"/>
                          <a:ea typeface="宋体" pitchFamily="2" charset="-122"/>
                        </a:rPr>
                        <a:t>0.6</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0.58</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0.34</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0.57</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31</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0.21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0.5</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0.25</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0.44</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32</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0.21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0.42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0.33</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33</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rgbClr val="3333FF"/>
                          </a:solidFill>
                          <a:effectLst/>
                          <a:latin typeface="Arial" charset="0"/>
                          <a:ea typeface="宋体" pitchFamily="2" charset="-122"/>
                        </a:rPr>
                        <a:t>0.2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0.33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0.04</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0.23</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34</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0.25</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0.06</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0.16</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1"/>
                  </a:ext>
                </a:extLst>
              </a:tr>
              <a:tr h="25489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35</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0.03</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0.1</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2"/>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36</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rgbClr val="3333FF"/>
                          </a:solidFill>
                          <a:effectLst/>
                          <a:latin typeface="Arial" charset="0"/>
                          <a:ea typeface="宋体" pitchFamily="2" charset="-122"/>
                        </a:rPr>
                        <a:t>0.01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0.08</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0.01</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0.06</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3"/>
                  </a:ext>
                </a:extLst>
              </a:tr>
              <a:tr h="25560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均方差</a:t>
                      </a:r>
                    </a:p>
                  </a:txBody>
                  <a:tcPr marL="36000" marR="36000" marT="36002" marB="360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1" i="0" u="none" strike="noStrike" cap="none" normalizeH="0" baseline="0">
                        <a:ln>
                          <a:noFill/>
                        </a:ln>
                        <a:solidFill>
                          <a:schemeClr val="tx1"/>
                        </a:solidFill>
                        <a:effectLst/>
                        <a:latin typeface="Arial" charset="0"/>
                        <a:ea typeface="宋体" pitchFamily="2" charset="-122"/>
                      </a:endParaRP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5.12</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0.28</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0.74</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1.47</a:t>
                      </a:r>
                    </a:p>
                  </a:txBody>
                  <a:tcPr marL="36000" marR="36000" marT="36002" marB="360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1FF"/>
                    </a:solid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chemeClr val="tx1"/>
                          </a:solidFill>
                          <a:effectLst/>
                          <a:latin typeface="Arial" charset="0"/>
                          <a:ea typeface="宋体" pitchFamily="2" charset="-122"/>
                        </a:rPr>
                        <a:t>1.3</a:t>
                      </a:r>
                    </a:p>
                  </a:txBody>
                  <a:tcPr marL="36000" marR="36000" marT="36002" marB="360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1FF"/>
                    </a:solidFill>
                  </a:tcPr>
                </a:tc>
                <a:extLst>
                  <a:ext uri="{0D108BD9-81ED-4DB2-BD59-A6C34878D82A}">
                    <a16:rowId xmlns:a16="http://schemas.microsoft.com/office/drawing/2014/main" val="10024"/>
                  </a:ext>
                </a:extLst>
              </a:tr>
            </a:tbl>
          </a:graphicData>
        </a:graphic>
      </p:graphicFrame>
      <p:pic>
        <p:nvPicPr>
          <p:cNvPr id="131302" name="Picture 2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0509" y="4126068"/>
            <a:ext cx="4610111" cy="26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8106847" y="6643710"/>
            <a:ext cx="428628" cy="214290"/>
          </a:xfrm>
          <a:prstGeom prst="rect">
            <a:avLst/>
          </a:prstGeom>
          <a:solidFill>
            <a:srgbClr val="FF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92665" y="6643710"/>
            <a:ext cx="428628" cy="214290"/>
          </a:xfrm>
          <a:prstGeom prst="rect">
            <a:avLst/>
          </a:prstGeom>
          <a:solidFill>
            <a:srgbClr val="FF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607045" y="6643710"/>
            <a:ext cx="428628" cy="214290"/>
          </a:xfrm>
          <a:prstGeom prst="rect">
            <a:avLst/>
          </a:prstGeom>
          <a:solidFill>
            <a:srgbClr val="FF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0392863" y="6643710"/>
            <a:ext cx="428628" cy="214290"/>
          </a:xfrm>
          <a:prstGeom prst="rect">
            <a:avLst/>
          </a:prstGeom>
          <a:solidFill>
            <a:srgbClr val="FF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178681" y="6643710"/>
            <a:ext cx="428628" cy="214290"/>
          </a:xfrm>
          <a:prstGeom prst="rect">
            <a:avLst/>
          </a:prstGeom>
          <a:solidFill>
            <a:srgbClr val="FF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9D5F75BF-157C-364B-99D4-2592D2009431}"/>
              </a:ext>
            </a:extLst>
          </p:cNvPr>
          <p:cNvSpPr>
            <a:spLocks noGrp="1"/>
          </p:cNvSpPr>
          <p:nvPr>
            <p:ph type="sldNum" sz="quarter" idx="11"/>
          </p:nvPr>
        </p:nvSpPr>
        <p:spPr>
          <a:xfrm>
            <a:off x="0" y="6293655"/>
            <a:ext cx="676993" cy="457200"/>
          </a:xfrm>
        </p:spPr>
        <p:txBody>
          <a:bodyPr/>
          <a:lstStyle/>
          <a:p>
            <a:pPr>
              <a:defRPr/>
            </a:pPr>
            <a:fld id="{E0FB5469-1AEB-496D-971A-66705BF2F73C}" type="slidenum">
              <a:rPr lang="en-US" altLang="zh-CN" smtClean="0"/>
              <a:pPr>
                <a:defRPr/>
              </a:pPr>
              <a:t>28</a:t>
            </a:fld>
            <a:endParaRPr lang="en-US" altLang="zh-CN" dirty="0"/>
          </a:p>
        </p:txBody>
      </p:sp>
    </p:spTree>
    <p:extLst>
      <p:ext uri="{BB962C8B-B14F-4D97-AF65-F5344CB8AC3E}">
        <p14:creationId xmlns:p14="http://schemas.microsoft.com/office/powerpoint/2010/main" val="17154692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300">
                                            <p:txEl>
                                              <p:pRg st="0" end="0"/>
                                            </p:txEl>
                                          </p:spTgt>
                                        </p:tgtEl>
                                        <p:attrNameLst>
                                          <p:attrName>style.visibility</p:attrName>
                                        </p:attrNameLst>
                                      </p:cBhvr>
                                      <p:to>
                                        <p:strVal val="visible"/>
                                      </p:to>
                                    </p:set>
                                    <p:animEffect transition="in" filter="wipe(left)">
                                      <p:cBhvr>
                                        <p:cTn id="7" dur="500"/>
                                        <p:tgtEl>
                                          <p:spTgt spid="13130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1300">
                                            <p:txEl>
                                              <p:pRg st="1" end="1"/>
                                            </p:txEl>
                                          </p:spTgt>
                                        </p:tgtEl>
                                        <p:attrNameLst>
                                          <p:attrName>style.visibility</p:attrName>
                                        </p:attrNameLst>
                                      </p:cBhvr>
                                      <p:to>
                                        <p:strVal val="visible"/>
                                      </p:to>
                                    </p:set>
                                    <p:animEffect transition="in" filter="wipe(left)">
                                      <p:cBhvr>
                                        <p:cTn id="12" dur="500"/>
                                        <p:tgtEl>
                                          <p:spTgt spid="13130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1300">
                                            <p:txEl>
                                              <p:pRg st="2" end="2"/>
                                            </p:txEl>
                                          </p:spTgt>
                                        </p:tgtEl>
                                        <p:attrNameLst>
                                          <p:attrName>style.visibility</p:attrName>
                                        </p:attrNameLst>
                                      </p:cBhvr>
                                      <p:to>
                                        <p:strVal val="visible"/>
                                      </p:to>
                                    </p:set>
                                    <p:animEffect transition="in" filter="wipe(left)">
                                      <p:cBhvr>
                                        <p:cTn id="17" dur="500"/>
                                        <p:tgtEl>
                                          <p:spTgt spid="13130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131302"/>
                                        </p:tgtEl>
                                        <p:attrNameLst>
                                          <p:attrName>style.visibility</p:attrName>
                                        </p:attrNameLst>
                                      </p:cBhvr>
                                      <p:to>
                                        <p:strVal val="visible"/>
                                      </p:to>
                                    </p:set>
                                    <p:anim calcmode="lin" valueType="num">
                                      <p:cBhvr additive="base">
                                        <p:cTn id="22" dur="500" fill="hold"/>
                                        <p:tgtEl>
                                          <p:spTgt spid="131302"/>
                                        </p:tgtEl>
                                        <p:attrNameLst>
                                          <p:attrName>ppt_x</p:attrName>
                                        </p:attrNameLst>
                                      </p:cBhvr>
                                      <p:tavLst>
                                        <p:tav tm="0">
                                          <p:val>
                                            <p:strVal val="#ppt_x"/>
                                          </p:val>
                                        </p:tav>
                                        <p:tav tm="100000">
                                          <p:val>
                                            <p:strVal val="#ppt_x"/>
                                          </p:val>
                                        </p:tav>
                                      </p:tavLst>
                                    </p:anim>
                                    <p:anim calcmode="lin" valueType="num">
                                      <p:cBhvr additive="base">
                                        <p:cTn id="23" dur="500" fill="hold"/>
                                        <p:tgtEl>
                                          <p:spTgt spid="131302"/>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31306"/>
                                        </p:tgtEl>
                                        <p:attrNameLst>
                                          <p:attrName>style.visibility</p:attrName>
                                        </p:attrNameLst>
                                      </p:cBhvr>
                                      <p:to>
                                        <p:strVal val="visible"/>
                                      </p:to>
                                    </p:set>
                                    <p:animEffect transition="in" filter="wipe(up)">
                                      <p:cBhvr>
                                        <p:cTn id="28" dur="500"/>
                                        <p:tgtEl>
                                          <p:spTgt spid="13130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xit" presetSubtype="10" fill="hold" grpId="0" nodeType="clickEffect">
                                  <p:stCondLst>
                                    <p:cond delay="0"/>
                                  </p:stCondLst>
                                  <p:childTnLst>
                                    <p:animEffect transition="out" filter="blinds(horizontal)">
                                      <p:cBhvr>
                                        <p:cTn id="32" dur="500"/>
                                        <p:tgtEl>
                                          <p:spTgt spid="6"/>
                                        </p:tgtEl>
                                      </p:cBhvr>
                                    </p:animEffect>
                                    <p:set>
                                      <p:cBhvr>
                                        <p:cTn id="33" dur="1" fill="hold">
                                          <p:stCondLst>
                                            <p:cond delay="499"/>
                                          </p:stCondLst>
                                        </p:cTn>
                                        <p:tgtEl>
                                          <p:spTgt spid="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grpId="0" nodeType="clickEffect">
                                  <p:stCondLst>
                                    <p:cond delay="0"/>
                                  </p:stCondLst>
                                  <p:childTnLst>
                                    <p:animEffect transition="out" filter="blinds(horizontal)">
                                      <p:cBhvr>
                                        <p:cTn id="37" dur="500"/>
                                        <p:tgtEl>
                                          <p:spTgt spid="7"/>
                                        </p:tgtEl>
                                      </p:cBhvr>
                                    </p:animEffect>
                                    <p:set>
                                      <p:cBhvr>
                                        <p:cTn id="38" dur="1" fill="hold">
                                          <p:stCondLst>
                                            <p:cond delay="499"/>
                                          </p:stCondLst>
                                        </p:cTn>
                                        <p:tgtEl>
                                          <p:spTgt spid="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grpId="0" nodeType="clickEffect">
                                  <p:stCondLst>
                                    <p:cond delay="0"/>
                                  </p:stCondLst>
                                  <p:childTnLst>
                                    <p:animEffect transition="out" filter="blinds(horizontal)">
                                      <p:cBhvr>
                                        <p:cTn id="42" dur="500"/>
                                        <p:tgtEl>
                                          <p:spTgt spid="8"/>
                                        </p:tgtEl>
                                      </p:cBhvr>
                                    </p:animEffect>
                                    <p:set>
                                      <p:cBhvr>
                                        <p:cTn id="43" dur="1" fill="hold">
                                          <p:stCondLst>
                                            <p:cond delay="499"/>
                                          </p:stCondLst>
                                        </p:cTn>
                                        <p:tgtEl>
                                          <p:spTgt spid="8"/>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3" presetClass="exit" presetSubtype="10" fill="hold" grpId="0" nodeType="clickEffect">
                                  <p:stCondLst>
                                    <p:cond delay="0"/>
                                  </p:stCondLst>
                                  <p:childTnLst>
                                    <p:animEffect transition="out" filter="blinds(horizontal)">
                                      <p:cBhvr>
                                        <p:cTn id="47" dur="500"/>
                                        <p:tgtEl>
                                          <p:spTgt spid="9"/>
                                        </p:tgtEl>
                                      </p:cBhvr>
                                    </p:animEffect>
                                    <p:set>
                                      <p:cBhvr>
                                        <p:cTn id="48" dur="1" fill="hold">
                                          <p:stCondLst>
                                            <p:cond delay="499"/>
                                          </p:stCondLst>
                                        </p:cTn>
                                        <p:tgtEl>
                                          <p:spTgt spid="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3" presetClass="exit" presetSubtype="10" fill="hold" grpId="0" nodeType="clickEffect">
                                  <p:stCondLst>
                                    <p:cond delay="0"/>
                                  </p:stCondLst>
                                  <p:childTnLst>
                                    <p:animEffect transition="out" filter="blinds(horizontal)">
                                      <p:cBhvr>
                                        <p:cTn id="52" dur="500"/>
                                        <p:tgtEl>
                                          <p:spTgt spid="10"/>
                                        </p:tgtEl>
                                      </p:cBhvr>
                                    </p:animEffect>
                                    <p:set>
                                      <p:cBhvr>
                                        <p:cTn id="53"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300" grpId="0" build="p"/>
      <p:bldP spid="6" grpId="0" animBg="1"/>
      <p:bldP spid="7" grpId="0" animBg="1"/>
      <p:bldP spid="8" grpId="0" animBg="1"/>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Line 2"/>
          <p:cNvSpPr>
            <a:spLocks noChangeShapeType="1"/>
          </p:cNvSpPr>
          <p:nvPr/>
        </p:nvSpPr>
        <p:spPr bwMode="auto">
          <a:xfrm flipV="1">
            <a:off x="1560388" y="4509443"/>
            <a:ext cx="0" cy="18002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07" name="Line 3"/>
          <p:cNvSpPr>
            <a:spLocks noChangeShapeType="1"/>
          </p:cNvSpPr>
          <p:nvPr/>
        </p:nvSpPr>
        <p:spPr bwMode="auto">
          <a:xfrm>
            <a:off x="1560389" y="6309667"/>
            <a:ext cx="20161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08" name="Line 4"/>
          <p:cNvSpPr>
            <a:spLocks noChangeShapeType="1"/>
          </p:cNvSpPr>
          <p:nvPr/>
        </p:nvSpPr>
        <p:spPr bwMode="auto">
          <a:xfrm flipV="1">
            <a:off x="5304010" y="4509443"/>
            <a:ext cx="0" cy="18002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09" name="Line 5"/>
          <p:cNvSpPr>
            <a:spLocks noChangeShapeType="1"/>
          </p:cNvSpPr>
          <p:nvPr/>
        </p:nvSpPr>
        <p:spPr bwMode="auto">
          <a:xfrm>
            <a:off x="5304011" y="6309667"/>
            <a:ext cx="20161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0" name="Text Box 6"/>
          <p:cNvSpPr txBox="1">
            <a:spLocks noChangeArrowheads="1"/>
          </p:cNvSpPr>
          <p:nvPr/>
        </p:nvSpPr>
        <p:spPr bwMode="auto">
          <a:xfrm>
            <a:off x="1847727" y="4293542"/>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b="1">
                <a:ea typeface="楷体_GB2312" pitchFamily="49" charset="-122"/>
              </a:rPr>
              <a:t>二次抛物线</a:t>
            </a:r>
          </a:p>
        </p:txBody>
      </p:sp>
      <p:sp>
        <p:nvSpPr>
          <p:cNvPr id="21511" name="Text Box 7"/>
          <p:cNvSpPr txBox="1">
            <a:spLocks noChangeArrowheads="1"/>
          </p:cNvSpPr>
          <p:nvPr/>
        </p:nvSpPr>
        <p:spPr bwMode="auto">
          <a:xfrm>
            <a:off x="5570178" y="4254393"/>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b="1" dirty="0">
                <a:ea typeface="楷体_GB2312" pitchFamily="49" charset="-122"/>
              </a:rPr>
              <a:t>三次抛物线</a:t>
            </a:r>
          </a:p>
        </p:txBody>
      </p:sp>
      <p:sp>
        <p:nvSpPr>
          <p:cNvPr id="21512" name="Text Box 8"/>
          <p:cNvSpPr txBox="1">
            <a:spLocks noChangeArrowheads="1"/>
          </p:cNvSpPr>
          <p:nvPr/>
        </p:nvSpPr>
        <p:spPr bwMode="auto">
          <a:xfrm>
            <a:off x="9078870" y="4221633"/>
            <a:ext cx="1366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b="1" dirty="0">
                <a:ea typeface="楷体_GB2312" pitchFamily="49" charset="-122"/>
              </a:rPr>
              <a:t>正态分布</a:t>
            </a:r>
          </a:p>
        </p:txBody>
      </p:sp>
      <p:sp>
        <p:nvSpPr>
          <p:cNvPr id="21513" name="Text Box 9"/>
          <p:cNvSpPr txBox="1">
            <a:spLocks noChangeArrowheads="1"/>
          </p:cNvSpPr>
          <p:nvPr/>
        </p:nvSpPr>
        <p:spPr bwMode="auto">
          <a:xfrm>
            <a:off x="1271464" y="4653905"/>
            <a:ext cx="288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1</a:t>
            </a:r>
          </a:p>
        </p:txBody>
      </p:sp>
      <p:sp>
        <p:nvSpPr>
          <p:cNvPr id="21514" name="Text Box 10"/>
          <p:cNvSpPr txBox="1">
            <a:spLocks noChangeArrowheads="1"/>
          </p:cNvSpPr>
          <p:nvPr/>
        </p:nvSpPr>
        <p:spPr bwMode="auto">
          <a:xfrm>
            <a:off x="4943649" y="4653905"/>
            <a:ext cx="288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1</a:t>
            </a:r>
          </a:p>
        </p:txBody>
      </p:sp>
      <p:sp>
        <p:nvSpPr>
          <p:cNvPr id="21515" name="Line 11"/>
          <p:cNvSpPr>
            <a:spLocks noChangeShapeType="1"/>
          </p:cNvSpPr>
          <p:nvPr/>
        </p:nvSpPr>
        <p:spPr bwMode="auto">
          <a:xfrm>
            <a:off x="2136652" y="4869804"/>
            <a:ext cx="503237" cy="0"/>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6" name="Line 12"/>
          <p:cNvSpPr>
            <a:spLocks noChangeShapeType="1"/>
          </p:cNvSpPr>
          <p:nvPr/>
        </p:nvSpPr>
        <p:spPr bwMode="auto">
          <a:xfrm>
            <a:off x="5880273" y="4869804"/>
            <a:ext cx="576262" cy="0"/>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7" name="Line 13"/>
          <p:cNvSpPr>
            <a:spLocks noChangeShapeType="1"/>
          </p:cNvSpPr>
          <p:nvPr/>
        </p:nvSpPr>
        <p:spPr bwMode="auto">
          <a:xfrm flipV="1">
            <a:off x="5375275" y="1628776"/>
            <a:ext cx="0" cy="18002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8" name="Line 14"/>
          <p:cNvSpPr>
            <a:spLocks noChangeShapeType="1"/>
          </p:cNvSpPr>
          <p:nvPr/>
        </p:nvSpPr>
        <p:spPr bwMode="auto">
          <a:xfrm>
            <a:off x="5375276" y="3429000"/>
            <a:ext cx="20161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9" name="Line 15"/>
          <p:cNvSpPr>
            <a:spLocks noChangeShapeType="1"/>
          </p:cNvSpPr>
          <p:nvPr/>
        </p:nvSpPr>
        <p:spPr bwMode="auto">
          <a:xfrm flipV="1">
            <a:off x="8616378" y="1628776"/>
            <a:ext cx="0" cy="18002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0" name="Line 16"/>
          <p:cNvSpPr>
            <a:spLocks noChangeShapeType="1"/>
          </p:cNvSpPr>
          <p:nvPr/>
        </p:nvSpPr>
        <p:spPr bwMode="auto">
          <a:xfrm>
            <a:off x="8616379" y="3429000"/>
            <a:ext cx="20161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1" name="Text Box 17"/>
          <p:cNvSpPr txBox="1">
            <a:spLocks noChangeArrowheads="1"/>
          </p:cNvSpPr>
          <p:nvPr/>
        </p:nvSpPr>
        <p:spPr bwMode="auto">
          <a:xfrm>
            <a:off x="5664201" y="1484313"/>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b="1">
                <a:ea typeface="楷体_GB2312" pitchFamily="49" charset="-122"/>
              </a:rPr>
              <a:t>矩形分布</a:t>
            </a:r>
          </a:p>
        </p:txBody>
      </p:sp>
      <p:sp>
        <p:nvSpPr>
          <p:cNvPr id="21522" name="Text Box 18"/>
          <p:cNvSpPr txBox="1">
            <a:spLocks noChangeArrowheads="1"/>
          </p:cNvSpPr>
          <p:nvPr/>
        </p:nvSpPr>
        <p:spPr bwMode="auto">
          <a:xfrm>
            <a:off x="8905303" y="1412876"/>
            <a:ext cx="1511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b="1">
                <a:ea typeface="楷体_GB2312" pitchFamily="49" charset="-122"/>
              </a:rPr>
              <a:t>梯形分布</a:t>
            </a:r>
          </a:p>
        </p:txBody>
      </p:sp>
      <p:sp>
        <p:nvSpPr>
          <p:cNvPr id="21523" name="Text Box 19"/>
          <p:cNvSpPr txBox="1">
            <a:spLocks noChangeArrowheads="1"/>
          </p:cNvSpPr>
          <p:nvPr/>
        </p:nvSpPr>
        <p:spPr bwMode="auto">
          <a:xfrm>
            <a:off x="8329042" y="1844676"/>
            <a:ext cx="288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1</a:t>
            </a:r>
          </a:p>
        </p:txBody>
      </p:sp>
      <p:sp>
        <p:nvSpPr>
          <p:cNvPr id="21524" name="Text Box 20"/>
          <p:cNvSpPr txBox="1">
            <a:spLocks noChangeArrowheads="1"/>
          </p:cNvSpPr>
          <p:nvPr/>
        </p:nvSpPr>
        <p:spPr bwMode="auto">
          <a:xfrm>
            <a:off x="5014914" y="1773238"/>
            <a:ext cx="288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n-US" altLang="zh-CN"/>
              <a:t>1</a:t>
            </a:r>
          </a:p>
        </p:txBody>
      </p:sp>
      <p:sp>
        <p:nvSpPr>
          <p:cNvPr id="21525" name="Line 21"/>
          <p:cNvSpPr>
            <a:spLocks noChangeShapeType="1"/>
          </p:cNvSpPr>
          <p:nvPr/>
        </p:nvSpPr>
        <p:spPr bwMode="auto">
          <a:xfrm>
            <a:off x="5951538" y="1989138"/>
            <a:ext cx="0" cy="1439862"/>
          </a:xfrm>
          <a:prstGeom prst="line">
            <a:avLst/>
          </a:prstGeom>
          <a:noFill/>
          <a:ln w="28575">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6" name="Line 22"/>
          <p:cNvSpPr>
            <a:spLocks noChangeShapeType="1"/>
          </p:cNvSpPr>
          <p:nvPr/>
        </p:nvSpPr>
        <p:spPr bwMode="auto">
          <a:xfrm>
            <a:off x="9048178" y="1989138"/>
            <a:ext cx="503238" cy="0"/>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7" name="Line 23"/>
          <p:cNvSpPr>
            <a:spLocks noChangeShapeType="1"/>
          </p:cNvSpPr>
          <p:nvPr/>
        </p:nvSpPr>
        <p:spPr bwMode="auto">
          <a:xfrm>
            <a:off x="5951538" y="1989138"/>
            <a:ext cx="576262" cy="0"/>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8" name="Line 24"/>
          <p:cNvSpPr>
            <a:spLocks noChangeShapeType="1"/>
          </p:cNvSpPr>
          <p:nvPr/>
        </p:nvSpPr>
        <p:spPr bwMode="auto">
          <a:xfrm>
            <a:off x="6527800" y="1989138"/>
            <a:ext cx="0" cy="1439862"/>
          </a:xfrm>
          <a:prstGeom prst="line">
            <a:avLst/>
          </a:prstGeom>
          <a:noFill/>
          <a:ln w="28575">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9" name="Line 25"/>
          <p:cNvSpPr>
            <a:spLocks noChangeShapeType="1"/>
          </p:cNvSpPr>
          <p:nvPr/>
        </p:nvSpPr>
        <p:spPr bwMode="auto">
          <a:xfrm flipH="1">
            <a:off x="8616378" y="1989138"/>
            <a:ext cx="431800" cy="1439862"/>
          </a:xfrm>
          <a:prstGeom prst="line">
            <a:avLst/>
          </a:prstGeom>
          <a:noFill/>
          <a:ln w="28575">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1530"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0388" y="1844676"/>
            <a:ext cx="23764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1" name="Line 27"/>
          <p:cNvSpPr>
            <a:spLocks noChangeShapeType="1"/>
          </p:cNvSpPr>
          <p:nvPr/>
        </p:nvSpPr>
        <p:spPr bwMode="auto">
          <a:xfrm>
            <a:off x="9553003" y="1989138"/>
            <a:ext cx="863600" cy="1439862"/>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2" name="Freeform 28"/>
          <p:cNvSpPr>
            <a:spLocks/>
          </p:cNvSpPr>
          <p:nvPr/>
        </p:nvSpPr>
        <p:spPr bwMode="auto">
          <a:xfrm>
            <a:off x="1560389" y="4869805"/>
            <a:ext cx="576263" cy="1439863"/>
          </a:xfrm>
          <a:custGeom>
            <a:avLst/>
            <a:gdLst>
              <a:gd name="T0" fmla="*/ 914818306 w 363"/>
              <a:gd name="T1" fmla="*/ 0 h 907"/>
              <a:gd name="T2" fmla="*/ 572076759 w 363"/>
              <a:gd name="T3" fmla="*/ 1486892704 h 907"/>
              <a:gd name="T4" fmla="*/ 0 w 363"/>
              <a:gd name="T5" fmla="*/ 2147483647 h 907"/>
              <a:gd name="T6" fmla="*/ 0 60000 65536"/>
              <a:gd name="T7" fmla="*/ 0 60000 65536"/>
              <a:gd name="T8" fmla="*/ 0 60000 65536"/>
            </a:gdLst>
            <a:ahLst/>
            <a:cxnLst>
              <a:cxn ang="T6">
                <a:pos x="T0" y="T1"/>
              </a:cxn>
              <a:cxn ang="T7">
                <a:pos x="T2" y="T3"/>
              </a:cxn>
              <a:cxn ang="T8">
                <a:pos x="T4" y="T5"/>
              </a:cxn>
            </a:cxnLst>
            <a:rect l="0" t="0" r="r" b="b"/>
            <a:pathLst>
              <a:path w="363" h="907">
                <a:moveTo>
                  <a:pt x="363" y="0"/>
                </a:moveTo>
                <a:cubicBezTo>
                  <a:pt x="325" y="219"/>
                  <a:pt x="287" y="439"/>
                  <a:pt x="227" y="590"/>
                </a:cubicBezTo>
                <a:cubicBezTo>
                  <a:pt x="167" y="741"/>
                  <a:pt x="38" y="854"/>
                  <a:pt x="0" y="907"/>
                </a:cubicBezTo>
              </a:path>
            </a:pathLst>
          </a:custGeom>
          <a:noFill/>
          <a:ln w="28575" cmpd="sng">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3" name="Freeform 29"/>
          <p:cNvSpPr>
            <a:spLocks/>
          </p:cNvSpPr>
          <p:nvPr/>
        </p:nvSpPr>
        <p:spPr bwMode="auto">
          <a:xfrm>
            <a:off x="2639889" y="4869805"/>
            <a:ext cx="720725" cy="1439863"/>
          </a:xfrm>
          <a:custGeom>
            <a:avLst/>
            <a:gdLst>
              <a:gd name="T0" fmla="*/ 0 w 454"/>
              <a:gd name="T1" fmla="*/ 0 h 907"/>
              <a:gd name="T2" fmla="*/ 342741250 w 454"/>
              <a:gd name="T3" fmla="*/ 1370965476 h 907"/>
              <a:gd name="T4" fmla="*/ 1144150938 w 454"/>
              <a:gd name="T5" fmla="*/ 2147483647 h 907"/>
              <a:gd name="T6" fmla="*/ 0 60000 65536"/>
              <a:gd name="T7" fmla="*/ 0 60000 65536"/>
              <a:gd name="T8" fmla="*/ 0 60000 65536"/>
            </a:gdLst>
            <a:ahLst/>
            <a:cxnLst>
              <a:cxn ang="T6">
                <a:pos x="T0" y="T1"/>
              </a:cxn>
              <a:cxn ang="T7">
                <a:pos x="T2" y="T3"/>
              </a:cxn>
              <a:cxn ang="T8">
                <a:pos x="T4" y="T5"/>
              </a:cxn>
            </a:cxnLst>
            <a:rect l="0" t="0" r="r" b="b"/>
            <a:pathLst>
              <a:path w="454" h="907">
                <a:moveTo>
                  <a:pt x="0" y="0"/>
                </a:moveTo>
                <a:cubicBezTo>
                  <a:pt x="30" y="196"/>
                  <a:pt x="60" y="393"/>
                  <a:pt x="136" y="544"/>
                </a:cubicBezTo>
                <a:cubicBezTo>
                  <a:pt x="212" y="695"/>
                  <a:pt x="401" y="847"/>
                  <a:pt x="454" y="907"/>
                </a:cubicBezTo>
              </a:path>
            </a:pathLst>
          </a:custGeom>
          <a:noFill/>
          <a:ln w="38100" cmpd="sng">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4" name="Freeform 30"/>
          <p:cNvSpPr>
            <a:spLocks/>
          </p:cNvSpPr>
          <p:nvPr/>
        </p:nvSpPr>
        <p:spPr bwMode="auto">
          <a:xfrm>
            <a:off x="5304011" y="4869805"/>
            <a:ext cx="576263" cy="1439863"/>
          </a:xfrm>
          <a:custGeom>
            <a:avLst/>
            <a:gdLst>
              <a:gd name="T0" fmla="*/ 914818306 w 363"/>
              <a:gd name="T1" fmla="*/ 0 h 907"/>
              <a:gd name="T2" fmla="*/ 342741547 w 363"/>
              <a:gd name="T3" fmla="*/ 1713706845 h 907"/>
              <a:gd name="T4" fmla="*/ 0 w 363"/>
              <a:gd name="T5" fmla="*/ 2147483647 h 907"/>
              <a:gd name="T6" fmla="*/ 0 60000 65536"/>
              <a:gd name="T7" fmla="*/ 0 60000 65536"/>
              <a:gd name="T8" fmla="*/ 0 60000 65536"/>
            </a:gdLst>
            <a:ahLst/>
            <a:cxnLst>
              <a:cxn ang="T6">
                <a:pos x="T0" y="T1"/>
              </a:cxn>
              <a:cxn ang="T7">
                <a:pos x="T2" y="T3"/>
              </a:cxn>
              <a:cxn ang="T8">
                <a:pos x="T4" y="T5"/>
              </a:cxn>
            </a:cxnLst>
            <a:rect l="0" t="0" r="r" b="b"/>
            <a:pathLst>
              <a:path w="363" h="907">
                <a:moveTo>
                  <a:pt x="363" y="0"/>
                </a:moveTo>
                <a:cubicBezTo>
                  <a:pt x="279" y="264"/>
                  <a:pt x="196" y="529"/>
                  <a:pt x="136" y="680"/>
                </a:cubicBezTo>
                <a:cubicBezTo>
                  <a:pt x="76" y="831"/>
                  <a:pt x="23" y="869"/>
                  <a:pt x="0" y="907"/>
                </a:cubicBezTo>
              </a:path>
            </a:pathLst>
          </a:custGeom>
          <a:noFill/>
          <a:ln w="28575" cmpd="sng">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5" name="Freeform 31"/>
          <p:cNvSpPr>
            <a:spLocks/>
          </p:cNvSpPr>
          <p:nvPr/>
        </p:nvSpPr>
        <p:spPr bwMode="auto">
          <a:xfrm>
            <a:off x="6456535" y="4869805"/>
            <a:ext cx="647700" cy="1439863"/>
          </a:xfrm>
          <a:custGeom>
            <a:avLst/>
            <a:gdLst>
              <a:gd name="T0" fmla="*/ 0 w 408"/>
              <a:gd name="T1" fmla="*/ 0 h 907"/>
              <a:gd name="T2" fmla="*/ 456149075 w 408"/>
              <a:gd name="T3" fmla="*/ 1370965476 h 907"/>
              <a:gd name="T4" fmla="*/ 1028223750 w 408"/>
              <a:gd name="T5" fmla="*/ 2147483647 h 907"/>
              <a:gd name="T6" fmla="*/ 0 60000 65536"/>
              <a:gd name="T7" fmla="*/ 0 60000 65536"/>
              <a:gd name="T8" fmla="*/ 0 60000 65536"/>
            </a:gdLst>
            <a:ahLst/>
            <a:cxnLst>
              <a:cxn ang="T6">
                <a:pos x="T0" y="T1"/>
              </a:cxn>
              <a:cxn ang="T7">
                <a:pos x="T2" y="T3"/>
              </a:cxn>
              <a:cxn ang="T8">
                <a:pos x="T4" y="T5"/>
              </a:cxn>
            </a:cxnLst>
            <a:rect l="0" t="0" r="r" b="b"/>
            <a:pathLst>
              <a:path w="408" h="907">
                <a:moveTo>
                  <a:pt x="0" y="0"/>
                </a:moveTo>
                <a:cubicBezTo>
                  <a:pt x="56" y="196"/>
                  <a:pt x="113" y="393"/>
                  <a:pt x="181" y="544"/>
                </a:cubicBezTo>
                <a:cubicBezTo>
                  <a:pt x="249" y="695"/>
                  <a:pt x="370" y="847"/>
                  <a:pt x="408" y="907"/>
                </a:cubicBezTo>
              </a:path>
            </a:pathLst>
          </a:custGeom>
          <a:noFill/>
          <a:ln w="28575" cmpd="sng">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6" name="Text Box 32"/>
          <p:cNvSpPr txBox="1">
            <a:spLocks noChangeArrowheads="1"/>
          </p:cNvSpPr>
          <p:nvPr/>
        </p:nvSpPr>
        <p:spPr bwMode="auto">
          <a:xfrm>
            <a:off x="2063627" y="1341438"/>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b="1">
                <a:ea typeface="楷体_GB2312" pitchFamily="49" charset="-122"/>
              </a:rPr>
              <a:t>隶属度</a:t>
            </a:r>
          </a:p>
        </p:txBody>
      </p:sp>
      <p:pic>
        <p:nvPicPr>
          <p:cNvPr id="21537"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8732" y="4653904"/>
            <a:ext cx="2563812"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8" name="Rectangle 34"/>
          <p:cNvSpPr>
            <a:spLocks noGrp="1" noChangeArrowheads="1"/>
          </p:cNvSpPr>
          <p:nvPr>
            <p:ph type="title"/>
          </p:nvPr>
        </p:nvSpPr>
        <p:spPr>
          <a:xfrm>
            <a:off x="1981200" y="457201"/>
            <a:ext cx="8229600" cy="955675"/>
          </a:xfrm>
        </p:spPr>
        <p:txBody>
          <a:bodyPr/>
          <a:lstStyle/>
          <a:p>
            <a:pPr algn="ctr" eaLnBrk="1" hangingPunct="1"/>
            <a:r>
              <a:rPr lang="en-US" altLang="zh-CN">
                <a:solidFill>
                  <a:srgbClr val="008000"/>
                </a:solidFill>
                <a:ea typeface="黑体" pitchFamily="49" charset="-122"/>
              </a:rPr>
              <a:t>“</a:t>
            </a:r>
            <a:r>
              <a:rPr lang="zh-CN" altLang="en-US">
                <a:solidFill>
                  <a:srgbClr val="008000"/>
                </a:solidFill>
                <a:ea typeface="黑体" pitchFamily="49" charset="-122"/>
              </a:rPr>
              <a:t>年青人”的</a:t>
            </a:r>
            <a:r>
              <a:rPr lang="en-US" altLang="zh-CN">
                <a:solidFill>
                  <a:srgbClr val="008000"/>
                </a:solidFill>
                <a:ea typeface="黑体" pitchFamily="49" charset="-122"/>
              </a:rPr>
              <a:t>F</a:t>
            </a:r>
            <a:r>
              <a:rPr lang="zh-CN" altLang="en-US">
                <a:solidFill>
                  <a:srgbClr val="008000"/>
                </a:solidFill>
                <a:ea typeface="黑体" pitchFamily="49" charset="-122"/>
              </a:rPr>
              <a:t>分布图形</a:t>
            </a:r>
          </a:p>
        </p:txBody>
      </p:sp>
      <p:sp>
        <p:nvSpPr>
          <p:cNvPr id="21539" name="Text Box 35"/>
          <p:cNvSpPr txBox="1">
            <a:spLocks noChangeArrowheads="1"/>
          </p:cNvSpPr>
          <p:nvPr/>
        </p:nvSpPr>
        <p:spPr bwMode="auto">
          <a:xfrm>
            <a:off x="5159376" y="3573463"/>
            <a:ext cx="56178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000" b="1" dirty="0">
                <a:solidFill>
                  <a:srgbClr val="CC00CC"/>
                </a:solidFill>
              </a:rPr>
              <a:t>   均方差</a:t>
            </a:r>
            <a:r>
              <a:rPr lang="en-US" altLang="zh-CN" sz="2000" b="1" dirty="0">
                <a:solidFill>
                  <a:srgbClr val="CC00CC"/>
                </a:solidFill>
              </a:rPr>
              <a:t>=5.12                                </a:t>
            </a:r>
            <a:r>
              <a:rPr lang="zh-CN" altLang="en-US" sz="2000" b="1" dirty="0">
                <a:solidFill>
                  <a:srgbClr val="CC00CC"/>
                </a:solidFill>
              </a:rPr>
              <a:t>均方差</a:t>
            </a:r>
            <a:r>
              <a:rPr lang="en-US" altLang="zh-CN" sz="2000" b="1" dirty="0">
                <a:solidFill>
                  <a:srgbClr val="CC00CC"/>
                </a:solidFill>
              </a:rPr>
              <a:t>=0.28 </a:t>
            </a:r>
          </a:p>
        </p:txBody>
      </p:sp>
      <p:sp>
        <p:nvSpPr>
          <p:cNvPr id="21540" name="Text Box 36"/>
          <p:cNvSpPr txBox="1">
            <a:spLocks noChangeArrowheads="1"/>
          </p:cNvSpPr>
          <p:nvPr/>
        </p:nvSpPr>
        <p:spPr bwMode="auto">
          <a:xfrm>
            <a:off x="1560388" y="6309667"/>
            <a:ext cx="93601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000" b="1" dirty="0">
                <a:solidFill>
                  <a:srgbClr val="CC00CC"/>
                </a:solidFill>
              </a:rPr>
              <a:t>均方差</a:t>
            </a:r>
            <a:r>
              <a:rPr lang="en-US" altLang="zh-CN" sz="2000" b="1" dirty="0">
                <a:solidFill>
                  <a:srgbClr val="CC00CC"/>
                </a:solidFill>
              </a:rPr>
              <a:t>=0.74                                </a:t>
            </a:r>
            <a:r>
              <a:rPr lang="zh-CN" altLang="en-US" sz="2000" b="1" dirty="0">
                <a:solidFill>
                  <a:srgbClr val="CC00CC"/>
                </a:solidFill>
              </a:rPr>
              <a:t>均方差</a:t>
            </a:r>
            <a:r>
              <a:rPr lang="en-US" altLang="zh-CN" sz="2000" b="1" dirty="0">
                <a:solidFill>
                  <a:srgbClr val="CC00CC"/>
                </a:solidFill>
              </a:rPr>
              <a:t>=1.47                                  </a:t>
            </a:r>
            <a:r>
              <a:rPr lang="zh-CN" altLang="en-US" sz="2000" b="1" dirty="0">
                <a:solidFill>
                  <a:srgbClr val="CC00CC"/>
                </a:solidFill>
              </a:rPr>
              <a:t>均方差</a:t>
            </a:r>
            <a:r>
              <a:rPr lang="en-US" altLang="zh-CN" sz="2000" b="1" dirty="0">
                <a:solidFill>
                  <a:srgbClr val="CC00CC"/>
                </a:solidFill>
              </a:rPr>
              <a:t>=1.3   </a:t>
            </a:r>
          </a:p>
        </p:txBody>
      </p:sp>
      <p:sp>
        <p:nvSpPr>
          <p:cNvPr id="2" name="灯片编号占位符 1">
            <a:extLst>
              <a:ext uri="{FF2B5EF4-FFF2-40B4-BE49-F238E27FC236}">
                <a16:creationId xmlns:a16="http://schemas.microsoft.com/office/drawing/2014/main" id="{C3F7879E-AA02-4538-1AF7-BA50F965A7C9}"/>
              </a:ext>
            </a:extLst>
          </p:cNvPr>
          <p:cNvSpPr>
            <a:spLocks noGrp="1"/>
          </p:cNvSpPr>
          <p:nvPr>
            <p:ph type="sldNum" sz="quarter" idx="11"/>
          </p:nvPr>
        </p:nvSpPr>
        <p:spPr/>
        <p:txBody>
          <a:bodyPr/>
          <a:lstStyle/>
          <a:p>
            <a:pPr>
              <a:defRPr/>
            </a:pPr>
            <a:fld id="{E0FB5469-1AEB-496D-971A-66705BF2F73C}" type="slidenum">
              <a:rPr lang="en-US" altLang="zh-CN" smtClean="0"/>
              <a:pPr>
                <a:defRPr/>
              </a:pPr>
              <a:t>29</a:t>
            </a:fld>
            <a:endParaRPr lang="en-US" altLang="zh-CN"/>
          </a:p>
        </p:txBody>
      </p:sp>
    </p:spTree>
    <p:extLst>
      <p:ext uri="{BB962C8B-B14F-4D97-AF65-F5344CB8AC3E}">
        <p14:creationId xmlns:p14="http://schemas.microsoft.com/office/powerpoint/2010/main" val="306754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白板上写着字&#10;&#10;AI 生成的内容可能不正确。">
            <a:extLst>
              <a:ext uri="{FF2B5EF4-FFF2-40B4-BE49-F238E27FC236}">
                <a16:creationId xmlns:a16="http://schemas.microsoft.com/office/drawing/2014/main" id="{4C5B88F4-2BDA-3A79-8930-6760D8227963}"/>
              </a:ext>
            </a:extLst>
          </p:cNvPr>
          <p:cNvPicPr>
            <a:picLocks noChangeAspect="1"/>
          </p:cNvPicPr>
          <p:nvPr/>
        </p:nvPicPr>
        <p:blipFill>
          <a:blip r:embed="rId2" cstate="print">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Effect>
                      <a14:brightnessContrast bright="40000"/>
                    </a14:imgEffect>
                  </a14:imgLayer>
                </a14:imgProps>
              </a:ext>
              <a:ext uri="{28A0092B-C50C-407E-A947-70E740481C1C}">
                <a14:useLocalDpi xmlns:a14="http://schemas.microsoft.com/office/drawing/2010/main" val="0"/>
              </a:ext>
            </a:extLst>
          </a:blip>
          <a:stretch>
            <a:fillRect/>
          </a:stretch>
        </p:blipFill>
        <p:spPr>
          <a:xfrm>
            <a:off x="4655841" y="3576290"/>
            <a:ext cx="6408712" cy="3389476"/>
          </a:xfrm>
          <a:prstGeom prst="rect">
            <a:avLst/>
          </a:prstGeom>
        </p:spPr>
      </p:pic>
      <p:sp>
        <p:nvSpPr>
          <p:cNvPr id="2" name="标题 1">
            <a:extLst>
              <a:ext uri="{FF2B5EF4-FFF2-40B4-BE49-F238E27FC236}">
                <a16:creationId xmlns:a16="http://schemas.microsoft.com/office/drawing/2014/main" id="{274CDCB5-8DD0-B6FD-064E-06E0D97A8D2D}"/>
              </a:ext>
            </a:extLst>
          </p:cNvPr>
          <p:cNvSpPr>
            <a:spLocks noGrp="1"/>
          </p:cNvSpPr>
          <p:nvPr>
            <p:ph type="title"/>
          </p:nvPr>
        </p:nvSpPr>
        <p:spPr>
          <a:xfrm>
            <a:off x="1981200" y="116632"/>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插值法</a:t>
            </a:r>
          </a:p>
        </p:txBody>
      </p:sp>
      <p:sp>
        <p:nvSpPr>
          <p:cNvPr id="3" name="内容占位符 2">
            <a:extLst>
              <a:ext uri="{FF2B5EF4-FFF2-40B4-BE49-F238E27FC236}">
                <a16:creationId xmlns:a16="http://schemas.microsoft.com/office/drawing/2014/main" id="{5F95C525-96D5-C93A-4FBC-B8B02921A2C8}"/>
              </a:ext>
            </a:extLst>
          </p:cNvPr>
          <p:cNvSpPr>
            <a:spLocks noGrp="1"/>
          </p:cNvSpPr>
          <p:nvPr>
            <p:ph idx="1"/>
          </p:nvPr>
        </p:nvSpPr>
        <p:spPr>
          <a:xfrm>
            <a:off x="983432" y="1239416"/>
            <a:ext cx="10297144" cy="5501952"/>
          </a:xfrm>
        </p:spPr>
        <p:txBody>
          <a:bodyPr/>
          <a:lstStyle/>
          <a:p>
            <a:r>
              <a:rPr lang="zh-CN" altLang="en-US" dirty="0">
                <a:latin typeface="+mj-lt"/>
              </a:rPr>
              <a:t>要建立正规</a:t>
            </a:r>
            <a:r>
              <a:rPr lang="en-US" altLang="zh-CN" dirty="0">
                <a:latin typeface="+mj-lt"/>
              </a:rPr>
              <a:t>F</a:t>
            </a:r>
            <a:r>
              <a:rPr lang="zh-CN" altLang="en-US" dirty="0">
                <a:latin typeface="+mj-lt"/>
              </a:rPr>
              <a:t>集</a:t>
            </a:r>
            <a:r>
              <a:rPr lang="en-US" altLang="zh-CN" dirty="0">
                <a:latin typeface="+mj-lt"/>
              </a:rPr>
              <a:t>A</a:t>
            </a:r>
            <a:r>
              <a:rPr lang="zh-CN" altLang="en-US" dirty="0">
                <a:latin typeface="+mj-lt"/>
              </a:rPr>
              <a:t>的隶属函数，可用插值法</a:t>
            </a:r>
            <a:r>
              <a:rPr lang="en-US" altLang="zh-CN" dirty="0">
                <a:latin typeface="+mj-lt"/>
              </a:rPr>
              <a:t>——</a:t>
            </a:r>
          </a:p>
          <a:p>
            <a:pPr marL="514350" indent="-514350">
              <a:buFont typeface="+mj-ea"/>
              <a:buAutoNum type="circleNumDbPlain"/>
            </a:pPr>
            <a:r>
              <a:rPr lang="zh-CN" altLang="en-US" sz="2800" dirty="0">
                <a:latin typeface="Times New Roman" panose="02020603050405020304" pitchFamily="18" charset="0"/>
                <a:cs typeface="Times New Roman" panose="02020603050405020304" pitchFamily="18" charset="0"/>
              </a:rPr>
              <a:t>按客观规律与实践经验找出</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的核，设</a:t>
            </a:r>
            <a:r>
              <a:rPr lang="en-US" altLang="zh-CN" sz="2800" dirty="0">
                <a:latin typeface="Times New Roman" panose="02020603050405020304" pitchFamily="18" charset="0"/>
                <a:cs typeface="Times New Roman" panose="02020603050405020304" pitchFamily="18" charset="0"/>
              </a:rPr>
              <a:t>A(</a:t>
            </a:r>
            <a:r>
              <a:rPr lang="en-US" altLang="zh-CN" sz="2800" i="1"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0</a:t>
            </a:r>
            <a:r>
              <a:rPr lang="en-US" altLang="zh-CN" sz="2800" dirty="0">
                <a:latin typeface="Times New Roman" panose="02020603050405020304" pitchFamily="18" charset="0"/>
                <a:cs typeface="Times New Roman" panose="02020603050405020304" pitchFamily="18" charset="0"/>
              </a:rPr>
              <a:t>)=1;</a:t>
            </a:r>
          </a:p>
          <a:p>
            <a:pPr marL="514350" indent="-514350">
              <a:buFont typeface="+mj-ea"/>
              <a:buAutoNum type="circleNumDbPlain"/>
            </a:pPr>
            <a:r>
              <a:rPr lang="zh-CN" altLang="en-US" sz="2800" dirty="0">
                <a:latin typeface="Times New Roman" panose="02020603050405020304" pitchFamily="18" charset="0"/>
                <a:cs typeface="Times New Roman" panose="02020603050405020304" pitchFamily="18" charset="0"/>
              </a:rPr>
              <a:t>在</a:t>
            </a:r>
            <a:r>
              <a:rPr lang="en-US" altLang="zh-CN" sz="2800" i="1"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0</a:t>
            </a:r>
            <a:r>
              <a:rPr lang="zh-CN" altLang="en-US" sz="2800" dirty="0">
                <a:latin typeface="Times New Roman" panose="02020603050405020304" pitchFamily="18" charset="0"/>
                <a:cs typeface="Times New Roman" panose="02020603050405020304" pitchFamily="18" charset="0"/>
              </a:rPr>
              <a:t>的左、右两边各找一个零点</a:t>
            </a:r>
            <a:r>
              <a:rPr lang="en-US" altLang="zh-CN" sz="2800" i="1"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2</a:t>
            </a:r>
            <a:r>
              <a:rPr lang="zh-CN" altLang="en-US" sz="2800" dirty="0">
                <a:latin typeface="Times New Roman" panose="02020603050405020304" pitchFamily="18" charset="0"/>
                <a:cs typeface="Times New Roman" panose="02020603050405020304" pitchFamily="18" charset="0"/>
              </a:rPr>
              <a:t>，使：</a:t>
            </a:r>
            <a:endParaRPr lang="en-US" altLang="zh-CN" sz="2800" dirty="0">
              <a:latin typeface="Times New Roman" panose="02020603050405020304" pitchFamily="18" charset="0"/>
              <a:cs typeface="Times New Roman" panose="02020603050405020304" pitchFamily="18" charset="0"/>
            </a:endParaRPr>
          </a:p>
          <a:p>
            <a:pPr marL="400050" lvl="1" indent="0">
              <a:buNone/>
            </a:pPr>
            <a:r>
              <a:rPr lang="zh-CN"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,x</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，均有</a:t>
            </a:r>
            <a:r>
              <a:rPr lang="en-US" altLang="zh-CN" dirty="0">
                <a:latin typeface="Times New Roman" panose="02020603050405020304" pitchFamily="18" charset="0"/>
                <a:cs typeface="Times New Roman" panose="02020603050405020304" pitchFamily="18" charset="0"/>
                <a:sym typeface="Symbol" panose="05050102010706020507" pitchFamily="18" charset="2"/>
              </a:rPr>
              <a:t>A(x)&gt;0; xx</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sym typeface="Symbol" panose="05050102010706020507" pitchFamily="18" charset="2"/>
              </a:rPr>
              <a:t>或 </a:t>
            </a:r>
            <a:r>
              <a:rPr lang="en-US" altLang="zh-CN" dirty="0">
                <a:latin typeface="Times New Roman" panose="02020603050405020304" pitchFamily="18" charset="0"/>
                <a:cs typeface="Times New Roman" panose="02020603050405020304" pitchFamily="18" charset="0"/>
                <a:sym typeface="Symbol" panose="05050102010706020507" pitchFamily="18" charset="2"/>
              </a:rPr>
              <a:t>xx</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均有</a:t>
            </a:r>
            <a:r>
              <a:rPr lang="en-US" altLang="zh-CN" dirty="0">
                <a:latin typeface="Times New Roman" panose="02020603050405020304" pitchFamily="18" charset="0"/>
                <a:cs typeface="Times New Roman" panose="02020603050405020304" pitchFamily="18" charset="0"/>
                <a:sym typeface="Symbol" panose="05050102010706020507" pitchFamily="18" charset="2"/>
              </a:rPr>
              <a:t>A(x)=0</a:t>
            </a:r>
          </a:p>
          <a:p>
            <a:pPr marL="514350" indent="-514350">
              <a:buFont typeface="+mj-ea"/>
              <a:buAutoNum type="circleNumDbPlain"/>
            </a:pPr>
            <a:r>
              <a:rPr lang="zh-CN" altLang="en-US"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a:p>
            <a:pPr marL="514350" indent="-514350">
              <a:buFont typeface="+mj-ea"/>
              <a:buAutoNum type="circleNumDbPlain"/>
            </a:pPr>
            <a:endParaRPr lang="en-US" altLang="zh-CN" sz="2800" dirty="0">
              <a:latin typeface="Times New Roman" panose="02020603050405020304" pitchFamily="18" charset="0"/>
              <a:cs typeface="Times New Roman" panose="02020603050405020304" pitchFamily="18" charset="0"/>
            </a:endParaRPr>
          </a:p>
          <a:p>
            <a:pPr marL="0" indent="0">
              <a:buNone/>
            </a:pPr>
            <a:r>
              <a:rPr lang="en-US" altLang="zh-CN" sz="2800" dirty="0">
                <a:latin typeface="Times New Roman" panose="02020603050405020304" pitchFamily="18" charset="0"/>
                <a:cs typeface="Times New Roman" panose="02020603050405020304" pitchFamily="18" charset="0"/>
              </a:rPr>
              <a:t> </a:t>
            </a:r>
          </a:p>
          <a:p>
            <a:endParaRPr lang="zh-CN" altLang="en-US" dirty="0"/>
          </a:p>
        </p:txBody>
      </p:sp>
      <p:graphicFrame>
        <p:nvGraphicFramePr>
          <p:cNvPr id="4" name="Object 4">
            <a:extLst>
              <a:ext uri="{FF2B5EF4-FFF2-40B4-BE49-F238E27FC236}">
                <a16:creationId xmlns:a16="http://schemas.microsoft.com/office/drawing/2014/main" id="{024CF03C-5101-6242-E1AA-A40EE46515A9}"/>
              </a:ext>
            </a:extLst>
          </p:cNvPr>
          <p:cNvGraphicFramePr>
            <a:graphicFrameLocks noChangeAspect="1"/>
          </p:cNvGraphicFramePr>
          <p:nvPr>
            <p:extLst>
              <p:ext uri="{D42A27DB-BD31-4B8C-83A1-F6EECF244321}">
                <p14:modId xmlns:p14="http://schemas.microsoft.com/office/powerpoint/2010/main" val="1961009442"/>
              </p:ext>
            </p:extLst>
          </p:nvPr>
        </p:nvGraphicFramePr>
        <p:xfrm>
          <a:off x="1363663" y="3381375"/>
          <a:ext cx="8880475" cy="1035050"/>
        </p:xfrm>
        <a:graphic>
          <a:graphicData uri="http://schemas.openxmlformats.org/presentationml/2006/ole">
            <mc:AlternateContent xmlns:mc="http://schemas.openxmlformats.org/markup-compatibility/2006">
              <mc:Choice xmlns:v="urn:schemas-microsoft-com:vml" Requires="v">
                <p:oleObj name="Equation" r:id="rId4" imgW="3479760" imgH="482400" progId="Equation.DSMT4">
                  <p:embed/>
                </p:oleObj>
              </mc:Choice>
              <mc:Fallback>
                <p:oleObj name="Equation" r:id="rId4" imgW="3479760" imgH="482400" progId="Equation.DSMT4">
                  <p:embed/>
                  <p:pic>
                    <p:nvPicPr>
                      <p:cNvPr id="30" name="Object 4">
                        <a:extLst>
                          <a:ext uri="{FF2B5EF4-FFF2-40B4-BE49-F238E27FC236}">
                            <a16:creationId xmlns:a16="http://schemas.microsoft.com/office/drawing/2014/main" id="{E2A9617E-5876-47FE-A489-B94193D237E0}"/>
                          </a:ext>
                        </a:extLst>
                      </p:cNvPr>
                      <p:cNvPicPr>
                        <a:picLocks noChangeAspect="1" noChangeArrowheads="1"/>
                      </p:cNvPicPr>
                      <p:nvPr/>
                    </p:nvPicPr>
                    <p:blipFill>
                      <a:blip r:embed="rId5"/>
                      <a:srcRect/>
                      <a:stretch>
                        <a:fillRect/>
                      </a:stretch>
                    </p:blipFill>
                    <p:spPr bwMode="auto">
                      <a:xfrm>
                        <a:off x="1363663" y="3381375"/>
                        <a:ext cx="8880475" cy="1035050"/>
                      </a:xfrm>
                      <a:prstGeom prst="rect">
                        <a:avLst/>
                      </a:prstGeom>
                      <a:noFill/>
                      <a:ln>
                        <a:noFill/>
                      </a:ln>
                      <a:effectLst/>
                    </p:spPr>
                  </p:pic>
                </p:oleObj>
              </mc:Fallback>
            </mc:AlternateContent>
          </a:graphicData>
        </a:graphic>
      </p:graphicFrame>
      <p:sp>
        <p:nvSpPr>
          <p:cNvPr id="5" name="灯片编号占位符 4">
            <a:extLst>
              <a:ext uri="{FF2B5EF4-FFF2-40B4-BE49-F238E27FC236}">
                <a16:creationId xmlns:a16="http://schemas.microsoft.com/office/drawing/2014/main" id="{79C02A15-B65D-AA5B-BBDA-0BFB82AEA311}"/>
              </a:ext>
            </a:extLst>
          </p:cNvPr>
          <p:cNvSpPr>
            <a:spLocks noGrp="1"/>
          </p:cNvSpPr>
          <p:nvPr>
            <p:ph type="sldNum" sz="quarter" idx="11"/>
          </p:nvPr>
        </p:nvSpPr>
        <p:spPr>
          <a:xfrm>
            <a:off x="11642591" y="6284168"/>
            <a:ext cx="443117" cy="457200"/>
          </a:xfrm>
        </p:spPr>
        <p:txBody>
          <a:bodyPr/>
          <a:lstStyle/>
          <a:p>
            <a:pPr>
              <a:defRPr/>
            </a:pPr>
            <a:fld id="{E0FB5469-1AEB-496D-971A-66705BF2F73C}" type="slidenum">
              <a:rPr lang="en-US" altLang="zh-CN" smtClean="0"/>
              <a:pPr>
                <a:defRPr/>
              </a:pPr>
              <a:t>30</a:t>
            </a:fld>
            <a:endParaRPr lang="en-US" altLang="zh-CN"/>
          </a:p>
        </p:txBody>
      </p:sp>
    </p:spTree>
    <p:extLst>
      <p:ext uri="{BB962C8B-B14F-4D97-AF65-F5344CB8AC3E}">
        <p14:creationId xmlns:p14="http://schemas.microsoft.com/office/powerpoint/2010/main" val="2241545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71BBC-C475-B63C-DFB3-875F84C9E3E5}"/>
            </a:ext>
          </a:extLst>
        </p:cNvPr>
        <p:cNvGrpSpPr/>
        <p:nvPr/>
      </p:nvGrpSpPr>
      <p:grpSpPr>
        <a:xfrm>
          <a:off x="0" y="0"/>
          <a:ext cx="0" cy="0"/>
          <a:chOff x="0" y="0"/>
          <a:chExt cx="0" cy="0"/>
        </a:xfrm>
      </p:grpSpPr>
      <p:pic>
        <p:nvPicPr>
          <p:cNvPr id="7" name="图片 6" descr="白板上写着字&#10;&#10;AI 生成的内容可能不正确。">
            <a:extLst>
              <a:ext uri="{FF2B5EF4-FFF2-40B4-BE49-F238E27FC236}">
                <a16:creationId xmlns:a16="http://schemas.microsoft.com/office/drawing/2014/main" id="{74415EF4-F4BF-DB02-D9E7-1FEDE84FCF9C}"/>
              </a:ext>
            </a:extLst>
          </p:cNvPr>
          <p:cNvPicPr>
            <a:picLocks noChangeAspect="1"/>
          </p:cNvPicPr>
          <p:nvPr/>
        </p:nvPicPr>
        <p:blipFill>
          <a:blip r:embed="rId2" cstate="print">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505210" y="2001677"/>
            <a:ext cx="5470039" cy="3011499"/>
          </a:xfrm>
          <a:prstGeom prst="rect">
            <a:avLst/>
          </a:prstGeom>
        </p:spPr>
      </p:pic>
      <p:sp>
        <p:nvSpPr>
          <p:cNvPr id="2" name="标题 1">
            <a:extLst>
              <a:ext uri="{FF2B5EF4-FFF2-40B4-BE49-F238E27FC236}">
                <a16:creationId xmlns:a16="http://schemas.microsoft.com/office/drawing/2014/main" id="{45DC7475-AEDB-C64F-AD5F-4D773E13BEF1}"/>
              </a:ext>
            </a:extLst>
          </p:cNvPr>
          <p:cNvSpPr>
            <a:spLocks noGrp="1"/>
          </p:cNvSpPr>
          <p:nvPr>
            <p:ph type="title"/>
          </p:nvPr>
        </p:nvSpPr>
        <p:spPr>
          <a:xfrm>
            <a:off x="1981200" y="116632"/>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插值法</a:t>
            </a:r>
          </a:p>
        </p:txBody>
      </p:sp>
      <p:sp>
        <p:nvSpPr>
          <p:cNvPr id="3" name="内容占位符 2">
            <a:extLst>
              <a:ext uri="{FF2B5EF4-FFF2-40B4-BE49-F238E27FC236}">
                <a16:creationId xmlns:a16="http://schemas.microsoft.com/office/drawing/2014/main" id="{BF3A87F1-E5A6-067C-4D56-21646EC96220}"/>
              </a:ext>
            </a:extLst>
          </p:cNvPr>
          <p:cNvSpPr>
            <a:spLocks noGrp="1"/>
          </p:cNvSpPr>
          <p:nvPr>
            <p:ph idx="1"/>
          </p:nvPr>
        </p:nvSpPr>
        <p:spPr>
          <a:xfrm>
            <a:off x="839416" y="1239416"/>
            <a:ext cx="10009112" cy="5501952"/>
          </a:xfrm>
        </p:spPr>
        <p:txBody>
          <a:bodyPr/>
          <a:lstStyle/>
          <a:p>
            <a:r>
              <a:rPr lang="zh-CN" altLang="en-US" dirty="0">
                <a:latin typeface="+mj-lt"/>
                <a:ea typeface="黑体" panose="02010609060101010101" pitchFamily="49" charset="-122"/>
              </a:rPr>
              <a:t>要建立正规</a:t>
            </a:r>
            <a:r>
              <a:rPr lang="en-US" altLang="zh-CN" dirty="0">
                <a:latin typeface="+mj-lt"/>
                <a:ea typeface="黑体" panose="02010609060101010101" pitchFamily="49" charset="-122"/>
              </a:rPr>
              <a:t>F</a:t>
            </a:r>
            <a:r>
              <a:rPr lang="zh-CN" altLang="en-US" dirty="0">
                <a:latin typeface="+mj-lt"/>
                <a:ea typeface="黑体" panose="02010609060101010101" pitchFamily="49" charset="-122"/>
              </a:rPr>
              <a:t>集</a:t>
            </a:r>
            <a:r>
              <a:rPr lang="en-US" altLang="zh-CN" dirty="0">
                <a:latin typeface="+mj-lt"/>
                <a:ea typeface="黑体" panose="02010609060101010101" pitchFamily="49" charset="-122"/>
              </a:rPr>
              <a:t>A</a:t>
            </a:r>
            <a:r>
              <a:rPr lang="zh-CN" altLang="en-US" dirty="0">
                <a:latin typeface="+mj-lt"/>
                <a:ea typeface="黑体" panose="02010609060101010101" pitchFamily="49" charset="-122"/>
              </a:rPr>
              <a:t>的隶属函数，可用插值法</a:t>
            </a:r>
            <a:r>
              <a:rPr lang="en-US" altLang="zh-CN" dirty="0">
                <a:latin typeface="+mj-lt"/>
                <a:ea typeface="黑体" panose="02010609060101010101" pitchFamily="49" charset="-122"/>
              </a:rPr>
              <a:t>——</a:t>
            </a:r>
          </a:p>
          <a:p>
            <a:pPr marL="514350" indent="-514350">
              <a:buFont typeface="+mj-ea"/>
              <a:buAutoNum type="circleNumDbPlain" startAt="4"/>
            </a:pPr>
            <a:r>
              <a:rPr lang="en-US" altLang="zh-CN" sz="2800" dirty="0">
                <a:latin typeface="Times New Roman" panose="02020603050405020304" pitchFamily="18" charset="0"/>
                <a:cs typeface="Times New Roman" panose="02020603050405020304" pitchFamily="18" charset="0"/>
              </a:rPr>
              <a:t> </a:t>
            </a:r>
          </a:p>
          <a:p>
            <a:endParaRPr lang="zh-CN" altLang="en-US" dirty="0"/>
          </a:p>
        </p:txBody>
      </p:sp>
      <p:graphicFrame>
        <p:nvGraphicFramePr>
          <p:cNvPr id="5" name="Object 4">
            <a:extLst>
              <a:ext uri="{FF2B5EF4-FFF2-40B4-BE49-F238E27FC236}">
                <a16:creationId xmlns:a16="http://schemas.microsoft.com/office/drawing/2014/main" id="{3E4FAF41-E8D5-9FED-67BD-018CEDF9A3C8}"/>
              </a:ext>
            </a:extLst>
          </p:cNvPr>
          <p:cNvGraphicFramePr>
            <a:graphicFrameLocks noChangeAspect="1"/>
          </p:cNvGraphicFramePr>
          <p:nvPr>
            <p:extLst>
              <p:ext uri="{D42A27DB-BD31-4B8C-83A1-F6EECF244321}">
                <p14:modId xmlns:p14="http://schemas.microsoft.com/office/powerpoint/2010/main" val="3064188000"/>
              </p:ext>
            </p:extLst>
          </p:nvPr>
        </p:nvGraphicFramePr>
        <p:xfrm>
          <a:off x="1343472" y="1778248"/>
          <a:ext cx="6912768" cy="1960560"/>
        </p:xfrm>
        <a:graphic>
          <a:graphicData uri="http://schemas.openxmlformats.org/presentationml/2006/ole">
            <mc:AlternateContent xmlns:mc="http://schemas.openxmlformats.org/markup-compatibility/2006">
              <mc:Choice xmlns:v="urn:schemas-microsoft-com:vml" Requires="v">
                <p:oleObj name="Equation" r:id="rId4" imgW="3187440" imgH="990360" progId="Equation.DSMT4">
                  <p:embed/>
                </p:oleObj>
              </mc:Choice>
              <mc:Fallback>
                <p:oleObj name="Equation" r:id="rId4" imgW="3187440" imgH="990360" progId="Equation.DSMT4">
                  <p:embed/>
                  <p:pic>
                    <p:nvPicPr>
                      <p:cNvPr id="5" name="Object 4">
                        <a:extLst>
                          <a:ext uri="{FF2B5EF4-FFF2-40B4-BE49-F238E27FC236}">
                            <a16:creationId xmlns:a16="http://schemas.microsoft.com/office/drawing/2014/main" id="{CCBF96D1-E63A-FE29-F217-6011EEE01CEE}"/>
                          </a:ext>
                        </a:extLst>
                      </p:cNvPr>
                      <p:cNvPicPr>
                        <a:picLocks noChangeAspect="1" noChangeArrowheads="1"/>
                      </p:cNvPicPr>
                      <p:nvPr/>
                    </p:nvPicPr>
                    <p:blipFill>
                      <a:blip r:embed="rId5"/>
                      <a:srcRect/>
                      <a:stretch>
                        <a:fillRect/>
                      </a:stretch>
                    </p:blipFill>
                    <p:spPr bwMode="auto">
                      <a:xfrm>
                        <a:off x="1343472" y="1778248"/>
                        <a:ext cx="6912768" cy="1960560"/>
                      </a:xfrm>
                      <a:prstGeom prst="rect">
                        <a:avLst/>
                      </a:prstGeom>
                      <a:noFill/>
                      <a:ln>
                        <a:noFill/>
                      </a:ln>
                      <a:effectLst/>
                    </p:spPr>
                  </p:pic>
                </p:oleObj>
              </mc:Fallback>
            </mc:AlternateContent>
          </a:graphicData>
        </a:graphic>
      </p:graphicFrame>
      <p:graphicFrame>
        <p:nvGraphicFramePr>
          <p:cNvPr id="6" name="Object 4">
            <a:extLst>
              <a:ext uri="{FF2B5EF4-FFF2-40B4-BE49-F238E27FC236}">
                <a16:creationId xmlns:a16="http://schemas.microsoft.com/office/drawing/2014/main" id="{398A069C-CE60-703D-05B8-F133E49B9631}"/>
              </a:ext>
            </a:extLst>
          </p:cNvPr>
          <p:cNvGraphicFramePr>
            <a:graphicFrameLocks noChangeAspect="1"/>
          </p:cNvGraphicFramePr>
          <p:nvPr>
            <p:extLst>
              <p:ext uri="{D42A27DB-BD31-4B8C-83A1-F6EECF244321}">
                <p14:modId xmlns:p14="http://schemas.microsoft.com/office/powerpoint/2010/main" val="2183948610"/>
              </p:ext>
            </p:extLst>
          </p:nvPr>
        </p:nvGraphicFramePr>
        <p:xfrm>
          <a:off x="1199456" y="3897928"/>
          <a:ext cx="4968552" cy="911177"/>
        </p:xfrm>
        <a:graphic>
          <a:graphicData uri="http://schemas.openxmlformats.org/presentationml/2006/ole">
            <mc:AlternateContent xmlns:mc="http://schemas.openxmlformats.org/markup-compatibility/2006">
              <mc:Choice xmlns:v="urn:schemas-microsoft-com:vml" Requires="v">
                <p:oleObj name="Equation" r:id="rId6" imgW="2273040" imgH="457200" progId="Equation.DSMT4">
                  <p:embed/>
                </p:oleObj>
              </mc:Choice>
              <mc:Fallback>
                <p:oleObj name="Equation" r:id="rId6" imgW="2273040" imgH="457200" progId="Equation.DSMT4">
                  <p:embed/>
                  <p:pic>
                    <p:nvPicPr>
                      <p:cNvPr id="5" name="Object 4">
                        <a:extLst>
                          <a:ext uri="{FF2B5EF4-FFF2-40B4-BE49-F238E27FC236}">
                            <a16:creationId xmlns:a16="http://schemas.microsoft.com/office/drawing/2014/main" id="{3E4FAF41-E8D5-9FED-67BD-018CEDF9A3C8}"/>
                          </a:ext>
                        </a:extLst>
                      </p:cNvPr>
                      <p:cNvPicPr>
                        <a:picLocks noChangeAspect="1" noChangeArrowheads="1"/>
                      </p:cNvPicPr>
                      <p:nvPr/>
                    </p:nvPicPr>
                    <p:blipFill>
                      <a:blip r:embed="rId7"/>
                      <a:srcRect/>
                      <a:stretch>
                        <a:fillRect/>
                      </a:stretch>
                    </p:blipFill>
                    <p:spPr bwMode="auto">
                      <a:xfrm>
                        <a:off x="1199456" y="3897928"/>
                        <a:ext cx="4968552" cy="911177"/>
                      </a:xfrm>
                      <a:prstGeom prst="rect">
                        <a:avLst/>
                      </a:prstGeom>
                      <a:noFill/>
                      <a:ln>
                        <a:noFill/>
                      </a:ln>
                      <a:effectLst/>
                    </p:spPr>
                  </p:pic>
                </p:oleObj>
              </mc:Fallback>
            </mc:AlternateContent>
          </a:graphicData>
        </a:graphic>
      </p:graphicFrame>
      <p:graphicFrame>
        <p:nvGraphicFramePr>
          <p:cNvPr id="8" name="Object 4">
            <a:extLst>
              <a:ext uri="{FF2B5EF4-FFF2-40B4-BE49-F238E27FC236}">
                <a16:creationId xmlns:a16="http://schemas.microsoft.com/office/drawing/2014/main" id="{76FA190F-CD3A-7E3D-F91E-36AFD77AF761}"/>
              </a:ext>
            </a:extLst>
          </p:cNvPr>
          <p:cNvGraphicFramePr>
            <a:graphicFrameLocks noChangeAspect="1"/>
          </p:cNvGraphicFramePr>
          <p:nvPr>
            <p:extLst>
              <p:ext uri="{D42A27DB-BD31-4B8C-83A1-F6EECF244321}">
                <p14:modId xmlns:p14="http://schemas.microsoft.com/office/powerpoint/2010/main" val="4187637742"/>
              </p:ext>
            </p:extLst>
          </p:nvPr>
        </p:nvGraphicFramePr>
        <p:xfrm>
          <a:off x="1110916" y="5107042"/>
          <a:ext cx="6911975" cy="457200"/>
        </p:xfrm>
        <a:graphic>
          <a:graphicData uri="http://schemas.openxmlformats.org/presentationml/2006/ole">
            <mc:AlternateContent xmlns:mc="http://schemas.openxmlformats.org/markup-compatibility/2006">
              <mc:Choice xmlns:v="urn:schemas-microsoft-com:vml" Requires="v">
                <p:oleObj name="Equation" r:id="rId8" imgW="3035160" imgH="228600" progId="Equation.DSMT4">
                  <p:embed/>
                </p:oleObj>
              </mc:Choice>
              <mc:Fallback>
                <p:oleObj name="Equation" r:id="rId8" imgW="3035160" imgH="228600" progId="Equation.DSMT4">
                  <p:embed/>
                  <p:pic>
                    <p:nvPicPr>
                      <p:cNvPr id="6" name="Object 4">
                        <a:extLst>
                          <a:ext uri="{FF2B5EF4-FFF2-40B4-BE49-F238E27FC236}">
                            <a16:creationId xmlns:a16="http://schemas.microsoft.com/office/drawing/2014/main" id="{398A069C-CE60-703D-05B8-F133E49B9631}"/>
                          </a:ext>
                        </a:extLst>
                      </p:cNvPr>
                      <p:cNvPicPr>
                        <a:picLocks noChangeAspect="1" noChangeArrowheads="1"/>
                      </p:cNvPicPr>
                      <p:nvPr/>
                    </p:nvPicPr>
                    <p:blipFill>
                      <a:blip r:embed="rId9"/>
                      <a:srcRect/>
                      <a:stretch>
                        <a:fillRect/>
                      </a:stretch>
                    </p:blipFill>
                    <p:spPr bwMode="auto">
                      <a:xfrm>
                        <a:off x="1110916" y="5107042"/>
                        <a:ext cx="6911975" cy="457200"/>
                      </a:xfrm>
                      <a:prstGeom prst="rect">
                        <a:avLst/>
                      </a:prstGeom>
                      <a:noFill/>
                      <a:ln>
                        <a:noFill/>
                      </a:ln>
                      <a:effectLst/>
                    </p:spPr>
                  </p:pic>
                </p:oleObj>
              </mc:Fallback>
            </mc:AlternateContent>
          </a:graphicData>
        </a:graphic>
      </p:graphicFrame>
      <p:graphicFrame>
        <p:nvGraphicFramePr>
          <p:cNvPr id="9" name="Object 4">
            <a:extLst>
              <a:ext uri="{FF2B5EF4-FFF2-40B4-BE49-F238E27FC236}">
                <a16:creationId xmlns:a16="http://schemas.microsoft.com/office/drawing/2014/main" id="{9DBDDFB6-A223-3D32-A909-C3AF8889A5BA}"/>
              </a:ext>
            </a:extLst>
          </p:cNvPr>
          <p:cNvGraphicFramePr>
            <a:graphicFrameLocks noChangeAspect="1"/>
          </p:cNvGraphicFramePr>
          <p:nvPr>
            <p:extLst>
              <p:ext uri="{D42A27DB-BD31-4B8C-83A1-F6EECF244321}">
                <p14:modId xmlns:p14="http://schemas.microsoft.com/office/powerpoint/2010/main" val="2608225948"/>
              </p:ext>
            </p:extLst>
          </p:nvPr>
        </p:nvGraphicFramePr>
        <p:xfrm>
          <a:off x="4143704" y="6167140"/>
          <a:ext cx="2828925" cy="430212"/>
        </p:xfrm>
        <a:graphic>
          <a:graphicData uri="http://schemas.openxmlformats.org/presentationml/2006/ole">
            <mc:AlternateContent xmlns:mc="http://schemas.openxmlformats.org/markup-compatibility/2006">
              <mc:Choice xmlns:v="urn:schemas-microsoft-com:vml" Requires="v">
                <p:oleObj name="Equation" r:id="rId10" imgW="1396800" imgH="241200" progId="Equation.DSMT4">
                  <p:embed/>
                </p:oleObj>
              </mc:Choice>
              <mc:Fallback>
                <p:oleObj name="Equation" r:id="rId10" imgW="1396800" imgH="241200" progId="Equation.DSMT4">
                  <p:embed/>
                  <p:pic>
                    <p:nvPicPr>
                      <p:cNvPr id="8" name="Object 4">
                        <a:extLst>
                          <a:ext uri="{FF2B5EF4-FFF2-40B4-BE49-F238E27FC236}">
                            <a16:creationId xmlns:a16="http://schemas.microsoft.com/office/drawing/2014/main" id="{76FA190F-CD3A-7E3D-F91E-36AFD77AF761}"/>
                          </a:ext>
                        </a:extLst>
                      </p:cNvPr>
                      <p:cNvPicPr>
                        <a:picLocks noChangeAspect="1" noChangeArrowheads="1"/>
                      </p:cNvPicPr>
                      <p:nvPr/>
                    </p:nvPicPr>
                    <p:blipFill>
                      <a:blip r:embed="rId11"/>
                      <a:srcRect/>
                      <a:stretch>
                        <a:fillRect/>
                      </a:stretch>
                    </p:blipFill>
                    <p:spPr bwMode="auto">
                      <a:xfrm>
                        <a:off x="4143704" y="6167140"/>
                        <a:ext cx="2828925" cy="430212"/>
                      </a:xfrm>
                      <a:prstGeom prst="rect">
                        <a:avLst/>
                      </a:prstGeom>
                      <a:noFill/>
                      <a:ln>
                        <a:noFill/>
                      </a:ln>
                      <a:effectLst/>
                    </p:spPr>
                  </p:pic>
                </p:oleObj>
              </mc:Fallback>
            </mc:AlternateContent>
          </a:graphicData>
        </a:graphic>
      </p:graphicFrame>
      <p:graphicFrame>
        <p:nvGraphicFramePr>
          <p:cNvPr id="10" name="Object 4">
            <a:extLst>
              <a:ext uri="{FF2B5EF4-FFF2-40B4-BE49-F238E27FC236}">
                <a16:creationId xmlns:a16="http://schemas.microsoft.com/office/drawing/2014/main" id="{69F98311-65EB-25F5-DD17-9B6715BEC0CA}"/>
              </a:ext>
            </a:extLst>
          </p:cNvPr>
          <p:cNvGraphicFramePr>
            <a:graphicFrameLocks noChangeAspect="1"/>
          </p:cNvGraphicFramePr>
          <p:nvPr>
            <p:extLst>
              <p:ext uri="{D42A27DB-BD31-4B8C-83A1-F6EECF244321}">
                <p14:modId xmlns:p14="http://schemas.microsoft.com/office/powerpoint/2010/main" val="1011650190"/>
              </p:ext>
            </p:extLst>
          </p:nvPr>
        </p:nvGraphicFramePr>
        <p:xfrm>
          <a:off x="9886678" y="5370275"/>
          <a:ext cx="2185988" cy="1371093"/>
        </p:xfrm>
        <a:graphic>
          <a:graphicData uri="http://schemas.openxmlformats.org/presentationml/2006/ole">
            <mc:AlternateContent xmlns:mc="http://schemas.openxmlformats.org/markup-compatibility/2006">
              <mc:Choice xmlns:v="urn:schemas-microsoft-com:vml" Requires="v">
                <p:oleObj name="Equation" r:id="rId12" imgW="927000" imgH="660240" progId="Equation.DSMT4">
                  <p:embed/>
                </p:oleObj>
              </mc:Choice>
              <mc:Fallback>
                <p:oleObj name="Equation" r:id="rId12" imgW="927000" imgH="660240" progId="Equation.DSMT4">
                  <p:embed/>
                  <p:pic>
                    <p:nvPicPr>
                      <p:cNvPr id="9" name="Object 4">
                        <a:extLst>
                          <a:ext uri="{FF2B5EF4-FFF2-40B4-BE49-F238E27FC236}">
                            <a16:creationId xmlns:a16="http://schemas.microsoft.com/office/drawing/2014/main" id="{9DBDDFB6-A223-3D32-A909-C3AF8889A5BA}"/>
                          </a:ext>
                        </a:extLst>
                      </p:cNvPr>
                      <p:cNvPicPr>
                        <a:picLocks noChangeAspect="1" noChangeArrowheads="1"/>
                      </p:cNvPicPr>
                      <p:nvPr/>
                    </p:nvPicPr>
                    <p:blipFill>
                      <a:blip r:embed="rId13"/>
                      <a:srcRect/>
                      <a:stretch>
                        <a:fillRect/>
                      </a:stretch>
                    </p:blipFill>
                    <p:spPr bwMode="auto">
                      <a:xfrm>
                        <a:off x="9886678" y="5370275"/>
                        <a:ext cx="2185988" cy="1371093"/>
                      </a:xfrm>
                      <a:prstGeom prst="rect">
                        <a:avLst/>
                      </a:prstGeom>
                      <a:solidFill>
                        <a:srgbClr val="FFC000"/>
                      </a:solid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552E4079-57D7-BB33-5648-1E0C3E1969D3}"/>
              </a:ext>
            </a:extLst>
          </p:cNvPr>
          <p:cNvSpPr>
            <a:spLocks noGrp="1"/>
          </p:cNvSpPr>
          <p:nvPr>
            <p:ph type="sldNum" sz="quarter" idx="11"/>
          </p:nvPr>
        </p:nvSpPr>
        <p:spPr>
          <a:xfrm>
            <a:off x="41752" y="6330913"/>
            <a:ext cx="676842" cy="457200"/>
          </a:xfrm>
        </p:spPr>
        <p:txBody>
          <a:bodyPr/>
          <a:lstStyle/>
          <a:p>
            <a:pPr>
              <a:defRPr/>
            </a:pPr>
            <a:fld id="{E0FB5469-1AEB-496D-971A-66705BF2F73C}" type="slidenum">
              <a:rPr lang="en-US" altLang="zh-CN" smtClean="0"/>
              <a:pPr>
                <a:defRPr/>
              </a:pPr>
              <a:t>31</a:t>
            </a:fld>
            <a:endParaRPr lang="en-US" altLang="zh-CN"/>
          </a:p>
        </p:txBody>
      </p:sp>
      <p:graphicFrame>
        <p:nvGraphicFramePr>
          <p:cNvPr id="11" name="Object 4">
            <a:extLst>
              <a:ext uri="{FF2B5EF4-FFF2-40B4-BE49-F238E27FC236}">
                <a16:creationId xmlns:a16="http://schemas.microsoft.com/office/drawing/2014/main" id="{5C567FE0-565F-37D5-FA96-A8231C6FB235}"/>
              </a:ext>
            </a:extLst>
          </p:cNvPr>
          <p:cNvGraphicFramePr>
            <a:graphicFrameLocks noChangeAspect="1"/>
          </p:cNvGraphicFramePr>
          <p:nvPr>
            <p:extLst>
              <p:ext uri="{D42A27DB-BD31-4B8C-83A1-F6EECF244321}">
                <p14:modId xmlns:p14="http://schemas.microsoft.com/office/powerpoint/2010/main" val="3808987476"/>
              </p:ext>
            </p:extLst>
          </p:nvPr>
        </p:nvGraphicFramePr>
        <p:xfrm>
          <a:off x="7019229" y="5973018"/>
          <a:ext cx="2453041" cy="862216"/>
        </p:xfrm>
        <a:graphic>
          <a:graphicData uri="http://schemas.openxmlformats.org/presentationml/2006/ole">
            <mc:AlternateContent xmlns:mc="http://schemas.openxmlformats.org/markup-compatibility/2006">
              <mc:Choice xmlns:v="urn:schemas-microsoft-com:vml" Requires="v">
                <p:oleObj name="Equation" r:id="rId14" imgW="1079280" imgH="431640" progId="Equation.DSMT4">
                  <p:embed/>
                </p:oleObj>
              </mc:Choice>
              <mc:Fallback>
                <p:oleObj name="Equation" r:id="rId14" imgW="1079280" imgH="431640" progId="Equation.DSMT4">
                  <p:embed/>
                  <p:pic>
                    <p:nvPicPr>
                      <p:cNvPr id="9" name="Object 4">
                        <a:extLst>
                          <a:ext uri="{FF2B5EF4-FFF2-40B4-BE49-F238E27FC236}">
                            <a16:creationId xmlns:a16="http://schemas.microsoft.com/office/drawing/2014/main" id="{9DBDDFB6-A223-3D32-A909-C3AF8889A5BA}"/>
                          </a:ext>
                        </a:extLst>
                      </p:cNvPr>
                      <p:cNvPicPr>
                        <a:picLocks noChangeAspect="1" noChangeArrowheads="1"/>
                      </p:cNvPicPr>
                      <p:nvPr/>
                    </p:nvPicPr>
                    <p:blipFill>
                      <a:blip r:embed="rId15"/>
                      <a:srcRect/>
                      <a:stretch>
                        <a:fillRect/>
                      </a:stretch>
                    </p:blipFill>
                    <p:spPr bwMode="auto">
                      <a:xfrm>
                        <a:off x="7019229" y="5973018"/>
                        <a:ext cx="2453041" cy="862216"/>
                      </a:xfrm>
                      <a:prstGeom prst="rect">
                        <a:avLst/>
                      </a:prstGeom>
                      <a:noFill/>
                      <a:ln>
                        <a:noFill/>
                      </a:ln>
                      <a:effectLst/>
                    </p:spPr>
                  </p:pic>
                </p:oleObj>
              </mc:Fallback>
            </mc:AlternateContent>
          </a:graphicData>
        </a:graphic>
      </p:graphicFrame>
      <p:graphicFrame>
        <p:nvGraphicFramePr>
          <p:cNvPr id="12" name="Object 4">
            <a:extLst>
              <a:ext uri="{FF2B5EF4-FFF2-40B4-BE49-F238E27FC236}">
                <a16:creationId xmlns:a16="http://schemas.microsoft.com/office/drawing/2014/main" id="{8BE01DB6-0A84-2B11-2C80-3AE75FA4E0C3}"/>
              </a:ext>
            </a:extLst>
          </p:cNvPr>
          <p:cNvGraphicFramePr>
            <a:graphicFrameLocks noChangeAspect="1"/>
          </p:cNvGraphicFramePr>
          <p:nvPr>
            <p:extLst>
              <p:ext uri="{D42A27DB-BD31-4B8C-83A1-F6EECF244321}">
                <p14:modId xmlns:p14="http://schemas.microsoft.com/office/powerpoint/2010/main" val="1616513513"/>
              </p:ext>
            </p:extLst>
          </p:nvPr>
        </p:nvGraphicFramePr>
        <p:xfrm>
          <a:off x="1076654" y="5588000"/>
          <a:ext cx="3067050" cy="1270000"/>
        </p:xfrm>
        <a:graphic>
          <a:graphicData uri="http://schemas.openxmlformats.org/presentationml/2006/ole">
            <mc:AlternateContent xmlns:mc="http://schemas.openxmlformats.org/markup-compatibility/2006">
              <mc:Choice xmlns:v="urn:schemas-microsoft-com:vml" Requires="v">
                <p:oleObj name="Equation" r:id="rId16" imgW="1346040" imgH="634680" progId="Equation.DSMT4">
                  <p:embed/>
                </p:oleObj>
              </mc:Choice>
              <mc:Fallback>
                <p:oleObj name="Equation" r:id="rId16" imgW="1346040" imgH="634680" progId="Equation.DSMT4">
                  <p:embed/>
                  <p:pic>
                    <p:nvPicPr>
                      <p:cNvPr id="8" name="Object 4">
                        <a:extLst>
                          <a:ext uri="{FF2B5EF4-FFF2-40B4-BE49-F238E27FC236}">
                            <a16:creationId xmlns:a16="http://schemas.microsoft.com/office/drawing/2014/main" id="{76FA190F-CD3A-7E3D-F91E-36AFD77AF761}"/>
                          </a:ext>
                        </a:extLst>
                      </p:cNvPr>
                      <p:cNvPicPr>
                        <a:picLocks noChangeAspect="1" noChangeArrowheads="1"/>
                      </p:cNvPicPr>
                      <p:nvPr/>
                    </p:nvPicPr>
                    <p:blipFill>
                      <a:blip r:embed="rId17"/>
                      <a:srcRect/>
                      <a:stretch>
                        <a:fillRect/>
                      </a:stretch>
                    </p:blipFill>
                    <p:spPr bwMode="auto">
                      <a:xfrm>
                        <a:off x="1076654" y="5588000"/>
                        <a:ext cx="3067050" cy="1270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1814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图表, 折线图&#10;&#10;AI 生成的内容可能不正确。">
            <a:extLst>
              <a:ext uri="{FF2B5EF4-FFF2-40B4-BE49-F238E27FC236}">
                <a16:creationId xmlns:a16="http://schemas.microsoft.com/office/drawing/2014/main" id="{FDA6E8BF-EAA2-2844-FA85-A8D3EA7A75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42744" y="4100461"/>
            <a:ext cx="3873936" cy="2881481"/>
          </a:xfrm>
          <a:prstGeom prst="rect">
            <a:avLst/>
          </a:prstGeom>
        </p:spPr>
      </p:pic>
      <p:sp>
        <p:nvSpPr>
          <p:cNvPr id="2" name="标题 1">
            <a:extLst>
              <a:ext uri="{FF2B5EF4-FFF2-40B4-BE49-F238E27FC236}">
                <a16:creationId xmlns:a16="http://schemas.microsoft.com/office/drawing/2014/main" id="{B4DEB582-4F92-E22C-7EEF-6ACCD2CF4811}"/>
              </a:ext>
            </a:extLst>
          </p:cNvPr>
          <p:cNvSpPr>
            <a:spLocks noGrp="1"/>
          </p:cNvSpPr>
          <p:nvPr>
            <p:ph type="title"/>
          </p:nvPr>
        </p:nvSpPr>
        <p:spPr>
          <a:xfrm>
            <a:off x="1981200" y="457200"/>
            <a:ext cx="8229600" cy="955576"/>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插值法举例</a:t>
            </a:r>
            <a:endParaRPr lang="zh-CN" altLang="en-US" dirty="0"/>
          </a:p>
        </p:txBody>
      </p:sp>
      <p:sp>
        <p:nvSpPr>
          <p:cNvPr id="3" name="内容占位符 2">
            <a:extLst>
              <a:ext uri="{FF2B5EF4-FFF2-40B4-BE49-F238E27FC236}">
                <a16:creationId xmlns:a16="http://schemas.microsoft.com/office/drawing/2014/main" id="{5333C3E3-2C1A-E202-1072-2E96F088B8A2}"/>
              </a:ext>
            </a:extLst>
          </p:cNvPr>
          <p:cNvSpPr>
            <a:spLocks noGrp="1"/>
          </p:cNvSpPr>
          <p:nvPr>
            <p:ph idx="1"/>
          </p:nvPr>
        </p:nvSpPr>
        <p:spPr>
          <a:xfrm>
            <a:off x="839416" y="1406254"/>
            <a:ext cx="9865096" cy="4382616"/>
          </a:xfrm>
        </p:spPr>
        <p:txBody>
          <a:bodyPr/>
          <a:lstStyle/>
          <a:p>
            <a:r>
              <a:rPr lang="zh-CN" altLang="en-US" dirty="0"/>
              <a:t>为确定“</a:t>
            </a:r>
            <a:r>
              <a:rPr lang="zh-CN" altLang="en-US" dirty="0">
                <a:solidFill>
                  <a:srgbClr val="CC00CC"/>
                </a:solidFill>
              </a:rPr>
              <a:t>青年人</a:t>
            </a:r>
            <a:r>
              <a:rPr lang="zh-CN" altLang="en-US" dirty="0"/>
              <a:t>”的隶属函数，</a:t>
            </a:r>
          </a:p>
        </p:txBody>
      </p:sp>
      <p:graphicFrame>
        <p:nvGraphicFramePr>
          <p:cNvPr id="4" name="Object 4">
            <a:extLst>
              <a:ext uri="{FF2B5EF4-FFF2-40B4-BE49-F238E27FC236}">
                <a16:creationId xmlns:a16="http://schemas.microsoft.com/office/drawing/2014/main" id="{3C68B420-AA29-0128-CFB4-7FE07D847671}"/>
              </a:ext>
            </a:extLst>
          </p:cNvPr>
          <p:cNvGraphicFramePr>
            <a:graphicFrameLocks noChangeAspect="1"/>
          </p:cNvGraphicFramePr>
          <p:nvPr>
            <p:extLst>
              <p:ext uri="{D42A27DB-BD31-4B8C-83A1-F6EECF244321}">
                <p14:modId xmlns:p14="http://schemas.microsoft.com/office/powerpoint/2010/main" val="118577805"/>
              </p:ext>
            </p:extLst>
          </p:nvPr>
        </p:nvGraphicFramePr>
        <p:xfrm>
          <a:off x="1211263" y="2079625"/>
          <a:ext cx="7107237" cy="576263"/>
        </p:xfrm>
        <a:graphic>
          <a:graphicData uri="http://schemas.openxmlformats.org/presentationml/2006/ole">
            <mc:AlternateContent xmlns:mc="http://schemas.openxmlformats.org/markup-compatibility/2006">
              <mc:Choice xmlns:v="urn:schemas-microsoft-com:vml" Requires="v">
                <p:oleObj name="Equation" r:id="rId3" imgW="2717640" imgH="241200" progId="Equation.DSMT4">
                  <p:embed/>
                </p:oleObj>
              </mc:Choice>
              <mc:Fallback>
                <p:oleObj name="Equation" r:id="rId3" imgW="2717640" imgH="241200" progId="Equation.DSMT4">
                  <p:embed/>
                  <p:pic>
                    <p:nvPicPr>
                      <p:cNvPr id="5" name="Object 4">
                        <a:extLst>
                          <a:ext uri="{FF2B5EF4-FFF2-40B4-BE49-F238E27FC236}">
                            <a16:creationId xmlns:a16="http://schemas.microsoft.com/office/drawing/2014/main" id="{3E4FAF41-E8D5-9FED-67BD-018CEDF9A3C8}"/>
                          </a:ext>
                        </a:extLst>
                      </p:cNvPr>
                      <p:cNvPicPr>
                        <a:picLocks noChangeAspect="1" noChangeArrowheads="1"/>
                      </p:cNvPicPr>
                      <p:nvPr/>
                    </p:nvPicPr>
                    <p:blipFill>
                      <a:blip r:embed="rId4"/>
                      <a:srcRect/>
                      <a:stretch>
                        <a:fillRect/>
                      </a:stretch>
                    </p:blipFill>
                    <p:spPr bwMode="auto">
                      <a:xfrm>
                        <a:off x="1211263" y="2079625"/>
                        <a:ext cx="7107237" cy="576263"/>
                      </a:xfrm>
                      <a:prstGeom prst="rect">
                        <a:avLst/>
                      </a:prstGeom>
                      <a:noFill/>
                      <a:ln>
                        <a:noFill/>
                      </a:ln>
                      <a:effectLst/>
                    </p:spPr>
                  </p:pic>
                </p:oleObj>
              </mc:Fallback>
            </mc:AlternateContent>
          </a:graphicData>
        </a:graphic>
      </p:graphicFrame>
      <p:graphicFrame>
        <p:nvGraphicFramePr>
          <p:cNvPr id="5" name="Object 4">
            <a:extLst>
              <a:ext uri="{FF2B5EF4-FFF2-40B4-BE49-F238E27FC236}">
                <a16:creationId xmlns:a16="http://schemas.microsoft.com/office/drawing/2014/main" id="{C0F3DCF6-F4E9-C903-1E1C-CA22CEBE45F8}"/>
              </a:ext>
            </a:extLst>
          </p:cNvPr>
          <p:cNvGraphicFramePr>
            <a:graphicFrameLocks noChangeAspect="1"/>
          </p:cNvGraphicFramePr>
          <p:nvPr>
            <p:extLst>
              <p:ext uri="{D42A27DB-BD31-4B8C-83A1-F6EECF244321}">
                <p14:modId xmlns:p14="http://schemas.microsoft.com/office/powerpoint/2010/main" val="2930219730"/>
              </p:ext>
            </p:extLst>
          </p:nvPr>
        </p:nvGraphicFramePr>
        <p:xfrm>
          <a:off x="1382713" y="2695575"/>
          <a:ext cx="5930900" cy="709613"/>
        </p:xfrm>
        <a:graphic>
          <a:graphicData uri="http://schemas.openxmlformats.org/presentationml/2006/ole">
            <mc:AlternateContent xmlns:mc="http://schemas.openxmlformats.org/markup-compatibility/2006">
              <mc:Choice xmlns:v="urn:schemas-microsoft-com:vml" Requires="v">
                <p:oleObj name="Equation" r:id="rId5" imgW="3238200" imgH="393480" progId="Equation.DSMT4">
                  <p:embed/>
                </p:oleObj>
              </mc:Choice>
              <mc:Fallback>
                <p:oleObj name="Equation" r:id="rId5" imgW="3238200" imgH="393480" progId="Equation.DSMT4">
                  <p:embed/>
                  <p:pic>
                    <p:nvPicPr>
                      <p:cNvPr id="6" name="Object 4">
                        <a:extLst>
                          <a:ext uri="{FF2B5EF4-FFF2-40B4-BE49-F238E27FC236}">
                            <a16:creationId xmlns:a16="http://schemas.microsoft.com/office/drawing/2014/main" id="{398A069C-CE60-703D-05B8-F133E49B9631}"/>
                          </a:ext>
                        </a:extLst>
                      </p:cNvPr>
                      <p:cNvPicPr>
                        <a:picLocks noChangeAspect="1" noChangeArrowheads="1"/>
                      </p:cNvPicPr>
                      <p:nvPr/>
                    </p:nvPicPr>
                    <p:blipFill>
                      <a:blip r:embed="rId6"/>
                      <a:srcRect/>
                      <a:stretch>
                        <a:fillRect/>
                      </a:stretch>
                    </p:blipFill>
                    <p:spPr bwMode="auto">
                      <a:xfrm>
                        <a:off x="1382713" y="2695575"/>
                        <a:ext cx="5930900" cy="709613"/>
                      </a:xfrm>
                      <a:prstGeom prst="rect">
                        <a:avLst/>
                      </a:prstGeom>
                      <a:noFill/>
                      <a:ln>
                        <a:noFill/>
                      </a:ln>
                      <a:effectLst/>
                    </p:spPr>
                  </p:pic>
                </p:oleObj>
              </mc:Fallback>
            </mc:AlternateContent>
          </a:graphicData>
        </a:graphic>
      </p:graphicFrame>
      <p:graphicFrame>
        <p:nvGraphicFramePr>
          <p:cNvPr id="6" name="Object 4">
            <a:extLst>
              <a:ext uri="{FF2B5EF4-FFF2-40B4-BE49-F238E27FC236}">
                <a16:creationId xmlns:a16="http://schemas.microsoft.com/office/drawing/2014/main" id="{3DB43C1A-2110-01FD-7911-76969748CCDE}"/>
              </a:ext>
            </a:extLst>
          </p:cNvPr>
          <p:cNvGraphicFramePr>
            <a:graphicFrameLocks noChangeAspect="1"/>
          </p:cNvGraphicFramePr>
          <p:nvPr>
            <p:extLst>
              <p:ext uri="{D42A27DB-BD31-4B8C-83A1-F6EECF244321}">
                <p14:modId xmlns:p14="http://schemas.microsoft.com/office/powerpoint/2010/main" val="4150931549"/>
              </p:ext>
            </p:extLst>
          </p:nvPr>
        </p:nvGraphicFramePr>
        <p:xfrm>
          <a:off x="1385493" y="3524978"/>
          <a:ext cx="8139708" cy="955576"/>
        </p:xfrm>
        <a:graphic>
          <a:graphicData uri="http://schemas.openxmlformats.org/presentationml/2006/ole">
            <mc:AlternateContent xmlns:mc="http://schemas.openxmlformats.org/markup-compatibility/2006">
              <mc:Choice xmlns:v="urn:schemas-microsoft-com:vml" Requires="v">
                <p:oleObj name="Equation" r:id="rId7" imgW="4660560" imgH="622080" progId="Equation.DSMT4">
                  <p:embed/>
                </p:oleObj>
              </mc:Choice>
              <mc:Fallback>
                <p:oleObj name="Equation" r:id="rId7" imgW="4660560" imgH="622080" progId="Equation.DSMT4">
                  <p:embed/>
                  <p:pic>
                    <p:nvPicPr>
                      <p:cNvPr id="10" name="Object 4">
                        <a:extLst>
                          <a:ext uri="{FF2B5EF4-FFF2-40B4-BE49-F238E27FC236}">
                            <a16:creationId xmlns:a16="http://schemas.microsoft.com/office/drawing/2014/main" id="{69F98311-65EB-25F5-DD17-9B6715BEC0CA}"/>
                          </a:ext>
                        </a:extLst>
                      </p:cNvPr>
                      <p:cNvPicPr>
                        <a:picLocks noChangeAspect="1" noChangeArrowheads="1"/>
                      </p:cNvPicPr>
                      <p:nvPr/>
                    </p:nvPicPr>
                    <p:blipFill>
                      <a:blip r:embed="rId8"/>
                      <a:srcRect/>
                      <a:stretch>
                        <a:fillRect/>
                      </a:stretch>
                    </p:blipFill>
                    <p:spPr bwMode="auto">
                      <a:xfrm>
                        <a:off x="1385493" y="3524978"/>
                        <a:ext cx="8139708" cy="955576"/>
                      </a:xfrm>
                      <a:prstGeom prst="rect">
                        <a:avLst/>
                      </a:prstGeom>
                      <a:noFill/>
                      <a:ln>
                        <a:noFill/>
                      </a:ln>
                      <a:effectLst/>
                    </p:spPr>
                  </p:pic>
                </p:oleObj>
              </mc:Fallback>
            </mc:AlternateContent>
          </a:graphicData>
        </a:graphic>
      </p:graphicFrame>
      <p:graphicFrame>
        <p:nvGraphicFramePr>
          <p:cNvPr id="7" name="Object 4">
            <a:extLst>
              <a:ext uri="{FF2B5EF4-FFF2-40B4-BE49-F238E27FC236}">
                <a16:creationId xmlns:a16="http://schemas.microsoft.com/office/drawing/2014/main" id="{BB315B37-642B-C435-F061-31A6CFBAD1C7}"/>
              </a:ext>
            </a:extLst>
          </p:cNvPr>
          <p:cNvGraphicFramePr>
            <a:graphicFrameLocks noChangeAspect="1"/>
          </p:cNvGraphicFramePr>
          <p:nvPr>
            <p:extLst>
              <p:ext uri="{D42A27DB-BD31-4B8C-83A1-F6EECF244321}">
                <p14:modId xmlns:p14="http://schemas.microsoft.com/office/powerpoint/2010/main" val="2069666630"/>
              </p:ext>
            </p:extLst>
          </p:nvPr>
        </p:nvGraphicFramePr>
        <p:xfrm>
          <a:off x="911424" y="4348060"/>
          <a:ext cx="4552597" cy="2509940"/>
        </p:xfrm>
        <a:graphic>
          <a:graphicData uri="http://schemas.openxmlformats.org/presentationml/2006/ole">
            <mc:AlternateContent xmlns:mc="http://schemas.openxmlformats.org/markup-compatibility/2006">
              <mc:Choice xmlns:v="urn:schemas-microsoft-com:vml" Requires="v">
                <p:oleObj name="Equation" r:id="rId9" imgW="2438280" imgH="1473120" progId="Equation.DSMT4">
                  <p:embed/>
                </p:oleObj>
              </mc:Choice>
              <mc:Fallback>
                <p:oleObj name="Equation" r:id="rId9" imgW="2438280" imgH="1473120" progId="Equation.DSMT4">
                  <p:embed/>
                  <p:pic>
                    <p:nvPicPr>
                      <p:cNvPr id="5" name="Object 4">
                        <a:extLst>
                          <a:ext uri="{FF2B5EF4-FFF2-40B4-BE49-F238E27FC236}">
                            <a16:creationId xmlns:a16="http://schemas.microsoft.com/office/drawing/2014/main" id="{3E4FAF41-E8D5-9FED-67BD-018CEDF9A3C8}"/>
                          </a:ext>
                        </a:extLst>
                      </p:cNvPr>
                      <p:cNvPicPr>
                        <a:picLocks noChangeAspect="1" noChangeArrowheads="1"/>
                      </p:cNvPicPr>
                      <p:nvPr/>
                    </p:nvPicPr>
                    <p:blipFill>
                      <a:blip r:embed="rId10"/>
                      <a:srcRect/>
                      <a:stretch>
                        <a:fillRect/>
                      </a:stretch>
                    </p:blipFill>
                    <p:spPr bwMode="auto">
                      <a:xfrm>
                        <a:off x="911424" y="4348060"/>
                        <a:ext cx="4552597" cy="2509940"/>
                      </a:xfrm>
                      <a:prstGeom prst="rect">
                        <a:avLst/>
                      </a:prstGeom>
                      <a:noFill/>
                      <a:ln>
                        <a:noFill/>
                      </a:ln>
                      <a:effectLst/>
                    </p:spPr>
                  </p:pic>
                </p:oleObj>
              </mc:Fallback>
            </mc:AlternateContent>
          </a:graphicData>
        </a:graphic>
      </p:graphicFrame>
      <p:sp>
        <p:nvSpPr>
          <p:cNvPr id="8" name="灯片编号占位符 7">
            <a:extLst>
              <a:ext uri="{FF2B5EF4-FFF2-40B4-BE49-F238E27FC236}">
                <a16:creationId xmlns:a16="http://schemas.microsoft.com/office/drawing/2014/main" id="{DAFB51E9-52E1-12B2-86AA-F523363605F4}"/>
              </a:ext>
            </a:extLst>
          </p:cNvPr>
          <p:cNvSpPr>
            <a:spLocks noGrp="1"/>
          </p:cNvSpPr>
          <p:nvPr>
            <p:ph type="sldNum" sz="quarter" idx="11"/>
          </p:nvPr>
        </p:nvSpPr>
        <p:spPr>
          <a:xfrm>
            <a:off x="0" y="6280724"/>
            <a:ext cx="733872" cy="457200"/>
          </a:xfrm>
        </p:spPr>
        <p:txBody>
          <a:bodyPr/>
          <a:lstStyle/>
          <a:p>
            <a:pPr>
              <a:defRPr/>
            </a:pPr>
            <a:fld id="{E0FB5469-1AEB-496D-971A-66705BF2F73C}" type="slidenum">
              <a:rPr lang="en-US" altLang="zh-CN" smtClean="0"/>
              <a:pPr>
                <a:defRPr/>
              </a:pPr>
              <a:t>32</a:t>
            </a:fld>
            <a:endParaRPr lang="en-US" altLang="zh-CN"/>
          </a:p>
        </p:txBody>
      </p:sp>
      <p:grpSp>
        <p:nvGrpSpPr>
          <p:cNvPr id="12" name="组合 11">
            <a:extLst>
              <a:ext uri="{FF2B5EF4-FFF2-40B4-BE49-F238E27FC236}">
                <a16:creationId xmlns:a16="http://schemas.microsoft.com/office/drawing/2014/main" id="{D0B27716-495B-223A-30EF-BFD96B5679BF}"/>
              </a:ext>
            </a:extLst>
          </p:cNvPr>
          <p:cNvGrpSpPr/>
          <p:nvPr/>
        </p:nvGrpSpPr>
        <p:grpSpPr>
          <a:xfrm>
            <a:off x="8167166" y="65838"/>
            <a:ext cx="4024834" cy="2405572"/>
            <a:chOff x="8167166" y="65838"/>
            <a:chExt cx="4024834" cy="2405572"/>
          </a:xfrm>
        </p:grpSpPr>
        <p:pic>
          <p:nvPicPr>
            <p:cNvPr id="10" name="图片 9" descr="白板上写着字&#10;&#10;AI 生成的内容可能不正确。">
              <a:extLst>
                <a:ext uri="{FF2B5EF4-FFF2-40B4-BE49-F238E27FC236}">
                  <a16:creationId xmlns:a16="http://schemas.microsoft.com/office/drawing/2014/main" id="{1CE8AD13-AA10-935E-99AF-A3CF864BE977}"/>
                </a:ext>
              </a:extLst>
            </p:cNvPr>
            <p:cNvPicPr>
              <a:picLocks noChangeAspect="1"/>
            </p:cNvPicPr>
            <p:nvPr/>
          </p:nvPicPr>
          <p:blipFill>
            <a:blip r:embed="rId11" cstate="print">
              <a:duotone>
                <a:schemeClr val="accent6">
                  <a:shade val="45000"/>
                  <a:satMod val="135000"/>
                </a:schemeClr>
                <a:prstClr val="white"/>
              </a:duotone>
              <a:extLst>
                <a:ext uri="{BEBA8EAE-BF5A-486C-A8C5-ECC9F3942E4B}">
                  <a14:imgProps xmlns:a14="http://schemas.microsoft.com/office/drawing/2010/main">
                    <a14:imgLayer r:embed="rId12">
                      <a14:imgEffect>
                        <a14:sharpenSoften amount="50000"/>
                      </a14:imgEffect>
                      <a14:imgEffect>
                        <a14:brightnessContrast bright="40000"/>
                      </a14:imgEffect>
                    </a14:imgLayer>
                  </a14:imgProps>
                </a:ext>
                <a:ext uri="{28A0092B-C50C-407E-A947-70E740481C1C}">
                  <a14:useLocalDpi xmlns:a14="http://schemas.microsoft.com/office/drawing/2010/main" val="0"/>
                </a:ext>
              </a:extLst>
            </a:blip>
            <a:srcRect r="7287"/>
            <a:stretch>
              <a:fillRect/>
            </a:stretch>
          </p:blipFill>
          <p:spPr>
            <a:xfrm>
              <a:off x="8167166" y="65838"/>
              <a:ext cx="4024834" cy="2390010"/>
            </a:xfrm>
            <a:prstGeom prst="rect">
              <a:avLst/>
            </a:prstGeom>
          </p:spPr>
        </p:pic>
        <p:sp>
          <p:nvSpPr>
            <p:cNvPr id="11" name="文本框 10">
              <a:extLst>
                <a:ext uri="{FF2B5EF4-FFF2-40B4-BE49-F238E27FC236}">
                  <a16:creationId xmlns:a16="http://schemas.microsoft.com/office/drawing/2014/main" id="{CB953CBC-0B7F-2E5F-D969-FF370132F943}"/>
                </a:ext>
              </a:extLst>
            </p:cNvPr>
            <p:cNvSpPr txBox="1"/>
            <p:nvPr/>
          </p:nvSpPr>
          <p:spPr>
            <a:xfrm>
              <a:off x="8877129" y="2132856"/>
              <a:ext cx="3123527" cy="338554"/>
            </a:xfrm>
            <a:prstGeom prst="rect">
              <a:avLst/>
            </a:prstGeom>
            <a:solidFill>
              <a:schemeClr val="bg1"/>
            </a:solidFill>
          </p:spPr>
          <p:txBody>
            <a:bodyPr wrap="square" rtlCol="0">
              <a:spAutoFit/>
            </a:bodyPr>
            <a:lstStyle/>
            <a:p>
              <a:r>
                <a:rPr lang="en-US" altLang="zh-CN" sz="1600" dirty="0"/>
                <a:t>14  16      25           40        50</a:t>
              </a:r>
              <a:endParaRPr lang="zh-CN" altLang="en-US" sz="1600" dirty="0"/>
            </a:p>
          </p:txBody>
        </p:sp>
      </p:grpSp>
    </p:spTree>
    <p:extLst>
      <p:ext uri="{BB962C8B-B14F-4D97-AF65-F5344CB8AC3E}">
        <p14:creationId xmlns:p14="http://schemas.microsoft.com/office/powerpoint/2010/main" val="353102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ctr" eaLnBrk="1" hangingPunct="1"/>
            <a:r>
              <a:rPr lang="zh-CN" altLang="en-US" sz="4000" dirty="0">
                <a:solidFill>
                  <a:srgbClr val="008000"/>
                </a:solidFill>
                <a:ea typeface="黑体" pitchFamily="49" charset="-122"/>
              </a:rPr>
              <a:t>隶属函数确定方法</a:t>
            </a:r>
            <a:r>
              <a:rPr lang="en-US" altLang="zh-CN" sz="4000" dirty="0">
                <a:solidFill>
                  <a:srgbClr val="008000"/>
                </a:solidFill>
                <a:ea typeface="黑体" pitchFamily="49" charset="-122"/>
              </a:rPr>
              <a:t>8: </a:t>
            </a:r>
            <a:r>
              <a:rPr lang="zh-CN" altLang="en-US" sz="4000" dirty="0">
                <a:solidFill>
                  <a:srgbClr val="008000"/>
                </a:solidFill>
                <a:ea typeface="黑体" pitchFamily="49" charset="-122"/>
              </a:rPr>
              <a:t>神经网络方法</a:t>
            </a:r>
            <a:br>
              <a:rPr lang="zh-CN" altLang="en-US" sz="4000" dirty="0">
                <a:solidFill>
                  <a:srgbClr val="008000"/>
                </a:solidFill>
                <a:ea typeface="黑体" pitchFamily="49" charset="-122"/>
              </a:rPr>
            </a:br>
            <a:r>
              <a:rPr lang="zh-CN" altLang="en-US" sz="3600" dirty="0">
                <a:solidFill>
                  <a:schemeClr val="bg2"/>
                </a:solidFill>
                <a:ea typeface="黑体" pitchFamily="49" charset="-122"/>
              </a:rPr>
              <a:t>神经网络</a:t>
            </a:r>
            <a:r>
              <a:rPr lang="en-US" altLang="zh-CN" sz="3600" b="1" dirty="0">
                <a:solidFill>
                  <a:srgbClr val="0D466D"/>
                </a:solidFill>
                <a:ea typeface="宋体" panose="02010600030101010101" pitchFamily="2" charset="-122"/>
              </a:rPr>
              <a:t>(</a:t>
            </a:r>
            <a:r>
              <a:rPr lang="en-US" altLang="zh-CN" sz="3600" b="1" dirty="0">
                <a:solidFill>
                  <a:srgbClr val="FF0000"/>
                </a:solidFill>
                <a:ea typeface="宋体" panose="02010600030101010101" pitchFamily="2" charset="-122"/>
              </a:rPr>
              <a:t>N</a:t>
            </a:r>
            <a:r>
              <a:rPr lang="en-US" altLang="zh-CN" sz="3600" b="1" dirty="0">
                <a:solidFill>
                  <a:srgbClr val="0D466D"/>
                </a:solidFill>
                <a:ea typeface="宋体" panose="02010600030101010101" pitchFamily="2" charset="-122"/>
              </a:rPr>
              <a:t>eural </a:t>
            </a:r>
            <a:r>
              <a:rPr lang="en-US" altLang="zh-CN" sz="3600" b="1" dirty="0">
                <a:solidFill>
                  <a:srgbClr val="FF0000"/>
                </a:solidFill>
                <a:ea typeface="宋体" panose="02010600030101010101" pitchFamily="2" charset="-122"/>
              </a:rPr>
              <a:t>N</a:t>
            </a:r>
            <a:r>
              <a:rPr lang="en-US" altLang="zh-CN" sz="3600" b="1" dirty="0">
                <a:solidFill>
                  <a:srgbClr val="0D466D"/>
                </a:solidFill>
                <a:ea typeface="宋体" panose="02010600030101010101" pitchFamily="2" charset="-122"/>
              </a:rPr>
              <a:t>etwork, </a:t>
            </a:r>
            <a:r>
              <a:rPr lang="en-US" altLang="zh-CN" sz="3600" b="1" dirty="0">
                <a:solidFill>
                  <a:srgbClr val="FF0000"/>
                </a:solidFill>
                <a:ea typeface="宋体" panose="02010600030101010101" pitchFamily="2" charset="-122"/>
              </a:rPr>
              <a:t>NN</a:t>
            </a:r>
            <a:r>
              <a:rPr lang="en-US" altLang="zh-CN" sz="3600" b="1" dirty="0">
                <a:solidFill>
                  <a:srgbClr val="0D466D"/>
                </a:solidFill>
                <a:ea typeface="宋体" panose="02010600030101010101" pitchFamily="2" charset="-122"/>
              </a:rPr>
              <a:t>)</a:t>
            </a:r>
            <a:r>
              <a:rPr lang="zh-CN" altLang="en-US" sz="3600" dirty="0">
                <a:solidFill>
                  <a:schemeClr val="bg2"/>
                </a:solidFill>
                <a:ea typeface="黑体" pitchFamily="49" charset="-122"/>
              </a:rPr>
              <a:t>介绍</a:t>
            </a:r>
          </a:p>
        </p:txBody>
      </p:sp>
      <p:sp>
        <p:nvSpPr>
          <p:cNvPr id="43011" name="Rectangle 3"/>
          <p:cNvSpPr>
            <a:spLocks noGrp="1" noChangeArrowheads="1"/>
          </p:cNvSpPr>
          <p:nvPr>
            <p:ph type="body" idx="1"/>
          </p:nvPr>
        </p:nvSpPr>
        <p:spPr>
          <a:xfrm>
            <a:off x="911424" y="1988840"/>
            <a:ext cx="9865096" cy="4680248"/>
          </a:xfrm>
        </p:spPr>
        <p:txBody>
          <a:bodyPr/>
          <a:lstStyle/>
          <a:p>
            <a:pPr eaLnBrk="1" hangingPunct="1">
              <a:lnSpc>
                <a:spcPct val="120000"/>
              </a:lnSpc>
            </a:pPr>
            <a:r>
              <a:rPr lang="zh-CN" altLang="en-US" dirty="0">
                <a:latin typeface="黑体" pitchFamily="49" charset="-122"/>
                <a:ea typeface="黑体" pitchFamily="49" charset="-122"/>
              </a:rPr>
              <a:t>人工神经网络模型源于生物神经网络</a:t>
            </a:r>
          </a:p>
          <a:p>
            <a:pPr eaLnBrk="1" hangingPunct="1">
              <a:lnSpc>
                <a:spcPct val="120000"/>
              </a:lnSpc>
            </a:pPr>
            <a:r>
              <a:rPr lang="zh-CN" altLang="en-US" dirty="0">
                <a:latin typeface="黑体" pitchFamily="49" charset="-122"/>
                <a:ea typeface="黑体" pitchFamily="49" charset="-122"/>
              </a:rPr>
              <a:t>神经元是大脑处理信息的基本单元</a:t>
            </a:r>
          </a:p>
          <a:p>
            <a:pPr eaLnBrk="1" hangingPunct="1">
              <a:lnSpc>
                <a:spcPct val="120000"/>
              </a:lnSpc>
            </a:pPr>
            <a:r>
              <a:rPr lang="zh-CN" altLang="en-US" dirty="0">
                <a:solidFill>
                  <a:srgbClr val="FF0000"/>
                </a:solidFill>
                <a:latin typeface="黑体" pitchFamily="49" charset="-122"/>
                <a:ea typeface="黑体" pitchFamily="49" charset="-122"/>
              </a:rPr>
              <a:t>神经网络是一个并行和分布式的信息处理网络结构</a:t>
            </a:r>
          </a:p>
          <a:p>
            <a:pPr eaLnBrk="1" hangingPunct="1">
              <a:lnSpc>
                <a:spcPct val="120000"/>
              </a:lnSpc>
            </a:pPr>
            <a:r>
              <a:rPr lang="zh-CN" altLang="en-US" dirty="0">
                <a:latin typeface="黑体" pitchFamily="49" charset="-122"/>
                <a:ea typeface="黑体" pitchFamily="49" charset="-122"/>
              </a:rPr>
              <a:t>它一般由大量神经元组成</a:t>
            </a:r>
          </a:p>
          <a:p>
            <a:pPr lvl="1" eaLnBrk="1" hangingPunct="1">
              <a:lnSpc>
                <a:spcPct val="120000"/>
              </a:lnSpc>
            </a:pPr>
            <a:r>
              <a:rPr lang="zh-CN" altLang="en-US" dirty="0">
                <a:solidFill>
                  <a:schemeClr val="bg2"/>
                </a:solidFill>
                <a:latin typeface="黑体" pitchFamily="49" charset="-122"/>
                <a:ea typeface="黑体" pitchFamily="49" charset="-122"/>
              </a:rPr>
              <a:t>每个神经元只有一个输出，可以连接到很多其他的神经元</a:t>
            </a:r>
          </a:p>
          <a:p>
            <a:pPr lvl="1" eaLnBrk="1" hangingPunct="1">
              <a:lnSpc>
                <a:spcPct val="120000"/>
              </a:lnSpc>
            </a:pPr>
            <a:r>
              <a:rPr lang="zh-CN" altLang="en-US" dirty="0">
                <a:solidFill>
                  <a:schemeClr val="bg2"/>
                </a:solidFill>
                <a:latin typeface="黑体" pitchFamily="49" charset="-122"/>
                <a:ea typeface="黑体" pitchFamily="49" charset="-122"/>
              </a:rPr>
              <a:t>每个神经元输入有多个连接通道，每个连接通道对应于一个连接权系数</a:t>
            </a:r>
            <a:r>
              <a:rPr lang="zh-CN" altLang="en-US" dirty="0">
                <a:latin typeface="黑体" pitchFamily="49" charset="-122"/>
                <a:ea typeface="黑体" pitchFamily="49" charset="-122"/>
              </a:rPr>
              <a:t> </a:t>
            </a:r>
          </a:p>
        </p:txBody>
      </p:sp>
      <p:sp>
        <p:nvSpPr>
          <p:cNvPr id="2" name="灯片编号占位符 1">
            <a:extLst>
              <a:ext uri="{FF2B5EF4-FFF2-40B4-BE49-F238E27FC236}">
                <a16:creationId xmlns:a16="http://schemas.microsoft.com/office/drawing/2014/main" id="{00D1BE47-C773-1998-7C78-DF87CC7F95C7}"/>
              </a:ext>
            </a:extLst>
          </p:cNvPr>
          <p:cNvSpPr>
            <a:spLocks noGrp="1"/>
          </p:cNvSpPr>
          <p:nvPr>
            <p:ph type="sldNum" sz="quarter" idx="11"/>
          </p:nvPr>
        </p:nvSpPr>
        <p:spPr/>
        <p:txBody>
          <a:bodyPr/>
          <a:lstStyle/>
          <a:p>
            <a:pPr>
              <a:defRPr/>
            </a:pPr>
            <a:fld id="{E0FB5469-1AEB-496D-971A-66705BF2F73C}" type="slidenum">
              <a:rPr lang="en-US" altLang="zh-CN" smtClean="0"/>
              <a:pPr>
                <a:defRPr/>
              </a:pPr>
              <a:t>33</a:t>
            </a:fld>
            <a:endParaRPr lang="en-US" altLang="zh-CN"/>
          </a:p>
        </p:txBody>
      </p:sp>
    </p:spTree>
    <p:extLst>
      <p:ext uri="{BB962C8B-B14F-4D97-AF65-F5344CB8AC3E}">
        <p14:creationId xmlns:p14="http://schemas.microsoft.com/office/powerpoint/2010/main" val="1199228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up)">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up)">
                                      <p:cBhvr>
                                        <p:cTn id="17" dur="500"/>
                                        <p:tgtEl>
                                          <p:spTgt spid="430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wipe(up)">
                                      <p:cBhvr>
                                        <p:cTn id="22" dur="500"/>
                                        <p:tgtEl>
                                          <p:spTgt spid="43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wipe(up)">
                                      <p:cBhvr>
                                        <p:cTn id="27" dur="500"/>
                                        <p:tgtEl>
                                          <p:spTgt spid="43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3011">
                                            <p:txEl>
                                              <p:pRg st="5" end="5"/>
                                            </p:txEl>
                                          </p:spTgt>
                                        </p:tgtEl>
                                        <p:attrNameLst>
                                          <p:attrName>style.visibility</p:attrName>
                                        </p:attrNameLst>
                                      </p:cBhvr>
                                      <p:to>
                                        <p:strVal val="visible"/>
                                      </p:to>
                                    </p:set>
                                    <p:animEffect transition="in" filter="wipe(up)">
                                      <p:cBhvr>
                                        <p:cTn id="32" dur="500"/>
                                        <p:tgtEl>
                                          <p:spTgt spid="430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99679" y="223758"/>
            <a:ext cx="9792642" cy="1152525"/>
          </a:xfrm>
        </p:spPr>
        <p:txBody>
          <a:bodyPr/>
          <a:lstStyle/>
          <a:p>
            <a:pPr algn="ctr" eaLnBrk="1" hangingPunct="1"/>
            <a:r>
              <a:rPr lang="zh-CN" altLang="en-US" dirty="0">
                <a:solidFill>
                  <a:srgbClr val="008000"/>
                </a:solidFill>
                <a:latin typeface="黑体" panose="02010609060101010101" pitchFamily="49" charset="-122"/>
                <a:ea typeface="黑体" panose="02010609060101010101" pitchFamily="49" charset="-122"/>
              </a:rPr>
              <a:t>系统模式中系统复杂性与精确性的关系</a:t>
            </a:r>
            <a:endParaRPr lang="zh-CN" altLang="en-US" sz="4000" dirty="0">
              <a:solidFill>
                <a:srgbClr val="008000"/>
              </a:solidFill>
              <a:latin typeface="黑体" panose="02010609060101010101" pitchFamily="49" charset="-122"/>
              <a:ea typeface="黑体" panose="02010609060101010101" pitchFamily="49" charset="-122"/>
            </a:endParaRPr>
          </a:p>
        </p:txBody>
      </p:sp>
      <p:sp>
        <p:nvSpPr>
          <p:cNvPr id="89091" name="Rectangle 3"/>
          <p:cNvSpPr>
            <a:spLocks noGrp="1" noChangeArrowheads="1"/>
          </p:cNvSpPr>
          <p:nvPr>
            <p:ph type="body" idx="1"/>
          </p:nvPr>
        </p:nvSpPr>
        <p:spPr>
          <a:xfrm>
            <a:off x="911424" y="5373688"/>
            <a:ext cx="10297144" cy="1295400"/>
          </a:xfrm>
          <a:solidFill>
            <a:srgbClr val="FFFF99"/>
          </a:solidFill>
        </p:spPr>
        <p:txBody>
          <a:bodyPr/>
          <a:lstStyle/>
          <a:p>
            <a:pPr eaLnBrk="1" hangingPunct="1">
              <a:buFont typeface="Wingdings" pitchFamily="2" charset="2"/>
              <a:buChar char="Ø"/>
            </a:pPr>
            <a:r>
              <a:rPr lang="zh-CN" altLang="en-US" sz="2800" b="1" dirty="0">
                <a:ea typeface="楷体_GB2312" pitchFamily="49" charset="-122"/>
              </a:rPr>
              <a:t>对有一点复杂但同时又有重要数据存在的系统来说，</a:t>
            </a:r>
            <a:r>
              <a:rPr lang="zh-CN" altLang="en-US" sz="2800" b="1" dirty="0">
                <a:solidFill>
                  <a:srgbClr val="CC00FF"/>
                </a:solidFill>
                <a:ea typeface="楷体_GB2312" pitchFamily="49" charset="-122"/>
              </a:rPr>
              <a:t>无模型方法</a:t>
            </a:r>
            <a:r>
              <a:rPr lang="zh-CN" altLang="en-US" sz="2800" b="1" dirty="0">
                <a:ea typeface="楷体_GB2312" pitchFamily="49" charset="-122"/>
              </a:rPr>
              <a:t>如</a:t>
            </a:r>
            <a:r>
              <a:rPr lang="zh-CN" altLang="en-US" sz="2800" b="1" dirty="0">
                <a:solidFill>
                  <a:srgbClr val="C74440"/>
                </a:solidFill>
                <a:ea typeface="楷体_GB2312" pitchFamily="49" charset="-122"/>
              </a:rPr>
              <a:t>人工神经网络</a:t>
            </a:r>
            <a:r>
              <a:rPr lang="zh-CN" altLang="en-US" sz="2800" b="1" dirty="0">
                <a:ea typeface="楷体_GB2312" pitchFamily="49" charset="-122"/>
              </a:rPr>
              <a:t>，即通过对有效数据的学习，是一种有效、可靠地降低不确定性的手段。</a:t>
            </a:r>
          </a:p>
        </p:txBody>
      </p:sp>
      <p:grpSp>
        <p:nvGrpSpPr>
          <p:cNvPr id="13316" name="Group 4"/>
          <p:cNvGrpSpPr>
            <a:grpSpLocks/>
          </p:cNvGrpSpPr>
          <p:nvPr/>
        </p:nvGrpSpPr>
        <p:grpSpPr bwMode="auto">
          <a:xfrm>
            <a:off x="2135560" y="1379593"/>
            <a:ext cx="8207375" cy="3725862"/>
            <a:chOff x="657" y="1253"/>
            <a:chExt cx="5170" cy="2347"/>
          </a:xfrm>
        </p:grpSpPr>
        <p:sp>
          <p:nvSpPr>
            <p:cNvPr id="13318" name="Line 5"/>
            <p:cNvSpPr>
              <a:spLocks noChangeShapeType="1"/>
            </p:cNvSpPr>
            <p:nvPr/>
          </p:nvSpPr>
          <p:spPr bwMode="auto">
            <a:xfrm flipV="1">
              <a:off x="1066" y="1525"/>
              <a:ext cx="0" cy="19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19" name="Line 6"/>
            <p:cNvSpPr>
              <a:spLocks noChangeShapeType="1"/>
            </p:cNvSpPr>
            <p:nvPr/>
          </p:nvSpPr>
          <p:spPr bwMode="auto">
            <a:xfrm>
              <a:off x="1066" y="3475"/>
              <a:ext cx="371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0" name="Text Box 7"/>
            <p:cNvSpPr txBox="1">
              <a:spLocks noChangeArrowheads="1"/>
            </p:cNvSpPr>
            <p:nvPr/>
          </p:nvSpPr>
          <p:spPr bwMode="auto">
            <a:xfrm>
              <a:off x="657" y="1253"/>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chemeClr val="bg2"/>
                  </a:solidFill>
                  <a:ea typeface="楷体_GB2312" pitchFamily="49" charset="-122"/>
                </a:rPr>
                <a:t>模型精度</a:t>
              </a:r>
            </a:p>
          </p:txBody>
        </p:sp>
        <p:sp>
          <p:nvSpPr>
            <p:cNvPr id="13321" name="Text Box 8"/>
            <p:cNvSpPr txBox="1">
              <a:spLocks noChangeArrowheads="1"/>
            </p:cNvSpPr>
            <p:nvPr/>
          </p:nvSpPr>
          <p:spPr bwMode="auto">
            <a:xfrm>
              <a:off x="4784" y="3350"/>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solidFill>
                    <a:schemeClr val="bg2"/>
                  </a:solidFill>
                  <a:ea typeface="楷体_GB2312" pitchFamily="49" charset="-122"/>
                </a:rPr>
                <a:t>系统复杂性</a:t>
              </a:r>
            </a:p>
          </p:txBody>
        </p:sp>
        <p:sp>
          <p:nvSpPr>
            <p:cNvPr id="13322" name="Text Box 9"/>
            <p:cNvSpPr txBox="1">
              <a:spLocks noChangeArrowheads="1"/>
            </p:cNvSpPr>
            <p:nvPr/>
          </p:nvSpPr>
          <p:spPr bwMode="auto">
            <a:xfrm>
              <a:off x="1565" y="1570"/>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008000"/>
                  </a:solidFill>
                  <a:ea typeface="楷体_GB2312" pitchFamily="49" charset="-122"/>
                </a:rPr>
                <a:t>数学方法</a:t>
              </a:r>
            </a:p>
          </p:txBody>
        </p:sp>
        <p:sp>
          <p:nvSpPr>
            <p:cNvPr id="13323" name="Text Box 10"/>
            <p:cNvSpPr txBox="1">
              <a:spLocks noChangeArrowheads="1"/>
            </p:cNvSpPr>
            <p:nvPr/>
          </p:nvSpPr>
          <p:spPr bwMode="auto">
            <a:xfrm>
              <a:off x="2653" y="1888"/>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9900FF"/>
                  </a:solidFill>
                  <a:ea typeface="楷体_GB2312" pitchFamily="49" charset="-122"/>
                </a:rPr>
                <a:t>无模型方法</a:t>
              </a:r>
            </a:p>
          </p:txBody>
        </p:sp>
        <p:sp>
          <p:nvSpPr>
            <p:cNvPr id="13324" name="Text Box 11"/>
            <p:cNvSpPr txBox="1">
              <a:spLocks noChangeArrowheads="1"/>
            </p:cNvSpPr>
            <p:nvPr/>
          </p:nvSpPr>
          <p:spPr bwMode="auto">
            <a:xfrm>
              <a:off x="4150" y="2568"/>
              <a:ext cx="9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FF0000"/>
                  </a:solidFill>
                  <a:ea typeface="楷体_GB2312" pitchFamily="49" charset="-122"/>
                </a:rPr>
                <a:t>模糊系统</a:t>
              </a:r>
            </a:p>
          </p:txBody>
        </p:sp>
        <p:sp>
          <p:nvSpPr>
            <p:cNvPr id="13325" name="Freeform 12"/>
            <p:cNvSpPr>
              <a:spLocks/>
            </p:cNvSpPr>
            <p:nvPr/>
          </p:nvSpPr>
          <p:spPr bwMode="auto">
            <a:xfrm>
              <a:off x="1247" y="1774"/>
              <a:ext cx="620" cy="1520"/>
            </a:xfrm>
            <a:custGeom>
              <a:avLst/>
              <a:gdLst>
                <a:gd name="T0" fmla="*/ 0 w 620"/>
                <a:gd name="T1" fmla="*/ 1520 h 1520"/>
                <a:gd name="T2" fmla="*/ 408 w 620"/>
                <a:gd name="T3" fmla="*/ 1021 h 1520"/>
                <a:gd name="T4" fmla="*/ 590 w 620"/>
                <a:gd name="T5" fmla="*/ 159 h 1520"/>
                <a:gd name="T6" fmla="*/ 590 w 620"/>
                <a:gd name="T7" fmla="*/ 68 h 15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0" h="1520">
                  <a:moveTo>
                    <a:pt x="0" y="1520"/>
                  </a:moveTo>
                  <a:cubicBezTo>
                    <a:pt x="155" y="1384"/>
                    <a:pt x="310" y="1248"/>
                    <a:pt x="408" y="1021"/>
                  </a:cubicBezTo>
                  <a:cubicBezTo>
                    <a:pt x="506" y="794"/>
                    <a:pt x="560" y="318"/>
                    <a:pt x="590" y="159"/>
                  </a:cubicBezTo>
                  <a:cubicBezTo>
                    <a:pt x="620" y="0"/>
                    <a:pt x="605" y="34"/>
                    <a:pt x="590" y="68"/>
                  </a:cubicBezTo>
                </a:path>
              </a:pathLst>
            </a:custGeom>
            <a:noFill/>
            <a:ln w="38100" cmpd="sng">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6" name="Freeform 13"/>
            <p:cNvSpPr>
              <a:spLocks/>
            </p:cNvSpPr>
            <p:nvPr/>
          </p:nvSpPr>
          <p:spPr bwMode="auto">
            <a:xfrm>
              <a:off x="1655" y="2205"/>
              <a:ext cx="1588" cy="1044"/>
            </a:xfrm>
            <a:custGeom>
              <a:avLst/>
              <a:gdLst>
                <a:gd name="T0" fmla="*/ 0 w 1543"/>
                <a:gd name="T1" fmla="*/ 1648 h 953"/>
                <a:gd name="T2" fmla="*/ 915 w 1543"/>
                <a:gd name="T3" fmla="*/ 1254 h 953"/>
                <a:gd name="T4" fmla="*/ 1401 w 1543"/>
                <a:gd name="T5" fmla="*/ 783 h 953"/>
                <a:gd name="T6" fmla="*/ 1833 w 1543"/>
                <a:gd name="T7" fmla="*/ 0 h 9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43" h="953">
                  <a:moveTo>
                    <a:pt x="0" y="953"/>
                  </a:moveTo>
                  <a:cubicBezTo>
                    <a:pt x="287" y="881"/>
                    <a:pt x="574" y="809"/>
                    <a:pt x="771" y="726"/>
                  </a:cubicBezTo>
                  <a:cubicBezTo>
                    <a:pt x="968" y="643"/>
                    <a:pt x="1051" y="575"/>
                    <a:pt x="1180" y="454"/>
                  </a:cubicBezTo>
                  <a:cubicBezTo>
                    <a:pt x="1309" y="333"/>
                    <a:pt x="1426" y="166"/>
                    <a:pt x="1543" y="0"/>
                  </a:cubicBezTo>
                </a:path>
              </a:pathLst>
            </a:custGeom>
            <a:noFill/>
            <a:ln w="38100" cmpd="sng">
              <a:solidFill>
                <a:srgbClr val="99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7" name="Freeform 14"/>
            <p:cNvSpPr>
              <a:spLocks/>
            </p:cNvSpPr>
            <p:nvPr/>
          </p:nvSpPr>
          <p:spPr bwMode="auto">
            <a:xfrm>
              <a:off x="2336" y="2886"/>
              <a:ext cx="2177" cy="363"/>
            </a:xfrm>
            <a:custGeom>
              <a:avLst/>
              <a:gdLst>
                <a:gd name="T0" fmla="*/ 0 w 2177"/>
                <a:gd name="T1" fmla="*/ 363 h 363"/>
                <a:gd name="T2" fmla="*/ 862 w 2177"/>
                <a:gd name="T3" fmla="*/ 272 h 363"/>
                <a:gd name="T4" fmla="*/ 1315 w 2177"/>
                <a:gd name="T5" fmla="*/ 227 h 363"/>
                <a:gd name="T6" fmla="*/ 1769 w 2177"/>
                <a:gd name="T7" fmla="*/ 136 h 363"/>
                <a:gd name="T8" fmla="*/ 2086 w 2177"/>
                <a:gd name="T9" fmla="*/ 45 h 363"/>
                <a:gd name="T10" fmla="*/ 2177 w 2177"/>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77" h="363">
                  <a:moveTo>
                    <a:pt x="0" y="363"/>
                  </a:moveTo>
                  <a:cubicBezTo>
                    <a:pt x="321" y="329"/>
                    <a:pt x="643" y="295"/>
                    <a:pt x="862" y="272"/>
                  </a:cubicBezTo>
                  <a:cubicBezTo>
                    <a:pt x="1081" y="249"/>
                    <a:pt x="1164" y="250"/>
                    <a:pt x="1315" y="227"/>
                  </a:cubicBezTo>
                  <a:cubicBezTo>
                    <a:pt x="1466" y="204"/>
                    <a:pt x="1640" y="166"/>
                    <a:pt x="1769" y="136"/>
                  </a:cubicBezTo>
                  <a:cubicBezTo>
                    <a:pt x="1898" y="106"/>
                    <a:pt x="2018" y="68"/>
                    <a:pt x="2086" y="45"/>
                  </a:cubicBezTo>
                  <a:cubicBezTo>
                    <a:pt x="2154" y="22"/>
                    <a:pt x="2165" y="11"/>
                    <a:pt x="2177" y="0"/>
                  </a:cubicBezTo>
                </a:path>
              </a:pathLst>
            </a:custGeom>
            <a:noFill/>
            <a:ln w="381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17" name="Rectangle 15"/>
          <p:cNvSpPr>
            <a:spLocks noChangeArrowheads="1"/>
          </p:cNvSpPr>
          <p:nvPr/>
        </p:nvSpPr>
        <p:spPr bwMode="auto">
          <a:xfrm>
            <a:off x="8538806" y="1456922"/>
            <a:ext cx="288088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800" b="1" dirty="0">
                <a:solidFill>
                  <a:srgbClr val="3366FF"/>
                </a:solidFill>
                <a:ea typeface="楷体_GB2312" pitchFamily="49" charset="-122"/>
              </a:rPr>
              <a:t>系统的复杂性与系统模型中固有的精度有关</a:t>
            </a:r>
          </a:p>
        </p:txBody>
      </p:sp>
      <p:sp>
        <p:nvSpPr>
          <p:cNvPr id="2" name="灯片编号占位符 1">
            <a:extLst>
              <a:ext uri="{FF2B5EF4-FFF2-40B4-BE49-F238E27FC236}">
                <a16:creationId xmlns:a16="http://schemas.microsoft.com/office/drawing/2014/main" id="{486271A4-E4B2-0301-97DD-0B44C60B7E51}"/>
              </a:ext>
            </a:extLst>
          </p:cNvPr>
          <p:cNvSpPr>
            <a:spLocks noGrp="1"/>
          </p:cNvSpPr>
          <p:nvPr>
            <p:ph type="sldNum" sz="quarter" idx="11"/>
          </p:nvPr>
        </p:nvSpPr>
        <p:spPr/>
        <p:txBody>
          <a:bodyPr/>
          <a:lstStyle/>
          <a:p>
            <a:pPr>
              <a:defRPr/>
            </a:pPr>
            <a:fld id="{E0FB5469-1AEB-496D-971A-66705BF2F73C}" type="slidenum">
              <a:rPr lang="en-US" altLang="zh-CN" smtClean="0"/>
              <a:pPr>
                <a:defRPr/>
              </a:pPr>
              <a:t>34</a:t>
            </a:fld>
            <a:endParaRPr lang="en-US" altLang="zh-CN"/>
          </a:p>
        </p:txBody>
      </p:sp>
    </p:spTree>
    <p:extLst>
      <p:ext uri="{BB962C8B-B14F-4D97-AF65-F5344CB8AC3E}">
        <p14:creationId xmlns:p14="http://schemas.microsoft.com/office/powerpoint/2010/main" val="3299606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091">
                                            <p:bg/>
                                          </p:spTgt>
                                        </p:tgtEl>
                                        <p:attrNameLst>
                                          <p:attrName>style.visibility</p:attrName>
                                        </p:attrNameLst>
                                      </p:cBhvr>
                                      <p:to>
                                        <p:strVal val="visible"/>
                                      </p:to>
                                    </p:set>
                                    <p:anim calcmode="lin" valueType="num">
                                      <p:cBhvr additive="base">
                                        <p:cTn id="7" dur="500" fill="hold"/>
                                        <p:tgtEl>
                                          <p:spTgt spid="89091">
                                            <p:bg/>
                                          </p:spTgt>
                                        </p:tgtEl>
                                        <p:attrNameLst>
                                          <p:attrName>ppt_x</p:attrName>
                                        </p:attrNameLst>
                                      </p:cBhvr>
                                      <p:tavLst>
                                        <p:tav tm="0">
                                          <p:val>
                                            <p:strVal val="#ppt_x"/>
                                          </p:val>
                                        </p:tav>
                                        <p:tav tm="100000">
                                          <p:val>
                                            <p:strVal val="#ppt_x"/>
                                          </p:val>
                                        </p:tav>
                                      </p:tavLst>
                                    </p:anim>
                                    <p:anim calcmode="lin" valueType="num">
                                      <p:cBhvr additive="base">
                                        <p:cTn id="8" dur="500" fill="hold"/>
                                        <p:tgtEl>
                                          <p:spTgt spid="89091">
                                            <p:bg/>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9091">
                                            <p:txEl>
                                              <p:pRg st="0" end="0"/>
                                            </p:txEl>
                                          </p:spTgt>
                                        </p:tgtEl>
                                        <p:attrNameLst>
                                          <p:attrName>style.visibility</p:attrName>
                                        </p:attrNameLst>
                                      </p:cBhvr>
                                      <p:to>
                                        <p:strVal val="visible"/>
                                      </p:to>
                                    </p:set>
                                    <p:anim calcmode="lin" valueType="num">
                                      <p:cBhvr additive="base">
                                        <p:cTn id="13" dur="500" fill="hold"/>
                                        <p:tgtEl>
                                          <p:spTgt spid="8909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909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981200" y="18864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神经网络的基本原理</a:t>
            </a:r>
          </a:p>
        </p:txBody>
      </p:sp>
      <p:graphicFrame>
        <p:nvGraphicFramePr>
          <p:cNvPr id="93354" name="Object 170"/>
          <p:cNvGraphicFramePr>
            <a:graphicFrameLocks noChangeAspect="1"/>
          </p:cNvGraphicFramePr>
          <p:nvPr>
            <p:extLst>
              <p:ext uri="{D42A27DB-BD31-4B8C-83A1-F6EECF244321}">
                <p14:modId xmlns:p14="http://schemas.microsoft.com/office/powerpoint/2010/main" val="4211950908"/>
              </p:ext>
            </p:extLst>
          </p:nvPr>
        </p:nvGraphicFramePr>
        <p:xfrm>
          <a:off x="7212813" y="1729936"/>
          <a:ext cx="4261657" cy="2785854"/>
        </p:xfrm>
        <a:graphic>
          <a:graphicData uri="http://schemas.openxmlformats.org/presentationml/2006/ole">
            <mc:AlternateContent xmlns:mc="http://schemas.openxmlformats.org/markup-compatibility/2006">
              <mc:Choice xmlns:v="urn:schemas-microsoft-com:vml" Requires="v">
                <p:oleObj name="Visio" r:id="rId3" imgW="4844186" imgH="3229051" progId="Visio.Drawing.11">
                  <p:embed/>
                </p:oleObj>
              </mc:Choice>
              <mc:Fallback>
                <p:oleObj name="Visio" r:id="rId3" imgW="4844186" imgH="3229051" progId="Visio.Drawing.11">
                  <p:embed/>
                  <p:pic>
                    <p:nvPicPr>
                      <p:cNvPr id="93354" name="Object 1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2813" y="1729936"/>
                        <a:ext cx="4261657" cy="2785854"/>
                      </a:xfrm>
                      <a:prstGeom prst="rect">
                        <a:avLst/>
                      </a:prstGeom>
                      <a:noFill/>
                      <a:ln>
                        <a:noFill/>
                      </a:ln>
                      <a:effectLst/>
                    </p:spPr>
                  </p:pic>
                </p:oleObj>
              </mc:Fallback>
            </mc:AlternateContent>
          </a:graphicData>
        </a:graphic>
      </p:graphicFrame>
      <p:sp>
        <p:nvSpPr>
          <p:cNvPr id="2" name="矩形 1"/>
          <p:cNvSpPr/>
          <p:nvPr/>
        </p:nvSpPr>
        <p:spPr>
          <a:xfrm>
            <a:off x="508148" y="1604590"/>
            <a:ext cx="5128327" cy="584775"/>
          </a:xfrm>
          <a:prstGeom prst="rect">
            <a:avLst/>
          </a:prstGeom>
        </p:spPr>
        <p:txBody>
          <a:bodyPr wrap="none">
            <a:spAutoFit/>
          </a:bodyPr>
          <a:lstStyle/>
          <a:p>
            <a:pPr algn="ctr" eaLnBrk="0" hangingPunct="0"/>
            <a:r>
              <a:rPr lang="zh-CN" altLang="en-US" sz="3200" b="1" dirty="0">
                <a:solidFill>
                  <a:srgbClr val="FF0000"/>
                </a:solidFill>
                <a:latin typeface="黑体" panose="02010609060101010101" pitchFamily="49" charset="-122"/>
                <a:ea typeface="黑体" panose="02010609060101010101" pitchFamily="49" charset="-122"/>
              </a:rPr>
              <a:t>生物神经元基本结构示意图</a:t>
            </a:r>
          </a:p>
        </p:txBody>
      </p:sp>
      <p:grpSp>
        <p:nvGrpSpPr>
          <p:cNvPr id="7" name="Group 38"/>
          <p:cNvGrpSpPr>
            <a:grpSpLocks/>
          </p:cNvGrpSpPr>
          <p:nvPr/>
        </p:nvGrpSpPr>
        <p:grpSpPr bwMode="auto">
          <a:xfrm>
            <a:off x="446016" y="3304649"/>
            <a:ext cx="1490575" cy="2216185"/>
            <a:chOff x="576" y="1462"/>
            <a:chExt cx="1336" cy="2296"/>
          </a:xfrm>
        </p:grpSpPr>
        <p:sp>
          <p:nvSpPr>
            <p:cNvPr id="8" name="AutoShape 39"/>
            <p:cNvSpPr>
              <a:spLocks noChangeArrowheads="1"/>
            </p:cNvSpPr>
            <p:nvPr/>
          </p:nvSpPr>
          <p:spPr bwMode="auto">
            <a:xfrm>
              <a:off x="576" y="1462"/>
              <a:ext cx="1336" cy="1869"/>
            </a:xfrm>
            <a:prstGeom prst="roundRect">
              <a:avLst>
                <a:gd name="adj" fmla="val 16667"/>
              </a:avLst>
            </a:prstGeom>
            <a:noFill/>
            <a:ln w="38100">
              <a:solidFill>
                <a:srgbClr val="000000"/>
              </a:solidFill>
              <a:round/>
              <a:headEnd/>
              <a:tailEnd/>
            </a:ln>
            <a:effectLst/>
            <a:extLst>
              <a:ext uri="{909E8E84-426E-40DD-AFC4-6F175D3DCCD1}">
                <a14:hiddenFill xmlns:a14="http://schemas.microsoft.com/office/drawing/2010/main">
                  <a:solidFill>
                    <a:srgbClr val="0D466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en-US">
                <a:latin typeface="Verdana" panose="020B0604030504040204" pitchFamily="34" charset="0"/>
                <a:ea typeface="宋体" panose="02010600030101010101" pitchFamily="2" charset="-122"/>
              </a:endParaRPr>
            </a:p>
          </p:txBody>
        </p:sp>
        <p:sp>
          <p:nvSpPr>
            <p:cNvPr id="9" name="Text Box 40"/>
            <p:cNvSpPr txBox="1">
              <a:spLocks noChangeArrowheads="1"/>
            </p:cNvSpPr>
            <p:nvPr/>
          </p:nvSpPr>
          <p:spPr bwMode="auto">
            <a:xfrm>
              <a:off x="624" y="1590"/>
              <a:ext cx="1248" cy="2168"/>
            </a:xfrm>
            <a:prstGeom prst="rect">
              <a:avLst/>
            </a:prstGeom>
            <a:noFill/>
            <a:ln>
              <a:noFill/>
            </a:ln>
            <a:effectLst/>
            <a:extLst>
              <a:ext uri="{909E8E84-426E-40DD-AFC4-6F175D3DCCD1}">
                <a14:hiddenFill xmlns:a14="http://schemas.microsoft.com/office/drawing/2010/main">
                  <a:gradFill rotWithShape="1">
                    <a:gsLst>
                      <a:gs pos="0">
                        <a:srgbClr val="0D466D"/>
                      </a:gs>
                      <a:gs pos="100000">
                        <a:srgbClr val="0D466D">
                          <a:gamma/>
                          <a:tint val="48627"/>
                          <a:invGamma/>
                        </a:srgbClr>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SzPct val="60000"/>
                <a:buFontTx/>
                <a:buChar char="•"/>
              </a:pPr>
              <a:r>
                <a:rPr lang="zh-CN" altLang="en-US" sz="2600" b="1" dirty="0">
                  <a:solidFill>
                    <a:srgbClr val="008000"/>
                  </a:solidFill>
                  <a:effectLst>
                    <a:outerShdw blurRad="38100" dist="38100" dir="2700000" algn="tl">
                      <a:srgbClr val="000000">
                        <a:alpha val="43137"/>
                      </a:srgbClr>
                    </a:outerShdw>
                  </a:effectLst>
                  <a:latin typeface="Verdana" panose="020B0604030504040204" pitchFamily="34" charset="0"/>
                </a:rPr>
                <a:t>树突</a:t>
              </a:r>
            </a:p>
            <a:p>
              <a:pPr eaLnBrk="0" hangingPunct="0">
                <a:buSzPct val="60000"/>
                <a:buFontTx/>
                <a:buChar char="•"/>
              </a:pPr>
              <a:r>
                <a:rPr lang="zh-CN" altLang="en-US" sz="2600" b="1" dirty="0">
                  <a:solidFill>
                    <a:srgbClr val="008000"/>
                  </a:solidFill>
                  <a:effectLst>
                    <a:outerShdw blurRad="38100" dist="38100" dir="2700000" algn="tl">
                      <a:srgbClr val="000000">
                        <a:alpha val="43137"/>
                      </a:srgbClr>
                    </a:outerShdw>
                  </a:effectLst>
                  <a:latin typeface="Verdana" panose="020B0604030504040204" pitchFamily="34" charset="0"/>
                </a:rPr>
                <a:t>细胞体</a:t>
              </a:r>
            </a:p>
            <a:p>
              <a:pPr eaLnBrk="0" hangingPunct="0">
                <a:buSzPct val="60000"/>
                <a:buFontTx/>
                <a:buChar char="•"/>
              </a:pPr>
              <a:r>
                <a:rPr lang="zh-CN" altLang="en-US" sz="2600" b="1" dirty="0">
                  <a:solidFill>
                    <a:srgbClr val="008000"/>
                  </a:solidFill>
                  <a:effectLst>
                    <a:outerShdw blurRad="38100" dist="38100" dir="2700000" algn="tl">
                      <a:srgbClr val="000000">
                        <a:alpha val="43137"/>
                      </a:srgbClr>
                    </a:outerShdw>
                  </a:effectLst>
                  <a:latin typeface="Verdana" panose="020B0604030504040204" pitchFamily="34" charset="0"/>
                </a:rPr>
                <a:t>轴突</a:t>
              </a:r>
            </a:p>
            <a:p>
              <a:pPr eaLnBrk="0" hangingPunct="0">
                <a:buSzPct val="60000"/>
                <a:buFontTx/>
                <a:buChar char="•"/>
              </a:pPr>
              <a:r>
                <a:rPr lang="zh-CN" altLang="en-US" sz="2600" b="1" dirty="0">
                  <a:solidFill>
                    <a:srgbClr val="008000"/>
                  </a:solidFill>
                  <a:effectLst>
                    <a:outerShdw blurRad="38100" dist="38100" dir="2700000" algn="tl">
                      <a:srgbClr val="000000">
                        <a:alpha val="43137"/>
                      </a:srgbClr>
                    </a:outerShdw>
                  </a:effectLst>
                  <a:latin typeface="Verdana" panose="020B0604030504040204" pitchFamily="34" charset="0"/>
                </a:rPr>
                <a:t>突触</a:t>
              </a:r>
            </a:p>
            <a:p>
              <a:pPr eaLnBrk="0" hangingPunct="0">
                <a:buSzPct val="60000"/>
                <a:buFontTx/>
                <a:buChar char="•"/>
              </a:pPr>
              <a:endParaRPr lang="en-US" altLang="zh-CN" sz="2600" b="1" dirty="0">
                <a:solidFill>
                  <a:srgbClr val="001D3A"/>
                </a:solidFill>
                <a:latin typeface="Verdana" panose="020B0604030504040204" pitchFamily="34" charset="0"/>
              </a:endParaRPr>
            </a:p>
          </p:txBody>
        </p:sp>
      </p:grpSp>
      <p:grpSp>
        <p:nvGrpSpPr>
          <p:cNvPr id="10" name="Group 44"/>
          <p:cNvGrpSpPr>
            <a:grpSpLocks/>
          </p:cNvGrpSpPr>
          <p:nvPr/>
        </p:nvGrpSpPr>
        <p:grpSpPr bwMode="auto">
          <a:xfrm>
            <a:off x="2165957" y="2597497"/>
            <a:ext cx="2224131" cy="587093"/>
            <a:chOff x="1925" y="1123"/>
            <a:chExt cx="1774" cy="394"/>
          </a:xfrm>
        </p:grpSpPr>
        <p:sp>
          <p:nvSpPr>
            <p:cNvPr id="11" name="AutoShape 45"/>
            <p:cNvSpPr>
              <a:spLocks noChangeArrowheads="1"/>
            </p:cNvSpPr>
            <p:nvPr/>
          </p:nvSpPr>
          <p:spPr bwMode="gray">
            <a:xfrm>
              <a:off x="1925" y="1123"/>
              <a:ext cx="1774" cy="365"/>
            </a:xfrm>
            <a:prstGeom prst="can">
              <a:avLst>
                <a:gd name="adj" fmla="val 27866"/>
              </a:avLst>
            </a:prstGeom>
            <a:gradFill rotWithShape="1">
              <a:gsLst>
                <a:gs pos="0">
                  <a:srgbClr val="5BAE4A">
                    <a:gamma/>
                    <a:shade val="46275"/>
                    <a:invGamma/>
                  </a:srgbClr>
                </a:gs>
                <a:gs pos="50000">
                  <a:srgbClr val="5BAE4A"/>
                </a:gs>
                <a:gs pos="100000">
                  <a:srgbClr val="5BAE4A">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46"/>
            <p:cNvSpPr txBox="1">
              <a:spLocks noChangeArrowheads="1"/>
            </p:cNvSpPr>
            <p:nvPr/>
          </p:nvSpPr>
          <p:spPr bwMode="gray">
            <a:xfrm>
              <a:off x="2058" y="1166"/>
              <a:ext cx="1586" cy="351"/>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800" b="1" dirty="0">
                  <a:solidFill>
                    <a:srgbClr val="FFFFFF"/>
                  </a:solidFill>
                </a:rPr>
                <a:t>生物神经元</a:t>
              </a:r>
            </a:p>
          </p:txBody>
        </p:sp>
      </p:grpSp>
      <p:grpSp>
        <p:nvGrpSpPr>
          <p:cNvPr id="13" name="Group 47"/>
          <p:cNvGrpSpPr>
            <a:grpSpLocks/>
          </p:cNvGrpSpPr>
          <p:nvPr/>
        </p:nvGrpSpPr>
        <p:grpSpPr bwMode="auto">
          <a:xfrm>
            <a:off x="2037123" y="5250173"/>
            <a:ext cx="2421616" cy="627099"/>
            <a:chOff x="1969" y="3331"/>
            <a:chExt cx="1774" cy="408"/>
          </a:xfrm>
        </p:grpSpPr>
        <p:sp>
          <p:nvSpPr>
            <p:cNvPr id="14" name="AutoShape 48"/>
            <p:cNvSpPr>
              <a:spLocks noChangeArrowheads="1"/>
            </p:cNvSpPr>
            <p:nvPr/>
          </p:nvSpPr>
          <p:spPr bwMode="gray">
            <a:xfrm>
              <a:off x="1969" y="3331"/>
              <a:ext cx="1774" cy="365"/>
            </a:xfrm>
            <a:prstGeom prst="can">
              <a:avLst>
                <a:gd name="adj" fmla="val 32032"/>
              </a:avLst>
            </a:prstGeom>
            <a:gradFill rotWithShape="1">
              <a:gsLst>
                <a:gs pos="0">
                  <a:srgbClr val="268CD2">
                    <a:gamma/>
                    <a:shade val="46275"/>
                    <a:invGamma/>
                  </a:srgbClr>
                </a:gs>
                <a:gs pos="50000">
                  <a:srgbClr val="268CD2"/>
                </a:gs>
                <a:gs pos="100000">
                  <a:srgbClr val="268CD2">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49"/>
            <p:cNvSpPr txBox="1">
              <a:spLocks noChangeArrowheads="1"/>
            </p:cNvSpPr>
            <p:nvPr/>
          </p:nvSpPr>
          <p:spPr bwMode="gray">
            <a:xfrm>
              <a:off x="2122" y="3399"/>
              <a:ext cx="1456" cy="340"/>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800" b="1" dirty="0">
                  <a:solidFill>
                    <a:srgbClr val="FFFFFF"/>
                  </a:solidFill>
                </a:rPr>
                <a:t>人工神经元</a:t>
              </a:r>
            </a:p>
          </p:txBody>
        </p:sp>
      </p:grpSp>
      <p:grpSp>
        <p:nvGrpSpPr>
          <p:cNvPr id="16" name="Group 50"/>
          <p:cNvGrpSpPr>
            <a:grpSpLocks/>
          </p:cNvGrpSpPr>
          <p:nvPr/>
        </p:nvGrpSpPr>
        <p:grpSpPr bwMode="auto">
          <a:xfrm>
            <a:off x="2141563" y="3202567"/>
            <a:ext cx="2296216" cy="2093956"/>
            <a:chOff x="1969" y="1565"/>
            <a:chExt cx="1774" cy="1716"/>
          </a:xfrm>
        </p:grpSpPr>
        <p:sp>
          <p:nvSpPr>
            <p:cNvPr id="17" name="AutoShape 51"/>
            <p:cNvSpPr>
              <a:spLocks noChangeArrowheads="1"/>
            </p:cNvSpPr>
            <p:nvPr/>
          </p:nvSpPr>
          <p:spPr bwMode="gray">
            <a:xfrm>
              <a:off x="2336" y="2967"/>
              <a:ext cx="1022" cy="314"/>
            </a:xfrm>
            <a:prstGeom prst="downArrow">
              <a:avLst>
                <a:gd name="adj1" fmla="val 67093"/>
                <a:gd name="adj2" fmla="val 64051"/>
              </a:avLst>
            </a:prstGeom>
            <a:gradFill rotWithShape="1">
              <a:gsLst>
                <a:gs pos="0">
                  <a:srgbClr val="B2B2B2">
                    <a:gamma/>
                    <a:tint val="63529"/>
                    <a:invGamma/>
                    <a:alpha val="12000"/>
                  </a:srgbClr>
                </a:gs>
                <a:gs pos="100000">
                  <a:srgbClr val="B2B2B2"/>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 name="Group 52"/>
            <p:cNvGrpSpPr>
              <a:grpSpLocks/>
            </p:cNvGrpSpPr>
            <p:nvPr/>
          </p:nvGrpSpPr>
          <p:grpSpPr bwMode="auto">
            <a:xfrm>
              <a:off x="1969" y="1565"/>
              <a:ext cx="1774" cy="1459"/>
              <a:chOff x="1969" y="1553"/>
              <a:chExt cx="1774" cy="1459"/>
            </a:xfrm>
          </p:grpSpPr>
          <p:sp>
            <p:nvSpPr>
              <p:cNvPr id="19" name="AutoShape 53"/>
              <p:cNvSpPr>
                <a:spLocks noChangeArrowheads="1"/>
              </p:cNvSpPr>
              <p:nvPr/>
            </p:nvSpPr>
            <p:spPr bwMode="gray">
              <a:xfrm>
                <a:off x="2368" y="2556"/>
                <a:ext cx="976" cy="365"/>
              </a:xfrm>
              <a:prstGeom prst="can">
                <a:avLst>
                  <a:gd name="adj" fmla="val 25000"/>
                </a:avLst>
              </a:prstGeom>
              <a:gradFill rotWithShape="1">
                <a:gsLst>
                  <a:gs pos="0">
                    <a:srgbClr val="D38259">
                      <a:gamma/>
                      <a:shade val="46275"/>
                      <a:invGamma/>
                    </a:srgbClr>
                  </a:gs>
                  <a:gs pos="50000">
                    <a:srgbClr val="D38259"/>
                  </a:gs>
                  <a:gs pos="100000">
                    <a:srgbClr val="D38259">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54"/>
              <p:cNvSpPr>
                <a:spLocks noChangeArrowheads="1"/>
              </p:cNvSpPr>
              <p:nvPr/>
            </p:nvSpPr>
            <p:spPr bwMode="gray">
              <a:xfrm>
                <a:off x="2368" y="2237"/>
                <a:ext cx="976" cy="365"/>
              </a:xfrm>
              <a:prstGeom prst="can">
                <a:avLst>
                  <a:gd name="adj" fmla="val 25000"/>
                </a:avLst>
              </a:prstGeom>
              <a:gradFill rotWithShape="1">
                <a:gsLst>
                  <a:gs pos="0">
                    <a:srgbClr val="D38259">
                      <a:gamma/>
                      <a:shade val="46275"/>
                      <a:invGamma/>
                    </a:srgbClr>
                  </a:gs>
                  <a:gs pos="50000">
                    <a:srgbClr val="D38259"/>
                  </a:gs>
                  <a:gs pos="100000">
                    <a:srgbClr val="D38259">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utoShape 55"/>
              <p:cNvSpPr>
                <a:spLocks noChangeArrowheads="1"/>
              </p:cNvSpPr>
              <p:nvPr/>
            </p:nvSpPr>
            <p:spPr bwMode="gray">
              <a:xfrm>
                <a:off x="2368" y="1918"/>
                <a:ext cx="976" cy="365"/>
              </a:xfrm>
              <a:prstGeom prst="can">
                <a:avLst>
                  <a:gd name="adj" fmla="val 25000"/>
                </a:avLst>
              </a:prstGeom>
              <a:gradFill rotWithShape="1">
                <a:gsLst>
                  <a:gs pos="0">
                    <a:srgbClr val="D38259">
                      <a:gamma/>
                      <a:shade val="46275"/>
                      <a:invGamma/>
                    </a:srgbClr>
                  </a:gs>
                  <a:gs pos="50000">
                    <a:srgbClr val="D38259"/>
                  </a:gs>
                  <a:gs pos="100000">
                    <a:srgbClr val="D38259">
                      <a:gamma/>
                      <a:shade val="46275"/>
                      <a:invGamma/>
                    </a:srgbClr>
                  </a:gs>
                </a:gsLst>
                <a:lin ang="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56"/>
              <p:cNvSpPr txBox="1">
                <a:spLocks noChangeArrowheads="1"/>
              </p:cNvSpPr>
              <p:nvPr/>
            </p:nvSpPr>
            <p:spPr bwMode="gray">
              <a:xfrm>
                <a:off x="2794" y="2366"/>
                <a:ext cx="143" cy="303"/>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endParaRPr lang="en-US" altLang="zh-CN" b="1">
                  <a:solidFill>
                    <a:schemeClr val="bg1"/>
                  </a:solidFill>
                  <a:ea typeface="宋体" panose="02010600030101010101" pitchFamily="2" charset="-122"/>
                </a:endParaRPr>
              </a:p>
            </p:txBody>
          </p:sp>
          <p:sp>
            <p:nvSpPr>
              <p:cNvPr id="23" name="AutoShape 57"/>
              <p:cNvSpPr>
                <a:spLocks noChangeArrowheads="1"/>
              </p:cNvSpPr>
              <p:nvPr/>
            </p:nvSpPr>
            <p:spPr bwMode="gray">
              <a:xfrm>
                <a:off x="1969" y="1781"/>
                <a:ext cx="310" cy="1231"/>
              </a:xfrm>
              <a:prstGeom prst="leftArrow">
                <a:avLst>
                  <a:gd name="adj1" fmla="val 65583"/>
                  <a:gd name="adj2" fmla="val 65181"/>
                </a:avLst>
              </a:prstGeom>
              <a:gradFill rotWithShape="1">
                <a:gsLst>
                  <a:gs pos="0">
                    <a:srgbClr val="B2B2B2"/>
                  </a:gs>
                  <a:gs pos="100000">
                    <a:srgbClr val="B2B2B2">
                      <a:gamma/>
                      <a:shade val="46275"/>
                      <a:invGamma/>
                      <a:alpha val="12000"/>
                    </a:srgb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AutoShape 58"/>
              <p:cNvSpPr>
                <a:spLocks noChangeArrowheads="1"/>
              </p:cNvSpPr>
              <p:nvPr/>
            </p:nvSpPr>
            <p:spPr bwMode="gray">
              <a:xfrm>
                <a:off x="3434" y="1781"/>
                <a:ext cx="309" cy="1231"/>
              </a:xfrm>
              <a:prstGeom prst="rightArrow">
                <a:avLst>
                  <a:gd name="adj1" fmla="val 67750"/>
                  <a:gd name="adj2" fmla="val 66167"/>
                </a:avLst>
              </a:prstGeom>
              <a:gradFill rotWithShape="1">
                <a:gsLst>
                  <a:gs pos="0">
                    <a:srgbClr val="B2B2B2">
                      <a:gamma/>
                      <a:shade val="46275"/>
                      <a:invGamma/>
                      <a:alpha val="12000"/>
                    </a:srgbClr>
                  </a:gs>
                  <a:gs pos="100000">
                    <a:srgbClr val="B2B2B2"/>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59"/>
              <p:cNvSpPr>
                <a:spLocks noChangeArrowheads="1"/>
              </p:cNvSpPr>
              <p:nvPr/>
            </p:nvSpPr>
            <p:spPr bwMode="gray">
              <a:xfrm>
                <a:off x="2349" y="1553"/>
                <a:ext cx="1020" cy="319"/>
              </a:xfrm>
              <a:prstGeom prst="upArrow">
                <a:avLst>
                  <a:gd name="adj1" fmla="val 68380"/>
                  <a:gd name="adj2" fmla="val 70833"/>
                </a:avLst>
              </a:prstGeom>
              <a:gradFill rotWithShape="1">
                <a:gsLst>
                  <a:gs pos="0">
                    <a:srgbClr val="B2B2B2"/>
                  </a:gs>
                  <a:gs pos="100000">
                    <a:srgbClr val="B2B2B2">
                      <a:gamma/>
                      <a:tint val="63529"/>
                      <a:invGamma/>
                      <a:alpha val="12000"/>
                    </a:srgb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Text Box 60"/>
              <p:cNvSpPr txBox="1">
                <a:spLocks noChangeArrowheads="1"/>
              </p:cNvSpPr>
              <p:nvPr/>
            </p:nvSpPr>
            <p:spPr bwMode="gray">
              <a:xfrm>
                <a:off x="2279" y="2302"/>
                <a:ext cx="1178" cy="404"/>
              </a:xfrm>
              <a:prstGeom prst="rect">
                <a:avLst/>
              </a:prstGeom>
              <a:noFill/>
              <a:ln>
                <a:noFill/>
              </a:ln>
              <a:effectLst/>
              <a:extLst>
                <a:ext uri="{909E8E84-426E-40DD-AFC4-6F175D3DCCD1}">
                  <a14:hiddenFill xmlns:a14="http://schemas.microsoft.com/office/drawing/2010/main">
                    <a:solidFill>
                      <a:srgbClr val="5BAE4A"/>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600" b="1" dirty="0">
                    <a:solidFill>
                      <a:srgbClr val="FFFFFF"/>
                    </a:solidFill>
                  </a:rPr>
                  <a:t>类比关系</a:t>
                </a:r>
                <a:endParaRPr lang="en-US" altLang="zh-CN" sz="2600" b="1" dirty="0">
                  <a:solidFill>
                    <a:srgbClr val="FFFFFF"/>
                  </a:solidFill>
                </a:endParaRPr>
              </a:p>
            </p:txBody>
          </p:sp>
        </p:grpSp>
      </p:grpSp>
      <p:grpSp>
        <p:nvGrpSpPr>
          <p:cNvPr id="27" name="Group 64"/>
          <p:cNvGrpSpPr>
            <a:grpSpLocks/>
          </p:cNvGrpSpPr>
          <p:nvPr/>
        </p:nvGrpSpPr>
        <p:grpSpPr bwMode="auto">
          <a:xfrm>
            <a:off x="4744903" y="3275999"/>
            <a:ext cx="1783145" cy="2209064"/>
            <a:chOff x="576" y="1462"/>
            <a:chExt cx="1336" cy="2440"/>
          </a:xfrm>
        </p:grpSpPr>
        <p:sp>
          <p:nvSpPr>
            <p:cNvPr id="28" name="AutoShape 65"/>
            <p:cNvSpPr>
              <a:spLocks noChangeArrowheads="1"/>
            </p:cNvSpPr>
            <p:nvPr/>
          </p:nvSpPr>
          <p:spPr bwMode="auto">
            <a:xfrm>
              <a:off x="576" y="1462"/>
              <a:ext cx="1336" cy="2024"/>
            </a:xfrm>
            <a:prstGeom prst="roundRect">
              <a:avLst>
                <a:gd name="adj" fmla="val 16667"/>
              </a:avLst>
            </a:prstGeom>
            <a:noFill/>
            <a:ln w="38100">
              <a:solidFill>
                <a:srgbClr val="000000"/>
              </a:solidFill>
              <a:round/>
              <a:headEnd/>
              <a:tailEnd/>
            </a:ln>
            <a:effectLst/>
            <a:extLst>
              <a:ext uri="{909E8E84-426E-40DD-AFC4-6F175D3DCCD1}">
                <a14:hiddenFill xmlns:a14="http://schemas.microsoft.com/office/drawing/2010/main">
                  <a:solidFill>
                    <a:srgbClr val="0D466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en-US">
                <a:latin typeface="Verdana" panose="020B0604030504040204" pitchFamily="34" charset="0"/>
                <a:ea typeface="宋体" panose="02010600030101010101" pitchFamily="2" charset="-122"/>
              </a:endParaRPr>
            </a:p>
          </p:txBody>
        </p:sp>
        <p:sp>
          <p:nvSpPr>
            <p:cNvPr id="29" name="Text Box 66"/>
            <p:cNvSpPr txBox="1">
              <a:spLocks noChangeArrowheads="1"/>
            </p:cNvSpPr>
            <p:nvPr/>
          </p:nvSpPr>
          <p:spPr bwMode="auto">
            <a:xfrm>
              <a:off x="624" y="1590"/>
              <a:ext cx="1248" cy="2312"/>
            </a:xfrm>
            <a:prstGeom prst="rect">
              <a:avLst/>
            </a:prstGeom>
            <a:noFill/>
            <a:ln>
              <a:noFill/>
            </a:ln>
            <a:effectLst/>
            <a:extLst>
              <a:ext uri="{909E8E84-426E-40DD-AFC4-6F175D3DCCD1}">
                <a14:hiddenFill xmlns:a14="http://schemas.microsoft.com/office/drawing/2010/main">
                  <a:gradFill rotWithShape="1">
                    <a:gsLst>
                      <a:gs pos="0">
                        <a:srgbClr val="0D466D"/>
                      </a:gs>
                      <a:gs pos="100000">
                        <a:srgbClr val="0D466D">
                          <a:gamma/>
                          <a:tint val="48627"/>
                          <a:invGamma/>
                        </a:srgbClr>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SzPct val="60000"/>
                <a:buFontTx/>
                <a:buChar char="•"/>
              </a:pPr>
              <a:r>
                <a:rPr lang="zh-CN" altLang="en-US" sz="2600" b="1" dirty="0">
                  <a:solidFill>
                    <a:srgbClr val="3333FF"/>
                  </a:solidFill>
                  <a:effectLst>
                    <a:outerShdw blurRad="38100" dist="38100" dir="2700000" algn="tl">
                      <a:srgbClr val="000000">
                        <a:alpha val="43137"/>
                      </a:srgbClr>
                    </a:outerShdw>
                  </a:effectLst>
                  <a:latin typeface="Verdana" panose="020B0604030504040204" pitchFamily="34" charset="0"/>
                </a:rPr>
                <a:t>输入层</a:t>
              </a:r>
            </a:p>
            <a:p>
              <a:pPr eaLnBrk="0" hangingPunct="0">
                <a:buSzPct val="60000"/>
                <a:buFontTx/>
                <a:buChar char="•"/>
              </a:pPr>
              <a:r>
                <a:rPr lang="zh-CN" altLang="en-US" sz="2600" b="1" dirty="0">
                  <a:solidFill>
                    <a:srgbClr val="3333FF"/>
                  </a:solidFill>
                  <a:effectLst>
                    <a:outerShdw blurRad="38100" dist="38100" dir="2700000" algn="tl">
                      <a:srgbClr val="000000">
                        <a:alpha val="43137"/>
                      </a:srgbClr>
                    </a:outerShdw>
                  </a:effectLst>
                  <a:latin typeface="Verdana" panose="020B0604030504040204" pitchFamily="34" charset="0"/>
                </a:rPr>
                <a:t>加权和</a:t>
              </a:r>
            </a:p>
            <a:p>
              <a:pPr eaLnBrk="0" hangingPunct="0">
                <a:buSzPct val="60000"/>
                <a:buFontTx/>
                <a:buChar char="•"/>
              </a:pPr>
              <a:r>
                <a:rPr lang="zh-CN" altLang="en-US" sz="2600" b="1" dirty="0">
                  <a:solidFill>
                    <a:srgbClr val="3333FF"/>
                  </a:solidFill>
                  <a:effectLst>
                    <a:outerShdw blurRad="38100" dist="38100" dir="2700000" algn="tl">
                      <a:srgbClr val="000000">
                        <a:alpha val="43137"/>
                      </a:srgbClr>
                    </a:outerShdw>
                  </a:effectLst>
                  <a:latin typeface="Verdana" panose="020B0604030504040204" pitchFamily="34" charset="0"/>
                </a:rPr>
                <a:t>响应函数</a:t>
              </a:r>
            </a:p>
            <a:p>
              <a:pPr eaLnBrk="0" hangingPunct="0">
                <a:buSzPct val="60000"/>
                <a:buFontTx/>
                <a:buChar char="•"/>
              </a:pPr>
              <a:r>
                <a:rPr lang="zh-CN" altLang="en-US" sz="2600" b="1" dirty="0">
                  <a:solidFill>
                    <a:srgbClr val="3333FF"/>
                  </a:solidFill>
                  <a:effectLst>
                    <a:outerShdw blurRad="38100" dist="38100" dir="2700000" algn="tl">
                      <a:srgbClr val="000000">
                        <a:alpha val="43137"/>
                      </a:srgbClr>
                    </a:outerShdw>
                  </a:effectLst>
                  <a:latin typeface="Verdana" panose="020B0604030504040204" pitchFamily="34" charset="0"/>
                </a:rPr>
                <a:t>输出层</a:t>
              </a:r>
            </a:p>
            <a:p>
              <a:pPr eaLnBrk="0" hangingPunct="0">
                <a:buSzPct val="60000"/>
                <a:buFontTx/>
                <a:buChar char="•"/>
              </a:pPr>
              <a:endParaRPr lang="en-US" altLang="zh-CN" sz="2600" b="1" dirty="0">
                <a:solidFill>
                  <a:srgbClr val="001D3A"/>
                </a:solidFill>
                <a:latin typeface="Verdana" panose="020B0604030504040204" pitchFamily="34" charset="0"/>
              </a:endParaRPr>
            </a:p>
          </p:txBody>
        </p:sp>
      </p:grpSp>
      <p:pic>
        <p:nvPicPr>
          <p:cNvPr id="3" name="Picture 3">
            <a:extLst>
              <a:ext uri="{FF2B5EF4-FFF2-40B4-BE49-F238E27FC236}">
                <a16:creationId xmlns:a16="http://schemas.microsoft.com/office/drawing/2014/main" id="{4BCEFAE8-F9CA-0394-D5B3-552CF210904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9040"/>
          <a:stretch/>
        </p:blipFill>
        <p:spPr bwMode="auto">
          <a:xfrm>
            <a:off x="7159425" y="4685486"/>
            <a:ext cx="4329023" cy="2037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489AE805-6878-2EF8-514A-AE00052E85A9}"/>
              </a:ext>
            </a:extLst>
          </p:cNvPr>
          <p:cNvSpPr>
            <a:spLocks noGrp="1"/>
          </p:cNvSpPr>
          <p:nvPr>
            <p:ph type="sldNum" sz="quarter" idx="11"/>
          </p:nvPr>
        </p:nvSpPr>
        <p:spPr/>
        <p:txBody>
          <a:bodyPr/>
          <a:lstStyle/>
          <a:p>
            <a:pPr>
              <a:defRPr/>
            </a:pPr>
            <a:fld id="{E0FB5469-1AEB-496D-971A-66705BF2F73C}" type="slidenum">
              <a:rPr lang="en-US" altLang="zh-CN" smtClean="0"/>
              <a:pPr>
                <a:defRPr/>
              </a:pPr>
              <a:t>35</a:t>
            </a:fld>
            <a:endParaRPr lang="en-US" altLang="zh-CN"/>
          </a:p>
        </p:txBody>
      </p:sp>
    </p:spTree>
    <p:extLst>
      <p:ext uri="{BB962C8B-B14F-4D97-AF65-F5344CB8AC3E}">
        <p14:creationId xmlns:p14="http://schemas.microsoft.com/office/powerpoint/2010/main" val="11828574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93354"/>
                                        </p:tgtEl>
                                        <p:attrNameLst>
                                          <p:attrName>style.visibility</p:attrName>
                                        </p:attrNameLst>
                                      </p:cBhvr>
                                      <p:to>
                                        <p:strVal val="visible"/>
                                      </p:to>
                                    </p:set>
                                    <p:anim calcmode="lin" valueType="num">
                                      <p:cBhvr>
                                        <p:cTn id="7" dur="1000" fill="hold"/>
                                        <p:tgtEl>
                                          <p:spTgt spid="93354"/>
                                        </p:tgtEl>
                                        <p:attrNameLst>
                                          <p:attrName>ppt_w</p:attrName>
                                        </p:attrNameLst>
                                      </p:cBhvr>
                                      <p:tavLst>
                                        <p:tav tm="0">
                                          <p:val>
                                            <p:fltVal val="0"/>
                                          </p:val>
                                        </p:tav>
                                        <p:tav tm="100000">
                                          <p:val>
                                            <p:strVal val="#ppt_w"/>
                                          </p:val>
                                        </p:tav>
                                      </p:tavLst>
                                    </p:anim>
                                    <p:anim calcmode="lin" valueType="num">
                                      <p:cBhvr>
                                        <p:cTn id="8" dur="1000" fill="hold"/>
                                        <p:tgtEl>
                                          <p:spTgt spid="93354"/>
                                        </p:tgtEl>
                                        <p:attrNameLst>
                                          <p:attrName>ppt_h</p:attrName>
                                        </p:attrNameLst>
                                      </p:cBhvr>
                                      <p:tavLst>
                                        <p:tav tm="0">
                                          <p:val>
                                            <p:fltVal val="0"/>
                                          </p:val>
                                        </p:tav>
                                        <p:tav tm="100000">
                                          <p:val>
                                            <p:strVal val="#ppt_h"/>
                                          </p:val>
                                        </p:tav>
                                      </p:tavLst>
                                    </p:anim>
                                    <p:anim calcmode="lin" valueType="num">
                                      <p:cBhvr>
                                        <p:cTn id="9" dur="1000" fill="hold"/>
                                        <p:tgtEl>
                                          <p:spTgt spid="9335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33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1"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0-#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0-#ppt_w/2"/>
                                          </p:val>
                                        </p:tav>
                                        <p:tav tm="100000">
                                          <p:val>
                                            <p:strVal val="#ppt_x"/>
                                          </p:val>
                                        </p:tav>
                                      </p:tavLst>
                                    </p:anim>
                                    <p:anim calcmode="lin" valueType="num">
                                      <p:cBhvr additive="base">
                                        <p:cTn id="31"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additive="base">
                                        <p:cTn id="36" dur="500" fill="hold"/>
                                        <p:tgtEl>
                                          <p:spTgt spid="27"/>
                                        </p:tgtEl>
                                        <p:attrNameLst>
                                          <p:attrName>ppt_x</p:attrName>
                                        </p:attrNameLst>
                                      </p:cBhvr>
                                      <p:tavLst>
                                        <p:tav tm="0">
                                          <p:val>
                                            <p:strVal val="1+#ppt_w/2"/>
                                          </p:val>
                                        </p:tav>
                                        <p:tav tm="100000">
                                          <p:val>
                                            <p:strVal val="#ppt_x"/>
                                          </p:val>
                                        </p:tav>
                                      </p:tavLst>
                                    </p:anim>
                                    <p:anim calcmode="lin" valueType="num">
                                      <p:cBhvr additive="base">
                                        <p:cTn id="37"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981200" y="113184"/>
            <a:ext cx="8229600" cy="1371600"/>
          </a:xfrm>
        </p:spPr>
        <p:txBody>
          <a:bodyPr/>
          <a:lstStyle/>
          <a:p>
            <a:pPr algn="ctr"/>
            <a:r>
              <a:rPr lang="zh-CN" altLang="en-US" sz="4000" dirty="0">
                <a:solidFill>
                  <a:srgbClr val="008000"/>
                </a:solidFill>
                <a:latin typeface="黑体" pitchFamily="49" charset="-122"/>
                <a:ea typeface="黑体" pitchFamily="49" charset="-122"/>
              </a:rPr>
              <a:t>人工神经元模型</a:t>
            </a:r>
            <a:r>
              <a:rPr lang="zh-CN" altLang="en-US" sz="4000" dirty="0"/>
              <a:t> </a:t>
            </a:r>
            <a:endParaRPr lang="zh-CN" altLang="en-US" sz="3800" dirty="0">
              <a:solidFill>
                <a:srgbClr val="FF0000"/>
              </a:solidFill>
              <a:effectLst>
                <a:outerShdw blurRad="38100" dist="38100" dir="2700000" algn="tl">
                  <a:srgbClr val="C0C0C0"/>
                </a:outerShdw>
              </a:effectLst>
              <a:latin typeface="Times New Roman" panose="02020603050405020304" pitchFamily="18" charset="0"/>
            </a:endParaRPr>
          </a:p>
        </p:txBody>
      </p:sp>
      <p:sp>
        <p:nvSpPr>
          <p:cNvPr id="95267" name="AutoShape 35"/>
          <p:cNvSpPr>
            <a:spLocks noChangeArrowheads="1"/>
          </p:cNvSpPr>
          <p:nvPr/>
        </p:nvSpPr>
        <p:spPr bwMode="auto">
          <a:xfrm>
            <a:off x="1774825" y="2881090"/>
            <a:ext cx="2088386" cy="1123975"/>
          </a:xfrm>
          <a:prstGeom prst="roundRect">
            <a:avLst>
              <a:gd name="adj" fmla="val 13745"/>
            </a:avLst>
          </a:prstGeom>
          <a:noFill/>
          <a:ln w="38100">
            <a:solidFill>
              <a:schemeClr val="tx1"/>
            </a:solidFill>
            <a:round/>
            <a:headEnd/>
            <a:tailEnd/>
          </a:ln>
          <a:effectLst/>
          <a:extLst>
            <a:ext uri="{909E8E84-426E-40DD-AFC4-6F175D3DCCD1}">
              <a14:hiddenFill xmlns:a14="http://schemas.microsoft.com/office/drawing/2010/main">
                <a:solidFill>
                  <a:srgbClr val="C0C0C0">
                    <a:alpha val="31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2000" b="1" dirty="0"/>
              <a:t>模拟神经元的树突接收输入信号</a:t>
            </a:r>
            <a:endParaRPr lang="en-US" altLang="zh-CN" sz="2000" b="1" dirty="0">
              <a:latin typeface="Verdana" panose="020B0604030504040204" pitchFamily="34" charset="0"/>
            </a:endParaRPr>
          </a:p>
        </p:txBody>
      </p:sp>
      <p:sp>
        <p:nvSpPr>
          <p:cNvPr id="95268" name="AutoShape 36"/>
          <p:cNvSpPr>
            <a:spLocks noChangeArrowheads="1"/>
          </p:cNvSpPr>
          <p:nvPr/>
        </p:nvSpPr>
        <p:spPr bwMode="gray">
          <a:xfrm>
            <a:off x="3673475" y="1769839"/>
            <a:ext cx="368300" cy="406400"/>
          </a:xfrm>
          <a:prstGeom prst="chevron">
            <a:avLst>
              <a:gd name="adj" fmla="val 52514"/>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b="1">
              <a:solidFill>
                <a:srgbClr val="FF0000"/>
              </a:solidFill>
              <a:effectLst>
                <a:outerShdw blurRad="38100" dist="38100" dir="2700000" algn="tl">
                  <a:srgbClr val="000000">
                    <a:alpha val="43137"/>
                  </a:srgbClr>
                </a:outerShdw>
              </a:effectLst>
            </a:endParaRPr>
          </a:p>
        </p:txBody>
      </p:sp>
      <p:sp>
        <p:nvSpPr>
          <p:cNvPr id="95269" name="AutoShape 37"/>
          <p:cNvSpPr>
            <a:spLocks noChangeArrowheads="1"/>
          </p:cNvSpPr>
          <p:nvPr/>
        </p:nvSpPr>
        <p:spPr bwMode="gray">
          <a:xfrm>
            <a:off x="5942013" y="1769839"/>
            <a:ext cx="368300" cy="406400"/>
          </a:xfrm>
          <a:prstGeom prst="chevron">
            <a:avLst>
              <a:gd name="adj" fmla="val 52514"/>
            </a:avLst>
          </a:prstGeom>
          <a:solidFill>
            <a:schemeClr val="hlink"/>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b="1">
              <a:solidFill>
                <a:srgbClr val="FF0000"/>
              </a:solidFill>
              <a:effectLst>
                <a:outerShdw blurRad="38100" dist="38100" dir="2700000" algn="tl">
                  <a:srgbClr val="000000">
                    <a:alpha val="43137"/>
                  </a:srgbClr>
                </a:outerShdw>
              </a:effectLst>
            </a:endParaRPr>
          </a:p>
        </p:txBody>
      </p:sp>
      <p:sp>
        <p:nvSpPr>
          <p:cNvPr id="95270" name="Oval 38"/>
          <p:cNvSpPr>
            <a:spLocks noChangeArrowheads="1"/>
          </p:cNvSpPr>
          <p:nvPr/>
        </p:nvSpPr>
        <p:spPr bwMode="gray">
          <a:xfrm>
            <a:off x="6502400" y="1713363"/>
            <a:ext cx="259766" cy="51935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5271" name="Oval 39"/>
          <p:cNvSpPr>
            <a:spLocks noChangeArrowheads="1"/>
          </p:cNvSpPr>
          <p:nvPr/>
        </p:nvSpPr>
        <p:spPr bwMode="gray">
          <a:xfrm>
            <a:off x="6502400" y="1713363"/>
            <a:ext cx="1570038" cy="519351"/>
          </a:xfrm>
          <a:prstGeom prst="ellipse">
            <a:avLst/>
          </a:prstGeom>
          <a:gradFill rotWithShape="1">
            <a:gsLst>
              <a:gs pos="0">
                <a:schemeClr val="hlink">
                  <a:alpha val="32001"/>
                </a:schemeClr>
              </a:gs>
              <a:gs pos="100000">
                <a:schemeClr val="hlink">
                  <a:gamma/>
                  <a:shade val="0"/>
                  <a:invGamma/>
                  <a:alpha val="89999"/>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72" name="Oval 40"/>
          <p:cNvSpPr>
            <a:spLocks noChangeArrowheads="1"/>
          </p:cNvSpPr>
          <p:nvPr/>
        </p:nvSpPr>
        <p:spPr bwMode="gray">
          <a:xfrm>
            <a:off x="6605588" y="1714157"/>
            <a:ext cx="1363662" cy="51935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73" name="Oval 41"/>
          <p:cNvSpPr>
            <a:spLocks noChangeArrowheads="1"/>
          </p:cNvSpPr>
          <p:nvPr/>
        </p:nvSpPr>
        <p:spPr bwMode="gray">
          <a:xfrm>
            <a:off x="6627813" y="1721302"/>
            <a:ext cx="1365250" cy="519351"/>
          </a:xfrm>
          <a:prstGeom prst="ellipse">
            <a:avLst/>
          </a:prstGeom>
          <a:gradFill rotWithShape="1">
            <a:gsLst>
              <a:gs pos="0">
                <a:schemeClr val="hlink">
                  <a:gamma/>
                  <a:shade val="63529"/>
                  <a:invGamma/>
                </a:schemeClr>
              </a:gs>
              <a:gs pos="100000">
                <a:schemeClr val="hlink">
                  <a:alpha val="0"/>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74" name="Oval 42"/>
          <p:cNvSpPr>
            <a:spLocks noChangeArrowheads="1"/>
          </p:cNvSpPr>
          <p:nvPr/>
        </p:nvSpPr>
        <p:spPr bwMode="gray">
          <a:xfrm>
            <a:off x="6678613" y="1712571"/>
            <a:ext cx="1230312" cy="519351"/>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75" name="Oval 43"/>
          <p:cNvSpPr>
            <a:spLocks noChangeArrowheads="1"/>
          </p:cNvSpPr>
          <p:nvPr/>
        </p:nvSpPr>
        <p:spPr bwMode="gray">
          <a:xfrm>
            <a:off x="1963739" y="1709396"/>
            <a:ext cx="259766" cy="519351"/>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5276" name="Oval 44"/>
          <p:cNvSpPr>
            <a:spLocks noChangeArrowheads="1"/>
          </p:cNvSpPr>
          <p:nvPr/>
        </p:nvSpPr>
        <p:spPr bwMode="gray">
          <a:xfrm flipH="1">
            <a:off x="1881190" y="1709396"/>
            <a:ext cx="82549" cy="519351"/>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square" anchor="ctr">
            <a:spAutoFit/>
          </a:bodyPr>
          <a:lstStyle/>
          <a:p>
            <a:endParaRPr lang="zh-CN" altLang="en-US"/>
          </a:p>
        </p:txBody>
      </p:sp>
      <p:sp>
        <p:nvSpPr>
          <p:cNvPr id="95277" name="Oval 45"/>
          <p:cNvSpPr>
            <a:spLocks noChangeArrowheads="1"/>
          </p:cNvSpPr>
          <p:nvPr/>
        </p:nvSpPr>
        <p:spPr bwMode="gray">
          <a:xfrm>
            <a:off x="2066926" y="1708602"/>
            <a:ext cx="1363663" cy="519351"/>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78" name="Oval 46"/>
          <p:cNvSpPr>
            <a:spLocks noChangeArrowheads="1"/>
          </p:cNvSpPr>
          <p:nvPr/>
        </p:nvSpPr>
        <p:spPr bwMode="gray">
          <a:xfrm>
            <a:off x="2068513" y="1710982"/>
            <a:ext cx="1363662" cy="519351"/>
          </a:xfrm>
          <a:prstGeom prst="ellipse">
            <a:avLst/>
          </a:prstGeom>
          <a:gradFill rotWithShape="1">
            <a:gsLst>
              <a:gs pos="0">
                <a:schemeClr val="folHlink">
                  <a:gamma/>
                  <a:shade val="63529"/>
                  <a:invGamma/>
                </a:schemeClr>
              </a:gs>
              <a:gs pos="100000">
                <a:schemeClr val="folHlink">
                  <a:alpha val="0"/>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79" name="Oval 47"/>
          <p:cNvSpPr>
            <a:spLocks noChangeArrowheads="1"/>
          </p:cNvSpPr>
          <p:nvPr/>
        </p:nvSpPr>
        <p:spPr bwMode="gray">
          <a:xfrm>
            <a:off x="2135189" y="1709396"/>
            <a:ext cx="1228725" cy="519351"/>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nvGrpSpPr>
          <p:cNvPr id="95280" name="Group 48"/>
          <p:cNvGrpSpPr>
            <a:grpSpLocks/>
          </p:cNvGrpSpPr>
          <p:nvPr/>
        </p:nvGrpSpPr>
        <p:grpSpPr bwMode="auto">
          <a:xfrm>
            <a:off x="2154239" y="1387252"/>
            <a:ext cx="1189037" cy="1160462"/>
            <a:chOff x="4166" y="1706"/>
            <a:chExt cx="1252" cy="1252"/>
          </a:xfrm>
        </p:grpSpPr>
        <p:sp>
          <p:nvSpPr>
            <p:cNvPr id="95281" name="Oval 49"/>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82" name="Oval 50"/>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83" name="Oval 51"/>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84" name="Oval 52"/>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95285" name="Oval 53"/>
          <p:cNvSpPr>
            <a:spLocks noChangeArrowheads="1"/>
          </p:cNvSpPr>
          <p:nvPr/>
        </p:nvSpPr>
        <p:spPr bwMode="gray">
          <a:xfrm>
            <a:off x="4233864" y="1713363"/>
            <a:ext cx="259766" cy="519351"/>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5286" name="Oval 54"/>
          <p:cNvSpPr>
            <a:spLocks noChangeArrowheads="1"/>
          </p:cNvSpPr>
          <p:nvPr/>
        </p:nvSpPr>
        <p:spPr bwMode="gray">
          <a:xfrm>
            <a:off x="4233864" y="1713363"/>
            <a:ext cx="259766" cy="519351"/>
          </a:xfrm>
          <a:prstGeom prst="ellipse">
            <a:avLst/>
          </a:prstGeom>
          <a:gradFill rotWithShape="1">
            <a:gsLst>
              <a:gs pos="0">
                <a:schemeClr val="accent1">
                  <a:alpha val="32001"/>
                </a:schemeClr>
              </a:gs>
              <a:gs pos="100000">
                <a:schemeClr val="accent1">
                  <a:gamma/>
                  <a:shade val="46275"/>
                  <a:invGamma/>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wrap="none" anchor="ctr">
            <a:spAutoFit/>
          </a:bodyPr>
          <a:lstStyle/>
          <a:p>
            <a:endParaRPr lang="zh-CN" altLang="en-US"/>
          </a:p>
        </p:txBody>
      </p:sp>
      <p:sp>
        <p:nvSpPr>
          <p:cNvPr id="95287" name="Oval 55"/>
          <p:cNvSpPr>
            <a:spLocks noChangeArrowheads="1"/>
          </p:cNvSpPr>
          <p:nvPr/>
        </p:nvSpPr>
        <p:spPr bwMode="gray">
          <a:xfrm>
            <a:off x="4337051" y="1714157"/>
            <a:ext cx="1363663" cy="519351"/>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88" name="Oval 56"/>
          <p:cNvSpPr>
            <a:spLocks noChangeArrowheads="1"/>
          </p:cNvSpPr>
          <p:nvPr/>
        </p:nvSpPr>
        <p:spPr bwMode="gray">
          <a:xfrm>
            <a:off x="4338638" y="1715746"/>
            <a:ext cx="1363662" cy="519351"/>
          </a:xfrm>
          <a:prstGeom prst="ellipse">
            <a:avLst/>
          </a:prstGeom>
          <a:gradFill rotWithShape="1">
            <a:gsLst>
              <a:gs pos="0">
                <a:schemeClr val="accent1">
                  <a:gamma/>
                  <a:shade val="63529"/>
                  <a:invGamma/>
                </a:schemeClr>
              </a:gs>
              <a:gs pos="100000">
                <a:schemeClr val="accent1">
                  <a:alpha val="0"/>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289" name="Oval 57"/>
          <p:cNvSpPr>
            <a:spLocks noChangeArrowheads="1"/>
          </p:cNvSpPr>
          <p:nvPr/>
        </p:nvSpPr>
        <p:spPr bwMode="gray">
          <a:xfrm>
            <a:off x="4403726" y="1712571"/>
            <a:ext cx="1228725" cy="519351"/>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nvGrpSpPr>
          <p:cNvPr id="95290" name="Group 58"/>
          <p:cNvGrpSpPr>
            <a:grpSpLocks/>
          </p:cNvGrpSpPr>
          <p:nvPr/>
        </p:nvGrpSpPr>
        <p:grpSpPr bwMode="auto">
          <a:xfrm>
            <a:off x="4424364" y="1387252"/>
            <a:ext cx="1189037" cy="1160462"/>
            <a:chOff x="4166" y="1706"/>
            <a:chExt cx="1252" cy="1252"/>
          </a:xfrm>
        </p:grpSpPr>
        <p:sp>
          <p:nvSpPr>
            <p:cNvPr id="95291" name="Oval 59"/>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92" name="Oval 60"/>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93" name="Oval 61"/>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94" name="Oval 62"/>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95295" name="Group 63"/>
          <p:cNvGrpSpPr>
            <a:grpSpLocks/>
          </p:cNvGrpSpPr>
          <p:nvPr/>
        </p:nvGrpSpPr>
        <p:grpSpPr bwMode="auto">
          <a:xfrm>
            <a:off x="6700839" y="1387252"/>
            <a:ext cx="1190625" cy="1160462"/>
            <a:chOff x="4166" y="1706"/>
            <a:chExt cx="1252" cy="1252"/>
          </a:xfrm>
        </p:grpSpPr>
        <p:sp>
          <p:nvSpPr>
            <p:cNvPr id="95296" name="Oval 64"/>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97" name="Oval 65"/>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98" name="Oval 66"/>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299" name="Oval 67"/>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95300" name="Text Box 68"/>
          <p:cNvSpPr txBox="1">
            <a:spLocks noChangeArrowheads="1"/>
          </p:cNvSpPr>
          <p:nvPr/>
        </p:nvSpPr>
        <p:spPr bwMode="gray">
          <a:xfrm>
            <a:off x="2200316" y="1750790"/>
            <a:ext cx="11079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dirty="0">
                <a:solidFill>
                  <a:srgbClr val="FF0000"/>
                </a:solidFill>
                <a:effectLst>
                  <a:outerShdw blurRad="38100" dist="38100" dir="2700000" algn="tl">
                    <a:srgbClr val="000000">
                      <a:alpha val="43137"/>
                    </a:srgbClr>
                  </a:outerShdw>
                </a:effectLst>
              </a:rPr>
              <a:t>输入层</a:t>
            </a:r>
            <a:endParaRPr lang="en-US" altLang="zh-CN" sz="2400" b="1" dirty="0">
              <a:solidFill>
                <a:srgbClr val="FF0000"/>
              </a:solidFill>
              <a:effectLst>
                <a:outerShdw blurRad="38100" dist="38100" dir="2700000" algn="tl">
                  <a:srgbClr val="000000">
                    <a:alpha val="43137"/>
                  </a:srgbClr>
                </a:outerShdw>
              </a:effectLst>
            </a:endParaRPr>
          </a:p>
        </p:txBody>
      </p:sp>
      <p:sp>
        <p:nvSpPr>
          <p:cNvPr id="95301" name="Text Box 69"/>
          <p:cNvSpPr txBox="1">
            <a:spLocks noChangeArrowheads="1"/>
          </p:cNvSpPr>
          <p:nvPr/>
        </p:nvSpPr>
        <p:spPr bwMode="gray">
          <a:xfrm>
            <a:off x="4475203" y="1750790"/>
            <a:ext cx="11079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dirty="0">
                <a:solidFill>
                  <a:srgbClr val="FF0000"/>
                </a:solidFill>
                <a:effectLst>
                  <a:outerShdw blurRad="38100" dist="38100" dir="2700000" algn="tl">
                    <a:srgbClr val="000000">
                      <a:alpha val="43137"/>
                    </a:srgbClr>
                  </a:outerShdw>
                </a:effectLst>
              </a:rPr>
              <a:t>加权和</a:t>
            </a:r>
            <a:endParaRPr lang="en-US" altLang="zh-CN" sz="2400" b="1" dirty="0">
              <a:solidFill>
                <a:srgbClr val="FF0000"/>
              </a:solidFill>
              <a:effectLst>
                <a:outerShdw blurRad="38100" dist="38100" dir="2700000" algn="tl">
                  <a:srgbClr val="000000">
                    <a:alpha val="43137"/>
                  </a:srgbClr>
                </a:outerShdw>
              </a:effectLst>
            </a:endParaRPr>
          </a:p>
        </p:txBody>
      </p:sp>
      <p:sp>
        <p:nvSpPr>
          <p:cNvPr id="95302" name="Text Box 70"/>
          <p:cNvSpPr txBox="1">
            <a:spLocks noChangeArrowheads="1"/>
          </p:cNvSpPr>
          <p:nvPr/>
        </p:nvSpPr>
        <p:spPr bwMode="gray">
          <a:xfrm>
            <a:off x="6589822" y="1750790"/>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dirty="0">
                <a:solidFill>
                  <a:srgbClr val="FF0000"/>
                </a:solidFill>
                <a:effectLst>
                  <a:outerShdw blurRad="38100" dist="38100" dir="2700000" algn="tl">
                    <a:srgbClr val="000000">
                      <a:alpha val="43137"/>
                    </a:srgbClr>
                  </a:outerShdw>
                </a:effectLst>
              </a:rPr>
              <a:t>响应函数</a:t>
            </a:r>
            <a:endParaRPr lang="en-US" altLang="zh-CN" sz="3200" b="1" dirty="0">
              <a:solidFill>
                <a:srgbClr val="FF0000"/>
              </a:solidFill>
              <a:effectLst>
                <a:outerShdw blurRad="38100" dist="38100" dir="2700000" algn="tl">
                  <a:srgbClr val="000000">
                    <a:alpha val="43137"/>
                  </a:srgbClr>
                </a:outerShdw>
              </a:effectLst>
            </a:endParaRPr>
          </a:p>
        </p:txBody>
      </p:sp>
      <p:sp>
        <p:nvSpPr>
          <p:cNvPr id="95303" name="AutoShape 71"/>
          <p:cNvSpPr>
            <a:spLocks noChangeArrowheads="1"/>
          </p:cNvSpPr>
          <p:nvPr/>
        </p:nvSpPr>
        <p:spPr bwMode="gray">
          <a:xfrm>
            <a:off x="8154988" y="1769839"/>
            <a:ext cx="368300" cy="406400"/>
          </a:xfrm>
          <a:prstGeom prst="chevron">
            <a:avLst>
              <a:gd name="adj" fmla="val 52514"/>
            </a:avLst>
          </a:prstGeom>
          <a:solidFill>
            <a:srgbClr val="0000FF"/>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400" b="1">
              <a:solidFill>
                <a:srgbClr val="FF0000"/>
              </a:solidFill>
              <a:effectLst>
                <a:outerShdw blurRad="38100" dist="38100" dir="2700000" algn="tl">
                  <a:srgbClr val="000000">
                    <a:alpha val="43137"/>
                  </a:srgbClr>
                </a:outerShdw>
              </a:effectLst>
            </a:endParaRPr>
          </a:p>
        </p:txBody>
      </p:sp>
      <p:sp>
        <p:nvSpPr>
          <p:cNvPr id="95304" name="Oval 72"/>
          <p:cNvSpPr>
            <a:spLocks noChangeArrowheads="1"/>
          </p:cNvSpPr>
          <p:nvPr/>
        </p:nvSpPr>
        <p:spPr bwMode="gray">
          <a:xfrm>
            <a:off x="8629650" y="1702251"/>
            <a:ext cx="1570038" cy="519351"/>
          </a:xfrm>
          <a:prstGeom prst="ellipse">
            <a:avLst/>
          </a:prstGeom>
          <a:solidFill>
            <a:srgbClr val="0000FF">
              <a:alpha val="32001"/>
            </a:srgbClr>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305" name="Oval 73"/>
          <p:cNvSpPr>
            <a:spLocks noChangeArrowheads="1"/>
          </p:cNvSpPr>
          <p:nvPr/>
        </p:nvSpPr>
        <p:spPr bwMode="gray">
          <a:xfrm>
            <a:off x="8739188" y="1714157"/>
            <a:ext cx="1363662" cy="51935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306" name="Oval 74"/>
          <p:cNvSpPr>
            <a:spLocks noChangeArrowheads="1"/>
          </p:cNvSpPr>
          <p:nvPr/>
        </p:nvSpPr>
        <p:spPr bwMode="gray">
          <a:xfrm>
            <a:off x="8758238" y="1684790"/>
            <a:ext cx="1365250" cy="519351"/>
          </a:xfrm>
          <a:prstGeom prst="ellipse">
            <a:avLst/>
          </a:prstGeom>
          <a:gradFill rotWithShape="1">
            <a:gsLst>
              <a:gs pos="0">
                <a:schemeClr val="hlink">
                  <a:gamma/>
                  <a:shade val="63529"/>
                  <a:invGamma/>
                </a:schemeClr>
              </a:gs>
              <a:gs pos="100000">
                <a:schemeClr val="hlink">
                  <a:alpha val="0"/>
                </a:schemeClr>
              </a:gs>
            </a:gsLst>
            <a:lin ang="2700000" scaled="1"/>
          </a:gra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95307" name="Oval 75"/>
          <p:cNvSpPr>
            <a:spLocks noChangeArrowheads="1"/>
          </p:cNvSpPr>
          <p:nvPr/>
        </p:nvSpPr>
        <p:spPr bwMode="gray">
          <a:xfrm>
            <a:off x="8812213" y="1712571"/>
            <a:ext cx="1230312" cy="519351"/>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grpSp>
        <p:nvGrpSpPr>
          <p:cNvPr id="95308" name="Group 76"/>
          <p:cNvGrpSpPr>
            <a:grpSpLocks/>
          </p:cNvGrpSpPr>
          <p:nvPr/>
        </p:nvGrpSpPr>
        <p:grpSpPr bwMode="auto">
          <a:xfrm>
            <a:off x="8834439" y="1387252"/>
            <a:ext cx="1190625" cy="1160462"/>
            <a:chOff x="4166" y="1706"/>
            <a:chExt cx="1252" cy="1252"/>
          </a:xfrm>
        </p:grpSpPr>
        <p:sp>
          <p:nvSpPr>
            <p:cNvPr id="95309" name="Oval 77"/>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310" name="Oval 78"/>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311" name="Oval 79"/>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5312" name="Oval 80"/>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95313" name="Text Box 81"/>
          <p:cNvSpPr txBox="1">
            <a:spLocks noChangeArrowheads="1"/>
          </p:cNvSpPr>
          <p:nvPr/>
        </p:nvSpPr>
        <p:spPr bwMode="gray">
          <a:xfrm>
            <a:off x="8880516" y="1750790"/>
            <a:ext cx="11079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a:solidFill>
                  <a:srgbClr val="FF0000"/>
                </a:solidFill>
                <a:effectLst>
                  <a:outerShdw blurRad="38100" dist="38100" dir="2700000" algn="tl">
                    <a:srgbClr val="000000">
                      <a:alpha val="43137"/>
                    </a:srgbClr>
                  </a:outerShdw>
                </a:effectLst>
              </a:rPr>
              <a:t>输出层</a:t>
            </a:r>
            <a:endParaRPr lang="en-US" altLang="zh-CN" sz="2400" b="1">
              <a:solidFill>
                <a:srgbClr val="FF0000"/>
              </a:solidFill>
              <a:effectLst>
                <a:outerShdw blurRad="38100" dist="38100" dir="2700000" algn="tl">
                  <a:srgbClr val="000000">
                    <a:alpha val="43137"/>
                  </a:srgbClr>
                </a:outerShdw>
              </a:effectLst>
            </a:endParaRPr>
          </a:p>
        </p:txBody>
      </p:sp>
      <p:sp>
        <p:nvSpPr>
          <p:cNvPr id="95314" name="AutoShape 82"/>
          <p:cNvSpPr>
            <a:spLocks noChangeArrowheads="1"/>
          </p:cNvSpPr>
          <p:nvPr/>
        </p:nvSpPr>
        <p:spPr bwMode="auto">
          <a:xfrm>
            <a:off x="3908425" y="2881090"/>
            <a:ext cx="2249031" cy="1123975"/>
          </a:xfrm>
          <a:prstGeom prst="roundRect">
            <a:avLst>
              <a:gd name="adj" fmla="val 13745"/>
            </a:avLst>
          </a:prstGeom>
          <a:noFill/>
          <a:ln w="38100">
            <a:solidFill>
              <a:schemeClr val="tx1"/>
            </a:solidFill>
            <a:round/>
            <a:headEnd/>
            <a:tailEnd/>
          </a:ln>
          <a:effectLst/>
          <a:extLst>
            <a:ext uri="{909E8E84-426E-40DD-AFC4-6F175D3DCCD1}">
              <a14:hiddenFill xmlns:a14="http://schemas.microsoft.com/office/drawing/2010/main">
                <a:solidFill>
                  <a:srgbClr val="C0C0C0">
                    <a:alpha val="31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zh-CN" sz="2000" b="1">
                <a:latin typeface="Verdana" panose="020B0604030504040204" pitchFamily="34" charset="0"/>
              </a:rPr>
              <a:t>模拟神经元的细胞体加工</a:t>
            </a:r>
            <a:r>
              <a:rPr lang="zh-CN" altLang="en-US" sz="2000" b="1">
                <a:latin typeface="Verdana" panose="020B0604030504040204" pitchFamily="34" charset="0"/>
              </a:rPr>
              <a:t>和</a:t>
            </a:r>
            <a:r>
              <a:rPr lang="zh-CN" altLang="zh-CN" sz="2000" b="1">
                <a:latin typeface="Verdana" panose="020B0604030504040204" pitchFamily="34" charset="0"/>
              </a:rPr>
              <a:t>处理信号</a:t>
            </a:r>
            <a:endParaRPr lang="en-US" altLang="zh-CN" sz="2000" b="1">
              <a:latin typeface="Verdana" panose="020B0604030504040204" pitchFamily="34" charset="0"/>
            </a:endParaRPr>
          </a:p>
        </p:txBody>
      </p:sp>
      <p:sp>
        <p:nvSpPr>
          <p:cNvPr id="95315" name="AutoShape 83"/>
          <p:cNvSpPr>
            <a:spLocks noChangeArrowheads="1"/>
          </p:cNvSpPr>
          <p:nvPr/>
        </p:nvSpPr>
        <p:spPr bwMode="auto">
          <a:xfrm>
            <a:off x="6270625" y="2881090"/>
            <a:ext cx="2008063" cy="1123975"/>
          </a:xfrm>
          <a:prstGeom prst="roundRect">
            <a:avLst>
              <a:gd name="adj" fmla="val 13745"/>
            </a:avLst>
          </a:prstGeom>
          <a:noFill/>
          <a:ln w="38100">
            <a:solidFill>
              <a:schemeClr val="tx1"/>
            </a:solidFill>
            <a:round/>
            <a:headEnd/>
            <a:tailEnd/>
          </a:ln>
          <a:effectLst/>
          <a:extLst>
            <a:ext uri="{909E8E84-426E-40DD-AFC4-6F175D3DCCD1}">
              <a14:hiddenFill xmlns:a14="http://schemas.microsoft.com/office/drawing/2010/main">
                <a:solidFill>
                  <a:srgbClr val="C0C0C0">
                    <a:alpha val="31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zh-CN" sz="2000" b="1" dirty="0">
                <a:latin typeface="Verdana" panose="020B0604030504040204" pitchFamily="34" charset="0"/>
              </a:rPr>
              <a:t>模拟神经元的轴突</a:t>
            </a:r>
            <a:r>
              <a:rPr lang="en-US" altLang="zh-CN" sz="2000" b="1" dirty="0">
                <a:latin typeface="Verdana" panose="020B0604030504040204" pitchFamily="34" charset="0"/>
              </a:rPr>
              <a:t>, </a:t>
            </a:r>
            <a:r>
              <a:rPr lang="zh-CN" altLang="zh-CN" sz="2000" b="1" dirty="0">
                <a:latin typeface="Verdana" panose="020B0604030504040204" pitchFamily="34" charset="0"/>
              </a:rPr>
              <a:t>控制信号的输出</a:t>
            </a:r>
            <a:endParaRPr lang="en-US" altLang="zh-CN" sz="2000" b="1" dirty="0">
              <a:latin typeface="Verdana" panose="020B0604030504040204" pitchFamily="34" charset="0"/>
            </a:endParaRPr>
          </a:p>
        </p:txBody>
      </p:sp>
      <p:sp>
        <p:nvSpPr>
          <p:cNvPr id="95316" name="AutoShape 84"/>
          <p:cNvSpPr>
            <a:spLocks noChangeArrowheads="1"/>
          </p:cNvSpPr>
          <p:nvPr/>
        </p:nvSpPr>
        <p:spPr bwMode="auto">
          <a:xfrm>
            <a:off x="8480425" y="2881090"/>
            <a:ext cx="2008063" cy="1123975"/>
          </a:xfrm>
          <a:prstGeom prst="roundRect">
            <a:avLst>
              <a:gd name="adj" fmla="val 13745"/>
            </a:avLst>
          </a:prstGeom>
          <a:noFill/>
          <a:ln w="38100">
            <a:solidFill>
              <a:schemeClr val="tx1"/>
            </a:solidFill>
            <a:round/>
            <a:headEnd/>
            <a:tailEnd/>
          </a:ln>
          <a:effectLst/>
          <a:extLst>
            <a:ext uri="{909E8E84-426E-40DD-AFC4-6F175D3DCCD1}">
              <a14:hiddenFill xmlns:a14="http://schemas.microsoft.com/office/drawing/2010/main">
                <a:solidFill>
                  <a:srgbClr val="C0C0C0">
                    <a:alpha val="31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zh-CN" sz="2000" b="1" dirty="0">
                <a:latin typeface="Verdana" panose="020B0604030504040204" pitchFamily="34" charset="0"/>
              </a:rPr>
              <a:t>模拟神经元的突触</a:t>
            </a:r>
            <a:r>
              <a:rPr lang="en-US" altLang="zh-CN" sz="2000" b="1" dirty="0">
                <a:latin typeface="Verdana" panose="020B0604030504040204" pitchFamily="34" charset="0"/>
              </a:rPr>
              <a:t>, </a:t>
            </a:r>
            <a:r>
              <a:rPr lang="zh-CN" altLang="zh-CN" sz="2000" b="1" dirty="0">
                <a:latin typeface="Verdana" panose="020B0604030504040204" pitchFamily="34" charset="0"/>
              </a:rPr>
              <a:t>对结果进行输出</a:t>
            </a:r>
            <a:endParaRPr lang="en-US" altLang="zh-CN" sz="2000" b="1" dirty="0">
              <a:latin typeface="Verdana" panose="020B0604030504040204" pitchFamily="34" charset="0"/>
            </a:endParaRPr>
          </a:p>
        </p:txBody>
      </p:sp>
      <p:pic>
        <p:nvPicPr>
          <p:cNvPr id="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4401" y="4434975"/>
            <a:ext cx="4791446" cy="225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39313" y="5001261"/>
            <a:ext cx="2406428" cy="800219"/>
          </a:xfrm>
          <a:prstGeom prst="rect">
            <a:avLst/>
          </a:prstGeom>
        </p:spPr>
        <p:txBody>
          <a:bodyPr wrap="none">
            <a:spAutoFit/>
          </a:bodyPr>
          <a:lstStyle/>
          <a:p>
            <a:r>
              <a:rPr lang="en-US" altLang="zh-CN" sz="2800" b="1" dirty="0">
                <a:solidFill>
                  <a:srgbClr val="CC00CC"/>
                </a:solidFill>
                <a:effectLst>
                  <a:outerShdw blurRad="38100" dist="38100" dir="2700000" algn="tl">
                    <a:srgbClr val="000000">
                      <a:alpha val="43137"/>
                    </a:srgbClr>
                  </a:outerShdw>
                </a:effectLst>
                <a:ea typeface="黑体" pitchFamily="49" charset="-122"/>
              </a:rPr>
              <a:t>ANN</a:t>
            </a:r>
            <a:r>
              <a:rPr lang="zh-CN" altLang="en-US" sz="2800" b="1" dirty="0">
                <a:solidFill>
                  <a:srgbClr val="CC00CC"/>
                </a:solidFill>
                <a:effectLst>
                  <a:outerShdw blurRad="38100" dist="38100" dir="2700000" algn="tl">
                    <a:srgbClr val="000000">
                      <a:alpha val="43137"/>
                    </a:srgbClr>
                  </a:outerShdw>
                </a:effectLst>
                <a:ea typeface="黑体" pitchFamily="49" charset="-122"/>
              </a:rPr>
              <a:t>通用模型</a:t>
            </a:r>
          </a:p>
          <a:p>
            <a:pPr eaLnBrk="1" hangingPunct="1"/>
            <a:endParaRPr lang="zh-CN" altLang="en-US" dirty="0">
              <a:solidFill>
                <a:schemeClr val="bg2"/>
              </a:solidFill>
              <a:ea typeface="黑体" pitchFamily="49" charset="-122"/>
            </a:endParaRPr>
          </a:p>
        </p:txBody>
      </p:sp>
      <p:sp>
        <p:nvSpPr>
          <p:cNvPr id="58" name="Text Box 69"/>
          <p:cNvSpPr txBox="1">
            <a:spLocks noChangeArrowheads="1"/>
          </p:cNvSpPr>
          <p:nvPr/>
        </p:nvSpPr>
        <p:spPr bwMode="gray">
          <a:xfrm>
            <a:off x="5852100" y="5991672"/>
            <a:ext cx="11079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dirty="0">
                <a:solidFill>
                  <a:srgbClr val="FF0000"/>
                </a:solidFill>
                <a:effectLst>
                  <a:outerShdw blurRad="38100" dist="38100" dir="2700000" algn="tl">
                    <a:srgbClr val="000000">
                      <a:alpha val="43137"/>
                    </a:srgbClr>
                  </a:outerShdw>
                </a:effectLst>
              </a:rPr>
              <a:t>加权和</a:t>
            </a:r>
            <a:endParaRPr lang="en-US" altLang="zh-CN" sz="2400" b="1" dirty="0">
              <a:solidFill>
                <a:srgbClr val="FF0000"/>
              </a:solidFill>
              <a:effectLst>
                <a:outerShdw blurRad="38100" dist="38100" dir="2700000" algn="tl">
                  <a:srgbClr val="000000">
                    <a:alpha val="43137"/>
                  </a:srgbClr>
                </a:outerShdw>
              </a:effectLst>
            </a:endParaRPr>
          </a:p>
        </p:txBody>
      </p:sp>
      <p:sp>
        <p:nvSpPr>
          <p:cNvPr id="59" name="Text Box 70"/>
          <p:cNvSpPr txBox="1">
            <a:spLocks noChangeArrowheads="1"/>
          </p:cNvSpPr>
          <p:nvPr/>
        </p:nvSpPr>
        <p:spPr bwMode="gray">
          <a:xfrm>
            <a:off x="8064501" y="4896938"/>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dirty="0">
                <a:solidFill>
                  <a:srgbClr val="FF0000"/>
                </a:solidFill>
                <a:effectLst>
                  <a:outerShdw blurRad="38100" dist="38100" dir="2700000" algn="tl">
                    <a:srgbClr val="000000">
                      <a:alpha val="43137"/>
                    </a:srgbClr>
                  </a:outerShdw>
                </a:effectLst>
              </a:rPr>
              <a:t>响应函数</a:t>
            </a:r>
            <a:endParaRPr lang="en-US" altLang="zh-CN" sz="3200" b="1" dirty="0">
              <a:solidFill>
                <a:srgbClr val="FF0000"/>
              </a:solidFill>
              <a:effectLst>
                <a:outerShdw blurRad="38100" dist="38100" dir="2700000" algn="tl">
                  <a:srgbClr val="000000">
                    <a:alpha val="43137"/>
                  </a:srgbClr>
                </a:outerShdw>
              </a:effectLst>
            </a:endParaRPr>
          </a:p>
        </p:txBody>
      </p:sp>
      <p:graphicFrame>
        <p:nvGraphicFramePr>
          <p:cNvPr id="5" name="对象 4"/>
          <p:cNvGraphicFramePr>
            <a:graphicFrameLocks noGrp="1" noChangeAspect="1"/>
          </p:cNvGraphicFramePr>
          <p:nvPr>
            <p:extLst>
              <p:ext uri="{D42A27DB-BD31-4B8C-83A1-F6EECF244321}">
                <p14:modId xmlns:p14="http://schemas.microsoft.com/office/powerpoint/2010/main" val="23668484"/>
              </p:ext>
            </p:extLst>
          </p:nvPr>
        </p:nvGraphicFramePr>
        <p:xfrm>
          <a:off x="6929874" y="5661249"/>
          <a:ext cx="2334478" cy="1094145"/>
        </p:xfrm>
        <a:graphic>
          <a:graphicData uri="http://schemas.openxmlformats.org/presentationml/2006/ole">
            <mc:AlternateContent xmlns:mc="http://schemas.openxmlformats.org/markup-compatibility/2006">
              <mc:Choice xmlns:v="urn:schemas-microsoft-com:vml" Requires="v">
                <p:oleObj name="Equation" r:id="rId4" imgW="914400" imgH="431640" progId="Equation.DSMT4">
                  <p:embed/>
                </p:oleObj>
              </mc:Choice>
              <mc:Fallback>
                <p:oleObj name="Equation" r:id="rId4" imgW="914400" imgH="431640" progId="Equation.DSMT4">
                  <p:embed/>
                  <p:pic>
                    <p:nvPicPr>
                      <p:cNvPr id="5" name="对象 4"/>
                      <p:cNvPicPr>
                        <a:picLocks noGrp="1" noChangeAspect="1" noChangeArrowheads="1"/>
                      </p:cNvPicPr>
                      <p:nvPr/>
                    </p:nvPicPr>
                    <p:blipFill>
                      <a:blip r:embed="rId5"/>
                      <a:srcRect/>
                      <a:stretch>
                        <a:fillRect/>
                      </a:stretch>
                    </p:blipFill>
                    <p:spPr bwMode="auto">
                      <a:xfrm>
                        <a:off x="6929874" y="5661249"/>
                        <a:ext cx="2334478" cy="1094145"/>
                      </a:xfrm>
                      <a:prstGeom prst="rect">
                        <a:avLst/>
                      </a:prstGeom>
                      <a:noFill/>
                      <a:ln>
                        <a:noFill/>
                      </a:ln>
                    </p:spPr>
                  </p:pic>
                </p:oleObj>
              </mc:Fallback>
            </mc:AlternateContent>
          </a:graphicData>
        </a:graphic>
      </p:graphicFrame>
      <p:graphicFrame>
        <p:nvGraphicFramePr>
          <p:cNvPr id="6" name="对象 5"/>
          <p:cNvGraphicFramePr>
            <a:graphicFrameLocks noGrp="1" noChangeAspect="1"/>
          </p:cNvGraphicFramePr>
          <p:nvPr>
            <p:extLst>
              <p:ext uri="{D42A27DB-BD31-4B8C-83A1-F6EECF244321}">
                <p14:modId xmlns:p14="http://schemas.microsoft.com/office/powerpoint/2010/main" val="3665076514"/>
              </p:ext>
            </p:extLst>
          </p:nvPr>
        </p:nvGraphicFramePr>
        <p:xfrm>
          <a:off x="9544596" y="4869557"/>
          <a:ext cx="1460500" cy="514350"/>
        </p:xfrm>
        <a:graphic>
          <a:graphicData uri="http://schemas.openxmlformats.org/presentationml/2006/ole">
            <mc:AlternateContent xmlns:mc="http://schemas.openxmlformats.org/markup-compatibility/2006">
              <mc:Choice xmlns:v="urn:schemas-microsoft-com:vml" Requires="v">
                <p:oleObj name="Equation" r:id="rId6" imgW="571320" imgH="203040" progId="Equation.DSMT4">
                  <p:embed/>
                </p:oleObj>
              </mc:Choice>
              <mc:Fallback>
                <p:oleObj name="Equation" r:id="rId6" imgW="571320" imgH="203040" progId="Equation.DSMT4">
                  <p:embed/>
                  <p:pic>
                    <p:nvPicPr>
                      <p:cNvPr id="6" name="对象 5"/>
                      <p:cNvPicPr>
                        <a:picLocks noGrp="1" noChangeAspect="1" noChangeArrowheads="1"/>
                      </p:cNvPicPr>
                      <p:nvPr/>
                    </p:nvPicPr>
                    <p:blipFill>
                      <a:blip r:embed="rId7"/>
                      <a:srcRect/>
                      <a:stretch>
                        <a:fillRect/>
                      </a:stretch>
                    </p:blipFill>
                    <p:spPr bwMode="auto">
                      <a:xfrm>
                        <a:off x="9544596" y="4869557"/>
                        <a:ext cx="14605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灯片编号占位符 2">
            <a:extLst>
              <a:ext uri="{FF2B5EF4-FFF2-40B4-BE49-F238E27FC236}">
                <a16:creationId xmlns:a16="http://schemas.microsoft.com/office/drawing/2014/main" id="{8183D9F2-DB21-9FFB-D6E4-567ACBF8E3E3}"/>
              </a:ext>
            </a:extLst>
          </p:cNvPr>
          <p:cNvSpPr>
            <a:spLocks noGrp="1"/>
          </p:cNvSpPr>
          <p:nvPr>
            <p:ph type="sldNum" sz="quarter" idx="11"/>
          </p:nvPr>
        </p:nvSpPr>
        <p:spPr/>
        <p:txBody>
          <a:bodyPr/>
          <a:lstStyle/>
          <a:p>
            <a:pPr>
              <a:defRPr/>
            </a:pPr>
            <a:fld id="{E0FB5469-1AEB-496D-971A-66705BF2F73C}" type="slidenum">
              <a:rPr lang="en-US" altLang="zh-CN" smtClean="0"/>
              <a:pPr>
                <a:defRPr/>
              </a:pPr>
              <a:t>36</a:t>
            </a:fld>
            <a:endParaRPr lang="en-US" altLang="zh-CN"/>
          </a:p>
        </p:txBody>
      </p:sp>
    </p:spTree>
    <p:extLst>
      <p:ext uri="{BB962C8B-B14F-4D97-AF65-F5344CB8AC3E}">
        <p14:creationId xmlns:p14="http://schemas.microsoft.com/office/powerpoint/2010/main" val="10830289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67"/>
                                        </p:tgtEl>
                                        <p:attrNameLst>
                                          <p:attrName>style.visibility</p:attrName>
                                        </p:attrNameLst>
                                      </p:cBhvr>
                                      <p:to>
                                        <p:strVal val="visible"/>
                                      </p:to>
                                    </p:set>
                                    <p:animEffect transition="in" filter="wipe(left)">
                                      <p:cBhvr>
                                        <p:cTn id="7" dur="500"/>
                                        <p:tgtEl>
                                          <p:spTgt spid="9526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5275"/>
                                        </p:tgtEl>
                                        <p:attrNameLst>
                                          <p:attrName>style.visibility</p:attrName>
                                        </p:attrNameLst>
                                      </p:cBhvr>
                                      <p:to>
                                        <p:strVal val="visible"/>
                                      </p:to>
                                    </p:set>
                                    <p:animEffect transition="in" filter="wipe(left)">
                                      <p:cBhvr>
                                        <p:cTn id="10" dur="500"/>
                                        <p:tgtEl>
                                          <p:spTgt spid="9527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5276"/>
                                        </p:tgtEl>
                                        <p:attrNameLst>
                                          <p:attrName>style.visibility</p:attrName>
                                        </p:attrNameLst>
                                      </p:cBhvr>
                                      <p:to>
                                        <p:strVal val="visible"/>
                                      </p:to>
                                    </p:set>
                                    <p:animEffect transition="in" filter="wipe(left)">
                                      <p:cBhvr>
                                        <p:cTn id="13" dur="500"/>
                                        <p:tgtEl>
                                          <p:spTgt spid="9527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5277"/>
                                        </p:tgtEl>
                                        <p:attrNameLst>
                                          <p:attrName>style.visibility</p:attrName>
                                        </p:attrNameLst>
                                      </p:cBhvr>
                                      <p:to>
                                        <p:strVal val="visible"/>
                                      </p:to>
                                    </p:set>
                                    <p:animEffect transition="in" filter="wipe(left)">
                                      <p:cBhvr>
                                        <p:cTn id="16" dur="500"/>
                                        <p:tgtEl>
                                          <p:spTgt spid="9527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5278"/>
                                        </p:tgtEl>
                                        <p:attrNameLst>
                                          <p:attrName>style.visibility</p:attrName>
                                        </p:attrNameLst>
                                      </p:cBhvr>
                                      <p:to>
                                        <p:strVal val="visible"/>
                                      </p:to>
                                    </p:set>
                                    <p:animEffect transition="in" filter="wipe(left)">
                                      <p:cBhvr>
                                        <p:cTn id="19" dur="500"/>
                                        <p:tgtEl>
                                          <p:spTgt spid="9527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5279"/>
                                        </p:tgtEl>
                                        <p:attrNameLst>
                                          <p:attrName>style.visibility</p:attrName>
                                        </p:attrNameLst>
                                      </p:cBhvr>
                                      <p:to>
                                        <p:strVal val="visible"/>
                                      </p:to>
                                    </p:set>
                                    <p:animEffect transition="in" filter="wipe(left)">
                                      <p:cBhvr>
                                        <p:cTn id="22" dur="500"/>
                                        <p:tgtEl>
                                          <p:spTgt spid="95279"/>
                                        </p:tgtEl>
                                      </p:cBhvr>
                                    </p:animEffect>
                                  </p:childTnLst>
                                </p:cTn>
                              </p:par>
                              <p:par>
                                <p:cTn id="23" presetID="22" presetClass="entr" presetSubtype="8" fill="hold" nodeType="withEffect">
                                  <p:stCondLst>
                                    <p:cond delay="0"/>
                                  </p:stCondLst>
                                  <p:childTnLst>
                                    <p:set>
                                      <p:cBhvr>
                                        <p:cTn id="24" dur="1" fill="hold">
                                          <p:stCondLst>
                                            <p:cond delay="0"/>
                                          </p:stCondLst>
                                        </p:cTn>
                                        <p:tgtEl>
                                          <p:spTgt spid="95280"/>
                                        </p:tgtEl>
                                        <p:attrNameLst>
                                          <p:attrName>style.visibility</p:attrName>
                                        </p:attrNameLst>
                                      </p:cBhvr>
                                      <p:to>
                                        <p:strVal val="visible"/>
                                      </p:to>
                                    </p:set>
                                    <p:animEffect transition="in" filter="wipe(left)">
                                      <p:cBhvr>
                                        <p:cTn id="25" dur="500"/>
                                        <p:tgtEl>
                                          <p:spTgt spid="9528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95300"/>
                                        </p:tgtEl>
                                        <p:attrNameLst>
                                          <p:attrName>style.visibility</p:attrName>
                                        </p:attrNameLst>
                                      </p:cBhvr>
                                      <p:to>
                                        <p:strVal val="visible"/>
                                      </p:to>
                                    </p:set>
                                    <p:animEffect transition="in" filter="wipe(left)">
                                      <p:cBhvr>
                                        <p:cTn id="28" dur="500"/>
                                        <p:tgtEl>
                                          <p:spTgt spid="9530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95268"/>
                                        </p:tgtEl>
                                        <p:attrNameLst>
                                          <p:attrName>style.visibility</p:attrName>
                                        </p:attrNameLst>
                                      </p:cBhvr>
                                      <p:to>
                                        <p:strVal val="visible"/>
                                      </p:to>
                                    </p:set>
                                    <p:animEffect transition="in" filter="wipe(left)">
                                      <p:cBhvr>
                                        <p:cTn id="31" dur="500"/>
                                        <p:tgtEl>
                                          <p:spTgt spid="9526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5285"/>
                                        </p:tgtEl>
                                        <p:attrNameLst>
                                          <p:attrName>style.visibility</p:attrName>
                                        </p:attrNameLst>
                                      </p:cBhvr>
                                      <p:to>
                                        <p:strVal val="visible"/>
                                      </p:to>
                                    </p:set>
                                    <p:animEffect transition="in" filter="wipe(left)">
                                      <p:cBhvr>
                                        <p:cTn id="36" dur="500"/>
                                        <p:tgtEl>
                                          <p:spTgt spid="95285"/>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95286"/>
                                        </p:tgtEl>
                                        <p:attrNameLst>
                                          <p:attrName>style.visibility</p:attrName>
                                        </p:attrNameLst>
                                      </p:cBhvr>
                                      <p:to>
                                        <p:strVal val="visible"/>
                                      </p:to>
                                    </p:set>
                                    <p:animEffect transition="in" filter="wipe(left)">
                                      <p:cBhvr>
                                        <p:cTn id="39" dur="500"/>
                                        <p:tgtEl>
                                          <p:spTgt spid="95286"/>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95287"/>
                                        </p:tgtEl>
                                        <p:attrNameLst>
                                          <p:attrName>style.visibility</p:attrName>
                                        </p:attrNameLst>
                                      </p:cBhvr>
                                      <p:to>
                                        <p:strVal val="visible"/>
                                      </p:to>
                                    </p:set>
                                    <p:animEffect transition="in" filter="wipe(left)">
                                      <p:cBhvr>
                                        <p:cTn id="42" dur="500"/>
                                        <p:tgtEl>
                                          <p:spTgt spid="95287"/>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95288"/>
                                        </p:tgtEl>
                                        <p:attrNameLst>
                                          <p:attrName>style.visibility</p:attrName>
                                        </p:attrNameLst>
                                      </p:cBhvr>
                                      <p:to>
                                        <p:strVal val="visible"/>
                                      </p:to>
                                    </p:set>
                                    <p:animEffect transition="in" filter="wipe(left)">
                                      <p:cBhvr>
                                        <p:cTn id="45" dur="500"/>
                                        <p:tgtEl>
                                          <p:spTgt spid="9528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95289"/>
                                        </p:tgtEl>
                                        <p:attrNameLst>
                                          <p:attrName>style.visibility</p:attrName>
                                        </p:attrNameLst>
                                      </p:cBhvr>
                                      <p:to>
                                        <p:strVal val="visible"/>
                                      </p:to>
                                    </p:set>
                                    <p:animEffect transition="in" filter="wipe(left)">
                                      <p:cBhvr>
                                        <p:cTn id="48" dur="500"/>
                                        <p:tgtEl>
                                          <p:spTgt spid="95289"/>
                                        </p:tgtEl>
                                      </p:cBhvr>
                                    </p:animEffect>
                                  </p:childTnLst>
                                </p:cTn>
                              </p:par>
                              <p:par>
                                <p:cTn id="49" presetID="22" presetClass="entr" presetSubtype="8" fill="hold" nodeType="withEffect">
                                  <p:stCondLst>
                                    <p:cond delay="0"/>
                                  </p:stCondLst>
                                  <p:childTnLst>
                                    <p:set>
                                      <p:cBhvr>
                                        <p:cTn id="50" dur="1" fill="hold">
                                          <p:stCondLst>
                                            <p:cond delay="0"/>
                                          </p:stCondLst>
                                        </p:cTn>
                                        <p:tgtEl>
                                          <p:spTgt spid="95290"/>
                                        </p:tgtEl>
                                        <p:attrNameLst>
                                          <p:attrName>style.visibility</p:attrName>
                                        </p:attrNameLst>
                                      </p:cBhvr>
                                      <p:to>
                                        <p:strVal val="visible"/>
                                      </p:to>
                                    </p:set>
                                    <p:animEffect transition="in" filter="wipe(left)">
                                      <p:cBhvr>
                                        <p:cTn id="51" dur="500"/>
                                        <p:tgtEl>
                                          <p:spTgt spid="95290"/>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95301"/>
                                        </p:tgtEl>
                                        <p:attrNameLst>
                                          <p:attrName>style.visibility</p:attrName>
                                        </p:attrNameLst>
                                      </p:cBhvr>
                                      <p:to>
                                        <p:strVal val="visible"/>
                                      </p:to>
                                    </p:set>
                                    <p:animEffect transition="in" filter="wipe(left)">
                                      <p:cBhvr>
                                        <p:cTn id="54" dur="500"/>
                                        <p:tgtEl>
                                          <p:spTgt spid="95301"/>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95269"/>
                                        </p:tgtEl>
                                        <p:attrNameLst>
                                          <p:attrName>style.visibility</p:attrName>
                                        </p:attrNameLst>
                                      </p:cBhvr>
                                      <p:to>
                                        <p:strVal val="visible"/>
                                      </p:to>
                                    </p:set>
                                    <p:animEffect transition="in" filter="wipe(left)">
                                      <p:cBhvr>
                                        <p:cTn id="57" dur="500"/>
                                        <p:tgtEl>
                                          <p:spTgt spid="95269"/>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95314"/>
                                        </p:tgtEl>
                                        <p:attrNameLst>
                                          <p:attrName>style.visibility</p:attrName>
                                        </p:attrNameLst>
                                      </p:cBhvr>
                                      <p:to>
                                        <p:strVal val="visible"/>
                                      </p:to>
                                    </p:set>
                                    <p:animEffect transition="in" filter="wipe(left)">
                                      <p:cBhvr>
                                        <p:cTn id="60" dur="500"/>
                                        <p:tgtEl>
                                          <p:spTgt spid="95314"/>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1000"/>
                                        <p:tgtEl>
                                          <p:spTgt spid="58"/>
                                        </p:tgtEl>
                                      </p:cBhvr>
                                    </p:animEffect>
                                    <p:anim calcmode="lin" valueType="num">
                                      <p:cBhvr>
                                        <p:cTn id="66" dur="1000" fill="hold"/>
                                        <p:tgtEl>
                                          <p:spTgt spid="58"/>
                                        </p:tgtEl>
                                        <p:attrNameLst>
                                          <p:attrName>ppt_x</p:attrName>
                                        </p:attrNameLst>
                                      </p:cBhvr>
                                      <p:tavLst>
                                        <p:tav tm="0">
                                          <p:val>
                                            <p:strVal val="#ppt_x"/>
                                          </p:val>
                                        </p:tav>
                                        <p:tav tm="100000">
                                          <p:val>
                                            <p:strVal val="#ppt_x"/>
                                          </p:val>
                                        </p:tav>
                                      </p:tavLst>
                                    </p:anim>
                                    <p:anim calcmode="lin" valueType="num">
                                      <p:cBhvr>
                                        <p:cTn id="67" dur="1000" fill="hold"/>
                                        <p:tgtEl>
                                          <p:spTgt spid="58"/>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fade">
                                      <p:cBhvr>
                                        <p:cTn id="70" dur="1000"/>
                                        <p:tgtEl>
                                          <p:spTgt spid="5"/>
                                        </p:tgtEl>
                                      </p:cBhvr>
                                    </p:animEffect>
                                    <p:anim calcmode="lin" valueType="num">
                                      <p:cBhvr>
                                        <p:cTn id="71" dur="1000" fill="hold"/>
                                        <p:tgtEl>
                                          <p:spTgt spid="5"/>
                                        </p:tgtEl>
                                        <p:attrNameLst>
                                          <p:attrName>ppt_x</p:attrName>
                                        </p:attrNameLst>
                                      </p:cBhvr>
                                      <p:tavLst>
                                        <p:tav tm="0">
                                          <p:val>
                                            <p:strVal val="#ppt_x"/>
                                          </p:val>
                                        </p:tav>
                                        <p:tav tm="100000">
                                          <p:val>
                                            <p:strVal val="#ppt_x"/>
                                          </p:val>
                                        </p:tav>
                                      </p:tavLst>
                                    </p:anim>
                                    <p:anim calcmode="lin" valueType="num">
                                      <p:cBhvr>
                                        <p:cTn id="7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95270"/>
                                        </p:tgtEl>
                                        <p:attrNameLst>
                                          <p:attrName>style.visibility</p:attrName>
                                        </p:attrNameLst>
                                      </p:cBhvr>
                                      <p:to>
                                        <p:strVal val="visible"/>
                                      </p:to>
                                    </p:set>
                                    <p:animEffect transition="in" filter="wipe(left)">
                                      <p:cBhvr>
                                        <p:cTn id="77" dur="500"/>
                                        <p:tgtEl>
                                          <p:spTgt spid="95270"/>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95271"/>
                                        </p:tgtEl>
                                        <p:attrNameLst>
                                          <p:attrName>style.visibility</p:attrName>
                                        </p:attrNameLst>
                                      </p:cBhvr>
                                      <p:to>
                                        <p:strVal val="visible"/>
                                      </p:to>
                                    </p:set>
                                    <p:animEffect transition="in" filter="wipe(left)">
                                      <p:cBhvr>
                                        <p:cTn id="80" dur="500"/>
                                        <p:tgtEl>
                                          <p:spTgt spid="95271"/>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95272"/>
                                        </p:tgtEl>
                                        <p:attrNameLst>
                                          <p:attrName>style.visibility</p:attrName>
                                        </p:attrNameLst>
                                      </p:cBhvr>
                                      <p:to>
                                        <p:strVal val="visible"/>
                                      </p:to>
                                    </p:set>
                                    <p:animEffect transition="in" filter="wipe(left)">
                                      <p:cBhvr>
                                        <p:cTn id="83" dur="500"/>
                                        <p:tgtEl>
                                          <p:spTgt spid="95272"/>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95273"/>
                                        </p:tgtEl>
                                        <p:attrNameLst>
                                          <p:attrName>style.visibility</p:attrName>
                                        </p:attrNameLst>
                                      </p:cBhvr>
                                      <p:to>
                                        <p:strVal val="visible"/>
                                      </p:to>
                                    </p:set>
                                    <p:animEffect transition="in" filter="wipe(left)">
                                      <p:cBhvr>
                                        <p:cTn id="86" dur="500"/>
                                        <p:tgtEl>
                                          <p:spTgt spid="95273"/>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95274"/>
                                        </p:tgtEl>
                                        <p:attrNameLst>
                                          <p:attrName>style.visibility</p:attrName>
                                        </p:attrNameLst>
                                      </p:cBhvr>
                                      <p:to>
                                        <p:strVal val="visible"/>
                                      </p:to>
                                    </p:set>
                                    <p:animEffect transition="in" filter="wipe(left)">
                                      <p:cBhvr>
                                        <p:cTn id="89" dur="500"/>
                                        <p:tgtEl>
                                          <p:spTgt spid="95274"/>
                                        </p:tgtEl>
                                      </p:cBhvr>
                                    </p:animEffect>
                                  </p:childTnLst>
                                </p:cTn>
                              </p:par>
                              <p:par>
                                <p:cTn id="90" presetID="22" presetClass="entr" presetSubtype="8" fill="hold" nodeType="withEffect">
                                  <p:stCondLst>
                                    <p:cond delay="0"/>
                                  </p:stCondLst>
                                  <p:childTnLst>
                                    <p:set>
                                      <p:cBhvr>
                                        <p:cTn id="91" dur="1" fill="hold">
                                          <p:stCondLst>
                                            <p:cond delay="0"/>
                                          </p:stCondLst>
                                        </p:cTn>
                                        <p:tgtEl>
                                          <p:spTgt spid="95295"/>
                                        </p:tgtEl>
                                        <p:attrNameLst>
                                          <p:attrName>style.visibility</p:attrName>
                                        </p:attrNameLst>
                                      </p:cBhvr>
                                      <p:to>
                                        <p:strVal val="visible"/>
                                      </p:to>
                                    </p:set>
                                    <p:animEffect transition="in" filter="wipe(left)">
                                      <p:cBhvr>
                                        <p:cTn id="92" dur="500"/>
                                        <p:tgtEl>
                                          <p:spTgt spid="95295"/>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95302"/>
                                        </p:tgtEl>
                                        <p:attrNameLst>
                                          <p:attrName>style.visibility</p:attrName>
                                        </p:attrNameLst>
                                      </p:cBhvr>
                                      <p:to>
                                        <p:strVal val="visible"/>
                                      </p:to>
                                    </p:set>
                                    <p:animEffect transition="in" filter="wipe(left)">
                                      <p:cBhvr>
                                        <p:cTn id="95" dur="500"/>
                                        <p:tgtEl>
                                          <p:spTgt spid="95302"/>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95303"/>
                                        </p:tgtEl>
                                        <p:attrNameLst>
                                          <p:attrName>style.visibility</p:attrName>
                                        </p:attrNameLst>
                                      </p:cBhvr>
                                      <p:to>
                                        <p:strVal val="visible"/>
                                      </p:to>
                                    </p:set>
                                    <p:animEffect transition="in" filter="wipe(left)">
                                      <p:cBhvr>
                                        <p:cTn id="98" dur="500"/>
                                        <p:tgtEl>
                                          <p:spTgt spid="95303"/>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95315"/>
                                        </p:tgtEl>
                                        <p:attrNameLst>
                                          <p:attrName>style.visibility</p:attrName>
                                        </p:attrNameLst>
                                      </p:cBhvr>
                                      <p:to>
                                        <p:strVal val="visible"/>
                                      </p:to>
                                    </p:set>
                                    <p:animEffect transition="in" filter="wipe(left)">
                                      <p:cBhvr>
                                        <p:cTn id="101" dur="500"/>
                                        <p:tgtEl>
                                          <p:spTgt spid="95315"/>
                                        </p:tgtEl>
                                      </p:cBhvr>
                                    </p:animEffect>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59"/>
                                        </p:tgtEl>
                                        <p:attrNameLst>
                                          <p:attrName>style.visibility</p:attrName>
                                        </p:attrNameLst>
                                      </p:cBhvr>
                                      <p:to>
                                        <p:strVal val="visible"/>
                                      </p:to>
                                    </p:set>
                                    <p:animEffect transition="in" filter="fade">
                                      <p:cBhvr>
                                        <p:cTn id="106" dur="1000"/>
                                        <p:tgtEl>
                                          <p:spTgt spid="59"/>
                                        </p:tgtEl>
                                      </p:cBhvr>
                                    </p:animEffect>
                                    <p:anim calcmode="lin" valueType="num">
                                      <p:cBhvr>
                                        <p:cTn id="107" dur="1000" fill="hold"/>
                                        <p:tgtEl>
                                          <p:spTgt spid="59"/>
                                        </p:tgtEl>
                                        <p:attrNameLst>
                                          <p:attrName>ppt_x</p:attrName>
                                        </p:attrNameLst>
                                      </p:cBhvr>
                                      <p:tavLst>
                                        <p:tav tm="0">
                                          <p:val>
                                            <p:strVal val="#ppt_x"/>
                                          </p:val>
                                        </p:tav>
                                        <p:tav tm="100000">
                                          <p:val>
                                            <p:strVal val="#ppt_x"/>
                                          </p:val>
                                        </p:tav>
                                      </p:tavLst>
                                    </p:anim>
                                    <p:anim calcmode="lin" valueType="num">
                                      <p:cBhvr>
                                        <p:cTn id="108" dur="1000" fill="hold"/>
                                        <p:tgtEl>
                                          <p:spTgt spid="59"/>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6"/>
                                        </p:tgtEl>
                                        <p:attrNameLst>
                                          <p:attrName>style.visibility</p:attrName>
                                        </p:attrNameLst>
                                      </p:cBhvr>
                                      <p:to>
                                        <p:strVal val="visible"/>
                                      </p:to>
                                    </p:set>
                                    <p:animEffect transition="in" filter="fade">
                                      <p:cBhvr>
                                        <p:cTn id="111" dur="1000"/>
                                        <p:tgtEl>
                                          <p:spTgt spid="6"/>
                                        </p:tgtEl>
                                      </p:cBhvr>
                                    </p:animEffect>
                                    <p:anim calcmode="lin" valueType="num">
                                      <p:cBhvr>
                                        <p:cTn id="112" dur="1000" fill="hold"/>
                                        <p:tgtEl>
                                          <p:spTgt spid="6"/>
                                        </p:tgtEl>
                                        <p:attrNameLst>
                                          <p:attrName>ppt_x</p:attrName>
                                        </p:attrNameLst>
                                      </p:cBhvr>
                                      <p:tavLst>
                                        <p:tav tm="0">
                                          <p:val>
                                            <p:strVal val="#ppt_x"/>
                                          </p:val>
                                        </p:tav>
                                        <p:tav tm="100000">
                                          <p:val>
                                            <p:strVal val="#ppt_x"/>
                                          </p:val>
                                        </p:tav>
                                      </p:tavLst>
                                    </p:anim>
                                    <p:anim calcmode="lin" valueType="num">
                                      <p:cBhvr>
                                        <p:cTn id="1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95304"/>
                                        </p:tgtEl>
                                        <p:attrNameLst>
                                          <p:attrName>style.visibility</p:attrName>
                                        </p:attrNameLst>
                                      </p:cBhvr>
                                      <p:to>
                                        <p:strVal val="visible"/>
                                      </p:to>
                                    </p:set>
                                    <p:animEffect transition="in" filter="wipe(left)">
                                      <p:cBhvr>
                                        <p:cTn id="118" dur="500"/>
                                        <p:tgtEl>
                                          <p:spTgt spid="95304"/>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95305"/>
                                        </p:tgtEl>
                                        <p:attrNameLst>
                                          <p:attrName>style.visibility</p:attrName>
                                        </p:attrNameLst>
                                      </p:cBhvr>
                                      <p:to>
                                        <p:strVal val="visible"/>
                                      </p:to>
                                    </p:set>
                                    <p:animEffect transition="in" filter="wipe(left)">
                                      <p:cBhvr>
                                        <p:cTn id="121" dur="500"/>
                                        <p:tgtEl>
                                          <p:spTgt spid="95305"/>
                                        </p:tgtEl>
                                      </p:cBhvr>
                                    </p:animEffect>
                                  </p:childTnLst>
                                </p:cTn>
                              </p:par>
                              <p:par>
                                <p:cTn id="122" presetID="22" presetClass="entr" presetSubtype="8" fill="hold" grpId="0" nodeType="withEffect">
                                  <p:stCondLst>
                                    <p:cond delay="0"/>
                                  </p:stCondLst>
                                  <p:childTnLst>
                                    <p:set>
                                      <p:cBhvr>
                                        <p:cTn id="123" dur="1" fill="hold">
                                          <p:stCondLst>
                                            <p:cond delay="0"/>
                                          </p:stCondLst>
                                        </p:cTn>
                                        <p:tgtEl>
                                          <p:spTgt spid="95306"/>
                                        </p:tgtEl>
                                        <p:attrNameLst>
                                          <p:attrName>style.visibility</p:attrName>
                                        </p:attrNameLst>
                                      </p:cBhvr>
                                      <p:to>
                                        <p:strVal val="visible"/>
                                      </p:to>
                                    </p:set>
                                    <p:animEffect transition="in" filter="wipe(left)">
                                      <p:cBhvr>
                                        <p:cTn id="124" dur="500"/>
                                        <p:tgtEl>
                                          <p:spTgt spid="95306"/>
                                        </p:tgtEl>
                                      </p:cBhvr>
                                    </p:animEffect>
                                  </p:childTnLst>
                                </p:cTn>
                              </p:par>
                              <p:par>
                                <p:cTn id="125" presetID="22" presetClass="entr" presetSubtype="8" fill="hold" grpId="0" nodeType="withEffect">
                                  <p:stCondLst>
                                    <p:cond delay="0"/>
                                  </p:stCondLst>
                                  <p:childTnLst>
                                    <p:set>
                                      <p:cBhvr>
                                        <p:cTn id="126" dur="1" fill="hold">
                                          <p:stCondLst>
                                            <p:cond delay="0"/>
                                          </p:stCondLst>
                                        </p:cTn>
                                        <p:tgtEl>
                                          <p:spTgt spid="95307"/>
                                        </p:tgtEl>
                                        <p:attrNameLst>
                                          <p:attrName>style.visibility</p:attrName>
                                        </p:attrNameLst>
                                      </p:cBhvr>
                                      <p:to>
                                        <p:strVal val="visible"/>
                                      </p:to>
                                    </p:set>
                                    <p:animEffect transition="in" filter="wipe(left)">
                                      <p:cBhvr>
                                        <p:cTn id="127" dur="500"/>
                                        <p:tgtEl>
                                          <p:spTgt spid="95307"/>
                                        </p:tgtEl>
                                      </p:cBhvr>
                                    </p:animEffect>
                                  </p:childTnLst>
                                </p:cTn>
                              </p:par>
                              <p:par>
                                <p:cTn id="128" presetID="22" presetClass="entr" presetSubtype="8" fill="hold" nodeType="withEffect">
                                  <p:stCondLst>
                                    <p:cond delay="0"/>
                                  </p:stCondLst>
                                  <p:childTnLst>
                                    <p:set>
                                      <p:cBhvr>
                                        <p:cTn id="129" dur="1" fill="hold">
                                          <p:stCondLst>
                                            <p:cond delay="0"/>
                                          </p:stCondLst>
                                        </p:cTn>
                                        <p:tgtEl>
                                          <p:spTgt spid="95308"/>
                                        </p:tgtEl>
                                        <p:attrNameLst>
                                          <p:attrName>style.visibility</p:attrName>
                                        </p:attrNameLst>
                                      </p:cBhvr>
                                      <p:to>
                                        <p:strVal val="visible"/>
                                      </p:to>
                                    </p:set>
                                    <p:animEffect transition="in" filter="wipe(left)">
                                      <p:cBhvr>
                                        <p:cTn id="130" dur="500"/>
                                        <p:tgtEl>
                                          <p:spTgt spid="95308"/>
                                        </p:tgtEl>
                                      </p:cBhvr>
                                    </p:animEffect>
                                  </p:childTnLst>
                                </p:cTn>
                              </p:par>
                              <p:par>
                                <p:cTn id="131" presetID="22" presetClass="entr" presetSubtype="8" fill="hold" grpId="0" nodeType="withEffect">
                                  <p:stCondLst>
                                    <p:cond delay="0"/>
                                  </p:stCondLst>
                                  <p:childTnLst>
                                    <p:set>
                                      <p:cBhvr>
                                        <p:cTn id="132" dur="1" fill="hold">
                                          <p:stCondLst>
                                            <p:cond delay="0"/>
                                          </p:stCondLst>
                                        </p:cTn>
                                        <p:tgtEl>
                                          <p:spTgt spid="95313"/>
                                        </p:tgtEl>
                                        <p:attrNameLst>
                                          <p:attrName>style.visibility</p:attrName>
                                        </p:attrNameLst>
                                      </p:cBhvr>
                                      <p:to>
                                        <p:strVal val="visible"/>
                                      </p:to>
                                    </p:set>
                                    <p:animEffect transition="in" filter="wipe(left)">
                                      <p:cBhvr>
                                        <p:cTn id="133" dur="500"/>
                                        <p:tgtEl>
                                          <p:spTgt spid="95313"/>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95316"/>
                                        </p:tgtEl>
                                        <p:attrNameLst>
                                          <p:attrName>style.visibility</p:attrName>
                                        </p:attrNameLst>
                                      </p:cBhvr>
                                      <p:to>
                                        <p:strVal val="visible"/>
                                      </p:to>
                                    </p:set>
                                    <p:animEffect transition="in" filter="wipe(left)">
                                      <p:cBhvr>
                                        <p:cTn id="136" dur="500"/>
                                        <p:tgtEl>
                                          <p:spTgt spid="95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7" grpId="0" animBg="1"/>
      <p:bldP spid="95268" grpId="0" animBg="1"/>
      <p:bldP spid="95269" grpId="0" animBg="1"/>
      <p:bldP spid="95270" grpId="0" animBg="1"/>
      <p:bldP spid="95271" grpId="0" animBg="1"/>
      <p:bldP spid="95272" grpId="0" animBg="1"/>
      <p:bldP spid="95273" grpId="0" animBg="1"/>
      <p:bldP spid="95274" grpId="0" animBg="1"/>
      <p:bldP spid="95275" grpId="0" animBg="1"/>
      <p:bldP spid="95276" grpId="0" animBg="1"/>
      <p:bldP spid="95277" grpId="0" animBg="1"/>
      <p:bldP spid="95278" grpId="0" animBg="1"/>
      <p:bldP spid="95279" grpId="0" animBg="1"/>
      <p:bldP spid="95285" grpId="0" animBg="1"/>
      <p:bldP spid="95286" grpId="0" animBg="1"/>
      <p:bldP spid="95287" grpId="0" animBg="1"/>
      <p:bldP spid="95288" grpId="0" animBg="1"/>
      <p:bldP spid="95289" grpId="0" animBg="1"/>
      <p:bldP spid="95300" grpId="0"/>
      <p:bldP spid="95301" grpId="0"/>
      <p:bldP spid="95302" grpId="0"/>
      <p:bldP spid="95303" grpId="0" animBg="1"/>
      <p:bldP spid="95304" grpId="0" animBg="1"/>
      <p:bldP spid="95305" grpId="0" animBg="1"/>
      <p:bldP spid="95306" grpId="0" animBg="1"/>
      <p:bldP spid="95307" grpId="0" animBg="1"/>
      <p:bldP spid="95313" grpId="0"/>
      <p:bldP spid="95314" grpId="0" animBg="1"/>
      <p:bldP spid="95315" grpId="0" animBg="1"/>
      <p:bldP spid="95316" grpId="0" animBg="1"/>
      <p:bldP spid="58" grpId="0"/>
      <p:bldP spid="5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5114925" y="3124200"/>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4579" name="Rectangle 3"/>
          <p:cNvSpPr>
            <a:spLocks noChangeArrowheads="1"/>
          </p:cNvSpPr>
          <p:nvPr/>
        </p:nvSpPr>
        <p:spPr bwMode="auto">
          <a:xfrm>
            <a:off x="5029200" y="32242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4580" name="Rectangle 4"/>
          <p:cNvSpPr>
            <a:spLocks noChangeArrowheads="1"/>
          </p:cNvSpPr>
          <p:nvPr/>
        </p:nvSpPr>
        <p:spPr bwMode="auto">
          <a:xfrm>
            <a:off x="2743200" y="304800"/>
            <a:ext cx="7772400" cy="120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kumimoji="1" lang="zh-CN" altLang="en-US" sz="4400">
                <a:solidFill>
                  <a:srgbClr val="008000"/>
                </a:solidFill>
                <a:latin typeface="黑体" pitchFamily="49" charset="-122"/>
                <a:ea typeface="黑体" pitchFamily="49" charset="-122"/>
              </a:rPr>
              <a:t>人工神经元模型</a:t>
            </a:r>
            <a:r>
              <a:rPr kumimoji="1" lang="zh-CN" altLang="en-US" sz="4400">
                <a:solidFill>
                  <a:schemeClr val="tx2"/>
                </a:solidFill>
                <a:latin typeface="Times New Roman" pitchFamily="18" charset="0"/>
              </a:rPr>
              <a:t> </a:t>
            </a:r>
          </a:p>
        </p:txBody>
      </p:sp>
      <p:sp>
        <p:nvSpPr>
          <p:cNvPr id="47109" name="Rectangle 5"/>
          <p:cNvSpPr>
            <a:spLocks noChangeArrowheads="1"/>
          </p:cNvSpPr>
          <p:nvPr/>
        </p:nvSpPr>
        <p:spPr bwMode="auto">
          <a:xfrm>
            <a:off x="1343472" y="1341438"/>
            <a:ext cx="9577064"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90000"/>
              <a:buFont typeface="Symbol" pitchFamily="18" charset="2"/>
              <a:buChar char="¨"/>
            </a:pPr>
            <a:r>
              <a:rPr kumimoji="1" lang="zh-CN" altLang="en-US" sz="3600" dirty="0">
                <a:solidFill>
                  <a:srgbClr val="FF0000"/>
                </a:solidFill>
                <a:ea typeface="黑体" pitchFamily="49" charset="-122"/>
              </a:rPr>
              <a:t>响应函数的基本作用</a:t>
            </a:r>
          </a:p>
          <a:p>
            <a:pPr marL="742950" lvl="1" indent="-285750">
              <a:spcBef>
                <a:spcPct val="20000"/>
              </a:spcBef>
              <a:buFontTx/>
              <a:buChar char="–"/>
            </a:pPr>
            <a:r>
              <a:rPr kumimoji="1" lang="zh-CN" altLang="en-US" sz="3200" dirty="0">
                <a:ea typeface="黑体" pitchFamily="49" charset="-122"/>
              </a:rPr>
              <a:t>控制输入对输出的激活作用</a:t>
            </a:r>
          </a:p>
          <a:p>
            <a:pPr marL="742950" lvl="1" indent="-285750">
              <a:spcBef>
                <a:spcPct val="20000"/>
              </a:spcBef>
              <a:buFontTx/>
              <a:buChar char="–"/>
            </a:pPr>
            <a:r>
              <a:rPr kumimoji="1" lang="zh-CN" altLang="en-US" sz="3200" dirty="0">
                <a:ea typeface="黑体" pitchFamily="49" charset="-122"/>
              </a:rPr>
              <a:t>对输入、输出进行函数转换</a:t>
            </a:r>
          </a:p>
          <a:p>
            <a:pPr marL="742950" lvl="1" indent="-285750">
              <a:spcBef>
                <a:spcPct val="20000"/>
              </a:spcBef>
              <a:buFontTx/>
              <a:buChar char="–"/>
            </a:pPr>
            <a:r>
              <a:rPr kumimoji="1" lang="zh-CN" altLang="en-US" sz="3200" dirty="0">
                <a:ea typeface="黑体" pitchFamily="49" charset="-122"/>
              </a:rPr>
              <a:t>将可能无限域的输入变换成指定的有限范围内的输出</a:t>
            </a:r>
            <a:endParaRPr kumimoji="1" lang="el-GR" altLang="zh-CN" sz="4000" dirty="0">
              <a:ea typeface="黑体" pitchFamily="49" charset="-122"/>
            </a:endParaRPr>
          </a:p>
        </p:txBody>
      </p:sp>
      <p:pic>
        <p:nvPicPr>
          <p:cNvPr id="4711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889" y="4437064"/>
            <a:ext cx="4321175"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69"/>
          <p:cNvSpPr txBox="1">
            <a:spLocks noChangeArrowheads="1"/>
          </p:cNvSpPr>
          <p:nvPr/>
        </p:nvSpPr>
        <p:spPr bwMode="gray">
          <a:xfrm>
            <a:off x="4327377" y="5989836"/>
            <a:ext cx="11079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dirty="0">
                <a:solidFill>
                  <a:srgbClr val="FF0000"/>
                </a:solidFill>
                <a:effectLst>
                  <a:outerShdw blurRad="38100" dist="38100" dir="2700000" algn="tl">
                    <a:srgbClr val="000000">
                      <a:alpha val="43137"/>
                    </a:srgbClr>
                  </a:outerShdw>
                </a:effectLst>
              </a:rPr>
              <a:t>加权和</a:t>
            </a:r>
            <a:endParaRPr lang="en-US" altLang="zh-CN" sz="2400" b="1" dirty="0">
              <a:solidFill>
                <a:srgbClr val="FF0000"/>
              </a:solidFill>
              <a:effectLst>
                <a:outerShdw blurRad="38100" dist="38100" dir="2700000" algn="tl">
                  <a:srgbClr val="000000">
                    <a:alpha val="43137"/>
                  </a:srgbClr>
                </a:outerShdw>
              </a:effectLst>
            </a:endParaRPr>
          </a:p>
        </p:txBody>
      </p:sp>
      <p:sp>
        <p:nvSpPr>
          <p:cNvPr id="12" name="Text Box 70"/>
          <p:cNvSpPr txBox="1">
            <a:spLocks noChangeArrowheads="1"/>
          </p:cNvSpPr>
          <p:nvPr/>
        </p:nvSpPr>
        <p:spPr bwMode="gray">
          <a:xfrm>
            <a:off x="6920161" y="4694631"/>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dirty="0">
                <a:solidFill>
                  <a:srgbClr val="FF0000"/>
                </a:solidFill>
                <a:effectLst>
                  <a:outerShdw blurRad="38100" dist="38100" dir="2700000" algn="tl">
                    <a:srgbClr val="000000">
                      <a:alpha val="43137"/>
                    </a:srgbClr>
                  </a:outerShdw>
                </a:effectLst>
              </a:rPr>
              <a:t>响应函数</a:t>
            </a:r>
            <a:endParaRPr lang="en-US" altLang="zh-CN" sz="3200" b="1" dirty="0">
              <a:solidFill>
                <a:srgbClr val="FF0000"/>
              </a:solidFill>
              <a:effectLst>
                <a:outerShdw blurRad="38100" dist="38100" dir="2700000" algn="tl">
                  <a:srgbClr val="000000">
                    <a:alpha val="43137"/>
                  </a:srgbClr>
                </a:outerShdw>
              </a:effectLst>
            </a:endParaRPr>
          </a:p>
        </p:txBody>
      </p:sp>
      <p:graphicFrame>
        <p:nvGraphicFramePr>
          <p:cNvPr id="2" name="对象 1"/>
          <p:cNvGraphicFramePr>
            <a:graphicFrameLocks noGrp="1" noChangeAspect="1"/>
          </p:cNvGraphicFramePr>
          <p:nvPr>
            <p:extLst>
              <p:ext uri="{D42A27DB-BD31-4B8C-83A1-F6EECF244321}">
                <p14:modId xmlns:p14="http://schemas.microsoft.com/office/powerpoint/2010/main" val="1798515490"/>
              </p:ext>
            </p:extLst>
          </p:nvPr>
        </p:nvGraphicFramePr>
        <p:xfrm>
          <a:off x="5591944" y="5661025"/>
          <a:ext cx="2335212" cy="1093788"/>
        </p:xfrm>
        <a:graphic>
          <a:graphicData uri="http://schemas.openxmlformats.org/presentationml/2006/ole">
            <mc:AlternateContent xmlns:mc="http://schemas.openxmlformats.org/markup-compatibility/2006">
              <mc:Choice xmlns:v="urn:schemas-microsoft-com:vml" Requires="v">
                <p:oleObj name="Equation" r:id="rId3" imgW="914400" imgH="431640" progId="Equation.DSMT4">
                  <p:embed/>
                </p:oleObj>
              </mc:Choice>
              <mc:Fallback>
                <p:oleObj name="Equation" r:id="rId3" imgW="914400" imgH="431640" progId="Equation.DSMT4">
                  <p:embed/>
                  <p:pic>
                    <p:nvPicPr>
                      <p:cNvPr id="2" name="对象 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944" y="5661025"/>
                        <a:ext cx="2335212"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Grp="1" noChangeAspect="1"/>
          </p:cNvGraphicFramePr>
          <p:nvPr>
            <p:extLst>
              <p:ext uri="{D42A27DB-BD31-4B8C-83A1-F6EECF244321}">
                <p14:modId xmlns:p14="http://schemas.microsoft.com/office/powerpoint/2010/main" val="3702980072"/>
              </p:ext>
            </p:extLst>
          </p:nvPr>
        </p:nvGraphicFramePr>
        <p:xfrm>
          <a:off x="8338009" y="4641945"/>
          <a:ext cx="1460500" cy="514350"/>
        </p:xfrm>
        <a:graphic>
          <a:graphicData uri="http://schemas.openxmlformats.org/presentationml/2006/ole">
            <mc:AlternateContent xmlns:mc="http://schemas.openxmlformats.org/markup-compatibility/2006">
              <mc:Choice xmlns:v="urn:schemas-microsoft-com:vml" Requires="v">
                <p:oleObj name="Equation" r:id="rId5" imgW="571320" imgH="203040" progId="Equation.DSMT4">
                  <p:embed/>
                </p:oleObj>
              </mc:Choice>
              <mc:Fallback>
                <p:oleObj name="Equation" r:id="rId5" imgW="571320" imgH="203040" progId="Equation.DSMT4">
                  <p:embed/>
                  <p:pic>
                    <p:nvPicPr>
                      <p:cNvPr id="3" name="对象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38009" y="4641945"/>
                        <a:ext cx="14605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灯片编号占位符 3">
            <a:extLst>
              <a:ext uri="{FF2B5EF4-FFF2-40B4-BE49-F238E27FC236}">
                <a16:creationId xmlns:a16="http://schemas.microsoft.com/office/drawing/2014/main" id="{389BA13A-E55B-9E71-E745-3220554B9F3E}"/>
              </a:ext>
            </a:extLst>
          </p:cNvPr>
          <p:cNvSpPr>
            <a:spLocks noGrp="1"/>
          </p:cNvSpPr>
          <p:nvPr>
            <p:ph type="sldNum" sz="quarter" idx="11"/>
          </p:nvPr>
        </p:nvSpPr>
        <p:spPr/>
        <p:txBody>
          <a:bodyPr/>
          <a:lstStyle/>
          <a:p>
            <a:pPr>
              <a:defRPr/>
            </a:pPr>
            <a:fld id="{1240398B-3681-435F-A1B8-D490B121ECC3}" type="slidenum">
              <a:rPr lang="en-US" altLang="zh-CN" smtClean="0"/>
              <a:pPr>
                <a:defRPr/>
              </a:pPr>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109">
                                            <p:txEl>
                                              <p:pRg st="0" end="0"/>
                                            </p:txEl>
                                          </p:spTgt>
                                        </p:tgtEl>
                                        <p:attrNameLst>
                                          <p:attrName>style.visibility</p:attrName>
                                        </p:attrNameLst>
                                      </p:cBhvr>
                                      <p:to>
                                        <p:strVal val="visible"/>
                                      </p:to>
                                    </p:set>
                                    <p:animEffect transition="in" filter="wipe(up)">
                                      <p:cBhvr>
                                        <p:cTn id="7" dur="500"/>
                                        <p:tgtEl>
                                          <p:spTgt spid="471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109">
                                            <p:txEl>
                                              <p:pRg st="1" end="1"/>
                                            </p:txEl>
                                          </p:spTgt>
                                        </p:tgtEl>
                                        <p:attrNameLst>
                                          <p:attrName>style.visibility</p:attrName>
                                        </p:attrNameLst>
                                      </p:cBhvr>
                                      <p:to>
                                        <p:strVal val="visible"/>
                                      </p:to>
                                    </p:set>
                                    <p:animEffect transition="in" filter="wipe(up)">
                                      <p:cBhvr>
                                        <p:cTn id="12" dur="500"/>
                                        <p:tgtEl>
                                          <p:spTgt spid="4710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109">
                                            <p:txEl>
                                              <p:pRg st="2" end="2"/>
                                            </p:txEl>
                                          </p:spTgt>
                                        </p:tgtEl>
                                        <p:attrNameLst>
                                          <p:attrName>style.visibility</p:attrName>
                                        </p:attrNameLst>
                                      </p:cBhvr>
                                      <p:to>
                                        <p:strVal val="visible"/>
                                      </p:to>
                                    </p:set>
                                    <p:animEffect transition="in" filter="wipe(up)">
                                      <p:cBhvr>
                                        <p:cTn id="17" dur="500"/>
                                        <p:tgtEl>
                                          <p:spTgt spid="4710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7109">
                                            <p:txEl>
                                              <p:pRg st="3" end="3"/>
                                            </p:txEl>
                                          </p:spTgt>
                                        </p:tgtEl>
                                        <p:attrNameLst>
                                          <p:attrName>style.visibility</p:attrName>
                                        </p:attrNameLst>
                                      </p:cBhvr>
                                      <p:to>
                                        <p:strVal val="visible"/>
                                      </p:to>
                                    </p:set>
                                    <p:animEffect transition="in" filter="wipe(up)">
                                      <p:cBhvr>
                                        <p:cTn id="22" dur="500"/>
                                        <p:tgtEl>
                                          <p:spTgt spid="471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uiExpand="1"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2"/>
          <p:cNvPicPr>
            <a:picLocks noChangeAspect="1" noChangeArrowheads="1"/>
          </p:cNvPicPr>
          <p:nvPr/>
        </p:nvPicPr>
        <p:blipFill rotWithShape="1">
          <a:blip r:embed="rId2">
            <a:extLst>
              <a:ext uri="{28A0092B-C50C-407E-A947-70E740481C1C}">
                <a14:useLocalDpi xmlns:a14="http://schemas.microsoft.com/office/drawing/2010/main" val="0"/>
              </a:ext>
            </a:extLst>
          </a:blip>
          <a:srcRect b="53818"/>
          <a:stretch/>
        </p:blipFill>
        <p:spPr bwMode="auto">
          <a:xfrm>
            <a:off x="3517001" y="4336598"/>
            <a:ext cx="5453159" cy="2474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2"/>
          <p:cNvSpPr>
            <a:spLocks noGrp="1" noChangeArrowheads="1"/>
          </p:cNvSpPr>
          <p:nvPr>
            <p:ph type="body" idx="1"/>
          </p:nvPr>
        </p:nvSpPr>
        <p:spPr>
          <a:xfrm>
            <a:off x="8737600" y="3816920"/>
            <a:ext cx="2736304" cy="532656"/>
          </a:xfrm>
        </p:spPr>
        <p:txBody>
          <a:bodyPr/>
          <a:lstStyle/>
          <a:p>
            <a:pPr eaLnBrk="1" hangingPunct="1">
              <a:buFont typeface="Wingdings" pitchFamily="2" charset="2"/>
              <a:buNone/>
            </a:pPr>
            <a:r>
              <a:rPr lang="en-US" altLang="zh-CN" dirty="0">
                <a:ea typeface="黑体" pitchFamily="49" charset="-122"/>
              </a:rPr>
              <a:t>(b)</a:t>
            </a:r>
            <a:r>
              <a:rPr lang="zh-CN" altLang="en-US" dirty="0">
                <a:ea typeface="黑体" pitchFamily="49" charset="-122"/>
              </a:rPr>
              <a:t>线性单元</a:t>
            </a:r>
            <a:endParaRPr lang="zh-CN" altLang="en-US" dirty="0"/>
          </a:p>
        </p:txBody>
      </p:sp>
      <p:sp>
        <p:nvSpPr>
          <p:cNvPr id="25606" name="Rectangle 11"/>
          <p:cNvSpPr>
            <a:spLocks noChangeArrowheads="1"/>
          </p:cNvSpPr>
          <p:nvPr/>
        </p:nvSpPr>
        <p:spPr bwMode="auto">
          <a:xfrm>
            <a:off x="2208213" y="333375"/>
            <a:ext cx="8020050" cy="120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kumimoji="1" lang="zh-CN" altLang="en-US" sz="4400" dirty="0">
                <a:solidFill>
                  <a:srgbClr val="008000"/>
                </a:solidFill>
                <a:latin typeface="楷体_GB2312" pitchFamily="49" charset="-122"/>
                <a:ea typeface="黑体" pitchFamily="49" charset="-122"/>
              </a:rPr>
              <a:t>神经元常见的响应函数</a:t>
            </a:r>
            <a:endParaRPr kumimoji="1" lang="zh-CN" altLang="en-US" sz="4400" dirty="0">
              <a:solidFill>
                <a:srgbClr val="008000"/>
              </a:solidFill>
              <a:latin typeface="Times New Roman" pitchFamily="18" charset="0"/>
              <a:ea typeface="黑体" pitchFamily="49" charset="-122"/>
            </a:endParaRPr>
          </a:p>
        </p:txBody>
      </p:sp>
      <p:graphicFrame>
        <p:nvGraphicFramePr>
          <p:cNvPr id="2" name="对象 1">
            <a:extLst>
              <a:ext uri="{FF2B5EF4-FFF2-40B4-BE49-F238E27FC236}">
                <a16:creationId xmlns:a16="http://schemas.microsoft.com/office/drawing/2014/main" id="{5B16380C-090C-1CCE-BB8D-8B290D0CFFC3}"/>
              </a:ext>
            </a:extLst>
          </p:cNvPr>
          <p:cNvGraphicFramePr>
            <a:graphicFrameLocks noGrp="1" noChangeAspect="1"/>
          </p:cNvGraphicFramePr>
          <p:nvPr>
            <p:extLst>
              <p:ext uri="{D42A27DB-BD31-4B8C-83A1-F6EECF244321}">
                <p14:modId xmlns:p14="http://schemas.microsoft.com/office/powerpoint/2010/main" val="2670896976"/>
              </p:ext>
            </p:extLst>
          </p:nvPr>
        </p:nvGraphicFramePr>
        <p:xfrm>
          <a:off x="8829001" y="5039149"/>
          <a:ext cx="2752652" cy="703359"/>
        </p:xfrm>
        <a:graphic>
          <a:graphicData uri="http://schemas.openxmlformats.org/presentationml/2006/ole">
            <mc:AlternateContent xmlns:mc="http://schemas.openxmlformats.org/markup-compatibility/2006">
              <mc:Choice xmlns:v="urn:schemas-microsoft-com:vml" Requires="v">
                <p:oleObj name="Equation" r:id="rId3" imgW="787320" imgH="203040" progId="Equation.DSMT4">
                  <p:embed/>
                </p:oleObj>
              </mc:Choice>
              <mc:Fallback>
                <p:oleObj name="Equation" r:id="rId3" imgW="787320" imgH="203040" progId="Equation.DSMT4">
                  <p:embed/>
                  <p:pic>
                    <p:nvPicPr>
                      <p:cNvPr id="3" name="对象 2"/>
                      <p:cNvPicPr>
                        <a:picLocks noGrp="1" noChangeAspect="1" noChangeArrowheads="1"/>
                      </p:cNvPicPr>
                      <p:nvPr/>
                    </p:nvPicPr>
                    <p:blipFill>
                      <a:blip r:embed="rId4"/>
                      <a:srcRect/>
                      <a:stretch>
                        <a:fillRect/>
                      </a:stretch>
                    </p:blipFill>
                    <p:spPr bwMode="auto">
                      <a:xfrm>
                        <a:off x="8829001" y="5039149"/>
                        <a:ext cx="2752652" cy="703359"/>
                      </a:xfrm>
                      <a:prstGeom prst="rect">
                        <a:avLst/>
                      </a:prstGeom>
                      <a:noFill/>
                      <a:ln>
                        <a:noFill/>
                      </a:ln>
                    </p:spPr>
                  </p:pic>
                </p:oleObj>
              </mc:Fallback>
            </mc:AlternateContent>
          </a:graphicData>
        </a:graphic>
      </p:graphicFrame>
      <p:graphicFrame>
        <p:nvGraphicFramePr>
          <p:cNvPr id="3" name="对象 2">
            <a:extLst>
              <a:ext uri="{FF2B5EF4-FFF2-40B4-BE49-F238E27FC236}">
                <a16:creationId xmlns:a16="http://schemas.microsoft.com/office/drawing/2014/main" id="{825679AB-5BB9-BEBB-753C-352E109459A7}"/>
              </a:ext>
            </a:extLst>
          </p:cNvPr>
          <p:cNvGraphicFramePr>
            <a:graphicFrameLocks noGrp="1" noChangeAspect="1"/>
          </p:cNvGraphicFramePr>
          <p:nvPr>
            <p:extLst>
              <p:ext uri="{D42A27DB-BD31-4B8C-83A1-F6EECF244321}">
                <p14:modId xmlns:p14="http://schemas.microsoft.com/office/powerpoint/2010/main" val="1983636325"/>
              </p:ext>
            </p:extLst>
          </p:nvPr>
        </p:nvGraphicFramePr>
        <p:xfrm>
          <a:off x="407368" y="4869254"/>
          <a:ext cx="3343275" cy="1157288"/>
        </p:xfrm>
        <a:graphic>
          <a:graphicData uri="http://schemas.openxmlformats.org/presentationml/2006/ole">
            <mc:AlternateContent xmlns:mc="http://schemas.openxmlformats.org/markup-compatibility/2006">
              <mc:Choice xmlns:v="urn:schemas-microsoft-com:vml" Requires="v">
                <p:oleObj name="Equation" r:id="rId5" imgW="1307880" imgH="457200" progId="Equation.DSMT4">
                  <p:embed/>
                </p:oleObj>
              </mc:Choice>
              <mc:Fallback>
                <p:oleObj name="Equation" r:id="rId5" imgW="1307880" imgH="457200" progId="Equation.DSMT4">
                  <p:embed/>
                  <p:pic>
                    <p:nvPicPr>
                      <p:cNvPr id="2" name="对象 1">
                        <a:extLst>
                          <a:ext uri="{FF2B5EF4-FFF2-40B4-BE49-F238E27FC236}">
                            <a16:creationId xmlns:a16="http://schemas.microsoft.com/office/drawing/2014/main" id="{5B16380C-090C-1CCE-BB8D-8B290D0CFFC3}"/>
                          </a:ext>
                        </a:extLst>
                      </p:cNvPr>
                      <p:cNvPicPr>
                        <a:picLocks noGrp="1" noChangeAspect="1" noChangeArrowheads="1"/>
                      </p:cNvPicPr>
                      <p:nvPr/>
                    </p:nvPicPr>
                    <p:blipFill>
                      <a:blip r:embed="rId6"/>
                      <a:srcRect/>
                      <a:stretch>
                        <a:fillRect/>
                      </a:stretch>
                    </p:blipFill>
                    <p:spPr bwMode="auto">
                      <a:xfrm>
                        <a:off x="407368" y="4869254"/>
                        <a:ext cx="334327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灯片编号占位符 3">
            <a:extLst>
              <a:ext uri="{FF2B5EF4-FFF2-40B4-BE49-F238E27FC236}">
                <a16:creationId xmlns:a16="http://schemas.microsoft.com/office/drawing/2014/main" id="{F6525590-0753-7173-B25C-F9B4271355C7}"/>
              </a:ext>
            </a:extLst>
          </p:cNvPr>
          <p:cNvSpPr>
            <a:spLocks noGrp="1"/>
          </p:cNvSpPr>
          <p:nvPr>
            <p:ph type="sldNum" sz="quarter" idx="11"/>
          </p:nvPr>
        </p:nvSpPr>
        <p:spPr/>
        <p:txBody>
          <a:bodyPr/>
          <a:lstStyle/>
          <a:p>
            <a:pPr>
              <a:defRPr/>
            </a:pPr>
            <a:fld id="{E0FB5469-1AEB-496D-971A-66705BF2F73C}" type="slidenum">
              <a:rPr lang="en-US" altLang="zh-CN" smtClean="0"/>
              <a:pPr>
                <a:defRPr/>
              </a:pPr>
              <a:t>38</a:t>
            </a:fld>
            <a:endParaRPr lang="en-US" altLang="zh-CN"/>
          </a:p>
        </p:txBody>
      </p:sp>
      <p:pic>
        <p:nvPicPr>
          <p:cNvPr id="6" name="Picture 6">
            <a:extLst>
              <a:ext uri="{FF2B5EF4-FFF2-40B4-BE49-F238E27FC236}">
                <a16:creationId xmlns:a16="http://schemas.microsoft.com/office/drawing/2014/main" id="{1EE3A345-A27E-CECE-FE0C-40FCEA2ABF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9850" y="1653722"/>
            <a:ext cx="4321175"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3D0BC32F-5EAF-DBBE-718A-5D9CD08F067D}"/>
              </a:ext>
            </a:extLst>
          </p:cNvPr>
          <p:cNvSpPr txBox="1"/>
          <p:nvPr/>
        </p:nvSpPr>
        <p:spPr>
          <a:xfrm>
            <a:off x="1187905" y="3764801"/>
            <a:ext cx="3046562" cy="584775"/>
          </a:xfrm>
          <a:prstGeom prst="rect">
            <a:avLst/>
          </a:prstGeom>
          <a:noFill/>
        </p:spPr>
        <p:txBody>
          <a:bodyPr wrap="square">
            <a:spAutoFit/>
          </a:bodyPr>
          <a:lstStyle/>
          <a:p>
            <a:r>
              <a:rPr lang="en-US" altLang="zh-CN" sz="3200" dirty="0">
                <a:ea typeface="黑体" pitchFamily="49" charset="-122"/>
              </a:rPr>
              <a:t>(a)</a:t>
            </a:r>
            <a:r>
              <a:rPr lang="zh-CN" altLang="en-US" sz="3200" dirty="0">
                <a:ea typeface="黑体" pitchFamily="49" charset="-122"/>
              </a:rPr>
              <a:t>阈值单元 </a:t>
            </a:r>
            <a:endParaRPr lang="zh-CN" altLang="en-US" sz="3200" dirty="0"/>
          </a:p>
        </p:txBody>
      </p:sp>
      <p:graphicFrame>
        <p:nvGraphicFramePr>
          <p:cNvPr id="10" name="对象 9">
            <a:extLst>
              <a:ext uri="{FF2B5EF4-FFF2-40B4-BE49-F238E27FC236}">
                <a16:creationId xmlns:a16="http://schemas.microsoft.com/office/drawing/2014/main" id="{B11BD7E4-786A-5E53-FB1F-0CEC550F2854}"/>
              </a:ext>
            </a:extLst>
          </p:cNvPr>
          <p:cNvGraphicFramePr>
            <a:graphicFrameLocks noGrp="1" noChangeAspect="1"/>
          </p:cNvGraphicFramePr>
          <p:nvPr>
            <p:extLst>
              <p:ext uri="{D42A27DB-BD31-4B8C-83A1-F6EECF244321}">
                <p14:modId xmlns:p14="http://schemas.microsoft.com/office/powerpoint/2010/main" val="373114313"/>
              </p:ext>
            </p:extLst>
          </p:nvPr>
        </p:nvGraphicFramePr>
        <p:xfrm>
          <a:off x="5318427" y="3004919"/>
          <a:ext cx="2335212" cy="1093788"/>
        </p:xfrm>
        <a:graphic>
          <a:graphicData uri="http://schemas.openxmlformats.org/presentationml/2006/ole">
            <mc:AlternateContent xmlns:mc="http://schemas.openxmlformats.org/markup-compatibility/2006">
              <mc:Choice xmlns:v="urn:schemas-microsoft-com:vml" Requires="v">
                <p:oleObj name="Equation" r:id="rId8" imgW="914400" imgH="431640" progId="Equation.DSMT4">
                  <p:embed/>
                </p:oleObj>
              </mc:Choice>
              <mc:Fallback>
                <p:oleObj name="Equation" r:id="rId8" imgW="914400" imgH="431640" progId="Equation.DSMT4">
                  <p:embed/>
                  <p:pic>
                    <p:nvPicPr>
                      <p:cNvPr id="2" name="对象 1"/>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8427" y="3004919"/>
                        <a:ext cx="2335212"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a:extLst>
              <a:ext uri="{FF2B5EF4-FFF2-40B4-BE49-F238E27FC236}">
                <a16:creationId xmlns:a16="http://schemas.microsoft.com/office/drawing/2014/main" id="{484FE332-0FD9-05D9-AB4A-FFDF569C6275}"/>
              </a:ext>
            </a:extLst>
          </p:cNvPr>
          <p:cNvGraphicFramePr>
            <a:graphicFrameLocks noGrp="1" noChangeAspect="1"/>
          </p:cNvGraphicFramePr>
          <p:nvPr>
            <p:extLst>
              <p:ext uri="{D42A27DB-BD31-4B8C-83A1-F6EECF244321}">
                <p14:modId xmlns:p14="http://schemas.microsoft.com/office/powerpoint/2010/main" val="2129468328"/>
              </p:ext>
            </p:extLst>
          </p:nvPr>
        </p:nvGraphicFramePr>
        <p:xfrm>
          <a:off x="8170640" y="2247131"/>
          <a:ext cx="1460500" cy="514350"/>
        </p:xfrm>
        <a:graphic>
          <a:graphicData uri="http://schemas.openxmlformats.org/presentationml/2006/ole">
            <mc:AlternateContent xmlns:mc="http://schemas.openxmlformats.org/markup-compatibility/2006">
              <mc:Choice xmlns:v="urn:schemas-microsoft-com:vml" Requires="v">
                <p:oleObj name="Equation" r:id="rId10" imgW="571320" imgH="203040" progId="Equation.DSMT4">
                  <p:embed/>
                </p:oleObj>
              </mc:Choice>
              <mc:Fallback>
                <p:oleObj name="Equation" r:id="rId10" imgW="571320" imgH="203040" progId="Equation.DSMT4">
                  <p:embed/>
                  <p:pic>
                    <p:nvPicPr>
                      <p:cNvPr id="3" name="对象 2"/>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70640" y="2247131"/>
                        <a:ext cx="14605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500"/>
                                        <p:tgtEl>
                                          <p:spTgt spid="2560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25602"/>
                                        </p:tgtEl>
                                        <p:attrNameLst>
                                          <p:attrName>style.visibility</p:attrName>
                                        </p:attrNameLst>
                                      </p:cBhvr>
                                      <p:to>
                                        <p:strVal val="visible"/>
                                      </p:to>
                                    </p:set>
                                    <p:animEffect transition="in" filter="fade">
                                      <p:cBhvr>
                                        <p:cTn id="15" dur="1000"/>
                                        <p:tgtEl>
                                          <p:spTgt spid="25602"/>
                                        </p:tgtEl>
                                      </p:cBhvr>
                                    </p:animEffect>
                                    <p:anim calcmode="lin" valueType="num">
                                      <p:cBhvr>
                                        <p:cTn id="16" dur="1000" fill="hold"/>
                                        <p:tgtEl>
                                          <p:spTgt spid="25602"/>
                                        </p:tgtEl>
                                        <p:attrNameLst>
                                          <p:attrName>ppt_x</p:attrName>
                                        </p:attrNameLst>
                                      </p:cBhvr>
                                      <p:tavLst>
                                        <p:tav tm="0">
                                          <p:val>
                                            <p:strVal val="#ppt_x"/>
                                          </p:val>
                                        </p:tav>
                                        <p:tav tm="100000">
                                          <p:val>
                                            <p:strVal val="#ppt_x"/>
                                          </p:val>
                                        </p:tav>
                                      </p:tavLst>
                                    </p:anim>
                                    <p:anim calcmode="lin" valueType="num">
                                      <p:cBhvr>
                                        <p:cTn id="17" dur="1000" fill="hold"/>
                                        <p:tgtEl>
                                          <p:spTgt spid="2560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10"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1797144" y="298253"/>
            <a:ext cx="7772400" cy="120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kumimoji="1" lang="zh-CN" altLang="en-US" sz="4400" dirty="0">
                <a:solidFill>
                  <a:srgbClr val="008000"/>
                </a:solidFill>
                <a:latin typeface="黑体" pitchFamily="49" charset="-122"/>
                <a:ea typeface="黑体" pitchFamily="49" charset="-122"/>
              </a:rPr>
              <a:t>常见神经元响应函数</a:t>
            </a:r>
          </a:p>
        </p:txBody>
      </p:sp>
      <p:sp>
        <p:nvSpPr>
          <p:cNvPr id="26629" name="Rectangle 5"/>
          <p:cNvSpPr>
            <a:spLocks noChangeArrowheads="1"/>
          </p:cNvSpPr>
          <p:nvPr/>
        </p:nvSpPr>
        <p:spPr bwMode="auto">
          <a:xfrm>
            <a:off x="908008" y="1513590"/>
            <a:ext cx="72042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ea typeface="黑体" pitchFamily="49" charset="-122"/>
              </a:rPr>
              <a:t>(c)</a:t>
            </a:r>
            <a:r>
              <a:rPr lang="zh-CN" altLang="en-US" sz="3200" dirty="0">
                <a:ea typeface="黑体" pitchFamily="49" charset="-122"/>
              </a:rPr>
              <a:t>非线性单元：</a:t>
            </a:r>
            <a:r>
              <a:rPr lang="en-US" altLang="zh-CN" sz="3200" dirty="0">
                <a:solidFill>
                  <a:srgbClr val="FF0000"/>
                </a:solidFill>
                <a:ea typeface="黑体" pitchFamily="49" charset="-122"/>
              </a:rPr>
              <a:t>Sigmoid</a:t>
            </a:r>
            <a:r>
              <a:rPr lang="zh-CN" altLang="en-US" sz="3200" dirty="0">
                <a:solidFill>
                  <a:srgbClr val="FF0000"/>
                </a:solidFill>
                <a:ea typeface="黑体" pitchFamily="49" charset="-122"/>
              </a:rPr>
              <a:t>函数</a:t>
            </a:r>
            <a:r>
              <a:rPr lang="en-US" altLang="zh-CN" sz="3200" dirty="0">
                <a:solidFill>
                  <a:srgbClr val="FF0000"/>
                </a:solidFill>
                <a:ea typeface="黑体" pitchFamily="49" charset="-122"/>
              </a:rPr>
              <a:t>(S</a:t>
            </a:r>
            <a:r>
              <a:rPr lang="zh-CN" altLang="en-US" sz="3200" dirty="0">
                <a:solidFill>
                  <a:srgbClr val="FF0000"/>
                </a:solidFill>
                <a:ea typeface="黑体" pitchFamily="49" charset="-122"/>
              </a:rPr>
              <a:t>型函数</a:t>
            </a:r>
            <a:r>
              <a:rPr lang="en-US" altLang="zh-CN" sz="3200" dirty="0">
                <a:solidFill>
                  <a:srgbClr val="FF0000"/>
                </a:solidFill>
                <a:ea typeface="黑体" pitchFamily="49" charset="-122"/>
              </a:rPr>
              <a:t>)</a:t>
            </a:r>
            <a:endParaRPr lang="zh-CN" altLang="en-US" sz="3200" dirty="0">
              <a:solidFill>
                <a:srgbClr val="FF0000"/>
              </a:solidFill>
              <a:ea typeface="黑体" pitchFamily="49" charset="-122"/>
            </a:endParaRPr>
          </a:p>
        </p:txBody>
      </p:sp>
      <p:graphicFrame>
        <p:nvGraphicFramePr>
          <p:cNvPr id="26630" name="Object 9"/>
          <p:cNvGraphicFramePr>
            <a:graphicFrameLocks noChangeAspect="1"/>
          </p:cNvGraphicFramePr>
          <p:nvPr>
            <p:extLst>
              <p:ext uri="{D42A27DB-BD31-4B8C-83A1-F6EECF244321}">
                <p14:modId xmlns:p14="http://schemas.microsoft.com/office/powerpoint/2010/main" val="579876389"/>
              </p:ext>
            </p:extLst>
          </p:nvPr>
        </p:nvGraphicFramePr>
        <p:xfrm>
          <a:off x="2495600" y="2132856"/>
          <a:ext cx="3168650" cy="1130300"/>
        </p:xfrm>
        <a:graphic>
          <a:graphicData uri="http://schemas.openxmlformats.org/presentationml/2006/ole">
            <mc:AlternateContent xmlns:mc="http://schemas.openxmlformats.org/markup-compatibility/2006">
              <mc:Choice xmlns:v="urn:schemas-microsoft-com:vml" Requires="v">
                <p:oleObj name="公式" r:id="rId2" imgW="1104900" imgH="393700" progId="Equation.3">
                  <p:embed/>
                </p:oleObj>
              </mc:Choice>
              <mc:Fallback>
                <p:oleObj name="公式" r:id="rId2" imgW="1104900" imgH="393700" progId="Equation.3">
                  <p:embed/>
                  <p:pic>
                    <p:nvPicPr>
                      <p:cNvPr id="2663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600" y="2132856"/>
                        <a:ext cx="3168650" cy="1130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1" name="Object 10"/>
          <p:cNvGraphicFramePr>
            <a:graphicFrameLocks noChangeAspect="1"/>
          </p:cNvGraphicFramePr>
          <p:nvPr>
            <p:extLst>
              <p:ext uri="{D42A27DB-BD31-4B8C-83A1-F6EECF244321}">
                <p14:modId xmlns:p14="http://schemas.microsoft.com/office/powerpoint/2010/main" val="1518812153"/>
              </p:ext>
            </p:extLst>
          </p:nvPr>
        </p:nvGraphicFramePr>
        <p:xfrm>
          <a:off x="6381700" y="2132856"/>
          <a:ext cx="3314700" cy="1130300"/>
        </p:xfrm>
        <a:graphic>
          <a:graphicData uri="http://schemas.openxmlformats.org/presentationml/2006/ole">
            <mc:AlternateContent xmlns:mc="http://schemas.openxmlformats.org/markup-compatibility/2006">
              <mc:Choice xmlns:v="urn:schemas-microsoft-com:vml" Requires="v">
                <p:oleObj name="公式" r:id="rId4" imgW="1155700" imgH="393700" progId="Equation.3">
                  <p:embed/>
                </p:oleObj>
              </mc:Choice>
              <mc:Fallback>
                <p:oleObj name="公式" r:id="rId4" imgW="1155700" imgH="393700" progId="Equation.3">
                  <p:embed/>
                  <p:pic>
                    <p:nvPicPr>
                      <p:cNvPr id="26631"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1700" y="2132856"/>
                        <a:ext cx="3314700" cy="1130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3" name="Text Box 11"/>
          <p:cNvSpPr txBox="1">
            <a:spLocks noChangeArrowheads="1"/>
          </p:cNvSpPr>
          <p:nvPr/>
        </p:nvSpPr>
        <p:spPr bwMode="auto">
          <a:xfrm>
            <a:off x="6096001" y="6237313"/>
            <a:ext cx="4752527" cy="461665"/>
          </a:xfrm>
          <a:prstGeom prst="rect">
            <a:avLst/>
          </a:prstGeom>
          <a:solidFill>
            <a:srgbClr val="FFFF00"/>
          </a:solidFill>
          <a:ln>
            <a:noFill/>
          </a:ln>
          <a:effec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el-GR" altLang="zh-CN" sz="2400" b="1" i="1" dirty="0">
                <a:solidFill>
                  <a:srgbClr val="FF0000"/>
                </a:solidFill>
              </a:rPr>
              <a:t>β</a:t>
            </a:r>
            <a:r>
              <a:rPr lang="zh-CN" altLang="en-US" sz="2400" b="1" dirty="0">
                <a:solidFill>
                  <a:schemeClr val="bg2"/>
                </a:solidFill>
                <a:ea typeface="楷体_GB2312" pitchFamily="49" charset="-122"/>
              </a:rPr>
              <a:t>值越大，越陡； </a:t>
            </a:r>
            <a:r>
              <a:rPr lang="el-GR" altLang="zh-CN" sz="2400" b="1" i="1" dirty="0">
                <a:solidFill>
                  <a:srgbClr val="FF0000"/>
                </a:solidFill>
                <a:ea typeface="楷体_GB2312" pitchFamily="49" charset="-122"/>
              </a:rPr>
              <a:t>β</a:t>
            </a:r>
            <a:r>
              <a:rPr lang="zh-CN" altLang="en-US" sz="2400" b="1" dirty="0">
                <a:solidFill>
                  <a:schemeClr val="bg2"/>
                </a:solidFill>
                <a:ea typeface="楷体_GB2312" pitchFamily="49" charset="-122"/>
              </a:rPr>
              <a:t>值越小，越斜</a:t>
            </a:r>
          </a:p>
        </p:txBody>
      </p:sp>
      <p:pic>
        <p:nvPicPr>
          <p:cNvPr id="10" name="图片 9" descr="形状, 矩形&#10;&#10;描述已自动生成">
            <a:extLst>
              <a:ext uri="{FF2B5EF4-FFF2-40B4-BE49-F238E27FC236}">
                <a16:creationId xmlns:a16="http://schemas.microsoft.com/office/drawing/2014/main" id="{54D94B4F-A967-8E9B-5EB6-87D1F873545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66988" y="3529259"/>
            <a:ext cx="2514724" cy="2427238"/>
          </a:xfrm>
          <a:prstGeom prst="rect">
            <a:avLst/>
          </a:prstGeom>
        </p:spPr>
      </p:pic>
      <p:pic>
        <p:nvPicPr>
          <p:cNvPr id="12" name="图片 11" descr="图片包含 形状&#10;&#10;描述已自动生成">
            <a:extLst>
              <a:ext uri="{FF2B5EF4-FFF2-40B4-BE49-F238E27FC236}">
                <a16:creationId xmlns:a16="http://schemas.microsoft.com/office/drawing/2014/main" id="{7984B864-35D6-B26B-F3EB-8D703B7D360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37770" y="3519319"/>
            <a:ext cx="3314700" cy="2552873"/>
          </a:xfrm>
          <a:prstGeom prst="rect">
            <a:avLst/>
          </a:prstGeom>
        </p:spPr>
      </p:pic>
      <p:sp>
        <p:nvSpPr>
          <p:cNvPr id="5" name="文本框 4">
            <a:extLst>
              <a:ext uri="{FF2B5EF4-FFF2-40B4-BE49-F238E27FC236}">
                <a16:creationId xmlns:a16="http://schemas.microsoft.com/office/drawing/2014/main" id="{E0B6AAF9-761A-067B-4893-564B04F333FF}"/>
              </a:ext>
            </a:extLst>
          </p:cNvPr>
          <p:cNvSpPr txBox="1"/>
          <p:nvPr/>
        </p:nvSpPr>
        <p:spPr>
          <a:xfrm>
            <a:off x="8618611" y="5011767"/>
            <a:ext cx="1872209" cy="461665"/>
          </a:xfrm>
          <a:prstGeom prst="rect">
            <a:avLst/>
          </a:prstGeom>
          <a:noFill/>
        </p:spPr>
        <p:txBody>
          <a:bodyPr wrap="square" rtlCol="0">
            <a:spAutoFit/>
          </a:bodyPr>
          <a:lstStyle/>
          <a:p>
            <a:r>
              <a:rPr lang="zh-CN" altLang="en-US" sz="2400" b="1" i="1" dirty="0">
                <a:solidFill>
                  <a:srgbClr val="008000"/>
                </a:solidFill>
                <a:effectLst>
                  <a:outerShdw blurRad="38100" dist="38100" dir="2700000" algn="tl">
                    <a:srgbClr val="000000">
                      <a:alpha val="43137"/>
                    </a:srgbClr>
                  </a:outerShdw>
                </a:effectLst>
                <a:sym typeface="Symbol" panose="05050102010706020507" pitchFamily="18" charset="2"/>
              </a:rPr>
              <a:t></a:t>
            </a:r>
            <a:r>
              <a:rPr lang="en-US" altLang="zh-CN" sz="2400" b="1" baseline="-25000" dirty="0">
                <a:solidFill>
                  <a:srgbClr val="008000"/>
                </a:solidFill>
                <a:effectLst>
                  <a:outerShdw blurRad="38100" dist="38100" dir="2700000" algn="tl">
                    <a:srgbClr val="000000">
                      <a:alpha val="43137"/>
                    </a:srgbClr>
                  </a:outerShdw>
                </a:effectLst>
                <a:sym typeface="Symbol" panose="05050102010706020507" pitchFamily="18" charset="2"/>
              </a:rPr>
              <a:t>1 </a:t>
            </a:r>
            <a:r>
              <a:rPr lang="en-US" altLang="zh-CN" sz="2400" b="1" dirty="0">
                <a:effectLst>
                  <a:outerShdw blurRad="38100" dist="38100" dir="2700000" algn="tl">
                    <a:srgbClr val="000000">
                      <a:alpha val="43137"/>
                    </a:srgbClr>
                  </a:outerShdw>
                </a:effectLst>
                <a:sym typeface="Symbol" panose="05050102010706020507" pitchFamily="18" charset="2"/>
              </a:rPr>
              <a:t>&gt;</a:t>
            </a:r>
            <a:r>
              <a:rPr lang="zh-CN" altLang="en-US" sz="2400" b="1" i="1" dirty="0">
                <a:solidFill>
                  <a:srgbClr val="FA7A11"/>
                </a:solidFill>
                <a:effectLst>
                  <a:outerShdw blurRad="38100" dist="38100" dir="2700000" algn="tl">
                    <a:srgbClr val="000000">
                      <a:alpha val="43137"/>
                    </a:srgbClr>
                  </a:outerShdw>
                </a:effectLst>
                <a:sym typeface="Symbol" panose="05050102010706020507" pitchFamily="18" charset="2"/>
              </a:rPr>
              <a:t></a:t>
            </a:r>
            <a:r>
              <a:rPr lang="en-US" altLang="zh-CN" sz="2400" b="1" baseline="-25000" dirty="0">
                <a:solidFill>
                  <a:srgbClr val="FA7A11"/>
                </a:solidFill>
                <a:effectLst>
                  <a:outerShdw blurRad="38100" dist="38100" dir="2700000" algn="tl">
                    <a:srgbClr val="000000">
                      <a:alpha val="43137"/>
                    </a:srgbClr>
                  </a:outerShdw>
                </a:effectLst>
                <a:sym typeface="Symbol" panose="05050102010706020507" pitchFamily="18" charset="2"/>
              </a:rPr>
              <a:t>2 </a:t>
            </a:r>
            <a:r>
              <a:rPr lang="en-US" altLang="zh-CN" sz="2400" b="1" dirty="0">
                <a:effectLst>
                  <a:outerShdw blurRad="38100" dist="38100" dir="2700000" algn="tl">
                    <a:srgbClr val="000000">
                      <a:alpha val="43137"/>
                    </a:srgbClr>
                  </a:outerShdw>
                </a:effectLst>
                <a:sym typeface="Symbol" panose="05050102010706020507" pitchFamily="18" charset="2"/>
              </a:rPr>
              <a:t>&gt;</a:t>
            </a:r>
            <a:r>
              <a:rPr lang="zh-CN" altLang="en-US" sz="2400" b="1" i="1" dirty="0">
                <a:solidFill>
                  <a:srgbClr val="6042A6"/>
                </a:solidFill>
                <a:effectLst>
                  <a:outerShdw blurRad="38100" dist="38100" dir="2700000" algn="tl">
                    <a:srgbClr val="000000">
                      <a:alpha val="43137"/>
                    </a:srgbClr>
                  </a:outerShdw>
                </a:effectLst>
                <a:sym typeface="Symbol" panose="05050102010706020507" pitchFamily="18" charset="2"/>
              </a:rPr>
              <a:t></a:t>
            </a:r>
            <a:r>
              <a:rPr lang="en-US" altLang="zh-CN" sz="2400" b="1" baseline="-25000" dirty="0">
                <a:solidFill>
                  <a:srgbClr val="6042A6"/>
                </a:solidFill>
                <a:effectLst>
                  <a:outerShdw blurRad="38100" dist="38100" dir="2700000" algn="tl">
                    <a:srgbClr val="000000">
                      <a:alpha val="43137"/>
                    </a:srgbClr>
                  </a:outerShdw>
                </a:effectLst>
                <a:sym typeface="Symbol" panose="05050102010706020507" pitchFamily="18" charset="2"/>
              </a:rPr>
              <a:t>3</a:t>
            </a:r>
            <a:endParaRPr lang="zh-CN" altLang="en-US" dirty="0"/>
          </a:p>
        </p:txBody>
      </p:sp>
      <p:sp>
        <p:nvSpPr>
          <p:cNvPr id="2" name="灯片编号占位符 1">
            <a:extLst>
              <a:ext uri="{FF2B5EF4-FFF2-40B4-BE49-F238E27FC236}">
                <a16:creationId xmlns:a16="http://schemas.microsoft.com/office/drawing/2014/main" id="{27965D08-E97A-B081-3627-43EB30CDBC57}"/>
              </a:ext>
            </a:extLst>
          </p:cNvPr>
          <p:cNvSpPr>
            <a:spLocks noGrp="1"/>
          </p:cNvSpPr>
          <p:nvPr>
            <p:ph type="sldNum" sz="quarter" idx="11"/>
          </p:nvPr>
        </p:nvSpPr>
        <p:spPr/>
        <p:txBody>
          <a:bodyPr/>
          <a:lstStyle/>
          <a:p>
            <a:pPr>
              <a:defRPr/>
            </a:pPr>
            <a:fld id="{1240398B-3681-435F-A1B8-D490B121ECC3}" type="slidenum">
              <a:rPr lang="en-US" altLang="zh-CN" smtClean="0"/>
              <a:pPr>
                <a:defRPr/>
              </a:pPr>
              <a:t>39</a:t>
            </a:fld>
            <a:endParaRPr lang="en-US" altLang="zh-CN"/>
          </a:p>
        </p:txBody>
      </p:sp>
      <p:pic>
        <p:nvPicPr>
          <p:cNvPr id="4" name="图片 3">
            <a:extLst>
              <a:ext uri="{FF2B5EF4-FFF2-40B4-BE49-F238E27FC236}">
                <a16:creationId xmlns:a16="http://schemas.microsoft.com/office/drawing/2014/main" id="{E9A71FBB-F1D1-90E8-8730-96C23C5FB19F}"/>
              </a:ext>
            </a:extLst>
          </p:cNvPr>
          <p:cNvPicPr>
            <a:picLocks noChangeAspect="1"/>
          </p:cNvPicPr>
          <p:nvPr/>
        </p:nvPicPr>
        <p:blipFill>
          <a:blip r:embed="rId8"/>
          <a:stretch>
            <a:fillRect/>
          </a:stretch>
        </p:blipFill>
        <p:spPr>
          <a:xfrm>
            <a:off x="8360925" y="44624"/>
            <a:ext cx="3783747" cy="2121966"/>
          </a:xfrm>
          <a:prstGeom prst="rect">
            <a:avLst/>
          </a:prstGeom>
          <a:effectLst>
            <a:glow rad="127000">
              <a:srgbClr val="FFE1FF"/>
            </a:glo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630"/>
                                        </p:tgtEl>
                                        <p:attrNameLst>
                                          <p:attrName>style.visibility</p:attrName>
                                        </p:attrNameLst>
                                      </p:cBhvr>
                                      <p:to>
                                        <p:strVal val="visible"/>
                                      </p:to>
                                    </p:set>
                                    <p:animEffect transition="in" filter="wipe(left)">
                                      <p:cBhvr>
                                        <p:cTn id="7" dur="500"/>
                                        <p:tgtEl>
                                          <p:spTgt spid="266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631"/>
                                        </p:tgtEl>
                                        <p:attrNameLst>
                                          <p:attrName>style.visibility</p:attrName>
                                        </p:attrNameLst>
                                      </p:cBhvr>
                                      <p:to>
                                        <p:strVal val="visible"/>
                                      </p:to>
                                    </p:set>
                                    <p:animEffect transition="in" filter="wipe(left)">
                                      <p:cBhvr>
                                        <p:cTn id="17" dur="500"/>
                                        <p:tgtEl>
                                          <p:spTgt spid="266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9403"/>
                                        </p:tgtEl>
                                        <p:attrNameLst>
                                          <p:attrName>style.visibility</p:attrName>
                                        </p:attrNameLst>
                                      </p:cBhvr>
                                      <p:to>
                                        <p:strVal val="visible"/>
                                      </p:to>
                                    </p:set>
                                    <p:animEffect transition="in" filter="fade">
                                      <p:cBhvr>
                                        <p:cTn id="31" dur="1000"/>
                                        <p:tgtEl>
                                          <p:spTgt spid="59403"/>
                                        </p:tgtEl>
                                      </p:cBhvr>
                                    </p:animEffect>
                                    <p:anim calcmode="lin" valueType="num">
                                      <p:cBhvr>
                                        <p:cTn id="32" dur="1000" fill="hold"/>
                                        <p:tgtEl>
                                          <p:spTgt spid="59403"/>
                                        </p:tgtEl>
                                        <p:attrNameLst>
                                          <p:attrName>ppt_x</p:attrName>
                                        </p:attrNameLst>
                                      </p:cBhvr>
                                      <p:tavLst>
                                        <p:tav tm="0">
                                          <p:val>
                                            <p:strVal val="#ppt_x"/>
                                          </p:val>
                                        </p:tav>
                                        <p:tav tm="100000">
                                          <p:val>
                                            <p:strVal val="#ppt_x"/>
                                          </p:val>
                                        </p:tav>
                                      </p:tavLst>
                                    </p:anim>
                                    <p:anim calcmode="lin" valueType="num">
                                      <p:cBhvr>
                                        <p:cTn id="33" dur="1000" fill="hold"/>
                                        <p:tgtEl>
                                          <p:spTgt spid="594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3" grpId="0" animBg="1"/>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981200" y="260648"/>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神经网络的典型结构</a:t>
            </a:r>
          </a:p>
        </p:txBody>
      </p:sp>
      <p:sp>
        <p:nvSpPr>
          <p:cNvPr id="96259" name="Rectangle 3"/>
          <p:cNvSpPr>
            <a:spLocks noGrp="1" noChangeArrowheads="1"/>
          </p:cNvSpPr>
          <p:nvPr>
            <p:ph type="body" idx="1"/>
          </p:nvPr>
        </p:nvSpPr>
        <p:spPr>
          <a:xfrm>
            <a:off x="1981200" y="1844824"/>
            <a:ext cx="8229600" cy="5013176"/>
          </a:xfrm>
        </p:spPr>
        <p:txBody>
          <a:bodyPr/>
          <a:lstStyle/>
          <a:p>
            <a:pPr>
              <a:lnSpc>
                <a:spcPct val="120000"/>
              </a:lnSpc>
            </a:pPr>
            <a:r>
              <a:rPr lang="zh-CN" altLang="en-US" b="1" dirty="0">
                <a:solidFill>
                  <a:srgbClr val="0000FF"/>
                </a:solidFill>
              </a:rPr>
              <a:t>按网络的结构区分</a:t>
            </a:r>
          </a:p>
          <a:p>
            <a:pPr lvl="1">
              <a:lnSpc>
                <a:spcPct val="120000"/>
              </a:lnSpc>
            </a:pPr>
            <a:r>
              <a:rPr lang="zh-CN" altLang="en-US" sz="3200" b="1" dirty="0"/>
              <a:t>前向网络</a:t>
            </a:r>
          </a:p>
          <a:p>
            <a:pPr lvl="1">
              <a:lnSpc>
                <a:spcPct val="120000"/>
              </a:lnSpc>
            </a:pPr>
            <a:r>
              <a:rPr lang="zh-CN" altLang="en-US" sz="3200" b="1" dirty="0"/>
              <a:t>反馈网络</a:t>
            </a:r>
          </a:p>
        </p:txBody>
      </p:sp>
      <p:sp>
        <p:nvSpPr>
          <p:cNvPr id="2" name="灯片编号占位符 1">
            <a:extLst>
              <a:ext uri="{FF2B5EF4-FFF2-40B4-BE49-F238E27FC236}">
                <a16:creationId xmlns:a16="http://schemas.microsoft.com/office/drawing/2014/main" id="{A7A16D05-AB88-C6EF-C57C-C2921A33C93D}"/>
              </a:ext>
            </a:extLst>
          </p:cNvPr>
          <p:cNvSpPr>
            <a:spLocks noGrp="1"/>
          </p:cNvSpPr>
          <p:nvPr>
            <p:ph type="sldNum" sz="quarter" idx="11"/>
          </p:nvPr>
        </p:nvSpPr>
        <p:spPr/>
        <p:txBody>
          <a:bodyPr/>
          <a:lstStyle/>
          <a:p>
            <a:pPr>
              <a:defRPr/>
            </a:pPr>
            <a:fld id="{E0FB5469-1AEB-496D-971A-66705BF2F73C}" type="slidenum">
              <a:rPr lang="en-US" altLang="zh-CN" smtClean="0"/>
              <a:pPr>
                <a:defRPr/>
              </a:pPr>
              <a:t>40</a:t>
            </a:fld>
            <a:endParaRPr lang="en-US" altLang="zh-CN"/>
          </a:p>
        </p:txBody>
      </p:sp>
    </p:spTree>
    <p:extLst>
      <p:ext uri="{BB962C8B-B14F-4D97-AF65-F5344CB8AC3E}">
        <p14:creationId xmlns:p14="http://schemas.microsoft.com/office/powerpoint/2010/main" val="134006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wipe(left)">
                                      <p:cBhvr>
                                        <p:cTn id="12" dur="500"/>
                                        <p:tgtEl>
                                          <p:spTgt spid="96259">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6259">
                                            <p:txEl>
                                              <p:pRg st="2" end="2"/>
                                            </p:txEl>
                                          </p:spTgt>
                                        </p:tgtEl>
                                        <p:attrNameLst>
                                          <p:attrName>style.visibility</p:attrName>
                                        </p:attrNameLst>
                                      </p:cBhvr>
                                      <p:to>
                                        <p:strVal val="visible"/>
                                      </p:to>
                                    </p:set>
                                    <p:animEffect transition="in" filter="wipe(left)">
                                      <p:cBhvr>
                                        <p:cTn id="16" dur="500"/>
                                        <p:tgtEl>
                                          <p:spTgt spid="962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body" idx="1"/>
          </p:nvPr>
        </p:nvSpPr>
        <p:spPr>
          <a:xfrm>
            <a:off x="1199456" y="1628776"/>
            <a:ext cx="9793088" cy="2087563"/>
          </a:xfrm>
        </p:spPr>
        <p:txBody>
          <a:bodyPr/>
          <a:lstStyle/>
          <a:p>
            <a:pPr eaLnBrk="1" hangingPunct="1"/>
            <a:r>
              <a:rPr lang="zh-CN" altLang="en-US" b="1" dirty="0">
                <a:solidFill>
                  <a:srgbClr val="CC00CC"/>
                </a:solidFill>
                <a:latin typeface="Times New Roman" pitchFamily="18" charset="0"/>
              </a:rPr>
              <a:t>层次划分</a:t>
            </a:r>
            <a:r>
              <a:rPr lang="zh-CN" altLang="en-US" dirty="0">
                <a:solidFill>
                  <a:srgbClr val="CC00CC"/>
                </a:solidFill>
              </a:rPr>
              <a:t> </a:t>
            </a:r>
          </a:p>
          <a:p>
            <a:pPr lvl="1" algn="just" eaLnBrk="1" hangingPunct="1"/>
            <a:r>
              <a:rPr lang="zh-CN" altLang="en-US" b="1" dirty="0">
                <a:latin typeface="宋体" pitchFamily="2" charset="-122"/>
              </a:rPr>
              <a:t>信号只被允许从较低层流向较高层。</a:t>
            </a:r>
            <a:endParaRPr lang="zh-CN" altLang="en-US" b="1" dirty="0">
              <a:latin typeface="Times New Roman" pitchFamily="18" charset="0"/>
            </a:endParaRPr>
          </a:p>
          <a:p>
            <a:pPr lvl="1" algn="just" eaLnBrk="1" hangingPunct="1"/>
            <a:r>
              <a:rPr lang="zh-CN" altLang="en-US" b="1" dirty="0">
                <a:latin typeface="宋体" pitchFamily="2" charset="-122"/>
              </a:rPr>
              <a:t>层号确定层的高低：层号较小者，层次较低，层号较大者，层次较高。</a:t>
            </a:r>
            <a:endParaRPr lang="zh-CN" altLang="en-US" b="1" dirty="0">
              <a:latin typeface="Times New Roman" pitchFamily="18" charset="0"/>
            </a:endParaRPr>
          </a:p>
        </p:txBody>
      </p:sp>
      <p:grpSp>
        <p:nvGrpSpPr>
          <p:cNvPr id="27651" name="Group 3"/>
          <p:cNvGrpSpPr>
            <a:grpSpLocks/>
          </p:cNvGrpSpPr>
          <p:nvPr/>
        </p:nvGrpSpPr>
        <p:grpSpPr bwMode="auto">
          <a:xfrm>
            <a:off x="2495956" y="3860800"/>
            <a:ext cx="7061832" cy="2838450"/>
            <a:chOff x="363" y="806"/>
            <a:chExt cx="5227" cy="3217"/>
          </a:xfrm>
        </p:grpSpPr>
        <p:grpSp>
          <p:nvGrpSpPr>
            <p:cNvPr id="27653" name="Group 4"/>
            <p:cNvGrpSpPr>
              <a:grpSpLocks/>
            </p:cNvGrpSpPr>
            <p:nvPr/>
          </p:nvGrpSpPr>
          <p:grpSpPr bwMode="auto">
            <a:xfrm>
              <a:off x="960" y="3540"/>
              <a:ext cx="4065" cy="483"/>
              <a:chOff x="960" y="3540"/>
              <a:chExt cx="4065" cy="483"/>
            </a:xfrm>
          </p:grpSpPr>
          <p:sp>
            <p:nvSpPr>
              <p:cNvPr id="27714" name="Rectangle 5"/>
              <p:cNvSpPr>
                <a:spLocks noChangeArrowheads="1"/>
              </p:cNvSpPr>
              <p:nvPr/>
            </p:nvSpPr>
            <p:spPr bwMode="auto">
              <a:xfrm>
                <a:off x="4274" y="3572"/>
                <a:ext cx="751" cy="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输出层 </a:t>
                </a:r>
              </a:p>
            </p:txBody>
          </p:sp>
          <p:sp>
            <p:nvSpPr>
              <p:cNvPr id="27715" name="Rectangle 6"/>
              <p:cNvSpPr>
                <a:spLocks noChangeArrowheads="1"/>
              </p:cNvSpPr>
              <p:nvPr/>
            </p:nvSpPr>
            <p:spPr bwMode="auto">
              <a:xfrm>
                <a:off x="2592" y="3553"/>
                <a:ext cx="70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隐藏层</a:t>
                </a:r>
              </a:p>
            </p:txBody>
          </p:sp>
          <p:sp>
            <p:nvSpPr>
              <p:cNvPr id="27716" name="Rectangle 7"/>
              <p:cNvSpPr>
                <a:spLocks noChangeArrowheads="1"/>
              </p:cNvSpPr>
              <p:nvPr/>
            </p:nvSpPr>
            <p:spPr bwMode="auto">
              <a:xfrm>
                <a:off x="960" y="3540"/>
                <a:ext cx="70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输入层</a:t>
                </a:r>
              </a:p>
            </p:txBody>
          </p:sp>
        </p:grpSp>
        <p:grpSp>
          <p:nvGrpSpPr>
            <p:cNvPr id="27654" name="Group 8"/>
            <p:cNvGrpSpPr>
              <a:grpSpLocks/>
            </p:cNvGrpSpPr>
            <p:nvPr/>
          </p:nvGrpSpPr>
          <p:grpSpPr bwMode="auto">
            <a:xfrm>
              <a:off x="5040" y="806"/>
              <a:ext cx="550" cy="2673"/>
              <a:chOff x="5040" y="806"/>
              <a:chExt cx="550" cy="2673"/>
            </a:xfrm>
          </p:grpSpPr>
          <p:sp>
            <p:nvSpPr>
              <p:cNvPr id="27710" name="Rectangle 9"/>
              <p:cNvSpPr>
                <a:spLocks noChangeArrowheads="1"/>
              </p:cNvSpPr>
              <p:nvPr/>
            </p:nvSpPr>
            <p:spPr bwMode="auto">
              <a:xfrm>
                <a:off x="5241" y="806"/>
                <a:ext cx="292"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o</a:t>
                </a:r>
                <a:r>
                  <a:rPr kumimoji="1" lang="en-US" altLang="zh-CN" sz="2000" b="1" baseline="-30000">
                    <a:latin typeface="Times New Roman" pitchFamily="18" charset="0"/>
                  </a:rPr>
                  <a:t>1</a:t>
                </a:r>
              </a:p>
            </p:txBody>
          </p:sp>
          <p:sp>
            <p:nvSpPr>
              <p:cNvPr id="27711" name="Rectangle 10"/>
              <p:cNvSpPr>
                <a:spLocks noChangeArrowheads="1"/>
              </p:cNvSpPr>
              <p:nvPr/>
            </p:nvSpPr>
            <p:spPr bwMode="auto">
              <a:xfrm>
                <a:off x="5242" y="1536"/>
                <a:ext cx="294"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o</a:t>
                </a:r>
                <a:r>
                  <a:rPr kumimoji="1" lang="en-US" altLang="zh-CN" sz="2000" b="1" baseline="-30000" dirty="0">
                    <a:latin typeface="Times New Roman" pitchFamily="18" charset="0"/>
                  </a:rPr>
                  <a:t>2</a:t>
                </a:r>
              </a:p>
            </p:txBody>
          </p:sp>
          <p:sp>
            <p:nvSpPr>
              <p:cNvPr id="27712" name="Rectangle 11"/>
              <p:cNvSpPr>
                <a:spLocks noChangeArrowheads="1"/>
              </p:cNvSpPr>
              <p:nvPr/>
            </p:nvSpPr>
            <p:spPr bwMode="auto">
              <a:xfrm>
                <a:off x="5253" y="3026"/>
                <a:ext cx="337"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o</a:t>
                </a:r>
                <a:r>
                  <a:rPr kumimoji="1" lang="en-US" altLang="zh-CN" sz="2000" b="1" baseline="-30000" dirty="0">
                    <a:latin typeface="Times New Roman" pitchFamily="18" charset="0"/>
                  </a:rPr>
                  <a:t>m</a:t>
                </a:r>
              </a:p>
            </p:txBody>
          </p:sp>
          <p:sp>
            <p:nvSpPr>
              <p:cNvPr id="27713" name="Rectangle 12"/>
              <p:cNvSpPr>
                <a:spLocks noChangeArrowheads="1"/>
              </p:cNvSpPr>
              <p:nvPr/>
            </p:nvSpPr>
            <p:spPr bwMode="auto">
              <a:xfrm>
                <a:off x="5040" y="2542"/>
                <a:ext cx="32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grpSp>
        <p:grpSp>
          <p:nvGrpSpPr>
            <p:cNvPr id="27655" name="Group 13"/>
            <p:cNvGrpSpPr>
              <a:grpSpLocks/>
            </p:cNvGrpSpPr>
            <p:nvPr/>
          </p:nvGrpSpPr>
          <p:grpSpPr bwMode="auto">
            <a:xfrm>
              <a:off x="363" y="817"/>
              <a:ext cx="540" cy="2659"/>
              <a:chOff x="363" y="817"/>
              <a:chExt cx="540" cy="2659"/>
            </a:xfrm>
          </p:grpSpPr>
          <p:sp>
            <p:nvSpPr>
              <p:cNvPr id="27706" name="Rectangle 14"/>
              <p:cNvSpPr>
                <a:spLocks noChangeArrowheads="1"/>
              </p:cNvSpPr>
              <p:nvPr/>
            </p:nvSpPr>
            <p:spPr bwMode="auto">
              <a:xfrm>
                <a:off x="363" y="817"/>
                <a:ext cx="294"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x</a:t>
                </a:r>
                <a:r>
                  <a:rPr kumimoji="1" lang="en-US" altLang="zh-CN" sz="2000" b="1" baseline="-30000" dirty="0">
                    <a:latin typeface="Times New Roman" pitchFamily="18" charset="0"/>
                  </a:rPr>
                  <a:t>1</a:t>
                </a:r>
              </a:p>
            </p:txBody>
          </p:sp>
          <p:sp>
            <p:nvSpPr>
              <p:cNvPr id="27707" name="Rectangle 15"/>
              <p:cNvSpPr>
                <a:spLocks noChangeArrowheads="1"/>
              </p:cNvSpPr>
              <p:nvPr/>
            </p:nvSpPr>
            <p:spPr bwMode="auto">
              <a:xfrm>
                <a:off x="363" y="1585"/>
                <a:ext cx="292"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x</a:t>
                </a:r>
                <a:r>
                  <a:rPr kumimoji="1" lang="en-US" altLang="zh-CN" sz="2000" b="1" baseline="-30000" dirty="0">
                    <a:latin typeface="Times New Roman" pitchFamily="18" charset="0"/>
                  </a:rPr>
                  <a:t>2</a:t>
                </a:r>
              </a:p>
            </p:txBody>
          </p:sp>
          <p:sp>
            <p:nvSpPr>
              <p:cNvPr id="27708" name="Rectangle 16"/>
              <p:cNvSpPr>
                <a:spLocks noChangeArrowheads="1"/>
              </p:cNvSpPr>
              <p:nvPr/>
            </p:nvSpPr>
            <p:spPr bwMode="auto">
              <a:xfrm>
                <a:off x="363" y="3026"/>
                <a:ext cx="299"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err="1">
                    <a:latin typeface="Times New Roman" pitchFamily="18" charset="0"/>
                  </a:rPr>
                  <a:t>x</a:t>
                </a:r>
                <a:r>
                  <a:rPr kumimoji="1" lang="en-US" altLang="zh-CN" sz="2000" b="1" baseline="-30000" dirty="0" err="1">
                    <a:latin typeface="Times New Roman" pitchFamily="18" charset="0"/>
                  </a:rPr>
                  <a:t>n</a:t>
                </a:r>
                <a:endParaRPr kumimoji="1" lang="en-US" altLang="zh-CN" sz="2000" b="1" baseline="-30000" dirty="0">
                  <a:latin typeface="Times New Roman" pitchFamily="18" charset="0"/>
                </a:endParaRPr>
              </a:p>
            </p:txBody>
          </p:sp>
          <p:sp>
            <p:nvSpPr>
              <p:cNvPr id="27709" name="Rectangle 17"/>
              <p:cNvSpPr>
                <a:spLocks noChangeArrowheads="1"/>
              </p:cNvSpPr>
              <p:nvPr/>
            </p:nvSpPr>
            <p:spPr bwMode="auto">
              <a:xfrm>
                <a:off x="576" y="2492"/>
                <a:ext cx="327"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grpSp>
        <p:grpSp>
          <p:nvGrpSpPr>
            <p:cNvPr id="27656" name="Group 18"/>
            <p:cNvGrpSpPr>
              <a:grpSpLocks/>
            </p:cNvGrpSpPr>
            <p:nvPr/>
          </p:nvGrpSpPr>
          <p:grpSpPr bwMode="auto">
            <a:xfrm>
              <a:off x="576" y="864"/>
              <a:ext cx="4704" cy="2602"/>
              <a:chOff x="576" y="864"/>
              <a:chExt cx="4704" cy="2602"/>
            </a:xfrm>
          </p:grpSpPr>
          <p:grpSp>
            <p:nvGrpSpPr>
              <p:cNvPr id="27657" name="Group 19"/>
              <p:cNvGrpSpPr>
                <a:grpSpLocks/>
              </p:cNvGrpSpPr>
              <p:nvPr/>
            </p:nvGrpSpPr>
            <p:grpSpPr bwMode="auto">
              <a:xfrm>
                <a:off x="576" y="864"/>
                <a:ext cx="4704" cy="2602"/>
                <a:chOff x="2337" y="7836"/>
                <a:chExt cx="5580" cy="2184"/>
              </a:xfrm>
            </p:grpSpPr>
            <p:sp>
              <p:nvSpPr>
                <p:cNvPr id="27664" name="Oval 20"/>
                <p:cNvSpPr>
                  <a:spLocks noChangeArrowheads="1"/>
                </p:cNvSpPr>
                <p:nvPr/>
              </p:nvSpPr>
              <p:spPr bwMode="auto">
                <a:xfrm>
                  <a:off x="3057" y="7911"/>
                  <a:ext cx="180" cy="156"/>
                </a:xfrm>
                <a:prstGeom prst="ellipse">
                  <a:avLst/>
                </a:prstGeom>
                <a:solidFill>
                  <a:srgbClr val="FFFFFF"/>
                </a:solidFill>
                <a:ln w="9525">
                  <a:solidFill>
                    <a:srgbClr val="000000"/>
                  </a:solidFill>
                  <a:round/>
                  <a:headEnd/>
                  <a:tailEnd/>
                </a:ln>
              </p:spPr>
              <p:txBody>
                <a:bodyPr/>
                <a:lstStyle/>
                <a:p>
                  <a:endParaRPr lang="zh-CN" altLang="en-US"/>
                </a:p>
              </p:txBody>
            </p:sp>
            <p:sp>
              <p:nvSpPr>
                <p:cNvPr id="27665" name="Oval 21"/>
                <p:cNvSpPr>
                  <a:spLocks noChangeArrowheads="1"/>
                </p:cNvSpPr>
                <p:nvPr/>
              </p:nvSpPr>
              <p:spPr bwMode="auto">
                <a:xfrm>
                  <a:off x="3057" y="8550"/>
                  <a:ext cx="180" cy="156"/>
                </a:xfrm>
                <a:prstGeom prst="ellipse">
                  <a:avLst/>
                </a:prstGeom>
                <a:solidFill>
                  <a:srgbClr val="FFFFFF"/>
                </a:solidFill>
                <a:ln w="9525">
                  <a:solidFill>
                    <a:srgbClr val="000000"/>
                  </a:solidFill>
                  <a:round/>
                  <a:headEnd/>
                  <a:tailEnd/>
                </a:ln>
              </p:spPr>
              <p:txBody>
                <a:bodyPr/>
                <a:lstStyle/>
                <a:p>
                  <a:endParaRPr lang="zh-CN" altLang="en-US"/>
                </a:p>
              </p:txBody>
            </p:sp>
            <p:sp>
              <p:nvSpPr>
                <p:cNvPr id="27666" name="Oval 22"/>
                <p:cNvSpPr>
                  <a:spLocks noChangeArrowheads="1"/>
                </p:cNvSpPr>
                <p:nvPr/>
              </p:nvSpPr>
              <p:spPr bwMode="auto">
                <a:xfrm>
                  <a:off x="3057" y="9798"/>
                  <a:ext cx="180" cy="156"/>
                </a:xfrm>
                <a:prstGeom prst="ellipse">
                  <a:avLst/>
                </a:prstGeom>
                <a:solidFill>
                  <a:srgbClr val="FFFFFF"/>
                </a:solidFill>
                <a:ln w="9525">
                  <a:solidFill>
                    <a:srgbClr val="000000"/>
                  </a:solidFill>
                  <a:round/>
                  <a:headEnd/>
                  <a:tailEnd/>
                </a:ln>
              </p:spPr>
              <p:txBody>
                <a:bodyPr/>
                <a:lstStyle/>
                <a:p>
                  <a:endParaRPr lang="zh-CN" altLang="en-US"/>
                </a:p>
              </p:txBody>
            </p:sp>
            <p:sp>
              <p:nvSpPr>
                <p:cNvPr id="27667" name="Rectangle 23"/>
                <p:cNvSpPr>
                  <a:spLocks noChangeArrowheads="1"/>
                </p:cNvSpPr>
                <p:nvPr/>
              </p:nvSpPr>
              <p:spPr bwMode="auto">
                <a:xfrm>
                  <a:off x="4317" y="7836"/>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68" name="Rectangle 24"/>
                <p:cNvSpPr>
                  <a:spLocks noChangeArrowheads="1"/>
                </p:cNvSpPr>
                <p:nvPr/>
              </p:nvSpPr>
              <p:spPr bwMode="auto">
                <a:xfrm>
                  <a:off x="4317" y="8460"/>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69" name="Rectangle 25"/>
                <p:cNvSpPr>
                  <a:spLocks noChangeArrowheads="1"/>
                </p:cNvSpPr>
                <p:nvPr/>
              </p:nvSpPr>
              <p:spPr bwMode="auto">
                <a:xfrm>
                  <a:off x="4317" y="9708"/>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70" name="Rectangle 26"/>
                <p:cNvSpPr>
                  <a:spLocks noChangeArrowheads="1"/>
                </p:cNvSpPr>
                <p:nvPr/>
              </p:nvSpPr>
              <p:spPr bwMode="auto">
                <a:xfrm>
                  <a:off x="5397" y="7836"/>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71" name="Rectangle 27"/>
                <p:cNvSpPr>
                  <a:spLocks noChangeArrowheads="1"/>
                </p:cNvSpPr>
                <p:nvPr/>
              </p:nvSpPr>
              <p:spPr bwMode="auto">
                <a:xfrm>
                  <a:off x="5397" y="8460"/>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72" name="Rectangle 28"/>
                <p:cNvSpPr>
                  <a:spLocks noChangeArrowheads="1"/>
                </p:cNvSpPr>
                <p:nvPr/>
              </p:nvSpPr>
              <p:spPr bwMode="auto">
                <a:xfrm>
                  <a:off x="5397" y="9708"/>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73" name="Rectangle 29"/>
                <p:cNvSpPr>
                  <a:spLocks noChangeArrowheads="1"/>
                </p:cNvSpPr>
                <p:nvPr/>
              </p:nvSpPr>
              <p:spPr bwMode="auto">
                <a:xfrm>
                  <a:off x="7017" y="9708"/>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74" name="Rectangle 30"/>
                <p:cNvSpPr>
                  <a:spLocks noChangeArrowheads="1"/>
                </p:cNvSpPr>
                <p:nvPr/>
              </p:nvSpPr>
              <p:spPr bwMode="auto">
                <a:xfrm>
                  <a:off x="7017" y="8460"/>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75" name="Rectangle 31"/>
                <p:cNvSpPr>
                  <a:spLocks noChangeArrowheads="1"/>
                </p:cNvSpPr>
                <p:nvPr/>
              </p:nvSpPr>
              <p:spPr bwMode="auto">
                <a:xfrm>
                  <a:off x="7017" y="7836"/>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76" name="Line 32"/>
                <p:cNvSpPr>
                  <a:spLocks noChangeShapeType="1"/>
                </p:cNvSpPr>
                <p:nvPr/>
              </p:nvSpPr>
              <p:spPr bwMode="auto">
                <a:xfrm>
                  <a:off x="2337" y="7992"/>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7" name="Line 33"/>
                <p:cNvSpPr>
                  <a:spLocks noChangeShapeType="1"/>
                </p:cNvSpPr>
                <p:nvPr/>
              </p:nvSpPr>
              <p:spPr bwMode="auto">
                <a:xfrm>
                  <a:off x="2337" y="8616"/>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8" name="Line 34"/>
                <p:cNvSpPr>
                  <a:spLocks noChangeShapeType="1"/>
                </p:cNvSpPr>
                <p:nvPr/>
              </p:nvSpPr>
              <p:spPr bwMode="auto">
                <a:xfrm>
                  <a:off x="2337" y="986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9" name="Line 35"/>
                <p:cNvSpPr>
                  <a:spLocks noChangeShapeType="1"/>
                </p:cNvSpPr>
                <p:nvPr/>
              </p:nvSpPr>
              <p:spPr bwMode="auto">
                <a:xfrm>
                  <a:off x="7197" y="986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0" name="Line 36"/>
                <p:cNvSpPr>
                  <a:spLocks noChangeShapeType="1"/>
                </p:cNvSpPr>
                <p:nvPr/>
              </p:nvSpPr>
              <p:spPr bwMode="auto">
                <a:xfrm>
                  <a:off x="7197" y="8616"/>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1" name="Line 37"/>
                <p:cNvSpPr>
                  <a:spLocks noChangeShapeType="1"/>
                </p:cNvSpPr>
                <p:nvPr/>
              </p:nvSpPr>
              <p:spPr bwMode="auto">
                <a:xfrm>
                  <a:off x="7197" y="7992"/>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2" name="Line 38"/>
                <p:cNvSpPr>
                  <a:spLocks noChangeShapeType="1"/>
                </p:cNvSpPr>
                <p:nvPr/>
              </p:nvSpPr>
              <p:spPr bwMode="auto">
                <a:xfrm>
                  <a:off x="3237" y="7992"/>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3" name="Line 39"/>
                <p:cNvSpPr>
                  <a:spLocks noChangeShapeType="1"/>
                </p:cNvSpPr>
                <p:nvPr/>
              </p:nvSpPr>
              <p:spPr bwMode="auto">
                <a:xfrm>
                  <a:off x="3237" y="8616"/>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4" name="Line 40"/>
                <p:cNvSpPr>
                  <a:spLocks noChangeShapeType="1"/>
                </p:cNvSpPr>
                <p:nvPr/>
              </p:nvSpPr>
              <p:spPr bwMode="auto">
                <a:xfrm>
                  <a:off x="3237" y="9864"/>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5" name="Line 41"/>
                <p:cNvSpPr>
                  <a:spLocks noChangeShapeType="1"/>
                </p:cNvSpPr>
                <p:nvPr/>
              </p:nvSpPr>
              <p:spPr bwMode="auto">
                <a:xfrm>
                  <a:off x="3237" y="7992"/>
                  <a:ext cx="108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6" name="Line 42"/>
                <p:cNvSpPr>
                  <a:spLocks noChangeShapeType="1"/>
                </p:cNvSpPr>
                <p:nvPr/>
              </p:nvSpPr>
              <p:spPr bwMode="auto">
                <a:xfrm>
                  <a:off x="3237" y="7992"/>
                  <a:ext cx="108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7" name="Line 43"/>
                <p:cNvSpPr>
                  <a:spLocks noChangeShapeType="1"/>
                </p:cNvSpPr>
                <p:nvPr/>
              </p:nvSpPr>
              <p:spPr bwMode="auto">
                <a:xfrm flipV="1">
                  <a:off x="3237" y="7992"/>
                  <a:ext cx="108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8" name="Line 44"/>
                <p:cNvSpPr>
                  <a:spLocks noChangeShapeType="1"/>
                </p:cNvSpPr>
                <p:nvPr/>
              </p:nvSpPr>
              <p:spPr bwMode="auto">
                <a:xfrm flipV="1">
                  <a:off x="3237" y="8148"/>
                  <a:ext cx="108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9" name="Line 45"/>
                <p:cNvSpPr>
                  <a:spLocks noChangeShapeType="1"/>
                </p:cNvSpPr>
                <p:nvPr/>
              </p:nvSpPr>
              <p:spPr bwMode="auto">
                <a:xfrm>
                  <a:off x="3237" y="8616"/>
                  <a:ext cx="1080" cy="1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0" name="Line 46"/>
                <p:cNvSpPr>
                  <a:spLocks noChangeShapeType="1"/>
                </p:cNvSpPr>
                <p:nvPr/>
              </p:nvSpPr>
              <p:spPr bwMode="auto">
                <a:xfrm flipV="1">
                  <a:off x="3237" y="8772"/>
                  <a:ext cx="1080" cy="10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1" name="Line 47"/>
                <p:cNvSpPr>
                  <a:spLocks noChangeShapeType="1"/>
                </p:cNvSpPr>
                <p:nvPr/>
              </p:nvSpPr>
              <p:spPr bwMode="auto">
                <a:xfrm>
                  <a:off x="4497" y="7992"/>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2" name="Line 48"/>
                <p:cNvSpPr>
                  <a:spLocks noChangeShapeType="1"/>
                </p:cNvSpPr>
                <p:nvPr/>
              </p:nvSpPr>
              <p:spPr bwMode="auto">
                <a:xfrm>
                  <a:off x="4497" y="8616"/>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3" name="Line 49"/>
                <p:cNvSpPr>
                  <a:spLocks noChangeShapeType="1"/>
                </p:cNvSpPr>
                <p:nvPr/>
              </p:nvSpPr>
              <p:spPr bwMode="auto">
                <a:xfrm>
                  <a:off x="4497" y="9864"/>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4" name="Line 50"/>
                <p:cNvSpPr>
                  <a:spLocks noChangeShapeType="1"/>
                </p:cNvSpPr>
                <p:nvPr/>
              </p:nvSpPr>
              <p:spPr bwMode="auto">
                <a:xfrm>
                  <a:off x="4497" y="7992"/>
                  <a:ext cx="90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5" name="Line 51"/>
                <p:cNvSpPr>
                  <a:spLocks noChangeShapeType="1"/>
                </p:cNvSpPr>
                <p:nvPr/>
              </p:nvSpPr>
              <p:spPr bwMode="auto">
                <a:xfrm>
                  <a:off x="4497" y="7992"/>
                  <a:ext cx="90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6" name="Line 52"/>
                <p:cNvSpPr>
                  <a:spLocks noChangeShapeType="1"/>
                </p:cNvSpPr>
                <p:nvPr/>
              </p:nvSpPr>
              <p:spPr bwMode="auto">
                <a:xfrm flipV="1">
                  <a:off x="4497" y="7992"/>
                  <a:ext cx="90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7" name="Line 53"/>
                <p:cNvSpPr>
                  <a:spLocks noChangeShapeType="1"/>
                </p:cNvSpPr>
                <p:nvPr/>
              </p:nvSpPr>
              <p:spPr bwMode="auto">
                <a:xfrm>
                  <a:off x="4497" y="8616"/>
                  <a:ext cx="900" cy="1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8" name="Line 54"/>
                <p:cNvSpPr>
                  <a:spLocks noChangeShapeType="1"/>
                </p:cNvSpPr>
                <p:nvPr/>
              </p:nvSpPr>
              <p:spPr bwMode="auto">
                <a:xfrm flipV="1">
                  <a:off x="4497" y="8148"/>
                  <a:ext cx="90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9" name="Line 55"/>
                <p:cNvSpPr>
                  <a:spLocks noChangeShapeType="1"/>
                </p:cNvSpPr>
                <p:nvPr/>
              </p:nvSpPr>
              <p:spPr bwMode="auto">
                <a:xfrm flipV="1">
                  <a:off x="4497" y="8772"/>
                  <a:ext cx="900" cy="10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00" name="Line 56"/>
                <p:cNvSpPr>
                  <a:spLocks noChangeShapeType="1"/>
                </p:cNvSpPr>
                <p:nvPr/>
              </p:nvSpPr>
              <p:spPr bwMode="auto">
                <a:xfrm>
                  <a:off x="5577" y="7992"/>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01" name="Line 57"/>
                <p:cNvSpPr>
                  <a:spLocks noChangeShapeType="1"/>
                </p:cNvSpPr>
                <p:nvPr/>
              </p:nvSpPr>
              <p:spPr bwMode="auto">
                <a:xfrm>
                  <a:off x="5577" y="8616"/>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02" name="Line 58"/>
                <p:cNvSpPr>
                  <a:spLocks noChangeShapeType="1"/>
                </p:cNvSpPr>
                <p:nvPr/>
              </p:nvSpPr>
              <p:spPr bwMode="auto">
                <a:xfrm>
                  <a:off x="5577" y="9864"/>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03" name="Line 59"/>
                <p:cNvSpPr>
                  <a:spLocks noChangeShapeType="1"/>
                </p:cNvSpPr>
                <p:nvPr/>
              </p:nvSpPr>
              <p:spPr bwMode="auto">
                <a:xfrm>
                  <a:off x="6477" y="7992"/>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04" name="Line 60"/>
                <p:cNvSpPr>
                  <a:spLocks noChangeShapeType="1"/>
                </p:cNvSpPr>
                <p:nvPr/>
              </p:nvSpPr>
              <p:spPr bwMode="auto">
                <a:xfrm>
                  <a:off x="6477" y="8616"/>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05" name="Line 61"/>
                <p:cNvSpPr>
                  <a:spLocks noChangeShapeType="1"/>
                </p:cNvSpPr>
                <p:nvPr/>
              </p:nvSpPr>
              <p:spPr bwMode="auto">
                <a:xfrm>
                  <a:off x="6477" y="9864"/>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7658" name="Group 62"/>
              <p:cNvGrpSpPr>
                <a:grpSpLocks/>
              </p:cNvGrpSpPr>
              <p:nvPr/>
            </p:nvGrpSpPr>
            <p:grpSpPr bwMode="auto">
              <a:xfrm>
                <a:off x="1114" y="2484"/>
                <a:ext cx="3705" cy="515"/>
                <a:chOff x="1114" y="2484"/>
                <a:chExt cx="3705" cy="515"/>
              </a:xfrm>
            </p:grpSpPr>
            <p:sp>
              <p:nvSpPr>
                <p:cNvPr id="27659" name="Rectangle 63"/>
                <p:cNvSpPr>
                  <a:spLocks noChangeArrowheads="1"/>
                </p:cNvSpPr>
                <p:nvPr/>
              </p:nvSpPr>
              <p:spPr bwMode="auto">
                <a:xfrm>
                  <a:off x="1114" y="2484"/>
                  <a:ext cx="32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7660" name="Rectangle 64"/>
                <p:cNvSpPr>
                  <a:spLocks noChangeArrowheads="1"/>
                </p:cNvSpPr>
                <p:nvPr/>
              </p:nvSpPr>
              <p:spPr bwMode="auto">
                <a:xfrm>
                  <a:off x="2208" y="2499"/>
                  <a:ext cx="32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7661" name="Rectangle 65"/>
                <p:cNvSpPr>
                  <a:spLocks noChangeArrowheads="1"/>
                </p:cNvSpPr>
                <p:nvPr/>
              </p:nvSpPr>
              <p:spPr bwMode="auto">
                <a:xfrm>
                  <a:off x="3120" y="2499"/>
                  <a:ext cx="32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7662" name="Rectangle 66"/>
                <p:cNvSpPr>
                  <a:spLocks noChangeArrowheads="1"/>
                </p:cNvSpPr>
                <p:nvPr/>
              </p:nvSpPr>
              <p:spPr bwMode="auto">
                <a:xfrm>
                  <a:off x="4495" y="2549"/>
                  <a:ext cx="32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7663" name="Rectangle 67"/>
                <p:cNvSpPr>
                  <a:spLocks noChangeArrowheads="1"/>
                </p:cNvSpPr>
                <p:nvPr/>
              </p:nvSpPr>
              <p:spPr bwMode="auto">
                <a:xfrm>
                  <a:off x="3871" y="2524"/>
                  <a:ext cx="324" cy="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grpSp>
        </p:grpSp>
      </p:grpSp>
      <p:sp>
        <p:nvSpPr>
          <p:cNvPr id="27652" name="Rectangle 68"/>
          <p:cNvSpPr>
            <a:spLocks noChangeArrowheads="1"/>
          </p:cNvSpPr>
          <p:nvPr/>
        </p:nvSpPr>
        <p:spPr bwMode="auto">
          <a:xfrm>
            <a:off x="1992314" y="620713"/>
            <a:ext cx="79200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4400" dirty="0">
                <a:solidFill>
                  <a:srgbClr val="008000"/>
                </a:solidFill>
                <a:ea typeface="黑体" pitchFamily="49" charset="-122"/>
              </a:rPr>
              <a:t>神经网络的结构</a:t>
            </a:r>
            <a:r>
              <a:rPr lang="en-US" altLang="zh-CN" sz="4400" dirty="0">
                <a:solidFill>
                  <a:srgbClr val="008000"/>
                </a:solidFill>
                <a:ea typeface="黑体" pitchFamily="49" charset="-122"/>
              </a:rPr>
              <a:t>——</a:t>
            </a:r>
            <a:r>
              <a:rPr lang="zh-CN" altLang="en-US" sz="4400" dirty="0">
                <a:solidFill>
                  <a:srgbClr val="008000"/>
                </a:solidFill>
                <a:ea typeface="黑体" pitchFamily="49" charset="-122"/>
              </a:rPr>
              <a:t>前向网络</a:t>
            </a:r>
          </a:p>
        </p:txBody>
      </p:sp>
      <p:sp>
        <p:nvSpPr>
          <p:cNvPr id="2" name="灯片编号占位符 1">
            <a:extLst>
              <a:ext uri="{FF2B5EF4-FFF2-40B4-BE49-F238E27FC236}">
                <a16:creationId xmlns:a16="http://schemas.microsoft.com/office/drawing/2014/main" id="{E35C3DCA-5E90-E90C-0471-0EF03AECF806}"/>
              </a:ext>
            </a:extLst>
          </p:cNvPr>
          <p:cNvSpPr>
            <a:spLocks noGrp="1"/>
          </p:cNvSpPr>
          <p:nvPr>
            <p:ph type="sldNum" sz="quarter" idx="11"/>
          </p:nvPr>
        </p:nvSpPr>
        <p:spPr/>
        <p:txBody>
          <a:bodyPr/>
          <a:lstStyle/>
          <a:p>
            <a:pPr>
              <a:defRPr/>
            </a:pPr>
            <a:fld id="{E0FB5469-1AEB-496D-971A-66705BF2F73C}" type="slidenum">
              <a:rPr lang="en-US" altLang="zh-CN" smtClean="0"/>
              <a:pPr>
                <a:defRPr/>
              </a:pPr>
              <a:t>41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6">
                                            <p:txEl>
                                              <p:pRg st="0" end="0"/>
                                            </p:txEl>
                                          </p:spTgt>
                                        </p:tgtEl>
                                        <p:attrNameLst>
                                          <p:attrName>style.visibility</p:attrName>
                                        </p:attrNameLst>
                                      </p:cBhvr>
                                      <p:to>
                                        <p:strVal val="visible"/>
                                      </p:to>
                                    </p:set>
                                    <p:animEffect transition="in" filter="wipe(left)">
                                      <p:cBhvr>
                                        <p:cTn id="7" dur="500"/>
                                        <p:tgtEl>
                                          <p:spTgt spid="62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6">
                                            <p:txEl>
                                              <p:pRg st="1" end="1"/>
                                            </p:txEl>
                                          </p:spTgt>
                                        </p:tgtEl>
                                        <p:attrNameLst>
                                          <p:attrName>style.visibility</p:attrName>
                                        </p:attrNameLst>
                                      </p:cBhvr>
                                      <p:to>
                                        <p:strVal val="visible"/>
                                      </p:to>
                                    </p:set>
                                    <p:animEffect transition="in" filter="wipe(left)">
                                      <p:cBhvr>
                                        <p:cTn id="12" dur="500"/>
                                        <p:tgtEl>
                                          <p:spTgt spid="6246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6">
                                            <p:txEl>
                                              <p:pRg st="2" end="2"/>
                                            </p:txEl>
                                          </p:spTgt>
                                        </p:tgtEl>
                                        <p:attrNameLst>
                                          <p:attrName>style.visibility</p:attrName>
                                        </p:attrNameLst>
                                      </p:cBhvr>
                                      <p:to>
                                        <p:strVal val="visible"/>
                                      </p:to>
                                    </p:set>
                                    <p:animEffect transition="in" filter="wipe(left)">
                                      <p:cBhvr>
                                        <p:cTn id="17" dur="500"/>
                                        <p:tgtEl>
                                          <p:spTgt spid="624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bldLvl="2"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457200"/>
            <a:ext cx="8229600" cy="1100138"/>
          </a:xfrm>
        </p:spPr>
        <p:txBody>
          <a:bodyPr/>
          <a:lstStyle/>
          <a:p>
            <a:pPr algn="ctr" eaLnBrk="1" hangingPunct="1"/>
            <a:r>
              <a:rPr lang="zh-CN" altLang="en-US" dirty="0">
                <a:solidFill>
                  <a:srgbClr val="008000"/>
                </a:solidFill>
                <a:ea typeface="黑体" pitchFamily="49" charset="-122"/>
              </a:rPr>
              <a:t>神经网络的结构</a:t>
            </a:r>
            <a:r>
              <a:rPr lang="en-US" altLang="zh-CN" dirty="0">
                <a:solidFill>
                  <a:srgbClr val="008000"/>
                </a:solidFill>
              </a:rPr>
              <a:t>——</a:t>
            </a:r>
            <a:r>
              <a:rPr lang="zh-CN" altLang="en-US" dirty="0">
                <a:solidFill>
                  <a:srgbClr val="008000"/>
                </a:solidFill>
                <a:latin typeface="黑体" panose="02010609060101010101" pitchFamily="49" charset="-122"/>
                <a:ea typeface="黑体" panose="02010609060101010101" pitchFamily="49" charset="-122"/>
              </a:rPr>
              <a:t>反馈网络</a:t>
            </a:r>
          </a:p>
        </p:txBody>
      </p:sp>
      <p:grpSp>
        <p:nvGrpSpPr>
          <p:cNvPr id="28675" name="Group 3"/>
          <p:cNvGrpSpPr>
            <a:grpSpLocks/>
          </p:cNvGrpSpPr>
          <p:nvPr/>
        </p:nvGrpSpPr>
        <p:grpSpPr bwMode="auto">
          <a:xfrm>
            <a:off x="1992313" y="1773238"/>
            <a:ext cx="8286748" cy="4843462"/>
            <a:chOff x="288" y="816"/>
            <a:chExt cx="5220" cy="3051"/>
          </a:xfrm>
        </p:grpSpPr>
        <p:grpSp>
          <p:nvGrpSpPr>
            <p:cNvPr id="28676" name="Group 4"/>
            <p:cNvGrpSpPr>
              <a:grpSpLocks/>
            </p:cNvGrpSpPr>
            <p:nvPr/>
          </p:nvGrpSpPr>
          <p:grpSpPr bwMode="auto">
            <a:xfrm>
              <a:off x="358" y="1246"/>
              <a:ext cx="5150" cy="2621"/>
              <a:chOff x="406" y="858"/>
              <a:chExt cx="5150" cy="2990"/>
            </a:xfrm>
          </p:grpSpPr>
          <p:grpSp>
            <p:nvGrpSpPr>
              <p:cNvPr id="28702" name="Group 5"/>
              <p:cNvGrpSpPr>
                <a:grpSpLocks/>
              </p:cNvGrpSpPr>
              <p:nvPr/>
            </p:nvGrpSpPr>
            <p:grpSpPr bwMode="auto">
              <a:xfrm>
                <a:off x="576" y="864"/>
                <a:ext cx="4704" cy="2602"/>
                <a:chOff x="2337" y="7836"/>
                <a:chExt cx="5580" cy="2184"/>
              </a:xfrm>
            </p:grpSpPr>
            <p:sp>
              <p:nvSpPr>
                <p:cNvPr id="28719" name="Oval 6"/>
                <p:cNvSpPr>
                  <a:spLocks noChangeArrowheads="1"/>
                </p:cNvSpPr>
                <p:nvPr/>
              </p:nvSpPr>
              <p:spPr bwMode="auto">
                <a:xfrm>
                  <a:off x="3057" y="7911"/>
                  <a:ext cx="180" cy="156"/>
                </a:xfrm>
                <a:prstGeom prst="ellipse">
                  <a:avLst/>
                </a:prstGeom>
                <a:solidFill>
                  <a:srgbClr val="FFFFFF"/>
                </a:solidFill>
                <a:ln w="9525">
                  <a:solidFill>
                    <a:srgbClr val="000000"/>
                  </a:solidFill>
                  <a:round/>
                  <a:headEnd/>
                  <a:tailEnd/>
                </a:ln>
              </p:spPr>
              <p:txBody>
                <a:bodyPr/>
                <a:lstStyle/>
                <a:p>
                  <a:endParaRPr lang="zh-CN" altLang="en-US"/>
                </a:p>
              </p:txBody>
            </p:sp>
            <p:sp>
              <p:nvSpPr>
                <p:cNvPr id="28720" name="Oval 7"/>
                <p:cNvSpPr>
                  <a:spLocks noChangeArrowheads="1"/>
                </p:cNvSpPr>
                <p:nvPr/>
              </p:nvSpPr>
              <p:spPr bwMode="auto">
                <a:xfrm>
                  <a:off x="3057" y="8550"/>
                  <a:ext cx="180" cy="156"/>
                </a:xfrm>
                <a:prstGeom prst="ellipse">
                  <a:avLst/>
                </a:prstGeom>
                <a:solidFill>
                  <a:srgbClr val="FFFFFF"/>
                </a:solidFill>
                <a:ln w="9525">
                  <a:solidFill>
                    <a:srgbClr val="000000"/>
                  </a:solidFill>
                  <a:round/>
                  <a:headEnd/>
                  <a:tailEnd/>
                </a:ln>
              </p:spPr>
              <p:txBody>
                <a:bodyPr/>
                <a:lstStyle/>
                <a:p>
                  <a:endParaRPr lang="zh-CN" altLang="en-US"/>
                </a:p>
              </p:txBody>
            </p:sp>
            <p:sp>
              <p:nvSpPr>
                <p:cNvPr id="28721" name="Oval 8"/>
                <p:cNvSpPr>
                  <a:spLocks noChangeArrowheads="1"/>
                </p:cNvSpPr>
                <p:nvPr/>
              </p:nvSpPr>
              <p:spPr bwMode="auto">
                <a:xfrm>
                  <a:off x="3057" y="9798"/>
                  <a:ext cx="180" cy="156"/>
                </a:xfrm>
                <a:prstGeom prst="ellipse">
                  <a:avLst/>
                </a:prstGeom>
                <a:solidFill>
                  <a:srgbClr val="FFFFFF"/>
                </a:solidFill>
                <a:ln w="9525">
                  <a:solidFill>
                    <a:srgbClr val="000000"/>
                  </a:solidFill>
                  <a:round/>
                  <a:headEnd/>
                  <a:tailEnd/>
                </a:ln>
              </p:spPr>
              <p:txBody>
                <a:bodyPr/>
                <a:lstStyle/>
                <a:p>
                  <a:endParaRPr lang="zh-CN" altLang="en-US"/>
                </a:p>
              </p:txBody>
            </p:sp>
            <p:sp>
              <p:nvSpPr>
                <p:cNvPr id="28722" name="Rectangle 9"/>
                <p:cNvSpPr>
                  <a:spLocks noChangeArrowheads="1"/>
                </p:cNvSpPr>
                <p:nvPr/>
              </p:nvSpPr>
              <p:spPr bwMode="auto">
                <a:xfrm>
                  <a:off x="4317" y="7836"/>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23" name="Rectangle 10"/>
                <p:cNvSpPr>
                  <a:spLocks noChangeArrowheads="1"/>
                </p:cNvSpPr>
                <p:nvPr/>
              </p:nvSpPr>
              <p:spPr bwMode="auto">
                <a:xfrm>
                  <a:off x="4317" y="8460"/>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24" name="Rectangle 11"/>
                <p:cNvSpPr>
                  <a:spLocks noChangeArrowheads="1"/>
                </p:cNvSpPr>
                <p:nvPr/>
              </p:nvSpPr>
              <p:spPr bwMode="auto">
                <a:xfrm>
                  <a:off x="4317" y="9708"/>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25" name="Rectangle 12"/>
                <p:cNvSpPr>
                  <a:spLocks noChangeArrowheads="1"/>
                </p:cNvSpPr>
                <p:nvPr/>
              </p:nvSpPr>
              <p:spPr bwMode="auto">
                <a:xfrm>
                  <a:off x="5397" y="7836"/>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26" name="Rectangle 13"/>
                <p:cNvSpPr>
                  <a:spLocks noChangeArrowheads="1"/>
                </p:cNvSpPr>
                <p:nvPr/>
              </p:nvSpPr>
              <p:spPr bwMode="auto">
                <a:xfrm>
                  <a:off x="5397" y="8460"/>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27" name="Rectangle 14"/>
                <p:cNvSpPr>
                  <a:spLocks noChangeArrowheads="1"/>
                </p:cNvSpPr>
                <p:nvPr/>
              </p:nvSpPr>
              <p:spPr bwMode="auto">
                <a:xfrm>
                  <a:off x="5397" y="9708"/>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28" name="Rectangle 15"/>
                <p:cNvSpPr>
                  <a:spLocks noChangeArrowheads="1"/>
                </p:cNvSpPr>
                <p:nvPr/>
              </p:nvSpPr>
              <p:spPr bwMode="auto">
                <a:xfrm>
                  <a:off x="7017" y="9708"/>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29" name="Rectangle 16"/>
                <p:cNvSpPr>
                  <a:spLocks noChangeArrowheads="1"/>
                </p:cNvSpPr>
                <p:nvPr/>
              </p:nvSpPr>
              <p:spPr bwMode="auto">
                <a:xfrm>
                  <a:off x="7017" y="8460"/>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30" name="Rectangle 17"/>
                <p:cNvSpPr>
                  <a:spLocks noChangeArrowheads="1"/>
                </p:cNvSpPr>
                <p:nvPr/>
              </p:nvSpPr>
              <p:spPr bwMode="auto">
                <a:xfrm>
                  <a:off x="7017" y="7836"/>
                  <a:ext cx="180" cy="31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8731" name="Line 18"/>
                <p:cNvSpPr>
                  <a:spLocks noChangeShapeType="1"/>
                </p:cNvSpPr>
                <p:nvPr/>
              </p:nvSpPr>
              <p:spPr bwMode="auto">
                <a:xfrm>
                  <a:off x="2437" y="7987"/>
                  <a:ext cx="620" cy="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2" name="Line 19"/>
                <p:cNvSpPr>
                  <a:spLocks noChangeShapeType="1"/>
                </p:cNvSpPr>
                <p:nvPr/>
              </p:nvSpPr>
              <p:spPr bwMode="auto">
                <a:xfrm>
                  <a:off x="2428" y="8616"/>
                  <a:ext cx="6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3" name="Line 20"/>
                <p:cNvSpPr>
                  <a:spLocks noChangeShapeType="1"/>
                </p:cNvSpPr>
                <p:nvPr/>
              </p:nvSpPr>
              <p:spPr bwMode="auto">
                <a:xfrm>
                  <a:off x="2337" y="986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4" name="Line 21"/>
                <p:cNvSpPr>
                  <a:spLocks noChangeShapeType="1"/>
                </p:cNvSpPr>
                <p:nvPr/>
              </p:nvSpPr>
              <p:spPr bwMode="auto">
                <a:xfrm>
                  <a:off x="7197" y="986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5" name="Line 22"/>
                <p:cNvSpPr>
                  <a:spLocks noChangeShapeType="1"/>
                </p:cNvSpPr>
                <p:nvPr/>
              </p:nvSpPr>
              <p:spPr bwMode="auto">
                <a:xfrm>
                  <a:off x="7197" y="8616"/>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6" name="Line 23"/>
                <p:cNvSpPr>
                  <a:spLocks noChangeShapeType="1"/>
                </p:cNvSpPr>
                <p:nvPr/>
              </p:nvSpPr>
              <p:spPr bwMode="auto">
                <a:xfrm>
                  <a:off x="7197" y="7992"/>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7" name="Line 24"/>
                <p:cNvSpPr>
                  <a:spLocks noChangeShapeType="1"/>
                </p:cNvSpPr>
                <p:nvPr/>
              </p:nvSpPr>
              <p:spPr bwMode="auto">
                <a:xfrm>
                  <a:off x="3237" y="7992"/>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8" name="Line 25"/>
                <p:cNvSpPr>
                  <a:spLocks noChangeShapeType="1"/>
                </p:cNvSpPr>
                <p:nvPr/>
              </p:nvSpPr>
              <p:spPr bwMode="auto">
                <a:xfrm>
                  <a:off x="3237" y="8616"/>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9" name="Line 26"/>
                <p:cNvSpPr>
                  <a:spLocks noChangeShapeType="1"/>
                </p:cNvSpPr>
                <p:nvPr/>
              </p:nvSpPr>
              <p:spPr bwMode="auto">
                <a:xfrm>
                  <a:off x="3237" y="9864"/>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0" name="Line 27"/>
                <p:cNvSpPr>
                  <a:spLocks noChangeShapeType="1"/>
                </p:cNvSpPr>
                <p:nvPr/>
              </p:nvSpPr>
              <p:spPr bwMode="auto">
                <a:xfrm>
                  <a:off x="3237" y="7992"/>
                  <a:ext cx="108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1" name="Line 28"/>
                <p:cNvSpPr>
                  <a:spLocks noChangeShapeType="1"/>
                </p:cNvSpPr>
                <p:nvPr/>
              </p:nvSpPr>
              <p:spPr bwMode="auto">
                <a:xfrm>
                  <a:off x="3237" y="7992"/>
                  <a:ext cx="108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2" name="Line 29"/>
                <p:cNvSpPr>
                  <a:spLocks noChangeShapeType="1"/>
                </p:cNvSpPr>
                <p:nvPr/>
              </p:nvSpPr>
              <p:spPr bwMode="auto">
                <a:xfrm flipV="1">
                  <a:off x="3237" y="7992"/>
                  <a:ext cx="108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3" name="Line 30"/>
                <p:cNvSpPr>
                  <a:spLocks noChangeShapeType="1"/>
                </p:cNvSpPr>
                <p:nvPr/>
              </p:nvSpPr>
              <p:spPr bwMode="auto">
                <a:xfrm flipV="1">
                  <a:off x="3237" y="8148"/>
                  <a:ext cx="108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4" name="Line 31"/>
                <p:cNvSpPr>
                  <a:spLocks noChangeShapeType="1"/>
                </p:cNvSpPr>
                <p:nvPr/>
              </p:nvSpPr>
              <p:spPr bwMode="auto">
                <a:xfrm>
                  <a:off x="3237" y="8616"/>
                  <a:ext cx="1080" cy="1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5" name="Line 32"/>
                <p:cNvSpPr>
                  <a:spLocks noChangeShapeType="1"/>
                </p:cNvSpPr>
                <p:nvPr/>
              </p:nvSpPr>
              <p:spPr bwMode="auto">
                <a:xfrm flipV="1">
                  <a:off x="3237" y="8772"/>
                  <a:ext cx="1080" cy="10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6" name="Line 33"/>
                <p:cNvSpPr>
                  <a:spLocks noChangeShapeType="1"/>
                </p:cNvSpPr>
                <p:nvPr/>
              </p:nvSpPr>
              <p:spPr bwMode="auto">
                <a:xfrm>
                  <a:off x="4497" y="7992"/>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7" name="Line 34"/>
                <p:cNvSpPr>
                  <a:spLocks noChangeShapeType="1"/>
                </p:cNvSpPr>
                <p:nvPr/>
              </p:nvSpPr>
              <p:spPr bwMode="auto">
                <a:xfrm>
                  <a:off x="4497" y="8616"/>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8" name="Line 35"/>
                <p:cNvSpPr>
                  <a:spLocks noChangeShapeType="1"/>
                </p:cNvSpPr>
                <p:nvPr/>
              </p:nvSpPr>
              <p:spPr bwMode="auto">
                <a:xfrm>
                  <a:off x="4497" y="9864"/>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9" name="Line 36"/>
                <p:cNvSpPr>
                  <a:spLocks noChangeShapeType="1"/>
                </p:cNvSpPr>
                <p:nvPr/>
              </p:nvSpPr>
              <p:spPr bwMode="auto">
                <a:xfrm>
                  <a:off x="4497" y="7992"/>
                  <a:ext cx="90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0" name="Line 37"/>
                <p:cNvSpPr>
                  <a:spLocks noChangeShapeType="1"/>
                </p:cNvSpPr>
                <p:nvPr/>
              </p:nvSpPr>
              <p:spPr bwMode="auto">
                <a:xfrm>
                  <a:off x="4497" y="7992"/>
                  <a:ext cx="90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1" name="Line 38"/>
                <p:cNvSpPr>
                  <a:spLocks noChangeShapeType="1"/>
                </p:cNvSpPr>
                <p:nvPr/>
              </p:nvSpPr>
              <p:spPr bwMode="auto">
                <a:xfrm flipV="1">
                  <a:off x="4497" y="7992"/>
                  <a:ext cx="90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2" name="Line 39"/>
                <p:cNvSpPr>
                  <a:spLocks noChangeShapeType="1"/>
                </p:cNvSpPr>
                <p:nvPr/>
              </p:nvSpPr>
              <p:spPr bwMode="auto">
                <a:xfrm>
                  <a:off x="4497" y="8616"/>
                  <a:ext cx="900" cy="1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3" name="Line 40"/>
                <p:cNvSpPr>
                  <a:spLocks noChangeShapeType="1"/>
                </p:cNvSpPr>
                <p:nvPr/>
              </p:nvSpPr>
              <p:spPr bwMode="auto">
                <a:xfrm flipV="1">
                  <a:off x="4497" y="8148"/>
                  <a:ext cx="90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4" name="Line 41"/>
                <p:cNvSpPr>
                  <a:spLocks noChangeShapeType="1"/>
                </p:cNvSpPr>
                <p:nvPr/>
              </p:nvSpPr>
              <p:spPr bwMode="auto">
                <a:xfrm flipV="1">
                  <a:off x="4497" y="8772"/>
                  <a:ext cx="900" cy="10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5" name="Line 42"/>
                <p:cNvSpPr>
                  <a:spLocks noChangeShapeType="1"/>
                </p:cNvSpPr>
                <p:nvPr/>
              </p:nvSpPr>
              <p:spPr bwMode="auto">
                <a:xfrm>
                  <a:off x="5577" y="7992"/>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6" name="Line 43"/>
                <p:cNvSpPr>
                  <a:spLocks noChangeShapeType="1"/>
                </p:cNvSpPr>
                <p:nvPr/>
              </p:nvSpPr>
              <p:spPr bwMode="auto">
                <a:xfrm>
                  <a:off x="5577" y="8616"/>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7" name="Line 44"/>
                <p:cNvSpPr>
                  <a:spLocks noChangeShapeType="1"/>
                </p:cNvSpPr>
                <p:nvPr/>
              </p:nvSpPr>
              <p:spPr bwMode="auto">
                <a:xfrm>
                  <a:off x="5577" y="9864"/>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8" name="Line 45"/>
                <p:cNvSpPr>
                  <a:spLocks noChangeShapeType="1"/>
                </p:cNvSpPr>
                <p:nvPr/>
              </p:nvSpPr>
              <p:spPr bwMode="auto">
                <a:xfrm>
                  <a:off x="6477" y="7992"/>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59" name="Line 46"/>
                <p:cNvSpPr>
                  <a:spLocks noChangeShapeType="1"/>
                </p:cNvSpPr>
                <p:nvPr/>
              </p:nvSpPr>
              <p:spPr bwMode="auto">
                <a:xfrm>
                  <a:off x="6477" y="8616"/>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60" name="Line 47"/>
                <p:cNvSpPr>
                  <a:spLocks noChangeShapeType="1"/>
                </p:cNvSpPr>
                <p:nvPr/>
              </p:nvSpPr>
              <p:spPr bwMode="auto">
                <a:xfrm>
                  <a:off x="6477" y="9864"/>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703" name="Rectangle 48"/>
              <p:cNvSpPr>
                <a:spLocks noChangeArrowheads="1"/>
              </p:cNvSpPr>
              <p:nvPr/>
            </p:nvSpPr>
            <p:spPr bwMode="auto">
              <a:xfrm>
                <a:off x="450" y="858"/>
                <a:ext cx="2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x</a:t>
                </a:r>
                <a:r>
                  <a:rPr kumimoji="1" lang="en-US" altLang="zh-CN" sz="2000" b="1" baseline="-30000" dirty="0">
                    <a:latin typeface="Times New Roman" pitchFamily="18" charset="0"/>
                  </a:rPr>
                  <a:t>1</a:t>
                </a:r>
              </a:p>
            </p:txBody>
          </p:sp>
          <p:sp>
            <p:nvSpPr>
              <p:cNvPr id="28704" name="Rectangle 49"/>
              <p:cNvSpPr>
                <a:spLocks noChangeArrowheads="1"/>
              </p:cNvSpPr>
              <p:nvPr/>
            </p:nvSpPr>
            <p:spPr bwMode="auto">
              <a:xfrm>
                <a:off x="5258" y="859"/>
                <a:ext cx="2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o</a:t>
                </a:r>
                <a:r>
                  <a:rPr kumimoji="1" lang="en-US" altLang="zh-CN" sz="2000" b="1" baseline="-30000" dirty="0">
                    <a:latin typeface="Times New Roman" pitchFamily="18" charset="0"/>
                  </a:rPr>
                  <a:t>1</a:t>
                </a:r>
              </a:p>
            </p:txBody>
          </p:sp>
          <p:sp>
            <p:nvSpPr>
              <p:cNvPr id="28705" name="Rectangle 50"/>
              <p:cNvSpPr>
                <a:spLocks noChangeArrowheads="1"/>
              </p:cNvSpPr>
              <p:nvPr/>
            </p:nvSpPr>
            <p:spPr bwMode="auto">
              <a:xfrm>
                <a:off x="4272" y="3563"/>
                <a:ext cx="63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输出层 </a:t>
                </a:r>
              </a:p>
            </p:txBody>
          </p:sp>
          <p:sp>
            <p:nvSpPr>
              <p:cNvPr id="28706" name="Rectangle 51"/>
              <p:cNvSpPr>
                <a:spLocks noChangeArrowheads="1"/>
              </p:cNvSpPr>
              <p:nvPr/>
            </p:nvSpPr>
            <p:spPr bwMode="auto">
              <a:xfrm>
                <a:off x="2592" y="3563"/>
                <a:ext cx="63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隐藏层 </a:t>
                </a:r>
              </a:p>
            </p:txBody>
          </p:sp>
          <p:sp>
            <p:nvSpPr>
              <p:cNvPr id="28707" name="Rectangle 52"/>
              <p:cNvSpPr>
                <a:spLocks noChangeArrowheads="1"/>
              </p:cNvSpPr>
              <p:nvPr/>
            </p:nvSpPr>
            <p:spPr bwMode="auto">
              <a:xfrm>
                <a:off x="960" y="3554"/>
                <a:ext cx="63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Times New Roman" pitchFamily="18" charset="0"/>
                  </a:rPr>
                  <a:t>输入层 </a:t>
                </a:r>
              </a:p>
            </p:txBody>
          </p:sp>
          <p:sp>
            <p:nvSpPr>
              <p:cNvPr id="28708" name="Rectangle 53"/>
              <p:cNvSpPr>
                <a:spLocks noChangeArrowheads="1"/>
              </p:cNvSpPr>
              <p:nvPr/>
            </p:nvSpPr>
            <p:spPr bwMode="auto">
              <a:xfrm>
                <a:off x="450" y="1609"/>
                <a:ext cx="2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x</a:t>
                </a:r>
                <a:r>
                  <a:rPr kumimoji="1" lang="en-US" altLang="zh-CN" sz="2000" b="1" baseline="-30000" dirty="0">
                    <a:latin typeface="Times New Roman" pitchFamily="18" charset="0"/>
                  </a:rPr>
                  <a:t>2</a:t>
                </a:r>
              </a:p>
            </p:txBody>
          </p:sp>
          <p:sp>
            <p:nvSpPr>
              <p:cNvPr id="28709" name="Rectangle 54"/>
              <p:cNvSpPr>
                <a:spLocks noChangeArrowheads="1"/>
              </p:cNvSpPr>
              <p:nvPr/>
            </p:nvSpPr>
            <p:spPr bwMode="auto">
              <a:xfrm>
                <a:off x="5258" y="1609"/>
                <a:ext cx="2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o</a:t>
                </a:r>
                <a:r>
                  <a:rPr kumimoji="1" lang="en-US" altLang="zh-CN" sz="2000" b="1" baseline="-30000" dirty="0">
                    <a:latin typeface="Times New Roman" pitchFamily="18" charset="0"/>
                  </a:rPr>
                  <a:t>2</a:t>
                </a:r>
              </a:p>
            </p:txBody>
          </p:sp>
          <p:sp>
            <p:nvSpPr>
              <p:cNvPr id="28710" name="Rectangle 55"/>
              <p:cNvSpPr>
                <a:spLocks noChangeArrowheads="1"/>
              </p:cNvSpPr>
              <p:nvPr/>
            </p:nvSpPr>
            <p:spPr bwMode="auto">
              <a:xfrm>
                <a:off x="5269" y="308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latin typeface="Times New Roman" pitchFamily="18" charset="0"/>
                  </a:rPr>
                  <a:t>o</a:t>
                </a:r>
                <a:r>
                  <a:rPr kumimoji="1" lang="en-US" altLang="zh-CN" sz="2000" b="1" baseline="-30000" dirty="0">
                    <a:latin typeface="Times New Roman" pitchFamily="18" charset="0"/>
                  </a:rPr>
                  <a:t>m</a:t>
                </a:r>
              </a:p>
            </p:txBody>
          </p:sp>
          <p:sp>
            <p:nvSpPr>
              <p:cNvPr id="28711" name="Rectangle 56"/>
              <p:cNvSpPr>
                <a:spLocks noChangeArrowheads="1"/>
              </p:cNvSpPr>
              <p:nvPr/>
            </p:nvSpPr>
            <p:spPr bwMode="auto">
              <a:xfrm>
                <a:off x="406" y="3134"/>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err="1">
                    <a:latin typeface="Times New Roman" pitchFamily="18" charset="0"/>
                  </a:rPr>
                  <a:t>x</a:t>
                </a:r>
                <a:r>
                  <a:rPr kumimoji="1" lang="en-US" altLang="zh-CN" sz="2000" b="1" baseline="-30000" dirty="0" err="1">
                    <a:latin typeface="Times New Roman" pitchFamily="18" charset="0"/>
                  </a:rPr>
                  <a:t>n</a:t>
                </a:r>
                <a:endParaRPr kumimoji="1" lang="en-US" altLang="zh-CN" sz="2000" b="1" baseline="-30000" dirty="0">
                  <a:latin typeface="Times New Roman" pitchFamily="18" charset="0"/>
                </a:endParaRPr>
              </a:p>
            </p:txBody>
          </p:sp>
          <p:sp>
            <p:nvSpPr>
              <p:cNvPr id="28712" name="Rectangle 57"/>
              <p:cNvSpPr>
                <a:spLocks noChangeArrowheads="1"/>
              </p:cNvSpPr>
              <p:nvPr/>
            </p:nvSpPr>
            <p:spPr bwMode="auto">
              <a:xfrm>
                <a:off x="1114" y="2484"/>
                <a:ext cx="276"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8713" name="Rectangle 58"/>
              <p:cNvSpPr>
                <a:spLocks noChangeArrowheads="1"/>
              </p:cNvSpPr>
              <p:nvPr/>
            </p:nvSpPr>
            <p:spPr bwMode="auto">
              <a:xfrm>
                <a:off x="2208" y="2496"/>
                <a:ext cx="27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8714" name="Rectangle 59"/>
              <p:cNvSpPr>
                <a:spLocks noChangeArrowheads="1"/>
              </p:cNvSpPr>
              <p:nvPr/>
            </p:nvSpPr>
            <p:spPr bwMode="auto">
              <a:xfrm>
                <a:off x="3120" y="2496"/>
                <a:ext cx="27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8715" name="Rectangle 60"/>
              <p:cNvSpPr>
                <a:spLocks noChangeArrowheads="1"/>
              </p:cNvSpPr>
              <p:nvPr/>
            </p:nvSpPr>
            <p:spPr bwMode="auto">
              <a:xfrm>
                <a:off x="4495" y="2545"/>
                <a:ext cx="27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8716" name="Rectangle 61"/>
              <p:cNvSpPr>
                <a:spLocks noChangeArrowheads="1"/>
              </p:cNvSpPr>
              <p:nvPr/>
            </p:nvSpPr>
            <p:spPr bwMode="auto">
              <a:xfrm>
                <a:off x="5040" y="2545"/>
                <a:ext cx="27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8717" name="Rectangle 62"/>
              <p:cNvSpPr>
                <a:spLocks noChangeArrowheads="1"/>
              </p:cNvSpPr>
              <p:nvPr/>
            </p:nvSpPr>
            <p:spPr bwMode="auto">
              <a:xfrm>
                <a:off x="576" y="2492"/>
                <a:ext cx="276"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sp>
            <p:nvSpPr>
              <p:cNvPr id="28718" name="Rectangle 63"/>
              <p:cNvSpPr>
                <a:spLocks noChangeArrowheads="1"/>
              </p:cNvSpPr>
              <p:nvPr/>
            </p:nvSpPr>
            <p:spPr bwMode="auto">
              <a:xfrm>
                <a:off x="3871" y="2522"/>
                <a:ext cx="276"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Times New Roman" pitchFamily="18" charset="0"/>
                  </a:rPr>
                  <a:t>…</a:t>
                </a:r>
              </a:p>
            </p:txBody>
          </p:sp>
        </p:grpSp>
        <p:grpSp>
          <p:nvGrpSpPr>
            <p:cNvPr id="28677" name="Group 64"/>
            <p:cNvGrpSpPr>
              <a:grpSpLocks/>
            </p:cNvGrpSpPr>
            <p:nvPr/>
          </p:nvGrpSpPr>
          <p:grpSpPr bwMode="auto">
            <a:xfrm>
              <a:off x="288" y="816"/>
              <a:ext cx="4656" cy="2544"/>
              <a:chOff x="288" y="1248"/>
              <a:chExt cx="4656" cy="2160"/>
            </a:xfrm>
          </p:grpSpPr>
          <p:sp>
            <p:nvSpPr>
              <p:cNvPr id="28678" name="Oval 65"/>
              <p:cNvSpPr>
                <a:spLocks noChangeArrowheads="1"/>
              </p:cNvSpPr>
              <p:nvPr/>
            </p:nvSpPr>
            <p:spPr bwMode="auto">
              <a:xfrm>
                <a:off x="1104" y="2016"/>
                <a:ext cx="144"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79" name="Oval 66"/>
              <p:cNvSpPr>
                <a:spLocks noChangeArrowheads="1"/>
              </p:cNvSpPr>
              <p:nvPr/>
            </p:nvSpPr>
            <p:spPr bwMode="auto">
              <a:xfrm>
                <a:off x="1104" y="2640"/>
                <a:ext cx="144"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0" name="Oval 67"/>
              <p:cNvSpPr>
                <a:spLocks noChangeArrowheads="1"/>
              </p:cNvSpPr>
              <p:nvPr/>
            </p:nvSpPr>
            <p:spPr bwMode="auto">
              <a:xfrm>
                <a:off x="1056" y="3120"/>
                <a:ext cx="144"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1" name="Line 68"/>
              <p:cNvSpPr>
                <a:spLocks noChangeShapeType="1"/>
              </p:cNvSpPr>
              <p:nvPr/>
            </p:nvSpPr>
            <p:spPr bwMode="auto">
              <a:xfrm flipV="1">
                <a:off x="4752" y="1488"/>
                <a:ext cx="0" cy="28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2" name="Line 69"/>
              <p:cNvSpPr>
                <a:spLocks noChangeShapeType="1"/>
              </p:cNvSpPr>
              <p:nvPr/>
            </p:nvSpPr>
            <p:spPr bwMode="auto">
              <a:xfrm flipV="1">
                <a:off x="4848" y="1392"/>
                <a:ext cx="0" cy="91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3" name="Line 70"/>
              <p:cNvSpPr>
                <a:spLocks noChangeShapeType="1"/>
              </p:cNvSpPr>
              <p:nvPr/>
            </p:nvSpPr>
            <p:spPr bwMode="auto">
              <a:xfrm flipV="1">
                <a:off x="4944" y="1248"/>
                <a:ext cx="0" cy="216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4" name="Line 71"/>
              <p:cNvSpPr>
                <a:spLocks noChangeShapeType="1"/>
              </p:cNvSpPr>
              <p:nvPr/>
            </p:nvSpPr>
            <p:spPr bwMode="auto">
              <a:xfrm flipH="1">
                <a:off x="432" y="1488"/>
                <a:ext cx="432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5" name="Line 72"/>
              <p:cNvSpPr>
                <a:spLocks noChangeShapeType="1"/>
              </p:cNvSpPr>
              <p:nvPr/>
            </p:nvSpPr>
            <p:spPr bwMode="auto">
              <a:xfrm flipH="1">
                <a:off x="384" y="1392"/>
                <a:ext cx="4464"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6" name="Line 73"/>
              <p:cNvSpPr>
                <a:spLocks noChangeShapeType="1"/>
              </p:cNvSpPr>
              <p:nvPr/>
            </p:nvSpPr>
            <p:spPr bwMode="auto">
              <a:xfrm flipH="1">
                <a:off x="288" y="1248"/>
                <a:ext cx="4656"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7" name="Line 74"/>
              <p:cNvSpPr>
                <a:spLocks noChangeShapeType="1"/>
              </p:cNvSpPr>
              <p:nvPr/>
            </p:nvSpPr>
            <p:spPr bwMode="auto">
              <a:xfrm>
                <a:off x="432" y="1488"/>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8" name="Line 75"/>
              <p:cNvSpPr>
                <a:spLocks noChangeShapeType="1"/>
              </p:cNvSpPr>
              <p:nvPr/>
            </p:nvSpPr>
            <p:spPr bwMode="auto">
              <a:xfrm>
                <a:off x="384" y="1392"/>
                <a:ext cx="0" cy="129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9" name="Line 76"/>
              <p:cNvSpPr>
                <a:spLocks noChangeShapeType="1"/>
              </p:cNvSpPr>
              <p:nvPr/>
            </p:nvSpPr>
            <p:spPr bwMode="auto">
              <a:xfrm>
                <a:off x="288" y="1248"/>
                <a:ext cx="0" cy="192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0" name="Line 77"/>
              <p:cNvSpPr>
                <a:spLocks noChangeShapeType="1"/>
              </p:cNvSpPr>
              <p:nvPr/>
            </p:nvSpPr>
            <p:spPr bwMode="auto">
              <a:xfrm>
                <a:off x="288" y="3168"/>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1" name="Line 78"/>
              <p:cNvSpPr>
                <a:spLocks noChangeShapeType="1"/>
              </p:cNvSpPr>
              <p:nvPr/>
            </p:nvSpPr>
            <p:spPr bwMode="auto">
              <a:xfrm>
                <a:off x="384" y="2688"/>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2" name="Line 79"/>
              <p:cNvSpPr>
                <a:spLocks noChangeShapeType="1"/>
              </p:cNvSpPr>
              <p:nvPr/>
            </p:nvSpPr>
            <p:spPr bwMode="auto">
              <a:xfrm>
                <a:off x="432" y="2064"/>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3" name="Line 80"/>
              <p:cNvSpPr>
                <a:spLocks noChangeShapeType="1"/>
              </p:cNvSpPr>
              <p:nvPr/>
            </p:nvSpPr>
            <p:spPr bwMode="auto">
              <a:xfrm flipV="1">
                <a:off x="1248" y="1776"/>
                <a:ext cx="91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4" name="Line 81"/>
              <p:cNvSpPr>
                <a:spLocks noChangeShapeType="1"/>
              </p:cNvSpPr>
              <p:nvPr/>
            </p:nvSpPr>
            <p:spPr bwMode="auto">
              <a:xfrm>
                <a:off x="1248" y="2064"/>
                <a:ext cx="96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5" name="Line 82"/>
              <p:cNvSpPr>
                <a:spLocks noChangeShapeType="1"/>
              </p:cNvSpPr>
              <p:nvPr/>
            </p:nvSpPr>
            <p:spPr bwMode="auto">
              <a:xfrm>
                <a:off x="1200" y="2112"/>
                <a:ext cx="1008" cy="1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6" name="Line 83"/>
              <p:cNvSpPr>
                <a:spLocks noChangeShapeType="1"/>
              </p:cNvSpPr>
              <p:nvPr/>
            </p:nvSpPr>
            <p:spPr bwMode="auto">
              <a:xfrm flipV="1">
                <a:off x="1248" y="1824"/>
                <a:ext cx="912" cy="8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7" name="Line 84"/>
              <p:cNvSpPr>
                <a:spLocks noChangeShapeType="1"/>
              </p:cNvSpPr>
              <p:nvPr/>
            </p:nvSpPr>
            <p:spPr bwMode="auto">
              <a:xfrm flipV="1">
                <a:off x="1248" y="2352"/>
                <a:ext cx="96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8" name="Line 85"/>
              <p:cNvSpPr>
                <a:spLocks noChangeShapeType="1"/>
              </p:cNvSpPr>
              <p:nvPr/>
            </p:nvSpPr>
            <p:spPr bwMode="auto">
              <a:xfrm>
                <a:off x="1248" y="2736"/>
                <a:ext cx="96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9" name="Line 86"/>
              <p:cNvSpPr>
                <a:spLocks noChangeShapeType="1"/>
              </p:cNvSpPr>
              <p:nvPr/>
            </p:nvSpPr>
            <p:spPr bwMode="auto">
              <a:xfrm flipV="1">
                <a:off x="1200" y="1872"/>
                <a:ext cx="960" cy="1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0" name="Line 87"/>
              <p:cNvSpPr>
                <a:spLocks noChangeShapeType="1"/>
              </p:cNvSpPr>
              <p:nvPr/>
            </p:nvSpPr>
            <p:spPr bwMode="auto">
              <a:xfrm flipV="1">
                <a:off x="1200" y="2400"/>
                <a:ext cx="1008"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1" name="Line 88"/>
              <p:cNvSpPr>
                <a:spLocks noChangeShapeType="1"/>
              </p:cNvSpPr>
              <p:nvPr/>
            </p:nvSpPr>
            <p:spPr bwMode="auto">
              <a:xfrm>
                <a:off x="1200" y="3168"/>
                <a:ext cx="96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 name="灯片编号占位符 1">
            <a:extLst>
              <a:ext uri="{FF2B5EF4-FFF2-40B4-BE49-F238E27FC236}">
                <a16:creationId xmlns:a16="http://schemas.microsoft.com/office/drawing/2014/main" id="{9A925605-5AD4-298D-783C-A2F1067EF38A}"/>
              </a:ext>
            </a:extLst>
          </p:cNvPr>
          <p:cNvSpPr>
            <a:spLocks noGrp="1"/>
          </p:cNvSpPr>
          <p:nvPr>
            <p:ph type="sldNum" sz="quarter" idx="11"/>
          </p:nvPr>
        </p:nvSpPr>
        <p:spPr/>
        <p:txBody>
          <a:bodyPr/>
          <a:lstStyle/>
          <a:p>
            <a:pPr>
              <a:defRPr/>
            </a:pPr>
            <a:fld id="{E0FB5469-1AEB-496D-971A-66705BF2F73C}" type="slidenum">
              <a:rPr lang="en-US" altLang="zh-CN" smtClean="0"/>
              <a:pPr>
                <a:defRPr/>
              </a:pPr>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981200" y="457201"/>
            <a:ext cx="8229600" cy="1171575"/>
          </a:xfrm>
        </p:spPr>
        <p:txBody>
          <a:bodyPr/>
          <a:lstStyle/>
          <a:p>
            <a:pPr algn="ctr" eaLnBrk="1" hangingPunct="1"/>
            <a:r>
              <a:rPr lang="zh-CN" altLang="en-US">
                <a:solidFill>
                  <a:srgbClr val="008000"/>
                </a:solidFill>
                <a:latin typeface="黑体" pitchFamily="49" charset="-122"/>
                <a:ea typeface="黑体" pitchFamily="49" charset="-122"/>
              </a:rPr>
              <a:t>人工神经网络的训练</a:t>
            </a:r>
            <a:r>
              <a:rPr lang="zh-CN" altLang="en-US"/>
              <a:t> </a:t>
            </a:r>
          </a:p>
        </p:txBody>
      </p:sp>
      <p:sp>
        <p:nvSpPr>
          <p:cNvPr id="65539" name="Rectangle 3"/>
          <p:cNvSpPr>
            <a:spLocks noGrp="1" noChangeArrowheads="1"/>
          </p:cNvSpPr>
          <p:nvPr>
            <p:ph type="body" idx="1"/>
          </p:nvPr>
        </p:nvSpPr>
        <p:spPr>
          <a:xfrm>
            <a:off x="1127448" y="1772816"/>
            <a:ext cx="9937103" cy="4616450"/>
          </a:xfrm>
        </p:spPr>
        <p:txBody>
          <a:bodyPr/>
          <a:lstStyle/>
          <a:p>
            <a:pPr algn="just" eaLnBrk="1" hangingPunct="1">
              <a:lnSpc>
                <a:spcPct val="150000"/>
              </a:lnSpc>
            </a:pPr>
            <a:r>
              <a:rPr lang="zh-CN" altLang="en-US" dirty="0">
                <a:solidFill>
                  <a:srgbClr val="FF0000"/>
                </a:solidFill>
                <a:ea typeface="黑体" pitchFamily="49" charset="-122"/>
              </a:rPr>
              <a:t>人工神经网络最具有吸引力的特点是它的学习能力，它是</a:t>
            </a:r>
            <a:r>
              <a:rPr lang="en-US" altLang="zh-CN" dirty="0">
                <a:solidFill>
                  <a:srgbClr val="FF0000"/>
                </a:solidFill>
                <a:ea typeface="黑体" pitchFamily="49" charset="-122"/>
              </a:rPr>
              <a:t>ANN</a:t>
            </a:r>
            <a:r>
              <a:rPr lang="zh-CN" altLang="en-US" dirty="0">
                <a:solidFill>
                  <a:srgbClr val="FF0000"/>
                </a:solidFill>
                <a:ea typeface="黑体" pitchFamily="49" charset="-122"/>
              </a:rPr>
              <a:t>研究中的核心问题。</a:t>
            </a:r>
          </a:p>
          <a:p>
            <a:pPr algn="just" eaLnBrk="1" hangingPunct="1">
              <a:lnSpc>
                <a:spcPct val="150000"/>
              </a:lnSpc>
            </a:pPr>
            <a:r>
              <a:rPr lang="en-US" altLang="zh-CN" dirty="0">
                <a:ea typeface="黑体" pitchFamily="49" charset="-122"/>
              </a:rPr>
              <a:t>1962</a:t>
            </a:r>
            <a:r>
              <a:rPr lang="zh-CN" altLang="en-US" dirty="0">
                <a:ea typeface="黑体" pitchFamily="49" charset="-122"/>
              </a:rPr>
              <a:t>年，</a:t>
            </a:r>
            <a:r>
              <a:rPr lang="en-US" altLang="zh-CN" dirty="0">
                <a:ea typeface="黑体" pitchFamily="49" charset="-122"/>
              </a:rPr>
              <a:t>Rosenblatt</a:t>
            </a:r>
            <a:r>
              <a:rPr lang="zh-CN" altLang="en-US" dirty="0">
                <a:ea typeface="黑体" pitchFamily="49" charset="-122"/>
              </a:rPr>
              <a:t>给出了</a:t>
            </a:r>
            <a:r>
              <a:rPr lang="en-US" altLang="zh-CN" dirty="0">
                <a:ea typeface="黑体" pitchFamily="49" charset="-122"/>
              </a:rPr>
              <a:t>ANN</a:t>
            </a:r>
            <a:r>
              <a:rPr lang="zh-CN" altLang="en-US" dirty="0">
                <a:ea typeface="黑体" pitchFamily="49" charset="-122"/>
              </a:rPr>
              <a:t>著名的学习定理：</a:t>
            </a:r>
            <a:r>
              <a:rPr lang="zh-CN" altLang="en-US" dirty="0">
                <a:solidFill>
                  <a:srgbClr val="CC00CC"/>
                </a:solidFill>
                <a:ea typeface="黑体" pitchFamily="49" charset="-122"/>
              </a:rPr>
              <a:t>人工神经网络可以学会它可以表达的任何东西。</a:t>
            </a:r>
          </a:p>
          <a:p>
            <a:pPr algn="just" eaLnBrk="1" hangingPunct="1">
              <a:lnSpc>
                <a:spcPct val="150000"/>
              </a:lnSpc>
            </a:pPr>
            <a:r>
              <a:rPr lang="zh-CN" altLang="en-US" dirty="0">
                <a:solidFill>
                  <a:schemeClr val="bg2"/>
                </a:solidFill>
                <a:ea typeface="黑体" pitchFamily="49" charset="-122"/>
              </a:rPr>
              <a:t>人工神经网络的学习过程就是对它的训练过程。</a:t>
            </a:r>
          </a:p>
        </p:txBody>
      </p:sp>
      <p:sp>
        <p:nvSpPr>
          <p:cNvPr id="2" name="灯片编号占位符 1">
            <a:extLst>
              <a:ext uri="{FF2B5EF4-FFF2-40B4-BE49-F238E27FC236}">
                <a16:creationId xmlns:a16="http://schemas.microsoft.com/office/drawing/2014/main" id="{F2794894-95E6-2E17-68B0-D3B00959FEB8}"/>
              </a:ext>
            </a:extLst>
          </p:cNvPr>
          <p:cNvSpPr>
            <a:spLocks noGrp="1"/>
          </p:cNvSpPr>
          <p:nvPr>
            <p:ph type="sldNum" sz="quarter" idx="11"/>
          </p:nvPr>
        </p:nvSpPr>
        <p:spPr/>
        <p:txBody>
          <a:bodyPr/>
          <a:lstStyle/>
          <a:p>
            <a:pPr>
              <a:defRPr/>
            </a:pPr>
            <a:fld id="{E0FB5469-1AEB-496D-971A-66705BF2F73C}" type="slidenum">
              <a:rPr lang="en-US" altLang="zh-CN" smtClean="0"/>
              <a:pPr>
                <a:defRPr/>
              </a:pPr>
              <a:t>43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wipe(left)">
                                      <p:cBhvr>
                                        <p:cTn id="7" dur="5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wipe(left)">
                                      <p:cBhvr>
                                        <p:cTn id="12" dur="500"/>
                                        <p:tgtEl>
                                          <p:spTgt spid="65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wipe(left)">
                                      <p:cBhvr>
                                        <p:cTn id="17" dur="500"/>
                                        <p:tgtEl>
                                          <p:spTgt spid="65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329208"/>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神经网络的主要学习方法</a:t>
            </a:r>
            <a:endParaRPr lang="zh-CN" altLang="en-US" dirty="0"/>
          </a:p>
        </p:txBody>
      </p:sp>
      <p:sp>
        <p:nvSpPr>
          <p:cNvPr id="3" name="内容占位符 2"/>
          <p:cNvSpPr>
            <a:spLocks noGrp="1"/>
          </p:cNvSpPr>
          <p:nvPr>
            <p:ph idx="1"/>
          </p:nvPr>
        </p:nvSpPr>
        <p:spPr>
          <a:xfrm>
            <a:off x="911424" y="1700808"/>
            <a:ext cx="10225136" cy="4968552"/>
          </a:xfrm>
        </p:spPr>
        <p:txBody>
          <a:bodyPr/>
          <a:lstStyle/>
          <a:p>
            <a:pPr>
              <a:lnSpc>
                <a:spcPct val="120000"/>
              </a:lnSpc>
            </a:pPr>
            <a:r>
              <a:rPr lang="zh-CN" altLang="en-US" b="1" dirty="0">
                <a:solidFill>
                  <a:srgbClr val="FF0000"/>
                </a:solidFill>
                <a:latin typeface="黑体" panose="02010609060101010101" pitchFamily="49" charset="-122"/>
                <a:ea typeface="黑体" panose="02010609060101010101" pitchFamily="49" charset="-122"/>
              </a:rPr>
              <a:t>有监督学习</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有导师学习</a:t>
            </a:r>
            <a:r>
              <a:rPr lang="en-US" altLang="zh-CN" b="1" dirty="0">
                <a:solidFill>
                  <a:srgbClr val="FF0000"/>
                </a:solidFill>
                <a:latin typeface="黑体" panose="02010609060101010101" pitchFamily="49" charset="-122"/>
                <a:ea typeface="黑体" panose="02010609060101010101" pitchFamily="49" charset="-122"/>
              </a:rPr>
              <a:t>)</a:t>
            </a:r>
          </a:p>
          <a:p>
            <a:pPr lvl="1">
              <a:lnSpc>
                <a:spcPct val="120000"/>
              </a:lnSpc>
            </a:pPr>
            <a:r>
              <a:rPr lang="zh-CN" altLang="en-US" b="1" dirty="0">
                <a:solidFill>
                  <a:schemeClr val="tx2"/>
                </a:solidFill>
                <a:latin typeface="Times New Roman" panose="02020603050405020304" pitchFamily="18" charset="0"/>
                <a:ea typeface="宋体" panose="02010600030101010101" pitchFamily="2" charset="-122"/>
              </a:rPr>
              <a:t>网络的输出和期望的输出（即导师信号）进行比较，然后根据两者之间的差异调整网络的权重，最终使差异变小。</a:t>
            </a:r>
            <a:endParaRPr lang="en-US" altLang="zh-CN" b="1" dirty="0">
              <a:solidFill>
                <a:schemeClr val="tx2"/>
              </a:solidFill>
              <a:latin typeface="Times New Roman" panose="02020603050405020304" pitchFamily="18" charset="0"/>
              <a:ea typeface="宋体" panose="02010600030101010101" pitchFamily="2" charset="-122"/>
            </a:endParaRPr>
          </a:p>
          <a:p>
            <a:pPr>
              <a:lnSpc>
                <a:spcPct val="120000"/>
              </a:lnSpc>
            </a:pPr>
            <a:r>
              <a:rPr lang="zh-CN" altLang="en-US" b="1" dirty="0">
                <a:solidFill>
                  <a:srgbClr val="3333FF"/>
                </a:solidFill>
                <a:latin typeface="黑体" panose="02010609060101010101" pitchFamily="49" charset="-122"/>
                <a:ea typeface="黑体" panose="02010609060101010101" pitchFamily="49" charset="-122"/>
              </a:rPr>
              <a:t>无监督学习</a:t>
            </a:r>
            <a:r>
              <a:rPr lang="en-US" altLang="zh-CN" b="1" dirty="0">
                <a:solidFill>
                  <a:srgbClr val="3333FF"/>
                </a:solidFill>
                <a:latin typeface="黑体" panose="02010609060101010101" pitchFamily="49" charset="-122"/>
                <a:ea typeface="黑体" panose="02010609060101010101" pitchFamily="49" charset="-122"/>
              </a:rPr>
              <a:t>(</a:t>
            </a:r>
            <a:r>
              <a:rPr lang="zh-CN" altLang="en-US" b="1" dirty="0">
                <a:solidFill>
                  <a:srgbClr val="3333FF"/>
                </a:solidFill>
                <a:latin typeface="黑体" panose="02010609060101010101" pitchFamily="49" charset="-122"/>
                <a:ea typeface="黑体" panose="02010609060101010101" pitchFamily="49" charset="-122"/>
              </a:rPr>
              <a:t>无导师学习</a:t>
            </a:r>
            <a:r>
              <a:rPr lang="en-US" altLang="zh-CN" b="1" dirty="0">
                <a:solidFill>
                  <a:srgbClr val="3333FF"/>
                </a:solidFill>
                <a:latin typeface="黑体" panose="02010609060101010101" pitchFamily="49" charset="-122"/>
                <a:ea typeface="黑体" panose="02010609060101010101" pitchFamily="49" charset="-122"/>
              </a:rPr>
              <a:t>)</a:t>
            </a:r>
            <a:endParaRPr lang="zh-CN" altLang="en-US" b="1" dirty="0">
              <a:solidFill>
                <a:srgbClr val="3333FF"/>
              </a:solidFill>
              <a:latin typeface="黑体" panose="02010609060101010101" pitchFamily="49" charset="-122"/>
              <a:ea typeface="黑体" panose="02010609060101010101" pitchFamily="49" charset="-122"/>
            </a:endParaRPr>
          </a:p>
          <a:p>
            <a:pPr lvl="1">
              <a:lnSpc>
                <a:spcPct val="120000"/>
              </a:lnSpc>
            </a:pPr>
            <a:r>
              <a:rPr lang="zh-CN" altLang="en-US" b="1" dirty="0">
                <a:solidFill>
                  <a:schemeClr val="tx2"/>
                </a:solidFill>
                <a:latin typeface="Times New Roman" panose="02020603050405020304" pitchFamily="18" charset="0"/>
                <a:ea typeface="宋体" panose="02010600030101010101" pitchFamily="2" charset="-122"/>
              </a:rPr>
              <a:t>数据输入网络</a:t>
            </a:r>
            <a:r>
              <a:rPr lang="en-US" altLang="zh-CN" b="1" dirty="0" err="1">
                <a:solidFill>
                  <a:schemeClr val="tx2"/>
                </a:solidFill>
                <a:latin typeface="Times New Roman" panose="02020603050405020304" pitchFamily="18" charset="0"/>
                <a:ea typeface="宋体" panose="02010600030101010101" pitchFamily="2" charset="-122"/>
              </a:rPr>
              <a:t>后，网络按照预先设定的规则</a:t>
            </a:r>
            <a:r>
              <a:rPr lang="en-US" altLang="zh-CN" b="1" dirty="0">
                <a:solidFill>
                  <a:schemeClr val="tx2"/>
                </a:solidFill>
                <a:latin typeface="Times New Roman" panose="02020603050405020304" pitchFamily="18" charset="0"/>
                <a:ea typeface="宋体" panose="02010600030101010101" pitchFamily="2" charset="-122"/>
              </a:rPr>
              <a:t>(</a:t>
            </a:r>
            <a:r>
              <a:rPr lang="en-US" altLang="zh-CN" b="1" dirty="0" err="1">
                <a:solidFill>
                  <a:schemeClr val="tx2"/>
                </a:solidFill>
                <a:latin typeface="Times New Roman" panose="02020603050405020304" pitchFamily="18" charset="0"/>
                <a:ea typeface="宋体" panose="02010600030101010101" pitchFamily="2" charset="-122"/>
              </a:rPr>
              <a:t>如竞争规则）自动调整权重，使网络最终具有模式分类等功能</a:t>
            </a:r>
            <a:r>
              <a:rPr lang="zh-CN" altLang="en-US" b="1" dirty="0">
                <a:solidFill>
                  <a:schemeClr val="tx2"/>
                </a:solidFill>
                <a:latin typeface="Times New Roman" panose="02020603050405020304" pitchFamily="18" charset="0"/>
                <a:ea typeface="宋体" panose="02010600030101010101" pitchFamily="2" charset="-122"/>
              </a:rPr>
              <a:t>。</a:t>
            </a:r>
            <a:endParaRPr lang="en-US" altLang="zh-CN" b="1" dirty="0">
              <a:solidFill>
                <a:schemeClr val="tx2"/>
              </a:solidFill>
              <a:latin typeface="Times New Roman" panose="02020603050405020304" pitchFamily="18" charset="0"/>
              <a:ea typeface="宋体" panose="02010600030101010101" pitchFamily="2" charset="-122"/>
            </a:endParaRPr>
          </a:p>
          <a:p>
            <a:pPr>
              <a:lnSpc>
                <a:spcPct val="120000"/>
              </a:lnSpc>
            </a:pPr>
            <a:r>
              <a:rPr lang="zh-CN" altLang="en-US" b="1" dirty="0">
                <a:solidFill>
                  <a:srgbClr val="CC00CC"/>
                </a:solidFill>
                <a:latin typeface="黑体" panose="02010609060101010101" pitchFamily="49" charset="-122"/>
                <a:ea typeface="黑体" panose="02010609060101010101" pitchFamily="49" charset="-122"/>
              </a:rPr>
              <a:t>半监督学习</a:t>
            </a:r>
          </a:p>
          <a:p>
            <a:pPr lvl="1">
              <a:lnSpc>
                <a:spcPct val="120000"/>
              </a:lnSpc>
            </a:pPr>
            <a:r>
              <a:rPr lang="zh-CN" altLang="en-US" b="1" dirty="0">
                <a:solidFill>
                  <a:schemeClr val="tx2"/>
                </a:solidFill>
                <a:latin typeface="Times New Roman" panose="02020603050405020304" pitchFamily="18" charset="0"/>
                <a:ea typeface="宋体" panose="02010600030101010101" pitchFamily="2" charset="-122"/>
              </a:rPr>
              <a:t>介于上述两者之间的一种学习方法。</a:t>
            </a:r>
            <a:endParaRPr lang="zh-CN" altLang="en-US" b="1" dirty="0">
              <a:solidFill>
                <a:srgbClr val="000000"/>
              </a:solidFill>
              <a:latin typeface="黑体" panose="02010609060101010101" pitchFamily="49" charset="-122"/>
              <a:ea typeface="黑体" panose="02010609060101010101" pitchFamily="49" charset="-122"/>
            </a:endParaRPr>
          </a:p>
          <a:p>
            <a:endParaRPr lang="zh-CN" altLang="en-US" dirty="0"/>
          </a:p>
        </p:txBody>
      </p:sp>
      <p:sp>
        <p:nvSpPr>
          <p:cNvPr id="4" name="灯片编号占位符 3">
            <a:extLst>
              <a:ext uri="{FF2B5EF4-FFF2-40B4-BE49-F238E27FC236}">
                <a16:creationId xmlns:a16="http://schemas.microsoft.com/office/drawing/2014/main" id="{5A972C89-92E6-40BA-FC4F-25BF209BA552}"/>
              </a:ext>
            </a:extLst>
          </p:cNvPr>
          <p:cNvSpPr>
            <a:spLocks noGrp="1"/>
          </p:cNvSpPr>
          <p:nvPr>
            <p:ph type="sldNum" sz="quarter" idx="11"/>
          </p:nvPr>
        </p:nvSpPr>
        <p:spPr/>
        <p:txBody>
          <a:bodyPr/>
          <a:lstStyle/>
          <a:p>
            <a:pPr>
              <a:defRPr/>
            </a:pPr>
            <a:fld id="{E0FB5469-1AEB-496D-971A-66705BF2F73C}" type="slidenum">
              <a:rPr lang="en-US" altLang="zh-CN" smtClean="0"/>
              <a:pPr>
                <a:defRPr/>
              </a:pPr>
              <a:t>44</a:t>
            </a:fld>
            <a:endParaRPr lang="en-US" altLang="zh-CN"/>
          </a:p>
        </p:txBody>
      </p:sp>
    </p:spTree>
    <p:extLst>
      <p:ext uri="{BB962C8B-B14F-4D97-AF65-F5344CB8AC3E}">
        <p14:creationId xmlns:p14="http://schemas.microsoft.com/office/powerpoint/2010/main" val="107864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1993846" y="185192"/>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神经网络的主要学习规则</a:t>
            </a:r>
          </a:p>
        </p:txBody>
      </p:sp>
      <p:sp>
        <p:nvSpPr>
          <p:cNvPr id="153603" name="Rectangle 3"/>
          <p:cNvSpPr>
            <a:spLocks noGrp="1" noChangeArrowheads="1"/>
          </p:cNvSpPr>
          <p:nvPr>
            <p:ph type="body" idx="1"/>
          </p:nvPr>
        </p:nvSpPr>
        <p:spPr>
          <a:xfrm>
            <a:off x="1055440" y="1556792"/>
            <a:ext cx="10297144" cy="5040560"/>
          </a:xfrm>
        </p:spPr>
        <p:txBody>
          <a:bodyPr/>
          <a:lstStyle/>
          <a:p>
            <a:pPr>
              <a:lnSpc>
                <a:spcPct val="110000"/>
              </a:lnSpc>
            </a:pPr>
            <a:r>
              <a:rPr lang="en-US" altLang="zh-CN" b="1" i="1" dirty="0">
                <a:solidFill>
                  <a:srgbClr val="FF0000"/>
                </a:solidFill>
              </a:rPr>
              <a:t>Hebb</a:t>
            </a:r>
            <a:r>
              <a:rPr lang="zh-CN" altLang="en-US" b="1" dirty="0">
                <a:solidFill>
                  <a:srgbClr val="FF0000"/>
                </a:solidFill>
                <a:latin typeface="黑体" panose="02010609060101010101" pitchFamily="49" charset="-122"/>
                <a:ea typeface="黑体" panose="02010609060101010101" pitchFamily="49" charset="-122"/>
              </a:rPr>
              <a:t>学习规则</a:t>
            </a:r>
          </a:p>
          <a:p>
            <a:pPr lvl="1">
              <a:lnSpc>
                <a:spcPct val="110000"/>
              </a:lnSpc>
            </a:pPr>
            <a:r>
              <a:rPr lang="en-US" altLang="zh-CN" b="1" dirty="0" err="1">
                <a:latin typeface="Times New Roman" panose="02020603050405020304" pitchFamily="18" charset="0"/>
              </a:rPr>
              <a:t>Donall</a:t>
            </a:r>
            <a:r>
              <a:rPr lang="en-US" altLang="zh-CN" b="1" dirty="0">
                <a:latin typeface="Times New Roman" panose="02020603050405020304" pitchFamily="18" charset="0"/>
              </a:rPr>
              <a:t> </a:t>
            </a:r>
            <a:r>
              <a:rPr lang="en-US" altLang="zh-CN" b="1" dirty="0" err="1">
                <a:latin typeface="Times New Roman" panose="02020603050405020304" pitchFamily="18" charset="0"/>
              </a:rPr>
              <a:t>Hebb</a:t>
            </a:r>
            <a:r>
              <a:rPr lang="zh-CN" altLang="en-US" b="1" dirty="0">
                <a:latin typeface="Times New Roman" panose="02020603050405020304" pitchFamily="18" charset="0"/>
              </a:rPr>
              <a:t>根据生理学中条件反射机理，于</a:t>
            </a:r>
            <a:r>
              <a:rPr lang="en-US" altLang="zh-CN" b="1" dirty="0">
                <a:latin typeface="Times New Roman" panose="02020603050405020304" pitchFamily="18" charset="0"/>
              </a:rPr>
              <a:t>1949</a:t>
            </a:r>
            <a:r>
              <a:rPr lang="zh-CN" altLang="en-US" b="1" dirty="0">
                <a:latin typeface="Times New Roman" panose="02020603050405020304" pitchFamily="18" charset="0"/>
              </a:rPr>
              <a:t>年提出了神经元连接强度变化的规则</a:t>
            </a:r>
            <a:endParaRPr lang="en-US" altLang="zh-CN" b="1" dirty="0">
              <a:latin typeface="Times New Roman" panose="02020603050405020304" pitchFamily="18" charset="0"/>
            </a:endParaRPr>
          </a:p>
          <a:p>
            <a:pPr lvl="1">
              <a:lnSpc>
                <a:spcPct val="110000"/>
              </a:lnSpc>
            </a:pPr>
            <a:r>
              <a:rPr lang="zh-CN" altLang="en-US" b="1" dirty="0">
                <a:solidFill>
                  <a:srgbClr val="3333FF"/>
                </a:solidFill>
                <a:effectLst>
                  <a:outerShdw blurRad="38100" dist="38100" dir="2700000" algn="tl">
                    <a:srgbClr val="000000">
                      <a:alpha val="43137"/>
                    </a:srgbClr>
                  </a:outerShdw>
                </a:effectLst>
                <a:latin typeface="Times New Roman" panose="02020603050405020304" pitchFamily="18" charset="0"/>
              </a:rPr>
              <a:t>如果两个神经元同时兴奋</a:t>
            </a:r>
            <a:r>
              <a:rPr lang="en-US" altLang="zh-CN" b="1" dirty="0">
                <a:solidFill>
                  <a:srgbClr val="3333FF"/>
                </a:solidFill>
                <a:effectLst>
                  <a:outerShdw blurRad="38100" dist="38100" dir="2700000" algn="tl">
                    <a:srgbClr val="000000">
                      <a:alpha val="43137"/>
                    </a:srgbClr>
                  </a:outerShdw>
                </a:effectLst>
                <a:latin typeface="Times New Roman" panose="02020603050405020304" pitchFamily="18" charset="0"/>
              </a:rPr>
              <a:t>(</a:t>
            </a:r>
            <a:r>
              <a:rPr lang="zh-CN" altLang="en-US" b="1" dirty="0">
                <a:solidFill>
                  <a:srgbClr val="3333FF"/>
                </a:solidFill>
                <a:effectLst>
                  <a:outerShdw blurRad="38100" dist="38100" dir="2700000" algn="tl">
                    <a:srgbClr val="000000">
                      <a:alpha val="43137"/>
                    </a:srgbClr>
                  </a:outerShdw>
                </a:effectLst>
                <a:latin typeface="Times New Roman" panose="02020603050405020304" pitchFamily="18" charset="0"/>
              </a:rPr>
              <a:t>即同时被激活</a:t>
            </a:r>
            <a:r>
              <a:rPr lang="en-US" altLang="zh-CN" b="1" dirty="0">
                <a:solidFill>
                  <a:srgbClr val="3333FF"/>
                </a:solidFill>
                <a:effectLst>
                  <a:outerShdw blurRad="38100" dist="38100" dir="2700000" algn="tl">
                    <a:srgbClr val="000000">
                      <a:alpha val="43137"/>
                    </a:srgbClr>
                  </a:outerShdw>
                </a:effectLst>
                <a:latin typeface="Times New Roman" panose="02020603050405020304" pitchFamily="18" charset="0"/>
              </a:rPr>
              <a:t>)</a:t>
            </a:r>
            <a:r>
              <a:rPr lang="zh-CN" altLang="en-US" b="1" dirty="0">
                <a:solidFill>
                  <a:srgbClr val="3333FF"/>
                </a:solidFill>
                <a:effectLst>
                  <a:outerShdw blurRad="38100" dist="38100" dir="2700000" algn="tl">
                    <a:srgbClr val="000000">
                      <a:alpha val="43137"/>
                    </a:srgbClr>
                  </a:outerShdw>
                </a:effectLst>
                <a:latin typeface="Times New Roman" panose="02020603050405020304" pitchFamily="18" charset="0"/>
              </a:rPr>
              <a:t>，则它们之间的突触连接加强。</a:t>
            </a:r>
            <a:endParaRPr lang="en-US" altLang="zh-CN" b="1" dirty="0">
              <a:solidFill>
                <a:srgbClr val="3333FF"/>
              </a:solidFill>
              <a:effectLst>
                <a:outerShdw blurRad="38100" dist="38100" dir="2700000" algn="tl">
                  <a:srgbClr val="000000">
                    <a:alpha val="43137"/>
                  </a:srgbClr>
                </a:outerShdw>
              </a:effectLst>
              <a:latin typeface="Times New Roman" panose="02020603050405020304" pitchFamily="18" charset="0"/>
            </a:endParaRPr>
          </a:p>
          <a:p>
            <a:pPr lvl="1">
              <a:lnSpc>
                <a:spcPct val="110000"/>
              </a:lnSpc>
            </a:pPr>
            <a:endParaRPr lang="en-US" altLang="zh-CN" b="1" dirty="0">
              <a:solidFill>
                <a:srgbClr val="3333FF"/>
              </a:solidFill>
              <a:latin typeface="Times New Roman" panose="02020603050405020304" pitchFamily="18" charset="0"/>
            </a:endParaRPr>
          </a:p>
          <a:p>
            <a:pPr lvl="2">
              <a:lnSpc>
                <a:spcPct val="110000"/>
              </a:lnSpc>
            </a:pPr>
            <a:r>
              <a:rPr lang="en-US" altLang="zh-CN" sz="2800" b="1" i="1" dirty="0">
                <a:solidFill>
                  <a:srgbClr val="CC00CC"/>
                </a:solidFill>
                <a:latin typeface="Times New Roman" panose="02020603050405020304" pitchFamily="18" charset="0"/>
                <a:sym typeface="Symbol"/>
              </a:rPr>
              <a:t></a:t>
            </a:r>
            <a:r>
              <a:rPr lang="zh-CN" altLang="en-US" sz="2800" b="1" dirty="0">
                <a:solidFill>
                  <a:srgbClr val="CC00CC"/>
                </a:solidFill>
                <a:latin typeface="Times New Roman" panose="02020603050405020304" pitchFamily="18" charset="0"/>
                <a:sym typeface="Symbol"/>
              </a:rPr>
              <a:t>为学习速率，</a:t>
            </a:r>
            <a:r>
              <a:rPr lang="en-US" altLang="zh-CN" sz="2800" b="1" i="1" dirty="0">
                <a:solidFill>
                  <a:srgbClr val="CC00CC"/>
                </a:solidFill>
                <a:latin typeface="Times New Roman" panose="02020603050405020304" pitchFamily="18" charset="0"/>
                <a:sym typeface="Symbol"/>
              </a:rPr>
              <a:t>v</a:t>
            </a:r>
            <a:r>
              <a:rPr lang="en-US" altLang="zh-CN" sz="2800" b="1" i="1" baseline="-25000" dirty="0">
                <a:solidFill>
                  <a:srgbClr val="CC00CC"/>
                </a:solidFill>
                <a:latin typeface="Times New Roman" panose="02020603050405020304" pitchFamily="18" charset="0"/>
                <a:sym typeface="Symbol"/>
              </a:rPr>
              <a:t>i</a:t>
            </a:r>
            <a:r>
              <a:rPr lang="zh-CN" altLang="en-US" sz="2800" b="1" dirty="0">
                <a:solidFill>
                  <a:srgbClr val="CC00CC"/>
                </a:solidFill>
                <a:latin typeface="Times New Roman" panose="02020603050405020304" pitchFamily="18" charset="0"/>
                <a:sym typeface="Symbol"/>
              </a:rPr>
              <a:t>、</a:t>
            </a:r>
            <a:r>
              <a:rPr lang="en-US" altLang="zh-CN" sz="2800" b="1" i="1" dirty="0" err="1">
                <a:solidFill>
                  <a:srgbClr val="CC00CC"/>
                </a:solidFill>
                <a:latin typeface="Times New Roman" panose="02020603050405020304" pitchFamily="18" charset="0"/>
                <a:sym typeface="Symbol"/>
              </a:rPr>
              <a:t>v</a:t>
            </a:r>
            <a:r>
              <a:rPr lang="en-US" altLang="zh-CN" sz="2800" b="1" i="1" baseline="-25000" dirty="0" err="1">
                <a:solidFill>
                  <a:srgbClr val="CC00CC"/>
                </a:solidFill>
                <a:latin typeface="Times New Roman" panose="02020603050405020304" pitchFamily="18" charset="0"/>
                <a:sym typeface="Symbol"/>
              </a:rPr>
              <a:t>j</a:t>
            </a:r>
            <a:r>
              <a:rPr lang="zh-CN" altLang="en-US" sz="2800" b="1" dirty="0">
                <a:solidFill>
                  <a:srgbClr val="CC00CC"/>
                </a:solidFill>
                <a:latin typeface="Times New Roman" panose="02020603050405020304" pitchFamily="18" charset="0"/>
                <a:sym typeface="Symbol"/>
              </a:rPr>
              <a:t>为神经元 </a:t>
            </a:r>
            <a:r>
              <a:rPr lang="en-US" altLang="zh-CN" sz="2800" b="1" i="1" dirty="0">
                <a:solidFill>
                  <a:srgbClr val="CC00CC"/>
                </a:solidFill>
                <a:latin typeface="Times New Roman" panose="02020603050405020304" pitchFamily="18" charset="0"/>
                <a:sym typeface="Symbol"/>
              </a:rPr>
              <a:t>i</a:t>
            </a:r>
            <a:r>
              <a:rPr lang="en-US" altLang="zh-CN" sz="2800" b="1" dirty="0">
                <a:solidFill>
                  <a:srgbClr val="CC00CC"/>
                </a:solidFill>
                <a:latin typeface="Times New Roman" panose="02020603050405020304" pitchFamily="18" charset="0"/>
                <a:sym typeface="Symbol"/>
              </a:rPr>
              <a:t> </a:t>
            </a:r>
            <a:r>
              <a:rPr lang="zh-CN" altLang="en-US" sz="2800" b="1" dirty="0">
                <a:solidFill>
                  <a:srgbClr val="CC00CC"/>
                </a:solidFill>
                <a:latin typeface="Times New Roman" panose="02020603050405020304" pitchFamily="18" charset="0"/>
                <a:sym typeface="Symbol"/>
              </a:rPr>
              <a:t>和 </a:t>
            </a:r>
            <a:r>
              <a:rPr lang="en-US" altLang="zh-CN" sz="2800" b="1" i="1" dirty="0">
                <a:solidFill>
                  <a:srgbClr val="CC00CC"/>
                </a:solidFill>
                <a:latin typeface="Times New Roman" panose="02020603050405020304" pitchFamily="18" charset="0"/>
                <a:sym typeface="Symbol"/>
              </a:rPr>
              <a:t>j</a:t>
            </a:r>
            <a:r>
              <a:rPr lang="en-US" altLang="zh-CN" sz="2800" b="1" dirty="0">
                <a:solidFill>
                  <a:srgbClr val="CC00CC"/>
                </a:solidFill>
                <a:latin typeface="Times New Roman" panose="02020603050405020304" pitchFamily="18" charset="0"/>
                <a:sym typeface="Symbol"/>
              </a:rPr>
              <a:t> </a:t>
            </a:r>
            <a:r>
              <a:rPr lang="zh-CN" altLang="en-US" sz="2800" b="1" dirty="0">
                <a:solidFill>
                  <a:srgbClr val="CC00CC"/>
                </a:solidFill>
                <a:latin typeface="Times New Roman" panose="02020603050405020304" pitchFamily="18" charset="0"/>
                <a:sym typeface="Symbol"/>
              </a:rPr>
              <a:t>的输出</a:t>
            </a:r>
            <a:endParaRPr lang="en-US" altLang="zh-CN" sz="2800" b="1" dirty="0">
              <a:solidFill>
                <a:srgbClr val="CC00CC"/>
              </a:solidFill>
              <a:latin typeface="Times New Roman" panose="02020603050405020304" pitchFamily="18" charset="0"/>
            </a:endParaRPr>
          </a:p>
          <a:p>
            <a:pPr lvl="1">
              <a:lnSpc>
                <a:spcPct val="110000"/>
              </a:lnSpc>
            </a:pPr>
            <a:r>
              <a:rPr lang="en-US" altLang="zh-CN" b="1" i="1" dirty="0">
                <a:solidFill>
                  <a:srgbClr val="FF0000"/>
                </a:solidFill>
              </a:rPr>
              <a:t>Hebb</a:t>
            </a:r>
            <a:r>
              <a:rPr lang="zh-CN" altLang="en-US" b="1" dirty="0">
                <a:solidFill>
                  <a:srgbClr val="FF0000"/>
                </a:solidFill>
                <a:latin typeface="Times New Roman" panose="02020603050405020304" pitchFamily="18" charset="0"/>
              </a:rPr>
              <a:t>学习规则</a:t>
            </a:r>
            <a:r>
              <a:rPr lang="zh-CN" altLang="en-US" b="1" dirty="0">
                <a:latin typeface="Times New Roman" panose="02020603050405020304" pitchFamily="18" charset="0"/>
              </a:rPr>
              <a:t>是</a:t>
            </a:r>
            <a:r>
              <a:rPr lang="en-US" altLang="zh-CN" b="1" dirty="0">
                <a:latin typeface="Times New Roman" panose="02020603050405020304" pitchFamily="18" charset="0"/>
              </a:rPr>
              <a:t>ANN</a:t>
            </a:r>
            <a:r>
              <a:rPr lang="zh-CN" altLang="en-US" b="1" dirty="0">
                <a:latin typeface="Times New Roman" panose="02020603050405020304" pitchFamily="18" charset="0"/>
              </a:rPr>
              <a:t>学习的基本规则，几乎所有神经网络的学习规则都可以看作</a:t>
            </a:r>
            <a:r>
              <a:rPr lang="en-US" altLang="zh-CN" b="1" i="1" dirty="0" err="1">
                <a:latin typeface="+mj-lt"/>
              </a:rPr>
              <a:t>Hebb</a:t>
            </a:r>
            <a:r>
              <a:rPr lang="zh-CN" altLang="en-US" b="1" dirty="0">
                <a:latin typeface="Times New Roman" panose="02020603050405020304" pitchFamily="18" charset="0"/>
              </a:rPr>
              <a:t>学习规则的变形。</a:t>
            </a:r>
          </a:p>
        </p:txBody>
      </p:sp>
      <p:graphicFrame>
        <p:nvGraphicFramePr>
          <p:cNvPr id="2" name="对象 1"/>
          <p:cNvGraphicFramePr>
            <a:graphicFrameLocks noChangeAspect="1"/>
          </p:cNvGraphicFramePr>
          <p:nvPr>
            <p:extLst>
              <p:ext uri="{D42A27DB-BD31-4B8C-83A1-F6EECF244321}">
                <p14:modId xmlns:p14="http://schemas.microsoft.com/office/powerpoint/2010/main" val="3281843750"/>
              </p:ext>
            </p:extLst>
          </p:nvPr>
        </p:nvGraphicFramePr>
        <p:xfrm>
          <a:off x="4625975" y="3951288"/>
          <a:ext cx="2447626" cy="773856"/>
        </p:xfrm>
        <a:graphic>
          <a:graphicData uri="http://schemas.openxmlformats.org/presentationml/2006/ole">
            <mc:AlternateContent xmlns:mc="http://schemas.openxmlformats.org/markup-compatibility/2006">
              <mc:Choice xmlns:v="urn:schemas-microsoft-com:vml" Requires="v">
                <p:oleObj name="Equation" r:id="rId3" imgW="761760" imgH="241200" progId="Equation.DSMT4">
                  <p:embed/>
                </p:oleObj>
              </mc:Choice>
              <mc:Fallback>
                <p:oleObj name="Equation" r:id="rId3" imgW="761760" imgH="241200" progId="Equation.DSMT4">
                  <p:embed/>
                  <p:pic>
                    <p:nvPicPr>
                      <p:cNvPr id="2" name="对象 1"/>
                      <p:cNvPicPr/>
                      <p:nvPr/>
                    </p:nvPicPr>
                    <p:blipFill>
                      <a:blip r:embed="rId4"/>
                      <a:stretch>
                        <a:fillRect/>
                      </a:stretch>
                    </p:blipFill>
                    <p:spPr>
                      <a:xfrm>
                        <a:off x="4625975" y="3951288"/>
                        <a:ext cx="2447626" cy="773856"/>
                      </a:xfrm>
                      <a:prstGeom prst="rect">
                        <a:avLst/>
                      </a:prstGeom>
                    </p:spPr>
                  </p:pic>
                </p:oleObj>
              </mc:Fallback>
            </mc:AlternateContent>
          </a:graphicData>
        </a:graphic>
      </p:graphicFrame>
      <p:sp>
        <p:nvSpPr>
          <p:cNvPr id="3" name="灯片编号占位符 2">
            <a:extLst>
              <a:ext uri="{FF2B5EF4-FFF2-40B4-BE49-F238E27FC236}">
                <a16:creationId xmlns:a16="http://schemas.microsoft.com/office/drawing/2014/main" id="{5641595A-4E70-8D3E-705B-0EA883E49B45}"/>
              </a:ext>
            </a:extLst>
          </p:cNvPr>
          <p:cNvSpPr>
            <a:spLocks noGrp="1"/>
          </p:cNvSpPr>
          <p:nvPr>
            <p:ph type="sldNum" sz="quarter" idx="11"/>
          </p:nvPr>
        </p:nvSpPr>
        <p:spPr/>
        <p:txBody>
          <a:bodyPr/>
          <a:lstStyle/>
          <a:p>
            <a:pPr>
              <a:defRPr/>
            </a:pPr>
            <a:fld id="{E0FB5469-1AEB-496D-971A-66705BF2F73C}" type="slidenum">
              <a:rPr lang="en-US" altLang="zh-CN" smtClean="0"/>
              <a:pPr>
                <a:defRPr/>
              </a:pPr>
              <a:t>45</a:t>
            </a:fld>
            <a:endParaRPr lang="en-US" altLang="zh-CN"/>
          </a:p>
        </p:txBody>
      </p:sp>
    </p:spTree>
    <p:extLst>
      <p:ext uri="{BB962C8B-B14F-4D97-AF65-F5344CB8AC3E}">
        <p14:creationId xmlns:p14="http://schemas.microsoft.com/office/powerpoint/2010/main" val="26396081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Effect transition="in" filter="wipe(left)">
                                      <p:cBhvr>
                                        <p:cTn id="7" dur="500"/>
                                        <p:tgtEl>
                                          <p:spTgt spid="153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603">
                                            <p:txEl>
                                              <p:pRg st="1" end="1"/>
                                            </p:txEl>
                                          </p:spTgt>
                                        </p:tgtEl>
                                        <p:attrNameLst>
                                          <p:attrName>style.visibility</p:attrName>
                                        </p:attrNameLst>
                                      </p:cBhvr>
                                      <p:to>
                                        <p:strVal val="visible"/>
                                      </p:to>
                                    </p:set>
                                    <p:animEffect transition="in" filter="wipe(left)">
                                      <p:cBhvr>
                                        <p:cTn id="12" dur="500"/>
                                        <p:tgtEl>
                                          <p:spTgt spid="153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3603">
                                            <p:txEl>
                                              <p:pRg st="2" end="2"/>
                                            </p:txEl>
                                          </p:spTgt>
                                        </p:tgtEl>
                                        <p:attrNameLst>
                                          <p:attrName>style.visibility</p:attrName>
                                        </p:attrNameLst>
                                      </p:cBhvr>
                                      <p:to>
                                        <p:strVal val="visible"/>
                                      </p:to>
                                    </p:set>
                                    <p:animEffect transition="in" filter="wipe(left)">
                                      <p:cBhvr>
                                        <p:cTn id="17" dur="500"/>
                                        <p:tgtEl>
                                          <p:spTgt spid="153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3603">
                                            <p:txEl>
                                              <p:pRg st="4" end="4"/>
                                            </p:txEl>
                                          </p:spTgt>
                                        </p:tgtEl>
                                        <p:attrNameLst>
                                          <p:attrName>style.visibility</p:attrName>
                                        </p:attrNameLst>
                                      </p:cBhvr>
                                      <p:to>
                                        <p:strVal val="visible"/>
                                      </p:to>
                                    </p:set>
                                    <p:animEffect transition="in" filter="wipe(left)">
                                      <p:cBhvr>
                                        <p:cTn id="29" dur="500"/>
                                        <p:tgtEl>
                                          <p:spTgt spid="15360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53603">
                                            <p:txEl>
                                              <p:pRg st="5" end="5"/>
                                            </p:txEl>
                                          </p:spTgt>
                                        </p:tgtEl>
                                        <p:attrNameLst>
                                          <p:attrName>style.visibility</p:attrName>
                                        </p:attrNameLst>
                                      </p:cBhvr>
                                      <p:to>
                                        <p:strVal val="visible"/>
                                      </p:to>
                                    </p:set>
                                    <p:animEffect transition="in" filter="wipe(left)">
                                      <p:cBhvr>
                                        <p:cTn id="34" dur="500"/>
                                        <p:tgtEl>
                                          <p:spTgt spid="1536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1993846" y="185192"/>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神经网络的主要学习规则</a:t>
            </a:r>
          </a:p>
        </p:txBody>
      </p:sp>
      <p:sp>
        <p:nvSpPr>
          <p:cNvPr id="153603" name="Rectangle 3"/>
          <p:cNvSpPr>
            <a:spLocks noGrp="1" noChangeArrowheads="1"/>
          </p:cNvSpPr>
          <p:nvPr>
            <p:ph type="body" idx="1"/>
          </p:nvPr>
        </p:nvSpPr>
        <p:spPr>
          <a:xfrm>
            <a:off x="1127448" y="1484784"/>
            <a:ext cx="10225136" cy="5184576"/>
          </a:xfrm>
        </p:spPr>
        <p:txBody>
          <a:bodyPr/>
          <a:lstStyle/>
          <a:p>
            <a:pPr>
              <a:lnSpc>
                <a:spcPct val="130000"/>
              </a:lnSpc>
            </a:pPr>
            <a:r>
              <a:rPr lang="en-US" altLang="zh-CN" b="1" i="1" dirty="0">
                <a:solidFill>
                  <a:srgbClr val="FF0000"/>
                </a:solidFill>
              </a:rPr>
              <a:t>Delta</a:t>
            </a:r>
            <a:r>
              <a:rPr lang="zh-CN" altLang="en-US" b="1" dirty="0">
                <a:solidFill>
                  <a:srgbClr val="FF0000"/>
                </a:solidFill>
              </a:rPr>
              <a:t>（</a:t>
            </a:r>
            <a:r>
              <a:rPr lang="zh-CN" altLang="en-US" b="1" i="1" dirty="0">
                <a:solidFill>
                  <a:srgbClr val="FF0000"/>
                </a:solidFill>
                <a:sym typeface="Symbol" panose="05050102010706020507" pitchFamily="18" charset="2"/>
              </a:rPr>
              <a:t></a:t>
            </a:r>
            <a:r>
              <a:rPr lang="zh-CN" altLang="en-US" b="1" dirty="0">
                <a:solidFill>
                  <a:srgbClr val="FF0000"/>
                </a:solidFill>
              </a:rPr>
              <a:t>）学习规则</a:t>
            </a:r>
            <a:r>
              <a:rPr lang="zh-CN" altLang="en-US" dirty="0"/>
              <a:t> </a:t>
            </a:r>
            <a:endParaRPr lang="zh-CN" altLang="en-US" b="1" dirty="0">
              <a:solidFill>
                <a:srgbClr val="FF0000"/>
              </a:solidFill>
            </a:endParaRPr>
          </a:p>
          <a:p>
            <a:pPr lvl="1">
              <a:lnSpc>
                <a:spcPct val="130000"/>
              </a:lnSpc>
            </a:pPr>
            <a:r>
              <a:rPr lang="zh-CN" altLang="en-US" b="1" dirty="0">
                <a:latin typeface="Times New Roman" panose="02020603050405020304" pitchFamily="18" charset="0"/>
              </a:rPr>
              <a:t>用已知</a:t>
            </a:r>
            <a:r>
              <a:rPr lang="zh-CN" altLang="en-US" b="1" u="sng" dirty="0">
                <a:latin typeface="Times New Roman" panose="02020603050405020304" pitchFamily="18" charset="0"/>
              </a:rPr>
              <a:t>样本对</a:t>
            </a:r>
            <a:r>
              <a:rPr lang="zh-CN" altLang="en-US" b="1" dirty="0">
                <a:latin typeface="Times New Roman" panose="02020603050405020304" pitchFamily="18" charset="0"/>
              </a:rPr>
              <a:t>作为教师对网络进行学习。</a:t>
            </a:r>
            <a:endParaRPr lang="en-US" altLang="zh-CN" b="1" dirty="0">
              <a:latin typeface="Times New Roman" panose="02020603050405020304" pitchFamily="18" charset="0"/>
            </a:endParaRPr>
          </a:p>
          <a:p>
            <a:pPr lvl="1">
              <a:lnSpc>
                <a:spcPct val="130000"/>
              </a:lnSpc>
            </a:pPr>
            <a:r>
              <a:rPr lang="zh-CN" altLang="en-US" b="1" dirty="0">
                <a:solidFill>
                  <a:srgbClr val="3333FF"/>
                </a:solidFill>
                <a:latin typeface="Times New Roman" panose="02020603050405020304" pitchFamily="18" charset="0"/>
              </a:rPr>
              <a:t>设学习样本对为</a:t>
            </a:r>
            <a:r>
              <a:rPr lang="en-US" altLang="zh-CN" b="1" dirty="0">
                <a:solidFill>
                  <a:srgbClr val="3333FF"/>
                </a:solidFill>
                <a:latin typeface="Times New Roman" panose="02020603050405020304" pitchFamily="18" charset="0"/>
              </a:rPr>
              <a:t>(</a:t>
            </a:r>
            <a:r>
              <a:rPr lang="en-US" altLang="zh-CN" b="1" i="1" dirty="0" err="1">
                <a:solidFill>
                  <a:srgbClr val="3333FF"/>
                </a:solidFill>
                <a:latin typeface="Times New Roman" panose="02020603050405020304" pitchFamily="18" charset="0"/>
              </a:rPr>
              <a:t>X</a:t>
            </a:r>
            <a:r>
              <a:rPr lang="en-US" altLang="zh-CN" b="1" i="1" baseline="30000" dirty="0" err="1">
                <a:solidFill>
                  <a:srgbClr val="3333FF"/>
                </a:solidFill>
                <a:latin typeface="Times New Roman" panose="02020603050405020304" pitchFamily="18" charset="0"/>
              </a:rPr>
              <a:t>k</a:t>
            </a:r>
            <a:r>
              <a:rPr lang="en-US" altLang="zh-CN" b="1" dirty="0">
                <a:solidFill>
                  <a:srgbClr val="3333FF"/>
                </a:solidFill>
                <a:latin typeface="Times New Roman" panose="02020603050405020304" pitchFamily="18" charset="0"/>
              </a:rPr>
              <a:t>, </a:t>
            </a:r>
            <a:r>
              <a:rPr lang="en-US" altLang="zh-CN" b="1" i="1" dirty="0" err="1">
                <a:solidFill>
                  <a:srgbClr val="3333FF"/>
                </a:solidFill>
                <a:latin typeface="Times New Roman" panose="02020603050405020304" pitchFamily="18" charset="0"/>
              </a:rPr>
              <a:t>Y</a:t>
            </a:r>
            <a:r>
              <a:rPr lang="en-US" altLang="zh-CN" b="1" i="1" baseline="30000" dirty="0" err="1">
                <a:solidFill>
                  <a:srgbClr val="3333FF"/>
                </a:solidFill>
                <a:latin typeface="Times New Roman" panose="02020603050405020304" pitchFamily="18" charset="0"/>
              </a:rPr>
              <a:t>k</a:t>
            </a:r>
            <a:r>
              <a:rPr lang="en-US" altLang="zh-CN" b="1" dirty="0">
                <a:solidFill>
                  <a:srgbClr val="3333FF"/>
                </a:solidFill>
                <a:latin typeface="Times New Roman" panose="02020603050405020304" pitchFamily="18" charset="0"/>
              </a:rPr>
              <a:t>)</a:t>
            </a:r>
            <a:r>
              <a:rPr lang="zh-CN" altLang="en-US" b="1" dirty="0">
                <a:solidFill>
                  <a:srgbClr val="3333FF"/>
                </a:solidFill>
                <a:latin typeface="Times New Roman" panose="02020603050405020304" pitchFamily="18" charset="0"/>
              </a:rPr>
              <a:t>，系统实际输出为</a:t>
            </a:r>
            <a:r>
              <a:rPr lang="en-US" altLang="zh-CN" b="1" i="1" dirty="0">
                <a:solidFill>
                  <a:srgbClr val="3333FF"/>
                </a:solidFill>
                <a:latin typeface="Times New Roman" panose="02020603050405020304" pitchFamily="18" charset="0"/>
              </a:rPr>
              <a:t>O</a:t>
            </a:r>
            <a:r>
              <a:rPr lang="en-US" altLang="zh-CN" b="1" i="1" baseline="30000" dirty="0">
                <a:solidFill>
                  <a:srgbClr val="3333FF"/>
                </a:solidFill>
                <a:latin typeface="Times New Roman" panose="02020603050405020304" pitchFamily="18" charset="0"/>
              </a:rPr>
              <a:t>k</a:t>
            </a:r>
            <a:r>
              <a:rPr lang="en-US" altLang="zh-CN" b="1" dirty="0">
                <a:solidFill>
                  <a:srgbClr val="3333FF"/>
                </a:solidFill>
                <a:latin typeface="Times New Roman" panose="02020603050405020304" pitchFamily="18" charset="0"/>
              </a:rPr>
              <a:t>, </a:t>
            </a:r>
            <a:r>
              <a:rPr lang="zh-CN" altLang="en-US" b="1" dirty="0">
                <a:solidFill>
                  <a:srgbClr val="3333FF"/>
                </a:solidFill>
                <a:latin typeface="Times New Roman" panose="02020603050405020304" pitchFamily="18" charset="0"/>
              </a:rPr>
              <a:t>设神经元</a:t>
            </a:r>
            <a:r>
              <a:rPr lang="en-US" altLang="zh-CN" b="1" i="1" dirty="0">
                <a:solidFill>
                  <a:srgbClr val="3333FF"/>
                </a:solidFill>
                <a:latin typeface="Times New Roman" panose="02020603050405020304" pitchFamily="18" charset="0"/>
              </a:rPr>
              <a:t>i</a:t>
            </a:r>
            <a:r>
              <a:rPr lang="zh-CN" altLang="en-US" b="1" dirty="0">
                <a:solidFill>
                  <a:srgbClr val="3333FF"/>
                </a:solidFill>
                <a:latin typeface="Times New Roman" panose="02020603050405020304" pitchFamily="18" charset="0"/>
              </a:rPr>
              <a:t>和</a:t>
            </a:r>
            <a:r>
              <a:rPr lang="en-US" altLang="zh-CN" b="1" i="1" dirty="0">
                <a:solidFill>
                  <a:srgbClr val="3333FF"/>
                </a:solidFill>
                <a:latin typeface="Times New Roman" panose="02020603050405020304" pitchFamily="18" charset="0"/>
              </a:rPr>
              <a:t>j</a:t>
            </a:r>
            <a:r>
              <a:rPr lang="zh-CN" altLang="en-US" b="1" dirty="0">
                <a:solidFill>
                  <a:srgbClr val="3333FF"/>
                </a:solidFill>
                <a:latin typeface="Times New Roman" panose="02020603050405020304" pitchFamily="18" charset="0"/>
              </a:rPr>
              <a:t>的连接权值为</a:t>
            </a:r>
            <a:r>
              <a:rPr lang="en-US" altLang="zh-CN" b="1" i="1" dirty="0" err="1">
                <a:solidFill>
                  <a:srgbClr val="3333FF"/>
                </a:solidFill>
                <a:latin typeface="Times New Roman" panose="02020603050405020304" pitchFamily="18" charset="0"/>
              </a:rPr>
              <a:t>w</a:t>
            </a:r>
            <a:r>
              <a:rPr lang="en-US" altLang="zh-CN" b="1" i="1" baseline="-25000" dirty="0" err="1">
                <a:solidFill>
                  <a:srgbClr val="3333FF"/>
                </a:solidFill>
                <a:latin typeface="Times New Roman" panose="02020603050405020304" pitchFamily="18" charset="0"/>
              </a:rPr>
              <a:t>ij</a:t>
            </a:r>
            <a:r>
              <a:rPr lang="zh-CN" altLang="en-US" b="1" dirty="0">
                <a:solidFill>
                  <a:srgbClr val="3333FF"/>
                </a:solidFill>
                <a:latin typeface="Times New Roman" panose="02020603050405020304" pitchFamily="18" charset="0"/>
              </a:rPr>
              <a:t>，则权的调整量为：</a:t>
            </a:r>
            <a:endParaRPr lang="en-US" altLang="zh-CN" b="1" dirty="0">
              <a:solidFill>
                <a:srgbClr val="3333FF"/>
              </a:solidFill>
              <a:latin typeface="Times New Roman" panose="02020603050405020304" pitchFamily="18" charset="0"/>
            </a:endParaRPr>
          </a:p>
          <a:p>
            <a:pPr marL="457200" lvl="1" indent="0">
              <a:lnSpc>
                <a:spcPct val="130000"/>
              </a:lnSpc>
              <a:buNone/>
            </a:pPr>
            <a:r>
              <a:rPr lang="en-US" altLang="zh-CN" b="1" dirty="0">
                <a:solidFill>
                  <a:srgbClr val="3333FF"/>
                </a:solidFill>
                <a:latin typeface="Times New Roman" panose="02020603050405020304" pitchFamily="18" charset="0"/>
              </a:rPr>
              <a:t>                                    </a:t>
            </a:r>
          </a:p>
          <a:p>
            <a:pPr marL="457200" lvl="1" indent="0">
              <a:lnSpc>
                <a:spcPct val="130000"/>
              </a:lnSpc>
              <a:buNone/>
            </a:pPr>
            <a:r>
              <a:rPr lang="zh-CN" altLang="en-US" b="1" dirty="0">
                <a:solidFill>
                  <a:srgbClr val="3333FF"/>
                </a:solidFill>
                <a:latin typeface="Times New Roman" panose="02020603050405020304" pitchFamily="18" charset="0"/>
              </a:rPr>
              <a:t>   其中，                            ，</a:t>
            </a:r>
            <a:r>
              <a:rPr lang="en-US" altLang="zh-CN" b="1" i="1" dirty="0">
                <a:solidFill>
                  <a:srgbClr val="3333FF"/>
                </a:solidFill>
                <a:latin typeface="Times New Roman" panose="02020603050405020304" pitchFamily="18" charset="0"/>
              </a:rPr>
              <a:t>f </a:t>
            </a:r>
            <a:r>
              <a:rPr lang="en-US" altLang="zh-CN" b="1" dirty="0">
                <a:solidFill>
                  <a:srgbClr val="3333FF"/>
                </a:solidFill>
                <a:latin typeface="Times New Roman" panose="02020603050405020304" pitchFamily="18" charset="0"/>
              </a:rPr>
              <a:t>(.)</a:t>
            </a:r>
            <a:r>
              <a:rPr lang="zh-CN" altLang="en-US" b="1" dirty="0">
                <a:solidFill>
                  <a:srgbClr val="3333FF"/>
                </a:solidFill>
                <a:latin typeface="Times New Roman" panose="02020603050405020304" pitchFamily="18" charset="0"/>
              </a:rPr>
              <a:t>为响应函数</a:t>
            </a:r>
            <a:endParaRPr lang="en-US" altLang="zh-CN" b="1" dirty="0">
              <a:solidFill>
                <a:srgbClr val="3333FF"/>
              </a:solidFill>
              <a:latin typeface="Times New Roman" panose="02020603050405020304" pitchFamily="18" charset="0"/>
            </a:endParaRPr>
          </a:p>
          <a:p>
            <a:pPr lvl="1">
              <a:lnSpc>
                <a:spcPct val="130000"/>
              </a:lnSpc>
            </a:pPr>
            <a:r>
              <a:rPr lang="zh-CN" altLang="en-US" b="1" dirty="0">
                <a:solidFill>
                  <a:srgbClr val="CC00CC"/>
                </a:solidFill>
                <a:latin typeface="Times New Roman" panose="02020603050405020304" pitchFamily="18" charset="0"/>
              </a:rPr>
              <a:t>即通过</a:t>
            </a:r>
            <a:r>
              <a:rPr lang="zh-CN" altLang="zh-CN" b="1" dirty="0">
                <a:solidFill>
                  <a:srgbClr val="CC00CC"/>
                </a:solidFill>
                <a:latin typeface="Times New Roman" panose="02020603050405020304" pitchFamily="18" charset="0"/>
              </a:rPr>
              <a:t>改变单元间的连接权重来减小系统实际输出与</a:t>
            </a:r>
            <a:r>
              <a:rPr lang="zh-CN" altLang="en-US" b="1" dirty="0">
                <a:solidFill>
                  <a:srgbClr val="CC00CC"/>
                </a:solidFill>
                <a:latin typeface="Times New Roman" panose="02020603050405020304" pitchFamily="18" charset="0"/>
              </a:rPr>
              <a:t>理想</a:t>
            </a:r>
            <a:r>
              <a:rPr lang="zh-CN" altLang="zh-CN" b="1" dirty="0">
                <a:solidFill>
                  <a:srgbClr val="CC00CC"/>
                </a:solidFill>
                <a:latin typeface="Times New Roman" panose="02020603050405020304" pitchFamily="18" charset="0"/>
              </a:rPr>
              <a:t>输出间的误差</a:t>
            </a:r>
            <a:r>
              <a:rPr lang="en-US" altLang="zh-CN" b="1" dirty="0">
                <a:solidFill>
                  <a:srgbClr val="CC00CC"/>
                </a:solidFill>
                <a:latin typeface="Times New Roman" panose="02020603050405020304" pitchFamily="18" charset="0"/>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2010042087"/>
              </p:ext>
            </p:extLst>
          </p:nvPr>
        </p:nvGraphicFramePr>
        <p:xfrm>
          <a:off x="4083050" y="4062414"/>
          <a:ext cx="2078038" cy="644525"/>
        </p:xfrm>
        <a:graphic>
          <a:graphicData uri="http://schemas.openxmlformats.org/presentationml/2006/ole">
            <mc:AlternateContent xmlns:mc="http://schemas.openxmlformats.org/markup-compatibility/2006">
              <mc:Choice xmlns:v="urn:schemas-microsoft-com:vml" Requires="v">
                <p:oleObj name="Equation" r:id="rId3" imgW="774360" imgH="241200" progId="Equation.DSMT4">
                  <p:embed/>
                </p:oleObj>
              </mc:Choice>
              <mc:Fallback>
                <p:oleObj name="Equation" r:id="rId3" imgW="774360" imgH="241200" progId="Equation.DSMT4">
                  <p:embed/>
                  <p:pic>
                    <p:nvPicPr>
                      <p:cNvPr id="2" name="对象 1"/>
                      <p:cNvPicPr>
                        <a:picLocks noChangeAspect="1" noChangeArrowheads="1"/>
                      </p:cNvPicPr>
                      <p:nvPr/>
                    </p:nvPicPr>
                    <p:blipFill>
                      <a:blip r:embed="rId4"/>
                      <a:srcRect/>
                      <a:stretch>
                        <a:fillRect/>
                      </a:stretch>
                    </p:blipFill>
                    <p:spPr bwMode="auto">
                      <a:xfrm>
                        <a:off x="4083050" y="4062414"/>
                        <a:ext cx="2078038" cy="644525"/>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183855017"/>
              </p:ext>
            </p:extLst>
          </p:nvPr>
        </p:nvGraphicFramePr>
        <p:xfrm>
          <a:off x="3143672" y="4770647"/>
          <a:ext cx="2262188" cy="565150"/>
        </p:xfrm>
        <a:graphic>
          <a:graphicData uri="http://schemas.openxmlformats.org/presentationml/2006/ole">
            <mc:AlternateContent xmlns:mc="http://schemas.openxmlformats.org/markup-compatibility/2006">
              <mc:Choice xmlns:v="urn:schemas-microsoft-com:vml" Requires="v">
                <p:oleObj name="Equation" r:id="rId5" imgW="965160" imgH="241200" progId="Equation.DSMT4">
                  <p:embed/>
                </p:oleObj>
              </mc:Choice>
              <mc:Fallback>
                <p:oleObj name="Equation" r:id="rId5" imgW="965160" imgH="241200" progId="Equation.DSMT4">
                  <p:embed/>
                  <p:pic>
                    <p:nvPicPr>
                      <p:cNvPr id="3" name="对象 2"/>
                      <p:cNvPicPr/>
                      <p:nvPr/>
                    </p:nvPicPr>
                    <p:blipFill>
                      <a:blip r:embed="rId6"/>
                      <a:stretch>
                        <a:fillRect/>
                      </a:stretch>
                    </p:blipFill>
                    <p:spPr>
                      <a:xfrm>
                        <a:off x="3143672" y="4770647"/>
                        <a:ext cx="2262188" cy="565150"/>
                      </a:xfrm>
                      <a:prstGeom prst="rect">
                        <a:avLst/>
                      </a:prstGeom>
                    </p:spPr>
                  </p:pic>
                </p:oleObj>
              </mc:Fallback>
            </mc:AlternateContent>
          </a:graphicData>
        </a:graphic>
      </p:graphicFrame>
      <p:sp>
        <p:nvSpPr>
          <p:cNvPr id="4" name="灯片编号占位符 3">
            <a:extLst>
              <a:ext uri="{FF2B5EF4-FFF2-40B4-BE49-F238E27FC236}">
                <a16:creationId xmlns:a16="http://schemas.microsoft.com/office/drawing/2014/main" id="{6E711A5D-24EC-0A05-AF15-C438C43D754D}"/>
              </a:ext>
            </a:extLst>
          </p:cNvPr>
          <p:cNvSpPr>
            <a:spLocks noGrp="1"/>
          </p:cNvSpPr>
          <p:nvPr>
            <p:ph type="sldNum" sz="quarter" idx="11"/>
          </p:nvPr>
        </p:nvSpPr>
        <p:spPr/>
        <p:txBody>
          <a:bodyPr/>
          <a:lstStyle/>
          <a:p>
            <a:pPr>
              <a:defRPr/>
            </a:pPr>
            <a:fld id="{E0FB5469-1AEB-496D-971A-66705BF2F73C}" type="slidenum">
              <a:rPr lang="en-US" altLang="zh-CN" smtClean="0"/>
              <a:pPr>
                <a:defRPr/>
              </a:pPr>
              <a:t>46</a:t>
            </a:fld>
            <a:endParaRPr lang="en-US" altLang="zh-CN"/>
          </a:p>
        </p:txBody>
      </p:sp>
    </p:spTree>
    <p:extLst>
      <p:ext uri="{BB962C8B-B14F-4D97-AF65-F5344CB8AC3E}">
        <p14:creationId xmlns:p14="http://schemas.microsoft.com/office/powerpoint/2010/main" val="219330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Effect transition="in" filter="wipe(left)">
                                      <p:cBhvr>
                                        <p:cTn id="7" dur="500"/>
                                        <p:tgtEl>
                                          <p:spTgt spid="153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3">
                                            <p:txEl>
                                              <p:pRg st="1" end="1"/>
                                            </p:txEl>
                                          </p:spTgt>
                                        </p:tgtEl>
                                        <p:attrNameLst>
                                          <p:attrName>style.visibility</p:attrName>
                                        </p:attrNameLst>
                                      </p:cBhvr>
                                      <p:to>
                                        <p:strVal val="visible"/>
                                      </p:to>
                                    </p:set>
                                    <p:animEffect transition="in" filter="wipe(left)">
                                      <p:cBhvr>
                                        <p:cTn id="12" dur="500"/>
                                        <p:tgtEl>
                                          <p:spTgt spid="153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03">
                                            <p:txEl>
                                              <p:pRg st="2" end="2"/>
                                            </p:txEl>
                                          </p:spTgt>
                                        </p:tgtEl>
                                        <p:attrNameLst>
                                          <p:attrName>style.visibility</p:attrName>
                                        </p:attrNameLst>
                                      </p:cBhvr>
                                      <p:to>
                                        <p:strVal val="visible"/>
                                      </p:to>
                                    </p:set>
                                    <p:animEffect transition="in" filter="wipe(left)">
                                      <p:cBhvr>
                                        <p:cTn id="17" dur="500"/>
                                        <p:tgtEl>
                                          <p:spTgt spid="153603">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53603">
                                            <p:txEl>
                                              <p:pRg st="3" end="3"/>
                                            </p:txEl>
                                          </p:spTgt>
                                        </p:tgtEl>
                                        <p:attrNameLst>
                                          <p:attrName>style.visibility</p:attrName>
                                        </p:attrNameLst>
                                      </p:cBhvr>
                                      <p:to>
                                        <p:strVal val="visible"/>
                                      </p:to>
                                    </p:set>
                                    <p:animEffect transition="in" filter="wipe(left)">
                                      <p:cBhvr>
                                        <p:cTn id="20" dur="500"/>
                                        <p:tgtEl>
                                          <p:spTgt spid="15360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3603">
                                            <p:txEl>
                                              <p:pRg st="4" end="4"/>
                                            </p:txEl>
                                          </p:spTgt>
                                        </p:tgtEl>
                                        <p:attrNameLst>
                                          <p:attrName>style.visibility</p:attrName>
                                        </p:attrNameLst>
                                      </p:cBhvr>
                                      <p:to>
                                        <p:strVal val="visible"/>
                                      </p:to>
                                    </p:set>
                                    <p:animEffect transition="in" filter="wipe(left)">
                                      <p:cBhvr>
                                        <p:cTn id="30" dur="500"/>
                                        <p:tgtEl>
                                          <p:spTgt spid="153603">
                                            <p:txEl>
                                              <p:pRg st="4" end="4"/>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left)">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53603">
                                            <p:txEl>
                                              <p:pRg st="5" end="5"/>
                                            </p:txEl>
                                          </p:spTgt>
                                        </p:tgtEl>
                                        <p:attrNameLst>
                                          <p:attrName>style.visibility</p:attrName>
                                        </p:attrNameLst>
                                      </p:cBhvr>
                                      <p:to>
                                        <p:strVal val="visible"/>
                                      </p:to>
                                    </p:set>
                                    <p:animEffect transition="in" filter="wipe(left)">
                                      <p:cBhvr>
                                        <p:cTn id="38" dur="500"/>
                                        <p:tgtEl>
                                          <p:spTgt spid="1536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81200" y="457200"/>
            <a:ext cx="8229600" cy="884238"/>
          </a:xfrm>
        </p:spPr>
        <p:txBody>
          <a:bodyPr/>
          <a:lstStyle/>
          <a:p>
            <a:pPr algn="ctr" eaLnBrk="1" hangingPunct="1"/>
            <a:r>
              <a:rPr lang="zh-CN" altLang="en-US">
                <a:solidFill>
                  <a:srgbClr val="008000"/>
                </a:solidFill>
                <a:latin typeface="黑体" pitchFamily="49" charset="-122"/>
                <a:ea typeface="黑体" pitchFamily="49" charset="-122"/>
              </a:rPr>
              <a:t>人工神经网络方法</a:t>
            </a:r>
          </a:p>
        </p:txBody>
      </p:sp>
      <p:sp>
        <p:nvSpPr>
          <p:cNvPr id="31747" name="Rectangle 3"/>
          <p:cNvSpPr>
            <a:spLocks noGrp="1" noChangeArrowheads="1"/>
          </p:cNvSpPr>
          <p:nvPr>
            <p:ph type="body" idx="1"/>
          </p:nvPr>
        </p:nvSpPr>
        <p:spPr>
          <a:xfrm>
            <a:off x="1055440" y="1268414"/>
            <a:ext cx="9937103" cy="5589587"/>
          </a:xfrm>
        </p:spPr>
        <p:txBody>
          <a:bodyPr/>
          <a:lstStyle/>
          <a:p>
            <a:pPr eaLnBrk="1" hangingPunct="1">
              <a:lnSpc>
                <a:spcPct val="110000"/>
              </a:lnSpc>
            </a:pPr>
            <a:r>
              <a:rPr lang="zh-CN" altLang="en-US" dirty="0">
                <a:solidFill>
                  <a:srgbClr val="FF0000"/>
                </a:solidFill>
                <a:latin typeface="黑体" pitchFamily="49" charset="-122"/>
                <a:ea typeface="黑体" pitchFamily="49" charset="-122"/>
              </a:rPr>
              <a:t>神经网络的训练阶段：</a:t>
            </a:r>
          </a:p>
          <a:p>
            <a:pPr lvl="1" eaLnBrk="1" hangingPunct="1">
              <a:lnSpc>
                <a:spcPct val="110000"/>
              </a:lnSpc>
            </a:pPr>
            <a:r>
              <a:rPr lang="zh-CN" altLang="en-US" dirty="0">
                <a:latin typeface="黑体" pitchFamily="49" charset="-122"/>
                <a:ea typeface="黑体" pitchFamily="49" charset="-122"/>
              </a:rPr>
              <a:t>将训练数据集的样本对</a:t>
            </a:r>
            <a:r>
              <a:rPr lang="en-US" altLang="zh-CN" sz="3200" dirty="0">
                <a:latin typeface="黑体" pitchFamily="49" charset="-122"/>
                <a:ea typeface="黑体" pitchFamily="49" charset="-122"/>
              </a:rPr>
              <a:t>(X</a:t>
            </a:r>
            <a:r>
              <a:rPr lang="en-US" altLang="zh-CN" baseline="-30000" dirty="0">
                <a:ea typeface="黑体" pitchFamily="49" charset="-122"/>
              </a:rPr>
              <a:t>i</a:t>
            </a:r>
            <a:r>
              <a:rPr lang="en-US" altLang="zh-CN" dirty="0">
                <a:ea typeface="黑体" pitchFamily="49" charset="-122"/>
              </a:rPr>
              <a:t>, Y</a:t>
            </a:r>
            <a:r>
              <a:rPr lang="en-US" altLang="zh-CN" baseline="-30000" dirty="0">
                <a:ea typeface="黑体" pitchFamily="49" charset="-122"/>
              </a:rPr>
              <a:t>i</a:t>
            </a:r>
            <a:r>
              <a:rPr lang="en-US" altLang="zh-CN" dirty="0">
                <a:ea typeface="黑体" pitchFamily="49" charset="-122"/>
              </a:rPr>
              <a:t>)</a:t>
            </a:r>
            <a:r>
              <a:rPr lang="zh-CN" altLang="en-US" dirty="0">
                <a:latin typeface="黑体" pitchFamily="49" charset="-122"/>
                <a:ea typeface="黑体" pitchFamily="49" charset="-122"/>
              </a:rPr>
              <a:t>送到神经网络进行训练，直到输出误差在要求的范围内；</a:t>
            </a:r>
          </a:p>
          <a:p>
            <a:pPr lvl="1" eaLnBrk="1" hangingPunct="1">
              <a:lnSpc>
                <a:spcPct val="110000"/>
              </a:lnSpc>
            </a:pPr>
            <a:r>
              <a:rPr lang="zh-CN" altLang="en-US" dirty="0">
                <a:solidFill>
                  <a:schemeClr val="bg2"/>
                </a:solidFill>
                <a:latin typeface="黑体" pitchFamily="49" charset="-122"/>
                <a:ea typeface="黑体" pitchFamily="49" charset="-122"/>
              </a:rPr>
              <a:t>训练完毕后，可使神经网络模拟输入、输出数据集间的非线性关系。</a:t>
            </a:r>
          </a:p>
          <a:p>
            <a:pPr eaLnBrk="1" hangingPunct="1">
              <a:lnSpc>
                <a:spcPct val="110000"/>
              </a:lnSpc>
            </a:pPr>
            <a:r>
              <a:rPr lang="zh-CN" altLang="en-US" dirty="0">
                <a:solidFill>
                  <a:srgbClr val="FF0000"/>
                </a:solidFill>
                <a:latin typeface="黑体" pitchFamily="49" charset="-122"/>
                <a:ea typeface="黑体" pitchFamily="49" charset="-122"/>
              </a:rPr>
              <a:t>神经网络的应用阶段</a:t>
            </a:r>
          </a:p>
          <a:p>
            <a:pPr lvl="1" eaLnBrk="1" hangingPunct="1">
              <a:lnSpc>
                <a:spcPct val="110000"/>
              </a:lnSpc>
            </a:pPr>
            <a:r>
              <a:rPr lang="zh-CN" altLang="en-US" dirty="0">
                <a:latin typeface="黑体" pitchFamily="49" charset="-122"/>
                <a:ea typeface="黑体" pitchFamily="49" charset="-122"/>
              </a:rPr>
              <a:t>神经网络训练完成后，用一个检验数据集来检验神经网络模拟非线性关系的效果。</a:t>
            </a:r>
          </a:p>
          <a:p>
            <a:pPr lvl="1" eaLnBrk="1" hangingPunct="1">
              <a:lnSpc>
                <a:spcPct val="110000"/>
              </a:lnSpc>
            </a:pPr>
            <a:r>
              <a:rPr lang="zh-CN" altLang="en-US" dirty="0">
                <a:latin typeface="黑体" pitchFamily="49" charset="-122"/>
                <a:ea typeface="黑体" pitchFamily="49" charset="-122"/>
              </a:rPr>
              <a:t>已经训练好的神经网络能描述好一个</a:t>
            </a:r>
            <a:r>
              <a:rPr lang="zh-CN" altLang="en-US" dirty="0">
                <a:solidFill>
                  <a:srgbClr val="3333FF"/>
                </a:solidFill>
                <a:latin typeface="黑体" pitchFamily="49" charset="-122"/>
                <a:ea typeface="黑体" pitchFamily="49" charset="-122"/>
              </a:rPr>
              <a:t>隶属函数</a:t>
            </a:r>
            <a:r>
              <a:rPr lang="zh-CN" altLang="en-US" dirty="0">
                <a:latin typeface="黑体" pitchFamily="49" charset="-122"/>
                <a:ea typeface="黑体" pitchFamily="49" charset="-122"/>
              </a:rPr>
              <a:t>，无论它是线性的还是非线性的。</a:t>
            </a:r>
          </a:p>
        </p:txBody>
      </p:sp>
      <p:sp>
        <p:nvSpPr>
          <p:cNvPr id="2" name="灯片编号占位符 1">
            <a:extLst>
              <a:ext uri="{FF2B5EF4-FFF2-40B4-BE49-F238E27FC236}">
                <a16:creationId xmlns:a16="http://schemas.microsoft.com/office/drawing/2014/main" id="{70E0D3B1-567A-A10F-5C41-A01C4A567DC5}"/>
              </a:ext>
            </a:extLst>
          </p:cNvPr>
          <p:cNvSpPr>
            <a:spLocks noGrp="1"/>
          </p:cNvSpPr>
          <p:nvPr>
            <p:ph type="sldNum" sz="quarter" idx="11"/>
          </p:nvPr>
        </p:nvSpPr>
        <p:spPr/>
        <p:txBody>
          <a:bodyPr/>
          <a:lstStyle/>
          <a:p>
            <a:pPr>
              <a:defRPr/>
            </a:pPr>
            <a:fld id="{E0FB5469-1AEB-496D-971A-66705BF2F73C}" type="slidenum">
              <a:rPr lang="en-US" altLang="zh-CN" smtClean="0"/>
              <a:pPr>
                <a:defRPr/>
              </a:pPr>
              <a:t>47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wipe(left)">
                                      <p:cBhvr>
                                        <p:cTn id="7" dur="500"/>
                                        <p:tgtEl>
                                          <p:spTgt spid="31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wipe(left)">
                                      <p:cBhvr>
                                        <p:cTn id="12" dur="500"/>
                                        <p:tgtEl>
                                          <p:spTgt spid="317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Effect transition="in" filter="wipe(left)">
                                      <p:cBhvr>
                                        <p:cTn id="17" dur="500"/>
                                        <p:tgtEl>
                                          <p:spTgt spid="317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47">
                                            <p:txEl>
                                              <p:pRg st="3" end="3"/>
                                            </p:txEl>
                                          </p:spTgt>
                                        </p:tgtEl>
                                        <p:attrNameLst>
                                          <p:attrName>style.visibility</p:attrName>
                                        </p:attrNameLst>
                                      </p:cBhvr>
                                      <p:to>
                                        <p:strVal val="visible"/>
                                      </p:to>
                                    </p:set>
                                    <p:animEffect transition="in" filter="wipe(left)">
                                      <p:cBhvr>
                                        <p:cTn id="22" dur="500"/>
                                        <p:tgtEl>
                                          <p:spTgt spid="317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747">
                                            <p:txEl>
                                              <p:pRg st="4" end="4"/>
                                            </p:txEl>
                                          </p:spTgt>
                                        </p:tgtEl>
                                        <p:attrNameLst>
                                          <p:attrName>style.visibility</p:attrName>
                                        </p:attrNameLst>
                                      </p:cBhvr>
                                      <p:to>
                                        <p:strVal val="visible"/>
                                      </p:to>
                                    </p:set>
                                    <p:animEffect transition="in" filter="wipe(left)">
                                      <p:cBhvr>
                                        <p:cTn id="27" dur="500"/>
                                        <p:tgtEl>
                                          <p:spTgt spid="317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747">
                                            <p:txEl>
                                              <p:pRg st="5" end="5"/>
                                            </p:txEl>
                                          </p:spTgt>
                                        </p:tgtEl>
                                        <p:attrNameLst>
                                          <p:attrName>style.visibility</p:attrName>
                                        </p:attrNameLst>
                                      </p:cBhvr>
                                      <p:to>
                                        <p:strVal val="visible"/>
                                      </p:to>
                                    </p:set>
                                    <p:animEffect transition="in" filter="wipe(left)">
                                      <p:cBhvr>
                                        <p:cTn id="32" dur="500"/>
                                        <p:tgtEl>
                                          <p:spTgt spid="317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1981200" y="260648"/>
            <a:ext cx="8229600" cy="1371600"/>
          </a:xfrm>
        </p:spPr>
        <p:txBody>
          <a:bodyPr/>
          <a:lstStyle/>
          <a:p>
            <a:pPr algn="r"/>
            <a:r>
              <a:rPr lang="en-US" altLang="zh-CN" dirty="0">
                <a:solidFill>
                  <a:srgbClr val="008000"/>
                </a:solidFill>
                <a:ea typeface="黑体" panose="02010609060101010101" pitchFamily="49" charset="-122"/>
              </a:rPr>
              <a:t>BP</a:t>
            </a:r>
            <a:r>
              <a:rPr lang="zh-CN" altLang="en-US" dirty="0">
                <a:solidFill>
                  <a:srgbClr val="008000"/>
                </a:solidFill>
                <a:ea typeface="黑体" panose="02010609060101010101" pitchFamily="49" charset="-122"/>
              </a:rPr>
              <a:t>神经网络</a:t>
            </a:r>
          </a:p>
        </p:txBody>
      </p:sp>
      <p:sp>
        <p:nvSpPr>
          <p:cNvPr id="3" name="矩形 2"/>
          <p:cNvSpPr/>
          <p:nvPr/>
        </p:nvSpPr>
        <p:spPr>
          <a:xfrm>
            <a:off x="839416" y="2996952"/>
            <a:ext cx="10657184" cy="3881704"/>
          </a:xfrm>
          <a:prstGeom prst="rect">
            <a:avLst/>
          </a:prstGeom>
          <a:solidFill>
            <a:srgbClr val="FFE1FF"/>
          </a:solidFill>
        </p:spPr>
        <p:txBody>
          <a:bodyPr wrap="square">
            <a:spAutoFit/>
          </a:bodyPr>
          <a:lstStyle/>
          <a:p>
            <a:pPr marL="342900" indent="-342900">
              <a:lnSpc>
                <a:spcPct val="114000"/>
              </a:lnSpc>
              <a:buFont typeface="Wingdings" panose="05000000000000000000" pitchFamily="2" charset="2"/>
              <a:buChar char="n"/>
            </a:pPr>
            <a:r>
              <a:rPr lang="zh-CN" altLang="en-US" sz="2800" dirty="0">
                <a:latin typeface="黑体" panose="02010609060101010101" pitchFamily="49" charset="-122"/>
                <a:ea typeface="黑体" panose="02010609060101010101" pitchFamily="49" charset="-122"/>
              </a:rPr>
              <a:t>对非线性可微分函数进行权值训练的多层网络。 </a:t>
            </a:r>
          </a:p>
          <a:p>
            <a:pPr marL="342900" indent="-342900">
              <a:lnSpc>
                <a:spcPct val="114000"/>
              </a:lnSpc>
              <a:buFont typeface="Wingdings" panose="05000000000000000000" pitchFamily="2" charset="2"/>
              <a:buChar char="n"/>
            </a:pPr>
            <a:r>
              <a:rPr lang="zh-CN" altLang="en-US" sz="2800" b="1" dirty="0">
                <a:solidFill>
                  <a:srgbClr val="CC00CC"/>
                </a:solidFill>
                <a:latin typeface="黑体" panose="02010609060101010101" pitchFamily="49" charset="-122"/>
                <a:ea typeface="黑体" panose="02010609060101010101" pitchFamily="49" charset="-122"/>
              </a:rPr>
              <a:t>权值的调整采用</a:t>
            </a:r>
            <a:r>
              <a:rPr lang="zh-CN" altLang="en-US" sz="2800" b="1" dirty="0">
                <a:solidFill>
                  <a:srgbClr val="008000"/>
                </a:solidFill>
                <a:latin typeface="黑体" panose="02010609060101010101" pitchFamily="49" charset="-122"/>
                <a:ea typeface="黑体" panose="02010609060101010101" pitchFamily="49" charset="-122"/>
              </a:rPr>
              <a:t>反向传播的学习算法</a:t>
            </a:r>
          </a:p>
          <a:p>
            <a:pPr lvl="1">
              <a:lnSpc>
                <a:spcPct val="114000"/>
              </a:lnSpc>
            </a:pPr>
            <a:r>
              <a:rPr lang="en-US" altLang="zh-CN" sz="2400" b="1" dirty="0">
                <a:latin typeface="+mj-lt"/>
              </a:rPr>
              <a:t>——</a:t>
            </a:r>
            <a:r>
              <a:rPr lang="zh-CN" altLang="en-US" sz="2400" b="1" dirty="0">
                <a:latin typeface="+mj-lt"/>
              </a:rPr>
              <a:t>通过迭代处理的方式，不断地调整连接神经元的网络权重，使得最终输出结果和预期结果的误差最小。</a:t>
            </a:r>
            <a:endParaRPr lang="zh-CN" altLang="en-US" sz="2400" dirty="0">
              <a:latin typeface="+mj-lt"/>
            </a:endParaRPr>
          </a:p>
          <a:p>
            <a:pPr marL="342900" indent="-342900">
              <a:lnSpc>
                <a:spcPct val="114000"/>
              </a:lnSpc>
              <a:buFont typeface="Wingdings" panose="05000000000000000000" pitchFamily="2" charset="2"/>
              <a:buChar char="n"/>
            </a:pPr>
            <a:r>
              <a:rPr lang="zh-CN" altLang="en-US" sz="2800" dirty="0">
                <a:solidFill>
                  <a:srgbClr val="3333FF"/>
                </a:solidFill>
                <a:latin typeface="黑体" panose="02010609060101010101" pitchFamily="49" charset="-122"/>
                <a:ea typeface="黑体" panose="02010609060101010101" pitchFamily="49" charset="-122"/>
              </a:rPr>
              <a:t>它是一种多层前向反馈神经网络，其神经元的响应函数</a:t>
            </a:r>
            <a:r>
              <a:rPr lang="zh-CN" altLang="en-US" sz="2800" dirty="0">
                <a:solidFill>
                  <a:srgbClr val="3333FF"/>
                </a:solidFill>
                <a:latin typeface="+mj-lt"/>
                <a:ea typeface="黑体" panose="02010609060101010101" pitchFamily="49" charset="-122"/>
              </a:rPr>
              <a:t>是</a:t>
            </a:r>
            <a:r>
              <a:rPr lang="en-US" altLang="zh-CN" sz="2800" dirty="0">
                <a:solidFill>
                  <a:srgbClr val="3333FF"/>
                </a:solidFill>
                <a:latin typeface="+mj-lt"/>
                <a:ea typeface="黑体" panose="02010609060101010101" pitchFamily="49" charset="-122"/>
              </a:rPr>
              <a:t>S</a:t>
            </a:r>
            <a:r>
              <a:rPr lang="zh-CN" altLang="en-US" sz="2800" dirty="0">
                <a:solidFill>
                  <a:srgbClr val="3333FF"/>
                </a:solidFill>
                <a:latin typeface="+mj-lt"/>
                <a:ea typeface="黑体" panose="02010609060101010101" pitchFamily="49" charset="-122"/>
              </a:rPr>
              <a:t>型函数</a:t>
            </a:r>
          </a:p>
          <a:p>
            <a:pPr marL="342900" indent="-342900">
              <a:lnSpc>
                <a:spcPct val="114000"/>
              </a:lnSpc>
              <a:buFont typeface="Wingdings" panose="05000000000000000000" pitchFamily="2" charset="2"/>
              <a:buChar char="n"/>
            </a:pPr>
            <a:r>
              <a:rPr lang="zh-CN" altLang="en-US" sz="2800" dirty="0">
                <a:latin typeface="黑体" panose="02010609060101010101" pitchFamily="49" charset="-122"/>
                <a:ea typeface="黑体" panose="02010609060101010101" pitchFamily="49" charset="-122"/>
              </a:rPr>
              <a:t>输出量为</a:t>
            </a:r>
            <a:r>
              <a:rPr lang="en-US" altLang="zh-CN" sz="2800" dirty="0">
                <a:latin typeface="黑体" panose="02010609060101010101" pitchFamily="49" charset="-122"/>
                <a:ea typeface="黑体" panose="02010609060101010101" pitchFamily="49" charset="-122"/>
              </a:rPr>
              <a:t>0</a:t>
            </a:r>
            <a:r>
              <a:rPr lang="zh-CN" altLang="en-US" sz="2800" dirty="0">
                <a:latin typeface="黑体" panose="02010609060101010101" pitchFamily="49" charset="-122"/>
                <a:ea typeface="黑体" panose="02010609060101010101" pitchFamily="49" charset="-122"/>
              </a:rPr>
              <a:t>到</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之间的连续量，它可实现从输入到输出的任意的非线性映射</a:t>
            </a:r>
          </a:p>
        </p:txBody>
      </p:sp>
      <p:pic>
        <p:nvPicPr>
          <p:cNvPr id="983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40" y="110188"/>
            <a:ext cx="3860304" cy="2886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5375920" y="1355346"/>
            <a:ext cx="6120680" cy="1425583"/>
          </a:xfrm>
          <a:prstGeom prst="rect">
            <a:avLst/>
          </a:prstGeom>
          <a:solidFill>
            <a:srgbClr val="F8FDC7"/>
          </a:solidFill>
        </p:spPr>
        <p:txBody>
          <a:bodyPr wrap="square">
            <a:spAutoFit/>
          </a:bodyPr>
          <a:lstStyle/>
          <a:p>
            <a:pPr marL="457200" indent="-457200">
              <a:lnSpc>
                <a:spcPct val="114000"/>
              </a:lnSpc>
              <a:buFont typeface="Wingdings" panose="05000000000000000000" pitchFamily="2" charset="2"/>
              <a:buChar char="n"/>
            </a:pPr>
            <a:r>
              <a:rPr lang="zh-CN" altLang="en-US" sz="2800" b="1" dirty="0">
                <a:solidFill>
                  <a:srgbClr val="FF0000"/>
                </a:solidFill>
                <a:latin typeface="Arial"/>
              </a:rPr>
              <a:t>B</a:t>
            </a:r>
            <a:r>
              <a:rPr lang="en-US" altLang="zh-CN" sz="2800" b="1" dirty="0">
                <a:solidFill>
                  <a:srgbClr val="FF0000"/>
                </a:solidFill>
                <a:latin typeface="Arial"/>
              </a:rPr>
              <a:t>P</a:t>
            </a:r>
            <a:r>
              <a:rPr lang="zh-CN" altLang="en-US" sz="2800" b="1" dirty="0">
                <a:solidFill>
                  <a:srgbClr val="FF0000"/>
                </a:solidFill>
                <a:latin typeface="黑体" panose="02010609060101010101" pitchFamily="49" charset="-122"/>
                <a:ea typeface="黑体" panose="02010609060101010101" pitchFamily="49" charset="-122"/>
              </a:rPr>
              <a:t>神经网络</a:t>
            </a:r>
            <a:r>
              <a:rPr lang="en-US" altLang="zh-CN" sz="2800" b="1" dirty="0">
                <a:solidFill>
                  <a:srgbClr val="FF0000"/>
                </a:solidFill>
                <a:latin typeface="黑体" panose="02010609060101010101" pitchFamily="49" charset="-122"/>
                <a:ea typeface="黑体" panose="02010609060101010101" pitchFamily="49" charset="-122"/>
              </a:rPr>
              <a:t>(</a:t>
            </a:r>
            <a:r>
              <a:rPr lang="en-US" altLang="zh-CN" sz="2800" b="1" dirty="0">
                <a:solidFill>
                  <a:srgbClr val="FF0000"/>
                </a:solidFill>
                <a:latin typeface="Arial"/>
                <a:ea typeface="黑体" panose="02010609060101010101" pitchFamily="49" charset="-122"/>
              </a:rPr>
              <a:t>BPNN</a:t>
            </a:r>
            <a:r>
              <a:rPr lang="en-US" altLang="zh-CN" sz="2800" b="1" dirty="0">
                <a:solidFill>
                  <a:srgbClr val="FF0000"/>
                </a:solidFill>
                <a:latin typeface="黑体" panose="02010609060101010101" pitchFamily="49" charset="-122"/>
                <a:ea typeface="黑体" panose="02010609060101010101" pitchFamily="49" charset="-122"/>
              </a:rPr>
              <a:t>)</a:t>
            </a:r>
          </a:p>
          <a:p>
            <a:pPr lvl="0">
              <a:lnSpc>
                <a:spcPct val="114000"/>
              </a:lnSpc>
            </a:pPr>
            <a:r>
              <a:rPr lang="en-US" altLang="zh-CN" sz="2400" b="1" dirty="0">
                <a:solidFill>
                  <a:srgbClr val="000000"/>
                </a:solidFill>
                <a:latin typeface="Arial"/>
              </a:rPr>
              <a:t>——</a:t>
            </a:r>
            <a:r>
              <a:rPr lang="zh-CN" altLang="en-US" sz="2400" b="1" dirty="0">
                <a:solidFill>
                  <a:srgbClr val="000000"/>
                </a:solidFill>
                <a:latin typeface="Arial"/>
              </a:rPr>
              <a:t>反</a:t>
            </a:r>
            <a:r>
              <a:rPr lang="zh-CN" altLang="zh-CN" sz="2400" b="1" dirty="0">
                <a:solidFill>
                  <a:srgbClr val="000000"/>
                </a:solidFill>
                <a:latin typeface="Arial"/>
              </a:rPr>
              <a:t>向传播学习的前</a:t>
            </a:r>
            <a:r>
              <a:rPr lang="zh-CN" altLang="en-US" sz="2400" b="1" dirty="0">
                <a:solidFill>
                  <a:srgbClr val="000000"/>
                </a:solidFill>
                <a:latin typeface="Arial"/>
              </a:rPr>
              <a:t>向</a:t>
            </a:r>
            <a:r>
              <a:rPr lang="zh-CN" altLang="zh-CN" sz="2400" b="1" dirty="0">
                <a:solidFill>
                  <a:srgbClr val="000000"/>
                </a:solidFill>
                <a:latin typeface="Arial"/>
              </a:rPr>
              <a:t>神经网络</a:t>
            </a:r>
            <a:endParaRPr lang="en-US" altLang="zh-CN" sz="2400" b="1" dirty="0">
              <a:solidFill>
                <a:srgbClr val="000000"/>
              </a:solidFill>
              <a:latin typeface="Arial"/>
            </a:endParaRPr>
          </a:p>
          <a:p>
            <a:pPr lvl="0">
              <a:lnSpc>
                <a:spcPct val="114000"/>
              </a:lnSpc>
            </a:pPr>
            <a:r>
              <a:rPr lang="zh-CN" altLang="zh-CN" sz="2400" b="1" dirty="0">
                <a:solidFill>
                  <a:srgbClr val="000000"/>
                </a:solidFill>
                <a:latin typeface="Arial"/>
              </a:rPr>
              <a:t>Back Propagation Neural Network</a:t>
            </a:r>
            <a:endParaRPr lang="en-US" altLang="zh-CN" sz="2400" b="1" dirty="0">
              <a:solidFill>
                <a:srgbClr val="000000"/>
              </a:solidFill>
              <a:latin typeface="Arial"/>
            </a:endParaRPr>
          </a:p>
        </p:txBody>
      </p:sp>
      <p:sp>
        <p:nvSpPr>
          <p:cNvPr id="4" name="灯片编号占位符 3">
            <a:extLst>
              <a:ext uri="{FF2B5EF4-FFF2-40B4-BE49-F238E27FC236}">
                <a16:creationId xmlns:a16="http://schemas.microsoft.com/office/drawing/2014/main" id="{7700B6A1-1A19-07A1-3568-20A0BFFC31D2}"/>
              </a:ext>
            </a:extLst>
          </p:cNvPr>
          <p:cNvSpPr>
            <a:spLocks noGrp="1"/>
          </p:cNvSpPr>
          <p:nvPr>
            <p:ph type="sldNum" sz="quarter" idx="11"/>
          </p:nvPr>
        </p:nvSpPr>
        <p:spPr/>
        <p:txBody>
          <a:bodyPr/>
          <a:lstStyle/>
          <a:p>
            <a:pPr>
              <a:defRPr/>
            </a:pPr>
            <a:fld id="{E0FB5469-1AEB-496D-971A-66705BF2F73C}" type="slidenum">
              <a:rPr lang="en-US" altLang="zh-CN" smtClean="0"/>
              <a:pPr>
                <a:defRPr/>
              </a:pPr>
              <a:t>48</a:t>
            </a:fld>
            <a:endParaRPr lang="en-US" altLang="zh-CN"/>
          </a:p>
        </p:txBody>
      </p:sp>
    </p:spTree>
    <p:extLst>
      <p:ext uri="{BB962C8B-B14F-4D97-AF65-F5344CB8AC3E}">
        <p14:creationId xmlns:p14="http://schemas.microsoft.com/office/powerpoint/2010/main" val="96308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60648"/>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反向传播算法</a:t>
            </a:r>
            <a:r>
              <a:rPr lang="en-US" altLang="zh-CN" b="1" dirty="0">
                <a:solidFill>
                  <a:srgbClr val="008000"/>
                </a:solidFill>
                <a:latin typeface="楷体_GB2312" pitchFamily="49" charset="-122"/>
                <a:ea typeface="楷体_GB2312" pitchFamily="49" charset="-122"/>
              </a:rPr>
              <a:t>(</a:t>
            </a:r>
            <a:r>
              <a:rPr lang="en-US" altLang="zh-CN" dirty="0">
                <a:solidFill>
                  <a:srgbClr val="008000"/>
                </a:solidFill>
                <a:latin typeface="+mn-lt"/>
                <a:ea typeface="黑体" panose="02010609060101010101" pitchFamily="49" charset="-122"/>
              </a:rPr>
              <a:t>BP</a:t>
            </a:r>
            <a:r>
              <a:rPr lang="zh-CN" altLang="en-US" dirty="0">
                <a:solidFill>
                  <a:srgbClr val="008000"/>
                </a:solidFill>
                <a:latin typeface="黑体" panose="02010609060101010101" pitchFamily="49" charset="-122"/>
                <a:ea typeface="黑体" panose="02010609060101010101" pitchFamily="49" charset="-122"/>
              </a:rPr>
              <a:t>算法</a:t>
            </a:r>
            <a:r>
              <a:rPr lang="en-US" altLang="zh-CN" dirty="0">
                <a:solidFill>
                  <a:srgbClr val="008000"/>
                </a:solidFill>
                <a:latin typeface="黑体" panose="02010609060101010101" pitchFamily="49" charset="-122"/>
                <a:ea typeface="黑体" panose="02010609060101010101" pitchFamily="49" charset="-122"/>
              </a:rPr>
              <a:t>)</a:t>
            </a:r>
            <a:endParaRPr lang="zh-CN" altLang="en-US" dirty="0">
              <a:solidFill>
                <a:srgbClr val="008000"/>
              </a:solidFill>
            </a:endParaRPr>
          </a:p>
        </p:txBody>
      </p:sp>
      <p:sp>
        <p:nvSpPr>
          <p:cNvPr id="3" name="内容占位符 2"/>
          <p:cNvSpPr>
            <a:spLocks noGrp="1"/>
          </p:cNvSpPr>
          <p:nvPr>
            <p:ph idx="1"/>
          </p:nvPr>
        </p:nvSpPr>
        <p:spPr>
          <a:xfrm>
            <a:off x="1127448" y="1632248"/>
            <a:ext cx="10225136" cy="5040585"/>
          </a:xfrm>
        </p:spPr>
        <p:txBody>
          <a:bodyPr/>
          <a:lstStyle/>
          <a:p>
            <a:pPr algn="just">
              <a:lnSpc>
                <a:spcPct val="90000"/>
              </a:lnSpc>
            </a:pPr>
            <a:r>
              <a:rPr lang="zh-CN" altLang="en-US" sz="2800" dirty="0"/>
              <a:t>设有</a:t>
            </a:r>
            <a:r>
              <a:rPr lang="en-US" altLang="zh-CN" sz="2800" dirty="0"/>
              <a:t>P</a:t>
            </a:r>
            <a:r>
              <a:rPr lang="zh-CN" altLang="en-US" sz="2800" dirty="0"/>
              <a:t>个训练样本， </a:t>
            </a:r>
            <a:r>
              <a:rPr lang="en-US" altLang="zh-CN" sz="2800" dirty="0"/>
              <a:t>(</a:t>
            </a:r>
            <a:r>
              <a:rPr lang="en-US" altLang="zh-CN" sz="2800" i="1" dirty="0" err="1"/>
              <a:t>X</a:t>
            </a:r>
            <a:r>
              <a:rPr lang="en-US" altLang="zh-CN" sz="2800" i="1" baseline="-30000" dirty="0" err="1"/>
              <a:t>p</a:t>
            </a:r>
            <a:r>
              <a:rPr lang="en-US" altLang="zh-CN" sz="2800" dirty="0"/>
              <a:t>, </a:t>
            </a:r>
            <a:r>
              <a:rPr lang="en-US" altLang="zh-CN" sz="2800" i="1" dirty="0" err="1"/>
              <a:t>Y</a:t>
            </a:r>
            <a:r>
              <a:rPr lang="en-US" altLang="zh-CN" sz="2800" i="1" baseline="-30000" dirty="0" err="1"/>
              <a:t>p</a:t>
            </a:r>
            <a:r>
              <a:rPr lang="en-US" altLang="zh-CN" sz="2800" dirty="0"/>
              <a:t>), </a:t>
            </a:r>
            <a:r>
              <a:rPr lang="en-US" altLang="zh-CN" sz="2800" i="1" dirty="0"/>
              <a:t>p</a:t>
            </a:r>
            <a:r>
              <a:rPr lang="en-US" altLang="zh-CN" sz="2800" dirty="0"/>
              <a:t>=1,…,</a:t>
            </a:r>
            <a:r>
              <a:rPr lang="en-US" altLang="zh-CN" sz="2800" i="1" dirty="0"/>
              <a:t>P</a:t>
            </a:r>
            <a:r>
              <a:rPr lang="en-US" altLang="zh-CN" sz="2800" dirty="0"/>
              <a:t>, </a:t>
            </a:r>
            <a:r>
              <a:rPr lang="zh-CN" altLang="en-US" sz="2800" dirty="0">
                <a:latin typeface="宋体" panose="02010600030101010101" pitchFamily="2" charset="-122"/>
              </a:rPr>
              <a:t>其中</a:t>
            </a:r>
            <a:endParaRPr lang="en-US" altLang="zh-CN" sz="2800" dirty="0">
              <a:latin typeface="宋体" panose="02010600030101010101" pitchFamily="2" charset="-122"/>
            </a:endParaRPr>
          </a:p>
          <a:p>
            <a:pPr algn="just">
              <a:lnSpc>
                <a:spcPct val="90000"/>
              </a:lnSpc>
            </a:pPr>
            <a:endParaRPr lang="en-US" altLang="zh-CN" sz="2800" dirty="0">
              <a:latin typeface="宋体" panose="02010600030101010101" pitchFamily="2" charset="-122"/>
            </a:endParaRPr>
          </a:p>
          <a:p>
            <a:pPr algn="just">
              <a:lnSpc>
                <a:spcPct val="90000"/>
              </a:lnSpc>
            </a:pPr>
            <a:endParaRPr lang="en-US" altLang="zh-CN" sz="2800" dirty="0">
              <a:latin typeface="宋体" panose="02010600030101010101" pitchFamily="2" charset="-122"/>
            </a:endParaRPr>
          </a:p>
          <a:p>
            <a:pPr algn="just">
              <a:lnSpc>
                <a:spcPct val="90000"/>
              </a:lnSpc>
            </a:pPr>
            <a:endParaRPr lang="en-US" altLang="zh-CN" sz="2800" dirty="0">
              <a:latin typeface="宋体" panose="02010600030101010101" pitchFamily="2" charset="-122"/>
            </a:endParaRPr>
          </a:p>
          <a:p>
            <a:pPr algn="just">
              <a:lnSpc>
                <a:spcPct val="90000"/>
              </a:lnSpc>
            </a:pPr>
            <a:endParaRPr lang="en-US" altLang="zh-CN" sz="2800" dirty="0">
              <a:latin typeface="宋体" panose="02010600030101010101" pitchFamily="2" charset="-122"/>
            </a:endParaRPr>
          </a:p>
          <a:p>
            <a:pPr algn="just">
              <a:lnSpc>
                <a:spcPct val="90000"/>
              </a:lnSpc>
            </a:pPr>
            <a:r>
              <a:rPr lang="en-US" altLang="zh-CN" sz="2800" i="1" dirty="0" err="1"/>
              <a:t>w</a:t>
            </a:r>
            <a:r>
              <a:rPr lang="en-US" altLang="zh-CN" sz="2800" i="1" baseline="-25000" dirty="0" err="1"/>
              <a:t>ij</a:t>
            </a:r>
            <a:r>
              <a:rPr lang="en-US" altLang="zh-CN" sz="2800" i="1" baseline="-25000" dirty="0"/>
              <a:t> </a:t>
            </a:r>
            <a:r>
              <a:rPr lang="en-US" altLang="zh-CN" sz="2800" dirty="0"/>
              <a:t>——</a:t>
            </a:r>
            <a:r>
              <a:rPr lang="zh-CN" altLang="en-US" sz="2800" dirty="0"/>
              <a:t>上一层单元</a:t>
            </a:r>
            <a:r>
              <a:rPr lang="zh-CN" altLang="en-US" sz="2800" i="1" dirty="0"/>
              <a:t> </a:t>
            </a:r>
            <a:r>
              <a:rPr lang="en-US" altLang="zh-CN" sz="2800" i="1" dirty="0" err="1"/>
              <a:t>i</a:t>
            </a:r>
            <a:r>
              <a:rPr lang="en-US" altLang="zh-CN" sz="2800" dirty="0"/>
              <a:t> </a:t>
            </a:r>
            <a:r>
              <a:rPr lang="zh-CN" altLang="en-US" sz="2800" dirty="0"/>
              <a:t>到本单元 </a:t>
            </a:r>
            <a:r>
              <a:rPr lang="en-US" altLang="zh-CN" sz="2800" i="1" dirty="0"/>
              <a:t>j</a:t>
            </a:r>
            <a:r>
              <a:rPr lang="en-US" altLang="zh-CN" sz="2800" dirty="0"/>
              <a:t> </a:t>
            </a:r>
            <a:r>
              <a:rPr lang="zh-CN" altLang="en-US" sz="2800" dirty="0"/>
              <a:t>的网络权重。</a:t>
            </a:r>
            <a:endParaRPr lang="en-US" altLang="zh-CN" sz="2800" dirty="0"/>
          </a:p>
          <a:p>
            <a:pPr algn="just">
              <a:lnSpc>
                <a:spcPct val="90000"/>
              </a:lnSpc>
            </a:pPr>
            <a:r>
              <a:rPr lang="en-US" altLang="zh-CN" sz="2800" i="1" dirty="0">
                <a:sym typeface="Symbol" panose="05050102010706020507" pitchFamily="18" charset="2"/>
              </a:rPr>
              <a:t></a:t>
            </a:r>
            <a:r>
              <a:rPr lang="en-US" altLang="zh-CN" sz="2800" i="1" baseline="-25000" dirty="0" err="1"/>
              <a:t>i</a:t>
            </a:r>
            <a:r>
              <a:rPr lang="en-US" altLang="zh-CN" sz="2800" i="1" dirty="0"/>
              <a:t> </a:t>
            </a:r>
            <a:r>
              <a:rPr lang="en-US" altLang="zh-CN" sz="2800" dirty="0"/>
              <a:t>——</a:t>
            </a:r>
            <a:r>
              <a:rPr lang="zh-CN" altLang="en-US" sz="2800" dirty="0"/>
              <a:t> 第 </a:t>
            </a:r>
            <a:r>
              <a:rPr lang="en-US" altLang="zh-CN" sz="2800" i="1" dirty="0" err="1"/>
              <a:t>i</a:t>
            </a:r>
            <a:r>
              <a:rPr lang="en-US" altLang="zh-CN" sz="2800" i="1" dirty="0"/>
              <a:t> </a:t>
            </a:r>
            <a:r>
              <a:rPr lang="zh-CN" altLang="en-US" sz="2800" dirty="0"/>
              <a:t>个单元的阈值。</a:t>
            </a:r>
            <a:endParaRPr lang="en-US" altLang="zh-CN" sz="2800" dirty="0"/>
          </a:p>
          <a:p>
            <a:pPr algn="just">
              <a:lnSpc>
                <a:spcPct val="90000"/>
              </a:lnSpc>
            </a:pPr>
            <a:r>
              <a:rPr lang="zh-CN" altLang="en-US" sz="2800" dirty="0"/>
              <a:t>隐层单元的响应函数为</a:t>
            </a:r>
            <a:r>
              <a:rPr lang="en-US" altLang="zh-CN" sz="2800" dirty="0"/>
              <a:t>S</a:t>
            </a:r>
            <a:r>
              <a:rPr lang="zh-CN" altLang="en-US" sz="2800" dirty="0"/>
              <a:t>型函数</a:t>
            </a:r>
            <a:endParaRPr lang="en-US" altLang="zh-CN" sz="2800" dirty="0"/>
          </a:p>
          <a:p>
            <a:pPr algn="just">
              <a:lnSpc>
                <a:spcPct val="90000"/>
              </a:lnSpc>
            </a:pPr>
            <a:r>
              <a:rPr lang="zh-CN" altLang="en-US" sz="2800" b="1" dirty="0">
                <a:solidFill>
                  <a:srgbClr val="CC00CC"/>
                </a:solidFill>
              </a:rPr>
              <a:t>误差判别标准</a:t>
            </a:r>
            <a:r>
              <a:rPr lang="en-US" altLang="zh-CN" sz="2800" b="1" dirty="0">
                <a:solidFill>
                  <a:srgbClr val="CC00CC"/>
                </a:solidFill>
              </a:rPr>
              <a:t>——</a:t>
            </a:r>
            <a:r>
              <a:rPr lang="zh-CN" altLang="en-US" sz="2800" b="1" dirty="0">
                <a:solidFill>
                  <a:srgbClr val="CC00CC"/>
                </a:solidFill>
              </a:rPr>
              <a:t>误差平方和达到最小：</a:t>
            </a:r>
            <a:endParaRPr lang="en-US" altLang="zh-CN" dirty="0"/>
          </a:p>
          <a:p>
            <a:endParaRPr lang="en-US" altLang="zh-CN" dirty="0"/>
          </a:p>
        </p:txBody>
      </p:sp>
      <p:grpSp>
        <p:nvGrpSpPr>
          <p:cNvPr id="10" name="Group 4"/>
          <p:cNvGrpSpPr>
            <a:grpSpLocks/>
          </p:cNvGrpSpPr>
          <p:nvPr/>
        </p:nvGrpSpPr>
        <p:grpSpPr bwMode="auto">
          <a:xfrm>
            <a:off x="2351585" y="2134128"/>
            <a:ext cx="6410325" cy="594874"/>
            <a:chOff x="432" y="1973"/>
            <a:chExt cx="4038" cy="468"/>
          </a:xfrm>
        </p:grpSpPr>
        <p:sp>
          <p:nvSpPr>
            <p:cNvPr id="11" name="Rectangle 5"/>
            <p:cNvSpPr>
              <a:spLocks noChangeArrowheads="1"/>
            </p:cNvSpPr>
            <p:nvPr/>
          </p:nvSpPr>
          <p:spPr bwMode="auto">
            <a:xfrm>
              <a:off x="432" y="1979"/>
              <a:ext cx="1813" cy="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90000"/>
                </a:lnSpc>
                <a:spcBef>
                  <a:spcPct val="20000"/>
                </a:spcBef>
              </a:pPr>
              <a:r>
                <a:rPr kumimoji="1" lang="zh-CN" altLang="en-US" sz="2800" b="1" dirty="0">
                  <a:solidFill>
                    <a:srgbClr val="FF0000"/>
                  </a:solidFill>
                  <a:latin typeface="宋体" panose="02010600030101010101" pitchFamily="2" charset="-122"/>
                </a:rPr>
                <a:t>输入向量</a:t>
              </a:r>
              <a:r>
                <a:rPr kumimoji="1" lang="zh-CN" altLang="en-US" sz="2800" b="1" dirty="0">
                  <a:latin typeface="宋体" panose="02010600030101010101" pitchFamily="2" charset="-122"/>
                </a:rPr>
                <a:t>为</a:t>
              </a:r>
              <a:r>
                <a:rPr kumimoji="1" lang="zh-CN" altLang="en-US" sz="2800" b="1" dirty="0">
                  <a:latin typeface="Times New Roman" panose="02020603050405020304" pitchFamily="18" charset="0"/>
                </a:rPr>
                <a:t>   </a:t>
              </a:r>
              <a:r>
                <a:rPr kumimoji="1" lang="en-US" altLang="zh-CN" sz="2800" b="1" dirty="0">
                  <a:latin typeface="Times New Roman" panose="02020603050405020304" pitchFamily="18" charset="0"/>
                </a:rPr>
                <a:t>: </a:t>
              </a:r>
            </a:p>
          </p:txBody>
        </p:sp>
        <p:graphicFrame>
          <p:nvGraphicFramePr>
            <p:cNvPr id="12" name="Object 6"/>
            <p:cNvGraphicFramePr>
              <a:graphicFrameLocks noChangeAspect="1"/>
            </p:cNvGraphicFramePr>
            <p:nvPr>
              <p:extLst>
                <p:ext uri="{D42A27DB-BD31-4B8C-83A1-F6EECF244321}">
                  <p14:modId xmlns:p14="http://schemas.microsoft.com/office/powerpoint/2010/main" val="1962597119"/>
                </p:ext>
              </p:extLst>
            </p:nvPr>
          </p:nvGraphicFramePr>
          <p:xfrm>
            <a:off x="2208" y="1973"/>
            <a:ext cx="2262" cy="426"/>
          </p:xfrm>
          <a:graphic>
            <a:graphicData uri="http://schemas.openxmlformats.org/presentationml/2006/ole">
              <mc:AlternateContent xmlns:mc="http://schemas.openxmlformats.org/markup-compatibility/2006">
                <mc:Choice xmlns:v="urn:schemas-microsoft-com:vml" Requires="v">
                  <p:oleObj name="Equation" r:id="rId2" imgW="1079280" imgH="253800" progId="Equation.DSMT4">
                    <p:embed/>
                  </p:oleObj>
                </mc:Choice>
                <mc:Fallback>
                  <p:oleObj name="Equation" r:id="rId2" imgW="1079280" imgH="253800" progId="Equation.DSMT4">
                    <p:embed/>
                    <p:pic>
                      <p:nvPicPr>
                        <p:cNvPr id="12" name="Object 6"/>
                        <p:cNvPicPr>
                          <a:picLocks noChangeAspect="1" noChangeArrowheads="1"/>
                        </p:cNvPicPr>
                        <p:nvPr/>
                      </p:nvPicPr>
                      <p:blipFill>
                        <a:blip r:embed="rId3"/>
                        <a:srcRect/>
                        <a:stretch>
                          <a:fillRect/>
                        </a:stretch>
                      </p:blipFill>
                      <p:spPr bwMode="auto">
                        <a:xfrm>
                          <a:off x="2208" y="1973"/>
                          <a:ext cx="2262" cy="426"/>
                        </a:xfrm>
                        <a:prstGeom prst="rect">
                          <a:avLst/>
                        </a:prstGeom>
                        <a:noFill/>
                      </p:spPr>
                    </p:pic>
                  </p:oleObj>
                </mc:Fallback>
              </mc:AlternateContent>
            </a:graphicData>
          </a:graphic>
        </p:graphicFrame>
      </p:grpSp>
      <p:grpSp>
        <p:nvGrpSpPr>
          <p:cNvPr id="13" name="Group 8"/>
          <p:cNvGrpSpPr>
            <a:grpSpLocks/>
          </p:cNvGrpSpPr>
          <p:nvPr/>
        </p:nvGrpSpPr>
        <p:grpSpPr bwMode="auto">
          <a:xfrm>
            <a:off x="2279576" y="2708920"/>
            <a:ext cx="6453188" cy="655638"/>
            <a:chOff x="431" y="1813"/>
            <a:chExt cx="4065" cy="413"/>
          </a:xfrm>
        </p:grpSpPr>
        <p:sp>
          <p:nvSpPr>
            <p:cNvPr id="14" name="Rectangle 9"/>
            <p:cNvSpPr>
              <a:spLocks noChangeArrowheads="1"/>
            </p:cNvSpPr>
            <p:nvPr/>
          </p:nvSpPr>
          <p:spPr bwMode="auto">
            <a:xfrm>
              <a:off x="431" y="1842"/>
              <a:ext cx="178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90000"/>
                </a:lnSpc>
                <a:spcBef>
                  <a:spcPct val="20000"/>
                </a:spcBef>
              </a:pPr>
              <a:r>
                <a:rPr kumimoji="1" lang="zh-CN" altLang="en-US" sz="2800" b="1" dirty="0">
                  <a:solidFill>
                    <a:srgbClr val="3333FF"/>
                  </a:solidFill>
                  <a:latin typeface="宋体" panose="02010600030101010101" pitchFamily="2" charset="-122"/>
                </a:rPr>
                <a:t>理论输出向量为</a:t>
              </a:r>
              <a:r>
                <a:rPr kumimoji="1" lang="en-US" altLang="zh-CN" sz="2800" b="1" dirty="0">
                  <a:latin typeface="Times New Roman" panose="02020603050405020304" pitchFamily="18" charset="0"/>
                </a:rPr>
                <a:t> </a:t>
              </a:r>
            </a:p>
          </p:txBody>
        </p:sp>
        <p:graphicFrame>
          <p:nvGraphicFramePr>
            <p:cNvPr id="15" name="Object 10"/>
            <p:cNvGraphicFramePr>
              <a:graphicFrameLocks noChangeAspect="1"/>
            </p:cNvGraphicFramePr>
            <p:nvPr>
              <p:extLst>
                <p:ext uri="{D42A27DB-BD31-4B8C-83A1-F6EECF244321}">
                  <p14:modId xmlns:p14="http://schemas.microsoft.com/office/powerpoint/2010/main" val="2391344201"/>
                </p:ext>
              </p:extLst>
            </p:nvPr>
          </p:nvGraphicFramePr>
          <p:xfrm>
            <a:off x="2284" y="1813"/>
            <a:ext cx="2212" cy="362"/>
          </p:xfrm>
          <a:graphic>
            <a:graphicData uri="http://schemas.openxmlformats.org/presentationml/2006/ole">
              <mc:AlternateContent xmlns:mc="http://schemas.openxmlformats.org/markup-compatibility/2006">
                <mc:Choice xmlns:v="urn:schemas-microsoft-com:vml" Requires="v">
                  <p:oleObj name="Equation" r:id="rId4" imgW="1015920" imgH="253800" progId="Equation.DSMT4">
                    <p:embed/>
                  </p:oleObj>
                </mc:Choice>
                <mc:Fallback>
                  <p:oleObj name="Equation" r:id="rId4" imgW="1015920" imgH="253800" progId="Equation.DSMT4">
                    <p:embed/>
                    <p:pic>
                      <p:nvPicPr>
                        <p:cNvPr id="15" name="Object 10"/>
                        <p:cNvPicPr>
                          <a:picLocks noChangeAspect="1" noChangeArrowheads="1"/>
                        </p:cNvPicPr>
                        <p:nvPr/>
                      </p:nvPicPr>
                      <p:blipFill>
                        <a:blip r:embed="rId5"/>
                        <a:srcRect/>
                        <a:stretch>
                          <a:fillRect/>
                        </a:stretch>
                      </p:blipFill>
                      <p:spPr bwMode="auto">
                        <a:xfrm>
                          <a:off x="2284" y="1813"/>
                          <a:ext cx="2212" cy="362"/>
                        </a:xfrm>
                        <a:prstGeom prst="rect">
                          <a:avLst/>
                        </a:prstGeom>
                        <a:noFill/>
                      </p:spPr>
                    </p:pic>
                  </p:oleObj>
                </mc:Fallback>
              </mc:AlternateContent>
            </a:graphicData>
          </a:graphic>
        </p:graphicFrame>
      </p:grpSp>
      <p:grpSp>
        <p:nvGrpSpPr>
          <p:cNvPr id="16" name="Group 11"/>
          <p:cNvGrpSpPr>
            <a:grpSpLocks/>
          </p:cNvGrpSpPr>
          <p:nvPr/>
        </p:nvGrpSpPr>
        <p:grpSpPr bwMode="auto">
          <a:xfrm>
            <a:off x="2324596" y="3284984"/>
            <a:ext cx="6440488" cy="636588"/>
            <a:chOff x="414" y="2527"/>
            <a:chExt cx="4057" cy="401"/>
          </a:xfrm>
        </p:grpSpPr>
        <p:sp>
          <p:nvSpPr>
            <p:cNvPr id="17" name="Rectangle 12"/>
            <p:cNvSpPr>
              <a:spLocks noRot="1" noChangeArrowheads="1"/>
            </p:cNvSpPr>
            <p:nvPr/>
          </p:nvSpPr>
          <p:spPr bwMode="auto">
            <a:xfrm>
              <a:off x="414" y="2568"/>
              <a:ext cx="192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buNone/>
              </a:pPr>
              <a:r>
                <a:rPr lang="zh-CN" altLang="en-US" sz="2800" b="1" dirty="0">
                  <a:solidFill>
                    <a:srgbClr val="008000"/>
                  </a:solidFill>
                  <a:latin typeface="宋体" panose="02010600030101010101" pitchFamily="2" charset="-122"/>
                </a:rPr>
                <a:t>实际输出向量为</a:t>
              </a:r>
              <a:r>
                <a:rPr lang="zh-CN" altLang="en-US" sz="2800" b="1" dirty="0">
                  <a:solidFill>
                    <a:srgbClr val="008000"/>
                  </a:solidFill>
                </a:rPr>
                <a:t> </a:t>
              </a:r>
              <a:r>
                <a:rPr lang="zh-CN" altLang="en-US" sz="2800" b="1" dirty="0"/>
                <a:t> </a:t>
              </a:r>
            </a:p>
          </p:txBody>
        </p:sp>
        <p:graphicFrame>
          <p:nvGraphicFramePr>
            <p:cNvPr id="18" name="Object 13"/>
            <p:cNvGraphicFramePr>
              <a:graphicFrameLocks noChangeAspect="1"/>
            </p:cNvGraphicFramePr>
            <p:nvPr>
              <p:extLst>
                <p:ext uri="{D42A27DB-BD31-4B8C-83A1-F6EECF244321}">
                  <p14:modId xmlns:p14="http://schemas.microsoft.com/office/powerpoint/2010/main" val="2836193683"/>
                </p:ext>
              </p:extLst>
            </p:nvPr>
          </p:nvGraphicFramePr>
          <p:xfrm>
            <a:off x="2250" y="2527"/>
            <a:ext cx="2221" cy="401"/>
          </p:xfrm>
          <a:graphic>
            <a:graphicData uri="http://schemas.openxmlformats.org/presentationml/2006/ole">
              <mc:AlternateContent xmlns:mc="http://schemas.openxmlformats.org/markup-compatibility/2006">
                <mc:Choice xmlns:v="urn:schemas-microsoft-com:vml" Requires="v">
                  <p:oleObj name="Equation" r:id="rId6" imgW="1117440" imgH="253800" progId="Equation.DSMT4">
                    <p:embed/>
                  </p:oleObj>
                </mc:Choice>
                <mc:Fallback>
                  <p:oleObj name="Equation" r:id="rId6" imgW="1117440" imgH="253800" progId="Equation.DSMT4">
                    <p:embed/>
                    <p:pic>
                      <p:nvPicPr>
                        <p:cNvPr id="18" name="Object 13"/>
                        <p:cNvPicPr>
                          <a:picLocks noChangeAspect="1" noChangeArrowheads="1"/>
                        </p:cNvPicPr>
                        <p:nvPr/>
                      </p:nvPicPr>
                      <p:blipFill>
                        <a:blip r:embed="rId7"/>
                        <a:srcRect/>
                        <a:stretch>
                          <a:fillRect/>
                        </a:stretch>
                      </p:blipFill>
                      <p:spPr bwMode="auto">
                        <a:xfrm>
                          <a:off x="2250" y="2527"/>
                          <a:ext cx="2221" cy="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9" name="Object 12"/>
          <p:cNvGraphicFramePr>
            <a:graphicFrameLocks noChangeAspect="1"/>
          </p:cNvGraphicFramePr>
          <p:nvPr>
            <p:extLst>
              <p:ext uri="{D42A27DB-BD31-4B8C-83A1-F6EECF244321}">
                <p14:modId xmlns:p14="http://schemas.microsoft.com/office/powerpoint/2010/main" val="2758134739"/>
              </p:ext>
            </p:extLst>
          </p:nvPr>
        </p:nvGraphicFramePr>
        <p:xfrm>
          <a:off x="7453064" y="4676050"/>
          <a:ext cx="2315344" cy="769174"/>
        </p:xfrm>
        <a:graphic>
          <a:graphicData uri="http://schemas.openxmlformats.org/presentationml/2006/ole">
            <mc:AlternateContent xmlns:mc="http://schemas.openxmlformats.org/markup-compatibility/2006">
              <mc:Choice xmlns:v="urn:schemas-microsoft-com:vml" Requires="v">
                <p:oleObj r:id="rId8" imgW="977476" imgH="393529" progId="Equation.3">
                  <p:embed/>
                </p:oleObj>
              </mc:Choice>
              <mc:Fallback>
                <p:oleObj r:id="rId8" imgW="977476" imgH="393529" progId="Equation.3">
                  <p:embed/>
                  <p:pic>
                    <p:nvPicPr>
                      <p:cNvPr id="19"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53064" y="4676050"/>
                        <a:ext cx="2315344" cy="769174"/>
                      </a:xfrm>
                      <a:prstGeom prst="rect">
                        <a:avLst/>
                      </a:prstGeom>
                      <a:noFill/>
                    </p:spPr>
                  </p:pic>
                </p:oleObj>
              </mc:Fallback>
            </mc:AlternateContent>
          </a:graphicData>
        </a:graphic>
      </p:graphicFrame>
      <p:graphicFrame>
        <p:nvGraphicFramePr>
          <p:cNvPr id="20" name="Object 6"/>
          <p:cNvGraphicFramePr>
            <a:graphicFrameLocks noChangeAspect="1"/>
          </p:cNvGraphicFramePr>
          <p:nvPr>
            <p:extLst>
              <p:ext uri="{D42A27DB-BD31-4B8C-83A1-F6EECF244321}">
                <p14:modId xmlns:p14="http://schemas.microsoft.com/office/powerpoint/2010/main" val="274560567"/>
              </p:ext>
            </p:extLst>
          </p:nvPr>
        </p:nvGraphicFramePr>
        <p:xfrm>
          <a:off x="3192464" y="5876926"/>
          <a:ext cx="4154487" cy="860425"/>
        </p:xfrm>
        <a:graphic>
          <a:graphicData uri="http://schemas.openxmlformats.org/presentationml/2006/ole">
            <mc:AlternateContent xmlns:mc="http://schemas.openxmlformats.org/markup-compatibility/2006">
              <mc:Choice xmlns:v="urn:schemas-microsoft-com:vml" Requires="v">
                <p:oleObj name="Equation" r:id="rId10" imgW="2006280" imgH="431640" progId="Equation.DSMT4">
                  <p:embed/>
                </p:oleObj>
              </mc:Choice>
              <mc:Fallback>
                <p:oleObj name="Equation" r:id="rId10" imgW="2006280" imgH="431640" progId="Equation.DSMT4">
                  <p:embed/>
                  <p:pic>
                    <p:nvPicPr>
                      <p:cNvPr id="20" name="Object 6"/>
                      <p:cNvPicPr>
                        <a:picLocks noChangeAspect="1" noChangeArrowheads="1"/>
                      </p:cNvPicPr>
                      <p:nvPr/>
                    </p:nvPicPr>
                    <p:blipFill>
                      <a:blip r:embed="rId11"/>
                      <a:srcRect/>
                      <a:stretch>
                        <a:fillRect/>
                      </a:stretch>
                    </p:blipFill>
                    <p:spPr bwMode="auto">
                      <a:xfrm>
                        <a:off x="3192464" y="5876926"/>
                        <a:ext cx="4154487" cy="860425"/>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29027C8E-E7DA-9E0B-9643-3915327BC4C4}"/>
              </a:ext>
            </a:extLst>
          </p:cNvPr>
          <p:cNvSpPr>
            <a:spLocks noGrp="1"/>
          </p:cNvSpPr>
          <p:nvPr>
            <p:ph type="sldNum" sz="quarter" idx="11"/>
          </p:nvPr>
        </p:nvSpPr>
        <p:spPr/>
        <p:txBody>
          <a:bodyPr/>
          <a:lstStyle/>
          <a:p>
            <a:pPr>
              <a:defRPr/>
            </a:pPr>
            <a:fld id="{E0FB5469-1AEB-496D-971A-66705BF2F73C}" type="slidenum">
              <a:rPr lang="en-US" altLang="zh-CN" smtClean="0"/>
              <a:pPr>
                <a:defRPr/>
              </a:pPr>
              <a:t>49</a:t>
            </a:fld>
            <a:endParaRPr lang="en-US" altLang="zh-CN"/>
          </a:p>
        </p:txBody>
      </p:sp>
    </p:spTree>
    <p:extLst>
      <p:ext uri="{BB962C8B-B14F-4D97-AF65-F5344CB8AC3E}">
        <p14:creationId xmlns:p14="http://schemas.microsoft.com/office/powerpoint/2010/main" val="158830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ppt_x</p:attrName>
                                        </p:attrNameLst>
                                      </p:cBhvr>
                                      <p:tavLst>
                                        <p:tav tm="0">
                                          <p:val>
                                            <p:strVal val="#ppt_x-.2"/>
                                          </p:val>
                                        </p:tav>
                                        <p:tav tm="100000">
                                          <p:val>
                                            <p:strVal val="#ppt_x"/>
                                          </p:val>
                                        </p:tav>
                                      </p:tavLst>
                                    </p:anim>
                                    <p:anim calcmode="lin" valueType="num">
                                      <p:cBhvr>
                                        <p:cTn id="13"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9"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1000" fill="hold"/>
                                        <p:tgtEl>
                                          <p:spTgt spid="13"/>
                                        </p:tgtEl>
                                        <p:attrNameLst>
                                          <p:attrName>ppt_x</p:attrName>
                                        </p:attrNameLst>
                                      </p:cBhvr>
                                      <p:tavLst>
                                        <p:tav tm="0">
                                          <p:val>
                                            <p:strVal val="#ppt_x-.2"/>
                                          </p:val>
                                        </p:tav>
                                        <p:tav tm="100000">
                                          <p:val>
                                            <p:strVal val="#ppt_x"/>
                                          </p:val>
                                        </p:tav>
                                      </p:tavLst>
                                    </p:anim>
                                    <p:anim calcmode="lin" valueType="num">
                                      <p:cBhvr>
                                        <p:cTn id="20"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1" dur="10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9"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1000" fill="hold"/>
                                        <p:tgtEl>
                                          <p:spTgt spid="16"/>
                                        </p:tgtEl>
                                        <p:attrNameLst>
                                          <p:attrName>ppt_x</p:attrName>
                                        </p:attrNameLst>
                                      </p:cBhvr>
                                      <p:tavLst>
                                        <p:tav tm="0">
                                          <p:val>
                                            <p:strVal val="#ppt_x-.2"/>
                                          </p:val>
                                        </p:tav>
                                        <p:tav tm="100000">
                                          <p:val>
                                            <p:strVal val="#ppt_x"/>
                                          </p:val>
                                        </p:tav>
                                      </p:tavLst>
                                    </p:anim>
                                    <p:anim calcmode="lin" valueType="num">
                                      <p:cBhvr>
                                        <p:cTn id="27" dur="10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28" dur="10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wipe(left)">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wipe(left)">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wipe(left)">
                                      <p:cBhvr>
                                        <p:cTn id="43" dur="500"/>
                                        <p:tgtEl>
                                          <p:spTgt spid="3">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wipe(left)">
                                      <p:cBhvr>
                                        <p:cTn id="53" dur="500"/>
                                        <p:tgtEl>
                                          <p:spTgt spid="3">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000"/>
                                        <p:tgtEl>
                                          <p:spTgt spid="20"/>
                                        </p:tgtEl>
                                      </p:cBhvr>
                                    </p:animEffect>
                                    <p:anim calcmode="lin" valueType="num">
                                      <p:cBhvr>
                                        <p:cTn id="59" dur="1000" fill="hold"/>
                                        <p:tgtEl>
                                          <p:spTgt spid="20"/>
                                        </p:tgtEl>
                                        <p:attrNameLst>
                                          <p:attrName>ppt_x</p:attrName>
                                        </p:attrNameLst>
                                      </p:cBhvr>
                                      <p:tavLst>
                                        <p:tav tm="0">
                                          <p:val>
                                            <p:strVal val="#ppt_x"/>
                                          </p:val>
                                        </p:tav>
                                        <p:tav tm="100000">
                                          <p:val>
                                            <p:strVal val="#ppt_x"/>
                                          </p:val>
                                        </p:tav>
                                      </p:tavLst>
                                    </p:anim>
                                    <p:anim calcmode="lin" valueType="num">
                                      <p:cBhvr>
                                        <p:cTn id="6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401216"/>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反向传播算法</a:t>
            </a:r>
            <a:r>
              <a:rPr lang="en-US" altLang="zh-CN" b="1" dirty="0">
                <a:solidFill>
                  <a:srgbClr val="008000"/>
                </a:solidFill>
                <a:latin typeface="楷体_GB2312" pitchFamily="49" charset="-122"/>
                <a:ea typeface="楷体_GB2312" pitchFamily="49" charset="-122"/>
              </a:rPr>
              <a:t>(</a:t>
            </a:r>
            <a:r>
              <a:rPr lang="en-US" altLang="zh-CN" dirty="0">
                <a:solidFill>
                  <a:srgbClr val="008000"/>
                </a:solidFill>
                <a:ea typeface="黑体" panose="02010609060101010101" pitchFamily="49" charset="-122"/>
              </a:rPr>
              <a:t>BP</a:t>
            </a:r>
            <a:r>
              <a:rPr lang="zh-CN" altLang="en-US" dirty="0">
                <a:solidFill>
                  <a:srgbClr val="008000"/>
                </a:solidFill>
                <a:latin typeface="黑体" panose="02010609060101010101" pitchFamily="49" charset="-122"/>
                <a:ea typeface="黑体" panose="02010609060101010101" pitchFamily="49" charset="-122"/>
              </a:rPr>
              <a:t>算法</a:t>
            </a:r>
            <a:r>
              <a:rPr lang="en-US" altLang="zh-CN" dirty="0">
                <a:solidFill>
                  <a:srgbClr val="008000"/>
                </a:solidFill>
                <a:latin typeface="黑体" panose="02010609060101010101" pitchFamily="49" charset="-122"/>
                <a:ea typeface="黑体" panose="02010609060101010101" pitchFamily="49" charset="-122"/>
              </a:rPr>
              <a:t>)</a:t>
            </a:r>
            <a:endParaRPr lang="zh-CN" altLang="en-US" dirty="0"/>
          </a:p>
        </p:txBody>
      </p:sp>
      <p:sp>
        <p:nvSpPr>
          <p:cNvPr id="3" name="内容占位符 2"/>
          <p:cNvSpPr>
            <a:spLocks noGrp="1"/>
          </p:cNvSpPr>
          <p:nvPr>
            <p:ph idx="1"/>
          </p:nvPr>
        </p:nvSpPr>
        <p:spPr>
          <a:xfrm>
            <a:off x="1199456" y="1772816"/>
            <a:ext cx="10081120" cy="4688160"/>
          </a:xfrm>
        </p:spPr>
        <p:txBody>
          <a:bodyPr/>
          <a:lstStyle/>
          <a:p>
            <a:r>
              <a:rPr lang="en-US" altLang="zh-CN" b="1" dirty="0">
                <a:solidFill>
                  <a:srgbClr val="CC00CC"/>
                </a:solidFill>
              </a:rPr>
              <a:t>Step 1</a:t>
            </a:r>
            <a:r>
              <a:rPr lang="zh-CN" altLang="en-US" b="1" dirty="0">
                <a:solidFill>
                  <a:srgbClr val="CC00CC"/>
                </a:solidFill>
              </a:rPr>
              <a:t>：初始化网络权重</a:t>
            </a:r>
            <a:endParaRPr lang="en-US" altLang="zh-CN" b="1" dirty="0">
              <a:solidFill>
                <a:srgbClr val="CC00CC"/>
              </a:solidFill>
            </a:endParaRPr>
          </a:p>
          <a:p>
            <a:pPr lvl="1"/>
            <a:r>
              <a:rPr lang="en-US" altLang="zh-CN" b="1" dirty="0" err="1"/>
              <a:t>w</a:t>
            </a:r>
            <a:r>
              <a:rPr lang="en-US" altLang="zh-CN" b="1" baseline="-25000" dirty="0" err="1"/>
              <a:t>ij</a:t>
            </a:r>
            <a:r>
              <a:rPr lang="en-US" altLang="zh-CN" b="1" dirty="0"/>
              <a:t>——</a:t>
            </a:r>
            <a:r>
              <a:rPr lang="zh-CN" altLang="en-US" b="1" dirty="0"/>
              <a:t>被初始化为很小的随机数，如</a:t>
            </a:r>
            <a:r>
              <a:rPr lang="en-US" altLang="zh-CN" b="1" dirty="0" err="1"/>
              <a:t>w</a:t>
            </a:r>
            <a:r>
              <a:rPr lang="en-US" altLang="zh-CN" b="1" baseline="-25000" dirty="0" err="1"/>
              <a:t>ij</a:t>
            </a:r>
            <a:r>
              <a:rPr lang="en-US" altLang="zh-CN" b="1" baseline="-25000" dirty="0"/>
              <a:t> </a:t>
            </a:r>
            <a:r>
              <a:rPr lang="zh-CN" altLang="en-US" b="1" dirty="0">
                <a:sym typeface="Symbol" panose="05050102010706020507" pitchFamily="18" charset="2"/>
              </a:rPr>
              <a:t></a:t>
            </a:r>
            <a:r>
              <a:rPr lang="en-US" altLang="zh-CN" b="1" dirty="0"/>
              <a:t>[-1,+1]</a:t>
            </a:r>
          </a:p>
          <a:p>
            <a:pPr lvl="1"/>
            <a:r>
              <a:rPr lang="en-US" altLang="zh-CN" b="1" dirty="0">
                <a:sym typeface="Symbol" panose="05050102010706020507" pitchFamily="18" charset="2"/>
              </a:rPr>
              <a:t></a:t>
            </a:r>
            <a:r>
              <a:rPr lang="en-US" altLang="zh-CN" b="1" baseline="-25000" dirty="0" err="1"/>
              <a:t>i</a:t>
            </a:r>
            <a:r>
              <a:rPr lang="en-US" altLang="zh-CN" b="1" dirty="0"/>
              <a:t> ——</a:t>
            </a:r>
            <a:r>
              <a:rPr lang="zh-CN" altLang="en-US" b="1" dirty="0"/>
              <a:t>也被初始化为随机数。</a:t>
            </a:r>
            <a:endParaRPr lang="en-US" altLang="zh-CN" b="1" dirty="0"/>
          </a:p>
          <a:p>
            <a:pPr marL="0" indent="0">
              <a:buNone/>
            </a:pPr>
            <a:r>
              <a:rPr lang="zh-CN" altLang="en-US" b="1" dirty="0">
                <a:solidFill>
                  <a:srgbClr val="3333FF"/>
                </a:solidFill>
              </a:rPr>
              <a:t>对每个训练样本，执行</a:t>
            </a:r>
            <a:r>
              <a:rPr lang="en-US" altLang="zh-CN" b="1" dirty="0">
                <a:solidFill>
                  <a:srgbClr val="3333FF"/>
                </a:solidFill>
              </a:rPr>
              <a:t>Step2~Step4</a:t>
            </a:r>
          </a:p>
          <a:p>
            <a:r>
              <a:rPr lang="en-US" altLang="zh-CN" b="1" dirty="0">
                <a:solidFill>
                  <a:srgbClr val="CC00CC"/>
                </a:solidFill>
              </a:rPr>
              <a:t>Step 2</a:t>
            </a:r>
            <a:r>
              <a:rPr lang="zh-CN" altLang="en-US" b="1" dirty="0">
                <a:solidFill>
                  <a:srgbClr val="CC00CC"/>
                </a:solidFill>
              </a:rPr>
              <a:t>：对每个训练样本向前传播输入</a:t>
            </a:r>
            <a:endParaRPr lang="en-US" altLang="zh-CN" b="1" dirty="0">
              <a:solidFill>
                <a:srgbClr val="CC00CC"/>
              </a:solidFill>
            </a:endParaRPr>
          </a:p>
          <a:p>
            <a:pPr lvl="1"/>
            <a:r>
              <a:rPr lang="zh-CN" altLang="en-US" b="1" dirty="0"/>
              <a:t>计算每个单元 </a:t>
            </a:r>
            <a:r>
              <a:rPr lang="en-US" altLang="zh-CN" b="1" i="1" dirty="0"/>
              <a:t>j</a:t>
            </a:r>
            <a:r>
              <a:rPr lang="en-US" altLang="zh-CN" b="1" dirty="0"/>
              <a:t> </a:t>
            </a:r>
            <a:r>
              <a:rPr lang="zh-CN" altLang="en-US" b="1" dirty="0"/>
              <a:t>的输出</a:t>
            </a:r>
            <a:endParaRPr lang="en-US" altLang="zh-CN" b="1" dirty="0"/>
          </a:p>
          <a:p>
            <a:endParaRPr lang="zh-CN" altLang="en-US" dirty="0"/>
          </a:p>
        </p:txBody>
      </p:sp>
      <p:graphicFrame>
        <p:nvGraphicFramePr>
          <p:cNvPr id="14" name="Object 12"/>
          <p:cNvGraphicFramePr>
            <a:graphicFrameLocks noChangeAspect="1"/>
          </p:cNvGraphicFramePr>
          <p:nvPr>
            <p:extLst>
              <p:ext uri="{D42A27DB-BD31-4B8C-83A1-F6EECF244321}">
                <p14:modId xmlns:p14="http://schemas.microsoft.com/office/powerpoint/2010/main" val="2678045879"/>
              </p:ext>
            </p:extLst>
          </p:nvPr>
        </p:nvGraphicFramePr>
        <p:xfrm>
          <a:off x="2063552" y="5229200"/>
          <a:ext cx="5588000" cy="1439862"/>
        </p:xfrm>
        <a:graphic>
          <a:graphicData uri="http://schemas.openxmlformats.org/presentationml/2006/ole">
            <mc:AlternateContent xmlns:mc="http://schemas.openxmlformats.org/markup-compatibility/2006">
              <mc:Choice xmlns:v="urn:schemas-microsoft-com:vml" Requires="v">
                <p:oleObj name="Equation" r:id="rId2" imgW="1828800" imgH="571320" progId="Equation.DSMT4">
                  <p:embed/>
                </p:oleObj>
              </mc:Choice>
              <mc:Fallback>
                <p:oleObj name="Equation" r:id="rId2" imgW="1828800" imgH="571320" progId="Equation.DSMT4">
                  <p:embed/>
                  <p:pic>
                    <p:nvPicPr>
                      <p:cNvPr id="14" name="Object 12"/>
                      <p:cNvPicPr>
                        <a:picLocks noChangeAspect="1" noChangeArrowheads="1"/>
                      </p:cNvPicPr>
                      <p:nvPr/>
                    </p:nvPicPr>
                    <p:blipFill>
                      <a:blip r:embed="rId3"/>
                      <a:srcRect/>
                      <a:stretch>
                        <a:fillRect/>
                      </a:stretch>
                    </p:blipFill>
                    <p:spPr bwMode="auto">
                      <a:xfrm>
                        <a:off x="2063552" y="5229200"/>
                        <a:ext cx="5588000" cy="1439862"/>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0E139AB5-AC58-FF9F-DF33-CDE8AEF0EC49}"/>
              </a:ext>
            </a:extLst>
          </p:cNvPr>
          <p:cNvSpPr>
            <a:spLocks noGrp="1"/>
          </p:cNvSpPr>
          <p:nvPr>
            <p:ph type="sldNum" sz="quarter" idx="11"/>
          </p:nvPr>
        </p:nvSpPr>
        <p:spPr>
          <a:xfrm>
            <a:off x="0" y="6145869"/>
            <a:ext cx="949896" cy="523193"/>
          </a:xfrm>
        </p:spPr>
        <p:txBody>
          <a:bodyPr/>
          <a:lstStyle/>
          <a:p>
            <a:pPr>
              <a:defRPr/>
            </a:pPr>
            <a:fld id="{E0FB5469-1AEB-496D-971A-66705BF2F73C}" type="slidenum">
              <a:rPr lang="en-US" altLang="zh-CN" smtClean="0"/>
              <a:pPr>
                <a:defRPr/>
              </a:pPr>
              <a:t>50</a:t>
            </a:fld>
            <a:endParaRPr lang="en-US" altLang="zh-CN" dirty="0"/>
          </a:p>
        </p:txBody>
      </p:sp>
      <p:pic>
        <p:nvPicPr>
          <p:cNvPr id="5" name="图片 4">
            <a:extLst>
              <a:ext uri="{FF2B5EF4-FFF2-40B4-BE49-F238E27FC236}">
                <a16:creationId xmlns:a16="http://schemas.microsoft.com/office/drawing/2014/main" id="{35E8AC1C-2620-1DCC-1E9D-F02AB0F005D5}"/>
              </a:ext>
            </a:extLst>
          </p:cNvPr>
          <p:cNvPicPr>
            <a:picLocks noChangeAspect="1"/>
          </p:cNvPicPr>
          <p:nvPr/>
        </p:nvPicPr>
        <p:blipFill>
          <a:blip r:embed="rId4"/>
          <a:stretch>
            <a:fillRect/>
          </a:stretch>
        </p:blipFill>
        <p:spPr>
          <a:xfrm>
            <a:off x="8408253" y="4701382"/>
            <a:ext cx="3783747" cy="2121966"/>
          </a:xfrm>
          <a:prstGeom prst="rect">
            <a:avLst/>
          </a:prstGeom>
          <a:effectLst>
            <a:glow rad="127000">
              <a:srgbClr val="FFE1FF"/>
            </a:glow>
          </a:effectLst>
        </p:spPr>
      </p:pic>
    </p:spTree>
    <p:extLst>
      <p:ext uri="{BB962C8B-B14F-4D97-AF65-F5344CB8AC3E}">
        <p14:creationId xmlns:p14="http://schemas.microsoft.com/office/powerpoint/2010/main" val="296375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left)">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left)">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2">
            <a:extLst>
              <a:ext uri="{FF2B5EF4-FFF2-40B4-BE49-F238E27FC236}">
                <a16:creationId xmlns:a16="http://schemas.microsoft.com/office/drawing/2014/main" id="{C9A7B537-565B-78F8-1E87-219959B1400F}"/>
              </a:ext>
            </a:extLst>
          </p:cNvPr>
          <p:cNvGraphicFramePr>
            <a:graphicFrameLocks noChangeAspect="1"/>
          </p:cNvGraphicFramePr>
          <p:nvPr>
            <p:extLst>
              <p:ext uri="{D42A27DB-BD31-4B8C-83A1-F6EECF244321}">
                <p14:modId xmlns:p14="http://schemas.microsoft.com/office/powerpoint/2010/main" val="3158495394"/>
              </p:ext>
            </p:extLst>
          </p:nvPr>
        </p:nvGraphicFramePr>
        <p:xfrm>
          <a:off x="3368236" y="5733257"/>
          <a:ext cx="7264269" cy="1142068"/>
        </p:xfrm>
        <a:graphic>
          <a:graphicData uri="http://schemas.openxmlformats.org/presentationml/2006/ole">
            <mc:AlternateContent xmlns:mc="http://schemas.openxmlformats.org/markup-compatibility/2006">
              <mc:Choice xmlns:v="urn:schemas-microsoft-com:vml" Requires="v">
                <p:oleObj name="Equation" r:id="rId3" imgW="3593880" imgH="583920" progId="Equation.DSMT4">
                  <p:embed/>
                </p:oleObj>
              </mc:Choice>
              <mc:Fallback>
                <p:oleObj name="Equation" r:id="rId3" imgW="3593880" imgH="583920" progId="Equation.DSMT4">
                  <p:embed/>
                  <p:pic>
                    <p:nvPicPr>
                      <p:cNvPr id="14" name="Object 12"/>
                      <p:cNvPicPr>
                        <a:picLocks noChangeAspect="1" noChangeArrowheads="1"/>
                      </p:cNvPicPr>
                      <p:nvPr/>
                    </p:nvPicPr>
                    <p:blipFill>
                      <a:blip r:embed="rId4"/>
                      <a:srcRect/>
                      <a:stretch>
                        <a:fillRect/>
                      </a:stretch>
                    </p:blipFill>
                    <p:spPr bwMode="auto">
                      <a:xfrm>
                        <a:off x="3368236" y="5733257"/>
                        <a:ext cx="7264269" cy="1142068"/>
                      </a:xfrm>
                      <a:prstGeom prst="rect">
                        <a:avLst/>
                      </a:prstGeom>
                      <a:solidFill>
                        <a:srgbClr val="FFFF00"/>
                      </a:solidFill>
                    </p:spPr>
                  </p:pic>
                </p:oleObj>
              </mc:Fallback>
            </mc:AlternateContent>
          </a:graphicData>
        </a:graphic>
      </p:graphicFrame>
      <p:sp>
        <p:nvSpPr>
          <p:cNvPr id="2" name="标题 1"/>
          <p:cNvSpPr>
            <a:spLocks noGrp="1"/>
          </p:cNvSpPr>
          <p:nvPr>
            <p:ph type="title"/>
          </p:nvPr>
        </p:nvSpPr>
        <p:spPr>
          <a:xfrm>
            <a:off x="806674" y="377821"/>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反向传播算法</a:t>
            </a:r>
            <a:r>
              <a:rPr lang="en-US" altLang="zh-CN" b="1" dirty="0">
                <a:solidFill>
                  <a:srgbClr val="008000"/>
                </a:solidFill>
                <a:latin typeface="楷体_GB2312" pitchFamily="49" charset="-122"/>
                <a:ea typeface="楷体_GB2312" pitchFamily="49" charset="-122"/>
              </a:rPr>
              <a:t>(</a:t>
            </a:r>
            <a:r>
              <a:rPr lang="en-US" altLang="zh-CN" dirty="0">
                <a:solidFill>
                  <a:srgbClr val="008000"/>
                </a:solidFill>
                <a:ea typeface="黑体" panose="02010609060101010101" pitchFamily="49" charset="-122"/>
              </a:rPr>
              <a:t>BP</a:t>
            </a:r>
            <a:r>
              <a:rPr lang="zh-CN" altLang="en-US" dirty="0">
                <a:solidFill>
                  <a:srgbClr val="008000"/>
                </a:solidFill>
                <a:latin typeface="黑体" panose="02010609060101010101" pitchFamily="49" charset="-122"/>
                <a:ea typeface="黑体" panose="02010609060101010101" pitchFamily="49" charset="-122"/>
              </a:rPr>
              <a:t>算法</a:t>
            </a:r>
            <a:r>
              <a:rPr lang="en-US" altLang="zh-CN" dirty="0">
                <a:solidFill>
                  <a:srgbClr val="008000"/>
                </a:solidFill>
                <a:latin typeface="黑体" panose="02010609060101010101" pitchFamily="49" charset="-122"/>
                <a:ea typeface="黑体" panose="02010609060101010101" pitchFamily="49" charset="-122"/>
              </a:rPr>
              <a:t>)</a:t>
            </a:r>
            <a:endParaRPr lang="zh-CN" altLang="en-US" dirty="0"/>
          </a:p>
        </p:txBody>
      </p:sp>
      <p:sp>
        <p:nvSpPr>
          <p:cNvPr id="3" name="内容占位符 2"/>
          <p:cNvSpPr>
            <a:spLocks noGrp="1"/>
          </p:cNvSpPr>
          <p:nvPr>
            <p:ph idx="1"/>
          </p:nvPr>
        </p:nvSpPr>
        <p:spPr>
          <a:xfrm>
            <a:off x="1127448" y="1663319"/>
            <a:ext cx="10225136" cy="4688160"/>
          </a:xfrm>
        </p:spPr>
        <p:txBody>
          <a:bodyPr/>
          <a:lstStyle/>
          <a:p>
            <a:r>
              <a:rPr lang="en-US" altLang="zh-CN" b="1" dirty="0">
                <a:solidFill>
                  <a:srgbClr val="CC00CC"/>
                </a:solidFill>
              </a:rPr>
              <a:t>Step 3</a:t>
            </a:r>
            <a:r>
              <a:rPr lang="zh-CN" altLang="en-US" b="1" dirty="0">
                <a:solidFill>
                  <a:srgbClr val="CC00CC"/>
                </a:solidFill>
              </a:rPr>
              <a:t>：反向误差传播</a:t>
            </a:r>
            <a:endParaRPr lang="en-US" altLang="zh-CN" b="1" dirty="0">
              <a:solidFill>
                <a:srgbClr val="CC00CC"/>
              </a:solidFill>
            </a:endParaRPr>
          </a:p>
          <a:p>
            <a:pPr lvl="1"/>
            <a:r>
              <a:rPr lang="zh-CN" altLang="en-US" b="1" dirty="0"/>
              <a:t>对输出层的每个单元 </a:t>
            </a:r>
            <a:r>
              <a:rPr lang="en-US" altLang="zh-CN" b="1" i="1" dirty="0"/>
              <a:t>j</a:t>
            </a:r>
            <a:r>
              <a:rPr lang="en-US" altLang="zh-CN" b="1" dirty="0"/>
              <a:t> </a:t>
            </a:r>
            <a:r>
              <a:rPr lang="zh-CN" altLang="en-US" b="1" dirty="0"/>
              <a:t>，计算误差</a:t>
            </a:r>
            <a:r>
              <a:rPr lang="en-US" altLang="zh-CN" b="1" i="1" dirty="0" err="1"/>
              <a:t>E</a:t>
            </a:r>
            <a:r>
              <a:rPr lang="en-US" altLang="zh-CN" b="1" i="1" baseline="-25000" dirty="0" err="1"/>
              <a:t>j</a:t>
            </a:r>
            <a:endParaRPr lang="en-US" altLang="zh-CN" b="1" i="1" dirty="0"/>
          </a:p>
          <a:p>
            <a:pPr lvl="1"/>
            <a:endParaRPr lang="en-US" altLang="zh-CN" sz="3600" b="1" dirty="0">
              <a:sym typeface="Symbol" panose="05050102010706020507" pitchFamily="18" charset="2"/>
            </a:endParaRPr>
          </a:p>
          <a:p>
            <a:pPr lvl="1"/>
            <a:r>
              <a:rPr lang="zh-CN" altLang="en-US" b="1" dirty="0"/>
              <a:t>对隐含层的每个单元 </a:t>
            </a:r>
            <a:r>
              <a:rPr lang="en-US" altLang="zh-CN" b="1" i="1" dirty="0"/>
              <a:t>j</a:t>
            </a:r>
            <a:r>
              <a:rPr lang="en-US" altLang="zh-CN" b="1" dirty="0"/>
              <a:t> </a:t>
            </a:r>
            <a:r>
              <a:rPr lang="zh-CN" altLang="en-US" b="1" dirty="0"/>
              <a:t>，计算误差</a:t>
            </a:r>
            <a:r>
              <a:rPr lang="en-US" altLang="zh-CN" b="1" i="1" dirty="0" err="1"/>
              <a:t>E</a:t>
            </a:r>
            <a:r>
              <a:rPr lang="en-US" altLang="zh-CN" b="1" i="1" baseline="-25000" dirty="0" err="1"/>
              <a:t>j</a:t>
            </a:r>
            <a:endParaRPr lang="en-US" altLang="zh-CN" b="1" i="1" dirty="0"/>
          </a:p>
          <a:p>
            <a:pPr marL="457200" lvl="1" indent="0">
              <a:buNone/>
            </a:pPr>
            <a:r>
              <a:rPr lang="zh-CN" altLang="en-US" b="1" dirty="0">
                <a:solidFill>
                  <a:srgbClr val="3333FF"/>
                </a:solidFill>
              </a:rPr>
              <a:t>前面一层单元 </a:t>
            </a:r>
            <a:r>
              <a:rPr lang="en-US" altLang="zh-CN" b="1" i="1" dirty="0">
                <a:solidFill>
                  <a:srgbClr val="3333FF"/>
                </a:solidFill>
              </a:rPr>
              <a:t>j </a:t>
            </a:r>
            <a:r>
              <a:rPr lang="zh-CN" altLang="en-US" b="1" dirty="0">
                <a:solidFill>
                  <a:srgbClr val="3333FF"/>
                </a:solidFill>
              </a:rPr>
              <a:t>的误差可以通过和它连接的后面一层的所有单元 </a:t>
            </a:r>
            <a:r>
              <a:rPr lang="en-US" altLang="zh-CN" b="1" i="1" dirty="0">
                <a:solidFill>
                  <a:srgbClr val="3333FF"/>
                </a:solidFill>
              </a:rPr>
              <a:t>k</a:t>
            </a:r>
            <a:r>
              <a:rPr lang="en-US" altLang="zh-CN" b="1" dirty="0">
                <a:solidFill>
                  <a:srgbClr val="3333FF"/>
                </a:solidFill>
              </a:rPr>
              <a:t> </a:t>
            </a:r>
            <a:r>
              <a:rPr lang="zh-CN" altLang="en-US" b="1" dirty="0">
                <a:solidFill>
                  <a:srgbClr val="3333FF"/>
                </a:solidFill>
              </a:rPr>
              <a:t>的误差计算所得，具体公式：</a:t>
            </a:r>
            <a:endParaRPr lang="en-US" altLang="zh-CN" b="1" dirty="0">
              <a:solidFill>
                <a:srgbClr val="3333FF"/>
              </a:solidFill>
            </a:endParaRPr>
          </a:p>
          <a:p>
            <a:endParaRPr lang="zh-CN" altLang="en-US" dirty="0"/>
          </a:p>
        </p:txBody>
      </p:sp>
      <p:graphicFrame>
        <p:nvGraphicFramePr>
          <p:cNvPr id="13" name="Object 12"/>
          <p:cNvGraphicFramePr>
            <a:graphicFrameLocks noChangeAspect="1"/>
          </p:cNvGraphicFramePr>
          <p:nvPr>
            <p:extLst>
              <p:ext uri="{D42A27DB-BD31-4B8C-83A1-F6EECF244321}">
                <p14:modId xmlns:p14="http://schemas.microsoft.com/office/powerpoint/2010/main" val="1027963495"/>
              </p:ext>
            </p:extLst>
          </p:nvPr>
        </p:nvGraphicFramePr>
        <p:xfrm>
          <a:off x="3503712" y="2708920"/>
          <a:ext cx="4608512" cy="682680"/>
        </p:xfrm>
        <a:graphic>
          <a:graphicData uri="http://schemas.openxmlformats.org/presentationml/2006/ole">
            <mc:AlternateContent xmlns:mc="http://schemas.openxmlformats.org/markup-compatibility/2006">
              <mc:Choice xmlns:v="urn:schemas-microsoft-com:vml" Requires="v">
                <p:oleObj name="Equation" r:id="rId5" imgW="1498320" imgH="241200" progId="Equation.DSMT4">
                  <p:embed/>
                </p:oleObj>
              </mc:Choice>
              <mc:Fallback>
                <p:oleObj name="Equation" r:id="rId5" imgW="1498320" imgH="241200" progId="Equation.DSMT4">
                  <p:embed/>
                  <p:pic>
                    <p:nvPicPr>
                      <p:cNvPr id="13" name="Object 12"/>
                      <p:cNvPicPr>
                        <a:picLocks noChangeAspect="1" noChangeArrowheads="1"/>
                      </p:cNvPicPr>
                      <p:nvPr/>
                    </p:nvPicPr>
                    <p:blipFill>
                      <a:blip r:embed="rId6"/>
                      <a:srcRect/>
                      <a:stretch>
                        <a:fillRect/>
                      </a:stretch>
                    </p:blipFill>
                    <p:spPr bwMode="auto">
                      <a:xfrm>
                        <a:off x="3503712" y="2708920"/>
                        <a:ext cx="4608512" cy="682680"/>
                      </a:xfrm>
                      <a:prstGeom prst="rect">
                        <a:avLst/>
                      </a:prstGeom>
                      <a:noFill/>
                    </p:spPr>
                  </p:pic>
                </p:oleObj>
              </mc:Fallback>
            </mc:AlternateContent>
          </a:graphicData>
        </a:graphic>
      </p:graphicFrame>
      <p:graphicFrame>
        <p:nvGraphicFramePr>
          <p:cNvPr id="5" name="Object 12"/>
          <p:cNvGraphicFramePr>
            <a:graphicFrameLocks noChangeAspect="1"/>
          </p:cNvGraphicFramePr>
          <p:nvPr>
            <p:extLst>
              <p:ext uri="{D42A27DB-BD31-4B8C-83A1-F6EECF244321}">
                <p14:modId xmlns:p14="http://schemas.microsoft.com/office/powerpoint/2010/main" val="4020613998"/>
              </p:ext>
            </p:extLst>
          </p:nvPr>
        </p:nvGraphicFramePr>
        <p:xfrm>
          <a:off x="3512096" y="4869160"/>
          <a:ext cx="4608512" cy="963052"/>
        </p:xfrm>
        <a:graphic>
          <a:graphicData uri="http://schemas.openxmlformats.org/presentationml/2006/ole">
            <mc:AlternateContent xmlns:mc="http://schemas.openxmlformats.org/markup-compatibility/2006">
              <mc:Choice xmlns:v="urn:schemas-microsoft-com:vml" Requires="v">
                <p:oleObj name="Equation" r:id="rId7" imgW="1511280" imgH="342720" progId="Equation.DSMT4">
                  <p:embed/>
                </p:oleObj>
              </mc:Choice>
              <mc:Fallback>
                <p:oleObj name="Equation" r:id="rId7" imgW="1511280" imgH="342720" progId="Equation.DSMT4">
                  <p:embed/>
                  <p:pic>
                    <p:nvPicPr>
                      <p:cNvPr id="5" name="Object 12"/>
                      <p:cNvPicPr>
                        <a:picLocks noChangeAspect="1" noChangeArrowheads="1"/>
                      </p:cNvPicPr>
                      <p:nvPr/>
                    </p:nvPicPr>
                    <p:blipFill>
                      <a:blip r:embed="rId8"/>
                      <a:srcRect/>
                      <a:stretch>
                        <a:fillRect/>
                      </a:stretch>
                    </p:blipFill>
                    <p:spPr bwMode="auto">
                      <a:xfrm>
                        <a:off x="3512096" y="4869160"/>
                        <a:ext cx="4608512" cy="963052"/>
                      </a:xfrm>
                      <a:prstGeom prst="rect">
                        <a:avLst/>
                      </a:prstGeom>
                      <a:noFill/>
                    </p:spPr>
                  </p:pic>
                </p:oleObj>
              </mc:Fallback>
            </mc:AlternateContent>
          </a:graphicData>
        </a:graphic>
      </p:graphicFrame>
      <p:graphicFrame>
        <p:nvGraphicFramePr>
          <p:cNvPr id="6" name="Object 12">
            <a:extLst>
              <a:ext uri="{FF2B5EF4-FFF2-40B4-BE49-F238E27FC236}">
                <a16:creationId xmlns:a16="http://schemas.microsoft.com/office/drawing/2014/main" id="{76DF18DB-4929-3BE1-A2D5-2BD19FFD710F}"/>
              </a:ext>
            </a:extLst>
          </p:cNvPr>
          <p:cNvGraphicFramePr>
            <a:graphicFrameLocks noChangeAspect="1"/>
          </p:cNvGraphicFramePr>
          <p:nvPr>
            <p:extLst>
              <p:ext uri="{D42A27DB-BD31-4B8C-83A1-F6EECF244321}">
                <p14:modId xmlns:p14="http://schemas.microsoft.com/office/powerpoint/2010/main" val="2614998396"/>
              </p:ext>
            </p:extLst>
          </p:nvPr>
        </p:nvGraphicFramePr>
        <p:xfrm>
          <a:off x="1127448" y="5366959"/>
          <a:ext cx="1684157" cy="1318578"/>
        </p:xfrm>
        <a:graphic>
          <a:graphicData uri="http://schemas.openxmlformats.org/presentationml/2006/ole">
            <mc:AlternateContent xmlns:mc="http://schemas.openxmlformats.org/markup-compatibility/2006">
              <mc:Choice xmlns:v="urn:schemas-microsoft-com:vml" Requires="v">
                <p:oleObj name="Equation" r:id="rId9" imgW="1091880" imgH="761760" progId="Equation.DSMT4">
                  <p:embed/>
                </p:oleObj>
              </mc:Choice>
              <mc:Fallback>
                <p:oleObj name="Equation" r:id="rId9" imgW="1091880" imgH="761760" progId="Equation.DSMT4">
                  <p:embed/>
                  <p:pic>
                    <p:nvPicPr>
                      <p:cNvPr id="14" name="Object 12"/>
                      <p:cNvPicPr>
                        <a:picLocks noChangeAspect="1" noChangeArrowheads="1"/>
                      </p:cNvPicPr>
                      <p:nvPr/>
                    </p:nvPicPr>
                    <p:blipFill>
                      <a:blip r:embed="rId10"/>
                      <a:srcRect/>
                      <a:stretch>
                        <a:fillRect/>
                      </a:stretch>
                    </p:blipFill>
                    <p:spPr bwMode="auto">
                      <a:xfrm>
                        <a:off x="1127448" y="5366959"/>
                        <a:ext cx="1684157" cy="1318578"/>
                      </a:xfrm>
                      <a:prstGeom prst="rect">
                        <a:avLst/>
                      </a:prstGeom>
                      <a:solidFill>
                        <a:schemeClr val="bg1">
                          <a:lumMod val="95000"/>
                        </a:schemeClr>
                      </a:solidFill>
                    </p:spPr>
                  </p:pic>
                </p:oleObj>
              </mc:Fallback>
            </mc:AlternateContent>
          </a:graphicData>
        </a:graphic>
      </p:graphicFrame>
      <p:sp>
        <p:nvSpPr>
          <p:cNvPr id="7" name="灯片编号占位符 6">
            <a:extLst>
              <a:ext uri="{FF2B5EF4-FFF2-40B4-BE49-F238E27FC236}">
                <a16:creationId xmlns:a16="http://schemas.microsoft.com/office/drawing/2014/main" id="{ECEF5720-5F9E-6F64-1725-DED45A9B60F0}"/>
              </a:ext>
            </a:extLst>
          </p:cNvPr>
          <p:cNvSpPr>
            <a:spLocks noGrp="1"/>
          </p:cNvSpPr>
          <p:nvPr>
            <p:ph type="sldNum" sz="quarter" idx="11"/>
          </p:nvPr>
        </p:nvSpPr>
        <p:spPr/>
        <p:txBody>
          <a:bodyPr/>
          <a:lstStyle/>
          <a:p>
            <a:pPr>
              <a:defRPr/>
            </a:pPr>
            <a:fld id="{E0FB5469-1AEB-496D-971A-66705BF2F73C}" type="slidenum">
              <a:rPr lang="en-US" altLang="zh-CN" smtClean="0"/>
              <a:pPr>
                <a:defRPr/>
              </a:pPr>
              <a:t>51</a:t>
            </a:fld>
            <a:endParaRPr lang="en-US" altLang="zh-CN"/>
          </a:p>
        </p:txBody>
      </p:sp>
      <p:pic>
        <p:nvPicPr>
          <p:cNvPr id="8" name="Picture 3">
            <a:extLst>
              <a:ext uri="{FF2B5EF4-FFF2-40B4-BE49-F238E27FC236}">
                <a16:creationId xmlns:a16="http://schemas.microsoft.com/office/drawing/2014/main" id="{2E0EA08F-DE57-EB30-DA19-CE3D38E0B75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8814" y="13370"/>
            <a:ext cx="3860304" cy="2886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5567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1000"/>
                                        <p:tgtEl>
                                          <p:spTgt spid="6"/>
                                        </p:tgtEl>
                                      </p:cBhvr>
                                    </p:animEffect>
                                    <p:anim calcmode="lin" valueType="num">
                                      <p:cBhvr>
                                        <p:cTn id="40" dur="1000" fill="hold"/>
                                        <p:tgtEl>
                                          <p:spTgt spid="6"/>
                                        </p:tgtEl>
                                        <p:attrNameLst>
                                          <p:attrName>ppt_x</p:attrName>
                                        </p:attrNameLst>
                                      </p:cBhvr>
                                      <p:tavLst>
                                        <p:tav tm="0">
                                          <p:val>
                                            <p:strVal val="#ppt_x"/>
                                          </p:val>
                                        </p:tav>
                                        <p:tav tm="100000">
                                          <p:val>
                                            <p:strVal val="#ppt_x"/>
                                          </p:val>
                                        </p:tav>
                                      </p:tavLst>
                                    </p:anim>
                                    <p:anim calcmode="lin" valueType="num">
                                      <p:cBhvr>
                                        <p:cTn id="4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1000"/>
                                        <p:tgtEl>
                                          <p:spTgt spid="4"/>
                                        </p:tgtEl>
                                      </p:cBhvr>
                                    </p:animEffect>
                                    <p:anim calcmode="lin" valueType="num">
                                      <p:cBhvr>
                                        <p:cTn id="47" dur="1000" fill="hold"/>
                                        <p:tgtEl>
                                          <p:spTgt spid="4"/>
                                        </p:tgtEl>
                                        <p:attrNameLst>
                                          <p:attrName>ppt_x</p:attrName>
                                        </p:attrNameLst>
                                      </p:cBhvr>
                                      <p:tavLst>
                                        <p:tav tm="0">
                                          <p:val>
                                            <p:strVal val="#ppt_x"/>
                                          </p:val>
                                        </p:tav>
                                        <p:tav tm="100000">
                                          <p:val>
                                            <p:strVal val="#ppt_x"/>
                                          </p:val>
                                        </p:tav>
                                      </p:tavLst>
                                    </p:anim>
                                    <p:anim calcmode="lin" valueType="num">
                                      <p:cBhvr>
                                        <p:cTn id="4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401216"/>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反向传播算法</a:t>
            </a:r>
            <a:r>
              <a:rPr lang="en-US" altLang="zh-CN" b="1" dirty="0">
                <a:solidFill>
                  <a:srgbClr val="008000"/>
                </a:solidFill>
                <a:latin typeface="楷体_GB2312" pitchFamily="49" charset="-122"/>
                <a:ea typeface="楷体_GB2312" pitchFamily="49" charset="-122"/>
              </a:rPr>
              <a:t>(</a:t>
            </a:r>
            <a:r>
              <a:rPr lang="en-US" altLang="zh-CN" dirty="0">
                <a:solidFill>
                  <a:srgbClr val="008000"/>
                </a:solidFill>
                <a:ea typeface="黑体" panose="02010609060101010101" pitchFamily="49" charset="-122"/>
              </a:rPr>
              <a:t>BP</a:t>
            </a:r>
            <a:r>
              <a:rPr lang="zh-CN" altLang="en-US" dirty="0">
                <a:solidFill>
                  <a:srgbClr val="008000"/>
                </a:solidFill>
                <a:latin typeface="黑体" panose="02010609060101010101" pitchFamily="49" charset="-122"/>
                <a:ea typeface="黑体" panose="02010609060101010101" pitchFamily="49" charset="-122"/>
              </a:rPr>
              <a:t>算法</a:t>
            </a:r>
            <a:r>
              <a:rPr lang="en-US" altLang="zh-CN" dirty="0">
                <a:solidFill>
                  <a:srgbClr val="008000"/>
                </a:solidFill>
                <a:latin typeface="黑体" panose="02010609060101010101" pitchFamily="49" charset="-122"/>
                <a:ea typeface="黑体" panose="02010609060101010101" pitchFamily="49" charset="-122"/>
              </a:rPr>
              <a:t>)</a:t>
            </a:r>
            <a:endParaRPr lang="zh-CN" altLang="en-US" dirty="0"/>
          </a:p>
        </p:txBody>
      </p:sp>
      <p:sp>
        <p:nvSpPr>
          <p:cNvPr id="3" name="内容占位符 2"/>
          <p:cNvSpPr>
            <a:spLocks noGrp="1"/>
          </p:cNvSpPr>
          <p:nvPr>
            <p:ph idx="1"/>
          </p:nvPr>
        </p:nvSpPr>
        <p:spPr>
          <a:xfrm>
            <a:off x="983432" y="1844824"/>
            <a:ext cx="10081120" cy="4688160"/>
          </a:xfrm>
        </p:spPr>
        <p:txBody>
          <a:bodyPr/>
          <a:lstStyle/>
          <a:p>
            <a:r>
              <a:rPr lang="en-US" altLang="zh-CN" b="1" dirty="0">
                <a:solidFill>
                  <a:srgbClr val="CC00CC"/>
                </a:solidFill>
              </a:rPr>
              <a:t>Step 4</a:t>
            </a:r>
            <a:r>
              <a:rPr lang="zh-CN" altLang="en-US" b="1" dirty="0">
                <a:solidFill>
                  <a:srgbClr val="CC00CC"/>
                </a:solidFill>
              </a:rPr>
              <a:t>：网络权重和单元阈值的调整</a:t>
            </a:r>
            <a:endParaRPr lang="en-US" altLang="zh-CN" b="1" dirty="0">
              <a:solidFill>
                <a:srgbClr val="CC00CC"/>
              </a:solidFill>
            </a:endParaRPr>
          </a:p>
          <a:p>
            <a:pPr lvl="1"/>
            <a:r>
              <a:rPr lang="zh-CN" altLang="en-US" b="1" dirty="0"/>
              <a:t>网络权重的调整</a:t>
            </a:r>
            <a:endParaRPr lang="en-US" altLang="zh-CN" b="1" dirty="0"/>
          </a:p>
          <a:p>
            <a:pPr lvl="1"/>
            <a:endParaRPr lang="en-US" altLang="zh-CN" sz="3200" b="1" dirty="0">
              <a:sym typeface="Symbol" panose="05050102010706020507" pitchFamily="18" charset="2"/>
            </a:endParaRPr>
          </a:p>
          <a:p>
            <a:pPr lvl="1"/>
            <a:r>
              <a:rPr lang="zh-CN" altLang="en-US" b="1" dirty="0"/>
              <a:t>网络单元阈值的调整</a:t>
            </a:r>
            <a:endParaRPr lang="en-US" altLang="zh-CN" b="1" dirty="0"/>
          </a:p>
          <a:p>
            <a:pPr lvl="1"/>
            <a:endParaRPr lang="en-US" altLang="zh-CN" sz="3600" b="1" i="1" dirty="0"/>
          </a:p>
          <a:p>
            <a:r>
              <a:rPr lang="en-US" altLang="zh-CN" b="1" dirty="0">
                <a:solidFill>
                  <a:srgbClr val="CC00CC"/>
                </a:solidFill>
              </a:rPr>
              <a:t>Step 5</a:t>
            </a:r>
            <a:r>
              <a:rPr lang="zh-CN" altLang="en-US" b="1" dirty="0">
                <a:solidFill>
                  <a:srgbClr val="CC00CC"/>
                </a:solidFill>
              </a:rPr>
              <a:t>：计算机网络的误差平方和</a:t>
            </a:r>
            <a:endParaRPr lang="en-US" altLang="zh-CN" b="1" dirty="0">
              <a:solidFill>
                <a:srgbClr val="CC00CC"/>
              </a:solidFill>
            </a:endParaRPr>
          </a:p>
          <a:p>
            <a:endParaRPr lang="en-US" altLang="zh-CN" sz="4400" dirty="0">
              <a:solidFill>
                <a:srgbClr val="3333FF"/>
              </a:solidFill>
            </a:endParaRPr>
          </a:p>
          <a:p>
            <a:pPr marL="0" indent="0">
              <a:buNone/>
            </a:pPr>
            <a:r>
              <a:rPr lang="en-US" altLang="zh-CN" dirty="0">
                <a:solidFill>
                  <a:srgbClr val="3333FF"/>
                </a:solidFill>
              </a:rPr>
              <a:t> </a:t>
            </a:r>
            <a:r>
              <a:rPr lang="zh-CN" altLang="en-US" b="1" dirty="0">
                <a:solidFill>
                  <a:srgbClr val="FF0000"/>
                </a:solidFill>
              </a:rPr>
              <a:t>若小于误差范围则训练结束；否则，转</a:t>
            </a:r>
            <a:r>
              <a:rPr lang="en-US" altLang="zh-CN" b="1" dirty="0">
                <a:solidFill>
                  <a:srgbClr val="FF0000"/>
                </a:solidFill>
              </a:rPr>
              <a:t>Step 2</a:t>
            </a:r>
            <a:endParaRPr lang="zh-CN" altLang="en-US" b="1" dirty="0">
              <a:solidFill>
                <a:srgbClr val="FF0000"/>
              </a:solidFill>
            </a:endParaRPr>
          </a:p>
        </p:txBody>
      </p:sp>
      <p:graphicFrame>
        <p:nvGraphicFramePr>
          <p:cNvPr id="13" name="Object 12"/>
          <p:cNvGraphicFramePr>
            <a:graphicFrameLocks noChangeAspect="1"/>
          </p:cNvGraphicFramePr>
          <p:nvPr>
            <p:extLst>
              <p:ext uri="{D42A27DB-BD31-4B8C-83A1-F6EECF244321}">
                <p14:modId xmlns:p14="http://schemas.microsoft.com/office/powerpoint/2010/main" val="4150777875"/>
              </p:ext>
            </p:extLst>
          </p:nvPr>
        </p:nvGraphicFramePr>
        <p:xfrm>
          <a:off x="3400848" y="2780929"/>
          <a:ext cx="3376613" cy="720725"/>
        </p:xfrm>
        <a:graphic>
          <a:graphicData uri="http://schemas.openxmlformats.org/presentationml/2006/ole">
            <mc:AlternateContent xmlns:mc="http://schemas.openxmlformats.org/markup-compatibility/2006">
              <mc:Choice xmlns:v="urn:schemas-microsoft-com:vml" Requires="v">
                <p:oleObj name="Equation" r:id="rId2" imgW="1041120" imgH="241200" progId="Equation.DSMT4">
                  <p:embed/>
                </p:oleObj>
              </mc:Choice>
              <mc:Fallback>
                <p:oleObj name="Equation" r:id="rId2" imgW="1041120" imgH="241200" progId="Equation.DSMT4">
                  <p:embed/>
                  <p:pic>
                    <p:nvPicPr>
                      <p:cNvPr id="13" name="Object 12"/>
                      <p:cNvPicPr>
                        <a:picLocks noChangeAspect="1" noChangeArrowheads="1"/>
                      </p:cNvPicPr>
                      <p:nvPr/>
                    </p:nvPicPr>
                    <p:blipFill>
                      <a:blip r:embed="rId3"/>
                      <a:srcRect/>
                      <a:stretch>
                        <a:fillRect/>
                      </a:stretch>
                    </p:blipFill>
                    <p:spPr bwMode="auto">
                      <a:xfrm>
                        <a:off x="3400848" y="2780929"/>
                        <a:ext cx="3376613" cy="720725"/>
                      </a:xfrm>
                      <a:prstGeom prst="rect">
                        <a:avLst/>
                      </a:prstGeom>
                      <a:noFill/>
                    </p:spPr>
                  </p:pic>
                </p:oleObj>
              </mc:Fallback>
            </mc:AlternateContent>
          </a:graphicData>
        </a:graphic>
      </p:graphicFrame>
      <p:graphicFrame>
        <p:nvGraphicFramePr>
          <p:cNvPr id="6" name="Object 12"/>
          <p:cNvGraphicFramePr>
            <a:graphicFrameLocks noChangeAspect="1"/>
          </p:cNvGraphicFramePr>
          <p:nvPr>
            <p:extLst>
              <p:ext uri="{D42A27DB-BD31-4B8C-83A1-F6EECF244321}">
                <p14:modId xmlns:p14="http://schemas.microsoft.com/office/powerpoint/2010/main" val="3162025779"/>
              </p:ext>
            </p:extLst>
          </p:nvPr>
        </p:nvGraphicFramePr>
        <p:xfrm>
          <a:off x="3523680" y="4077073"/>
          <a:ext cx="2573784" cy="682534"/>
        </p:xfrm>
        <a:graphic>
          <a:graphicData uri="http://schemas.openxmlformats.org/presentationml/2006/ole">
            <mc:AlternateContent xmlns:mc="http://schemas.openxmlformats.org/markup-compatibility/2006">
              <mc:Choice xmlns:v="urn:schemas-microsoft-com:vml" Requires="v">
                <p:oleObj name="Equation" r:id="rId4" imgW="838080" imgH="241200" progId="Equation.DSMT4">
                  <p:embed/>
                </p:oleObj>
              </mc:Choice>
              <mc:Fallback>
                <p:oleObj name="Equation" r:id="rId4" imgW="838080" imgH="241200" progId="Equation.DSMT4">
                  <p:embed/>
                  <p:pic>
                    <p:nvPicPr>
                      <p:cNvPr id="6" name="Object 12"/>
                      <p:cNvPicPr>
                        <a:picLocks noChangeAspect="1" noChangeArrowheads="1"/>
                      </p:cNvPicPr>
                      <p:nvPr/>
                    </p:nvPicPr>
                    <p:blipFill>
                      <a:blip r:embed="rId5"/>
                      <a:srcRect/>
                      <a:stretch>
                        <a:fillRect/>
                      </a:stretch>
                    </p:blipFill>
                    <p:spPr bwMode="auto">
                      <a:xfrm>
                        <a:off x="3523680" y="4077073"/>
                        <a:ext cx="2573784" cy="682534"/>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606892596"/>
              </p:ext>
            </p:extLst>
          </p:nvPr>
        </p:nvGraphicFramePr>
        <p:xfrm>
          <a:off x="3143672" y="5229226"/>
          <a:ext cx="3892550" cy="862013"/>
        </p:xfrm>
        <a:graphic>
          <a:graphicData uri="http://schemas.openxmlformats.org/presentationml/2006/ole">
            <mc:AlternateContent xmlns:mc="http://schemas.openxmlformats.org/markup-compatibility/2006">
              <mc:Choice xmlns:v="urn:schemas-microsoft-com:vml" Requires="v">
                <p:oleObj name="Equation" r:id="rId6" imgW="1879560" imgH="431640" progId="Equation.DSMT4">
                  <p:embed/>
                </p:oleObj>
              </mc:Choice>
              <mc:Fallback>
                <p:oleObj name="Equation" r:id="rId6" imgW="1879560" imgH="431640" progId="Equation.DSMT4">
                  <p:embed/>
                  <p:pic>
                    <p:nvPicPr>
                      <p:cNvPr id="7" name="Object 6"/>
                      <p:cNvPicPr>
                        <a:picLocks noChangeAspect="1" noChangeArrowheads="1"/>
                      </p:cNvPicPr>
                      <p:nvPr/>
                    </p:nvPicPr>
                    <p:blipFill>
                      <a:blip r:embed="rId7"/>
                      <a:srcRect/>
                      <a:stretch>
                        <a:fillRect/>
                      </a:stretch>
                    </p:blipFill>
                    <p:spPr bwMode="auto">
                      <a:xfrm>
                        <a:off x="3143672" y="5229226"/>
                        <a:ext cx="3892550" cy="862013"/>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1C2223C9-C2CF-14FF-D24D-678AC5A8C585}"/>
              </a:ext>
            </a:extLst>
          </p:cNvPr>
          <p:cNvSpPr>
            <a:spLocks noGrp="1"/>
          </p:cNvSpPr>
          <p:nvPr>
            <p:ph type="sldNum" sz="quarter" idx="11"/>
          </p:nvPr>
        </p:nvSpPr>
        <p:spPr/>
        <p:txBody>
          <a:bodyPr/>
          <a:lstStyle/>
          <a:p>
            <a:pPr>
              <a:defRPr/>
            </a:pPr>
            <a:fld id="{E0FB5469-1AEB-496D-971A-66705BF2F73C}" type="slidenum">
              <a:rPr lang="en-US" altLang="zh-CN" smtClean="0"/>
              <a:pPr>
                <a:defRPr/>
              </a:pPr>
              <a:t>52</a:t>
            </a:fld>
            <a:endParaRPr lang="en-US" altLang="zh-CN"/>
          </a:p>
        </p:txBody>
      </p:sp>
      <p:pic>
        <p:nvPicPr>
          <p:cNvPr id="5" name="Picture 3">
            <a:extLst>
              <a:ext uri="{FF2B5EF4-FFF2-40B4-BE49-F238E27FC236}">
                <a16:creationId xmlns:a16="http://schemas.microsoft.com/office/drawing/2014/main" id="{B70CCED4-BB0A-84CC-73B9-F2500F747C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31696" y="2058272"/>
            <a:ext cx="3860304" cy="2886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389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wipe(left)">
                                      <p:cBhvr>
                                        <p:cTn id="34" dur="500"/>
                                        <p:tgtEl>
                                          <p:spTgt spid="3">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wipe(left)">
                                      <p:cBhvr>
                                        <p:cTn id="4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4000" y="0"/>
            <a:ext cx="9144000" cy="7647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6693" name="Object 21"/>
          <p:cNvGraphicFramePr>
            <a:graphicFrameLocks noChangeAspect="1"/>
          </p:cNvGraphicFramePr>
          <p:nvPr>
            <p:extLst>
              <p:ext uri="{D42A27DB-BD31-4B8C-83A1-F6EECF244321}">
                <p14:modId xmlns:p14="http://schemas.microsoft.com/office/powerpoint/2010/main" val="3971052579"/>
              </p:ext>
            </p:extLst>
          </p:nvPr>
        </p:nvGraphicFramePr>
        <p:xfrm>
          <a:off x="1287607" y="-171400"/>
          <a:ext cx="9375457" cy="7200800"/>
        </p:xfrm>
        <a:graphic>
          <a:graphicData uri="http://schemas.openxmlformats.org/presentationml/2006/ole">
            <mc:AlternateContent xmlns:mc="http://schemas.openxmlformats.org/markup-compatibility/2006">
              <mc:Choice xmlns:v="urn:schemas-microsoft-com:vml" Requires="v">
                <p:oleObj name="Visio" r:id="rId2" imgW="6552819" imgH="5638419" progId="Visio.Drawing.11">
                  <p:embed/>
                </p:oleObj>
              </mc:Choice>
              <mc:Fallback>
                <p:oleObj name="Visio" r:id="rId2" imgW="6552819" imgH="5638419" progId="Visio.Drawing.11">
                  <p:embed/>
                  <p:pic>
                    <p:nvPicPr>
                      <p:cNvPr id="156693"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7607" y="-171400"/>
                        <a:ext cx="9375457" cy="7200800"/>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E8A809DA-12DC-2991-79A8-21DD13C0AD4F}"/>
              </a:ext>
            </a:extLst>
          </p:cNvPr>
          <p:cNvSpPr>
            <a:spLocks noGrp="1"/>
          </p:cNvSpPr>
          <p:nvPr>
            <p:ph type="sldNum" sz="quarter" idx="11"/>
          </p:nvPr>
        </p:nvSpPr>
        <p:spPr/>
        <p:txBody>
          <a:bodyPr/>
          <a:lstStyle/>
          <a:p>
            <a:pPr>
              <a:defRPr/>
            </a:pPr>
            <a:fld id="{E0FB5469-1AEB-496D-971A-66705BF2F73C}" type="slidenum">
              <a:rPr lang="en-US" altLang="zh-CN" smtClean="0"/>
              <a:pPr>
                <a:defRPr/>
              </a:pPr>
              <a:t>53</a:t>
            </a:fld>
            <a:endParaRPr lang="en-US" altLang="zh-CN"/>
          </a:p>
        </p:txBody>
      </p:sp>
    </p:spTree>
    <p:extLst>
      <p:ext uri="{BB962C8B-B14F-4D97-AF65-F5344CB8AC3E}">
        <p14:creationId xmlns:p14="http://schemas.microsoft.com/office/powerpoint/2010/main" val="2271639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1905000" y="104775"/>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应用举例</a:t>
            </a:r>
          </a:p>
        </p:txBody>
      </p:sp>
      <p:sp>
        <p:nvSpPr>
          <p:cNvPr id="157699" name="Rectangle 3"/>
          <p:cNvSpPr>
            <a:spLocks noGrp="1" noChangeArrowheads="1"/>
          </p:cNvSpPr>
          <p:nvPr>
            <p:ph type="body" idx="1"/>
          </p:nvPr>
        </p:nvSpPr>
        <p:spPr>
          <a:xfrm>
            <a:off x="911424" y="1372865"/>
            <a:ext cx="10369152" cy="2272159"/>
          </a:xfrm>
        </p:spPr>
        <p:txBody>
          <a:bodyPr/>
          <a:lstStyle/>
          <a:p>
            <a:r>
              <a:rPr lang="zh-CN" altLang="en-US" dirty="0"/>
              <a:t>已知一个前向神经网络如下图所示。设学习率</a:t>
            </a:r>
            <a:r>
              <a:rPr lang="en-US" altLang="zh-CN" i="1" dirty="0">
                <a:latin typeface="Times New Roman" panose="02020603050405020304" pitchFamily="18" charset="0"/>
                <a:sym typeface="Symbol" panose="05050102010706020507" pitchFamily="18" charset="2"/>
              </a:rPr>
              <a:t></a:t>
            </a:r>
            <a:r>
              <a:rPr lang="zh-CN" altLang="en-US" dirty="0"/>
              <a:t>为</a:t>
            </a:r>
            <a:r>
              <a:rPr lang="en-US" altLang="zh-CN" dirty="0">
                <a:latin typeface="Times New Roman" panose="02020603050405020304" pitchFamily="18" charset="0"/>
              </a:rPr>
              <a:t>0.9</a:t>
            </a:r>
            <a:r>
              <a:rPr lang="zh-CN" altLang="en-US" dirty="0"/>
              <a:t>，当前的</a:t>
            </a:r>
            <a:r>
              <a:rPr lang="zh-CN" altLang="en-US" dirty="0">
                <a:solidFill>
                  <a:srgbClr val="CC00CC"/>
                </a:solidFill>
              </a:rPr>
              <a:t>训练样本为</a:t>
            </a:r>
            <a:r>
              <a:rPr lang="en-US" altLang="zh-CN" i="1" dirty="0">
                <a:solidFill>
                  <a:srgbClr val="CC00CC"/>
                </a:solidFill>
                <a:latin typeface="Times New Roman" panose="02020603050405020304" pitchFamily="18" charset="0"/>
              </a:rPr>
              <a:t>x</a:t>
            </a:r>
            <a:r>
              <a:rPr lang="en-US" altLang="zh-CN" dirty="0">
                <a:solidFill>
                  <a:srgbClr val="CC00CC"/>
                </a:solidFill>
                <a:latin typeface="Times New Roman" panose="02020603050405020304" pitchFamily="18" charset="0"/>
              </a:rPr>
              <a:t>={1,0,1}</a:t>
            </a:r>
            <a:r>
              <a:rPr lang="zh-CN" altLang="en-US" dirty="0">
                <a:solidFill>
                  <a:srgbClr val="CC00CC"/>
                </a:solidFill>
              </a:rPr>
              <a:t>，而且预期分类标号为</a:t>
            </a:r>
            <a:r>
              <a:rPr lang="en-US" altLang="zh-CN" dirty="0">
                <a:solidFill>
                  <a:srgbClr val="CC00CC"/>
                </a:solidFill>
                <a:latin typeface="Times New Roman" panose="02020603050405020304" pitchFamily="18" charset="0"/>
              </a:rPr>
              <a:t>1</a:t>
            </a:r>
            <a:r>
              <a:rPr lang="zh-CN" altLang="en-US" dirty="0"/>
              <a:t>，同时，下表给出了当前该网络的各个连接权值和神经元偏置值。则该网络在当前训练样本下的训练过程为：</a:t>
            </a:r>
            <a:endParaRPr lang="zh-CN" altLang="en-US" dirty="0">
              <a:latin typeface="Times New Roman" panose="02020603050405020304" pitchFamily="18" charset="0"/>
            </a:endParaRPr>
          </a:p>
          <a:p>
            <a:pPr>
              <a:lnSpc>
                <a:spcPct val="90000"/>
              </a:lnSpc>
            </a:pPr>
            <a:endParaRPr lang="zh-CN" altLang="en-US" dirty="0">
              <a:latin typeface="Times New Roman" panose="02020603050405020304" pitchFamily="18" charset="0"/>
            </a:endParaRPr>
          </a:p>
          <a:p>
            <a:pPr>
              <a:lnSpc>
                <a:spcPct val="90000"/>
              </a:lnSpc>
            </a:pPr>
            <a:endParaRPr lang="en-US" altLang="zh-CN" dirty="0"/>
          </a:p>
        </p:txBody>
      </p:sp>
      <p:sp>
        <p:nvSpPr>
          <p:cNvPr id="157700" name="Rectangle 4"/>
          <p:cNvSpPr>
            <a:spLocks noChangeArrowheads="1"/>
          </p:cNvSpPr>
          <p:nvPr/>
        </p:nvSpPr>
        <p:spPr bwMode="auto">
          <a:xfrm>
            <a:off x="1638300" y="27903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7701" name="Rectangle 5"/>
          <p:cNvSpPr>
            <a:spLocks noChangeArrowheads="1"/>
          </p:cNvSpPr>
          <p:nvPr/>
        </p:nvSpPr>
        <p:spPr bwMode="auto">
          <a:xfrm>
            <a:off x="1638300" y="2933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57702" name="Object 6"/>
          <p:cNvGraphicFramePr>
            <a:graphicFrameLocks noChangeAspect="1"/>
          </p:cNvGraphicFramePr>
          <p:nvPr>
            <p:extLst>
              <p:ext uri="{D42A27DB-BD31-4B8C-83A1-F6EECF244321}">
                <p14:modId xmlns:p14="http://schemas.microsoft.com/office/powerpoint/2010/main" val="1050932231"/>
              </p:ext>
            </p:extLst>
          </p:nvPr>
        </p:nvGraphicFramePr>
        <p:xfrm>
          <a:off x="8496300" y="3588628"/>
          <a:ext cx="273050" cy="342900"/>
        </p:xfrm>
        <a:graphic>
          <a:graphicData uri="http://schemas.openxmlformats.org/presentationml/2006/ole">
            <mc:AlternateContent xmlns:mc="http://schemas.openxmlformats.org/markup-compatibility/2006">
              <mc:Choice xmlns:v="urn:schemas-microsoft-com:vml" Requires="v">
                <p:oleObj name="Equation" r:id="rId2" imgW="152334" imgH="190417" progId="Equation.DSMT4">
                  <p:embed/>
                </p:oleObj>
              </mc:Choice>
              <mc:Fallback>
                <p:oleObj name="Equation" r:id="rId2" imgW="152334" imgH="190417" progId="Equation.DSMT4">
                  <p:embed/>
                  <p:pic>
                    <p:nvPicPr>
                      <p:cNvPr id="157702"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6300" y="3588628"/>
                        <a:ext cx="27305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03" name="Object 7"/>
          <p:cNvGraphicFramePr>
            <a:graphicFrameLocks noChangeAspect="1"/>
          </p:cNvGraphicFramePr>
          <p:nvPr>
            <p:extLst>
              <p:ext uri="{D42A27DB-BD31-4B8C-83A1-F6EECF244321}">
                <p14:modId xmlns:p14="http://schemas.microsoft.com/office/powerpoint/2010/main" val="475407163"/>
              </p:ext>
            </p:extLst>
          </p:nvPr>
        </p:nvGraphicFramePr>
        <p:xfrm>
          <a:off x="9182101" y="3588628"/>
          <a:ext cx="257175" cy="342900"/>
        </p:xfrm>
        <a:graphic>
          <a:graphicData uri="http://schemas.openxmlformats.org/presentationml/2006/ole">
            <mc:AlternateContent xmlns:mc="http://schemas.openxmlformats.org/markup-compatibility/2006">
              <mc:Choice xmlns:v="urn:schemas-microsoft-com:vml" Requires="v">
                <p:oleObj name="Equation" r:id="rId4" imgW="139639" imgH="190417" progId="Equation.DSMT4">
                  <p:embed/>
                </p:oleObj>
              </mc:Choice>
              <mc:Fallback>
                <p:oleObj name="Equation" r:id="rId4" imgW="139639" imgH="190417" progId="Equation.DSMT4">
                  <p:embed/>
                  <p:pic>
                    <p:nvPicPr>
                      <p:cNvPr id="15770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2101" y="3588628"/>
                        <a:ext cx="2571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04" name="Object 8"/>
          <p:cNvGraphicFramePr>
            <a:graphicFrameLocks noChangeAspect="1"/>
          </p:cNvGraphicFramePr>
          <p:nvPr>
            <p:extLst>
              <p:ext uri="{D42A27DB-BD31-4B8C-83A1-F6EECF244321}">
                <p14:modId xmlns:p14="http://schemas.microsoft.com/office/powerpoint/2010/main" val="620565436"/>
              </p:ext>
            </p:extLst>
          </p:nvPr>
        </p:nvGraphicFramePr>
        <p:xfrm>
          <a:off x="9882188" y="3550528"/>
          <a:ext cx="366712" cy="381000"/>
        </p:xfrm>
        <a:graphic>
          <a:graphicData uri="http://schemas.openxmlformats.org/presentationml/2006/ole">
            <mc:AlternateContent xmlns:mc="http://schemas.openxmlformats.org/markup-compatibility/2006">
              <mc:Choice xmlns:v="urn:schemas-microsoft-com:vml" Requires="v">
                <p:oleObj name="Equation" r:id="rId6" imgW="152334" imgH="190417" progId="Equation.DSMT4">
                  <p:embed/>
                </p:oleObj>
              </mc:Choice>
              <mc:Fallback>
                <p:oleObj name="Equation" r:id="rId6" imgW="152334" imgH="190417" progId="Equation.DSMT4">
                  <p:embed/>
                  <p:pic>
                    <p:nvPicPr>
                      <p:cNvPr id="15770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82188" y="3550528"/>
                        <a:ext cx="36671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05" name="Rectangle 9"/>
          <p:cNvSpPr>
            <a:spLocks noChangeArrowheads="1"/>
          </p:cNvSpPr>
          <p:nvPr/>
        </p:nvSpPr>
        <p:spPr bwMode="auto">
          <a:xfrm>
            <a:off x="3624263" y="328172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7706" name="Rectangle 10"/>
          <p:cNvSpPr>
            <a:spLocks noChangeArrowheads="1"/>
          </p:cNvSpPr>
          <p:nvPr/>
        </p:nvSpPr>
        <p:spPr bwMode="auto">
          <a:xfrm>
            <a:off x="3624264" y="328172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7707" name="Rectangle 11"/>
          <p:cNvSpPr>
            <a:spLocks noChangeArrowheads="1"/>
          </p:cNvSpPr>
          <p:nvPr/>
        </p:nvSpPr>
        <p:spPr bwMode="auto">
          <a:xfrm>
            <a:off x="3624264" y="328172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57708" name="Group 12"/>
          <p:cNvGraphicFramePr>
            <a:graphicFrameLocks noGrp="1"/>
          </p:cNvGraphicFramePr>
          <p:nvPr>
            <p:extLst>
              <p:ext uri="{D42A27DB-BD31-4B8C-83A1-F6EECF244321}">
                <p14:modId xmlns:p14="http://schemas.microsoft.com/office/powerpoint/2010/main" val="2951282052"/>
              </p:ext>
            </p:extLst>
          </p:nvPr>
        </p:nvGraphicFramePr>
        <p:xfrm>
          <a:off x="2247900" y="3550528"/>
          <a:ext cx="8153400" cy="670560"/>
        </p:xfrm>
        <a:graphic>
          <a:graphicData uri="http://schemas.openxmlformats.org/drawingml/2006/table">
            <a:tbl>
              <a:tblPr/>
              <a:tblGrid>
                <a:gridCol w="735013">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35012">
                  <a:extLst>
                    <a:ext uri="{9D8B030D-6E8A-4147-A177-3AD203B41FA5}">
                      <a16:colId xmlns:a16="http://schemas.microsoft.com/office/drawing/2014/main" val="20002"/>
                    </a:ext>
                  </a:extLst>
                </a:gridCol>
                <a:gridCol w="735013">
                  <a:extLst>
                    <a:ext uri="{9D8B030D-6E8A-4147-A177-3AD203B41FA5}">
                      <a16:colId xmlns:a16="http://schemas.microsoft.com/office/drawing/2014/main" val="20003"/>
                    </a:ext>
                  </a:extLst>
                </a:gridCol>
                <a:gridCol w="747712">
                  <a:extLst>
                    <a:ext uri="{9D8B030D-6E8A-4147-A177-3AD203B41FA5}">
                      <a16:colId xmlns:a16="http://schemas.microsoft.com/office/drawing/2014/main" val="20004"/>
                    </a:ext>
                  </a:extLst>
                </a:gridCol>
                <a:gridCol w="736600">
                  <a:extLst>
                    <a:ext uri="{9D8B030D-6E8A-4147-A177-3AD203B41FA5}">
                      <a16:colId xmlns:a16="http://schemas.microsoft.com/office/drawing/2014/main" val="20005"/>
                    </a:ext>
                  </a:extLst>
                </a:gridCol>
                <a:gridCol w="747713">
                  <a:extLst>
                    <a:ext uri="{9D8B030D-6E8A-4147-A177-3AD203B41FA5}">
                      <a16:colId xmlns:a16="http://schemas.microsoft.com/office/drawing/2014/main" val="20006"/>
                    </a:ext>
                  </a:extLst>
                </a:gridCol>
                <a:gridCol w="747712">
                  <a:extLst>
                    <a:ext uri="{9D8B030D-6E8A-4147-A177-3AD203B41FA5}">
                      <a16:colId xmlns:a16="http://schemas.microsoft.com/office/drawing/2014/main" val="20007"/>
                    </a:ext>
                  </a:extLst>
                </a:gridCol>
                <a:gridCol w="747713">
                  <a:extLst>
                    <a:ext uri="{9D8B030D-6E8A-4147-A177-3AD203B41FA5}">
                      <a16:colId xmlns:a16="http://schemas.microsoft.com/office/drawing/2014/main" val="20008"/>
                    </a:ext>
                  </a:extLst>
                </a:gridCol>
                <a:gridCol w="736600">
                  <a:extLst>
                    <a:ext uri="{9D8B030D-6E8A-4147-A177-3AD203B41FA5}">
                      <a16:colId xmlns:a16="http://schemas.microsoft.com/office/drawing/2014/main" val="20009"/>
                    </a:ext>
                  </a:extLst>
                </a:gridCol>
                <a:gridCol w="735012">
                  <a:extLst>
                    <a:ext uri="{9D8B030D-6E8A-4147-A177-3AD203B41FA5}">
                      <a16:colId xmlns:a16="http://schemas.microsoft.com/office/drawing/2014/main" val="20010"/>
                    </a:ext>
                  </a:extLst>
                </a:gridCol>
              </a:tblGrid>
              <a:tr h="304800">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cap="flat">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438">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cap="flat">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7736" name="Object 40"/>
          <p:cNvGraphicFramePr>
            <a:graphicFrameLocks noChangeAspect="1"/>
          </p:cNvGraphicFramePr>
          <p:nvPr>
            <p:extLst>
              <p:ext uri="{D42A27DB-BD31-4B8C-83A1-F6EECF244321}">
                <p14:modId xmlns:p14="http://schemas.microsoft.com/office/powerpoint/2010/main" val="3542800697"/>
              </p:ext>
            </p:extLst>
          </p:nvPr>
        </p:nvGraphicFramePr>
        <p:xfrm>
          <a:off x="3733800" y="4283472"/>
          <a:ext cx="5181600" cy="2601912"/>
        </p:xfrm>
        <a:graphic>
          <a:graphicData uri="http://schemas.openxmlformats.org/presentationml/2006/ole">
            <mc:AlternateContent xmlns:mc="http://schemas.openxmlformats.org/markup-compatibility/2006">
              <mc:Choice xmlns:v="urn:schemas-microsoft-com:vml" Requires="v">
                <p:oleObj name="Visio" r:id="rId8" imgW="3519221" imgH="1687982" progId="Visio.Drawing.11">
                  <p:embed/>
                </p:oleObj>
              </mc:Choice>
              <mc:Fallback>
                <p:oleObj name="Visio" r:id="rId8" imgW="3519221" imgH="1687982" progId="Visio.Drawing.11">
                  <p:embed/>
                  <p:pic>
                    <p:nvPicPr>
                      <p:cNvPr id="157736"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3800" y="4283472"/>
                        <a:ext cx="5181600" cy="2601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文本框 1">
            <a:extLst>
              <a:ext uri="{FF2B5EF4-FFF2-40B4-BE49-F238E27FC236}">
                <a16:creationId xmlns:a16="http://schemas.microsoft.com/office/drawing/2014/main" id="{67AB836D-8D8B-FB19-0561-218993AC32E5}"/>
              </a:ext>
            </a:extLst>
          </p:cNvPr>
          <p:cNvSpPr txBox="1"/>
          <p:nvPr/>
        </p:nvSpPr>
        <p:spPr>
          <a:xfrm>
            <a:off x="3397226" y="4437113"/>
            <a:ext cx="336575" cy="2246769"/>
          </a:xfrm>
          <a:prstGeom prst="rect">
            <a:avLst/>
          </a:prstGeom>
          <a:noFill/>
        </p:spPr>
        <p:txBody>
          <a:bodyPr wrap="square" rtlCol="0">
            <a:spAutoFit/>
          </a:bodyPr>
          <a:lstStyle/>
          <a:p>
            <a:r>
              <a:rPr lang="en-US" altLang="zh-CN" sz="2000" dirty="0"/>
              <a:t>1</a:t>
            </a:r>
          </a:p>
          <a:p>
            <a:endParaRPr lang="en-US" altLang="zh-CN" sz="2000" dirty="0"/>
          </a:p>
          <a:p>
            <a:endParaRPr lang="en-US" altLang="zh-CN" sz="2000" dirty="0"/>
          </a:p>
          <a:p>
            <a:r>
              <a:rPr lang="en-US" altLang="zh-CN" sz="2000" dirty="0"/>
              <a:t>0</a:t>
            </a:r>
          </a:p>
          <a:p>
            <a:endParaRPr lang="en-US" altLang="zh-CN" sz="2000" dirty="0"/>
          </a:p>
          <a:p>
            <a:endParaRPr lang="en-US" altLang="zh-CN" sz="2000" dirty="0"/>
          </a:p>
          <a:p>
            <a:r>
              <a:rPr lang="en-US" altLang="zh-CN" sz="2000" dirty="0"/>
              <a:t>1</a:t>
            </a:r>
            <a:endParaRPr lang="zh-CN" altLang="en-US" dirty="0"/>
          </a:p>
        </p:txBody>
      </p:sp>
      <p:sp>
        <p:nvSpPr>
          <p:cNvPr id="3" name="文本框 2">
            <a:extLst>
              <a:ext uri="{FF2B5EF4-FFF2-40B4-BE49-F238E27FC236}">
                <a16:creationId xmlns:a16="http://schemas.microsoft.com/office/drawing/2014/main" id="{ED563FD4-7DB1-0D73-9B77-7618A95E4A9E}"/>
              </a:ext>
            </a:extLst>
          </p:cNvPr>
          <p:cNvSpPr txBox="1"/>
          <p:nvPr/>
        </p:nvSpPr>
        <p:spPr>
          <a:xfrm>
            <a:off x="8975438" y="5444485"/>
            <a:ext cx="360040" cy="400110"/>
          </a:xfrm>
          <a:prstGeom prst="rect">
            <a:avLst/>
          </a:prstGeom>
          <a:noFill/>
        </p:spPr>
        <p:txBody>
          <a:bodyPr wrap="square" rtlCol="0">
            <a:spAutoFit/>
          </a:bodyPr>
          <a:lstStyle/>
          <a:p>
            <a:r>
              <a:rPr lang="en-US" altLang="zh-CN" sz="2000" dirty="0"/>
              <a:t>1</a:t>
            </a:r>
            <a:endParaRPr lang="zh-CN" altLang="en-US" sz="2000" dirty="0"/>
          </a:p>
        </p:txBody>
      </p:sp>
      <p:sp>
        <p:nvSpPr>
          <p:cNvPr id="4" name="灯片编号占位符 3">
            <a:extLst>
              <a:ext uri="{FF2B5EF4-FFF2-40B4-BE49-F238E27FC236}">
                <a16:creationId xmlns:a16="http://schemas.microsoft.com/office/drawing/2014/main" id="{B6F71E8E-E707-2B25-2409-77E19682CB4E}"/>
              </a:ext>
            </a:extLst>
          </p:cNvPr>
          <p:cNvSpPr>
            <a:spLocks noGrp="1"/>
          </p:cNvSpPr>
          <p:nvPr>
            <p:ph type="sldNum" sz="quarter" idx="11"/>
          </p:nvPr>
        </p:nvSpPr>
        <p:spPr/>
        <p:txBody>
          <a:bodyPr/>
          <a:lstStyle/>
          <a:p>
            <a:pPr>
              <a:defRPr/>
            </a:pPr>
            <a:fld id="{E0FB5469-1AEB-496D-971A-66705BF2F73C}" type="slidenum">
              <a:rPr lang="en-US" altLang="zh-CN" smtClean="0"/>
              <a:pPr>
                <a:defRPr/>
              </a:pPr>
              <a:t>54</a:t>
            </a:fld>
            <a:endParaRPr lang="en-US" altLang="zh-CN"/>
          </a:p>
        </p:txBody>
      </p:sp>
    </p:spTree>
    <p:extLst>
      <p:ext uri="{BB962C8B-B14F-4D97-AF65-F5344CB8AC3E}">
        <p14:creationId xmlns:p14="http://schemas.microsoft.com/office/powerpoint/2010/main" val="1943251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7708"/>
                                        </p:tgtEl>
                                        <p:attrNameLst>
                                          <p:attrName>style.visibility</p:attrName>
                                        </p:attrNameLst>
                                      </p:cBhvr>
                                      <p:to>
                                        <p:strVal val="visible"/>
                                      </p:to>
                                    </p:set>
                                    <p:animEffect transition="in" filter="fade">
                                      <p:cBhvr>
                                        <p:cTn id="7" dur="500"/>
                                        <p:tgtEl>
                                          <p:spTgt spid="157708"/>
                                        </p:tgtEl>
                                      </p:cBhvr>
                                    </p:animEffect>
                                  </p:childTnLst>
                                </p:cTn>
                              </p:par>
                              <p:par>
                                <p:cTn id="8" presetID="10" presetClass="entr" presetSubtype="0" fill="hold" nodeType="withEffect">
                                  <p:stCondLst>
                                    <p:cond delay="0"/>
                                  </p:stCondLst>
                                  <p:childTnLst>
                                    <p:set>
                                      <p:cBhvr>
                                        <p:cTn id="9" dur="1" fill="hold">
                                          <p:stCondLst>
                                            <p:cond delay="0"/>
                                          </p:stCondLst>
                                        </p:cTn>
                                        <p:tgtEl>
                                          <p:spTgt spid="157702"/>
                                        </p:tgtEl>
                                        <p:attrNameLst>
                                          <p:attrName>style.visibility</p:attrName>
                                        </p:attrNameLst>
                                      </p:cBhvr>
                                      <p:to>
                                        <p:strVal val="visible"/>
                                      </p:to>
                                    </p:set>
                                    <p:animEffect transition="in" filter="fade">
                                      <p:cBhvr>
                                        <p:cTn id="10" dur="500"/>
                                        <p:tgtEl>
                                          <p:spTgt spid="157702"/>
                                        </p:tgtEl>
                                      </p:cBhvr>
                                    </p:animEffect>
                                  </p:childTnLst>
                                </p:cTn>
                              </p:par>
                              <p:par>
                                <p:cTn id="11" presetID="10" presetClass="entr" presetSubtype="0" fill="hold" nodeType="withEffect">
                                  <p:stCondLst>
                                    <p:cond delay="0"/>
                                  </p:stCondLst>
                                  <p:childTnLst>
                                    <p:set>
                                      <p:cBhvr>
                                        <p:cTn id="12" dur="1" fill="hold">
                                          <p:stCondLst>
                                            <p:cond delay="0"/>
                                          </p:stCondLst>
                                        </p:cTn>
                                        <p:tgtEl>
                                          <p:spTgt spid="157703"/>
                                        </p:tgtEl>
                                        <p:attrNameLst>
                                          <p:attrName>style.visibility</p:attrName>
                                        </p:attrNameLst>
                                      </p:cBhvr>
                                      <p:to>
                                        <p:strVal val="visible"/>
                                      </p:to>
                                    </p:set>
                                    <p:animEffect transition="in" filter="fade">
                                      <p:cBhvr>
                                        <p:cTn id="13" dur="500"/>
                                        <p:tgtEl>
                                          <p:spTgt spid="157703"/>
                                        </p:tgtEl>
                                      </p:cBhvr>
                                    </p:animEffect>
                                  </p:childTnLst>
                                </p:cTn>
                              </p:par>
                              <p:par>
                                <p:cTn id="14" presetID="10" presetClass="entr" presetSubtype="0" fill="hold" nodeType="withEffect">
                                  <p:stCondLst>
                                    <p:cond delay="0"/>
                                  </p:stCondLst>
                                  <p:childTnLst>
                                    <p:set>
                                      <p:cBhvr>
                                        <p:cTn id="15" dur="1" fill="hold">
                                          <p:stCondLst>
                                            <p:cond delay="0"/>
                                          </p:stCondLst>
                                        </p:cTn>
                                        <p:tgtEl>
                                          <p:spTgt spid="157704"/>
                                        </p:tgtEl>
                                        <p:attrNameLst>
                                          <p:attrName>style.visibility</p:attrName>
                                        </p:attrNameLst>
                                      </p:cBhvr>
                                      <p:to>
                                        <p:strVal val="visible"/>
                                      </p:to>
                                    </p:set>
                                    <p:animEffect transition="in" filter="fade">
                                      <p:cBhvr>
                                        <p:cTn id="16" dur="500"/>
                                        <p:tgtEl>
                                          <p:spTgt spid="157704"/>
                                        </p:tgtEl>
                                      </p:cBhvr>
                                    </p:animEffect>
                                  </p:childTnLst>
                                </p:cTn>
                              </p:par>
                              <p:par>
                                <p:cTn id="17" presetID="10" presetClass="entr" presetSubtype="0" fill="hold" grpId="0" nodeType="withEffect" nodePh="1">
                                  <p:stCondLst>
                                    <p:cond delay="0"/>
                                  </p:stCondLst>
                                  <p:endCondLst>
                                    <p:cond evt="begin" delay="0">
                                      <p:tn val="17"/>
                                    </p:cond>
                                  </p:endCondLst>
                                  <p:childTnLst>
                                    <p:set>
                                      <p:cBhvr>
                                        <p:cTn id="18" dur="1" fill="hold">
                                          <p:stCondLst>
                                            <p:cond delay="0"/>
                                          </p:stCondLst>
                                        </p:cTn>
                                        <p:tgtEl>
                                          <p:spTgt spid="157705"/>
                                        </p:tgtEl>
                                        <p:attrNameLst>
                                          <p:attrName>style.visibility</p:attrName>
                                        </p:attrNameLst>
                                      </p:cBhvr>
                                      <p:to>
                                        <p:strVal val="visible"/>
                                      </p:to>
                                    </p:set>
                                    <p:animEffect transition="in" filter="fade">
                                      <p:cBhvr>
                                        <p:cTn id="19" dur="500"/>
                                        <p:tgtEl>
                                          <p:spTgt spid="157705"/>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157706"/>
                                        </p:tgtEl>
                                        <p:attrNameLst>
                                          <p:attrName>style.visibility</p:attrName>
                                        </p:attrNameLst>
                                      </p:cBhvr>
                                      <p:to>
                                        <p:strVal val="visible"/>
                                      </p:to>
                                    </p:set>
                                    <p:animEffect transition="in" filter="fade">
                                      <p:cBhvr>
                                        <p:cTn id="22" dur="500"/>
                                        <p:tgtEl>
                                          <p:spTgt spid="157706"/>
                                        </p:tgtEl>
                                      </p:cBhvr>
                                    </p:animEffect>
                                  </p:childTnLst>
                                </p:cTn>
                              </p:par>
                              <p:par>
                                <p:cTn id="23" presetID="10" presetClass="entr" presetSubtype="0" fill="hold" grpId="0" nodeType="withEffect" nodePh="1">
                                  <p:stCondLst>
                                    <p:cond delay="0"/>
                                  </p:stCondLst>
                                  <p:endCondLst>
                                    <p:cond evt="begin" delay="0">
                                      <p:tn val="23"/>
                                    </p:cond>
                                  </p:endCondLst>
                                  <p:childTnLst>
                                    <p:set>
                                      <p:cBhvr>
                                        <p:cTn id="24" dur="1" fill="hold">
                                          <p:stCondLst>
                                            <p:cond delay="0"/>
                                          </p:stCondLst>
                                        </p:cTn>
                                        <p:tgtEl>
                                          <p:spTgt spid="157707"/>
                                        </p:tgtEl>
                                        <p:attrNameLst>
                                          <p:attrName>style.visibility</p:attrName>
                                        </p:attrNameLst>
                                      </p:cBhvr>
                                      <p:to>
                                        <p:strVal val="visible"/>
                                      </p:to>
                                    </p:set>
                                    <p:animEffect transition="in" filter="fade">
                                      <p:cBhvr>
                                        <p:cTn id="25" dur="500"/>
                                        <p:tgtEl>
                                          <p:spTgt spid="157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5" grpId="0"/>
      <p:bldP spid="157706" grpId="0"/>
      <p:bldP spid="15770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2291431" y="173836"/>
            <a:ext cx="8229600" cy="1371600"/>
          </a:xfrm>
        </p:spPr>
        <p:txBody>
          <a:bodyPr/>
          <a:lstStyle/>
          <a:p>
            <a:pPr algn="ctr"/>
            <a:r>
              <a:rPr lang="en-US" altLang="zh-CN" dirty="0">
                <a:solidFill>
                  <a:srgbClr val="008000"/>
                </a:solidFill>
                <a:latin typeface="+mn-lt"/>
              </a:rPr>
              <a:t>BP</a:t>
            </a:r>
            <a:r>
              <a:rPr lang="zh-CN" altLang="en-US" dirty="0">
                <a:solidFill>
                  <a:srgbClr val="008000"/>
                </a:solidFill>
                <a:latin typeface="黑体" panose="02010609060101010101" pitchFamily="49" charset="-122"/>
                <a:ea typeface="黑体" panose="02010609060101010101" pitchFamily="49" charset="-122"/>
              </a:rPr>
              <a:t>网络分类系统训练过程</a:t>
            </a:r>
          </a:p>
        </p:txBody>
      </p:sp>
      <p:sp>
        <p:nvSpPr>
          <p:cNvPr id="158723" name="Rectangle 3"/>
          <p:cNvSpPr>
            <a:spLocks noChangeArrowheads="1"/>
          </p:cNvSpPr>
          <p:nvPr/>
        </p:nvSpPr>
        <p:spPr bwMode="auto">
          <a:xfrm>
            <a:off x="1487488" y="3045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4" name="Rectangle 4"/>
          <p:cNvSpPr>
            <a:spLocks noChangeArrowheads="1"/>
          </p:cNvSpPr>
          <p:nvPr/>
        </p:nvSpPr>
        <p:spPr bwMode="auto">
          <a:xfrm>
            <a:off x="1487488" y="3188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5" name="Rectangle 5"/>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6" name="Rectangle 6"/>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7" name="Rectangle 7"/>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58728" name="Object 8"/>
          <p:cNvGraphicFramePr>
            <a:graphicFrameLocks noChangeAspect="1"/>
          </p:cNvGraphicFramePr>
          <p:nvPr>
            <p:extLst>
              <p:ext uri="{D42A27DB-BD31-4B8C-83A1-F6EECF244321}">
                <p14:modId xmlns:p14="http://schemas.microsoft.com/office/powerpoint/2010/main" val="3590544217"/>
              </p:ext>
            </p:extLst>
          </p:nvPr>
        </p:nvGraphicFramePr>
        <p:xfrm>
          <a:off x="119336" y="1988840"/>
          <a:ext cx="11928648" cy="2133928"/>
        </p:xfrm>
        <a:graphic>
          <a:graphicData uri="http://schemas.openxmlformats.org/presentationml/2006/ole">
            <mc:AlternateContent xmlns:mc="http://schemas.openxmlformats.org/markup-compatibility/2006">
              <mc:Choice xmlns:v="urn:schemas-microsoft-com:vml" Requires="v">
                <p:oleObj name="Visio" r:id="rId2" imgW="7352995" imgH="1194206" progId="Visio.Drawing.11">
                  <p:embed/>
                </p:oleObj>
              </mc:Choice>
              <mc:Fallback>
                <p:oleObj name="Visio" r:id="rId2" imgW="7352995" imgH="1194206" progId="Visio.Drawing.11">
                  <p:embed/>
                  <p:pic>
                    <p:nvPicPr>
                      <p:cNvPr id="15872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36" y="1988840"/>
                        <a:ext cx="11928648" cy="2133928"/>
                      </a:xfrm>
                      <a:prstGeom prst="rect">
                        <a:avLst/>
                      </a:prstGeom>
                      <a:noFill/>
                      <a:ln>
                        <a:noFill/>
                      </a:ln>
                      <a:effectLst/>
                    </p:spPr>
                  </p:pic>
                </p:oleObj>
              </mc:Fallback>
            </mc:AlternateContent>
          </a:graphicData>
        </a:graphic>
      </p:graphicFrame>
      <p:graphicFrame>
        <p:nvGraphicFramePr>
          <p:cNvPr id="158729" name="Group 9"/>
          <p:cNvGraphicFramePr>
            <a:graphicFrameLocks noGrp="1"/>
          </p:cNvGraphicFramePr>
          <p:nvPr/>
        </p:nvGraphicFramePr>
        <p:xfrm>
          <a:off x="2097088" y="1212850"/>
          <a:ext cx="8153400" cy="670560"/>
        </p:xfrm>
        <a:graphic>
          <a:graphicData uri="http://schemas.openxmlformats.org/drawingml/2006/table">
            <a:tbl>
              <a:tblPr/>
              <a:tblGrid>
                <a:gridCol w="735012">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35013">
                  <a:extLst>
                    <a:ext uri="{9D8B030D-6E8A-4147-A177-3AD203B41FA5}">
                      <a16:colId xmlns:a16="http://schemas.microsoft.com/office/drawing/2014/main" val="20002"/>
                    </a:ext>
                  </a:extLst>
                </a:gridCol>
                <a:gridCol w="735012">
                  <a:extLst>
                    <a:ext uri="{9D8B030D-6E8A-4147-A177-3AD203B41FA5}">
                      <a16:colId xmlns:a16="http://schemas.microsoft.com/office/drawing/2014/main" val="20003"/>
                    </a:ext>
                  </a:extLst>
                </a:gridCol>
                <a:gridCol w="747713">
                  <a:extLst>
                    <a:ext uri="{9D8B030D-6E8A-4147-A177-3AD203B41FA5}">
                      <a16:colId xmlns:a16="http://schemas.microsoft.com/office/drawing/2014/main" val="20004"/>
                    </a:ext>
                  </a:extLst>
                </a:gridCol>
                <a:gridCol w="736600">
                  <a:extLst>
                    <a:ext uri="{9D8B030D-6E8A-4147-A177-3AD203B41FA5}">
                      <a16:colId xmlns:a16="http://schemas.microsoft.com/office/drawing/2014/main" val="20005"/>
                    </a:ext>
                  </a:extLst>
                </a:gridCol>
                <a:gridCol w="747712">
                  <a:extLst>
                    <a:ext uri="{9D8B030D-6E8A-4147-A177-3AD203B41FA5}">
                      <a16:colId xmlns:a16="http://schemas.microsoft.com/office/drawing/2014/main" val="20006"/>
                    </a:ext>
                  </a:extLst>
                </a:gridCol>
                <a:gridCol w="747713">
                  <a:extLst>
                    <a:ext uri="{9D8B030D-6E8A-4147-A177-3AD203B41FA5}">
                      <a16:colId xmlns:a16="http://schemas.microsoft.com/office/drawing/2014/main" val="20007"/>
                    </a:ext>
                  </a:extLst>
                </a:gridCol>
                <a:gridCol w="747712">
                  <a:extLst>
                    <a:ext uri="{9D8B030D-6E8A-4147-A177-3AD203B41FA5}">
                      <a16:colId xmlns:a16="http://schemas.microsoft.com/office/drawing/2014/main" val="20008"/>
                    </a:ext>
                  </a:extLst>
                </a:gridCol>
                <a:gridCol w="736600">
                  <a:extLst>
                    <a:ext uri="{9D8B030D-6E8A-4147-A177-3AD203B41FA5}">
                      <a16:colId xmlns:a16="http://schemas.microsoft.com/office/drawing/2014/main" val="20009"/>
                    </a:ext>
                  </a:extLst>
                </a:gridCol>
                <a:gridCol w="735013">
                  <a:extLst>
                    <a:ext uri="{9D8B030D-6E8A-4147-A177-3AD203B41FA5}">
                      <a16:colId xmlns:a16="http://schemas.microsoft.com/office/drawing/2014/main" val="20010"/>
                    </a:ext>
                  </a:extLst>
                </a:gridCol>
              </a:tblGrid>
              <a:tr h="320675">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cap="flat">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438">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cap="flat">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8757" name="Object 37"/>
          <p:cNvGraphicFramePr>
            <a:graphicFrameLocks noChangeAspect="1"/>
          </p:cNvGraphicFramePr>
          <p:nvPr/>
        </p:nvGraphicFramePr>
        <p:xfrm>
          <a:off x="8345488" y="1235075"/>
          <a:ext cx="273050" cy="342900"/>
        </p:xfrm>
        <a:graphic>
          <a:graphicData uri="http://schemas.openxmlformats.org/presentationml/2006/ole">
            <mc:AlternateContent xmlns:mc="http://schemas.openxmlformats.org/markup-compatibility/2006">
              <mc:Choice xmlns:v="urn:schemas-microsoft-com:vml" Requires="v">
                <p:oleObj name="Equation" r:id="rId4" imgW="152334" imgH="190417" progId="Equation.DSMT4">
                  <p:embed/>
                </p:oleObj>
              </mc:Choice>
              <mc:Fallback>
                <p:oleObj name="Equation" r:id="rId4" imgW="152334" imgH="190417" progId="Equation.DSMT4">
                  <p:embed/>
                  <p:pic>
                    <p:nvPicPr>
                      <p:cNvPr id="158757"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5488" y="1235075"/>
                        <a:ext cx="27305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58" name="Object 38"/>
          <p:cNvGraphicFramePr>
            <a:graphicFrameLocks noChangeAspect="1"/>
          </p:cNvGraphicFramePr>
          <p:nvPr/>
        </p:nvGraphicFramePr>
        <p:xfrm>
          <a:off x="9031289" y="1235075"/>
          <a:ext cx="257175" cy="342900"/>
        </p:xfrm>
        <a:graphic>
          <a:graphicData uri="http://schemas.openxmlformats.org/presentationml/2006/ole">
            <mc:AlternateContent xmlns:mc="http://schemas.openxmlformats.org/markup-compatibility/2006">
              <mc:Choice xmlns:v="urn:schemas-microsoft-com:vml" Requires="v">
                <p:oleObj name="Equation" r:id="rId6" imgW="139639" imgH="190417" progId="Equation.DSMT4">
                  <p:embed/>
                </p:oleObj>
              </mc:Choice>
              <mc:Fallback>
                <p:oleObj name="Equation" r:id="rId6" imgW="139639" imgH="190417" progId="Equation.DSMT4">
                  <p:embed/>
                  <p:pic>
                    <p:nvPicPr>
                      <p:cNvPr id="158758"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31289" y="1235075"/>
                        <a:ext cx="2571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59" name="Object 39"/>
          <p:cNvGraphicFramePr>
            <a:graphicFrameLocks noChangeAspect="1"/>
          </p:cNvGraphicFramePr>
          <p:nvPr/>
        </p:nvGraphicFramePr>
        <p:xfrm>
          <a:off x="9731376" y="1196975"/>
          <a:ext cx="366713" cy="381000"/>
        </p:xfrm>
        <a:graphic>
          <a:graphicData uri="http://schemas.openxmlformats.org/presentationml/2006/ole">
            <mc:AlternateContent xmlns:mc="http://schemas.openxmlformats.org/markup-compatibility/2006">
              <mc:Choice xmlns:v="urn:schemas-microsoft-com:vml" Requires="v">
                <p:oleObj name="Equation" r:id="rId8" imgW="152334" imgH="190417" progId="Equation.DSMT4">
                  <p:embed/>
                </p:oleObj>
              </mc:Choice>
              <mc:Fallback>
                <p:oleObj name="Equation" r:id="rId8" imgW="152334" imgH="190417" progId="Equation.DSMT4">
                  <p:embed/>
                  <p:pic>
                    <p:nvPicPr>
                      <p:cNvPr id="158759" name="Object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31376" y="1196975"/>
                        <a:ext cx="36671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40"/>
          <p:cNvGraphicFramePr>
            <a:graphicFrameLocks noChangeAspect="1"/>
          </p:cNvGraphicFramePr>
          <p:nvPr>
            <p:extLst>
              <p:ext uri="{D42A27DB-BD31-4B8C-83A1-F6EECF244321}">
                <p14:modId xmlns:p14="http://schemas.microsoft.com/office/powerpoint/2010/main" val="105145376"/>
              </p:ext>
            </p:extLst>
          </p:nvPr>
        </p:nvGraphicFramePr>
        <p:xfrm>
          <a:off x="3815431" y="4122768"/>
          <a:ext cx="5181600" cy="2762616"/>
        </p:xfrm>
        <a:graphic>
          <a:graphicData uri="http://schemas.openxmlformats.org/presentationml/2006/ole">
            <mc:AlternateContent xmlns:mc="http://schemas.openxmlformats.org/markup-compatibility/2006">
              <mc:Choice xmlns:v="urn:schemas-microsoft-com:vml" Requires="v">
                <p:oleObj name="Visio" r:id="rId10" imgW="3519221" imgH="1687982" progId="Visio.Drawing.11">
                  <p:embed/>
                </p:oleObj>
              </mc:Choice>
              <mc:Fallback>
                <p:oleObj name="Visio" r:id="rId10" imgW="3519221" imgH="1687982" progId="Visio.Drawing.11">
                  <p:embed/>
                  <p:pic>
                    <p:nvPicPr>
                      <p:cNvPr id="15"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15431" y="4122768"/>
                        <a:ext cx="5181600" cy="2762616"/>
                      </a:xfrm>
                      <a:prstGeom prst="rect">
                        <a:avLst/>
                      </a:prstGeom>
                      <a:noFill/>
                      <a:ln>
                        <a:noFill/>
                      </a:ln>
                      <a:effectLst/>
                    </p:spPr>
                  </p:pic>
                </p:oleObj>
              </mc:Fallback>
            </mc:AlternateContent>
          </a:graphicData>
        </a:graphic>
      </p:graphicFrame>
      <p:sp>
        <p:nvSpPr>
          <p:cNvPr id="2" name="文本框 1">
            <a:extLst>
              <a:ext uri="{FF2B5EF4-FFF2-40B4-BE49-F238E27FC236}">
                <a16:creationId xmlns:a16="http://schemas.microsoft.com/office/drawing/2014/main" id="{28C7ECE8-C96E-FC3E-205D-5197990A7158}"/>
              </a:ext>
            </a:extLst>
          </p:cNvPr>
          <p:cNvSpPr txBox="1"/>
          <p:nvPr/>
        </p:nvSpPr>
        <p:spPr>
          <a:xfrm>
            <a:off x="3397226" y="4293097"/>
            <a:ext cx="336575" cy="2246769"/>
          </a:xfrm>
          <a:prstGeom prst="rect">
            <a:avLst/>
          </a:prstGeom>
          <a:noFill/>
        </p:spPr>
        <p:txBody>
          <a:bodyPr wrap="square" rtlCol="0">
            <a:spAutoFit/>
          </a:bodyPr>
          <a:lstStyle/>
          <a:p>
            <a:r>
              <a:rPr lang="en-US" altLang="zh-CN" sz="2000" dirty="0"/>
              <a:t>1</a:t>
            </a:r>
          </a:p>
          <a:p>
            <a:endParaRPr lang="en-US" altLang="zh-CN" sz="2000" dirty="0"/>
          </a:p>
          <a:p>
            <a:endParaRPr lang="en-US" altLang="zh-CN" sz="2000" dirty="0"/>
          </a:p>
          <a:p>
            <a:r>
              <a:rPr lang="en-US" altLang="zh-CN" sz="2000" dirty="0"/>
              <a:t>0</a:t>
            </a:r>
          </a:p>
          <a:p>
            <a:endParaRPr lang="en-US" altLang="zh-CN" sz="2000" dirty="0"/>
          </a:p>
          <a:p>
            <a:endParaRPr lang="en-US" altLang="zh-CN" sz="2000" dirty="0"/>
          </a:p>
          <a:p>
            <a:r>
              <a:rPr lang="en-US" altLang="zh-CN" sz="2000" dirty="0"/>
              <a:t>1</a:t>
            </a:r>
            <a:endParaRPr lang="zh-CN" altLang="en-US" dirty="0"/>
          </a:p>
        </p:txBody>
      </p:sp>
      <p:sp>
        <p:nvSpPr>
          <p:cNvPr id="3" name="文本框 2">
            <a:extLst>
              <a:ext uri="{FF2B5EF4-FFF2-40B4-BE49-F238E27FC236}">
                <a16:creationId xmlns:a16="http://schemas.microsoft.com/office/drawing/2014/main" id="{470B0F05-321F-DAD5-7A65-A4B4860087B1}"/>
              </a:ext>
            </a:extLst>
          </p:cNvPr>
          <p:cNvSpPr txBox="1"/>
          <p:nvPr/>
        </p:nvSpPr>
        <p:spPr>
          <a:xfrm>
            <a:off x="9023604" y="5259972"/>
            <a:ext cx="360040" cy="400110"/>
          </a:xfrm>
          <a:prstGeom prst="rect">
            <a:avLst/>
          </a:prstGeom>
          <a:noFill/>
        </p:spPr>
        <p:txBody>
          <a:bodyPr wrap="square" rtlCol="0">
            <a:spAutoFit/>
          </a:bodyPr>
          <a:lstStyle/>
          <a:p>
            <a:r>
              <a:rPr lang="en-US" altLang="zh-CN" sz="2000" dirty="0"/>
              <a:t>1</a:t>
            </a:r>
            <a:endParaRPr lang="zh-CN" altLang="en-US" sz="2000" dirty="0"/>
          </a:p>
        </p:txBody>
      </p:sp>
      <p:sp>
        <p:nvSpPr>
          <p:cNvPr id="4" name="灯片编号占位符 3">
            <a:extLst>
              <a:ext uri="{FF2B5EF4-FFF2-40B4-BE49-F238E27FC236}">
                <a16:creationId xmlns:a16="http://schemas.microsoft.com/office/drawing/2014/main" id="{FA43A3D7-0198-5254-C51E-1E36CF9F061B}"/>
              </a:ext>
            </a:extLst>
          </p:cNvPr>
          <p:cNvSpPr>
            <a:spLocks noGrp="1"/>
          </p:cNvSpPr>
          <p:nvPr>
            <p:ph type="sldNum" sz="quarter" idx="11"/>
          </p:nvPr>
        </p:nvSpPr>
        <p:spPr/>
        <p:txBody>
          <a:bodyPr/>
          <a:lstStyle/>
          <a:p>
            <a:pPr>
              <a:defRPr/>
            </a:pPr>
            <a:fld id="{E0FB5469-1AEB-496D-971A-66705BF2F73C}" type="slidenum">
              <a:rPr lang="en-US" altLang="zh-CN" smtClean="0"/>
              <a:pPr>
                <a:defRPr/>
              </a:pPr>
              <a:t>55</a:t>
            </a:fld>
            <a:endParaRPr lang="en-US" altLang="zh-CN"/>
          </a:p>
        </p:txBody>
      </p:sp>
    </p:spTree>
    <p:extLst>
      <p:ext uri="{BB962C8B-B14F-4D97-AF65-F5344CB8AC3E}">
        <p14:creationId xmlns:p14="http://schemas.microsoft.com/office/powerpoint/2010/main" val="12856993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8728"/>
                                        </p:tgtEl>
                                        <p:attrNameLst>
                                          <p:attrName>style.visibility</p:attrName>
                                        </p:attrNameLst>
                                      </p:cBhvr>
                                      <p:to>
                                        <p:strVal val="visible"/>
                                      </p:to>
                                    </p:set>
                                    <p:animEffect transition="in" filter="wipe(up)">
                                      <p:cBhvr>
                                        <p:cTn id="7" dur="500"/>
                                        <p:tgtEl>
                                          <p:spTgt spid="158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2291431" y="173836"/>
            <a:ext cx="8229600" cy="1371600"/>
          </a:xfrm>
        </p:spPr>
        <p:txBody>
          <a:bodyPr/>
          <a:lstStyle/>
          <a:p>
            <a:pPr algn="ctr"/>
            <a:r>
              <a:rPr lang="en-US" altLang="zh-CN" dirty="0">
                <a:solidFill>
                  <a:srgbClr val="008000"/>
                </a:solidFill>
                <a:latin typeface="+mn-lt"/>
              </a:rPr>
              <a:t>BP</a:t>
            </a:r>
            <a:r>
              <a:rPr lang="zh-CN" altLang="en-US" dirty="0">
                <a:solidFill>
                  <a:srgbClr val="008000"/>
                </a:solidFill>
                <a:latin typeface="黑体" panose="02010609060101010101" pitchFamily="49" charset="-122"/>
                <a:ea typeface="黑体" panose="02010609060101010101" pitchFamily="49" charset="-122"/>
              </a:rPr>
              <a:t>网络分类系统训练过程</a:t>
            </a:r>
          </a:p>
        </p:txBody>
      </p:sp>
      <p:sp>
        <p:nvSpPr>
          <p:cNvPr id="158723" name="Rectangle 3"/>
          <p:cNvSpPr>
            <a:spLocks noChangeArrowheads="1"/>
          </p:cNvSpPr>
          <p:nvPr/>
        </p:nvSpPr>
        <p:spPr bwMode="auto">
          <a:xfrm>
            <a:off x="1487488" y="3045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4" name="Rectangle 4"/>
          <p:cNvSpPr>
            <a:spLocks noChangeArrowheads="1"/>
          </p:cNvSpPr>
          <p:nvPr/>
        </p:nvSpPr>
        <p:spPr bwMode="auto">
          <a:xfrm>
            <a:off x="1487488" y="3188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5" name="Rectangle 5"/>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6" name="Rectangle 6"/>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7" name="Rectangle 7"/>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58729" name="Group 9"/>
          <p:cNvGraphicFramePr>
            <a:graphicFrameLocks noGrp="1"/>
          </p:cNvGraphicFramePr>
          <p:nvPr/>
        </p:nvGraphicFramePr>
        <p:xfrm>
          <a:off x="2097088" y="1212850"/>
          <a:ext cx="8153400" cy="670560"/>
        </p:xfrm>
        <a:graphic>
          <a:graphicData uri="http://schemas.openxmlformats.org/drawingml/2006/table">
            <a:tbl>
              <a:tblPr/>
              <a:tblGrid>
                <a:gridCol w="735012">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35013">
                  <a:extLst>
                    <a:ext uri="{9D8B030D-6E8A-4147-A177-3AD203B41FA5}">
                      <a16:colId xmlns:a16="http://schemas.microsoft.com/office/drawing/2014/main" val="20002"/>
                    </a:ext>
                  </a:extLst>
                </a:gridCol>
                <a:gridCol w="735012">
                  <a:extLst>
                    <a:ext uri="{9D8B030D-6E8A-4147-A177-3AD203B41FA5}">
                      <a16:colId xmlns:a16="http://schemas.microsoft.com/office/drawing/2014/main" val="20003"/>
                    </a:ext>
                  </a:extLst>
                </a:gridCol>
                <a:gridCol w="747713">
                  <a:extLst>
                    <a:ext uri="{9D8B030D-6E8A-4147-A177-3AD203B41FA5}">
                      <a16:colId xmlns:a16="http://schemas.microsoft.com/office/drawing/2014/main" val="20004"/>
                    </a:ext>
                  </a:extLst>
                </a:gridCol>
                <a:gridCol w="736600">
                  <a:extLst>
                    <a:ext uri="{9D8B030D-6E8A-4147-A177-3AD203B41FA5}">
                      <a16:colId xmlns:a16="http://schemas.microsoft.com/office/drawing/2014/main" val="20005"/>
                    </a:ext>
                  </a:extLst>
                </a:gridCol>
                <a:gridCol w="747712">
                  <a:extLst>
                    <a:ext uri="{9D8B030D-6E8A-4147-A177-3AD203B41FA5}">
                      <a16:colId xmlns:a16="http://schemas.microsoft.com/office/drawing/2014/main" val="20006"/>
                    </a:ext>
                  </a:extLst>
                </a:gridCol>
                <a:gridCol w="747713">
                  <a:extLst>
                    <a:ext uri="{9D8B030D-6E8A-4147-A177-3AD203B41FA5}">
                      <a16:colId xmlns:a16="http://schemas.microsoft.com/office/drawing/2014/main" val="20007"/>
                    </a:ext>
                  </a:extLst>
                </a:gridCol>
                <a:gridCol w="747712">
                  <a:extLst>
                    <a:ext uri="{9D8B030D-6E8A-4147-A177-3AD203B41FA5}">
                      <a16:colId xmlns:a16="http://schemas.microsoft.com/office/drawing/2014/main" val="20008"/>
                    </a:ext>
                  </a:extLst>
                </a:gridCol>
                <a:gridCol w="736600">
                  <a:extLst>
                    <a:ext uri="{9D8B030D-6E8A-4147-A177-3AD203B41FA5}">
                      <a16:colId xmlns:a16="http://schemas.microsoft.com/office/drawing/2014/main" val="20009"/>
                    </a:ext>
                  </a:extLst>
                </a:gridCol>
                <a:gridCol w="735013">
                  <a:extLst>
                    <a:ext uri="{9D8B030D-6E8A-4147-A177-3AD203B41FA5}">
                      <a16:colId xmlns:a16="http://schemas.microsoft.com/office/drawing/2014/main" val="20010"/>
                    </a:ext>
                  </a:extLst>
                </a:gridCol>
              </a:tblGrid>
              <a:tr h="320675">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cap="flat">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438">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cap="flat">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8757" name="Object 37"/>
          <p:cNvGraphicFramePr>
            <a:graphicFrameLocks noChangeAspect="1"/>
          </p:cNvGraphicFramePr>
          <p:nvPr/>
        </p:nvGraphicFramePr>
        <p:xfrm>
          <a:off x="8345488" y="1235075"/>
          <a:ext cx="273050" cy="342900"/>
        </p:xfrm>
        <a:graphic>
          <a:graphicData uri="http://schemas.openxmlformats.org/presentationml/2006/ole">
            <mc:AlternateContent xmlns:mc="http://schemas.openxmlformats.org/markup-compatibility/2006">
              <mc:Choice xmlns:v="urn:schemas-microsoft-com:vml" Requires="v">
                <p:oleObj name="Equation" r:id="rId2" imgW="152334" imgH="190417" progId="Equation.DSMT4">
                  <p:embed/>
                </p:oleObj>
              </mc:Choice>
              <mc:Fallback>
                <p:oleObj name="Equation" r:id="rId2" imgW="152334" imgH="190417" progId="Equation.DSMT4">
                  <p:embed/>
                  <p:pic>
                    <p:nvPicPr>
                      <p:cNvPr id="158757"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5488" y="1235075"/>
                        <a:ext cx="27305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58" name="Object 38"/>
          <p:cNvGraphicFramePr>
            <a:graphicFrameLocks noChangeAspect="1"/>
          </p:cNvGraphicFramePr>
          <p:nvPr/>
        </p:nvGraphicFramePr>
        <p:xfrm>
          <a:off x="9031289" y="1235075"/>
          <a:ext cx="257175" cy="342900"/>
        </p:xfrm>
        <a:graphic>
          <a:graphicData uri="http://schemas.openxmlformats.org/presentationml/2006/ole">
            <mc:AlternateContent xmlns:mc="http://schemas.openxmlformats.org/markup-compatibility/2006">
              <mc:Choice xmlns:v="urn:schemas-microsoft-com:vml" Requires="v">
                <p:oleObj name="Equation" r:id="rId4" imgW="139639" imgH="190417" progId="Equation.DSMT4">
                  <p:embed/>
                </p:oleObj>
              </mc:Choice>
              <mc:Fallback>
                <p:oleObj name="Equation" r:id="rId4" imgW="139639" imgH="190417" progId="Equation.DSMT4">
                  <p:embed/>
                  <p:pic>
                    <p:nvPicPr>
                      <p:cNvPr id="158758"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1289" y="1235075"/>
                        <a:ext cx="2571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59" name="Object 39"/>
          <p:cNvGraphicFramePr>
            <a:graphicFrameLocks noChangeAspect="1"/>
          </p:cNvGraphicFramePr>
          <p:nvPr/>
        </p:nvGraphicFramePr>
        <p:xfrm>
          <a:off x="9731376" y="1196975"/>
          <a:ext cx="366713" cy="381000"/>
        </p:xfrm>
        <a:graphic>
          <a:graphicData uri="http://schemas.openxmlformats.org/presentationml/2006/ole">
            <mc:AlternateContent xmlns:mc="http://schemas.openxmlformats.org/markup-compatibility/2006">
              <mc:Choice xmlns:v="urn:schemas-microsoft-com:vml" Requires="v">
                <p:oleObj name="Equation" r:id="rId6" imgW="152334" imgH="190417" progId="Equation.DSMT4">
                  <p:embed/>
                </p:oleObj>
              </mc:Choice>
              <mc:Fallback>
                <p:oleObj name="Equation" r:id="rId6" imgW="152334" imgH="190417" progId="Equation.DSMT4">
                  <p:embed/>
                  <p:pic>
                    <p:nvPicPr>
                      <p:cNvPr id="158759"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31376" y="1196975"/>
                        <a:ext cx="36671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60" name="Object 40"/>
          <p:cNvGraphicFramePr>
            <a:graphicFrameLocks noChangeAspect="1"/>
          </p:cNvGraphicFramePr>
          <p:nvPr>
            <p:extLst>
              <p:ext uri="{D42A27DB-BD31-4B8C-83A1-F6EECF244321}">
                <p14:modId xmlns:p14="http://schemas.microsoft.com/office/powerpoint/2010/main" val="3168588385"/>
              </p:ext>
            </p:extLst>
          </p:nvPr>
        </p:nvGraphicFramePr>
        <p:xfrm>
          <a:off x="623392" y="1988839"/>
          <a:ext cx="11017223" cy="2246769"/>
        </p:xfrm>
        <a:graphic>
          <a:graphicData uri="http://schemas.openxmlformats.org/presentationml/2006/ole">
            <mc:AlternateContent xmlns:mc="http://schemas.openxmlformats.org/markup-compatibility/2006">
              <mc:Choice xmlns:v="urn:schemas-microsoft-com:vml" Requires="v">
                <p:oleObj name="Visio" r:id="rId8" imgW="8176870" imgH="1466393" progId="Visio.Drawing.11">
                  <p:embed/>
                </p:oleObj>
              </mc:Choice>
              <mc:Fallback>
                <p:oleObj name="Visio" r:id="rId8" imgW="8176870" imgH="1466393" progId="Visio.Drawing.11">
                  <p:embed/>
                  <p:pic>
                    <p:nvPicPr>
                      <p:cNvPr id="158760" name="Object 40"/>
                      <p:cNvPicPr>
                        <a:picLocks noChangeAspect="1" noChangeArrowheads="1"/>
                      </p:cNvPicPr>
                      <p:nvPr/>
                    </p:nvPicPr>
                    <p:blipFill>
                      <a:blip r:embed="rId9">
                        <a:extLst>
                          <a:ext uri="{28A0092B-C50C-407E-A947-70E740481C1C}">
                            <a14:useLocalDpi xmlns:a14="http://schemas.microsoft.com/office/drawing/2010/main" val="0"/>
                          </a:ext>
                        </a:extLst>
                      </a:blip>
                      <a:srcRect r="9610"/>
                      <a:stretch>
                        <a:fillRect/>
                      </a:stretch>
                    </p:blipFill>
                    <p:spPr bwMode="auto">
                      <a:xfrm>
                        <a:off x="623392" y="1988839"/>
                        <a:ext cx="11017223" cy="2246769"/>
                      </a:xfrm>
                      <a:prstGeom prst="rect">
                        <a:avLst/>
                      </a:prstGeom>
                      <a:noFill/>
                      <a:ln>
                        <a:noFill/>
                      </a:ln>
                      <a:effectLst/>
                    </p:spPr>
                  </p:pic>
                </p:oleObj>
              </mc:Fallback>
            </mc:AlternateContent>
          </a:graphicData>
        </a:graphic>
      </p:graphicFrame>
      <p:graphicFrame>
        <p:nvGraphicFramePr>
          <p:cNvPr id="15" name="Object 40"/>
          <p:cNvGraphicFramePr>
            <a:graphicFrameLocks noChangeAspect="1"/>
          </p:cNvGraphicFramePr>
          <p:nvPr>
            <p:extLst>
              <p:ext uri="{D42A27DB-BD31-4B8C-83A1-F6EECF244321}">
                <p14:modId xmlns:p14="http://schemas.microsoft.com/office/powerpoint/2010/main" val="2890363765"/>
              </p:ext>
            </p:extLst>
          </p:nvPr>
        </p:nvGraphicFramePr>
        <p:xfrm>
          <a:off x="3815431" y="4122768"/>
          <a:ext cx="5181600" cy="2735232"/>
        </p:xfrm>
        <a:graphic>
          <a:graphicData uri="http://schemas.openxmlformats.org/presentationml/2006/ole">
            <mc:AlternateContent xmlns:mc="http://schemas.openxmlformats.org/markup-compatibility/2006">
              <mc:Choice xmlns:v="urn:schemas-microsoft-com:vml" Requires="v">
                <p:oleObj name="Visio" r:id="rId10" imgW="3519221" imgH="1687982" progId="Visio.Drawing.11">
                  <p:embed/>
                </p:oleObj>
              </mc:Choice>
              <mc:Fallback>
                <p:oleObj name="Visio" r:id="rId10" imgW="3519221" imgH="1687982" progId="Visio.Drawing.11">
                  <p:embed/>
                  <p:pic>
                    <p:nvPicPr>
                      <p:cNvPr id="15"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15431" y="4122768"/>
                        <a:ext cx="5181600" cy="2735232"/>
                      </a:xfrm>
                      <a:prstGeom prst="rect">
                        <a:avLst/>
                      </a:prstGeom>
                      <a:noFill/>
                      <a:ln>
                        <a:noFill/>
                      </a:ln>
                      <a:effectLst/>
                    </p:spPr>
                  </p:pic>
                </p:oleObj>
              </mc:Fallback>
            </mc:AlternateContent>
          </a:graphicData>
        </a:graphic>
      </p:graphicFrame>
      <p:sp>
        <p:nvSpPr>
          <p:cNvPr id="2" name="文本框 1">
            <a:extLst>
              <a:ext uri="{FF2B5EF4-FFF2-40B4-BE49-F238E27FC236}">
                <a16:creationId xmlns:a16="http://schemas.microsoft.com/office/drawing/2014/main" id="{89E21B7C-7310-747B-C73D-435DD954FFCE}"/>
              </a:ext>
            </a:extLst>
          </p:cNvPr>
          <p:cNvSpPr txBox="1"/>
          <p:nvPr/>
        </p:nvSpPr>
        <p:spPr>
          <a:xfrm>
            <a:off x="3455170" y="4293097"/>
            <a:ext cx="336575" cy="2246769"/>
          </a:xfrm>
          <a:prstGeom prst="rect">
            <a:avLst/>
          </a:prstGeom>
          <a:noFill/>
        </p:spPr>
        <p:txBody>
          <a:bodyPr wrap="square" rtlCol="0">
            <a:spAutoFit/>
          </a:bodyPr>
          <a:lstStyle/>
          <a:p>
            <a:r>
              <a:rPr lang="en-US" altLang="zh-CN" sz="2000" dirty="0"/>
              <a:t>1</a:t>
            </a:r>
          </a:p>
          <a:p>
            <a:endParaRPr lang="en-US" altLang="zh-CN" sz="2000" dirty="0"/>
          </a:p>
          <a:p>
            <a:endParaRPr lang="en-US" altLang="zh-CN" sz="2000" dirty="0"/>
          </a:p>
          <a:p>
            <a:r>
              <a:rPr lang="en-US" altLang="zh-CN" sz="2000" dirty="0"/>
              <a:t>0</a:t>
            </a:r>
          </a:p>
          <a:p>
            <a:endParaRPr lang="en-US" altLang="zh-CN" sz="2000" dirty="0"/>
          </a:p>
          <a:p>
            <a:endParaRPr lang="en-US" altLang="zh-CN" sz="2000" dirty="0"/>
          </a:p>
          <a:p>
            <a:r>
              <a:rPr lang="en-US" altLang="zh-CN" sz="2000" dirty="0"/>
              <a:t>1</a:t>
            </a:r>
            <a:endParaRPr lang="zh-CN" altLang="en-US" dirty="0"/>
          </a:p>
        </p:txBody>
      </p:sp>
      <p:sp>
        <p:nvSpPr>
          <p:cNvPr id="3" name="文本框 2">
            <a:extLst>
              <a:ext uri="{FF2B5EF4-FFF2-40B4-BE49-F238E27FC236}">
                <a16:creationId xmlns:a16="http://schemas.microsoft.com/office/drawing/2014/main" id="{C77031E4-8A94-01E8-68B4-DBBB00099398}"/>
              </a:ext>
            </a:extLst>
          </p:cNvPr>
          <p:cNvSpPr txBox="1"/>
          <p:nvPr/>
        </p:nvSpPr>
        <p:spPr>
          <a:xfrm>
            <a:off x="9023604" y="5259972"/>
            <a:ext cx="360040" cy="400110"/>
          </a:xfrm>
          <a:prstGeom prst="rect">
            <a:avLst/>
          </a:prstGeom>
          <a:noFill/>
        </p:spPr>
        <p:txBody>
          <a:bodyPr wrap="square" rtlCol="0">
            <a:spAutoFit/>
          </a:bodyPr>
          <a:lstStyle/>
          <a:p>
            <a:r>
              <a:rPr lang="en-US" altLang="zh-CN" sz="2000" dirty="0"/>
              <a:t>1</a:t>
            </a:r>
            <a:endParaRPr lang="zh-CN" altLang="en-US" sz="2000" dirty="0"/>
          </a:p>
        </p:txBody>
      </p:sp>
      <p:sp>
        <p:nvSpPr>
          <p:cNvPr id="4" name="灯片编号占位符 3">
            <a:extLst>
              <a:ext uri="{FF2B5EF4-FFF2-40B4-BE49-F238E27FC236}">
                <a16:creationId xmlns:a16="http://schemas.microsoft.com/office/drawing/2014/main" id="{1DD5421C-2377-BDD8-CE34-69414826A3DA}"/>
              </a:ext>
            </a:extLst>
          </p:cNvPr>
          <p:cNvSpPr>
            <a:spLocks noGrp="1"/>
          </p:cNvSpPr>
          <p:nvPr>
            <p:ph type="sldNum" sz="quarter" idx="11"/>
          </p:nvPr>
        </p:nvSpPr>
        <p:spPr/>
        <p:txBody>
          <a:bodyPr/>
          <a:lstStyle/>
          <a:p>
            <a:pPr>
              <a:defRPr/>
            </a:pPr>
            <a:fld id="{E0FB5469-1AEB-496D-971A-66705BF2F73C}" type="slidenum">
              <a:rPr lang="en-US" altLang="zh-CN" smtClean="0"/>
              <a:pPr>
                <a:defRPr/>
              </a:pPr>
              <a:t>56</a:t>
            </a:fld>
            <a:endParaRPr lang="en-US" altLang="zh-CN"/>
          </a:p>
        </p:txBody>
      </p:sp>
    </p:spTree>
    <p:extLst>
      <p:ext uri="{BB962C8B-B14F-4D97-AF65-F5344CB8AC3E}">
        <p14:creationId xmlns:p14="http://schemas.microsoft.com/office/powerpoint/2010/main" val="98874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8760"/>
                                        </p:tgtEl>
                                        <p:attrNameLst>
                                          <p:attrName>style.visibility</p:attrName>
                                        </p:attrNameLst>
                                      </p:cBhvr>
                                      <p:to>
                                        <p:strVal val="visible"/>
                                      </p:to>
                                    </p:set>
                                    <p:animEffect transition="in" filter="wipe(up)">
                                      <p:cBhvr>
                                        <p:cTn id="7" dur="500"/>
                                        <p:tgtEl>
                                          <p:spTgt spid="158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2291431" y="173836"/>
            <a:ext cx="8229600" cy="1371600"/>
          </a:xfrm>
        </p:spPr>
        <p:txBody>
          <a:bodyPr/>
          <a:lstStyle/>
          <a:p>
            <a:pPr algn="ctr"/>
            <a:r>
              <a:rPr lang="en-US" altLang="zh-CN" dirty="0">
                <a:solidFill>
                  <a:srgbClr val="008000"/>
                </a:solidFill>
                <a:latin typeface="+mn-lt"/>
              </a:rPr>
              <a:t>BP</a:t>
            </a:r>
            <a:r>
              <a:rPr lang="zh-CN" altLang="en-US" dirty="0">
                <a:solidFill>
                  <a:srgbClr val="008000"/>
                </a:solidFill>
                <a:latin typeface="黑体" panose="02010609060101010101" pitchFamily="49" charset="-122"/>
                <a:ea typeface="黑体" panose="02010609060101010101" pitchFamily="49" charset="-122"/>
              </a:rPr>
              <a:t>网络分类系统训练过程</a:t>
            </a:r>
          </a:p>
        </p:txBody>
      </p:sp>
      <p:sp>
        <p:nvSpPr>
          <p:cNvPr id="158723" name="Rectangle 3"/>
          <p:cNvSpPr>
            <a:spLocks noChangeArrowheads="1"/>
          </p:cNvSpPr>
          <p:nvPr/>
        </p:nvSpPr>
        <p:spPr bwMode="auto">
          <a:xfrm>
            <a:off x="1487488" y="3045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4" name="Rectangle 4"/>
          <p:cNvSpPr>
            <a:spLocks noChangeArrowheads="1"/>
          </p:cNvSpPr>
          <p:nvPr/>
        </p:nvSpPr>
        <p:spPr bwMode="auto">
          <a:xfrm>
            <a:off x="1487488" y="3188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5" name="Rectangle 5"/>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6" name="Rectangle 6"/>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8727" name="Rectangle 7"/>
          <p:cNvSpPr>
            <a:spLocks noChangeArrowheads="1"/>
          </p:cNvSpPr>
          <p:nvPr/>
        </p:nvSpPr>
        <p:spPr bwMode="auto">
          <a:xfrm>
            <a:off x="3473451" y="31093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58729" name="Group 9"/>
          <p:cNvGraphicFramePr>
            <a:graphicFrameLocks noGrp="1"/>
          </p:cNvGraphicFramePr>
          <p:nvPr>
            <p:extLst>
              <p:ext uri="{D42A27DB-BD31-4B8C-83A1-F6EECF244321}">
                <p14:modId xmlns:p14="http://schemas.microsoft.com/office/powerpoint/2010/main" val="3625873921"/>
              </p:ext>
            </p:extLst>
          </p:nvPr>
        </p:nvGraphicFramePr>
        <p:xfrm>
          <a:off x="1975048" y="1390288"/>
          <a:ext cx="8153400" cy="670560"/>
        </p:xfrm>
        <a:graphic>
          <a:graphicData uri="http://schemas.openxmlformats.org/drawingml/2006/table">
            <a:tbl>
              <a:tblPr/>
              <a:tblGrid>
                <a:gridCol w="735012">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35013">
                  <a:extLst>
                    <a:ext uri="{9D8B030D-6E8A-4147-A177-3AD203B41FA5}">
                      <a16:colId xmlns:a16="http://schemas.microsoft.com/office/drawing/2014/main" val="20002"/>
                    </a:ext>
                  </a:extLst>
                </a:gridCol>
                <a:gridCol w="735012">
                  <a:extLst>
                    <a:ext uri="{9D8B030D-6E8A-4147-A177-3AD203B41FA5}">
                      <a16:colId xmlns:a16="http://schemas.microsoft.com/office/drawing/2014/main" val="20003"/>
                    </a:ext>
                  </a:extLst>
                </a:gridCol>
                <a:gridCol w="747713">
                  <a:extLst>
                    <a:ext uri="{9D8B030D-6E8A-4147-A177-3AD203B41FA5}">
                      <a16:colId xmlns:a16="http://schemas.microsoft.com/office/drawing/2014/main" val="20004"/>
                    </a:ext>
                  </a:extLst>
                </a:gridCol>
                <a:gridCol w="736600">
                  <a:extLst>
                    <a:ext uri="{9D8B030D-6E8A-4147-A177-3AD203B41FA5}">
                      <a16:colId xmlns:a16="http://schemas.microsoft.com/office/drawing/2014/main" val="20005"/>
                    </a:ext>
                  </a:extLst>
                </a:gridCol>
                <a:gridCol w="747712">
                  <a:extLst>
                    <a:ext uri="{9D8B030D-6E8A-4147-A177-3AD203B41FA5}">
                      <a16:colId xmlns:a16="http://schemas.microsoft.com/office/drawing/2014/main" val="20006"/>
                    </a:ext>
                  </a:extLst>
                </a:gridCol>
                <a:gridCol w="747713">
                  <a:extLst>
                    <a:ext uri="{9D8B030D-6E8A-4147-A177-3AD203B41FA5}">
                      <a16:colId xmlns:a16="http://schemas.microsoft.com/office/drawing/2014/main" val="20007"/>
                    </a:ext>
                  </a:extLst>
                </a:gridCol>
                <a:gridCol w="747712">
                  <a:extLst>
                    <a:ext uri="{9D8B030D-6E8A-4147-A177-3AD203B41FA5}">
                      <a16:colId xmlns:a16="http://schemas.microsoft.com/office/drawing/2014/main" val="20008"/>
                    </a:ext>
                  </a:extLst>
                </a:gridCol>
                <a:gridCol w="736600">
                  <a:extLst>
                    <a:ext uri="{9D8B030D-6E8A-4147-A177-3AD203B41FA5}">
                      <a16:colId xmlns:a16="http://schemas.microsoft.com/office/drawing/2014/main" val="20009"/>
                    </a:ext>
                  </a:extLst>
                </a:gridCol>
                <a:gridCol w="735013">
                  <a:extLst>
                    <a:ext uri="{9D8B030D-6E8A-4147-A177-3AD203B41FA5}">
                      <a16:colId xmlns:a16="http://schemas.microsoft.com/office/drawing/2014/main" val="20010"/>
                    </a:ext>
                  </a:extLst>
                </a:gridCol>
              </a:tblGrid>
              <a:tr h="320675">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6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56</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tabLst/>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cap="flat">
                      <a:noFill/>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438">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cap="flat">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spcBef>
                          <a:spcPct val="20000"/>
                        </a:spcBef>
                        <a:buClr>
                          <a:schemeClr val="tx1"/>
                        </a:buClr>
                        <a:buSzPct val="75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rgbClr val="0000FF"/>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a:noFill/>
                    </a:lnL>
                    <a:lnR cap="flat">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8757" name="Object 37"/>
          <p:cNvGraphicFramePr>
            <a:graphicFrameLocks noChangeAspect="1"/>
          </p:cNvGraphicFramePr>
          <p:nvPr>
            <p:extLst>
              <p:ext uri="{D42A27DB-BD31-4B8C-83A1-F6EECF244321}">
                <p14:modId xmlns:p14="http://schemas.microsoft.com/office/powerpoint/2010/main" val="3890135757"/>
              </p:ext>
            </p:extLst>
          </p:nvPr>
        </p:nvGraphicFramePr>
        <p:xfrm>
          <a:off x="8223448" y="1379091"/>
          <a:ext cx="273050" cy="342900"/>
        </p:xfrm>
        <a:graphic>
          <a:graphicData uri="http://schemas.openxmlformats.org/presentationml/2006/ole">
            <mc:AlternateContent xmlns:mc="http://schemas.openxmlformats.org/markup-compatibility/2006">
              <mc:Choice xmlns:v="urn:schemas-microsoft-com:vml" Requires="v">
                <p:oleObj name="Equation" r:id="rId2" imgW="152334" imgH="190417" progId="Equation.DSMT4">
                  <p:embed/>
                </p:oleObj>
              </mc:Choice>
              <mc:Fallback>
                <p:oleObj name="Equation" r:id="rId2" imgW="152334" imgH="190417" progId="Equation.DSMT4">
                  <p:embed/>
                  <p:pic>
                    <p:nvPicPr>
                      <p:cNvPr id="158757"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448" y="1379091"/>
                        <a:ext cx="27305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58" name="Object 38"/>
          <p:cNvGraphicFramePr>
            <a:graphicFrameLocks noChangeAspect="1"/>
          </p:cNvGraphicFramePr>
          <p:nvPr>
            <p:extLst>
              <p:ext uri="{D42A27DB-BD31-4B8C-83A1-F6EECF244321}">
                <p14:modId xmlns:p14="http://schemas.microsoft.com/office/powerpoint/2010/main" val="2928632053"/>
              </p:ext>
            </p:extLst>
          </p:nvPr>
        </p:nvGraphicFramePr>
        <p:xfrm>
          <a:off x="8909249" y="1379091"/>
          <a:ext cx="257175" cy="342900"/>
        </p:xfrm>
        <a:graphic>
          <a:graphicData uri="http://schemas.openxmlformats.org/presentationml/2006/ole">
            <mc:AlternateContent xmlns:mc="http://schemas.openxmlformats.org/markup-compatibility/2006">
              <mc:Choice xmlns:v="urn:schemas-microsoft-com:vml" Requires="v">
                <p:oleObj name="Equation" r:id="rId4" imgW="139639" imgH="190417" progId="Equation.DSMT4">
                  <p:embed/>
                </p:oleObj>
              </mc:Choice>
              <mc:Fallback>
                <p:oleObj name="Equation" r:id="rId4" imgW="139639" imgH="190417" progId="Equation.DSMT4">
                  <p:embed/>
                  <p:pic>
                    <p:nvPicPr>
                      <p:cNvPr id="158758"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9249" y="1379091"/>
                        <a:ext cx="2571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59" name="Object 39"/>
          <p:cNvGraphicFramePr>
            <a:graphicFrameLocks noChangeAspect="1"/>
          </p:cNvGraphicFramePr>
          <p:nvPr>
            <p:extLst>
              <p:ext uri="{D42A27DB-BD31-4B8C-83A1-F6EECF244321}">
                <p14:modId xmlns:p14="http://schemas.microsoft.com/office/powerpoint/2010/main" val="3798235106"/>
              </p:ext>
            </p:extLst>
          </p:nvPr>
        </p:nvGraphicFramePr>
        <p:xfrm>
          <a:off x="9609336" y="1340991"/>
          <a:ext cx="366713" cy="381000"/>
        </p:xfrm>
        <a:graphic>
          <a:graphicData uri="http://schemas.openxmlformats.org/presentationml/2006/ole">
            <mc:AlternateContent xmlns:mc="http://schemas.openxmlformats.org/markup-compatibility/2006">
              <mc:Choice xmlns:v="urn:schemas-microsoft-com:vml" Requires="v">
                <p:oleObj name="Equation" r:id="rId6" imgW="152334" imgH="190417" progId="Equation.DSMT4">
                  <p:embed/>
                </p:oleObj>
              </mc:Choice>
              <mc:Fallback>
                <p:oleObj name="Equation" r:id="rId6" imgW="152334" imgH="190417" progId="Equation.DSMT4">
                  <p:embed/>
                  <p:pic>
                    <p:nvPicPr>
                      <p:cNvPr id="158759"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09336" y="1340991"/>
                        <a:ext cx="36671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8761" name="Object 41"/>
          <p:cNvGraphicFramePr>
            <a:graphicFrameLocks noChangeAspect="1"/>
          </p:cNvGraphicFramePr>
          <p:nvPr>
            <p:extLst>
              <p:ext uri="{D42A27DB-BD31-4B8C-83A1-F6EECF244321}">
                <p14:modId xmlns:p14="http://schemas.microsoft.com/office/powerpoint/2010/main" val="1157576661"/>
              </p:ext>
            </p:extLst>
          </p:nvPr>
        </p:nvGraphicFramePr>
        <p:xfrm>
          <a:off x="550863" y="2110145"/>
          <a:ext cx="11017250" cy="4703405"/>
        </p:xfrm>
        <a:graphic>
          <a:graphicData uri="http://schemas.openxmlformats.org/presentationml/2006/ole">
            <mc:AlternateContent xmlns:mc="http://schemas.openxmlformats.org/markup-compatibility/2006">
              <mc:Choice xmlns:v="urn:schemas-microsoft-com:vml" Requires="v">
                <p:oleObj name="Visio" r:id="rId8" imgW="7352995" imgH="2792273" progId="Visio.Drawing.11">
                  <p:embed/>
                </p:oleObj>
              </mc:Choice>
              <mc:Fallback>
                <p:oleObj name="Visio" r:id="rId8" imgW="7352995" imgH="2792273" progId="Visio.Drawing.11">
                  <p:embed/>
                  <p:pic>
                    <p:nvPicPr>
                      <p:cNvPr id="158761"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0863" y="2110145"/>
                        <a:ext cx="11017250" cy="4703405"/>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0C2BDD38-96C5-D6DE-5A78-3529189DE3FE}"/>
              </a:ext>
            </a:extLst>
          </p:cNvPr>
          <p:cNvSpPr>
            <a:spLocks noGrp="1"/>
          </p:cNvSpPr>
          <p:nvPr>
            <p:ph type="sldNum" sz="quarter" idx="11"/>
          </p:nvPr>
        </p:nvSpPr>
        <p:spPr/>
        <p:txBody>
          <a:bodyPr/>
          <a:lstStyle/>
          <a:p>
            <a:pPr>
              <a:defRPr/>
            </a:pPr>
            <a:fld id="{E0FB5469-1AEB-496D-971A-66705BF2F73C}" type="slidenum">
              <a:rPr lang="en-US" altLang="zh-CN" smtClean="0"/>
              <a:pPr>
                <a:defRPr/>
              </a:pPr>
              <a:t>57</a:t>
            </a:fld>
            <a:endParaRPr lang="en-US" altLang="zh-CN"/>
          </a:p>
        </p:txBody>
      </p:sp>
    </p:spTree>
    <p:extLst>
      <p:ext uri="{BB962C8B-B14F-4D97-AF65-F5344CB8AC3E}">
        <p14:creationId xmlns:p14="http://schemas.microsoft.com/office/powerpoint/2010/main" val="1825433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8761"/>
                                        </p:tgtEl>
                                        <p:attrNameLst>
                                          <p:attrName>style.visibility</p:attrName>
                                        </p:attrNameLst>
                                      </p:cBhvr>
                                      <p:to>
                                        <p:strVal val="visible"/>
                                      </p:to>
                                    </p:set>
                                    <p:anim calcmode="lin" valueType="num">
                                      <p:cBhvr additive="base">
                                        <p:cTn id="7" dur="1000" fill="hold"/>
                                        <p:tgtEl>
                                          <p:spTgt spid="158761"/>
                                        </p:tgtEl>
                                        <p:attrNameLst>
                                          <p:attrName>ppt_x</p:attrName>
                                        </p:attrNameLst>
                                      </p:cBhvr>
                                      <p:tavLst>
                                        <p:tav tm="0">
                                          <p:val>
                                            <p:strVal val="#ppt_x"/>
                                          </p:val>
                                        </p:tav>
                                        <p:tav tm="100000">
                                          <p:val>
                                            <p:strVal val="#ppt_x"/>
                                          </p:val>
                                        </p:tav>
                                      </p:tavLst>
                                    </p:anim>
                                    <p:anim calcmode="lin" valueType="num">
                                      <p:cBhvr additive="base">
                                        <p:cTn id="8" dur="1000" fill="hold"/>
                                        <p:tgtEl>
                                          <p:spTgt spid="1587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title"/>
          </p:nvPr>
        </p:nvSpPr>
        <p:spPr>
          <a:xfrm>
            <a:off x="1992313" y="333375"/>
            <a:ext cx="8229600" cy="1371600"/>
          </a:xfrm>
          <a:noFill/>
        </p:spPr>
        <p:txBody>
          <a:bodyPr/>
          <a:lstStyle/>
          <a:p>
            <a:pPr algn="ctr" eaLnBrk="1" hangingPunct="1"/>
            <a:r>
              <a:rPr lang="en-US" altLang="zh-CN">
                <a:solidFill>
                  <a:srgbClr val="008000"/>
                </a:solidFill>
                <a:latin typeface="黑体" pitchFamily="49" charset="-122"/>
                <a:ea typeface="黑体" pitchFamily="49" charset="-122"/>
              </a:rPr>
              <a:t>BP</a:t>
            </a:r>
            <a:r>
              <a:rPr lang="zh-CN" altLang="en-US">
                <a:solidFill>
                  <a:srgbClr val="008000"/>
                </a:solidFill>
                <a:latin typeface="黑体" pitchFamily="49" charset="-122"/>
                <a:ea typeface="黑体" pitchFamily="49" charset="-122"/>
              </a:rPr>
              <a:t>网络的设计</a:t>
            </a:r>
            <a:br>
              <a:rPr lang="zh-CN" altLang="en-US" sz="4000">
                <a:latin typeface="黑体" pitchFamily="49" charset="-122"/>
                <a:ea typeface="黑体" pitchFamily="49" charset="-122"/>
              </a:rPr>
            </a:br>
            <a:r>
              <a:rPr lang="zh-CN" altLang="en-US" sz="4000">
                <a:latin typeface="黑体" pitchFamily="49" charset="-122"/>
                <a:ea typeface="黑体" pitchFamily="49" charset="-122"/>
              </a:rPr>
              <a:t> </a:t>
            </a:r>
            <a:r>
              <a:rPr lang="zh-CN" altLang="en-US" sz="3200">
                <a:solidFill>
                  <a:schemeClr val="bg2"/>
                </a:solidFill>
                <a:latin typeface="黑体" pitchFamily="49" charset="-122"/>
                <a:ea typeface="黑体" pitchFamily="49" charset="-122"/>
              </a:rPr>
              <a:t>隐含层的神经元数的确定方法</a:t>
            </a:r>
          </a:p>
        </p:txBody>
      </p:sp>
      <p:sp>
        <p:nvSpPr>
          <p:cNvPr id="74754" name="Rectangle 2"/>
          <p:cNvSpPr>
            <a:spLocks noGrp="1" noChangeArrowheads="1"/>
          </p:cNvSpPr>
          <p:nvPr>
            <p:ph type="body" sz="half" idx="1"/>
          </p:nvPr>
        </p:nvSpPr>
        <p:spPr>
          <a:xfrm>
            <a:off x="911424" y="1700214"/>
            <a:ext cx="10585176" cy="5157787"/>
          </a:xfrm>
        </p:spPr>
        <p:txBody>
          <a:bodyPr/>
          <a:lstStyle/>
          <a:p>
            <a:pPr eaLnBrk="1" hangingPunct="1"/>
            <a:r>
              <a:rPr lang="zh-CN" altLang="en-US" dirty="0">
                <a:solidFill>
                  <a:srgbClr val="FF0000"/>
                </a:solidFill>
                <a:latin typeface="黑体" pitchFamily="49" charset="-122"/>
                <a:ea typeface="黑体" pitchFamily="49" charset="-122"/>
              </a:rPr>
              <a:t>借助经验公式</a:t>
            </a:r>
          </a:p>
          <a:p>
            <a:pPr lvl="1" eaLnBrk="1" hangingPunct="1"/>
            <a:r>
              <a:rPr lang="zh-CN" altLang="en-US" sz="3200" dirty="0">
                <a:ea typeface="黑体" pitchFamily="49" charset="-122"/>
              </a:rPr>
              <a:t>设</a:t>
            </a:r>
            <a:r>
              <a:rPr lang="en-US" altLang="zh-CN" sz="3200" i="1" dirty="0">
                <a:ea typeface="黑体" pitchFamily="49" charset="-122"/>
              </a:rPr>
              <a:t>n</a:t>
            </a:r>
            <a:r>
              <a:rPr lang="zh-CN" altLang="en-US" sz="3200" dirty="0">
                <a:ea typeface="黑体" pitchFamily="49" charset="-122"/>
              </a:rPr>
              <a:t>为输入层单元数， </a:t>
            </a:r>
            <a:r>
              <a:rPr lang="en-US" altLang="zh-CN" sz="3200" i="1" dirty="0">
                <a:ea typeface="黑体" pitchFamily="49" charset="-122"/>
              </a:rPr>
              <a:t>m</a:t>
            </a:r>
            <a:r>
              <a:rPr lang="zh-CN" altLang="en-US" sz="3200" dirty="0">
                <a:ea typeface="黑体" pitchFamily="49" charset="-122"/>
              </a:rPr>
              <a:t>为输出层单元数， </a:t>
            </a:r>
            <a:r>
              <a:rPr lang="en-US" altLang="zh-CN" sz="3200" i="1" dirty="0">
                <a:ea typeface="黑体" pitchFamily="49" charset="-122"/>
              </a:rPr>
              <a:t>h</a:t>
            </a:r>
            <a:r>
              <a:rPr lang="zh-CN" altLang="en-US" sz="3200" dirty="0">
                <a:ea typeface="黑体" pitchFamily="49" charset="-122"/>
              </a:rPr>
              <a:t>为隐层单元数， </a:t>
            </a:r>
            <a:r>
              <a:rPr lang="en-US" altLang="zh-CN" sz="3200" i="1" dirty="0">
                <a:ea typeface="黑体" pitchFamily="49" charset="-122"/>
              </a:rPr>
              <a:t>k</a:t>
            </a:r>
            <a:r>
              <a:rPr lang="zh-CN" altLang="en-US" sz="3200" dirty="0">
                <a:ea typeface="黑体" pitchFamily="49" charset="-122"/>
              </a:rPr>
              <a:t>为样本数</a:t>
            </a:r>
            <a:r>
              <a:rPr lang="zh-CN" altLang="en-US" dirty="0">
                <a:ea typeface="黑体" pitchFamily="49" charset="-122"/>
              </a:rPr>
              <a:t>。</a:t>
            </a:r>
          </a:p>
          <a:p>
            <a:pPr lvl="1" eaLnBrk="1" hangingPunct="1"/>
            <a:endParaRPr lang="zh-CN" altLang="en-US" sz="3200" dirty="0">
              <a:ea typeface="黑体" pitchFamily="49" charset="-122"/>
            </a:endParaRPr>
          </a:p>
          <a:p>
            <a:pPr eaLnBrk="1" hangingPunct="1"/>
            <a:endParaRPr lang="zh-CN" altLang="en-US" sz="2800" dirty="0">
              <a:solidFill>
                <a:srgbClr val="FF0000"/>
              </a:solidFill>
              <a:ea typeface="黑体" pitchFamily="49" charset="-122"/>
            </a:endParaRPr>
          </a:p>
          <a:p>
            <a:pPr eaLnBrk="1" hangingPunct="1"/>
            <a:endParaRPr lang="zh-CN" altLang="en-US" sz="2800" dirty="0">
              <a:solidFill>
                <a:srgbClr val="FF0000"/>
              </a:solidFill>
              <a:ea typeface="黑体" pitchFamily="49" charset="-122"/>
            </a:endParaRPr>
          </a:p>
          <a:p>
            <a:pPr lvl="1" eaLnBrk="1" hangingPunct="1"/>
            <a:r>
              <a:rPr lang="zh-CN" altLang="en-US" sz="3200" dirty="0">
                <a:latin typeface="黑体" pitchFamily="49" charset="-122"/>
                <a:ea typeface="黑体" pitchFamily="49" charset="-122"/>
              </a:rPr>
              <a:t>较实际的做法是通过对不同神经元数进行训练对比，然后适当地加上一点余量。</a:t>
            </a:r>
          </a:p>
          <a:p>
            <a:pPr lvl="2" eaLnBrk="1" hangingPunct="1"/>
            <a:r>
              <a:rPr lang="zh-CN" altLang="en-US" sz="3200" dirty="0"/>
              <a:t>如</a:t>
            </a:r>
            <a:r>
              <a:rPr lang="zh-CN" altLang="en-US" sz="3200" b="1" dirty="0">
                <a:solidFill>
                  <a:srgbClr val="FF0000"/>
                </a:solidFill>
                <a:ea typeface="楷体_GB2312" pitchFamily="49" charset="-122"/>
              </a:rPr>
              <a:t>递增法和剪枝法</a:t>
            </a:r>
            <a:r>
              <a:rPr lang="zh-CN" altLang="en-US" sz="2800" dirty="0"/>
              <a:t> </a:t>
            </a:r>
          </a:p>
        </p:txBody>
      </p:sp>
      <p:graphicFrame>
        <p:nvGraphicFramePr>
          <p:cNvPr id="74758" name="Object 6"/>
          <p:cNvGraphicFramePr>
            <a:graphicFrameLocks noGrp="1" noChangeAspect="1"/>
          </p:cNvGraphicFramePr>
          <p:nvPr>
            <p:ph sz="quarter" idx="3"/>
            <p:extLst>
              <p:ext uri="{D42A27DB-BD31-4B8C-83A1-F6EECF244321}">
                <p14:modId xmlns:p14="http://schemas.microsoft.com/office/powerpoint/2010/main" val="3276304537"/>
              </p:ext>
            </p:extLst>
          </p:nvPr>
        </p:nvGraphicFramePr>
        <p:xfrm>
          <a:off x="3019872" y="3429000"/>
          <a:ext cx="5041106" cy="621148"/>
        </p:xfrm>
        <a:graphic>
          <a:graphicData uri="http://schemas.openxmlformats.org/presentationml/2006/ole">
            <mc:AlternateContent xmlns:mc="http://schemas.openxmlformats.org/markup-compatibility/2006">
              <mc:Choice xmlns:v="urn:schemas-microsoft-com:vml" Requires="v">
                <p:oleObj name="公式" r:id="rId3" imgW="1955520" imgH="241200" progId="Equation.3">
                  <p:embed/>
                </p:oleObj>
              </mc:Choice>
              <mc:Fallback>
                <p:oleObj name="公式" r:id="rId3" imgW="1955520" imgH="241200" progId="Equation.3">
                  <p:embed/>
                  <p:pic>
                    <p:nvPicPr>
                      <p:cNvPr id="74758"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9872" y="3429000"/>
                        <a:ext cx="5041106" cy="621148"/>
                      </a:xfrm>
                      <a:prstGeom prst="rect">
                        <a:avLst/>
                      </a:prstGeom>
                      <a:noFill/>
                    </p:spPr>
                  </p:pic>
                </p:oleObj>
              </mc:Fallback>
            </mc:AlternateContent>
          </a:graphicData>
        </a:graphic>
      </p:graphicFrame>
      <p:graphicFrame>
        <p:nvGraphicFramePr>
          <p:cNvPr id="74760" name="Object 8"/>
          <p:cNvGraphicFramePr>
            <a:graphicFrameLocks noChangeAspect="1"/>
          </p:cNvGraphicFramePr>
          <p:nvPr>
            <p:extLst>
              <p:ext uri="{D42A27DB-BD31-4B8C-83A1-F6EECF244321}">
                <p14:modId xmlns:p14="http://schemas.microsoft.com/office/powerpoint/2010/main" val="418611937"/>
              </p:ext>
            </p:extLst>
          </p:nvPr>
        </p:nvGraphicFramePr>
        <p:xfrm>
          <a:off x="3019872" y="4305375"/>
          <a:ext cx="1655763" cy="563562"/>
        </p:xfrm>
        <a:graphic>
          <a:graphicData uri="http://schemas.openxmlformats.org/presentationml/2006/ole">
            <mc:AlternateContent xmlns:mc="http://schemas.openxmlformats.org/markup-compatibility/2006">
              <mc:Choice xmlns:v="urn:schemas-microsoft-com:vml" Requires="v">
                <p:oleObj name="公式" r:id="rId5" imgW="634449" imgH="215713" progId="Equation.3">
                  <p:embed/>
                </p:oleObj>
              </mc:Choice>
              <mc:Fallback>
                <p:oleObj name="公式" r:id="rId5" imgW="634449" imgH="215713" progId="Equation.3">
                  <p:embed/>
                  <p:pic>
                    <p:nvPicPr>
                      <p:cNvPr id="7476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9872" y="4305375"/>
                        <a:ext cx="1655763" cy="56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a:extLst>
              <a:ext uri="{FF2B5EF4-FFF2-40B4-BE49-F238E27FC236}">
                <a16:creationId xmlns:a16="http://schemas.microsoft.com/office/drawing/2014/main" id="{320078D0-B4AD-DB0B-627E-EE56386DE969}"/>
              </a:ext>
            </a:extLst>
          </p:cNvPr>
          <p:cNvSpPr>
            <a:spLocks noGrp="1"/>
          </p:cNvSpPr>
          <p:nvPr>
            <p:ph type="sldNum" sz="quarter" idx="11"/>
          </p:nvPr>
        </p:nvSpPr>
        <p:spPr/>
        <p:txBody>
          <a:bodyPr/>
          <a:lstStyle/>
          <a:p>
            <a:pPr>
              <a:defRPr/>
            </a:pPr>
            <a:fld id="{6E623E09-9292-430A-945A-636A50DBB6F1}" type="slidenum">
              <a:rPr lang="en-US" altLang="zh-CN" smtClean="0"/>
              <a:pPr>
                <a:defRPr/>
              </a:pPr>
              <a:t>58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Effect transition="in" filter="wipe(left)">
                                      <p:cBhvr>
                                        <p:cTn id="7" dur="500"/>
                                        <p:tgtEl>
                                          <p:spTgt spid="7475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4">
                                            <p:txEl>
                                              <p:pRg st="1" end="1"/>
                                            </p:txEl>
                                          </p:spTgt>
                                        </p:tgtEl>
                                        <p:attrNameLst>
                                          <p:attrName>style.visibility</p:attrName>
                                        </p:attrNameLst>
                                      </p:cBhvr>
                                      <p:to>
                                        <p:strVal val="visible"/>
                                      </p:to>
                                    </p:set>
                                    <p:animEffect transition="in" filter="wipe(left)">
                                      <p:cBhvr>
                                        <p:cTn id="12" dur="500"/>
                                        <p:tgtEl>
                                          <p:spTgt spid="7475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4758"/>
                                        </p:tgtEl>
                                        <p:attrNameLst>
                                          <p:attrName>style.visibility</p:attrName>
                                        </p:attrNameLst>
                                      </p:cBhvr>
                                      <p:to>
                                        <p:strVal val="visible"/>
                                      </p:to>
                                    </p:set>
                                    <p:animEffect transition="in" filter="wipe(left)">
                                      <p:cBhvr>
                                        <p:cTn id="17" dur="500"/>
                                        <p:tgtEl>
                                          <p:spTgt spid="747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4760"/>
                                        </p:tgtEl>
                                        <p:attrNameLst>
                                          <p:attrName>style.visibility</p:attrName>
                                        </p:attrNameLst>
                                      </p:cBhvr>
                                      <p:to>
                                        <p:strVal val="visible"/>
                                      </p:to>
                                    </p:set>
                                    <p:animEffect transition="in" filter="wipe(left)">
                                      <p:cBhvr>
                                        <p:cTn id="22" dur="500"/>
                                        <p:tgtEl>
                                          <p:spTgt spid="747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4754">
                                            <p:txEl>
                                              <p:pRg st="5" end="5"/>
                                            </p:txEl>
                                          </p:spTgt>
                                        </p:tgtEl>
                                        <p:attrNameLst>
                                          <p:attrName>style.visibility</p:attrName>
                                        </p:attrNameLst>
                                      </p:cBhvr>
                                      <p:to>
                                        <p:strVal val="visible"/>
                                      </p:to>
                                    </p:set>
                                    <p:animEffect transition="in" filter="wipe(left)">
                                      <p:cBhvr>
                                        <p:cTn id="27" dur="500"/>
                                        <p:tgtEl>
                                          <p:spTgt spid="74754">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4754">
                                            <p:txEl>
                                              <p:pRg st="6" end="6"/>
                                            </p:txEl>
                                          </p:spTgt>
                                        </p:tgtEl>
                                        <p:attrNameLst>
                                          <p:attrName>style.visibility</p:attrName>
                                        </p:attrNameLst>
                                      </p:cBhvr>
                                      <p:to>
                                        <p:strVal val="visible"/>
                                      </p:to>
                                    </p:set>
                                    <p:animEffect transition="in" filter="wipe(left)">
                                      <p:cBhvr>
                                        <p:cTn id="32" dur="500"/>
                                        <p:tgtEl>
                                          <p:spTgt spid="7475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title"/>
          </p:nvPr>
        </p:nvSpPr>
        <p:spPr>
          <a:xfrm>
            <a:off x="1981200" y="457201"/>
            <a:ext cx="8229600" cy="1171575"/>
          </a:xfrm>
          <a:noFill/>
        </p:spPr>
        <p:txBody>
          <a:bodyPr/>
          <a:lstStyle/>
          <a:p>
            <a:pPr algn="ctr" eaLnBrk="1" hangingPunct="1"/>
            <a:r>
              <a:rPr lang="en-US" altLang="zh-CN" sz="4000">
                <a:solidFill>
                  <a:srgbClr val="008000"/>
                </a:solidFill>
                <a:ea typeface="黑体" pitchFamily="49" charset="-122"/>
              </a:rPr>
              <a:t>BP</a:t>
            </a:r>
            <a:r>
              <a:rPr lang="zh-CN" altLang="en-US" sz="4000">
                <a:solidFill>
                  <a:srgbClr val="008000"/>
                </a:solidFill>
                <a:ea typeface="黑体" pitchFamily="49" charset="-122"/>
              </a:rPr>
              <a:t>网络的设计</a:t>
            </a:r>
            <a:br>
              <a:rPr lang="zh-CN" altLang="en-US" sz="4000">
                <a:solidFill>
                  <a:srgbClr val="008000"/>
                </a:solidFill>
                <a:ea typeface="黑体" pitchFamily="49" charset="-122"/>
              </a:rPr>
            </a:br>
            <a:r>
              <a:rPr lang="zh-CN" altLang="en-US" sz="3200">
                <a:solidFill>
                  <a:schemeClr val="bg2"/>
                </a:solidFill>
                <a:ea typeface="黑体" pitchFamily="49" charset="-122"/>
              </a:rPr>
              <a:t>学习速率</a:t>
            </a:r>
          </a:p>
        </p:txBody>
      </p:sp>
      <p:sp>
        <p:nvSpPr>
          <p:cNvPr id="76802" name="Rectangle 2"/>
          <p:cNvSpPr>
            <a:spLocks noGrp="1" noChangeArrowheads="1"/>
          </p:cNvSpPr>
          <p:nvPr>
            <p:ph type="body" sz="half" idx="1"/>
          </p:nvPr>
        </p:nvSpPr>
        <p:spPr>
          <a:xfrm>
            <a:off x="911424" y="1628800"/>
            <a:ext cx="10513168" cy="4687888"/>
          </a:xfrm>
        </p:spPr>
        <p:txBody>
          <a:bodyPr/>
          <a:lstStyle/>
          <a:p>
            <a:pPr eaLnBrk="1" hangingPunct="1">
              <a:lnSpc>
                <a:spcPct val="120000"/>
              </a:lnSpc>
            </a:pPr>
            <a:r>
              <a:rPr lang="zh-CN" altLang="en-US" dirty="0">
                <a:ea typeface="黑体" pitchFamily="49" charset="-122"/>
              </a:rPr>
              <a:t>学习速率决定每一次循环训练中所产生的权值变化量。</a:t>
            </a:r>
          </a:p>
          <a:p>
            <a:pPr eaLnBrk="1" hangingPunct="1">
              <a:lnSpc>
                <a:spcPct val="120000"/>
              </a:lnSpc>
              <a:buFont typeface="Wingdings" pitchFamily="2" charset="2"/>
              <a:buNone/>
            </a:pPr>
            <a:endParaRPr lang="zh-CN" altLang="en-US" dirty="0">
              <a:ea typeface="黑体" pitchFamily="49" charset="-122"/>
            </a:endParaRPr>
          </a:p>
          <a:p>
            <a:pPr lvl="1" eaLnBrk="1" hangingPunct="1">
              <a:lnSpc>
                <a:spcPct val="120000"/>
              </a:lnSpc>
            </a:pPr>
            <a:r>
              <a:rPr lang="zh-CN" altLang="en-US" b="1" dirty="0">
                <a:ea typeface="楷体_GB2312" pitchFamily="49" charset="-122"/>
              </a:rPr>
              <a:t>大的学习速率可能导致系统的不稳定。</a:t>
            </a:r>
          </a:p>
          <a:p>
            <a:pPr lvl="1" eaLnBrk="1" hangingPunct="1">
              <a:lnSpc>
                <a:spcPct val="120000"/>
              </a:lnSpc>
            </a:pPr>
            <a:r>
              <a:rPr lang="zh-CN" altLang="en-US" b="1" dirty="0">
                <a:ea typeface="楷体_GB2312" pitchFamily="49" charset="-122"/>
              </a:rPr>
              <a:t>小的学习速率导致较长的训练时间，可能收敛很慢，不过能保证网络的误差值不跳出误差表面的低谷而最终趋于最小误差值。</a:t>
            </a:r>
          </a:p>
          <a:p>
            <a:pPr eaLnBrk="1" hangingPunct="1">
              <a:lnSpc>
                <a:spcPct val="120000"/>
              </a:lnSpc>
            </a:pPr>
            <a:r>
              <a:rPr lang="zh-CN" altLang="en-US" b="1" dirty="0">
                <a:solidFill>
                  <a:srgbClr val="FF0000"/>
                </a:solidFill>
                <a:ea typeface="楷体_GB2312" pitchFamily="49" charset="-122"/>
              </a:rPr>
              <a:t>所以，在一般情况下，倾向于选取较小的学习速率以保证系统的稳定性。学习速率的选取范围在</a:t>
            </a:r>
            <a:r>
              <a:rPr lang="en-US" altLang="zh-CN" b="1" dirty="0">
                <a:solidFill>
                  <a:srgbClr val="FF0000"/>
                </a:solidFill>
                <a:ea typeface="楷体_GB2312" pitchFamily="49" charset="-122"/>
              </a:rPr>
              <a:t>0.01~0.8</a:t>
            </a:r>
            <a:r>
              <a:rPr lang="zh-CN" altLang="en-US" b="1" dirty="0">
                <a:solidFill>
                  <a:srgbClr val="FF0000"/>
                </a:solidFill>
                <a:ea typeface="楷体_GB2312" pitchFamily="49" charset="-122"/>
              </a:rPr>
              <a:t>之间。</a:t>
            </a:r>
          </a:p>
        </p:txBody>
      </p:sp>
      <p:graphicFrame>
        <p:nvGraphicFramePr>
          <p:cNvPr id="76804" name="Object 4"/>
          <p:cNvGraphicFramePr>
            <a:graphicFrameLocks noGrp="1" noChangeAspect="1"/>
          </p:cNvGraphicFramePr>
          <p:nvPr>
            <p:ph sz="half" idx="2"/>
            <p:extLst>
              <p:ext uri="{D42A27DB-BD31-4B8C-83A1-F6EECF244321}">
                <p14:modId xmlns:p14="http://schemas.microsoft.com/office/powerpoint/2010/main" val="710177930"/>
              </p:ext>
            </p:extLst>
          </p:nvPr>
        </p:nvGraphicFramePr>
        <p:xfrm>
          <a:off x="3863752" y="2348880"/>
          <a:ext cx="2855913" cy="617537"/>
        </p:xfrm>
        <a:graphic>
          <a:graphicData uri="http://schemas.openxmlformats.org/presentationml/2006/ole">
            <mc:AlternateContent xmlns:mc="http://schemas.openxmlformats.org/markup-compatibility/2006">
              <mc:Choice xmlns:v="urn:schemas-microsoft-com:vml" Requires="v">
                <p:oleObj name="Equation" r:id="rId3" imgW="939600" imgH="203040" progId="Equation.DSMT4">
                  <p:embed/>
                </p:oleObj>
              </mc:Choice>
              <mc:Fallback>
                <p:oleObj name="Equation" r:id="rId3" imgW="939600" imgH="203040" progId="Equation.DSMT4">
                  <p:embed/>
                  <p:pic>
                    <p:nvPicPr>
                      <p:cNvPr id="76804" name="Object 4"/>
                      <p:cNvPicPr>
                        <a:picLocks noGrp="1" noChangeAspect="1" noChangeArrowheads="1"/>
                      </p:cNvPicPr>
                      <p:nvPr/>
                    </p:nvPicPr>
                    <p:blipFill>
                      <a:blip r:embed="rId4"/>
                      <a:srcRect/>
                      <a:stretch>
                        <a:fillRect/>
                      </a:stretch>
                    </p:blipFill>
                    <p:spPr bwMode="auto">
                      <a:xfrm>
                        <a:off x="3863752" y="2348880"/>
                        <a:ext cx="2855913" cy="617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a:extLst>
              <a:ext uri="{FF2B5EF4-FFF2-40B4-BE49-F238E27FC236}">
                <a16:creationId xmlns:a16="http://schemas.microsoft.com/office/drawing/2014/main" id="{0BE55DEC-CBE8-FD85-6D8A-5610E18052FA}"/>
              </a:ext>
            </a:extLst>
          </p:cNvPr>
          <p:cNvSpPr>
            <a:spLocks noGrp="1"/>
          </p:cNvSpPr>
          <p:nvPr>
            <p:ph type="sldNum" sz="quarter" idx="11"/>
          </p:nvPr>
        </p:nvSpPr>
        <p:spPr/>
        <p:txBody>
          <a:bodyPr/>
          <a:lstStyle/>
          <a:p>
            <a:pPr>
              <a:defRPr/>
            </a:pPr>
            <a:fld id="{76C4EDA0-D764-474C-A15B-7C3CFCC0E433}" type="slidenum">
              <a:rPr lang="en-US" altLang="zh-CN" smtClean="0"/>
              <a:pPr>
                <a:defRPr/>
              </a:pPr>
              <a:t>59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02">
                                            <p:txEl>
                                              <p:pRg st="0" end="0"/>
                                            </p:txEl>
                                          </p:spTgt>
                                        </p:tgtEl>
                                        <p:attrNameLst>
                                          <p:attrName>style.visibility</p:attrName>
                                        </p:attrNameLst>
                                      </p:cBhvr>
                                      <p:to>
                                        <p:strVal val="visible"/>
                                      </p:to>
                                    </p:set>
                                    <p:animEffect transition="in" filter="wipe(left)">
                                      <p:cBhvr>
                                        <p:cTn id="7" dur="500"/>
                                        <p:tgtEl>
                                          <p:spTgt spid="768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6804"/>
                                        </p:tgtEl>
                                        <p:attrNameLst>
                                          <p:attrName>style.visibility</p:attrName>
                                        </p:attrNameLst>
                                      </p:cBhvr>
                                      <p:to>
                                        <p:strVal val="visible"/>
                                      </p:to>
                                    </p:set>
                                    <p:animEffect transition="in" filter="wipe(left)">
                                      <p:cBhvr>
                                        <p:cTn id="12" dur="500"/>
                                        <p:tgtEl>
                                          <p:spTgt spid="768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802">
                                            <p:txEl>
                                              <p:pRg st="2" end="2"/>
                                            </p:txEl>
                                          </p:spTgt>
                                        </p:tgtEl>
                                        <p:attrNameLst>
                                          <p:attrName>style.visibility</p:attrName>
                                        </p:attrNameLst>
                                      </p:cBhvr>
                                      <p:to>
                                        <p:strVal val="visible"/>
                                      </p:to>
                                    </p:set>
                                    <p:animEffect transition="in" filter="wipe(left)">
                                      <p:cBhvr>
                                        <p:cTn id="17" dur="500"/>
                                        <p:tgtEl>
                                          <p:spTgt spid="7680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802">
                                            <p:txEl>
                                              <p:pRg st="3" end="3"/>
                                            </p:txEl>
                                          </p:spTgt>
                                        </p:tgtEl>
                                        <p:attrNameLst>
                                          <p:attrName>style.visibility</p:attrName>
                                        </p:attrNameLst>
                                      </p:cBhvr>
                                      <p:to>
                                        <p:strVal val="visible"/>
                                      </p:to>
                                    </p:set>
                                    <p:animEffect transition="in" filter="wipe(left)">
                                      <p:cBhvr>
                                        <p:cTn id="22" dur="500"/>
                                        <p:tgtEl>
                                          <p:spTgt spid="7680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6802">
                                            <p:txEl>
                                              <p:pRg st="4" end="4"/>
                                            </p:txEl>
                                          </p:spTgt>
                                        </p:tgtEl>
                                        <p:attrNameLst>
                                          <p:attrName>style.visibility</p:attrName>
                                        </p:attrNameLst>
                                      </p:cBhvr>
                                      <p:to>
                                        <p:strVal val="visible"/>
                                      </p:to>
                                    </p:set>
                                    <p:animEffect transition="in" filter="wipe(left)">
                                      <p:cBhvr>
                                        <p:cTn id="27" dur="500"/>
                                        <p:tgtEl>
                                          <p:spTgt spid="768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lgn="ctr" eaLnBrk="1" hangingPunct="1"/>
            <a:r>
              <a:rPr lang="en-US" altLang="zh-CN" sz="4000" dirty="0">
                <a:solidFill>
                  <a:srgbClr val="008000"/>
                </a:solidFill>
                <a:ea typeface="黑体" pitchFamily="49" charset="-122"/>
              </a:rPr>
              <a:t>BP</a:t>
            </a:r>
            <a:r>
              <a:rPr lang="zh-CN" altLang="en-US" sz="4000" dirty="0">
                <a:solidFill>
                  <a:srgbClr val="008000"/>
                </a:solidFill>
                <a:ea typeface="黑体" pitchFamily="49" charset="-122"/>
              </a:rPr>
              <a:t>网络的设计</a:t>
            </a:r>
            <a:br>
              <a:rPr lang="zh-CN" altLang="en-US" sz="4000" dirty="0">
                <a:solidFill>
                  <a:srgbClr val="008000"/>
                </a:solidFill>
                <a:ea typeface="黑体" pitchFamily="49" charset="-122"/>
              </a:rPr>
            </a:br>
            <a:r>
              <a:rPr lang="zh-CN" altLang="en-US" sz="3200" dirty="0">
                <a:solidFill>
                  <a:schemeClr val="bg2"/>
                </a:solidFill>
                <a:ea typeface="黑体" pitchFamily="49" charset="-122"/>
              </a:rPr>
              <a:t>限制与不足</a:t>
            </a:r>
            <a:r>
              <a:rPr lang="zh-CN" altLang="en-US" sz="4000" dirty="0"/>
              <a:t> </a:t>
            </a:r>
          </a:p>
        </p:txBody>
      </p:sp>
      <p:sp>
        <p:nvSpPr>
          <p:cNvPr id="78851" name="Rectangle 3"/>
          <p:cNvSpPr>
            <a:spLocks noGrp="1" noChangeArrowheads="1"/>
          </p:cNvSpPr>
          <p:nvPr>
            <p:ph type="body" idx="1"/>
          </p:nvPr>
        </p:nvSpPr>
        <p:spPr>
          <a:xfrm>
            <a:off x="1055440" y="1700213"/>
            <a:ext cx="10009112" cy="4876800"/>
          </a:xfrm>
        </p:spPr>
        <p:txBody>
          <a:bodyPr/>
          <a:lstStyle/>
          <a:p>
            <a:pPr eaLnBrk="1" hangingPunct="1">
              <a:lnSpc>
                <a:spcPct val="120000"/>
              </a:lnSpc>
            </a:pPr>
            <a:r>
              <a:rPr lang="zh-CN" altLang="en-US" dirty="0">
                <a:solidFill>
                  <a:srgbClr val="FF0000"/>
                </a:solidFill>
                <a:latin typeface="黑体" pitchFamily="49" charset="-122"/>
                <a:ea typeface="黑体" pitchFamily="49" charset="-122"/>
              </a:rPr>
              <a:t>需要较长的训练时间</a:t>
            </a:r>
            <a:r>
              <a:rPr lang="zh-CN" altLang="en-US" dirty="0">
                <a:latin typeface="黑体" pitchFamily="49" charset="-122"/>
                <a:ea typeface="黑体" pitchFamily="49" charset="-122"/>
              </a:rPr>
              <a:t> </a:t>
            </a:r>
          </a:p>
          <a:p>
            <a:pPr eaLnBrk="1" hangingPunct="1">
              <a:lnSpc>
                <a:spcPct val="120000"/>
              </a:lnSpc>
            </a:pPr>
            <a:r>
              <a:rPr lang="zh-CN" altLang="en-US" dirty="0">
                <a:solidFill>
                  <a:srgbClr val="FF0000"/>
                </a:solidFill>
                <a:latin typeface="黑体" pitchFamily="49" charset="-122"/>
                <a:ea typeface="黑体" pitchFamily="49" charset="-122"/>
              </a:rPr>
              <a:t>完全不能训练</a:t>
            </a:r>
            <a:r>
              <a:rPr lang="zh-CN" altLang="en-US" dirty="0">
                <a:latin typeface="黑体" pitchFamily="49" charset="-122"/>
                <a:ea typeface="黑体" pitchFamily="49" charset="-122"/>
              </a:rPr>
              <a:t> </a:t>
            </a:r>
          </a:p>
          <a:p>
            <a:pPr lvl="1" eaLnBrk="1" hangingPunct="1">
              <a:lnSpc>
                <a:spcPct val="120000"/>
              </a:lnSpc>
            </a:pPr>
            <a:r>
              <a:rPr lang="zh-CN" altLang="en-US" dirty="0">
                <a:latin typeface="黑体" pitchFamily="49" charset="-122"/>
                <a:ea typeface="黑体" pitchFamily="49" charset="-122"/>
              </a:rPr>
              <a:t>通常为了避免这种现象的发生，一是选取较小的初始权值，二是采用较小的学习速率，但这又增加了训练时间。 </a:t>
            </a:r>
          </a:p>
          <a:p>
            <a:pPr eaLnBrk="1" hangingPunct="1">
              <a:lnSpc>
                <a:spcPct val="120000"/>
              </a:lnSpc>
            </a:pPr>
            <a:r>
              <a:rPr lang="zh-CN" altLang="en-US" dirty="0">
                <a:solidFill>
                  <a:srgbClr val="FF0000"/>
                </a:solidFill>
                <a:latin typeface="黑体" pitchFamily="49" charset="-122"/>
                <a:ea typeface="黑体" pitchFamily="49" charset="-122"/>
              </a:rPr>
              <a:t>局部极小值</a:t>
            </a:r>
            <a:r>
              <a:rPr lang="zh-CN" altLang="en-US" dirty="0">
                <a:latin typeface="黑体" pitchFamily="49" charset="-122"/>
                <a:ea typeface="黑体" pitchFamily="49" charset="-122"/>
              </a:rPr>
              <a:t> </a:t>
            </a:r>
          </a:p>
          <a:p>
            <a:pPr lvl="1" eaLnBrk="1" hangingPunct="1">
              <a:lnSpc>
                <a:spcPct val="120000"/>
              </a:lnSpc>
            </a:pPr>
            <a:r>
              <a:rPr lang="en-US" altLang="zh-CN" b="1" dirty="0">
                <a:solidFill>
                  <a:schemeClr val="bg2"/>
                </a:solidFill>
                <a:ea typeface="楷体_GB2312" pitchFamily="49" charset="-122"/>
              </a:rPr>
              <a:t>BP</a:t>
            </a:r>
            <a:r>
              <a:rPr lang="zh-CN" altLang="en-US" b="1" dirty="0">
                <a:solidFill>
                  <a:schemeClr val="bg2"/>
                </a:solidFill>
                <a:ea typeface="楷体_GB2312" pitchFamily="49" charset="-122"/>
              </a:rPr>
              <a:t>算法可以使网络权值收敛到一个解，但它并不能保证所求为误差超平面的全局最小解，很可能是一个局部极小解。</a:t>
            </a:r>
            <a:r>
              <a:rPr lang="zh-CN" altLang="en-US" dirty="0"/>
              <a:t> </a:t>
            </a:r>
          </a:p>
        </p:txBody>
      </p:sp>
      <p:sp>
        <p:nvSpPr>
          <p:cNvPr id="2" name="灯片编号占位符 1">
            <a:extLst>
              <a:ext uri="{FF2B5EF4-FFF2-40B4-BE49-F238E27FC236}">
                <a16:creationId xmlns:a16="http://schemas.microsoft.com/office/drawing/2014/main" id="{00AD1218-F97E-E229-9E96-5FAE4A256CC2}"/>
              </a:ext>
            </a:extLst>
          </p:cNvPr>
          <p:cNvSpPr>
            <a:spLocks noGrp="1"/>
          </p:cNvSpPr>
          <p:nvPr>
            <p:ph type="sldNum" sz="quarter" idx="11"/>
          </p:nvPr>
        </p:nvSpPr>
        <p:spPr/>
        <p:txBody>
          <a:bodyPr/>
          <a:lstStyle/>
          <a:p>
            <a:pPr>
              <a:defRPr/>
            </a:pPr>
            <a:fld id="{E0FB5469-1AEB-496D-971A-66705BF2F73C}" type="slidenum">
              <a:rPr lang="en-US" altLang="zh-CN" smtClean="0"/>
              <a:pPr>
                <a:defRPr/>
              </a:pPr>
              <a:t>60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wipe(left)">
                                      <p:cBhvr>
                                        <p:cTn id="7" dur="500"/>
                                        <p:tgtEl>
                                          <p:spTgt spid="78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851">
                                            <p:txEl>
                                              <p:pRg st="1" end="1"/>
                                            </p:txEl>
                                          </p:spTgt>
                                        </p:tgtEl>
                                        <p:attrNameLst>
                                          <p:attrName>style.visibility</p:attrName>
                                        </p:attrNameLst>
                                      </p:cBhvr>
                                      <p:to>
                                        <p:strVal val="visible"/>
                                      </p:to>
                                    </p:set>
                                    <p:animEffect transition="in" filter="wipe(left)">
                                      <p:cBhvr>
                                        <p:cTn id="12" dur="500"/>
                                        <p:tgtEl>
                                          <p:spTgt spid="788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851">
                                            <p:txEl>
                                              <p:pRg st="2" end="2"/>
                                            </p:txEl>
                                          </p:spTgt>
                                        </p:tgtEl>
                                        <p:attrNameLst>
                                          <p:attrName>style.visibility</p:attrName>
                                        </p:attrNameLst>
                                      </p:cBhvr>
                                      <p:to>
                                        <p:strVal val="visible"/>
                                      </p:to>
                                    </p:set>
                                    <p:animEffect transition="in" filter="wipe(left)">
                                      <p:cBhvr>
                                        <p:cTn id="17" dur="500"/>
                                        <p:tgtEl>
                                          <p:spTgt spid="788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8851">
                                            <p:txEl>
                                              <p:pRg st="3" end="3"/>
                                            </p:txEl>
                                          </p:spTgt>
                                        </p:tgtEl>
                                        <p:attrNameLst>
                                          <p:attrName>style.visibility</p:attrName>
                                        </p:attrNameLst>
                                      </p:cBhvr>
                                      <p:to>
                                        <p:strVal val="visible"/>
                                      </p:to>
                                    </p:set>
                                    <p:animEffect transition="in" filter="wipe(left)">
                                      <p:cBhvr>
                                        <p:cTn id="22" dur="500"/>
                                        <p:tgtEl>
                                          <p:spTgt spid="788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8851">
                                            <p:txEl>
                                              <p:pRg st="4" end="4"/>
                                            </p:txEl>
                                          </p:spTgt>
                                        </p:tgtEl>
                                        <p:attrNameLst>
                                          <p:attrName>style.visibility</p:attrName>
                                        </p:attrNameLst>
                                      </p:cBhvr>
                                      <p:to>
                                        <p:strVal val="visible"/>
                                      </p:to>
                                    </p:set>
                                    <p:animEffect transition="in" filter="wipe(left)">
                                      <p:cBhvr>
                                        <p:cTn id="27" dur="500"/>
                                        <p:tgtEl>
                                          <p:spTgt spid="788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457201"/>
            <a:ext cx="8229600" cy="955675"/>
          </a:xfrm>
        </p:spPr>
        <p:txBody>
          <a:bodyPr/>
          <a:lstStyle/>
          <a:p>
            <a:pPr algn="ctr" eaLnBrk="1" hangingPunct="1"/>
            <a:r>
              <a:rPr lang="en-US" altLang="zh-CN" dirty="0">
                <a:solidFill>
                  <a:srgbClr val="008000"/>
                </a:solidFill>
                <a:ea typeface="黑体" pitchFamily="49" charset="-122"/>
              </a:rPr>
              <a:t>BP</a:t>
            </a:r>
            <a:r>
              <a:rPr lang="zh-CN" altLang="en-US" dirty="0">
                <a:solidFill>
                  <a:srgbClr val="008000"/>
                </a:solidFill>
                <a:ea typeface="黑体" pitchFamily="49" charset="-122"/>
              </a:rPr>
              <a:t>算法的改进方法</a:t>
            </a:r>
            <a:r>
              <a:rPr lang="zh-CN" altLang="en-US" dirty="0"/>
              <a:t> </a:t>
            </a:r>
          </a:p>
        </p:txBody>
      </p:sp>
      <p:sp>
        <p:nvSpPr>
          <p:cNvPr id="79875" name="Rectangle 3"/>
          <p:cNvSpPr>
            <a:spLocks noGrp="1" noChangeArrowheads="1"/>
          </p:cNvSpPr>
          <p:nvPr>
            <p:ph type="body" idx="1"/>
          </p:nvPr>
        </p:nvSpPr>
        <p:spPr>
          <a:xfrm>
            <a:off x="1055440" y="1557338"/>
            <a:ext cx="10081120" cy="5111750"/>
          </a:xfrm>
        </p:spPr>
        <p:txBody>
          <a:bodyPr/>
          <a:lstStyle/>
          <a:p>
            <a:pPr eaLnBrk="1" hangingPunct="1"/>
            <a:r>
              <a:rPr lang="zh-CN" altLang="en-US" dirty="0">
                <a:solidFill>
                  <a:srgbClr val="CC00CC"/>
                </a:solidFill>
                <a:latin typeface="黑体" pitchFamily="49" charset="-122"/>
                <a:ea typeface="黑体" pitchFamily="49" charset="-122"/>
              </a:rPr>
              <a:t>主要目标</a:t>
            </a:r>
            <a:r>
              <a:rPr lang="zh-CN" altLang="en-US" dirty="0">
                <a:solidFill>
                  <a:schemeClr val="bg2"/>
                </a:solidFill>
                <a:latin typeface="黑体" pitchFamily="49" charset="-122"/>
                <a:ea typeface="黑体" pitchFamily="49" charset="-122"/>
              </a:rPr>
              <a:t>是为了加快训练速度，避免陷入局部极小值。</a:t>
            </a:r>
          </a:p>
          <a:p>
            <a:pPr eaLnBrk="1" hangingPunct="1"/>
            <a:r>
              <a:rPr lang="zh-CN" altLang="en-US" dirty="0">
                <a:solidFill>
                  <a:srgbClr val="FF0000"/>
                </a:solidFill>
                <a:latin typeface="黑体" pitchFamily="49" charset="-122"/>
                <a:ea typeface="黑体" pitchFamily="49" charset="-122"/>
              </a:rPr>
              <a:t>附加动量法</a:t>
            </a:r>
          </a:p>
          <a:p>
            <a:pPr lvl="1" eaLnBrk="1" hangingPunct="1"/>
            <a:r>
              <a:rPr lang="zh-CN" altLang="en-US" dirty="0">
                <a:latin typeface="黑体" pitchFamily="49" charset="-122"/>
                <a:ea typeface="黑体" pitchFamily="49" charset="-122"/>
              </a:rPr>
              <a:t>附加动量法使网络在修正其权值时，不仅考虑误差在梯度上的作用，而且考虑在误差曲面上变化趋势的影响，其作用如同一个低通滤波器，它允许网络忽略网络上的微小变化特性。 </a:t>
            </a:r>
          </a:p>
          <a:p>
            <a:pPr lvl="1" eaLnBrk="1" hangingPunct="1"/>
            <a:r>
              <a:rPr lang="zh-CN" altLang="en-US" dirty="0">
                <a:latin typeface="黑体" pitchFamily="49" charset="-122"/>
                <a:ea typeface="黑体" pitchFamily="49" charset="-122"/>
              </a:rPr>
              <a:t>利用附加动量的作用则有可能滑过局部极小值。</a:t>
            </a:r>
          </a:p>
          <a:p>
            <a:pPr eaLnBrk="1" hangingPunct="1"/>
            <a:r>
              <a:rPr kumimoji="1" lang="zh-CN" altLang="en-US" dirty="0">
                <a:solidFill>
                  <a:srgbClr val="FF0000"/>
                </a:solidFill>
                <a:latin typeface="黑体" pitchFamily="49" charset="-122"/>
                <a:ea typeface="黑体" pitchFamily="49" charset="-122"/>
              </a:rPr>
              <a:t>误差函数的改进</a:t>
            </a:r>
          </a:p>
          <a:p>
            <a:pPr eaLnBrk="1" hangingPunct="1"/>
            <a:r>
              <a:rPr kumimoji="1" lang="zh-CN" altLang="en-US" dirty="0">
                <a:solidFill>
                  <a:srgbClr val="FF0000"/>
                </a:solidFill>
                <a:latin typeface="黑体" pitchFamily="49" charset="-122"/>
                <a:ea typeface="黑体" pitchFamily="49" charset="-122"/>
              </a:rPr>
              <a:t>自适应学习速率</a:t>
            </a:r>
          </a:p>
        </p:txBody>
      </p:sp>
      <p:graphicFrame>
        <p:nvGraphicFramePr>
          <p:cNvPr id="2" name="Object 4">
            <a:extLst>
              <a:ext uri="{FF2B5EF4-FFF2-40B4-BE49-F238E27FC236}">
                <a16:creationId xmlns:a16="http://schemas.microsoft.com/office/drawing/2014/main" id="{4EDDE9B7-5961-28F6-BBC9-454473E4899D}"/>
              </a:ext>
            </a:extLst>
          </p:cNvPr>
          <p:cNvGraphicFramePr>
            <a:graphicFrameLocks noChangeAspect="1"/>
          </p:cNvGraphicFramePr>
          <p:nvPr>
            <p:extLst>
              <p:ext uri="{D42A27DB-BD31-4B8C-83A1-F6EECF244321}">
                <p14:modId xmlns:p14="http://schemas.microsoft.com/office/powerpoint/2010/main" val="3604747513"/>
              </p:ext>
            </p:extLst>
          </p:nvPr>
        </p:nvGraphicFramePr>
        <p:xfrm>
          <a:off x="5375920" y="5300429"/>
          <a:ext cx="5547303" cy="1368327"/>
        </p:xfrm>
        <a:graphic>
          <a:graphicData uri="http://schemas.openxmlformats.org/presentationml/2006/ole">
            <mc:AlternateContent xmlns:mc="http://schemas.openxmlformats.org/markup-compatibility/2006">
              <mc:Choice xmlns:v="urn:schemas-microsoft-com:vml" Requires="v">
                <p:oleObj name="Equation" r:id="rId2" imgW="2882880" imgH="711000" progId="Equation.DSMT4">
                  <p:embed/>
                </p:oleObj>
              </mc:Choice>
              <mc:Fallback>
                <p:oleObj name="Equation" r:id="rId2" imgW="2882880" imgH="711000" progId="Equation.DSMT4">
                  <p:embed/>
                  <p:pic>
                    <p:nvPicPr>
                      <p:cNvPr id="74756" name="Object 4"/>
                      <p:cNvPicPr>
                        <a:picLocks noGrp="1" noChangeAspect="1" noChangeArrowheads="1"/>
                      </p:cNvPicPr>
                      <p:nvPr/>
                    </p:nvPicPr>
                    <p:blipFill>
                      <a:blip r:embed="rId3"/>
                      <a:srcRect/>
                      <a:stretch>
                        <a:fillRect/>
                      </a:stretch>
                    </p:blipFill>
                    <p:spPr bwMode="auto">
                      <a:xfrm>
                        <a:off x="5375920" y="5300429"/>
                        <a:ext cx="5547303" cy="1368327"/>
                      </a:xfrm>
                      <a:prstGeom prst="rect">
                        <a:avLst/>
                      </a:prstGeom>
                      <a:solidFill>
                        <a:srgbClr val="FFFF00"/>
                      </a:solidFill>
                    </p:spPr>
                  </p:pic>
                </p:oleObj>
              </mc:Fallback>
            </mc:AlternateContent>
          </a:graphicData>
        </a:graphic>
      </p:graphicFrame>
      <p:sp>
        <p:nvSpPr>
          <p:cNvPr id="3" name="灯片编号占位符 2">
            <a:extLst>
              <a:ext uri="{FF2B5EF4-FFF2-40B4-BE49-F238E27FC236}">
                <a16:creationId xmlns:a16="http://schemas.microsoft.com/office/drawing/2014/main" id="{EEDFE207-B0E4-DB2D-6E89-71FAA3E98790}"/>
              </a:ext>
            </a:extLst>
          </p:cNvPr>
          <p:cNvSpPr>
            <a:spLocks noGrp="1"/>
          </p:cNvSpPr>
          <p:nvPr>
            <p:ph type="sldNum" sz="quarter" idx="11"/>
          </p:nvPr>
        </p:nvSpPr>
        <p:spPr/>
        <p:txBody>
          <a:bodyPr/>
          <a:lstStyle/>
          <a:p>
            <a:pPr>
              <a:defRPr/>
            </a:pPr>
            <a:fld id="{E0FB5469-1AEB-496D-971A-66705BF2F73C}" type="slidenum">
              <a:rPr lang="en-US" altLang="zh-CN" smtClean="0"/>
              <a:pPr>
                <a:defRPr/>
              </a:pPr>
              <a:t>61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wipe(up)">
                                      <p:cBhvr>
                                        <p:cTn id="7" dur="500"/>
                                        <p:tgtEl>
                                          <p:spTgt spid="798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875">
                                            <p:txEl>
                                              <p:pRg st="1" end="1"/>
                                            </p:txEl>
                                          </p:spTgt>
                                        </p:tgtEl>
                                        <p:attrNameLst>
                                          <p:attrName>style.visibility</p:attrName>
                                        </p:attrNameLst>
                                      </p:cBhvr>
                                      <p:to>
                                        <p:strVal val="visible"/>
                                      </p:to>
                                    </p:set>
                                    <p:animEffect transition="in" filter="wipe(up)">
                                      <p:cBhvr>
                                        <p:cTn id="12" dur="500"/>
                                        <p:tgtEl>
                                          <p:spTgt spid="798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Effect transition="in" filter="wipe(up)">
                                      <p:cBhvr>
                                        <p:cTn id="17" dur="500"/>
                                        <p:tgtEl>
                                          <p:spTgt spid="798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9875">
                                            <p:txEl>
                                              <p:pRg st="3" end="3"/>
                                            </p:txEl>
                                          </p:spTgt>
                                        </p:tgtEl>
                                        <p:attrNameLst>
                                          <p:attrName>style.visibility</p:attrName>
                                        </p:attrNameLst>
                                      </p:cBhvr>
                                      <p:to>
                                        <p:strVal val="visible"/>
                                      </p:to>
                                    </p:set>
                                    <p:animEffect transition="in" filter="wipe(up)">
                                      <p:cBhvr>
                                        <p:cTn id="22" dur="500"/>
                                        <p:tgtEl>
                                          <p:spTgt spid="798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9875">
                                            <p:txEl>
                                              <p:pRg st="4" end="4"/>
                                            </p:txEl>
                                          </p:spTgt>
                                        </p:tgtEl>
                                        <p:attrNameLst>
                                          <p:attrName>style.visibility</p:attrName>
                                        </p:attrNameLst>
                                      </p:cBhvr>
                                      <p:to>
                                        <p:strVal val="visible"/>
                                      </p:to>
                                    </p:set>
                                    <p:animEffect transition="in" filter="wipe(up)">
                                      <p:cBhvr>
                                        <p:cTn id="27" dur="500"/>
                                        <p:tgtEl>
                                          <p:spTgt spid="7987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9875">
                                            <p:txEl>
                                              <p:pRg st="5" end="5"/>
                                            </p:txEl>
                                          </p:spTgt>
                                        </p:tgtEl>
                                        <p:attrNameLst>
                                          <p:attrName>style.visibility</p:attrName>
                                        </p:attrNameLst>
                                      </p:cBhvr>
                                      <p:to>
                                        <p:strVal val="visible"/>
                                      </p:to>
                                    </p:set>
                                    <p:animEffect transition="in" filter="wipe(up)">
                                      <p:cBhvr>
                                        <p:cTn id="32" dur="500"/>
                                        <p:tgtEl>
                                          <p:spTgt spid="798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1000"/>
                                        <p:tgtEl>
                                          <p:spTgt spid="2"/>
                                        </p:tgtEl>
                                      </p:cBhvr>
                                    </p:animEffect>
                                    <p:anim calcmode="lin" valueType="num">
                                      <p:cBhvr>
                                        <p:cTn id="38" dur="1000" fill="hold"/>
                                        <p:tgtEl>
                                          <p:spTgt spid="2"/>
                                        </p:tgtEl>
                                        <p:attrNameLst>
                                          <p:attrName>ppt_x</p:attrName>
                                        </p:attrNameLst>
                                      </p:cBhvr>
                                      <p:tavLst>
                                        <p:tav tm="0">
                                          <p:val>
                                            <p:strVal val="#ppt_x"/>
                                          </p:val>
                                        </p:tav>
                                        <p:tav tm="100000">
                                          <p:val>
                                            <p:strVal val="#ppt_x"/>
                                          </p:val>
                                        </p:tav>
                                      </p:tavLst>
                                    </p:anim>
                                    <p:anim calcmode="lin" valueType="num">
                                      <p:cBhvr>
                                        <p:cTn id="3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415481" y="457201"/>
            <a:ext cx="9422060" cy="1027113"/>
          </a:xfrm>
        </p:spPr>
        <p:txBody>
          <a:bodyPr/>
          <a:lstStyle/>
          <a:p>
            <a:pPr eaLnBrk="1" hangingPunct="1"/>
            <a:r>
              <a:rPr lang="zh-CN" altLang="en-US" dirty="0">
                <a:solidFill>
                  <a:srgbClr val="008000"/>
                </a:solidFill>
                <a:ea typeface="黑体" pitchFamily="49" charset="-122"/>
              </a:rPr>
              <a:t>用神经网络方法确定隶属函数举例</a:t>
            </a:r>
            <a:r>
              <a:rPr lang="en-US" altLang="zh-CN" dirty="0">
                <a:solidFill>
                  <a:srgbClr val="008000"/>
                </a:solidFill>
                <a:ea typeface="黑体" pitchFamily="49" charset="-122"/>
              </a:rPr>
              <a:t>1</a:t>
            </a:r>
            <a:endParaRPr lang="zh-CN" altLang="en-US" dirty="0">
              <a:solidFill>
                <a:srgbClr val="008000"/>
              </a:solidFill>
              <a:ea typeface="黑体" pitchFamily="49" charset="-122"/>
            </a:endParaRPr>
          </a:p>
        </p:txBody>
      </p:sp>
      <p:sp>
        <p:nvSpPr>
          <p:cNvPr id="151555" name="Rectangle 3"/>
          <p:cNvSpPr>
            <a:spLocks noGrp="1" noChangeArrowheads="1"/>
          </p:cNvSpPr>
          <p:nvPr>
            <p:ph type="body" sz="half" idx="1"/>
          </p:nvPr>
        </p:nvSpPr>
        <p:spPr>
          <a:xfrm>
            <a:off x="1127448" y="1628775"/>
            <a:ext cx="8856341" cy="3886200"/>
          </a:xfrm>
        </p:spPr>
        <p:txBody>
          <a:bodyPr/>
          <a:lstStyle/>
          <a:p>
            <a:pPr eaLnBrk="1" hangingPunct="1"/>
            <a:r>
              <a:rPr lang="zh-CN" altLang="en-US" b="1" dirty="0">
                <a:ea typeface="楷体_GB2312" pitchFamily="49" charset="-122"/>
              </a:rPr>
              <a:t>用前向神经网络确定“青年人”的隶属函数</a:t>
            </a:r>
          </a:p>
          <a:p>
            <a:pPr eaLnBrk="1" hangingPunct="1"/>
            <a:r>
              <a:rPr lang="zh-CN" altLang="en-US" b="1" dirty="0">
                <a:ea typeface="楷体_GB2312" pitchFamily="49" charset="-122"/>
              </a:rPr>
              <a:t>采用三层</a:t>
            </a:r>
            <a:r>
              <a:rPr lang="en-US" altLang="zh-CN" b="1" dirty="0">
                <a:ea typeface="楷体_GB2312" pitchFamily="49" charset="-122"/>
              </a:rPr>
              <a:t>BP</a:t>
            </a:r>
            <a:r>
              <a:rPr lang="zh-CN" altLang="en-US" b="1" dirty="0">
                <a:ea typeface="楷体_GB2312" pitchFamily="49" charset="-122"/>
              </a:rPr>
              <a:t>网络</a:t>
            </a:r>
          </a:p>
          <a:p>
            <a:pPr lvl="1" eaLnBrk="1" hangingPunct="1"/>
            <a:r>
              <a:rPr lang="zh-CN" altLang="en-US" b="1" dirty="0">
                <a:ea typeface="楷体_GB2312" pitchFamily="49" charset="-122"/>
              </a:rPr>
              <a:t>输入层含</a:t>
            </a:r>
            <a:r>
              <a:rPr lang="en-US" altLang="zh-CN" b="1" dirty="0">
                <a:ea typeface="楷体_GB2312" pitchFamily="49" charset="-122"/>
              </a:rPr>
              <a:t>1</a:t>
            </a:r>
            <a:r>
              <a:rPr lang="zh-CN" altLang="en-US" b="1" dirty="0">
                <a:ea typeface="楷体_GB2312" pitchFamily="49" charset="-122"/>
              </a:rPr>
              <a:t>个单元</a:t>
            </a:r>
          </a:p>
          <a:p>
            <a:pPr lvl="1" eaLnBrk="1" hangingPunct="1"/>
            <a:r>
              <a:rPr lang="zh-CN" altLang="en-US" b="1" dirty="0">
                <a:solidFill>
                  <a:srgbClr val="FF0000"/>
                </a:solidFill>
                <a:ea typeface="楷体_GB2312" pitchFamily="49" charset="-122"/>
              </a:rPr>
              <a:t>隐层含</a:t>
            </a:r>
            <a:r>
              <a:rPr lang="en-US" altLang="zh-CN" b="1" dirty="0">
                <a:solidFill>
                  <a:srgbClr val="FF0000"/>
                </a:solidFill>
                <a:ea typeface="楷体_GB2312" pitchFamily="49" charset="-122"/>
              </a:rPr>
              <a:t>5</a:t>
            </a:r>
            <a:r>
              <a:rPr lang="zh-CN" altLang="en-US" b="1" dirty="0">
                <a:solidFill>
                  <a:srgbClr val="FF0000"/>
                </a:solidFill>
                <a:ea typeface="楷体_GB2312" pitchFamily="49" charset="-122"/>
              </a:rPr>
              <a:t>个单元</a:t>
            </a:r>
          </a:p>
          <a:p>
            <a:pPr lvl="1" eaLnBrk="1" hangingPunct="1"/>
            <a:r>
              <a:rPr lang="zh-CN" altLang="en-US" b="1" dirty="0">
                <a:solidFill>
                  <a:srgbClr val="3333FF"/>
                </a:solidFill>
                <a:ea typeface="楷体_GB2312" pitchFamily="49" charset="-122"/>
              </a:rPr>
              <a:t>输出层含</a:t>
            </a:r>
            <a:r>
              <a:rPr lang="en-US" altLang="zh-CN" b="1" dirty="0">
                <a:solidFill>
                  <a:srgbClr val="3333FF"/>
                </a:solidFill>
                <a:ea typeface="楷体_GB2312" pitchFamily="49" charset="-122"/>
              </a:rPr>
              <a:t>1</a:t>
            </a:r>
            <a:r>
              <a:rPr lang="zh-CN" altLang="en-US" b="1" dirty="0">
                <a:solidFill>
                  <a:srgbClr val="3333FF"/>
                </a:solidFill>
                <a:ea typeface="楷体_GB2312" pitchFamily="49" charset="-122"/>
              </a:rPr>
              <a:t>个单元</a:t>
            </a:r>
          </a:p>
        </p:txBody>
      </p:sp>
      <p:graphicFrame>
        <p:nvGraphicFramePr>
          <p:cNvPr id="151794" name="Group 242"/>
          <p:cNvGraphicFramePr>
            <a:graphicFrameLocks noGrp="1"/>
          </p:cNvGraphicFramePr>
          <p:nvPr>
            <p:ph sz="quarter" idx="3"/>
          </p:nvPr>
        </p:nvGraphicFramePr>
        <p:xfrm>
          <a:off x="6024563" y="2276476"/>
          <a:ext cx="4356100" cy="4389435"/>
        </p:xfrm>
        <a:graphic>
          <a:graphicData uri="http://schemas.openxmlformats.org/drawingml/2006/table">
            <a:tbl>
              <a:tblPr/>
              <a:tblGrid>
                <a:gridCol w="1092200">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tblGrid>
              <a:tr h="36578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楷体_GB2312" pitchFamily="49" charset="-122"/>
                        </a:rPr>
                        <a:t>元素</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EFEFB"/>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楷体_GB2312" pitchFamily="49" charset="-122"/>
                        </a:rPr>
                        <a:t>隶属值</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EFEFB"/>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楷体_GB2312" pitchFamily="49" charset="-122"/>
                        </a:rPr>
                        <a:t>元素</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EFEFB"/>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楷体_GB2312" pitchFamily="49" charset="-122"/>
                        </a:rPr>
                        <a:t>隶属值</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EFEFB"/>
                    </a:solidFill>
                  </a:tcPr>
                </a:tc>
                <a:extLst>
                  <a:ext uri="{0D108BD9-81ED-4DB2-BD59-A6C34878D82A}">
                    <a16:rowId xmlns:a16="http://schemas.microsoft.com/office/drawing/2014/main" val="1000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0.016</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0.798</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15</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0.210</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0.783</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0.395</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28</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0.767</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0.519</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29</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0.620</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18</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0.961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0.597</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19</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0.969</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0.209</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32</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0.209</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21</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0.202</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34</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0.202</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23</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35</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0.202</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24</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36</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0.008</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25</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0.992</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bl>
          </a:graphicData>
        </a:graphic>
      </p:graphicFrame>
      <p:grpSp>
        <p:nvGrpSpPr>
          <p:cNvPr id="151774" name="Group 222"/>
          <p:cNvGrpSpPr>
            <a:grpSpLocks/>
          </p:cNvGrpSpPr>
          <p:nvPr/>
        </p:nvGrpSpPr>
        <p:grpSpPr bwMode="auto">
          <a:xfrm>
            <a:off x="1992313" y="4367039"/>
            <a:ext cx="2952750" cy="2446337"/>
            <a:chOff x="2880" y="2614"/>
            <a:chExt cx="1860" cy="1541"/>
          </a:xfrm>
        </p:grpSpPr>
        <p:sp>
          <p:nvSpPr>
            <p:cNvPr id="44109" name="Oval 223"/>
            <p:cNvSpPr>
              <a:spLocks noChangeArrowheads="1"/>
            </p:cNvSpPr>
            <p:nvPr/>
          </p:nvSpPr>
          <p:spPr bwMode="auto">
            <a:xfrm>
              <a:off x="3107" y="3339"/>
              <a:ext cx="182" cy="18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0" name="Oval 224"/>
            <p:cNvSpPr>
              <a:spLocks noChangeArrowheads="1"/>
            </p:cNvSpPr>
            <p:nvPr/>
          </p:nvSpPr>
          <p:spPr bwMode="auto">
            <a:xfrm>
              <a:off x="3696" y="2614"/>
              <a:ext cx="182" cy="181"/>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1" name="Oval 225"/>
            <p:cNvSpPr>
              <a:spLocks noChangeArrowheads="1"/>
            </p:cNvSpPr>
            <p:nvPr/>
          </p:nvSpPr>
          <p:spPr bwMode="auto">
            <a:xfrm>
              <a:off x="3696" y="2976"/>
              <a:ext cx="182" cy="181"/>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2" name="Oval 226"/>
            <p:cNvSpPr>
              <a:spLocks noChangeArrowheads="1"/>
            </p:cNvSpPr>
            <p:nvPr/>
          </p:nvSpPr>
          <p:spPr bwMode="auto">
            <a:xfrm>
              <a:off x="3696" y="3339"/>
              <a:ext cx="182" cy="181"/>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3" name="Oval 227"/>
            <p:cNvSpPr>
              <a:spLocks noChangeArrowheads="1"/>
            </p:cNvSpPr>
            <p:nvPr/>
          </p:nvSpPr>
          <p:spPr bwMode="auto">
            <a:xfrm>
              <a:off x="3696" y="3657"/>
              <a:ext cx="182" cy="181"/>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4" name="Oval 228"/>
            <p:cNvSpPr>
              <a:spLocks noChangeArrowheads="1"/>
            </p:cNvSpPr>
            <p:nvPr/>
          </p:nvSpPr>
          <p:spPr bwMode="auto">
            <a:xfrm>
              <a:off x="3696" y="3974"/>
              <a:ext cx="182" cy="181"/>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5" name="Oval 229"/>
            <p:cNvSpPr>
              <a:spLocks noChangeArrowheads="1"/>
            </p:cNvSpPr>
            <p:nvPr/>
          </p:nvSpPr>
          <p:spPr bwMode="auto">
            <a:xfrm>
              <a:off x="4332" y="3339"/>
              <a:ext cx="182" cy="181"/>
            </a:xfrm>
            <a:prstGeom prst="ellipse">
              <a:avLst/>
            </a:prstGeom>
            <a:noFill/>
            <a:ln w="2857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6" name="Line 230"/>
            <p:cNvSpPr>
              <a:spLocks noChangeShapeType="1"/>
            </p:cNvSpPr>
            <p:nvPr/>
          </p:nvSpPr>
          <p:spPr bwMode="auto">
            <a:xfrm flipV="1">
              <a:off x="3243" y="2750"/>
              <a:ext cx="453" cy="58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17" name="Line 231"/>
            <p:cNvSpPr>
              <a:spLocks noChangeShapeType="1"/>
            </p:cNvSpPr>
            <p:nvPr/>
          </p:nvSpPr>
          <p:spPr bwMode="auto">
            <a:xfrm flipV="1">
              <a:off x="3288" y="3113"/>
              <a:ext cx="408" cy="27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18" name="Line 232"/>
            <p:cNvSpPr>
              <a:spLocks noChangeShapeType="1"/>
            </p:cNvSpPr>
            <p:nvPr/>
          </p:nvSpPr>
          <p:spPr bwMode="auto">
            <a:xfrm>
              <a:off x="3288" y="3430"/>
              <a:ext cx="40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19" name="Line 233"/>
            <p:cNvSpPr>
              <a:spLocks noChangeShapeType="1"/>
            </p:cNvSpPr>
            <p:nvPr/>
          </p:nvSpPr>
          <p:spPr bwMode="auto">
            <a:xfrm>
              <a:off x="3288" y="3475"/>
              <a:ext cx="408" cy="27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0" name="Line 234"/>
            <p:cNvSpPr>
              <a:spLocks noChangeShapeType="1"/>
            </p:cNvSpPr>
            <p:nvPr/>
          </p:nvSpPr>
          <p:spPr bwMode="auto">
            <a:xfrm>
              <a:off x="3243" y="3521"/>
              <a:ext cx="453" cy="5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1" name="Line 235"/>
            <p:cNvSpPr>
              <a:spLocks noChangeShapeType="1"/>
            </p:cNvSpPr>
            <p:nvPr/>
          </p:nvSpPr>
          <p:spPr bwMode="auto">
            <a:xfrm>
              <a:off x="3878" y="2750"/>
              <a:ext cx="499" cy="58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2" name="Line 236"/>
            <p:cNvSpPr>
              <a:spLocks noChangeShapeType="1"/>
            </p:cNvSpPr>
            <p:nvPr/>
          </p:nvSpPr>
          <p:spPr bwMode="auto">
            <a:xfrm>
              <a:off x="3878" y="3113"/>
              <a:ext cx="453" cy="27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3" name="Line 237"/>
            <p:cNvSpPr>
              <a:spLocks noChangeShapeType="1"/>
            </p:cNvSpPr>
            <p:nvPr/>
          </p:nvSpPr>
          <p:spPr bwMode="auto">
            <a:xfrm>
              <a:off x="3878" y="3430"/>
              <a:ext cx="45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4" name="Line 238"/>
            <p:cNvSpPr>
              <a:spLocks noChangeShapeType="1"/>
            </p:cNvSpPr>
            <p:nvPr/>
          </p:nvSpPr>
          <p:spPr bwMode="auto">
            <a:xfrm flipV="1">
              <a:off x="3878" y="3475"/>
              <a:ext cx="454" cy="27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5" name="Line 239"/>
            <p:cNvSpPr>
              <a:spLocks noChangeShapeType="1"/>
            </p:cNvSpPr>
            <p:nvPr/>
          </p:nvSpPr>
          <p:spPr bwMode="auto">
            <a:xfrm flipV="1">
              <a:off x="3878" y="3521"/>
              <a:ext cx="499" cy="5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6" name="Line 240"/>
            <p:cNvSpPr>
              <a:spLocks noChangeShapeType="1"/>
            </p:cNvSpPr>
            <p:nvPr/>
          </p:nvSpPr>
          <p:spPr bwMode="auto">
            <a:xfrm>
              <a:off x="2880" y="3430"/>
              <a:ext cx="22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27" name="Line 241"/>
            <p:cNvSpPr>
              <a:spLocks noChangeShapeType="1"/>
            </p:cNvSpPr>
            <p:nvPr/>
          </p:nvSpPr>
          <p:spPr bwMode="auto">
            <a:xfrm>
              <a:off x="4513" y="3430"/>
              <a:ext cx="22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a:extLst>
              <a:ext uri="{FF2B5EF4-FFF2-40B4-BE49-F238E27FC236}">
                <a16:creationId xmlns:a16="http://schemas.microsoft.com/office/drawing/2014/main" id="{01A8EF08-9267-DF9D-0482-08C6360B00C7}"/>
              </a:ext>
            </a:extLst>
          </p:cNvPr>
          <p:cNvSpPr>
            <a:spLocks noGrp="1"/>
          </p:cNvSpPr>
          <p:nvPr>
            <p:ph type="sldNum" sz="quarter" idx="11"/>
          </p:nvPr>
        </p:nvSpPr>
        <p:spPr/>
        <p:txBody>
          <a:bodyPr/>
          <a:lstStyle/>
          <a:p>
            <a:pPr>
              <a:defRPr/>
            </a:pPr>
            <a:fld id="{6E623E09-9292-430A-945A-636A50DBB6F1}" type="slidenum">
              <a:rPr lang="en-US" altLang="zh-CN" smtClean="0"/>
              <a:pPr>
                <a:defRPr/>
              </a:pPr>
              <a:t>62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Effect transition="in" filter="wipe(left)">
                                      <p:cBhvr>
                                        <p:cTn id="7" dur="500"/>
                                        <p:tgtEl>
                                          <p:spTgt spid="151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1794"/>
                                        </p:tgtEl>
                                        <p:attrNameLst>
                                          <p:attrName>style.visibility</p:attrName>
                                        </p:attrNameLst>
                                      </p:cBhvr>
                                      <p:to>
                                        <p:strVal val="visible"/>
                                      </p:to>
                                    </p:set>
                                    <p:animEffect transition="in" filter="wipe(up)">
                                      <p:cBhvr>
                                        <p:cTn id="12" dur="500"/>
                                        <p:tgtEl>
                                          <p:spTgt spid="1517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51555">
                                            <p:txEl>
                                              <p:pRg st="1" end="1"/>
                                            </p:txEl>
                                          </p:spTgt>
                                        </p:tgtEl>
                                        <p:attrNameLst>
                                          <p:attrName>style.visibility</p:attrName>
                                        </p:attrNameLst>
                                      </p:cBhvr>
                                      <p:to>
                                        <p:strVal val="visible"/>
                                      </p:to>
                                    </p:set>
                                    <p:animEffect transition="in" filter="wipe(left)">
                                      <p:cBhvr>
                                        <p:cTn id="17" dur="500"/>
                                        <p:tgtEl>
                                          <p:spTgt spid="15155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1555">
                                            <p:txEl>
                                              <p:pRg st="2" end="2"/>
                                            </p:txEl>
                                          </p:spTgt>
                                        </p:tgtEl>
                                        <p:attrNameLst>
                                          <p:attrName>style.visibility</p:attrName>
                                        </p:attrNameLst>
                                      </p:cBhvr>
                                      <p:to>
                                        <p:strVal val="visible"/>
                                      </p:to>
                                    </p:set>
                                    <p:animEffect transition="in" filter="wipe(left)">
                                      <p:cBhvr>
                                        <p:cTn id="22" dur="500"/>
                                        <p:tgtEl>
                                          <p:spTgt spid="15155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1555">
                                            <p:txEl>
                                              <p:pRg st="3" end="3"/>
                                            </p:txEl>
                                          </p:spTgt>
                                        </p:tgtEl>
                                        <p:attrNameLst>
                                          <p:attrName>style.visibility</p:attrName>
                                        </p:attrNameLst>
                                      </p:cBhvr>
                                      <p:to>
                                        <p:strVal val="visible"/>
                                      </p:to>
                                    </p:set>
                                    <p:animEffect transition="in" filter="wipe(left)">
                                      <p:cBhvr>
                                        <p:cTn id="27" dur="500"/>
                                        <p:tgtEl>
                                          <p:spTgt spid="15155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1555">
                                            <p:txEl>
                                              <p:pRg st="4" end="4"/>
                                            </p:txEl>
                                          </p:spTgt>
                                        </p:tgtEl>
                                        <p:attrNameLst>
                                          <p:attrName>style.visibility</p:attrName>
                                        </p:attrNameLst>
                                      </p:cBhvr>
                                      <p:to>
                                        <p:strVal val="visible"/>
                                      </p:to>
                                    </p:set>
                                    <p:animEffect transition="in" filter="wipe(left)">
                                      <p:cBhvr>
                                        <p:cTn id="32" dur="500"/>
                                        <p:tgtEl>
                                          <p:spTgt spid="15155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51774"/>
                                        </p:tgtEl>
                                        <p:attrNameLst>
                                          <p:attrName>style.visibility</p:attrName>
                                        </p:attrNameLst>
                                      </p:cBhvr>
                                      <p:to>
                                        <p:strVal val="visible"/>
                                      </p:to>
                                    </p:set>
                                    <p:anim calcmode="lin" valueType="num">
                                      <p:cBhvr additive="base">
                                        <p:cTn id="37" dur="500" fill="hold"/>
                                        <p:tgtEl>
                                          <p:spTgt spid="151774"/>
                                        </p:tgtEl>
                                        <p:attrNameLst>
                                          <p:attrName>ppt_x</p:attrName>
                                        </p:attrNameLst>
                                      </p:cBhvr>
                                      <p:tavLst>
                                        <p:tav tm="0">
                                          <p:val>
                                            <p:strVal val="#ppt_x"/>
                                          </p:val>
                                        </p:tav>
                                        <p:tav tm="100000">
                                          <p:val>
                                            <p:strVal val="#ppt_x"/>
                                          </p:val>
                                        </p:tav>
                                      </p:tavLst>
                                    </p:anim>
                                    <p:anim calcmode="lin" valueType="num">
                                      <p:cBhvr additive="base">
                                        <p:cTn id="38" dur="500" fill="hold"/>
                                        <p:tgtEl>
                                          <p:spTgt spid="1517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631504" y="457201"/>
            <a:ext cx="9145016" cy="955675"/>
          </a:xfrm>
        </p:spPr>
        <p:txBody>
          <a:bodyPr/>
          <a:lstStyle/>
          <a:p>
            <a:pPr eaLnBrk="1" hangingPunct="1"/>
            <a:r>
              <a:rPr lang="zh-CN" altLang="en-US" dirty="0">
                <a:solidFill>
                  <a:srgbClr val="008000"/>
                </a:solidFill>
                <a:ea typeface="黑体" pitchFamily="49" charset="-122"/>
              </a:rPr>
              <a:t>用神经网络方法确定隶属函数举例</a:t>
            </a:r>
            <a:r>
              <a:rPr lang="en-US" altLang="zh-CN" dirty="0">
                <a:solidFill>
                  <a:srgbClr val="008000"/>
                </a:solidFill>
                <a:ea typeface="黑体" pitchFamily="49" charset="-122"/>
              </a:rPr>
              <a:t>1</a:t>
            </a:r>
            <a:endParaRPr lang="zh-CN" altLang="en-US" dirty="0">
              <a:solidFill>
                <a:srgbClr val="008000"/>
              </a:solidFill>
              <a:ea typeface="黑体" pitchFamily="49" charset="-122"/>
            </a:endParaRPr>
          </a:p>
        </p:txBody>
      </p:sp>
      <p:sp>
        <p:nvSpPr>
          <p:cNvPr id="135392" name="Rectangle 224"/>
          <p:cNvSpPr>
            <a:spLocks noChangeArrowheads="1"/>
          </p:cNvSpPr>
          <p:nvPr/>
        </p:nvSpPr>
        <p:spPr bwMode="auto">
          <a:xfrm>
            <a:off x="1451745" y="2007533"/>
            <a:ext cx="8280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t>p = 14:36;</a:t>
            </a:r>
          </a:p>
          <a:p>
            <a:r>
              <a:rPr lang="en-US" altLang="zh-CN" sz="2400" dirty="0"/>
              <a:t>t=[0.02 0.21 0.40 0.52 0.96 0.97 1 1 1 1 1 0.99 0.8 0.78 0.77 0.62 0.6 0.21 0.21 0.2  0.2  0.2 0.01];</a:t>
            </a:r>
          </a:p>
          <a:p>
            <a:r>
              <a:rPr lang="en-US" altLang="zh-CN" sz="2400" dirty="0"/>
              <a:t>net = </a:t>
            </a:r>
            <a:r>
              <a:rPr lang="en-US" altLang="zh-CN" sz="2400" dirty="0" err="1"/>
              <a:t>newff</a:t>
            </a:r>
            <a:r>
              <a:rPr lang="en-US" altLang="zh-CN" sz="2400" dirty="0"/>
              <a:t>([14 36],[5 1],{'</a:t>
            </a:r>
            <a:r>
              <a:rPr lang="en-US" altLang="zh-CN" sz="2400" dirty="0" err="1"/>
              <a:t>tansig</a:t>
            </a:r>
            <a:r>
              <a:rPr lang="en-US" altLang="zh-CN" sz="2400" dirty="0"/>
              <a:t>' '</a:t>
            </a:r>
            <a:r>
              <a:rPr lang="en-US" altLang="zh-CN" sz="2400" dirty="0" err="1"/>
              <a:t>purelin</a:t>
            </a:r>
            <a:r>
              <a:rPr lang="en-US" altLang="zh-CN" sz="2400" dirty="0"/>
              <a:t>'},'</a:t>
            </a:r>
            <a:r>
              <a:rPr lang="en-US" altLang="zh-CN" sz="2400" dirty="0" err="1"/>
              <a:t>trainlm</a:t>
            </a:r>
            <a:r>
              <a:rPr lang="en-US" altLang="zh-CN" sz="2400" dirty="0"/>
              <a:t>');</a:t>
            </a:r>
          </a:p>
          <a:p>
            <a:r>
              <a:rPr lang="en-US" altLang="zh-CN" sz="2400" dirty="0" err="1"/>
              <a:t>net.trainParam.epochs</a:t>
            </a:r>
            <a:r>
              <a:rPr lang="en-US" altLang="zh-CN" sz="2400" dirty="0"/>
              <a:t> = 50;</a:t>
            </a:r>
          </a:p>
          <a:p>
            <a:r>
              <a:rPr lang="en-US" altLang="zh-CN" sz="2400" dirty="0" err="1"/>
              <a:t>net.trainParam.goal</a:t>
            </a:r>
            <a:r>
              <a:rPr lang="en-US" altLang="zh-CN" sz="2400" dirty="0"/>
              <a:t> = 0.001;</a:t>
            </a:r>
          </a:p>
          <a:p>
            <a:r>
              <a:rPr lang="en-US" altLang="zh-CN" sz="2400" dirty="0"/>
              <a:t>net = train(</a:t>
            </a:r>
            <a:r>
              <a:rPr lang="en-US" altLang="zh-CN" sz="2400" dirty="0" err="1"/>
              <a:t>net,p,t</a:t>
            </a:r>
            <a:r>
              <a:rPr lang="en-US" altLang="zh-CN" sz="2400" dirty="0"/>
              <a:t>);</a:t>
            </a:r>
          </a:p>
          <a:p>
            <a:r>
              <a:rPr lang="en-US" altLang="zh-CN" sz="2400" dirty="0"/>
              <a:t>figure(1);</a:t>
            </a:r>
          </a:p>
          <a:p>
            <a:r>
              <a:rPr lang="en-US" altLang="zh-CN" sz="2400" dirty="0"/>
              <a:t>hold on</a:t>
            </a:r>
          </a:p>
          <a:p>
            <a:r>
              <a:rPr lang="en-US" altLang="zh-CN" sz="2400" dirty="0"/>
              <a:t>y = sim(</a:t>
            </a:r>
            <a:r>
              <a:rPr lang="en-US" altLang="zh-CN" sz="2400" dirty="0" err="1"/>
              <a:t>net,p</a:t>
            </a:r>
            <a:r>
              <a:rPr lang="en-US" altLang="zh-CN" sz="2400" dirty="0"/>
              <a:t>);</a:t>
            </a:r>
          </a:p>
          <a:p>
            <a:r>
              <a:rPr lang="en-US" altLang="zh-CN" sz="2400" dirty="0"/>
              <a:t>plot(p,t,'r','LineWidth',3);</a:t>
            </a:r>
          </a:p>
          <a:p>
            <a:r>
              <a:rPr lang="en-US" altLang="zh-CN" sz="2400" dirty="0"/>
              <a:t>plot(p,y,'b','LineWidth',2);</a:t>
            </a:r>
          </a:p>
        </p:txBody>
      </p:sp>
      <p:pic>
        <p:nvPicPr>
          <p:cNvPr id="135393" name="Picture 2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055" y="3429001"/>
            <a:ext cx="4847669"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395" name="Text Box 227"/>
          <p:cNvSpPr txBox="1">
            <a:spLocks noChangeArrowheads="1"/>
          </p:cNvSpPr>
          <p:nvPr/>
        </p:nvSpPr>
        <p:spPr bwMode="auto">
          <a:xfrm>
            <a:off x="10331054" y="3429000"/>
            <a:ext cx="1824880" cy="2031325"/>
          </a:xfrm>
          <a:prstGeom prst="rect">
            <a:avLst/>
          </a:prstGeom>
          <a:solidFill>
            <a:srgbClr val="BEFE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400" b="1" dirty="0">
                <a:solidFill>
                  <a:srgbClr val="FF0000"/>
                </a:solidFill>
                <a:ea typeface="楷体_GB2312" pitchFamily="49" charset="-122"/>
              </a:rPr>
              <a:t>目标曲线</a:t>
            </a:r>
          </a:p>
          <a:p>
            <a:pPr eaLnBrk="1" hangingPunct="1">
              <a:spcBef>
                <a:spcPct val="50000"/>
              </a:spcBef>
            </a:pPr>
            <a:r>
              <a:rPr lang="zh-CN" altLang="en-US" sz="2400" b="1" dirty="0">
                <a:solidFill>
                  <a:srgbClr val="3333FF"/>
                </a:solidFill>
                <a:ea typeface="楷体_GB2312" pitchFamily="49" charset="-122"/>
              </a:rPr>
              <a:t>拟合曲线</a:t>
            </a:r>
          </a:p>
          <a:p>
            <a:pPr eaLnBrk="1" hangingPunct="1">
              <a:spcBef>
                <a:spcPct val="50000"/>
              </a:spcBef>
            </a:pPr>
            <a:r>
              <a:rPr lang="zh-CN" altLang="en-US" sz="2400" b="1" dirty="0">
                <a:ea typeface="楷体_GB2312" pitchFamily="49" charset="-122"/>
              </a:rPr>
              <a:t>误差</a:t>
            </a:r>
            <a:r>
              <a:rPr lang="en-US" altLang="zh-CN" sz="2400" b="1" dirty="0">
                <a:ea typeface="楷体_GB2312" pitchFamily="49" charset="-122"/>
              </a:rPr>
              <a:t>&lt;0.001</a:t>
            </a:r>
          </a:p>
          <a:p>
            <a:pPr eaLnBrk="1" hangingPunct="1">
              <a:spcBef>
                <a:spcPct val="50000"/>
              </a:spcBef>
            </a:pPr>
            <a:r>
              <a:rPr lang="zh-CN" altLang="en-US" sz="2000" b="1" dirty="0">
                <a:ea typeface="楷体_GB2312" pitchFamily="49" charset="-122"/>
              </a:rPr>
              <a:t>训练步数</a:t>
            </a:r>
            <a:r>
              <a:rPr lang="en-US" altLang="zh-CN" sz="2000" b="1" dirty="0">
                <a:ea typeface="楷体_GB2312" pitchFamily="49" charset="-122"/>
              </a:rPr>
              <a:t>&lt;50</a:t>
            </a:r>
          </a:p>
        </p:txBody>
      </p:sp>
      <p:sp>
        <p:nvSpPr>
          <p:cNvPr id="135396" name="Text Box 228"/>
          <p:cNvSpPr txBox="1">
            <a:spLocks noChangeArrowheads="1"/>
          </p:cNvSpPr>
          <p:nvPr/>
        </p:nvSpPr>
        <p:spPr bwMode="auto">
          <a:xfrm>
            <a:off x="1127448" y="1484313"/>
            <a:ext cx="51844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800" b="1" dirty="0">
                <a:solidFill>
                  <a:schemeClr val="bg2"/>
                </a:solidFill>
                <a:ea typeface="楷体_GB2312" pitchFamily="49" charset="-122"/>
              </a:rPr>
              <a:t>用</a:t>
            </a:r>
            <a:r>
              <a:rPr lang="en-US" altLang="zh-CN" sz="2800" b="1" dirty="0">
                <a:solidFill>
                  <a:schemeClr val="bg2"/>
                </a:solidFill>
                <a:ea typeface="楷体_GB2312" pitchFamily="49" charset="-122"/>
              </a:rPr>
              <a:t>BP</a:t>
            </a:r>
            <a:r>
              <a:rPr lang="zh-CN" altLang="en-US" sz="2800" b="1" dirty="0">
                <a:solidFill>
                  <a:schemeClr val="bg2"/>
                </a:solidFill>
                <a:ea typeface="楷体_GB2312" pitchFamily="49" charset="-122"/>
              </a:rPr>
              <a:t>网络拟合的</a:t>
            </a:r>
            <a:r>
              <a:rPr lang="en-US" altLang="zh-CN" sz="2800" b="1" dirty="0" err="1">
                <a:solidFill>
                  <a:schemeClr val="bg2"/>
                </a:solidFill>
                <a:ea typeface="楷体_GB2312" pitchFamily="49" charset="-122"/>
              </a:rPr>
              <a:t>Matlab</a:t>
            </a:r>
            <a:r>
              <a:rPr lang="zh-CN" altLang="en-US" sz="2800" b="1" dirty="0">
                <a:solidFill>
                  <a:schemeClr val="bg2"/>
                </a:solidFill>
                <a:ea typeface="楷体_GB2312" pitchFamily="49" charset="-122"/>
              </a:rPr>
              <a:t>程序</a:t>
            </a:r>
          </a:p>
        </p:txBody>
      </p:sp>
      <p:sp>
        <p:nvSpPr>
          <p:cNvPr id="2" name="灯片编号占位符 1">
            <a:extLst>
              <a:ext uri="{FF2B5EF4-FFF2-40B4-BE49-F238E27FC236}">
                <a16:creationId xmlns:a16="http://schemas.microsoft.com/office/drawing/2014/main" id="{CD2710CD-7530-B01E-21ED-945739771598}"/>
              </a:ext>
            </a:extLst>
          </p:cNvPr>
          <p:cNvSpPr>
            <a:spLocks noGrp="1"/>
          </p:cNvSpPr>
          <p:nvPr>
            <p:ph type="sldNum" sz="quarter" idx="11"/>
          </p:nvPr>
        </p:nvSpPr>
        <p:spPr/>
        <p:txBody>
          <a:bodyPr/>
          <a:lstStyle/>
          <a:p>
            <a:pPr>
              <a:defRPr/>
            </a:pPr>
            <a:fld id="{76C4EDA0-D764-474C-A15B-7C3CFCC0E433}" type="slidenum">
              <a:rPr lang="en-US" altLang="zh-CN" smtClean="0"/>
              <a:pPr>
                <a:defRPr/>
              </a:pPr>
              <a:t>63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396"/>
                                        </p:tgtEl>
                                        <p:attrNameLst>
                                          <p:attrName>style.visibility</p:attrName>
                                        </p:attrNameLst>
                                      </p:cBhvr>
                                      <p:to>
                                        <p:strVal val="visible"/>
                                      </p:to>
                                    </p:set>
                                    <p:animEffect transition="in" filter="wipe(left)">
                                      <p:cBhvr>
                                        <p:cTn id="7" dur="500"/>
                                        <p:tgtEl>
                                          <p:spTgt spid="135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5392"/>
                                        </p:tgtEl>
                                        <p:attrNameLst>
                                          <p:attrName>style.visibility</p:attrName>
                                        </p:attrNameLst>
                                      </p:cBhvr>
                                      <p:to>
                                        <p:strVal val="visible"/>
                                      </p:to>
                                    </p:set>
                                    <p:animEffect transition="in" filter="wipe(up)">
                                      <p:cBhvr>
                                        <p:cTn id="12" dur="500"/>
                                        <p:tgtEl>
                                          <p:spTgt spid="1353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5393"/>
                                        </p:tgtEl>
                                        <p:attrNameLst>
                                          <p:attrName>style.visibility</p:attrName>
                                        </p:attrNameLst>
                                      </p:cBhvr>
                                      <p:to>
                                        <p:strVal val="visible"/>
                                      </p:to>
                                    </p:set>
                                    <p:animEffect transition="in" filter="wipe(up)">
                                      <p:cBhvr>
                                        <p:cTn id="17" dur="500"/>
                                        <p:tgtEl>
                                          <p:spTgt spid="135393"/>
                                        </p:tgtEl>
                                      </p:cBhvr>
                                    </p:animEffect>
                                  </p:childTnLst>
                                </p:cTn>
                              </p:par>
                            </p:childTnLst>
                          </p:cTn>
                        </p:par>
                        <p:par>
                          <p:cTn id="18" fill="hold" nodeType="afterGroup">
                            <p:stCondLst>
                              <p:cond delay="500"/>
                            </p:stCondLst>
                            <p:childTnLst>
                              <p:par>
                                <p:cTn id="19" presetID="2" presetClass="entr" presetSubtype="2" fill="hold" grpId="0" nodeType="afterEffect">
                                  <p:stCondLst>
                                    <p:cond delay="0"/>
                                  </p:stCondLst>
                                  <p:childTnLst>
                                    <p:set>
                                      <p:cBhvr>
                                        <p:cTn id="20" dur="1" fill="hold">
                                          <p:stCondLst>
                                            <p:cond delay="0"/>
                                          </p:stCondLst>
                                        </p:cTn>
                                        <p:tgtEl>
                                          <p:spTgt spid="135395"/>
                                        </p:tgtEl>
                                        <p:attrNameLst>
                                          <p:attrName>style.visibility</p:attrName>
                                        </p:attrNameLst>
                                      </p:cBhvr>
                                      <p:to>
                                        <p:strVal val="visible"/>
                                      </p:to>
                                    </p:set>
                                    <p:anim calcmode="lin" valueType="num">
                                      <p:cBhvr additive="base">
                                        <p:cTn id="21" dur="500" fill="hold"/>
                                        <p:tgtEl>
                                          <p:spTgt spid="135395"/>
                                        </p:tgtEl>
                                        <p:attrNameLst>
                                          <p:attrName>ppt_x</p:attrName>
                                        </p:attrNameLst>
                                      </p:cBhvr>
                                      <p:tavLst>
                                        <p:tav tm="0">
                                          <p:val>
                                            <p:strVal val="1+#ppt_w/2"/>
                                          </p:val>
                                        </p:tav>
                                        <p:tav tm="100000">
                                          <p:val>
                                            <p:strVal val="#ppt_x"/>
                                          </p:val>
                                        </p:tav>
                                      </p:tavLst>
                                    </p:anim>
                                    <p:anim calcmode="lin" valueType="num">
                                      <p:cBhvr additive="base">
                                        <p:cTn id="22" dur="500" fill="hold"/>
                                        <p:tgtEl>
                                          <p:spTgt spid="1353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392" grpId="0"/>
      <p:bldP spid="135395" grpId="0" animBg="1"/>
      <p:bldP spid="13539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4"/>
          <p:cNvSpPr>
            <a:spLocks noGrp="1"/>
          </p:cNvSpPr>
          <p:nvPr>
            <p:ph type="title"/>
          </p:nvPr>
        </p:nvSpPr>
        <p:spPr>
          <a:xfrm>
            <a:off x="1616869" y="457201"/>
            <a:ext cx="8958262" cy="955675"/>
          </a:xfrm>
        </p:spPr>
        <p:txBody>
          <a:bodyPr/>
          <a:lstStyle/>
          <a:p>
            <a:pPr eaLnBrk="1" hangingPunct="1"/>
            <a:r>
              <a:rPr lang="zh-CN" altLang="en-US" dirty="0">
                <a:solidFill>
                  <a:srgbClr val="008000"/>
                </a:solidFill>
              </a:rPr>
              <a:t>用神经网络方法确定隶属函数举例</a:t>
            </a:r>
            <a:r>
              <a:rPr lang="en-US" altLang="zh-CN" dirty="0">
                <a:solidFill>
                  <a:srgbClr val="008000"/>
                </a:solidFill>
              </a:rPr>
              <a:t>2</a:t>
            </a:r>
            <a:endParaRPr lang="zh-CN" altLang="en-US" dirty="0"/>
          </a:p>
        </p:txBody>
      </p:sp>
      <p:sp>
        <p:nvSpPr>
          <p:cNvPr id="6" name="内容占位符 5"/>
          <p:cNvSpPr>
            <a:spLocks noGrp="1"/>
          </p:cNvSpPr>
          <p:nvPr>
            <p:ph idx="1"/>
          </p:nvPr>
        </p:nvSpPr>
        <p:spPr>
          <a:xfrm>
            <a:off x="1127448" y="1700213"/>
            <a:ext cx="9937104" cy="3384550"/>
          </a:xfrm>
        </p:spPr>
        <p:txBody>
          <a:bodyPr/>
          <a:lstStyle/>
          <a:p>
            <a:pPr eaLnBrk="1" hangingPunct="1">
              <a:defRPr/>
            </a:pPr>
            <a:r>
              <a:rPr lang="zh-CN" altLang="zh-CN" dirty="0">
                <a:latin typeface="黑体" pitchFamily="49" charset="-122"/>
                <a:ea typeface="黑体" pitchFamily="49" charset="-122"/>
              </a:rPr>
              <a:t>考虑单输入数据集模糊类的隶属函数产生方法</a:t>
            </a:r>
            <a:r>
              <a:rPr lang="zh-CN" altLang="en-US" dirty="0">
                <a:latin typeface="黑体" pitchFamily="49" charset="-122"/>
                <a:ea typeface="黑体" pitchFamily="49" charset="-122"/>
              </a:rPr>
              <a:t>：</a:t>
            </a:r>
            <a:endParaRPr lang="en-US" altLang="zh-CN" dirty="0">
              <a:latin typeface="黑体" pitchFamily="49" charset="-122"/>
              <a:ea typeface="黑体" pitchFamily="49" charset="-122"/>
            </a:endParaRPr>
          </a:p>
          <a:p>
            <a:pPr eaLnBrk="1" hangingPunct="1">
              <a:defRPr/>
            </a:pPr>
            <a:r>
              <a:rPr lang="zh-CN" altLang="zh-CN" dirty="0">
                <a:latin typeface="黑体" pitchFamily="49" charset="-122"/>
                <a:ea typeface="黑体" pitchFamily="49" charset="-122"/>
              </a:rPr>
              <a:t>先将选择的一些数据分成</a:t>
            </a:r>
            <a:r>
              <a:rPr lang="zh-CN" altLang="en-US" dirty="0">
                <a:latin typeface="黑体" pitchFamily="49" charset="-122"/>
                <a:ea typeface="黑体" pitchFamily="49" charset="-122"/>
              </a:rPr>
              <a:t>：</a:t>
            </a:r>
            <a:endParaRPr lang="en-US" altLang="zh-CN" dirty="0">
              <a:latin typeface="黑体" pitchFamily="49" charset="-122"/>
              <a:ea typeface="黑体" pitchFamily="49" charset="-122"/>
            </a:endParaRPr>
          </a:p>
          <a:p>
            <a:pPr lvl="1" eaLnBrk="1" hangingPunct="1">
              <a:defRPr/>
            </a:pPr>
            <a:r>
              <a:rPr lang="zh-CN" altLang="zh-CN" b="1" dirty="0">
                <a:solidFill>
                  <a:srgbClr val="FF0000"/>
                </a:solidFill>
                <a:ea typeface="华文楷体" pitchFamily="2" charset="-122"/>
                <a:cs typeface="+mn-cs"/>
              </a:rPr>
              <a:t>训练集（</a:t>
            </a:r>
            <a:r>
              <a:rPr lang="en-US" altLang="zh-CN" b="1" dirty="0">
                <a:solidFill>
                  <a:srgbClr val="FF0000"/>
                </a:solidFill>
                <a:ea typeface="华文楷体" pitchFamily="2" charset="-122"/>
                <a:cs typeface="+mn-cs"/>
              </a:rPr>
              <a:t>TR</a:t>
            </a:r>
            <a:r>
              <a:rPr lang="zh-CN" altLang="zh-CN" b="1" dirty="0">
                <a:solidFill>
                  <a:srgbClr val="FF0000"/>
                </a:solidFill>
                <a:ea typeface="华文楷体" pitchFamily="2" charset="-122"/>
                <a:cs typeface="+mn-cs"/>
              </a:rPr>
              <a:t>）</a:t>
            </a:r>
            <a:r>
              <a:rPr lang="en-US" altLang="zh-CN" b="1" dirty="0">
                <a:ea typeface="华文楷体" pitchFamily="2" charset="-122"/>
                <a:cs typeface="+mn-cs"/>
              </a:rPr>
              <a:t>——</a:t>
            </a:r>
            <a:r>
              <a:rPr lang="zh-CN" altLang="zh-CN" b="1" dirty="0">
                <a:ea typeface="华文楷体" pitchFamily="2" charset="-122"/>
                <a:cs typeface="+mn-cs"/>
              </a:rPr>
              <a:t>用于训练神经网络</a:t>
            </a:r>
            <a:endParaRPr lang="en-US" altLang="zh-CN" b="1" dirty="0">
              <a:ea typeface="华文楷体" pitchFamily="2" charset="-122"/>
              <a:cs typeface="+mn-cs"/>
            </a:endParaRPr>
          </a:p>
          <a:p>
            <a:pPr lvl="1" eaLnBrk="1" hangingPunct="1">
              <a:defRPr/>
            </a:pPr>
            <a:r>
              <a:rPr lang="zh-CN" altLang="zh-CN" b="1" dirty="0">
                <a:solidFill>
                  <a:srgbClr val="0066FF"/>
                </a:solidFill>
                <a:ea typeface="华文楷体" pitchFamily="2" charset="-122"/>
                <a:cs typeface="+mn-cs"/>
              </a:rPr>
              <a:t>测试集（</a:t>
            </a:r>
            <a:r>
              <a:rPr lang="en-US" altLang="zh-CN" b="1" dirty="0">
                <a:solidFill>
                  <a:srgbClr val="0066FF"/>
                </a:solidFill>
                <a:ea typeface="华文楷体" pitchFamily="2" charset="-122"/>
                <a:cs typeface="+mn-cs"/>
              </a:rPr>
              <a:t>TE</a:t>
            </a:r>
            <a:r>
              <a:rPr lang="zh-CN" altLang="zh-CN" b="1" dirty="0">
                <a:solidFill>
                  <a:srgbClr val="0066FF"/>
                </a:solidFill>
                <a:ea typeface="华文楷体" pitchFamily="2" charset="-122"/>
                <a:cs typeface="+mn-cs"/>
              </a:rPr>
              <a:t>）</a:t>
            </a:r>
            <a:r>
              <a:rPr lang="en-US" altLang="zh-CN" b="1" dirty="0">
                <a:ea typeface="华文楷体" pitchFamily="2" charset="-122"/>
              </a:rPr>
              <a:t>——</a:t>
            </a:r>
            <a:r>
              <a:rPr lang="zh-CN" altLang="zh-CN" b="1" dirty="0">
                <a:ea typeface="华文楷体" pitchFamily="2" charset="-122"/>
              </a:rPr>
              <a:t>用于神经网络</a:t>
            </a:r>
            <a:r>
              <a:rPr lang="zh-CN" altLang="en-US" b="1" dirty="0">
                <a:ea typeface="华文楷体" pitchFamily="2" charset="-122"/>
              </a:rPr>
              <a:t>应用</a:t>
            </a:r>
            <a:endParaRPr lang="en-US" altLang="zh-CN" b="1" dirty="0">
              <a:ea typeface="华文楷体" pitchFamily="2" charset="-122"/>
            </a:endParaRPr>
          </a:p>
          <a:p>
            <a:pPr lvl="1" eaLnBrk="1" hangingPunct="1">
              <a:defRPr/>
            </a:pPr>
            <a:r>
              <a:rPr lang="zh-CN" altLang="zh-CN" dirty="0">
                <a:cs typeface="+mn-cs"/>
              </a:rPr>
              <a:t>设每个数据用数轴上的</a:t>
            </a:r>
            <a:r>
              <a:rPr lang="en-US" altLang="zh-CN" dirty="0">
                <a:cs typeface="+mn-cs"/>
              </a:rPr>
              <a:t>1</a:t>
            </a:r>
            <a:r>
              <a:rPr lang="zh-CN" altLang="zh-CN" dirty="0">
                <a:cs typeface="+mn-cs"/>
              </a:rPr>
              <a:t>个</a:t>
            </a:r>
            <a:r>
              <a:rPr lang="zh-CN" altLang="en-US" dirty="0">
                <a:cs typeface="+mn-cs"/>
              </a:rPr>
              <a:t>整数</a:t>
            </a:r>
            <a:r>
              <a:rPr lang="zh-CN" altLang="zh-CN" dirty="0">
                <a:cs typeface="+mn-cs"/>
              </a:rPr>
              <a:t>点表示，数据集分成三个区域或类</a:t>
            </a:r>
            <a:r>
              <a:rPr lang="en-US" altLang="zh-CN" dirty="0">
                <a:cs typeface="+mn-cs"/>
              </a:rPr>
              <a:t>R</a:t>
            </a:r>
            <a:r>
              <a:rPr lang="en-US" altLang="zh-CN" baseline="-25000" dirty="0">
                <a:cs typeface="+mn-cs"/>
              </a:rPr>
              <a:t>1</a:t>
            </a:r>
            <a:r>
              <a:rPr lang="zh-CN" altLang="zh-CN" dirty="0">
                <a:cs typeface="+mn-cs"/>
              </a:rPr>
              <a:t>、</a:t>
            </a:r>
            <a:r>
              <a:rPr lang="en-US" altLang="zh-CN" dirty="0">
                <a:cs typeface="+mn-cs"/>
              </a:rPr>
              <a:t>R</a:t>
            </a:r>
            <a:r>
              <a:rPr lang="en-US" altLang="zh-CN" baseline="-25000" dirty="0">
                <a:cs typeface="+mn-cs"/>
              </a:rPr>
              <a:t>2</a:t>
            </a:r>
            <a:r>
              <a:rPr lang="zh-CN" altLang="zh-CN" dirty="0">
                <a:cs typeface="+mn-cs"/>
              </a:rPr>
              <a:t>和</a:t>
            </a:r>
            <a:r>
              <a:rPr lang="en-US" altLang="zh-CN" dirty="0">
                <a:cs typeface="+mn-cs"/>
              </a:rPr>
              <a:t>R</a:t>
            </a:r>
            <a:r>
              <a:rPr lang="en-US" altLang="zh-CN" baseline="-25000" dirty="0">
                <a:cs typeface="+mn-cs"/>
              </a:rPr>
              <a:t>3</a:t>
            </a:r>
            <a:r>
              <a:rPr lang="zh-CN" altLang="zh-CN" dirty="0">
                <a:cs typeface="+mn-cs"/>
              </a:rPr>
              <a:t>。</a:t>
            </a:r>
            <a:endParaRPr lang="en-US" altLang="zh-CN" sz="3200" dirty="0">
              <a:ea typeface="黑体" pitchFamily="49" charset="-122"/>
              <a:cs typeface="+mn-cs"/>
            </a:endParaRPr>
          </a:p>
          <a:p>
            <a:pPr eaLnBrk="1" hangingPunct="1">
              <a:defRPr/>
            </a:pPr>
            <a:endParaRPr lang="zh-CN" altLang="zh-CN" dirty="0"/>
          </a:p>
          <a:p>
            <a:pPr marL="0" indent="0" eaLnBrk="1" hangingPunct="1">
              <a:buNone/>
              <a:defRPr/>
            </a:pPr>
            <a:endParaRPr lang="zh-CN" altLang="en-US" dirty="0"/>
          </a:p>
        </p:txBody>
      </p:sp>
      <p:pic>
        <p:nvPicPr>
          <p:cNvPr id="4608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6869" y="5157787"/>
            <a:ext cx="8958262" cy="151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5879976" y="6282035"/>
            <a:ext cx="86360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灯片编号占位符 2">
            <a:extLst>
              <a:ext uri="{FF2B5EF4-FFF2-40B4-BE49-F238E27FC236}">
                <a16:creationId xmlns:a16="http://schemas.microsoft.com/office/drawing/2014/main" id="{56657066-4787-0BDF-331A-6EE0E8F60594}"/>
              </a:ext>
            </a:extLst>
          </p:cNvPr>
          <p:cNvSpPr>
            <a:spLocks noGrp="1"/>
          </p:cNvSpPr>
          <p:nvPr>
            <p:ph type="sldNum" sz="quarter" idx="11"/>
          </p:nvPr>
        </p:nvSpPr>
        <p:spPr/>
        <p:txBody>
          <a:bodyPr/>
          <a:lstStyle/>
          <a:p>
            <a:pPr>
              <a:defRPr/>
            </a:pPr>
            <a:fld id="{E0FB5469-1AEB-496D-971A-66705BF2F73C}" type="slidenum">
              <a:rPr lang="en-US" altLang="zh-CN" smtClean="0"/>
              <a:pPr>
                <a:defRPr/>
              </a:pPr>
              <a:t>64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6084"/>
                                        </p:tgtEl>
                                        <p:attrNameLst>
                                          <p:attrName>style.visibility</p:attrName>
                                        </p:attrNameLst>
                                      </p:cBhvr>
                                      <p:to>
                                        <p:strVal val="visible"/>
                                      </p:to>
                                    </p:set>
                                    <p:anim calcmode="lin" valueType="num">
                                      <p:cBhvr additive="base">
                                        <p:cTn id="32" dur="500" fill="hold"/>
                                        <p:tgtEl>
                                          <p:spTgt spid="46084"/>
                                        </p:tgtEl>
                                        <p:attrNameLst>
                                          <p:attrName>ppt_x</p:attrName>
                                        </p:attrNameLst>
                                      </p:cBhvr>
                                      <p:tavLst>
                                        <p:tav tm="0">
                                          <p:val>
                                            <p:strVal val="#ppt_x"/>
                                          </p:val>
                                        </p:tav>
                                        <p:tav tm="100000">
                                          <p:val>
                                            <p:strVal val="#ppt_x"/>
                                          </p:val>
                                        </p:tav>
                                      </p:tavLst>
                                    </p:anim>
                                    <p:anim calcmode="lin" valueType="num">
                                      <p:cBhvr additive="base">
                                        <p:cTn id="33" dur="500" fill="hold"/>
                                        <p:tgtEl>
                                          <p:spTgt spid="460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4"/>
          <p:cNvSpPr>
            <a:spLocks noGrp="1"/>
          </p:cNvSpPr>
          <p:nvPr>
            <p:ph type="title"/>
          </p:nvPr>
        </p:nvSpPr>
        <p:spPr>
          <a:xfrm>
            <a:off x="1199456" y="312737"/>
            <a:ext cx="9793088" cy="955675"/>
          </a:xfrm>
        </p:spPr>
        <p:txBody>
          <a:bodyPr/>
          <a:lstStyle/>
          <a:p>
            <a:pPr eaLnBrk="1" hangingPunct="1"/>
            <a:r>
              <a:rPr lang="zh-CN" altLang="en-US" sz="4800" dirty="0">
                <a:solidFill>
                  <a:srgbClr val="008000"/>
                </a:solidFill>
              </a:rPr>
              <a:t>用神经网络方法确定隶属函数举例</a:t>
            </a:r>
            <a:r>
              <a:rPr lang="en-US" altLang="zh-CN" sz="4800" dirty="0">
                <a:solidFill>
                  <a:srgbClr val="008000"/>
                </a:solidFill>
              </a:rPr>
              <a:t>2</a:t>
            </a:r>
            <a:endParaRPr lang="zh-CN" altLang="en-US" sz="4800" dirty="0"/>
          </a:p>
        </p:txBody>
      </p:sp>
      <p:graphicFrame>
        <p:nvGraphicFramePr>
          <p:cNvPr id="7" name="表格 6"/>
          <p:cNvGraphicFramePr>
            <a:graphicFrameLocks noGrp="1"/>
          </p:cNvGraphicFramePr>
          <p:nvPr>
            <p:extLst>
              <p:ext uri="{D42A27DB-BD31-4B8C-83A1-F6EECF244321}">
                <p14:modId xmlns:p14="http://schemas.microsoft.com/office/powerpoint/2010/main" val="1166301257"/>
              </p:ext>
            </p:extLst>
          </p:nvPr>
        </p:nvGraphicFramePr>
        <p:xfrm>
          <a:off x="2495550" y="1268413"/>
          <a:ext cx="7128842" cy="1524000"/>
        </p:xfrm>
        <a:graphic>
          <a:graphicData uri="http://schemas.openxmlformats.org/drawingml/2006/table">
            <a:tbl>
              <a:tblPr firstRow="1" firstCol="1" bandRow="1"/>
              <a:tblGrid>
                <a:gridCol w="406301">
                  <a:extLst>
                    <a:ext uri="{9D8B030D-6E8A-4147-A177-3AD203B41FA5}">
                      <a16:colId xmlns:a16="http://schemas.microsoft.com/office/drawing/2014/main" val="20000"/>
                    </a:ext>
                  </a:extLst>
                </a:gridCol>
                <a:gridCol w="529696">
                  <a:extLst>
                    <a:ext uri="{9D8B030D-6E8A-4147-A177-3AD203B41FA5}">
                      <a16:colId xmlns:a16="http://schemas.microsoft.com/office/drawing/2014/main" val="20001"/>
                    </a:ext>
                  </a:extLst>
                </a:gridCol>
                <a:gridCol w="282905">
                  <a:extLst>
                    <a:ext uri="{9D8B030D-6E8A-4147-A177-3AD203B41FA5}">
                      <a16:colId xmlns:a16="http://schemas.microsoft.com/office/drawing/2014/main" val="20002"/>
                    </a:ext>
                  </a:extLst>
                </a:gridCol>
                <a:gridCol w="406301">
                  <a:extLst>
                    <a:ext uri="{9D8B030D-6E8A-4147-A177-3AD203B41FA5}">
                      <a16:colId xmlns:a16="http://schemas.microsoft.com/office/drawing/2014/main" val="20003"/>
                    </a:ext>
                  </a:extLst>
                </a:gridCol>
                <a:gridCol w="406301">
                  <a:extLst>
                    <a:ext uri="{9D8B030D-6E8A-4147-A177-3AD203B41FA5}">
                      <a16:colId xmlns:a16="http://schemas.microsoft.com/office/drawing/2014/main" val="20004"/>
                    </a:ext>
                  </a:extLst>
                </a:gridCol>
                <a:gridCol w="406301">
                  <a:extLst>
                    <a:ext uri="{9D8B030D-6E8A-4147-A177-3AD203B41FA5}">
                      <a16:colId xmlns:a16="http://schemas.microsoft.com/office/drawing/2014/main" val="20005"/>
                    </a:ext>
                  </a:extLst>
                </a:gridCol>
                <a:gridCol w="406301">
                  <a:extLst>
                    <a:ext uri="{9D8B030D-6E8A-4147-A177-3AD203B41FA5}">
                      <a16:colId xmlns:a16="http://schemas.microsoft.com/office/drawing/2014/main" val="20006"/>
                    </a:ext>
                  </a:extLst>
                </a:gridCol>
                <a:gridCol w="406301">
                  <a:extLst>
                    <a:ext uri="{9D8B030D-6E8A-4147-A177-3AD203B41FA5}">
                      <a16:colId xmlns:a16="http://schemas.microsoft.com/office/drawing/2014/main" val="20007"/>
                    </a:ext>
                  </a:extLst>
                </a:gridCol>
                <a:gridCol w="406301">
                  <a:extLst>
                    <a:ext uri="{9D8B030D-6E8A-4147-A177-3AD203B41FA5}">
                      <a16:colId xmlns:a16="http://schemas.microsoft.com/office/drawing/2014/main" val="20008"/>
                    </a:ext>
                  </a:extLst>
                </a:gridCol>
                <a:gridCol w="406301">
                  <a:extLst>
                    <a:ext uri="{9D8B030D-6E8A-4147-A177-3AD203B41FA5}">
                      <a16:colId xmlns:a16="http://schemas.microsoft.com/office/drawing/2014/main" val="20009"/>
                    </a:ext>
                  </a:extLst>
                </a:gridCol>
                <a:gridCol w="406301">
                  <a:extLst>
                    <a:ext uri="{9D8B030D-6E8A-4147-A177-3AD203B41FA5}">
                      <a16:colId xmlns:a16="http://schemas.microsoft.com/office/drawing/2014/main" val="20010"/>
                    </a:ext>
                  </a:extLst>
                </a:gridCol>
                <a:gridCol w="407111">
                  <a:extLst>
                    <a:ext uri="{9D8B030D-6E8A-4147-A177-3AD203B41FA5}">
                      <a16:colId xmlns:a16="http://schemas.microsoft.com/office/drawing/2014/main" val="20011"/>
                    </a:ext>
                  </a:extLst>
                </a:gridCol>
                <a:gridCol w="407111">
                  <a:extLst>
                    <a:ext uri="{9D8B030D-6E8A-4147-A177-3AD203B41FA5}">
                      <a16:colId xmlns:a16="http://schemas.microsoft.com/office/drawing/2014/main" val="20012"/>
                    </a:ext>
                  </a:extLst>
                </a:gridCol>
                <a:gridCol w="407111">
                  <a:extLst>
                    <a:ext uri="{9D8B030D-6E8A-4147-A177-3AD203B41FA5}">
                      <a16:colId xmlns:a16="http://schemas.microsoft.com/office/drawing/2014/main" val="20013"/>
                    </a:ext>
                  </a:extLst>
                </a:gridCol>
                <a:gridCol w="407111">
                  <a:extLst>
                    <a:ext uri="{9D8B030D-6E8A-4147-A177-3AD203B41FA5}">
                      <a16:colId xmlns:a16="http://schemas.microsoft.com/office/drawing/2014/main" val="20014"/>
                    </a:ext>
                  </a:extLst>
                </a:gridCol>
                <a:gridCol w="407111">
                  <a:extLst>
                    <a:ext uri="{9D8B030D-6E8A-4147-A177-3AD203B41FA5}">
                      <a16:colId xmlns:a16="http://schemas.microsoft.com/office/drawing/2014/main" val="20015"/>
                    </a:ext>
                  </a:extLst>
                </a:gridCol>
                <a:gridCol w="623977">
                  <a:extLst>
                    <a:ext uri="{9D8B030D-6E8A-4147-A177-3AD203B41FA5}">
                      <a16:colId xmlns:a16="http://schemas.microsoft.com/office/drawing/2014/main" val="20016"/>
                    </a:ext>
                  </a:extLst>
                </a:gridCol>
              </a:tblGrid>
              <a:tr h="273630">
                <a:tc rowSpan="2">
                  <a:txBody>
                    <a:bodyPr/>
                    <a:lstStyle/>
                    <a:p>
                      <a:pPr algn="ctr">
                        <a:spcAft>
                          <a:spcPts val="0"/>
                        </a:spcAft>
                      </a:pPr>
                      <a:r>
                        <a:rPr lang="zh-CN" sz="2000" kern="100" dirty="0">
                          <a:effectLst/>
                          <a:latin typeface="Times New Roman"/>
                          <a:ea typeface="宋体"/>
                        </a:rPr>
                        <a:t>输入</a:t>
                      </a: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1FF"/>
                    </a:solidFill>
                  </a:tcPr>
                </a:tc>
                <a:tc>
                  <a:txBody>
                    <a:bodyPr/>
                    <a:lstStyle/>
                    <a:p>
                      <a:pPr algn="ctr">
                        <a:spcAft>
                          <a:spcPts val="0"/>
                        </a:spcAft>
                      </a:pPr>
                      <a:r>
                        <a:rPr lang="en-US" sz="2000" kern="100" dirty="0">
                          <a:effectLst/>
                          <a:latin typeface="Times New Roman"/>
                          <a:ea typeface="宋体"/>
                        </a:rPr>
                        <a:t>TR</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5</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10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15</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20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40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44</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47</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50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70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76</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82</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just">
                        <a:spcAft>
                          <a:spcPts val="0"/>
                        </a:spcAft>
                      </a:pPr>
                      <a:r>
                        <a:rPr lang="en-US" sz="2000" kern="100" dirty="0">
                          <a:effectLst/>
                          <a:latin typeface="Times New Roman"/>
                          <a:ea typeface="宋体"/>
                        </a:rPr>
                        <a:t>91</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94</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tc>
                  <a:txBody>
                    <a:bodyPr/>
                    <a:lstStyle/>
                    <a:p>
                      <a:pPr algn="ctr">
                        <a:spcAft>
                          <a:spcPts val="0"/>
                        </a:spcAft>
                      </a:pPr>
                      <a:r>
                        <a:rPr lang="en-US" sz="2000" kern="100" dirty="0">
                          <a:effectLst/>
                          <a:latin typeface="Times New Roman"/>
                          <a:ea typeface="宋体"/>
                        </a:rPr>
                        <a:t>100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273630">
                <a:tc vMerge="1">
                  <a:txBody>
                    <a:bodyPr/>
                    <a:lstStyle/>
                    <a:p>
                      <a:endParaRPr lang="zh-CN" altLang="en-US"/>
                    </a:p>
                  </a:txBody>
                  <a:tcPr/>
                </a:tc>
                <a:tc>
                  <a:txBody>
                    <a:bodyPr/>
                    <a:lstStyle/>
                    <a:p>
                      <a:pPr algn="ctr">
                        <a:spcAft>
                          <a:spcPts val="0"/>
                        </a:spcAft>
                      </a:pPr>
                      <a:r>
                        <a:rPr lang="en-US" sz="2000" kern="100" dirty="0">
                          <a:effectLst/>
                          <a:latin typeface="Times New Roman"/>
                          <a:ea typeface="宋体"/>
                        </a:rPr>
                        <a:t>TE</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1</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4</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11</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17</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19</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41</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43</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46</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48</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73</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79</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85</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91</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96</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2000" kern="100" dirty="0">
                          <a:effectLst/>
                          <a:latin typeface="Times New Roman"/>
                          <a:ea typeface="宋体"/>
                        </a:rPr>
                        <a:t>99</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r h="273630">
                <a:tc rowSpan="3">
                  <a:txBody>
                    <a:bodyPr/>
                    <a:lstStyle/>
                    <a:p>
                      <a:pPr algn="ctr">
                        <a:spcAft>
                          <a:spcPts val="0"/>
                        </a:spcAft>
                      </a:pPr>
                      <a:r>
                        <a:rPr lang="zh-CN" sz="2000" kern="100">
                          <a:effectLst/>
                          <a:latin typeface="Times New Roman"/>
                          <a:ea typeface="宋体"/>
                        </a:rPr>
                        <a:t>隶属值</a:t>
                      </a: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R</a:t>
                      </a:r>
                      <a:r>
                        <a:rPr lang="en-US" sz="2000" kern="100" baseline="-25000">
                          <a:effectLst/>
                          <a:latin typeface="Times New Roman"/>
                          <a:ea typeface="宋体"/>
                        </a:rPr>
                        <a:t>1</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a:solidFill>
                            <a:srgbClr val="0066FF"/>
                          </a:solidFill>
                          <a:effectLst/>
                          <a:latin typeface="Times New Roman"/>
                          <a:ea typeface="宋体"/>
                        </a:rPr>
                        <a:t>1</a:t>
                      </a:r>
                      <a:endParaRPr lang="zh-CN" sz="2000" b="1" kern="100">
                        <a:solidFill>
                          <a:srgbClr val="0066FF"/>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a:solidFill>
                            <a:srgbClr val="0066FF"/>
                          </a:solidFill>
                          <a:effectLst/>
                          <a:latin typeface="Times New Roman"/>
                          <a:ea typeface="宋体"/>
                        </a:rPr>
                        <a:t>1</a:t>
                      </a:r>
                      <a:endParaRPr lang="zh-CN" sz="2000" b="1" kern="100">
                        <a:solidFill>
                          <a:srgbClr val="0066FF"/>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a:solidFill>
                            <a:srgbClr val="0066FF"/>
                          </a:solidFill>
                          <a:effectLst/>
                          <a:latin typeface="Times New Roman"/>
                          <a:ea typeface="宋体"/>
                        </a:rPr>
                        <a:t>1</a:t>
                      </a:r>
                      <a:endParaRPr lang="zh-CN" sz="2000" b="1" kern="100">
                        <a:solidFill>
                          <a:srgbClr val="0066FF"/>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a:solidFill>
                            <a:srgbClr val="0066FF"/>
                          </a:solidFill>
                          <a:effectLst/>
                          <a:latin typeface="Times New Roman"/>
                          <a:ea typeface="宋体"/>
                        </a:rPr>
                        <a:t>1</a:t>
                      </a:r>
                      <a:endParaRPr lang="zh-CN" sz="2000" b="1" kern="100">
                        <a:solidFill>
                          <a:srgbClr val="0066FF"/>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0066FF"/>
                          </a:solidFill>
                          <a:effectLst/>
                          <a:latin typeface="Times New Roman"/>
                          <a:ea typeface="宋体"/>
                        </a:rPr>
                        <a:t>1</a:t>
                      </a:r>
                      <a:endParaRPr lang="zh-CN" sz="2000" b="1" kern="100" dirty="0">
                        <a:solidFill>
                          <a:srgbClr val="0066FF"/>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extLst>
                  <a:ext uri="{0D108BD9-81ED-4DB2-BD59-A6C34878D82A}">
                    <a16:rowId xmlns:a16="http://schemas.microsoft.com/office/drawing/2014/main" val="10002"/>
                  </a:ext>
                </a:extLst>
              </a:tr>
              <a:tr h="273630">
                <a:tc vMerge="1">
                  <a:txBody>
                    <a:bodyPr/>
                    <a:lstStyle/>
                    <a:p>
                      <a:endParaRPr lang="zh-CN" altLang="en-US"/>
                    </a:p>
                  </a:txBody>
                  <a:tcPr/>
                </a:tc>
                <a:tc>
                  <a:txBody>
                    <a:bodyPr/>
                    <a:lstStyle/>
                    <a:p>
                      <a:pPr algn="ctr">
                        <a:spcAft>
                          <a:spcPts val="0"/>
                        </a:spcAft>
                      </a:pPr>
                      <a:r>
                        <a:rPr lang="en-US" sz="2000" kern="100">
                          <a:effectLst/>
                          <a:latin typeface="Times New Roman"/>
                          <a:ea typeface="宋体"/>
                        </a:rPr>
                        <a:t>R</a:t>
                      </a:r>
                      <a:r>
                        <a:rPr lang="en-US" sz="2000" kern="100" baseline="-25000">
                          <a:effectLst/>
                          <a:latin typeface="Times New Roman"/>
                          <a:ea typeface="宋体"/>
                        </a:rPr>
                        <a:t>2</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a:solidFill>
                            <a:srgbClr val="FF0000"/>
                          </a:solidFill>
                          <a:effectLst/>
                          <a:latin typeface="Times New Roman"/>
                          <a:ea typeface="宋体"/>
                        </a:rPr>
                        <a:t>1</a:t>
                      </a:r>
                      <a:endParaRPr lang="zh-CN" sz="2000" b="1" kern="100">
                        <a:solidFill>
                          <a:srgbClr val="FF0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a:solidFill>
                            <a:srgbClr val="FF0000"/>
                          </a:solidFill>
                          <a:effectLst/>
                          <a:latin typeface="Times New Roman"/>
                          <a:ea typeface="宋体"/>
                        </a:rPr>
                        <a:t>1</a:t>
                      </a:r>
                      <a:endParaRPr lang="zh-CN" sz="2000" b="1" kern="100">
                        <a:solidFill>
                          <a:srgbClr val="FF0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a:solidFill>
                            <a:srgbClr val="FF0000"/>
                          </a:solidFill>
                          <a:effectLst/>
                          <a:latin typeface="Times New Roman"/>
                          <a:ea typeface="宋体"/>
                        </a:rPr>
                        <a:t>1</a:t>
                      </a:r>
                      <a:endParaRPr lang="zh-CN" sz="2000" b="1" kern="100">
                        <a:solidFill>
                          <a:srgbClr val="FF0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FF0000"/>
                          </a:solidFill>
                          <a:effectLst/>
                          <a:latin typeface="Times New Roman"/>
                          <a:ea typeface="宋体"/>
                        </a:rPr>
                        <a:t>1</a:t>
                      </a:r>
                      <a:endParaRPr lang="zh-CN" sz="2000" b="1" kern="100" dirty="0">
                        <a:solidFill>
                          <a:srgbClr val="FF0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extLst>
                  <a:ext uri="{0D108BD9-81ED-4DB2-BD59-A6C34878D82A}">
                    <a16:rowId xmlns:a16="http://schemas.microsoft.com/office/drawing/2014/main" val="10003"/>
                  </a:ext>
                </a:extLst>
              </a:tr>
              <a:tr h="273630">
                <a:tc vMerge="1">
                  <a:txBody>
                    <a:bodyPr/>
                    <a:lstStyle/>
                    <a:p>
                      <a:endParaRPr lang="zh-CN" altLang="en-US"/>
                    </a:p>
                  </a:txBody>
                  <a:tcPr/>
                </a:tc>
                <a:tc>
                  <a:txBody>
                    <a:bodyPr/>
                    <a:lstStyle/>
                    <a:p>
                      <a:pPr algn="ctr">
                        <a:spcAft>
                          <a:spcPts val="0"/>
                        </a:spcAft>
                      </a:pPr>
                      <a:r>
                        <a:rPr lang="en-US" sz="2000" kern="100">
                          <a:effectLst/>
                          <a:latin typeface="Times New Roman"/>
                          <a:ea typeface="宋体"/>
                        </a:rPr>
                        <a:t>R</a:t>
                      </a:r>
                      <a:r>
                        <a:rPr lang="en-US" sz="2000" kern="100" baseline="-25000">
                          <a:effectLst/>
                          <a:latin typeface="Times New Roman"/>
                          <a:ea typeface="宋体"/>
                        </a:rPr>
                        <a:t>3</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a:effectLst/>
                          <a:latin typeface="Times New Roman"/>
                          <a:ea typeface="宋体"/>
                        </a:rPr>
                        <a:t>0</a:t>
                      </a:r>
                      <a:endParaRPr lang="zh-CN" sz="2000" kern="10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kern="100" dirty="0">
                          <a:effectLst/>
                          <a:latin typeface="Times New Roman"/>
                          <a:ea typeface="宋体"/>
                        </a:rPr>
                        <a:t>0</a:t>
                      </a:r>
                      <a:endParaRPr lang="zh-CN" sz="2000" kern="100" dirty="0">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008000"/>
                          </a:solidFill>
                          <a:effectLst/>
                          <a:latin typeface="Times New Roman"/>
                          <a:ea typeface="宋体"/>
                        </a:rPr>
                        <a:t>1</a:t>
                      </a:r>
                      <a:endParaRPr lang="zh-CN" sz="2000" b="1" kern="100" dirty="0">
                        <a:solidFill>
                          <a:srgbClr val="008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008000"/>
                          </a:solidFill>
                          <a:effectLst/>
                          <a:latin typeface="Times New Roman"/>
                          <a:ea typeface="宋体"/>
                        </a:rPr>
                        <a:t>1</a:t>
                      </a:r>
                      <a:endParaRPr lang="zh-CN" sz="2000" b="1" kern="100" dirty="0">
                        <a:solidFill>
                          <a:srgbClr val="008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008000"/>
                          </a:solidFill>
                          <a:effectLst/>
                          <a:latin typeface="Times New Roman"/>
                          <a:ea typeface="宋体"/>
                        </a:rPr>
                        <a:t>1</a:t>
                      </a:r>
                      <a:endParaRPr lang="zh-CN" sz="2000" b="1" kern="100" dirty="0">
                        <a:solidFill>
                          <a:srgbClr val="008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008000"/>
                          </a:solidFill>
                          <a:effectLst/>
                          <a:latin typeface="Times New Roman"/>
                          <a:ea typeface="宋体"/>
                        </a:rPr>
                        <a:t>1</a:t>
                      </a:r>
                      <a:endParaRPr lang="zh-CN" sz="2000" b="1" kern="100" dirty="0">
                        <a:solidFill>
                          <a:srgbClr val="008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008000"/>
                          </a:solidFill>
                          <a:effectLst/>
                          <a:latin typeface="Times New Roman"/>
                          <a:ea typeface="宋体"/>
                        </a:rPr>
                        <a:t>1</a:t>
                      </a:r>
                      <a:endParaRPr lang="zh-CN" sz="2000" b="1" kern="100" dirty="0">
                        <a:solidFill>
                          <a:srgbClr val="008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tc>
                  <a:txBody>
                    <a:bodyPr/>
                    <a:lstStyle/>
                    <a:p>
                      <a:pPr algn="ctr">
                        <a:spcAft>
                          <a:spcPts val="0"/>
                        </a:spcAft>
                      </a:pPr>
                      <a:r>
                        <a:rPr lang="en-US" sz="2000" b="1" kern="100" dirty="0">
                          <a:solidFill>
                            <a:srgbClr val="008000"/>
                          </a:solidFill>
                          <a:effectLst/>
                          <a:latin typeface="Times New Roman"/>
                          <a:ea typeface="宋体"/>
                        </a:rPr>
                        <a:t>1</a:t>
                      </a:r>
                      <a:endParaRPr lang="zh-CN" sz="2000" b="1" kern="100" dirty="0">
                        <a:solidFill>
                          <a:srgbClr val="008000"/>
                        </a:solidFill>
                        <a:effectLst/>
                        <a:latin typeface="Times New Roman"/>
                        <a:ea typeface="宋体"/>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DC7"/>
                    </a:solidFill>
                  </a:tcPr>
                </a:tc>
                <a:extLst>
                  <a:ext uri="{0D108BD9-81ED-4DB2-BD59-A6C34878D82A}">
                    <a16:rowId xmlns:a16="http://schemas.microsoft.com/office/drawing/2014/main" val="10004"/>
                  </a:ext>
                </a:extLst>
              </a:tr>
            </a:tbl>
          </a:graphicData>
        </a:graphic>
      </p:graphicFrame>
      <p:sp>
        <p:nvSpPr>
          <p:cNvPr id="47215" name="Rectangle 2"/>
          <p:cNvSpPr>
            <a:spLocks noChangeArrowheads="1"/>
          </p:cNvSpPr>
          <p:nvPr/>
        </p:nvSpPr>
        <p:spPr bwMode="auto">
          <a:xfrm>
            <a:off x="152400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 name="灯片编号占位符 1">
            <a:extLst>
              <a:ext uri="{FF2B5EF4-FFF2-40B4-BE49-F238E27FC236}">
                <a16:creationId xmlns:a16="http://schemas.microsoft.com/office/drawing/2014/main" id="{F16BD4D0-1E39-B5CC-681C-2E40BBB9132D}"/>
              </a:ext>
            </a:extLst>
          </p:cNvPr>
          <p:cNvSpPr>
            <a:spLocks noGrp="1"/>
          </p:cNvSpPr>
          <p:nvPr>
            <p:ph type="sldNum" sz="quarter" idx="11"/>
          </p:nvPr>
        </p:nvSpPr>
        <p:spPr/>
        <p:txBody>
          <a:bodyPr/>
          <a:lstStyle/>
          <a:p>
            <a:pPr>
              <a:defRPr/>
            </a:pPr>
            <a:fld id="{E0FB5469-1AEB-496D-971A-66705BF2F73C}" type="slidenum">
              <a:rPr lang="en-US" altLang="zh-CN" smtClean="0"/>
              <a:pPr>
                <a:defRPr/>
              </a:pPr>
              <a:t>65</a:t>
            </a:fld>
            <a:endParaRPr lang="en-US" altLang="zh-CN"/>
          </a:p>
        </p:txBody>
      </p:sp>
      <p:pic>
        <p:nvPicPr>
          <p:cNvPr id="3" name="Picture 2">
            <a:extLst>
              <a:ext uri="{FF2B5EF4-FFF2-40B4-BE49-F238E27FC236}">
                <a16:creationId xmlns:a16="http://schemas.microsoft.com/office/drawing/2014/main" id="{BCA922C7-3CA0-1E86-6A58-1BA3414F23A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35286"/>
          <a:stretch>
            <a:fillRect/>
          </a:stretch>
        </p:blipFill>
        <p:spPr bwMode="auto">
          <a:xfrm>
            <a:off x="981992" y="3068961"/>
            <a:ext cx="8958262" cy="97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217" name="Picture 1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2184" y="4048002"/>
            <a:ext cx="4439816" cy="2792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a:extLst>
              <a:ext uri="{FF2B5EF4-FFF2-40B4-BE49-F238E27FC236}">
                <a16:creationId xmlns:a16="http://schemas.microsoft.com/office/drawing/2014/main" id="{23D078E5-4479-D461-72F1-33A2A85A6556}"/>
              </a:ext>
            </a:extLst>
          </p:cNvPr>
          <p:cNvSpPr/>
          <p:nvPr/>
        </p:nvSpPr>
        <p:spPr>
          <a:xfrm>
            <a:off x="1199456" y="3068961"/>
            <a:ext cx="9145016" cy="97904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内容占位符 5"/>
          <p:cNvSpPr>
            <a:spLocks noGrp="1"/>
          </p:cNvSpPr>
          <p:nvPr>
            <p:ph idx="1"/>
          </p:nvPr>
        </p:nvSpPr>
        <p:spPr>
          <a:xfrm>
            <a:off x="1199456" y="2924176"/>
            <a:ext cx="9360594" cy="3933825"/>
          </a:xfrm>
          <a:noFill/>
        </p:spPr>
        <p:txBody>
          <a:bodyPr/>
          <a:lstStyle/>
          <a:p>
            <a:pPr eaLnBrk="1" hangingPunct="1">
              <a:defRPr/>
            </a:pPr>
            <a:r>
              <a:rPr lang="zh-CN" altLang="en-US" sz="2000" b="1" dirty="0">
                <a:solidFill>
                  <a:schemeClr val="bg2"/>
                </a:solidFill>
                <a:ea typeface="楷体_GB2312" pitchFamily="49" charset="-122"/>
              </a:rPr>
              <a:t>用</a:t>
            </a:r>
            <a:r>
              <a:rPr lang="en-US" altLang="zh-CN" sz="2000" b="1" dirty="0">
                <a:solidFill>
                  <a:schemeClr val="bg2"/>
                </a:solidFill>
                <a:ea typeface="楷体_GB2312" pitchFamily="49" charset="-122"/>
              </a:rPr>
              <a:t>BP</a:t>
            </a:r>
            <a:r>
              <a:rPr lang="zh-CN" altLang="en-US" sz="2000" b="1" dirty="0">
                <a:solidFill>
                  <a:schemeClr val="bg2"/>
                </a:solidFill>
                <a:ea typeface="楷体_GB2312" pitchFamily="49" charset="-122"/>
              </a:rPr>
              <a:t>网络拟合的</a:t>
            </a:r>
            <a:r>
              <a:rPr lang="en-US" altLang="zh-CN" sz="2000" b="1" dirty="0" err="1">
                <a:solidFill>
                  <a:schemeClr val="bg2"/>
                </a:solidFill>
                <a:ea typeface="楷体_GB2312" pitchFamily="49" charset="-122"/>
              </a:rPr>
              <a:t>Matlab</a:t>
            </a:r>
            <a:r>
              <a:rPr lang="zh-CN" altLang="en-US" sz="2000" b="1" dirty="0">
                <a:solidFill>
                  <a:schemeClr val="bg2"/>
                </a:solidFill>
                <a:ea typeface="楷体_GB2312" pitchFamily="49" charset="-122"/>
              </a:rPr>
              <a:t>程序</a:t>
            </a:r>
          </a:p>
          <a:p>
            <a:pPr marL="0" indent="0">
              <a:lnSpc>
                <a:spcPct val="95000"/>
              </a:lnSpc>
              <a:buNone/>
              <a:defRPr/>
            </a:pPr>
            <a:r>
              <a:rPr lang="en-US" altLang="zh-CN" sz="2000" dirty="0">
                <a:solidFill>
                  <a:srgbClr val="3333FF"/>
                </a:solidFill>
              </a:rPr>
              <a:t>TR =[0 5 10 15 20  40 44 47 50  70 76  82 88 94  100];</a:t>
            </a:r>
            <a:endParaRPr lang="zh-CN" altLang="zh-CN" sz="2000" dirty="0">
              <a:solidFill>
                <a:srgbClr val="3333FF"/>
              </a:solidFill>
            </a:endParaRPr>
          </a:p>
          <a:p>
            <a:pPr marL="0" indent="0">
              <a:lnSpc>
                <a:spcPct val="95000"/>
              </a:lnSpc>
              <a:buNone/>
              <a:defRPr/>
            </a:pPr>
            <a:r>
              <a:rPr lang="en-US" altLang="zh-CN" sz="2000" dirty="0"/>
              <a:t>t =[</a:t>
            </a:r>
            <a:r>
              <a:rPr lang="en-US" altLang="zh-CN" sz="2000" dirty="0" err="1"/>
              <a:t>repmat</a:t>
            </a:r>
            <a:r>
              <a:rPr lang="en-US" altLang="zh-CN" sz="2000" dirty="0"/>
              <a:t>([</a:t>
            </a:r>
            <a:r>
              <a:rPr lang="en-US" altLang="zh-CN" sz="2000" dirty="0">
                <a:solidFill>
                  <a:srgbClr val="0066FF"/>
                </a:solidFill>
              </a:rPr>
              <a:t>1</a:t>
            </a:r>
            <a:r>
              <a:rPr lang="en-US" altLang="zh-CN" sz="2000" dirty="0"/>
              <a:t>;0;0], 1, 5),</a:t>
            </a:r>
            <a:r>
              <a:rPr lang="en-US" altLang="zh-CN" sz="2000" dirty="0" err="1"/>
              <a:t>repmat</a:t>
            </a:r>
            <a:r>
              <a:rPr lang="en-US" altLang="zh-CN" sz="2000" dirty="0"/>
              <a:t>([0;</a:t>
            </a:r>
            <a:r>
              <a:rPr lang="en-US" altLang="zh-CN" sz="2000" dirty="0">
                <a:solidFill>
                  <a:srgbClr val="FF0000"/>
                </a:solidFill>
              </a:rPr>
              <a:t>1</a:t>
            </a:r>
            <a:r>
              <a:rPr lang="en-US" altLang="zh-CN" sz="2000" dirty="0"/>
              <a:t>;0], 1, 4),</a:t>
            </a:r>
            <a:r>
              <a:rPr lang="en-US" altLang="zh-CN" sz="2000" dirty="0" err="1"/>
              <a:t>repmat</a:t>
            </a:r>
            <a:r>
              <a:rPr lang="en-US" altLang="zh-CN" sz="2000" dirty="0"/>
              <a:t>([0;0;</a:t>
            </a:r>
            <a:r>
              <a:rPr lang="en-US" altLang="zh-CN" sz="2000" dirty="0">
                <a:solidFill>
                  <a:srgbClr val="008000"/>
                </a:solidFill>
              </a:rPr>
              <a:t>1</a:t>
            </a:r>
            <a:r>
              <a:rPr lang="en-US" altLang="zh-CN" sz="2000" dirty="0"/>
              <a:t>], 1, 6)];</a:t>
            </a:r>
            <a:endParaRPr lang="zh-CN" altLang="zh-CN" sz="2000" dirty="0"/>
          </a:p>
          <a:p>
            <a:pPr marL="0" indent="0">
              <a:lnSpc>
                <a:spcPct val="95000"/>
              </a:lnSpc>
              <a:buNone/>
              <a:defRPr/>
            </a:pPr>
            <a:r>
              <a:rPr lang="en-US" altLang="zh-CN" sz="2000" dirty="0">
                <a:solidFill>
                  <a:srgbClr val="CC00CC"/>
                </a:solidFill>
              </a:rPr>
              <a:t>TE=[1 4 11 17 19  41 43 46 48  73  79 85  91 96  99];</a:t>
            </a:r>
            <a:endParaRPr lang="zh-CN" altLang="zh-CN" sz="2000" dirty="0">
              <a:solidFill>
                <a:srgbClr val="CC00CC"/>
              </a:solidFill>
            </a:endParaRPr>
          </a:p>
          <a:p>
            <a:pPr marL="0" indent="0">
              <a:lnSpc>
                <a:spcPct val="95000"/>
              </a:lnSpc>
              <a:buNone/>
              <a:defRPr/>
            </a:pPr>
            <a:r>
              <a:rPr lang="en-US" altLang="zh-CN" sz="2000" dirty="0"/>
              <a:t>net = </a:t>
            </a:r>
            <a:r>
              <a:rPr lang="en-US" altLang="zh-CN" sz="2000" dirty="0" err="1"/>
              <a:t>newff</a:t>
            </a:r>
            <a:r>
              <a:rPr lang="en-US" altLang="zh-CN" sz="2000" dirty="0"/>
              <a:t>([0 100],[3 3], {'</a:t>
            </a:r>
            <a:r>
              <a:rPr lang="en-US" altLang="zh-CN" sz="2000" dirty="0" err="1"/>
              <a:t>tansig</a:t>
            </a:r>
            <a:r>
              <a:rPr lang="en-US" altLang="zh-CN" sz="2000" dirty="0"/>
              <a:t>' '</a:t>
            </a:r>
            <a:r>
              <a:rPr lang="en-US" altLang="zh-CN" sz="2000" dirty="0" err="1"/>
              <a:t>purelin</a:t>
            </a:r>
            <a:r>
              <a:rPr lang="en-US" altLang="zh-CN" sz="2000" dirty="0"/>
              <a:t>'}, '</a:t>
            </a:r>
            <a:r>
              <a:rPr lang="en-US" altLang="zh-CN" sz="2000" dirty="0" err="1"/>
              <a:t>trainlm</a:t>
            </a:r>
            <a:r>
              <a:rPr lang="en-US" altLang="zh-CN" sz="2000" dirty="0"/>
              <a:t>');</a:t>
            </a:r>
            <a:endParaRPr lang="zh-CN" altLang="zh-CN" sz="2000" dirty="0"/>
          </a:p>
          <a:p>
            <a:pPr marL="0" indent="0">
              <a:lnSpc>
                <a:spcPct val="95000"/>
              </a:lnSpc>
              <a:buNone/>
              <a:defRPr/>
            </a:pPr>
            <a:r>
              <a:rPr lang="en-US" altLang="zh-CN" sz="2000" dirty="0" err="1"/>
              <a:t>net.trainParam.epochs</a:t>
            </a:r>
            <a:r>
              <a:rPr lang="en-US" altLang="zh-CN" sz="2000" dirty="0"/>
              <a:t> = 50;</a:t>
            </a:r>
            <a:endParaRPr lang="zh-CN" altLang="zh-CN" sz="2000" dirty="0"/>
          </a:p>
          <a:p>
            <a:pPr marL="0" indent="0">
              <a:lnSpc>
                <a:spcPct val="95000"/>
              </a:lnSpc>
              <a:buNone/>
              <a:defRPr/>
            </a:pPr>
            <a:r>
              <a:rPr lang="en-US" altLang="zh-CN" sz="2000" dirty="0" err="1"/>
              <a:t>net.trainParam.goal</a:t>
            </a:r>
            <a:r>
              <a:rPr lang="en-US" altLang="zh-CN" sz="2000" dirty="0"/>
              <a:t> = 0.0001;</a:t>
            </a:r>
            <a:endParaRPr lang="zh-CN" altLang="zh-CN" sz="2000" dirty="0"/>
          </a:p>
          <a:p>
            <a:pPr marL="0" indent="0">
              <a:lnSpc>
                <a:spcPct val="95000"/>
              </a:lnSpc>
              <a:buNone/>
              <a:defRPr/>
            </a:pPr>
            <a:r>
              <a:rPr lang="en-US" altLang="zh-CN" sz="2000" dirty="0">
                <a:solidFill>
                  <a:srgbClr val="FF0000"/>
                </a:solidFill>
              </a:rPr>
              <a:t>net = train(</a:t>
            </a:r>
            <a:r>
              <a:rPr lang="en-US" altLang="zh-CN" sz="2000" dirty="0" err="1">
                <a:solidFill>
                  <a:srgbClr val="FF0000"/>
                </a:solidFill>
              </a:rPr>
              <a:t>net,TR,t</a:t>
            </a:r>
            <a:r>
              <a:rPr lang="en-US" altLang="zh-CN" sz="2000" dirty="0">
                <a:solidFill>
                  <a:srgbClr val="FF0000"/>
                </a:solidFill>
              </a:rPr>
              <a:t>);</a:t>
            </a:r>
            <a:endParaRPr lang="zh-CN" altLang="zh-CN" sz="2000" dirty="0">
              <a:solidFill>
                <a:srgbClr val="FF0000"/>
              </a:solidFill>
            </a:endParaRPr>
          </a:p>
          <a:p>
            <a:pPr marL="0" indent="0">
              <a:lnSpc>
                <a:spcPct val="95000"/>
              </a:lnSpc>
              <a:buNone/>
              <a:defRPr/>
            </a:pPr>
            <a:r>
              <a:rPr lang="en-US" altLang="zh-CN" sz="2000" dirty="0"/>
              <a:t>figure(1);</a:t>
            </a:r>
            <a:endParaRPr lang="zh-CN" altLang="zh-CN" sz="2000" dirty="0"/>
          </a:p>
          <a:p>
            <a:pPr marL="0" indent="0">
              <a:lnSpc>
                <a:spcPct val="95000"/>
              </a:lnSpc>
              <a:buNone/>
              <a:defRPr/>
            </a:pPr>
            <a:r>
              <a:rPr lang="en-US" altLang="zh-CN" sz="2000" dirty="0">
                <a:solidFill>
                  <a:srgbClr val="008000"/>
                </a:solidFill>
              </a:rPr>
              <a:t>y = </a:t>
            </a:r>
            <a:r>
              <a:rPr lang="en-US" altLang="zh-CN" sz="2000" dirty="0" err="1">
                <a:solidFill>
                  <a:srgbClr val="008000"/>
                </a:solidFill>
              </a:rPr>
              <a:t>sim</a:t>
            </a:r>
            <a:r>
              <a:rPr lang="en-US" altLang="zh-CN" sz="2000" dirty="0">
                <a:solidFill>
                  <a:srgbClr val="008000"/>
                </a:solidFill>
              </a:rPr>
              <a:t>(</a:t>
            </a:r>
            <a:r>
              <a:rPr lang="en-US" altLang="zh-CN" sz="2000" dirty="0" err="1">
                <a:solidFill>
                  <a:srgbClr val="008000"/>
                </a:solidFill>
              </a:rPr>
              <a:t>net,TE</a:t>
            </a:r>
            <a:r>
              <a:rPr lang="en-US" altLang="zh-CN" sz="2000" dirty="0">
                <a:solidFill>
                  <a:srgbClr val="008000"/>
                </a:solidFill>
              </a:rPr>
              <a:t>);</a:t>
            </a:r>
            <a:endParaRPr lang="zh-CN" altLang="zh-CN" sz="2000" dirty="0">
              <a:solidFill>
                <a:srgbClr val="008000"/>
              </a:solidFill>
            </a:endParaRPr>
          </a:p>
          <a:p>
            <a:pPr marL="0" indent="0">
              <a:lnSpc>
                <a:spcPct val="95000"/>
              </a:lnSpc>
              <a:buNone/>
              <a:defRPr/>
            </a:pPr>
            <a:r>
              <a:rPr lang="en-US" altLang="zh-CN" sz="2000" dirty="0"/>
              <a:t>Plot(TE, y, 'b','LineWidth',3);</a:t>
            </a:r>
            <a:endParaRPr lang="en-US" altLang="zh-CN" dirty="0"/>
          </a:p>
          <a:p>
            <a:pPr eaLnBrk="1" hangingPunct="1">
              <a:defRPr/>
            </a:pPr>
            <a:endParaRPr lang="zh-CN" altLang="zh-CN" dirty="0"/>
          </a:p>
          <a:p>
            <a:pPr marL="0" indent="0" eaLnBrk="1" hangingPunct="1">
              <a:buNone/>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47217"/>
                                        </p:tgtEl>
                                        <p:attrNameLst>
                                          <p:attrName>style.visibility</p:attrName>
                                        </p:attrNameLst>
                                      </p:cBhvr>
                                      <p:to>
                                        <p:strVal val="visible"/>
                                      </p:to>
                                    </p:set>
                                    <p:anim calcmode="lin" valueType="num">
                                      <p:cBhvr additive="base">
                                        <p:cTn id="14" dur="500" fill="hold"/>
                                        <p:tgtEl>
                                          <p:spTgt spid="47217"/>
                                        </p:tgtEl>
                                        <p:attrNameLst>
                                          <p:attrName>ppt_x</p:attrName>
                                        </p:attrNameLst>
                                      </p:cBhvr>
                                      <p:tavLst>
                                        <p:tav tm="0">
                                          <p:val>
                                            <p:strVal val="#ppt_x"/>
                                          </p:val>
                                        </p:tav>
                                        <p:tav tm="100000">
                                          <p:val>
                                            <p:strVal val="#ppt_x"/>
                                          </p:val>
                                        </p:tav>
                                      </p:tavLst>
                                    </p:anim>
                                    <p:anim calcmode="lin" valueType="num">
                                      <p:cBhvr additive="base">
                                        <p:cTn id="15" dur="500" fill="hold"/>
                                        <p:tgtEl>
                                          <p:spTgt spid="4721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wipe(left)">
                                      <p:cBhvr>
                                        <p:cTn id="25" dur="500"/>
                                        <p:tgtEl>
                                          <p:spTgt spid="6">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wipe(left)">
                                      <p:cBhvr>
                                        <p:cTn id="30" dur="500"/>
                                        <p:tgtEl>
                                          <p:spTgt spid="6">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wipe(left)">
                                      <p:cBhvr>
                                        <p:cTn id="35" dur="500"/>
                                        <p:tgtEl>
                                          <p:spTgt spid="6">
                                            <p:txEl>
                                              <p:pRg st="2" end="2"/>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animEffect transition="in" filter="wipe(left)">
                                      <p:cBhvr>
                                        <p:cTn id="45" dur="500"/>
                                        <p:tgtEl>
                                          <p:spTgt spid="6">
                                            <p:txEl>
                                              <p:pRg st="4" end="4"/>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
                                            <p:txEl>
                                              <p:pRg st="5" end="5"/>
                                            </p:txEl>
                                          </p:spTgt>
                                        </p:tgtEl>
                                        <p:attrNameLst>
                                          <p:attrName>style.visibility</p:attrName>
                                        </p:attrNameLst>
                                      </p:cBhvr>
                                      <p:to>
                                        <p:strVal val="visible"/>
                                      </p:to>
                                    </p:set>
                                    <p:animEffect transition="in" filter="wipe(left)">
                                      <p:cBhvr>
                                        <p:cTn id="50" dur="500"/>
                                        <p:tgtEl>
                                          <p:spTgt spid="6">
                                            <p:txEl>
                                              <p:pRg st="5" end="5"/>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
                                            <p:txEl>
                                              <p:pRg st="6" end="6"/>
                                            </p:txEl>
                                          </p:spTgt>
                                        </p:tgtEl>
                                        <p:attrNameLst>
                                          <p:attrName>style.visibility</p:attrName>
                                        </p:attrNameLst>
                                      </p:cBhvr>
                                      <p:to>
                                        <p:strVal val="visible"/>
                                      </p:to>
                                    </p:set>
                                    <p:animEffect transition="in" filter="wipe(left)">
                                      <p:cBhvr>
                                        <p:cTn id="55" dur="500"/>
                                        <p:tgtEl>
                                          <p:spTgt spid="6">
                                            <p:txEl>
                                              <p:pRg st="6" end="6"/>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
                                            <p:txEl>
                                              <p:pRg st="7" end="7"/>
                                            </p:txEl>
                                          </p:spTgt>
                                        </p:tgtEl>
                                        <p:attrNameLst>
                                          <p:attrName>style.visibility</p:attrName>
                                        </p:attrNameLst>
                                      </p:cBhvr>
                                      <p:to>
                                        <p:strVal val="visible"/>
                                      </p:to>
                                    </p:set>
                                    <p:animEffect transition="in" filter="wipe(left)">
                                      <p:cBhvr>
                                        <p:cTn id="60" dur="500"/>
                                        <p:tgtEl>
                                          <p:spTgt spid="6">
                                            <p:txEl>
                                              <p:pRg st="7" end="7"/>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
                                            <p:txEl>
                                              <p:pRg st="8" end="8"/>
                                            </p:txEl>
                                          </p:spTgt>
                                        </p:tgtEl>
                                        <p:attrNameLst>
                                          <p:attrName>style.visibility</p:attrName>
                                        </p:attrNameLst>
                                      </p:cBhvr>
                                      <p:to>
                                        <p:strVal val="visible"/>
                                      </p:to>
                                    </p:set>
                                    <p:animEffect transition="in" filter="wipe(left)">
                                      <p:cBhvr>
                                        <p:cTn id="65" dur="500"/>
                                        <p:tgtEl>
                                          <p:spTgt spid="6">
                                            <p:txEl>
                                              <p:pRg st="8" end="8"/>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6">
                                            <p:txEl>
                                              <p:pRg st="9" end="9"/>
                                            </p:txEl>
                                          </p:spTgt>
                                        </p:tgtEl>
                                        <p:attrNameLst>
                                          <p:attrName>style.visibility</p:attrName>
                                        </p:attrNameLst>
                                      </p:cBhvr>
                                      <p:to>
                                        <p:strVal val="visible"/>
                                      </p:to>
                                    </p:set>
                                    <p:animEffect transition="in" filter="wipe(left)">
                                      <p:cBhvr>
                                        <p:cTn id="70" dur="500"/>
                                        <p:tgtEl>
                                          <p:spTgt spid="6">
                                            <p:txEl>
                                              <p:pRg st="9" end="9"/>
                                            </p:txEl>
                                          </p:spTgt>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
                                            <p:txEl>
                                              <p:pRg st="10" end="10"/>
                                            </p:txEl>
                                          </p:spTgt>
                                        </p:tgtEl>
                                        <p:attrNameLst>
                                          <p:attrName>style.visibility</p:attrName>
                                        </p:attrNameLst>
                                      </p:cBhvr>
                                      <p:to>
                                        <p:strVal val="visible"/>
                                      </p:to>
                                    </p:set>
                                    <p:animEffect transition="in" filter="wipe(left)">
                                      <p:cBhvr>
                                        <p:cTn id="75"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4"/>
          <p:cNvSpPr>
            <a:spLocks noGrp="1"/>
          </p:cNvSpPr>
          <p:nvPr>
            <p:ph type="title"/>
          </p:nvPr>
        </p:nvSpPr>
        <p:spPr>
          <a:xfrm>
            <a:off x="1610769" y="457201"/>
            <a:ext cx="8964487" cy="955675"/>
          </a:xfrm>
        </p:spPr>
        <p:txBody>
          <a:bodyPr/>
          <a:lstStyle/>
          <a:p>
            <a:pPr eaLnBrk="1" hangingPunct="1"/>
            <a:r>
              <a:rPr lang="zh-CN" altLang="en-US" dirty="0">
                <a:solidFill>
                  <a:srgbClr val="008000"/>
                </a:solidFill>
              </a:rPr>
              <a:t>用神经网络方法确定隶属函数举例</a:t>
            </a:r>
            <a:r>
              <a:rPr lang="en-US" altLang="zh-CN" dirty="0">
                <a:solidFill>
                  <a:srgbClr val="008000"/>
                </a:solidFill>
              </a:rPr>
              <a:t>2</a:t>
            </a:r>
            <a:endParaRPr lang="zh-CN" altLang="en-US" dirty="0"/>
          </a:p>
        </p:txBody>
      </p:sp>
      <p:sp>
        <p:nvSpPr>
          <p:cNvPr id="6" name="内容占位符 5"/>
          <p:cNvSpPr>
            <a:spLocks noGrp="1"/>
          </p:cNvSpPr>
          <p:nvPr>
            <p:ph idx="1"/>
          </p:nvPr>
        </p:nvSpPr>
        <p:spPr>
          <a:xfrm>
            <a:off x="875420" y="1268760"/>
            <a:ext cx="10441160" cy="5256137"/>
          </a:xfrm>
        </p:spPr>
        <p:txBody>
          <a:bodyPr/>
          <a:lstStyle/>
          <a:p>
            <a:pPr eaLnBrk="1" hangingPunct="1">
              <a:defRPr/>
            </a:pPr>
            <a:r>
              <a:rPr lang="zh-CN" altLang="zh-CN" sz="2800" b="1" dirty="0">
                <a:ea typeface="华文楷体" pitchFamily="2" charset="-122"/>
              </a:rPr>
              <a:t>网络训练好后，任给</a:t>
            </a:r>
            <a:r>
              <a:rPr lang="en-US" altLang="zh-CN" sz="2800" b="1" dirty="0">
                <a:ea typeface="华文楷体" pitchFamily="2" charset="-122"/>
              </a:rPr>
              <a:t>[0,100]</a:t>
            </a:r>
            <a:r>
              <a:rPr lang="zh-CN" altLang="zh-CN" sz="2800" b="1" dirty="0">
                <a:ea typeface="华文楷体" pitchFamily="2" charset="-122"/>
              </a:rPr>
              <a:t>范围内的数据作为网络的输入，网络的输出则是相应输入对三个分类的隶属值，相当于分别得到了</a:t>
            </a:r>
            <a:r>
              <a:rPr lang="en-US" altLang="zh-CN" sz="2800" b="1" dirty="0">
                <a:ea typeface="华文楷体" pitchFamily="2" charset="-122"/>
              </a:rPr>
              <a:t>R</a:t>
            </a:r>
            <a:r>
              <a:rPr lang="en-US" altLang="zh-CN" sz="2800" b="1" baseline="-25000" dirty="0">
                <a:ea typeface="华文楷体" pitchFamily="2" charset="-122"/>
              </a:rPr>
              <a:t>1</a:t>
            </a:r>
            <a:r>
              <a:rPr lang="zh-CN" altLang="zh-CN" sz="2800" b="1" dirty="0">
                <a:ea typeface="华文楷体" pitchFamily="2" charset="-122"/>
              </a:rPr>
              <a:t>、</a:t>
            </a:r>
            <a:r>
              <a:rPr lang="en-US" altLang="zh-CN" sz="2800" b="1" dirty="0">
                <a:ea typeface="华文楷体" pitchFamily="2" charset="-122"/>
              </a:rPr>
              <a:t>R</a:t>
            </a:r>
            <a:r>
              <a:rPr lang="en-US" altLang="zh-CN" sz="2800" b="1" baseline="-25000" dirty="0">
                <a:ea typeface="华文楷体" pitchFamily="2" charset="-122"/>
              </a:rPr>
              <a:t>2</a:t>
            </a:r>
            <a:r>
              <a:rPr lang="zh-CN" altLang="zh-CN" sz="2800" b="1" dirty="0">
                <a:ea typeface="华文楷体" pitchFamily="2" charset="-122"/>
              </a:rPr>
              <a:t>和</a:t>
            </a:r>
            <a:r>
              <a:rPr lang="en-US" altLang="zh-CN" sz="2800" b="1" dirty="0">
                <a:ea typeface="华文楷体" pitchFamily="2" charset="-122"/>
              </a:rPr>
              <a:t>R</a:t>
            </a:r>
            <a:r>
              <a:rPr lang="en-US" altLang="zh-CN" sz="2800" b="1" baseline="-25000" dirty="0">
                <a:ea typeface="华文楷体" pitchFamily="2" charset="-122"/>
              </a:rPr>
              <a:t>3</a:t>
            </a:r>
            <a:r>
              <a:rPr lang="zh-CN" altLang="zh-CN" sz="2800" b="1" dirty="0">
                <a:ea typeface="华文楷体" pitchFamily="2" charset="-122"/>
              </a:rPr>
              <a:t>的隶属函数。</a:t>
            </a:r>
            <a:endParaRPr lang="en-US" altLang="zh-CN" sz="2800" b="1" dirty="0">
              <a:ea typeface="华文楷体" pitchFamily="2" charset="-122"/>
            </a:endParaRPr>
          </a:p>
          <a:p>
            <a:pPr eaLnBrk="1" hangingPunct="1">
              <a:defRPr/>
            </a:pPr>
            <a:endParaRPr lang="en-US" altLang="zh-CN" sz="2800" b="1" dirty="0">
              <a:ea typeface="华文楷体" pitchFamily="2" charset="-122"/>
            </a:endParaRPr>
          </a:p>
          <a:p>
            <a:pPr eaLnBrk="1" hangingPunct="1">
              <a:defRPr/>
            </a:pPr>
            <a:endParaRPr lang="en-US" altLang="zh-CN" b="1" dirty="0">
              <a:ea typeface="华文楷体" pitchFamily="2" charset="-122"/>
            </a:endParaRPr>
          </a:p>
          <a:p>
            <a:pPr eaLnBrk="1" hangingPunct="1">
              <a:defRPr/>
            </a:pPr>
            <a:endParaRPr lang="en-US" altLang="zh-CN" sz="2800" b="1" dirty="0">
              <a:ea typeface="华文楷体" pitchFamily="2" charset="-122"/>
            </a:endParaRPr>
          </a:p>
          <a:p>
            <a:pPr eaLnBrk="1" hangingPunct="1">
              <a:defRPr/>
            </a:pPr>
            <a:endParaRPr lang="en-US" altLang="zh-CN" sz="4400" b="1" dirty="0">
              <a:ea typeface="华文楷体" pitchFamily="2" charset="-122"/>
            </a:endParaRPr>
          </a:p>
          <a:p>
            <a:pPr eaLnBrk="1" hangingPunct="1">
              <a:defRPr/>
            </a:pPr>
            <a:endParaRPr lang="en-US" altLang="zh-CN" sz="1100" b="1" dirty="0">
              <a:ea typeface="华文楷体" pitchFamily="2" charset="-122"/>
            </a:endParaRPr>
          </a:p>
          <a:p>
            <a:pPr lvl="1" eaLnBrk="1" hangingPunct="1">
              <a:defRPr/>
            </a:pPr>
            <a:r>
              <a:rPr lang="zh-CN" altLang="zh-CN" sz="2400" b="1" dirty="0">
                <a:solidFill>
                  <a:srgbClr val="CC00CC"/>
                </a:solidFill>
                <a:ea typeface="华文楷体" pitchFamily="2" charset="-122"/>
                <a:cs typeface="+mn-cs"/>
              </a:rPr>
              <a:t>如输入为</a:t>
            </a:r>
            <a:r>
              <a:rPr lang="en-US" altLang="zh-CN" sz="2400" b="1" dirty="0">
                <a:solidFill>
                  <a:srgbClr val="CC00CC"/>
                </a:solidFill>
                <a:ea typeface="华文楷体" pitchFamily="2" charset="-122"/>
                <a:cs typeface="+mn-cs"/>
              </a:rPr>
              <a:t>25</a:t>
            </a:r>
            <a:r>
              <a:rPr lang="zh-CN" altLang="zh-CN" sz="2400" b="1" dirty="0">
                <a:solidFill>
                  <a:srgbClr val="CC00CC"/>
                </a:solidFill>
                <a:ea typeface="华文楷体" pitchFamily="2" charset="-122"/>
                <a:cs typeface="+mn-cs"/>
              </a:rPr>
              <a:t>，网络输出为</a:t>
            </a:r>
            <a:r>
              <a:rPr lang="en-US" altLang="zh-CN" sz="2400" b="1" dirty="0">
                <a:solidFill>
                  <a:srgbClr val="CC00CC"/>
                </a:solidFill>
                <a:ea typeface="华文楷体" pitchFamily="2" charset="-122"/>
                <a:cs typeface="+mn-cs"/>
              </a:rPr>
              <a:t>R</a:t>
            </a:r>
            <a:r>
              <a:rPr lang="en-US" altLang="zh-CN" sz="2400" b="1" baseline="-25000" dirty="0">
                <a:solidFill>
                  <a:srgbClr val="CC00CC"/>
                </a:solidFill>
                <a:ea typeface="华文楷体" pitchFamily="2" charset="-122"/>
                <a:cs typeface="+mn-cs"/>
              </a:rPr>
              <a:t>1</a:t>
            </a:r>
            <a:r>
              <a:rPr lang="en-US" altLang="zh-CN" sz="2400" b="1" dirty="0">
                <a:solidFill>
                  <a:srgbClr val="CC00CC"/>
                </a:solidFill>
                <a:ea typeface="华文楷体" pitchFamily="2" charset="-122"/>
                <a:cs typeface="+mn-cs"/>
              </a:rPr>
              <a:t>=0.90, R</a:t>
            </a:r>
            <a:r>
              <a:rPr lang="en-US" altLang="zh-CN" sz="2400" b="1" baseline="-25000" dirty="0">
                <a:solidFill>
                  <a:srgbClr val="CC00CC"/>
                </a:solidFill>
                <a:ea typeface="华文楷体" pitchFamily="2" charset="-122"/>
                <a:cs typeface="+mn-cs"/>
              </a:rPr>
              <a:t>2</a:t>
            </a:r>
            <a:r>
              <a:rPr lang="en-US" altLang="zh-CN" sz="2400" b="1" dirty="0">
                <a:solidFill>
                  <a:srgbClr val="CC00CC"/>
                </a:solidFill>
                <a:ea typeface="华文楷体" pitchFamily="2" charset="-122"/>
                <a:cs typeface="+mn-cs"/>
              </a:rPr>
              <a:t>=0.10, R</a:t>
            </a:r>
            <a:r>
              <a:rPr lang="en-US" altLang="zh-CN" sz="2400" b="1" baseline="-25000" dirty="0">
                <a:solidFill>
                  <a:srgbClr val="CC00CC"/>
                </a:solidFill>
                <a:ea typeface="华文楷体" pitchFamily="2" charset="-122"/>
                <a:cs typeface="+mn-cs"/>
              </a:rPr>
              <a:t>3</a:t>
            </a:r>
            <a:r>
              <a:rPr lang="en-US" altLang="zh-CN" sz="2400" b="1" dirty="0">
                <a:solidFill>
                  <a:srgbClr val="CC00CC"/>
                </a:solidFill>
                <a:ea typeface="华文楷体" pitchFamily="2" charset="-122"/>
                <a:cs typeface="+mn-cs"/>
              </a:rPr>
              <a:t>=0.00</a:t>
            </a:r>
            <a:r>
              <a:rPr lang="zh-CN" altLang="zh-CN" sz="2400" b="1" dirty="0">
                <a:solidFill>
                  <a:srgbClr val="CC00CC"/>
                </a:solidFill>
                <a:ea typeface="华文楷体" pitchFamily="2" charset="-122"/>
                <a:cs typeface="+mn-cs"/>
              </a:rPr>
              <a:t>。</a:t>
            </a:r>
            <a:endParaRPr lang="en-US" altLang="zh-CN" sz="2400" b="1" dirty="0">
              <a:solidFill>
                <a:srgbClr val="CC00CC"/>
              </a:solidFill>
              <a:ea typeface="华文楷体" pitchFamily="2" charset="-122"/>
              <a:cs typeface="+mn-cs"/>
            </a:endParaRPr>
          </a:p>
          <a:p>
            <a:pPr eaLnBrk="1" hangingPunct="1">
              <a:defRPr/>
            </a:pPr>
            <a:r>
              <a:rPr lang="zh-CN" altLang="zh-CN" sz="2800" b="1" dirty="0">
                <a:ea typeface="华文楷体" pitchFamily="2" charset="-122"/>
              </a:rPr>
              <a:t>不同模糊类中的不同数据点隶属函数的完全映射可用来确定不同类的</a:t>
            </a:r>
            <a:r>
              <a:rPr lang="zh-CN" altLang="en-US" sz="2800" b="1" dirty="0">
                <a:ea typeface="华文楷体" pitchFamily="2" charset="-122"/>
              </a:rPr>
              <a:t>过渡</a:t>
            </a:r>
            <a:endParaRPr lang="zh-CN" altLang="zh-CN" sz="3600" dirty="0"/>
          </a:p>
        </p:txBody>
      </p:sp>
      <p:sp>
        <p:nvSpPr>
          <p:cNvPr id="48132" name="Rectangle 2"/>
          <p:cNvSpPr>
            <a:spLocks noChangeArrowheads="1"/>
          </p:cNvSpPr>
          <p:nvPr/>
        </p:nvSpPr>
        <p:spPr bwMode="auto">
          <a:xfrm>
            <a:off x="152400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pic>
        <p:nvPicPr>
          <p:cNvPr id="4813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64904"/>
            <a:ext cx="8964487"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a:extLst>
              <a:ext uri="{FF2B5EF4-FFF2-40B4-BE49-F238E27FC236}">
                <a16:creationId xmlns:a16="http://schemas.microsoft.com/office/drawing/2014/main" id="{DE83E6F1-6173-88D7-5327-B615D518262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024" t="13572" r="6021" b="32575"/>
          <a:stretch/>
        </p:blipFill>
        <p:spPr bwMode="auto">
          <a:xfrm>
            <a:off x="2495600" y="4670198"/>
            <a:ext cx="7344816" cy="563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直接连接符 3">
            <a:extLst>
              <a:ext uri="{FF2B5EF4-FFF2-40B4-BE49-F238E27FC236}">
                <a16:creationId xmlns:a16="http://schemas.microsoft.com/office/drawing/2014/main" id="{2E695008-B49E-3E37-BC14-C9B0E41E315D}"/>
              </a:ext>
            </a:extLst>
          </p:cNvPr>
          <p:cNvCxnSpPr>
            <a:cxnSpLocks/>
          </p:cNvCxnSpPr>
          <p:nvPr/>
        </p:nvCxnSpPr>
        <p:spPr>
          <a:xfrm flipV="1">
            <a:off x="4439816" y="2895115"/>
            <a:ext cx="0" cy="1469989"/>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6E01D82C-A03C-36A8-E7B7-07FF8A6CFD9E}"/>
              </a:ext>
            </a:extLst>
          </p:cNvPr>
          <p:cNvSpPr>
            <a:spLocks noGrp="1"/>
          </p:cNvSpPr>
          <p:nvPr>
            <p:ph type="sldNum" sz="quarter" idx="11"/>
          </p:nvPr>
        </p:nvSpPr>
        <p:spPr/>
        <p:txBody>
          <a:bodyPr/>
          <a:lstStyle/>
          <a:p>
            <a:pPr>
              <a:defRPr/>
            </a:pPr>
            <a:fld id="{E0FB5469-1AEB-496D-971A-66705BF2F73C}" type="slidenum">
              <a:rPr lang="en-US" altLang="zh-CN" smtClean="0"/>
              <a:pPr>
                <a:defRPr/>
              </a:pPr>
              <a:t>66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133"/>
                                        </p:tgtEl>
                                        <p:attrNameLst>
                                          <p:attrName>style.visibility</p:attrName>
                                        </p:attrNameLst>
                                      </p:cBhvr>
                                      <p:to>
                                        <p:strVal val="visible"/>
                                      </p:to>
                                    </p:set>
                                    <p:animEffect transition="in" filter="fade">
                                      <p:cBhvr>
                                        <p:cTn id="12" dur="500"/>
                                        <p:tgtEl>
                                          <p:spTgt spid="4813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wipe(left)">
                                      <p:cBhvr>
                                        <p:cTn id="23" dur="500"/>
                                        <p:tgtEl>
                                          <p:spTgt spid="6">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Effect transition="in" filter="wipe(left)">
                                      <p:cBhvr>
                                        <p:cTn id="33"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ctr"/>
            <a:r>
              <a:rPr lang="zh-CN" altLang="en-US" dirty="0">
                <a:solidFill>
                  <a:srgbClr val="008000"/>
                </a:solidFill>
                <a:latin typeface="黑体" panose="02010609060101010101" pitchFamily="49" charset="-122"/>
                <a:ea typeface="黑体" panose="02010609060101010101" pitchFamily="49" charset="-122"/>
              </a:rPr>
              <a:t>作业四</a:t>
            </a:r>
          </a:p>
        </p:txBody>
      </p:sp>
      <p:sp>
        <p:nvSpPr>
          <p:cNvPr id="7" name="内容占位符 6"/>
          <p:cNvSpPr>
            <a:spLocks noGrp="1"/>
          </p:cNvSpPr>
          <p:nvPr>
            <p:ph idx="1"/>
          </p:nvPr>
        </p:nvSpPr>
        <p:spPr/>
        <p:txBody>
          <a:bodyPr/>
          <a:lstStyle/>
          <a:p>
            <a:r>
              <a:rPr lang="zh-CN" altLang="en-US" sz="3600" dirty="0">
                <a:latin typeface="黑体" panose="02010609060101010101" pitchFamily="49" charset="-122"/>
                <a:ea typeface="黑体" panose="02010609060101010101" pitchFamily="49" charset="-122"/>
              </a:rPr>
              <a:t>习题二</a:t>
            </a:r>
            <a:endParaRPr lang="en-US" altLang="zh-CN" sz="3600" dirty="0">
              <a:latin typeface="黑体" panose="02010609060101010101" pitchFamily="49" charset="-122"/>
              <a:ea typeface="黑体" panose="02010609060101010101" pitchFamily="49" charset="-122"/>
            </a:endParaRPr>
          </a:p>
          <a:p>
            <a:pPr marL="0" indent="0">
              <a:buNone/>
            </a:pPr>
            <a:r>
              <a:rPr lang="en-US" altLang="zh-CN" sz="3600"/>
              <a:t>   12~14</a:t>
            </a:r>
            <a:endParaRPr lang="zh-CN" altLang="en-US" dirty="0"/>
          </a:p>
        </p:txBody>
      </p:sp>
      <p:sp>
        <p:nvSpPr>
          <p:cNvPr id="2" name="灯片编号占位符 1">
            <a:extLst>
              <a:ext uri="{FF2B5EF4-FFF2-40B4-BE49-F238E27FC236}">
                <a16:creationId xmlns:a16="http://schemas.microsoft.com/office/drawing/2014/main" id="{6962D7BD-69F2-C318-A8CF-C427CA13F1A1}"/>
              </a:ext>
            </a:extLst>
          </p:cNvPr>
          <p:cNvSpPr>
            <a:spLocks noGrp="1"/>
          </p:cNvSpPr>
          <p:nvPr>
            <p:ph type="sldNum" sz="quarter" idx="11"/>
          </p:nvPr>
        </p:nvSpPr>
        <p:spPr/>
        <p:txBody>
          <a:bodyPr/>
          <a:lstStyle/>
          <a:p>
            <a:pPr>
              <a:defRPr/>
            </a:pPr>
            <a:fld id="{E0FB5469-1AEB-496D-971A-66705BF2F73C}" type="slidenum">
              <a:rPr lang="en-US" altLang="zh-CN" smtClean="0"/>
              <a:pPr>
                <a:defRPr/>
              </a:pPr>
              <a:t>67</a:t>
            </a:fld>
            <a:endParaRPr lang="en-US" altLang="zh-CN"/>
          </a:p>
        </p:txBody>
      </p:sp>
    </p:spTree>
    <p:extLst>
      <p:ext uri="{BB962C8B-B14F-4D97-AF65-F5344CB8AC3E}">
        <p14:creationId xmlns:p14="http://schemas.microsoft.com/office/powerpoint/2010/main" val="3799835609"/>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42567</TotalTime>
  <Words>5038</Words>
  <Application>Microsoft Office PowerPoint</Application>
  <PresentationFormat>宽屏</PresentationFormat>
  <Paragraphs>1064</Paragraphs>
  <Slides>67</Slides>
  <Notes>25</Notes>
  <HiddenSlides>1</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67</vt:i4>
      </vt:variant>
    </vt:vector>
  </HeadingPairs>
  <TitlesOfParts>
    <vt:vector size="86" baseType="lpstr">
      <vt:lpstr>黑体</vt:lpstr>
      <vt:lpstr>华文楷体</vt:lpstr>
      <vt:lpstr>楷体</vt:lpstr>
      <vt:lpstr>楷体_GB2312</vt:lpstr>
      <vt:lpstr>隶书</vt:lpstr>
      <vt:lpstr>宋体</vt:lpstr>
      <vt:lpstr>Arial</vt:lpstr>
      <vt:lpstr>Arial Black</vt:lpstr>
      <vt:lpstr>Monotype Corsiva</vt:lpstr>
      <vt:lpstr>Symbol</vt:lpstr>
      <vt:lpstr>Times New Roman</vt:lpstr>
      <vt:lpstr>Verdana</vt:lpstr>
      <vt:lpstr>Wingdings</vt:lpstr>
      <vt:lpstr>Pixel</vt:lpstr>
      <vt:lpstr>公式</vt:lpstr>
      <vt:lpstr>Equation</vt:lpstr>
      <vt:lpstr>MathType 6.0 Equation</vt:lpstr>
      <vt:lpstr>Visio</vt:lpstr>
      <vt:lpstr>Microsoft Equation 3.0</vt:lpstr>
      <vt:lpstr>第 2 章 模糊模式识别</vt:lpstr>
      <vt:lpstr>确定隶属函数的方法</vt:lpstr>
      <vt:lpstr>隶属函数确定方法3：F统计方法</vt:lpstr>
      <vt:lpstr>隶属函数确定方法4：多相F统计</vt:lpstr>
      <vt:lpstr>隶属函数确定方法4：三分法</vt:lpstr>
      <vt:lpstr>隶属函数确定方法4：三分法</vt:lpstr>
      <vt:lpstr>三分法举例</vt:lpstr>
      <vt:lpstr>三分法举例</vt:lpstr>
      <vt:lpstr>隶属函数确定方法5：二元排序法</vt:lpstr>
      <vt:lpstr>二元排序法——1. 相对比较法</vt:lpstr>
      <vt:lpstr>二元排序法——1. 相对比较法</vt:lpstr>
      <vt:lpstr>二元排序法——1. 相对比较法</vt:lpstr>
      <vt:lpstr>二元排序法——2. 择优比较法</vt:lpstr>
      <vt:lpstr>二元排序法——2. 择优比较法</vt:lpstr>
      <vt:lpstr>隶属函数确定方法6：F分布法</vt:lpstr>
      <vt:lpstr>隶属函数确定方法6：F分布法</vt:lpstr>
      <vt:lpstr>矩形分布(参数：a, b)</vt:lpstr>
      <vt:lpstr>梯形分布（参数：a, b, c, d）</vt:lpstr>
      <vt:lpstr>抛物型分布（参数：a, b, c, d, k）</vt:lpstr>
      <vt:lpstr>正态分布（参数：a,  ）</vt:lpstr>
      <vt:lpstr>柯西分布（参数：a, ,  ）</vt:lpstr>
      <vt:lpstr>岭形分布（参数：a1, a2, a3, a4 ）</vt:lpstr>
      <vt:lpstr>岭形分布（参数：a1, a2, a3, a4 ）</vt:lpstr>
      <vt:lpstr>岭形分布（参数：a1, a2, a3, a4 ）</vt:lpstr>
      <vt:lpstr>选择F分布的两种方式</vt:lpstr>
      <vt:lpstr>F分布的应用</vt:lpstr>
      <vt:lpstr>F分布的应用</vt:lpstr>
      <vt:lpstr>F分布的应用</vt:lpstr>
      <vt:lpstr>“年青人”的F分布图形</vt:lpstr>
      <vt:lpstr>插值法</vt:lpstr>
      <vt:lpstr>插值法</vt:lpstr>
      <vt:lpstr>插值法举例</vt:lpstr>
      <vt:lpstr>隶属函数确定方法8: 神经网络方法 神经网络(Neural Network, NN)介绍</vt:lpstr>
      <vt:lpstr>系统模式中系统复杂性与精确性的关系</vt:lpstr>
      <vt:lpstr>神经网络的基本原理</vt:lpstr>
      <vt:lpstr>人工神经元模型 </vt:lpstr>
      <vt:lpstr>PowerPoint 演示文稿</vt:lpstr>
      <vt:lpstr>PowerPoint 演示文稿</vt:lpstr>
      <vt:lpstr>PowerPoint 演示文稿</vt:lpstr>
      <vt:lpstr>神经网络的典型结构</vt:lpstr>
      <vt:lpstr>PowerPoint 演示文稿</vt:lpstr>
      <vt:lpstr>神经网络的结构——反馈网络</vt:lpstr>
      <vt:lpstr>人工神经网络的训练 </vt:lpstr>
      <vt:lpstr>神经网络的主要学习方法</vt:lpstr>
      <vt:lpstr>神经网络的主要学习规则</vt:lpstr>
      <vt:lpstr>神经网络的主要学习规则</vt:lpstr>
      <vt:lpstr>人工神经网络方法</vt:lpstr>
      <vt:lpstr>BP神经网络</vt:lpstr>
      <vt:lpstr>反向传播算法(BP算法)</vt:lpstr>
      <vt:lpstr>反向传播算法(BP算法)</vt:lpstr>
      <vt:lpstr>反向传播算法(BP算法)</vt:lpstr>
      <vt:lpstr>反向传播算法(BP算法)</vt:lpstr>
      <vt:lpstr>PowerPoint 演示文稿</vt:lpstr>
      <vt:lpstr>应用举例</vt:lpstr>
      <vt:lpstr>BP网络分类系统训练过程</vt:lpstr>
      <vt:lpstr>BP网络分类系统训练过程</vt:lpstr>
      <vt:lpstr>BP网络分类系统训练过程</vt:lpstr>
      <vt:lpstr>BP网络的设计  隐含层的神经元数的确定方法</vt:lpstr>
      <vt:lpstr>BP网络的设计 学习速率</vt:lpstr>
      <vt:lpstr>BP网络的设计 限制与不足 </vt:lpstr>
      <vt:lpstr>BP算法的改进方法 </vt:lpstr>
      <vt:lpstr>用神经网络方法确定隶属函数举例1</vt:lpstr>
      <vt:lpstr>用神经网络方法确定隶属函数举例1</vt:lpstr>
      <vt:lpstr>用神经网络方法确定隶属函数举例2</vt:lpstr>
      <vt:lpstr>用神经网络方法确定隶属函数举例2</vt:lpstr>
      <vt:lpstr>用神经网络方法确定隶属函数举例2</vt:lpstr>
      <vt:lpstr>作业四</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模糊模式识别原则</dc:title>
  <dc:creator>凌卫新;微软用户</dc:creator>
  <cp:lastModifiedBy>wxling66@outlook.com</cp:lastModifiedBy>
  <cp:revision>564</cp:revision>
  <cp:lastPrinted>2015-03-23T16:47:07Z</cp:lastPrinted>
  <dcterms:created xsi:type="dcterms:W3CDTF">2007-03-27T07:40:26Z</dcterms:created>
  <dcterms:modified xsi:type="dcterms:W3CDTF">2026-03-23T14:45:14Z</dcterms:modified>
</cp:coreProperties>
</file>