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2.xml" ContentType="application/vnd.openxmlformats-officedocument.themeOverride+xml"/>
  <Override PartName="/ppt/notesSlides/notesSlide9.xml" ContentType="application/vnd.openxmlformats-officedocument.presentationml.notesSlide+xml"/>
  <Override PartName="/ppt/theme/themeOverride3.xml" ContentType="application/vnd.openxmlformats-officedocument.themeOverride+xml"/>
  <Override PartName="/ppt/notesSlides/notesSlide10.xml" ContentType="application/vnd.openxmlformats-officedocument.presentationml.notesSlide+xml"/>
  <Override PartName="/ppt/theme/themeOverride4.xml" ContentType="application/vnd.openxmlformats-officedocument.themeOverride+xml"/>
  <Override PartName="/ppt/notesSlides/notesSlide11.xml" ContentType="application/vnd.openxmlformats-officedocument.presentationml.notesSlide+xml"/>
  <Override PartName="/ppt/theme/themeOverride5.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01"/>
  </p:notesMasterIdLst>
  <p:handoutMasterIdLst>
    <p:handoutMasterId r:id="rId102"/>
  </p:handoutMasterIdLst>
  <p:sldIdLst>
    <p:sldId id="339" r:id="rId2"/>
    <p:sldId id="342" r:id="rId3"/>
    <p:sldId id="343" r:id="rId4"/>
    <p:sldId id="311" r:id="rId5"/>
    <p:sldId id="315" r:id="rId6"/>
    <p:sldId id="312" r:id="rId7"/>
    <p:sldId id="313" r:id="rId8"/>
    <p:sldId id="314" r:id="rId9"/>
    <p:sldId id="317" r:id="rId10"/>
    <p:sldId id="318" r:id="rId11"/>
    <p:sldId id="319" r:id="rId12"/>
    <p:sldId id="357" r:id="rId13"/>
    <p:sldId id="320" r:id="rId14"/>
    <p:sldId id="321" r:id="rId15"/>
    <p:sldId id="322" r:id="rId16"/>
    <p:sldId id="323" r:id="rId17"/>
    <p:sldId id="324" r:id="rId18"/>
    <p:sldId id="325" r:id="rId19"/>
    <p:sldId id="326" r:id="rId20"/>
    <p:sldId id="327" r:id="rId21"/>
    <p:sldId id="328" r:id="rId22"/>
    <p:sldId id="329" r:id="rId23"/>
    <p:sldId id="258" r:id="rId24"/>
    <p:sldId id="268" r:id="rId25"/>
    <p:sldId id="266" r:id="rId26"/>
    <p:sldId id="410" r:id="rId27"/>
    <p:sldId id="411" r:id="rId28"/>
    <p:sldId id="412" r:id="rId29"/>
    <p:sldId id="413" r:id="rId30"/>
    <p:sldId id="414" r:id="rId31"/>
    <p:sldId id="267" r:id="rId32"/>
    <p:sldId id="269" r:id="rId33"/>
    <p:sldId id="270" r:id="rId34"/>
    <p:sldId id="271" r:id="rId35"/>
    <p:sldId id="272" r:id="rId36"/>
    <p:sldId id="273" r:id="rId37"/>
    <p:sldId id="274" r:id="rId38"/>
    <p:sldId id="275" r:id="rId39"/>
    <p:sldId id="276" r:id="rId40"/>
    <p:sldId id="277" r:id="rId41"/>
    <p:sldId id="301" r:id="rId42"/>
    <p:sldId id="300" r:id="rId43"/>
    <p:sldId id="278" r:id="rId44"/>
    <p:sldId id="279" r:id="rId45"/>
    <p:sldId id="394" r:id="rId46"/>
    <p:sldId id="395" r:id="rId47"/>
    <p:sldId id="280" r:id="rId48"/>
    <p:sldId id="298" r:id="rId49"/>
    <p:sldId id="354" r:id="rId50"/>
    <p:sldId id="283" r:id="rId51"/>
    <p:sldId id="282" r:id="rId52"/>
    <p:sldId id="284" r:id="rId53"/>
    <p:sldId id="396" r:id="rId54"/>
    <p:sldId id="397" r:id="rId55"/>
    <p:sldId id="398" r:id="rId56"/>
    <p:sldId id="399" r:id="rId57"/>
    <p:sldId id="400" r:id="rId58"/>
    <p:sldId id="401" r:id="rId59"/>
    <p:sldId id="402" r:id="rId60"/>
    <p:sldId id="356" r:id="rId61"/>
    <p:sldId id="403" r:id="rId62"/>
    <p:sldId id="404" r:id="rId63"/>
    <p:sldId id="416" r:id="rId64"/>
    <p:sldId id="379" r:id="rId65"/>
    <p:sldId id="302" r:id="rId66"/>
    <p:sldId id="359" r:id="rId67"/>
    <p:sldId id="360" r:id="rId68"/>
    <p:sldId id="361" r:id="rId69"/>
    <p:sldId id="308" r:id="rId70"/>
    <p:sldId id="381" r:id="rId71"/>
    <p:sldId id="380" r:id="rId72"/>
    <p:sldId id="408" r:id="rId73"/>
    <p:sldId id="409" r:id="rId74"/>
    <p:sldId id="417" r:id="rId75"/>
    <p:sldId id="422" r:id="rId76"/>
    <p:sldId id="423" r:id="rId77"/>
    <p:sldId id="307" r:id="rId78"/>
    <p:sldId id="405" r:id="rId79"/>
    <p:sldId id="362" r:id="rId80"/>
    <p:sldId id="363" r:id="rId81"/>
    <p:sldId id="364" r:id="rId82"/>
    <p:sldId id="365" r:id="rId83"/>
    <p:sldId id="366" r:id="rId84"/>
    <p:sldId id="316" r:id="rId85"/>
    <p:sldId id="367" r:id="rId86"/>
    <p:sldId id="368" r:id="rId87"/>
    <p:sldId id="369" r:id="rId88"/>
    <p:sldId id="370" r:id="rId89"/>
    <p:sldId id="330" r:id="rId90"/>
    <p:sldId id="371" r:id="rId91"/>
    <p:sldId id="372" r:id="rId92"/>
    <p:sldId id="373" r:id="rId93"/>
    <p:sldId id="374" r:id="rId94"/>
    <p:sldId id="375" r:id="rId95"/>
    <p:sldId id="376" r:id="rId96"/>
    <p:sldId id="377" r:id="rId97"/>
    <p:sldId id="378" r:id="rId98"/>
    <p:sldId id="420" r:id="rId99"/>
    <p:sldId id="421" r:id="rId100"/>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FF0066"/>
    <a:srgbClr val="B5E61D"/>
    <a:srgbClr val="FA7A12"/>
    <a:srgbClr val="4E86BF"/>
    <a:srgbClr val="3333FF"/>
    <a:srgbClr val="FF0000"/>
    <a:srgbClr val="008000"/>
    <a:srgbClr val="FFFFCC"/>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3692" autoAdjust="0"/>
  </p:normalViewPr>
  <p:slideViewPr>
    <p:cSldViewPr>
      <p:cViewPr varScale="1">
        <p:scale>
          <a:sx n="57" d="100"/>
          <a:sy n="57" d="100"/>
        </p:scale>
        <p:origin x="102" y="336"/>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4237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7987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7987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7987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7A16C515-5038-4F29-9793-72B23A8885FB}" type="slidenum">
              <a:rPr lang="en-US" altLang="zh-CN"/>
              <a:pPr>
                <a:defRPr/>
              </a:pPr>
              <a:t>‹#›</a:t>
            </a:fld>
            <a:endParaRPr lang="en-US" altLang="zh-CN"/>
          </a:p>
        </p:txBody>
      </p:sp>
    </p:spTree>
    <p:extLst>
      <p:ext uri="{BB962C8B-B14F-4D97-AF65-F5344CB8AC3E}">
        <p14:creationId xmlns:p14="http://schemas.microsoft.com/office/powerpoint/2010/main" val="35882961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12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554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2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12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ED33F81A-6228-4033-8C95-C4667528DA50}" type="slidenum">
              <a:rPr lang="en-US" altLang="zh-CN"/>
              <a:pPr>
                <a:defRPr/>
              </a:pPr>
              <a:t>‹#›</a:t>
            </a:fld>
            <a:endParaRPr lang="en-US" altLang="zh-CN"/>
          </a:p>
        </p:txBody>
      </p:sp>
    </p:spTree>
    <p:extLst>
      <p:ext uri="{BB962C8B-B14F-4D97-AF65-F5344CB8AC3E}">
        <p14:creationId xmlns:p14="http://schemas.microsoft.com/office/powerpoint/2010/main" val="12138026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54.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56.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58.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61.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9938" name="Rectangle 7"/>
          <p:cNvSpPr txBox="1">
            <a:spLocks noGrp="1" noChangeArrowheads="1"/>
          </p:cNvSpPr>
          <p:nvPr/>
        </p:nvSpPr>
        <p:spPr bwMode="auto">
          <a:xfrm>
            <a:off x="377825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fld id="{FD74CB66-42D7-4F41-95E5-1F3E1C2D843E}" type="slidenum">
              <a:rPr lang="en-US" altLang="zh-CN" sz="1200"/>
              <a:pPr algn="r" eaLnBrk="1" hangingPunct="1"/>
              <a:t>2</a:t>
            </a:fld>
            <a:endParaRPr lang="en-US" altLang="zh-CN" sz="1200"/>
          </a:p>
        </p:txBody>
      </p:sp>
      <p:sp>
        <p:nvSpPr>
          <p:cNvPr id="39939" name="Rectangle 2"/>
          <p:cNvSpPr>
            <a:spLocks noGrp="1" noRot="1" noChangeAspect="1" noChangeArrowheads="1" noTextEdit="1"/>
          </p:cNvSpPr>
          <p:nvPr>
            <p:ph type="sldImg"/>
          </p:nvPr>
        </p:nvSpPr>
        <p:spPr>
          <a:xfrm>
            <a:off x="26988" y="744538"/>
            <a:ext cx="6615112" cy="3722687"/>
          </a:xfrm>
        </p:spPr>
      </p:sp>
      <p:sp>
        <p:nvSpPr>
          <p:cNvPr id="39940" name="Rectangle 3"/>
          <p:cNvSpPr>
            <a:spLocks noGrp="1" noChangeArrowheads="1"/>
          </p:cNvSpPr>
          <p:nvPr>
            <p:ph type="body" idx="1"/>
          </p:nvPr>
        </p:nvSpPr>
        <p:spPr/>
        <p:txBody>
          <a:bodyPr anchor="t"/>
          <a:lstStyle/>
          <a:p>
            <a:pPr eaLnBrk="1" hangingPunct="1"/>
            <a:r>
              <a:rPr lang="zh-CN" altLang="en-US"/>
              <a:t>此阶段得到规则库，这此语言术语的意义在第二阶段确定</a:t>
            </a:r>
          </a:p>
        </p:txBody>
      </p:sp>
    </p:spTree>
    <p:extLst>
      <p:ext uri="{BB962C8B-B14F-4D97-AF65-F5344CB8AC3E}">
        <p14:creationId xmlns:p14="http://schemas.microsoft.com/office/powerpoint/2010/main" val="252047956"/>
      </p:ext>
    </p:extLst>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F8592D3-688D-4C88-AB5B-6BB2DB5D24BA}" type="slidenum">
              <a:rPr lang="en-US" altLang="zh-CN" smtClean="0"/>
              <a:pPr/>
              <a:t>3</a:t>
            </a:fld>
            <a:endParaRPr lang="en-US" altLang="zh-CN"/>
          </a:p>
        </p:txBody>
      </p:sp>
    </p:spTree>
    <p:extLst>
      <p:ext uri="{BB962C8B-B14F-4D97-AF65-F5344CB8AC3E}">
        <p14:creationId xmlns:p14="http://schemas.microsoft.com/office/powerpoint/2010/main" val="520133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r>
              <a:rPr lang="zh-CN" altLang="en-US" dirty="0"/>
              <a:t>在</a:t>
            </a:r>
            <a:r>
              <a:rPr lang="en-US" altLang="zh-CN" dirty="0" err="1"/>
              <a:t>matlab</a:t>
            </a:r>
            <a:r>
              <a:rPr lang="en-US" altLang="zh-CN" baseline="0" dirty="0"/>
              <a:t> </a:t>
            </a:r>
            <a:r>
              <a:rPr lang="zh-CN" altLang="en-US" baseline="0" dirty="0"/>
              <a:t>命令窗中 键入 </a:t>
            </a:r>
            <a:r>
              <a:rPr lang="en-US" altLang="zh-CN" baseline="0" dirty="0"/>
              <a:t>fuzzy </a:t>
            </a:r>
            <a:r>
              <a:rPr lang="zh-CN" altLang="en-US" baseline="0" dirty="0"/>
              <a:t>回车，即可。</a:t>
            </a:r>
            <a:endParaRPr lang="zh-CN" altLang="en-US" dirty="0"/>
          </a:p>
        </p:txBody>
      </p:sp>
      <p:sp>
        <p:nvSpPr>
          <p:cNvPr id="4" name="灯片编号占位符 3"/>
          <p:cNvSpPr>
            <a:spLocks noGrp="1"/>
          </p:cNvSpPr>
          <p:nvPr>
            <p:ph type="sldNum" sz="quarter" idx="10"/>
          </p:nvPr>
        </p:nvSpPr>
        <p:spPr/>
        <p:txBody>
          <a:bodyPr/>
          <a:lstStyle/>
          <a:p>
            <a:fld id="{1F8592D3-688D-4C88-AB5B-6BB2DB5D24BA}" type="slidenum">
              <a:rPr lang="en-US" altLang="zh-CN" smtClean="0"/>
              <a:pPr/>
              <a:t>4</a:t>
            </a:fld>
            <a:endParaRPr lang="en-US" altLang="zh-CN"/>
          </a:p>
        </p:txBody>
      </p:sp>
    </p:spTree>
    <p:extLst>
      <p:ext uri="{BB962C8B-B14F-4D97-AF65-F5344CB8AC3E}">
        <p14:creationId xmlns:p14="http://schemas.microsoft.com/office/powerpoint/2010/main" val="952544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And: </a:t>
            </a:r>
            <a:r>
              <a:rPr lang="zh-CN" altLang="en-US" dirty="0"/>
              <a:t>乘积，</a:t>
            </a:r>
            <a:r>
              <a:rPr lang="en-US" altLang="zh-CN" dirty="0"/>
              <a:t>Or: </a:t>
            </a:r>
            <a:r>
              <a:rPr lang="zh-CN" altLang="en-US" dirty="0"/>
              <a:t>代数和，去</a:t>
            </a:r>
            <a:r>
              <a:rPr lang="en-US" altLang="zh-CN" dirty="0"/>
              <a:t>F</a:t>
            </a:r>
            <a:r>
              <a:rPr lang="zh-CN" altLang="en-US" dirty="0"/>
              <a:t>化：算术平均</a:t>
            </a:r>
          </a:p>
        </p:txBody>
      </p:sp>
      <p:sp>
        <p:nvSpPr>
          <p:cNvPr id="4" name="灯片编号占位符 3"/>
          <p:cNvSpPr>
            <a:spLocks noGrp="1"/>
          </p:cNvSpPr>
          <p:nvPr>
            <p:ph type="sldNum" sz="quarter" idx="5"/>
          </p:nvPr>
        </p:nvSpPr>
        <p:spPr/>
        <p:txBody>
          <a:bodyPr/>
          <a:lstStyle/>
          <a:p>
            <a:pPr>
              <a:defRPr/>
            </a:pPr>
            <a:fld id="{ED33F81A-6228-4033-8C95-C4667528DA50}" type="slidenum">
              <a:rPr lang="en-US" altLang="zh-CN" smtClean="0"/>
              <a:pPr>
                <a:defRPr/>
              </a:pPr>
              <a:t>5</a:t>
            </a:fld>
            <a:endParaRPr lang="en-US" altLang="zh-CN"/>
          </a:p>
        </p:txBody>
      </p:sp>
    </p:spTree>
    <p:extLst>
      <p:ext uri="{BB962C8B-B14F-4D97-AF65-F5344CB8AC3E}">
        <p14:creationId xmlns:p14="http://schemas.microsoft.com/office/powerpoint/2010/main" val="3837236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And: </a:t>
            </a:r>
            <a:r>
              <a:rPr lang="zh-CN" altLang="en-US" dirty="0"/>
              <a:t>取小，</a:t>
            </a:r>
            <a:r>
              <a:rPr lang="en-US" altLang="zh-CN" dirty="0"/>
              <a:t>Or: </a:t>
            </a:r>
            <a:r>
              <a:rPr lang="zh-CN" altLang="en-US" dirty="0"/>
              <a:t>取大，推理：取小，集成：取大，去</a:t>
            </a:r>
            <a:r>
              <a:rPr lang="en-US" altLang="zh-CN" dirty="0"/>
              <a:t>F</a:t>
            </a:r>
            <a:r>
              <a:rPr lang="zh-CN" altLang="en-US" dirty="0"/>
              <a:t>化：算术平均</a:t>
            </a:r>
          </a:p>
          <a:p>
            <a:endParaRPr lang="zh-CN" altLang="en-US" dirty="0"/>
          </a:p>
        </p:txBody>
      </p:sp>
      <p:sp>
        <p:nvSpPr>
          <p:cNvPr id="4" name="灯片编号占位符 3"/>
          <p:cNvSpPr>
            <a:spLocks noGrp="1"/>
          </p:cNvSpPr>
          <p:nvPr>
            <p:ph type="sldNum" sz="quarter" idx="5"/>
          </p:nvPr>
        </p:nvSpPr>
        <p:spPr/>
        <p:txBody>
          <a:bodyPr/>
          <a:lstStyle/>
          <a:p>
            <a:pPr>
              <a:defRPr/>
            </a:pPr>
            <a:fld id="{ED33F81A-6228-4033-8C95-C4667528DA50}" type="slidenum">
              <a:rPr lang="en-US" altLang="zh-CN" smtClean="0"/>
              <a:pPr>
                <a:defRPr/>
              </a:pPr>
              <a:t>6</a:t>
            </a:fld>
            <a:endParaRPr lang="en-US" altLang="zh-CN"/>
          </a:p>
        </p:txBody>
      </p:sp>
    </p:spTree>
    <p:extLst>
      <p:ext uri="{BB962C8B-B14F-4D97-AF65-F5344CB8AC3E}">
        <p14:creationId xmlns:p14="http://schemas.microsoft.com/office/powerpoint/2010/main" val="2559695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u="none" strike="noStrike" dirty="0">
                <a:solidFill>
                  <a:srgbClr val="000000"/>
                </a:solidFill>
              </a:rPr>
              <a:t>现代模糊专家系统的核心技术之一是神经-模糊系统，其中最著名的就是ANFIS。它巧妙地将TSK模糊系统转化为一个五层神经网络结构。这样做的好处是，我们可以利用成熟的神经网络训练算法，让系统从数据中自动学习隶属函数的形状和规则的参数，而不再需要专家手动调试。这既保留了模糊系统的可解释性，又具备了神经网络强大的学习能力。</a:t>
            </a:r>
          </a:p>
          <a:p>
            <a:endParaRPr lang="zh-CN" altLang="en-US" dirty="0"/>
          </a:p>
        </p:txBody>
      </p:sp>
      <p:sp>
        <p:nvSpPr>
          <p:cNvPr id="4" name="灯片编号占位符 3"/>
          <p:cNvSpPr>
            <a:spLocks noGrp="1"/>
          </p:cNvSpPr>
          <p:nvPr>
            <p:ph type="sldNum" sz="quarter" idx="5"/>
          </p:nvPr>
        </p:nvSpPr>
        <p:spPr/>
        <p:txBody>
          <a:bodyPr/>
          <a:lstStyle/>
          <a:p>
            <a:pPr>
              <a:defRPr/>
            </a:pPr>
            <a:fld id="{ED33F81A-6228-4033-8C95-C4667528DA50}" type="slidenum">
              <a:rPr lang="en-US" altLang="zh-CN" smtClean="0"/>
              <a:pPr>
                <a:defRPr/>
              </a:pPr>
              <a:t>25</a:t>
            </a:fld>
            <a:endParaRPr lang="en-US" altLang="zh-CN"/>
          </a:p>
        </p:txBody>
      </p:sp>
    </p:spTree>
    <p:extLst>
      <p:ext uri="{BB962C8B-B14F-4D97-AF65-F5344CB8AC3E}">
        <p14:creationId xmlns:p14="http://schemas.microsoft.com/office/powerpoint/2010/main" val="556732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u="none" strike="noStrike" dirty="0">
                <a:solidFill>
                  <a:srgbClr val="000000"/>
                </a:solidFill>
              </a:rPr>
              <a:t>现代模糊专家系统的核心技术之一是神经-模糊系统，其中最著名的就是ANFIS。它巧妙地将TSK模糊系统转化为一个五层神经网络结构。这样做的好处是，我们可以利用成熟的神经网络训练算法，让系统从数据中自动学习隶属函数的形状和规则的参数，而不再需要专家手动调试。这既保留了模糊系统的可解释性，又具备了神经网络强大的学习能力。</a:t>
            </a:r>
          </a:p>
          <a:p>
            <a:endParaRPr lang="zh-CN" altLang="en-US" dirty="0"/>
          </a:p>
        </p:txBody>
      </p:sp>
      <p:sp>
        <p:nvSpPr>
          <p:cNvPr id="4" name="灯片编号占位符 3"/>
          <p:cNvSpPr>
            <a:spLocks noGrp="1"/>
          </p:cNvSpPr>
          <p:nvPr>
            <p:ph type="sldNum" sz="quarter" idx="5"/>
          </p:nvPr>
        </p:nvSpPr>
        <p:spPr/>
        <p:txBody>
          <a:bodyPr/>
          <a:lstStyle/>
          <a:p>
            <a:pPr>
              <a:defRPr/>
            </a:pPr>
            <a:fld id="{ED33F81A-6228-4033-8C95-C4667528DA50}" type="slidenum">
              <a:rPr lang="en-US" altLang="zh-CN" smtClean="0"/>
              <a:pPr>
                <a:defRPr/>
              </a:pPr>
              <a:t>29</a:t>
            </a:fld>
            <a:endParaRPr lang="en-US" altLang="zh-CN"/>
          </a:p>
        </p:txBody>
      </p:sp>
    </p:spTree>
    <p:extLst>
      <p:ext uri="{BB962C8B-B14F-4D97-AF65-F5344CB8AC3E}">
        <p14:creationId xmlns:p14="http://schemas.microsoft.com/office/powerpoint/2010/main" val="1240886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9698" name="Rectangle 7"/>
          <p:cNvSpPr txBox="1">
            <a:spLocks noGrp="1"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fld id="{CC554D78-DF08-4858-B6F6-D632108E1F9E}" type="slidenum">
              <a:rPr lang="en-US" altLang="zh-CN" sz="1200"/>
              <a:pPr algn="r" eaLnBrk="1" hangingPunct="1"/>
              <a:t>54</a:t>
            </a:fld>
            <a:endParaRPr lang="en-US" altLang="zh-CN" sz="1200"/>
          </a:p>
        </p:txBody>
      </p:sp>
      <p:sp>
        <p:nvSpPr>
          <p:cNvPr id="29699" name="Rectangle 2"/>
          <p:cNvSpPr>
            <a:spLocks noGrp="1" noRot="1" noChangeAspect="1" noChangeArrowheads="1" noTextEdit="1"/>
          </p:cNvSpPr>
          <p:nvPr>
            <p:ph type="sldImg"/>
          </p:nvPr>
        </p:nvSpPr>
        <p:spPr>
          <a:xfrm>
            <a:off x="26988" y="744538"/>
            <a:ext cx="6615112" cy="3722687"/>
          </a:xfrm>
        </p:spPr>
      </p:sp>
      <p:sp>
        <p:nvSpPr>
          <p:cNvPr id="29700" name="Rectangle 3"/>
          <p:cNvSpPr>
            <a:spLocks noGrp="1" noChangeArrowheads="1"/>
          </p:cNvSpPr>
          <p:nvPr>
            <p:ph type="body" idx="1"/>
          </p:nvPr>
        </p:nvSpPr>
        <p:spPr/>
        <p:txBody>
          <a:bodyPr anchor="t"/>
          <a:lstStyle/>
          <a:p>
            <a:pPr eaLnBrk="1" hangingPunct="1"/>
            <a:r>
              <a:rPr lang="en-US" altLang="zh-CN"/>
              <a:t>100step    4mf</a:t>
            </a:r>
          </a:p>
        </p:txBody>
      </p:sp>
    </p:spTree>
    <p:extLst>
      <p:ext uri="{BB962C8B-B14F-4D97-AF65-F5344CB8AC3E}">
        <p14:creationId xmlns:p14="http://schemas.microsoft.com/office/powerpoint/2010/main" val="665111745"/>
      </p:ext>
    </p:extLst>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2770" name="Rectangle 7"/>
          <p:cNvSpPr txBox="1">
            <a:spLocks noGrp="1"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fld id="{05D95BA6-DACF-4D5F-935B-1451EE1E3AC0}" type="slidenum">
              <a:rPr lang="en-US" altLang="zh-CN" sz="1200"/>
              <a:pPr algn="r" eaLnBrk="1" hangingPunct="1"/>
              <a:t>56</a:t>
            </a:fld>
            <a:endParaRPr lang="en-US" altLang="zh-CN" sz="1200"/>
          </a:p>
        </p:txBody>
      </p:sp>
      <p:sp>
        <p:nvSpPr>
          <p:cNvPr id="32771" name="Rectangle 2"/>
          <p:cNvSpPr>
            <a:spLocks noGrp="1" noRot="1" noChangeAspect="1" noChangeArrowheads="1" noTextEdit="1"/>
          </p:cNvSpPr>
          <p:nvPr>
            <p:ph type="sldImg"/>
          </p:nvPr>
        </p:nvSpPr>
        <p:spPr>
          <a:xfrm>
            <a:off x="26988" y="744538"/>
            <a:ext cx="6615112" cy="3722687"/>
          </a:xfrm>
        </p:spPr>
      </p:sp>
      <p:sp>
        <p:nvSpPr>
          <p:cNvPr id="32772" name="Rectangle 3"/>
          <p:cNvSpPr>
            <a:spLocks noGrp="1" noChangeArrowheads="1"/>
          </p:cNvSpPr>
          <p:nvPr>
            <p:ph type="body" idx="1"/>
          </p:nvPr>
        </p:nvSpPr>
        <p:spPr/>
        <p:txBody>
          <a:bodyPr anchor="t"/>
          <a:lstStyle/>
          <a:p>
            <a:pPr eaLnBrk="1" hangingPunct="1"/>
            <a:r>
              <a:rPr lang="en-US" altLang="zh-CN"/>
              <a:t>1000 step 4mf</a:t>
            </a:r>
          </a:p>
        </p:txBody>
      </p:sp>
    </p:spTree>
    <p:extLst>
      <p:ext uri="{BB962C8B-B14F-4D97-AF65-F5344CB8AC3E}">
        <p14:creationId xmlns:p14="http://schemas.microsoft.com/office/powerpoint/2010/main" val="3455608620"/>
      </p:ext>
    </p:extLst>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5842" name="Rectangle 7"/>
          <p:cNvSpPr txBox="1">
            <a:spLocks noGrp="1"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fld id="{9FA5BCC2-A5B1-42A6-9D5A-964EBB2FA472}" type="slidenum">
              <a:rPr lang="en-US" altLang="zh-CN" sz="1200"/>
              <a:pPr algn="r" eaLnBrk="1" hangingPunct="1"/>
              <a:t>58</a:t>
            </a:fld>
            <a:endParaRPr lang="en-US" altLang="zh-CN" sz="1200"/>
          </a:p>
        </p:txBody>
      </p:sp>
      <p:sp>
        <p:nvSpPr>
          <p:cNvPr id="35843" name="Rectangle 2"/>
          <p:cNvSpPr>
            <a:spLocks noGrp="1" noRot="1" noChangeAspect="1" noChangeArrowheads="1" noTextEdit="1"/>
          </p:cNvSpPr>
          <p:nvPr>
            <p:ph type="sldImg"/>
          </p:nvPr>
        </p:nvSpPr>
        <p:spPr>
          <a:xfrm>
            <a:off x="26988" y="744538"/>
            <a:ext cx="6615112" cy="3722687"/>
          </a:xfrm>
        </p:spPr>
      </p:sp>
      <p:sp>
        <p:nvSpPr>
          <p:cNvPr id="35844" name="Rectangle 3"/>
          <p:cNvSpPr>
            <a:spLocks noGrp="1" noChangeArrowheads="1"/>
          </p:cNvSpPr>
          <p:nvPr>
            <p:ph type="body" idx="1"/>
          </p:nvPr>
        </p:nvSpPr>
        <p:spPr/>
        <p:txBody>
          <a:bodyPr anchor="t"/>
          <a:lstStyle/>
          <a:p>
            <a:pPr eaLnBrk="1" hangingPunct="1"/>
            <a:r>
              <a:rPr lang="en-US" altLang="zh-CN"/>
              <a:t>100step 5mf (best)</a:t>
            </a:r>
          </a:p>
        </p:txBody>
      </p:sp>
    </p:spTree>
    <p:extLst>
      <p:ext uri="{BB962C8B-B14F-4D97-AF65-F5344CB8AC3E}">
        <p14:creationId xmlns:p14="http://schemas.microsoft.com/office/powerpoint/2010/main" val="3746380921"/>
      </p:ext>
    </p:extLst>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8914" name="Rectangle 7"/>
          <p:cNvSpPr txBox="1">
            <a:spLocks noGrp="1"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fld id="{75C1F6AE-2373-47D6-8988-E04AAD9791CA}" type="slidenum">
              <a:rPr lang="en-US" altLang="zh-CN" sz="1200"/>
              <a:pPr algn="r" eaLnBrk="1" hangingPunct="1"/>
              <a:t>61</a:t>
            </a:fld>
            <a:endParaRPr lang="en-US" altLang="zh-CN" sz="1200"/>
          </a:p>
        </p:txBody>
      </p:sp>
      <p:sp>
        <p:nvSpPr>
          <p:cNvPr id="38915" name="Rectangle 2"/>
          <p:cNvSpPr>
            <a:spLocks noGrp="1" noRot="1" noChangeAspect="1" noChangeArrowheads="1" noTextEdit="1"/>
          </p:cNvSpPr>
          <p:nvPr>
            <p:ph type="sldImg"/>
          </p:nvPr>
        </p:nvSpPr>
        <p:spPr>
          <a:xfrm>
            <a:off x="26988" y="744538"/>
            <a:ext cx="6615112" cy="3722687"/>
          </a:xfrm>
        </p:spPr>
      </p:sp>
      <p:sp>
        <p:nvSpPr>
          <p:cNvPr id="38916" name="Rectangle 3"/>
          <p:cNvSpPr>
            <a:spLocks noGrp="1" noChangeArrowheads="1"/>
          </p:cNvSpPr>
          <p:nvPr>
            <p:ph type="body" idx="1"/>
          </p:nvPr>
        </p:nvSpPr>
        <p:spPr/>
        <p:txBody>
          <a:bodyPr anchor="t"/>
          <a:lstStyle/>
          <a:p>
            <a:pPr eaLnBrk="1" hangingPunct="1"/>
            <a:r>
              <a:rPr lang="en-US" altLang="zh-CN"/>
              <a:t>100 atep 6mf</a:t>
            </a:r>
          </a:p>
        </p:txBody>
      </p:sp>
    </p:spTree>
    <p:extLst>
      <p:ext uri="{BB962C8B-B14F-4D97-AF65-F5344CB8AC3E}">
        <p14:creationId xmlns:p14="http://schemas.microsoft.com/office/powerpoint/2010/main" val="1503645520"/>
      </p:ext>
    </p:extLst>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dirty="0">
                <a:solidFill>
                  <a:srgbClr val="000000"/>
                </a:solidFill>
              </a:rPr>
              <a:t>它借用了遗传算法等进化计算的思想，把模糊系统的设计变成一个优化问题。我们可以让算法去自动寻找最优的隶属函数参数，甚至自动生成和删减规则。这极大地解放了人力，让系统能够从数据中自动学习，很好地解决了知识获取的难题。同时，它还能在模型的准确性和简单性之间找到一个最佳平衡点。</a:t>
            </a:r>
            <a:endParaRPr lang="zh-CN" altLang="en-US" dirty="0"/>
          </a:p>
        </p:txBody>
      </p:sp>
      <p:sp>
        <p:nvSpPr>
          <p:cNvPr id="4" name="灯片编号占位符 3"/>
          <p:cNvSpPr>
            <a:spLocks noGrp="1"/>
          </p:cNvSpPr>
          <p:nvPr>
            <p:ph type="sldNum" sz="quarter" idx="5"/>
          </p:nvPr>
        </p:nvSpPr>
        <p:spPr/>
        <p:txBody>
          <a:bodyPr/>
          <a:lstStyle/>
          <a:p>
            <a:pPr>
              <a:defRPr/>
            </a:pPr>
            <a:fld id="{ED33F81A-6228-4033-8C95-C4667528DA50}" type="slidenum">
              <a:rPr lang="en-US" altLang="zh-CN" smtClean="0"/>
              <a:pPr>
                <a:defRPr/>
              </a:pPr>
              <a:t>63</a:t>
            </a:fld>
            <a:endParaRPr lang="en-US" altLang="zh-CN"/>
          </a:p>
        </p:txBody>
      </p:sp>
    </p:spTree>
    <p:extLst>
      <p:ext uri="{BB962C8B-B14F-4D97-AF65-F5344CB8AC3E}">
        <p14:creationId xmlns:p14="http://schemas.microsoft.com/office/powerpoint/2010/main" val="2196434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B5DAC-8405-0D5C-16DE-B731BF5AFD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7DB239-D9A1-0E5E-7523-23BE966570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247AC7-CEBA-99B0-8027-4C76E87F1974}"/>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u="none" strike="noStrike" dirty="0">
                <a:solidFill>
                  <a:srgbClr val="000000"/>
                </a:solidFill>
              </a:rPr>
              <a:t>模糊专家系统的发展经历了几个关键阶段。从1965年扎德教授奠定理论基础，到1974年第一个实际应用诞生。80年代，日本掀起了商业化浪潮，将模糊技术应用在家电和交通领域，让世界看到了它的巨大潜力。进入90年代，随着人工智能技术的发展，模糊系统开始与神经网络、进化算法等深度融合，变得更加智能，应用范围也极大地拓宽了。</a:t>
            </a:r>
          </a:p>
          <a:p>
            <a:endParaRPr lang="zh-CN" altLang="en-US" dirty="0"/>
          </a:p>
        </p:txBody>
      </p:sp>
      <p:sp>
        <p:nvSpPr>
          <p:cNvPr id="4" name="灯片编号占位符 3">
            <a:extLst>
              <a:ext uri="{FF2B5EF4-FFF2-40B4-BE49-F238E27FC236}">
                <a16:creationId xmlns:a16="http://schemas.microsoft.com/office/drawing/2014/main" id="{B2BDA7C8-A218-22EF-FAA6-7714D6F8E2CE}"/>
              </a:ext>
            </a:extLst>
          </p:cNvPr>
          <p:cNvSpPr>
            <a:spLocks noGrp="1"/>
          </p:cNvSpPr>
          <p:nvPr>
            <p:ph type="sldNum" sz="quarter" idx="5"/>
          </p:nvPr>
        </p:nvSpPr>
        <p:spPr/>
        <p:txBody>
          <a:bodyPr/>
          <a:lstStyle/>
          <a:p>
            <a:pPr>
              <a:defRPr/>
            </a:pPr>
            <a:fld id="{ED33F81A-6228-4033-8C95-C4667528DA50}" type="slidenum">
              <a:rPr lang="en-US" altLang="zh-CN" smtClean="0"/>
              <a:pPr>
                <a:defRPr/>
              </a:pPr>
              <a:t>72</a:t>
            </a:fld>
            <a:endParaRPr lang="en-US" altLang="zh-CN"/>
          </a:p>
        </p:txBody>
      </p:sp>
    </p:spTree>
    <p:extLst>
      <p:ext uri="{BB962C8B-B14F-4D97-AF65-F5344CB8AC3E}">
        <p14:creationId xmlns:p14="http://schemas.microsoft.com/office/powerpoint/2010/main" val="376292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D5E4E-711B-ECE9-4843-D0F72BFD0B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734FA4-8F1B-0D68-7FCF-F4EB977D20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FF1B64-31FB-2A72-2CD0-2B96CF94C039}"/>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u="none" strike="noStrike" dirty="0">
                <a:solidFill>
                  <a:srgbClr val="000000"/>
                </a:solidFill>
              </a:rPr>
              <a:t>模糊专家系统的发展经历了几个关键阶段。从1965年扎德教授奠定理论基础，到1974年第一个实际应用诞生。80年代，日本掀起了商业化浪潮，将模糊技术应用在家电和交通领域，让世界看到了它的巨大潜力。进入90年代，随着人工智能技术的发展，模糊系统开始与神经网络、进化算法等深度融合，变得更加智能，应用范围也极大地拓宽了。</a:t>
            </a:r>
          </a:p>
          <a:p>
            <a:endParaRPr lang="zh-CN" altLang="en-US" dirty="0"/>
          </a:p>
        </p:txBody>
      </p:sp>
      <p:sp>
        <p:nvSpPr>
          <p:cNvPr id="4" name="灯片编号占位符 3">
            <a:extLst>
              <a:ext uri="{FF2B5EF4-FFF2-40B4-BE49-F238E27FC236}">
                <a16:creationId xmlns:a16="http://schemas.microsoft.com/office/drawing/2014/main" id="{1EB43155-58A2-630B-6584-1CE5B548757B}"/>
              </a:ext>
            </a:extLst>
          </p:cNvPr>
          <p:cNvSpPr>
            <a:spLocks noGrp="1"/>
          </p:cNvSpPr>
          <p:nvPr>
            <p:ph type="sldNum" sz="quarter" idx="5"/>
          </p:nvPr>
        </p:nvSpPr>
        <p:spPr/>
        <p:txBody>
          <a:bodyPr/>
          <a:lstStyle/>
          <a:p>
            <a:pPr>
              <a:defRPr/>
            </a:pPr>
            <a:fld id="{ED33F81A-6228-4033-8C95-C4667528DA50}" type="slidenum">
              <a:rPr lang="en-US" altLang="zh-CN" smtClean="0"/>
              <a:pPr>
                <a:defRPr/>
              </a:pPr>
              <a:t>73</a:t>
            </a:fld>
            <a:endParaRPr lang="en-US" altLang="zh-CN"/>
          </a:p>
        </p:txBody>
      </p:sp>
    </p:spTree>
    <p:extLst>
      <p:ext uri="{BB962C8B-B14F-4D97-AF65-F5344CB8AC3E}">
        <p14:creationId xmlns:p14="http://schemas.microsoft.com/office/powerpoint/2010/main" val="2453034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err="1">
                <a:solidFill>
                  <a:srgbClr val="000000"/>
                </a:solidFill>
                <a:latin typeface="黑体" panose="02010609060101010101" pitchFamily="49" charset="-122"/>
                <a:ea typeface="黑体" panose="02010609060101010101" pitchFamily="49" charset="-122"/>
              </a:rPr>
              <a:t>不再用一个精确的数字来表示隶属度，而是用一个范围</a:t>
            </a:r>
            <a:r>
              <a:rPr lang="en-US" altLang="zh-CN" sz="1200" dirty="0">
                <a:solidFill>
                  <a:srgbClr val="000000"/>
                </a:solidFill>
                <a:latin typeface="黑体" panose="02010609060101010101" pitchFamily="49" charset="-122"/>
                <a:ea typeface="黑体" panose="02010609060101010101" pitchFamily="49" charset="-122"/>
              </a:rPr>
              <a:t>(</a:t>
            </a:r>
            <a:r>
              <a:rPr lang="zh-CN" altLang="en-US" sz="1200" dirty="0">
                <a:solidFill>
                  <a:srgbClr val="000000"/>
                </a:solidFill>
                <a:latin typeface="黑体" panose="02010609060101010101" pitchFamily="49" charset="-122"/>
                <a:ea typeface="黑体" panose="02010609060101010101" pitchFamily="49" charset="-122"/>
              </a:rPr>
              <a:t>或</a:t>
            </a:r>
            <a:r>
              <a:rPr lang="en-US" altLang="zh-CN" sz="1200" dirty="0" err="1">
                <a:solidFill>
                  <a:srgbClr val="000000"/>
                </a:solidFill>
                <a:latin typeface="黑体" panose="02010609060101010101" pitchFamily="49" charset="-122"/>
                <a:ea typeface="黑体" panose="02010609060101010101" pitchFamily="49" charset="-122"/>
              </a:rPr>
              <a:t>F集合</a:t>
            </a:r>
            <a:r>
              <a:rPr lang="en-US" altLang="zh-CN" sz="1200" dirty="0">
                <a:solidFill>
                  <a:srgbClr val="000000"/>
                </a:solidFill>
                <a:latin typeface="黑体" panose="02010609060101010101" pitchFamily="49" charset="-122"/>
                <a:ea typeface="黑体" panose="02010609060101010101" pitchFamily="49" charset="-122"/>
              </a:rPr>
              <a:t>)</a:t>
            </a:r>
            <a:r>
              <a:rPr lang="en-US" altLang="zh-CN" sz="1200" dirty="0" err="1">
                <a:solidFill>
                  <a:srgbClr val="000000"/>
                </a:solidFill>
                <a:latin typeface="黑体" panose="02010609060101010101" pitchFamily="49" charset="-122"/>
                <a:ea typeface="黑体" panose="02010609060101010101" pitchFamily="49" charset="-122"/>
              </a:rPr>
              <a:t>来表示</a:t>
            </a:r>
            <a:r>
              <a:rPr lang="en-US" altLang="zh-CN" sz="1200" dirty="0">
                <a:solidFill>
                  <a:srgbClr val="000000"/>
                </a:solidFill>
                <a:latin typeface="黑体" panose="02010609060101010101" pitchFamily="49" charset="-122"/>
                <a:ea typeface="黑体" panose="02010609060101010101" pitchFamily="49" charset="-122"/>
              </a:rPr>
              <a:t>。</a:t>
            </a:r>
            <a:r>
              <a:rPr lang="zh-CN" altLang="en-US" sz="1200" dirty="0">
                <a:solidFill>
                  <a:srgbClr val="000000"/>
                </a:solidFill>
                <a:latin typeface="黑体" panose="02010609060101010101" pitchFamily="49" charset="-122"/>
                <a:ea typeface="黑体" panose="02010609060101010101" pitchFamily="49" charset="-122"/>
              </a:rPr>
              <a:t>则</a:t>
            </a:r>
            <a:r>
              <a:rPr lang="en-US" altLang="zh-CN" sz="1200" dirty="0" err="1">
                <a:solidFill>
                  <a:srgbClr val="000000"/>
                </a:solidFill>
                <a:latin typeface="黑体" panose="02010609060101010101" pitchFamily="49" charset="-122"/>
                <a:ea typeface="黑体" panose="02010609060101010101" pitchFamily="49" charset="-122"/>
              </a:rPr>
              <a:t>隶属度本身就</a:t>
            </a:r>
            <a:r>
              <a:rPr lang="zh-CN" altLang="en-US" sz="1200" dirty="0">
                <a:solidFill>
                  <a:srgbClr val="000000"/>
                </a:solidFill>
                <a:latin typeface="黑体" panose="02010609060101010101" pitchFamily="49" charset="-122"/>
                <a:ea typeface="黑体" panose="02010609060101010101" pitchFamily="49" charset="-122"/>
              </a:rPr>
              <a:t>具有</a:t>
            </a:r>
            <a:r>
              <a:rPr lang="en-US" altLang="zh-CN" sz="1200" dirty="0" err="1">
                <a:solidFill>
                  <a:srgbClr val="000000"/>
                </a:solidFill>
                <a:latin typeface="黑体" panose="02010609060101010101" pitchFamily="49" charset="-122"/>
                <a:ea typeface="黑体" panose="02010609060101010101" pitchFamily="49" charset="-122"/>
              </a:rPr>
              <a:t>不确定性</a:t>
            </a:r>
            <a:r>
              <a:rPr lang="en-US" altLang="zh-CN" sz="1200" dirty="0">
                <a:solidFill>
                  <a:srgbClr val="000000"/>
                </a:solidFill>
                <a:latin typeface="黑体" panose="02010609060101010101" pitchFamily="49" charset="-122"/>
                <a:ea typeface="黑体" panose="02010609060101010101" pitchFamily="49" charset="-122"/>
              </a:rPr>
              <a:t>，</a:t>
            </a:r>
            <a:r>
              <a:rPr lang="zh-CN" altLang="en-US" sz="1200" dirty="0">
                <a:solidFill>
                  <a:srgbClr val="000000"/>
                </a:solidFill>
                <a:latin typeface="黑体" panose="02010609060101010101" pitchFamily="49" charset="-122"/>
                <a:ea typeface="黑体" panose="02010609060101010101" pitchFamily="49" charset="-122"/>
              </a:rPr>
              <a:t>能</a:t>
            </a:r>
            <a:r>
              <a:rPr lang="en-US" altLang="zh-CN" sz="1200" dirty="0" err="1">
                <a:solidFill>
                  <a:srgbClr val="000000"/>
                </a:solidFill>
                <a:latin typeface="黑体" panose="02010609060101010101" pitchFamily="49" charset="-122"/>
                <a:ea typeface="黑体" panose="02010609060101010101" pitchFamily="49" charset="-122"/>
              </a:rPr>
              <a:t>更好地</a:t>
            </a:r>
            <a:r>
              <a:rPr lang="zh-CN" altLang="en-US" sz="1200" dirty="0">
                <a:solidFill>
                  <a:srgbClr val="000000"/>
                </a:solidFill>
                <a:latin typeface="黑体" panose="02010609060101010101" pitchFamily="49" charset="-122"/>
                <a:ea typeface="黑体" panose="02010609060101010101" pitchFamily="49" charset="-122"/>
              </a:rPr>
              <a:t>对真实</a:t>
            </a:r>
            <a:r>
              <a:rPr lang="en-US" altLang="zh-CN" sz="1200" dirty="0" err="1">
                <a:solidFill>
                  <a:srgbClr val="000000"/>
                </a:solidFill>
                <a:latin typeface="黑体" panose="02010609060101010101" pitchFamily="49" charset="-122"/>
                <a:ea typeface="黑体" panose="02010609060101010101" pitchFamily="49" charset="-122"/>
              </a:rPr>
              <a:t>世界中复杂的、多层次的模糊信息</a:t>
            </a:r>
            <a:r>
              <a:rPr lang="zh-CN" altLang="en-US" sz="1200" dirty="0">
                <a:solidFill>
                  <a:srgbClr val="000000"/>
                </a:solidFill>
                <a:latin typeface="黑体" panose="02010609060101010101" pitchFamily="49" charset="-122"/>
                <a:ea typeface="黑体" panose="02010609060101010101" pitchFamily="49" charset="-122"/>
              </a:rPr>
              <a:t>进行建模</a:t>
            </a:r>
            <a:r>
              <a:rPr lang="en-US" altLang="zh-CN" sz="1200" dirty="0">
                <a:solidFill>
                  <a:srgbClr val="000000"/>
                </a:solidFill>
                <a:latin typeface="黑体" panose="02010609060101010101" pitchFamily="49" charset="-122"/>
                <a:ea typeface="黑体" panose="02010609060101010101" pitchFamily="49" charset="-122"/>
              </a:rPr>
              <a:t>。</a:t>
            </a:r>
            <a:endParaRPr lang="en-US" altLang="zh-CN" sz="1200" dirty="0">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ED33F81A-6228-4033-8C95-C4667528DA50}" type="slidenum">
              <a:rPr lang="en-US" altLang="zh-CN" smtClean="0"/>
              <a:pPr>
                <a:defRPr/>
              </a:pPr>
              <a:t>75</a:t>
            </a:fld>
            <a:endParaRPr lang="en-US" altLang="zh-CN"/>
          </a:p>
        </p:txBody>
      </p:sp>
    </p:spTree>
    <p:extLst>
      <p:ext uri="{BB962C8B-B14F-4D97-AF65-F5344CB8AC3E}">
        <p14:creationId xmlns:p14="http://schemas.microsoft.com/office/powerpoint/2010/main" val="30022193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9B428-089F-3E09-997E-F18A59D166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EC2774-BD46-EA1D-07AD-4A9C5A7F9E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E05F79-7FE5-2F24-8557-6BBBDA29BF63}"/>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err="1">
                <a:solidFill>
                  <a:srgbClr val="000000"/>
                </a:solidFill>
                <a:latin typeface="黑体" panose="02010609060101010101" pitchFamily="49" charset="-122"/>
                <a:ea typeface="黑体" panose="02010609060101010101" pitchFamily="49" charset="-122"/>
              </a:rPr>
              <a:t>不再用一个精确的数字来表示隶属度，而是用一个范围</a:t>
            </a:r>
            <a:r>
              <a:rPr lang="en-US" altLang="zh-CN" sz="1200" dirty="0">
                <a:solidFill>
                  <a:srgbClr val="000000"/>
                </a:solidFill>
                <a:latin typeface="黑体" panose="02010609060101010101" pitchFamily="49" charset="-122"/>
                <a:ea typeface="黑体" panose="02010609060101010101" pitchFamily="49" charset="-122"/>
              </a:rPr>
              <a:t>(</a:t>
            </a:r>
            <a:r>
              <a:rPr lang="zh-CN" altLang="en-US" sz="1200" dirty="0">
                <a:solidFill>
                  <a:srgbClr val="000000"/>
                </a:solidFill>
                <a:latin typeface="黑体" panose="02010609060101010101" pitchFamily="49" charset="-122"/>
                <a:ea typeface="黑体" panose="02010609060101010101" pitchFamily="49" charset="-122"/>
              </a:rPr>
              <a:t>或</a:t>
            </a:r>
            <a:r>
              <a:rPr lang="en-US" altLang="zh-CN" sz="1200" dirty="0" err="1">
                <a:solidFill>
                  <a:srgbClr val="000000"/>
                </a:solidFill>
                <a:latin typeface="黑体" panose="02010609060101010101" pitchFamily="49" charset="-122"/>
                <a:ea typeface="黑体" panose="02010609060101010101" pitchFamily="49" charset="-122"/>
              </a:rPr>
              <a:t>F集合</a:t>
            </a:r>
            <a:r>
              <a:rPr lang="en-US" altLang="zh-CN" sz="1200" dirty="0">
                <a:solidFill>
                  <a:srgbClr val="000000"/>
                </a:solidFill>
                <a:latin typeface="黑体" panose="02010609060101010101" pitchFamily="49" charset="-122"/>
                <a:ea typeface="黑体" panose="02010609060101010101" pitchFamily="49" charset="-122"/>
              </a:rPr>
              <a:t>)</a:t>
            </a:r>
            <a:r>
              <a:rPr lang="en-US" altLang="zh-CN" sz="1200" dirty="0" err="1">
                <a:solidFill>
                  <a:srgbClr val="000000"/>
                </a:solidFill>
                <a:latin typeface="黑体" panose="02010609060101010101" pitchFamily="49" charset="-122"/>
                <a:ea typeface="黑体" panose="02010609060101010101" pitchFamily="49" charset="-122"/>
              </a:rPr>
              <a:t>来表示</a:t>
            </a:r>
            <a:r>
              <a:rPr lang="en-US" altLang="zh-CN" sz="1200" dirty="0">
                <a:solidFill>
                  <a:srgbClr val="000000"/>
                </a:solidFill>
                <a:latin typeface="黑体" panose="02010609060101010101" pitchFamily="49" charset="-122"/>
                <a:ea typeface="黑体" panose="02010609060101010101" pitchFamily="49" charset="-122"/>
              </a:rPr>
              <a:t>。</a:t>
            </a:r>
            <a:r>
              <a:rPr lang="zh-CN" altLang="en-US" sz="1200" dirty="0">
                <a:solidFill>
                  <a:srgbClr val="000000"/>
                </a:solidFill>
                <a:latin typeface="黑体" panose="02010609060101010101" pitchFamily="49" charset="-122"/>
                <a:ea typeface="黑体" panose="02010609060101010101" pitchFamily="49" charset="-122"/>
              </a:rPr>
              <a:t>则</a:t>
            </a:r>
            <a:r>
              <a:rPr lang="en-US" altLang="zh-CN" sz="1200" dirty="0" err="1">
                <a:solidFill>
                  <a:srgbClr val="000000"/>
                </a:solidFill>
                <a:latin typeface="黑体" panose="02010609060101010101" pitchFamily="49" charset="-122"/>
                <a:ea typeface="黑体" panose="02010609060101010101" pitchFamily="49" charset="-122"/>
              </a:rPr>
              <a:t>隶属度本身就</a:t>
            </a:r>
            <a:r>
              <a:rPr lang="zh-CN" altLang="en-US" sz="1200" dirty="0">
                <a:solidFill>
                  <a:srgbClr val="000000"/>
                </a:solidFill>
                <a:latin typeface="黑体" panose="02010609060101010101" pitchFamily="49" charset="-122"/>
                <a:ea typeface="黑体" panose="02010609060101010101" pitchFamily="49" charset="-122"/>
              </a:rPr>
              <a:t>具有</a:t>
            </a:r>
            <a:r>
              <a:rPr lang="en-US" altLang="zh-CN" sz="1200" dirty="0" err="1">
                <a:solidFill>
                  <a:srgbClr val="000000"/>
                </a:solidFill>
                <a:latin typeface="黑体" panose="02010609060101010101" pitchFamily="49" charset="-122"/>
                <a:ea typeface="黑体" panose="02010609060101010101" pitchFamily="49" charset="-122"/>
              </a:rPr>
              <a:t>不确定性</a:t>
            </a:r>
            <a:r>
              <a:rPr lang="en-US" altLang="zh-CN" sz="1200" dirty="0">
                <a:solidFill>
                  <a:srgbClr val="000000"/>
                </a:solidFill>
                <a:latin typeface="黑体" panose="02010609060101010101" pitchFamily="49" charset="-122"/>
                <a:ea typeface="黑体" panose="02010609060101010101" pitchFamily="49" charset="-122"/>
              </a:rPr>
              <a:t>，</a:t>
            </a:r>
            <a:r>
              <a:rPr lang="zh-CN" altLang="en-US" sz="1200" dirty="0">
                <a:solidFill>
                  <a:srgbClr val="000000"/>
                </a:solidFill>
                <a:latin typeface="黑体" panose="02010609060101010101" pitchFamily="49" charset="-122"/>
                <a:ea typeface="黑体" panose="02010609060101010101" pitchFamily="49" charset="-122"/>
              </a:rPr>
              <a:t>能</a:t>
            </a:r>
            <a:r>
              <a:rPr lang="en-US" altLang="zh-CN" sz="1200" dirty="0" err="1">
                <a:solidFill>
                  <a:srgbClr val="000000"/>
                </a:solidFill>
                <a:latin typeface="黑体" panose="02010609060101010101" pitchFamily="49" charset="-122"/>
                <a:ea typeface="黑体" panose="02010609060101010101" pitchFamily="49" charset="-122"/>
              </a:rPr>
              <a:t>更好地</a:t>
            </a:r>
            <a:r>
              <a:rPr lang="zh-CN" altLang="en-US" sz="1200" dirty="0">
                <a:solidFill>
                  <a:srgbClr val="000000"/>
                </a:solidFill>
                <a:latin typeface="黑体" panose="02010609060101010101" pitchFamily="49" charset="-122"/>
                <a:ea typeface="黑体" panose="02010609060101010101" pitchFamily="49" charset="-122"/>
              </a:rPr>
              <a:t>对真实</a:t>
            </a:r>
            <a:r>
              <a:rPr lang="en-US" altLang="zh-CN" sz="1200" dirty="0" err="1">
                <a:solidFill>
                  <a:srgbClr val="000000"/>
                </a:solidFill>
                <a:latin typeface="黑体" panose="02010609060101010101" pitchFamily="49" charset="-122"/>
                <a:ea typeface="黑体" panose="02010609060101010101" pitchFamily="49" charset="-122"/>
              </a:rPr>
              <a:t>世界中复杂的、多层次的模糊信息</a:t>
            </a:r>
            <a:r>
              <a:rPr lang="zh-CN" altLang="en-US" sz="1200" dirty="0">
                <a:solidFill>
                  <a:srgbClr val="000000"/>
                </a:solidFill>
                <a:latin typeface="黑体" panose="02010609060101010101" pitchFamily="49" charset="-122"/>
                <a:ea typeface="黑体" panose="02010609060101010101" pitchFamily="49" charset="-122"/>
              </a:rPr>
              <a:t>进行建模</a:t>
            </a:r>
            <a:r>
              <a:rPr lang="en-US" altLang="zh-CN" sz="1200" dirty="0">
                <a:solidFill>
                  <a:srgbClr val="000000"/>
                </a:solidFill>
                <a:latin typeface="黑体" panose="02010609060101010101" pitchFamily="49" charset="-122"/>
                <a:ea typeface="黑体" panose="02010609060101010101" pitchFamily="49" charset="-122"/>
              </a:rPr>
              <a:t>。</a:t>
            </a:r>
            <a:endParaRPr lang="en-US" altLang="zh-CN" sz="1200" dirty="0">
              <a:latin typeface="黑体" panose="02010609060101010101" pitchFamily="49" charset="-122"/>
              <a:ea typeface="黑体" panose="02010609060101010101" pitchFamily="49" charset="-122"/>
            </a:endParaRPr>
          </a:p>
          <a:p>
            <a:r>
              <a:rPr lang="en-US" altLang="zh-CN" sz="1200" b="0" i="0" u="none" strike="noStrike" dirty="0">
                <a:solidFill>
                  <a:srgbClr val="000000"/>
                </a:solidFill>
              </a:rPr>
              <a:t>最核心的是“不确定域”，也就是FOU，它代表了隶属度可能存在的整个范围。这个范围由两条一型模糊曲线包围，分别是上隶属函数UMF和下隶属函数LMF。。</a:t>
            </a:r>
            <a:endParaRPr lang="zh-CN" altLang="en-US" dirty="0"/>
          </a:p>
        </p:txBody>
      </p:sp>
      <p:sp>
        <p:nvSpPr>
          <p:cNvPr id="4" name="灯片编号占位符 3">
            <a:extLst>
              <a:ext uri="{FF2B5EF4-FFF2-40B4-BE49-F238E27FC236}">
                <a16:creationId xmlns:a16="http://schemas.microsoft.com/office/drawing/2014/main" id="{DFE506E4-CB66-1E30-D573-0ADF9C57BF62}"/>
              </a:ext>
            </a:extLst>
          </p:cNvPr>
          <p:cNvSpPr>
            <a:spLocks noGrp="1"/>
          </p:cNvSpPr>
          <p:nvPr>
            <p:ph type="sldNum" sz="quarter" idx="5"/>
          </p:nvPr>
        </p:nvSpPr>
        <p:spPr/>
        <p:txBody>
          <a:bodyPr/>
          <a:lstStyle/>
          <a:p>
            <a:pPr>
              <a:defRPr/>
            </a:pPr>
            <a:fld id="{ED33F81A-6228-4033-8C95-C4667528DA50}" type="slidenum">
              <a:rPr lang="en-US" altLang="zh-CN" smtClean="0"/>
              <a:pPr>
                <a:defRPr/>
              </a:pPr>
              <a:t>76</a:t>
            </a:fld>
            <a:endParaRPr lang="en-US" altLang="zh-CN"/>
          </a:p>
        </p:txBody>
      </p:sp>
    </p:spTree>
    <p:extLst>
      <p:ext uri="{BB962C8B-B14F-4D97-AF65-F5344CB8AC3E}">
        <p14:creationId xmlns:p14="http://schemas.microsoft.com/office/powerpoint/2010/main" val="325692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然，模糊专家系统也面临着挑战。最主要的就是“维度灾难”，即输入变量一多，规则数量就会爆炸式增长。此外，知识获取的瓶颈也限制了其应用。但展望未来，我们看到了巨大的机遇。特别是与大语言模型的融合，有望彻底解决知识获取的难题。同时，轻量化部署和作为可解释AI的核心组件，也将是其重要的发展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8F35A-F243-A8E5-B78B-F600E50637D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10B3E2-4AC6-D569-9F52-3369C9DA46B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537C698-5D27-9FB0-CBEC-2B02EC04C18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29093F3-8401-BCC7-606A-77260F9CB57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3D4A808-C236-CED9-0D98-415012242F2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然，模糊专家系统也面临着挑战。最主要的就是“维度灾难”，即输入变量一多，规则数量就会爆炸式增长。此外，知识获取的瓶颈也限制了其应用。但展望未来，我们看到了巨大的机遇。特别是与大语言模型的融合，有望彻底解决知识获取的难题。同时，轻量化部署和作为可解释AI的核心组件，也将是其重要的发展方向。</a:t>
            </a:r>
          </a:p>
        </p:txBody>
      </p:sp>
      <p:sp>
        <p:nvSpPr>
          <p:cNvPr id="6" name="Footer Placeholder 5">
            <a:extLst>
              <a:ext uri="{FF2B5EF4-FFF2-40B4-BE49-F238E27FC236}">
                <a16:creationId xmlns:a16="http://schemas.microsoft.com/office/drawing/2014/main" id="{4633C273-83A4-59D9-0797-257D7A87DC1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1D88589-1CEA-EAA9-E8F3-5CE19745DCB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3223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grpSp>
      </p:grpSp>
      <p:sp>
        <p:nvSpPr>
          <p:cNvPr id="6163" name="Rectangle 19"/>
          <p:cNvSpPr>
            <a:spLocks noGrp="1" noChangeArrowheads="1"/>
          </p:cNvSpPr>
          <p:nvPr>
            <p:ph type="ctrTitle"/>
          </p:nvPr>
        </p:nvSpPr>
        <p:spPr>
          <a:xfrm>
            <a:off x="3962400" y="1828800"/>
            <a:ext cx="8026400" cy="2209800"/>
          </a:xfrm>
        </p:spPr>
        <p:txBody>
          <a:bodyPr/>
          <a:lstStyle>
            <a:lvl1pPr>
              <a:defRPr sz="5000">
                <a:solidFill>
                  <a:srgbClr val="FFFFFF"/>
                </a:solidFill>
              </a:defRPr>
            </a:lvl1pPr>
          </a:lstStyle>
          <a:p>
            <a:pPr lvl="0"/>
            <a:r>
              <a:rPr lang="zh-CN" altLang="en-US" noProof="0"/>
              <a:t>单击此处编辑母版标题样式</a:t>
            </a:r>
          </a:p>
        </p:txBody>
      </p:sp>
      <p:sp>
        <p:nvSpPr>
          <p:cNvPr id="6164" name="Rectangle 20"/>
          <p:cNvSpPr>
            <a:spLocks noGrp="1" noChangeArrowheads="1"/>
          </p:cNvSpPr>
          <p:nvPr>
            <p:ph type="subTitle" idx="1"/>
          </p:nvPr>
        </p:nvSpPr>
        <p:spPr>
          <a:xfrm>
            <a:off x="3962400" y="4267200"/>
            <a:ext cx="80264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609600" y="6248400"/>
            <a:ext cx="28448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a:xfrm>
            <a:off x="91752" y="6247897"/>
            <a:ext cx="517848" cy="457200"/>
          </a:xfrm>
        </p:spPr>
        <p:txBody>
          <a:bodyPr/>
          <a:lstStyle>
            <a:lvl1pPr>
              <a:defRPr/>
            </a:lvl1pPr>
          </a:lstStyle>
          <a:p>
            <a:pPr>
              <a:defRPr/>
            </a:pPr>
            <a:fld id="{DDACB426-8E95-4BBB-9181-885B2B64E6D8}" type="slidenum">
              <a:rPr lang="en-US" altLang="zh-CN"/>
              <a:pPr>
                <a:defRPr/>
              </a:pPr>
              <a:t>‹#›</a:t>
            </a:fld>
            <a:endParaRPr lang="en-US" altLang="zh-CN"/>
          </a:p>
        </p:txBody>
      </p:sp>
    </p:spTree>
    <p:extLst>
      <p:ext uri="{BB962C8B-B14F-4D97-AF65-F5344CB8AC3E}">
        <p14:creationId xmlns:p14="http://schemas.microsoft.com/office/powerpoint/2010/main" val="676759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xfrm>
            <a:off x="31080" y="6266507"/>
            <a:ext cx="445840" cy="457200"/>
          </a:xfrm>
          <a:ln/>
        </p:spPr>
        <p:txBody>
          <a:bodyPr/>
          <a:lstStyle>
            <a:lvl1pPr>
              <a:defRPr/>
            </a:lvl1pPr>
          </a:lstStyle>
          <a:p>
            <a:pPr>
              <a:defRPr/>
            </a:pPr>
            <a:fld id="{1F3E0329-027F-44B1-A42A-8643FF593956}"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818840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C9BCA9C1-0131-48F7-AA99-CF8DF35E01A7}"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32939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xfrm>
            <a:off x="141762" y="6283097"/>
            <a:ext cx="445840" cy="457200"/>
          </a:xfrm>
          <a:ln/>
        </p:spPr>
        <p:txBody>
          <a:bodyPr/>
          <a:lstStyle>
            <a:lvl1pPr>
              <a:defRPr/>
            </a:lvl1pPr>
          </a:lstStyle>
          <a:p>
            <a:pPr>
              <a:defRPr/>
            </a:pPr>
            <a:fld id="{14CFDC69-780A-4B1C-97E7-61C7E54B9DAB}"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56767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298979C5-4197-4E15-8450-D6EFDC2FA748}"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556069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xfrm>
            <a:off x="163760" y="6230867"/>
            <a:ext cx="445840" cy="457200"/>
          </a:xfrm>
          <a:ln/>
        </p:spPr>
        <p:txBody>
          <a:bodyPr/>
          <a:lstStyle>
            <a:lvl1pPr>
              <a:defRPr/>
            </a:lvl1pPr>
          </a:lstStyle>
          <a:p>
            <a:pPr>
              <a:defRPr/>
            </a:pPr>
            <a:fld id="{F3995C34-E364-4B19-9DC1-3C25DD4113D5}"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33839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xfrm>
            <a:off x="155617" y="6248400"/>
            <a:ext cx="445840" cy="457200"/>
          </a:xfrm>
          <a:ln/>
        </p:spPr>
        <p:txBody>
          <a:bodyPr/>
          <a:lstStyle>
            <a:lvl1pPr>
              <a:defRPr/>
            </a:lvl1pPr>
          </a:lstStyle>
          <a:p>
            <a:pPr>
              <a:defRPr/>
            </a:pPr>
            <a:fld id="{B77A47BA-BA63-4780-94A9-8AFA2EA4438D}"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290013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8C21B6D3-6BB7-4272-938F-C3C6CB1DE332}"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07105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BB55324F-2DC6-4E2C-A824-0AA5A2A441DD}"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785006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1ABC9D07-ECF5-49E4-9AEC-081DA347662E}"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64432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457200"/>
            <a:ext cx="27432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457200"/>
            <a:ext cx="80264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C900FCB0-6827-4052-B1F8-50690392BE8B}"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744521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0005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3"/>
          <p:cNvSpPr>
            <a:spLocks noGrp="1" noChangeArrowheads="1"/>
          </p:cNvSpPr>
          <p:nvPr>
            <p:ph type="sldNum" sz="quarter" idx="11"/>
          </p:nvPr>
        </p:nvSpPr>
        <p:spPr>
          <a:ln/>
        </p:spPr>
        <p:txBody>
          <a:bodyPr/>
          <a:lstStyle>
            <a:lvl1pPr>
              <a:defRPr/>
            </a:lvl1pPr>
          </a:lstStyle>
          <a:p>
            <a:pPr>
              <a:defRPr/>
            </a:pPr>
            <a:fld id="{D379F246-5609-47AB-8E41-68E47FB00079}" type="slidenum">
              <a:rPr lang="en-US" altLang="zh-CN"/>
              <a:pPr>
                <a:defRPr/>
              </a:pPr>
              <a:t>‹#›</a:t>
            </a:fld>
            <a:endParaRPr lang="en-US" altLang="zh-CN"/>
          </a:p>
        </p:txBody>
      </p:sp>
      <p:sp>
        <p:nvSpPr>
          <p:cNvPr id="8"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20667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554DC022-E2FC-4194-89EB-F0AC4449F8FB}"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779477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表格占位符 2"/>
          <p:cNvSpPr>
            <a:spLocks noGrp="1"/>
          </p:cNvSpPr>
          <p:nvPr>
            <p:ph type="tbl" idx="1"/>
          </p:nvPr>
        </p:nvSpPr>
        <p:spPr>
          <a:xfrm>
            <a:off x="609600" y="1981200"/>
            <a:ext cx="10972800" cy="3886200"/>
          </a:xfrm>
        </p:spPr>
        <p:txBody>
          <a:bodyPr/>
          <a:lstStyle/>
          <a:p>
            <a:pPr lvl="0"/>
            <a:endParaRPr lang="zh-CN" altLang="en-US" noProof="0"/>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xfrm>
            <a:off x="91752" y="6280362"/>
            <a:ext cx="517848" cy="457200"/>
          </a:xfrm>
          <a:ln/>
        </p:spPr>
        <p:txBody>
          <a:bodyPr/>
          <a:lstStyle>
            <a:lvl1pPr>
              <a:defRPr/>
            </a:lvl1pPr>
          </a:lstStyle>
          <a:p>
            <a:pPr>
              <a:defRPr/>
            </a:pPr>
            <a:fld id="{D2933C39-8941-4754-97F1-DAC9E9289B4E}"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4561007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8694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lvl1pPr>
          </a:lstStyle>
          <a:p>
            <a:pPr>
              <a:defRPr/>
            </a:pPr>
            <a:endParaRPr lang="en-US" altLang="zh-CN"/>
          </a:p>
        </p:txBody>
      </p:sp>
      <p:sp>
        <p:nvSpPr>
          <p:cNvPr id="5123" name="Rectangle 3"/>
          <p:cNvSpPr>
            <a:spLocks noGrp="1" noChangeArrowheads="1"/>
          </p:cNvSpPr>
          <p:nvPr>
            <p:ph type="sldNum" sz="quarter" idx="4"/>
          </p:nvPr>
        </p:nvSpPr>
        <p:spPr bwMode="auto">
          <a:xfrm>
            <a:off x="90131" y="6264275"/>
            <a:ext cx="51784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Black" pitchFamily="34" charset="0"/>
              </a:defRPr>
            </a:lvl1pPr>
          </a:lstStyle>
          <a:p>
            <a:pPr>
              <a:defRPr/>
            </a:pPr>
            <a:fld id="{461A77B0-1F5B-4DE1-802B-D0CEC0E6BFA8}" type="slidenum">
              <a:rPr lang="en-US" altLang="zh-CN"/>
              <a:pPr>
                <a:defRPr/>
              </a:pPr>
              <a:t>‹#›</a:t>
            </a:fld>
            <a:endParaRPr lang="en-US" altLang="zh-CN"/>
          </a:p>
        </p:txBody>
      </p:sp>
      <p:grpSp>
        <p:nvGrpSpPr>
          <p:cNvPr id="1028" name="Group 4"/>
          <p:cNvGrpSpPr>
            <a:grpSpLocks/>
          </p:cNvGrpSpPr>
          <p:nvPr/>
        </p:nvGrpSpPr>
        <p:grpSpPr bwMode="auto">
          <a:xfrm>
            <a:off x="0" y="0"/>
            <a:ext cx="12192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grpSp>
      <p:sp>
        <p:nvSpPr>
          <p:cNvPr id="1029" name="Rectangle 14"/>
          <p:cNvSpPr>
            <a:spLocks noGrp="1" noChangeArrowheads="1"/>
          </p:cNvSpPr>
          <p:nvPr>
            <p:ph type="title"/>
          </p:nvPr>
        </p:nvSpPr>
        <p:spPr bwMode="auto">
          <a:xfrm>
            <a:off x="609600" y="457200"/>
            <a:ext cx="10972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609600" y="1981200"/>
            <a:ext cx="109728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6" name="Rectangle 16"/>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93"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4" r:id="rId15"/>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20.wmf"/><Relationship Id="rId4" Type="http://schemas.openxmlformats.org/officeDocument/2006/relationships/oleObject" Target="../embeddings/oleObject2.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6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microsoft.com/office/2007/relationships/hdphoto" Target="../media/hdphoto1.wdp"/></Relationships>
</file>

<file path=ppt/slides/_rels/slide7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 Id="rId4" Type="http://schemas.microsoft.com/office/2007/relationships/hdphoto" Target="../media/hdphoto2.wdp"/></Relationships>
</file>

<file path=ppt/slides/_rels/slide8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287588" y="2060575"/>
            <a:ext cx="8380412" cy="2209800"/>
          </a:xfrm>
        </p:spPr>
        <p:txBody>
          <a:bodyPr/>
          <a:lstStyle/>
          <a:p>
            <a:pPr algn="ctr" eaLnBrk="1" hangingPunct="1"/>
            <a:r>
              <a:rPr lang="zh-CN" altLang="en-US" sz="6600" b="1" dirty="0">
                <a:solidFill>
                  <a:srgbClr val="E8E81C"/>
                </a:solidFill>
                <a:effectLst>
                  <a:outerShdw blurRad="38100" dist="38100" dir="2700000" algn="tl">
                    <a:srgbClr val="000000">
                      <a:alpha val="43137"/>
                    </a:srgbClr>
                  </a:outerShdw>
                </a:effectLst>
                <a:latin typeface="隶书" pitchFamily="49" charset="-122"/>
                <a:ea typeface="隶书" pitchFamily="49" charset="-122"/>
              </a:rPr>
              <a:t>第</a:t>
            </a:r>
            <a:r>
              <a:rPr lang="zh-CN" altLang="en-US" sz="6600" b="1" dirty="0">
                <a:solidFill>
                  <a:srgbClr val="E8E81C"/>
                </a:solidFill>
                <a:effectLst>
                  <a:outerShdw blurRad="38100" dist="38100" dir="2700000" algn="tl">
                    <a:srgbClr val="000000">
                      <a:alpha val="43137"/>
                    </a:srgbClr>
                  </a:outerShdw>
                </a:effectLst>
                <a:ea typeface="隶书" pitchFamily="49" charset="-122"/>
              </a:rPr>
              <a:t> </a:t>
            </a:r>
            <a:r>
              <a:rPr lang="en-US" altLang="zh-CN" sz="6600" b="1" dirty="0">
                <a:solidFill>
                  <a:srgbClr val="E8E81C"/>
                </a:solidFill>
                <a:effectLst>
                  <a:outerShdw blurRad="38100" dist="38100" dir="2700000" algn="tl">
                    <a:srgbClr val="000000">
                      <a:alpha val="43137"/>
                    </a:srgbClr>
                  </a:outerShdw>
                </a:effectLst>
                <a:ea typeface="隶书" pitchFamily="49" charset="-122"/>
              </a:rPr>
              <a:t>9 </a:t>
            </a:r>
            <a:r>
              <a:rPr lang="zh-CN" altLang="en-US" sz="6600" b="1" dirty="0">
                <a:solidFill>
                  <a:srgbClr val="E8E81C"/>
                </a:solidFill>
                <a:effectLst>
                  <a:outerShdw blurRad="38100" dist="38100" dir="2700000" algn="tl">
                    <a:srgbClr val="000000">
                      <a:alpha val="43137"/>
                    </a:srgbClr>
                  </a:outerShdw>
                </a:effectLst>
                <a:latin typeface="隶书" pitchFamily="49" charset="-122"/>
                <a:ea typeface="隶书" pitchFamily="49" charset="-122"/>
              </a:rPr>
              <a:t>章</a:t>
            </a:r>
            <a:br>
              <a:rPr lang="zh-CN" altLang="en-US" sz="6600" b="1" dirty="0">
                <a:solidFill>
                  <a:srgbClr val="E8E81C"/>
                </a:solidFill>
                <a:effectLst>
                  <a:outerShdw blurRad="38100" dist="38100" dir="2700000" algn="tl">
                    <a:srgbClr val="000000">
                      <a:alpha val="43137"/>
                    </a:srgbClr>
                  </a:outerShdw>
                </a:effectLst>
                <a:latin typeface="隶书" pitchFamily="49" charset="-122"/>
                <a:ea typeface="隶书" pitchFamily="49" charset="-122"/>
              </a:rPr>
            </a:br>
            <a:r>
              <a:rPr lang="zh-CN" altLang="en-US" sz="6600" b="1" dirty="0">
                <a:solidFill>
                  <a:srgbClr val="E8E81C"/>
                </a:solidFill>
                <a:effectLst>
                  <a:outerShdw blurRad="38100" dist="38100" dir="2700000" algn="tl">
                    <a:srgbClr val="000000">
                      <a:alpha val="43137"/>
                    </a:srgbClr>
                  </a:outerShdw>
                </a:effectLst>
                <a:latin typeface="隶书" pitchFamily="49" charset="-122"/>
                <a:ea typeface="隶书" pitchFamily="49" charset="-122"/>
              </a:rPr>
              <a:t>模糊推理系统</a:t>
            </a:r>
          </a:p>
        </p:txBody>
      </p:sp>
      <p:sp>
        <p:nvSpPr>
          <p:cNvPr id="3075" name="Rectangle 3"/>
          <p:cNvSpPr>
            <a:spLocks noGrp="1" noChangeArrowheads="1"/>
          </p:cNvSpPr>
          <p:nvPr>
            <p:ph type="subTitle" idx="1"/>
          </p:nvPr>
        </p:nvSpPr>
        <p:spPr>
          <a:xfrm>
            <a:off x="3143672" y="4270375"/>
            <a:ext cx="6984926" cy="2587625"/>
          </a:xfrm>
        </p:spPr>
        <p:txBody>
          <a:bodyPr/>
          <a:lstStyle/>
          <a:p>
            <a:pPr eaLnBrk="1" hangingPunct="1"/>
            <a:r>
              <a:rPr lang="en-US" altLang="zh-CN" sz="2800" dirty="0">
                <a:solidFill>
                  <a:srgbClr val="E90101"/>
                </a:solidFill>
                <a:latin typeface="Comic Sans MS" panose="030F0702030302020204" pitchFamily="66" charset="0"/>
                <a:ea typeface="黑体" panose="02010609060101010101" pitchFamily="49" charset="-122"/>
              </a:rPr>
              <a:t>9.6</a:t>
            </a:r>
            <a:r>
              <a:rPr lang="en-US" altLang="zh-CN" sz="2800" dirty="0">
                <a:solidFill>
                  <a:srgbClr val="FF0000"/>
                </a:solidFill>
                <a:ea typeface="黑体" panose="02010609060101010101" pitchFamily="49" charset="-122"/>
              </a:rPr>
              <a:t> </a:t>
            </a:r>
            <a:r>
              <a:rPr lang="en-US" altLang="zh-CN" sz="2800" dirty="0">
                <a:solidFill>
                  <a:srgbClr val="FF0000"/>
                </a:solidFill>
                <a:latin typeface="Comic Sans MS" panose="030F0702030302020204" pitchFamily="66" charset="0"/>
                <a:ea typeface="黑体" panose="02010609060101010101" pitchFamily="49" charset="-122"/>
              </a:rPr>
              <a:t>F</a:t>
            </a:r>
            <a:r>
              <a:rPr lang="zh-CN" altLang="en-US" sz="2800" dirty="0">
                <a:solidFill>
                  <a:srgbClr val="FF0000"/>
                </a:solidFill>
                <a:ea typeface="黑体" panose="02010609060101010101" pitchFamily="49" charset="-122"/>
              </a:rPr>
              <a:t>系统的建模过程</a:t>
            </a:r>
          </a:p>
          <a:p>
            <a:pPr eaLnBrk="1" hangingPunct="1"/>
            <a:r>
              <a:rPr lang="en-US" altLang="zh-CN" sz="2800" dirty="0">
                <a:solidFill>
                  <a:srgbClr val="E90101"/>
                </a:solidFill>
                <a:latin typeface="Comic Sans MS" panose="030F0702030302020204" pitchFamily="66" charset="0"/>
                <a:ea typeface="黑体" panose="02010609060101010101" pitchFamily="49" charset="-122"/>
              </a:rPr>
              <a:t>9.7</a:t>
            </a:r>
            <a:r>
              <a:rPr lang="en-US" altLang="zh-CN" sz="2800" dirty="0">
                <a:solidFill>
                  <a:srgbClr val="FF0000"/>
                </a:solidFill>
                <a:ea typeface="黑体" panose="02010609060101010101" pitchFamily="49" charset="-122"/>
              </a:rPr>
              <a:t> </a:t>
            </a:r>
            <a:r>
              <a:rPr lang="zh-CN" altLang="en-US" sz="2800" dirty="0">
                <a:solidFill>
                  <a:srgbClr val="FF0000"/>
                </a:solidFill>
                <a:ea typeface="黑体" panose="02010609060101010101" pitchFamily="49" charset="-122"/>
              </a:rPr>
              <a:t>使用</a:t>
            </a:r>
            <a:r>
              <a:rPr lang="en-US" altLang="zh-CN" sz="2800" dirty="0" err="1">
                <a:solidFill>
                  <a:srgbClr val="FF0000"/>
                </a:solidFill>
                <a:latin typeface="Comic Sans MS" panose="030F0702030302020204" pitchFamily="66" charset="0"/>
                <a:ea typeface="黑体" panose="02010609060101010101" pitchFamily="49" charset="-122"/>
              </a:rPr>
              <a:t>Matlab</a:t>
            </a:r>
            <a:r>
              <a:rPr lang="en-US" altLang="zh-CN" sz="2800" dirty="0">
                <a:solidFill>
                  <a:srgbClr val="FF0000"/>
                </a:solidFill>
                <a:latin typeface="Comic Sans MS" panose="030F0702030302020204" pitchFamily="66" charset="0"/>
                <a:ea typeface="黑体" panose="02010609060101010101" pitchFamily="49" charset="-122"/>
              </a:rPr>
              <a:t> Fuzzy</a:t>
            </a:r>
            <a:r>
              <a:rPr lang="en-US" altLang="zh-CN" sz="2800" dirty="0">
                <a:solidFill>
                  <a:srgbClr val="FF0000"/>
                </a:solidFill>
                <a:ea typeface="黑体" panose="02010609060101010101" pitchFamily="49" charset="-122"/>
              </a:rPr>
              <a:t> </a:t>
            </a:r>
            <a:r>
              <a:rPr lang="zh-CN" altLang="en-US" sz="2800" dirty="0">
                <a:solidFill>
                  <a:srgbClr val="FF0000"/>
                </a:solidFill>
                <a:ea typeface="黑体" panose="02010609060101010101" pitchFamily="49" charset="-122"/>
              </a:rPr>
              <a:t>工具箱建立</a:t>
            </a:r>
            <a:r>
              <a:rPr lang="en-US" altLang="zh-CN" sz="2800" dirty="0">
                <a:solidFill>
                  <a:srgbClr val="FF0000"/>
                </a:solidFill>
                <a:ea typeface="黑体" panose="02010609060101010101" pitchFamily="49" charset="-122"/>
              </a:rPr>
              <a:t>F</a:t>
            </a:r>
            <a:r>
              <a:rPr lang="zh-CN" altLang="en-US" sz="2800" dirty="0">
                <a:solidFill>
                  <a:srgbClr val="FF0000"/>
                </a:solidFill>
                <a:ea typeface="黑体" panose="02010609060101010101" pitchFamily="49" charset="-122"/>
              </a:rPr>
              <a:t>系统</a:t>
            </a:r>
            <a:endParaRPr lang="en-US" altLang="zh-CN" sz="2800" dirty="0">
              <a:solidFill>
                <a:srgbClr val="FF0000"/>
              </a:solidFill>
              <a:ea typeface="黑体" panose="02010609060101010101" pitchFamily="49" charset="-122"/>
            </a:endParaRPr>
          </a:p>
          <a:p>
            <a:pPr eaLnBrk="1" hangingPunct="1"/>
            <a:r>
              <a:rPr lang="en-US" altLang="zh-CN" sz="2800" dirty="0">
                <a:solidFill>
                  <a:srgbClr val="E90101"/>
                </a:solidFill>
                <a:latin typeface="Comic Sans MS" panose="030F0702030302020204" pitchFamily="66" charset="0"/>
                <a:ea typeface="黑体" panose="02010609060101010101" pitchFamily="49" charset="-122"/>
              </a:rPr>
              <a:t>9.8</a:t>
            </a:r>
            <a:r>
              <a:rPr lang="en-US" altLang="zh-CN" sz="2800" dirty="0">
                <a:solidFill>
                  <a:srgbClr val="FF0000"/>
                </a:solidFill>
                <a:ea typeface="黑体" panose="02010609060101010101" pitchFamily="49" charset="-122"/>
              </a:rPr>
              <a:t> </a:t>
            </a:r>
            <a:r>
              <a:rPr lang="zh-CN" altLang="en-US" sz="2800" dirty="0">
                <a:solidFill>
                  <a:srgbClr val="FF0000"/>
                </a:solidFill>
                <a:ea typeface="黑体" panose="02010609060101010101" pitchFamily="49" charset="-122"/>
              </a:rPr>
              <a:t>自适应神经</a:t>
            </a:r>
            <a:r>
              <a:rPr lang="en-US" altLang="zh-CN" sz="2800" dirty="0">
                <a:solidFill>
                  <a:srgbClr val="FF0000"/>
                </a:solidFill>
                <a:ea typeface="黑体" panose="02010609060101010101" pitchFamily="49" charset="-122"/>
              </a:rPr>
              <a:t>—</a:t>
            </a:r>
            <a:r>
              <a:rPr lang="zh-CN" altLang="en-US" sz="2800" dirty="0">
                <a:solidFill>
                  <a:srgbClr val="FF0000"/>
                </a:solidFill>
                <a:ea typeface="黑体" panose="02010609060101010101" pitchFamily="49" charset="-122"/>
              </a:rPr>
              <a:t>模糊推理系统</a:t>
            </a:r>
            <a:r>
              <a:rPr lang="en-US" altLang="zh-CN" sz="2800" dirty="0">
                <a:solidFill>
                  <a:srgbClr val="FF0000"/>
                </a:solidFill>
                <a:ea typeface="黑体" panose="02010609060101010101" pitchFamily="49" charset="-122"/>
              </a:rPr>
              <a:t>(ANFIS)</a:t>
            </a:r>
          </a:p>
          <a:p>
            <a:pPr eaLnBrk="1" hangingPunct="1"/>
            <a:r>
              <a:rPr lang="en-US" altLang="zh-CN" sz="2800" dirty="0">
                <a:solidFill>
                  <a:srgbClr val="FF0000"/>
                </a:solidFill>
                <a:ea typeface="黑体" panose="02010609060101010101" pitchFamily="49" charset="-122"/>
              </a:rPr>
              <a:t>9.9 </a:t>
            </a:r>
            <a:r>
              <a:rPr lang="zh-CN" altLang="en-US" sz="2800" dirty="0">
                <a:solidFill>
                  <a:srgbClr val="E90101"/>
                </a:solidFill>
                <a:latin typeface="Comic Sans MS" panose="030F0702030302020204" pitchFamily="66" charset="0"/>
                <a:ea typeface="黑体" panose="02010609060101010101" pitchFamily="49" charset="-122"/>
              </a:rPr>
              <a:t>模糊专家系统</a:t>
            </a:r>
            <a:endParaRPr lang="en-US" altLang="zh-CN" sz="2800" dirty="0">
              <a:solidFill>
                <a:srgbClr val="FF0000"/>
              </a:solidFill>
              <a:ea typeface="黑体" panose="02010609060101010101" pitchFamily="49" charset="-122"/>
            </a:endParaRPr>
          </a:p>
        </p:txBody>
      </p:sp>
      <p:sp>
        <p:nvSpPr>
          <p:cNvPr id="2" name="灯片编号占位符 1">
            <a:extLst>
              <a:ext uri="{FF2B5EF4-FFF2-40B4-BE49-F238E27FC236}">
                <a16:creationId xmlns:a16="http://schemas.microsoft.com/office/drawing/2014/main" id="{08FE8D79-9D91-7633-201D-C15E716837D7}"/>
              </a:ext>
            </a:extLst>
          </p:cNvPr>
          <p:cNvSpPr>
            <a:spLocks noGrp="1"/>
          </p:cNvSpPr>
          <p:nvPr>
            <p:ph type="sldNum" sz="quarter" idx="12"/>
          </p:nvPr>
        </p:nvSpPr>
        <p:spPr/>
        <p:txBody>
          <a:bodyPr/>
          <a:lstStyle/>
          <a:p>
            <a:pPr>
              <a:defRPr/>
            </a:pPr>
            <a:fld id="{DDACB426-8E95-4BBB-9181-885B2B64E6D8}" type="slidenum">
              <a:rPr lang="en-US" altLang="zh-CN" smtClean="0"/>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81200" y="188640"/>
            <a:ext cx="8229600" cy="1371600"/>
          </a:xfrm>
        </p:spPr>
        <p:txBody>
          <a:bodyPr/>
          <a:lstStyle/>
          <a:p>
            <a:pPr algn="ctr" eaLnBrk="1" hangingPunct="1"/>
            <a:r>
              <a:rPr lang="en-US" altLang="zh-CN" dirty="0">
                <a:solidFill>
                  <a:srgbClr val="008000"/>
                </a:solidFill>
                <a:ea typeface="黑体" panose="02010609060101010101" pitchFamily="49" charset="-122"/>
              </a:rPr>
              <a:t>9.6 </a:t>
            </a:r>
            <a:r>
              <a:rPr lang="zh-CN" altLang="zh-CN" dirty="0">
                <a:solidFill>
                  <a:srgbClr val="008000"/>
                </a:solidFill>
                <a:ea typeface="黑体" panose="02010609060101010101" pitchFamily="49" charset="-122"/>
              </a:rPr>
              <a:t>模糊系统的建模过程</a:t>
            </a:r>
          </a:p>
        </p:txBody>
      </p:sp>
      <p:sp>
        <p:nvSpPr>
          <p:cNvPr id="38915" name="Rectangle 3"/>
          <p:cNvSpPr>
            <a:spLocks noGrp="1" noChangeArrowheads="1"/>
          </p:cNvSpPr>
          <p:nvPr>
            <p:ph idx="1"/>
          </p:nvPr>
        </p:nvSpPr>
        <p:spPr>
          <a:xfrm>
            <a:off x="1199456" y="1484784"/>
            <a:ext cx="10081120" cy="4968552"/>
          </a:xfrm>
        </p:spPr>
        <p:txBody>
          <a:bodyPr/>
          <a:lstStyle/>
          <a:p>
            <a:pPr eaLnBrk="1" hangingPunct="1"/>
            <a:r>
              <a:rPr lang="zh-CN" altLang="en-US" dirty="0">
                <a:solidFill>
                  <a:srgbClr val="FF0000"/>
                </a:solidFill>
                <a:ea typeface="黑体" panose="02010609060101010101" pitchFamily="49" charset="-122"/>
              </a:rPr>
              <a:t>辨识表面结构（第一阶段）</a:t>
            </a:r>
          </a:p>
          <a:p>
            <a:pPr lvl="1" eaLnBrk="1" hangingPunct="1"/>
            <a:r>
              <a:rPr lang="zh-CN" altLang="en-US" b="1" dirty="0">
                <a:ea typeface="华文楷体" panose="02010600040101010101" pitchFamily="2" charset="-122"/>
              </a:rPr>
              <a:t>选择相关的输入和输出变量</a:t>
            </a:r>
          </a:p>
          <a:p>
            <a:pPr lvl="1" eaLnBrk="1" hangingPunct="1"/>
            <a:r>
              <a:rPr lang="zh-CN" altLang="en-US" b="1" dirty="0">
                <a:ea typeface="华文楷体" panose="02010600040101010101" pitchFamily="2" charset="-122"/>
              </a:rPr>
              <a:t>选择特定形式的</a:t>
            </a:r>
            <a:r>
              <a:rPr lang="en-US" altLang="zh-CN" b="1" dirty="0">
                <a:ea typeface="华文楷体" panose="02010600040101010101" pitchFamily="2" charset="-122"/>
              </a:rPr>
              <a:t>F</a:t>
            </a:r>
            <a:r>
              <a:rPr lang="zh-CN" altLang="en-US" b="1" dirty="0">
                <a:ea typeface="华文楷体" panose="02010600040101010101" pitchFamily="2" charset="-122"/>
              </a:rPr>
              <a:t>推理系统</a:t>
            </a:r>
          </a:p>
          <a:p>
            <a:pPr lvl="1" eaLnBrk="1" hangingPunct="1"/>
            <a:r>
              <a:rPr lang="zh-CN" altLang="en-US" b="1" dirty="0">
                <a:ea typeface="华文楷体" panose="02010600040101010101" pitchFamily="2" charset="-122"/>
              </a:rPr>
              <a:t>确定与每个输入和输出变量有关的语言术语的数目</a:t>
            </a:r>
          </a:p>
          <a:p>
            <a:pPr lvl="2" eaLnBrk="1" hangingPunct="1"/>
            <a:r>
              <a:rPr lang="zh-CN" altLang="en-US" sz="2800" b="1" dirty="0">
                <a:solidFill>
                  <a:srgbClr val="CC00CC"/>
                </a:solidFill>
                <a:ea typeface="华文楷体" panose="02010600040101010101" pitchFamily="2" charset="-122"/>
              </a:rPr>
              <a:t>对</a:t>
            </a:r>
            <a:r>
              <a:rPr lang="en-US" altLang="zh-CN" sz="2800" b="1" dirty="0" err="1">
                <a:solidFill>
                  <a:srgbClr val="CC00CC"/>
                </a:solidFill>
                <a:ea typeface="华文楷体" panose="02010600040101010101" pitchFamily="2" charset="-122"/>
              </a:rPr>
              <a:t>Sugeno</a:t>
            </a:r>
            <a:r>
              <a:rPr lang="en-US" altLang="zh-CN" sz="2800" b="1" dirty="0">
                <a:solidFill>
                  <a:srgbClr val="CC00CC"/>
                </a:solidFill>
                <a:ea typeface="华文楷体" panose="02010600040101010101" pitchFamily="2" charset="-122"/>
              </a:rPr>
              <a:t> F</a:t>
            </a:r>
            <a:r>
              <a:rPr lang="zh-CN" altLang="en-US" sz="2800" b="1" dirty="0">
                <a:solidFill>
                  <a:srgbClr val="CC00CC"/>
                </a:solidFill>
                <a:ea typeface="华文楷体" panose="02010600040101010101" pitchFamily="2" charset="-122"/>
              </a:rPr>
              <a:t>模型，要确定后件的方程式阶次</a:t>
            </a:r>
          </a:p>
          <a:p>
            <a:pPr lvl="1" eaLnBrk="1" hangingPunct="1"/>
            <a:r>
              <a:rPr lang="zh-CN" altLang="en-US" b="1" dirty="0">
                <a:ea typeface="华文楷体" panose="02010600040101010101" pitchFamily="2" charset="-122"/>
              </a:rPr>
              <a:t>设计一组模糊 </a:t>
            </a:r>
            <a:r>
              <a:rPr lang="en-US" altLang="zh-CN" b="1" dirty="0">
                <a:ea typeface="华文楷体" panose="02010600040101010101" pitchFamily="2" charset="-122"/>
              </a:rPr>
              <a:t>IF-THEN </a:t>
            </a:r>
            <a:r>
              <a:rPr lang="zh-CN" altLang="en-US" b="1" dirty="0">
                <a:ea typeface="华文楷体" panose="02010600040101010101" pitchFamily="2" charset="-122"/>
              </a:rPr>
              <a:t>规则</a:t>
            </a:r>
          </a:p>
          <a:p>
            <a:pPr eaLnBrk="1" hangingPunct="1"/>
            <a:r>
              <a:rPr lang="zh-CN" altLang="en-US" dirty="0">
                <a:solidFill>
                  <a:srgbClr val="0000FE"/>
                </a:solidFill>
                <a:ea typeface="黑体" panose="02010609060101010101" pitchFamily="49" charset="-122"/>
              </a:rPr>
              <a:t>注意：</a:t>
            </a:r>
          </a:p>
          <a:p>
            <a:pPr lvl="1" eaLnBrk="1" hangingPunct="1"/>
            <a:r>
              <a:rPr lang="zh-CN" altLang="en-US" b="1" dirty="0">
                <a:latin typeface="华文楷体" panose="02010600040101010101" pitchFamily="2" charset="-122"/>
                <a:ea typeface="华文楷体" panose="02010600040101010101" pitchFamily="2" charset="-122"/>
              </a:rPr>
              <a:t>以上任务的完成需依赖对目标系统的知识，</a:t>
            </a:r>
          </a:p>
          <a:p>
            <a:pPr lvl="2" eaLnBrk="1" hangingPunct="1"/>
            <a:r>
              <a:rPr lang="zh-CN" altLang="en-US" b="1" dirty="0">
                <a:latin typeface="华文楷体" panose="02010600040101010101" pitchFamily="2" charset="-122"/>
                <a:ea typeface="华文楷体" panose="02010600040101010101" pitchFamily="2" charset="-122"/>
              </a:rPr>
              <a:t>由熟知目标系统的人类专家提供给我们的信息</a:t>
            </a:r>
          </a:p>
          <a:p>
            <a:pPr lvl="2" eaLnBrk="1" hangingPunct="1"/>
            <a:r>
              <a:rPr lang="zh-CN" altLang="en-US" b="1" dirty="0">
                <a:latin typeface="华文楷体" panose="02010600040101010101" pitchFamily="2" charset="-122"/>
                <a:ea typeface="华文楷体" panose="02010600040101010101" pitchFamily="2" charset="-122"/>
              </a:rPr>
              <a:t>或只是简单的试探结果</a:t>
            </a:r>
          </a:p>
        </p:txBody>
      </p:sp>
      <p:sp>
        <p:nvSpPr>
          <p:cNvPr id="2" name="灯片编号占位符 1">
            <a:extLst>
              <a:ext uri="{FF2B5EF4-FFF2-40B4-BE49-F238E27FC236}">
                <a16:creationId xmlns:a16="http://schemas.microsoft.com/office/drawing/2014/main" id="{63FD49B3-56BE-848F-1E16-C68284E175EB}"/>
              </a:ext>
            </a:extLst>
          </p:cNvPr>
          <p:cNvSpPr>
            <a:spLocks noGrp="1"/>
          </p:cNvSpPr>
          <p:nvPr>
            <p:ph type="sldNum" sz="quarter" idx="11"/>
          </p:nvPr>
        </p:nvSpPr>
        <p:spPr/>
        <p:txBody>
          <a:bodyPr/>
          <a:lstStyle/>
          <a:p>
            <a:pPr>
              <a:defRPr/>
            </a:pPr>
            <a:fld id="{1F3E0329-027F-44B1-A42A-8643FF593956}" type="slidenum">
              <a:rPr lang="en-US" altLang="zh-CN" smtClean="0"/>
              <a:pPr>
                <a:defRPr/>
              </a:pPr>
              <a:t>2</a:t>
            </a:fld>
            <a:endParaRPr lang="en-US" altLang="zh-CN"/>
          </a:p>
        </p:txBody>
      </p:sp>
    </p:spTree>
    <p:extLst>
      <p:ext uri="{BB962C8B-B14F-4D97-AF65-F5344CB8AC3E}">
        <p14:creationId xmlns:p14="http://schemas.microsoft.com/office/powerpoint/2010/main" val="245051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wipe(left)">
                                      <p:cBhvr>
                                        <p:cTn id="7" dur="500"/>
                                        <p:tgtEl>
                                          <p:spTgt spid="389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Effect transition="in" filter="wipe(left)">
                                      <p:cBhvr>
                                        <p:cTn id="12" dur="500"/>
                                        <p:tgtEl>
                                          <p:spTgt spid="389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15">
                                            <p:txEl>
                                              <p:pRg st="2" end="2"/>
                                            </p:txEl>
                                          </p:spTgt>
                                        </p:tgtEl>
                                        <p:attrNameLst>
                                          <p:attrName>style.visibility</p:attrName>
                                        </p:attrNameLst>
                                      </p:cBhvr>
                                      <p:to>
                                        <p:strVal val="visible"/>
                                      </p:to>
                                    </p:set>
                                    <p:animEffect transition="in" filter="wipe(left)">
                                      <p:cBhvr>
                                        <p:cTn id="17" dur="500"/>
                                        <p:tgtEl>
                                          <p:spTgt spid="389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915">
                                            <p:txEl>
                                              <p:pRg st="3" end="3"/>
                                            </p:txEl>
                                          </p:spTgt>
                                        </p:tgtEl>
                                        <p:attrNameLst>
                                          <p:attrName>style.visibility</p:attrName>
                                        </p:attrNameLst>
                                      </p:cBhvr>
                                      <p:to>
                                        <p:strVal val="visible"/>
                                      </p:to>
                                    </p:set>
                                    <p:animEffect transition="in" filter="wipe(left)">
                                      <p:cBhvr>
                                        <p:cTn id="22" dur="500"/>
                                        <p:tgtEl>
                                          <p:spTgt spid="389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915">
                                            <p:txEl>
                                              <p:pRg st="4" end="4"/>
                                            </p:txEl>
                                          </p:spTgt>
                                        </p:tgtEl>
                                        <p:attrNameLst>
                                          <p:attrName>style.visibility</p:attrName>
                                        </p:attrNameLst>
                                      </p:cBhvr>
                                      <p:to>
                                        <p:strVal val="visible"/>
                                      </p:to>
                                    </p:set>
                                    <p:animEffect transition="in" filter="wipe(left)">
                                      <p:cBhvr>
                                        <p:cTn id="27" dur="500"/>
                                        <p:tgtEl>
                                          <p:spTgt spid="389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8915">
                                            <p:txEl>
                                              <p:pRg st="5" end="5"/>
                                            </p:txEl>
                                          </p:spTgt>
                                        </p:tgtEl>
                                        <p:attrNameLst>
                                          <p:attrName>style.visibility</p:attrName>
                                        </p:attrNameLst>
                                      </p:cBhvr>
                                      <p:to>
                                        <p:strVal val="visible"/>
                                      </p:to>
                                    </p:set>
                                    <p:animEffect transition="in" filter="wipe(left)">
                                      <p:cBhvr>
                                        <p:cTn id="32" dur="500"/>
                                        <p:tgtEl>
                                          <p:spTgt spid="389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8915">
                                            <p:txEl>
                                              <p:pRg st="6" end="6"/>
                                            </p:txEl>
                                          </p:spTgt>
                                        </p:tgtEl>
                                        <p:attrNameLst>
                                          <p:attrName>style.visibility</p:attrName>
                                        </p:attrNameLst>
                                      </p:cBhvr>
                                      <p:to>
                                        <p:strVal val="visible"/>
                                      </p:to>
                                    </p:set>
                                    <p:animEffect transition="in" filter="wipe(left)">
                                      <p:cBhvr>
                                        <p:cTn id="37" dur="500"/>
                                        <p:tgtEl>
                                          <p:spTgt spid="3891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8915">
                                            <p:txEl>
                                              <p:pRg st="7" end="7"/>
                                            </p:txEl>
                                          </p:spTgt>
                                        </p:tgtEl>
                                        <p:attrNameLst>
                                          <p:attrName>style.visibility</p:attrName>
                                        </p:attrNameLst>
                                      </p:cBhvr>
                                      <p:to>
                                        <p:strVal val="visible"/>
                                      </p:to>
                                    </p:set>
                                    <p:animEffect transition="in" filter="wipe(left)">
                                      <p:cBhvr>
                                        <p:cTn id="42" dur="500"/>
                                        <p:tgtEl>
                                          <p:spTgt spid="3891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8915">
                                            <p:txEl>
                                              <p:pRg st="8" end="8"/>
                                            </p:txEl>
                                          </p:spTgt>
                                        </p:tgtEl>
                                        <p:attrNameLst>
                                          <p:attrName>style.visibility</p:attrName>
                                        </p:attrNameLst>
                                      </p:cBhvr>
                                      <p:to>
                                        <p:strVal val="visible"/>
                                      </p:to>
                                    </p:set>
                                    <p:animEffect transition="in" filter="wipe(left)">
                                      <p:cBhvr>
                                        <p:cTn id="47" dur="500"/>
                                        <p:tgtEl>
                                          <p:spTgt spid="38915">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8915">
                                            <p:txEl>
                                              <p:pRg st="9" end="9"/>
                                            </p:txEl>
                                          </p:spTgt>
                                        </p:tgtEl>
                                        <p:attrNameLst>
                                          <p:attrName>style.visibility</p:attrName>
                                        </p:attrNameLst>
                                      </p:cBhvr>
                                      <p:to>
                                        <p:strVal val="visible"/>
                                      </p:to>
                                    </p:set>
                                    <p:animEffect transition="in" filter="wipe(left)">
                                      <p:cBhvr>
                                        <p:cTn id="52" dur="500"/>
                                        <p:tgtEl>
                                          <p:spTgt spid="389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981200" y="260648"/>
            <a:ext cx="8229600" cy="1371600"/>
          </a:xfrm>
        </p:spPr>
        <p:txBody>
          <a:bodyPr/>
          <a:lstStyle/>
          <a:p>
            <a:pPr algn="ctr" eaLnBrk="1" hangingPunct="1"/>
            <a:r>
              <a:rPr lang="zh-CN" altLang="zh-CN" dirty="0">
                <a:solidFill>
                  <a:srgbClr val="008000"/>
                </a:solidFill>
                <a:ea typeface="黑体" panose="02010609060101010101" pitchFamily="49" charset="-122"/>
              </a:rPr>
              <a:t>模糊系统的建模过程</a:t>
            </a:r>
          </a:p>
        </p:txBody>
      </p:sp>
      <p:sp>
        <p:nvSpPr>
          <p:cNvPr id="40963" name="Rectangle 3"/>
          <p:cNvSpPr>
            <a:spLocks noGrp="1" noChangeArrowheads="1"/>
          </p:cNvSpPr>
          <p:nvPr>
            <p:ph idx="1"/>
          </p:nvPr>
        </p:nvSpPr>
        <p:spPr>
          <a:xfrm>
            <a:off x="1127448" y="1632248"/>
            <a:ext cx="9937104" cy="4893096"/>
          </a:xfrm>
        </p:spPr>
        <p:txBody>
          <a:bodyPr/>
          <a:lstStyle/>
          <a:p>
            <a:pPr eaLnBrk="1" hangingPunct="1">
              <a:lnSpc>
                <a:spcPct val="120000"/>
              </a:lnSpc>
            </a:pPr>
            <a:r>
              <a:rPr lang="zh-CN" altLang="en-US" dirty="0">
                <a:solidFill>
                  <a:srgbClr val="FF0000"/>
                </a:solidFill>
                <a:ea typeface="黑体" panose="02010609060101010101" pitchFamily="49" charset="-122"/>
              </a:rPr>
              <a:t>深度表面结构（第二阶段）</a:t>
            </a:r>
          </a:p>
          <a:p>
            <a:pPr lvl="1" eaLnBrk="1" hangingPunct="1">
              <a:lnSpc>
                <a:spcPct val="120000"/>
              </a:lnSpc>
            </a:pPr>
            <a:r>
              <a:rPr lang="zh-CN" altLang="en-US" b="1" dirty="0">
                <a:latin typeface="华文楷体" panose="02010600040101010101" pitchFamily="2" charset="-122"/>
                <a:ea typeface="华文楷体" panose="02010600040101010101" pitchFamily="2" charset="-122"/>
              </a:rPr>
              <a:t>选择恰当的参数化隶属函数族</a:t>
            </a:r>
          </a:p>
          <a:p>
            <a:pPr lvl="1" eaLnBrk="1" hangingPunct="1">
              <a:lnSpc>
                <a:spcPct val="120000"/>
              </a:lnSpc>
            </a:pPr>
            <a:r>
              <a:rPr lang="zh-CN" altLang="en-US" b="1" dirty="0">
                <a:latin typeface="华文楷体" panose="02010600040101010101" pitchFamily="2" charset="-122"/>
                <a:ea typeface="华文楷体" panose="02010600040101010101" pitchFamily="2" charset="-122"/>
              </a:rPr>
              <a:t>与熟悉目标系统的人类专家交谈，以确定规则库中所用的隶属函数的参数</a:t>
            </a:r>
          </a:p>
          <a:p>
            <a:pPr lvl="1" eaLnBrk="1" hangingPunct="1">
              <a:lnSpc>
                <a:spcPct val="120000"/>
              </a:lnSpc>
            </a:pPr>
            <a:r>
              <a:rPr lang="zh-CN" altLang="en-US" b="1" dirty="0">
                <a:latin typeface="华文楷体" panose="02010600040101010101" pitchFamily="2" charset="-122"/>
                <a:ea typeface="华文楷体" panose="02010600040101010101" pitchFamily="2" charset="-122"/>
              </a:rPr>
              <a:t>使用</a:t>
            </a:r>
            <a:r>
              <a:rPr lang="zh-CN" altLang="en-US" b="1" dirty="0">
                <a:solidFill>
                  <a:srgbClr val="3333FF"/>
                </a:solidFill>
                <a:latin typeface="华文楷体" panose="02010600040101010101" pitchFamily="2" charset="-122"/>
                <a:ea typeface="华文楷体" panose="02010600040101010101" pitchFamily="2" charset="-122"/>
              </a:rPr>
              <a:t>回归和优化技术精调隶属函数</a:t>
            </a:r>
          </a:p>
          <a:p>
            <a:pPr eaLnBrk="1" hangingPunct="1">
              <a:lnSpc>
                <a:spcPct val="120000"/>
              </a:lnSpc>
            </a:pPr>
            <a:r>
              <a:rPr lang="zh-CN" altLang="en-US" dirty="0">
                <a:solidFill>
                  <a:srgbClr val="CC00CC"/>
                </a:solidFill>
                <a:ea typeface="黑体" panose="02010609060101010101" pitchFamily="49" charset="-122"/>
              </a:rPr>
              <a:t>注意：</a:t>
            </a:r>
          </a:p>
          <a:p>
            <a:pPr lvl="1" eaLnBrk="1" hangingPunct="1">
              <a:lnSpc>
                <a:spcPct val="120000"/>
              </a:lnSpc>
            </a:pPr>
            <a:r>
              <a:rPr lang="zh-CN" altLang="en-US" b="1" dirty="0">
                <a:latin typeface="华文楷体" panose="02010600040101010101" pitchFamily="2" charset="-122"/>
                <a:ea typeface="华文楷体" panose="02010600040101010101" pitchFamily="2" charset="-122"/>
              </a:rPr>
              <a:t>前两项任务是假定存在人类专家</a:t>
            </a:r>
          </a:p>
          <a:p>
            <a:pPr lvl="1" eaLnBrk="1" hangingPunct="1">
              <a:lnSpc>
                <a:spcPct val="120000"/>
              </a:lnSpc>
            </a:pPr>
            <a:r>
              <a:rPr lang="zh-CN" altLang="en-US" b="1" dirty="0">
                <a:latin typeface="华文楷体" panose="02010600040101010101" pitchFamily="2" charset="-122"/>
                <a:ea typeface="华文楷体" panose="02010600040101010101" pitchFamily="2" charset="-122"/>
              </a:rPr>
              <a:t>最后一项任务是假定存在期望的</a:t>
            </a:r>
            <a:r>
              <a:rPr lang="zh-CN" altLang="en-US" b="1" u="sng" dirty="0">
                <a:solidFill>
                  <a:srgbClr val="008000"/>
                </a:solidFill>
                <a:latin typeface="华文楷体" panose="02010600040101010101" pitchFamily="2" charset="-122"/>
                <a:ea typeface="华文楷体" panose="02010600040101010101" pitchFamily="2" charset="-122"/>
              </a:rPr>
              <a:t>输入</a:t>
            </a:r>
            <a:r>
              <a:rPr lang="en-US" altLang="zh-CN" b="1" u="sng" dirty="0">
                <a:solidFill>
                  <a:srgbClr val="008000"/>
                </a:solidFill>
                <a:latin typeface="华文楷体" panose="02010600040101010101" pitchFamily="2" charset="-122"/>
                <a:ea typeface="华文楷体" panose="02010600040101010101" pitchFamily="2" charset="-122"/>
              </a:rPr>
              <a:t>-</a:t>
            </a:r>
            <a:r>
              <a:rPr lang="zh-CN" altLang="en-US" b="1" u="sng" dirty="0">
                <a:solidFill>
                  <a:srgbClr val="008000"/>
                </a:solidFill>
                <a:latin typeface="华文楷体" panose="02010600040101010101" pitchFamily="2" charset="-122"/>
                <a:ea typeface="华文楷体" panose="02010600040101010101" pitchFamily="2" charset="-122"/>
              </a:rPr>
              <a:t>输出数据集</a:t>
            </a:r>
          </a:p>
        </p:txBody>
      </p:sp>
      <p:sp>
        <p:nvSpPr>
          <p:cNvPr id="2" name="灯片编号占位符 1">
            <a:extLst>
              <a:ext uri="{FF2B5EF4-FFF2-40B4-BE49-F238E27FC236}">
                <a16:creationId xmlns:a16="http://schemas.microsoft.com/office/drawing/2014/main" id="{3185BAA9-F5C4-1D46-31F3-B8D8DFB703CF}"/>
              </a:ext>
            </a:extLst>
          </p:cNvPr>
          <p:cNvSpPr>
            <a:spLocks noGrp="1"/>
          </p:cNvSpPr>
          <p:nvPr>
            <p:ph type="sldNum" sz="quarter" idx="11"/>
          </p:nvPr>
        </p:nvSpPr>
        <p:spPr/>
        <p:txBody>
          <a:bodyPr/>
          <a:lstStyle/>
          <a:p>
            <a:pPr>
              <a:defRPr/>
            </a:pPr>
            <a:fld id="{1F3E0329-027F-44B1-A42A-8643FF593956}" type="slidenum">
              <a:rPr lang="en-US" altLang="zh-CN" smtClean="0"/>
              <a:pPr>
                <a:defRPr/>
              </a:pPr>
              <a:t>3</a:t>
            </a:fld>
            <a:endParaRPr lang="en-US" altLang="zh-CN"/>
          </a:p>
        </p:txBody>
      </p:sp>
    </p:spTree>
    <p:extLst>
      <p:ext uri="{BB962C8B-B14F-4D97-AF65-F5344CB8AC3E}">
        <p14:creationId xmlns:p14="http://schemas.microsoft.com/office/powerpoint/2010/main" val="890630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wipe(left)">
                                      <p:cBhvr>
                                        <p:cTn id="7" dur="500"/>
                                        <p:tgtEl>
                                          <p:spTgt spid="409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3">
                                            <p:txEl>
                                              <p:pRg st="1" end="1"/>
                                            </p:txEl>
                                          </p:spTgt>
                                        </p:tgtEl>
                                        <p:attrNameLst>
                                          <p:attrName>style.visibility</p:attrName>
                                        </p:attrNameLst>
                                      </p:cBhvr>
                                      <p:to>
                                        <p:strVal val="visible"/>
                                      </p:to>
                                    </p:set>
                                    <p:animEffect transition="in" filter="wipe(left)">
                                      <p:cBhvr>
                                        <p:cTn id="12" dur="500"/>
                                        <p:tgtEl>
                                          <p:spTgt spid="409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3">
                                            <p:txEl>
                                              <p:pRg st="2" end="2"/>
                                            </p:txEl>
                                          </p:spTgt>
                                        </p:tgtEl>
                                        <p:attrNameLst>
                                          <p:attrName>style.visibility</p:attrName>
                                        </p:attrNameLst>
                                      </p:cBhvr>
                                      <p:to>
                                        <p:strVal val="visible"/>
                                      </p:to>
                                    </p:set>
                                    <p:animEffect transition="in" filter="wipe(left)">
                                      <p:cBhvr>
                                        <p:cTn id="17" dur="500"/>
                                        <p:tgtEl>
                                          <p:spTgt spid="409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63">
                                            <p:txEl>
                                              <p:pRg st="3" end="3"/>
                                            </p:txEl>
                                          </p:spTgt>
                                        </p:tgtEl>
                                        <p:attrNameLst>
                                          <p:attrName>style.visibility</p:attrName>
                                        </p:attrNameLst>
                                      </p:cBhvr>
                                      <p:to>
                                        <p:strVal val="visible"/>
                                      </p:to>
                                    </p:set>
                                    <p:animEffect transition="in" filter="wipe(left)">
                                      <p:cBhvr>
                                        <p:cTn id="22" dur="500"/>
                                        <p:tgtEl>
                                          <p:spTgt spid="409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0963">
                                            <p:txEl>
                                              <p:pRg st="4" end="4"/>
                                            </p:txEl>
                                          </p:spTgt>
                                        </p:tgtEl>
                                        <p:attrNameLst>
                                          <p:attrName>style.visibility</p:attrName>
                                        </p:attrNameLst>
                                      </p:cBhvr>
                                      <p:to>
                                        <p:strVal val="visible"/>
                                      </p:to>
                                    </p:set>
                                    <p:animEffect transition="in" filter="wipe(left)">
                                      <p:cBhvr>
                                        <p:cTn id="27" dur="500"/>
                                        <p:tgtEl>
                                          <p:spTgt spid="4096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0963">
                                            <p:txEl>
                                              <p:pRg st="5" end="5"/>
                                            </p:txEl>
                                          </p:spTgt>
                                        </p:tgtEl>
                                        <p:attrNameLst>
                                          <p:attrName>style.visibility</p:attrName>
                                        </p:attrNameLst>
                                      </p:cBhvr>
                                      <p:to>
                                        <p:strVal val="visible"/>
                                      </p:to>
                                    </p:set>
                                    <p:animEffect transition="in" filter="wipe(left)">
                                      <p:cBhvr>
                                        <p:cTn id="32" dur="500"/>
                                        <p:tgtEl>
                                          <p:spTgt spid="4096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0963">
                                            <p:txEl>
                                              <p:pRg st="6" end="6"/>
                                            </p:txEl>
                                          </p:spTgt>
                                        </p:tgtEl>
                                        <p:attrNameLst>
                                          <p:attrName>style.visibility</p:attrName>
                                        </p:attrNameLst>
                                      </p:cBhvr>
                                      <p:to>
                                        <p:strVal val="visible"/>
                                      </p:to>
                                    </p:set>
                                    <p:animEffect transition="in" filter="wipe(left)">
                                      <p:cBhvr>
                                        <p:cTn id="37" dur="500"/>
                                        <p:tgtEl>
                                          <p:spTgt spid="409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1631504" y="117475"/>
            <a:ext cx="9361039" cy="1371600"/>
          </a:xfrm>
        </p:spPr>
        <p:txBody>
          <a:bodyPr/>
          <a:lstStyle/>
          <a:p>
            <a:pPr eaLnBrk="1" hangingPunct="1"/>
            <a:r>
              <a:rPr lang="en-US" altLang="zh-CN" sz="4000" dirty="0">
                <a:solidFill>
                  <a:srgbClr val="228A1A"/>
                </a:solidFill>
                <a:ea typeface="黑体" panose="02010609060101010101" pitchFamily="49" charset="-122"/>
              </a:rPr>
              <a:t>9.7  </a:t>
            </a:r>
            <a:r>
              <a:rPr lang="zh-CN" altLang="en-US" sz="4000" dirty="0">
                <a:solidFill>
                  <a:srgbClr val="228A1A"/>
                </a:solidFill>
                <a:ea typeface="黑体" panose="02010609060101010101" pitchFamily="49" charset="-122"/>
              </a:rPr>
              <a:t>使用</a:t>
            </a:r>
            <a:r>
              <a:rPr lang="en-US" altLang="zh-CN" sz="4000" dirty="0" err="1">
                <a:solidFill>
                  <a:srgbClr val="228A1A"/>
                </a:solidFill>
                <a:ea typeface="黑体" panose="02010609060101010101" pitchFamily="49" charset="-122"/>
              </a:rPr>
              <a:t>Matlab</a:t>
            </a:r>
            <a:r>
              <a:rPr lang="en-US" altLang="zh-CN" sz="4000" dirty="0">
                <a:solidFill>
                  <a:srgbClr val="228A1A"/>
                </a:solidFill>
                <a:ea typeface="黑体" panose="02010609060101010101" pitchFamily="49" charset="-122"/>
              </a:rPr>
              <a:t> Fuzzy </a:t>
            </a:r>
            <a:r>
              <a:rPr lang="zh-CN" altLang="en-US" sz="4000" dirty="0">
                <a:solidFill>
                  <a:srgbClr val="228A1A"/>
                </a:solidFill>
                <a:ea typeface="黑体" panose="02010609060101010101" pitchFamily="49" charset="-122"/>
              </a:rPr>
              <a:t>工具箱建立</a:t>
            </a:r>
            <a:r>
              <a:rPr lang="en-US" altLang="zh-CN" sz="4000" dirty="0">
                <a:solidFill>
                  <a:srgbClr val="228A1A"/>
                </a:solidFill>
                <a:ea typeface="黑体" panose="02010609060101010101" pitchFamily="49" charset="-122"/>
              </a:rPr>
              <a:t>F</a:t>
            </a:r>
            <a:r>
              <a:rPr lang="zh-CN" altLang="en-US" sz="4000" dirty="0">
                <a:solidFill>
                  <a:srgbClr val="228A1A"/>
                </a:solidFill>
                <a:ea typeface="黑体" panose="02010609060101010101" pitchFamily="49" charset="-122"/>
              </a:rPr>
              <a:t>系统</a:t>
            </a:r>
          </a:p>
        </p:txBody>
      </p:sp>
      <p:sp>
        <p:nvSpPr>
          <p:cNvPr id="49155" name="Rectangle 3"/>
          <p:cNvSpPr>
            <a:spLocks noGrp="1" noChangeArrowheads="1"/>
          </p:cNvSpPr>
          <p:nvPr>
            <p:ph type="body" idx="4294967295"/>
          </p:nvPr>
        </p:nvSpPr>
        <p:spPr>
          <a:xfrm>
            <a:off x="767408" y="1516111"/>
            <a:ext cx="2663825" cy="3886200"/>
          </a:xfrm>
        </p:spPr>
        <p:txBody>
          <a:bodyPr/>
          <a:lstStyle/>
          <a:p>
            <a:pPr marL="0" indent="0" eaLnBrk="1" hangingPunct="1">
              <a:buNone/>
            </a:pPr>
            <a:r>
              <a:rPr lang="zh-CN" altLang="en-US" sz="2800" b="1" dirty="0"/>
              <a:t>首先在</a:t>
            </a:r>
            <a:r>
              <a:rPr lang="en-US" altLang="zh-CN" sz="2800" b="1" dirty="0" err="1"/>
              <a:t>Matlab</a:t>
            </a:r>
            <a:r>
              <a:rPr lang="zh-CN" altLang="en-US" sz="2800" b="1" dirty="0"/>
              <a:t>的命令窗口中输入</a:t>
            </a:r>
            <a:r>
              <a:rPr lang="en-US" altLang="zh-CN" sz="2800" b="1" u="sng" dirty="0">
                <a:solidFill>
                  <a:srgbClr val="CC00CC"/>
                </a:solidFill>
                <a:effectLst>
                  <a:outerShdw blurRad="38100" dist="38100" dir="2700000" algn="tl">
                    <a:srgbClr val="000000">
                      <a:alpha val="43137"/>
                    </a:srgbClr>
                  </a:outerShdw>
                </a:effectLst>
              </a:rPr>
              <a:t>fuzzy</a:t>
            </a:r>
            <a:r>
              <a:rPr lang="en-US" altLang="zh-CN" sz="2800" b="1" dirty="0">
                <a:solidFill>
                  <a:srgbClr val="CC00CC"/>
                </a:solidFill>
                <a:effectLst>
                  <a:outerShdw blurRad="38100" dist="38100" dir="2700000" algn="tl">
                    <a:srgbClr val="000000">
                      <a:alpha val="43137"/>
                    </a:srgbClr>
                  </a:outerShdw>
                </a:effectLst>
                <a:sym typeface="Symbol"/>
              </a:rPr>
              <a:t></a:t>
            </a:r>
          </a:p>
          <a:p>
            <a:pPr marL="0" indent="0" eaLnBrk="1" hangingPunct="1">
              <a:buNone/>
            </a:pPr>
            <a:r>
              <a:rPr lang="zh-CN" altLang="en-US" sz="2800" b="1" dirty="0"/>
              <a:t>就会出现右图界面。</a:t>
            </a:r>
            <a:endParaRPr lang="en-US" altLang="zh-CN" sz="2800" b="1" dirty="0"/>
          </a:p>
          <a:p>
            <a:pPr marL="0" indent="0" eaLnBrk="1" hangingPunct="1">
              <a:buNone/>
            </a:pPr>
            <a:r>
              <a:rPr lang="zh-CN" altLang="en-US" sz="2800" b="1" dirty="0"/>
              <a:t>    即打开了</a:t>
            </a:r>
          </a:p>
          <a:p>
            <a:pPr eaLnBrk="1" hangingPunct="1">
              <a:buFont typeface="Wingdings" panose="05000000000000000000" pitchFamily="2" charset="2"/>
              <a:buNone/>
            </a:pPr>
            <a:r>
              <a:rPr lang="zh-CN" altLang="en-US" sz="2800" dirty="0">
                <a:solidFill>
                  <a:srgbClr val="FF0000"/>
                </a:solidFill>
                <a:latin typeface="Arial Black" panose="020B0A04020102020204" pitchFamily="34" charset="0"/>
              </a:rPr>
              <a:t>FIS </a:t>
            </a:r>
            <a:r>
              <a:rPr lang="en-US" altLang="zh-CN" sz="2800" dirty="0">
                <a:solidFill>
                  <a:srgbClr val="FF0000"/>
                </a:solidFill>
                <a:latin typeface="Arial Black" panose="020B0A04020102020204" pitchFamily="34" charset="0"/>
              </a:rPr>
              <a:t>E</a:t>
            </a:r>
            <a:r>
              <a:rPr lang="zh-CN" altLang="en-US" sz="2800" dirty="0">
                <a:solidFill>
                  <a:srgbClr val="FF0000"/>
                </a:solidFill>
                <a:latin typeface="Arial Black" panose="020B0A04020102020204" pitchFamily="34" charset="0"/>
              </a:rPr>
              <a:t>ditor</a:t>
            </a:r>
          </a:p>
        </p:txBody>
      </p:sp>
      <p:pic>
        <p:nvPicPr>
          <p:cNvPr id="491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9736" y="1412884"/>
            <a:ext cx="8064895" cy="540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7F559C39-7C34-CEC1-2555-BF7F2CB2289E}"/>
              </a:ext>
            </a:extLst>
          </p:cNvPr>
          <p:cNvSpPr>
            <a:spLocks noGrp="1"/>
          </p:cNvSpPr>
          <p:nvPr>
            <p:ph type="sldNum" sz="quarter" idx="11"/>
          </p:nvPr>
        </p:nvSpPr>
        <p:spPr/>
        <p:txBody>
          <a:bodyPr/>
          <a:lstStyle/>
          <a:p>
            <a:pPr>
              <a:defRPr/>
            </a:pPr>
            <a:fld id="{B77A47BA-BA63-4780-94A9-8AFA2EA4438D}" type="slidenum">
              <a:rPr lang="en-US" altLang="zh-CN" smtClean="0"/>
              <a:pPr>
                <a:defRPr/>
              </a:pPr>
              <a:t>4</a:t>
            </a:fld>
            <a:endParaRPr lang="en-US" altLang="zh-CN"/>
          </a:p>
        </p:txBody>
      </p:sp>
      <p:sp>
        <p:nvSpPr>
          <p:cNvPr id="3" name="矩形 2">
            <a:extLst>
              <a:ext uri="{FF2B5EF4-FFF2-40B4-BE49-F238E27FC236}">
                <a16:creationId xmlns:a16="http://schemas.microsoft.com/office/drawing/2014/main" id="{7656926B-252F-7035-2DC4-14F36EA0E11E}"/>
              </a:ext>
            </a:extLst>
          </p:cNvPr>
          <p:cNvSpPr/>
          <p:nvPr/>
        </p:nvSpPr>
        <p:spPr>
          <a:xfrm>
            <a:off x="3719736" y="1412884"/>
            <a:ext cx="1584176" cy="287924"/>
          </a:xfrm>
          <a:prstGeom prst="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wipe(left)">
                                      <p:cBhvr>
                                        <p:cTn id="7" dur="500"/>
                                        <p:tgtEl>
                                          <p:spTgt spid="49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5">
                                            <p:txEl>
                                              <p:pRg st="1" end="1"/>
                                            </p:txEl>
                                          </p:spTgt>
                                        </p:tgtEl>
                                        <p:attrNameLst>
                                          <p:attrName>style.visibility</p:attrName>
                                        </p:attrNameLst>
                                      </p:cBhvr>
                                      <p:to>
                                        <p:strVal val="visible"/>
                                      </p:to>
                                    </p:set>
                                    <p:animEffect transition="in" filter="wipe(left)">
                                      <p:cBhvr>
                                        <p:cTn id="12" dur="500"/>
                                        <p:tgtEl>
                                          <p:spTgt spid="491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156"/>
                                        </p:tgtEl>
                                        <p:attrNameLst>
                                          <p:attrName>style.visibility</p:attrName>
                                        </p:attrNameLst>
                                      </p:cBhvr>
                                      <p:to>
                                        <p:strVal val="visible"/>
                                      </p:to>
                                    </p:set>
                                    <p:animEffect transition="in" filter="fade">
                                      <p:cBhvr>
                                        <p:cTn id="17" dur="500"/>
                                        <p:tgtEl>
                                          <p:spTgt spid="491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155">
                                            <p:txEl>
                                              <p:pRg st="2" end="2"/>
                                            </p:txEl>
                                          </p:spTgt>
                                        </p:tgtEl>
                                        <p:attrNameLst>
                                          <p:attrName>style.visibility</p:attrName>
                                        </p:attrNameLst>
                                      </p:cBhvr>
                                      <p:to>
                                        <p:strVal val="visible"/>
                                      </p:to>
                                    </p:set>
                                    <p:animEffect transition="in" filter="wipe(left)">
                                      <p:cBhvr>
                                        <p:cTn id="22" dur="500"/>
                                        <p:tgtEl>
                                          <p:spTgt spid="49155">
                                            <p:txEl>
                                              <p:pRg st="2" end="2"/>
                                            </p:txEl>
                                          </p:spTgt>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49155">
                                            <p:txEl>
                                              <p:pRg st="3" end="3"/>
                                            </p:txEl>
                                          </p:spTgt>
                                        </p:tgtEl>
                                        <p:attrNameLst>
                                          <p:attrName>style.visibility</p:attrName>
                                        </p:attrNameLst>
                                      </p:cBhvr>
                                      <p:to>
                                        <p:strVal val="visible"/>
                                      </p:to>
                                    </p:set>
                                    <p:animEffect transition="in" filter="wipe(left)">
                                      <p:cBhvr>
                                        <p:cTn id="26" dur="500"/>
                                        <p:tgtEl>
                                          <p:spTgt spid="4915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animEffect transition="in" filter="fade">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uiExpand="1" build="p"/>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a:xfrm>
            <a:off x="1992313" y="260350"/>
            <a:ext cx="8229600" cy="1371600"/>
          </a:xfrm>
        </p:spPr>
        <p:txBody>
          <a:bodyPr/>
          <a:lstStyle/>
          <a:p>
            <a:pPr algn="ctr" eaLnBrk="1" hangingPunct="1"/>
            <a:r>
              <a:rPr lang="zh-CN" altLang="en-US" dirty="0">
                <a:solidFill>
                  <a:srgbClr val="228A1A"/>
                </a:solidFill>
                <a:ea typeface="黑体" panose="02010609060101010101" pitchFamily="49" charset="-122"/>
              </a:rPr>
              <a:t>确定使用</a:t>
            </a:r>
            <a:r>
              <a:rPr lang="en-US" altLang="zh-CN" dirty="0">
                <a:solidFill>
                  <a:srgbClr val="228A1A"/>
                </a:solidFill>
                <a:ea typeface="黑体" panose="02010609060101010101" pitchFamily="49" charset="-122"/>
              </a:rPr>
              <a:t>F</a:t>
            </a:r>
            <a:r>
              <a:rPr lang="zh-CN" altLang="en-US" dirty="0">
                <a:solidFill>
                  <a:srgbClr val="228A1A"/>
                </a:solidFill>
                <a:ea typeface="黑体" panose="02010609060101010101" pitchFamily="49" charset="-122"/>
              </a:rPr>
              <a:t>推理系统的</a:t>
            </a:r>
            <a:r>
              <a:rPr lang="en-US" altLang="zh-CN" dirty="0">
                <a:solidFill>
                  <a:srgbClr val="228A1A"/>
                </a:solidFill>
                <a:ea typeface="黑体" panose="02010609060101010101" pitchFamily="49" charset="-122"/>
              </a:rPr>
              <a:t>F</a:t>
            </a:r>
            <a:r>
              <a:rPr lang="zh-CN" altLang="en-US" dirty="0">
                <a:solidFill>
                  <a:srgbClr val="228A1A"/>
                </a:solidFill>
                <a:ea typeface="黑体" panose="02010609060101010101" pitchFamily="49" charset="-122"/>
              </a:rPr>
              <a:t>模型</a:t>
            </a:r>
          </a:p>
        </p:txBody>
      </p:sp>
      <p:pic>
        <p:nvPicPr>
          <p:cNvPr id="5017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480" y="1363672"/>
            <a:ext cx="9577063" cy="549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654326CE-179E-1005-61A4-52DD996FD199}"/>
              </a:ext>
            </a:extLst>
          </p:cNvPr>
          <p:cNvSpPr>
            <a:spLocks noGrp="1"/>
          </p:cNvSpPr>
          <p:nvPr>
            <p:ph type="sldNum" sz="quarter" idx="11"/>
          </p:nvPr>
        </p:nvSpPr>
        <p:spPr/>
        <p:txBody>
          <a:bodyPr/>
          <a:lstStyle/>
          <a:p>
            <a:pPr>
              <a:defRPr/>
            </a:pPr>
            <a:fld id="{B77A47BA-BA63-4780-94A9-8AFA2EA4438D}" type="slidenum">
              <a:rPr lang="en-US" altLang="zh-CN" smtClean="0"/>
              <a:pPr>
                <a:defRPr/>
              </a:pPr>
              <a:t>5</a:t>
            </a:fld>
            <a:endParaRPr lang="en-US" altLang="zh-CN"/>
          </a:p>
        </p:txBody>
      </p:sp>
      <p:sp>
        <p:nvSpPr>
          <p:cNvPr id="3" name="矩形 2">
            <a:extLst>
              <a:ext uri="{FF2B5EF4-FFF2-40B4-BE49-F238E27FC236}">
                <a16:creationId xmlns:a16="http://schemas.microsoft.com/office/drawing/2014/main" id="{09A45000-7DBE-CE5F-C460-2FB8F45F25B1}"/>
              </a:ext>
            </a:extLst>
          </p:cNvPr>
          <p:cNvSpPr/>
          <p:nvPr/>
        </p:nvSpPr>
        <p:spPr bwMode="auto">
          <a:xfrm>
            <a:off x="1559496" y="4509120"/>
            <a:ext cx="4608512" cy="1739280"/>
          </a:xfrm>
          <a:prstGeom prst="rect">
            <a:avLst/>
          </a:prstGeom>
          <a:solidFill>
            <a:srgbClr val="FFCCFF">
              <a:alpha val="22000"/>
            </a:srgbClr>
          </a:solidFill>
          <a:ln w="57150" cap="flat" cmpd="sng" algn="ctr">
            <a:solidFill>
              <a:srgbClr val="CC00C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a:xfrm>
            <a:off x="1992313" y="404664"/>
            <a:ext cx="8229600" cy="1008063"/>
          </a:xfrm>
        </p:spPr>
        <p:txBody>
          <a:bodyPr/>
          <a:lstStyle/>
          <a:p>
            <a:pPr algn="ctr" eaLnBrk="1" hangingPunct="1"/>
            <a:r>
              <a:rPr lang="zh-CN" altLang="en-US" dirty="0">
                <a:solidFill>
                  <a:srgbClr val="228A1A"/>
                </a:solidFill>
                <a:latin typeface="黑体" panose="02010609060101010101" pitchFamily="49" charset="-122"/>
                <a:ea typeface="黑体" panose="02010609060101010101" pitchFamily="49" charset="-122"/>
              </a:rPr>
              <a:t>确定系统输入</a:t>
            </a:r>
            <a:r>
              <a:rPr lang="en-US" altLang="zh-CN" dirty="0">
                <a:solidFill>
                  <a:srgbClr val="228A1A"/>
                </a:solidFill>
                <a:latin typeface="黑体" panose="02010609060101010101" pitchFamily="49" charset="-122"/>
                <a:ea typeface="黑体" panose="02010609060101010101" pitchFamily="49" charset="-122"/>
              </a:rPr>
              <a:t>-</a:t>
            </a:r>
            <a:r>
              <a:rPr lang="zh-CN" altLang="en-US" dirty="0">
                <a:solidFill>
                  <a:srgbClr val="228A1A"/>
                </a:solidFill>
                <a:latin typeface="黑体" panose="02010609060101010101" pitchFamily="49" charset="-122"/>
                <a:ea typeface="黑体" panose="02010609060101010101" pitchFamily="49" charset="-122"/>
              </a:rPr>
              <a:t>输出的数目</a:t>
            </a:r>
          </a:p>
        </p:txBody>
      </p:sp>
      <p:pic>
        <p:nvPicPr>
          <p:cNvPr id="5120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472" y="1465272"/>
            <a:ext cx="9433048" cy="539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F03673F0-9902-77CD-95F7-84ACCCC442B1}"/>
              </a:ext>
            </a:extLst>
          </p:cNvPr>
          <p:cNvSpPr>
            <a:spLocks noGrp="1"/>
          </p:cNvSpPr>
          <p:nvPr>
            <p:ph type="sldNum" sz="quarter" idx="11"/>
          </p:nvPr>
        </p:nvSpPr>
        <p:spPr/>
        <p:txBody>
          <a:bodyPr/>
          <a:lstStyle/>
          <a:p>
            <a:pPr>
              <a:defRPr/>
            </a:pPr>
            <a:fld id="{B77A47BA-BA63-4780-94A9-8AFA2EA4438D}" type="slidenum">
              <a:rPr lang="en-US" altLang="zh-CN" smtClean="0"/>
              <a:pPr>
                <a:defRPr/>
              </a:pPr>
              <a:t>6</a:t>
            </a:fld>
            <a:endParaRPr lang="en-US" altLang="zh-CN"/>
          </a:p>
        </p:txBody>
      </p:sp>
      <p:sp>
        <p:nvSpPr>
          <p:cNvPr id="4" name="矩形 3">
            <a:extLst>
              <a:ext uri="{FF2B5EF4-FFF2-40B4-BE49-F238E27FC236}">
                <a16:creationId xmlns:a16="http://schemas.microsoft.com/office/drawing/2014/main" id="{F15E9848-990E-A1F7-058F-94852D98CAC4}"/>
              </a:ext>
            </a:extLst>
          </p:cNvPr>
          <p:cNvSpPr/>
          <p:nvPr/>
        </p:nvSpPr>
        <p:spPr bwMode="auto">
          <a:xfrm>
            <a:off x="1487488" y="4509120"/>
            <a:ext cx="4608512" cy="1739280"/>
          </a:xfrm>
          <a:prstGeom prst="rect">
            <a:avLst/>
          </a:prstGeom>
          <a:solidFill>
            <a:srgbClr val="FFCCFF">
              <a:alpha val="22000"/>
            </a:srgbClr>
          </a:solidFill>
          <a:ln w="57150" cap="flat" cmpd="sng" algn="ctr">
            <a:solidFill>
              <a:srgbClr val="CC00C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1981200" y="332656"/>
            <a:ext cx="8578850" cy="1101725"/>
          </a:xfrm>
        </p:spPr>
        <p:txBody>
          <a:bodyPr vert="horz" wrap="square" lIns="90170" tIns="46990" rIns="90170" bIns="46990" numCol="1" anchor="ctr" anchorCtr="0" compatLnSpc="1">
            <a:prstTxWarp prst="textNoShape">
              <a:avLst/>
            </a:prstTxWarp>
          </a:bodyPr>
          <a:lstStyle/>
          <a:p>
            <a:pPr algn="ctr" eaLnBrk="1" hangingPunct="1"/>
            <a:r>
              <a:rPr lang="zh-CN" altLang="en-US" dirty="0">
                <a:solidFill>
                  <a:srgbClr val="228A1A"/>
                </a:solidFill>
                <a:latin typeface="黑体" panose="02010609060101010101" pitchFamily="49" charset="-122"/>
                <a:ea typeface="黑体" panose="02010609060101010101" pitchFamily="49" charset="-122"/>
              </a:rPr>
              <a:t>如设计一个两输入</a:t>
            </a:r>
            <a:r>
              <a:rPr lang="en-US" altLang="zh-CN" dirty="0">
                <a:solidFill>
                  <a:srgbClr val="228A1A"/>
                </a:solidFill>
                <a:latin typeface="黑体" panose="02010609060101010101" pitchFamily="49" charset="-122"/>
                <a:ea typeface="黑体" panose="02010609060101010101" pitchFamily="49" charset="-122"/>
              </a:rPr>
              <a:t>-</a:t>
            </a:r>
            <a:r>
              <a:rPr lang="zh-CN" altLang="en-US" dirty="0">
                <a:solidFill>
                  <a:srgbClr val="228A1A"/>
                </a:solidFill>
                <a:latin typeface="黑体" panose="02010609060101010101" pitchFamily="49" charset="-122"/>
                <a:ea typeface="黑体" panose="02010609060101010101" pitchFamily="49" charset="-122"/>
              </a:rPr>
              <a:t>单输出系统</a:t>
            </a:r>
          </a:p>
        </p:txBody>
      </p:sp>
      <p:pic>
        <p:nvPicPr>
          <p:cNvPr id="5222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480" y="1484784"/>
            <a:ext cx="9289032"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5ECB9B46-2489-043C-BBFD-0C9F1FF9FAD0}"/>
              </a:ext>
            </a:extLst>
          </p:cNvPr>
          <p:cNvSpPr>
            <a:spLocks noGrp="1"/>
          </p:cNvSpPr>
          <p:nvPr>
            <p:ph type="sldNum" sz="quarter" idx="11"/>
          </p:nvPr>
        </p:nvSpPr>
        <p:spPr/>
        <p:txBody>
          <a:bodyPr/>
          <a:lstStyle/>
          <a:p>
            <a:pPr>
              <a:defRPr/>
            </a:pPr>
            <a:fld id="{B77A47BA-BA63-4780-94A9-8AFA2EA4438D}" type="slidenum">
              <a:rPr lang="en-US" altLang="zh-CN" smtClean="0"/>
              <a:pPr>
                <a:defRPr/>
              </a:pPr>
              <a:t>7</a:t>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2063750" y="115888"/>
            <a:ext cx="8229600" cy="1371600"/>
          </a:xfrm>
        </p:spPr>
        <p:txBody>
          <a:bodyPr/>
          <a:lstStyle/>
          <a:p>
            <a:pPr algn="ctr" eaLnBrk="1" hangingPunct="1"/>
            <a:r>
              <a:rPr lang="zh-CN" altLang="zh-CN">
                <a:solidFill>
                  <a:srgbClr val="228A1A"/>
                </a:solidFill>
                <a:ea typeface="黑体" panose="02010609060101010101" pitchFamily="49" charset="-122"/>
              </a:rPr>
              <a:t>确定每个输入变量的隶属函数</a:t>
            </a:r>
          </a:p>
        </p:txBody>
      </p:sp>
      <p:pic>
        <p:nvPicPr>
          <p:cNvPr id="5325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480" y="1190634"/>
            <a:ext cx="9577063" cy="566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EC4869A8-03E4-0481-3A49-D4C6011E7F74}"/>
              </a:ext>
            </a:extLst>
          </p:cNvPr>
          <p:cNvSpPr>
            <a:spLocks noGrp="1"/>
          </p:cNvSpPr>
          <p:nvPr>
            <p:ph type="sldNum" sz="quarter" idx="11"/>
          </p:nvPr>
        </p:nvSpPr>
        <p:spPr/>
        <p:txBody>
          <a:bodyPr/>
          <a:lstStyle/>
          <a:p>
            <a:pPr>
              <a:defRPr/>
            </a:pPr>
            <a:fld id="{B77A47BA-BA63-4780-94A9-8AFA2EA4438D}" type="slidenum">
              <a:rPr lang="en-US" altLang="zh-CN" smtClean="0"/>
              <a:pPr>
                <a:defRPr/>
              </a:pPr>
              <a:t>8</a:t>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1981200" y="404664"/>
            <a:ext cx="8229600" cy="1027113"/>
          </a:xfrm>
        </p:spPr>
        <p:txBody>
          <a:bodyPr/>
          <a:lstStyle/>
          <a:p>
            <a:pPr algn="ctr" eaLnBrk="1" hangingPunct="1"/>
            <a:r>
              <a:rPr lang="zh-CN" altLang="zh-CN" dirty="0">
                <a:solidFill>
                  <a:srgbClr val="228A1A"/>
                </a:solidFill>
                <a:ea typeface="黑体" panose="02010609060101010101" pitchFamily="49" charset="-122"/>
              </a:rPr>
              <a:t>确定每个输入变量的隶属函数</a:t>
            </a:r>
          </a:p>
        </p:txBody>
      </p:sp>
      <p:pic>
        <p:nvPicPr>
          <p:cNvPr id="5427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423" y="1484784"/>
            <a:ext cx="9309089" cy="528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FAC81177-C445-A897-0470-0CF3E1C1D1C5}"/>
              </a:ext>
            </a:extLst>
          </p:cNvPr>
          <p:cNvSpPr>
            <a:spLocks noGrp="1"/>
          </p:cNvSpPr>
          <p:nvPr>
            <p:ph type="sldNum" sz="quarter" idx="11"/>
          </p:nvPr>
        </p:nvSpPr>
        <p:spPr/>
        <p:txBody>
          <a:bodyPr/>
          <a:lstStyle/>
          <a:p>
            <a:pPr>
              <a:defRPr/>
            </a:pPr>
            <a:fld id="{B77A47BA-BA63-4780-94A9-8AFA2EA4438D}" type="slidenum">
              <a:rPr lang="en-US" altLang="zh-CN" smtClean="0"/>
              <a:pPr>
                <a:defRPr/>
              </a:pPr>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a:xfrm>
            <a:off x="1992313" y="260350"/>
            <a:ext cx="8229600" cy="1371600"/>
          </a:xfrm>
        </p:spPr>
        <p:txBody>
          <a:bodyPr/>
          <a:lstStyle/>
          <a:p>
            <a:pPr eaLnBrk="1" hangingPunct="1"/>
            <a:r>
              <a:rPr lang="zh-CN" altLang="zh-CN">
                <a:solidFill>
                  <a:srgbClr val="228A1A"/>
                </a:solidFill>
                <a:ea typeface="黑体" panose="02010609060101010101" pitchFamily="49" charset="-122"/>
              </a:rPr>
              <a:t>系统已有的几种类型的隶属函数</a:t>
            </a:r>
          </a:p>
        </p:txBody>
      </p:sp>
      <p:pic>
        <p:nvPicPr>
          <p:cNvPr id="5529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496" y="1628784"/>
            <a:ext cx="9145015" cy="512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2C45E1A-010B-2CC5-C578-FAE8778F92BB}"/>
              </a:ext>
            </a:extLst>
          </p:cNvPr>
          <p:cNvSpPr>
            <a:spLocks noGrp="1"/>
          </p:cNvSpPr>
          <p:nvPr>
            <p:ph type="sldNum" sz="quarter" idx="11"/>
          </p:nvPr>
        </p:nvSpPr>
        <p:spPr/>
        <p:txBody>
          <a:bodyPr/>
          <a:lstStyle/>
          <a:p>
            <a:pPr>
              <a:defRPr/>
            </a:pPr>
            <a:fld id="{B77A47BA-BA63-4780-94A9-8AFA2EA4438D}" type="slidenum">
              <a:rPr lang="en-US" altLang="zh-CN" smtClean="0"/>
              <a:pPr>
                <a:defRPr/>
              </a:pPr>
              <a:t>10</a:t>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p:cNvSpPr>
            <a:spLocks noGrp="1" noChangeArrowheads="1"/>
          </p:cNvSpPr>
          <p:nvPr>
            <p:ph type="title" idx="4294967295"/>
          </p:nvPr>
        </p:nvSpPr>
        <p:spPr>
          <a:xfrm>
            <a:off x="1992313" y="188913"/>
            <a:ext cx="8229600" cy="1371600"/>
          </a:xfrm>
        </p:spPr>
        <p:txBody>
          <a:bodyPr/>
          <a:lstStyle/>
          <a:p>
            <a:pPr eaLnBrk="1" hangingPunct="1"/>
            <a:r>
              <a:rPr lang="zh-CN" altLang="zh-CN" dirty="0">
                <a:solidFill>
                  <a:srgbClr val="228A1A"/>
                </a:solidFill>
                <a:ea typeface="黑体" panose="02010609060101010101" pitchFamily="49" charset="-122"/>
              </a:rPr>
              <a:t>确定每个输入变量的隶属函数</a:t>
            </a:r>
          </a:p>
        </p:txBody>
      </p:sp>
      <p:pic>
        <p:nvPicPr>
          <p:cNvPr id="5632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3472" y="1484784"/>
            <a:ext cx="9505056" cy="522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9BB8BEF-F55F-0E10-A515-E7FDF01301E4}"/>
              </a:ext>
            </a:extLst>
          </p:cNvPr>
          <p:cNvSpPr>
            <a:spLocks noGrp="1"/>
          </p:cNvSpPr>
          <p:nvPr>
            <p:ph type="sldNum" sz="quarter" idx="11"/>
          </p:nvPr>
        </p:nvSpPr>
        <p:spPr/>
        <p:txBody>
          <a:bodyPr/>
          <a:lstStyle/>
          <a:p>
            <a:pPr>
              <a:defRPr/>
            </a:pPr>
            <a:fld id="{B77A47BA-BA63-4780-94A9-8AFA2EA4438D}" type="slidenum">
              <a:rPr lang="en-US" altLang="zh-CN" smtClean="0"/>
              <a:pPr>
                <a:defRPr/>
              </a:pPr>
              <a:t>11</a:t>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title" idx="4294967295"/>
          </p:nvPr>
        </p:nvSpPr>
        <p:spPr>
          <a:xfrm>
            <a:off x="1992313" y="260350"/>
            <a:ext cx="8229600" cy="1371600"/>
          </a:xfrm>
        </p:spPr>
        <p:txBody>
          <a:bodyPr/>
          <a:lstStyle/>
          <a:p>
            <a:pPr algn="ctr" eaLnBrk="1" hangingPunct="1"/>
            <a:r>
              <a:rPr lang="zh-CN" altLang="zh-CN" dirty="0">
                <a:solidFill>
                  <a:srgbClr val="228A1A"/>
                </a:solidFill>
                <a:ea typeface="黑体" panose="02010609060101010101" pitchFamily="49" charset="-122"/>
              </a:rPr>
              <a:t>确定每个变量的隶属函数</a:t>
            </a:r>
            <a:r>
              <a:rPr lang="zh-CN" altLang="en-US" dirty="0">
                <a:solidFill>
                  <a:srgbClr val="228A1A"/>
                </a:solidFill>
                <a:ea typeface="黑体" panose="02010609060101010101" pitchFamily="49" charset="-122"/>
              </a:rPr>
              <a:t>个数</a:t>
            </a:r>
            <a:endParaRPr lang="zh-CN" altLang="en-US" dirty="0">
              <a:solidFill>
                <a:srgbClr val="228A1A"/>
              </a:solidFill>
              <a:latin typeface="黑体" panose="02010609060101010101" pitchFamily="49" charset="-122"/>
              <a:ea typeface="黑体" panose="02010609060101010101" pitchFamily="49" charset="-122"/>
            </a:endParaRPr>
          </a:p>
        </p:txBody>
      </p:sp>
      <p:pic>
        <p:nvPicPr>
          <p:cNvPr id="5837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464" y="1484313"/>
            <a:ext cx="9649072"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45B232F-5230-34C4-3D01-BAEE16819162}"/>
              </a:ext>
            </a:extLst>
          </p:cNvPr>
          <p:cNvSpPr/>
          <p:nvPr/>
        </p:nvSpPr>
        <p:spPr bwMode="auto">
          <a:xfrm>
            <a:off x="1775520" y="2204864"/>
            <a:ext cx="2736304" cy="864096"/>
          </a:xfrm>
          <a:prstGeom prst="rect">
            <a:avLst/>
          </a:prstGeom>
          <a:solidFill>
            <a:srgbClr val="45E764">
              <a:alpha val="22000"/>
            </a:srgbClr>
          </a:solidFill>
          <a:ln w="57150" cap="flat" cmpd="sng" algn="ctr">
            <a:solidFill>
              <a:srgbClr val="008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3" name="灯片编号占位符 2">
            <a:extLst>
              <a:ext uri="{FF2B5EF4-FFF2-40B4-BE49-F238E27FC236}">
                <a16:creationId xmlns:a16="http://schemas.microsoft.com/office/drawing/2014/main" id="{1F2498E1-AC9E-6913-6773-5C607826954B}"/>
              </a:ext>
            </a:extLst>
          </p:cNvPr>
          <p:cNvSpPr>
            <a:spLocks noGrp="1"/>
          </p:cNvSpPr>
          <p:nvPr>
            <p:ph type="sldNum" sz="quarter" idx="11"/>
          </p:nvPr>
        </p:nvSpPr>
        <p:spPr/>
        <p:txBody>
          <a:bodyPr/>
          <a:lstStyle/>
          <a:p>
            <a:pPr>
              <a:defRPr/>
            </a:pPr>
            <a:fld id="{B77A47BA-BA63-4780-94A9-8AFA2EA4438D}" type="slidenum">
              <a:rPr lang="en-US" altLang="zh-CN" smtClean="0"/>
              <a:pPr>
                <a:defRPr/>
              </a:pPr>
              <a:t>12</a:t>
            </a:fld>
            <a:endParaRPr lang="en-US" altLang="zh-CN"/>
          </a:p>
        </p:txBody>
      </p:sp>
    </p:spTree>
    <p:extLst>
      <p:ext uri="{BB962C8B-B14F-4D97-AF65-F5344CB8AC3E}">
        <p14:creationId xmlns:p14="http://schemas.microsoft.com/office/powerpoint/2010/main" val="2008110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a:xfrm>
            <a:off x="1981200" y="404664"/>
            <a:ext cx="8229600" cy="1100138"/>
          </a:xfrm>
        </p:spPr>
        <p:txBody>
          <a:bodyPr/>
          <a:lstStyle/>
          <a:p>
            <a:pPr algn="ctr" eaLnBrk="1" hangingPunct="1"/>
            <a:r>
              <a:rPr lang="zh-CN" altLang="zh-CN" dirty="0">
                <a:solidFill>
                  <a:srgbClr val="228A1A"/>
                </a:solidFill>
                <a:ea typeface="黑体" panose="02010609060101010101" pitchFamily="49" charset="-122"/>
              </a:rPr>
              <a:t>确定输出变量的隶属函数</a:t>
            </a:r>
          </a:p>
        </p:txBody>
      </p:sp>
      <p:pic>
        <p:nvPicPr>
          <p:cNvPr id="5734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464" y="1484784"/>
            <a:ext cx="9649072"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9CFD80B4-7BCA-6FE2-9271-F5D7AFBCB6DA}"/>
              </a:ext>
            </a:extLst>
          </p:cNvPr>
          <p:cNvSpPr>
            <a:spLocks noGrp="1"/>
          </p:cNvSpPr>
          <p:nvPr>
            <p:ph type="sldNum" sz="quarter" idx="11"/>
          </p:nvPr>
        </p:nvSpPr>
        <p:spPr/>
        <p:txBody>
          <a:bodyPr/>
          <a:lstStyle/>
          <a:p>
            <a:pPr>
              <a:defRPr/>
            </a:pPr>
            <a:fld id="{B77A47BA-BA63-4780-94A9-8AFA2EA4438D}" type="slidenum">
              <a:rPr lang="en-US" altLang="zh-CN" smtClean="0"/>
              <a:pPr>
                <a:defRPr/>
              </a:pPr>
              <a:t>13</a:t>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title" idx="4294967295"/>
          </p:nvPr>
        </p:nvSpPr>
        <p:spPr>
          <a:xfrm>
            <a:off x="1992313" y="260350"/>
            <a:ext cx="8229600" cy="1371600"/>
          </a:xfrm>
        </p:spPr>
        <p:txBody>
          <a:bodyPr/>
          <a:lstStyle/>
          <a:p>
            <a:pPr algn="ctr" eaLnBrk="1" hangingPunct="1"/>
            <a:r>
              <a:rPr lang="zh-CN" altLang="en-US" dirty="0">
                <a:solidFill>
                  <a:srgbClr val="228A1A"/>
                </a:solidFill>
                <a:latin typeface="黑体" panose="02010609060101010101" pitchFamily="49" charset="-122"/>
                <a:ea typeface="黑体" panose="02010609060101010101" pitchFamily="49" charset="-122"/>
              </a:rPr>
              <a:t>输入</a:t>
            </a:r>
            <a:r>
              <a:rPr lang="en-US" altLang="zh-CN" dirty="0">
                <a:solidFill>
                  <a:srgbClr val="228A1A"/>
                </a:solidFill>
                <a:latin typeface="黑体" panose="02010609060101010101" pitchFamily="49" charset="-122"/>
                <a:ea typeface="黑体" panose="02010609060101010101" pitchFamily="49" charset="-122"/>
              </a:rPr>
              <a:t>F</a:t>
            </a:r>
            <a:r>
              <a:rPr lang="zh-CN" altLang="en-US" dirty="0">
                <a:solidFill>
                  <a:srgbClr val="228A1A"/>
                </a:solidFill>
                <a:latin typeface="黑体" panose="02010609060101010101" pitchFamily="49" charset="-122"/>
                <a:ea typeface="黑体" panose="02010609060101010101" pitchFamily="49" charset="-122"/>
              </a:rPr>
              <a:t>推理系统的规则</a:t>
            </a:r>
          </a:p>
        </p:txBody>
      </p:sp>
      <p:pic>
        <p:nvPicPr>
          <p:cNvPr id="5837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480" y="1484313"/>
            <a:ext cx="936104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D5B6C58F-C932-DF50-0786-AAD5FEDBA394}"/>
              </a:ext>
            </a:extLst>
          </p:cNvPr>
          <p:cNvSpPr>
            <a:spLocks noGrp="1"/>
          </p:cNvSpPr>
          <p:nvPr>
            <p:ph type="sldNum" sz="quarter" idx="11"/>
          </p:nvPr>
        </p:nvSpPr>
        <p:spPr/>
        <p:txBody>
          <a:bodyPr/>
          <a:lstStyle/>
          <a:p>
            <a:pPr>
              <a:defRPr/>
            </a:pPr>
            <a:fld id="{B77A47BA-BA63-4780-94A9-8AFA2EA4438D}" type="slidenum">
              <a:rPr lang="en-US" altLang="zh-CN" smtClean="0"/>
              <a:pPr>
                <a:defRPr/>
              </a:pPr>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1981200" y="260648"/>
            <a:ext cx="8229600" cy="955675"/>
          </a:xfrm>
        </p:spPr>
        <p:txBody>
          <a:bodyPr/>
          <a:lstStyle/>
          <a:p>
            <a:pPr algn="ctr" eaLnBrk="1" hangingPunct="1"/>
            <a:r>
              <a:rPr lang="zh-CN" altLang="en-US" dirty="0">
                <a:solidFill>
                  <a:srgbClr val="228A1A"/>
                </a:solidFill>
                <a:latin typeface="黑体" panose="02010609060101010101" pitchFamily="49" charset="-122"/>
                <a:ea typeface="黑体" panose="02010609060101010101" pitchFamily="49" charset="-122"/>
              </a:rPr>
              <a:t>输入</a:t>
            </a:r>
            <a:r>
              <a:rPr lang="en-US" altLang="zh-CN" dirty="0">
                <a:solidFill>
                  <a:srgbClr val="228A1A"/>
                </a:solidFill>
                <a:latin typeface="黑体" panose="02010609060101010101" pitchFamily="49" charset="-122"/>
                <a:ea typeface="黑体" panose="02010609060101010101" pitchFamily="49" charset="-122"/>
              </a:rPr>
              <a:t>F</a:t>
            </a:r>
            <a:r>
              <a:rPr lang="zh-CN" altLang="en-US" dirty="0">
                <a:solidFill>
                  <a:srgbClr val="228A1A"/>
                </a:solidFill>
                <a:latin typeface="黑体" panose="02010609060101010101" pitchFamily="49" charset="-122"/>
                <a:ea typeface="黑体" panose="02010609060101010101" pitchFamily="49" charset="-122"/>
              </a:rPr>
              <a:t>推理系统的规则</a:t>
            </a:r>
          </a:p>
        </p:txBody>
      </p:sp>
      <p:pic>
        <p:nvPicPr>
          <p:cNvPr id="5939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448" y="1268760"/>
            <a:ext cx="9649072" cy="543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3DBBC5B-B12B-6DC6-5649-528829340A01}"/>
              </a:ext>
            </a:extLst>
          </p:cNvPr>
          <p:cNvSpPr>
            <a:spLocks noGrp="1"/>
          </p:cNvSpPr>
          <p:nvPr>
            <p:ph type="sldNum" sz="quarter" idx="11"/>
          </p:nvPr>
        </p:nvSpPr>
        <p:spPr/>
        <p:txBody>
          <a:bodyPr/>
          <a:lstStyle/>
          <a:p>
            <a:pPr>
              <a:defRPr/>
            </a:pPr>
            <a:fld id="{B77A47BA-BA63-4780-94A9-8AFA2EA4438D}" type="slidenum">
              <a:rPr lang="en-US" altLang="zh-CN" smtClean="0"/>
              <a:pPr>
                <a:defRPr/>
              </a:pPr>
              <a:t>15</a:t>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6"/>
          <p:cNvSpPr>
            <a:spLocks noGrp="1" noChangeArrowheads="1"/>
          </p:cNvSpPr>
          <p:nvPr>
            <p:ph type="title" idx="4294967295"/>
          </p:nvPr>
        </p:nvSpPr>
        <p:spPr>
          <a:xfrm>
            <a:off x="1981200" y="260350"/>
            <a:ext cx="8229600" cy="1100138"/>
          </a:xfrm>
        </p:spPr>
        <p:txBody>
          <a:bodyPr/>
          <a:lstStyle/>
          <a:p>
            <a:pPr algn="ctr" eaLnBrk="1" hangingPunct="1"/>
            <a:r>
              <a:rPr lang="zh-CN" altLang="en-US">
                <a:solidFill>
                  <a:srgbClr val="228A1A"/>
                </a:solidFill>
                <a:latin typeface="黑体" panose="02010609060101010101" pitchFamily="49" charset="-122"/>
                <a:ea typeface="黑体" panose="02010609060101010101" pitchFamily="49" charset="-122"/>
              </a:rPr>
              <a:t>显示</a:t>
            </a:r>
            <a:r>
              <a:rPr lang="en-US" altLang="zh-CN">
                <a:solidFill>
                  <a:srgbClr val="228A1A"/>
                </a:solidFill>
                <a:latin typeface="黑体" panose="02010609060101010101" pitchFamily="49" charset="-122"/>
                <a:ea typeface="黑体" panose="02010609060101010101" pitchFamily="49" charset="-122"/>
              </a:rPr>
              <a:t>F</a:t>
            </a:r>
            <a:r>
              <a:rPr lang="zh-CN" altLang="en-US">
                <a:solidFill>
                  <a:srgbClr val="228A1A"/>
                </a:solidFill>
                <a:latin typeface="黑体" panose="02010609060101010101" pitchFamily="49" charset="-122"/>
                <a:ea typeface="黑体" panose="02010609060101010101" pitchFamily="49" charset="-122"/>
              </a:rPr>
              <a:t>规则推理过程</a:t>
            </a:r>
          </a:p>
        </p:txBody>
      </p:sp>
      <p:pic>
        <p:nvPicPr>
          <p:cNvPr id="6041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448" y="1268760"/>
            <a:ext cx="10009112" cy="551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D0BD496C-B044-275B-F3B7-B51FF195ACCF}"/>
              </a:ext>
            </a:extLst>
          </p:cNvPr>
          <p:cNvSpPr>
            <a:spLocks noGrp="1"/>
          </p:cNvSpPr>
          <p:nvPr>
            <p:ph type="sldNum" sz="quarter" idx="11"/>
          </p:nvPr>
        </p:nvSpPr>
        <p:spPr/>
        <p:txBody>
          <a:bodyPr/>
          <a:lstStyle/>
          <a:p>
            <a:pPr>
              <a:defRPr/>
            </a:pPr>
            <a:fld id="{B77A47BA-BA63-4780-94A9-8AFA2EA4438D}" type="slidenum">
              <a:rPr lang="en-US" altLang="zh-CN" smtClean="0"/>
              <a:pPr>
                <a:defRPr/>
              </a:pPr>
              <a:t>16</a:t>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1992313" y="260648"/>
            <a:ext cx="8229600" cy="1371600"/>
          </a:xfrm>
        </p:spPr>
        <p:txBody>
          <a:bodyPr/>
          <a:lstStyle/>
          <a:p>
            <a:pPr algn="ctr" eaLnBrk="1" hangingPunct="1"/>
            <a:r>
              <a:rPr lang="zh-CN" altLang="en-US" dirty="0">
                <a:solidFill>
                  <a:srgbClr val="228A1A"/>
                </a:solidFill>
                <a:latin typeface="黑体" panose="02010609060101010101" pitchFamily="49" charset="-122"/>
                <a:ea typeface="黑体" panose="02010609060101010101" pitchFamily="49" charset="-122"/>
              </a:rPr>
              <a:t>显示</a:t>
            </a:r>
            <a:r>
              <a:rPr lang="en-US" altLang="zh-CN" dirty="0">
                <a:solidFill>
                  <a:srgbClr val="228A1A"/>
                </a:solidFill>
                <a:latin typeface="黑体" panose="02010609060101010101" pitchFamily="49" charset="-122"/>
                <a:ea typeface="黑体" panose="02010609060101010101" pitchFamily="49" charset="-122"/>
              </a:rPr>
              <a:t>F</a:t>
            </a:r>
            <a:r>
              <a:rPr lang="zh-CN" altLang="en-US" dirty="0">
                <a:solidFill>
                  <a:srgbClr val="228A1A"/>
                </a:solidFill>
                <a:latin typeface="黑体" panose="02010609060101010101" pitchFamily="49" charset="-122"/>
                <a:ea typeface="黑体" panose="02010609060101010101" pitchFamily="49" charset="-122"/>
              </a:rPr>
              <a:t>规则推理过程</a:t>
            </a:r>
          </a:p>
        </p:txBody>
      </p:sp>
      <p:pic>
        <p:nvPicPr>
          <p:cNvPr id="6144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440" y="1484784"/>
            <a:ext cx="10009112"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E6B0949B-DF23-2444-B253-5E01FE243F08}"/>
              </a:ext>
            </a:extLst>
          </p:cNvPr>
          <p:cNvSpPr>
            <a:spLocks noGrp="1"/>
          </p:cNvSpPr>
          <p:nvPr>
            <p:ph type="sldNum" sz="quarter" idx="11"/>
          </p:nvPr>
        </p:nvSpPr>
        <p:spPr/>
        <p:txBody>
          <a:bodyPr/>
          <a:lstStyle/>
          <a:p>
            <a:pPr>
              <a:defRPr/>
            </a:pPr>
            <a:fld id="{B77A47BA-BA63-4780-94A9-8AFA2EA4438D}" type="slidenum">
              <a:rPr lang="en-US" altLang="zh-CN" smtClean="0"/>
              <a:pPr>
                <a:defRPr/>
              </a:pPr>
              <a:t>17</a:t>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a:xfrm>
            <a:off x="1992313" y="116632"/>
            <a:ext cx="8229600" cy="1371600"/>
          </a:xfrm>
        </p:spPr>
        <p:txBody>
          <a:bodyPr/>
          <a:lstStyle/>
          <a:p>
            <a:pPr eaLnBrk="1" hangingPunct="1"/>
            <a:r>
              <a:rPr lang="zh-CN" altLang="en-US" dirty="0">
                <a:solidFill>
                  <a:srgbClr val="228A1A"/>
                </a:solidFill>
                <a:latin typeface="黑体" panose="02010609060101010101" pitchFamily="49" charset="-122"/>
                <a:ea typeface="黑体" panose="02010609060101010101" pitchFamily="49" charset="-122"/>
              </a:rPr>
              <a:t>显示</a:t>
            </a:r>
            <a:r>
              <a:rPr lang="en-US" altLang="zh-CN" dirty="0">
                <a:solidFill>
                  <a:srgbClr val="228A1A"/>
                </a:solidFill>
                <a:latin typeface="黑体" panose="02010609060101010101" pitchFamily="49" charset="-122"/>
                <a:ea typeface="黑体" panose="02010609060101010101" pitchFamily="49" charset="-122"/>
              </a:rPr>
              <a:t>F</a:t>
            </a:r>
            <a:r>
              <a:rPr lang="zh-CN" altLang="en-US" dirty="0">
                <a:solidFill>
                  <a:srgbClr val="228A1A"/>
                </a:solidFill>
                <a:latin typeface="黑体" panose="02010609060101010101" pitchFamily="49" charset="-122"/>
                <a:ea typeface="黑体" panose="02010609060101010101" pitchFamily="49" charset="-122"/>
              </a:rPr>
              <a:t>推理系统的输入</a:t>
            </a:r>
            <a:r>
              <a:rPr lang="en-US" altLang="zh-CN" dirty="0">
                <a:solidFill>
                  <a:srgbClr val="228A1A"/>
                </a:solidFill>
                <a:latin typeface="黑体" panose="02010609060101010101" pitchFamily="49" charset="-122"/>
                <a:ea typeface="黑体" panose="02010609060101010101" pitchFamily="49" charset="-122"/>
              </a:rPr>
              <a:t>-</a:t>
            </a:r>
            <a:r>
              <a:rPr lang="zh-CN" altLang="en-US" dirty="0">
                <a:solidFill>
                  <a:srgbClr val="228A1A"/>
                </a:solidFill>
                <a:latin typeface="黑体" panose="02010609060101010101" pitchFamily="49" charset="-122"/>
                <a:ea typeface="黑体" panose="02010609060101010101" pitchFamily="49" charset="-122"/>
              </a:rPr>
              <a:t>输出曲面</a:t>
            </a:r>
          </a:p>
        </p:txBody>
      </p:sp>
      <p:pic>
        <p:nvPicPr>
          <p:cNvPr id="6246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464" y="1339850"/>
            <a:ext cx="9865096"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1D0E86C2-32F7-9F3C-A2DE-6BC32EB5733C}"/>
              </a:ext>
            </a:extLst>
          </p:cNvPr>
          <p:cNvSpPr>
            <a:spLocks noGrp="1"/>
          </p:cNvSpPr>
          <p:nvPr>
            <p:ph type="sldNum" sz="quarter" idx="11"/>
          </p:nvPr>
        </p:nvSpPr>
        <p:spPr/>
        <p:txBody>
          <a:bodyPr/>
          <a:lstStyle/>
          <a:p>
            <a:pPr>
              <a:defRPr/>
            </a:pPr>
            <a:fld id="{B77A47BA-BA63-4780-94A9-8AFA2EA4438D}" type="slidenum">
              <a:rPr lang="en-US" altLang="zh-CN" smtClean="0"/>
              <a:pPr>
                <a:defRPr/>
              </a:pPr>
              <a:t>18</a:t>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a:xfrm>
            <a:off x="1992313" y="188913"/>
            <a:ext cx="8229600" cy="1371600"/>
          </a:xfrm>
        </p:spPr>
        <p:txBody>
          <a:bodyPr/>
          <a:lstStyle/>
          <a:p>
            <a:pPr eaLnBrk="1" hangingPunct="1"/>
            <a:r>
              <a:rPr lang="zh-CN" altLang="en-US" dirty="0">
                <a:solidFill>
                  <a:srgbClr val="228A1A"/>
                </a:solidFill>
                <a:latin typeface="黑体" panose="02010609060101010101" pitchFamily="49" charset="-122"/>
                <a:ea typeface="黑体" panose="02010609060101010101" pitchFamily="49" charset="-122"/>
              </a:rPr>
              <a:t>显示</a:t>
            </a:r>
            <a:r>
              <a:rPr lang="en-US" altLang="zh-CN" dirty="0">
                <a:solidFill>
                  <a:srgbClr val="228A1A"/>
                </a:solidFill>
                <a:latin typeface="黑体" panose="02010609060101010101" pitchFamily="49" charset="-122"/>
                <a:ea typeface="黑体" panose="02010609060101010101" pitchFamily="49" charset="-122"/>
              </a:rPr>
              <a:t>F</a:t>
            </a:r>
            <a:r>
              <a:rPr lang="zh-CN" altLang="en-US" dirty="0">
                <a:solidFill>
                  <a:srgbClr val="228A1A"/>
                </a:solidFill>
                <a:latin typeface="黑体" panose="02010609060101010101" pitchFamily="49" charset="-122"/>
                <a:ea typeface="黑体" panose="02010609060101010101" pitchFamily="49" charset="-122"/>
              </a:rPr>
              <a:t>推理系统的输入</a:t>
            </a:r>
            <a:r>
              <a:rPr lang="en-US" altLang="zh-CN" dirty="0">
                <a:solidFill>
                  <a:srgbClr val="228A1A"/>
                </a:solidFill>
                <a:latin typeface="黑体" panose="02010609060101010101" pitchFamily="49" charset="-122"/>
                <a:ea typeface="黑体" panose="02010609060101010101" pitchFamily="49" charset="-122"/>
              </a:rPr>
              <a:t>-</a:t>
            </a:r>
            <a:r>
              <a:rPr lang="zh-CN" altLang="en-US" dirty="0">
                <a:solidFill>
                  <a:srgbClr val="228A1A"/>
                </a:solidFill>
                <a:latin typeface="黑体" panose="02010609060101010101" pitchFamily="49" charset="-122"/>
                <a:ea typeface="黑体" panose="02010609060101010101" pitchFamily="49" charset="-122"/>
              </a:rPr>
              <a:t>输出曲面</a:t>
            </a:r>
          </a:p>
        </p:txBody>
      </p:sp>
      <p:pic>
        <p:nvPicPr>
          <p:cNvPr id="6349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440" y="1412776"/>
            <a:ext cx="10153128" cy="5299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77130AC9-52D8-073F-793D-1EEB774F51EE}"/>
              </a:ext>
            </a:extLst>
          </p:cNvPr>
          <p:cNvSpPr>
            <a:spLocks noGrp="1"/>
          </p:cNvSpPr>
          <p:nvPr>
            <p:ph type="sldNum" sz="quarter" idx="11"/>
          </p:nvPr>
        </p:nvSpPr>
        <p:spPr/>
        <p:txBody>
          <a:bodyPr/>
          <a:lstStyle/>
          <a:p>
            <a:pPr>
              <a:defRPr/>
            </a:pPr>
            <a:fld id="{B77A47BA-BA63-4780-94A9-8AFA2EA4438D}" type="slidenum">
              <a:rPr lang="en-US" altLang="zh-CN" smtClean="0"/>
              <a:pPr>
                <a:defRPr/>
              </a:pPr>
              <a:t>19</a:t>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5"/>
          <p:cNvSpPr>
            <a:spLocks noGrp="1" noChangeArrowheads="1"/>
          </p:cNvSpPr>
          <p:nvPr>
            <p:ph type="title" idx="4294967295"/>
          </p:nvPr>
        </p:nvSpPr>
        <p:spPr>
          <a:xfrm>
            <a:off x="1992313" y="260350"/>
            <a:ext cx="8229600" cy="1371600"/>
          </a:xfrm>
        </p:spPr>
        <p:txBody>
          <a:bodyPr/>
          <a:lstStyle/>
          <a:p>
            <a:pPr algn="ctr" eaLnBrk="1" hangingPunct="1"/>
            <a:r>
              <a:rPr lang="en-US" altLang="zh-CN">
                <a:solidFill>
                  <a:srgbClr val="228A1A"/>
                </a:solidFill>
              </a:rPr>
              <a:t>Sugeno F</a:t>
            </a:r>
            <a:r>
              <a:rPr lang="zh-CN" altLang="en-US">
                <a:solidFill>
                  <a:srgbClr val="228A1A"/>
                </a:solidFill>
                <a:ea typeface="黑体" panose="02010609060101010101" pitchFamily="49" charset="-122"/>
              </a:rPr>
              <a:t>模型的建立</a:t>
            </a:r>
          </a:p>
        </p:txBody>
      </p:sp>
      <p:pic>
        <p:nvPicPr>
          <p:cNvPr id="6451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440" y="1484784"/>
            <a:ext cx="9865096"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6C8C6A82-6FE9-6918-BF91-7EF5E0DD7D91}"/>
              </a:ext>
            </a:extLst>
          </p:cNvPr>
          <p:cNvSpPr>
            <a:spLocks noGrp="1"/>
          </p:cNvSpPr>
          <p:nvPr>
            <p:ph type="sldNum" sz="quarter" idx="11"/>
          </p:nvPr>
        </p:nvSpPr>
        <p:spPr/>
        <p:txBody>
          <a:bodyPr/>
          <a:lstStyle/>
          <a:p>
            <a:pPr>
              <a:defRPr/>
            </a:pPr>
            <a:fld id="{B77A47BA-BA63-4780-94A9-8AFA2EA4438D}" type="slidenum">
              <a:rPr lang="en-US" altLang="zh-CN" smtClean="0"/>
              <a:pPr>
                <a:defRPr/>
              </a:pPr>
              <a:t>20</a:t>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609600" y="260648"/>
            <a:ext cx="10972800" cy="1371600"/>
          </a:xfrm>
        </p:spPr>
        <p:txBody>
          <a:bodyPr/>
          <a:lstStyle/>
          <a:p>
            <a:pPr algn="ctr" eaLnBrk="1" hangingPunct="1"/>
            <a:r>
              <a:rPr lang="en-US" altLang="zh-CN" dirty="0" err="1">
                <a:solidFill>
                  <a:srgbClr val="228A1A"/>
                </a:solidFill>
              </a:rPr>
              <a:t>Sugeno</a:t>
            </a:r>
            <a:r>
              <a:rPr lang="en-US" altLang="zh-CN" dirty="0">
                <a:solidFill>
                  <a:srgbClr val="228A1A"/>
                </a:solidFill>
              </a:rPr>
              <a:t> F</a:t>
            </a:r>
            <a:r>
              <a:rPr lang="zh-CN" altLang="en-US" dirty="0">
                <a:solidFill>
                  <a:srgbClr val="228A1A"/>
                </a:solidFill>
                <a:ea typeface="黑体" panose="02010609060101010101" pitchFamily="49" charset="-122"/>
              </a:rPr>
              <a:t>模型输出的建立</a:t>
            </a:r>
          </a:p>
        </p:txBody>
      </p:sp>
      <p:pic>
        <p:nvPicPr>
          <p:cNvPr id="6553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448" y="1556792"/>
            <a:ext cx="9865096" cy="517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362C877-6B57-E1D6-BA23-7D6CA01746E3}"/>
              </a:ext>
            </a:extLst>
          </p:cNvPr>
          <p:cNvSpPr/>
          <p:nvPr/>
        </p:nvSpPr>
        <p:spPr bwMode="auto">
          <a:xfrm>
            <a:off x="8616280" y="5121188"/>
            <a:ext cx="1728192" cy="324036"/>
          </a:xfrm>
          <a:prstGeom prst="rect">
            <a:avLst/>
          </a:prstGeom>
          <a:solidFill>
            <a:srgbClr val="45E764">
              <a:alpha val="22000"/>
            </a:srgbClr>
          </a:solidFill>
          <a:ln w="57150" cap="flat" cmpd="sng" algn="ctr">
            <a:solidFill>
              <a:srgbClr val="CC00C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3" name="灯片编号占位符 2">
            <a:extLst>
              <a:ext uri="{FF2B5EF4-FFF2-40B4-BE49-F238E27FC236}">
                <a16:creationId xmlns:a16="http://schemas.microsoft.com/office/drawing/2014/main" id="{52496927-8028-995B-54BC-CC148C6C8058}"/>
              </a:ext>
            </a:extLst>
          </p:cNvPr>
          <p:cNvSpPr>
            <a:spLocks noGrp="1"/>
          </p:cNvSpPr>
          <p:nvPr>
            <p:ph type="sldNum" sz="quarter" idx="11"/>
          </p:nvPr>
        </p:nvSpPr>
        <p:spPr/>
        <p:txBody>
          <a:bodyPr/>
          <a:lstStyle/>
          <a:p>
            <a:pPr>
              <a:defRPr/>
            </a:pPr>
            <a:fld id="{B77A47BA-BA63-4780-94A9-8AFA2EA4438D}" type="slidenum">
              <a:rPr lang="en-US" altLang="zh-CN" smtClean="0"/>
              <a:pPr>
                <a:defRPr/>
              </a:pPr>
              <a:t>21</a:t>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p:txBody>
          <a:bodyPr/>
          <a:lstStyle/>
          <a:p>
            <a:pPr algn="ctr" eaLnBrk="1" hangingPunct="1"/>
            <a:r>
              <a:rPr lang="en-US" altLang="zh-CN">
                <a:solidFill>
                  <a:srgbClr val="228A1A"/>
                </a:solidFill>
              </a:rPr>
              <a:t>Sugeno F</a:t>
            </a:r>
            <a:r>
              <a:rPr lang="zh-CN" altLang="en-US">
                <a:solidFill>
                  <a:srgbClr val="228A1A"/>
                </a:solidFill>
                <a:ea typeface="黑体" panose="02010609060101010101" pitchFamily="49" charset="-122"/>
              </a:rPr>
              <a:t>模型输出的建立</a:t>
            </a:r>
          </a:p>
        </p:txBody>
      </p:sp>
      <p:pic>
        <p:nvPicPr>
          <p:cNvPr id="6656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448" y="1660534"/>
            <a:ext cx="9577064"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AE378606-87FF-567C-9A20-11D12BBC5E5E}"/>
              </a:ext>
            </a:extLst>
          </p:cNvPr>
          <p:cNvSpPr/>
          <p:nvPr/>
        </p:nvSpPr>
        <p:spPr bwMode="auto">
          <a:xfrm>
            <a:off x="8472264" y="5301208"/>
            <a:ext cx="1584176" cy="288032"/>
          </a:xfrm>
          <a:prstGeom prst="rect">
            <a:avLst/>
          </a:prstGeom>
          <a:solidFill>
            <a:srgbClr val="45E764">
              <a:alpha val="22000"/>
            </a:srgbClr>
          </a:solidFill>
          <a:ln w="57150" cap="flat" cmpd="sng" algn="ctr">
            <a:solidFill>
              <a:srgbClr val="CC00C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 name="灯片编号占位符 1">
            <a:extLst>
              <a:ext uri="{FF2B5EF4-FFF2-40B4-BE49-F238E27FC236}">
                <a16:creationId xmlns:a16="http://schemas.microsoft.com/office/drawing/2014/main" id="{A6D12EF7-DBC5-F601-C842-48C1CEABD5AB}"/>
              </a:ext>
            </a:extLst>
          </p:cNvPr>
          <p:cNvSpPr>
            <a:spLocks noGrp="1"/>
          </p:cNvSpPr>
          <p:nvPr>
            <p:ph type="sldNum" sz="quarter" idx="11"/>
          </p:nvPr>
        </p:nvSpPr>
        <p:spPr/>
        <p:txBody>
          <a:bodyPr/>
          <a:lstStyle/>
          <a:p>
            <a:pPr>
              <a:defRPr/>
            </a:pPr>
            <a:fld id="{B77A47BA-BA63-4780-94A9-8AFA2EA4438D}" type="slidenum">
              <a:rPr lang="en-US" altLang="zh-CN" smtClean="0"/>
              <a:pPr>
                <a:defRPr/>
              </a:pPr>
              <a:t>22</a:t>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1992313" y="476672"/>
            <a:ext cx="8229600" cy="1027113"/>
          </a:xfrm>
        </p:spPr>
        <p:txBody>
          <a:bodyPr/>
          <a:lstStyle/>
          <a:p>
            <a:pPr algn="ctr" eaLnBrk="1" hangingPunct="1"/>
            <a:r>
              <a:rPr lang="en-US" altLang="zh-CN" dirty="0">
                <a:solidFill>
                  <a:srgbClr val="128828"/>
                </a:solidFill>
                <a:ea typeface="黑体" panose="02010609060101010101" pitchFamily="49" charset="-122"/>
              </a:rPr>
              <a:t>9.8 </a:t>
            </a:r>
            <a:r>
              <a:rPr lang="zh-CN" altLang="en-US" dirty="0">
                <a:solidFill>
                  <a:srgbClr val="128828"/>
                </a:solidFill>
                <a:ea typeface="黑体" panose="02010609060101010101" pitchFamily="49" charset="-122"/>
              </a:rPr>
              <a:t>自适应神经</a:t>
            </a:r>
            <a:r>
              <a:rPr lang="en-US" altLang="zh-CN" dirty="0">
                <a:solidFill>
                  <a:srgbClr val="128828"/>
                </a:solidFill>
                <a:ea typeface="黑体" panose="02010609060101010101" pitchFamily="49" charset="-122"/>
              </a:rPr>
              <a:t>-</a:t>
            </a:r>
            <a:r>
              <a:rPr lang="zh-CN" altLang="en-US" dirty="0">
                <a:solidFill>
                  <a:srgbClr val="128828"/>
                </a:solidFill>
                <a:ea typeface="黑体" panose="02010609060101010101" pitchFamily="49" charset="-122"/>
              </a:rPr>
              <a:t>模糊推理系统 </a:t>
            </a:r>
          </a:p>
        </p:txBody>
      </p:sp>
      <p:sp>
        <p:nvSpPr>
          <p:cNvPr id="5123" name="Rectangle 3"/>
          <p:cNvSpPr>
            <a:spLocks noGrp="1" noChangeArrowheads="1"/>
          </p:cNvSpPr>
          <p:nvPr>
            <p:ph type="body" idx="4294967295"/>
          </p:nvPr>
        </p:nvSpPr>
        <p:spPr>
          <a:xfrm>
            <a:off x="695400" y="1628784"/>
            <a:ext cx="6840473" cy="4968875"/>
          </a:xfrm>
        </p:spPr>
        <p:txBody>
          <a:bodyPr/>
          <a:lstStyle/>
          <a:p>
            <a:pPr eaLnBrk="1" hangingPunct="1">
              <a:lnSpc>
                <a:spcPct val="150000"/>
              </a:lnSpc>
            </a:pPr>
            <a:r>
              <a:rPr lang="en-US" altLang="zh-CN" sz="3600" dirty="0">
                <a:solidFill>
                  <a:srgbClr val="FF0000"/>
                </a:solidFill>
                <a:ea typeface="黑体" panose="02010609060101010101" pitchFamily="49" charset="-122"/>
              </a:rPr>
              <a:t>F</a:t>
            </a:r>
            <a:r>
              <a:rPr lang="zh-CN" altLang="en-US" sz="3600" dirty="0">
                <a:solidFill>
                  <a:srgbClr val="FF0000"/>
                </a:solidFill>
                <a:ea typeface="黑体" panose="02010609060101010101" pitchFamily="49" charset="-122"/>
              </a:rPr>
              <a:t>推理系统类型的基本结构模型</a:t>
            </a:r>
          </a:p>
          <a:p>
            <a:pPr lvl="1" eaLnBrk="1" hangingPunct="1">
              <a:lnSpc>
                <a:spcPct val="150000"/>
              </a:lnSpc>
            </a:pPr>
            <a:r>
              <a:rPr lang="zh-CN" altLang="en-US" b="1" dirty="0">
                <a:ea typeface="楷体_GB2312" pitchFamily="49" charset="-122"/>
              </a:rPr>
              <a:t>它们从上到下是两两映射关系</a:t>
            </a:r>
          </a:p>
          <a:p>
            <a:pPr lvl="1" eaLnBrk="1" hangingPunct="1">
              <a:lnSpc>
                <a:spcPct val="150000"/>
              </a:lnSpc>
            </a:pPr>
            <a:r>
              <a:rPr lang="zh-CN" altLang="en-US" b="1" dirty="0">
                <a:ea typeface="楷体_GB2312" pitchFamily="49" charset="-122"/>
              </a:rPr>
              <a:t>可用此系统逼近未知的非线性动态系统</a:t>
            </a:r>
          </a:p>
          <a:p>
            <a:pPr lvl="1" eaLnBrk="1" hangingPunct="1">
              <a:lnSpc>
                <a:spcPct val="150000"/>
              </a:lnSpc>
            </a:pPr>
            <a:r>
              <a:rPr lang="zh-CN" altLang="en-US" b="1" dirty="0">
                <a:ea typeface="楷体_GB2312" pitchFamily="49" charset="-122"/>
              </a:rPr>
              <a:t>在决策、建模、信号处理和控制等方面有广泛应用</a:t>
            </a:r>
          </a:p>
        </p:txBody>
      </p:sp>
      <p:grpSp>
        <p:nvGrpSpPr>
          <p:cNvPr id="5124" name="Group 4"/>
          <p:cNvGrpSpPr>
            <a:grpSpLocks/>
          </p:cNvGrpSpPr>
          <p:nvPr/>
        </p:nvGrpSpPr>
        <p:grpSpPr bwMode="auto">
          <a:xfrm>
            <a:off x="8113836" y="1773238"/>
            <a:ext cx="2806700" cy="4945062"/>
            <a:chOff x="0" y="0"/>
            <a:chExt cx="1768" cy="3115"/>
          </a:xfrm>
        </p:grpSpPr>
        <p:sp>
          <p:nvSpPr>
            <p:cNvPr id="5125" name="Text Box 4"/>
            <p:cNvSpPr txBox="1">
              <a:spLocks noChangeArrowheads="1"/>
            </p:cNvSpPr>
            <p:nvPr/>
          </p:nvSpPr>
          <p:spPr bwMode="auto">
            <a:xfrm>
              <a:off x="0" y="0"/>
              <a:ext cx="1723" cy="300"/>
            </a:xfrm>
            <a:prstGeom prst="rect">
              <a:avLst/>
            </a:prstGeom>
            <a:solidFill>
              <a:srgbClr val="FFFF99"/>
            </a:solidFill>
            <a:ln w="1905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ea typeface="楷体_GB2312" pitchFamily="49" charset="-122"/>
                </a:rPr>
                <a:t>输入特性</a:t>
              </a:r>
            </a:p>
          </p:txBody>
        </p:sp>
        <p:sp>
          <p:nvSpPr>
            <p:cNvPr id="5126" name="Text Box 5"/>
            <p:cNvSpPr txBox="1">
              <a:spLocks noChangeArrowheads="1"/>
            </p:cNvSpPr>
            <p:nvPr/>
          </p:nvSpPr>
          <p:spPr bwMode="auto">
            <a:xfrm>
              <a:off x="0" y="2585"/>
              <a:ext cx="1768" cy="530"/>
            </a:xfrm>
            <a:prstGeom prst="rect">
              <a:avLst/>
            </a:prstGeom>
            <a:solidFill>
              <a:srgbClr val="FFFF99"/>
            </a:solidFill>
            <a:ln w="1905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ea typeface="楷体_GB2312" pitchFamily="49" charset="-122"/>
                </a:rPr>
                <a:t>一个单值输出或与输出相关的决策</a:t>
              </a:r>
            </a:p>
          </p:txBody>
        </p:sp>
        <p:sp>
          <p:nvSpPr>
            <p:cNvPr id="5127" name="Text Box 6"/>
            <p:cNvSpPr txBox="1">
              <a:spLocks noChangeArrowheads="1"/>
            </p:cNvSpPr>
            <p:nvPr/>
          </p:nvSpPr>
          <p:spPr bwMode="auto">
            <a:xfrm>
              <a:off x="0" y="544"/>
              <a:ext cx="1723" cy="300"/>
            </a:xfrm>
            <a:prstGeom prst="rect">
              <a:avLst/>
            </a:prstGeom>
            <a:solidFill>
              <a:srgbClr val="FFFF99"/>
            </a:solidFill>
            <a:ln w="1905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ea typeface="楷体_GB2312" pitchFamily="49" charset="-122"/>
                </a:rPr>
                <a:t>输入隶属函数</a:t>
              </a:r>
            </a:p>
          </p:txBody>
        </p:sp>
        <p:sp>
          <p:nvSpPr>
            <p:cNvPr id="5128" name="Text Box 7"/>
            <p:cNvSpPr txBox="1">
              <a:spLocks noChangeArrowheads="1"/>
            </p:cNvSpPr>
            <p:nvPr/>
          </p:nvSpPr>
          <p:spPr bwMode="auto">
            <a:xfrm>
              <a:off x="0" y="1043"/>
              <a:ext cx="1723" cy="300"/>
            </a:xfrm>
            <a:prstGeom prst="rect">
              <a:avLst/>
            </a:prstGeom>
            <a:solidFill>
              <a:srgbClr val="FFFF99"/>
            </a:solidFill>
            <a:ln w="1905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ea typeface="楷体_GB2312" pitchFamily="49" charset="-122"/>
                </a:rPr>
                <a:t>规则</a:t>
              </a:r>
            </a:p>
          </p:txBody>
        </p:sp>
        <p:sp>
          <p:nvSpPr>
            <p:cNvPr id="5129" name="Text Box 8"/>
            <p:cNvSpPr txBox="1">
              <a:spLocks noChangeArrowheads="1"/>
            </p:cNvSpPr>
            <p:nvPr/>
          </p:nvSpPr>
          <p:spPr bwMode="auto">
            <a:xfrm>
              <a:off x="0" y="1542"/>
              <a:ext cx="1723" cy="300"/>
            </a:xfrm>
            <a:prstGeom prst="rect">
              <a:avLst/>
            </a:prstGeom>
            <a:solidFill>
              <a:srgbClr val="FFFF99"/>
            </a:solidFill>
            <a:ln w="1905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ea typeface="楷体_GB2312" pitchFamily="49" charset="-122"/>
                </a:rPr>
                <a:t>一组输出特性</a:t>
              </a:r>
            </a:p>
          </p:txBody>
        </p:sp>
        <p:sp>
          <p:nvSpPr>
            <p:cNvPr id="5130" name="Text Box 9"/>
            <p:cNvSpPr txBox="1">
              <a:spLocks noChangeArrowheads="1"/>
            </p:cNvSpPr>
            <p:nvPr/>
          </p:nvSpPr>
          <p:spPr bwMode="auto">
            <a:xfrm>
              <a:off x="0" y="2041"/>
              <a:ext cx="1723" cy="300"/>
            </a:xfrm>
            <a:prstGeom prst="rect">
              <a:avLst/>
            </a:prstGeom>
            <a:solidFill>
              <a:srgbClr val="FFFF99"/>
            </a:solidFill>
            <a:ln w="19050"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400" b="1">
                  <a:ea typeface="楷体_GB2312" pitchFamily="49" charset="-122"/>
                </a:rPr>
                <a:t>输出隶属函数</a:t>
              </a:r>
            </a:p>
          </p:txBody>
        </p:sp>
        <p:sp>
          <p:nvSpPr>
            <p:cNvPr id="5131" name="AutoShape 10"/>
            <p:cNvSpPr>
              <a:spLocks noChangeArrowheads="1"/>
            </p:cNvSpPr>
            <p:nvPr/>
          </p:nvSpPr>
          <p:spPr bwMode="auto">
            <a:xfrm>
              <a:off x="725" y="317"/>
              <a:ext cx="272" cy="182"/>
            </a:xfrm>
            <a:prstGeom prst="downArrow">
              <a:avLst>
                <a:gd name="adj1" fmla="val 50000"/>
                <a:gd name="adj2" fmla="val 25000"/>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32" name="AutoShape 11"/>
            <p:cNvSpPr>
              <a:spLocks noChangeArrowheads="1"/>
            </p:cNvSpPr>
            <p:nvPr/>
          </p:nvSpPr>
          <p:spPr bwMode="auto">
            <a:xfrm>
              <a:off x="725" y="862"/>
              <a:ext cx="272" cy="182"/>
            </a:xfrm>
            <a:prstGeom prst="downArrow">
              <a:avLst>
                <a:gd name="adj1" fmla="val 50000"/>
                <a:gd name="adj2" fmla="val 25000"/>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33" name="AutoShape 12"/>
            <p:cNvSpPr>
              <a:spLocks noChangeArrowheads="1"/>
            </p:cNvSpPr>
            <p:nvPr/>
          </p:nvSpPr>
          <p:spPr bwMode="auto">
            <a:xfrm>
              <a:off x="725" y="1361"/>
              <a:ext cx="272" cy="182"/>
            </a:xfrm>
            <a:prstGeom prst="downArrow">
              <a:avLst>
                <a:gd name="adj1" fmla="val 50000"/>
                <a:gd name="adj2" fmla="val 25000"/>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34" name="AutoShape 13"/>
            <p:cNvSpPr>
              <a:spLocks noChangeArrowheads="1"/>
            </p:cNvSpPr>
            <p:nvPr/>
          </p:nvSpPr>
          <p:spPr bwMode="auto">
            <a:xfrm>
              <a:off x="725" y="1859"/>
              <a:ext cx="272" cy="182"/>
            </a:xfrm>
            <a:prstGeom prst="downArrow">
              <a:avLst>
                <a:gd name="adj1" fmla="val 50000"/>
                <a:gd name="adj2" fmla="val 25000"/>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35" name="AutoShape 14"/>
            <p:cNvSpPr>
              <a:spLocks noChangeArrowheads="1"/>
            </p:cNvSpPr>
            <p:nvPr/>
          </p:nvSpPr>
          <p:spPr bwMode="auto">
            <a:xfrm>
              <a:off x="725" y="2358"/>
              <a:ext cx="272" cy="182"/>
            </a:xfrm>
            <a:prstGeom prst="downArrow">
              <a:avLst>
                <a:gd name="adj1" fmla="val 50000"/>
                <a:gd name="adj2" fmla="val 25000"/>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2" name="灯片编号占位符 1">
            <a:extLst>
              <a:ext uri="{FF2B5EF4-FFF2-40B4-BE49-F238E27FC236}">
                <a16:creationId xmlns:a16="http://schemas.microsoft.com/office/drawing/2014/main" id="{87D1D9A7-0A12-753D-9384-EC52BEB58E07}"/>
              </a:ext>
            </a:extLst>
          </p:cNvPr>
          <p:cNvSpPr>
            <a:spLocks noGrp="1"/>
          </p:cNvSpPr>
          <p:nvPr>
            <p:ph type="sldNum" sz="quarter" idx="11"/>
          </p:nvPr>
        </p:nvSpPr>
        <p:spPr/>
        <p:txBody>
          <a:bodyPr/>
          <a:lstStyle/>
          <a:p>
            <a:pPr>
              <a:defRPr/>
            </a:pPr>
            <a:fld id="{B77A47BA-BA63-4780-94A9-8AFA2EA4438D}" type="slidenum">
              <a:rPr lang="en-US" altLang="zh-CN" smtClean="0"/>
              <a:pPr>
                <a:defRPr/>
              </a:pPr>
              <a:t>23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wipe(left)">
                                      <p:cBhvr>
                                        <p:cTn id="7" dur="500"/>
                                        <p:tgtEl>
                                          <p:spTgt spid="51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124"/>
                                        </p:tgtEl>
                                        <p:attrNameLst>
                                          <p:attrName>style.visibility</p:attrName>
                                        </p:attrNameLst>
                                      </p:cBhvr>
                                      <p:to>
                                        <p:strVal val="visible"/>
                                      </p:to>
                                    </p:set>
                                    <p:animEffect transition="in" filter="wipe(up)">
                                      <p:cBhvr>
                                        <p:cTn id="12" dur="500"/>
                                        <p:tgtEl>
                                          <p:spTgt spid="51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3">
                                            <p:txEl>
                                              <p:pRg st="1" end="1"/>
                                            </p:txEl>
                                          </p:spTgt>
                                        </p:tgtEl>
                                        <p:attrNameLst>
                                          <p:attrName>style.visibility</p:attrName>
                                        </p:attrNameLst>
                                      </p:cBhvr>
                                      <p:to>
                                        <p:strVal val="visible"/>
                                      </p:to>
                                    </p:set>
                                    <p:animEffect transition="in" filter="wipe(left)">
                                      <p:cBhvr>
                                        <p:cTn id="17" dur="500"/>
                                        <p:tgtEl>
                                          <p:spTgt spid="512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23">
                                            <p:txEl>
                                              <p:pRg st="2" end="2"/>
                                            </p:txEl>
                                          </p:spTgt>
                                        </p:tgtEl>
                                        <p:attrNameLst>
                                          <p:attrName>style.visibility</p:attrName>
                                        </p:attrNameLst>
                                      </p:cBhvr>
                                      <p:to>
                                        <p:strVal val="visible"/>
                                      </p:to>
                                    </p:set>
                                    <p:animEffect transition="in" filter="wipe(left)">
                                      <p:cBhvr>
                                        <p:cTn id="22" dur="500"/>
                                        <p:tgtEl>
                                          <p:spTgt spid="512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23">
                                            <p:txEl>
                                              <p:pRg st="3" end="3"/>
                                            </p:txEl>
                                          </p:spTgt>
                                        </p:tgtEl>
                                        <p:attrNameLst>
                                          <p:attrName>style.visibility</p:attrName>
                                        </p:attrNameLst>
                                      </p:cBhvr>
                                      <p:to>
                                        <p:strVal val="visible"/>
                                      </p:to>
                                    </p:set>
                                    <p:animEffect transition="in" filter="wipe(left)">
                                      <p:cBhvr>
                                        <p:cTn id="27" dur="500"/>
                                        <p:tgtEl>
                                          <p:spTgt spid="5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3143747" y="1412726"/>
            <a:ext cx="5472112" cy="3600450"/>
          </a:xfrm>
          <a:prstGeom prst="rect">
            <a:avLst/>
          </a:prstGeom>
          <a:solidFill>
            <a:srgbClr val="66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47" name="Rectangle 3"/>
          <p:cNvSpPr>
            <a:spLocks noGrp="1" noChangeArrowheads="1"/>
          </p:cNvSpPr>
          <p:nvPr>
            <p:ph type="title" idx="4294967295"/>
          </p:nvPr>
        </p:nvSpPr>
        <p:spPr>
          <a:xfrm>
            <a:off x="1981200" y="260648"/>
            <a:ext cx="8229600" cy="1100138"/>
          </a:xfrm>
        </p:spPr>
        <p:txBody>
          <a:bodyPr/>
          <a:lstStyle/>
          <a:p>
            <a:pPr algn="ctr" eaLnBrk="1" hangingPunct="1"/>
            <a:r>
              <a:rPr lang="en-US" altLang="zh-CN" dirty="0">
                <a:solidFill>
                  <a:srgbClr val="128828"/>
                </a:solidFill>
                <a:ea typeface="黑体" panose="02010609060101010101" pitchFamily="49" charset="-122"/>
              </a:rPr>
              <a:t>F </a:t>
            </a:r>
            <a:r>
              <a:rPr lang="zh-CN" altLang="en-US" dirty="0">
                <a:solidFill>
                  <a:srgbClr val="128828"/>
                </a:solidFill>
                <a:ea typeface="黑体" panose="02010609060101010101" pitchFamily="49" charset="-122"/>
              </a:rPr>
              <a:t>推理系统</a:t>
            </a:r>
            <a:r>
              <a:rPr lang="en-US" altLang="zh-CN" dirty="0">
                <a:solidFill>
                  <a:srgbClr val="128828"/>
                </a:solidFill>
                <a:ea typeface="黑体" panose="02010609060101010101" pitchFamily="49" charset="-122"/>
              </a:rPr>
              <a:t>(FIS)</a:t>
            </a:r>
            <a:r>
              <a:rPr lang="zh-CN" altLang="en-US" dirty="0">
                <a:solidFill>
                  <a:srgbClr val="128828"/>
                </a:solidFill>
                <a:ea typeface="黑体" panose="02010609060101010101" pitchFamily="49" charset="-122"/>
              </a:rPr>
              <a:t>的框图</a:t>
            </a:r>
          </a:p>
        </p:txBody>
      </p:sp>
      <p:sp>
        <p:nvSpPr>
          <p:cNvPr id="6148" name="Rectangle 4"/>
          <p:cNvSpPr>
            <a:spLocks noGrp="1" noChangeArrowheads="1"/>
          </p:cNvSpPr>
          <p:nvPr>
            <p:ph type="body" idx="4294967295"/>
          </p:nvPr>
        </p:nvSpPr>
        <p:spPr>
          <a:xfrm>
            <a:off x="1163204" y="5026815"/>
            <a:ext cx="10729192" cy="1700212"/>
          </a:xfrm>
        </p:spPr>
        <p:txBody>
          <a:bodyPr/>
          <a:lstStyle/>
          <a:p>
            <a:pPr eaLnBrk="1" hangingPunct="1"/>
            <a:r>
              <a:rPr lang="en-US" altLang="zh-CN" sz="2800" dirty="0">
                <a:solidFill>
                  <a:srgbClr val="FF0000"/>
                </a:solidFill>
                <a:ea typeface="黑体" panose="02010609060101010101" pitchFamily="49" charset="-122"/>
              </a:rPr>
              <a:t>F</a:t>
            </a:r>
            <a:r>
              <a:rPr lang="zh-CN" altLang="en-US" sz="2800" dirty="0">
                <a:solidFill>
                  <a:srgbClr val="FF0000"/>
                </a:solidFill>
                <a:ea typeface="黑体" panose="02010609060101010101" pitchFamily="49" charset="-122"/>
              </a:rPr>
              <a:t>推理系统的结构</a:t>
            </a:r>
          </a:p>
          <a:p>
            <a:pPr lvl="1" eaLnBrk="1" hangingPunct="1"/>
            <a:r>
              <a:rPr lang="zh-CN" altLang="en-US" sz="2400" b="1" dirty="0">
                <a:solidFill>
                  <a:srgbClr val="3366FF"/>
                </a:solidFill>
                <a:ea typeface="楷体_GB2312" pitchFamily="49" charset="-122"/>
              </a:rPr>
              <a:t>一个规则库</a:t>
            </a:r>
            <a:r>
              <a:rPr lang="en-US" altLang="zh-CN" sz="2400" b="1" dirty="0">
                <a:ea typeface="楷体_GB2312" pitchFamily="49" charset="-122"/>
              </a:rPr>
              <a:t>——</a:t>
            </a:r>
            <a:r>
              <a:rPr lang="zh-CN" altLang="en-US" sz="2400" b="1" dirty="0">
                <a:ea typeface="楷体_GB2312" pitchFamily="49" charset="-122"/>
              </a:rPr>
              <a:t>包含一系列</a:t>
            </a:r>
            <a:r>
              <a:rPr lang="en-US" altLang="zh-CN" sz="2400" b="1" dirty="0">
                <a:ea typeface="楷体_GB2312" pitchFamily="49" charset="-122"/>
              </a:rPr>
              <a:t>F</a:t>
            </a:r>
            <a:r>
              <a:rPr lang="zh-CN" altLang="en-US" sz="2400" b="1" dirty="0">
                <a:ea typeface="楷体_GB2312" pitchFamily="49" charset="-122"/>
              </a:rPr>
              <a:t>规则</a:t>
            </a:r>
          </a:p>
          <a:p>
            <a:pPr lvl="1" eaLnBrk="1" hangingPunct="1"/>
            <a:r>
              <a:rPr lang="zh-CN" altLang="en-US" sz="2400" b="1" dirty="0">
                <a:solidFill>
                  <a:srgbClr val="3366FF"/>
                </a:solidFill>
                <a:ea typeface="楷体_GB2312" pitchFamily="49" charset="-122"/>
              </a:rPr>
              <a:t>一个数据库</a:t>
            </a:r>
            <a:r>
              <a:rPr lang="en-US" altLang="zh-CN" sz="2400" b="1" dirty="0">
                <a:solidFill>
                  <a:srgbClr val="3366FF"/>
                </a:solidFill>
                <a:ea typeface="楷体_GB2312" pitchFamily="49" charset="-122"/>
              </a:rPr>
              <a:t>(</a:t>
            </a:r>
            <a:r>
              <a:rPr lang="zh-CN" altLang="en-US" sz="2400" b="1" dirty="0">
                <a:solidFill>
                  <a:srgbClr val="3366FF"/>
                </a:solidFill>
                <a:ea typeface="楷体_GB2312" pitchFamily="49" charset="-122"/>
              </a:rPr>
              <a:t>词典</a:t>
            </a:r>
            <a:r>
              <a:rPr lang="en-US" altLang="zh-CN" sz="2400" b="1" dirty="0">
                <a:solidFill>
                  <a:srgbClr val="3366FF"/>
                </a:solidFill>
                <a:ea typeface="楷体_GB2312" pitchFamily="49" charset="-122"/>
              </a:rPr>
              <a:t>)</a:t>
            </a:r>
            <a:r>
              <a:rPr lang="en-US" altLang="zh-CN" sz="2400" b="1" dirty="0">
                <a:ea typeface="楷体_GB2312" pitchFamily="49" charset="-122"/>
              </a:rPr>
              <a:t>——</a:t>
            </a:r>
            <a:r>
              <a:rPr lang="zh-CN" altLang="en-US" sz="2400" b="1" dirty="0">
                <a:ea typeface="楷体_GB2312" pitchFamily="49" charset="-122"/>
              </a:rPr>
              <a:t>定义</a:t>
            </a:r>
            <a:r>
              <a:rPr lang="en-US" altLang="zh-CN" sz="2400" b="1" dirty="0">
                <a:ea typeface="楷体_GB2312" pitchFamily="49" charset="-122"/>
              </a:rPr>
              <a:t>F</a:t>
            </a:r>
            <a:r>
              <a:rPr lang="zh-CN" altLang="en-US" sz="2400" b="1" dirty="0">
                <a:ea typeface="楷体_GB2312" pitchFamily="49" charset="-122"/>
              </a:rPr>
              <a:t>规则中用到的隶属函数</a:t>
            </a:r>
          </a:p>
          <a:p>
            <a:pPr lvl="1" eaLnBrk="1" hangingPunct="1"/>
            <a:r>
              <a:rPr lang="zh-CN" altLang="en-US" sz="2400" b="1" dirty="0">
                <a:solidFill>
                  <a:srgbClr val="3366FF"/>
                </a:solidFill>
                <a:ea typeface="楷体_GB2312" pitchFamily="49" charset="-122"/>
              </a:rPr>
              <a:t>一个推理机制</a:t>
            </a:r>
            <a:r>
              <a:rPr lang="en-US" altLang="zh-CN" sz="2400" b="1" dirty="0">
                <a:ea typeface="楷体_GB2312" pitchFamily="49" charset="-122"/>
              </a:rPr>
              <a:t>——</a:t>
            </a:r>
            <a:r>
              <a:rPr lang="zh-CN" altLang="en-US" sz="2400" b="1" dirty="0">
                <a:ea typeface="楷体_GB2312" pitchFamily="49" charset="-122"/>
              </a:rPr>
              <a:t>按规则和事实执行推理过程求得合理的输出或结论</a:t>
            </a:r>
          </a:p>
        </p:txBody>
      </p:sp>
      <p:grpSp>
        <p:nvGrpSpPr>
          <p:cNvPr id="6149" name="Group 5"/>
          <p:cNvGrpSpPr>
            <a:grpSpLocks/>
          </p:cNvGrpSpPr>
          <p:nvPr/>
        </p:nvGrpSpPr>
        <p:grpSpPr bwMode="auto">
          <a:xfrm>
            <a:off x="3862893" y="1701651"/>
            <a:ext cx="2881313" cy="792162"/>
            <a:chOff x="0" y="0"/>
            <a:chExt cx="1815" cy="499"/>
          </a:xfrm>
        </p:grpSpPr>
        <p:sp>
          <p:nvSpPr>
            <p:cNvPr id="6150" name="Rectangle 6"/>
            <p:cNvSpPr>
              <a:spLocks noChangeArrowheads="1"/>
            </p:cNvSpPr>
            <p:nvPr/>
          </p:nvSpPr>
          <p:spPr bwMode="auto">
            <a:xfrm>
              <a:off x="0" y="0"/>
              <a:ext cx="1815" cy="499"/>
            </a:xfrm>
            <a:prstGeom prst="rect">
              <a:avLst/>
            </a:prstGeom>
            <a:solidFill>
              <a:srgbClr val="FFFF66"/>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1" name="Rectangle 7"/>
            <p:cNvSpPr>
              <a:spLocks noChangeArrowheads="1"/>
            </p:cNvSpPr>
            <p:nvPr/>
          </p:nvSpPr>
          <p:spPr bwMode="auto">
            <a:xfrm>
              <a:off x="91" y="136"/>
              <a:ext cx="680" cy="272"/>
            </a:xfrm>
            <a:prstGeom prst="rect">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x = A1</a:t>
              </a:r>
            </a:p>
          </p:txBody>
        </p:sp>
        <p:sp>
          <p:nvSpPr>
            <p:cNvPr id="6152" name="Rectangle 8"/>
            <p:cNvSpPr>
              <a:spLocks noChangeArrowheads="1"/>
            </p:cNvSpPr>
            <p:nvPr/>
          </p:nvSpPr>
          <p:spPr bwMode="auto">
            <a:xfrm>
              <a:off x="1044" y="136"/>
              <a:ext cx="680" cy="272"/>
            </a:xfrm>
            <a:prstGeom prst="rect">
              <a:avLst/>
            </a:prstGeom>
            <a:solidFill>
              <a:srgbClr val="FF99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y = B1</a:t>
              </a:r>
            </a:p>
          </p:txBody>
        </p:sp>
        <p:sp>
          <p:nvSpPr>
            <p:cNvPr id="6153" name="Line 9"/>
            <p:cNvSpPr>
              <a:spLocks noChangeShapeType="1"/>
            </p:cNvSpPr>
            <p:nvPr/>
          </p:nvSpPr>
          <p:spPr bwMode="auto">
            <a:xfrm>
              <a:off x="771" y="272"/>
              <a:ext cx="273"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4" name="Text Box 10"/>
            <p:cNvSpPr txBox="1">
              <a:spLocks noChangeArrowheads="1"/>
            </p:cNvSpPr>
            <p:nvPr/>
          </p:nvSpPr>
          <p:spPr bwMode="auto">
            <a:xfrm>
              <a:off x="771" y="0"/>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w1</a:t>
              </a:r>
            </a:p>
          </p:txBody>
        </p:sp>
      </p:grpSp>
      <p:grpSp>
        <p:nvGrpSpPr>
          <p:cNvPr id="6155" name="Group 11"/>
          <p:cNvGrpSpPr>
            <a:grpSpLocks/>
          </p:cNvGrpSpPr>
          <p:nvPr/>
        </p:nvGrpSpPr>
        <p:grpSpPr bwMode="auto">
          <a:xfrm>
            <a:off x="3862893" y="2781151"/>
            <a:ext cx="2881313" cy="792162"/>
            <a:chOff x="0" y="0"/>
            <a:chExt cx="1815" cy="499"/>
          </a:xfrm>
        </p:grpSpPr>
        <p:sp>
          <p:nvSpPr>
            <p:cNvPr id="6156" name="Rectangle 12"/>
            <p:cNvSpPr>
              <a:spLocks noChangeArrowheads="1"/>
            </p:cNvSpPr>
            <p:nvPr/>
          </p:nvSpPr>
          <p:spPr bwMode="auto">
            <a:xfrm>
              <a:off x="0" y="0"/>
              <a:ext cx="1815" cy="499"/>
            </a:xfrm>
            <a:prstGeom prst="rect">
              <a:avLst/>
            </a:prstGeom>
            <a:solidFill>
              <a:srgbClr val="FFFF66"/>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7" name="Rectangle 13"/>
            <p:cNvSpPr>
              <a:spLocks noChangeArrowheads="1"/>
            </p:cNvSpPr>
            <p:nvPr/>
          </p:nvSpPr>
          <p:spPr bwMode="auto">
            <a:xfrm>
              <a:off x="91" y="136"/>
              <a:ext cx="680" cy="272"/>
            </a:xfrm>
            <a:prstGeom prst="rect">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x = A2</a:t>
              </a:r>
            </a:p>
          </p:txBody>
        </p:sp>
        <p:sp>
          <p:nvSpPr>
            <p:cNvPr id="6158" name="Rectangle 14"/>
            <p:cNvSpPr>
              <a:spLocks noChangeArrowheads="1"/>
            </p:cNvSpPr>
            <p:nvPr/>
          </p:nvSpPr>
          <p:spPr bwMode="auto">
            <a:xfrm>
              <a:off x="1044" y="136"/>
              <a:ext cx="680" cy="272"/>
            </a:xfrm>
            <a:prstGeom prst="rect">
              <a:avLst/>
            </a:prstGeom>
            <a:solidFill>
              <a:srgbClr val="FF99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y = B2</a:t>
              </a:r>
            </a:p>
          </p:txBody>
        </p:sp>
        <p:sp>
          <p:nvSpPr>
            <p:cNvPr id="6159" name="Line 15"/>
            <p:cNvSpPr>
              <a:spLocks noChangeShapeType="1"/>
            </p:cNvSpPr>
            <p:nvPr/>
          </p:nvSpPr>
          <p:spPr bwMode="auto">
            <a:xfrm>
              <a:off x="771" y="272"/>
              <a:ext cx="273"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0" name="Text Box 16"/>
            <p:cNvSpPr txBox="1">
              <a:spLocks noChangeArrowheads="1"/>
            </p:cNvSpPr>
            <p:nvPr/>
          </p:nvSpPr>
          <p:spPr bwMode="auto">
            <a:xfrm>
              <a:off x="771" y="0"/>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w2</a:t>
              </a:r>
            </a:p>
          </p:txBody>
        </p:sp>
      </p:grpSp>
      <p:grpSp>
        <p:nvGrpSpPr>
          <p:cNvPr id="6161" name="Group 17"/>
          <p:cNvGrpSpPr>
            <a:grpSpLocks/>
          </p:cNvGrpSpPr>
          <p:nvPr/>
        </p:nvGrpSpPr>
        <p:grpSpPr bwMode="auto">
          <a:xfrm>
            <a:off x="3862893" y="4005122"/>
            <a:ext cx="2881313" cy="792163"/>
            <a:chOff x="0" y="0"/>
            <a:chExt cx="1815" cy="499"/>
          </a:xfrm>
        </p:grpSpPr>
        <p:sp>
          <p:nvSpPr>
            <p:cNvPr id="6162" name="Rectangle 18"/>
            <p:cNvSpPr>
              <a:spLocks noChangeArrowheads="1"/>
            </p:cNvSpPr>
            <p:nvPr/>
          </p:nvSpPr>
          <p:spPr bwMode="auto">
            <a:xfrm>
              <a:off x="0" y="0"/>
              <a:ext cx="1815" cy="499"/>
            </a:xfrm>
            <a:prstGeom prst="rect">
              <a:avLst/>
            </a:prstGeom>
            <a:solidFill>
              <a:srgbClr val="FFFF66"/>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63" name="Rectangle 19"/>
            <p:cNvSpPr>
              <a:spLocks noChangeArrowheads="1"/>
            </p:cNvSpPr>
            <p:nvPr/>
          </p:nvSpPr>
          <p:spPr bwMode="auto">
            <a:xfrm>
              <a:off x="91" y="136"/>
              <a:ext cx="680" cy="272"/>
            </a:xfrm>
            <a:prstGeom prst="rect">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x = An</a:t>
              </a:r>
            </a:p>
          </p:txBody>
        </p:sp>
        <p:sp>
          <p:nvSpPr>
            <p:cNvPr id="6164" name="Rectangle 20"/>
            <p:cNvSpPr>
              <a:spLocks noChangeArrowheads="1"/>
            </p:cNvSpPr>
            <p:nvPr/>
          </p:nvSpPr>
          <p:spPr bwMode="auto">
            <a:xfrm>
              <a:off x="1044" y="136"/>
              <a:ext cx="680" cy="272"/>
            </a:xfrm>
            <a:prstGeom prst="rect">
              <a:avLst/>
            </a:prstGeom>
            <a:solidFill>
              <a:srgbClr val="FF99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y = Bn</a:t>
              </a:r>
            </a:p>
          </p:txBody>
        </p:sp>
        <p:sp>
          <p:nvSpPr>
            <p:cNvPr id="6165" name="Line 21"/>
            <p:cNvSpPr>
              <a:spLocks noChangeShapeType="1"/>
            </p:cNvSpPr>
            <p:nvPr/>
          </p:nvSpPr>
          <p:spPr bwMode="auto">
            <a:xfrm>
              <a:off x="771" y="272"/>
              <a:ext cx="273" cy="0"/>
            </a:xfrm>
            <a:prstGeom prst="line">
              <a:avLst/>
            </a:prstGeom>
            <a:noFill/>
            <a:ln w="19050"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6" name="Text Box 22"/>
            <p:cNvSpPr txBox="1">
              <a:spLocks noChangeArrowheads="1"/>
            </p:cNvSpPr>
            <p:nvPr/>
          </p:nvSpPr>
          <p:spPr bwMode="auto">
            <a:xfrm>
              <a:off x="771" y="0"/>
              <a:ext cx="4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wn</a:t>
              </a:r>
            </a:p>
          </p:txBody>
        </p:sp>
      </p:grpSp>
      <p:sp>
        <p:nvSpPr>
          <p:cNvPr id="6167" name="AutoShape 23"/>
          <p:cNvSpPr>
            <a:spLocks noChangeArrowheads="1"/>
          </p:cNvSpPr>
          <p:nvPr/>
        </p:nvSpPr>
        <p:spPr bwMode="auto">
          <a:xfrm>
            <a:off x="3359656" y="1988997"/>
            <a:ext cx="503237" cy="288925"/>
          </a:xfrm>
          <a:prstGeom prst="rightArrow">
            <a:avLst>
              <a:gd name="adj1" fmla="val 50000"/>
              <a:gd name="adj2" fmla="val 43544"/>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68" name="AutoShape 24"/>
          <p:cNvSpPr>
            <a:spLocks noChangeArrowheads="1"/>
          </p:cNvSpPr>
          <p:nvPr/>
        </p:nvSpPr>
        <p:spPr bwMode="auto">
          <a:xfrm>
            <a:off x="3359656" y="4294047"/>
            <a:ext cx="503237" cy="288925"/>
          </a:xfrm>
          <a:prstGeom prst="rightArrow">
            <a:avLst>
              <a:gd name="adj1" fmla="val 50000"/>
              <a:gd name="adj2" fmla="val 43544"/>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69" name="AutoShape 25"/>
          <p:cNvSpPr>
            <a:spLocks noChangeArrowheads="1"/>
          </p:cNvSpPr>
          <p:nvPr/>
        </p:nvSpPr>
        <p:spPr bwMode="auto">
          <a:xfrm>
            <a:off x="3359656" y="2997060"/>
            <a:ext cx="503237" cy="288925"/>
          </a:xfrm>
          <a:prstGeom prst="rightArrow">
            <a:avLst>
              <a:gd name="adj1" fmla="val 50000"/>
              <a:gd name="adj2" fmla="val 43544"/>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70" name="Rectangle 26"/>
          <p:cNvSpPr>
            <a:spLocks noChangeArrowheads="1"/>
          </p:cNvSpPr>
          <p:nvPr/>
        </p:nvSpPr>
        <p:spPr bwMode="auto">
          <a:xfrm>
            <a:off x="3286622" y="2062022"/>
            <a:ext cx="144462" cy="2447925"/>
          </a:xfrm>
          <a:prstGeom prst="rect">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71" name="Rectangle 27"/>
          <p:cNvSpPr>
            <a:spLocks noChangeArrowheads="1"/>
          </p:cNvSpPr>
          <p:nvPr/>
        </p:nvSpPr>
        <p:spPr bwMode="auto">
          <a:xfrm>
            <a:off x="2711956" y="3212951"/>
            <a:ext cx="574675" cy="144462"/>
          </a:xfrm>
          <a:prstGeom prst="rect">
            <a:avLst/>
          </a:prstGeom>
          <a:solidFill>
            <a:schemeClr val="bg2"/>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72" name="Text Box 28"/>
          <p:cNvSpPr txBox="1">
            <a:spLocks noChangeArrowheads="1"/>
          </p:cNvSpPr>
          <p:nvPr/>
        </p:nvSpPr>
        <p:spPr bwMode="auto">
          <a:xfrm>
            <a:off x="2351584" y="3141522"/>
            <a:ext cx="431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6173" name="Text Box 29"/>
          <p:cNvSpPr txBox="1">
            <a:spLocks noChangeArrowheads="1"/>
          </p:cNvSpPr>
          <p:nvPr/>
        </p:nvSpPr>
        <p:spPr bwMode="auto">
          <a:xfrm>
            <a:off x="1378451" y="2676320"/>
            <a:ext cx="24479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ea typeface="楷体_GB2312" pitchFamily="49" charset="-122"/>
              </a:rPr>
              <a:t>精确或模糊</a:t>
            </a:r>
          </a:p>
        </p:txBody>
      </p:sp>
      <p:sp>
        <p:nvSpPr>
          <p:cNvPr id="6174" name="Text Box 30"/>
          <p:cNvSpPr txBox="1">
            <a:spLocks noChangeArrowheads="1"/>
          </p:cNvSpPr>
          <p:nvPr/>
        </p:nvSpPr>
        <p:spPr bwMode="auto">
          <a:xfrm>
            <a:off x="3720018" y="1412726"/>
            <a:ext cx="5762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R1</a:t>
            </a:r>
          </a:p>
        </p:txBody>
      </p:sp>
      <p:sp>
        <p:nvSpPr>
          <p:cNvPr id="6175" name="Text Box 31"/>
          <p:cNvSpPr txBox="1">
            <a:spLocks noChangeArrowheads="1"/>
          </p:cNvSpPr>
          <p:nvPr/>
        </p:nvSpPr>
        <p:spPr bwMode="auto">
          <a:xfrm>
            <a:off x="3720018" y="3717776"/>
            <a:ext cx="5762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Rn</a:t>
            </a:r>
          </a:p>
        </p:txBody>
      </p:sp>
      <p:sp>
        <p:nvSpPr>
          <p:cNvPr id="6176" name="Text Box 32"/>
          <p:cNvSpPr txBox="1">
            <a:spLocks noChangeArrowheads="1"/>
          </p:cNvSpPr>
          <p:nvPr/>
        </p:nvSpPr>
        <p:spPr bwMode="auto">
          <a:xfrm>
            <a:off x="3720018" y="2493822"/>
            <a:ext cx="5762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R2</a:t>
            </a:r>
          </a:p>
        </p:txBody>
      </p:sp>
      <p:sp>
        <p:nvSpPr>
          <p:cNvPr id="6177" name="Rectangle 33"/>
          <p:cNvSpPr>
            <a:spLocks noChangeArrowheads="1"/>
          </p:cNvSpPr>
          <p:nvPr/>
        </p:nvSpPr>
        <p:spPr bwMode="auto">
          <a:xfrm>
            <a:off x="7679234" y="2852597"/>
            <a:ext cx="865188" cy="576263"/>
          </a:xfrm>
          <a:prstGeom prst="rect">
            <a:avLst/>
          </a:prstGeom>
          <a:solidFill>
            <a:srgbClr val="FFCCFF"/>
          </a:solidFill>
          <a:ln w="2857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ea typeface="楷体_GB2312" pitchFamily="49" charset="-122"/>
              </a:rPr>
              <a:t>集结器</a:t>
            </a:r>
          </a:p>
        </p:txBody>
      </p:sp>
      <p:sp>
        <p:nvSpPr>
          <p:cNvPr id="6178" name="Line 34"/>
          <p:cNvSpPr>
            <a:spLocks noChangeShapeType="1"/>
          </p:cNvSpPr>
          <p:nvPr/>
        </p:nvSpPr>
        <p:spPr bwMode="auto">
          <a:xfrm>
            <a:off x="6744206" y="3141513"/>
            <a:ext cx="935037"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9" name="Line 35"/>
          <p:cNvSpPr>
            <a:spLocks noChangeShapeType="1"/>
          </p:cNvSpPr>
          <p:nvPr/>
        </p:nvSpPr>
        <p:spPr bwMode="auto">
          <a:xfrm>
            <a:off x="6744206" y="4365476"/>
            <a:ext cx="503237" cy="0"/>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0" name="Line 36"/>
          <p:cNvSpPr>
            <a:spLocks noChangeShapeType="1"/>
          </p:cNvSpPr>
          <p:nvPr/>
        </p:nvSpPr>
        <p:spPr bwMode="auto">
          <a:xfrm>
            <a:off x="6744206" y="2062013"/>
            <a:ext cx="503237" cy="0"/>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1" name="Line 37"/>
          <p:cNvSpPr>
            <a:spLocks noChangeShapeType="1"/>
          </p:cNvSpPr>
          <p:nvPr/>
        </p:nvSpPr>
        <p:spPr bwMode="auto">
          <a:xfrm>
            <a:off x="7247434" y="2062013"/>
            <a:ext cx="0" cy="935038"/>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2" name="Line 38"/>
          <p:cNvSpPr>
            <a:spLocks noChangeShapeType="1"/>
          </p:cNvSpPr>
          <p:nvPr/>
        </p:nvSpPr>
        <p:spPr bwMode="auto">
          <a:xfrm>
            <a:off x="7247434" y="3357422"/>
            <a:ext cx="0" cy="1006475"/>
          </a:xfrm>
          <a:prstGeom prst="line">
            <a:avLst/>
          </a:prstGeom>
          <a:noFill/>
          <a:ln w="2857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3" name="Line 39"/>
          <p:cNvSpPr>
            <a:spLocks noChangeShapeType="1"/>
          </p:cNvSpPr>
          <p:nvPr/>
        </p:nvSpPr>
        <p:spPr bwMode="auto">
          <a:xfrm>
            <a:off x="7247434" y="2997051"/>
            <a:ext cx="4318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4" name="Line 40"/>
          <p:cNvSpPr>
            <a:spLocks noChangeShapeType="1"/>
          </p:cNvSpPr>
          <p:nvPr/>
        </p:nvSpPr>
        <p:spPr bwMode="auto">
          <a:xfrm>
            <a:off x="7247434" y="3357413"/>
            <a:ext cx="4318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5" name="Text Box 41"/>
          <p:cNvSpPr txBox="1">
            <a:spLocks noChangeArrowheads="1"/>
          </p:cNvSpPr>
          <p:nvPr/>
        </p:nvSpPr>
        <p:spPr bwMode="auto">
          <a:xfrm>
            <a:off x="6671172" y="2781151"/>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49" charset="-122"/>
              </a:rPr>
              <a:t>模糊</a:t>
            </a:r>
          </a:p>
        </p:txBody>
      </p:sp>
      <p:sp>
        <p:nvSpPr>
          <p:cNvPr id="6186" name="Line 42"/>
          <p:cNvSpPr>
            <a:spLocks noChangeShapeType="1"/>
          </p:cNvSpPr>
          <p:nvPr/>
        </p:nvSpPr>
        <p:spPr bwMode="auto">
          <a:xfrm>
            <a:off x="8544422" y="3141513"/>
            <a:ext cx="4318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7" name="Rectangle 43"/>
          <p:cNvSpPr>
            <a:spLocks noChangeArrowheads="1"/>
          </p:cNvSpPr>
          <p:nvPr/>
        </p:nvSpPr>
        <p:spPr bwMode="auto">
          <a:xfrm>
            <a:off x="8976231" y="2852597"/>
            <a:ext cx="865187" cy="576263"/>
          </a:xfrm>
          <a:prstGeom prst="rect">
            <a:avLst/>
          </a:prstGeom>
          <a:solidFill>
            <a:srgbClr val="45E764"/>
          </a:solidFill>
          <a:ln w="2857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ea typeface="楷体_GB2312" pitchFamily="49" charset="-122"/>
              </a:rPr>
              <a:t>去</a:t>
            </a:r>
            <a:r>
              <a:rPr lang="en-US" altLang="zh-CN" b="1">
                <a:ea typeface="楷体_GB2312" pitchFamily="49" charset="-122"/>
              </a:rPr>
              <a:t>F</a:t>
            </a:r>
            <a:r>
              <a:rPr lang="zh-CN" altLang="en-US" b="1">
                <a:ea typeface="楷体_GB2312" pitchFamily="49" charset="-122"/>
              </a:rPr>
              <a:t>化</a:t>
            </a:r>
          </a:p>
        </p:txBody>
      </p:sp>
      <p:sp>
        <p:nvSpPr>
          <p:cNvPr id="6188" name="Line 44"/>
          <p:cNvSpPr>
            <a:spLocks noChangeShapeType="1"/>
          </p:cNvSpPr>
          <p:nvPr/>
        </p:nvSpPr>
        <p:spPr bwMode="auto">
          <a:xfrm>
            <a:off x="9839822" y="3141513"/>
            <a:ext cx="647700"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9" name="Text Box 45"/>
          <p:cNvSpPr txBox="1">
            <a:spLocks noChangeArrowheads="1"/>
          </p:cNvSpPr>
          <p:nvPr/>
        </p:nvSpPr>
        <p:spPr bwMode="auto">
          <a:xfrm>
            <a:off x="10487522" y="2925622"/>
            <a:ext cx="3603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6190" name="Text Box 46"/>
          <p:cNvSpPr txBox="1">
            <a:spLocks noChangeArrowheads="1"/>
          </p:cNvSpPr>
          <p:nvPr/>
        </p:nvSpPr>
        <p:spPr bwMode="auto">
          <a:xfrm>
            <a:off x="8544422" y="249381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49" charset="-122"/>
              </a:rPr>
              <a:t>模糊</a:t>
            </a:r>
          </a:p>
        </p:txBody>
      </p:sp>
      <p:sp>
        <p:nvSpPr>
          <p:cNvPr id="6191" name="Text Box 47"/>
          <p:cNvSpPr txBox="1">
            <a:spLocks noChangeArrowheads="1"/>
          </p:cNvSpPr>
          <p:nvPr/>
        </p:nvSpPr>
        <p:spPr bwMode="auto">
          <a:xfrm>
            <a:off x="9911259" y="270971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49" charset="-122"/>
              </a:rPr>
              <a:t>精确</a:t>
            </a:r>
          </a:p>
        </p:txBody>
      </p:sp>
      <p:sp>
        <p:nvSpPr>
          <p:cNvPr id="6192" name="Text Box 48"/>
          <p:cNvSpPr txBox="1">
            <a:spLocks noChangeArrowheads="1"/>
          </p:cNvSpPr>
          <p:nvPr/>
        </p:nvSpPr>
        <p:spPr bwMode="auto">
          <a:xfrm>
            <a:off x="6671172" y="4005113"/>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49" charset="-122"/>
              </a:rPr>
              <a:t>模糊</a:t>
            </a:r>
          </a:p>
        </p:txBody>
      </p:sp>
      <p:sp>
        <p:nvSpPr>
          <p:cNvPr id="6193" name="Text Box 49"/>
          <p:cNvSpPr txBox="1">
            <a:spLocks noChangeArrowheads="1"/>
          </p:cNvSpPr>
          <p:nvPr/>
        </p:nvSpPr>
        <p:spPr bwMode="auto">
          <a:xfrm>
            <a:off x="6671172" y="1701651"/>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b="1">
                <a:ea typeface="楷体_GB2312" pitchFamily="49" charset="-122"/>
              </a:rPr>
              <a:t>模糊</a:t>
            </a:r>
          </a:p>
        </p:txBody>
      </p:sp>
      <p:sp>
        <p:nvSpPr>
          <p:cNvPr id="6194" name="Text Box 50"/>
          <p:cNvSpPr txBox="1">
            <a:spLocks noChangeArrowheads="1"/>
          </p:cNvSpPr>
          <p:nvPr/>
        </p:nvSpPr>
        <p:spPr bwMode="auto">
          <a:xfrm>
            <a:off x="4078784" y="3573322"/>
            <a:ext cx="25209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t>· · · · · · · · · · · · · · </a:t>
            </a:r>
            <a:endParaRPr lang="en-US" altLang="zh-CN"/>
          </a:p>
        </p:txBody>
      </p:sp>
      <p:sp>
        <p:nvSpPr>
          <p:cNvPr id="2" name="灯片编号占位符 1">
            <a:extLst>
              <a:ext uri="{FF2B5EF4-FFF2-40B4-BE49-F238E27FC236}">
                <a16:creationId xmlns:a16="http://schemas.microsoft.com/office/drawing/2014/main" id="{1166FB55-9349-C56B-48B6-3D05F0B23128}"/>
              </a:ext>
            </a:extLst>
          </p:cNvPr>
          <p:cNvSpPr>
            <a:spLocks noGrp="1"/>
          </p:cNvSpPr>
          <p:nvPr>
            <p:ph type="sldNum" sz="quarter" idx="11"/>
          </p:nvPr>
        </p:nvSpPr>
        <p:spPr/>
        <p:txBody>
          <a:bodyPr/>
          <a:lstStyle/>
          <a:p>
            <a:pPr>
              <a:defRPr/>
            </a:pPr>
            <a:fld id="{B77A47BA-BA63-4780-94A9-8AFA2EA4438D}" type="slidenum">
              <a:rPr lang="en-US" altLang="zh-CN" smtClean="0"/>
              <a:pPr>
                <a:defRPr/>
              </a:pPr>
              <a:t>24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Effect transition="in" filter="wipe(left)">
                                      <p:cBhvr>
                                        <p:cTn id="7" dur="500"/>
                                        <p:tgtEl>
                                          <p:spTgt spid="61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8">
                                            <p:txEl>
                                              <p:pRg st="1" end="1"/>
                                            </p:txEl>
                                          </p:spTgt>
                                        </p:tgtEl>
                                        <p:attrNameLst>
                                          <p:attrName>style.visibility</p:attrName>
                                        </p:attrNameLst>
                                      </p:cBhvr>
                                      <p:to>
                                        <p:strVal val="visible"/>
                                      </p:to>
                                    </p:set>
                                    <p:animEffect transition="in" filter="wipe(left)">
                                      <p:cBhvr>
                                        <p:cTn id="12" dur="500"/>
                                        <p:tgtEl>
                                          <p:spTgt spid="614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8">
                                            <p:txEl>
                                              <p:pRg st="2" end="2"/>
                                            </p:txEl>
                                          </p:spTgt>
                                        </p:tgtEl>
                                        <p:attrNameLst>
                                          <p:attrName>style.visibility</p:attrName>
                                        </p:attrNameLst>
                                      </p:cBhvr>
                                      <p:to>
                                        <p:strVal val="visible"/>
                                      </p:to>
                                    </p:set>
                                    <p:animEffect transition="in" filter="wipe(left)">
                                      <p:cBhvr>
                                        <p:cTn id="17" dur="500"/>
                                        <p:tgtEl>
                                          <p:spTgt spid="614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48">
                                            <p:txEl>
                                              <p:pRg st="3" end="3"/>
                                            </p:txEl>
                                          </p:spTgt>
                                        </p:tgtEl>
                                        <p:attrNameLst>
                                          <p:attrName>style.visibility</p:attrName>
                                        </p:attrNameLst>
                                      </p:cBhvr>
                                      <p:to>
                                        <p:strVal val="visible"/>
                                      </p:to>
                                    </p:set>
                                    <p:animEffect transition="in" filter="wipe(left)">
                                      <p:cBhvr>
                                        <p:cTn id="22" dur="500"/>
                                        <p:tgtEl>
                                          <p:spTgt spid="614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609600" y="260648"/>
            <a:ext cx="10972800" cy="1371600"/>
          </a:xfrm>
        </p:spPr>
        <p:txBody>
          <a:bodyPr/>
          <a:lstStyle/>
          <a:p>
            <a:pPr algn="ctr" eaLnBrk="1" hangingPunct="1"/>
            <a:r>
              <a:rPr lang="en-US" altLang="zh-CN" dirty="0">
                <a:solidFill>
                  <a:srgbClr val="008000"/>
                </a:solidFill>
              </a:rPr>
              <a:t> ANFIS</a:t>
            </a:r>
            <a:r>
              <a:rPr lang="zh-CN" altLang="en-US" dirty="0">
                <a:solidFill>
                  <a:srgbClr val="008000"/>
                </a:solidFill>
                <a:ea typeface="黑体" panose="02010609060101010101" pitchFamily="49" charset="-122"/>
              </a:rPr>
              <a:t>的结构</a:t>
            </a:r>
          </a:p>
        </p:txBody>
      </p:sp>
      <p:sp>
        <p:nvSpPr>
          <p:cNvPr id="7171" name="Rectangle 3"/>
          <p:cNvSpPr>
            <a:spLocks noGrp="1" noChangeArrowheads="1"/>
          </p:cNvSpPr>
          <p:nvPr>
            <p:ph type="body" idx="4294967295"/>
          </p:nvPr>
        </p:nvSpPr>
        <p:spPr>
          <a:xfrm>
            <a:off x="925216" y="1484784"/>
            <a:ext cx="10657184" cy="1371601"/>
          </a:xfrm>
        </p:spPr>
        <p:txBody>
          <a:bodyPr/>
          <a:lstStyle/>
          <a:p>
            <a:pPr eaLnBrk="1" hangingPunct="1">
              <a:lnSpc>
                <a:spcPct val="120000"/>
              </a:lnSpc>
            </a:pPr>
            <a:r>
              <a:rPr lang="zh-CN" altLang="en-US" dirty="0">
                <a:solidFill>
                  <a:srgbClr val="FF0000"/>
                </a:solidFill>
                <a:ea typeface="黑体" panose="02010609060101010101" pitchFamily="49" charset="-122"/>
              </a:rPr>
              <a:t>自适应神经</a:t>
            </a:r>
            <a:r>
              <a:rPr lang="en-US" altLang="zh-CN" dirty="0">
                <a:solidFill>
                  <a:srgbClr val="FF0000"/>
                </a:solidFill>
                <a:ea typeface="黑体" panose="02010609060101010101" pitchFamily="49" charset="-122"/>
              </a:rPr>
              <a:t>-</a:t>
            </a:r>
            <a:r>
              <a:rPr lang="zh-CN" altLang="en-US" dirty="0">
                <a:solidFill>
                  <a:srgbClr val="FF0000"/>
                </a:solidFill>
                <a:ea typeface="黑体" panose="02010609060101010101" pitchFamily="49" charset="-122"/>
              </a:rPr>
              <a:t>模糊推理系统</a:t>
            </a:r>
            <a:r>
              <a:rPr lang="en-US" altLang="zh-CN" dirty="0">
                <a:solidFill>
                  <a:srgbClr val="FF0000"/>
                </a:solidFill>
                <a:ea typeface="黑体" panose="02010609060101010101" pitchFamily="49" charset="-122"/>
              </a:rPr>
              <a:t>(</a:t>
            </a:r>
            <a:r>
              <a:rPr lang="en-US" altLang="zh-CN" b="1" dirty="0">
                <a:solidFill>
                  <a:srgbClr val="FF0000"/>
                </a:solidFill>
                <a:ea typeface="楷体_GB2312" pitchFamily="49" charset="-122"/>
              </a:rPr>
              <a:t>ANFIS</a:t>
            </a:r>
            <a:r>
              <a:rPr lang="en-US" altLang="zh-CN" dirty="0">
                <a:solidFill>
                  <a:srgbClr val="FF0000"/>
                </a:solidFill>
                <a:ea typeface="黑体" panose="02010609060101010101" pitchFamily="49" charset="-122"/>
              </a:rPr>
              <a:t>)</a:t>
            </a:r>
            <a:endParaRPr lang="zh-CN" altLang="en-US" dirty="0">
              <a:solidFill>
                <a:srgbClr val="FF0000"/>
              </a:solidFill>
              <a:ea typeface="黑体" panose="02010609060101010101" pitchFamily="49" charset="-122"/>
            </a:endParaRPr>
          </a:p>
          <a:p>
            <a:pPr lvl="1" eaLnBrk="1" hangingPunct="1">
              <a:lnSpc>
                <a:spcPct val="120000"/>
              </a:lnSpc>
            </a:pPr>
            <a:r>
              <a:rPr lang="en-US" altLang="zh-CN" sz="3200" b="1" dirty="0">
                <a:solidFill>
                  <a:srgbClr val="FF0000"/>
                </a:solidFill>
                <a:ea typeface="楷体_GB2312" pitchFamily="49" charset="-122"/>
              </a:rPr>
              <a:t>A</a:t>
            </a:r>
            <a:r>
              <a:rPr lang="en-US" altLang="zh-CN" sz="3200" b="1" dirty="0">
                <a:ea typeface="楷体_GB2312" pitchFamily="49" charset="-122"/>
              </a:rPr>
              <a:t>daptive </a:t>
            </a:r>
            <a:r>
              <a:rPr lang="en-US" altLang="zh-CN" sz="3200" b="1" dirty="0">
                <a:solidFill>
                  <a:srgbClr val="FF0000"/>
                </a:solidFill>
                <a:ea typeface="楷体_GB2312" pitchFamily="49" charset="-122"/>
              </a:rPr>
              <a:t>N</a:t>
            </a:r>
            <a:r>
              <a:rPr lang="en-US" altLang="zh-CN" sz="3200" b="1" dirty="0">
                <a:ea typeface="楷体_GB2312" pitchFamily="49" charset="-122"/>
              </a:rPr>
              <a:t>euro-</a:t>
            </a:r>
            <a:r>
              <a:rPr lang="en-US" altLang="zh-CN" sz="3200" b="1" dirty="0">
                <a:solidFill>
                  <a:srgbClr val="FF0000"/>
                </a:solidFill>
                <a:ea typeface="楷体_GB2312" pitchFamily="49" charset="-122"/>
              </a:rPr>
              <a:t>F</a:t>
            </a:r>
            <a:r>
              <a:rPr lang="en-US" altLang="zh-CN" sz="3200" b="1" dirty="0">
                <a:ea typeface="楷体_GB2312" pitchFamily="49" charset="-122"/>
              </a:rPr>
              <a:t>uzzy </a:t>
            </a:r>
            <a:r>
              <a:rPr lang="en-US" altLang="zh-CN" sz="3200" b="1" dirty="0">
                <a:solidFill>
                  <a:srgbClr val="FF0000"/>
                </a:solidFill>
                <a:ea typeface="楷体_GB2312" pitchFamily="49" charset="-122"/>
              </a:rPr>
              <a:t>I</a:t>
            </a:r>
            <a:r>
              <a:rPr lang="en-US" altLang="zh-CN" sz="3200" b="1" dirty="0">
                <a:ea typeface="楷体_GB2312" pitchFamily="49" charset="-122"/>
              </a:rPr>
              <a:t>nference </a:t>
            </a:r>
            <a:r>
              <a:rPr lang="en-US" altLang="zh-CN" sz="3200" b="1" dirty="0">
                <a:solidFill>
                  <a:srgbClr val="FF0000"/>
                </a:solidFill>
                <a:ea typeface="楷体_GB2312" pitchFamily="49" charset="-122"/>
              </a:rPr>
              <a:t>S</a:t>
            </a:r>
            <a:r>
              <a:rPr lang="en-US" altLang="zh-CN" sz="3200" b="1" dirty="0">
                <a:ea typeface="楷体_GB2312" pitchFamily="49" charset="-122"/>
              </a:rPr>
              <a:t>ystem</a:t>
            </a:r>
          </a:p>
        </p:txBody>
      </p:sp>
      <p:sp>
        <p:nvSpPr>
          <p:cNvPr id="2" name="灯片编号占位符 1">
            <a:extLst>
              <a:ext uri="{FF2B5EF4-FFF2-40B4-BE49-F238E27FC236}">
                <a16:creationId xmlns:a16="http://schemas.microsoft.com/office/drawing/2014/main" id="{EE7267A9-9DC5-7749-30F9-66D222E30C30}"/>
              </a:ext>
            </a:extLst>
          </p:cNvPr>
          <p:cNvSpPr>
            <a:spLocks noGrp="1"/>
          </p:cNvSpPr>
          <p:nvPr>
            <p:ph type="sldNum" sz="quarter" idx="11"/>
          </p:nvPr>
        </p:nvSpPr>
        <p:spPr/>
        <p:txBody>
          <a:bodyPr/>
          <a:lstStyle/>
          <a:p>
            <a:pPr>
              <a:defRPr/>
            </a:pPr>
            <a:fld id="{B77A47BA-BA63-4780-94A9-8AFA2EA4438D}" type="slidenum">
              <a:rPr lang="en-US" altLang="zh-CN" smtClean="0"/>
              <a:pPr>
                <a:defRPr/>
              </a:pPr>
              <a:t>25</a:t>
            </a:fld>
            <a:endParaRPr lang="en-US" altLang="zh-CN"/>
          </a:p>
        </p:txBody>
      </p:sp>
      <p:grpSp>
        <p:nvGrpSpPr>
          <p:cNvPr id="3" name="Group 4">
            <a:extLst>
              <a:ext uri="{FF2B5EF4-FFF2-40B4-BE49-F238E27FC236}">
                <a16:creationId xmlns:a16="http://schemas.microsoft.com/office/drawing/2014/main" id="{C4AD7AFF-FC08-7869-B587-77F1BA241724}"/>
              </a:ext>
            </a:extLst>
          </p:cNvPr>
          <p:cNvGrpSpPr>
            <a:grpSpLocks/>
          </p:cNvGrpSpPr>
          <p:nvPr/>
        </p:nvGrpSpPr>
        <p:grpSpPr bwMode="auto">
          <a:xfrm>
            <a:off x="2135560" y="3140968"/>
            <a:ext cx="8353425" cy="2619375"/>
            <a:chOff x="0" y="0"/>
            <a:chExt cx="4853" cy="2002"/>
          </a:xfrm>
        </p:grpSpPr>
        <p:sp>
          <p:nvSpPr>
            <p:cNvPr id="4" name="Rectangle 5">
              <a:extLst>
                <a:ext uri="{FF2B5EF4-FFF2-40B4-BE49-F238E27FC236}">
                  <a16:creationId xmlns:a16="http://schemas.microsoft.com/office/drawing/2014/main" id="{9EC6BE02-C915-22EE-8493-64FC2E740012}"/>
                </a:ext>
              </a:extLst>
            </p:cNvPr>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5" name="Rectangle 6">
              <a:extLst>
                <a:ext uri="{FF2B5EF4-FFF2-40B4-BE49-F238E27FC236}">
                  <a16:creationId xmlns:a16="http://schemas.microsoft.com/office/drawing/2014/main" id="{F696D539-EB92-852C-E1A8-73E171E3426B}"/>
                </a:ext>
              </a:extLst>
            </p:cNvPr>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6" name="Rectangle 7">
              <a:extLst>
                <a:ext uri="{FF2B5EF4-FFF2-40B4-BE49-F238E27FC236}">
                  <a16:creationId xmlns:a16="http://schemas.microsoft.com/office/drawing/2014/main" id="{C376D722-700C-B91A-DC68-6298339E4391}"/>
                </a:ext>
              </a:extLst>
            </p:cNvPr>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7" name="Rectangle 8">
              <a:extLst>
                <a:ext uri="{FF2B5EF4-FFF2-40B4-BE49-F238E27FC236}">
                  <a16:creationId xmlns:a16="http://schemas.microsoft.com/office/drawing/2014/main" id="{F0E5F699-ADE8-4D38-09EE-2008AF972EFC}"/>
                </a:ext>
              </a:extLst>
            </p:cNvPr>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8" name="Oval 9">
              <a:extLst>
                <a:ext uri="{FF2B5EF4-FFF2-40B4-BE49-F238E27FC236}">
                  <a16:creationId xmlns:a16="http://schemas.microsoft.com/office/drawing/2014/main" id="{72D18DE8-F78E-0FA6-3CCB-19E193DCFD2F}"/>
                </a:ext>
              </a:extLst>
            </p:cNvPr>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 name="Rectangle 10">
              <a:extLst>
                <a:ext uri="{FF2B5EF4-FFF2-40B4-BE49-F238E27FC236}">
                  <a16:creationId xmlns:a16="http://schemas.microsoft.com/office/drawing/2014/main" id="{C52D8DEF-0CC8-06F8-C01E-7F18074E2558}"/>
                </a:ext>
              </a:extLst>
            </p:cNvPr>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0" name="Rectangle 11">
              <a:extLst>
                <a:ext uri="{FF2B5EF4-FFF2-40B4-BE49-F238E27FC236}">
                  <a16:creationId xmlns:a16="http://schemas.microsoft.com/office/drawing/2014/main" id="{F11E38EA-3B68-92C4-8DDE-B24C1C569CA5}"/>
                </a:ext>
              </a:extLst>
            </p:cNvPr>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1" name="Oval 12">
              <a:extLst>
                <a:ext uri="{FF2B5EF4-FFF2-40B4-BE49-F238E27FC236}">
                  <a16:creationId xmlns:a16="http://schemas.microsoft.com/office/drawing/2014/main" id="{8E934947-C15A-3AB7-691B-828147D31BEC}"/>
                </a:ext>
              </a:extLst>
            </p:cNvPr>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2" name="Oval 13">
              <a:extLst>
                <a:ext uri="{FF2B5EF4-FFF2-40B4-BE49-F238E27FC236}">
                  <a16:creationId xmlns:a16="http://schemas.microsoft.com/office/drawing/2014/main" id="{4CF72354-03FE-83D7-F11F-5C972AE0092B}"/>
                </a:ext>
              </a:extLst>
            </p:cNvPr>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3" name="Oval 14">
              <a:extLst>
                <a:ext uri="{FF2B5EF4-FFF2-40B4-BE49-F238E27FC236}">
                  <a16:creationId xmlns:a16="http://schemas.microsoft.com/office/drawing/2014/main" id="{EBBD272C-03B4-C6A9-56DA-1431BD471491}"/>
                </a:ext>
              </a:extLst>
            </p:cNvPr>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4" name="Oval 15">
              <a:extLst>
                <a:ext uri="{FF2B5EF4-FFF2-40B4-BE49-F238E27FC236}">
                  <a16:creationId xmlns:a16="http://schemas.microsoft.com/office/drawing/2014/main" id="{5E6DEC15-22AF-6496-DB7B-20DE76B940CE}"/>
                </a:ext>
              </a:extLst>
            </p:cNvPr>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5" name="Text Box 16">
              <a:extLst>
                <a:ext uri="{FF2B5EF4-FFF2-40B4-BE49-F238E27FC236}">
                  <a16:creationId xmlns:a16="http://schemas.microsoft.com/office/drawing/2014/main" id="{B729E29C-CF04-655D-E3B6-D660D25BA663}"/>
                </a:ext>
              </a:extLst>
            </p:cNvPr>
            <p:cNvSpPr txBox="1">
              <a:spLocks noChangeArrowheads="1"/>
            </p:cNvSpPr>
            <p:nvPr/>
          </p:nvSpPr>
          <p:spPr bwMode="auto">
            <a:xfrm>
              <a:off x="0" y="544"/>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6" name="Text Box 17">
              <a:extLst>
                <a:ext uri="{FF2B5EF4-FFF2-40B4-BE49-F238E27FC236}">
                  <a16:creationId xmlns:a16="http://schemas.microsoft.com/office/drawing/2014/main" id="{38AC4E65-6B20-62EB-1EC9-D7FAED342967}"/>
                </a:ext>
              </a:extLst>
            </p:cNvPr>
            <p:cNvSpPr txBox="1">
              <a:spLocks noChangeArrowheads="1"/>
            </p:cNvSpPr>
            <p:nvPr/>
          </p:nvSpPr>
          <p:spPr bwMode="auto">
            <a:xfrm>
              <a:off x="0" y="1451"/>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7" name="Line 18">
              <a:extLst>
                <a:ext uri="{FF2B5EF4-FFF2-40B4-BE49-F238E27FC236}">
                  <a16:creationId xmlns:a16="http://schemas.microsoft.com/office/drawing/2014/main" id="{AA82BAEC-25D4-BE7A-DEAC-D243ECAABAAB}"/>
                </a:ext>
              </a:extLst>
            </p:cNvPr>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9">
              <a:extLst>
                <a:ext uri="{FF2B5EF4-FFF2-40B4-BE49-F238E27FC236}">
                  <a16:creationId xmlns:a16="http://schemas.microsoft.com/office/drawing/2014/main" id="{8C0B853F-B38E-37AA-BCDE-E01E7A8AA764}"/>
                </a:ext>
              </a:extLst>
            </p:cNvPr>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0">
              <a:extLst>
                <a:ext uri="{FF2B5EF4-FFF2-40B4-BE49-F238E27FC236}">
                  <a16:creationId xmlns:a16="http://schemas.microsoft.com/office/drawing/2014/main" id="{CD041253-8B87-3390-3130-AD7CBBC8A685}"/>
                </a:ext>
              </a:extLst>
            </p:cNvPr>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1">
              <a:extLst>
                <a:ext uri="{FF2B5EF4-FFF2-40B4-BE49-F238E27FC236}">
                  <a16:creationId xmlns:a16="http://schemas.microsoft.com/office/drawing/2014/main" id="{6ADC0655-2279-286A-FA91-262386AF5170}"/>
                </a:ext>
              </a:extLst>
            </p:cNvPr>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2">
              <a:extLst>
                <a:ext uri="{FF2B5EF4-FFF2-40B4-BE49-F238E27FC236}">
                  <a16:creationId xmlns:a16="http://schemas.microsoft.com/office/drawing/2014/main" id="{3E04A9EF-54B2-F192-F81E-FE570A68E609}"/>
                </a:ext>
              </a:extLst>
            </p:cNvPr>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23">
              <a:extLst>
                <a:ext uri="{FF2B5EF4-FFF2-40B4-BE49-F238E27FC236}">
                  <a16:creationId xmlns:a16="http://schemas.microsoft.com/office/drawing/2014/main" id="{87B41FC0-0089-A5CD-E42E-5EB16BB58454}"/>
                </a:ext>
              </a:extLst>
            </p:cNvPr>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4">
              <a:extLst>
                <a:ext uri="{FF2B5EF4-FFF2-40B4-BE49-F238E27FC236}">
                  <a16:creationId xmlns:a16="http://schemas.microsoft.com/office/drawing/2014/main" id="{E2E1DCCB-B781-F278-4B3F-D2D6D3226F37}"/>
                </a:ext>
              </a:extLst>
            </p:cNvPr>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5">
              <a:extLst>
                <a:ext uri="{FF2B5EF4-FFF2-40B4-BE49-F238E27FC236}">
                  <a16:creationId xmlns:a16="http://schemas.microsoft.com/office/drawing/2014/main" id="{3FA498FD-D5E9-04FA-5186-E45B912400A4}"/>
                </a:ext>
              </a:extLst>
            </p:cNvPr>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6">
              <a:extLst>
                <a:ext uri="{FF2B5EF4-FFF2-40B4-BE49-F238E27FC236}">
                  <a16:creationId xmlns:a16="http://schemas.microsoft.com/office/drawing/2014/main" id="{FC880C86-4AB5-7DB0-2239-66D8158CA7B2}"/>
                </a:ext>
              </a:extLst>
            </p:cNvPr>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27">
              <a:extLst>
                <a:ext uri="{FF2B5EF4-FFF2-40B4-BE49-F238E27FC236}">
                  <a16:creationId xmlns:a16="http://schemas.microsoft.com/office/drawing/2014/main" id="{8582F99F-AF90-344C-C5B5-FC6C8F618667}"/>
                </a:ext>
              </a:extLst>
            </p:cNvPr>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8">
              <a:extLst>
                <a:ext uri="{FF2B5EF4-FFF2-40B4-BE49-F238E27FC236}">
                  <a16:creationId xmlns:a16="http://schemas.microsoft.com/office/drawing/2014/main" id="{7E31B0CC-8FEB-481F-7016-CE5AAA9BD570}"/>
                </a:ext>
              </a:extLst>
            </p:cNvPr>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29">
              <a:extLst>
                <a:ext uri="{FF2B5EF4-FFF2-40B4-BE49-F238E27FC236}">
                  <a16:creationId xmlns:a16="http://schemas.microsoft.com/office/drawing/2014/main" id="{CE291A5F-EF31-0727-92EA-E8A5FA784772}"/>
                </a:ext>
              </a:extLst>
            </p:cNvPr>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30">
              <a:extLst>
                <a:ext uri="{FF2B5EF4-FFF2-40B4-BE49-F238E27FC236}">
                  <a16:creationId xmlns:a16="http://schemas.microsoft.com/office/drawing/2014/main" id="{E860F768-F896-57C3-0A34-A7970206BBA5}"/>
                </a:ext>
              </a:extLst>
            </p:cNvPr>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31">
              <a:extLst>
                <a:ext uri="{FF2B5EF4-FFF2-40B4-BE49-F238E27FC236}">
                  <a16:creationId xmlns:a16="http://schemas.microsoft.com/office/drawing/2014/main" id="{E1AA44A1-92F6-068E-F0AD-9B915B7700C5}"/>
                </a:ext>
              </a:extLst>
            </p:cNvPr>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32">
              <a:extLst>
                <a:ext uri="{FF2B5EF4-FFF2-40B4-BE49-F238E27FC236}">
                  <a16:creationId xmlns:a16="http://schemas.microsoft.com/office/drawing/2014/main" id="{C6B791B6-9168-AC70-8B13-09868C6B3FD1}"/>
                </a:ext>
              </a:extLst>
            </p:cNvPr>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33">
              <a:extLst>
                <a:ext uri="{FF2B5EF4-FFF2-40B4-BE49-F238E27FC236}">
                  <a16:creationId xmlns:a16="http://schemas.microsoft.com/office/drawing/2014/main" id="{2BEFD24D-A438-5267-CB63-ED70AF40DC07}"/>
                </a:ext>
              </a:extLst>
            </p:cNvPr>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34">
              <a:extLst>
                <a:ext uri="{FF2B5EF4-FFF2-40B4-BE49-F238E27FC236}">
                  <a16:creationId xmlns:a16="http://schemas.microsoft.com/office/drawing/2014/main" id="{667FD691-3570-B525-6C29-6C595262E9C9}"/>
                </a:ext>
              </a:extLst>
            </p:cNvPr>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Text Box 35">
              <a:extLst>
                <a:ext uri="{FF2B5EF4-FFF2-40B4-BE49-F238E27FC236}">
                  <a16:creationId xmlns:a16="http://schemas.microsoft.com/office/drawing/2014/main" id="{27B361DB-80A1-DAC2-10BA-102FE2A35E30}"/>
                </a:ext>
              </a:extLst>
            </p:cNvPr>
            <p:cNvSpPr txBox="1">
              <a:spLocks noChangeArrowheads="1"/>
            </p:cNvSpPr>
            <p:nvPr/>
          </p:nvSpPr>
          <p:spPr bwMode="auto">
            <a:xfrm>
              <a:off x="680"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1</a:t>
              </a:r>
              <a:r>
                <a:rPr lang="zh-CN" altLang="en-US" b="1">
                  <a:ea typeface="楷体_GB2312" pitchFamily="49" charset="-122"/>
                </a:rPr>
                <a:t>层</a:t>
              </a:r>
            </a:p>
          </p:txBody>
        </p:sp>
        <p:sp>
          <p:nvSpPr>
            <p:cNvPr id="35" name="Text Box 36">
              <a:extLst>
                <a:ext uri="{FF2B5EF4-FFF2-40B4-BE49-F238E27FC236}">
                  <a16:creationId xmlns:a16="http://schemas.microsoft.com/office/drawing/2014/main" id="{AC8F47A9-8667-C8F3-B613-F81E5BEBCBBD}"/>
                </a:ext>
              </a:extLst>
            </p:cNvPr>
            <p:cNvSpPr txBox="1">
              <a:spLocks noChangeArrowheads="1"/>
            </p:cNvSpPr>
            <p:nvPr/>
          </p:nvSpPr>
          <p:spPr bwMode="auto">
            <a:xfrm>
              <a:off x="1542"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2</a:t>
              </a:r>
              <a:r>
                <a:rPr lang="zh-CN" altLang="en-US" b="1">
                  <a:ea typeface="楷体_GB2312" pitchFamily="49" charset="-122"/>
                </a:rPr>
                <a:t>层</a:t>
              </a:r>
            </a:p>
          </p:txBody>
        </p:sp>
        <p:sp>
          <p:nvSpPr>
            <p:cNvPr id="36" name="Text Box 37">
              <a:extLst>
                <a:ext uri="{FF2B5EF4-FFF2-40B4-BE49-F238E27FC236}">
                  <a16:creationId xmlns:a16="http://schemas.microsoft.com/office/drawing/2014/main" id="{8A1B9624-CECB-52AA-3236-181B0F8505DC}"/>
                </a:ext>
              </a:extLst>
            </p:cNvPr>
            <p:cNvSpPr txBox="1">
              <a:spLocks noChangeArrowheads="1"/>
            </p:cNvSpPr>
            <p:nvPr/>
          </p:nvSpPr>
          <p:spPr bwMode="auto">
            <a:xfrm>
              <a:off x="2449"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3</a:t>
              </a:r>
              <a:r>
                <a:rPr lang="zh-CN" altLang="en-US" b="1">
                  <a:ea typeface="楷体_GB2312" pitchFamily="49" charset="-122"/>
                </a:rPr>
                <a:t>层</a:t>
              </a:r>
            </a:p>
          </p:txBody>
        </p:sp>
        <p:sp>
          <p:nvSpPr>
            <p:cNvPr id="37" name="Text Box 38">
              <a:extLst>
                <a:ext uri="{FF2B5EF4-FFF2-40B4-BE49-F238E27FC236}">
                  <a16:creationId xmlns:a16="http://schemas.microsoft.com/office/drawing/2014/main" id="{74CA676A-7102-20C3-8D4B-5DE68425D339}"/>
                </a:ext>
              </a:extLst>
            </p:cNvPr>
            <p:cNvSpPr txBox="1">
              <a:spLocks noChangeArrowheads="1"/>
            </p:cNvSpPr>
            <p:nvPr/>
          </p:nvSpPr>
          <p:spPr bwMode="auto">
            <a:xfrm>
              <a:off x="3175"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4</a:t>
              </a:r>
              <a:r>
                <a:rPr lang="zh-CN" altLang="en-US" b="1">
                  <a:ea typeface="楷体_GB2312" pitchFamily="49" charset="-122"/>
                </a:rPr>
                <a:t>层</a:t>
              </a:r>
            </a:p>
          </p:txBody>
        </p:sp>
        <p:sp>
          <p:nvSpPr>
            <p:cNvPr id="38" name="Text Box 39">
              <a:extLst>
                <a:ext uri="{FF2B5EF4-FFF2-40B4-BE49-F238E27FC236}">
                  <a16:creationId xmlns:a16="http://schemas.microsoft.com/office/drawing/2014/main" id="{C9661EB4-8DF4-46A3-D32D-4956F3E9DF80}"/>
                </a:ext>
              </a:extLst>
            </p:cNvPr>
            <p:cNvSpPr txBox="1">
              <a:spLocks noChangeArrowheads="1"/>
            </p:cNvSpPr>
            <p:nvPr/>
          </p:nvSpPr>
          <p:spPr bwMode="auto">
            <a:xfrm>
              <a:off x="3901"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5</a:t>
              </a:r>
              <a:r>
                <a:rPr lang="zh-CN" altLang="en-US" b="1">
                  <a:ea typeface="楷体_GB2312" pitchFamily="49" charset="-122"/>
                </a:rPr>
                <a:t>层</a:t>
              </a:r>
            </a:p>
          </p:txBody>
        </p:sp>
        <p:sp>
          <p:nvSpPr>
            <p:cNvPr id="39" name="Text Box 40">
              <a:extLst>
                <a:ext uri="{FF2B5EF4-FFF2-40B4-BE49-F238E27FC236}">
                  <a16:creationId xmlns:a16="http://schemas.microsoft.com/office/drawing/2014/main" id="{FBFD7E83-C208-ADE3-54BA-E93AA84C086A}"/>
                </a:ext>
              </a:extLst>
            </p:cNvPr>
            <p:cNvSpPr txBox="1">
              <a:spLocks noChangeArrowheads="1"/>
            </p:cNvSpPr>
            <p:nvPr/>
          </p:nvSpPr>
          <p:spPr bwMode="auto">
            <a:xfrm>
              <a:off x="1950" y="588"/>
              <a:ext cx="362"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40" name="Text Box 41">
              <a:extLst>
                <a:ext uri="{FF2B5EF4-FFF2-40B4-BE49-F238E27FC236}">
                  <a16:creationId xmlns:a16="http://schemas.microsoft.com/office/drawing/2014/main" id="{A3B2E85B-A580-33B8-FB41-EAE2C800801E}"/>
                </a:ext>
              </a:extLst>
            </p:cNvPr>
            <p:cNvSpPr txBox="1">
              <a:spLocks noChangeArrowheads="1"/>
            </p:cNvSpPr>
            <p:nvPr/>
          </p:nvSpPr>
          <p:spPr bwMode="auto">
            <a:xfrm>
              <a:off x="1950" y="1451"/>
              <a:ext cx="36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41" name="Text Box 42">
              <a:extLst>
                <a:ext uri="{FF2B5EF4-FFF2-40B4-BE49-F238E27FC236}">
                  <a16:creationId xmlns:a16="http://schemas.microsoft.com/office/drawing/2014/main" id="{63C02F1C-6EA1-E4F0-BC00-5C9DC919D2D4}"/>
                </a:ext>
              </a:extLst>
            </p:cNvPr>
            <p:cNvSpPr txBox="1">
              <a:spLocks noChangeArrowheads="1"/>
            </p:cNvSpPr>
            <p:nvPr/>
          </p:nvSpPr>
          <p:spPr bwMode="auto">
            <a:xfrm>
              <a:off x="2767" y="635"/>
              <a:ext cx="36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dirty="0"/>
                <a:t>W</a:t>
              </a:r>
              <a:r>
                <a:rPr lang="en-US" altLang="zh-CN" u="sng" baseline="-25000" dirty="0"/>
                <a:t>1</a:t>
              </a:r>
            </a:p>
          </p:txBody>
        </p:sp>
        <p:sp>
          <p:nvSpPr>
            <p:cNvPr id="42" name="Text Box 43">
              <a:extLst>
                <a:ext uri="{FF2B5EF4-FFF2-40B4-BE49-F238E27FC236}">
                  <a16:creationId xmlns:a16="http://schemas.microsoft.com/office/drawing/2014/main" id="{C439D1C6-F709-6BD6-FA80-4E08FD9C6F75}"/>
                </a:ext>
              </a:extLst>
            </p:cNvPr>
            <p:cNvSpPr txBox="1">
              <a:spLocks noChangeArrowheads="1"/>
            </p:cNvSpPr>
            <p:nvPr/>
          </p:nvSpPr>
          <p:spPr bwMode="auto">
            <a:xfrm>
              <a:off x="2767" y="1497"/>
              <a:ext cx="36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43" name="Text Box 44">
              <a:extLst>
                <a:ext uri="{FF2B5EF4-FFF2-40B4-BE49-F238E27FC236}">
                  <a16:creationId xmlns:a16="http://schemas.microsoft.com/office/drawing/2014/main" id="{3F2EF99F-7027-B17A-3425-92BEDA5219E0}"/>
                </a:ext>
              </a:extLst>
            </p:cNvPr>
            <p:cNvSpPr txBox="1">
              <a:spLocks noChangeArrowheads="1"/>
            </p:cNvSpPr>
            <p:nvPr/>
          </p:nvSpPr>
          <p:spPr bwMode="auto">
            <a:xfrm>
              <a:off x="3674" y="544"/>
              <a:ext cx="54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44" name="Text Box 45">
              <a:extLst>
                <a:ext uri="{FF2B5EF4-FFF2-40B4-BE49-F238E27FC236}">
                  <a16:creationId xmlns:a16="http://schemas.microsoft.com/office/drawing/2014/main" id="{CF962BC8-87D4-285F-8A88-3F0093797C6D}"/>
                </a:ext>
              </a:extLst>
            </p:cNvPr>
            <p:cNvSpPr txBox="1">
              <a:spLocks noChangeArrowheads="1"/>
            </p:cNvSpPr>
            <p:nvPr/>
          </p:nvSpPr>
          <p:spPr bwMode="auto">
            <a:xfrm>
              <a:off x="3674" y="1406"/>
              <a:ext cx="54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45" name="Text Box 46">
              <a:extLst>
                <a:ext uri="{FF2B5EF4-FFF2-40B4-BE49-F238E27FC236}">
                  <a16:creationId xmlns:a16="http://schemas.microsoft.com/office/drawing/2014/main" id="{552CE2A9-6DB2-2ABE-0696-B731E66105C8}"/>
                </a:ext>
              </a:extLst>
            </p:cNvPr>
            <p:cNvSpPr txBox="1">
              <a:spLocks noChangeArrowheads="1"/>
            </p:cNvSpPr>
            <p:nvPr/>
          </p:nvSpPr>
          <p:spPr bwMode="auto">
            <a:xfrm>
              <a:off x="4626" y="997"/>
              <a:ext cx="227"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46" name="Text Box 47">
              <a:extLst>
                <a:ext uri="{FF2B5EF4-FFF2-40B4-BE49-F238E27FC236}">
                  <a16:creationId xmlns:a16="http://schemas.microsoft.com/office/drawing/2014/main" id="{D89560B4-E075-EBF0-A039-27A5BF812480}"/>
                </a:ext>
              </a:extLst>
            </p:cNvPr>
            <p:cNvSpPr txBox="1">
              <a:spLocks noChangeArrowheads="1"/>
            </p:cNvSpPr>
            <p:nvPr/>
          </p:nvSpPr>
          <p:spPr bwMode="auto">
            <a:xfrm>
              <a:off x="3266" y="317"/>
              <a:ext cx="45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47" name="Text Box 48">
              <a:extLst>
                <a:ext uri="{FF2B5EF4-FFF2-40B4-BE49-F238E27FC236}">
                  <a16:creationId xmlns:a16="http://schemas.microsoft.com/office/drawing/2014/main" id="{0BFE742B-0CFB-4A7F-ED96-2374E92E6014}"/>
                </a:ext>
              </a:extLst>
            </p:cNvPr>
            <p:cNvSpPr txBox="1">
              <a:spLocks noChangeArrowheads="1"/>
            </p:cNvSpPr>
            <p:nvPr/>
          </p:nvSpPr>
          <p:spPr bwMode="auto">
            <a:xfrm>
              <a:off x="3266" y="1722"/>
              <a:ext cx="408"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48" name="Line 49">
              <a:extLst>
                <a:ext uri="{FF2B5EF4-FFF2-40B4-BE49-F238E27FC236}">
                  <a16:creationId xmlns:a16="http://schemas.microsoft.com/office/drawing/2014/main" id="{6E52D477-749C-668C-E752-98FE2DC5F8C0}"/>
                </a:ext>
              </a:extLst>
            </p:cNvPr>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50">
              <a:extLst>
                <a:ext uri="{FF2B5EF4-FFF2-40B4-BE49-F238E27FC236}">
                  <a16:creationId xmlns:a16="http://schemas.microsoft.com/office/drawing/2014/main" id="{32A20110-E9CB-0AB0-B8CB-BAA7B6DD9DC3}"/>
                </a:ext>
              </a:extLst>
            </p:cNvPr>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51">
              <a:extLst>
                <a:ext uri="{FF2B5EF4-FFF2-40B4-BE49-F238E27FC236}">
                  <a16:creationId xmlns:a16="http://schemas.microsoft.com/office/drawing/2014/main" id="{07D50102-D233-6F63-FCAA-3F98D3376C01}"/>
                </a:ext>
              </a:extLst>
            </p:cNvPr>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52">
              <a:extLst>
                <a:ext uri="{FF2B5EF4-FFF2-40B4-BE49-F238E27FC236}">
                  <a16:creationId xmlns:a16="http://schemas.microsoft.com/office/drawing/2014/main" id="{DD3DDEC2-558E-CC07-F6FA-093A6A4B8162}"/>
                </a:ext>
              </a:extLst>
            </p:cNvPr>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2" name="文本框 51">
            <a:extLst>
              <a:ext uri="{FF2B5EF4-FFF2-40B4-BE49-F238E27FC236}">
                <a16:creationId xmlns:a16="http://schemas.microsoft.com/office/drawing/2014/main" id="{36AEF720-13AD-D45D-4D24-1E37BF59DE61}"/>
              </a:ext>
            </a:extLst>
          </p:cNvPr>
          <p:cNvSpPr txBox="1"/>
          <p:nvPr/>
        </p:nvSpPr>
        <p:spPr>
          <a:xfrm>
            <a:off x="3935553" y="3301272"/>
            <a:ext cx="698843" cy="2459071"/>
          </a:xfrm>
          <a:prstGeom prst="rect">
            <a:avLst/>
          </a:prstGeom>
          <a:noFill/>
        </p:spPr>
        <p:txBody>
          <a:bodyPr wrap="square" rtlCol="0">
            <a:spAutoFit/>
          </a:bodyPr>
          <a:lstStyle/>
          <a:p>
            <a:pPr>
              <a:lnSpc>
                <a:spcPct val="200000"/>
              </a:lnSpc>
            </a:pPr>
            <a:r>
              <a:rPr lang="en-US" altLang="zh-CN" sz="2000" b="1" i="1" dirty="0"/>
              <a:t>O</a:t>
            </a:r>
            <a:r>
              <a:rPr lang="en-US" altLang="zh-CN" sz="2000" b="1" baseline="-25000" dirty="0"/>
              <a:t>1,1</a:t>
            </a:r>
          </a:p>
          <a:p>
            <a:pPr>
              <a:lnSpc>
                <a:spcPct val="200000"/>
              </a:lnSpc>
            </a:pPr>
            <a:r>
              <a:rPr lang="en-US" altLang="zh-CN" sz="2000" b="1" i="1" dirty="0"/>
              <a:t>O</a:t>
            </a:r>
            <a:r>
              <a:rPr lang="en-US" altLang="zh-CN" sz="2000" b="1" baseline="-25000" dirty="0"/>
              <a:t>1,2</a:t>
            </a:r>
            <a:endParaRPr lang="zh-CN" altLang="en-US" sz="2000" dirty="0"/>
          </a:p>
          <a:p>
            <a:pPr>
              <a:lnSpc>
                <a:spcPct val="200000"/>
              </a:lnSpc>
            </a:pPr>
            <a:r>
              <a:rPr lang="en-US" altLang="zh-CN" sz="2000" b="1" i="1" dirty="0"/>
              <a:t>O</a:t>
            </a:r>
            <a:r>
              <a:rPr lang="en-US" altLang="zh-CN" sz="2000" b="1" baseline="-25000" dirty="0"/>
              <a:t>1,3</a:t>
            </a:r>
            <a:endParaRPr lang="zh-CN" altLang="en-US" sz="2000" dirty="0"/>
          </a:p>
          <a:p>
            <a:pPr>
              <a:lnSpc>
                <a:spcPct val="200000"/>
              </a:lnSpc>
            </a:pPr>
            <a:r>
              <a:rPr lang="en-US" altLang="zh-CN" sz="2000" b="1" i="1" dirty="0"/>
              <a:t>O</a:t>
            </a:r>
            <a:r>
              <a:rPr lang="en-US" altLang="zh-CN" sz="2000" b="1" baseline="-25000" dirty="0"/>
              <a:t>1,4</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wipe(left)">
                                      <p:cBhvr>
                                        <p:cTn id="7" dur="500"/>
                                        <p:tgtEl>
                                          <p:spTgt spid="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wipe(left)">
                                      <p:cBhvr>
                                        <p:cTn id="12" dur="500"/>
                                        <p:tgtEl>
                                          <p:spTgt spid="7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randombar(horizontal)">
                                      <p:cBhvr>
                                        <p:cTn id="17" dur="500"/>
                                        <p:tgtEl>
                                          <p:spTgt spid="3"/>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randombar(horizontal)">
                                      <p:cBhvr>
                                        <p:cTn id="2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autoUpdateAnimBg="0"/>
      <p:bldP spid="5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59433-B485-DD3D-B446-8AC6585DB730}"/>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155CBDE6-441F-1657-1481-7C345C628A74}"/>
              </a:ext>
            </a:extLst>
          </p:cNvPr>
          <p:cNvSpPr>
            <a:spLocks noGrp="1" noChangeArrowheads="1"/>
          </p:cNvSpPr>
          <p:nvPr>
            <p:ph type="title" idx="4294967295"/>
          </p:nvPr>
        </p:nvSpPr>
        <p:spPr>
          <a:xfrm>
            <a:off x="1981200" y="260648"/>
            <a:ext cx="8229600" cy="1100138"/>
          </a:xfrm>
        </p:spPr>
        <p:txBody>
          <a:bodyPr/>
          <a:lstStyle/>
          <a:p>
            <a:pPr algn="ctr" eaLnBrk="1" hangingPunct="1"/>
            <a:r>
              <a:rPr lang="en-US" altLang="zh-CN" sz="4500" dirty="0">
                <a:solidFill>
                  <a:srgbClr val="008000"/>
                </a:solidFill>
                <a:latin typeface="Comic Sans MS" panose="030F0702030302020204" pitchFamily="66" charset="0"/>
                <a:ea typeface="黑体" panose="02010609060101010101" pitchFamily="49" charset="-122"/>
              </a:rPr>
              <a:t>ANFIS</a:t>
            </a:r>
            <a:r>
              <a:rPr lang="zh-CN" altLang="en-US" sz="4500" dirty="0">
                <a:solidFill>
                  <a:srgbClr val="008000"/>
                </a:solidFill>
                <a:latin typeface="Comic Sans MS" panose="030F0702030302020204" pitchFamily="66" charset="0"/>
                <a:ea typeface="黑体" panose="02010609060101010101" pitchFamily="49" charset="-122"/>
              </a:rPr>
              <a:t>结构</a:t>
            </a:r>
          </a:p>
        </p:txBody>
      </p:sp>
      <p:sp>
        <p:nvSpPr>
          <p:cNvPr id="9219" name="Rectangle 3">
            <a:extLst>
              <a:ext uri="{FF2B5EF4-FFF2-40B4-BE49-F238E27FC236}">
                <a16:creationId xmlns:a16="http://schemas.microsoft.com/office/drawing/2014/main" id="{A6501EF5-57C6-C1D0-F323-49208B66EBF4}"/>
              </a:ext>
            </a:extLst>
          </p:cNvPr>
          <p:cNvSpPr>
            <a:spLocks noGrp="1" noChangeArrowheads="1"/>
          </p:cNvSpPr>
          <p:nvPr>
            <p:ph type="body" idx="4294967295"/>
          </p:nvPr>
        </p:nvSpPr>
        <p:spPr>
          <a:xfrm>
            <a:off x="983432" y="4653584"/>
            <a:ext cx="10225136" cy="1917700"/>
          </a:xfrm>
          <a:solidFill>
            <a:schemeClr val="accent5"/>
          </a:solidFill>
        </p:spPr>
        <p:txBody>
          <a:bodyPr/>
          <a:lstStyle/>
          <a:p>
            <a:pPr eaLnBrk="1" hangingPunct="1"/>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a:t>
            </a:r>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层：</a:t>
            </a:r>
            <a:r>
              <a:rPr lang="en-US" altLang="zh-CN"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F</a:t>
            </a:r>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化层</a:t>
            </a:r>
            <a:endParaRPr lang="en-US" altLang="zh-CN"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lvl="1" eaLnBrk="1" hangingPunct="1"/>
            <a:r>
              <a:rPr lang="en-US" altLang="zh-CN" sz="3200" dirty="0" err="1">
                <a:latin typeface="黑体" panose="02010609060101010101" pitchFamily="49" charset="-122"/>
                <a:ea typeface="黑体" panose="02010609060101010101" pitchFamily="49" charset="-122"/>
                <a:cs typeface="Noto Sans SC"/>
                <a:sym typeface="Noto Sans SC"/>
              </a:rPr>
              <a:t>作为网络输入层，接收外部输入变量，通过隶属度函数，计算输入变量属于不同模糊集合的隶属度值</a:t>
            </a:r>
            <a:r>
              <a:rPr lang="zh-CN" altLang="en-US" sz="3200" dirty="0">
                <a:latin typeface="黑体" panose="02010609060101010101" pitchFamily="49" charset="-122"/>
                <a:ea typeface="黑体" panose="02010609060101010101" pitchFamily="49" charset="-122"/>
                <a:cs typeface="Noto Sans SC"/>
                <a:sym typeface="Noto Sans SC"/>
              </a:rPr>
              <a:t>。</a:t>
            </a:r>
            <a:endParaRPr lang="en-US" altLang="zh-CN" sz="3200" dirty="0">
              <a:latin typeface="黑体" panose="02010609060101010101" pitchFamily="49" charset="-122"/>
              <a:ea typeface="黑体" panose="02010609060101010101" pitchFamily="49" charset="-122"/>
              <a:cs typeface="Noto Sans SC"/>
              <a:sym typeface="Noto Sans SC"/>
            </a:endParaRPr>
          </a:p>
          <a:p>
            <a:pPr marL="457200" lvl="1" indent="0" eaLnBrk="1" hangingPunct="1">
              <a:buNone/>
            </a:pPr>
            <a:endParaRPr lang="en-US" altLang="zh-CN" dirty="0">
              <a:latin typeface="黑体" panose="02010609060101010101" pitchFamily="49" charset="-122"/>
              <a:ea typeface="黑体" panose="02010609060101010101" pitchFamily="49" charset="-122"/>
              <a:cs typeface="Noto Sans SC"/>
              <a:sym typeface="Noto Sans SC"/>
            </a:endParaRPr>
          </a:p>
        </p:txBody>
      </p:sp>
      <p:grpSp>
        <p:nvGrpSpPr>
          <p:cNvPr id="9220" name="Group 4">
            <a:extLst>
              <a:ext uri="{FF2B5EF4-FFF2-40B4-BE49-F238E27FC236}">
                <a16:creationId xmlns:a16="http://schemas.microsoft.com/office/drawing/2014/main" id="{B15FA31C-24C6-2AB8-8757-4206FE88DF53}"/>
              </a:ext>
            </a:extLst>
          </p:cNvPr>
          <p:cNvGrpSpPr>
            <a:grpSpLocks/>
          </p:cNvGrpSpPr>
          <p:nvPr/>
        </p:nvGrpSpPr>
        <p:grpSpPr bwMode="auto">
          <a:xfrm>
            <a:off x="2063759" y="1529705"/>
            <a:ext cx="8353425" cy="2619375"/>
            <a:chOff x="0" y="0"/>
            <a:chExt cx="4853" cy="2002"/>
          </a:xfrm>
        </p:grpSpPr>
        <p:sp>
          <p:nvSpPr>
            <p:cNvPr id="9221" name="Rectangle 5">
              <a:extLst>
                <a:ext uri="{FF2B5EF4-FFF2-40B4-BE49-F238E27FC236}">
                  <a16:creationId xmlns:a16="http://schemas.microsoft.com/office/drawing/2014/main" id="{5BAF9427-731A-2FF2-10E8-A8198363CB1D}"/>
                </a:ext>
              </a:extLst>
            </p:cNvPr>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9222" name="Rectangle 6">
              <a:extLst>
                <a:ext uri="{FF2B5EF4-FFF2-40B4-BE49-F238E27FC236}">
                  <a16:creationId xmlns:a16="http://schemas.microsoft.com/office/drawing/2014/main" id="{C4FEE5BA-DC39-2779-449F-904E29CE339A}"/>
                </a:ext>
              </a:extLst>
            </p:cNvPr>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9223" name="Rectangle 7">
              <a:extLst>
                <a:ext uri="{FF2B5EF4-FFF2-40B4-BE49-F238E27FC236}">
                  <a16:creationId xmlns:a16="http://schemas.microsoft.com/office/drawing/2014/main" id="{7E4104D6-4A22-5EC6-1BDD-E76A484217B3}"/>
                </a:ext>
              </a:extLst>
            </p:cNvPr>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9224" name="Rectangle 8">
              <a:extLst>
                <a:ext uri="{FF2B5EF4-FFF2-40B4-BE49-F238E27FC236}">
                  <a16:creationId xmlns:a16="http://schemas.microsoft.com/office/drawing/2014/main" id="{50C1452F-05FB-B1EC-9DF3-B00B5C383715}"/>
                </a:ext>
              </a:extLst>
            </p:cNvPr>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9225" name="Oval 9">
              <a:extLst>
                <a:ext uri="{FF2B5EF4-FFF2-40B4-BE49-F238E27FC236}">
                  <a16:creationId xmlns:a16="http://schemas.microsoft.com/office/drawing/2014/main" id="{10843015-EDC5-DC74-90AF-C0D6CE483E43}"/>
                </a:ext>
              </a:extLst>
            </p:cNvPr>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226" name="Rectangle 10">
              <a:extLst>
                <a:ext uri="{FF2B5EF4-FFF2-40B4-BE49-F238E27FC236}">
                  <a16:creationId xmlns:a16="http://schemas.microsoft.com/office/drawing/2014/main" id="{859E2907-4544-2C1A-DFF8-EC12862D2F48}"/>
                </a:ext>
              </a:extLst>
            </p:cNvPr>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227" name="Rectangle 11">
              <a:extLst>
                <a:ext uri="{FF2B5EF4-FFF2-40B4-BE49-F238E27FC236}">
                  <a16:creationId xmlns:a16="http://schemas.microsoft.com/office/drawing/2014/main" id="{B6D9DEC1-29F8-F48E-9746-A33054D7B3C3}"/>
                </a:ext>
              </a:extLst>
            </p:cNvPr>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228" name="Oval 12">
              <a:extLst>
                <a:ext uri="{FF2B5EF4-FFF2-40B4-BE49-F238E27FC236}">
                  <a16:creationId xmlns:a16="http://schemas.microsoft.com/office/drawing/2014/main" id="{95822DEC-3AA2-A8C8-D6AB-EAC179479F8D}"/>
                </a:ext>
              </a:extLst>
            </p:cNvPr>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229" name="Oval 13">
              <a:extLst>
                <a:ext uri="{FF2B5EF4-FFF2-40B4-BE49-F238E27FC236}">
                  <a16:creationId xmlns:a16="http://schemas.microsoft.com/office/drawing/2014/main" id="{0211B20F-7A11-8A52-E563-46099ADBE3E0}"/>
                </a:ext>
              </a:extLst>
            </p:cNvPr>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9230" name="Oval 14">
              <a:extLst>
                <a:ext uri="{FF2B5EF4-FFF2-40B4-BE49-F238E27FC236}">
                  <a16:creationId xmlns:a16="http://schemas.microsoft.com/office/drawing/2014/main" id="{D87DB9E1-7526-0FEC-ED5E-AE519BF0EB88}"/>
                </a:ext>
              </a:extLst>
            </p:cNvPr>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9231" name="Oval 15">
              <a:extLst>
                <a:ext uri="{FF2B5EF4-FFF2-40B4-BE49-F238E27FC236}">
                  <a16:creationId xmlns:a16="http://schemas.microsoft.com/office/drawing/2014/main" id="{F0F61957-89C0-B016-4EE4-304C69B209CB}"/>
                </a:ext>
              </a:extLst>
            </p:cNvPr>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9232" name="Text Box 16">
              <a:extLst>
                <a:ext uri="{FF2B5EF4-FFF2-40B4-BE49-F238E27FC236}">
                  <a16:creationId xmlns:a16="http://schemas.microsoft.com/office/drawing/2014/main" id="{C26453AC-5F90-26AD-2C86-34B39D3B474C}"/>
                </a:ext>
              </a:extLst>
            </p:cNvPr>
            <p:cNvSpPr txBox="1">
              <a:spLocks noChangeArrowheads="1"/>
            </p:cNvSpPr>
            <p:nvPr/>
          </p:nvSpPr>
          <p:spPr bwMode="auto">
            <a:xfrm>
              <a:off x="0" y="544"/>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9233" name="Text Box 17">
              <a:extLst>
                <a:ext uri="{FF2B5EF4-FFF2-40B4-BE49-F238E27FC236}">
                  <a16:creationId xmlns:a16="http://schemas.microsoft.com/office/drawing/2014/main" id="{F04B8CEA-F72D-B46F-2F43-C2982ED834AF}"/>
                </a:ext>
              </a:extLst>
            </p:cNvPr>
            <p:cNvSpPr txBox="1">
              <a:spLocks noChangeArrowheads="1"/>
            </p:cNvSpPr>
            <p:nvPr/>
          </p:nvSpPr>
          <p:spPr bwMode="auto">
            <a:xfrm>
              <a:off x="0" y="1451"/>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9234" name="Line 18">
              <a:extLst>
                <a:ext uri="{FF2B5EF4-FFF2-40B4-BE49-F238E27FC236}">
                  <a16:creationId xmlns:a16="http://schemas.microsoft.com/office/drawing/2014/main" id="{5043BBA5-F407-99E3-ABFC-8B26FDA7E3AF}"/>
                </a:ext>
              </a:extLst>
            </p:cNvPr>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5" name="Line 19">
              <a:extLst>
                <a:ext uri="{FF2B5EF4-FFF2-40B4-BE49-F238E27FC236}">
                  <a16:creationId xmlns:a16="http://schemas.microsoft.com/office/drawing/2014/main" id="{B9F61A53-DCF6-6121-DEF0-44084EB1BE99}"/>
                </a:ext>
              </a:extLst>
            </p:cNvPr>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6" name="Line 20">
              <a:extLst>
                <a:ext uri="{FF2B5EF4-FFF2-40B4-BE49-F238E27FC236}">
                  <a16:creationId xmlns:a16="http://schemas.microsoft.com/office/drawing/2014/main" id="{AFF6F5EB-DBED-E163-33ED-F44B4E88679E}"/>
                </a:ext>
              </a:extLst>
            </p:cNvPr>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7" name="Line 21">
              <a:extLst>
                <a:ext uri="{FF2B5EF4-FFF2-40B4-BE49-F238E27FC236}">
                  <a16:creationId xmlns:a16="http://schemas.microsoft.com/office/drawing/2014/main" id="{868F62B0-B9C1-B99D-B6C4-FDFA6C812893}"/>
                </a:ext>
              </a:extLst>
            </p:cNvPr>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8" name="Line 22">
              <a:extLst>
                <a:ext uri="{FF2B5EF4-FFF2-40B4-BE49-F238E27FC236}">
                  <a16:creationId xmlns:a16="http://schemas.microsoft.com/office/drawing/2014/main" id="{D12EB1BD-4FE3-F805-9718-CFDF0B65C3B8}"/>
                </a:ext>
              </a:extLst>
            </p:cNvPr>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9" name="Line 23">
              <a:extLst>
                <a:ext uri="{FF2B5EF4-FFF2-40B4-BE49-F238E27FC236}">
                  <a16:creationId xmlns:a16="http://schemas.microsoft.com/office/drawing/2014/main" id="{DE550111-D250-4A34-B19B-E97535961E48}"/>
                </a:ext>
              </a:extLst>
            </p:cNvPr>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0" name="Line 24">
              <a:extLst>
                <a:ext uri="{FF2B5EF4-FFF2-40B4-BE49-F238E27FC236}">
                  <a16:creationId xmlns:a16="http://schemas.microsoft.com/office/drawing/2014/main" id="{33401F48-6872-AC12-00B4-E567124FD656}"/>
                </a:ext>
              </a:extLst>
            </p:cNvPr>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1" name="Line 25">
              <a:extLst>
                <a:ext uri="{FF2B5EF4-FFF2-40B4-BE49-F238E27FC236}">
                  <a16:creationId xmlns:a16="http://schemas.microsoft.com/office/drawing/2014/main" id="{0281E978-DE3A-78E5-A5B5-0AE40637F8E0}"/>
                </a:ext>
              </a:extLst>
            </p:cNvPr>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2" name="Line 26">
              <a:extLst>
                <a:ext uri="{FF2B5EF4-FFF2-40B4-BE49-F238E27FC236}">
                  <a16:creationId xmlns:a16="http://schemas.microsoft.com/office/drawing/2014/main" id="{B583C089-6337-A676-23BC-442D6B4F3B49}"/>
                </a:ext>
              </a:extLst>
            </p:cNvPr>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3" name="Line 27">
              <a:extLst>
                <a:ext uri="{FF2B5EF4-FFF2-40B4-BE49-F238E27FC236}">
                  <a16:creationId xmlns:a16="http://schemas.microsoft.com/office/drawing/2014/main" id="{D0BE66ED-0133-7A22-79C2-3A582B0374A7}"/>
                </a:ext>
              </a:extLst>
            </p:cNvPr>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4" name="Line 28">
              <a:extLst>
                <a:ext uri="{FF2B5EF4-FFF2-40B4-BE49-F238E27FC236}">
                  <a16:creationId xmlns:a16="http://schemas.microsoft.com/office/drawing/2014/main" id="{566AE98B-1E09-C557-AF63-3874408B3524}"/>
                </a:ext>
              </a:extLst>
            </p:cNvPr>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5" name="Line 29">
              <a:extLst>
                <a:ext uri="{FF2B5EF4-FFF2-40B4-BE49-F238E27FC236}">
                  <a16:creationId xmlns:a16="http://schemas.microsoft.com/office/drawing/2014/main" id="{D8577AC4-82B9-E4E0-FDDC-C88D6D38582A}"/>
                </a:ext>
              </a:extLst>
            </p:cNvPr>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6" name="Line 30">
              <a:extLst>
                <a:ext uri="{FF2B5EF4-FFF2-40B4-BE49-F238E27FC236}">
                  <a16:creationId xmlns:a16="http://schemas.microsoft.com/office/drawing/2014/main" id="{5F1D6FAC-5CDE-CFEA-72CF-8C49C38FA857}"/>
                </a:ext>
              </a:extLst>
            </p:cNvPr>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7" name="Line 31">
              <a:extLst>
                <a:ext uri="{FF2B5EF4-FFF2-40B4-BE49-F238E27FC236}">
                  <a16:creationId xmlns:a16="http://schemas.microsoft.com/office/drawing/2014/main" id="{BE0858FF-BA8A-699F-2240-ADB6047103A8}"/>
                </a:ext>
              </a:extLst>
            </p:cNvPr>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8" name="Line 32">
              <a:extLst>
                <a:ext uri="{FF2B5EF4-FFF2-40B4-BE49-F238E27FC236}">
                  <a16:creationId xmlns:a16="http://schemas.microsoft.com/office/drawing/2014/main" id="{5850D620-3C50-8384-16FB-BCA4F0E72517}"/>
                </a:ext>
              </a:extLst>
            </p:cNvPr>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9" name="Line 33">
              <a:extLst>
                <a:ext uri="{FF2B5EF4-FFF2-40B4-BE49-F238E27FC236}">
                  <a16:creationId xmlns:a16="http://schemas.microsoft.com/office/drawing/2014/main" id="{772D373F-E67C-4D50-D0F0-9EB13E94CA5E}"/>
                </a:ext>
              </a:extLst>
            </p:cNvPr>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0" name="Line 34">
              <a:extLst>
                <a:ext uri="{FF2B5EF4-FFF2-40B4-BE49-F238E27FC236}">
                  <a16:creationId xmlns:a16="http://schemas.microsoft.com/office/drawing/2014/main" id="{419D7357-818A-44A2-7F92-2D61769E6779}"/>
                </a:ext>
              </a:extLst>
            </p:cNvPr>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1" name="Text Box 35">
              <a:extLst>
                <a:ext uri="{FF2B5EF4-FFF2-40B4-BE49-F238E27FC236}">
                  <a16:creationId xmlns:a16="http://schemas.microsoft.com/office/drawing/2014/main" id="{A62A86F4-DC43-CB0F-DFEE-4AD4A298830F}"/>
                </a:ext>
              </a:extLst>
            </p:cNvPr>
            <p:cNvSpPr txBox="1">
              <a:spLocks noChangeArrowheads="1"/>
            </p:cNvSpPr>
            <p:nvPr/>
          </p:nvSpPr>
          <p:spPr bwMode="auto">
            <a:xfrm>
              <a:off x="680"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0000"/>
                  </a:solidFill>
                  <a:ea typeface="楷体_GB2312" pitchFamily="49" charset="-122"/>
                </a:rPr>
                <a:t>第</a:t>
              </a:r>
              <a:r>
                <a:rPr lang="en-US" altLang="zh-CN" b="1" dirty="0">
                  <a:solidFill>
                    <a:srgbClr val="FF0000"/>
                  </a:solidFill>
                  <a:ea typeface="楷体_GB2312" pitchFamily="49" charset="-122"/>
                </a:rPr>
                <a:t>1</a:t>
              </a:r>
              <a:r>
                <a:rPr lang="zh-CN" altLang="en-US" b="1" dirty="0">
                  <a:solidFill>
                    <a:srgbClr val="FF0000"/>
                  </a:solidFill>
                  <a:ea typeface="楷体_GB2312" pitchFamily="49" charset="-122"/>
                </a:rPr>
                <a:t>层</a:t>
              </a:r>
            </a:p>
          </p:txBody>
        </p:sp>
        <p:sp>
          <p:nvSpPr>
            <p:cNvPr id="9252" name="Text Box 36">
              <a:extLst>
                <a:ext uri="{FF2B5EF4-FFF2-40B4-BE49-F238E27FC236}">
                  <a16:creationId xmlns:a16="http://schemas.microsoft.com/office/drawing/2014/main" id="{FBCA490D-09D2-3B75-1922-6A89D7F2247B}"/>
                </a:ext>
              </a:extLst>
            </p:cNvPr>
            <p:cNvSpPr txBox="1">
              <a:spLocks noChangeArrowheads="1"/>
            </p:cNvSpPr>
            <p:nvPr/>
          </p:nvSpPr>
          <p:spPr bwMode="auto">
            <a:xfrm>
              <a:off x="1542"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2</a:t>
              </a:r>
              <a:r>
                <a:rPr lang="zh-CN" altLang="en-US" b="1">
                  <a:ea typeface="楷体_GB2312" pitchFamily="49" charset="-122"/>
                </a:rPr>
                <a:t>层</a:t>
              </a:r>
            </a:p>
          </p:txBody>
        </p:sp>
        <p:sp>
          <p:nvSpPr>
            <p:cNvPr id="9253" name="Text Box 37">
              <a:extLst>
                <a:ext uri="{FF2B5EF4-FFF2-40B4-BE49-F238E27FC236}">
                  <a16:creationId xmlns:a16="http://schemas.microsoft.com/office/drawing/2014/main" id="{2D66D6D5-AA24-81D6-34A6-EC999DE48D2C}"/>
                </a:ext>
              </a:extLst>
            </p:cNvPr>
            <p:cNvSpPr txBox="1">
              <a:spLocks noChangeArrowheads="1"/>
            </p:cNvSpPr>
            <p:nvPr/>
          </p:nvSpPr>
          <p:spPr bwMode="auto">
            <a:xfrm>
              <a:off x="2449"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3</a:t>
              </a:r>
              <a:r>
                <a:rPr lang="zh-CN" altLang="en-US" b="1">
                  <a:ea typeface="楷体_GB2312" pitchFamily="49" charset="-122"/>
                </a:rPr>
                <a:t>层</a:t>
              </a:r>
            </a:p>
          </p:txBody>
        </p:sp>
        <p:sp>
          <p:nvSpPr>
            <p:cNvPr id="9254" name="Text Box 38">
              <a:extLst>
                <a:ext uri="{FF2B5EF4-FFF2-40B4-BE49-F238E27FC236}">
                  <a16:creationId xmlns:a16="http://schemas.microsoft.com/office/drawing/2014/main" id="{8AE6B2EC-3774-52A1-79C5-92CBC1073E47}"/>
                </a:ext>
              </a:extLst>
            </p:cNvPr>
            <p:cNvSpPr txBox="1">
              <a:spLocks noChangeArrowheads="1"/>
            </p:cNvSpPr>
            <p:nvPr/>
          </p:nvSpPr>
          <p:spPr bwMode="auto">
            <a:xfrm>
              <a:off x="3175"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4</a:t>
              </a:r>
              <a:r>
                <a:rPr lang="zh-CN" altLang="en-US" b="1">
                  <a:ea typeface="楷体_GB2312" pitchFamily="49" charset="-122"/>
                </a:rPr>
                <a:t>层</a:t>
              </a:r>
            </a:p>
          </p:txBody>
        </p:sp>
        <p:sp>
          <p:nvSpPr>
            <p:cNvPr id="9255" name="Text Box 39">
              <a:extLst>
                <a:ext uri="{FF2B5EF4-FFF2-40B4-BE49-F238E27FC236}">
                  <a16:creationId xmlns:a16="http://schemas.microsoft.com/office/drawing/2014/main" id="{4D61A2CB-5010-4683-3F59-533100C56EA5}"/>
                </a:ext>
              </a:extLst>
            </p:cNvPr>
            <p:cNvSpPr txBox="1">
              <a:spLocks noChangeArrowheads="1"/>
            </p:cNvSpPr>
            <p:nvPr/>
          </p:nvSpPr>
          <p:spPr bwMode="auto">
            <a:xfrm>
              <a:off x="3901"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5</a:t>
              </a:r>
              <a:r>
                <a:rPr lang="zh-CN" altLang="en-US" b="1">
                  <a:ea typeface="楷体_GB2312" pitchFamily="49" charset="-122"/>
                </a:rPr>
                <a:t>层</a:t>
              </a:r>
            </a:p>
          </p:txBody>
        </p:sp>
        <p:sp>
          <p:nvSpPr>
            <p:cNvPr id="9256" name="Text Box 40">
              <a:extLst>
                <a:ext uri="{FF2B5EF4-FFF2-40B4-BE49-F238E27FC236}">
                  <a16:creationId xmlns:a16="http://schemas.microsoft.com/office/drawing/2014/main" id="{82C932BC-892F-1811-AF88-CD9366624E8D}"/>
                </a:ext>
              </a:extLst>
            </p:cNvPr>
            <p:cNvSpPr txBox="1">
              <a:spLocks noChangeArrowheads="1"/>
            </p:cNvSpPr>
            <p:nvPr/>
          </p:nvSpPr>
          <p:spPr bwMode="auto">
            <a:xfrm>
              <a:off x="1950" y="588"/>
              <a:ext cx="362"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9257" name="Text Box 41">
              <a:extLst>
                <a:ext uri="{FF2B5EF4-FFF2-40B4-BE49-F238E27FC236}">
                  <a16:creationId xmlns:a16="http://schemas.microsoft.com/office/drawing/2014/main" id="{EA3EBE03-8562-75B8-CFE0-F38F1E68316A}"/>
                </a:ext>
              </a:extLst>
            </p:cNvPr>
            <p:cNvSpPr txBox="1">
              <a:spLocks noChangeArrowheads="1"/>
            </p:cNvSpPr>
            <p:nvPr/>
          </p:nvSpPr>
          <p:spPr bwMode="auto">
            <a:xfrm>
              <a:off x="1950" y="1451"/>
              <a:ext cx="36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9258" name="Text Box 42">
              <a:extLst>
                <a:ext uri="{FF2B5EF4-FFF2-40B4-BE49-F238E27FC236}">
                  <a16:creationId xmlns:a16="http://schemas.microsoft.com/office/drawing/2014/main" id="{3667623A-E2FB-3F5B-701B-9DFF97141EB2}"/>
                </a:ext>
              </a:extLst>
            </p:cNvPr>
            <p:cNvSpPr txBox="1">
              <a:spLocks noChangeArrowheads="1"/>
            </p:cNvSpPr>
            <p:nvPr/>
          </p:nvSpPr>
          <p:spPr bwMode="auto">
            <a:xfrm>
              <a:off x="2767" y="635"/>
              <a:ext cx="36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dirty="0"/>
                <a:t>W</a:t>
              </a:r>
              <a:r>
                <a:rPr lang="en-US" altLang="zh-CN" u="sng" baseline="-25000" dirty="0"/>
                <a:t>1</a:t>
              </a:r>
            </a:p>
          </p:txBody>
        </p:sp>
        <p:sp>
          <p:nvSpPr>
            <p:cNvPr id="9259" name="Text Box 43">
              <a:extLst>
                <a:ext uri="{FF2B5EF4-FFF2-40B4-BE49-F238E27FC236}">
                  <a16:creationId xmlns:a16="http://schemas.microsoft.com/office/drawing/2014/main" id="{1E5FFB74-7187-5FFD-76B8-A40DEB312A0E}"/>
                </a:ext>
              </a:extLst>
            </p:cNvPr>
            <p:cNvSpPr txBox="1">
              <a:spLocks noChangeArrowheads="1"/>
            </p:cNvSpPr>
            <p:nvPr/>
          </p:nvSpPr>
          <p:spPr bwMode="auto">
            <a:xfrm>
              <a:off x="2767" y="1497"/>
              <a:ext cx="36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9260" name="Text Box 44">
              <a:extLst>
                <a:ext uri="{FF2B5EF4-FFF2-40B4-BE49-F238E27FC236}">
                  <a16:creationId xmlns:a16="http://schemas.microsoft.com/office/drawing/2014/main" id="{F98F22FB-2717-E5C3-8F1E-FA640BE91B94}"/>
                </a:ext>
              </a:extLst>
            </p:cNvPr>
            <p:cNvSpPr txBox="1">
              <a:spLocks noChangeArrowheads="1"/>
            </p:cNvSpPr>
            <p:nvPr/>
          </p:nvSpPr>
          <p:spPr bwMode="auto">
            <a:xfrm>
              <a:off x="3674" y="544"/>
              <a:ext cx="54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9261" name="Text Box 45">
              <a:extLst>
                <a:ext uri="{FF2B5EF4-FFF2-40B4-BE49-F238E27FC236}">
                  <a16:creationId xmlns:a16="http://schemas.microsoft.com/office/drawing/2014/main" id="{D701FC8D-C609-A112-D828-F1978896F4BB}"/>
                </a:ext>
              </a:extLst>
            </p:cNvPr>
            <p:cNvSpPr txBox="1">
              <a:spLocks noChangeArrowheads="1"/>
            </p:cNvSpPr>
            <p:nvPr/>
          </p:nvSpPr>
          <p:spPr bwMode="auto">
            <a:xfrm>
              <a:off x="3674" y="1406"/>
              <a:ext cx="54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9262" name="Text Box 46">
              <a:extLst>
                <a:ext uri="{FF2B5EF4-FFF2-40B4-BE49-F238E27FC236}">
                  <a16:creationId xmlns:a16="http://schemas.microsoft.com/office/drawing/2014/main" id="{E842AF8F-30F8-9807-AD8A-727798066BE7}"/>
                </a:ext>
              </a:extLst>
            </p:cNvPr>
            <p:cNvSpPr txBox="1">
              <a:spLocks noChangeArrowheads="1"/>
            </p:cNvSpPr>
            <p:nvPr/>
          </p:nvSpPr>
          <p:spPr bwMode="auto">
            <a:xfrm>
              <a:off x="4626" y="997"/>
              <a:ext cx="227"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9263" name="Text Box 47">
              <a:extLst>
                <a:ext uri="{FF2B5EF4-FFF2-40B4-BE49-F238E27FC236}">
                  <a16:creationId xmlns:a16="http://schemas.microsoft.com/office/drawing/2014/main" id="{9C67A7E9-30FF-8295-B204-7F547C2BF9BC}"/>
                </a:ext>
              </a:extLst>
            </p:cNvPr>
            <p:cNvSpPr txBox="1">
              <a:spLocks noChangeArrowheads="1"/>
            </p:cNvSpPr>
            <p:nvPr/>
          </p:nvSpPr>
          <p:spPr bwMode="auto">
            <a:xfrm>
              <a:off x="3266" y="317"/>
              <a:ext cx="45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9264" name="Text Box 48">
              <a:extLst>
                <a:ext uri="{FF2B5EF4-FFF2-40B4-BE49-F238E27FC236}">
                  <a16:creationId xmlns:a16="http://schemas.microsoft.com/office/drawing/2014/main" id="{E48A08C2-6230-509A-EB57-7574DAD43A77}"/>
                </a:ext>
              </a:extLst>
            </p:cNvPr>
            <p:cNvSpPr txBox="1">
              <a:spLocks noChangeArrowheads="1"/>
            </p:cNvSpPr>
            <p:nvPr/>
          </p:nvSpPr>
          <p:spPr bwMode="auto">
            <a:xfrm>
              <a:off x="3266" y="1722"/>
              <a:ext cx="408"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9265" name="Line 49">
              <a:extLst>
                <a:ext uri="{FF2B5EF4-FFF2-40B4-BE49-F238E27FC236}">
                  <a16:creationId xmlns:a16="http://schemas.microsoft.com/office/drawing/2014/main" id="{7C1E1462-AFE9-C80D-D7FC-3301EDCB6E31}"/>
                </a:ext>
              </a:extLst>
            </p:cNvPr>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6" name="Line 50">
              <a:extLst>
                <a:ext uri="{FF2B5EF4-FFF2-40B4-BE49-F238E27FC236}">
                  <a16:creationId xmlns:a16="http://schemas.microsoft.com/office/drawing/2014/main" id="{1B428DFE-CAA8-9E7F-5B9C-6E0FE4D7BA7D}"/>
                </a:ext>
              </a:extLst>
            </p:cNvPr>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7" name="Line 51">
              <a:extLst>
                <a:ext uri="{FF2B5EF4-FFF2-40B4-BE49-F238E27FC236}">
                  <a16:creationId xmlns:a16="http://schemas.microsoft.com/office/drawing/2014/main" id="{9E2F896A-E199-CADA-D495-6E609B963AE4}"/>
                </a:ext>
              </a:extLst>
            </p:cNvPr>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8" name="Line 52">
              <a:extLst>
                <a:ext uri="{FF2B5EF4-FFF2-40B4-BE49-F238E27FC236}">
                  <a16:creationId xmlns:a16="http://schemas.microsoft.com/office/drawing/2014/main" id="{1C8CB0E1-18BA-2189-D5D8-2A11EB91D1F2}"/>
                </a:ext>
              </a:extLst>
            </p:cNvPr>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文本框 2">
            <a:extLst>
              <a:ext uri="{FF2B5EF4-FFF2-40B4-BE49-F238E27FC236}">
                <a16:creationId xmlns:a16="http://schemas.microsoft.com/office/drawing/2014/main" id="{6BA21043-42B2-A81D-23A7-4FF96C8DF107}"/>
              </a:ext>
            </a:extLst>
          </p:cNvPr>
          <p:cNvSpPr txBox="1"/>
          <p:nvPr/>
        </p:nvSpPr>
        <p:spPr>
          <a:xfrm>
            <a:off x="3863752" y="1690009"/>
            <a:ext cx="698843" cy="2459071"/>
          </a:xfrm>
          <a:prstGeom prst="rect">
            <a:avLst/>
          </a:prstGeom>
          <a:noFill/>
        </p:spPr>
        <p:txBody>
          <a:bodyPr wrap="square" rtlCol="0">
            <a:spAutoFit/>
          </a:bodyPr>
          <a:lstStyle/>
          <a:p>
            <a:pPr>
              <a:lnSpc>
                <a:spcPct val="200000"/>
              </a:lnSpc>
            </a:pPr>
            <a:r>
              <a:rPr lang="en-US" altLang="zh-CN" sz="2000" b="1" i="1" dirty="0"/>
              <a:t>O</a:t>
            </a:r>
            <a:r>
              <a:rPr lang="en-US" altLang="zh-CN" sz="2000" b="1" baseline="-25000" dirty="0"/>
              <a:t>1,1</a:t>
            </a:r>
          </a:p>
          <a:p>
            <a:pPr>
              <a:lnSpc>
                <a:spcPct val="200000"/>
              </a:lnSpc>
            </a:pPr>
            <a:r>
              <a:rPr lang="en-US" altLang="zh-CN" sz="2000" b="1" i="1" dirty="0"/>
              <a:t>O</a:t>
            </a:r>
            <a:r>
              <a:rPr lang="en-US" altLang="zh-CN" sz="2000" b="1" baseline="-25000" dirty="0"/>
              <a:t>1,2</a:t>
            </a:r>
            <a:endParaRPr lang="zh-CN" altLang="en-US" sz="2000" dirty="0"/>
          </a:p>
          <a:p>
            <a:pPr>
              <a:lnSpc>
                <a:spcPct val="200000"/>
              </a:lnSpc>
            </a:pPr>
            <a:r>
              <a:rPr lang="en-US" altLang="zh-CN" sz="2000" b="1" i="1" dirty="0"/>
              <a:t>O</a:t>
            </a:r>
            <a:r>
              <a:rPr lang="en-US" altLang="zh-CN" sz="2000" b="1" baseline="-25000" dirty="0"/>
              <a:t>1,3</a:t>
            </a:r>
            <a:endParaRPr lang="zh-CN" altLang="en-US" sz="2000" dirty="0"/>
          </a:p>
          <a:p>
            <a:pPr>
              <a:lnSpc>
                <a:spcPct val="200000"/>
              </a:lnSpc>
            </a:pPr>
            <a:r>
              <a:rPr lang="en-US" altLang="zh-CN" sz="2000" b="1" i="1" dirty="0"/>
              <a:t>O</a:t>
            </a:r>
            <a:r>
              <a:rPr lang="en-US" altLang="zh-CN" sz="2000" b="1" baseline="-25000" dirty="0"/>
              <a:t>1,4</a:t>
            </a:r>
            <a:endParaRPr lang="zh-CN" altLang="en-US" sz="2000" dirty="0"/>
          </a:p>
        </p:txBody>
      </p:sp>
      <p:sp>
        <p:nvSpPr>
          <p:cNvPr id="2" name="灯片编号占位符 1">
            <a:extLst>
              <a:ext uri="{FF2B5EF4-FFF2-40B4-BE49-F238E27FC236}">
                <a16:creationId xmlns:a16="http://schemas.microsoft.com/office/drawing/2014/main" id="{2BA9540B-0BC7-6A89-53BB-74DEC2E56329}"/>
              </a:ext>
            </a:extLst>
          </p:cNvPr>
          <p:cNvSpPr>
            <a:spLocks noGrp="1"/>
          </p:cNvSpPr>
          <p:nvPr>
            <p:ph type="sldNum" sz="quarter" idx="11"/>
          </p:nvPr>
        </p:nvSpPr>
        <p:spPr/>
        <p:txBody>
          <a:bodyPr/>
          <a:lstStyle/>
          <a:p>
            <a:pPr>
              <a:defRPr/>
            </a:pPr>
            <a:fld id="{B77A47BA-BA63-4780-94A9-8AFA2EA4438D}" type="slidenum">
              <a:rPr lang="en-US" altLang="zh-CN" smtClean="0"/>
              <a:pPr>
                <a:defRPr/>
              </a:pPr>
              <a:t>26</a:t>
            </a:fld>
            <a:endParaRPr lang="en-US" altLang="zh-CN"/>
          </a:p>
        </p:txBody>
      </p:sp>
    </p:spTree>
    <p:extLst>
      <p:ext uri="{BB962C8B-B14F-4D97-AF65-F5344CB8AC3E}">
        <p14:creationId xmlns:p14="http://schemas.microsoft.com/office/powerpoint/2010/main" val="5949729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left)">
                                      <p:cBhvr>
                                        <p:cTn id="7" dur="500"/>
                                        <p:tgtEl>
                                          <p:spTgt spid="9219">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animEffect transition="in" filter="wipe(left)">
                                      <p:cBhvr>
                                        <p:cTn id="11"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DA575-6FD0-FB8B-6D30-7D5659573650}"/>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4B38255B-18CC-9A28-95EF-DEC8C14CFBF9}"/>
              </a:ext>
            </a:extLst>
          </p:cNvPr>
          <p:cNvSpPr>
            <a:spLocks noGrp="1" noChangeArrowheads="1"/>
          </p:cNvSpPr>
          <p:nvPr>
            <p:ph type="title" idx="4294967295"/>
          </p:nvPr>
        </p:nvSpPr>
        <p:spPr>
          <a:xfrm>
            <a:off x="1981200" y="260648"/>
            <a:ext cx="8229600" cy="1100138"/>
          </a:xfrm>
        </p:spPr>
        <p:txBody>
          <a:bodyPr/>
          <a:lstStyle/>
          <a:p>
            <a:pPr algn="ctr" eaLnBrk="1" hangingPunct="1"/>
            <a:r>
              <a:rPr lang="en-US" altLang="zh-CN" sz="4500" dirty="0">
                <a:solidFill>
                  <a:srgbClr val="008000"/>
                </a:solidFill>
                <a:latin typeface="Comic Sans MS" panose="030F0702030302020204" pitchFamily="66" charset="0"/>
                <a:ea typeface="黑体" panose="02010609060101010101" pitchFamily="49" charset="-122"/>
              </a:rPr>
              <a:t>ANFIS</a:t>
            </a:r>
            <a:r>
              <a:rPr lang="zh-CN" altLang="en-US" sz="4500" dirty="0">
                <a:solidFill>
                  <a:srgbClr val="008000"/>
                </a:solidFill>
                <a:latin typeface="Comic Sans MS" panose="030F0702030302020204" pitchFamily="66" charset="0"/>
                <a:ea typeface="黑体" panose="02010609060101010101" pitchFamily="49" charset="-122"/>
              </a:rPr>
              <a:t>结构</a:t>
            </a:r>
          </a:p>
        </p:txBody>
      </p:sp>
      <p:sp>
        <p:nvSpPr>
          <p:cNvPr id="9219" name="Rectangle 3">
            <a:extLst>
              <a:ext uri="{FF2B5EF4-FFF2-40B4-BE49-F238E27FC236}">
                <a16:creationId xmlns:a16="http://schemas.microsoft.com/office/drawing/2014/main" id="{05852D08-EAA0-6175-2DD9-769D577F8C73}"/>
              </a:ext>
            </a:extLst>
          </p:cNvPr>
          <p:cNvSpPr>
            <a:spLocks noGrp="1" noChangeArrowheads="1"/>
          </p:cNvSpPr>
          <p:nvPr>
            <p:ph type="body" idx="4294967295"/>
          </p:nvPr>
        </p:nvSpPr>
        <p:spPr>
          <a:xfrm>
            <a:off x="1127448" y="4653584"/>
            <a:ext cx="10009112" cy="1917700"/>
          </a:xfrm>
          <a:solidFill>
            <a:schemeClr val="accent5"/>
          </a:solidFill>
        </p:spPr>
        <p:txBody>
          <a:bodyPr/>
          <a:lstStyle/>
          <a:p>
            <a:pPr eaLnBrk="1" hangingPunct="1"/>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a:t>
            </a:r>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层：规则激活层</a:t>
            </a:r>
            <a:endParaRPr lang="en-US" altLang="zh-CN"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857250" lvl="1" indent="-457200">
              <a:buFont typeface="Wingdings" panose="05000000000000000000" pitchFamily="2" charset="2"/>
              <a:buChar char="p"/>
            </a:pPr>
            <a:r>
              <a:rPr lang="en-US" altLang="zh-CN" sz="3200" dirty="0" err="1">
                <a:solidFill>
                  <a:schemeClr val="tx2"/>
                </a:solidFill>
                <a:latin typeface="黑体" panose="02010609060101010101" pitchFamily="49" charset="-122"/>
                <a:ea typeface="黑体" panose="02010609060101010101" pitchFamily="49" charset="-122"/>
                <a:cs typeface="Noto Sans SC"/>
                <a:sym typeface="Noto Sans SC"/>
              </a:rPr>
              <a:t>实现模糊规则前提部分的匹配，计算每条模糊规则的激活强度</a:t>
            </a:r>
            <a:r>
              <a:rPr lang="en-US" altLang="zh-CN" sz="3200" dirty="0">
                <a:solidFill>
                  <a:schemeClr val="tx2"/>
                </a:solidFill>
                <a:latin typeface="黑体" panose="02010609060101010101" pitchFamily="49" charset="-122"/>
                <a:ea typeface="黑体" panose="02010609060101010101" pitchFamily="49" charset="-122"/>
                <a:cs typeface="Noto Sans SC"/>
                <a:sym typeface="Noto Sans SC"/>
              </a:rPr>
              <a:t>。</a:t>
            </a:r>
          </a:p>
        </p:txBody>
      </p:sp>
      <p:grpSp>
        <p:nvGrpSpPr>
          <p:cNvPr id="9220" name="Group 4">
            <a:extLst>
              <a:ext uri="{FF2B5EF4-FFF2-40B4-BE49-F238E27FC236}">
                <a16:creationId xmlns:a16="http://schemas.microsoft.com/office/drawing/2014/main" id="{1CD2909D-E5C3-2178-6B0F-EE2CEBCF8E1C}"/>
              </a:ext>
            </a:extLst>
          </p:cNvPr>
          <p:cNvGrpSpPr>
            <a:grpSpLocks/>
          </p:cNvGrpSpPr>
          <p:nvPr/>
        </p:nvGrpSpPr>
        <p:grpSpPr bwMode="auto">
          <a:xfrm>
            <a:off x="2063759" y="1529705"/>
            <a:ext cx="8353425" cy="2619375"/>
            <a:chOff x="0" y="0"/>
            <a:chExt cx="4853" cy="2002"/>
          </a:xfrm>
        </p:grpSpPr>
        <p:sp>
          <p:nvSpPr>
            <p:cNvPr id="9221" name="Rectangle 5">
              <a:extLst>
                <a:ext uri="{FF2B5EF4-FFF2-40B4-BE49-F238E27FC236}">
                  <a16:creationId xmlns:a16="http://schemas.microsoft.com/office/drawing/2014/main" id="{127FF8DD-8B67-0DBF-9868-AE628DD6E36D}"/>
                </a:ext>
              </a:extLst>
            </p:cNvPr>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9222" name="Rectangle 6">
              <a:extLst>
                <a:ext uri="{FF2B5EF4-FFF2-40B4-BE49-F238E27FC236}">
                  <a16:creationId xmlns:a16="http://schemas.microsoft.com/office/drawing/2014/main" id="{FD507D18-BDC1-8C4C-81EE-FB0B53FCF0A6}"/>
                </a:ext>
              </a:extLst>
            </p:cNvPr>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9223" name="Rectangle 7">
              <a:extLst>
                <a:ext uri="{FF2B5EF4-FFF2-40B4-BE49-F238E27FC236}">
                  <a16:creationId xmlns:a16="http://schemas.microsoft.com/office/drawing/2014/main" id="{EE2D02AB-E74C-79BD-7EDD-ECF955967202}"/>
                </a:ext>
              </a:extLst>
            </p:cNvPr>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9224" name="Rectangle 8">
              <a:extLst>
                <a:ext uri="{FF2B5EF4-FFF2-40B4-BE49-F238E27FC236}">
                  <a16:creationId xmlns:a16="http://schemas.microsoft.com/office/drawing/2014/main" id="{96025F1C-CD56-729B-1354-A1E84273EAC3}"/>
                </a:ext>
              </a:extLst>
            </p:cNvPr>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9225" name="Oval 9">
              <a:extLst>
                <a:ext uri="{FF2B5EF4-FFF2-40B4-BE49-F238E27FC236}">
                  <a16:creationId xmlns:a16="http://schemas.microsoft.com/office/drawing/2014/main" id="{22F59F0E-7C03-D399-11D4-10668D92AEFF}"/>
                </a:ext>
              </a:extLst>
            </p:cNvPr>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226" name="Rectangle 10">
              <a:extLst>
                <a:ext uri="{FF2B5EF4-FFF2-40B4-BE49-F238E27FC236}">
                  <a16:creationId xmlns:a16="http://schemas.microsoft.com/office/drawing/2014/main" id="{E7650609-E797-6DE4-8756-F5314ED6EF9D}"/>
                </a:ext>
              </a:extLst>
            </p:cNvPr>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227" name="Rectangle 11">
              <a:extLst>
                <a:ext uri="{FF2B5EF4-FFF2-40B4-BE49-F238E27FC236}">
                  <a16:creationId xmlns:a16="http://schemas.microsoft.com/office/drawing/2014/main" id="{91E059B3-3E32-F487-267E-0D582EE6D5DB}"/>
                </a:ext>
              </a:extLst>
            </p:cNvPr>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228" name="Oval 12">
              <a:extLst>
                <a:ext uri="{FF2B5EF4-FFF2-40B4-BE49-F238E27FC236}">
                  <a16:creationId xmlns:a16="http://schemas.microsoft.com/office/drawing/2014/main" id="{A6A7D295-B0AC-FA0B-1069-9CF1CA2BB649}"/>
                </a:ext>
              </a:extLst>
            </p:cNvPr>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229" name="Oval 13">
              <a:extLst>
                <a:ext uri="{FF2B5EF4-FFF2-40B4-BE49-F238E27FC236}">
                  <a16:creationId xmlns:a16="http://schemas.microsoft.com/office/drawing/2014/main" id="{FF2E189F-E841-03B6-928D-281A3748F565}"/>
                </a:ext>
              </a:extLst>
            </p:cNvPr>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9230" name="Oval 14">
              <a:extLst>
                <a:ext uri="{FF2B5EF4-FFF2-40B4-BE49-F238E27FC236}">
                  <a16:creationId xmlns:a16="http://schemas.microsoft.com/office/drawing/2014/main" id="{EDEC0DB2-D09D-A6D2-ED6F-8344327BEE67}"/>
                </a:ext>
              </a:extLst>
            </p:cNvPr>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9231" name="Oval 15">
              <a:extLst>
                <a:ext uri="{FF2B5EF4-FFF2-40B4-BE49-F238E27FC236}">
                  <a16:creationId xmlns:a16="http://schemas.microsoft.com/office/drawing/2014/main" id="{CF476A35-73D7-2257-16A8-9DD1E5FB2F58}"/>
                </a:ext>
              </a:extLst>
            </p:cNvPr>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9232" name="Text Box 16">
              <a:extLst>
                <a:ext uri="{FF2B5EF4-FFF2-40B4-BE49-F238E27FC236}">
                  <a16:creationId xmlns:a16="http://schemas.microsoft.com/office/drawing/2014/main" id="{51E04F6B-0E8C-C1F0-F319-80663BEC955B}"/>
                </a:ext>
              </a:extLst>
            </p:cNvPr>
            <p:cNvSpPr txBox="1">
              <a:spLocks noChangeArrowheads="1"/>
            </p:cNvSpPr>
            <p:nvPr/>
          </p:nvSpPr>
          <p:spPr bwMode="auto">
            <a:xfrm>
              <a:off x="0" y="544"/>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9233" name="Text Box 17">
              <a:extLst>
                <a:ext uri="{FF2B5EF4-FFF2-40B4-BE49-F238E27FC236}">
                  <a16:creationId xmlns:a16="http://schemas.microsoft.com/office/drawing/2014/main" id="{0EC8BC60-0796-8AC9-358B-91005B28AD76}"/>
                </a:ext>
              </a:extLst>
            </p:cNvPr>
            <p:cNvSpPr txBox="1">
              <a:spLocks noChangeArrowheads="1"/>
            </p:cNvSpPr>
            <p:nvPr/>
          </p:nvSpPr>
          <p:spPr bwMode="auto">
            <a:xfrm>
              <a:off x="0" y="1451"/>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9234" name="Line 18">
              <a:extLst>
                <a:ext uri="{FF2B5EF4-FFF2-40B4-BE49-F238E27FC236}">
                  <a16:creationId xmlns:a16="http://schemas.microsoft.com/office/drawing/2014/main" id="{9E98526F-CE50-B207-2B3D-B06EE7887854}"/>
                </a:ext>
              </a:extLst>
            </p:cNvPr>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5" name="Line 19">
              <a:extLst>
                <a:ext uri="{FF2B5EF4-FFF2-40B4-BE49-F238E27FC236}">
                  <a16:creationId xmlns:a16="http://schemas.microsoft.com/office/drawing/2014/main" id="{03FF11CC-CD0B-1328-8BC4-E1836F272092}"/>
                </a:ext>
              </a:extLst>
            </p:cNvPr>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6" name="Line 20">
              <a:extLst>
                <a:ext uri="{FF2B5EF4-FFF2-40B4-BE49-F238E27FC236}">
                  <a16:creationId xmlns:a16="http://schemas.microsoft.com/office/drawing/2014/main" id="{E1F38944-729D-7B78-3CB1-14123741A177}"/>
                </a:ext>
              </a:extLst>
            </p:cNvPr>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7" name="Line 21">
              <a:extLst>
                <a:ext uri="{FF2B5EF4-FFF2-40B4-BE49-F238E27FC236}">
                  <a16:creationId xmlns:a16="http://schemas.microsoft.com/office/drawing/2014/main" id="{FFAFE03C-B0B8-C25B-30F1-6BB3D73E1193}"/>
                </a:ext>
              </a:extLst>
            </p:cNvPr>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8" name="Line 22">
              <a:extLst>
                <a:ext uri="{FF2B5EF4-FFF2-40B4-BE49-F238E27FC236}">
                  <a16:creationId xmlns:a16="http://schemas.microsoft.com/office/drawing/2014/main" id="{29521233-C75C-0081-EADD-3F055EE4EDB9}"/>
                </a:ext>
              </a:extLst>
            </p:cNvPr>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9" name="Line 23">
              <a:extLst>
                <a:ext uri="{FF2B5EF4-FFF2-40B4-BE49-F238E27FC236}">
                  <a16:creationId xmlns:a16="http://schemas.microsoft.com/office/drawing/2014/main" id="{A51E6F88-711D-05B6-02E0-F3AA7566F9C5}"/>
                </a:ext>
              </a:extLst>
            </p:cNvPr>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0" name="Line 24">
              <a:extLst>
                <a:ext uri="{FF2B5EF4-FFF2-40B4-BE49-F238E27FC236}">
                  <a16:creationId xmlns:a16="http://schemas.microsoft.com/office/drawing/2014/main" id="{9DA997CB-7B03-26D2-9203-F553289B4078}"/>
                </a:ext>
              </a:extLst>
            </p:cNvPr>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1" name="Line 25">
              <a:extLst>
                <a:ext uri="{FF2B5EF4-FFF2-40B4-BE49-F238E27FC236}">
                  <a16:creationId xmlns:a16="http://schemas.microsoft.com/office/drawing/2014/main" id="{31337610-5BB8-E1A9-97DF-2AB6E9D8ED71}"/>
                </a:ext>
              </a:extLst>
            </p:cNvPr>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2" name="Line 26">
              <a:extLst>
                <a:ext uri="{FF2B5EF4-FFF2-40B4-BE49-F238E27FC236}">
                  <a16:creationId xmlns:a16="http://schemas.microsoft.com/office/drawing/2014/main" id="{E5B100A5-5514-CD0F-54C6-0A01F4A24AF7}"/>
                </a:ext>
              </a:extLst>
            </p:cNvPr>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3" name="Line 27">
              <a:extLst>
                <a:ext uri="{FF2B5EF4-FFF2-40B4-BE49-F238E27FC236}">
                  <a16:creationId xmlns:a16="http://schemas.microsoft.com/office/drawing/2014/main" id="{5EFE1313-B3AE-E9EC-0556-5F944580232C}"/>
                </a:ext>
              </a:extLst>
            </p:cNvPr>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4" name="Line 28">
              <a:extLst>
                <a:ext uri="{FF2B5EF4-FFF2-40B4-BE49-F238E27FC236}">
                  <a16:creationId xmlns:a16="http://schemas.microsoft.com/office/drawing/2014/main" id="{05E654DF-F6A6-8AC4-9F5D-B90F2C1442BC}"/>
                </a:ext>
              </a:extLst>
            </p:cNvPr>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5" name="Line 29">
              <a:extLst>
                <a:ext uri="{FF2B5EF4-FFF2-40B4-BE49-F238E27FC236}">
                  <a16:creationId xmlns:a16="http://schemas.microsoft.com/office/drawing/2014/main" id="{060305FC-C3FC-CF10-8FEF-DDB698C06FC5}"/>
                </a:ext>
              </a:extLst>
            </p:cNvPr>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6" name="Line 30">
              <a:extLst>
                <a:ext uri="{FF2B5EF4-FFF2-40B4-BE49-F238E27FC236}">
                  <a16:creationId xmlns:a16="http://schemas.microsoft.com/office/drawing/2014/main" id="{F90C4E31-8F6B-69AC-EE92-E2A496E210A4}"/>
                </a:ext>
              </a:extLst>
            </p:cNvPr>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7" name="Line 31">
              <a:extLst>
                <a:ext uri="{FF2B5EF4-FFF2-40B4-BE49-F238E27FC236}">
                  <a16:creationId xmlns:a16="http://schemas.microsoft.com/office/drawing/2014/main" id="{0AFAAD63-1B9E-227C-5FC2-4CAEE33FE0FF}"/>
                </a:ext>
              </a:extLst>
            </p:cNvPr>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8" name="Line 32">
              <a:extLst>
                <a:ext uri="{FF2B5EF4-FFF2-40B4-BE49-F238E27FC236}">
                  <a16:creationId xmlns:a16="http://schemas.microsoft.com/office/drawing/2014/main" id="{B5735C5A-542A-4D92-BCBA-0E625FF6AAB4}"/>
                </a:ext>
              </a:extLst>
            </p:cNvPr>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9" name="Line 33">
              <a:extLst>
                <a:ext uri="{FF2B5EF4-FFF2-40B4-BE49-F238E27FC236}">
                  <a16:creationId xmlns:a16="http://schemas.microsoft.com/office/drawing/2014/main" id="{4BA4089B-C10A-3CBB-AAF1-2ACD2A774B74}"/>
                </a:ext>
              </a:extLst>
            </p:cNvPr>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0" name="Line 34">
              <a:extLst>
                <a:ext uri="{FF2B5EF4-FFF2-40B4-BE49-F238E27FC236}">
                  <a16:creationId xmlns:a16="http://schemas.microsoft.com/office/drawing/2014/main" id="{664B69C0-3223-6EF6-32A9-AA5035242CAC}"/>
                </a:ext>
              </a:extLst>
            </p:cNvPr>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1" name="Text Box 35">
              <a:extLst>
                <a:ext uri="{FF2B5EF4-FFF2-40B4-BE49-F238E27FC236}">
                  <a16:creationId xmlns:a16="http://schemas.microsoft.com/office/drawing/2014/main" id="{A4C4F54C-C6FE-37DD-4797-EBF73F355D36}"/>
                </a:ext>
              </a:extLst>
            </p:cNvPr>
            <p:cNvSpPr txBox="1">
              <a:spLocks noChangeArrowheads="1"/>
            </p:cNvSpPr>
            <p:nvPr/>
          </p:nvSpPr>
          <p:spPr bwMode="auto">
            <a:xfrm>
              <a:off x="680"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1</a:t>
              </a:r>
              <a:r>
                <a:rPr lang="zh-CN" altLang="en-US" b="1">
                  <a:ea typeface="楷体_GB2312" pitchFamily="49" charset="-122"/>
                </a:rPr>
                <a:t>层</a:t>
              </a:r>
            </a:p>
          </p:txBody>
        </p:sp>
        <p:sp>
          <p:nvSpPr>
            <p:cNvPr id="9252" name="Text Box 36">
              <a:extLst>
                <a:ext uri="{FF2B5EF4-FFF2-40B4-BE49-F238E27FC236}">
                  <a16:creationId xmlns:a16="http://schemas.microsoft.com/office/drawing/2014/main" id="{BFFBDBA9-25E1-567B-0EFF-679C3CC49353}"/>
                </a:ext>
              </a:extLst>
            </p:cNvPr>
            <p:cNvSpPr txBox="1">
              <a:spLocks noChangeArrowheads="1"/>
            </p:cNvSpPr>
            <p:nvPr/>
          </p:nvSpPr>
          <p:spPr bwMode="auto">
            <a:xfrm>
              <a:off x="1542"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0000"/>
                  </a:solidFill>
                  <a:ea typeface="楷体_GB2312" pitchFamily="49" charset="-122"/>
                </a:rPr>
                <a:t>第</a:t>
              </a:r>
              <a:r>
                <a:rPr lang="en-US" altLang="zh-CN" b="1" dirty="0">
                  <a:solidFill>
                    <a:srgbClr val="FF0000"/>
                  </a:solidFill>
                  <a:ea typeface="楷体_GB2312" pitchFamily="49" charset="-122"/>
                </a:rPr>
                <a:t>2</a:t>
              </a:r>
              <a:r>
                <a:rPr lang="zh-CN" altLang="en-US" b="1" dirty="0">
                  <a:solidFill>
                    <a:srgbClr val="FF0000"/>
                  </a:solidFill>
                  <a:ea typeface="楷体_GB2312" pitchFamily="49" charset="-122"/>
                </a:rPr>
                <a:t>层</a:t>
              </a:r>
            </a:p>
          </p:txBody>
        </p:sp>
        <p:sp>
          <p:nvSpPr>
            <p:cNvPr id="9253" name="Text Box 37">
              <a:extLst>
                <a:ext uri="{FF2B5EF4-FFF2-40B4-BE49-F238E27FC236}">
                  <a16:creationId xmlns:a16="http://schemas.microsoft.com/office/drawing/2014/main" id="{D9B04F31-6405-28A3-D206-02106706BF6B}"/>
                </a:ext>
              </a:extLst>
            </p:cNvPr>
            <p:cNvSpPr txBox="1">
              <a:spLocks noChangeArrowheads="1"/>
            </p:cNvSpPr>
            <p:nvPr/>
          </p:nvSpPr>
          <p:spPr bwMode="auto">
            <a:xfrm>
              <a:off x="2449"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3</a:t>
              </a:r>
              <a:r>
                <a:rPr lang="zh-CN" altLang="en-US" b="1">
                  <a:ea typeface="楷体_GB2312" pitchFamily="49" charset="-122"/>
                </a:rPr>
                <a:t>层</a:t>
              </a:r>
            </a:p>
          </p:txBody>
        </p:sp>
        <p:sp>
          <p:nvSpPr>
            <p:cNvPr id="9254" name="Text Box 38">
              <a:extLst>
                <a:ext uri="{FF2B5EF4-FFF2-40B4-BE49-F238E27FC236}">
                  <a16:creationId xmlns:a16="http://schemas.microsoft.com/office/drawing/2014/main" id="{ABF90B5D-2B23-7AA3-D2F9-A47B0DD953DF}"/>
                </a:ext>
              </a:extLst>
            </p:cNvPr>
            <p:cNvSpPr txBox="1">
              <a:spLocks noChangeArrowheads="1"/>
            </p:cNvSpPr>
            <p:nvPr/>
          </p:nvSpPr>
          <p:spPr bwMode="auto">
            <a:xfrm>
              <a:off x="3175"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4</a:t>
              </a:r>
              <a:r>
                <a:rPr lang="zh-CN" altLang="en-US" b="1">
                  <a:ea typeface="楷体_GB2312" pitchFamily="49" charset="-122"/>
                </a:rPr>
                <a:t>层</a:t>
              </a:r>
            </a:p>
          </p:txBody>
        </p:sp>
        <p:sp>
          <p:nvSpPr>
            <p:cNvPr id="9255" name="Text Box 39">
              <a:extLst>
                <a:ext uri="{FF2B5EF4-FFF2-40B4-BE49-F238E27FC236}">
                  <a16:creationId xmlns:a16="http://schemas.microsoft.com/office/drawing/2014/main" id="{53635ACD-CAE0-D901-7CF5-925FD2C784CB}"/>
                </a:ext>
              </a:extLst>
            </p:cNvPr>
            <p:cNvSpPr txBox="1">
              <a:spLocks noChangeArrowheads="1"/>
            </p:cNvSpPr>
            <p:nvPr/>
          </p:nvSpPr>
          <p:spPr bwMode="auto">
            <a:xfrm>
              <a:off x="3901"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5</a:t>
              </a:r>
              <a:r>
                <a:rPr lang="zh-CN" altLang="en-US" b="1">
                  <a:ea typeface="楷体_GB2312" pitchFamily="49" charset="-122"/>
                </a:rPr>
                <a:t>层</a:t>
              </a:r>
            </a:p>
          </p:txBody>
        </p:sp>
        <p:sp>
          <p:nvSpPr>
            <p:cNvPr id="9256" name="Text Box 40">
              <a:extLst>
                <a:ext uri="{FF2B5EF4-FFF2-40B4-BE49-F238E27FC236}">
                  <a16:creationId xmlns:a16="http://schemas.microsoft.com/office/drawing/2014/main" id="{BFC5474F-C004-CB02-C5B6-C2E69159DD08}"/>
                </a:ext>
              </a:extLst>
            </p:cNvPr>
            <p:cNvSpPr txBox="1">
              <a:spLocks noChangeArrowheads="1"/>
            </p:cNvSpPr>
            <p:nvPr/>
          </p:nvSpPr>
          <p:spPr bwMode="auto">
            <a:xfrm>
              <a:off x="1950" y="588"/>
              <a:ext cx="362"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9257" name="Text Box 41">
              <a:extLst>
                <a:ext uri="{FF2B5EF4-FFF2-40B4-BE49-F238E27FC236}">
                  <a16:creationId xmlns:a16="http://schemas.microsoft.com/office/drawing/2014/main" id="{205514D6-5115-0BC8-1AD3-148BD06338F1}"/>
                </a:ext>
              </a:extLst>
            </p:cNvPr>
            <p:cNvSpPr txBox="1">
              <a:spLocks noChangeArrowheads="1"/>
            </p:cNvSpPr>
            <p:nvPr/>
          </p:nvSpPr>
          <p:spPr bwMode="auto">
            <a:xfrm>
              <a:off x="1950" y="1451"/>
              <a:ext cx="36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9258" name="Text Box 42">
              <a:extLst>
                <a:ext uri="{FF2B5EF4-FFF2-40B4-BE49-F238E27FC236}">
                  <a16:creationId xmlns:a16="http://schemas.microsoft.com/office/drawing/2014/main" id="{69802959-2F84-F991-6964-84F396AA3F59}"/>
                </a:ext>
              </a:extLst>
            </p:cNvPr>
            <p:cNvSpPr txBox="1">
              <a:spLocks noChangeArrowheads="1"/>
            </p:cNvSpPr>
            <p:nvPr/>
          </p:nvSpPr>
          <p:spPr bwMode="auto">
            <a:xfrm>
              <a:off x="2767" y="635"/>
              <a:ext cx="36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dirty="0"/>
                <a:t>W</a:t>
              </a:r>
              <a:r>
                <a:rPr lang="en-US" altLang="zh-CN" u="sng" baseline="-25000" dirty="0"/>
                <a:t>1</a:t>
              </a:r>
            </a:p>
          </p:txBody>
        </p:sp>
        <p:sp>
          <p:nvSpPr>
            <p:cNvPr id="9259" name="Text Box 43">
              <a:extLst>
                <a:ext uri="{FF2B5EF4-FFF2-40B4-BE49-F238E27FC236}">
                  <a16:creationId xmlns:a16="http://schemas.microsoft.com/office/drawing/2014/main" id="{B9F1A459-ECB8-47F6-609F-B3F1819CCBB7}"/>
                </a:ext>
              </a:extLst>
            </p:cNvPr>
            <p:cNvSpPr txBox="1">
              <a:spLocks noChangeArrowheads="1"/>
            </p:cNvSpPr>
            <p:nvPr/>
          </p:nvSpPr>
          <p:spPr bwMode="auto">
            <a:xfrm>
              <a:off x="2767" y="1497"/>
              <a:ext cx="36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9260" name="Text Box 44">
              <a:extLst>
                <a:ext uri="{FF2B5EF4-FFF2-40B4-BE49-F238E27FC236}">
                  <a16:creationId xmlns:a16="http://schemas.microsoft.com/office/drawing/2014/main" id="{D6FBF924-1E13-30AB-E1FC-58CE3C8D162C}"/>
                </a:ext>
              </a:extLst>
            </p:cNvPr>
            <p:cNvSpPr txBox="1">
              <a:spLocks noChangeArrowheads="1"/>
            </p:cNvSpPr>
            <p:nvPr/>
          </p:nvSpPr>
          <p:spPr bwMode="auto">
            <a:xfrm>
              <a:off x="3674" y="544"/>
              <a:ext cx="54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9261" name="Text Box 45">
              <a:extLst>
                <a:ext uri="{FF2B5EF4-FFF2-40B4-BE49-F238E27FC236}">
                  <a16:creationId xmlns:a16="http://schemas.microsoft.com/office/drawing/2014/main" id="{2F52A967-44E6-68F4-4A66-ACFE994C6F66}"/>
                </a:ext>
              </a:extLst>
            </p:cNvPr>
            <p:cNvSpPr txBox="1">
              <a:spLocks noChangeArrowheads="1"/>
            </p:cNvSpPr>
            <p:nvPr/>
          </p:nvSpPr>
          <p:spPr bwMode="auto">
            <a:xfrm>
              <a:off x="3674" y="1406"/>
              <a:ext cx="54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9262" name="Text Box 46">
              <a:extLst>
                <a:ext uri="{FF2B5EF4-FFF2-40B4-BE49-F238E27FC236}">
                  <a16:creationId xmlns:a16="http://schemas.microsoft.com/office/drawing/2014/main" id="{065F64D7-EF56-F7FB-C517-216CF9ED5AA2}"/>
                </a:ext>
              </a:extLst>
            </p:cNvPr>
            <p:cNvSpPr txBox="1">
              <a:spLocks noChangeArrowheads="1"/>
            </p:cNvSpPr>
            <p:nvPr/>
          </p:nvSpPr>
          <p:spPr bwMode="auto">
            <a:xfrm>
              <a:off x="4626" y="997"/>
              <a:ext cx="227"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9263" name="Text Box 47">
              <a:extLst>
                <a:ext uri="{FF2B5EF4-FFF2-40B4-BE49-F238E27FC236}">
                  <a16:creationId xmlns:a16="http://schemas.microsoft.com/office/drawing/2014/main" id="{8C21D6B7-5E55-913F-F3BF-0D401875CF6D}"/>
                </a:ext>
              </a:extLst>
            </p:cNvPr>
            <p:cNvSpPr txBox="1">
              <a:spLocks noChangeArrowheads="1"/>
            </p:cNvSpPr>
            <p:nvPr/>
          </p:nvSpPr>
          <p:spPr bwMode="auto">
            <a:xfrm>
              <a:off x="3266" y="317"/>
              <a:ext cx="45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9264" name="Text Box 48">
              <a:extLst>
                <a:ext uri="{FF2B5EF4-FFF2-40B4-BE49-F238E27FC236}">
                  <a16:creationId xmlns:a16="http://schemas.microsoft.com/office/drawing/2014/main" id="{3D0828CF-7C83-9EE1-E69A-46CB12AA883D}"/>
                </a:ext>
              </a:extLst>
            </p:cNvPr>
            <p:cNvSpPr txBox="1">
              <a:spLocks noChangeArrowheads="1"/>
            </p:cNvSpPr>
            <p:nvPr/>
          </p:nvSpPr>
          <p:spPr bwMode="auto">
            <a:xfrm>
              <a:off x="3266" y="1722"/>
              <a:ext cx="408"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9265" name="Line 49">
              <a:extLst>
                <a:ext uri="{FF2B5EF4-FFF2-40B4-BE49-F238E27FC236}">
                  <a16:creationId xmlns:a16="http://schemas.microsoft.com/office/drawing/2014/main" id="{57A74812-CD19-FA08-D7F0-7DF6C69A5887}"/>
                </a:ext>
              </a:extLst>
            </p:cNvPr>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6" name="Line 50">
              <a:extLst>
                <a:ext uri="{FF2B5EF4-FFF2-40B4-BE49-F238E27FC236}">
                  <a16:creationId xmlns:a16="http://schemas.microsoft.com/office/drawing/2014/main" id="{BF5BB4E8-3E45-412B-FB91-68EFB48397EF}"/>
                </a:ext>
              </a:extLst>
            </p:cNvPr>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7" name="Line 51">
              <a:extLst>
                <a:ext uri="{FF2B5EF4-FFF2-40B4-BE49-F238E27FC236}">
                  <a16:creationId xmlns:a16="http://schemas.microsoft.com/office/drawing/2014/main" id="{F8FFE017-DC8D-1DD5-5567-742EC5B64747}"/>
                </a:ext>
              </a:extLst>
            </p:cNvPr>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8" name="Line 52">
              <a:extLst>
                <a:ext uri="{FF2B5EF4-FFF2-40B4-BE49-F238E27FC236}">
                  <a16:creationId xmlns:a16="http://schemas.microsoft.com/office/drawing/2014/main" id="{71B2856C-DBCF-55E8-B9BD-36FCC1E99A5E}"/>
                </a:ext>
              </a:extLst>
            </p:cNvPr>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文本框 2">
            <a:extLst>
              <a:ext uri="{FF2B5EF4-FFF2-40B4-BE49-F238E27FC236}">
                <a16:creationId xmlns:a16="http://schemas.microsoft.com/office/drawing/2014/main" id="{7CE5F38B-61C0-359F-3455-855660BBB78C}"/>
              </a:ext>
            </a:extLst>
          </p:cNvPr>
          <p:cNvSpPr txBox="1"/>
          <p:nvPr/>
        </p:nvSpPr>
        <p:spPr>
          <a:xfrm>
            <a:off x="3863752" y="1690009"/>
            <a:ext cx="698843" cy="2459071"/>
          </a:xfrm>
          <a:prstGeom prst="rect">
            <a:avLst/>
          </a:prstGeom>
          <a:noFill/>
        </p:spPr>
        <p:txBody>
          <a:bodyPr wrap="square" rtlCol="0">
            <a:spAutoFit/>
          </a:bodyPr>
          <a:lstStyle/>
          <a:p>
            <a:pPr>
              <a:lnSpc>
                <a:spcPct val="200000"/>
              </a:lnSpc>
            </a:pPr>
            <a:r>
              <a:rPr lang="en-US" altLang="zh-CN" sz="2000" b="1" i="1" dirty="0"/>
              <a:t>O</a:t>
            </a:r>
            <a:r>
              <a:rPr lang="en-US" altLang="zh-CN" sz="2000" b="1" baseline="-25000" dirty="0"/>
              <a:t>1,1</a:t>
            </a:r>
          </a:p>
          <a:p>
            <a:pPr>
              <a:lnSpc>
                <a:spcPct val="200000"/>
              </a:lnSpc>
            </a:pPr>
            <a:r>
              <a:rPr lang="en-US" altLang="zh-CN" sz="2000" b="1" i="1" dirty="0"/>
              <a:t>O</a:t>
            </a:r>
            <a:r>
              <a:rPr lang="en-US" altLang="zh-CN" sz="2000" b="1" baseline="-25000" dirty="0"/>
              <a:t>1,2</a:t>
            </a:r>
            <a:endParaRPr lang="zh-CN" altLang="en-US" sz="2000" dirty="0"/>
          </a:p>
          <a:p>
            <a:pPr>
              <a:lnSpc>
                <a:spcPct val="200000"/>
              </a:lnSpc>
            </a:pPr>
            <a:r>
              <a:rPr lang="en-US" altLang="zh-CN" sz="2000" b="1" i="1" dirty="0"/>
              <a:t>O</a:t>
            </a:r>
            <a:r>
              <a:rPr lang="en-US" altLang="zh-CN" sz="2000" b="1" baseline="-25000" dirty="0"/>
              <a:t>1,3</a:t>
            </a:r>
            <a:endParaRPr lang="zh-CN" altLang="en-US" sz="2000" dirty="0"/>
          </a:p>
          <a:p>
            <a:pPr>
              <a:lnSpc>
                <a:spcPct val="200000"/>
              </a:lnSpc>
            </a:pPr>
            <a:r>
              <a:rPr lang="en-US" altLang="zh-CN" sz="2000" b="1" i="1" dirty="0"/>
              <a:t>O</a:t>
            </a:r>
            <a:r>
              <a:rPr lang="en-US" altLang="zh-CN" sz="2000" b="1" baseline="-25000" dirty="0"/>
              <a:t>1,4</a:t>
            </a:r>
            <a:endParaRPr lang="zh-CN" altLang="en-US" sz="2000" dirty="0"/>
          </a:p>
        </p:txBody>
      </p:sp>
      <p:sp>
        <p:nvSpPr>
          <p:cNvPr id="2" name="灯片编号占位符 1">
            <a:extLst>
              <a:ext uri="{FF2B5EF4-FFF2-40B4-BE49-F238E27FC236}">
                <a16:creationId xmlns:a16="http://schemas.microsoft.com/office/drawing/2014/main" id="{A35E2587-E5F5-EE3B-0B91-9D7B0B8B39C6}"/>
              </a:ext>
            </a:extLst>
          </p:cNvPr>
          <p:cNvSpPr>
            <a:spLocks noGrp="1"/>
          </p:cNvSpPr>
          <p:nvPr>
            <p:ph type="sldNum" sz="quarter" idx="11"/>
          </p:nvPr>
        </p:nvSpPr>
        <p:spPr/>
        <p:txBody>
          <a:bodyPr/>
          <a:lstStyle/>
          <a:p>
            <a:pPr>
              <a:defRPr/>
            </a:pPr>
            <a:fld id="{B77A47BA-BA63-4780-94A9-8AFA2EA4438D}" type="slidenum">
              <a:rPr lang="en-US" altLang="zh-CN" smtClean="0"/>
              <a:pPr>
                <a:defRPr/>
              </a:pPr>
              <a:t>27</a:t>
            </a:fld>
            <a:endParaRPr lang="en-US" altLang="zh-CN"/>
          </a:p>
        </p:txBody>
      </p:sp>
    </p:spTree>
    <p:extLst>
      <p:ext uri="{BB962C8B-B14F-4D97-AF65-F5344CB8AC3E}">
        <p14:creationId xmlns:p14="http://schemas.microsoft.com/office/powerpoint/2010/main" val="448962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left)">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left)">
                                      <p:cBhvr>
                                        <p:cTn id="12"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77D93-F6FA-E704-8ECE-15A3B3A32A59}"/>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4A4CF12E-0C42-D3E2-39C8-AA737D4C520E}"/>
              </a:ext>
            </a:extLst>
          </p:cNvPr>
          <p:cNvSpPr>
            <a:spLocks noGrp="1" noChangeArrowheads="1"/>
          </p:cNvSpPr>
          <p:nvPr>
            <p:ph type="title" idx="4294967295"/>
          </p:nvPr>
        </p:nvSpPr>
        <p:spPr>
          <a:xfrm>
            <a:off x="1981200" y="260648"/>
            <a:ext cx="8229600" cy="1100138"/>
          </a:xfrm>
        </p:spPr>
        <p:txBody>
          <a:bodyPr/>
          <a:lstStyle/>
          <a:p>
            <a:pPr algn="ctr" eaLnBrk="1" hangingPunct="1"/>
            <a:r>
              <a:rPr lang="en-US" altLang="zh-CN" sz="4500" dirty="0">
                <a:solidFill>
                  <a:srgbClr val="008000"/>
                </a:solidFill>
                <a:latin typeface="Comic Sans MS" panose="030F0702030302020204" pitchFamily="66" charset="0"/>
                <a:ea typeface="黑体" panose="02010609060101010101" pitchFamily="49" charset="-122"/>
              </a:rPr>
              <a:t>ANFIS</a:t>
            </a:r>
            <a:r>
              <a:rPr lang="zh-CN" altLang="en-US" sz="4500" dirty="0">
                <a:solidFill>
                  <a:srgbClr val="008000"/>
                </a:solidFill>
                <a:latin typeface="Comic Sans MS" panose="030F0702030302020204" pitchFamily="66" charset="0"/>
                <a:ea typeface="黑体" panose="02010609060101010101" pitchFamily="49" charset="-122"/>
              </a:rPr>
              <a:t>结构</a:t>
            </a:r>
          </a:p>
        </p:txBody>
      </p:sp>
      <p:sp>
        <p:nvSpPr>
          <p:cNvPr id="9219" name="Rectangle 3">
            <a:extLst>
              <a:ext uri="{FF2B5EF4-FFF2-40B4-BE49-F238E27FC236}">
                <a16:creationId xmlns:a16="http://schemas.microsoft.com/office/drawing/2014/main" id="{2E76A4EA-A26A-B298-9B4B-030026F61230}"/>
              </a:ext>
            </a:extLst>
          </p:cNvPr>
          <p:cNvSpPr>
            <a:spLocks noGrp="1" noChangeArrowheads="1"/>
          </p:cNvSpPr>
          <p:nvPr>
            <p:ph type="body" idx="4294967295"/>
          </p:nvPr>
        </p:nvSpPr>
        <p:spPr>
          <a:xfrm>
            <a:off x="1055440" y="4653583"/>
            <a:ext cx="10009112" cy="2204415"/>
          </a:xfrm>
          <a:solidFill>
            <a:schemeClr val="accent5"/>
          </a:solidFill>
        </p:spPr>
        <p:txBody>
          <a:bodyPr/>
          <a:lstStyle/>
          <a:p>
            <a:pPr eaLnBrk="1" hangingPunct="1"/>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3</a:t>
            </a:r>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层：归一化层</a:t>
            </a:r>
            <a:endParaRPr lang="en-US" altLang="zh-CN"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857250" lvl="1" indent="-457200">
              <a:buFont typeface="Wingdings" panose="05000000000000000000" pitchFamily="2" charset="2"/>
              <a:buChar char="p"/>
            </a:pPr>
            <a:r>
              <a:rPr lang="en-US" altLang="zh-CN" sz="3200" dirty="0" err="1">
                <a:solidFill>
                  <a:schemeClr val="tx2"/>
                </a:solidFill>
                <a:latin typeface="黑体" panose="02010609060101010101" pitchFamily="49" charset="-122"/>
                <a:ea typeface="黑体" panose="02010609060101010101" pitchFamily="49" charset="-122"/>
                <a:cs typeface="Noto Sans SC"/>
                <a:sym typeface="Noto Sans SC"/>
              </a:rPr>
              <a:t>对各规则的激活强度进行归一化处理，计算其占总激活强度的比重，以此衡量每条规则对最终输出的相对贡献</a:t>
            </a:r>
            <a:r>
              <a:rPr lang="zh-CN" altLang="en-US" sz="3200" dirty="0">
                <a:solidFill>
                  <a:schemeClr val="tx2"/>
                </a:solidFill>
                <a:latin typeface="黑体" panose="02010609060101010101" pitchFamily="49" charset="-122"/>
                <a:ea typeface="黑体" panose="02010609060101010101" pitchFamily="49" charset="-122"/>
                <a:cs typeface="Noto Sans SC"/>
                <a:sym typeface="Noto Sans SC"/>
              </a:rPr>
              <a:t>。</a:t>
            </a:r>
            <a:endParaRPr lang="en-US" altLang="zh-CN" sz="3200" dirty="0">
              <a:solidFill>
                <a:schemeClr val="tx2"/>
              </a:solidFill>
              <a:latin typeface="黑体" panose="02010609060101010101" pitchFamily="49" charset="-122"/>
              <a:ea typeface="黑体" panose="02010609060101010101" pitchFamily="49" charset="-122"/>
              <a:cs typeface="Noto Sans SC"/>
              <a:sym typeface="Noto Sans SC"/>
            </a:endParaRPr>
          </a:p>
        </p:txBody>
      </p:sp>
      <p:grpSp>
        <p:nvGrpSpPr>
          <p:cNvPr id="9220" name="Group 4">
            <a:extLst>
              <a:ext uri="{FF2B5EF4-FFF2-40B4-BE49-F238E27FC236}">
                <a16:creationId xmlns:a16="http://schemas.microsoft.com/office/drawing/2014/main" id="{0C4478D8-6DFE-41A9-28A2-FDBA8B8ACEC7}"/>
              </a:ext>
            </a:extLst>
          </p:cNvPr>
          <p:cNvGrpSpPr>
            <a:grpSpLocks/>
          </p:cNvGrpSpPr>
          <p:nvPr/>
        </p:nvGrpSpPr>
        <p:grpSpPr bwMode="auto">
          <a:xfrm>
            <a:off x="2063759" y="1529705"/>
            <a:ext cx="8353425" cy="2619375"/>
            <a:chOff x="0" y="0"/>
            <a:chExt cx="4853" cy="2002"/>
          </a:xfrm>
        </p:grpSpPr>
        <p:sp>
          <p:nvSpPr>
            <p:cNvPr id="9221" name="Rectangle 5">
              <a:extLst>
                <a:ext uri="{FF2B5EF4-FFF2-40B4-BE49-F238E27FC236}">
                  <a16:creationId xmlns:a16="http://schemas.microsoft.com/office/drawing/2014/main" id="{4E9FEB8A-588C-36D3-BEC5-782118EE47A0}"/>
                </a:ext>
              </a:extLst>
            </p:cNvPr>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9222" name="Rectangle 6">
              <a:extLst>
                <a:ext uri="{FF2B5EF4-FFF2-40B4-BE49-F238E27FC236}">
                  <a16:creationId xmlns:a16="http://schemas.microsoft.com/office/drawing/2014/main" id="{F6C4A3D8-7A08-D1DE-FA09-080098BDFBAD}"/>
                </a:ext>
              </a:extLst>
            </p:cNvPr>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9223" name="Rectangle 7">
              <a:extLst>
                <a:ext uri="{FF2B5EF4-FFF2-40B4-BE49-F238E27FC236}">
                  <a16:creationId xmlns:a16="http://schemas.microsoft.com/office/drawing/2014/main" id="{EACBC844-B6AF-7EC6-A854-CC3EB6860EDE}"/>
                </a:ext>
              </a:extLst>
            </p:cNvPr>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9224" name="Rectangle 8">
              <a:extLst>
                <a:ext uri="{FF2B5EF4-FFF2-40B4-BE49-F238E27FC236}">
                  <a16:creationId xmlns:a16="http://schemas.microsoft.com/office/drawing/2014/main" id="{C06CEF78-4BA5-3A92-783D-6AC82A15E0A9}"/>
                </a:ext>
              </a:extLst>
            </p:cNvPr>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9225" name="Oval 9">
              <a:extLst>
                <a:ext uri="{FF2B5EF4-FFF2-40B4-BE49-F238E27FC236}">
                  <a16:creationId xmlns:a16="http://schemas.microsoft.com/office/drawing/2014/main" id="{B1D90A80-8080-0EF9-6B25-DCB6419B4F25}"/>
                </a:ext>
              </a:extLst>
            </p:cNvPr>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226" name="Rectangle 10">
              <a:extLst>
                <a:ext uri="{FF2B5EF4-FFF2-40B4-BE49-F238E27FC236}">
                  <a16:creationId xmlns:a16="http://schemas.microsoft.com/office/drawing/2014/main" id="{3385B837-21D2-D76F-F604-4C915EAC46F4}"/>
                </a:ext>
              </a:extLst>
            </p:cNvPr>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227" name="Rectangle 11">
              <a:extLst>
                <a:ext uri="{FF2B5EF4-FFF2-40B4-BE49-F238E27FC236}">
                  <a16:creationId xmlns:a16="http://schemas.microsoft.com/office/drawing/2014/main" id="{61D17999-7943-A9EB-1E87-69BABD3E7D5F}"/>
                </a:ext>
              </a:extLst>
            </p:cNvPr>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228" name="Oval 12">
              <a:extLst>
                <a:ext uri="{FF2B5EF4-FFF2-40B4-BE49-F238E27FC236}">
                  <a16:creationId xmlns:a16="http://schemas.microsoft.com/office/drawing/2014/main" id="{CB37B184-61ED-1C97-6B8B-146AAD0DD202}"/>
                </a:ext>
              </a:extLst>
            </p:cNvPr>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229" name="Oval 13">
              <a:extLst>
                <a:ext uri="{FF2B5EF4-FFF2-40B4-BE49-F238E27FC236}">
                  <a16:creationId xmlns:a16="http://schemas.microsoft.com/office/drawing/2014/main" id="{BACA6EF4-5A4C-8E35-BC17-F9FBF50333F2}"/>
                </a:ext>
              </a:extLst>
            </p:cNvPr>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9230" name="Oval 14">
              <a:extLst>
                <a:ext uri="{FF2B5EF4-FFF2-40B4-BE49-F238E27FC236}">
                  <a16:creationId xmlns:a16="http://schemas.microsoft.com/office/drawing/2014/main" id="{C6C39C77-B6DF-3B00-3267-487C6D17B374}"/>
                </a:ext>
              </a:extLst>
            </p:cNvPr>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9231" name="Oval 15">
              <a:extLst>
                <a:ext uri="{FF2B5EF4-FFF2-40B4-BE49-F238E27FC236}">
                  <a16:creationId xmlns:a16="http://schemas.microsoft.com/office/drawing/2014/main" id="{36C1E1F3-7B1B-454D-2A44-5D7CE1119BDF}"/>
                </a:ext>
              </a:extLst>
            </p:cNvPr>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9232" name="Text Box 16">
              <a:extLst>
                <a:ext uri="{FF2B5EF4-FFF2-40B4-BE49-F238E27FC236}">
                  <a16:creationId xmlns:a16="http://schemas.microsoft.com/office/drawing/2014/main" id="{6792E886-B13B-24A5-E6A6-EDB5A716C590}"/>
                </a:ext>
              </a:extLst>
            </p:cNvPr>
            <p:cNvSpPr txBox="1">
              <a:spLocks noChangeArrowheads="1"/>
            </p:cNvSpPr>
            <p:nvPr/>
          </p:nvSpPr>
          <p:spPr bwMode="auto">
            <a:xfrm>
              <a:off x="0" y="544"/>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9233" name="Text Box 17">
              <a:extLst>
                <a:ext uri="{FF2B5EF4-FFF2-40B4-BE49-F238E27FC236}">
                  <a16:creationId xmlns:a16="http://schemas.microsoft.com/office/drawing/2014/main" id="{595129AE-6DF9-07B7-59A2-43F3E412BFD7}"/>
                </a:ext>
              </a:extLst>
            </p:cNvPr>
            <p:cNvSpPr txBox="1">
              <a:spLocks noChangeArrowheads="1"/>
            </p:cNvSpPr>
            <p:nvPr/>
          </p:nvSpPr>
          <p:spPr bwMode="auto">
            <a:xfrm>
              <a:off x="0" y="1451"/>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9234" name="Line 18">
              <a:extLst>
                <a:ext uri="{FF2B5EF4-FFF2-40B4-BE49-F238E27FC236}">
                  <a16:creationId xmlns:a16="http://schemas.microsoft.com/office/drawing/2014/main" id="{4191C30F-F254-FC1E-B2E9-37BF05249D94}"/>
                </a:ext>
              </a:extLst>
            </p:cNvPr>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5" name="Line 19">
              <a:extLst>
                <a:ext uri="{FF2B5EF4-FFF2-40B4-BE49-F238E27FC236}">
                  <a16:creationId xmlns:a16="http://schemas.microsoft.com/office/drawing/2014/main" id="{FACFC5F6-D204-939F-2668-A088DA23B435}"/>
                </a:ext>
              </a:extLst>
            </p:cNvPr>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6" name="Line 20">
              <a:extLst>
                <a:ext uri="{FF2B5EF4-FFF2-40B4-BE49-F238E27FC236}">
                  <a16:creationId xmlns:a16="http://schemas.microsoft.com/office/drawing/2014/main" id="{61DF5758-EF62-561E-082A-8077118E9580}"/>
                </a:ext>
              </a:extLst>
            </p:cNvPr>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7" name="Line 21">
              <a:extLst>
                <a:ext uri="{FF2B5EF4-FFF2-40B4-BE49-F238E27FC236}">
                  <a16:creationId xmlns:a16="http://schemas.microsoft.com/office/drawing/2014/main" id="{DBCC4C0E-03BF-85F4-0357-72528456B534}"/>
                </a:ext>
              </a:extLst>
            </p:cNvPr>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8" name="Line 22">
              <a:extLst>
                <a:ext uri="{FF2B5EF4-FFF2-40B4-BE49-F238E27FC236}">
                  <a16:creationId xmlns:a16="http://schemas.microsoft.com/office/drawing/2014/main" id="{A68FA086-9D6D-7A84-CE38-A97D8B794367}"/>
                </a:ext>
              </a:extLst>
            </p:cNvPr>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9" name="Line 23">
              <a:extLst>
                <a:ext uri="{FF2B5EF4-FFF2-40B4-BE49-F238E27FC236}">
                  <a16:creationId xmlns:a16="http://schemas.microsoft.com/office/drawing/2014/main" id="{B9086E6D-DC8D-D559-6FFA-42B664A2AABB}"/>
                </a:ext>
              </a:extLst>
            </p:cNvPr>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0" name="Line 24">
              <a:extLst>
                <a:ext uri="{FF2B5EF4-FFF2-40B4-BE49-F238E27FC236}">
                  <a16:creationId xmlns:a16="http://schemas.microsoft.com/office/drawing/2014/main" id="{D82C803B-1572-104E-236E-14B00D12093B}"/>
                </a:ext>
              </a:extLst>
            </p:cNvPr>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1" name="Line 25">
              <a:extLst>
                <a:ext uri="{FF2B5EF4-FFF2-40B4-BE49-F238E27FC236}">
                  <a16:creationId xmlns:a16="http://schemas.microsoft.com/office/drawing/2014/main" id="{7C2EAB75-1128-1A34-E3ED-1DB6936EB0EC}"/>
                </a:ext>
              </a:extLst>
            </p:cNvPr>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2" name="Line 26">
              <a:extLst>
                <a:ext uri="{FF2B5EF4-FFF2-40B4-BE49-F238E27FC236}">
                  <a16:creationId xmlns:a16="http://schemas.microsoft.com/office/drawing/2014/main" id="{08391B20-192A-8D91-CA66-C4895E277EBF}"/>
                </a:ext>
              </a:extLst>
            </p:cNvPr>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3" name="Line 27">
              <a:extLst>
                <a:ext uri="{FF2B5EF4-FFF2-40B4-BE49-F238E27FC236}">
                  <a16:creationId xmlns:a16="http://schemas.microsoft.com/office/drawing/2014/main" id="{5D3B17DA-720B-A99D-79DB-F4A18237C983}"/>
                </a:ext>
              </a:extLst>
            </p:cNvPr>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4" name="Line 28">
              <a:extLst>
                <a:ext uri="{FF2B5EF4-FFF2-40B4-BE49-F238E27FC236}">
                  <a16:creationId xmlns:a16="http://schemas.microsoft.com/office/drawing/2014/main" id="{F744B403-C251-1F29-3665-6474514AF681}"/>
                </a:ext>
              </a:extLst>
            </p:cNvPr>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5" name="Line 29">
              <a:extLst>
                <a:ext uri="{FF2B5EF4-FFF2-40B4-BE49-F238E27FC236}">
                  <a16:creationId xmlns:a16="http://schemas.microsoft.com/office/drawing/2014/main" id="{E7943EE3-F80C-47BA-E6CD-27EBFAA1890A}"/>
                </a:ext>
              </a:extLst>
            </p:cNvPr>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6" name="Line 30">
              <a:extLst>
                <a:ext uri="{FF2B5EF4-FFF2-40B4-BE49-F238E27FC236}">
                  <a16:creationId xmlns:a16="http://schemas.microsoft.com/office/drawing/2014/main" id="{D608E371-A7AF-D9B9-9C1D-F2E3B3541120}"/>
                </a:ext>
              </a:extLst>
            </p:cNvPr>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7" name="Line 31">
              <a:extLst>
                <a:ext uri="{FF2B5EF4-FFF2-40B4-BE49-F238E27FC236}">
                  <a16:creationId xmlns:a16="http://schemas.microsoft.com/office/drawing/2014/main" id="{6260A4C6-7D2A-75CC-0907-DB74B04FED46}"/>
                </a:ext>
              </a:extLst>
            </p:cNvPr>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8" name="Line 32">
              <a:extLst>
                <a:ext uri="{FF2B5EF4-FFF2-40B4-BE49-F238E27FC236}">
                  <a16:creationId xmlns:a16="http://schemas.microsoft.com/office/drawing/2014/main" id="{49A79263-C0BE-6201-F8E1-616825470D2E}"/>
                </a:ext>
              </a:extLst>
            </p:cNvPr>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9" name="Line 33">
              <a:extLst>
                <a:ext uri="{FF2B5EF4-FFF2-40B4-BE49-F238E27FC236}">
                  <a16:creationId xmlns:a16="http://schemas.microsoft.com/office/drawing/2014/main" id="{243470D1-2A90-5160-DB66-ED91AB747498}"/>
                </a:ext>
              </a:extLst>
            </p:cNvPr>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0" name="Line 34">
              <a:extLst>
                <a:ext uri="{FF2B5EF4-FFF2-40B4-BE49-F238E27FC236}">
                  <a16:creationId xmlns:a16="http://schemas.microsoft.com/office/drawing/2014/main" id="{8EFF6FED-B468-4292-05BF-4F961CA29B62}"/>
                </a:ext>
              </a:extLst>
            </p:cNvPr>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1" name="Text Box 35">
              <a:extLst>
                <a:ext uri="{FF2B5EF4-FFF2-40B4-BE49-F238E27FC236}">
                  <a16:creationId xmlns:a16="http://schemas.microsoft.com/office/drawing/2014/main" id="{7DA0CBD7-9E6A-41E7-EBA1-E34CFDF668CF}"/>
                </a:ext>
              </a:extLst>
            </p:cNvPr>
            <p:cNvSpPr txBox="1">
              <a:spLocks noChangeArrowheads="1"/>
            </p:cNvSpPr>
            <p:nvPr/>
          </p:nvSpPr>
          <p:spPr bwMode="auto">
            <a:xfrm>
              <a:off x="680"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1</a:t>
              </a:r>
              <a:r>
                <a:rPr lang="zh-CN" altLang="en-US" b="1">
                  <a:ea typeface="楷体_GB2312" pitchFamily="49" charset="-122"/>
                </a:rPr>
                <a:t>层</a:t>
              </a:r>
            </a:p>
          </p:txBody>
        </p:sp>
        <p:sp>
          <p:nvSpPr>
            <p:cNvPr id="9252" name="Text Box 36">
              <a:extLst>
                <a:ext uri="{FF2B5EF4-FFF2-40B4-BE49-F238E27FC236}">
                  <a16:creationId xmlns:a16="http://schemas.microsoft.com/office/drawing/2014/main" id="{5B0C4DD7-637E-55E9-628E-6617C5C9368B}"/>
                </a:ext>
              </a:extLst>
            </p:cNvPr>
            <p:cNvSpPr txBox="1">
              <a:spLocks noChangeArrowheads="1"/>
            </p:cNvSpPr>
            <p:nvPr/>
          </p:nvSpPr>
          <p:spPr bwMode="auto">
            <a:xfrm>
              <a:off x="1542"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2</a:t>
              </a:r>
              <a:r>
                <a:rPr lang="zh-CN" altLang="en-US" b="1">
                  <a:ea typeface="楷体_GB2312" pitchFamily="49" charset="-122"/>
                </a:rPr>
                <a:t>层</a:t>
              </a:r>
            </a:p>
          </p:txBody>
        </p:sp>
        <p:sp>
          <p:nvSpPr>
            <p:cNvPr id="9253" name="Text Box 37">
              <a:extLst>
                <a:ext uri="{FF2B5EF4-FFF2-40B4-BE49-F238E27FC236}">
                  <a16:creationId xmlns:a16="http://schemas.microsoft.com/office/drawing/2014/main" id="{3E17EEC7-38A8-23A6-47E3-0E7C9B695C50}"/>
                </a:ext>
              </a:extLst>
            </p:cNvPr>
            <p:cNvSpPr txBox="1">
              <a:spLocks noChangeArrowheads="1"/>
            </p:cNvSpPr>
            <p:nvPr/>
          </p:nvSpPr>
          <p:spPr bwMode="auto">
            <a:xfrm>
              <a:off x="2449"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0000"/>
                  </a:solidFill>
                  <a:ea typeface="楷体_GB2312" pitchFamily="49" charset="-122"/>
                </a:rPr>
                <a:t>第</a:t>
              </a:r>
              <a:r>
                <a:rPr lang="en-US" altLang="zh-CN" b="1" dirty="0">
                  <a:solidFill>
                    <a:srgbClr val="FF0000"/>
                  </a:solidFill>
                  <a:ea typeface="楷体_GB2312" pitchFamily="49" charset="-122"/>
                </a:rPr>
                <a:t>3</a:t>
              </a:r>
              <a:r>
                <a:rPr lang="zh-CN" altLang="en-US" b="1" dirty="0">
                  <a:solidFill>
                    <a:srgbClr val="FF0000"/>
                  </a:solidFill>
                  <a:ea typeface="楷体_GB2312" pitchFamily="49" charset="-122"/>
                </a:rPr>
                <a:t>层</a:t>
              </a:r>
            </a:p>
          </p:txBody>
        </p:sp>
        <p:sp>
          <p:nvSpPr>
            <p:cNvPr id="9254" name="Text Box 38">
              <a:extLst>
                <a:ext uri="{FF2B5EF4-FFF2-40B4-BE49-F238E27FC236}">
                  <a16:creationId xmlns:a16="http://schemas.microsoft.com/office/drawing/2014/main" id="{E312E1A9-6B0B-AD87-C8CE-718736DB6EB6}"/>
                </a:ext>
              </a:extLst>
            </p:cNvPr>
            <p:cNvSpPr txBox="1">
              <a:spLocks noChangeArrowheads="1"/>
            </p:cNvSpPr>
            <p:nvPr/>
          </p:nvSpPr>
          <p:spPr bwMode="auto">
            <a:xfrm>
              <a:off x="3175"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4</a:t>
              </a:r>
              <a:r>
                <a:rPr lang="zh-CN" altLang="en-US" b="1">
                  <a:ea typeface="楷体_GB2312" pitchFamily="49" charset="-122"/>
                </a:rPr>
                <a:t>层</a:t>
              </a:r>
            </a:p>
          </p:txBody>
        </p:sp>
        <p:sp>
          <p:nvSpPr>
            <p:cNvPr id="9255" name="Text Box 39">
              <a:extLst>
                <a:ext uri="{FF2B5EF4-FFF2-40B4-BE49-F238E27FC236}">
                  <a16:creationId xmlns:a16="http://schemas.microsoft.com/office/drawing/2014/main" id="{C9782220-F459-9FC3-3254-9DFD6C40F66F}"/>
                </a:ext>
              </a:extLst>
            </p:cNvPr>
            <p:cNvSpPr txBox="1">
              <a:spLocks noChangeArrowheads="1"/>
            </p:cNvSpPr>
            <p:nvPr/>
          </p:nvSpPr>
          <p:spPr bwMode="auto">
            <a:xfrm>
              <a:off x="3901"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5</a:t>
              </a:r>
              <a:r>
                <a:rPr lang="zh-CN" altLang="en-US" b="1">
                  <a:ea typeface="楷体_GB2312" pitchFamily="49" charset="-122"/>
                </a:rPr>
                <a:t>层</a:t>
              </a:r>
            </a:p>
          </p:txBody>
        </p:sp>
        <p:sp>
          <p:nvSpPr>
            <p:cNvPr id="9256" name="Text Box 40">
              <a:extLst>
                <a:ext uri="{FF2B5EF4-FFF2-40B4-BE49-F238E27FC236}">
                  <a16:creationId xmlns:a16="http://schemas.microsoft.com/office/drawing/2014/main" id="{B96378B1-8D72-6A16-AFB3-CAE96C07596E}"/>
                </a:ext>
              </a:extLst>
            </p:cNvPr>
            <p:cNvSpPr txBox="1">
              <a:spLocks noChangeArrowheads="1"/>
            </p:cNvSpPr>
            <p:nvPr/>
          </p:nvSpPr>
          <p:spPr bwMode="auto">
            <a:xfrm>
              <a:off x="1950" y="588"/>
              <a:ext cx="362"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9257" name="Text Box 41">
              <a:extLst>
                <a:ext uri="{FF2B5EF4-FFF2-40B4-BE49-F238E27FC236}">
                  <a16:creationId xmlns:a16="http://schemas.microsoft.com/office/drawing/2014/main" id="{17BEB2FE-4ABD-F9E1-ED30-2BE7152E83CF}"/>
                </a:ext>
              </a:extLst>
            </p:cNvPr>
            <p:cNvSpPr txBox="1">
              <a:spLocks noChangeArrowheads="1"/>
            </p:cNvSpPr>
            <p:nvPr/>
          </p:nvSpPr>
          <p:spPr bwMode="auto">
            <a:xfrm>
              <a:off x="1950" y="1451"/>
              <a:ext cx="36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9258" name="Text Box 42">
              <a:extLst>
                <a:ext uri="{FF2B5EF4-FFF2-40B4-BE49-F238E27FC236}">
                  <a16:creationId xmlns:a16="http://schemas.microsoft.com/office/drawing/2014/main" id="{EA9854B2-B004-AC7F-5ECF-61DBD1A66D6E}"/>
                </a:ext>
              </a:extLst>
            </p:cNvPr>
            <p:cNvSpPr txBox="1">
              <a:spLocks noChangeArrowheads="1"/>
            </p:cNvSpPr>
            <p:nvPr/>
          </p:nvSpPr>
          <p:spPr bwMode="auto">
            <a:xfrm>
              <a:off x="2767" y="635"/>
              <a:ext cx="36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dirty="0"/>
                <a:t>W</a:t>
              </a:r>
              <a:r>
                <a:rPr lang="en-US" altLang="zh-CN" u="sng" baseline="-25000" dirty="0"/>
                <a:t>1</a:t>
              </a:r>
            </a:p>
          </p:txBody>
        </p:sp>
        <p:sp>
          <p:nvSpPr>
            <p:cNvPr id="9259" name="Text Box 43">
              <a:extLst>
                <a:ext uri="{FF2B5EF4-FFF2-40B4-BE49-F238E27FC236}">
                  <a16:creationId xmlns:a16="http://schemas.microsoft.com/office/drawing/2014/main" id="{5BC127BF-F7E6-3801-888E-AD8A15B6CCB2}"/>
                </a:ext>
              </a:extLst>
            </p:cNvPr>
            <p:cNvSpPr txBox="1">
              <a:spLocks noChangeArrowheads="1"/>
            </p:cNvSpPr>
            <p:nvPr/>
          </p:nvSpPr>
          <p:spPr bwMode="auto">
            <a:xfrm>
              <a:off x="2767" y="1497"/>
              <a:ext cx="36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9260" name="Text Box 44">
              <a:extLst>
                <a:ext uri="{FF2B5EF4-FFF2-40B4-BE49-F238E27FC236}">
                  <a16:creationId xmlns:a16="http://schemas.microsoft.com/office/drawing/2014/main" id="{15F9171C-C046-08FE-1034-B95224991F7A}"/>
                </a:ext>
              </a:extLst>
            </p:cNvPr>
            <p:cNvSpPr txBox="1">
              <a:spLocks noChangeArrowheads="1"/>
            </p:cNvSpPr>
            <p:nvPr/>
          </p:nvSpPr>
          <p:spPr bwMode="auto">
            <a:xfrm>
              <a:off x="3674" y="544"/>
              <a:ext cx="54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9261" name="Text Box 45">
              <a:extLst>
                <a:ext uri="{FF2B5EF4-FFF2-40B4-BE49-F238E27FC236}">
                  <a16:creationId xmlns:a16="http://schemas.microsoft.com/office/drawing/2014/main" id="{5BE79271-CFDC-7447-F592-E60652383D44}"/>
                </a:ext>
              </a:extLst>
            </p:cNvPr>
            <p:cNvSpPr txBox="1">
              <a:spLocks noChangeArrowheads="1"/>
            </p:cNvSpPr>
            <p:nvPr/>
          </p:nvSpPr>
          <p:spPr bwMode="auto">
            <a:xfrm>
              <a:off x="3674" y="1406"/>
              <a:ext cx="54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9262" name="Text Box 46">
              <a:extLst>
                <a:ext uri="{FF2B5EF4-FFF2-40B4-BE49-F238E27FC236}">
                  <a16:creationId xmlns:a16="http://schemas.microsoft.com/office/drawing/2014/main" id="{270673D0-9E7B-006F-DC22-B96CA9C869F1}"/>
                </a:ext>
              </a:extLst>
            </p:cNvPr>
            <p:cNvSpPr txBox="1">
              <a:spLocks noChangeArrowheads="1"/>
            </p:cNvSpPr>
            <p:nvPr/>
          </p:nvSpPr>
          <p:spPr bwMode="auto">
            <a:xfrm>
              <a:off x="4626" y="997"/>
              <a:ext cx="227"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9263" name="Text Box 47">
              <a:extLst>
                <a:ext uri="{FF2B5EF4-FFF2-40B4-BE49-F238E27FC236}">
                  <a16:creationId xmlns:a16="http://schemas.microsoft.com/office/drawing/2014/main" id="{67611E9A-A35A-9E84-B945-74299EE9AF3B}"/>
                </a:ext>
              </a:extLst>
            </p:cNvPr>
            <p:cNvSpPr txBox="1">
              <a:spLocks noChangeArrowheads="1"/>
            </p:cNvSpPr>
            <p:nvPr/>
          </p:nvSpPr>
          <p:spPr bwMode="auto">
            <a:xfrm>
              <a:off x="3266" y="317"/>
              <a:ext cx="45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9264" name="Text Box 48">
              <a:extLst>
                <a:ext uri="{FF2B5EF4-FFF2-40B4-BE49-F238E27FC236}">
                  <a16:creationId xmlns:a16="http://schemas.microsoft.com/office/drawing/2014/main" id="{BB787BAD-9FDE-0755-221B-683BE96A89D4}"/>
                </a:ext>
              </a:extLst>
            </p:cNvPr>
            <p:cNvSpPr txBox="1">
              <a:spLocks noChangeArrowheads="1"/>
            </p:cNvSpPr>
            <p:nvPr/>
          </p:nvSpPr>
          <p:spPr bwMode="auto">
            <a:xfrm>
              <a:off x="3266" y="1722"/>
              <a:ext cx="408"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9265" name="Line 49">
              <a:extLst>
                <a:ext uri="{FF2B5EF4-FFF2-40B4-BE49-F238E27FC236}">
                  <a16:creationId xmlns:a16="http://schemas.microsoft.com/office/drawing/2014/main" id="{1BA9866D-8C8A-8A24-7C7C-4C564A02D15F}"/>
                </a:ext>
              </a:extLst>
            </p:cNvPr>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6" name="Line 50">
              <a:extLst>
                <a:ext uri="{FF2B5EF4-FFF2-40B4-BE49-F238E27FC236}">
                  <a16:creationId xmlns:a16="http://schemas.microsoft.com/office/drawing/2014/main" id="{562D4058-1850-4818-78D4-2AC5270C3B64}"/>
                </a:ext>
              </a:extLst>
            </p:cNvPr>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7" name="Line 51">
              <a:extLst>
                <a:ext uri="{FF2B5EF4-FFF2-40B4-BE49-F238E27FC236}">
                  <a16:creationId xmlns:a16="http://schemas.microsoft.com/office/drawing/2014/main" id="{823A88BC-6558-01FA-6E9A-F7437DE28856}"/>
                </a:ext>
              </a:extLst>
            </p:cNvPr>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8" name="Line 52">
              <a:extLst>
                <a:ext uri="{FF2B5EF4-FFF2-40B4-BE49-F238E27FC236}">
                  <a16:creationId xmlns:a16="http://schemas.microsoft.com/office/drawing/2014/main" id="{819299C2-B91F-78E6-40CC-587126DC0D7A}"/>
                </a:ext>
              </a:extLst>
            </p:cNvPr>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文本框 2">
            <a:extLst>
              <a:ext uri="{FF2B5EF4-FFF2-40B4-BE49-F238E27FC236}">
                <a16:creationId xmlns:a16="http://schemas.microsoft.com/office/drawing/2014/main" id="{99FF49A6-9906-7583-949A-0635399F6DBD}"/>
              </a:ext>
            </a:extLst>
          </p:cNvPr>
          <p:cNvSpPr txBox="1"/>
          <p:nvPr/>
        </p:nvSpPr>
        <p:spPr>
          <a:xfrm>
            <a:off x="3863752" y="1690009"/>
            <a:ext cx="698843" cy="2459071"/>
          </a:xfrm>
          <a:prstGeom prst="rect">
            <a:avLst/>
          </a:prstGeom>
          <a:noFill/>
        </p:spPr>
        <p:txBody>
          <a:bodyPr wrap="square" rtlCol="0">
            <a:spAutoFit/>
          </a:bodyPr>
          <a:lstStyle/>
          <a:p>
            <a:pPr>
              <a:lnSpc>
                <a:spcPct val="200000"/>
              </a:lnSpc>
            </a:pPr>
            <a:r>
              <a:rPr lang="en-US" altLang="zh-CN" sz="2000" b="1" i="1" dirty="0"/>
              <a:t>O</a:t>
            </a:r>
            <a:r>
              <a:rPr lang="en-US" altLang="zh-CN" sz="2000" b="1" baseline="-25000" dirty="0"/>
              <a:t>1,1</a:t>
            </a:r>
          </a:p>
          <a:p>
            <a:pPr>
              <a:lnSpc>
                <a:spcPct val="200000"/>
              </a:lnSpc>
            </a:pPr>
            <a:r>
              <a:rPr lang="en-US" altLang="zh-CN" sz="2000" b="1" i="1" dirty="0"/>
              <a:t>O</a:t>
            </a:r>
            <a:r>
              <a:rPr lang="en-US" altLang="zh-CN" sz="2000" b="1" baseline="-25000" dirty="0"/>
              <a:t>1,2</a:t>
            </a:r>
            <a:endParaRPr lang="zh-CN" altLang="en-US" sz="2000" dirty="0"/>
          </a:p>
          <a:p>
            <a:pPr>
              <a:lnSpc>
                <a:spcPct val="200000"/>
              </a:lnSpc>
            </a:pPr>
            <a:r>
              <a:rPr lang="en-US" altLang="zh-CN" sz="2000" b="1" i="1" dirty="0"/>
              <a:t>O</a:t>
            </a:r>
            <a:r>
              <a:rPr lang="en-US" altLang="zh-CN" sz="2000" b="1" baseline="-25000" dirty="0"/>
              <a:t>1,3</a:t>
            </a:r>
            <a:endParaRPr lang="zh-CN" altLang="en-US" sz="2000" dirty="0"/>
          </a:p>
          <a:p>
            <a:pPr>
              <a:lnSpc>
                <a:spcPct val="200000"/>
              </a:lnSpc>
            </a:pPr>
            <a:r>
              <a:rPr lang="en-US" altLang="zh-CN" sz="2000" b="1" i="1" dirty="0"/>
              <a:t>O</a:t>
            </a:r>
            <a:r>
              <a:rPr lang="en-US" altLang="zh-CN" sz="2000" b="1" baseline="-25000" dirty="0"/>
              <a:t>1,4</a:t>
            </a:r>
            <a:endParaRPr lang="zh-CN" altLang="en-US" sz="2000" dirty="0"/>
          </a:p>
        </p:txBody>
      </p:sp>
      <p:sp>
        <p:nvSpPr>
          <p:cNvPr id="2" name="灯片编号占位符 1">
            <a:extLst>
              <a:ext uri="{FF2B5EF4-FFF2-40B4-BE49-F238E27FC236}">
                <a16:creationId xmlns:a16="http://schemas.microsoft.com/office/drawing/2014/main" id="{D3F376F1-34A3-ED35-586A-E9604F223F76}"/>
              </a:ext>
            </a:extLst>
          </p:cNvPr>
          <p:cNvSpPr>
            <a:spLocks noGrp="1"/>
          </p:cNvSpPr>
          <p:nvPr>
            <p:ph type="sldNum" sz="quarter" idx="11"/>
          </p:nvPr>
        </p:nvSpPr>
        <p:spPr/>
        <p:txBody>
          <a:bodyPr/>
          <a:lstStyle/>
          <a:p>
            <a:pPr>
              <a:defRPr/>
            </a:pPr>
            <a:fld id="{B77A47BA-BA63-4780-94A9-8AFA2EA4438D}" type="slidenum">
              <a:rPr lang="en-US" altLang="zh-CN" smtClean="0"/>
              <a:pPr>
                <a:defRPr/>
              </a:pPr>
              <a:t>28</a:t>
            </a:fld>
            <a:endParaRPr lang="en-US" altLang="zh-CN"/>
          </a:p>
        </p:txBody>
      </p:sp>
    </p:spTree>
    <p:extLst>
      <p:ext uri="{BB962C8B-B14F-4D97-AF65-F5344CB8AC3E}">
        <p14:creationId xmlns:p14="http://schemas.microsoft.com/office/powerpoint/2010/main" val="37609187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left)">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left)">
                                      <p:cBhvr>
                                        <p:cTn id="12"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51193-4EEC-3468-D888-ADF49FCB744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EC5583A7-80A6-00FD-07D3-E3078981A9EC}"/>
              </a:ext>
            </a:extLst>
          </p:cNvPr>
          <p:cNvSpPr>
            <a:spLocks noGrp="1" noChangeArrowheads="1"/>
          </p:cNvSpPr>
          <p:nvPr>
            <p:ph type="title" idx="4294967295"/>
          </p:nvPr>
        </p:nvSpPr>
        <p:spPr>
          <a:xfrm>
            <a:off x="1981200" y="260648"/>
            <a:ext cx="8229600" cy="1100138"/>
          </a:xfrm>
        </p:spPr>
        <p:txBody>
          <a:bodyPr/>
          <a:lstStyle/>
          <a:p>
            <a:pPr algn="ctr" eaLnBrk="1" hangingPunct="1"/>
            <a:r>
              <a:rPr lang="en-US" altLang="zh-CN" sz="4500" dirty="0">
                <a:solidFill>
                  <a:srgbClr val="008000"/>
                </a:solidFill>
                <a:latin typeface="Comic Sans MS" panose="030F0702030302020204" pitchFamily="66" charset="0"/>
                <a:ea typeface="黑体" panose="02010609060101010101" pitchFamily="49" charset="-122"/>
              </a:rPr>
              <a:t>ANFIS</a:t>
            </a:r>
            <a:r>
              <a:rPr lang="zh-CN" altLang="en-US" sz="4500" dirty="0">
                <a:solidFill>
                  <a:srgbClr val="008000"/>
                </a:solidFill>
                <a:latin typeface="Comic Sans MS" panose="030F0702030302020204" pitchFamily="66" charset="0"/>
                <a:ea typeface="黑体" panose="02010609060101010101" pitchFamily="49" charset="-122"/>
              </a:rPr>
              <a:t>结构</a:t>
            </a:r>
          </a:p>
        </p:txBody>
      </p:sp>
      <p:grpSp>
        <p:nvGrpSpPr>
          <p:cNvPr id="9220" name="Group 4">
            <a:extLst>
              <a:ext uri="{FF2B5EF4-FFF2-40B4-BE49-F238E27FC236}">
                <a16:creationId xmlns:a16="http://schemas.microsoft.com/office/drawing/2014/main" id="{37FDD79E-DA42-7E77-6C40-B9135D07DF7E}"/>
              </a:ext>
            </a:extLst>
          </p:cNvPr>
          <p:cNvGrpSpPr>
            <a:grpSpLocks/>
          </p:cNvGrpSpPr>
          <p:nvPr/>
        </p:nvGrpSpPr>
        <p:grpSpPr bwMode="auto">
          <a:xfrm>
            <a:off x="2063759" y="1529705"/>
            <a:ext cx="8353425" cy="2619375"/>
            <a:chOff x="0" y="0"/>
            <a:chExt cx="4853" cy="2002"/>
          </a:xfrm>
        </p:grpSpPr>
        <p:sp>
          <p:nvSpPr>
            <p:cNvPr id="9221" name="Rectangle 5">
              <a:extLst>
                <a:ext uri="{FF2B5EF4-FFF2-40B4-BE49-F238E27FC236}">
                  <a16:creationId xmlns:a16="http://schemas.microsoft.com/office/drawing/2014/main" id="{BEA646FD-CB13-9C68-82FD-F289287384E3}"/>
                </a:ext>
              </a:extLst>
            </p:cNvPr>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9222" name="Rectangle 6">
              <a:extLst>
                <a:ext uri="{FF2B5EF4-FFF2-40B4-BE49-F238E27FC236}">
                  <a16:creationId xmlns:a16="http://schemas.microsoft.com/office/drawing/2014/main" id="{9A186486-58BD-EF43-6AD6-E8973B6E887F}"/>
                </a:ext>
              </a:extLst>
            </p:cNvPr>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9223" name="Rectangle 7">
              <a:extLst>
                <a:ext uri="{FF2B5EF4-FFF2-40B4-BE49-F238E27FC236}">
                  <a16:creationId xmlns:a16="http://schemas.microsoft.com/office/drawing/2014/main" id="{0C02EBF4-1148-E603-462B-05EF6CEBC23D}"/>
                </a:ext>
              </a:extLst>
            </p:cNvPr>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9224" name="Rectangle 8">
              <a:extLst>
                <a:ext uri="{FF2B5EF4-FFF2-40B4-BE49-F238E27FC236}">
                  <a16:creationId xmlns:a16="http://schemas.microsoft.com/office/drawing/2014/main" id="{AA3858DA-69D8-F62A-5816-8CFFB60B9B9E}"/>
                </a:ext>
              </a:extLst>
            </p:cNvPr>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9225" name="Oval 9">
              <a:extLst>
                <a:ext uri="{FF2B5EF4-FFF2-40B4-BE49-F238E27FC236}">
                  <a16:creationId xmlns:a16="http://schemas.microsoft.com/office/drawing/2014/main" id="{B0602017-DC4B-56F6-4AEF-805BB20954E5}"/>
                </a:ext>
              </a:extLst>
            </p:cNvPr>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226" name="Rectangle 10">
              <a:extLst>
                <a:ext uri="{FF2B5EF4-FFF2-40B4-BE49-F238E27FC236}">
                  <a16:creationId xmlns:a16="http://schemas.microsoft.com/office/drawing/2014/main" id="{4069326A-338E-1DB7-1623-F59368643EE8}"/>
                </a:ext>
              </a:extLst>
            </p:cNvPr>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227" name="Rectangle 11">
              <a:extLst>
                <a:ext uri="{FF2B5EF4-FFF2-40B4-BE49-F238E27FC236}">
                  <a16:creationId xmlns:a16="http://schemas.microsoft.com/office/drawing/2014/main" id="{BA2E9008-E324-CC6C-9D71-EFF4F774E89A}"/>
                </a:ext>
              </a:extLst>
            </p:cNvPr>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228" name="Oval 12">
              <a:extLst>
                <a:ext uri="{FF2B5EF4-FFF2-40B4-BE49-F238E27FC236}">
                  <a16:creationId xmlns:a16="http://schemas.microsoft.com/office/drawing/2014/main" id="{963728DC-FC2C-3532-B3A0-ABAB7E1BC0FD}"/>
                </a:ext>
              </a:extLst>
            </p:cNvPr>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229" name="Oval 13">
              <a:extLst>
                <a:ext uri="{FF2B5EF4-FFF2-40B4-BE49-F238E27FC236}">
                  <a16:creationId xmlns:a16="http://schemas.microsoft.com/office/drawing/2014/main" id="{10F79C0F-CA49-19BB-4AAD-4E81AF78C626}"/>
                </a:ext>
              </a:extLst>
            </p:cNvPr>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9230" name="Oval 14">
              <a:extLst>
                <a:ext uri="{FF2B5EF4-FFF2-40B4-BE49-F238E27FC236}">
                  <a16:creationId xmlns:a16="http://schemas.microsoft.com/office/drawing/2014/main" id="{4E0816CB-EFB4-3D1D-457A-2B0C6841DE5F}"/>
                </a:ext>
              </a:extLst>
            </p:cNvPr>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9231" name="Oval 15">
              <a:extLst>
                <a:ext uri="{FF2B5EF4-FFF2-40B4-BE49-F238E27FC236}">
                  <a16:creationId xmlns:a16="http://schemas.microsoft.com/office/drawing/2014/main" id="{2AC05A11-FE4F-FD7B-C68E-41AB11F66A4A}"/>
                </a:ext>
              </a:extLst>
            </p:cNvPr>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9232" name="Text Box 16">
              <a:extLst>
                <a:ext uri="{FF2B5EF4-FFF2-40B4-BE49-F238E27FC236}">
                  <a16:creationId xmlns:a16="http://schemas.microsoft.com/office/drawing/2014/main" id="{F9EE24E7-7850-1E46-F0BF-1CA719B98D17}"/>
                </a:ext>
              </a:extLst>
            </p:cNvPr>
            <p:cNvSpPr txBox="1">
              <a:spLocks noChangeArrowheads="1"/>
            </p:cNvSpPr>
            <p:nvPr/>
          </p:nvSpPr>
          <p:spPr bwMode="auto">
            <a:xfrm>
              <a:off x="0" y="544"/>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9233" name="Text Box 17">
              <a:extLst>
                <a:ext uri="{FF2B5EF4-FFF2-40B4-BE49-F238E27FC236}">
                  <a16:creationId xmlns:a16="http://schemas.microsoft.com/office/drawing/2014/main" id="{01EB7EA1-E62C-90C0-E4FC-C1C5BE28FBB3}"/>
                </a:ext>
              </a:extLst>
            </p:cNvPr>
            <p:cNvSpPr txBox="1">
              <a:spLocks noChangeArrowheads="1"/>
            </p:cNvSpPr>
            <p:nvPr/>
          </p:nvSpPr>
          <p:spPr bwMode="auto">
            <a:xfrm>
              <a:off x="0" y="1451"/>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9234" name="Line 18">
              <a:extLst>
                <a:ext uri="{FF2B5EF4-FFF2-40B4-BE49-F238E27FC236}">
                  <a16:creationId xmlns:a16="http://schemas.microsoft.com/office/drawing/2014/main" id="{AB6E7B17-32AC-EAE7-6BB1-01E39F539D36}"/>
                </a:ext>
              </a:extLst>
            </p:cNvPr>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5" name="Line 19">
              <a:extLst>
                <a:ext uri="{FF2B5EF4-FFF2-40B4-BE49-F238E27FC236}">
                  <a16:creationId xmlns:a16="http://schemas.microsoft.com/office/drawing/2014/main" id="{D9722322-DB7E-2F68-5EF8-518F35C0705C}"/>
                </a:ext>
              </a:extLst>
            </p:cNvPr>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6" name="Line 20">
              <a:extLst>
                <a:ext uri="{FF2B5EF4-FFF2-40B4-BE49-F238E27FC236}">
                  <a16:creationId xmlns:a16="http://schemas.microsoft.com/office/drawing/2014/main" id="{CD014D47-6249-600C-8D14-5CB331ECCFEF}"/>
                </a:ext>
              </a:extLst>
            </p:cNvPr>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7" name="Line 21">
              <a:extLst>
                <a:ext uri="{FF2B5EF4-FFF2-40B4-BE49-F238E27FC236}">
                  <a16:creationId xmlns:a16="http://schemas.microsoft.com/office/drawing/2014/main" id="{1F6C8572-39B7-B2B3-B9FE-C0C48AB1C3C3}"/>
                </a:ext>
              </a:extLst>
            </p:cNvPr>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8" name="Line 22">
              <a:extLst>
                <a:ext uri="{FF2B5EF4-FFF2-40B4-BE49-F238E27FC236}">
                  <a16:creationId xmlns:a16="http://schemas.microsoft.com/office/drawing/2014/main" id="{F4BE2D8F-9C0B-AE31-11C1-784FF256B2D6}"/>
                </a:ext>
              </a:extLst>
            </p:cNvPr>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9" name="Line 23">
              <a:extLst>
                <a:ext uri="{FF2B5EF4-FFF2-40B4-BE49-F238E27FC236}">
                  <a16:creationId xmlns:a16="http://schemas.microsoft.com/office/drawing/2014/main" id="{9A835C22-4D31-1385-F5BB-B1C9BDDCF6C5}"/>
                </a:ext>
              </a:extLst>
            </p:cNvPr>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0" name="Line 24">
              <a:extLst>
                <a:ext uri="{FF2B5EF4-FFF2-40B4-BE49-F238E27FC236}">
                  <a16:creationId xmlns:a16="http://schemas.microsoft.com/office/drawing/2014/main" id="{D084C242-767B-5AD9-803D-7778BEADD8CB}"/>
                </a:ext>
              </a:extLst>
            </p:cNvPr>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1" name="Line 25">
              <a:extLst>
                <a:ext uri="{FF2B5EF4-FFF2-40B4-BE49-F238E27FC236}">
                  <a16:creationId xmlns:a16="http://schemas.microsoft.com/office/drawing/2014/main" id="{C69EEA4D-5700-46F8-35BA-0A12742F9F3C}"/>
                </a:ext>
              </a:extLst>
            </p:cNvPr>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2" name="Line 26">
              <a:extLst>
                <a:ext uri="{FF2B5EF4-FFF2-40B4-BE49-F238E27FC236}">
                  <a16:creationId xmlns:a16="http://schemas.microsoft.com/office/drawing/2014/main" id="{4D341159-E048-18DD-9AA2-D774AC1E82DD}"/>
                </a:ext>
              </a:extLst>
            </p:cNvPr>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3" name="Line 27">
              <a:extLst>
                <a:ext uri="{FF2B5EF4-FFF2-40B4-BE49-F238E27FC236}">
                  <a16:creationId xmlns:a16="http://schemas.microsoft.com/office/drawing/2014/main" id="{F090458D-0B0B-E8BC-7071-6A9CC42BFF05}"/>
                </a:ext>
              </a:extLst>
            </p:cNvPr>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4" name="Line 28">
              <a:extLst>
                <a:ext uri="{FF2B5EF4-FFF2-40B4-BE49-F238E27FC236}">
                  <a16:creationId xmlns:a16="http://schemas.microsoft.com/office/drawing/2014/main" id="{F1B93F8B-B21B-C785-973F-B88F572E91DD}"/>
                </a:ext>
              </a:extLst>
            </p:cNvPr>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5" name="Line 29">
              <a:extLst>
                <a:ext uri="{FF2B5EF4-FFF2-40B4-BE49-F238E27FC236}">
                  <a16:creationId xmlns:a16="http://schemas.microsoft.com/office/drawing/2014/main" id="{7D9CF34A-FB36-9A61-33A8-713BEA813961}"/>
                </a:ext>
              </a:extLst>
            </p:cNvPr>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6" name="Line 30">
              <a:extLst>
                <a:ext uri="{FF2B5EF4-FFF2-40B4-BE49-F238E27FC236}">
                  <a16:creationId xmlns:a16="http://schemas.microsoft.com/office/drawing/2014/main" id="{12F2F383-FC74-F3B4-DDAB-054BF4BDAC6A}"/>
                </a:ext>
              </a:extLst>
            </p:cNvPr>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7" name="Line 31">
              <a:extLst>
                <a:ext uri="{FF2B5EF4-FFF2-40B4-BE49-F238E27FC236}">
                  <a16:creationId xmlns:a16="http://schemas.microsoft.com/office/drawing/2014/main" id="{2C066FC6-1E4F-D2EA-44E4-9B9D65A4A5F4}"/>
                </a:ext>
              </a:extLst>
            </p:cNvPr>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8" name="Line 32">
              <a:extLst>
                <a:ext uri="{FF2B5EF4-FFF2-40B4-BE49-F238E27FC236}">
                  <a16:creationId xmlns:a16="http://schemas.microsoft.com/office/drawing/2014/main" id="{2FF87A9E-DD14-4BBE-7204-E2DB107A05DD}"/>
                </a:ext>
              </a:extLst>
            </p:cNvPr>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9" name="Line 33">
              <a:extLst>
                <a:ext uri="{FF2B5EF4-FFF2-40B4-BE49-F238E27FC236}">
                  <a16:creationId xmlns:a16="http://schemas.microsoft.com/office/drawing/2014/main" id="{86E24A8C-12C3-5246-A508-D85C4A2F439B}"/>
                </a:ext>
              </a:extLst>
            </p:cNvPr>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0" name="Line 34">
              <a:extLst>
                <a:ext uri="{FF2B5EF4-FFF2-40B4-BE49-F238E27FC236}">
                  <a16:creationId xmlns:a16="http://schemas.microsoft.com/office/drawing/2014/main" id="{29FA7FBB-A54A-4A53-F825-8E203D2CE522}"/>
                </a:ext>
              </a:extLst>
            </p:cNvPr>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1" name="Text Box 35">
              <a:extLst>
                <a:ext uri="{FF2B5EF4-FFF2-40B4-BE49-F238E27FC236}">
                  <a16:creationId xmlns:a16="http://schemas.microsoft.com/office/drawing/2014/main" id="{CA57EEFC-E92E-43C5-C3D4-94EA6D81BCEC}"/>
                </a:ext>
              </a:extLst>
            </p:cNvPr>
            <p:cNvSpPr txBox="1">
              <a:spLocks noChangeArrowheads="1"/>
            </p:cNvSpPr>
            <p:nvPr/>
          </p:nvSpPr>
          <p:spPr bwMode="auto">
            <a:xfrm>
              <a:off x="680"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1</a:t>
              </a:r>
              <a:r>
                <a:rPr lang="zh-CN" altLang="en-US" b="1">
                  <a:ea typeface="楷体_GB2312" pitchFamily="49" charset="-122"/>
                </a:rPr>
                <a:t>层</a:t>
              </a:r>
            </a:p>
          </p:txBody>
        </p:sp>
        <p:sp>
          <p:nvSpPr>
            <p:cNvPr id="9252" name="Text Box 36">
              <a:extLst>
                <a:ext uri="{FF2B5EF4-FFF2-40B4-BE49-F238E27FC236}">
                  <a16:creationId xmlns:a16="http://schemas.microsoft.com/office/drawing/2014/main" id="{F4286B45-F134-9BE5-9221-26054F897D86}"/>
                </a:ext>
              </a:extLst>
            </p:cNvPr>
            <p:cNvSpPr txBox="1">
              <a:spLocks noChangeArrowheads="1"/>
            </p:cNvSpPr>
            <p:nvPr/>
          </p:nvSpPr>
          <p:spPr bwMode="auto">
            <a:xfrm>
              <a:off x="1542"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2</a:t>
              </a:r>
              <a:r>
                <a:rPr lang="zh-CN" altLang="en-US" b="1">
                  <a:ea typeface="楷体_GB2312" pitchFamily="49" charset="-122"/>
                </a:rPr>
                <a:t>层</a:t>
              </a:r>
            </a:p>
          </p:txBody>
        </p:sp>
        <p:sp>
          <p:nvSpPr>
            <p:cNvPr id="9253" name="Text Box 37">
              <a:extLst>
                <a:ext uri="{FF2B5EF4-FFF2-40B4-BE49-F238E27FC236}">
                  <a16:creationId xmlns:a16="http://schemas.microsoft.com/office/drawing/2014/main" id="{145BD8E3-E831-7887-0274-82747012CD07}"/>
                </a:ext>
              </a:extLst>
            </p:cNvPr>
            <p:cNvSpPr txBox="1">
              <a:spLocks noChangeArrowheads="1"/>
            </p:cNvSpPr>
            <p:nvPr/>
          </p:nvSpPr>
          <p:spPr bwMode="auto">
            <a:xfrm>
              <a:off x="2449"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3</a:t>
              </a:r>
              <a:r>
                <a:rPr lang="zh-CN" altLang="en-US" b="1">
                  <a:ea typeface="楷体_GB2312" pitchFamily="49" charset="-122"/>
                </a:rPr>
                <a:t>层</a:t>
              </a:r>
            </a:p>
          </p:txBody>
        </p:sp>
        <p:sp>
          <p:nvSpPr>
            <p:cNvPr id="9254" name="Text Box 38">
              <a:extLst>
                <a:ext uri="{FF2B5EF4-FFF2-40B4-BE49-F238E27FC236}">
                  <a16:creationId xmlns:a16="http://schemas.microsoft.com/office/drawing/2014/main" id="{BA58DFBE-81DB-399F-59FC-0740CAD65A8C}"/>
                </a:ext>
              </a:extLst>
            </p:cNvPr>
            <p:cNvSpPr txBox="1">
              <a:spLocks noChangeArrowheads="1"/>
            </p:cNvSpPr>
            <p:nvPr/>
          </p:nvSpPr>
          <p:spPr bwMode="auto">
            <a:xfrm>
              <a:off x="3175"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0000"/>
                  </a:solidFill>
                  <a:ea typeface="楷体_GB2312" pitchFamily="49" charset="-122"/>
                </a:rPr>
                <a:t>第</a:t>
              </a:r>
              <a:r>
                <a:rPr lang="en-US" altLang="zh-CN" b="1" dirty="0">
                  <a:solidFill>
                    <a:srgbClr val="FF0000"/>
                  </a:solidFill>
                  <a:ea typeface="楷体_GB2312" pitchFamily="49" charset="-122"/>
                </a:rPr>
                <a:t>4</a:t>
              </a:r>
              <a:r>
                <a:rPr lang="zh-CN" altLang="en-US" b="1" dirty="0">
                  <a:solidFill>
                    <a:srgbClr val="FF0000"/>
                  </a:solidFill>
                  <a:ea typeface="楷体_GB2312" pitchFamily="49" charset="-122"/>
                </a:rPr>
                <a:t>层</a:t>
              </a:r>
            </a:p>
          </p:txBody>
        </p:sp>
        <p:sp>
          <p:nvSpPr>
            <p:cNvPr id="9255" name="Text Box 39">
              <a:extLst>
                <a:ext uri="{FF2B5EF4-FFF2-40B4-BE49-F238E27FC236}">
                  <a16:creationId xmlns:a16="http://schemas.microsoft.com/office/drawing/2014/main" id="{183F18C1-6505-D83B-7175-D5DF22B429C7}"/>
                </a:ext>
              </a:extLst>
            </p:cNvPr>
            <p:cNvSpPr txBox="1">
              <a:spLocks noChangeArrowheads="1"/>
            </p:cNvSpPr>
            <p:nvPr/>
          </p:nvSpPr>
          <p:spPr bwMode="auto">
            <a:xfrm>
              <a:off x="3901"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0000"/>
                  </a:solidFill>
                  <a:ea typeface="楷体_GB2312" pitchFamily="49" charset="-122"/>
                </a:rPr>
                <a:t>第</a:t>
              </a:r>
              <a:r>
                <a:rPr lang="en-US" altLang="zh-CN" b="1" dirty="0">
                  <a:solidFill>
                    <a:srgbClr val="FF0000"/>
                  </a:solidFill>
                  <a:ea typeface="楷体_GB2312" pitchFamily="49" charset="-122"/>
                </a:rPr>
                <a:t>5</a:t>
              </a:r>
              <a:r>
                <a:rPr lang="zh-CN" altLang="en-US" b="1" dirty="0">
                  <a:solidFill>
                    <a:srgbClr val="FF0000"/>
                  </a:solidFill>
                  <a:ea typeface="楷体_GB2312" pitchFamily="49" charset="-122"/>
                </a:rPr>
                <a:t>层</a:t>
              </a:r>
            </a:p>
          </p:txBody>
        </p:sp>
        <p:sp>
          <p:nvSpPr>
            <p:cNvPr id="9256" name="Text Box 40">
              <a:extLst>
                <a:ext uri="{FF2B5EF4-FFF2-40B4-BE49-F238E27FC236}">
                  <a16:creationId xmlns:a16="http://schemas.microsoft.com/office/drawing/2014/main" id="{278B44BE-4B7F-C65C-705E-044720C89F8C}"/>
                </a:ext>
              </a:extLst>
            </p:cNvPr>
            <p:cNvSpPr txBox="1">
              <a:spLocks noChangeArrowheads="1"/>
            </p:cNvSpPr>
            <p:nvPr/>
          </p:nvSpPr>
          <p:spPr bwMode="auto">
            <a:xfrm>
              <a:off x="1950" y="588"/>
              <a:ext cx="362"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9257" name="Text Box 41">
              <a:extLst>
                <a:ext uri="{FF2B5EF4-FFF2-40B4-BE49-F238E27FC236}">
                  <a16:creationId xmlns:a16="http://schemas.microsoft.com/office/drawing/2014/main" id="{92DF3382-4FA3-936A-3346-0C0F5B719848}"/>
                </a:ext>
              </a:extLst>
            </p:cNvPr>
            <p:cNvSpPr txBox="1">
              <a:spLocks noChangeArrowheads="1"/>
            </p:cNvSpPr>
            <p:nvPr/>
          </p:nvSpPr>
          <p:spPr bwMode="auto">
            <a:xfrm>
              <a:off x="1950" y="1451"/>
              <a:ext cx="36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9258" name="Text Box 42">
              <a:extLst>
                <a:ext uri="{FF2B5EF4-FFF2-40B4-BE49-F238E27FC236}">
                  <a16:creationId xmlns:a16="http://schemas.microsoft.com/office/drawing/2014/main" id="{68A070CD-72EB-D09F-015A-39AAC0CD67EF}"/>
                </a:ext>
              </a:extLst>
            </p:cNvPr>
            <p:cNvSpPr txBox="1">
              <a:spLocks noChangeArrowheads="1"/>
            </p:cNvSpPr>
            <p:nvPr/>
          </p:nvSpPr>
          <p:spPr bwMode="auto">
            <a:xfrm>
              <a:off x="2767" y="635"/>
              <a:ext cx="36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dirty="0"/>
                <a:t>W</a:t>
              </a:r>
              <a:r>
                <a:rPr lang="en-US" altLang="zh-CN" u="sng" baseline="-25000" dirty="0"/>
                <a:t>1</a:t>
              </a:r>
            </a:p>
          </p:txBody>
        </p:sp>
        <p:sp>
          <p:nvSpPr>
            <p:cNvPr id="9259" name="Text Box 43">
              <a:extLst>
                <a:ext uri="{FF2B5EF4-FFF2-40B4-BE49-F238E27FC236}">
                  <a16:creationId xmlns:a16="http://schemas.microsoft.com/office/drawing/2014/main" id="{F0DDDFBF-7F91-373C-8140-6127DBF762B8}"/>
                </a:ext>
              </a:extLst>
            </p:cNvPr>
            <p:cNvSpPr txBox="1">
              <a:spLocks noChangeArrowheads="1"/>
            </p:cNvSpPr>
            <p:nvPr/>
          </p:nvSpPr>
          <p:spPr bwMode="auto">
            <a:xfrm>
              <a:off x="2767" y="1497"/>
              <a:ext cx="36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9260" name="Text Box 44">
              <a:extLst>
                <a:ext uri="{FF2B5EF4-FFF2-40B4-BE49-F238E27FC236}">
                  <a16:creationId xmlns:a16="http://schemas.microsoft.com/office/drawing/2014/main" id="{379E59E1-905F-42FA-34E3-EA79E5F2A3EB}"/>
                </a:ext>
              </a:extLst>
            </p:cNvPr>
            <p:cNvSpPr txBox="1">
              <a:spLocks noChangeArrowheads="1"/>
            </p:cNvSpPr>
            <p:nvPr/>
          </p:nvSpPr>
          <p:spPr bwMode="auto">
            <a:xfrm>
              <a:off x="3674" y="544"/>
              <a:ext cx="54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9261" name="Text Box 45">
              <a:extLst>
                <a:ext uri="{FF2B5EF4-FFF2-40B4-BE49-F238E27FC236}">
                  <a16:creationId xmlns:a16="http://schemas.microsoft.com/office/drawing/2014/main" id="{B125B971-6FF4-24D0-FBF4-F5E4B8A58C08}"/>
                </a:ext>
              </a:extLst>
            </p:cNvPr>
            <p:cNvSpPr txBox="1">
              <a:spLocks noChangeArrowheads="1"/>
            </p:cNvSpPr>
            <p:nvPr/>
          </p:nvSpPr>
          <p:spPr bwMode="auto">
            <a:xfrm>
              <a:off x="3674" y="1406"/>
              <a:ext cx="54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9262" name="Text Box 46">
              <a:extLst>
                <a:ext uri="{FF2B5EF4-FFF2-40B4-BE49-F238E27FC236}">
                  <a16:creationId xmlns:a16="http://schemas.microsoft.com/office/drawing/2014/main" id="{4120BC7E-3981-2E7F-6131-A7574058136E}"/>
                </a:ext>
              </a:extLst>
            </p:cNvPr>
            <p:cNvSpPr txBox="1">
              <a:spLocks noChangeArrowheads="1"/>
            </p:cNvSpPr>
            <p:nvPr/>
          </p:nvSpPr>
          <p:spPr bwMode="auto">
            <a:xfrm>
              <a:off x="4626" y="997"/>
              <a:ext cx="227"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9263" name="Text Box 47">
              <a:extLst>
                <a:ext uri="{FF2B5EF4-FFF2-40B4-BE49-F238E27FC236}">
                  <a16:creationId xmlns:a16="http://schemas.microsoft.com/office/drawing/2014/main" id="{2245A3AC-671A-F09D-282A-F07BB0BFD863}"/>
                </a:ext>
              </a:extLst>
            </p:cNvPr>
            <p:cNvSpPr txBox="1">
              <a:spLocks noChangeArrowheads="1"/>
            </p:cNvSpPr>
            <p:nvPr/>
          </p:nvSpPr>
          <p:spPr bwMode="auto">
            <a:xfrm>
              <a:off x="3266" y="317"/>
              <a:ext cx="45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9264" name="Text Box 48">
              <a:extLst>
                <a:ext uri="{FF2B5EF4-FFF2-40B4-BE49-F238E27FC236}">
                  <a16:creationId xmlns:a16="http://schemas.microsoft.com/office/drawing/2014/main" id="{562C56F3-948B-99E7-34A5-B12CB3ECA1DC}"/>
                </a:ext>
              </a:extLst>
            </p:cNvPr>
            <p:cNvSpPr txBox="1">
              <a:spLocks noChangeArrowheads="1"/>
            </p:cNvSpPr>
            <p:nvPr/>
          </p:nvSpPr>
          <p:spPr bwMode="auto">
            <a:xfrm>
              <a:off x="3266" y="1722"/>
              <a:ext cx="408"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9265" name="Line 49">
              <a:extLst>
                <a:ext uri="{FF2B5EF4-FFF2-40B4-BE49-F238E27FC236}">
                  <a16:creationId xmlns:a16="http://schemas.microsoft.com/office/drawing/2014/main" id="{57157A53-3C8C-119B-F93E-88D0DB01D8B9}"/>
                </a:ext>
              </a:extLst>
            </p:cNvPr>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6" name="Line 50">
              <a:extLst>
                <a:ext uri="{FF2B5EF4-FFF2-40B4-BE49-F238E27FC236}">
                  <a16:creationId xmlns:a16="http://schemas.microsoft.com/office/drawing/2014/main" id="{2320E416-7D4B-6075-8493-4FB586E50696}"/>
                </a:ext>
              </a:extLst>
            </p:cNvPr>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7" name="Line 51">
              <a:extLst>
                <a:ext uri="{FF2B5EF4-FFF2-40B4-BE49-F238E27FC236}">
                  <a16:creationId xmlns:a16="http://schemas.microsoft.com/office/drawing/2014/main" id="{3FDD1EFD-4746-A13A-821B-9CBEE7117A4F}"/>
                </a:ext>
              </a:extLst>
            </p:cNvPr>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8" name="Line 52">
              <a:extLst>
                <a:ext uri="{FF2B5EF4-FFF2-40B4-BE49-F238E27FC236}">
                  <a16:creationId xmlns:a16="http://schemas.microsoft.com/office/drawing/2014/main" id="{29783B95-C0C3-3854-FA2F-0B8D91681A9D}"/>
                </a:ext>
              </a:extLst>
            </p:cNvPr>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文本框 2">
            <a:extLst>
              <a:ext uri="{FF2B5EF4-FFF2-40B4-BE49-F238E27FC236}">
                <a16:creationId xmlns:a16="http://schemas.microsoft.com/office/drawing/2014/main" id="{F7F5272D-C1F9-4FE6-B5FD-6CF84F0A172D}"/>
              </a:ext>
            </a:extLst>
          </p:cNvPr>
          <p:cNvSpPr txBox="1"/>
          <p:nvPr/>
        </p:nvSpPr>
        <p:spPr>
          <a:xfrm>
            <a:off x="3863752" y="1690009"/>
            <a:ext cx="698843" cy="2459071"/>
          </a:xfrm>
          <a:prstGeom prst="rect">
            <a:avLst/>
          </a:prstGeom>
          <a:noFill/>
        </p:spPr>
        <p:txBody>
          <a:bodyPr wrap="square" rtlCol="0">
            <a:spAutoFit/>
          </a:bodyPr>
          <a:lstStyle/>
          <a:p>
            <a:pPr>
              <a:lnSpc>
                <a:spcPct val="200000"/>
              </a:lnSpc>
            </a:pPr>
            <a:r>
              <a:rPr lang="en-US" altLang="zh-CN" sz="2000" b="1" i="1" dirty="0"/>
              <a:t>O</a:t>
            </a:r>
            <a:r>
              <a:rPr lang="en-US" altLang="zh-CN" sz="2000" b="1" baseline="-25000" dirty="0"/>
              <a:t>1,1</a:t>
            </a:r>
          </a:p>
          <a:p>
            <a:pPr>
              <a:lnSpc>
                <a:spcPct val="200000"/>
              </a:lnSpc>
            </a:pPr>
            <a:r>
              <a:rPr lang="en-US" altLang="zh-CN" sz="2000" b="1" i="1" dirty="0"/>
              <a:t>O</a:t>
            </a:r>
            <a:r>
              <a:rPr lang="en-US" altLang="zh-CN" sz="2000" b="1" baseline="-25000" dirty="0"/>
              <a:t>1,2</a:t>
            </a:r>
            <a:endParaRPr lang="zh-CN" altLang="en-US" sz="2000" dirty="0"/>
          </a:p>
          <a:p>
            <a:pPr>
              <a:lnSpc>
                <a:spcPct val="200000"/>
              </a:lnSpc>
            </a:pPr>
            <a:r>
              <a:rPr lang="en-US" altLang="zh-CN" sz="2000" b="1" i="1" dirty="0"/>
              <a:t>O</a:t>
            </a:r>
            <a:r>
              <a:rPr lang="en-US" altLang="zh-CN" sz="2000" b="1" baseline="-25000" dirty="0"/>
              <a:t>1,3</a:t>
            </a:r>
            <a:endParaRPr lang="zh-CN" altLang="en-US" sz="2000" dirty="0"/>
          </a:p>
          <a:p>
            <a:pPr>
              <a:lnSpc>
                <a:spcPct val="200000"/>
              </a:lnSpc>
            </a:pPr>
            <a:r>
              <a:rPr lang="en-US" altLang="zh-CN" sz="2000" b="1" i="1" dirty="0"/>
              <a:t>O</a:t>
            </a:r>
            <a:r>
              <a:rPr lang="en-US" altLang="zh-CN" sz="2000" b="1" baseline="-25000" dirty="0"/>
              <a:t>1,4</a:t>
            </a:r>
            <a:endParaRPr lang="zh-CN" altLang="en-US" sz="2000" dirty="0"/>
          </a:p>
        </p:txBody>
      </p:sp>
      <p:sp>
        <p:nvSpPr>
          <p:cNvPr id="2" name="灯片编号占位符 1">
            <a:extLst>
              <a:ext uri="{FF2B5EF4-FFF2-40B4-BE49-F238E27FC236}">
                <a16:creationId xmlns:a16="http://schemas.microsoft.com/office/drawing/2014/main" id="{3B8ED077-8484-6438-DCCB-6562175BCE4E}"/>
              </a:ext>
            </a:extLst>
          </p:cNvPr>
          <p:cNvSpPr>
            <a:spLocks noGrp="1"/>
          </p:cNvSpPr>
          <p:nvPr>
            <p:ph type="sldNum" sz="quarter" idx="11"/>
          </p:nvPr>
        </p:nvSpPr>
        <p:spPr/>
        <p:txBody>
          <a:bodyPr/>
          <a:lstStyle/>
          <a:p>
            <a:pPr>
              <a:defRPr/>
            </a:pPr>
            <a:fld id="{B77A47BA-BA63-4780-94A9-8AFA2EA4438D}" type="slidenum">
              <a:rPr lang="en-US" altLang="zh-CN" smtClean="0"/>
              <a:pPr>
                <a:defRPr/>
              </a:pPr>
              <a:t>29</a:t>
            </a:fld>
            <a:endParaRPr lang="en-US" altLang="zh-CN"/>
          </a:p>
        </p:txBody>
      </p:sp>
      <p:sp>
        <p:nvSpPr>
          <p:cNvPr id="9219" name="Rectangle 3">
            <a:extLst>
              <a:ext uri="{FF2B5EF4-FFF2-40B4-BE49-F238E27FC236}">
                <a16:creationId xmlns:a16="http://schemas.microsoft.com/office/drawing/2014/main" id="{6C8C1CFE-576D-8164-27B4-CB09F35EBACD}"/>
              </a:ext>
            </a:extLst>
          </p:cNvPr>
          <p:cNvSpPr>
            <a:spLocks noGrp="1" noChangeArrowheads="1"/>
          </p:cNvSpPr>
          <p:nvPr>
            <p:ph type="body" idx="4294967295"/>
          </p:nvPr>
        </p:nvSpPr>
        <p:spPr>
          <a:xfrm>
            <a:off x="0" y="4308702"/>
            <a:ext cx="12191999" cy="2549298"/>
          </a:xfrm>
          <a:solidFill>
            <a:schemeClr val="accent5"/>
          </a:solidFill>
        </p:spPr>
        <p:txBody>
          <a:bodyPr/>
          <a:lstStyle/>
          <a:p>
            <a:pPr eaLnBrk="1" hangingPunct="1"/>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4</a:t>
            </a:r>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en-US" altLang="zh-CN"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5</a:t>
            </a:r>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层：结论和总输出层</a:t>
            </a:r>
            <a:endParaRPr lang="en-US" altLang="zh-CN"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marL="857250" lvl="1" indent="-457200">
              <a:buFont typeface="Wingdings" panose="05000000000000000000" pitchFamily="2" charset="2"/>
              <a:buChar char="p"/>
            </a:pPr>
            <a:r>
              <a:rPr lang="en-US" altLang="zh-CN" dirty="0" err="1">
                <a:latin typeface="+mj-lt"/>
                <a:ea typeface="黑体" panose="02010609060101010101" pitchFamily="49" charset="-122"/>
                <a:cs typeface="Noto Sans SC"/>
                <a:sym typeface="Noto Sans SC"/>
              </a:rPr>
              <a:t>ANFIS通过反向传播算法自动优化隶属函数与规则参数，无需人工干预即可从数据中提炼规则</a:t>
            </a:r>
            <a:r>
              <a:rPr lang="en-US" altLang="zh-CN" dirty="0">
                <a:latin typeface="+mj-lt"/>
                <a:ea typeface="黑体" panose="02010609060101010101" pitchFamily="49" charset="-122"/>
                <a:cs typeface="Noto Sans SC"/>
                <a:sym typeface="Noto Sans SC"/>
              </a:rPr>
              <a:t>。</a:t>
            </a:r>
          </a:p>
          <a:p>
            <a:pPr marL="857250" lvl="1" indent="-457200">
              <a:buFont typeface="Wingdings" panose="05000000000000000000" pitchFamily="2" charset="2"/>
              <a:buChar char="p"/>
            </a:pPr>
            <a:r>
              <a:rPr lang="en-US" altLang="zh-CN" dirty="0">
                <a:solidFill>
                  <a:srgbClr val="CC00CC"/>
                </a:solidFill>
                <a:latin typeface="+mj-lt"/>
                <a:ea typeface="黑体" panose="02010609060101010101" pitchFamily="49" charset="-122"/>
                <a:cs typeface="Noto Sans SC"/>
                <a:sym typeface="Noto Sans SC"/>
              </a:rPr>
              <a:t>这一机制既保留了F系统“白盒”般的逻辑可解释性，又具备了神经网络强大的非线性拟合与自适应学习能力</a:t>
            </a:r>
            <a:r>
              <a:rPr lang="en-US" altLang="zh-CN" dirty="0">
                <a:solidFill>
                  <a:srgbClr val="CC00CC"/>
                </a:solidFill>
                <a:latin typeface="黑体" panose="02010609060101010101" pitchFamily="49" charset="-122"/>
                <a:ea typeface="黑体" panose="02010609060101010101" pitchFamily="49" charset="-122"/>
                <a:cs typeface="Noto Sans SC"/>
                <a:sym typeface="Noto Sans SC"/>
              </a:rPr>
              <a:t>，实现了精度与可解释性的完美平衡</a:t>
            </a:r>
          </a:p>
        </p:txBody>
      </p:sp>
    </p:spTree>
    <p:extLst>
      <p:ext uri="{BB962C8B-B14F-4D97-AF65-F5344CB8AC3E}">
        <p14:creationId xmlns:p14="http://schemas.microsoft.com/office/powerpoint/2010/main" val="932410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left)">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left)">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wipe(left)">
                                      <p:cBhvr>
                                        <p:cTn id="17"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9D812-D8BB-9331-2EC1-9FE22EDDDB98}"/>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94E463D0-545D-6B1C-5C14-82020A6267D0}"/>
              </a:ext>
            </a:extLst>
          </p:cNvPr>
          <p:cNvSpPr>
            <a:spLocks noGrp="1" noChangeArrowheads="1"/>
          </p:cNvSpPr>
          <p:nvPr>
            <p:ph type="title" idx="4294967295"/>
          </p:nvPr>
        </p:nvSpPr>
        <p:spPr>
          <a:xfrm>
            <a:off x="609600" y="116632"/>
            <a:ext cx="10972800" cy="1371600"/>
          </a:xfrm>
        </p:spPr>
        <p:txBody>
          <a:bodyPr/>
          <a:lstStyle/>
          <a:p>
            <a:pPr algn="ctr" eaLnBrk="1" hangingPunct="1"/>
            <a:r>
              <a:rPr lang="en-US" altLang="zh-CN" dirty="0">
                <a:solidFill>
                  <a:srgbClr val="008000"/>
                </a:solidFill>
              </a:rPr>
              <a:t> </a:t>
            </a:r>
            <a:r>
              <a:rPr lang="en-US" altLang="zh-CN" dirty="0">
                <a:solidFill>
                  <a:srgbClr val="008000"/>
                </a:solidFill>
                <a:latin typeface="Comic Sans MS" panose="030F0702030302020204" pitchFamily="66" charset="0"/>
                <a:ea typeface="黑体" panose="02010609060101010101" pitchFamily="49" charset="-122"/>
              </a:rPr>
              <a:t>ANFIS</a:t>
            </a:r>
            <a:r>
              <a:rPr lang="zh-CN" altLang="en-US" dirty="0">
                <a:solidFill>
                  <a:srgbClr val="008000"/>
                </a:solidFill>
                <a:ea typeface="黑体" panose="02010609060101010101" pitchFamily="49" charset="-122"/>
              </a:rPr>
              <a:t>的结构</a:t>
            </a:r>
          </a:p>
        </p:txBody>
      </p:sp>
      <p:sp>
        <p:nvSpPr>
          <p:cNvPr id="7171" name="Rectangle 3">
            <a:extLst>
              <a:ext uri="{FF2B5EF4-FFF2-40B4-BE49-F238E27FC236}">
                <a16:creationId xmlns:a16="http://schemas.microsoft.com/office/drawing/2014/main" id="{552A0C02-F628-099A-E716-8D051CC5DB77}"/>
              </a:ext>
            </a:extLst>
          </p:cNvPr>
          <p:cNvSpPr>
            <a:spLocks noGrp="1" noChangeArrowheads="1"/>
          </p:cNvSpPr>
          <p:nvPr>
            <p:ph type="body" idx="4294967295"/>
          </p:nvPr>
        </p:nvSpPr>
        <p:spPr>
          <a:xfrm>
            <a:off x="925216" y="4065984"/>
            <a:ext cx="10657184" cy="2531368"/>
          </a:xfrm>
        </p:spPr>
        <p:txBody>
          <a:bodyPr/>
          <a:lstStyle/>
          <a:p>
            <a:pPr eaLnBrk="1" hangingPunct="1">
              <a:lnSpc>
                <a:spcPct val="120000"/>
              </a:lnSpc>
            </a:pPr>
            <a:r>
              <a:rPr lang="zh-CN" altLang="en-US" b="1" dirty="0">
                <a:ea typeface="黑体" panose="02010609060101010101" pitchFamily="49" charset="-122"/>
              </a:rPr>
              <a:t>假设</a:t>
            </a:r>
            <a:r>
              <a:rPr lang="en-US" altLang="zh-CN" b="1" dirty="0">
                <a:ea typeface="黑体" panose="02010609060101010101" pitchFamily="49" charset="-122"/>
              </a:rPr>
              <a:t>FIS</a:t>
            </a:r>
            <a:r>
              <a:rPr lang="zh-CN" altLang="en-US" b="1" dirty="0">
                <a:ea typeface="黑体" panose="02010609060101010101" pitchFamily="49" charset="-122"/>
              </a:rPr>
              <a:t>有两个输入</a:t>
            </a:r>
            <a:r>
              <a:rPr lang="en-US" altLang="zh-CN" b="1" dirty="0">
                <a:ea typeface="黑体" panose="02010609060101010101" pitchFamily="49" charset="-122"/>
              </a:rPr>
              <a:t>x</a:t>
            </a:r>
            <a:r>
              <a:rPr lang="zh-CN" altLang="en-US" b="1" dirty="0">
                <a:ea typeface="黑体" panose="02010609060101010101" pitchFamily="49" charset="-122"/>
              </a:rPr>
              <a:t>和</a:t>
            </a:r>
            <a:r>
              <a:rPr lang="en-US" altLang="zh-CN" b="1" dirty="0">
                <a:ea typeface="黑体" panose="02010609060101010101" pitchFamily="49" charset="-122"/>
              </a:rPr>
              <a:t>y</a:t>
            </a:r>
            <a:r>
              <a:rPr lang="zh-CN" altLang="en-US" b="1" dirty="0">
                <a:ea typeface="黑体" panose="02010609060101010101" pitchFamily="49" charset="-122"/>
              </a:rPr>
              <a:t>，单输出</a:t>
            </a:r>
            <a:r>
              <a:rPr lang="en-US" altLang="zh-CN" b="1" dirty="0">
                <a:ea typeface="黑体" panose="02010609060101010101" pitchFamily="49" charset="-122"/>
              </a:rPr>
              <a:t>z</a:t>
            </a:r>
            <a:r>
              <a:rPr lang="zh-CN" altLang="en-US" b="1" dirty="0">
                <a:ea typeface="黑体" panose="02010609060101010101" pitchFamily="49" charset="-122"/>
              </a:rPr>
              <a:t>，对于一阶</a:t>
            </a:r>
            <a:r>
              <a:rPr lang="en-US" altLang="zh-CN" b="1" dirty="0" err="1">
                <a:ea typeface="黑体" panose="02010609060101010101" pitchFamily="49" charset="-122"/>
              </a:rPr>
              <a:t>Sugeno</a:t>
            </a:r>
            <a:r>
              <a:rPr lang="en-US" altLang="zh-CN" b="1" dirty="0">
                <a:ea typeface="黑体" panose="02010609060101010101" pitchFamily="49" charset="-122"/>
              </a:rPr>
              <a:t> F</a:t>
            </a:r>
            <a:r>
              <a:rPr lang="zh-CN" altLang="en-US" b="1" dirty="0">
                <a:ea typeface="黑体" panose="02010609060101010101" pitchFamily="49" charset="-122"/>
              </a:rPr>
              <a:t>模型，具有两条</a:t>
            </a:r>
            <a:r>
              <a:rPr lang="en-US" altLang="zh-CN" b="1" dirty="0">
                <a:ea typeface="黑体" panose="02010609060101010101" pitchFamily="49" charset="-122"/>
              </a:rPr>
              <a:t>F </a:t>
            </a:r>
            <a:r>
              <a:rPr lang="zh-CN" altLang="en-US" b="1" dirty="0">
                <a:ea typeface="黑体" panose="02010609060101010101" pitchFamily="49" charset="-122"/>
              </a:rPr>
              <a:t>规则：</a:t>
            </a:r>
          </a:p>
          <a:p>
            <a:pPr eaLnBrk="1" hangingPunct="1">
              <a:lnSpc>
                <a:spcPct val="120000"/>
              </a:lnSpc>
              <a:buFont typeface="Wingdings" panose="05000000000000000000" pitchFamily="2" charset="2"/>
              <a:buNone/>
            </a:pPr>
            <a:r>
              <a:rPr lang="zh-CN" altLang="en-US" b="1" dirty="0">
                <a:solidFill>
                  <a:srgbClr val="0000FF"/>
                </a:solidFill>
                <a:ea typeface="楷体_GB2312" pitchFamily="49" charset="-122"/>
              </a:rPr>
              <a:t>   </a:t>
            </a:r>
            <a:r>
              <a:rPr lang="en-US" altLang="zh-CN" b="1" dirty="0">
                <a:solidFill>
                  <a:srgbClr val="0000FF"/>
                </a:solidFill>
                <a:ea typeface="楷体_GB2312" pitchFamily="49" charset="-122"/>
              </a:rPr>
              <a:t>R</a:t>
            </a:r>
            <a:r>
              <a:rPr lang="en-US" altLang="zh-CN" baseline="-25000" dirty="0">
                <a:solidFill>
                  <a:srgbClr val="0000FF"/>
                </a:solidFill>
              </a:rPr>
              <a:t>1</a:t>
            </a:r>
            <a:r>
              <a:rPr lang="en-US" altLang="zh-CN" b="1" dirty="0">
                <a:solidFill>
                  <a:srgbClr val="0000FF"/>
                </a:solidFill>
                <a:ea typeface="楷体_GB2312" pitchFamily="49" charset="-122"/>
              </a:rPr>
              <a:t>: IF x=A</a:t>
            </a:r>
            <a:r>
              <a:rPr lang="en-US" altLang="zh-CN" baseline="-25000" dirty="0">
                <a:solidFill>
                  <a:srgbClr val="0000FF"/>
                </a:solidFill>
              </a:rPr>
              <a:t>1</a:t>
            </a:r>
            <a:r>
              <a:rPr lang="en-US" altLang="zh-CN" b="1" dirty="0">
                <a:solidFill>
                  <a:srgbClr val="0000FF"/>
                </a:solidFill>
                <a:ea typeface="楷体_GB2312" pitchFamily="49" charset="-122"/>
              </a:rPr>
              <a:t> and y=B</a:t>
            </a:r>
            <a:r>
              <a:rPr lang="en-US" altLang="zh-CN" baseline="-25000" dirty="0">
                <a:solidFill>
                  <a:srgbClr val="0000FF"/>
                </a:solidFill>
              </a:rPr>
              <a:t>1</a:t>
            </a:r>
            <a:r>
              <a:rPr lang="en-US" altLang="zh-CN" b="1" dirty="0">
                <a:solidFill>
                  <a:srgbClr val="0000FF"/>
                </a:solidFill>
                <a:ea typeface="楷体_GB2312" pitchFamily="49" charset="-122"/>
              </a:rPr>
              <a:t> THEN</a:t>
            </a:r>
            <a:r>
              <a:rPr lang="zh-CN" altLang="en-US" b="1" dirty="0">
                <a:solidFill>
                  <a:srgbClr val="0000FF"/>
                </a:solidFill>
                <a:ea typeface="楷体_GB2312" pitchFamily="49" charset="-122"/>
              </a:rPr>
              <a:t> </a:t>
            </a:r>
            <a:r>
              <a:rPr lang="en-US" altLang="zh-CN" b="1" dirty="0">
                <a:solidFill>
                  <a:srgbClr val="0000FF"/>
                </a:solidFill>
                <a:ea typeface="楷体_GB2312" pitchFamily="49" charset="-122"/>
              </a:rPr>
              <a:t>z</a:t>
            </a:r>
            <a:r>
              <a:rPr lang="en-US" altLang="zh-CN" b="1" baseline="-25000" dirty="0">
                <a:solidFill>
                  <a:srgbClr val="0000FF"/>
                </a:solidFill>
              </a:rPr>
              <a:t>1</a:t>
            </a:r>
            <a:r>
              <a:rPr lang="en-US" altLang="zh-CN" b="1" dirty="0">
                <a:solidFill>
                  <a:srgbClr val="0000FF"/>
                </a:solidFill>
              </a:rPr>
              <a:t>=p</a:t>
            </a:r>
            <a:r>
              <a:rPr lang="en-US" altLang="zh-CN" b="1" baseline="-25000" dirty="0">
                <a:solidFill>
                  <a:srgbClr val="0000FF"/>
                </a:solidFill>
              </a:rPr>
              <a:t>1</a:t>
            </a:r>
            <a:r>
              <a:rPr lang="en-US" altLang="zh-CN" b="1" dirty="0">
                <a:solidFill>
                  <a:srgbClr val="0000FF"/>
                </a:solidFill>
              </a:rPr>
              <a:t>x+q</a:t>
            </a:r>
            <a:r>
              <a:rPr lang="en-US" altLang="zh-CN" b="1" baseline="-25000" dirty="0">
                <a:solidFill>
                  <a:srgbClr val="0000FF"/>
                </a:solidFill>
              </a:rPr>
              <a:t>1</a:t>
            </a:r>
            <a:r>
              <a:rPr lang="en-US" altLang="zh-CN" b="1" dirty="0">
                <a:solidFill>
                  <a:srgbClr val="0000FF"/>
                </a:solidFill>
              </a:rPr>
              <a:t>y+r</a:t>
            </a:r>
            <a:r>
              <a:rPr lang="en-US" altLang="zh-CN" b="1" baseline="-25000" dirty="0">
                <a:solidFill>
                  <a:srgbClr val="0000FF"/>
                </a:solidFill>
              </a:rPr>
              <a:t>1</a:t>
            </a:r>
            <a:r>
              <a:rPr lang="en-US" altLang="zh-CN" b="1" dirty="0">
                <a:solidFill>
                  <a:srgbClr val="0000FF"/>
                </a:solidFill>
              </a:rPr>
              <a:t> </a:t>
            </a:r>
          </a:p>
          <a:p>
            <a:pPr eaLnBrk="1" hangingPunct="1">
              <a:lnSpc>
                <a:spcPct val="120000"/>
              </a:lnSpc>
              <a:buFont typeface="Wingdings" panose="05000000000000000000" pitchFamily="2" charset="2"/>
              <a:buNone/>
            </a:pPr>
            <a:r>
              <a:rPr lang="en-US" altLang="zh-CN" b="1" dirty="0">
                <a:solidFill>
                  <a:srgbClr val="0000FF"/>
                </a:solidFill>
                <a:ea typeface="楷体_GB2312" pitchFamily="49" charset="-122"/>
              </a:rPr>
              <a:t>   R</a:t>
            </a:r>
            <a:r>
              <a:rPr lang="en-US" altLang="zh-CN" baseline="-25000" dirty="0">
                <a:solidFill>
                  <a:srgbClr val="0000FF"/>
                </a:solidFill>
              </a:rPr>
              <a:t>2</a:t>
            </a:r>
            <a:r>
              <a:rPr lang="en-US" altLang="zh-CN" b="1" dirty="0">
                <a:solidFill>
                  <a:srgbClr val="0000FF"/>
                </a:solidFill>
                <a:ea typeface="楷体_GB2312" pitchFamily="49" charset="-122"/>
              </a:rPr>
              <a:t>: IF x=A</a:t>
            </a:r>
            <a:r>
              <a:rPr lang="en-US" altLang="zh-CN" baseline="-25000" dirty="0">
                <a:solidFill>
                  <a:srgbClr val="0000FF"/>
                </a:solidFill>
              </a:rPr>
              <a:t>2</a:t>
            </a:r>
            <a:r>
              <a:rPr lang="en-US" altLang="zh-CN" b="1" dirty="0">
                <a:solidFill>
                  <a:srgbClr val="0000FF"/>
                </a:solidFill>
                <a:ea typeface="楷体_GB2312" pitchFamily="49" charset="-122"/>
              </a:rPr>
              <a:t> and y=B</a:t>
            </a:r>
            <a:r>
              <a:rPr lang="en-US" altLang="zh-CN" baseline="-25000" dirty="0">
                <a:solidFill>
                  <a:srgbClr val="0000FF"/>
                </a:solidFill>
              </a:rPr>
              <a:t>2</a:t>
            </a:r>
            <a:r>
              <a:rPr lang="en-US" altLang="zh-CN" b="1" dirty="0">
                <a:solidFill>
                  <a:srgbClr val="0000FF"/>
                </a:solidFill>
                <a:ea typeface="楷体_GB2312" pitchFamily="49" charset="-122"/>
              </a:rPr>
              <a:t> THEN</a:t>
            </a:r>
            <a:r>
              <a:rPr lang="zh-CN" altLang="en-US" b="1" dirty="0">
                <a:solidFill>
                  <a:srgbClr val="0000FF"/>
                </a:solidFill>
                <a:ea typeface="楷体_GB2312" pitchFamily="49" charset="-122"/>
              </a:rPr>
              <a:t> </a:t>
            </a:r>
            <a:r>
              <a:rPr lang="en-US" altLang="zh-CN" b="1" dirty="0">
                <a:solidFill>
                  <a:srgbClr val="0000FF"/>
                </a:solidFill>
                <a:ea typeface="楷体_GB2312" pitchFamily="49" charset="-122"/>
              </a:rPr>
              <a:t>z</a:t>
            </a:r>
            <a:r>
              <a:rPr lang="en-US" altLang="zh-CN" b="1" baseline="-25000" dirty="0">
                <a:solidFill>
                  <a:srgbClr val="0000FF"/>
                </a:solidFill>
              </a:rPr>
              <a:t>2</a:t>
            </a:r>
            <a:r>
              <a:rPr lang="en-US" altLang="zh-CN" b="1" dirty="0">
                <a:solidFill>
                  <a:srgbClr val="0000FF"/>
                </a:solidFill>
              </a:rPr>
              <a:t>=p</a:t>
            </a:r>
            <a:r>
              <a:rPr lang="en-US" altLang="zh-CN" b="1" baseline="-25000" dirty="0">
                <a:solidFill>
                  <a:srgbClr val="0000FF"/>
                </a:solidFill>
              </a:rPr>
              <a:t>2</a:t>
            </a:r>
            <a:r>
              <a:rPr lang="en-US" altLang="zh-CN" b="1" dirty="0">
                <a:solidFill>
                  <a:srgbClr val="0000FF"/>
                </a:solidFill>
              </a:rPr>
              <a:t>x+q</a:t>
            </a:r>
            <a:r>
              <a:rPr lang="en-US" altLang="zh-CN" b="1" baseline="-25000" dirty="0">
                <a:solidFill>
                  <a:srgbClr val="0000FF"/>
                </a:solidFill>
              </a:rPr>
              <a:t>2</a:t>
            </a:r>
            <a:r>
              <a:rPr lang="en-US" altLang="zh-CN" b="1" dirty="0">
                <a:solidFill>
                  <a:srgbClr val="0000FF"/>
                </a:solidFill>
              </a:rPr>
              <a:t>y+r</a:t>
            </a:r>
            <a:r>
              <a:rPr lang="en-US" altLang="zh-CN" b="1" baseline="-25000" dirty="0">
                <a:solidFill>
                  <a:srgbClr val="0000FF"/>
                </a:solidFill>
              </a:rPr>
              <a:t>2</a:t>
            </a:r>
          </a:p>
        </p:txBody>
      </p:sp>
      <p:sp>
        <p:nvSpPr>
          <p:cNvPr id="2" name="灯片编号占位符 1">
            <a:extLst>
              <a:ext uri="{FF2B5EF4-FFF2-40B4-BE49-F238E27FC236}">
                <a16:creationId xmlns:a16="http://schemas.microsoft.com/office/drawing/2014/main" id="{7DE425F5-7069-0553-93EB-EDF760B3DC2B}"/>
              </a:ext>
            </a:extLst>
          </p:cNvPr>
          <p:cNvSpPr>
            <a:spLocks noGrp="1"/>
          </p:cNvSpPr>
          <p:nvPr>
            <p:ph type="sldNum" sz="quarter" idx="11"/>
          </p:nvPr>
        </p:nvSpPr>
        <p:spPr/>
        <p:txBody>
          <a:bodyPr/>
          <a:lstStyle/>
          <a:p>
            <a:pPr>
              <a:defRPr/>
            </a:pPr>
            <a:fld id="{B77A47BA-BA63-4780-94A9-8AFA2EA4438D}" type="slidenum">
              <a:rPr lang="en-US" altLang="zh-CN" smtClean="0"/>
              <a:pPr>
                <a:defRPr/>
              </a:pPr>
              <a:t>30</a:t>
            </a:fld>
            <a:endParaRPr lang="en-US" altLang="zh-CN"/>
          </a:p>
        </p:txBody>
      </p:sp>
      <p:grpSp>
        <p:nvGrpSpPr>
          <p:cNvPr id="3" name="Group 4">
            <a:extLst>
              <a:ext uri="{FF2B5EF4-FFF2-40B4-BE49-F238E27FC236}">
                <a16:creationId xmlns:a16="http://schemas.microsoft.com/office/drawing/2014/main" id="{4CF5C044-37D9-B454-9A43-7CC7480F3EC8}"/>
              </a:ext>
            </a:extLst>
          </p:cNvPr>
          <p:cNvGrpSpPr>
            <a:grpSpLocks/>
          </p:cNvGrpSpPr>
          <p:nvPr/>
        </p:nvGrpSpPr>
        <p:grpSpPr bwMode="auto">
          <a:xfrm>
            <a:off x="1919287" y="1446609"/>
            <a:ext cx="8353425" cy="2619375"/>
            <a:chOff x="0" y="0"/>
            <a:chExt cx="4853" cy="2002"/>
          </a:xfrm>
        </p:grpSpPr>
        <p:sp>
          <p:nvSpPr>
            <p:cNvPr id="4" name="Rectangle 5">
              <a:extLst>
                <a:ext uri="{FF2B5EF4-FFF2-40B4-BE49-F238E27FC236}">
                  <a16:creationId xmlns:a16="http://schemas.microsoft.com/office/drawing/2014/main" id="{6D05AAF7-533A-751C-967F-7CFAA208FE01}"/>
                </a:ext>
              </a:extLst>
            </p:cNvPr>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5" name="Rectangle 6">
              <a:extLst>
                <a:ext uri="{FF2B5EF4-FFF2-40B4-BE49-F238E27FC236}">
                  <a16:creationId xmlns:a16="http://schemas.microsoft.com/office/drawing/2014/main" id="{9C737741-B2AB-5FCE-4D54-2F52DFC1DB73}"/>
                </a:ext>
              </a:extLst>
            </p:cNvPr>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6" name="Rectangle 7">
              <a:extLst>
                <a:ext uri="{FF2B5EF4-FFF2-40B4-BE49-F238E27FC236}">
                  <a16:creationId xmlns:a16="http://schemas.microsoft.com/office/drawing/2014/main" id="{3A683532-05C6-1616-51B7-D5DAC15D0D5B}"/>
                </a:ext>
              </a:extLst>
            </p:cNvPr>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7" name="Rectangle 8">
              <a:extLst>
                <a:ext uri="{FF2B5EF4-FFF2-40B4-BE49-F238E27FC236}">
                  <a16:creationId xmlns:a16="http://schemas.microsoft.com/office/drawing/2014/main" id="{271664C9-7D05-8647-52E7-5F01A3C09EA7}"/>
                </a:ext>
              </a:extLst>
            </p:cNvPr>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8" name="Oval 9">
              <a:extLst>
                <a:ext uri="{FF2B5EF4-FFF2-40B4-BE49-F238E27FC236}">
                  <a16:creationId xmlns:a16="http://schemas.microsoft.com/office/drawing/2014/main" id="{B32DBC8E-46FC-EAF6-C553-9176306B5816}"/>
                </a:ext>
              </a:extLst>
            </p:cNvPr>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 name="Rectangle 10">
              <a:extLst>
                <a:ext uri="{FF2B5EF4-FFF2-40B4-BE49-F238E27FC236}">
                  <a16:creationId xmlns:a16="http://schemas.microsoft.com/office/drawing/2014/main" id="{2B6FDDA8-7418-ACFD-F3BD-DCFEC1E783CD}"/>
                </a:ext>
              </a:extLst>
            </p:cNvPr>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0" name="Rectangle 11">
              <a:extLst>
                <a:ext uri="{FF2B5EF4-FFF2-40B4-BE49-F238E27FC236}">
                  <a16:creationId xmlns:a16="http://schemas.microsoft.com/office/drawing/2014/main" id="{441FA8FD-1000-DB78-F4C2-131FC741BB1D}"/>
                </a:ext>
              </a:extLst>
            </p:cNvPr>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1" name="Oval 12">
              <a:extLst>
                <a:ext uri="{FF2B5EF4-FFF2-40B4-BE49-F238E27FC236}">
                  <a16:creationId xmlns:a16="http://schemas.microsoft.com/office/drawing/2014/main" id="{02F98331-D552-171F-AA79-A0F81BB03A70}"/>
                </a:ext>
              </a:extLst>
            </p:cNvPr>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2" name="Oval 13">
              <a:extLst>
                <a:ext uri="{FF2B5EF4-FFF2-40B4-BE49-F238E27FC236}">
                  <a16:creationId xmlns:a16="http://schemas.microsoft.com/office/drawing/2014/main" id="{28DCE717-B1C0-42EE-4CB9-87443276DABF}"/>
                </a:ext>
              </a:extLst>
            </p:cNvPr>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3" name="Oval 14">
              <a:extLst>
                <a:ext uri="{FF2B5EF4-FFF2-40B4-BE49-F238E27FC236}">
                  <a16:creationId xmlns:a16="http://schemas.microsoft.com/office/drawing/2014/main" id="{EBA3101A-0025-2B32-6BA6-96ED33992D68}"/>
                </a:ext>
              </a:extLst>
            </p:cNvPr>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4" name="Oval 15">
              <a:extLst>
                <a:ext uri="{FF2B5EF4-FFF2-40B4-BE49-F238E27FC236}">
                  <a16:creationId xmlns:a16="http://schemas.microsoft.com/office/drawing/2014/main" id="{7DC2F3CC-6C14-10F5-632B-4EC66741C395}"/>
                </a:ext>
              </a:extLst>
            </p:cNvPr>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5" name="Text Box 16">
              <a:extLst>
                <a:ext uri="{FF2B5EF4-FFF2-40B4-BE49-F238E27FC236}">
                  <a16:creationId xmlns:a16="http://schemas.microsoft.com/office/drawing/2014/main" id="{696D25D8-16EB-724F-E212-AA974A1299EC}"/>
                </a:ext>
              </a:extLst>
            </p:cNvPr>
            <p:cNvSpPr txBox="1">
              <a:spLocks noChangeArrowheads="1"/>
            </p:cNvSpPr>
            <p:nvPr/>
          </p:nvSpPr>
          <p:spPr bwMode="auto">
            <a:xfrm>
              <a:off x="0" y="544"/>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6" name="Text Box 17">
              <a:extLst>
                <a:ext uri="{FF2B5EF4-FFF2-40B4-BE49-F238E27FC236}">
                  <a16:creationId xmlns:a16="http://schemas.microsoft.com/office/drawing/2014/main" id="{DFD8C64F-8491-9394-0FF8-9BDD66C5C8E0}"/>
                </a:ext>
              </a:extLst>
            </p:cNvPr>
            <p:cNvSpPr txBox="1">
              <a:spLocks noChangeArrowheads="1"/>
            </p:cNvSpPr>
            <p:nvPr/>
          </p:nvSpPr>
          <p:spPr bwMode="auto">
            <a:xfrm>
              <a:off x="0" y="1451"/>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7" name="Line 18">
              <a:extLst>
                <a:ext uri="{FF2B5EF4-FFF2-40B4-BE49-F238E27FC236}">
                  <a16:creationId xmlns:a16="http://schemas.microsoft.com/office/drawing/2014/main" id="{41EB6092-B3EA-EFAF-DD64-5B8AFED439C6}"/>
                </a:ext>
              </a:extLst>
            </p:cNvPr>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9">
              <a:extLst>
                <a:ext uri="{FF2B5EF4-FFF2-40B4-BE49-F238E27FC236}">
                  <a16:creationId xmlns:a16="http://schemas.microsoft.com/office/drawing/2014/main" id="{65FAF883-2992-37B7-4E8F-B5854C848ED7}"/>
                </a:ext>
              </a:extLst>
            </p:cNvPr>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20">
              <a:extLst>
                <a:ext uri="{FF2B5EF4-FFF2-40B4-BE49-F238E27FC236}">
                  <a16:creationId xmlns:a16="http://schemas.microsoft.com/office/drawing/2014/main" id="{CF00F319-DC47-1DFE-D90F-BBFE25B442D2}"/>
                </a:ext>
              </a:extLst>
            </p:cNvPr>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1">
              <a:extLst>
                <a:ext uri="{FF2B5EF4-FFF2-40B4-BE49-F238E27FC236}">
                  <a16:creationId xmlns:a16="http://schemas.microsoft.com/office/drawing/2014/main" id="{D250F9E2-CCAA-762C-0670-0DD152AA029D}"/>
                </a:ext>
              </a:extLst>
            </p:cNvPr>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22">
              <a:extLst>
                <a:ext uri="{FF2B5EF4-FFF2-40B4-BE49-F238E27FC236}">
                  <a16:creationId xmlns:a16="http://schemas.microsoft.com/office/drawing/2014/main" id="{BFA92458-E7A3-95AC-54BB-6EB3A5BE95B2}"/>
                </a:ext>
              </a:extLst>
            </p:cNvPr>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23">
              <a:extLst>
                <a:ext uri="{FF2B5EF4-FFF2-40B4-BE49-F238E27FC236}">
                  <a16:creationId xmlns:a16="http://schemas.microsoft.com/office/drawing/2014/main" id="{E381C647-A361-ABF1-9727-98A5E47EA281}"/>
                </a:ext>
              </a:extLst>
            </p:cNvPr>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4">
              <a:extLst>
                <a:ext uri="{FF2B5EF4-FFF2-40B4-BE49-F238E27FC236}">
                  <a16:creationId xmlns:a16="http://schemas.microsoft.com/office/drawing/2014/main" id="{B8C6D994-8D63-F64D-AE04-500EE6BD775B}"/>
                </a:ext>
              </a:extLst>
            </p:cNvPr>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5">
              <a:extLst>
                <a:ext uri="{FF2B5EF4-FFF2-40B4-BE49-F238E27FC236}">
                  <a16:creationId xmlns:a16="http://schemas.microsoft.com/office/drawing/2014/main" id="{3B715467-EB2D-D92B-0050-EB1D4F2429EC}"/>
                </a:ext>
              </a:extLst>
            </p:cNvPr>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6">
              <a:extLst>
                <a:ext uri="{FF2B5EF4-FFF2-40B4-BE49-F238E27FC236}">
                  <a16:creationId xmlns:a16="http://schemas.microsoft.com/office/drawing/2014/main" id="{77F8931F-1CFD-225D-6825-0DB48CD138AC}"/>
                </a:ext>
              </a:extLst>
            </p:cNvPr>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27">
              <a:extLst>
                <a:ext uri="{FF2B5EF4-FFF2-40B4-BE49-F238E27FC236}">
                  <a16:creationId xmlns:a16="http://schemas.microsoft.com/office/drawing/2014/main" id="{A49F00DD-AEFB-CBDE-A70E-6982DD3CF10F}"/>
                </a:ext>
              </a:extLst>
            </p:cNvPr>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8">
              <a:extLst>
                <a:ext uri="{FF2B5EF4-FFF2-40B4-BE49-F238E27FC236}">
                  <a16:creationId xmlns:a16="http://schemas.microsoft.com/office/drawing/2014/main" id="{BCCC315F-712E-6D9C-3901-A84AB825A4BB}"/>
                </a:ext>
              </a:extLst>
            </p:cNvPr>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29">
              <a:extLst>
                <a:ext uri="{FF2B5EF4-FFF2-40B4-BE49-F238E27FC236}">
                  <a16:creationId xmlns:a16="http://schemas.microsoft.com/office/drawing/2014/main" id="{539C4B68-9B22-9D9C-CF62-0A7FCC5075B9}"/>
                </a:ext>
              </a:extLst>
            </p:cNvPr>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30">
              <a:extLst>
                <a:ext uri="{FF2B5EF4-FFF2-40B4-BE49-F238E27FC236}">
                  <a16:creationId xmlns:a16="http://schemas.microsoft.com/office/drawing/2014/main" id="{BB110CDB-94D7-C90E-25AE-785C1A8F2220}"/>
                </a:ext>
              </a:extLst>
            </p:cNvPr>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31">
              <a:extLst>
                <a:ext uri="{FF2B5EF4-FFF2-40B4-BE49-F238E27FC236}">
                  <a16:creationId xmlns:a16="http://schemas.microsoft.com/office/drawing/2014/main" id="{714F5944-9DAD-DC48-6AF6-0C057B64091D}"/>
                </a:ext>
              </a:extLst>
            </p:cNvPr>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32">
              <a:extLst>
                <a:ext uri="{FF2B5EF4-FFF2-40B4-BE49-F238E27FC236}">
                  <a16:creationId xmlns:a16="http://schemas.microsoft.com/office/drawing/2014/main" id="{60AB5744-8525-47A3-5A2D-DD1992CEA113}"/>
                </a:ext>
              </a:extLst>
            </p:cNvPr>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33">
              <a:extLst>
                <a:ext uri="{FF2B5EF4-FFF2-40B4-BE49-F238E27FC236}">
                  <a16:creationId xmlns:a16="http://schemas.microsoft.com/office/drawing/2014/main" id="{514F1317-F478-880D-C348-8FC5F04FE34C}"/>
                </a:ext>
              </a:extLst>
            </p:cNvPr>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34">
              <a:extLst>
                <a:ext uri="{FF2B5EF4-FFF2-40B4-BE49-F238E27FC236}">
                  <a16:creationId xmlns:a16="http://schemas.microsoft.com/office/drawing/2014/main" id="{2DD1D143-D754-F55F-6F4E-286795CB59CD}"/>
                </a:ext>
              </a:extLst>
            </p:cNvPr>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Text Box 35">
              <a:extLst>
                <a:ext uri="{FF2B5EF4-FFF2-40B4-BE49-F238E27FC236}">
                  <a16:creationId xmlns:a16="http://schemas.microsoft.com/office/drawing/2014/main" id="{28CCAF52-F653-7A7A-01EB-1B36E3C28283}"/>
                </a:ext>
              </a:extLst>
            </p:cNvPr>
            <p:cNvSpPr txBox="1">
              <a:spLocks noChangeArrowheads="1"/>
            </p:cNvSpPr>
            <p:nvPr/>
          </p:nvSpPr>
          <p:spPr bwMode="auto">
            <a:xfrm>
              <a:off x="680"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1</a:t>
              </a:r>
              <a:r>
                <a:rPr lang="zh-CN" altLang="en-US" b="1">
                  <a:ea typeface="楷体_GB2312" pitchFamily="49" charset="-122"/>
                </a:rPr>
                <a:t>层</a:t>
              </a:r>
            </a:p>
          </p:txBody>
        </p:sp>
        <p:sp>
          <p:nvSpPr>
            <p:cNvPr id="35" name="Text Box 36">
              <a:extLst>
                <a:ext uri="{FF2B5EF4-FFF2-40B4-BE49-F238E27FC236}">
                  <a16:creationId xmlns:a16="http://schemas.microsoft.com/office/drawing/2014/main" id="{A5CCCEDE-3E84-A231-30B0-5EDCA9B53283}"/>
                </a:ext>
              </a:extLst>
            </p:cNvPr>
            <p:cNvSpPr txBox="1">
              <a:spLocks noChangeArrowheads="1"/>
            </p:cNvSpPr>
            <p:nvPr/>
          </p:nvSpPr>
          <p:spPr bwMode="auto">
            <a:xfrm>
              <a:off x="1542"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2</a:t>
              </a:r>
              <a:r>
                <a:rPr lang="zh-CN" altLang="en-US" b="1">
                  <a:ea typeface="楷体_GB2312" pitchFamily="49" charset="-122"/>
                </a:rPr>
                <a:t>层</a:t>
              </a:r>
            </a:p>
          </p:txBody>
        </p:sp>
        <p:sp>
          <p:nvSpPr>
            <p:cNvPr id="36" name="Text Box 37">
              <a:extLst>
                <a:ext uri="{FF2B5EF4-FFF2-40B4-BE49-F238E27FC236}">
                  <a16:creationId xmlns:a16="http://schemas.microsoft.com/office/drawing/2014/main" id="{30E81662-C7AB-39B8-9187-2A65894D1F2E}"/>
                </a:ext>
              </a:extLst>
            </p:cNvPr>
            <p:cNvSpPr txBox="1">
              <a:spLocks noChangeArrowheads="1"/>
            </p:cNvSpPr>
            <p:nvPr/>
          </p:nvSpPr>
          <p:spPr bwMode="auto">
            <a:xfrm>
              <a:off x="2449"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3</a:t>
              </a:r>
              <a:r>
                <a:rPr lang="zh-CN" altLang="en-US" b="1">
                  <a:ea typeface="楷体_GB2312" pitchFamily="49" charset="-122"/>
                </a:rPr>
                <a:t>层</a:t>
              </a:r>
            </a:p>
          </p:txBody>
        </p:sp>
        <p:sp>
          <p:nvSpPr>
            <p:cNvPr id="37" name="Text Box 38">
              <a:extLst>
                <a:ext uri="{FF2B5EF4-FFF2-40B4-BE49-F238E27FC236}">
                  <a16:creationId xmlns:a16="http://schemas.microsoft.com/office/drawing/2014/main" id="{77F63078-806B-409B-9953-8AA79A209352}"/>
                </a:ext>
              </a:extLst>
            </p:cNvPr>
            <p:cNvSpPr txBox="1">
              <a:spLocks noChangeArrowheads="1"/>
            </p:cNvSpPr>
            <p:nvPr/>
          </p:nvSpPr>
          <p:spPr bwMode="auto">
            <a:xfrm>
              <a:off x="3175"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4</a:t>
              </a:r>
              <a:r>
                <a:rPr lang="zh-CN" altLang="en-US" b="1">
                  <a:ea typeface="楷体_GB2312" pitchFamily="49" charset="-122"/>
                </a:rPr>
                <a:t>层</a:t>
              </a:r>
            </a:p>
          </p:txBody>
        </p:sp>
        <p:sp>
          <p:nvSpPr>
            <p:cNvPr id="38" name="Text Box 39">
              <a:extLst>
                <a:ext uri="{FF2B5EF4-FFF2-40B4-BE49-F238E27FC236}">
                  <a16:creationId xmlns:a16="http://schemas.microsoft.com/office/drawing/2014/main" id="{3D5A3AB4-B169-E157-5297-E7AFFD01D9FA}"/>
                </a:ext>
              </a:extLst>
            </p:cNvPr>
            <p:cNvSpPr txBox="1">
              <a:spLocks noChangeArrowheads="1"/>
            </p:cNvSpPr>
            <p:nvPr/>
          </p:nvSpPr>
          <p:spPr bwMode="auto">
            <a:xfrm>
              <a:off x="3901"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5</a:t>
              </a:r>
              <a:r>
                <a:rPr lang="zh-CN" altLang="en-US" b="1">
                  <a:ea typeface="楷体_GB2312" pitchFamily="49" charset="-122"/>
                </a:rPr>
                <a:t>层</a:t>
              </a:r>
            </a:p>
          </p:txBody>
        </p:sp>
        <p:sp>
          <p:nvSpPr>
            <p:cNvPr id="39" name="Text Box 40">
              <a:extLst>
                <a:ext uri="{FF2B5EF4-FFF2-40B4-BE49-F238E27FC236}">
                  <a16:creationId xmlns:a16="http://schemas.microsoft.com/office/drawing/2014/main" id="{AFBE41FC-3FB1-EF70-594E-59617A0B2E25}"/>
                </a:ext>
              </a:extLst>
            </p:cNvPr>
            <p:cNvSpPr txBox="1">
              <a:spLocks noChangeArrowheads="1"/>
            </p:cNvSpPr>
            <p:nvPr/>
          </p:nvSpPr>
          <p:spPr bwMode="auto">
            <a:xfrm>
              <a:off x="1950" y="588"/>
              <a:ext cx="362"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40" name="Text Box 41">
              <a:extLst>
                <a:ext uri="{FF2B5EF4-FFF2-40B4-BE49-F238E27FC236}">
                  <a16:creationId xmlns:a16="http://schemas.microsoft.com/office/drawing/2014/main" id="{038C94A3-E49F-8F8D-8054-DDB145276E94}"/>
                </a:ext>
              </a:extLst>
            </p:cNvPr>
            <p:cNvSpPr txBox="1">
              <a:spLocks noChangeArrowheads="1"/>
            </p:cNvSpPr>
            <p:nvPr/>
          </p:nvSpPr>
          <p:spPr bwMode="auto">
            <a:xfrm>
              <a:off x="1950" y="1451"/>
              <a:ext cx="36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41" name="Text Box 42">
              <a:extLst>
                <a:ext uri="{FF2B5EF4-FFF2-40B4-BE49-F238E27FC236}">
                  <a16:creationId xmlns:a16="http://schemas.microsoft.com/office/drawing/2014/main" id="{044D9C2C-AAC4-1A44-D89A-4D610F8E0D11}"/>
                </a:ext>
              </a:extLst>
            </p:cNvPr>
            <p:cNvSpPr txBox="1">
              <a:spLocks noChangeArrowheads="1"/>
            </p:cNvSpPr>
            <p:nvPr/>
          </p:nvSpPr>
          <p:spPr bwMode="auto">
            <a:xfrm>
              <a:off x="2767" y="635"/>
              <a:ext cx="36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dirty="0"/>
                <a:t>W</a:t>
              </a:r>
              <a:r>
                <a:rPr lang="en-US" altLang="zh-CN" u="sng" baseline="-25000" dirty="0"/>
                <a:t>1</a:t>
              </a:r>
            </a:p>
          </p:txBody>
        </p:sp>
        <p:sp>
          <p:nvSpPr>
            <p:cNvPr id="42" name="Text Box 43">
              <a:extLst>
                <a:ext uri="{FF2B5EF4-FFF2-40B4-BE49-F238E27FC236}">
                  <a16:creationId xmlns:a16="http://schemas.microsoft.com/office/drawing/2014/main" id="{E0C5378A-75A1-98E2-35D8-9516727A9480}"/>
                </a:ext>
              </a:extLst>
            </p:cNvPr>
            <p:cNvSpPr txBox="1">
              <a:spLocks noChangeArrowheads="1"/>
            </p:cNvSpPr>
            <p:nvPr/>
          </p:nvSpPr>
          <p:spPr bwMode="auto">
            <a:xfrm>
              <a:off x="2767" y="1497"/>
              <a:ext cx="36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43" name="Text Box 44">
              <a:extLst>
                <a:ext uri="{FF2B5EF4-FFF2-40B4-BE49-F238E27FC236}">
                  <a16:creationId xmlns:a16="http://schemas.microsoft.com/office/drawing/2014/main" id="{B9F610D4-412E-0238-51EC-7BE19DF15327}"/>
                </a:ext>
              </a:extLst>
            </p:cNvPr>
            <p:cNvSpPr txBox="1">
              <a:spLocks noChangeArrowheads="1"/>
            </p:cNvSpPr>
            <p:nvPr/>
          </p:nvSpPr>
          <p:spPr bwMode="auto">
            <a:xfrm>
              <a:off x="3674" y="544"/>
              <a:ext cx="54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44" name="Text Box 45">
              <a:extLst>
                <a:ext uri="{FF2B5EF4-FFF2-40B4-BE49-F238E27FC236}">
                  <a16:creationId xmlns:a16="http://schemas.microsoft.com/office/drawing/2014/main" id="{512C433E-CFBC-3565-2A5F-1C2E97D9F0A1}"/>
                </a:ext>
              </a:extLst>
            </p:cNvPr>
            <p:cNvSpPr txBox="1">
              <a:spLocks noChangeArrowheads="1"/>
            </p:cNvSpPr>
            <p:nvPr/>
          </p:nvSpPr>
          <p:spPr bwMode="auto">
            <a:xfrm>
              <a:off x="3674" y="1406"/>
              <a:ext cx="54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45" name="Text Box 46">
              <a:extLst>
                <a:ext uri="{FF2B5EF4-FFF2-40B4-BE49-F238E27FC236}">
                  <a16:creationId xmlns:a16="http://schemas.microsoft.com/office/drawing/2014/main" id="{29C6D9BF-3EDB-D11E-5DB9-5FBAEE6E9576}"/>
                </a:ext>
              </a:extLst>
            </p:cNvPr>
            <p:cNvSpPr txBox="1">
              <a:spLocks noChangeArrowheads="1"/>
            </p:cNvSpPr>
            <p:nvPr/>
          </p:nvSpPr>
          <p:spPr bwMode="auto">
            <a:xfrm>
              <a:off x="4626" y="997"/>
              <a:ext cx="227"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46" name="Text Box 47">
              <a:extLst>
                <a:ext uri="{FF2B5EF4-FFF2-40B4-BE49-F238E27FC236}">
                  <a16:creationId xmlns:a16="http://schemas.microsoft.com/office/drawing/2014/main" id="{DE263A39-20F3-F6D4-A7AF-A076457EB8CC}"/>
                </a:ext>
              </a:extLst>
            </p:cNvPr>
            <p:cNvSpPr txBox="1">
              <a:spLocks noChangeArrowheads="1"/>
            </p:cNvSpPr>
            <p:nvPr/>
          </p:nvSpPr>
          <p:spPr bwMode="auto">
            <a:xfrm>
              <a:off x="3266" y="317"/>
              <a:ext cx="45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47" name="Text Box 48">
              <a:extLst>
                <a:ext uri="{FF2B5EF4-FFF2-40B4-BE49-F238E27FC236}">
                  <a16:creationId xmlns:a16="http://schemas.microsoft.com/office/drawing/2014/main" id="{2D5A54D8-F668-B9BA-FC7A-75317C36EBD0}"/>
                </a:ext>
              </a:extLst>
            </p:cNvPr>
            <p:cNvSpPr txBox="1">
              <a:spLocks noChangeArrowheads="1"/>
            </p:cNvSpPr>
            <p:nvPr/>
          </p:nvSpPr>
          <p:spPr bwMode="auto">
            <a:xfrm>
              <a:off x="3266" y="1722"/>
              <a:ext cx="408"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48" name="Line 49">
              <a:extLst>
                <a:ext uri="{FF2B5EF4-FFF2-40B4-BE49-F238E27FC236}">
                  <a16:creationId xmlns:a16="http://schemas.microsoft.com/office/drawing/2014/main" id="{AFFC02AB-3807-C785-A7B8-DED31F89A2BF}"/>
                </a:ext>
              </a:extLst>
            </p:cNvPr>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50">
              <a:extLst>
                <a:ext uri="{FF2B5EF4-FFF2-40B4-BE49-F238E27FC236}">
                  <a16:creationId xmlns:a16="http://schemas.microsoft.com/office/drawing/2014/main" id="{3477462F-ECE5-338A-2F24-D41811430664}"/>
                </a:ext>
              </a:extLst>
            </p:cNvPr>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51">
              <a:extLst>
                <a:ext uri="{FF2B5EF4-FFF2-40B4-BE49-F238E27FC236}">
                  <a16:creationId xmlns:a16="http://schemas.microsoft.com/office/drawing/2014/main" id="{638C5573-8803-E9BB-51FF-33C1DFC1165A}"/>
                </a:ext>
              </a:extLst>
            </p:cNvPr>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52">
              <a:extLst>
                <a:ext uri="{FF2B5EF4-FFF2-40B4-BE49-F238E27FC236}">
                  <a16:creationId xmlns:a16="http://schemas.microsoft.com/office/drawing/2014/main" id="{6B56BF2F-FEB0-5CA1-4232-B289C5869CB1}"/>
                </a:ext>
              </a:extLst>
            </p:cNvPr>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2" name="文本框 51">
            <a:extLst>
              <a:ext uri="{FF2B5EF4-FFF2-40B4-BE49-F238E27FC236}">
                <a16:creationId xmlns:a16="http://schemas.microsoft.com/office/drawing/2014/main" id="{09FD38FB-FBE3-D8D0-17F5-38ECCF2AF848}"/>
              </a:ext>
            </a:extLst>
          </p:cNvPr>
          <p:cNvSpPr txBox="1"/>
          <p:nvPr/>
        </p:nvSpPr>
        <p:spPr>
          <a:xfrm>
            <a:off x="3719280" y="1606913"/>
            <a:ext cx="698843" cy="2459071"/>
          </a:xfrm>
          <a:prstGeom prst="rect">
            <a:avLst/>
          </a:prstGeom>
          <a:noFill/>
        </p:spPr>
        <p:txBody>
          <a:bodyPr wrap="square" rtlCol="0">
            <a:spAutoFit/>
          </a:bodyPr>
          <a:lstStyle/>
          <a:p>
            <a:pPr>
              <a:lnSpc>
                <a:spcPct val="200000"/>
              </a:lnSpc>
            </a:pPr>
            <a:r>
              <a:rPr lang="en-US" altLang="zh-CN" sz="2000" b="1" i="1" dirty="0"/>
              <a:t>O</a:t>
            </a:r>
            <a:r>
              <a:rPr lang="en-US" altLang="zh-CN" sz="2000" b="1" baseline="-25000" dirty="0"/>
              <a:t>1,1</a:t>
            </a:r>
          </a:p>
          <a:p>
            <a:pPr>
              <a:lnSpc>
                <a:spcPct val="200000"/>
              </a:lnSpc>
            </a:pPr>
            <a:r>
              <a:rPr lang="en-US" altLang="zh-CN" sz="2000" b="1" i="1" dirty="0"/>
              <a:t>O</a:t>
            </a:r>
            <a:r>
              <a:rPr lang="en-US" altLang="zh-CN" sz="2000" b="1" baseline="-25000" dirty="0"/>
              <a:t>1,2</a:t>
            </a:r>
            <a:endParaRPr lang="zh-CN" altLang="en-US" sz="2000" dirty="0"/>
          </a:p>
          <a:p>
            <a:pPr>
              <a:lnSpc>
                <a:spcPct val="200000"/>
              </a:lnSpc>
            </a:pPr>
            <a:r>
              <a:rPr lang="en-US" altLang="zh-CN" sz="2000" b="1" i="1" dirty="0"/>
              <a:t>O</a:t>
            </a:r>
            <a:r>
              <a:rPr lang="en-US" altLang="zh-CN" sz="2000" b="1" baseline="-25000" dirty="0"/>
              <a:t>1,3</a:t>
            </a:r>
            <a:endParaRPr lang="zh-CN" altLang="en-US" sz="2000" dirty="0"/>
          </a:p>
          <a:p>
            <a:pPr>
              <a:lnSpc>
                <a:spcPct val="200000"/>
              </a:lnSpc>
            </a:pPr>
            <a:r>
              <a:rPr lang="en-US" altLang="zh-CN" sz="2000" b="1" i="1" dirty="0"/>
              <a:t>O</a:t>
            </a:r>
            <a:r>
              <a:rPr lang="en-US" altLang="zh-CN" sz="2000" b="1" baseline="-25000" dirty="0"/>
              <a:t>1,4</a:t>
            </a:r>
            <a:endParaRPr lang="zh-CN" altLang="en-US" sz="2000" dirty="0"/>
          </a:p>
        </p:txBody>
      </p:sp>
    </p:spTree>
    <p:extLst>
      <p:ext uri="{BB962C8B-B14F-4D97-AF65-F5344CB8AC3E}">
        <p14:creationId xmlns:p14="http://schemas.microsoft.com/office/powerpoint/2010/main" val="834396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wipe(left)">
                                      <p:cBhvr>
                                        <p:cTn id="7" dur="500"/>
                                        <p:tgtEl>
                                          <p:spTgt spid="7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Effect transition="in" filter="wipe(left)">
                                      <p:cBhvr>
                                        <p:cTn id="12" dur="500"/>
                                        <p:tgtEl>
                                          <p:spTgt spid="71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animEffect transition="in" filter="wipe(left)">
                                      <p:cBhvr>
                                        <p:cTn id="17" dur="500"/>
                                        <p:tgtEl>
                                          <p:spTgt spid="71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1078758" y="76454"/>
            <a:ext cx="9684567" cy="1371600"/>
          </a:xfrm>
        </p:spPr>
        <p:txBody>
          <a:bodyPr/>
          <a:lstStyle/>
          <a:p>
            <a:pPr algn="ctr" eaLnBrk="1" hangingPunct="1"/>
            <a:r>
              <a:rPr lang="zh-CN" altLang="en-US" dirty="0">
                <a:solidFill>
                  <a:srgbClr val="008000"/>
                </a:solidFill>
                <a:latin typeface="Comic Sans MS" panose="030F0702030302020204" pitchFamily="66" charset="0"/>
                <a:ea typeface="黑体" panose="02010609060101010101" pitchFamily="49" charset="-122"/>
              </a:rPr>
              <a:t>一阶</a:t>
            </a:r>
            <a:r>
              <a:rPr lang="en-US" altLang="zh-CN" dirty="0" err="1">
                <a:solidFill>
                  <a:srgbClr val="008000"/>
                </a:solidFill>
                <a:latin typeface="Comic Sans MS" panose="030F0702030302020204" pitchFamily="66" charset="0"/>
                <a:ea typeface="黑体" panose="02010609060101010101" pitchFamily="49" charset="-122"/>
              </a:rPr>
              <a:t>Sugeno</a:t>
            </a:r>
            <a:r>
              <a:rPr lang="en-US" altLang="zh-CN" dirty="0">
                <a:solidFill>
                  <a:srgbClr val="008000"/>
                </a:solidFill>
                <a:latin typeface="Comic Sans MS" panose="030F0702030302020204" pitchFamily="66" charset="0"/>
                <a:ea typeface="黑体" panose="02010609060101010101" pitchFamily="49" charset="-122"/>
              </a:rPr>
              <a:t> F</a:t>
            </a:r>
            <a:r>
              <a:rPr lang="zh-CN" altLang="en-US" dirty="0">
                <a:solidFill>
                  <a:srgbClr val="008000"/>
                </a:solidFill>
                <a:latin typeface="Comic Sans MS" panose="030F0702030302020204" pitchFamily="66" charset="0"/>
                <a:ea typeface="黑体" panose="02010609060101010101" pitchFamily="49" charset="-122"/>
              </a:rPr>
              <a:t>模型与等效</a:t>
            </a:r>
            <a:r>
              <a:rPr lang="en-US" altLang="zh-CN" dirty="0">
                <a:solidFill>
                  <a:srgbClr val="008000"/>
                </a:solidFill>
                <a:latin typeface="Comic Sans MS" panose="030F0702030302020204" pitchFamily="66" charset="0"/>
                <a:ea typeface="黑体" panose="02010609060101010101" pitchFamily="49" charset="-122"/>
              </a:rPr>
              <a:t>ANFIS</a:t>
            </a:r>
            <a:r>
              <a:rPr lang="zh-CN" altLang="en-US" dirty="0">
                <a:solidFill>
                  <a:srgbClr val="008000"/>
                </a:solidFill>
                <a:latin typeface="Comic Sans MS" panose="030F0702030302020204" pitchFamily="66" charset="0"/>
                <a:ea typeface="黑体" panose="02010609060101010101" pitchFamily="49" charset="-122"/>
              </a:rPr>
              <a:t>结构</a:t>
            </a:r>
            <a:endParaRPr lang="zh-CN" altLang="en-US" dirty="0">
              <a:solidFill>
                <a:srgbClr val="128828"/>
              </a:solidFill>
              <a:latin typeface="Comic Sans MS" panose="030F0702030302020204" pitchFamily="66" charset="0"/>
              <a:ea typeface="黑体" panose="02010609060101010101" pitchFamily="49" charset="-122"/>
            </a:endParaRPr>
          </a:p>
        </p:txBody>
      </p:sp>
      <p:grpSp>
        <p:nvGrpSpPr>
          <p:cNvPr id="8195" name="Group 3"/>
          <p:cNvGrpSpPr>
            <a:grpSpLocks/>
          </p:cNvGrpSpPr>
          <p:nvPr/>
        </p:nvGrpSpPr>
        <p:grpSpPr bwMode="auto">
          <a:xfrm>
            <a:off x="1483985" y="3600303"/>
            <a:ext cx="5903913" cy="2076450"/>
            <a:chOff x="0" y="0"/>
            <a:chExt cx="3584" cy="1984"/>
          </a:xfrm>
        </p:grpSpPr>
        <p:sp>
          <p:nvSpPr>
            <p:cNvPr id="8196" name="Text Box 8"/>
            <p:cNvSpPr txBox="1">
              <a:spLocks noChangeArrowheads="1"/>
            </p:cNvSpPr>
            <p:nvPr/>
          </p:nvSpPr>
          <p:spPr bwMode="auto">
            <a:xfrm>
              <a:off x="2722" y="1588"/>
              <a:ext cx="862"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b="1">
                <a:solidFill>
                  <a:srgbClr val="FF3399"/>
                </a:solidFill>
                <a:ea typeface="楷体_GB2312" pitchFamily="49" charset="-122"/>
              </a:endParaRPr>
            </a:p>
          </p:txBody>
        </p:sp>
        <p:grpSp>
          <p:nvGrpSpPr>
            <p:cNvPr id="8197" name="Group 5"/>
            <p:cNvGrpSpPr>
              <a:grpSpLocks/>
            </p:cNvGrpSpPr>
            <p:nvPr/>
          </p:nvGrpSpPr>
          <p:grpSpPr bwMode="auto">
            <a:xfrm>
              <a:off x="0" y="0"/>
              <a:ext cx="3311" cy="1984"/>
              <a:chOff x="0" y="0"/>
              <a:chExt cx="3311" cy="1984"/>
            </a:xfrm>
          </p:grpSpPr>
          <p:sp>
            <p:nvSpPr>
              <p:cNvPr id="8198" name="Line 10"/>
              <p:cNvSpPr>
                <a:spLocks noChangeShapeType="1"/>
              </p:cNvSpPr>
              <p:nvPr/>
            </p:nvSpPr>
            <p:spPr bwMode="auto">
              <a:xfrm flipV="1">
                <a:off x="635" y="91"/>
                <a:ext cx="0" cy="1542"/>
              </a:xfrm>
              <a:prstGeom prst="line">
                <a:avLst/>
              </a:prstGeom>
              <a:noFill/>
              <a:ln w="19050" cmpd="sng">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8199" name="Line 11"/>
              <p:cNvSpPr>
                <a:spLocks noChangeShapeType="1"/>
              </p:cNvSpPr>
              <p:nvPr/>
            </p:nvSpPr>
            <p:spPr bwMode="auto">
              <a:xfrm flipV="1">
                <a:off x="2132" y="91"/>
                <a:ext cx="0" cy="1542"/>
              </a:xfrm>
              <a:prstGeom prst="line">
                <a:avLst/>
              </a:prstGeom>
              <a:noFill/>
              <a:ln w="19050" cmpd="sng">
                <a:solidFill>
                  <a:srgbClr val="92D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0" name="Line 12"/>
              <p:cNvSpPr>
                <a:spLocks noChangeShapeType="1"/>
              </p:cNvSpPr>
              <p:nvPr/>
            </p:nvSpPr>
            <p:spPr bwMode="auto">
              <a:xfrm flipV="1">
                <a:off x="2948" y="46"/>
                <a:ext cx="0" cy="1496"/>
              </a:xfrm>
              <a:prstGeom prst="line">
                <a:avLst/>
              </a:prstGeom>
              <a:noFill/>
              <a:ln w="9525" cmpd="sng">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1" name="Line 13"/>
              <p:cNvSpPr>
                <a:spLocks noChangeShapeType="1"/>
              </p:cNvSpPr>
              <p:nvPr/>
            </p:nvSpPr>
            <p:spPr bwMode="auto">
              <a:xfrm>
                <a:off x="635" y="1315"/>
                <a:ext cx="2313" cy="1"/>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2" name="Line 14"/>
              <p:cNvSpPr>
                <a:spLocks noChangeShapeType="1"/>
              </p:cNvSpPr>
              <p:nvPr/>
            </p:nvSpPr>
            <p:spPr bwMode="auto">
              <a:xfrm>
                <a:off x="2132" y="590"/>
                <a:ext cx="816"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03" name="Group 11"/>
              <p:cNvGrpSpPr>
                <a:grpSpLocks/>
              </p:cNvGrpSpPr>
              <p:nvPr/>
            </p:nvGrpSpPr>
            <p:grpSpPr bwMode="auto">
              <a:xfrm>
                <a:off x="0" y="0"/>
                <a:ext cx="2948" cy="1077"/>
                <a:chOff x="0" y="0"/>
                <a:chExt cx="2948" cy="1077"/>
              </a:xfrm>
            </p:grpSpPr>
            <p:sp>
              <p:nvSpPr>
                <p:cNvPr id="8204" name="Line 16"/>
                <p:cNvSpPr>
                  <a:spLocks noChangeShapeType="1"/>
                </p:cNvSpPr>
                <p:nvPr/>
              </p:nvSpPr>
              <p:spPr bwMode="auto">
                <a:xfrm>
                  <a:off x="227" y="137"/>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5" name="Line 17"/>
                <p:cNvSpPr>
                  <a:spLocks noChangeShapeType="1"/>
                </p:cNvSpPr>
                <p:nvPr/>
              </p:nvSpPr>
              <p:spPr bwMode="auto">
                <a:xfrm>
                  <a:off x="227" y="726"/>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6" name="Line 18"/>
                <p:cNvSpPr>
                  <a:spLocks noChangeShapeType="1"/>
                </p:cNvSpPr>
                <p:nvPr/>
              </p:nvSpPr>
              <p:spPr bwMode="auto">
                <a:xfrm>
                  <a:off x="1769" y="137"/>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7" name="Line 19"/>
                <p:cNvSpPr>
                  <a:spLocks noChangeShapeType="1"/>
                </p:cNvSpPr>
                <p:nvPr/>
              </p:nvSpPr>
              <p:spPr bwMode="auto">
                <a:xfrm>
                  <a:off x="1769" y="726"/>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8" name="Line 20"/>
                <p:cNvSpPr>
                  <a:spLocks noChangeShapeType="1"/>
                </p:cNvSpPr>
                <p:nvPr/>
              </p:nvSpPr>
              <p:spPr bwMode="auto">
                <a:xfrm flipV="1">
                  <a:off x="363" y="273"/>
                  <a:ext cx="227"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9" name="Line 21"/>
                <p:cNvSpPr>
                  <a:spLocks noChangeShapeType="1"/>
                </p:cNvSpPr>
                <p:nvPr/>
              </p:nvSpPr>
              <p:spPr bwMode="auto">
                <a:xfrm>
                  <a:off x="590" y="273"/>
                  <a:ext cx="181"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0" name="Line 22"/>
                <p:cNvSpPr>
                  <a:spLocks noChangeShapeType="1"/>
                </p:cNvSpPr>
                <p:nvPr/>
              </p:nvSpPr>
              <p:spPr bwMode="auto">
                <a:xfrm flipV="1">
                  <a:off x="1769" y="273"/>
                  <a:ext cx="227"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1" name="Line 23"/>
                <p:cNvSpPr>
                  <a:spLocks noChangeShapeType="1"/>
                </p:cNvSpPr>
                <p:nvPr/>
              </p:nvSpPr>
              <p:spPr bwMode="auto">
                <a:xfrm>
                  <a:off x="1996" y="273"/>
                  <a:ext cx="181"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2" name="Line 24"/>
                <p:cNvSpPr>
                  <a:spLocks noChangeShapeType="1"/>
                </p:cNvSpPr>
                <p:nvPr/>
              </p:nvSpPr>
              <p:spPr bwMode="auto">
                <a:xfrm>
                  <a:off x="635" y="363"/>
                  <a:ext cx="2313"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3" name="Text Box 25"/>
                <p:cNvSpPr txBox="1">
                  <a:spLocks noChangeArrowheads="1"/>
                </p:cNvSpPr>
                <p:nvPr/>
              </p:nvSpPr>
              <p:spPr bwMode="auto">
                <a:xfrm>
                  <a:off x="363" y="91"/>
                  <a:ext cx="36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a:t>
                  </a:r>
                  <a:r>
                    <a:rPr lang="en-US" altLang="zh-CN" baseline="-25000"/>
                    <a:t>1</a:t>
                  </a:r>
                  <a:endParaRPr lang="en-US" altLang="zh-CN"/>
                </a:p>
              </p:txBody>
            </p:sp>
            <p:sp>
              <p:nvSpPr>
                <p:cNvPr id="8214" name="Text Box 26"/>
                <p:cNvSpPr txBox="1">
                  <a:spLocks noChangeArrowheads="1"/>
                </p:cNvSpPr>
                <p:nvPr/>
              </p:nvSpPr>
              <p:spPr bwMode="auto">
                <a:xfrm>
                  <a:off x="2177" y="91"/>
                  <a:ext cx="363"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B</a:t>
                  </a:r>
                  <a:r>
                    <a:rPr lang="en-US" altLang="zh-CN" baseline="-25000"/>
                    <a:t>1</a:t>
                  </a:r>
                  <a:endParaRPr lang="en-US" altLang="zh-CN"/>
                </a:p>
              </p:txBody>
            </p:sp>
            <p:sp>
              <p:nvSpPr>
                <p:cNvPr id="8215" name="Text Box 27"/>
                <p:cNvSpPr txBox="1">
                  <a:spLocks noChangeArrowheads="1"/>
                </p:cNvSpPr>
                <p:nvPr/>
              </p:nvSpPr>
              <p:spPr bwMode="auto">
                <a:xfrm>
                  <a:off x="2540" y="727"/>
                  <a:ext cx="363"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8216" name="Text Box 28"/>
                <p:cNvSpPr txBox="1">
                  <a:spLocks noChangeArrowheads="1"/>
                </p:cNvSpPr>
                <p:nvPr/>
              </p:nvSpPr>
              <p:spPr bwMode="auto">
                <a:xfrm>
                  <a:off x="953" y="726"/>
                  <a:ext cx="363"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8217" name="Text Box 29"/>
                <p:cNvSpPr txBox="1">
                  <a:spLocks noChangeArrowheads="1"/>
                </p:cNvSpPr>
                <p:nvPr/>
              </p:nvSpPr>
              <p:spPr bwMode="auto">
                <a:xfrm>
                  <a:off x="0" y="45"/>
                  <a:ext cx="272"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sp>
              <p:nvSpPr>
                <p:cNvPr id="8218" name="Text Box 30"/>
                <p:cNvSpPr txBox="1">
                  <a:spLocks noChangeArrowheads="1"/>
                </p:cNvSpPr>
                <p:nvPr/>
              </p:nvSpPr>
              <p:spPr bwMode="auto">
                <a:xfrm>
                  <a:off x="1588" y="0"/>
                  <a:ext cx="272"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grpSp>
          <p:grpSp>
            <p:nvGrpSpPr>
              <p:cNvPr id="8219" name="Group 27"/>
              <p:cNvGrpSpPr>
                <a:grpSpLocks/>
              </p:cNvGrpSpPr>
              <p:nvPr/>
            </p:nvGrpSpPr>
            <p:grpSpPr bwMode="auto">
              <a:xfrm>
                <a:off x="0" y="817"/>
                <a:ext cx="2948" cy="1167"/>
                <a:chOff x="0" y="0"/>
                <a:chExt cx="2948" cy="1167"/>
              </a:xfrm>
            </p:grpSpPr>
            <p:sp>
              <p:nvSpPr>
                <p:cNvPr id="8220" name="Line 32"/>
                <p:cNvSpPr>
                  <a:spLocks noChangeShapeType="1"/>
                </p:cNvSpPr>
                <p:nvPr/>
              </p:nvSpPr>
              <p:spPr bwMode="auto">
                <a:xfrm>
                  <a:off x="227" y="91"/>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1" name="Line 33"/>
                <p:cNvSpPr>
                  <a:spLocks noChangeShapeType="1"/>
                </p:cNvSpPr>
                <p:nvPr/>
              </p:nvSpPr>
              <p:spPr bwMode="auto">
                <a:xfrm>
                  <a:off x="227" y="680"/>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2" name="Line 34"/>
                <p:cNvSpPr>
                  <a:spLocks noChangeShapeType="1"/>
                </p:cNvSpPr>
                <p:nvPr/>
              </p:nvSpPr>
              <p:spPr bwMode="auto">
                <a:xfrm>
                  <a:off x="1769" y="91"/>
                  <a:ext cx="0" cy="589"/>
                </a:xfrm>
                <a:prstGeom prst="line">
                  <a:avLst/>
                </a:prstGeom>
                <a:noFill/>
                <a:ln w="9525" cmpd="sng">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3" name="Line 35"/>
                <p:cNvSpPr>
                  <a:spLocks noChangeShapeType="1"/>
                </p:cNvSpPr>
                <p:nvPr/>
              </p:nvSpPr>
              <p:spPr bwMode="auto">
                <a:xfrm>
                  <a:off x="1769" y="680"/>
                  <a:ext cx="952"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4" name="Line 36"/>
                <p:cNvSpPr>
                  <a:spLocks noChangeShapeType="1"/>
                </p:cNvSpPr>
                <p:nvPr/>
              </p:nvSpPr>
              <p:spPr bwMode="auto">
                <a:xfrm flipV="1">
                  <a:off x="544" y="226"/>
                  <a:ext cx="227"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5" name="Line 37"/>
                <p:cNvSpPr>
                  <a:spLocks noChangeShapeType="1"/>
                </p:cNvSpPr>
                <p:nvPr/>
              </p:nvSpPr>
              <p:spPr bwMode="auto">
                <a:xfrm>
                  <a:off x="771" y="226"/>
                  <a:ext cx="181" cy="453"/>
                </a:xfrm>
                <a:prstGeom prst="line">
                  <a:avLst/>
                </a:prstGeom>
                <a:noFill/>
                <a:ln w="28575" cmpd="sng">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6" name="Line 38"/>
                <p:cNvSpPr>
                  <a:spLocks noChangeShapeType="1"/>
                </p:cNvSpPr>
                <p:nvPr/>
              </p:nvSpPr>
              <p:spPr bwMode="auto">
                <a:xfrm flipV="1">
                  <a:off x="1950" y="226"/>
                  <a:ext cx="227"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7" name="Line 39"/>
                <p:cNvSpPr>
                  <a:spLocks noChangeShapeType="1"/>
                </p:cNvSpPr>
                <p:nvPr/>
              </p:nvSpPr>
              <p:spPr bwMode="auto">
                <a:xfrm>
                  <a:off x="2177" y="226"/>
                  <a:ext cx="181" cy="453"/>
                </a:xfrm>
                <a:prstGeom prst="line">
                  <a:avLst/>
                </a:prstGeom>
                <a:noFill/>
                <a:ln w="28575" cmpd="sng">
                  <a:solidFill>
                    <a:srgbClr val="0000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8" name="Line 40"/>
                <p:cNvSpPr>
                  <a:spLocks noChangeShapeType="1"/>
                </p:cNvSpPr>
                <p:nvPr/>
              </p:nvSpPr>
              <p:spPr bwMode="auto">
                <a:xfrm>
                  <a:off x="2132" y="317"/>
                  <a:ext cx="816" cy="0"/>
                </a:xfrm>
                <a:prstGeom prst="line">
                  <a:avLst/>
                </a:prstGeom>
                <a:noFill/>
                <a:ln w="9525" cmpd="sng">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9" name="Text Box 41"/>
                <p:cNvSpPr txBox="1">
                  <a:spLocks noChangeArrowheads="1"/>
                </p:cNvSpPr>
                <p:nvPr/>
              </p:nvSpPr>
              <p:spPr bwMode="auto">
                <a:xfrm>
                  <a:off x="2223" y="46"/>
                  <a:ext cx="363"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B</a:t>
                  </a:r>
                  <a:r>
                    <a:rPr lang="en-US" altLang="zh-CN" baseline="-25000"/>
                    <a:t>2</a:t>
                  </a:r>
                  <a:endParaRPr lang="en-US" altLang="zh-CN"/>
                </a:p>
              </p:txBody>
            </p:sp>
            <p:sp>
              <p:nvSpPr>
                <p:cNvPr id="8230" name="Text Box 42"/>
                <p:cNvSpPr txBox="1">
                  <a:spLocks noChangeArrowheads="1"/>
                </p:cNvSpPr>
                <p:nvPr/>
              </p:nvSpPr>
              <p:spPr bwMode="auto">
                <a:xfrm>
                  <a:off x="363" y="181"/>
                  <a:ext cx="363"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A</a:t>
                  </a:r>
                  <a:r>
                    <a:rPr lang="en-US" altLang="zh-CN" baseline="-25000"/>
                    <a:t>2</a:t>
                  </a:r>
                  <a:endParaRPr lang="en-US" altLang="zh-CN"/>
                </a:p>
              </p:txBody>
            </p:sp>
            <p:sp>
              <p:nvSpPr>
                <p:cNvPr id="8231" name="Text Box 43"/>
                <p:cNvSpPr txBox="1">
                  <a:spLocks noChangeArrowheads="1"/>
                </p:cNvSpPr>
                <p:nvPr/>
              </p:nvSpPr>
              <p:spPr bwMode="auto">
                <a:xfrm>
                  <a:off x="499" y="816"/>
                  <a:ext cx="363"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8232" name="Text Box 44"/>
                <p:cNvSpPr txBox="1">
                  <a:spLocks noChangeArrowheads="1"/>
                </p:cNvSpPr>
                <p:nvPr/>
              </p:nvSpPr>
              <p:spPr bwMode="auto">
                <a:xfrm>
                  <a:off x="1996" y="816"/>
                  <a:ext cx="363"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8233" name="Text Box 45"/>
                <p:cNvSpPr txBox="1">
                  <a:spLocks noChangeArrowheads="1"/>
                </p:cNvSpPr>
                <p:nvPr/>
              </p:nvSpPr>
              <p:spPr bwMode="auto">
                <a:xfrm>
                  <a:off x="2540" y="725"/>
                  <a:ext cx="363"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8234" name="Text Box 46"/>
                <p:cNvSpPr txBox="1">
                  <a:spLocks noChangeArrowheads="1"/>
                </p:cNvSpPr>
                <p:nvPr/>
              </p:nvSpPr>
              <p:spPr bwMode="auto">
                <a:xfrm>
                  <a:off x="1043" y="725"/>
                  <a:ext cx="363"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8235" name="Text Box 47"/>
                <p:cNvSpPr txBox="1">
                  <a:spLocks noChangeArrowheads="1"/>
                </p:cNvSpPr>
                <p:nvPr/>
              </p:nvSpPr>
              <p:spPr bwMode="auto">
                <a:xfrm>
                  <a:off x="0" y="0"/>
                  <a:ext cx="272"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sp>
              <p:nvSpPr>
                <p:cNvPr id="8236" name="Text Box 48"/>
                <p:cNvSpPr txBox="1">
                  <a:spLocks noChangeArrowheads="1"/>
                </p:cNvSpPr>
                <p:nvPr/>
              </p:nvSpPr>
              <p:spPr bwMode="auto">
                <a:xfrm>
                  <a:off x="1542" y="0"/>
                  <a:ext cx="272"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l-GR" altLang="en-US"/>
                    <a:t>μ</a:t>
                  </a:r>
                  <a:endParaRPr lang="en-US" altLang="zh-CN"/>
                </a:p>
              </p:txBody>
            </p:sp>
          </p:grpSp>
          <p:sp>
            <p:nvSpPr>
              <p:cNvPr id="8237" name="Text Box 49"/>
              <p:cNvSpPr txBox="1">
                <a:spLocks noChangeArrowheads="1"/>
              </p:cNvSpPr>
              <p:nvPr/>
            </p:nvSpPr>
            <p:spPr bwMode="auto">
              <a:xfrm>
                <a:off x="2948" y="454"/>
                <a:ext cx="363"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t>W</a:t>
                </a:r>
                <a:r>
                  <a:rPr lang="en-US" altLang="zh-CN" sz="1600" baseline="-25000"/>
                  <a:t>1</a:t>
                </a:r>
                <a:endParaRPr lang="en-US" altLang="zh-CN" sz="1600"/>
              </a:p>
            </p:txBody>
          </p:sp>
          <p:sp>
            <p:nvSpPr>
              <p:cNvPr id="8238" name="Text Box 50"/>
              <p:cNvSpPr txBox="1">
                <a:spLocks noChangeArrowheads="1"/>
              </p:cNvSpPr>
              <p:nvPr/>
            </p:nvSpPr>
            <p:spPr bwMode="auto">
              <a:xfrm>
                <a:off x="2903" y="1179"/>
                <a:ext cx="363"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t>W</a:t>
                </a:r>
                <a:r>
                  <a:rPr lang="en-US" altLang="zh-CN" sz="1600" baseline="-25000"/>
                  <a:t>2</a:t>
                </a:r>
                <a:endParaRPr lang="en-US" altLang="zh-CN" sz="1600"/>
              </a:p>
            </p:txBody>
          </p:sp>
          <p:sp>
            <p:nvSpPr>
              <p:cNvPr id="8239" name="Text Box 51"/>
              <p:cNvSpPr txBox="1">
                <a:spLocks noChangeArrowheads="1"/>
              </p:cNvSpPr>
              <p:nvPr/>
            </p:nvSpPr>
            <p:spPr bwMode="auto">
              <a:xfrm>
                <a:off x="680" y="182"/>
                <a:ext cx="318"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a:p>
            </p:txBody>
          </p:sp>
          <p:sp>
            <p:nvSpPr>
              <p:cNvPr id="8240" name="Text Box 52"/>
              <p:cNvSpPr txBox="1">
                <a:spLocks noChangeArrowheads="1"/>
              </p:cNvSpPr>
              <p:nvPr/>
            </p:nvSpPr>
            <p:spPr bwMode="auto">
              <a:xfrm>
                <a:off x="1860" y="998"/>
                <a:ext cx="318"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a:p>
            </p:txBody>
          </p:sp>
          <p:sp>
            <p:nvSpPr>
              <p:cNvPr id="8241" name="Text Box 53"/>
              <p:cNvSpPr txBox="1">
                <a:spLocks noChangeArrowheads="1"/>
              </p:cNvSpPr>
              <p:nvPr/>
            </p:nvSpPr>
            <p:spPr bwMode="auto">
              <a:xfrm>
                <a:off x="2177" y="408"/>
                <a:ext cx="318"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a:p>
            </p:txBody>
          </p:sp>
          <p:sp>
            <p:nvSpPr>
              <p:cNvPr id="8242" name="Text Box 54"/>
              <p:cNvSpPr txBox="1">
                <a:spLocks noChangeArrowheads="1"/>
              </p:cNvSpPr>
              <p:nvPr/>
            </p:nvSpPr>
            <p:spPr bwMode="auto">
              <a:xfrm>
                <a:off x="907" y="1043"/>
                <a:ext cx="318"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a:p>
            </p:txBody>
          </p:sp>
        </p:grpSp>
      </p:grpSp>
      <p:grpSp>
        <p:nvGrpSpPr>
          <p:cNvPr id="8243" name="Group 51"/>
          <p:cNvGrpSpPr>
            <a:grpSpLocks/>
          </p:cNvGrpSpPr>
          <p:nvPr/>
        </p:nvGrpSpPr>
        <p:grpSpPr bwMode="auto">
          <a:xfrm>
            <a:off x="1919287" y="1128681"/>
            <a:ext cx="8353425" cy="2373313"/>
            <a:chOff x="0" y="0"/>
            <a:chExt cx="4853" cy="2037"/>
          </a:xfrm>
        </p:grpSpPr>
        <p:sp>
          <p:nvSpPr>
            <p:cNvPr id="8244" name="Rectangle 60"/>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8245" name="Rectangle 61"/>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8246" name="Rectangle 62"/>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8247" name="Rectangle 63"/>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8248" name="Oval 64"/>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8249" name="Rectangle 65"/>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8250" name="Rectangle 66"/>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8251" name="Oval 67"/>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8252" name="Oval 68"/>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8253" name="Oval 69"/>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8254" name="Oval 70"/>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Symbol" panose="05050102010706020507" pitchFamily="18" charset="2"/>
                </a:rPr>
                <a:t>∑</a:t>
              </a:r>
            </a:p>
          </p:txBody>
        </p:sp>
        <p:sp>
          <p:nvSpPr>
            <p:cNvPr id="8255" name="Text Box 71"/>
            <p:cNvSpPr txBox="1">
              <a:spLocks noChangeArrowheads="1"/>
            </p:cNvSpPr>
            <p:nvPr/>
          </p:nvSpPr>
          <p:spPr bwMode="auto">
            <a:xfrm>
              <a:off x="0" y="544"/>
              <a:ext cx="272"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8256" name="Text Box 72"/>
            <p:cNvSpPr txBox="1">
              <a:spLocks noChangeArrowheads="1"/>
            </p:cNvSpPr>
            <p:nvPr/>
          </p:nvSpPr>
          <p:spPr bwMode="auto">
            <a:xfrm>
              <a:off x="0" y="1451"/>
              <a:ext cx="272"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8257" name="Line 73"/>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8" name="Line 74"/>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9" name="Line 75"/>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0" name="Line 76"/>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1" name="Line 77"/>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2" name="Line 78"/>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3" name="Line 79"/>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4" name="Line 80"/>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5" name="Line 81"/>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6" name="Line 82"/>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7" name="Line 83"/>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8" name="Line 84"/>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9" name="Line 85"/>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0" name="Line 86"/>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1" name="Line 87"/>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2" name="Line 88"/>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3" name="Line 89"/>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4" name="Text Box 90"/>
            <p:cNvSpPr txBox="1">
              <a:spLocks noChangeArrowheads="1"/>
            </p:cNvSpPr>
            <p:nvPr/>
          </p:nvSpPr>
          <p:spPr bwMode="auto">
            <a:xfrm>
              <a:off x="680" y="0"/>
              <a:ext cx="499"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1</a:t>
              </a:r>
              <a:r>
                <a:rPr lang="zh-CN" altLang="en-US" b="1">
                  <a:ea typeface="楷体_GB2312" pitchFamily="49" charset="-122"/>
                </a:rPr>
                <a:t>层</a:t>
              </a:r>
            </a:p>
          </p:txBody>
        </p:sp>
        <p:sp>
          <p:nvSpPr>
            <p:cNvPr id="8275" name="Text Box 91"/>
            <p:cNvSpPr txBox="1">
              <a:spLocks noChangeArrowheads="1"/>
            </p:cNvSpPr>
            <p:nvPr/>
          </p:nvSpPr>
          <p:spPr bwMode="auto">
            <a:xfrm>
              <a:off x="1542" y="0"/>
              <a:ext cx="499"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2</a:t>
              </a:r>
              <a:r>
                <a:rPr lang="zh-CN" altLang="en-US" b="1">
                  <a:ea typeface="楷体_GB2312" pitchFamily="49" charset="-122"/>
                </a:rPr>
                <a:t>层</a:t>
              </a:r>
            </a:p>
          </p:txBody>
        </p:sp>
        <p:sp>
          <p:nvSpPr>
            <p:cNvPr id="8276" name="Text Box 92"/>
            <p:cNvSpPr txBox="1">
              <a:spLocks noChangeArrowheads="1"/>
            </p:cNvSpPr>
            <p:nvPr/>
          </p:nvSpPr>
          <p:spPr bwMode="auto">
            <a:xfrm>
              <a:off x="2449" y="0"/>
              <a:ext cx="499"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ea typeface="楷体_GB2312" pitchFamily="49" charset="-122"/>
                </a:rPr>
                <a:t>第</a:t>
              </a:r>
              <a:r>
                <a:rPr lang="en-US" altLang="zh-CN" b="1" dirty="0">
                  <a:ea typeface="楷体_GB2312" pitchFamily="49" charset="-122"/>
                </a:rPr>
                <a:t>3</a:t>
              </a:r>
              <a:r>
                <a:rPr lang="zh-CN" altLang="en-US" b="1" dirty="0">
                  <a:ea typeface="楷体_GB2312" pitchFamily="49" charset="-122"/>
                </a:rPr>
                <a:t>层</a:t>
              </a:r>
            </a:p>
          </p:txBody>
        </p:sp>
        <p:sp>
          <p:nvSpPr>
            <p:cNvPr id="8277" name="Text Box 93"/>
            <p:cNvSpPr txBox="1">
              <a:spLocks noChangeArrowheads="1"/>
            </p:cNvSpPr>
            <p:nvPr/>
          </p:nvSpPr>
          <p:spPr bwMode="auto">
            <a:xfrm>
              <a:off x="3175" y="0"/>
              <a:ext cx="499"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4</a:t>
              </a:r>
              <a:r>
                <a:rPr lang="zh-CN" altLang="en-US" b="1">
                  <a:ea typeface="楷体_GB2312" pitchFamily="49" charset="-122"/>
                </a:rPr>
                <a:t>层</a:t>
              </a:r>
            </a:p>
          </p:txBody>
        </p:sp>
        <p:sp>
          <p:nvSpPr>
            <p:cNvPr id="8278" name="Text Box 94"/>
            <p:cNvSpPr txBox="1">
              <a:spLocks noChangeArrowheads="1"/>
            </p:cNvSpPr>
            <p:nvPr/>
          </p:nvSpPr>
          <p:spPr bwMode="auto">
            <a:xfrm>
              <a:off x="3901" y="0"/>
              <a:ext cx="499"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5</a:t>
              </a:r>
              <a:r>
                <a:rPr lang="zh-CN" altLang="en-US" b="1">
                  <a:ea typeface="楷体_GB2312" pitchFamily="49" charset="-122"/>
                </a:rPr>
                <a:t>层</a:t>
              </a:r>
            </a:p>
          </p:txBody>
        </p:sp>
        <p:sp>
          <p:nvSpPr>
            <p:cNvPr id="8279" name="Text Box 95"/>
            <p:cNvSpPr txBox="1">
              <a:spLocks noChangeArrowheads="1"/>
            </p:cNvSpPr>
            <p:nvPr/>
          </p:nvSpPr>
          <p:spPr bwMode="auto">
            <a:xfrm>
              <a:off x="1950" y="589"/>
              <a:ext cx="362"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8280" name="Text Box 96"/>
            <p:cNvSpPr txBox="1">
              <a:spLocks noChangeArrowheads="1"/>
            </p:cNvSpPr>
            <p:nvPr/>
          </p:nvSpPr>
          <p:spPr bwMode="auto">
            <a:xfrm>
              <a:off x="1950" y="1451"/>
              <a:ext cx="362"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8281" name="Text Box 97"/>
            <p:cNvSpPr txBox="1">
              <a:spLocks noChangeArrowheads="1"/>
            </p:cNvSpPr>
            <p:nvPr/>
          </p:nvSpPr>
          <p:spPr bwMode="auto">
            <a:xfrm>
              <a:off x="2767" y="635"/>
              <a:ext cx="364"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1</a:t>
              </a:r>
            </a:p>
          </p:txBody>
        </p:sp>
        <p:sp>
          <p:nvSpPr>
            <p:cNvPr id="8282" name="Text Box 98"/>
            <p:cNvSpPr txBox="1">
              <a:spLocks noChangeArrowheads="1"/>
            </p:cNvSpPr>
            <p:nvPr/>
          </p:nvSpPr>
          <p:spPr bwMode="auto">
            <a:xfrm>
              <a:off x="2767" y="1497"/>
              <a:ext cx="364"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8283" name="Text Box 99"/>
            <p:cNvSpPr txBox="1">
              <a:spLocks noChangeArrowheads="1"/>
            </p:cNvSpPr>
            <p:nvPr/>
          </p:nvSpPr>
          <p:spPr bwMode="auto">
            <a:xfrm>
              <a:off x="3674" y="544"/>
              <a:ext cx="544"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8284" name="Text Box 100"/>
            <p:cNvSpPr txBox="1">
              <a:spLocks noChangeArrowheads="1"/>
            </p:cNvSpPr>
            <p:nvPr/>
          </p:nvSpPr>
          <p:spPr bwMode="auto">
            <a:xfrm>
              <a:off x="3674" y="1406"/>
              <a:ext cx="544"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8285" name="Text Box 101"/>
            <p:cNvSpPr txBox="1">
              <a:spLocks noChangeArrowheads="1"/>
            </p:cNvSpPr>
            <p:nvPr/>
          </p:nvSpPr>
          <p:spPr bwMode="auto">
            <a:xfrm>
              <a:off x="4626" y="997"/>
              <a:ext cx="227"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8286" name="Text Box 102"/>
            <p:cNvSpPr txBox="1">
              <a:spLocks noChangeArrowheads="1"/>
            </p:cNvSpPr>
            <p:nvPr/>
          </p:nvSpPr>
          <p:spPr bwMode="auto">
            <a:xfrm>
              <a:off x="3266" y="317"/>
              <a:ext cx="453"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8287" name="Text Box 103"/>
            <p:cNvSpPr txBox="1">
              <a:spLocks noChangeArrowheads="1"/>
            </p:cNvSpPr>
            <p:nvPr/>
          </p:nvSpPr>
          <p:spPr bwMode="auto">
            <a:xfrm>
              <a:off x="3266" y="1722"/>
              <a:ext cx="408" cy="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8288" name="Line 104"/>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89" name="Line 105"/>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0" name="Line 106"/>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1" name="Line 107"/>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92" name="Group 100"/>
          <p:cNvGrpSpPr>
            <a:grpSpLocks/>
          </p:cNvGrpSpPr>
          <p:nvPr/>
        </p:nvGrpSpPr>
        <p:grpSpPr bwMode="auto">
          <a:xfrm>
            <a:off x="6894933" y="3844900"/>
            <a:ext cx="4385643" cy="1384300"/>
            <a:chOff x="0" y="0"/>
            <a:chExt cx="2405" cy="872"/>
          </a:xfrm>
        </p:grpSpPr>
        <p:graphicFrame>
          <p:nvGraphicFramePr>
            <p:cNvPr id="8293" name="Object 101"/>
            <p:cNvGraphicFramePr>
              <a:graphicFrameLocks noChangeAspect="1"/>
            </p:cNvGraphicFramePr>
            <p:nvPr>
              <p:extLst>
                <p:ext uri="{D42A27DB-BD31-4B8C-83A1-F6EECF244321}">
                  <p14:modId xmlns:p14="http://schemas.microsoft.com/office/powerpoint/2010/main" val="1543500252"/>
                </p:ext>
              </p:extLst>
            </p:nvPr>
          </p:nvGraphicFramePr>
          <p:xfrm>
            <a:off x="1258" y="2"/>
            <a:ext cx="1111" cy="444"/>
          </p:xfrm>
          <a:graphic>
            <a:graphicData uri="http://schemas.openxmlformats.org/presentationml/2006/ole">
              <mc:AlternateContent xmlns:mc="http://schemas.openxmlformats.org/markup-compatibility/2006">
                <mc:Choice xmlns:v="urn:schemas-microsoft-com:vml" Requires="v">
                  <p:oleObj name="Equation" r:id="rId2" imgW="1079349" imgH="431930" progId="Equation.DSMT4">
                    <p:embed/>
                  </p:oleObj>
                </mc:Choice>
                <mc:Fallback>
                  <p:oleObj name="Equation" r:id="rId2" imgW="1079349" imgH="431930" progId="Equation.DSMT4">
                    <p:embed/>
                    <p:pic>
                      <p:nvPicPr>
                        <p:cNvPr id="8293" name="Object 1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 y="2"/>
                          <a:ext cx="1111" cy="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4" name="Text Box 4"/>
            <p:cNvSpPr txBox="1">
              <a:spLocks noChangeArrowheads="1"/>
            </p:cNvSpPr>
            <p:nvPr/>
          </p:nvSpPr>
          <p:spPr bwMode="auto">
            <a:xfrm>
              <a:off x="0" y="0"/>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t>Z</a:t>
              </a:r>
              <a:r>
                <a:rPr lang="en-US" altLang="zh-CN" sz="2000" baseline="-25000"/>
                <a:t>1</a:t>
              </a:r>
              <a:r>
                <a:rPr lang="en-US" altLang="zh-CN" sz="2000"/>
                <a:t>=p</a:t>
              </a:r>
              <a:r>
                <a:rPr lang="en-US" altLang="zh-CN" sz="2000" baseline="-25000"/>
                <a:t>1</a:t>
              </a:r>
              <a:r>
                <a:rPr lang="en-US" altLang="zh-CN" sz="2000"/>
                <a:t>x+q</a:t>
              </a:r>
              <a:r>
                <a:rPr lang="en-US" altLang="zh-CN" sz="2000" baseline="-25000"/>
                <a:t>1</a:t>
              </a:r>
              <a:r>
                <a:rPr lang="en-US" altLang="zh-CN" sz="2000"/>
                <a:t>y+r</a:t>
              </a:r>
              <a:r>
                <a:rPr lang="en-US" altLang="zh-CN" sz="2000" baseline="-25000"/>
                <a:t>1</a:t>
              </a:r>
            </a:p>
          </p:txBody>
        </p:sp>
        <p:sp>
          <p:nvSpPr>
            <p:cNvPr id="8295" name="Text Box 6"/>
            <p:cNvSpPr txBox="1">
              <a:spLocks noChangeArrowheads="1"/>
            </p:cNvSpPr>
            <p:nvPr/>
          </p:nvSpPr>
          <p:spPr bwMode="auto">
            <a:xfrm>
              <a:off x="0" y="590"/>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t>Z</a:t>
              </a:r>
              <a:r>
                <a:rPr lang="en-US" altLang="zh-CN" sz="2000" baseline="-25000"/>
                <a:t>2</a:t>
              </a:r>
              <a:r>
                <a:rPr lang="en-US" altLang="zh-CN" sz="2000"/>
                <a:t>=p</a:t>
              </a:r>
              <a:r>
                <a:rPr lang="en-US" altLang="zh-CN" sz="2000" baseline="-25000"/>
                <a:t>2</a:t>
              </a:r>
              <a:r>
                <a:rPr lang="en-US" altLang="zh-CN" sz="2000"/>
                <a:t>x+q</a:t>
              </a:r>
              <a:r>
                <a:rPr lang="en-US" altLang="zh-CN" sz="2000" baseline="-25000"/>
                <a:t>2</a:t>
              </a:r>
              <a:r>
                <a:rPr lang="en-US" altLang="zh-CN" sz="2000"/>
                <a:t>y+r</a:t>
              </a:r>
              <a:r>
                <a:rPr lang="en-US" altLang="zh-CN" sz="2000" baseline="-25000"/>
                <a:t>2</a:t>
              </a:r>
            </a:p>
          </p:txBody>
        </p:sp>
        <p:sp>
          <p:nvSpPr>
            <p:cNvPr id="8296" name="AutoShape 58"/>
            <p:cNvSpPr>
              <a:spLocks noChangeArrowheads="1"/>
            </p:cNvSpPr>
            <p:nvPr/>
          </p:nvSpPr>
          <p:spPr bwMode="auto">
            <a:xfrm>
              <a:off x="952" y="363"/>
              <a:ext cx="182" cy="227"/>
            </a:xfrm>
            <a:prstGeom prst="rightArrow">
              <a:avLst>
                <a:gd name="adj1" fmla="val 50000"/>
                <a:gd name="adj2" fmla="val 25000"/>
              </a:avLst>
            </a:prstGeom>
            <a:solidFill>
              <a:schemeClr val="accent1"/>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297" name="Object 105"/>
            <p:cNvGraphicFramePr>
              <a:graphicFrameLocks noChangeAspect="1"/>
            </p:cNvGraphicFramePr>
            <p:nvPr>
              <p:extLst>
                <p:ext uri="{D42A27DB-BD31-4B8C-83A1-F6EECF244321}">
                  <p14:modId xmlns:p14="http://schemas.microsoft.com/office/powerpoint/2010/main" val="2108168681"/>
                </p:ext>
              </p:extLst>
            </p:nvPr>
          </p:nvGraphicFramePr>
          <p:xfrm>
            <a:off x="1385" y="584"/>
            <a:ext cx="1020" cy="288"/>
          </p:xfrm>
          <a:graphic>
            <a:graphicData uri="http://schemas.openxmlformats.org/presentationml/2006/ole">
              <mc:AlternateContent xmlns:mc="http://schemas.openxmlformats.org/markup-compatibility/2006">
                <mc:Choice xmlns:v="urn:schemas-microsoft-com:vml" Requires="v">
                  <p:oleObj name="Equation" r:id="rId4" imgW="21641117" imgH="6096317" progId="Equation.DSMT4">
                    <p:embed/>
                  </p:oleObj>
                </mc:Choice>
                <mc:Fallback>
                  <p:oleObj name="Equation" r:id="rId4" imgW="21641117" imgH="6096317" progId="Equation.DSMT4">
                    <p:embed/>
                    <p:pic>
                      <p:nvPicPr>
                        <p:cNvPr id="8297" name="Object 1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5" y="584"/>
                          <a:ext cx="10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 name="灯片编号占位符 1">
            <a:extLst>
              <a:ext uri="{FF2B5EF4-FFF2-40B4-BE49-F238E27FC236}">
                <a16:creationId xmlns:a16="http://schemas.microsoft.com/office/drawing/2014/main" id="{3BCDDC3E-595D-1B8C-6DDD-941192888D7D}"/>
              </a:ext>
            </a:extLst>
          </p:cNvPr>
          <p:cNvSpPr>
            <a:spLocks noGrp="1"/>
          </p:cNvSpPr>
          <p:nvPr>
            <p:ph type="sldNum" sz="quarter" idx="11"/>
          </p:nvPr>
        </p:nvSpPr>
        <p:spPr>
          <a:xfrm>
            <a:off x="33536" y="6309320"/>
            <a:ext cx="445840" cy="457200"/>
          </a:xfrm>
        </p:spPr>
        <p:txBody>
          <a:bodyPr/>
          <a:lstStyle/>
          <a:p>
            <a:pPr>
              <a:defRPr/>
            </a:pPr>
            <a:fld id="{B77A47BA-BA63-4780-94A9-8AFA2EA4438D}" type="slidenum">
              <a:rPr lang="en-US" altLang="zh-CN" smtClean="0"/>
              <a:pPr>
                <a:defRPr/>
              </a:pPr>
              <a:t>31</a:t>
            </a:fld>
            <a:endParaRPr lang="en-US" altLang="zh-CN"/>
          </a:p>
        </p:txBody>
      </p:sp>
      <p:sp>
        <p:nvSpPr>
          <p:cNvPr id="3" name="Rectangle 3">
            <a:extLst>
              <a:ext uri="{FF2B5EF4-FFF2-40B4-BE49-F238E27FC236}">
                <a16:creationId xmlns:a16="http://schemas.microsoft.com/office/drawing/2014/main" id="{588AEB10-57B3-D7C4-0782-BEDCF9653ED8}"/>
              </a:ext>
            </a:extLst>
          </p:cNvPr>
          <p:cNvSpPr txBox="1">
            <a:spLocks noChangeArrowheads="1"/>
          </p:cNvSpPr>
          <p:nvPr/>
        </p:nvSpPr>
        <p:spPr bwMode="auto">
          <a:xfrm>
            <a:off x="2757152" y="5690308"/>
            <a:ext cx="7378260" cy="1152128"/>
          </a:xfrm>
          <a:prstGeom prst="rect">
            <a:avLst/>
          </a:prstGeom>
          <a:solidFill>
            <a:srgbClr val="FFFFCC"/>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20000"/>
              </a:lnSpc>
              <a:buFont typeface="Wingdings" pitchFamily="2" charset="2"/>
              <a:buNone/>
            </a:pPr>
            <a:r>
              <a:rPr lang="en-US" altLang="zh-CN" sz="2800" b="1" kern="0" dirty="0">
                <a:solidFill>
                  <a:srgbClr val="0000FF"/>
                </a:solidFill>
                <a:ea typeface="楷体_GB2312" pitchFamily="49" charset="-122"/>
              </a:rPr>
              <a:t>R</a:t>
            </a:r>
            <a:r>
              <a:rPr lang="en-US" altLang="zh-CN" sz="2800" kern="0" baseline="-25000" dirty="0">
                <a:solidFill>
                  <a:srgbClr val="0000FF"/>
                </a:solidFill>
              </a:rPr>
              <a:t>1</a:t>
            </a:r>
            <a:r>
              <a:rPr lang="en-US" altLang="zh-CN" sz="2800" b="1" kern="0" dirty="0">
                <a:solidFill>
                  <a:srgbClr val="0000FF"/>
                </a:solidFill>
                <a:ea typeface="楷体_GB2312" pitchFamily="49" charset="-122"/>
              </a:rPr>
              <a:t>: IF x=A</a:t>
            </a:r>
            <a:r>
              <a:rPr lang="en-US" altLang="zh-CN" sz="2800" kern="0" baseline="-25000" dirty="0">
                <a:solidFill>
                  <a:srgbClr val="0000FF"/>
                </a:solidFill>
              </a:rPr>
              <a:t>1</a:t>
            </a:r>
            <a:r>
              <a:rPr lang="en-US" altLang="zh-CN" sz="2800" b="1" kern="0" dirty="0">
                <a:solidFill>
                  <a:srgbClr val="0000FF"/>
                </a:solidFill>
                <a:ea typeface="楷体_GB2312" pitchFamily="49" charset="-122"/>
              </a:rPr>
              <a:t> and y=B</a:t>
            </a:r>
            <a:r>
              <a:rPr lang="en-US" altLang="zh-CN" sz="2800" kern="0" baseline="-25000" dirty="0">
                <a:solidFill>
                  <a:srgbClr val="0000FF"/>
                </a:solidFill>
              </a:rPr>
              <a:t>1</a:t>
            </a:r>
            <a:r>
              <a:rPr lang="en-US" altLang="zh-CN" sz="2800" b="1" kern="0" dirty="0">
                <a:solidFill>
                  <a:srgbClr val="0000FF"/>
                </a:solidFill>
                <a:ea typeface="楷体_GB2312" pitchFamily="49" charset="-122"/>
              </a:rPr>
              <a:t> THEN</a:t>
            </a:r>
            <a:r>
              <a:rPr lang="zh-CN" altLang="en-US" sz="2800" b="1" kern="0" dirty="0">
                <a:solidFill>
                  <a:srgbClr val="0000FF"/>
                </a:solidFill>
                <a:ea typeface="楷体_GB2312" pitchFamily="49" charset="-122"/>
              </a:rPr>
              <a:t> </a:t>
            </a:r>
            <a:r>
              <a:rPr lang="en-US" altLang="zh-CN" sz="2800" b="1" kern="0" dirty="0">
                <a:solidFill>
                  <a:srgbClr val="0000FF"/>
                </a:solidFill>
                <a:ea typeface="楷体_GB2312" pitchFamily="49" charset="-122"/>
              </a:rPr>
              <a:t>z</a:t>
            </a:r>
            <a:r>
              <a:rPr lang="en-US" altLang="zh-CN" sz="2800" b="1" kern="0" baseline="-25000" dirty="0">
                <a:solidFill>
                  <a:srgbClr val="0000FF"/>
                </a:solidFill>
              </a:rPr>
              <a:t>1</a:t>
            </a:r>
            <a:r>
              <a:rPr lang="en-US" altLang="zh-CN" sz="2800" b="1" kern="0" dirty="0">
                <a:solidFill>
                  <a:srgbClr val="0000FF"/>
                </a:solidFill>
              </a:rPr>
              <a:t>=p</a:t>
            </a:r>
            <a:r>
              <a:rPr lang="en-US" altLang="zh-CN" sz="2800" b="1" kern="0" baseline="-25000" dirty="0">
                <a:solidFill>
                  <a:srgbClr val="0000FF"/>
                </a:solidFill>
              </a:rPr>
              <a:t>1</a:t>
            </a:r>
            <a:r>
              <a:rPr lang="en-US" altLang="zh-CN" sz="2800" b="1" kern="0" dirty="0">
                <a:solidFill>
                  <a:srgbClr val="0000FF"/>
                </a:solidFill>
              </a:rPr>
              <a:t>x+q</a:t>
            </a:r>
            <a:r>
              <a:rPr lang="en-US" altLang="zh-CN" sz="2800" b="1" kern="0" baseline="-25000" dirty="0">
                <a:solidFill>
                  <a:srgbClr val="0000FF"/>
                </a:solidFill>
              </a:rPr>
              <a:t>1</a:t>
            </a:r>
            <a:r>
              <a:rPr lang="en-US" altLang="zh-CN" sz="2800" b="1" kern="0" dirty="0">
                <a:solidFill>
                  <a:srgbClr val="0000FF"/>
                </a:solidFill>
              </a:rPr>
              <a:t>y+r</a:t>
            </a:r>
            <a:r>
              <a:rPr lang="en-US" altLang="zh-CN" sz="2800" b="1" kern="0" baseline="-25000" dirty="0">
                <a:solidFill>
                  <a:srgbClr val="0000FF"/>
                </a:solidFill>
              </a:rPr>
              <a:t>1</a:t>
            </a:r>
            <a:r>
              <a:rPr lang="en-US" altLang="zh-CN" sz="2800" b="1" kern="0" dirty="0">
                <a:solidFill>
                  <a:srgbClr val="0000FF"/>
                </a:solidFill>
              </a:rPr>
              <a:t> </a:t>
            </a:r>
          </a:p>
          <a:p>
            <a:pPr marL="0" indent="0" eaLnBrk="1" hangingPunct="1">
              <a:lnSpc>
                <a:spcPct val="120000"/>
              </a:lnSpc>
              <a:buFont typeface="Wingdings" pitchFamily="2" charset="2"/>
              <a:buNone/>
            </a:pPr>
            <a:r>
              <a:rPr lang="en-US" altLang="zh-CN" sz="2800" b="1" kern="0" dirty="0">
                <a:solidFill>
                  <a:srgbClr val="0000FF"/>
                </a:solidFill>
                <a:ea typeface="楷体_GB2312" pitchFamily="49" charset="-122"/>
              </a:rPr>
              <a:t>R</a:t>
            </a:r>
            <a:r>
              <a:rPr lang="en-US" altLang="zh-CN" sz="2800" kern="0" baseline="-25000" dirty="0">
                <a:solidFill>
                  <a:srgbClr val="0000FF"/>
                </a:solidFill>
              </a:rPr>
              <a:t>2</a:t>
            </a:r>
            <a:r>
              <a:rPr lang="en-US" altLang="zh-CN" sz="2800" b="1" kern="0" dirty="0">
                <a:solidFill>
                  <a:srgbClr val="0000FF"/>
                </a:solidFill>
                <a:ea typeface="楷体_GB2312" pitchFamily="49" charset="-122"/>
              </a:rPr>
              <a:t>: IF x=A</a:t>
            </a:r>
            <a:r>
              <a:rPr lang="en-US" altLang="zh-CN" sz="2800" kern="0" baseline="-25000" dirty="0">
                <a:solidFill>
                  <a:srgbClr val="0000FF"/>
                </a:solidFill>
              </a:rPr>
              <a:t>2</a:t>
            </a:r>
            <a:r>
              <a:rPr lang="en-US" altLang="zh-CN" sz="2800" b="1" kern="0" dirty="0">
                <a:solidFill>
                  <a:srgbClr val="0000FF"/>
                </a:solidFill>
                <a:ea typeface="楷体_GB2312" pitchFamily="49" charset="-122"/>
              </a:rPr>
              <a:t> and y=B</a:t>
            </a:r>
            <a:r>
              <a:rPr lang="en-US" altLang="zh-CN" sz="2800" kern="0" baseline="-25000" dirty="0">
                <a:solidFill>
                  <a:srgbClr val="0000FF"/>
                </a:solidFill>
              </a:rPr>
              <a:t>2</a:t>
            </a:r>
            <a:r>
              <a:rPr lang="en-US" altLang="zh-CN" sz="2800" b="1" kern="0" dirty="0">
                <a:solidFill>
                  <a:srgbClr val="0000FF"/>
                </a:solidFill>
                <a:ea typeface="楷体_GB2312" pitchFamily="49" charset="-122"/>
              </a:rPr>
              <a:t> THEN</a:t>
            </a:r>
            <a:r>
              <a:rPr lang="zh-CN" altLang="en-US" sz="2800" b="1" kern="0" dirty="0">
                <a:solidFill>
                  <a:srgbClr val="0000FF"/>
                </a:solidFill>
                <a:ea typeface="楷体_GB2312" pitchFamily="49" charset="-122"/>
              </a:rPr>
              <a:t> </a:t>
            </a:r>
            <a:r>
              <a:rPr lang="en-US" altLang="zh-CN" sz="2800" b="1" kern="0" dirty="0">
                <a:solidFill>
                  <a:srgbClr val="0000FF"/>
                </a:solidFill>
                <a:ea typeface="楷体_GB2312" pitchFamily="49" charset="-122"/>
              </a:rPr>
              <a:t>z</a:t>
            </a:r>
            <a:r>
              <a:rPr lang="en-US" altLang="zh-CN" sz="2800" b="1" kern="0" baseline="-25000" dirty="0">
                <a:solidFill>
                  <a:srgbClr val="0000FF"/>
                </a:solidFill>
              </a:rPr>
              <a:t>2</a:t>
            </a:r>
            <a:r>
              <a:rPr lang="en-US" altLang="zh-CN" sz="2800" b="1" kern="0" dirty="0">
                <a:solidFill>
                  <a:srgbClr val="0000FF"/>
                </a:solidFill>
              </a:rPr>
              <a:t>=p</a:t>
            </a:r>
            <a:r>
              <a:rPr lang="en-US" altLang="zh-CN" sz="2800" b="1" kern="0" baseline="-25000" dirty="0">
                <a:solidFill>
                  <a:srgbClr val="0000FF"/>
                </a:solidFill>
              </a:rPr>
              <a:t>2</a:t>
            </a:r>
            <a:r>
              <a:rPr lang="en-US" altLang="zh-CN" sz="2800" b="1" kern="0" dirty="0">
                <a:solidFill>
                  <a:srgbClr val="0000FF"/>
                </a:solidFill>
              </a:rPr>
              <a:t>x+q</a:t>
            </a:r>
            <a:r>
              <a:rPr lang="en-US" altLang="zh-CN" sz="2800" b="1" kern="0" baseline="-25000" dirty="0">
                <a:solidFill>
                  <a:srgbClr val="0000FF"/>
                </a:solidFill>
              </a:rPr>
              <a:t>2</a:t>
            </a:r>
            <a:r>
              <a:rPr lang="en-US" altLang="zh-CN" sz="2800" b="1" kern="0" dirty="0">
                <a:solidFill>
                  <a:srgbClr val="0000FF"/>
                </a:solidFill>
              </a:rPr>
              <a:t>y+r</a:t>
            </a:r>
            <a:r>
              <a:rPr lang="en-US" altLang="zh-CN" sz="2800" b="1" kern="0" baseline="-25000" dirty="0">
                <a:solidFill>
                  <a:srgbClr val="0000FF"/>
                </a:solidFill>
              </a:rPr>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243"/>
                                        </p:tgtEl>
                                        <p:attrNameLst>
                                          <p:attrName>style.visibility</p:attrName>
                                        </p:attrNameLst>
                                      </p:cBhvr>
                                      <p:to>
                                        <p:strVal val="visible"/>
                                      </p:to>
                                    </p:set>
                                    <p:animEffect transition="in" filter="wipe(up)">
                                      <p:cBhvr>
                                        <p:cTn id="7" dur="500"/>
                                        <p:tgtEl>
                                          <p:spTgt spid="8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1981200" y="404664"/>
            <a:ext cx="8229600" cy="1100138"/>
          </a:xfrm>
        </p:spPr>
        <p:txBody>
          <a:bodyPr/>
          <a:lstStyle/>
          <a:p>
            <a:pPr algn="ctr" eaLnBrk="1" hangingPunct="1"/>
            <a:r>
              <a:rPr lang="en-US" altLang="zh-CN" sz="4500" dirty="0">
                <a:solidFill>
                  <a:srgbClr val="008000"/>
                </a:solidFill>
                <a:latin typeface="Comic Sans MS" panose="030F0702030302020204" pitchFamily="66" charset="0"/>
                <a:ea typeface="黑体" panose="02010609060101010101" pitchFamily="49" charset="-122"/>
              </a:rPr>
              <a:t>ANFIS</a:t>
            </a:r>
            <a:r>
              <a:rPr lang="zh-CN" altLang="en-US" sz="4500" dirty="0">
                <a:solidFill>
                  <a:srgbClr val="008000"/>
                </a:solidFill>
                <a:latin typeface="Comic Sans MS" panose="030F0702030302020204" pitchFamily="66" charset="0"/>
                <a:ea typeface="黑体" panose="02010609060101010101" pitchFamily="49" charset="-122"/>
              </a:rPr>
              <a:t>结构</a:t>
            </a:r>
          </a:p>
        </p:txBody>
      </p:sp>
      <p:sp>
        <p:nvSpPr>
          <p:cNvPr id="9219" name="Rectangle 3"/>
          <p:cNvSpPr>
            <a:spLocks noGrp="1" noChangeArrowheads="1"/>
          </p:cNvSpPr>
          <p:nvPr>
            <p:ph type="body" idx="4294967295"/>
          </p:nvPr>
        </p:nvSpPr>
        <p:spPr>
          <a:xfrm>
            <a:off x="1919288" y="4292600"/>
            <a:ext cx="8229600" cy="2374900"/>
          </a:xfrm>
        </p:spPr>
        <p:txBody>
          <a:bodyPr/>
          <a:lstStyle/>
          <a:p>
            <a:pPr eaLnBrk="1" hangingPunct="1"/>
            <a:r>
              <a:rPr lang="zh-CN" altLang="en-US" dirty="0">
                <a:solidFill>
                  <a:srgbClr val="FF0000"/>
                </a:solidFill>
                <a:latin typeface="黑体" panose="02010609060101010101" pitchFamily="49" charset="-122"/>
                <a:ea typeface="黑体" panose="02010609060101010101" pitchFamily="49" charset="-122"/>
              </a:rPr>
              <a:t>第一层：计算输入的</a:t>
            </a:r>
            <a:r>
              <a:rPr lang="en-US" altLang="zh-CN" dirty="0">
                <a:solidFill>
                  <a:srgbClr val="FF0000"/>
                </a:solidFill>
                <a:latin typeface="黑体" panose="02010609060101010101" pitchFamily="49" charset="-122"/>
                <a:ea typeface="黑体" panose="02010609060101010101" pitchFamily="49" charset="-122"/>
              </a:rPr>
              <a:t>F</a:t>
            </a:r>
            <a:r>
              <a:rPr lang="zh-CN" altLang="en-US" dirty="0">
                <a:solidFill>
                  <a:srgbClr val="FF0000"/>
                </a:solidFill>
                <a:latin typeface="黑体" panose="02010609060101010101" pitchFamily="49" charset="-122"/>
                <a:ea typeface="黑体" panose="02010609060101010101" pitchFamily="49" charset="-122"/>
              </a:rPr>
              <a:t>隶属度</a:t>
            </a:r>
          </a:p>
          <a:p>
            <a:pPr eaLnBrk="1" hangingPunct="1">
              <a:buFont typeface="Wingdings" panose="05000000000000000000" pitchFamily="2" charset="2"/>
              <a:buNone/>
            </a:pPr>
            <a:r>
              <a:rPr lang="zh-CN" altLang="en-US" b="1" dirty="0"/>
              <a:t>         </a:t>
            </a:r>
            <a:r>
              <a:rPr lang="en-US" altLang="zh-CN" b="1" i="1" dirty="0"/>
              <a:t>O</a:t>
            </a:r>
            <a:r>
              <a:rPr lang="en-US" altLang="zh-CN" b="1" baseline="-25000" dirty="0"/>
              <a:t>1,</a:t>
            </a:r>
            <a:r>
              <a:rPr lang="en-US" altLang="zh-CN" b="1" baseline="-25000" dirty="0">
                <a:latin typeface="Times New Roman" panose="02020603050405020304" pitchFamily="18" charset="0"/>
                <a:cs typeface="Times New Roman" panose="02020603050405020304" pitchFamily="18" charset="0"/>
              </a:rPr>
              <a:t>i</a:t>
            </a:r>
            <a:r>
              <a:rPr lang="en-US" altLang="zh-CN" b="1" baseline="-25000" dirty="0"/>
              <a:t> </a:t>
            </a:r>
            <a:r>
              <a:rPr lang="en-US" altLang="zh-CN" b="1" dirty="0"/>
              <a:t>= </a:t>
            </a:r>
            <a:r>
              <a:rPr lang="en-US" altLang="zh-CN" b="1" dirty="0" err="1"/>
              <a:t>g</a:t>
            </a:r>
            <a:r>
              <a:rPr lang="en-US" altLang="zh-CN" b="1" baseline="-25000" dirty="0" err="1"/>
              <a:t>xi</a:t>
            </a:r>
            <a:r>
              <a:rPr lang="en-US" altLang="zh-CN" b="1" dirty="0"/>
              <a:t>(</a:t>
            </a:r>
            <a:r>
              <a:rPr lang="en-US" altLang="zh-CN" b="1" dirty="0" err="1"/>
              <a:t>x,a</a:t>
            </a:r>
            <a:r>
              <a:rPr lang="en-US" altLang="zh-CN" b="1" baseline="-25000" dirty="0" err="1"/>
              <a:t>i</a:t>
            </a:r>
            <a:r>
              <a:rPr lang="en-US" altLang="zh-CN" b="1" dirty="0" err="1"/>
              <a:t>,b</a:t>
            </a:r>
            <a:r>
              <a:rPr lang="en-US" altLang="zh-CN" b="1" baseline="-25000" dirty="0" err="1"/>
              <a:t>i</a:t>
            </a:r>
            <a:r>
              <a:rPr lang="en-US" altLang="zh-CN" b="1" dirty="0"/>
              <a:t>)                </a:t>
            </a:r>
            <a:r>
              <a:rPr lang="en-US" altLang="zh-CN" b="1" dirty="0" err="1"/>
              <a:t>i</a:t>
            </a:r>
            <a:r>
              <a:rPr lang="en-US" altLang="zh-CN" b="1" dirty="0"/>
              <a:t> = 1, 2 </a:t>
            </a:r>
          </a:p>
          <a:p>
            <a:pPr eaLnBrk="1" hangingPunct="1">
              <a:buFont typeface="Wingdings" panose="05000000000000000000" pitchFamily="2" charset="2"/>
              <a:buNone/>
            </a:pPr>
            <a:r>
              <a:rPr lang="en-US" altLang="zh-CN" b="1" dirty="0"/>
              <a:t>         </a:t>
            </a:r>
            <a:r>
              <a:rPr lang="en-US" altLang="zh-CN" b="1" i="1" dirty="0"/>
              <a:t>O</a:t>
            </a:r>
            <a:r>
              <a:rPr lang="en-US" altLang="zh-CN" b="1" baseline="-25000" dirty="0"/>
              <a:t>1,j </a:t>
            </a:r>
            <a:r>
              <a:rPr lang="en-US" altLang="zh-CN" b="1" dirty="0"/>
              <a:t>= </a:t>
            </a:r>
            <a:r>
              <a:rPr lang="en-US" altLang="zh-CN" b="1" dirty="0" err="1"/>
              <a:t>g</a:t>
            </a:r>
            <a:r>
              <a:rPr lang="en-US" altLang="zh-CN" b="1" baseline="-25000" dirty="0" err="1"/>
              <a:t>y</a:t>
            </a:r>
            <a:r>
              <a:rPr lang="en-US" altLang="zh-CN" b="1" baseline="-25000" dirty="0"/>
              <a:t>(j-2)</a:t>
            </a:r>
            <a:r>
              <a:rPr lang="en-US" altLang="zh-CN" b="1" dirty="0"/>
              <a:t>(y,c</a:t>
            </a:r>
            <a:r>
              <a:rPr lang="en-US" altLang="zh-CN" b="1" baseline="-25000" dirty="0"/>
              <a:t>j-2</a:t>
            </a:r>
            <a:r>
              <a:rPr lang="en-US" altLang="zh-CN" b="1" dirty="0"/>
              <a:t>,</a:t>
            </a:r>
            <a:r>
              <a:rPr lang="zh-CN" altLang="en-US" b="1" dirty="0"/>
              <a:t>d</a:t>
            </a:r>
            <a:r>
              <a:rPr lang="en-US" altLang="zh-CN" b="1" baseline="-25000" dirty="0"/>
              <a:t>j-2</a:t>
            </a:r>
            <a:r>
              <a:rPr lang="en-US" altLang="zh-CN" b="1" dirty="0"/>
              <a:t>)        j = 3, 4</a:t>
            </a:r>
          </a:p>
          <a:p>
            <a:pPr eaLnBrk="1" hangingPunct="1">
              <a:buFont typeface="Wingdings" panose="05000000000000000000" pitchFamily="2" charset="2"/>
              <a:buNone/>
            </a:pPr>
            <a:r>
              <a:rPr lang="en-US" altLang="zh-CN" dirty="0"/>
              <a:t>         </a:t>
            </a:r>
            <a:r>
              <a:rPr lang="en-US" altLang="zh-CN" b="1" i="1" dirty="0">
                <a:ea typeface="楷体_GB2312" pitchFamily="49" charset="-122"/>
              </a:rPr>
              <a:t>O</a:t>
            </a:r>
            <a:r>
              <a:rPr lang="en-US" altLang="zh-CN" b="1" baseline="-25000" dirty="0">
                <a:ea typeface="楷体_GB2312" pitchFamily="49" charset="-122"/>
              </a:rPr>
              <a:t>1,k</a:t>
            </a:r>
            <a:r>
              <a:rPr lang="zh-CN" altLang="en-US" b="1" dirty="0">
                <a:ea typeface="楷体_GB2312" pitchFamily="49" charset="-122"/>
              </a:rPr>
              <a:t>表示第 </a:t>
            </a:r>
            <a:r>
              <a:rPr lang="en-US" altLang="zh-CN" b="1" dirty="0">
                <a:ea typeface="楷体_GB2312" pitchFamily="49" charset="-122"/>
              </a:rPr>
              <a:t>1 </a:t>
            </a:r>
            <a:r>
              <a:rPr lang="zh-CN" altLang="en-US" b="1" dirty="0">
                <a:ea typeface="楷体_GB2312" pitchFamily="49" charset="-122"/>
              </a:rPr>
              <a:t>层上的第 </a:t>
            </a:r>
            <a:r>
              <a:rPr lang="en-US" altLang="zh-CN" b="1" dirty="0">
                <a:ea typeface="楷体_GB2312" pitchFamily="49" charset="-122"/>
              </a:rPr>
              <a:t>k </a:t>
            </a:r>
            <a:r>
              <a:rPr lang="zh-CN" altLang="en-US" b="1" dirty="0">
                <a:ea typeface="楷体_GB2312" pitchFamily="49" charset="-122"/>
              </a:rPr>
              <a:t>个输出</a:t>
            </a:r>
          </a:p>
        </p:txBody>
      </p:sp>
      <p:grpSp>
        <p:nvGrpSpPr>
          <p:cNvPr id="9220" name="Group 4"/>
          <p:cNvGrpSpPr>
            <a:grpSpLocks/>
          </p:cNvGrpSpPr>
          <p:nvPr/>
        </p:nvGrpSpPr>
        <p:grpSpPr bwMode="auto">
          <a:xfrm>
            <a:off x="2063759" y="1484322"/>
            <a:ext cx="8353425" cy="2619375"/>
            <a:chOff x="0" y="0"/>
            <a:chExt cx="4853" cy="2002"/>
          </a:xfrm>
        </p:grpSpPr>
        <p:sp>
          <p:nvSpPr>
            <p:cNvPr id="9221" name="Rectangle 5"/>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9222" name="Rectangle 6"/>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9223" name="Rectangle 7"/>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9224" name="Rectangle 8"/>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9225" name="Oval 9"/>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226" name="Rectangle 10"/>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227" name="Rectangle 11"/>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228" name="Oval 12"/>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9229" name="Oval 13"/>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9230" name="Oval 14"/>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9231" name="Oval 15"/>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9232" name="Text Box 16"/>
            <p:cNvSpPr txBox="1">
              <a:spLocks noChangeArrowheads="1"/>
            </p:cNvSpPr>
            <p:nvPr/>
          </p:nvSpPr>
          <p:spPr bwMode="auto">
            <a:xfrm>
              <a:off x="0" y="544"/>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9233" name="Text Box 17"/>
            <p:cNvSpPr txBox="1">
              <a:spLocks noChangeArrowheads="1"/>
            </p:cNvSpPr>
            <p:nvPr/>
          </p:nvSpPr>
          <p:spPr bwMode="auto">
            <a:xfrm>
              <a:off x="0" y="1451"/>
              <a:ext cx="27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9234" name="Line 18"/>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5" name="Line 19"/>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6" name="Line 20"/>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7" name="Line 21"/>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8" name="Line 22"/>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9" name="Line 23"/>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0" name="Line 24"/>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1" name="Line 25"/>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2" name="Line 26"/>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3" name="Line 27"/>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4" name="Line 28"/>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5" name="Line 29"/>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6" name="Line 30"/>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7" name="Line 31"/>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8" name="Line 32"/>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9" name="Line 33"/>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0" name="Line 34"/>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1" name="Text Box 35"/>
            <p:cNvSpPr txBox="1">
              <a:spLocks noChangeArrowheads="1"/>
            </p:cNvSpPr>
            <p:nvPr/>
          </p:nvSpPr>
          <p:spPr bwMode="auto">
            <a:xfrm>
              <a:off x="680"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0000"/>
                  </a:solidFill>
                  <a:ea typeface="楷体_GB2312" pitchFamily="49" charset="-122"/>
                </a:rPr>
                <a:t>第</a:t>
              </a:r>
              <a:r>
                <a:rPr lang="en-US" altLang="zh-CN" b="1" dirty="0">
                  <a:solidFill>
                    <a:srgbClr val="FF0000"/>
                  </a:solidFill>
                  <a:ea typeface="楷体_GB2312" pitchFamily="49" charset="-122"/>
                </a:rPr>
                <a:t>1</a:t>
              </a:r>
              <a:r>
                <a:rPr lang="zh-CN" altLang="en-US" b="1" dirty="0">
                  <a:solidFill>
                    <a:srgbClr val="FF0000"/>
                  </a:solidFill>
                  <a:ea typeface="楷体_GB2312" pitchFamily="49" charset="-122"/>
                </a:rPr>
                <a:t>层</a:t>
              </a:r>
            </a:p>
          </p:txBody>
        </p:sp>
        <p:sp>
          <p:nvSpPr>
            <p:cNvPr id="9252" name="Text Box 36"/>
            <p:cNvSpPr txBox="1">
              <a:spLocks noChangeArrowheads="1"/>
            </p:cNvSpPr>
            <p:nvPr/>
          </p:nvSpPr>
          <p:spPr bwMode="auto">
            <a:xfrm>
              <a:off x="1542"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2</a:t>
              </a:r>
              <a:r>
                <a:rPr lang="zh-CN" altLang="en-US" b="1">
                  <a:ea typeface="楷体_GB2312" pitchFamily="49" charset="-122"/>
                </a:rPr>
                <a:t>层</a:t>
              </a:r>
            </a:p>
          </p:txBody>
        </p:sp>
        <p:sp>
          <p:nvSpPr>
            <p:cNvPr id="9253" name="Text Box 37"/>
            <p:cNvSpPr txBox="1">
              <a:spLocks noChangeArrowheads="1"/>
            </p:cNvSpPr>
            <p:nvPr/>
          </p:nvSpPr>
          <p:spPr bwMode="auto">
            <a:xfrm>
              <a:off x="2449"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3</a:t>
              </a:r>
              <a:r>
                <a:rPr lang="zh-CN" altLang="en-US" b="1">
                  <a:ea typeface="楷体_GB2312" pitchFamily="49" charset="-122"/>
                </a:rPr>
                <a:t>层</a:t>
              </a:r>
            </a:p>
          </p:txBody>
        </p:sp>
        <p:sp>
          <p:nvSpPr>
            <p:cNvPr id="9254" name="Text Box 38"/>
            <p:cNvSpPr txBox="1">
              <a:spLocks noChangeArrowheads="1"/>
            </p:cNvSpPr>
            <p:nvPr/>
          </p:nvSpPr>
          <p:spPr bwMode="auto">
            <a:xfrm>
              <a:off x="3175"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4</a:t>
              </a:r>
              <a:r>
                <a:rPr lang="zh-CN" altLang="en-US" b="1">
                  <a:ea typeface="楷体_GB2312" pitchFamily="49" charset="-122"/>
                </a:rPr>
                <a:t>层</a:t>
              </a:r>
            </a:p>
          </p:txBody>
        </p:sp>
        <p:sp>
          <p:nvSpPr>
            <p:cNvPr id="9255" name="Text Box 39"/>
            <p:cNvSpPr txBox="1">
              <a:spLocks noChangeArrowheads="1"/>
            </p:cNvSpPr>
            <p:nvPr/>
          </p:nvSpPr>
          <p:spPr bwMode="auto">
            <a:xfrm>
              <a:off x="3901" y="0"/>
              <a:ext cx="499"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5</a:t>
              </a:r>
              <a:r>
                <a:rPr lang="zh-CN" altLang="en-US" b="1">
                  <a:ea typeface="楷体_GB2312" pitchFamily="49" charset="-122"/>
                </a:rPr>
                <a:t>层</a:t>
              </a:r>
            </a:p>
          </p:txBody>
        </p:sp>
        <p:sp>
          <p:nvSpPr>
            <p:cNvPr id="9256" name="Text Box 40"/>
            <p:cNvSpPr txBox="1">
              <a:spLocks noChangeArrowheads="1"/>
            </p:cNvSpPr>
            <p:nvPr/>
          </p:nvSpPr>
          <p:spPr bwMode="auto">
            <a:xfrm>
              <a:off x="1950" y="588"/>
              <a:ext cx="362"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9257" name="Text Box 41"/>
            <p:cNvSpPr txBox="1">
              <a:spLocks noChangeArrowheads="1"/>
            </p:cNvSpPr>
            <p:nvPr/>
          </p:nvSpPr>
          <p:spPr bwMode="auto">
            <a:xfrm>
              <a:off x="1950" y="1451"/>
              <a:ext cx="362"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9258" name="Text Box 42"/>
            <p:cNvSpPr txBox="1">
              <a:spLocks noChangeArrowheads="1"/>
            </p:cNvSpPr>
            <p:nvPr/>
          </p:nvSpPr>
          <p:spPr bwMode="auto">
            <a:xfrm>
              <a:off x="2767" y="635"/>
              <a:ext cx="36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1</a:t>
              </a:r>
            </a:p>
          </p:txBody>
        </p:sp>
        <p:sp>
          <p:nvSpPr>
            <p:cNvPr id="9259" name="Text Box 43"/>
            <p:cNvSpPr txBox="1">
              <a:spLocks noChangeArrowheads="1"/>
            </p:cNvSpPr>
            <p:nvPr/>
          </p:nvSpPr>
          <p:spPr bwMode="auto">
            <a:xfrm>
              <a:off x="2767" y="1497"/>
              <a:ext cx="36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9260" name="Text Box 44"/>
            <p:cNvSpPr txBox="1">
              <a:spLocks noChangeArrowheads="1"/>
            </p:cNvSpPr>
            <p:nvPr/>
          </p:nvSpPr>
          <p:spPr bwMode="auto">
            <a:xfrm>
              <a:off x="3674" y="544"/>
              <a:ext cx="544"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9261" name="Text Box 45"/>
            <p:cNvSpPr txBox="1">
              <a:spLocks noChangeArrowheads="1"/>
            </p:cNvSpPr>
            <p:nvPr/>
          </p:nvSpPr>
          <p:spPr bwMode="auto">
            <a:xfrm>
              <a:off x="3674" y="1406"/>
              <a:ext cx="544"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9262" name="Text Box 46"/>
            <p:cNvSpPr txBox="1">
              <a:spLocks noChangeArrowheads="1"/>
            </p:cNvSpPr>
            <p:nvPr/>
          </p:nvSpPr>
          <p:spPr bwMode="auto">
            <a:xfrm>
              <a:off x="4626" y="997"/>
              <a:ext cx="227"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9263" name="Text Box 47"/>
            <p:cNvSpPr txBox="1">
              <a:spLocks noChangeArrowheads="1"/>
            </p:cNvSpPr>
            <p:nvPr/>
          </p:nvSpPr>
          <p:spPr bwMode="auto">
            <a:xfrm>
              <a:off x="3266" y="317"/>
              <a:ext cx="453"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9264" name="Text Box 48"/>
            <p:cNvSpPr txBox="1">
              <a:spLocks noChangeArrowheads="1"/>
            </p:cNvSpPr>
            <p:nvPr/>
          </p:nvSpPr>
          <p:spPr bwMode="auto">
            <a:xfrm>
              <a:off x="3266" y="1722"/>
              <a:ext cx="408" cy="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9265" name="Line 49"/>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6" name="Line 50"/>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7" name="Line 51"/>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8" name="Line 52"/>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文本框 2">
            <a:extLst>
              <a:ext uri="{FF2B5EF4-FFF2-40B4-BE49-F238E27FC236}">
                <a16:creationId xmlns:a16="http://schemas.microsoft.com/office/drawing/2014/main" id="{A043CB54-B9D9-B07F-72BB-5E78A8151EB7}"/>
              </a:ext>
            </a:extLst>
          </p:cNvPr>
          <p:cNvSpPr txBox="1"/>
          <p:nvPr/>
        </p:nvSpPr>
        <p:spPr>
          <a:xfrm>
            <a:off x="3863752" y="1690009"/>
            <a:ext cx="698843" cy="2459071"/>
          </a:xfrm>
          <a:prstGeom prst="rect">
            <a:avLst/>
          </a:prstGeom>
          <a:noFill/>
        </p:spPr>
        <p:txBody>
          <a:bodyPr wrap="square" rtlCol="0">
            <a:spAutoFit/>
          </a:bodyPr>
          <a:lstStyle/>
          <a:p>
            <a:pPr>
              <a:lnSpc>
                <a:spcPct val="200000"/>
              </a:lnSpc>
            </a:pPr>
            <a:r>
              <a:rPr lang="en-US" altLang="zh-CN" sz="2000" b="1" i="1" dirty="0"/>
              <a:t>O</a:t>
            </a:r>
            <a:r>
              <a:rPr lang="en-US" altLang="zh-CN" sz="2000" b="1" baseline="-25000" dirty="0"/>
              <a:t>1,1</a:t>
            </a:r>
          </a:p>
          <a:p>
            <a:pPr>
              <a:lnSpc>
                <a:spcPct val="200000"/>
              </a:lnSpc>
            </a:pPr>
            <a:r>
              <a:rPr lang="en-US" altLang="zh-CN" sz="2000" b="1" i="1" dirty="0"/>
              <a:t>O</a:t>
            </a:r>
            <a:r>
              <a:rPr lang="en-US" altLang="zh-CN" sz="2000" b="1" baseline="-25000" dirty="0"/>
              <a:t>1,2</a:t>
            </a:r>
            <a:endParaRPr lang="zh-CN" altLang="en-US" sz="2000" dirty="0"/>
          </a:p>
          <a:p>
            <a:pPr>
              <a:lnSpc>
                <a:spcPct val="200000"/>
              </a:lnSpc>
            </a:pPr>
            <a:r>
              <a:rPr lang="en-US" altLang="zh-CN" sz="2000" b="1" i="1" dirty="0"/>
              <a:t>O</a:t>
            </a:r>
            <a:r>
              <a:rPr lang="en-US" altLang="zh-CN" sz="2000" b="1" baseline="-25000" dirty="0"/>
              <a:t>1,3</a:t>
            </a:r>
            <a:endParaRPr lang="zh-CN" altLang="en-US" sz="2000" dirty="0"/>
          </a:p>
          <a:p>
            <a:pPr>
              <a:lnSpc>
                <a:spcPct val="200000"/>
              </a:lnSpc>
            </a:pPr>
            <a:r>
              <a:rPr lang="en-US" altLang="zh-CN" sz="2000" b="1" i="1" dirty="0"/>
              <a:t>O</a:t>
            </a:r>
            <a:r>
              <a:rPr lang="en-US" altLang="zh-CN" sz="2000" b="1" baseline="-25000" dirty="0"/>
              <a:t>1,4</a:t>
            </a:r>
            <a:endParaRPr lang="zh-CN" altLang="en-US" sz="2000" dirty="0"/>
          </a:p>
        </p:txBody>
      </p:sp>
      <p:sp>
        <p:nvSpPr>
          <p:cNvPr id="2" name="灯片编号占位符 1">
            <a:extLst>
              <a:ext uri="{FF2B5EF4-FFF2-40B4-BE49-F238E27FC236}">
                <a16:creationId xmlns:a16="http://schemas.microsoft.com/office/drawing/2014/main" id="{5BD7E06C-151D-8676-C37A-6243D61764A5}"/>
              </a:ext>
            </a:extLst>
          </p:cNvPr>
          <p:cNvSpPr>
            <a:spLocks noGrp="1"/>
          </p:cNvSpPr>
          <p:nvPr>
            <p:ph type="sldNum" sz="quarter" idx="11"/>
          </p:nvPr>
        </p:nvSpPr>
        <p:spPr/>
        <p:txBody>
          <a:bodyPr/>
          <a:lstStyle/>
          <a:p>
            <a:pPr>
              <a:defRPr/>
            </a:pPr>
            <a:fld id="{B77A47BA-BA63-4780-94A9-8AFA2EA4438D}" type="slidenum">
              <a:rPr lang="en-US" altLang="zh-CN" smtClean="0"/>
              <a:pPr>
                <a:defRPr/>
              </a:pPr>
              <a:t>32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left)">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left)">
                                      <p:cBhvr>
                                        <p:cTn id="12" dur="500"/>
                                        <p:tgtEl>
                                          <p:spTgt spid="9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wipe(left)">
                                      <p:cBhvr>
                                        <p:cTn id="17" dur="500"/>
                                        <p:tgtEl>
                                          <p:spTgt spid="92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wipe(left)">
                                      <p:cBhvr>
                                        <p:cTn id="22" dur="500"/>
                                        <p:tgtEl>
                                          <p:spTgt spid="9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1000"/>
                                        <p:tgtEl>
                                          <p:spTgt spid="3"/>
                                        </p:tgtEl>
                                      </p:cBhvr>
                                    </p:animEffect>
                                    <p:anim calcmode="lin" valueType="num">
                                      <p:cBhvr>
                                        <p:cTn id="28" dur="1000" fill="hold"/>
                                        <p:tgtEl>
                                          <p:spTgt spid="3"/>
                                        </p:tgtEl>
                                        <p:attrNameLst>
                                          <p:attrName>ppt_x</p:attrName>
                                        </p:attrNameLst>
                                      </p:cBhvr>
                                      <p:tavLst>
                                        <p:tav tm="0">
                                          <p:val>
                                            <p:strVal val="#ppt_x"/>
                                          </p:val>
                                        </p:tav>
                                        <p:tav tm="100000">
                                          <p:val>
                                            <p:strVal val="#ppt_x"/>
                                          </p:val>
                                        </p:tav>
                                      </p:tavLst>
                                    </p:anim>
                                    <p:anim calcmode="lin" valueType="num">
                                      <p:cBhvr>
                                        <p:cTn id="2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autoUpdateAnimBg="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1981200" y="457200"/>
            <a:ext cx="8229600" cy="1100138"/>
          </a:xfrm>
        </p:spPr>
        <p:txBody>
          <a:bodyPr/>
          <a:lstStyle/>
          <a:p>
            <a:pPr algn="ctr" eaLnBrk="1" hangingPunct="1"/>
            <a:r>
              <a:rPr lang="en-US" altLang="zh-CN" sz="4500">
                <a:solidFill>
                  <a:srgbClr val="008000"/>
                </a:solidFill>
                <a:latin typeface="Comic Sans MS" panose="030F0702030302020204" pitchFamily="66" charset="0"/>
                <a:ea typeface="黑体" panose="02010609060101010101" pitchFamily="49" charset="-122"/>
              </a:rPr>
              <a:t>ANFIS</a:t>
            </a:r>
            <a:r>
              <a:rPr lang="zh-CN" altLang="en-US" sz="4500">
                <a:solidFill>
                  <a:srgbClr val="008000"/>
                </a:solidFill>
                <a:latin typeface="Comic Sans MS" panose="030F0702030302020204" pitchFamily="66" charset="0"/>
                <a:ea typeface="黑体" panose="02010609060101010101" pitchFamily="49" charset="-122"/>
              </a:rPr>
              <a:t>结构</a:t>
            </a:r>
          </a:p>
        </p:txBody>
      </p:sp>
      <p:sp>
        <p:nvSpPr>
          <p:cNvPr id="10243" name="Rectangle 3"/>
          <p:cNvSpPr>
            <a:spLocks noGrp="1" noChangeArrowheads="1"/>
          </p:cNvSpPr>
          <p:nvPr>
            <p:ph type="body" idx="4294967295"/>
          </p:nvPr>
        </p:nvSpPr>
        <p:spPr>
          <a:xfrm>
            <a:off x="1696473" y="4648767"/>
            <a:ext cx="9165456" cy="2016125"/>
          </a:xfrm>
        </p:spPr>
        <p:txBody>
          <a:bodyPr/>
          <a:lstStyle/>
          <a:p>
            <a:pPr eaLnBrk="1" hangingPunct="1"/>
            <a:r>
              <a:rPr lang="zh-CN" altLang="en-US" dirty="0">
                <a:solidFill>
                  <a:srgbClr val="FF0000"/>
                </a:solidFill>
                <a:latin typeface="黑体" panose="02010609060101010101" pitchFamily="49" charset="-122"/>
                <a:ea typeface="黑体" panose="02010609060101010101" pitchFamily="49" charset="-122"/>
              </a:rPr>
              <a:t>第二层：计算每条规则的适用度</a:t>
            </a:r>
          </a:p>
          <a:p>
            <a:pPr eaLnBrk="1" hangingPunct="1">
              <a:buFont typeface="Wingdings" panose="05000000000000000000" pitchFamily="2" charset="2"/>
              <a:buNone/>
            </a:pPr>
            <a:r>
              <a:rPr lang="zh-CN" altLang="en-US" b="1" dirty="0"/>
              <a:t> </a:t>
            </a:r>
            <a:r>
              <a:rPr lang="en-US" altLang="zh-CN" b="1" i="1" dirty="0"/>
              <a:t>O</a:t>
            </a:r>
            <a:r>
              <a:rPr lang="en-US" altLang="zh-CN" b="1" baseline="-25000" dirty="0"/>
              <a:t>2,1 </a:t>
            </a:r>
            <a:r>
              <a:rPr lang="en-US" altLang="zh-CN" b="1" dirty="0"/>
              <a:t>= </a:t>
            </a:r>
            <a:r>
              <a:rPr lang="en-US" altLang="zh-CN" b="1" i="1" dirty="0"/>
              <a:t>O</a:t>
            </a:r>
            <a:r>
              <a:rPr lang="en-US" altLang="zh-CN" b="1" baseline="-25000" dirty="0"/>
              <a:t>1,1</a:t>
            </a:r>
            <a:r>
              <a:rPr lang="en-US" altLang="zh-CN" b="1" dirty="0"/>
              <a:t>×</a:t>
            </a:r>
            <a:r>
              <a:rPr lang="en-US" altLang="zh-CN" b="1" i="1" dirty="0"/>
              <a:t>O</a:t>
            </a:r>
            <a:r>
              <a:rPr lang="en-US" altLang="zh-CN" b="1" baseline="-25000" dirty="0"/>
              <a:t>1,3 </a:t>
            </a:r>
            <a:r>
              <a:rPr lang="en-US" altLang="zh-CN" b="1" dirty="0"/>
              <a:t>= g</a:t>
            </a:r>
            <a:r>
              <a:rPr lang="en-US" altLang="zh-CN" b="1" baseline="-25000" dirty="0"/>
              <a:t>x1</a:t>
            </a:r>
            <a:r>
              <a:rPr lang="en-US" altLang="zh-CN" b="1" dirty="0"/>
              <a:t>(x,a</a:t>
            </a:r>
            <a:r>
              <a:rPr lang="en-US" altLang="zh-CN" b="1" baseline="-25000" dirty="0"/>
              <a:t>1</a:t>
            </a:r>
            <a:r>
              <a:rPr lang="en-US" altLang="zh-CN" b="1" dirty="0"/>
              <a:t>,b</a:t>
            </a:r>
            <a:r>
              <a:rPr lang="en-US" altLang="zh-CN" b="1" baseline="-25000" dirty="0"/>
              <a:t>1</a:t>
            </a:r>
            <a:r>
              <a:rPr lang="en-US" altLang="zh-CN" b="1" dirty="0"/>
              <a:t>)×g</a:t>
            </a:r>
            <a:r>
              <a:rPr lang="en-US" altLang="zh-CN" b="1" baseline="-25000" dirty="0"/>
              <a:t>y1</a:t>
            </a:r>
            <a:r>
              <a:rPr lang="en-US" altLang="zh-CN" b="1" dirty="0"/>
              <a:t>(y,c</a:t>
            </a:r>
            <a:r>
              <a:rPr lang="en-US" altLang="zh-CN" b="1" baseline="-25000" dirty="0"/>
              <a:t>1</a:t>
            </a:r>
            <a:r>
              <a:rPr lang="en-US" altLang="zh-CN" b="1" dirty="0"/>
              <a:t>,</a:t>
            </a:r>
            <a:r>
              <a:rPr lang="zh-CN" altLang="en-US" b="1" dirty="0"/>
              <a:t>d</a:t>
            </a:r>
            <a:r>
              <a:rPr lang="en-US" altLang="zh-CN" b="1" baseline="-25000" dirty="0"/>
              <a:t>1</a:t>
            </a:r>
            <a:r>
              <a:rPr lang="en-US" altLang="zh-CN" b="1" dirty="0"/>
              <a:t>) = W</a:t>
            </a:r>
            <a:r>
              <a:rPr lang="en-US" altLang="zh-CN" baseline="-25000" dirty="0"/>
              <a:t>1</a:t>
            </a:r>
            <a:r>
              <a:rPr lang="en-US" altLang="zh-CN" b="1" dirty="0"/>
              <a:t> </a:t>
            </a:r>
          </a:p>
          <a:p>
            <a:pPr eaLnBrk="1" hangingPunct="1">
              <a:buFont typeface="Wingdings" panose="05000000000000000000" pitchFamily="2" charset="2"/>
              <a:buNone/>
            </a:pPr>
            <a:r>
              <a:rPr lang="en-US" altLang="zh-CN" b="1" dirty="0"/>
              <a:t> </a:t>
            </a:r>
            <a:r>
              <a:rPr lang="en-US" altLang="zh-CN" b="1" i="1" dirty="0"/>
              <a:t>O</a:t>
            </a:r>
            <a:r>
              <a:rPr lang="en-US" altLang="zh-CN" b="1" baseline="-25000" dirty="0"/>
              <a:t>2,2 </a:t>
            </a:r>
            <a:r>
              <a:rPr lang="en-US" altLang="zh-CN" b="1" dirty="0"/>
              <a:t>= </a:t>
            </a:r>
            <a:r>
              <a:rPr lang="en-US" altLang="zh-CN" b="1" i="1" dirty="0"/>
              <a:t>O</a:t>
            </a:r>
            <a:r>
              <a:rPr lang="en-US" altLang="zh-CN" b="1" baseline="-25000" dirty="0"/>
              <a:t>1,2</a:t>
            </a:r>
            <a:r>
              <a:rPr lang="en-US" altLang="zh-CN" b="1" dirty="0"/>
              <a:t>×</a:t>
            </a:r>
            <a:r>
              <a:rPr lang="en-US" altLang="zh-CN" b="1" i="1" dirty="0"/>
              <a:t>O</a:t>
            </a:r>
            <a:r>
              <a:rPr lang="en-US" altLang="zh-CN" b="1" baseline="-25000" dirty="0"/>
              <a:t>1,4 </a:t>
            </a:r>
            <a:r>
              <a:rPr lang="en-US" altLang="zh-CN" b="1" dirty="0"/>
              <a:t>= g</a:t>
            </a:r>
            <a:r>
              <a:rPr lang="en-US" altLang="zh-CN" b="1" baseline="-25000" dirty="0"/>
              <a:t>x2</a:t>
            </a:r>
            <a:r>
              <a:rPr lang="en-US" altLang="zh-CN" b="1" dirty="0"/>
              <a:t>(x,a</a:t>
            </a:r>
            <a:r>
              <a:rPr lang="en-US" altLang="zh-CN" b="1" baseline="-25000" dirty="0"/>
              <a:t>2</a:t>
            </a:r>
            <a:r>
              <a:rPr lang="en-US" altLang="zh-CN" b="1" dirty="0"/>
              <a:t>,b</a:t>
            </a:r>
            <a:r>
              <a:rPr lang="en-US" altLang="zh-CN" b="1" baseline="-25000" dirty="0"/>
              <a:t>2</a:t>
            </a:r>
            <a:r>
              <a:rPr lang="en-US" altLang="zh-CN" b="1" dirty="0"/>
              <a:t>)×g</a:t>
            </a:r>
            <a:r>
              <a:rPr lang="en-US" altLang="zh-CN" b="1" baseline="-25000" dirty="0"/>
              <a:t>y2</a:t>
            </a:r>
            <a:r>
              <a:rPr lang="en-US" altLang="zh-CN" b="1" dirty="0"/>
              <a:t>(y,c</a:t>
            </a:r>
            <a:r>
              <a:rPr lang="en-US" altLang="zh-CN" b="1" baseline="-25000" dirty="0"/>
              <a:t>2</a:t>
            </a:r>
            <a:r>
              <a:rPr lang="en-US" altLang="zh-CN" b="1" dirty="0"/>
              <a:t>,</a:t>
            </a:r>
            <a:r>
              <a:rPr lang="zh-CN" altLang="en-US" b="1" dirty="0"/>
              <a:t>d</a:t>
            </a:r>
            <a:r>
              <a:rPr lang="en-US" altLang="zh-CN" b="1" baseline="-25000" dirty="0"/>
              <a:t>2</a:t>
            </a:r>
            <a:r>
              <a:rPr lang="en-US" altLang="zh-CN" b="1" dirty="0"/>
              <a:t>) = W</a:t>
            </a:r>
            <a:r>
              <a:rPr lang="en-US" altLang="zh-CN" baseline="-25000" dirty="0"/>
              <a:t>2</a:t>
            </a:r>
            <a:endParaRPr lang="en-US" altLang="zh-CN" b="1" dirty="0"/>
          </a:p>
        </p:txBody>
      </p:sp>
      <p:grpSp>
        <p:nvGrpSpPr>
          <p:cNvPr id="10244" name="Group 4"/>
          <p:cNvGrpSpPr>
            <a:grpSpLocks/>
          </p:cNvGrpSpPr>
          <p:nvPr/>
        </p:nvGrpSpPr>
        <p:grpSpPr bwMode="auto">
          <a:xfrm>
            <a:off x="2063759" y="1484322"/>
            <a:ext cx="8353425" cy="2745541"/>
            <a:chOff x="0" y="0"/>
            <a:chExt cx="4853" cy="1991"/>
          </a:xfrm>
        </p:grpSpPr>
        <p:sp>
          <p:nvSpPr>
            <p:cNvPr id="10245" name="Rectangle 5"/>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10246" name="Rectangle 6"/>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10247" name="Rectangle 7"/>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10248" name="Rectangle 8"/>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10249" name="Oval 9"/>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ea typeface="+mj-ea"/>
                  <a:cs typeface="Times New Roman" panose="02020603050405020304" pitchFamily="18" charset="0"/>
                </a:rPr>
                <a:t>∏</a:t>
              </a:r>
            </a:p>
          </p:txBody>
        </p:sp>
        <p:sp>
          <p:nvSpPr>
            <p:cNvPr id="10250" name="Rectangle 10"/>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0251" name="Rectangle 11"/>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0252" name="Oval 12"/>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0253" name="Oval 13"/>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0254" name="Oval 14"/>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0255" name="Oval 15"/>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0256" name="Text Box 16"/>
            <p:cNvSpPr txBox="1">
              <a:spLocks noChangeArrowheads="1"/>
            </p:cNvSpPr>
            <p:nvPr/>
          </p:nvSpPr>
          <p:spPr bwMode="auto">
            <a:xfrm>
              <a:off x="0" y="545"/>
              <a:ext cx="272"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0257" name="Text Box 17"/>
            <p:cNvSpPr txBox="1">
              <a:spLocks noChangeArrowheads="1"/>
            </p:cNvSpPr>
            <p:nvPr/>
          </p:nvSpPr>
          <p:spPr bwMode="auto">
            <a:xfrm>
              <a:off x="0" y="1451"/>
              <a:ext cx="272"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0258" name="Line 18"/>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9" name="Line 19"/>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0" name="Line 20"/>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1" name="Line 21"/>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2" name="Line 22"/>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3" name="Line 23"/>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4" name="Line 24"/>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5" name="Line 25"/>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6" name="Line 26"/>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7" name="Line 27"/>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8" name="Line 28"/>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9" name="Line 29"/>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0" name="Line 30"/>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1" name="Line 31"/>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2" name="Line 32"/>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3" name="Line 33"/>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4" name="Line 34"/>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75" name="Text Box 35"/>
            <p:cNvSpPr txBox="1">
              <a:spLocks noChangeArrowheads="1"/>
            </p:cNvSpPr>
            <p:nvPr/>
          </p:nvSpPr>
          <p:spPr bwMode="auto">
            <a:xfrm>
              <a:off x="680" y="0"/>
              <a:ext cx="49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1</a:t>
              </a:r>
              <a:r>
                <a:rPr lang="zh-CN" altLang="en-US" b="1">
                  <a:ea typeface="楷体_GB2312" pitchFamily="49" charset="-122"/>
                </a:rPr>
                <a:t>层</a:t>
              </a:r>
            </a:p>
          </p:txBody>
        </p:sp>
        <p:sp>
          <p:nvSpPr>
            <p:cNvPr id="10276" name="Text Box 36"/>
            <p:cNvSpPr txBox="1">
              <a:spLocks noChangeArrowheads="1"/>
            </p:cNvSpPr>
            <p:nvPr/>
          </p:nvSpPr>
          <p:spPr bwMode="auto">
            <a:xfrm>
              <a:off x="1542" y="0"/>
              <a:ext cx="49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0000"/>
                  </a:solidFill>
                  <a:ea typeface="楷体_GB2312" pitchFamily="49" charset="-122"/>
                </a:rPr>
                <a:t>第</a:t>
              </a:r>
              <a:r>
                <a:rPr lang="en-US" altLang="zh-CN" b="1" dirty="0">
                  <a:solidFill>
                    <a:srgbClr val="FF0000"/>
                  </a:solidFill>
                  <a:ea typeface="楷体_GB2312" pitchFamily="49" charset="-122"/>
                </a:rPr>
                <a:t>2</a:t>
              </a:r>
              <a:r>
                <a:rPr lang="zh-CN" altLang="en-US" b="1" dirty="0">
                  <a:solidFill>
                    <a:srgbClr val="FF0000"/>
                  </a:solidFill>
                  <a:ea typeface="楷体_GB2312" pitchFamily="49" charset="-122"/>
                </a:rPr>
                <a:t>层</a:t>
              </a:r>
            </a:p>
          </p:txBody>
        </p:sp>
        <p:sp>
          <p:nvSpPr>
            <p:cNvPr id="10277" name="Text Box 37"/>
            <p:cNvSpPr txBox="1">
              <a:spLocks noChangeArrowheads="1"/>
            </p:cNvSpPr>
            <p:nvPr/>
          </p:nvSpPr>
          <p:spPr bwMode="auto">
            <a:xfrm>
              <a:off x="2449" y="0"/>
              <a:ext cx="49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3</a:t>
              </a:r>
              <a:r>
                <a:rPr lang="zh-CN" altLang="en-US" b="1">
                  <a:ea typeface="楷体_GB2312" pitchFamily="49" charset="-122"/>
                </a:rPr>
                <a:t>层</a:t>
              </a:r>
            </a:p>
          </p:txBody>
        </p:sp>
        <p:sp>
          <p:nvSpPr>
            <p:cNvPr id="10278" name="Text Box 38"/>
            <p:cNvSpPr txBox="1">
              <a:spLocks noChangeArrowheads="1"/>
            </p:cNvSpPr>
            <p:nvPr/>
          </p:nvSpPr>
          <p:spPr bwMode="auto">
            <a:xfrm>
              <a:off x="3175" y="0"/>
              <a:ext cx="49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4</a:t>
              </a:r>
              <a:r>
                <a:rPr lang="zh-CN" altLang="en-US" b="1">
                  <a:ea typeface="楷体_GB2312" pitchFamily="49" charset="-122"/>
                </a:rPr>
                <a:t>层</a:t>
              </a:r>
            </a:p>
          </p:txBody>
        </p:sp>
        <p:sp>
          <p:nvSpPr>
            <p:cNvPr id="10279" name="Text Box 39"/>
            <p:cNvSpPr txBox="1">
              <a:spLocks noChangeArrowheads="1"/>
            </p:cNvSpPr>
            <p:nvPr/>
          </p:nvSpPr>
          <p:spPr bwMode="auto">
            <a:xfrm>
              <a:off x="3901" y="0"/>
              <a:ext cx="49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5</a:t>
              </a:r>
              <a:r>
                <a:rPr lang="zh-CN" altLang="en-US" b="1">
                  <a:ea typeface="楷体_GB2312" pitchFamily="49" charset="-122"/>
                </a:rPr>
                <a:t>层</a:t>
              </a:r>
            </a:p>
          </p:txBody>
        </p:sp>
        <p:sp>
          <p:nvSpPr>
            <p:cNvPr id="10280" name="Text Box 40"/>
            <p:cNvSpPr txBox="1">
              <a:spLocks noChangeArrowheads="1"/>
            </p:cNvSpPr>
            <p:nvPr/>
          </p:nvSpPr>
          <p:spPr bwMode="auto">
            <a:xfrm>
              <a:off x="2064" y="622"/>
              <a:ext cx="362"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W</a:t>
              </a:r>
              <a:r>
                <a:rPr lang="en-US" altLang="zh-CN" baseline="-25000" dirty="0"/>
                <a:t>1</a:t>
              </a:r>
            </a:p>
          </p:txBody>
        </p:sp>
        <p:sp>
          <p:nvSpPr>
            <p:cNvPr id="10281" name="Text Box 41"/>
            <p:cNvSpPr txBox="1">
              <a:spLocks noChangeArrowheads="1"/>
            </p:cNvSpPr>
            <p:nvPr/>
          </p:nvSpPr>
          <p:spPr bwMode="auto">
            <a:xfrm>
              <a:off x="2106" y="1451"/>
              <a:ext cx="362"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W</a:t>
              </a:r>
              <a:r>
                <a:rPr lang="en-US" altLang="zh-CN" baseline="-25000" dirty="0"/>
                <a:t>2</a:t>
              </a:r>
            </a:p>
          </p:txBody>
        </p:sp>
        <p:sp>
          <p:nvSpPr>
            <p:cNvPr id="10282" name="Text Box 42"/>
            <p:cNvSpPr txBox="1">
              <a:spLocks noChangeArrowheads="1"/>
            </p:cNvSpPr>
            <p:nvPr/>
          </p:nvSpPr>
          <p:spPr bwMode="auto">
            <a:xfrm>
              <a:off x="2767" y="635"/>
              <a:ext cx="364"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1</a:t>
              </a:r>
            </a:p>
          </p:txBody>
        </p:sp>
        <p:sp>
          <p:nvSpPr>
            <p:cNvPr id="10283" name="Text Box 43"/>
            <p:cNvSpPr txBox="1">
              <a:spLocks noChangeArrowheads="1"/>
            </p:cNvSpPr>
            <p:nvPr/>
          </p:nvSpPr>
          <p:spPr bwMode="auto">
            <a:xfrm>
              <a:off x="2767" y="1497"/>
              <a:ext cx="364"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10284" name="Text Box 44"/>
            <p:cNvSpPr txBox="1">
              <a:spLocks noChangeArrowheads="1"/>
            </p:cNvSpPr>
            <p:nvPr/>
          </p:nvSpPr>
          <p:spPr bwMode="auto">
            <a:xfrm>
              <a:off x="3674" y="545"/>
              <a:ext cx="544"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10285" name="Text Box 45"/>
            <p:cNvSpPr txBox="1">
              <a:spLocks noChangeArrowheads="1"/>
            </p:cNvSpPr>
            <p:nvPr/>
          </p:nvSpPr>
          <p:spPr bwMode="auto">
            <a:xfrm>
              <a:off x="3674" y="1406"/>
              <a:ext cx="544"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10286" name="Text Box 46"/>
            <p:cNvSpPr txBox="1">
              <a:spLocks noChangeArrowheads="1"/>
            </p:cNvSpPr>
            <p:nvPr/>
          </p:nvSpPr>
          <p:spPr bwMode="auto">
            <a:xfrm>
              <a:off x="4626" y="997"/>
              <a:ext cx="22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10287" name="Text Box 47"/>
            <p:cNvSpPr txBox="1">
              <a:spLocks noChangeArrowheads="1"/>
            </p:cNvSpPr>
            <p:nvPr/>
          </p:nvSpPr>
          <p:spPr bwMode="auto">
            <a:xfrm>
              <a:off x="3266" y="317"/>
              <a:ext cx="453"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10288" name="Text Box 48"/>
            <p:cNvSpPr txBox="1">
              <a:spLocks noChangeArrowheads="1"/>
            </p:cNvSpPr>
            <p:nvPr/>
          </p:nvSpPr>
          <p:spPr bwMode="auto">
            <a:xfrm>
              <a:off x="3266" y="1721"/>
              <a:ext cx="408"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10289" name="Line 49"/>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0" name="Line 50"/>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1" name="Line 51"/>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92" name="Line 52"/>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文本框 1">
            <a:extLst>
              <a:ext uri="{FF2B5EF4-FFF2-40B4-BE49-F238E27FC236}">
                <a16:creationId xmlns:a16="http://schemas.microsoft.com/office/drawing/2014/main" id="{012DF35C-AA3B-99C6-C54A-20184031F7FB}"/>
              </a:ext>
            </a:extLst>
          </p:cNvPr>
          <p:cNvSpPr txBox="1"/>
          <p:nvPr/>
        </p:nvSpPr>
        <p:spPr>
          <a:xfrm>
            <a:off x="5159896" y="2139116"/>
            <a:ext cx="698843" cy="1720407"/>
          </a:xfrm>
          <a:prstGeom prst="rect">
            <a:avLst/>
          </a:prstGeom>
          <a:noFill/>
        </p:spPr>
        <p:txBody>
          <a:bodyPr wrap="square" rtlCol="0">
            <a:spAutoFit/>
          </a:bodyPr>
          <a:lstStyle/>
          <a:p>
            <a:pPr>
              <a:lnSpc>
                <a:spcPct val="200000"/>
              </a:lnSpc>
            </a:pPr>
            <a:r>
              <a:rPr lang="en-US" altLang="zh-CN" sz="2000" b="1" i="1" dirty="0"/>
              <a:t>O</a:t>
            </a:r>
            <a:r>
              <a:rPr lang="en-US" altLang="zh-CN" sz="2000" b="1" baseline="-25000" dirty="0"/>
              <a:t>2,1</a:t>
            </a:r>
          </a:p>
          <a:p>
            <a:pPr>
              <a:lnSpc>
                <a:spcPct val="200000"/>
              </a:lnSpc>
            </a:pPr>
            <a:endParaRPr lang="en-US" altLang="zh-CN" sz="1400" b="1" dirty="0"/>
          </a:p>
          <a:p>
            <a:pPr>
              <a:lnSpc>
                <a:spcPct val="200000"/>
              </a:lnSpc>
            </a:pPr>
            <a:r>
              <a:rPr lang="en-US" altLang="zh-CN" sz="2000" b="1" i="1" dirty="0"/>
              <a:t>O</a:t>
            </a:r>
            <a:r>
              <a:rPr lang="en-US" altLang="zh-CN" sz="2000" b="1" baseline="-25000" dirty="0"/>
              <a:t>2,2</a:t>
            </a:r>
            <a:endParaRPr lang="zh-CN" altLang="en-US" sz="2000" dirty="0"/>
          </a:p>
        </p:txBody>
      </p:sp>
      <p:sp>
        <p:nvSpPr>
          <p:cNvPr id="3" name="文本框 2">
            <a:extLst>
              <a:ext uri="{FF2B5EF4-FFF2-40B4-BE49-F238E27FC236}">
                <a16:creationId xmlns:a16="http://schemas.microsoft.com/office/drawing/2014/main" id="{1C5AD161-729B-C954-325B-587007CF764B}"/>
              </a:ext>
            </a:extLst>
          </p:cNvPr>
          <p:cNvSpPr txBox="1"/>
          <p:nvPr/>
        </p:nvSpPr>
        <p:spPr>
          <a:xfrm>
            <a:off x="3863752" y="1700808"/>
            <a:ext cx="698843" cy="2459071"/>
          </a:xfrm>
          <a:prstGeom prst="rect">
            <a:avLst/>
          </a:prstGeom>
          <a:noFill/>
        </p:spPr>
        <p:txBody>
          <a:bodyPr wrap="square" rtlCol="0">
            <a:spAutoFit/>
          </a:bodyPr>
          <a:lstStyle/>
          <a:p>
            <a:pPr>
              <a:lnSpc>
                <a:spcPct val="200000"/>
              </a:lnSpc>
            </a:pPr>
            <a:r>
              <a:rPr lang="en-US" altLang="zh-CN" sz="2000" b="1" i="1" dirty="0"/>
              <a:t>O</a:t>
            </a:r>
            <a:r>
              <a:rPr lang="en-US" altLang="zh-CN" sz="2000" b="1" baseline="-25000" dirty="0"/>
              <a:t>1,1</a:t>
            </a:r>
          </a:p>
          <a:p>
            <a:pPr>
              <a:lnSpc>
                <a:spcPct val="200000"/>
              </a:lnSpc>
            </a:pPr>
            <a:r>
              <a:rPr lang="en-US" altLang="zh-CN" sz="2000" b="1" i="1" dirty="0"/>
              <a:t>O</a:t>
            </a:r>
            <a:r>
              <a:rPr lang="en-US" altLang="zh-CN" sz="2000" b="1" baseline="-25000" dirty="0"/>
              <a:t>1,2</a:t>
            </a:r>
            <a:endParaRPr lang="zh-CN" altLang="en-US" sz="2000" dirty="0"/>
          </a:p>
          <a:p>
            <a:pPr>
              <a:lnSpc>
                <a:spcPct val="200000"/>
              </a:lnSpc>
            </a:pPr>
            <a:r>
              <a:rPr lang="en-US" altLang="zh-CN" sz="2000" b="1" i="1" dirty="0"/>
              <a:t>O</a:t>
            </a:r>
            <a:r>
              <a:rPr lang="en-US" altLang="zh-CN" sz="2000" b="1" baseline="-25000" dirty="0"/>
              <a:t>1,3</a:t>
            </a:r>
            <a:endParaRPr lang="zh-CN" altLang="en-US" sz="2000" dirty="0"/>
          </a:p>
          <a:p>
            <a:pPr>
              <a:lnSpc>
                <a:spcPct val="200000"/>
              </a:lnSpc>
            </a:pPr>
            <a:r>
              <a:rPr lang="en-US" altLang="zh-CN" sz="2000" b="1" i="1" dirty="0"/>
              <a:t>O</a:t>
            </a:r>
            <a:r>
              <a:rPr lang="en-US" altLang="zh-CN" sz="2000" b="1" baseline="-25000" dirty="0"/>
              <a:t>1,4</a:t>
            </a:r>
            <a:endParaRPr lang="zh-CN" altLang="en-US" sz="2000" dirty="0"/>
          </a:p>
        </p:txBody>
      </p:sp>
      <p:sp>
        <p:nvSpPr>
          <p:cNvPr id="4" name="灯片编号占位符 3">
            <a:extLst>
              <a:ext uri="{FF2B5EF4-FFF2-40B4-BE49-F238E27FC236}">
                <a16:creationId xmlns:a16="http://schemas.microsoft.com/office/drawing/2014/main" id="{C4DAFE5D-B15C-E1D4-E877-8193E5D85804}"/>
              </a:ext>
            </a:extLst>
          </p:cNvPr>
          <p:cNvSpPr>
            <a:spLocks noGrp="1"/>
          </p:cNvSpPr>
          <p:nvPr>
            <p:ph type="sldNum" sz="quarter" idx="11"/>
          </p:nvPr>
        </p:nvSpPr>
        <p:spPr/>
        <p:txBody>
          <a:bodyPr/>
          <a:lstStyle/>
          <a:p>
            <a:pPr>
              <a:defRPr/>
            </a:pPr>
            <a:fld id="{B77A47BA-BA63-4780-94A9-8AFA2EA4438D}" type="slidenum">
              <a:rPr lang="en-US" altLang="zh-CN" smtClean="0"/>
              <a:pPr>
                <a:defRPr/>
              </a:pPr>
              <a:t>33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wipe(left)">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wipe(left)">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wipe(left)">
                                      <p:cBhvr>
                                        <p:cTn id="17" dur="500"/>
                                        <p:tgtEl>
                                          <p:spTgt spid="102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1981200" y="332656"/>
            <a:ext cx="8229600" cy="1371600"/>
          </a:xfrm>
        </p:spPr>
        <p:txBody>
          <a:bodyPr/>
          <a:lstStyle/>
          <a:p>
            <a:pPr algn="ctr" eaLnBrk="1" hangingPunct="1"/>
            <a:r>
              <a:rPr lang="en-US" altLang="zh-CN" sz="4500" dirty="0">
                <a:solidFill>
                  <a:srgbClr val="008000"/>
                </a:solidFill>
                <a:latin typeface="Comic Sans MS" panose="030F0702030302020204" pitchFamily="66" charset="0"/>
                <a:ea typeface="黑体" panose="02010609060101010101" pitchFamily="49" charset="-122"/>
              </a:rPr>
              <a:t>ANFIS</a:t>
            </a:r>
            <a:r>
              <a:rPr lang="zh-CN" altLang="en-US" sz="4500" dirty="0">
                <a:solidFill>
                  <a:srgbClr val="008000"/>
                </a:solidFill>
                <a:latin typeface="Comic Sans MS" panose="030F0702030302020204" pitchFamily="66" charset="0"/>
                <a:ea typeface="黑体" panose="02010609060101010101" pitchFamily="49" charset="-122"/>
              </a:rPr>
              <a:t>结构</a:t>
            </a:r>
          </a:p>
        </p:txBody>
      </p:sp>
      <p:sp>
        <p:nvSpPr>
          <p:cNvPr id="11267" name="Rectangle 3"/>
          <p:cNvSpPr>
            <a:spLocks noGrp="1" noChangeArrowheads="1"/>
          </p:cNvSpPr>
          <p:nvPr>
            <p:ph type="body" sz="half" idx="4294967295"/>
          </p:nvPr>
        </p:nvSpPr>
        <p:spPr>
          <a:xfrm>
            <a:off x="1847859" y="4437063"/>
            <a:ext cx="8291513" cy="1871662"/>
          </a:xfrm>
        </p:spPr>
        <p:txBody>
          <a:bodyPr/>
          <a:lstStyle/>
          <a:p>
            <a:pPr eaLnBrk="1" hangingPunct="1"/>
            <a:r>
              <a:rPr lang="zh-CN" altLang="en-US" dirty="0">
                <a:solidFill>
                  <a:srgbClr val="FF0000"/>
                </a:solidFill>
                <a:latin typeface="黑体" panose="02010609060101010101" pitchFamily="49" charset="-122"/>
                <a:ea typeface="黑体" panose="02010609060101010101" pitchFamily="49" charset="-122"/>
              </a:rPr>
              <a:t>第三层：计算适用度的归一化值</a:t>
            </a:r>
          </a:p>
          <a:p>
            <a:pPr eaLnBrk="1" hangingPunct="1">
              <a:buFont typeface="Wingdings" panose="05000000000000000000" pitchFamily="2" charset="2"/>
              <a:buNone/>
            </a:pPr>
            <a:endParaRPr lang="en-US" altLang="zh-CN" sz="2800" b="1" dirty="0"/>
          </a:p>
        </p:txBody>
      </p:sp>
      <p:grpSp>
        <p:nvGrpSpPr>
          <p:cNvPr id="11268" name="Group 4"/>
          <p:cNvGrpSpPr>
            <a:grpSpLocks/>
          </p:cNvGrpSpPr>
          <p:nvPr/>
        </p:nvGrpSpPr>
        <p:grpSpPr bwMode="auto">
          <a:xfrm>
            <a:off x="2063759" y="1484322"/>
            <a:ext cx="8353425" cy="2740025"/>
            <a:chOff x="0" y="0"/>
            <a:chExt cx="4853" cy="1987"/>
          </a:xfrm>
        </p:grpSpPr>
        <p:sp>
          <p:nvSpPr>
            <p:cNvPr id="11269" name="Rectangle 5"/>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11270" name="Rectangle 6"/>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11271" name="Rectangle 7"/>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11272" name="Rectangle 8"/>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11273" name="Oval 9"/>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1274" name="Rectangle 10"/>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1275" name="Rectangle 11"/>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1276" name="Oval 12"/>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1277" name="Oval 13"/>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1278" name="Oval 14"/>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1279" name="Oval 15"/>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1280" name="Text Box 16"/>
            <p:cNvSpPr txBox="1">
              <a:spLocks noChangeArrowheads="1"/>
            </p:cNvSpPr>
            <p:nvPr/>
          </p:nvSpPr>
          <p:spPr bwMode="auto">
            <a:xfrm>
              <a:off x="0" y="545"/>
              <a:ext cx="27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1281" name="Text Box 17"/>
            <p:cNvSpPr txBox="1">
              <a:spLocks noChangeArrowheads="1"/>
            </p:cNvSpPr>
            <p:nvPr/>
          </p:nvSpPr>
          <p:spPr bwMode="auto">
            <a:xfrm>
              <a:off x="0" y="1451"/>
              <a:ext cx="27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1282" name="Line 18"/>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3" name="Line 19"/>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4" name="Line 20"/>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5" name="Line 21"/>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6" name="Line 22"/>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7" name="Line 23"/>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8" name="Line 24"/>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9" name="Line 25"/>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0" name="Line 26"/>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1" name="Line 27"/>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2" name="Line 28"/>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3" name="Line 29"/>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4" name="Line 30"/>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5" name="Line 31"/>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6" name="Line 32"/>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7" name="Line 33"/>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8" name="Line 34"/>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9" name="Text Box 35"/>
            <p:cNvSpPr txBox="1">
              <a:spLocks noChangeArrowheads="1"/>
            </p:cNvSpPr>
            <p:nvPr/>
          </p:nvSpPr>
          <p:spPr bwMode="auto">
            <a:xfrm>
              <a:off x="680"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1</a:t>
              </a:r>
              <a:r>
                <a:rPr lang="zh-CN" altLang="en-US" b="1">
                  <a:ea typeface="楷体_GB2312" pitchFamily="49" charset="-122"/>
                </a:rPr>
                <a:t>层</a:t>
              </a:r>
            </a:p>
          </p:txBody>
        </p:sp>
        <p:sp>
          <p:nvSpPr>
            <p:cNvPr id="11300" name="Text Box 36"/>
            <p:cNvSpPr txBox="1">
              <a:spLocks noChangeArrowheads="1"/>
            </p:cNvSpPr>
            <p:nvPr/>
          </p:nvSpPr>
          <p:spPr bwMode="auto">
            <a:xfrm>
              <a:off x="1542"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2</a:t>
              </a:r>
              <a:r>
                <a:rPr lang="zh-CN" altLang="en-US" b="1">
                  <a:ea typeface="楷体_GB2312" pitchFamily="49" charset="-122"/>
                </a:rPr>
                <a:t>层</a:t>
              </a:r>
            </a:p>
          </p:txBody>
        </p:sp>
        <p:sp>
          <p:nvSpPr>
            <p:cNvPr id="11301" name="Text Box 37"/>
            <p:cNvSpPr txBox="1">
              <a:spLocks noChangeArrowheads="1"/>
            </p:cNvSpPr>
            <p:nvPr/>
          </p:nvSpPr>
          <p:spPr bwMode="auto">
            <a:xfrm>
              <a:off x="2449"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0000"/>
                  </a:solidFill>
                  <a:ea typeface="楷体_GB2312" pitchFamily="49" charset="-122"/>
                </a:rPr>
                <a:t>第</a:t>
              </a:r>
              <a:r>
                <a:rPr lang="en-US" altLang="zh-CN" b="1" dirty="0">
                  <a:solidFill>
                    <a:srgbClr val="FF0000"/>
                  </a:solidFill>
                  <a:ea typeface="楷体_GB2312" pitchFamily="49" charset="-122"/>
                </a:rPr>
                <a:t>3</a:t>
              </a:r>
              <a:r>
                <a:rPr lang="zh-CN" altLang="en-US" b="1" dirty="0">
                  <a:solidFill>
                    <a:srgbClr val="FF0000"/>
                  </a:solidFill>
                  <a:ea typeface="楷体_GB2312" pitchFamily="49" charset="-122"/>
                </a:rPr>
                <a:t>层</a:t>
              </a:r>
            </a:p>
          </p:txBody>
        </p:sp>
        <p:sp>
          <p:nvSpPr>
            <p:cNvPr id="11302" name="Text Box 38"/>
            <p:cNvSpPr txBox="1">
              <a:spLocks noChangeArrowheads="1"/>
            </p:cNvSpPr>
            <p:nvPr/>
          </p:nvSpPr>
          <p:spPr bwMode="auto">
            <a:xfrm>
              <a:off x="3175"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4</a:t>
              </a:r>
              <a:r>
                <a:rPr lang="zh-CN" altLang="en-US" b="1">
                  <a:ea typeface="楷体_GB2312" pitchFamily="49" charset="-122"/>
                </a:rPr>
                <a:t>层</a:t>
              </a:r>
            </a:p>
          </p:txBody>
        </p:sp>
        <p:sp>
          <p:nvSpPr>
            <p:cNvPr id="11303" name="Text Box 39"/>
            <p:cNvSpPr txBox="1">
              <a:spLocks noChangeArrowheads="1"/>
            </p:cNvSpPr>
            <p:nvPr/>
          </p:nvSpPr>
          <p:spPr bwMode="auto">
            <a:xfrm>
              <a:off x="3901"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5</a:t>
              </a:r>
              <a:r>
                <a:rPr lang="zh-CN" altLang="en-US" b="1">
                  <a:ea typeface="楷体_GB2312" pitchFamily="49" charset="-122"/>
                </a:rPr>
                <a:t>层</a:t>
              </a:r>
            </a:p>
          </p:txBody>
        </p:sp>
        <p:sp>
          <p:nvSpPr>
            <p:cNvPr id="11304" name="Text Box 40"/>
            <p:cNvSpPr txBox="1">
              <a:spLocks noChangeArrowheads="1"/>
            </p:cNvSpPr>
            <p:nvPr/>
          </p:nvSpPr>
          <p:spPr bwMode="auto">
            <a:xfrm>
              <a:off x="1950" y="589"/>
              <a:ext cx="362"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11305" name="Text Box 41"/>
            <p:cNvSpPr txBox="1">
              <a:spLocks noChangeArrowheads="1"/>
            </p:cNvSpPr>
            <p:nvPr/>
          </p:nvSpPr>
          <p:spPr bwMode="auto">
            <a:xfrm>
              <a:off x="1950" y="1451"/>
              <a:ext cx="36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11306" name="Text Box 42"/>
            <p:cNvSpPr txBox="1">
              <a:spLocks noChangeArrowheads="1"/>
            </p:cNvSpPr>
            <p:nvPr/>
          </p:nvSpPr>
          <p:spPr bwMode="auto">
            <a:xfrm>
              <a:off x="2970" y="614"/>
              <a:ext cx="36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dirty="0"/>
                <a:t>W</a:t>
              </a:r>
              <a:r>
                <a:rPr lang="en-US" altLang="zh-CN" u="sng" baseline="-25000" dirty="0"/>
                <a:t>1</a:t>
              </a:r>
            </a:p>
          </p:txBody>
        </p:sp>
        <p:sp>
          <p:nvSpPr>
            <p:cNvPr id="11307" name="Text Box 43"/>
            <p:cNvSpPr txBox="1">
              <a:spLocks noChangeArrowheads="1"/>
            </p:cNvSpPr>
            <p:nvPr/>
          </p:nvSpPr>
          <p:spPr bwMode="auto">
            <a:xfrm>
              <a:off x="2970" y="1505"/>
              <a:ext cx="36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dirty="0"/>
                <a:t>W</a:t>
              </a:r>
              <a:r>
                <a:rPr lang="en-US" altLang="zh-CN" u="sng" baseline="-25000" dirty="0"/>
                <a:t>2</a:t>
              </a:r>
            </a:p>
          </p:txBody>
        </p:sp>
        <p:sp>
          <p:nvSpPr>
            <p:cNvPr id="11308" name="Text Box 44"/>
            <p:cNvSpPr txBox="1">
              <a:spLocks noChangeArrowheads="1"/>
            </p:cNvSpPr>
            <p:nvPr/>
          </p:nvSpPr>
          <p:spPr bwMode="auto">
            <a:xfrm>
              <a:off x="3674" y="545"/>
              <a:ext cx="544"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11309" name="Text Box 45"/>
            <p:cNvSpPr txBox="1">
              <a:spLocks noChangeArrowheads="1"/>
            </p:cNvSpPr>
            <p:nvPr/>
          </p:nvSpPr>
          <p:spPr bwMode="auto">
            <a:xfrm>
              <a:off x="3674" y="1406"/>
              <a:ext cx="54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11310" name="Text Box 46"/>
            <p:cNvSpPr txBox="1">
              <a:spLocks noChangeArrowheads="1"/>
            </p:cNvSpPr>
            <p:nvPr/>
          </p:nvSpPr>
          <p:spPr bwMode="auto">
            <a:xfrm>
              <a:off x="4626" y="997"/>
              <a:ext cx="227"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11311" name="Text Box 47"/>
            <p:cNvSpPr txBox="1">
              <a:spLocks noChangeArrowheads="1"/>
            </p:cNvSpPr>
            <p:nvPr/>
          </p:nvSpPr>
          <p:spPr bwMode="auto">
            <a:xfrm>
              <a:off x="3266" y="317"/>
              <a:ext cx="453"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11312" name="Text Box 48"/>
            <p:cNvSpPr txBox="1">
              <a:spLocks noChangeArrowheads="1"/>
            </p:cNvSpPr>
            <p:nvPr/>
          </p:nvSpPr>
          <p:spPr bwMode="auto">
            <a:xfrm>
              <a:off x="3266" y="1721"/>
              <a:ext cx="408"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11313" name="Line 49"/>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4" name="Line 50"/>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5" name="Line 51"/>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16" name="Line 52"/>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11317" name="Object 53"/>
          <p:cNvGraphicFramePr>
            <a:graphicFrameLocks noGrp="1" noChangeAspect="1"/>
          </p:cNvGraphicFramePr>
          <p:nvPr>
            <p:ph sz="half" idx="4294967295"/>
            <p:extLst>
              <p:ext uri="{D42A27DB-BD31-4B8C-83A1-F6EECF244321}">
                <p14:modId xmlns:p14="http://schemas.microsoft.com/office/powerpoint/2010/main" val="3376416975"/>
              </p:ext>
            </p:extLst>
          </p:nvPr>
        </p:nvGraphicFramePr>
        <p:xfrm>
          <a:off x="2740034" y="5340350"/>
          <a:ext cx="6584130" cy="1081088"/>
        </p:xfrm>
        <a:graphic>
          <a:graphicData uri="http://schemas.openxmlformats.org/presentationml/2006/ole">
            <mc:AlternateContent xmlns:mc="http://schemas.openxmlformats.org/markup-compatibility/2006">
              <mc:Choice xmlns:v="urn:schemas-microsoft-com:vml" Requires="v">
                <p:oleObj name="Equation" r:id="rId2" imgW="2565717" imgH="432117" progId="Equation.DSMT4">
                  <p:embed/>
                </p:oleObj>
              </mc:Choice>
              <mc:Fallback>
                <p:oleObj name="Equation" r:id="rId2" imgW="2565717" imgH="432117" progId="Equation.DSMT4">
                  <p:embed/>
                  <p:pic>
                    <p:nvPicPr>
                      <p:cNvPr id="11317" name="Object 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0034" y="5340350"/>
                        <a:ext cx="6584130" cy="1081088"/>
                      </a:xfrm>
                      <a:prstGeom prst="rect">
                        <a:avLst/>
                      </a:prstGeom>
                      <a:noFill/>
                      <a:ln>
                        <a:noFill/>
                      </a:ln>
                      <a:effectLst/>
                    </p:spPr>
                  </p:pic>
                </p:oleObj>
              </mc:Fallback>
            </mc:AlternateContent>
          </a:graphicData>
        </a:graphic>
      </p:graphicFrame>
      <p:sp>
        <p:nvSpPr>
          <p:cNvPr id="2" name="文本框 1">
            <a:extLst>
              <a:ext uri="{FF2B5EF4-FFF2-40B4-BE49-F238E27FC236}">
                <a16:creationId xmlns:a16="http://schemas.microsoft.com/office/drawing/2014/main" id="{B074F7B7-036D-ABA0-BFDC-B2CFA72FD02C}"/>
              </a:ext>
            </a:extLst>
          </p:cNvPr>
          <p:cNvSpPr txBox="1"/>
          <p:nvPr/>
        </p:nvSpPr>
        <p:spPr>
          <a:xfrm>
            <a:off x="6675251" y="2129838"/>
            <a:ext cx="698843" cy="1720407"/>
          </a:xfrm>
          <a:prstGeom prst="rect">
            <a:avLst/>
          </a:prstGeom>
          <a:noFill/>
        </p:spPr>
        <p:txBody>
          <a:bodyPr wrap="square" rtlCol="0">
            <a:spAutoFit/>
          </a:bodyPr>
          <a:lstStyle/>
          <a:p>
            <a:pPr>
              <a:lnSpc>
                <a:spcPct val="200000"/>
              </a:lnSpc>
            </a:pPr>
            <a:r>
              <a:rPr lang="en-US" altLang="zh-CN" sz="2000" b="1" i="1" dirty="0"/>
              <a:t>O</a:t>
            </a:r>
            <a:r>
              <a:rPr lang="en-US" altLang="zh-CN" sz="2000" b="1" baseline="-25000" dirty="0"/>
              <a:t>3,1</a:t>
            </a:r>
          </a:p>
          <a:p>
            <a:pPr>
              <a:lnSpc>
                <a:spcPct val="200000"/>
              </a:lnSpc>
            </a:pPr>
            <a:endParaRPr lang="en-US" altLang="zh-CN" sz="1600" b="1" dirty="0"/>
          </a:p>
          <a:p>
            <a:pPr>
              <a:lnSpc>
                <a:spcPct val="200000"/>
              </a:lnSpc>
            </a:pPr>
            <a:r>
              <a:rPr lang="en-US" altLang="zh-CN" sz="2000" b="1" i="1" dirty="0"/>
              <a:t>O</a:t>
            </a:r>
            <a:r>
              <a:rPr lang="en-US" altLang="zh-CN" sz="2000" b="1" baseline="-25000" dirty="0"/>
              <a:t>3,2</a:t>
            </a:r>
            <a:endParaRPr lang="zh-CN" altLang="en-US" sz="2000" dirty="0"/>
          </a:p>
        </p:txBody>
      </p:sp>
      <p:sp>
        <p:nvSpPr>
          <p:cNvPr id="3" name="灯片编号占位符 2">
            <a:extLst>
              <a:ext uri="{FF2B5EF4-FFF2-40B4-BE49-F238E27FC236}">
                <a16:creationId xmlns:a16="http://schemas.microsoft.com/office/drawing/2014/main" id="{DC6476C8-15B9-09C2-CB1B-1D59394AC800}"/>
              </a:ext>
            </a:extLst>
          </p:cNvPr>
          <p:cNvSpPr>
            <a:spLocks noGrp="1"/>
          </p:cNvSpPr>
          <p:nvPr>
            <p:ph type="sldNum" sz="quarter" idx="11"/>
          </p:nvPr>
        </p:nvSpPr>
        <p:spPr/>
        <p:txBody>
          <a:bodyPr/>
          <a:lstStyle/>
          <a:p>
            <a:pPr>
              <a:defRPr/>
            </a:pPr>
            <a:fld id="{B77A47BA-BA63-4780-94A9-8AFA2EA4438D}" type="slidenum">
              <a:rPr lang="en-US" altLang="zh-CN" smtClean="0"/>
              <a:pPr>
                <a:defRPr/>
              </a:pPr>
              <a:t>34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left)">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317"/>
                                        </p:tgtEl>
                                        <p:attrNameLst>
                                          <p:attrName>style.visibility</p:attrName>
                                        </p:attrNameLst>
                                      </p:cBhvr>
                                      <p:to>
                                        <p:strVal val="visible"/>
                                      </p:to>
                                    </p:set>
                                    <p:animEffect transition="in" filter="wipe(left)">
                                      <p:cBhvr>
                                        <p:cTn id="12" dur="500"/>
                                        <p:tgtEl>
                                          <p:spTgt spid="11317"/>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1981200" y="457200"/>
            <a:ext cx="8229600" cy="1100138"/>
          </a:xfrm>
        </p:spPr>
        <p:txBody>
          <a:bodyPr/>
          <a:lstStyle/>
          <a:p>
            <a:pPr algn="ctr" eaLnBrk="1" hangingPunct="1"/>
            <a:r>
              <a:rPr lang="en-US" altLang="zh-CN" sz="4500">
                <a:solidFill>
                  <a:srgbClr val="008000"/>
                </a:solidFill>
                <a:latin typeface="Comic Sans MS" panose="030F0702030302020204" pitchFamily="66" charset="0"/>
                <a:ea typeface="黑体" panose="02010609060101010101" pitchFamily="49" charset="-122"/>
              </a:rPr>
              <a:t>ANFIS</a:t>
            </a:r>
            <a:r>
              <a:rPr lang="zh-CN" altLang="en-US" sz="4500">
                <a:solidFill>
                  <a:srgbClr val="008000"/>
                </a:solidFill>
                <a:latin typeface="Comic Sans MS" panose="030F0702030302020204" pitchFamily="66" charset="0"/>
                <a:ea typeface="黑体" panose="02010609060101010101" pitchFamily="49" charset="-122"/>
              </a:rPr>
              <a:t>结构</a:t>
            </a:r>
          </a:p>
        </p:txBody>
      </p:sp>
      <p:sp>
        <p:nvSpPr>
          <p:cNvPr id="12291" name="Rectangle 3"/>
          <p:cNvSpPr>
            <a:spLocks noGrp="1" noChangeArrowheads="1"/>
          </p:cNvSpPr>
          <p:nvPr>
            <p:ph type="body" idx="4294967295"/>
          </p:nvPr>
        </p:nvSpPr>
        <p:spPr>
          <a:xfrm>
            <a:off x="2063750" y="4581534"/>
            <a:ext cx="8229600" cy="2087563"/>
          </a:xfrm>
        </p:spPr>
        <p:txBody>
          <a:bodyPr/>
          <a:lstStyle/>
          <a:p>
            <a:pPr eaLnBrk="1" hangingPunct="1">
              <a:lnSpc>
                <a:spcPct val="90000"/>
              </a:lnSpc>
            </a:pPr>
            <a:r>
              <a:rPr lang="zh-CN" altLang="en-US" dirty="0">
                <a:solidFill>
                  <a:srgbClr val="FF0000"/>
                </a:solidFill>
                <a:latin typeface="黑体" panose="02010609060101010101" pitchFamily="49" charset="-122"/>
                <a:ea typeface="黑体" panose="02010609060101010101" pitchFamily="49" charset="-122"/>
              </a:rPr>
              <a:t>第四层：计算每条规则的输出</a:t>
            </a:r>
          </a:p>
          <a:p>
            <a:pPr eaLnBrk="1" hangingPunct="1">
              <a:lnSpc>
                <a:spcPct val="90000"/>
              </a:lnSpc>
              <a:buFont typeface="Wingdings" panose="05000000000000000000" pitchFamily="2" charset="2"/>
              <a:buNone/>
            </a:pPr>
            <a:r>
              <a:rPr lang="zh-CN" altLang="en-US" b="1" dirty="0">
                <a:solidFill>
                  <a:srgbClr val="3333FF"/>
                </a:solidFill>
              </a:rPr>
              <a:t>          </a:t>
            </a:r>
            <a:r>
              <a:rPr lang="en-US" altLang="zh-CN" b="1" dirty="0" err="1">
                <a:solidFill>
                  <a:srgbClr val="3333FF"/>
                </a:solidFill>
              </a:rPr>
              <a:t>Z</a:t>
            </a:r>
            <a:r>
              <a:rPr lang="en-US" altLang="zh-CN" b="1" baseline="-25000" dirty="0" err="1">
                <a:solidFill>
                  <a:srgbClr val="3333FF"/>
                </a:solidFill>
              </a:rPr>
              <a:t>i</a:t>
            </a:r>
            <a:r>
              <a:rPr lang="en-US" altLang="zh-CN" b="1" baseline="-25000" dirty="0">
                <a:solidFill>
                  <a:srgbClr val="3333FF"/>
                </a:solidFill>
              </a:rPr>
              <a:t>  </a:t>
            </a:r>
            <a:r>
              <a:rPr lang="en-US" altLang="zh-CN" b="1" dirty="0">
                <a:solidFill>
                  <a:srgbClr val="3333FF"/>
                </a:solidFill>
              </a:rPr>
              <a:t>= </a:t>
            </a:r>
            <a:r>
              <a:rPr lang="en-US" altLang="zh-CN" b="1" dirty="0" err="1">
                <a:solidFill>
                  <a:srgbClr val="3333FF"/>
                </a:solidFill>
              </a:rPr>
              <a:t>p</a:t>
            </a:r>
            <a:r>
              <a:rPr lang="en-US" altLang="zh-CN" b="1" baseline="-25000" dirty="0" err="1">
                <a:solidFill>
                  <a:srgbClr val="3333FF"/>
                </a:solidFill>
              </a:rPr>
              <a:t>i</a:t>
            </a:r>
            <a:r>
              <a:rPr lang="en-US" altLang="zh-CN" b="1" dirty="0" err="1">
                <a:solidFill>
                  <a:srgbClr val="3333FF"/>
                </a:solidFill>
              </a:rPr>
              <a:t>x+q</a:t>
            </a:r>
            <a:r>
              <a:rPr lang="en-US" altLang="zh-CN" b="1" baseline="-25000" dirty="0" err="1">
                <a:solidFill>
                  <a:srgbClr val="3333FF"/>
                </a:solidFill>
              </a:rPr>
              <a:t>i</a:t>
            </a:r>
            <a:r>
              <a:rPr lang="en-US" altLang="zh-CN" b="1" dirty="0" err="1">
                <a:solidFill>
                  <a:srgbClr val="3333FF"/>
                </a:solidFill>
              </a:rPr>
              <a:t>y+r</a:t>
            </a:r>
            <a:r>
              <a:rPr lang="en-US" altLang="zh-CN" b="1" baseline="-25000" dirty="0" err="1">
                <a:solidFill>
                  <a:srgbClr val="3333FF"/>
                </a:solidFill>
              </a:rPr>
              <a:t>i</a:t>
            </a:r>
            <a:r>
              <a:rPr lang="en-US" altLang="zh-CN" b="1" baseline="-25000" dirty="0">
                <a:solidFill>
                  <a:srgbClr val="3333FF"/>
                </a:solidFill>
              </a:rPr>
              <a:t>               </a:t>
            </a:r>
            <a:r>
              <a:rPr lang="en-US" altLang="zh-CN" b="1" dirty="0">
                <a:solidFill>
                  <a:srgbClr val="3333FF"/>
                </a:solidFill>
              </a:rPr>
              <a:t> i=1,2 </a:t>
            </a:r>
          </a:p>
          <a:p>
            <a:pPr eaLnBrk="1" hangingPunct="1">
              <a:lnSpc>
                <a:spcPct val="90000"/>
              </a:lnSpc>
              <a:buFont typeface="Wingdings" panose="05000000000000000000" pitchFamily="2" charset="2"/>
              <a:buNone/>
            </a:pPr>
            <a:r>
              <a:rPr lang="en-US" altLang="zh-CN" b="1" dirty="0"/>
              <a:t>       </a:t>
            </a:r>
            <a:r>
              <a:rPr lang="en-US" altLang="zh-CN" b="1" i="1" dirty="0"/>
              <a:t>O</a:t>
            </a:r>
            <a:r>
              <a:rPr lang="en-US" altLang="zh-CN" b="1" baseline="-25000" dirty="0"/>
              <a:t>4,1 </a:t>
            </a:r>
            <a:r>
              <a:rPr lang="en-US" altLang="zh-CN" b="1" dirty="0"/>
              <a:t>= </a:t>
            </a:r>
            <a:r>
              <a:rPr lang="en-US" altLang="zh-CN" b="1" u="sng" dirty="0"/>
              <a:t>W</a:t>
            </a:r>
            <a:r>
              <a:rPr lang="en-US" altLang="zh-CN" b="1" u="sng" baseline="-25000" dirty="0"/>
              <a:t>1</a:t>
            </a:r>
            <a:r>
              <a:rPr lang="en-US" altLang="zh-CN" b="1" dirty="0"/>
              <a:t>Z</a:t>
            </a:r>
            <a:r>
              <a:rPr lang="en-US" altLang="zh-CN" b="1" baseline="-25000" dirty="0"/>
              <a:t>1 </a:t>
            </a:r>
            <a:r>
              <a:rPr lang="en-US" altLang="zh-CN" b="1" dirty="0"/>
              <a:t>= </a:t>
            </a:r>
            <a:r>
              <a:rPr lang="en-US" altLang="zh-CN" b="1" u="sng" dirty="0"/>
              <a:t>W</a:t>
            </a:r>
            <a:r>
              <a:rPr lang="en-US" altLang="zh-CN" b="1" u="sng" baseline="-25000" dirty="0"/>
              <a:t>1</a:t>
            </a:r>
            <a:r>
              <a:rPr lang="en-US" altLang="zh-CN" b="1" dirty="0"/>
              <a:t>(p</a:t>
            </a:r>
            <a:r>
              <a:rPr lang="en-US" altLang="zh-CN" b="1" baseline="-25000" dirty="0"/>
              <a:t>1</a:t>
            </a:r>
            <a:r>
              <a:rPr lang="en-US" altLang="zh-CN" b="1" dirty="0"/>
              <a:t>x+q</a:t>
            </a:r>
            <a:r>
              <a:rPr lang="en-US" altLang="zh-CN" b="1" baseline="-25000" dirty="0"/>
              <a:t>1</a:t>
            </a:r>
            <a:r>
              <a:rPr lang="en-US" altLang="zh-CN" b="1" dirty="0"/>
              <a:t>y+r</a:t>
            </a:r>
            <a:r>
              <a:rPr lang="en-US" altLang="zh-CN" b="1" baseline="-25000" dirty="0"/>
              <a:t>1</a:t>
            </a:r>
            <a:r>
              <a:rPr lang="en-US" altLang="zh-CN" b="1" dirty="0"/>
              <a:t>)</a:t>
            </a:r>
          </a:p>
          <a:p>
            <a:pPr eaLnBrk="1" hangingPunct="1">
              <a:lnSpc>
                <a:spcPct val="90000"/>
              </a:lnSpc>
              <a:buFont typeface="Wingdings" panose="05000000000000000000" pitchFamily="2" charset="2"/>
              <a:buNone/>
            </a:pPr>
            <a:r>
              <a:rPr lang="en-US" altLang="zh-CN" b="1" dirty="0"/>
              <a:t>       </a:t>
            </a:r>
            <a:r>
              <a:rPr lang="en-US" altLang="zh-CN" b="1" i="1" dirty="0"/>
              <a:t>O</a:t>
            </a:r>
            <a:r>
              <a:rPr lang="en-US" altLang="zh-CN" b="1" baseline="-25000" dirty="0"/>
              <a:t>4,2 </a:t>
            </a:r>
            <a:r>
              <a:rPr lang="en-US" altLang="zh-CN" b="1" dirty="0"/>
              <a:t>= </a:t>
            </a:r>
            <a:r>
              <a:rPr lang="en-US" altLang="zh-CN" b="1" u="sng" dirty="0"/>
              <a:t>W</a:t>
            </a:r>
            <a:r>
              <a:rPr lang="en-US" altLang="zh-CN" b="1" u="sng" baseline="-25000" dirty="0"/>
              <a:t>2</a:t>
            </a:r>
            <a:r>
              <a:rPr lang="en-US" altLang="zh-CN" b="1" dirty="0"/>
              <a:t>Z</a:t>
            </a:r>
            <a:r>
              <a:rPr lang="en-US" altLang="zh-CN" b="1" baseline="-25000" dirty="0"/>
              <a:t>2 </a:t>
            </a:r>
            <a:r>
              <a:rPr lang="en-US" altLang="zh-CN" b="1" dirty="0"/>
              <a:t>= </a:t>
            </a:r>
            <a:r>
              <a:rPr lang="en-US" altLang="zh-CN" b="1" u="sng" dirty="0"/>
              <a:t>W</a:t>
            </a:r>
            <a:r>
              <a:rPr lang="en-US" altLang="zh-CN" b="1" u="sng" baseline="-25000" dirty="0"/>
              <a:t>2</a:t>
            </a:r>
            <a:r>
              <a:rPr lang="en-US" altLang="zh-CN" b="1" dirty="0"/>
              <a:t>(p</a:t>
            </a:r>
            <a:r>
              <a:rPr lang="en-US" altLang="zh-CN" b="1" baseline="-25000" dirty="0"/>
              <a:t>2</a:t>
            </a:r>
            <a:r>
              <a:rPr lang="en-US" altLang="zh-CN" b="1" dirty="0"/>
              <a:t>x+q</a:t>
            </a:r>
            <a:r>
              <a:rPr lang="en-US" altLang="zh-CN" b="1" baseline="-25000" dirty="0"/>
              <a:t>2</a:t>
            </a:r>
            <a:r>
              <a:rPr lang="en-US" altLang="zh-CN" b="1" dirty="0"/>
              <a:t>y+r</a:t>
            </a:r>
            <a:r>
              <a:rPr lang="en-US" altLang="zh-CN" b="1" baseline="-25000" dirty="0"/>
              <a:t>2</a:t>
            </a:r>
            <a:r>
              <a:rPr lang="en-US" altLang="zh-CN" b="1" dirty="0"/>
              <a:t>)</a:t>
            </a:r>
          </a:p>
        </p:txBody>
      </p:sp>
      <p:grpSp>
        <p:nvGrpSpPr>
          <p:cNvPr id="12292" name="Group 4"/>
          <p:cNvGrpSpPr>
            <a:grpSpLocks/>
          </p:cNvGrpSpPr>
          <p:nvPr/>
        </p:nvGrpSpPr>
        <p:grpSpPr bwMode="auto">
          <a:xfrm>
            <a:off x="2063759" y="1484322"/>
            <a:ext cx="8353425" cy="2740025"/>
            <a:chOff x="0" y="0"/>
            <a:chExt cx="4853" cy="1987"/>
          </a:xfrm>
        </p:grpSpPr>
        <p:sp>
          <p:nvSpPr>
            <p:cNvPr id="12293" name="Rectangle 5"/>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12294" name="Rectangle 6"/>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12295" name="Rectangle 7"/>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12296" name="Rectangle 8"/>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12297" name="Oval 9"/>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2298" name="Rectangle 10"/>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2299" name="Rectangle 11"/>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2300" name="Oval 12"/>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2301" name="Oval 13"/>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2302" name="Oval 14"/>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2303" name="Oval 15"/>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304" name="Text Box 16"/>
            <p:cNvSpPr txBox="1">
              <a:spLocks noChangeArrowheads="1"/>
            </p:cNvSpPr>
            <p:nvPr/>
          </p:nvSpPr>
          <p:spPr bwMode="auto">
            <a:xfrm>
              <a:off x="0" y="545"/>
              <a:ext cx="27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2305" name="Text Box 17"/>
            <p:cNvSpPr txBox="1">
              <a:spLocks noChangeArrowheads="1"/>
            </p:cNvSpPr>
            <p:nvPr/>
          </p:nvSpPr>
          <p:spPr bwMode="auto">
            <a:xfrm>
              <a:off x="0" y="1451"/>
              <a:ext cx="27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2306" name="Line 18"/>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7" name="Line 19"/>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8" name="Line 20"/>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09" name="Line 21"/>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0" name="Line 22"/>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1" name="Line 23"/>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2" name="Line 24"/>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3" name="Line 25"/>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4" name="Line 26"/>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5" name="Line 27"/>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6" name="Line 28"/>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7" name="Line 29"/>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8" name="Line 30"/>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9" name="Line 31"/>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0" name="Line 32"/>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1" name="Line 33"/>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2" name="Line 34"/>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3" name="Text Box 35"/>
            <p:cNvSpPr txBox="1">
              <a:spLocks noChangeArrowheads="1"/>
            </p:cNvSpPr>
            <p:nvPr/>
          </p:nvSpPr>
          <p:spPr bwMode="auto">
            <a:xfrm>
              <a:off x="680"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1</a:t>
              </a:r>
              <a:r>
                <a:rPr lang="zh-CN" altLang="en-US" b="1">
                  <a:ea typeface="楷体_GB2312" pitchFamily="49" charset="-122"/>
                </a:rPr>
                <a:t>层</a:t>
              </a:r>
            </a:p>
          </p:txBody>
        </p:sp>
        <p:sp>
          <p:nvSpPr>
            <p:cNvPr id="12324" name="Text Box 36"/>
            <p:cNvSpPr txBox="1">
              <a:spLocks noChangeArrowheads="1"/>
            </p:cNvSpPr>
            <p:nvPr/>
          </p:nvSpPr>
          <p:spPr bwMode="auto">
            <a:xfrm>
              <a:off x="1542"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2</a:t>
              </a:r>
              <a:r>
                <a:rPr lang="zh-CN" altLang="en-US" b="1">
                  <a:ea typeface="楷体_GB2312" pitchFamily="49" charset="-122"/>
                </a:rPr>
                <a:t>层</a:t>
              </a:r>
            </a:p>
          </p:txBody>
        </p:sp>
        <p:sp>
          <p:nvSpPr>
            <p:cNvPr id="12325" name="Text Box 37"/>
            <p:cNvSpPr txBox="1">
              <a:spLocks noChangeArrowheads="1"/>
            </p:cNvSpPr>
            <p:nvPr/>
          </p:nvSpPr>
          <p:spPr bwMode="auto">
            <a:xfrm>
              <a:off x="2449"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3</a:t>
              </a:r>
              <a:r>
                <a:rPr lang="zh-CN" altLang="en-US" b="1">
                  <a:ea typeface="楷体_GB2312" pitchFamily="49" charset="-122"/>
                </a:rPr>
                <a:t>层</a:t>
              </a:r>
            </a:p>
          </p:txBody>
        </p:sp>
        <p:sp>
          <p:nvSpPr>
            <p:cNvPr id="12326" name="Text Box 38"/>
            <p:cNvSpPr txBox="1">
              <a:spLocks noChangeArrowheads="1"/>
            </p:cNvSpPr>
            <p:nvPr/>
          </p:nvSpPr>
          <p:spPr bwMode="auto">
            <a:xfrm>
              <a:off x="3175"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FF0000"/>
                  </a:solidFill>
                  <a:ea typeface="楷体_GB2312" pitchFamily="49" charset="-122"/>
                </a:rPr>
                <a:t>第</a:t>
              </a:r>
              <a:r>
                <a:rPr lang="en-US" altLang="zh-CN" b="1">
                  <a:solidFill>
                    <a:srgbClr val="FF0000"/>
                  </a:solidFill>
                  <a:ea typeface="楷体_GB2312" pitchFamily="49" charset="-122"/>
                </a:rPr>
                <a:t>4</a:t>
              </a:r>
              <a:r>
                <a:rPr lang="zh-CN" altLang="en-US" b="1">
                  <a:solidFill>
                    <a:srgbClr val="FF0000"/>
                  </a:solidFill>
                  <a:ea typeface="楷体_GB2312" pitchFamily="49" charset="-122"/>
                </a:rPr>
                <a:t>层</a:t>
              </a:r>
            </a:p>
          </p:txBody>
        </p:sp>
        <p:sp>
          <p:nvSpPr>
            <p:cNvPr id="12327" name="Text Box 39"/>
            <p:cNvSpPr txBox="1">
              <a:spLocks noChangeArrowheads="1"/>
            </p:cNvSpPr>
            <p:nvPr/>
          </p:nvSpPr>
          <p:spPr bwMode="auto">
            <a:xfrm>
              <a:off x="3901"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ea typeface="楷体_GB2312" pitchFamily="49" charset="-122"/>
                </a:rPr>
                <a:t>第</a:t>
              </a:r>
              <a:r>
                <a:rPr lang="en-US" altLang="zh-CN" b="1" dirty="0">
                  <a:ea typeface="楷体_GB2312" pitchFamily="49" charset="-122"/>
                </a:rPr>
                <a:t>5</a:t>
              </a:r>
              <a:r>
                <a:rPr lang="zh-CN" altLang="en-US" b="1" dirty="0">
                  <a:ea typeface="楷体_GB2312" pitchFamily="49" charset="-122"/>
                </a:rPr>
                <a:t>层</a:t>
              </a:r>
            </a:p>
          </p:txBody>
        </p:sp>
        <p:sp>
          <p:nvSpPr>
            <p:cNvPr id="12328" name="Text Box 40"/>
            <p:cNvSpPr txBox="1">
              <a:spLocks noChangeArrowheads="1"/>
            </p:cNvSpPr>
            <p:nvPr/>
          </p:nvSpPr>
          <p:spPr bwMode="auto">
            <a:xfrm>
              <a:off x="1950" y="589"/>
              <a:ext cx="362"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12329" name="Text Box 41"/>
            <p:cNvSpPr txBox="1">
              <a:spLocks noChangeArrowheads="1"/>
            </p:cNvSpPr>
            <p:nvPr/>
          </p:nvSpPr>
          <p:spPr bwMode="auto">
            <a:xfrm>
              <a:off x="1950" y="1451"/>
              <a:ext cx="36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12330" name="Text Box 42"/>
            <p:cNvSpPr txBox="1">
              <a:spLocks noChangeArrowheads="1"/>
            </p:cNvSpPr>
            <p:nvPr/>
          </p:nvSpPr>
          <p:spPr bwMode="auto">
            <a:xfrm>
              <a:off x="2767" y="635"/>
              <a:ext cx="36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1</a:t>
              </a:r>
            </a:p>
          </p:txBody>
        </p:sp>
        <p:sp>
          <p:nvSpPr>
            <p:cNvPr id="12331" name="Text Box 43"/>
            <p:cNvSpPr txBox="1">
              <a:spLocks noChangeArrowheads="1"/>
            </p:cNvSpPr>
            <p:nvPr/>
          </p:nvSpPr>
          <p:spPr bwMode="auto">
            <a:xfrm>
              <a:off x="2767" y="1497"/>
              <a:ext cx="36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12332" name="Text Box 44"/>
            <p:cNvSpPr txBox="1">
              <a:spLocks noChangeArrowheads="1"/>
            </p:cNvSpPr>
            <p:nvPr/>
          </p:nvSpPr>
          <p:spPr bwMode="auto">
            <a:xfrm>
              <a:off x="3811" y="699"/>
              <a:ext cx="544"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dirty="0"/>
                <a:t>W</a:t>
              </a:r>
              <a:r>
                <a:rPr lang="en-US" altLang="zh-CN" baseline="-25000" dirty="0"/>
                <a:t>1</a:t>
              </a:r>
              <a:r>
                <a:rPr lang="en-US" altLang="zh-CN" dirty="0"/>
                <a:t>Z</a:t>
              </a:r>
              <a:r>
                <a:rPr lang="en-US" altLang="zh-CN" baseline="-25000" dirty="0"/>
                <a:t>1</a:t>
              </a:r>
            </a:p>
          </p:txBody>
        </p:sp>
        <p:sp>
          <p:nvSpPr>
            <p:cNvPr id="12333" name="Text Box 45"/>
            <p:cNvSpPr txBox="1">
              <a:spLocks noChangeArrowheads="1"/>
            </p:cNvSpPr>
            <p:nvPr/>
          </p:nvSpPr>
          <p:spPr bwMode="auto">
            <a:xfrm>
              <a:off x="3856" y="1319"/>
              <a:ext cx="54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dirty="0"/>
                <a:t>W</a:t>
              </a:r>
              <a:r>
                <a:rPr lang="en-US" altLang="zh-CN" u="sng" baseline="-25000" dirty="0"/>
                <a:t>2</a:t>
              </a:r>
              <a:r>
                <a:rPr lang="en-US" altLang="zh-CN" dirty="0"/>
                <a:t>Z</a:t>
              </a:r>
              <a:r>
                <a:rPr lang="en-US" altLang="zh-CN" baseline="-25000" dirty="0"/>
                <a:t>2</a:t>
              </a:r>
            </a:p>
          </p:txBody>
        </p:sp>
        <p:sp>
          <p:nvSpPr>
            <p:cNvPr id="12334" name="Text Box 46"/>
            <p:cNvSpPr txBox="1">
              <a:spLocks noChangeArrowheads="1"/>
            </p:cNvSpPr>
            <p:nvPr/>
          </p:nvSpPr>
          <p:spPr bwMode="auto">
            <a:xfrm>
              <a:off x="4626" y="997"/>
              <a:ext cx="227"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12335" name="Text Box 47"/>
            <p:cNvSpPr txBox="1">
              <a:spLocks noChangeArrowheads="1"/>
            </p:cNvSpPr>
            <p:nvPr/>
          </p:nvSpPr>
          <p:spPr bwMode="auto">
            <a:xfrm>
              <a:off x="3266" y="317"/>
              <a:ext cx="453"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12336" name="Text Box 48"/>
            <p:cNvSpPr txBox="1">
              <a:spLocks noChangeArrowheads="1"/>
            </p:cNvSpPr>
            <p:nvPr/>
          </p:nvSpPr>
          <p:spPr bwMode="auto">
            <a:xfrm>
              <a:off x="3266" y="1721"/>
              <a:ext cx="408"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12337" name="Line 49"/>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8" name="Line 50"/>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9" name="Line 51"/>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40" name="Line 52"/>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文本框 1">
            <a:extLst>
              <a:ext uri="{FF2B5EF4-FFF2-40B4-BE49-F238E27FC236}">
                <a16:creationId xmlns:a16="http://schemas.microsoft.com/office/drawing/2014/main" id="{A9A8DDFE-195A-50C5-F918-28C946FCA3B5}"/>
              </a:ext>
            </a:extLst>
          </p:cNvPr>
          <p:cNvSpPr txBox="1"/>
          <p:nvPr/>
        </p:nvSpPr>
        <p:spPr>
          <a:xfrm>
            <a:off x="8150243" y="2296707"/>
            <a:ext cx="698843" cy="1420325"/>
          </a:xfrm>
          <a:prstGeom prst="rect">
            <a:avLst/>
          </a:prstGeom>
          <a:noFill/>
        </p:spPr>
        <p:txBody>
          <a:bodyPr wrap="square" rtlCol="0">
            <a:spAutoFit/>
          </a:bodyPr>
          <a:lstStyle/>
          <a:p>
            <a:pPr>
              <a:lnSpc>
                <a:spcPct val="150000"/>
              </a:lnSpc>
            </a:pPr>
            <a:r>
              <a:rPr lang="en-US" altLang="zh-CN" sz="2000" b="1" i="1" dirty="0"/>
              <a:t>O</a:t>
            </a:r>
            <a:r>
              <a:rPr lang="en-US" altLang="zh-CN" sz="2000" b="1" baseline="-25000" dirty="0"/>
              <a:t>4,1</a:t>
            </a:r>
          </a:p>
          <a:p>
            <a:pPr>
              <a:lnSpc>
                <a:spcPct val="150000"/>
              </a:lnSpc>
            </a:pPr>
            <a:endParaRPr lang="en-US" altLang="zh-CN" sz="2000" b="1" dirty="0"/>
          </a:p>
          <a:p>
            <a:pPr>
              <a:lnSpc>
                <a:spcPct val="150000"/>
              </a:lnSpc>
            </a:pPr>
            <a:r>
              <a:rPr lang="en-US" altLang="zh-CN" sz="2000" b="1" i="1" dirty="0"/>
              <a:t>O</a:t>
            </a:r>
            <a:r>
              <a:rPr lang="en-US" altLang="zh-CN" sz="2000" b="1" baseline="-25000" dirty="0"/>
              <a:t>4,2</a:t>
            </a:r>
            <a:endParaRPr lang="zh-CN" altLang="en-US" sz="2000" dirty="0"/>
          </a:p>
        </p:txBody>
      </p:sp>
      <p:sp>
        <p:nvSpPr>
          <p:cNvPr id="3" name="灯片编号占位符 2">
            <a:extLst>
              <a:ext uri="{FF2B5EF4-FFF2-40B4-BE49-F238E27FC236}">
                <a16:creationId xmlns:a16="http://schemas.microsoft.com/office/drawing/2014/main" id="{288D8641-78EF-6DFA-5B3B-939BF60EEE67}"/>
              </a:ext>
            </a:extLst>
          </p:cNvPr>
          <p:cNvSpPr>
            <a:spLocks noGrp="1"/>
          </p:cNvSpPr>
          <p:nvPr>
            <p:ph type="sldNum" sz="quarter" idx="11"/>
          </p:nvPr>
        </p:nvSpPr>
        <p:spPr/>
        <p:txBody>
          <a:bodyPr/>
          <a:lstStyle/>
          <a:p>
            <a:pPr>
              <a:defRPr/>
            </a:pPr>
            <a:fld id="{B77A47BA-BA63-4780-94A9-8AFA2EA4438D}" type="slidenum">
              <a:rPr lang="en-US" altLang="zh-CN" smtClean="0"/>
              <a:pPr>
                <a:defRPr/>
              </a:pPr>
              <a:t>35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left)">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wipe(left)">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wipe(left)">
                                      <p:cBhvr>
                                        <p:cTn id="17" dur="500"/>
                                        <p:tgtEl>
                                          <p:spTgt spid="12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wipe(left)">
                                      <p:cBhvr>
                                        <p:cTn id="22" dur="500"/>
                                        <p:tgtEl>
                                          <p:spTgt spid="122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anim calcmode="lin" valueType="num">
                                      <p:cBhvr>
                                        <p:cTn id="28" dur="1000" fill="hold"/>
                                        <p:tgtEl>
                                          <p:spTgt spid="2"/>
                                        </p:tgtEl>
                                        <p:attrNameLst>
                                          <p:attrName>ppt_x</p:attrName>
                                        </p:attrNameLst>
                                      </p:cBhvr>
                                      <p:tavLst>
                                        <p:tav tm="0">
                                          <p:val>
                                            <p:strVal val="#ppt_x"/>
                                          </p:val>
                                        </p:tav>
                                        <p:tav tm="100000">
                                          <p:val>
                                            <p:strVal val="#ppt_x"/>
                                          </p:val>
                                        </p:tav>
                                      </p:tavLst>
                                    </p:anim>
                                    <p:anim calcmode="lin" valueType="num">
                                      <p:cBhvr>
                                        <p:cTn id="2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1981200" y="457200"/>
            <a:ext cx="8229600" cy="1100138"/>
          </a:xfrm>
        </p:spPr>
        <p:txBody>
          <a:bodyPr/>
          <a:lstStyle/>
          <a:p>
            <a:pPr algn="ctr" eaLnBrk="1" hangingPunct="1"/>
            <a:r>
              <a:rPr lang="en-US" altLang="zh-CN" sz="4500">
                <a:solidFill>
                  <a:srgbClr val="008000"/>
                </a:solidFill>
                <a:latin typeface="Comic Sans MS" panose="030F0702030302020204" pitchFamily="66" charset="0"/>
                <a:ea typeface="黑体" panose="02010609060101010101" pitchFamily="49" charset="-122"/>
              </a:rPr>
              <a:t>ANFIS</a:t>
            </a:r>
            <a:r>
              <a:rPr lang="zh-CN" altLang="en-US" sz="4500">
                <a:solidFill>
                  <a:srgbClr val="008000"/>
                </a:solidFill>
                <a:latin typeface="Comic Sans MS" panose="030F0702030302020204" pitchFamily="66" charset="0"/>
                <a:ea typeface="黑体" panose="02010609060101010101" pitchFamily="49" charset="-122"/>
              </a:rPr>
              <a:t>结构</a:t>
            </a:r>
          </a:p>
        </p:txBody>
      </p:sp>
      <p:sp>
        <p:nvSpPr>
          <p:cNvPr id="13315" name="Rectangle 3"/>
          <p:cNvSpPr>
            <a:spLocks noGrp="1" noChangeArrowheads="1"/>
          </p:cNvSpPr>
          <p:nvPr>
            <p:ph type="body" idx="4294967295"/>
          </p:nvPr>
        </p:nvSpPr>
        <p:spPr>
          <a:xfrm>
            <a:off x="2063750" y="4652963"/>
            <a:ext cx="8229600" cy="2087562"/>
          </a:xfrm>
        </p:spPr>
        <p:txBody>
          <a:bodyPr/>
          <a:lstStyle/>
          <a:p>
            <a:pPr eaLnBrk="1" hangingPunct="1">
              <a:lnSpc>
                <a:spcPct val="90000"/>
              </a:lnSpc>
            </a:pPr>
            <a:r>
              <a:rPr lang="zh-CN" altLang="en-US" dirty="0">
                <a:solidFill>
                  <a:srgbClr val="FF0000"/>
                </a:solidFill>
                <a:latin typeface="黑体" panose="02010609060101010101" pitchFamily="49" charset="-122"/>
                <a:ea typeface="黑体" panose="02010609060101010101" pitchFamily="49" charset="-122"/>
              </a:rPr>
              <a:t>第五层：计算</a:t>
            </a:r>
            <a:r>
              <a:rPr lang="en-US" altLang="zh-CN" dirty="0">
                <a:solidFill>
                  <a:srgbClr val="FF0000"/>
                </a:solidFill>
                <a:latin typeface="黑体" panose="02010609060101010101" pitchFamily="49" charset="-122"/>
                <a:ea typeface="黑体" panose="02010609060101010101" pitchFamily="49" charset="-122"/>
              </a:rPr>
              <a:t>F</a:t>
            </a:r>
            <a:r>
              <a:rPr lang="zh-CN" altLang="en-US" dirty="0">
                <a:solidFill>
                  <a:srgbClr val="FF0000"/>
                </a:solidFill>
                <a:latin typeface="黑体" panose="02010609060101010101" pitchFamily="49" charset="-122"/>
                <a:ea typeface="黑体" panose="02010609060101010101" pitchFamily="49" charset="-122"/>
              </a:rPr>
              <a:t>系统的输出</a:t>
            </a:r>
          </a:p>
          <a:p>
            <a:pPr eaLnBrk="1" hangingPunct="1">
              <a:lnSpc>
                <a:spcPct val="90000"/>
              </a:lnSpc>
              <a:buFont typeface="Wingdings" panose="05000000000000000000" pitchFamily="2" charset="2"/>
              <a:buNone/>
            </a:pPr>
            <a:endParaRPr lang="zh-CN" altLang="en-US" sz="1600" dirty="0">
              <a:solidFill>
                <a:srgbClr val="FF0000"/>
              </a:solidFill>
              <a:latin typeface="黑体" panose="02010609060101010101" pitchFamily="49" charset="-122"/>
              <a:ea typeface="黑体" panose="02010609060101010101" pitchFamily="49" charset="-122"/>
            </a:endParaRPr>
          </a:p>
          <a:p>
            <a:pPr eaLnBrk="1" hangingPunct="1">
              <a:lnSpc>
                <a:spcPct val="90000"/>
              </a:lnSpc>
              <a:buFont typeface="Wingdings" panose="05000000000000000000" pitchFamily="2" charset="2"/>
              <a:buNone/>
            </a:pPr>
            <a:r>
              <a:rPr lang="zh-CN" altLang="en-US" b="1" dirty="0"/>
              <a:t>             </a:t>
            </a:r>
            <a:r>
              <a:rPr lang="en-US" altLang="zh-CN" b="1" i="1" dirty="0"/>
              <a:t>O</a:t>
            </a:r>
            <a:r>
              <a:rPr lang="en-US" altLang="zh-CN" b="1" baseline="-25000" dirty="0"/>
              <a:t>5,1  </a:t>
            </a:r>
            <a:r>
              <a:rPr lang="en-US" altLang="zh-CN" b="1" dirty="0"/>
              <a:t>= Z = </a:t>
            </a:r>
            <a:r>
              <a:rPr lang="en-US" altLang="zh-CN" b="1" u="sng" dirty="0"/>
              <a:t>W</a:t>
            </a:r>
            <a:r>
              <a:rPr lang="en-US" altLang="zh-CN" b="1" u="sng" baseline="-25000" dirty="0"/>
              <a:t>1</a:t>
            </a:r>
            <a:r>
              <a:rPr lang="en-US" altLang="zh-CN" b="1" dirty="0"/>
              <a:t>Z</a:t>
            </a:r>
            <a:r>
              <a:rPr lang="en-US" altLang="zh-CN" b="1" baseline="-25000" dirty="0"/>
              <a:t>1 </a:t>
            </a:r>
            <a:r>
              <a:rPr lang="en-US" altLang="zh-CN" b="1" dirty="0"/>
              <a:t>+ </a:t>
            </a:r>
            <a:r>
              <a:rPr lang="en-US" altLang="zh-CN" b="1" u="sng" dirty="0"/>
              <a:t>W</a:t>
            </a:r>
            <a:r>
              <a:rPr lang="en-US" altLang="zh-CN" b="1" u="sng" baseline="-25000" dirty="0"/>
              <a:t>2</a:t>
            </a:r>
            <a:r>
              <a:rPr lang="en-US" altLang="zh-CN" b="1" dirty="0"/>
              <a:t>Z</a:t>
            </a:r>
            <a:r>
              <a:rPr lang="en-US" altLang="zh-CN" b="1" baseline="-25000" dirty="0"/>
              <a:t>2</a:t>
            </a:r>
            <a:endParaRPr lang="en-US" altLang="zh-CN" b="1" dirty="0"/>
          </a:p>
        </p:txBody>
      </p:sp>
      <p:grpSp>
        <p:nvGrpSpPr>
          <p:cNvPr id="13316" name="Group 4"/>
          <p:cNvGrpSpPr>
            <a:grpSpLocks/>
          </p:cNvGrpSpPr>
          <p:nvPr/>
        </p:nvGrpSpPr>
        <p:grpSpPr bwMode="auto">
          <a:xfrm>
            <a:off x="2063759" y="1484322"/>
            <a:ext cx="8353425" cy="2740025"/>
            <a:chOff x="0" y="0"/>
            <a:chExt cx="4853" cy="1987"/>
          </a:xfrm>
        </p:grpSpPr>
        <p:sp>
          <p:nvSpPr>
            <p:cNvPr id="13317" name="Rectangle 5"/>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13318" name="Rectangle 6"/>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13319" name="Rectangle 7"/>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13320" name="Rectangle 8"/>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13321" name="Oval 9"/>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3322" name="Rectangle 10"/>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3323" name="Rectangle 11"/>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3324" name="Oval 12"/>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3325" name="Oval 13"/>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3326" name="Oval 14"/>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3327" name="Oval 15"/>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3328" name="Text Box 16"/>
            <p:cNvSpPr txBox="1">
              <a:spLocks noChangeArrowheads="1"/>
            </p:cNvSpPr>
            <p:nvPr/>
          </p:nvSpPr>
          <p:spPr bwMode="auto">
            <a:xfrm>
              <a:off x="0" y="545"/>
              <a:ext cx="27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3329" name="Text Box 17"/>
            <p:cNvSpPr txBox="1">
              <a:spLocks noChangeArrowheads="1"/>
            </p:cNvSpPr>
            <p:nvPr/>
          </p:nvSpPr>
          <p:spPr bwMode="auto">
            <a:xfrm>
              <a:off x="0" y="1451"/>
              <a:ext cx="27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3330" name="Line 18"/>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1" name="Line 19"/>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2" name="Line 20"/>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3" name="Line 21"/>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4" name="Line 22"/>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5" name="Line 23"/>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6" name="Line 24"/>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7" name="Line 25"/>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8" name="Line 26"/>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9" name="Line 27"/>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0" name="Line 28"/>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1" name="Line 29"/>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2" name="Line 30"/>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3" name="Line 31"/>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4" name="Line 32"/>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5" name="Line 33"/>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6" name="Line 34"/>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7" name="Text Box 35"/>
            <p:cNvSpPr txBox="1">
              <a:spLocks noChangeArrowheads="1"/>
            </p:cNvSpPr>
            <p:nvPr/>
          </p:nvSpPr>
          <p:spPr bwMode="auto">
            <a:xfrm>
              <a:off x="680"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1</a:t>
              </a:r>
              <a:r>
                <a:rPr lang="zh-CN" altLang="en-US" b="1">
                  <a:ea typeface="楷体_GB2312" pitchFamily="49" charset="-122"/>
                </a:rPr>
                <a:t>层</a:t>
              </a:r>
            </a:p>
          </p:txBody>
        </p:sp>
        <p:sp>
          <p:nvSpPr>
            <p:cNvPr id="13348" name="Text Box 36"/>
            <p:cNvSpPr txBox="1">
              <a:spLocks noChangeArrowheads="1"/>
            </p:cNvSpPr>
            <p:nvPr/>
          </p:nvSpPr>
          <p:spPr bwMode="auto">
            <a:xfrm>
              <a:off x="1542"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2</a:t>
              </a:r>
              <a:r>
                <a:rPr lang="zh-CN" altLang="en-US" b="1">
                  <a:ea typeface="楷体_GB2312" pitchFamily="49" charset="-122"/>
                </a:rPr>
                <a:t>层</a:t>
              </a:r>
            </a:p>
          </p:txBody>
        </p:sp>
        <p:sp>
          <p:nvSpPr>
            <p:cNvPr id="13349" name="Text Box 37"/>
            <p:cNvSpPr txBox="1">
              <a:spLocks noChangeArrowheads="1"/>
            </p:cNvSpPr>
            <p:nvPr/>
          </p:nvSpPr>
          <p:spPr bwMode="auto">
            <a:xfrm>
              <a:off x="2449"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3</a:t>
              </a:r>
              <a:r>
                <a:rPr lang="zh-CN" altLang="en-US" b="1">
                  <a:ea typeface="楷体_GB2312" pitchFamily="49" charset="-122"/>
                </a:rPr>
                <a:t>层</a:t>
              </a:r>
            </a:p>
          </p:txBody>
        </p:sp>
        <p:sp>
          <p:nvSpPr>
            <p:cNvPr id="13350" name="Text Box 38"/>
            <p:cNvSpPr txBox="1">
              <a:spLocks noChangeArrowheads="1"/>
            </p:cNvSpPr>
            <p:nvPr/>
          </p:nvSpPr>
          <p:spPr bwMode="auto">
            <a:xfrm>
              <a:off x="3175"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4</a:t>
              </a:r>
              <a:r>
                <a:rPr lang="zh-CN" altLang="en-US" b="1">
                  <a:ea typeface="楷体_GB2312" pitchFamily="49" charset="-122"/>
                </a:rPr>
                <a:t>层</a:t>
              </a:r>
            </a:p>
          </p:txBody>
        </p:sp>
        <p:sp>
          <p:nvSpPr>
            <p:cNvPr id="13351" name="Text Box 39"/>
            <p:cNvSpPr txBox="1">
              <a:spLocks noChangeArrowheads="1"/>
            </p:cNvSpPr>
            <p:nvPr/>
          </p:nvSpPr>
          <p:spPr bwMode="auto">
            <a:xfrm>
              <a:off x="3901"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0000"/>
                  </a:solidFill>
                  <a:ea typeface="楷体_GB2312" pitchFamily="49" charset="-122"/>
                </a:rPr>
                <a:t>第</a:t>
              </a:r>
              <a:r>
                <a:rPr lang="en-US" altLang="zh-CN" b="1" dirty="0">
                  <a:solidFill>
                    <a:srgbClr val="FF0000"/>
                  </a:solidFill>
                  <a:ea typeface="楷体_GB2312" pitchFamily="49" charset="-122"/>
                </a:rPr>
                <a:t>5</a:t>
              </a:r>
              <a:r>
                <a:rPr lang="zh-CN" altLang="en-US" b="1" dirty="0">
                  <a:solidFill>
                    <a:srgbClr val="FF0000"/>
                  </a:solidFill>
                  <a:ea typeface="楷体_GB2312" pitchFamily="49" charset="-122"/>
                </a:rPr>
                <a:t>层</a:t>
              </a:r>
            </a:p>
          </p:txBody>
        </p:sp>
        <p:sp>
          <p:nvSpPr>
            <p:cNvPr id="13352" name="Text Box 40"/>
            <p:cNvSpPr txBox="1">
              <a:spLocks noChangeArrowheads="1"/>
            </p:cNvSpPr>
            <p:nvPr/>
          </p:nvSpPr>
          <p:spPr bwMode="auto">
            <a:xfrm>
              <a:off x="1950" y="589"/>
              <a:ext cx="362"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13353" name="Text Box 41"/>
            <p:cNvSpPr txBox="1">
              <a:spLocks noChangeArrowheads="1"/>
            </p:cNvSpPr>
            <p:nvPr/>
          </p:nvSpPr>
          <p:spPr bwMode="auto">
            <a:xfrm>
              <a:off x="1950" y="1451"/>
              <a:ext cx="36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13354" name="Text Box 42"/>
            <p:cNvSpPr txBox="1">
              <a:spLocks noChangeArrowheads="1"/>
            </p:cNvSpPr>
            <p:nvPr/>
          </p:nvSpPr>
          <p:spPr bwMode="auto">
            <a:xfrm>
              <a:off x="2767" y="635"/>
              <a:ext cx="36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1</a:t>
              </a:r>
            </a:p>
          </p:txBody>
        </p:sp>
        <p:sp>
          <p:nvSpPr>
            <p:cNvPr id="13355" name="Text Box 43"/>
            <p:cNvSpPr txBox="1">
              <a:spLocks noChangeArrowheads="1"/>
            </p:cNvSpPr>
            <p:nvPr/>
          </p:nvSpPr>
          <p:spPr bwMode="auto">
            <a:xfrm>
              <a:off x="2767" y="1497"/>
              <a:ext cx="36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13356" name="Text Box 44"/>
            <p:cNvSpPr txBox="1">
              <a:spLocks noChangeArrowheads="1"/>
            </p:cNvSpPr>
            <p:nvPr/>
          </p:nvSpPr>
          <p:spPr bwMode="auto">
            <a:xfrm>
              <a:off x="3674" y="545"/>
              <a:ext cx="544"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13357" name="Text Box 45"/>
            <p:cNvSpPr txBox="1">
              <a:spLocks noChangeArrowheads="1"/>
            </p:cNvSpPr>
            <p:nvPr/>
          </p:nvSpPr>
          <p:spPr bwMode="auto">
            <a:xfrm>
              <a:off x="3674" y="1406"/>
              <a:ext cx="54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13358" name="Text Box 46"/>
            <p:cNvSpPr txBox="1">
              <a:spLocks noChangeArrowheads="1"/>
            </p:cNvSpPr>
            <p:nvPr/>
          </p:nvSpPr>
          <p:spPr bwMode="auto">
            <a:xfrm>
              <a:off x="4626" y="997"/>
              <a:ext cx="227"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13359" name="Text Box 47"/>
            <p:cNvSpPr txBox="1">
              <a:spLocks noChangeArrowheads="1"/>
            </p:cNvSpPr>
            <p:nvPr/>
          </p:nvSpPr>
          <p:spPr bwMode="auto">
            <a:xfrm>
              <a:off x="3266" y="317"/>
              <a:ext cx="453"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13360" name="Text Box 48"/>
            <p:cNvSpPr txBox="1">
              <a:spLocks noChangeArrowheads="1"/>
            </p:cNvSpPr>
            <p:nvPr/>
          </p:nvSpPr>
          <p:spPr bwMode="auto">
            <a:xfrm>
              <a:off x="3266" y="1721"/>
              <a:ext cx="408"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13361" name="Line 49"/>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2" name="Line 50"/>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3" name="Line 51"/>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4" name="Line 52"/>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文本框 1">
            <a:extLst>
              <a:ext uri="{FF2B5EF4-FFF2-40B4-BE49-F238E27FC236}">
                <a16:creationId xmlns:a16="http://schemas.microsoft.com/office/drawing/2014/main" id="{4F3A37D7-DBAE-2579-605B-19EAC989385E}"/>
              </a:ext>
            </a:extLst>
          </p:cNvPr>
          <p:cNvSpPr txBox="1"/>
          <p:nvPr/>
        </p:nvSpPr>
        <p:spPr>
          <a:xfrm>
            <a:off x="9387195" y="2588645"/>
            <a:ext cx="698843" cy="496996"/>
          </a:xfrm>
          <a:prstGeom prst="rect">
            <a:avLst/>
          </a:prstGeom>
          <a:noFill/>
        </p:spPr>
        <p:txBody>
          <a:bodyPr wrap="square" rtlCol="0">
            <a:spAutoFit/>
          </a:bodyPr>
          <a:lstStyle/>
          <a:p>
            <a:pPr>
              <a:lnSpc>
                <a:spcPct val="150000"/>
              </a:lnSpc>
            </a:pPr>
            <a:r>
              <a:rPr lang="en-US" altLang="zh-CN" sz="2000" b="1" i="1" dirty="0"/>
              <a:t>O</a:t>
            </a:r>
            <a:r>
              <a:rPr lang="en-US" altLang="zh-CN" sz="2000" b="1" baseline="-25000" dirty="0"/>
              <a:t>5,1</a:t>
            </a:r>
          </a:p>
        </p:txBody>
      </p:sp>
      <p:sp>
        <p:nvSpPr>
          <p:cNvPr id="3" name="灯片编号占位符 2">
            <a:extLst>
              <a:ext uri="{FF2B5EF4-FFF2-40B4-BE49-F238E27FC236}">
                <a16:creationId xmlns:a16="http://schemas.microsoft.com/office/drawing/2014/main" id="{A5ACE44D-66A3-0B0D-377E-0716BD443E98}"/>
              </a:ext>
            </a:extLst>
          </p:cNvPr>
          <p:cNvSpPr>
            <a:spLocks noGrp="1"/>
          </p:cNvSpPr>
          <p:nvPr>
            <p:ph type="sldNum" sz="quarter" idx="11"/>
          </p:nvPr>
        </p:nvSpPr>
        <p:spPr/>
        <p:txBody>
          <a:bodyPr/>
          <a:lstStyle/>
          <a:p>
            <a:pPr>
              <a:defRPr/>
            </a:pPr>
            <a:fld id="{B77A47BA-BA63-4780-94A9-8AFA2EA4438D}" type="slidenum">
              <a:rPr lang="en-US" altLang="zh-CN" smtClean="0"/>
              <a:pPr>
                <a:defRPr/>
              </a:pPr>
              <a:t>36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wipe(left)">
                                      <p:cBhvr>
                                        <p:cTn id="7" dur="500"/>
                                        <p:tgtEl>
                                          <p:spTgt spid="13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5">
                                            <p:txEl>
                                              <p:pRg st="2" end="2"/>
                                            </p:txEl>
                                          </p:spTgt>
                                        </p:tgtEl>
                                        <p:attrNameLst>
                                          <p:attrName>style.visibility</p:attrName>
                                        </p:attrNameLst>
                                      </p:cBhvr>
                                      <p:to>
                                        <p:strVal val="visible"/>
                                      </p:to>
                                    </p:set>
                                    <p:animEffect transition="in" filter="wipe(left)">
                                      <p:cBhvr>
                                        <p:cTn id="12" dur="500"/>
                                        <p:tgtEl>
                                          <p:spTgt spid="133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utoUpdateAnimBg="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981200" y="332656"/>
            <a:ext cx="8229600" cy="1100138"/>
          </a:xfrm>
        </p:spPr>
        <p:txBody>
          <a:bodyPr/>
          <a:lstStyle/>
          <a:p>
            <a:pPr algn="ctr" eaLnBrk="1" hangingPunct="1"/>
            <a:r>
              <a:rPr lang="en-US" altLang="zh-CN" sz="4500" dirty="0">
                <a:solidFill>
                  <a:srgbClr val="008000"/>
                </a:solidFill>
                <a:latin typeface="Comic Sans MS" panose="030F0702030302020204" pitchFamily="66" charset="0"/>
                <a:ea typeface="黑体" panose="02010609060101010101" pitchFamily="49" charset="-122"/>
              </a:rPr>
              <a:t>ANFIS</a:t>
            </a:r>
            <a:r>
              <a:rPr lang="zh-CN" altLang="en-US" sz="4500" dirty="0">
                <a:solidFill>
                  <a:srgbClr val="008000"/>
                </a:solidFill>
                <a:latin typeface="Comic Sans MS" panose="030F0702030302020204" pitchFamily="66" charset="0"/>
                <a:ea typeface="黑体" panose="02010609060101010101" pitchFamily="49" charset="-122"/>
              </a:rPr>
              <a:t>结构</a:t>
            </a:r>
          </a:p>
        </p:txBody>
      </p:sp>
      <p:sp>
        <p:nvSpPr>
          <p:cNvPr id="14339" name="Rectangle 3"/>
          <p:cNvSpPr>
            <a:spLocks noGrp="1" noChangeArrowheads="1"/>
          </p:cNvSpPr>
          <p:nvPr>
            <p:ph type="body" idx="4294967295"/>
          </p:nvPr>
        </p:nvSpPr>
        <p:spPr>
          <a:xfrm>
            <a:off x="1418661" y="4325729"/>
            <a:ext cx="9721080" cy="2532271"/>
          </a:xfrm>
        </p:spPr>
        <p:txBody>
          <a:bodyPr/>
          <a:lstStyle/>
          <a:p>
            <a:pPr eaLnBrk="1" hangingPunct="1">
              <a:lnSpc>
                <a:spcPct val="90000"/>
              </a:lnSpc>
            </a:pPr>
            <a:r>
              <a:rPr lang="zh-CN" altLang="en-US" dirty="0">
                <a:solidFill>
                  <a:srgbClr val="FF0000"/>
                </a:solidFill>
                <a:latin typeface="黑体" panose="02010609060101010101" pitchFamily="49" charset="-122"/>
                <a:ea typeface="黑体" panose="02010609060101010101" pitchFamily="49" charset="-122"/>
              </a:rPr>
              <a:t>此网络中，包含了待定的参数共</a:t>
            </a:r>
            <a:r>
              <a:rPr lang="en-US" altLang="zh-CN" dirty="0">
                <a:solidFill>
                  <a:srgbClr val="FF0000"/>
                </a:solidFill>
                <a:latin typeface="黑体" panose="02010609060101010101" pitchFamily="49" charset="-122"/>
                <a:ea typeface="黑体" panose="02010609060101010101" pitchFamily="49" charset="-122"/>
              </a:rPr>
              <a:t>14</a:t>
            </a:r>
            <a:r>
              <a:rPr lang="zh-CN" altLang="en-US" dirty="0">
                <a:solidFill>
                  <a:srgbClr val="FF0000"/>
                </a:solidFill>
                <a:latin typeface="黑体" panose="02010609060101010101" pitchFamily="49" charset="-122"/>
                <a:ea typeface="黑体" panose="02010609060101010101" pitchFamily="49" charset="-122"/>
              </a:rPr>
              <a:t>个</a:t>
            </a:r>
            <a:r>
              <a:rPr lang="en-US" altLang="zh-CN" dirty="0">
                <a:solidFill>
                  <a:srgbClr val="FF0000"/>
                </a:solidFill>
                <a:ea typeface="黑体" panose="02010609060101010101" pitchFamily="49" charset="-122"/>
              </a:rPr>
              <a:t>——</a:t>
            </a:r>
            <a:endParaRPr lang="en-US" altLang="zh-CN" dirty="0">
              <a:solidFill>
                <a:srgbClr val="FF0000"/>
              </a:solidFill>
              <a:latin typeface="黑体" panose="02010609060101010101" pitchFamily="49" charset="-122"/>
              <a:ea typeface="黑体" panose="02010609060101010101" pitchFamily="49" charset="-122"/>
            </a:endParaRPr>
          </a:p>
          <a:p>
            <a:pPr lvl="1" eaLnBrk="1" hangingPunct="1">
              <a:lnSpc>
                <a:spcPct val="90000"/>
              </a:lnSpc>
            </a:pPr>
            <a:r>
              <a:rPr lang="zh-CN" altLang="en-US" sz="3200" dirty="0">
                <a:solidFill>
                  <a:schemeClr val="bg2"/>
                </a:solidFill>
                <a:latin typeface="黑体" panose="02010609060101010101" pitchFamily="49" charset="-122"/>
                <a:ea typeface="黑体" panose="02010609060101010101" pitchFamily="49" charset="-122"/>
              </a:rPr>
              <a:t>前件参数</a:t>
            </a:r>
            <a:r>
              <a:rPr lang="en-US" altLang="zh-CN" sz="3200" dirty="0">
                <a:solidFill>
                  <a:schemeClr val="bg2"/>
                </a:solidFill>
                <a:latin typeface="黑体" panose="02010609060101010101" pitchFamily="49" charset="-122"/>
                <a:ea typeface="黑体" panose="02010609060101010101" pitchFamily="49" charset="-122"/>
              </a:rPr>
              <a:t>(</a:t>
            </a:r>
            <a:r>
              <a:rPr lang="zh-CN" altLang="en-US" sz="3200" dirty="0">
                <a:solidFill>
                  <a:schemeClr val="bg2"/>
                </a:solidFill>
                <a:latin typeface="黑体" panose="02010609060101010101" pitchFamily="49" charset="-122"/>
                <a:ea typeface="黑体" panose="02010609060101010101" pitchFamily="49" charset="-122"/>
              </a:rPr>
              <a:t>隶属度函数中的参数</a:t>
            </a:r>
            <a:r>
              <a:rPr lang="en-US" altLang="zh-CN" sz="3200" dirty="0">
                <a:solidFill>
                  <a:schemeClr val="bg2"/>
                </a:solidFill>
                <a:latin typeface="黑体" panose="02010609060101010101" pitchFamily="49" charset="-122"/>
                <a:ea typeface="黑体" panose="02010609060101010101" pitchFamily="49" charset="-122"/>
              </a:rPr>
              <a:t>)</a:t>
            </a:r>
          </a:p>
          <a:p>
            <a:pPr lvl="2" eaLnBrk="1" hangingPunct="1">
              <a:lnSpc>
                <a:spcPct val="90000"/>
              </a:lnSpc>
            </a:pPr>
            <a:r>
              <a:rPr lang="en-US" altLang="zh-CN" sz="2800" b="1" dirty="0" err="1"/>
              <a:t>a</a:t>
            </a:r>
            <a:r>
              <a:rPr lang="en-US" altLang="zh-CN" sz="2800" b="1" baseline="-25000" dirty="0" err="1"/>
              <a:t>i</a:t>
            </a:r>
            <a:r>
              <a:rPr lang="en-US" altLang="zh-CN" sz="2800" b="1" baseline="-25000" dirty="0"/>
              <a:t> </a:t>
            </a:r>
            <a:r>
              <a:rPr lang="zh-CN" altLang="en-US" sz="2800" b="1" dirty="0"/>
              <a:t>、</a:t>
            </a:r>
            <a:r>
              <a:rPr lang="en-US" altLang="zh-CN" sz="2800" b="1" baseline="-25000" dirty="0"/>
              <a:t> </a:t>
            </a:r>
            <a:r>
              <a:rPr lang="en-US" altLang="zh-CN" sz="2800" b="1" dirty="0"/>
              <a:t>b</a:t>
            </a:r>
            <a:r>
              <a:rPr lang="en-US" altLang="zh-CN" sz="2800" b="1" baseline="-25000" dirty="0"/>
              <a:t>i </a:t>
            </a:r>
            <a:r>
              <a:rPr lang="zh-CN" altLang="en-US" sz="2800" b="1" dirty="0"/>
              <a:t>、</a:t>
            </a:r>
            <a:r>
              <a:rPr lang="en-US" altLang="zh-CN" sz="2800" b="1" baseline="-25000" dirty="0"/>
              <a:t> </a:t>
            </a:r>
            <a:r>
              <a:rPr lang="en-US" altLang="zh-CN" sz="2800" b="1" dirty="0"/>
              <a:t>c</a:t>
            </a:r>
            <a:r>
              <a:rPr lang="en-US" altLang="zh-CN" sz="2800" b="1" baseline="-25000" dirty="0"/>
              <a:t>i </a:t>
            </a:r>
            <a:r>
              <a:rPr lang="zh-CN" altLang="en-US" sz="2800" b="1" dirty="0"/>
              <a:t>、</a:t>
            </a:r>
            <a:r>
              <a:rPr lang="en-US" altLang="zh-CN" sz="2800" b="1" baseline="-25000" dirty="0"/>
              <a:t> </a:t>
            </a:r>
            <a:r>
              <a:rPr lang="en-US" altLang="zh-CN" sz="2800" b="1" dirty="0"/>
              <a:t>d</a:t>
            </a:r>
            <a:r>
              <a:rPr lang="en-US" altLang="zh-CN" sz="2800" b="1" baseline="-25000" dirty="0"/>
              <a:t>i</a:t>
            </a:r>
            <a:r>
              <a:rPr lang="en-US" altLang="zh-CN" sz="2800" b="1" dirty="0"/>
              <a:t>    ( i = 1,</a:t>
            </a:r>
            <a:r>
              <a:rPr lang="zh-CN" altLang="en-US" sz="2800" b="1" dirty="0"/>
              <a:t> </a:t>
            </a:r>
            <a:r>
              <a:rPr lang="en-US" altLang="zh-CN" sz="2800" b="1" dirty="0"/>
              <a:t>2)</a:t>
            </a:r>
          </a:p>
          <a:p>
            <a:pPr lvl="1" eaLnBrk="1" hangingPunct="1">
              <a:lnSpc>
                <a:spcPct val="90000"/>
              </a:lnSpc>
            </a:pPr>
            <a:r>
              <a:rPr lang="zh-CN" altLang="en-US" sz="3200" dirty="0">
                <a:solidFill>
                  <a:schemeClr val="bg2"/>
                </a:solidFill>
                <a:latin typeface="黑体" panose="02010609060101010101" pitchFamily="49" charset="-122"/>
                <a:ea typeface="黑体" panose="02010609060101010101" pitchFamily="49" charset="-122"/>
              </a:rPr>
              <a:t>后件参数</a:t>
            </a:r>
          </a:p>
          <a:p>
            <a:pPr lvl="2" eaLnBrk="1" hangingPunct="1">
              <a:lnSpc>
                <a:spcPct val="90000"/>
              </a:lnSpc>
            </a:pPr>
            <a:r>
              <a:rPr lang="en-US" altLang="zh-CN" sz="2800" b="1" dirty="0"/>
              <a:t>p</a:t>
            </a:r>
            <a:r>
              <a:rPr lang="en-US" altLang="zh-CN" sz="2800" b="1" baseline="-25000" dirty="0"/>
              <a:t>i </a:t>
            </a:r>
            <a:r>
              <a:rPr lang="zh-CN" altLang="en-US" sz="2800" b="1" dirty="0"/>
              <a:t>、</a:t>
            </a:r>
            <a:r>
              <a:rPr lang="en-US" altLang="zh-CN" sz="2800" b="1" baseline="-25000" dirty="0"/>
              <a:t> </a:t>
            </a:r>
            <a:r>
              <a:rPr lang="en-US" altLang="zh-CN" sz="2800" b="1" dirty="0"/>
              <a:t>q</a:t>
            </a:r>
            <a:r>
              <a:rPr lang="en-US" altLang="zh-CN" sz="2800" b="1" baseline="-25000" dirty="0"/>
              <a:t>i </a:t>
            </a:r>
            <a:r>
              <a:rPr lang="zh-CN" altLang="en-US" sz="2800" b="1" dirty="0"/>
              <a:t>、</a:t>
            </a:r>
            <a:r>
              <a:rPr lang="en-US" altLang="zh-CN" sz="2800" b="1" baseline="-25000" dirty="0"/>
              <a:t> </a:t>
            </a:r>
            <a:r>
              <a:rPr lang="en-US" altLang="zh-CN" sz="2800" b="1" dirty="0" err="1"/>
              <a:t>r</a:t>
            </a:r>
            <a:r>
              <a:rPr lang="en-US" altLang="zh-CN" sz="2800" b="1" baseline="-25000" dirty="0" err="1"/>
              <a:t>i</a:t>
            </a:r>
            <a:r>
              <a:rPr lang="en-US" altLang="zh-CN" sz="2800" b="1" baseline="-25000" dirty="0"/>
              <a:t>      </a:t>
            </a:r>
            <a:r>
              <a:rPr lang="en-US" altLang="zh-CN" sz="2800" b="1" dirty="0"/>
              <a:t>       ( i = 1, 2)</a:t>
            </a:r>
            <a:endParaRPr lang="en-US" altLang="zh-CN" sz="2800" dirty="0">
              <a:solidFill>
                <a:srgbClr val="FF0000"/>
              </a:solidFill>
              <a:latin typeface="黑体" panose="02010609060101010101" pitchFamily="49" charset="-122"/>
              <a:ea typeface="黑体" panose="02010609060101010101" pitchFamily="49" charset="-122"/>
            </a:endParaRPr>
          </a:p>
        </p:txBody>
      </p:sp>
      <p:grpSp>
        <p:nvGrpSpPr>
          <p:cNvPr id="14340" name="Group 4"/>
          <p:cNvGrpSpPr>
            <a:grpSpLocks/>
          </p:cNvGrpSpPr>
          <p:nvPr/>
        </p:nvGrpSpPr>
        <p:grpSpPr bwMode="auto">
          <a:xfrm>
            <a:off x="2063759" y="1484322"/>
            <a:ext cx="8353425" cy="2740025"/>
            <a:chOff x="0" y="0"/>
            <a:chExt cx="4853" cy="1987"/>
          </a:xfrm>
        </p:grpSpPr>
        <p:sp>
          <p:nvSpPr>
            <p:cNvPr id="14341" name="Rectangle 5"/>
            <p:cNvSpPr>
              <a:spLocks noChangeArrowheads="1"/>
            </p:cNvSpPr>
            <p:nvPr/>
          </p:nvSpPr>
          <p:spPr bwMode="auto">
            <a:xfrm>
              <a:off x="771" y="363"/>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14342" name="Rectangle 6"/>
            <p:cNvSpPr>
              <a:spLocks noChangeArrowheads="1"/>
            </p:cNvSpPr>
            <p:nvPr/>
          </p:nvSpPr>
          <p:spPr bwMode="auto">
            <a:xfrm>
              <a:off x="771" y="7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14343" name="Rectangle 7"/>
            <p:cNvSpPr>
              <a:spLocks noChangeArrowheads="1"/>
            </p:cNvSpPr>
            <p:nvPr/>
          </p:nvSpPr>
          <p:spPr bwMode="auto">
            <a:xfrm>
              <a:off x="771" y="1270"/>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14344" name="Rectangle 8"/>
            <p:cNvSpPr>
              <a:spLocks noChangeArrowheads="1"/>
            </p:cNvSpPr>
            <p:nvPr/>
          </p:nvSpPr>
          <p:spPr bwMode="auto">
            <a:xfrm>
              <a:off x="771" y="16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14345" name="Oval 9"/>
            <p:cNvSpPr>
              <a:spLocks noChangeArrowheads="1"/>
            </p:cNvSpPr>
            <p:nvPr/>
          </p:nvSpPr>
          <p:spPr bwMode="auto">
            <a:xfrm>
              <a:off x="1633" y="77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4346" name="Rectangle 10"/>
            <p:cNvSpPr>
              <a:spLocks noChangeArrowheads="1"/>
            </p:cNvSpPr>
            <p:nvPr/>
          </p:nvSpPr>
          <p:spPr bwMode="auto">
            <a:xfrm>
              <a:off x="3311" y="77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4347" name="Rectangle 11"/>
            <p:cNvSpPr>
              <a:spLocks noChangeArrowheads="1"/>
            </p:cNvSpPr>
            <p:nvPr/>
          </p:nvSpPr>
          <p:spPr bwMode="auto">
            <a:xfrm>
              <a:off x="3311" y="127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4348" name="Oval 12"/>
            <p:cNvSpPr>
              <a:spLocks noChangeArrowheads="1"/>
            </p:cNvSpPr>
            <p:nvPr/>
          </p:nvSpPr>
          <p:spPr bwMode="auto">
            <a:xfrm>
              <a:off x="1633" y="127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4349" name="Oval 13"/>
            <p:cNvSpPr>
              <a:spLocks noChangeArrowheads="1"/>
            </p:cNvSpPr>
            <p:nvPr/>
          </p:nvSpPr>
          <p:spPr bwMode="auto">
            <a:xfrm>
              <a:off x="2494" y="771"/>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4350" name="Oval 14"/>
            <p:cNvSpPr>
              <a:spLocks noChangeArrowheads="1"/>
            </p:cNvSpPr>
            <p:nvPr/>
          </p:nvSpPr>
          <p:spPr bwMode="auto">
            <a:xfrm>
              <a:off x="2494" y="1270"/>
              <a:ext cx="272" cy="273"/>
            </a:xfrm>
            <a:prstGeom prst="ellipse">
              <a:avLst/>
            </a:prstGeom>
            <a:solidFill>
              <a:srgbClr val="66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4351" name="Oval 15"/>
            <p:cNvSpPr>
              <a:spLocks noChangeArrowheads="1"/>
            </p:cNvSpPr>
            <p:nvPr/>
          </p:nvSpPr>
          <p:spPr bwMode="auto">
            <a:xfrm>
              <a:off x="4037" y="99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4352" name="Text Box 16"/>
            <p:cNvSpPr txBox="1">
              <a:spLocks noChangeArrowheads="1"/>
            </p:cNvSpPr>
            <p:nvPr/>
          </p:nvSpPr>
          <p:spPr bwMode="auto">
            <a:xfrm>
              <a:off x="0" y="545"/>
              <a:ext cx="27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4353" name="Text Box 17"/>
            <p:cNvSpPr txBox="1">
              <a:spLocks noChangeArrowheads="1"/>
            </p:cNvSpPr>
            <p:nvPr/>
          </p:nvSpPr>
          <p:spPr bwMode="auto">
            <a:xfrm>
              <a:off x="0" y="1451"/>
              <a:ext cx="27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4354" name="Line 18"/>
            <p:cNvSpPr>
              <a:spLocks noChangeShapeType="1"/>
            </p:cNvSpPr>
            <p:nvPr/>
          </p:nvSpPr>
          <p:spPr bwMode="auto">
            <a:xfrm flipV="1">
              <a:off x="181" y="499"/>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5" name="Line 19"/>
            <p:cNvSpPr>
              <a:spLocks noChangeShapeType="1"/>
            </p:cNvSpPr>
            <p:nvPr/>
          </p:nvSpPr>
          <p:spPr bwMode="auto">
            <a:xfrm flipV="1">
              <a:off x="181" y="1406"/>
              <a:ext cx="59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6" name="Line 20"/>
            <p:cNvSpPr>
              <a:spLocks noChangeShapeType="1"/>
            </p:cNvSpPr>
            <p:nvPr/>
          </p:nvSpPr>
          <p:spPr bwMode="auto">
            <a:xfrm>
              <a:off x="181" y="680"/>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7" name="Line 21"/>
            <p:cNvSpPr>
              <a:spLocks noChangeShapeType="1"/>
            </p:cNvSpPr>
            <p:nvPr/>
          </p:nvSpPr>
          <p:spPr bwMode="auto">
            <a:xfrm>
              <a:off x="181" y="1587"/>
              <a:ext cx="590" cy="22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8" name="Line 22"/>
            <p:cNvSpPr>
              <a:spLocks noChangeShapeType="1"/>
            </p:cNvSpPr>
            <p:nvPr/>
          </p:nvSpPr>
          <p:spPr bwMode="auto">
            <a:xfrm>
              <a:off x="1043" y="499"/>
              <a:ext cx="590"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9" name="Line 23"/>
            <p:cNvSpPr>
              <a:spLocks noChangeShapeType="1"/>
            </p:cNvSpPr>
            <p:nvPr/>
          </p:nvSpPr>
          <p:spPr bwMode="auto">
            <a:xfrm>
              <a:off x="1043" y="952"/>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0" name="Line 24"/>
            <p:cNvSpPr>
              <a:spLocks noChangeShapeType="1"/>
            </p:cNvSpPr>
            <p:nvPr/>
          </p:nvSpPr>
          <p:spPr bwMode="auto">
            <a:xfrm flipV="1">
              <a:off x="1043" y="907"/>
              <a:ext cx="590"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1" name="Line 25"/>
            <p:cNvSpPr>
              <a:spLocks noChangeShapeType="1"/>
            </p:cNvSpPr>
            <p:nvPr/>
          </p:nvSpPr>
          <p:spPr bwMode="auto">
            <a:xfrm flipV="1">
              <a:off x="1043" y="1406"/>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2" name="Line 26"/>
            <p:cNvSpPr>
              <a:spLocks noChangeShapeType="1"/>
            </p:cNvSpPr>
            <p:nvPr/>
          </p:nvSpPr>
          <p:spPr bwMode="auto">
            <a:xfrm>
              <a:off x="1905" y="90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3" name="Line 27"/>
            <p:cNvSpPr>
              <a:spLocks noChangeShapeType="1"/>
            </p:cNvSpPr>
            <p:nvPr/>
          </p:nvSpPr>
          <p:spPr bwMode="auto">
            <a:xfrm>
              <a:off x="1905" y="140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4" name="Line 28"/>
            <p:cNvSpPr>
              <a:spLocks noChangeShapeType="1"/>
            </p:cNvSpPr>
            <p:nvPr/>
          </p:nvSpPr>
          <p:spPr bwMode="auto">
            <a:xfrm>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5" name="Line 29"/>
            <p:cNvSpPr>
              <a:spLocks noChangeShapeType="1"/>
            </p:cNvSpPr>
            <p:nvPr/>
          </p:nvSpPr>
          <p:spPr bwMode="auto">
            <a:xfrm flipV="1">
              <a:off x="1905" y="907"/>
              <a:ext cx="589" cy="49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6" name="Line 30"/>
            <p:cNvSpPr>
              <a:spLocks noChangeShapeType="1"/>
            </p:cNvSpPr>
            <p:nvPr/>
          </p:nvSpPr>
          <p:spPr bwMode="auto">
            <a:xfrm>
              <a:off x="2767" y="90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7" name="Line 31"/>
            <p:cNvSpPr>
              <a:spLocks noChangeShapeType="1"/>
            </p:cNvSpPr>
            <p:nvPr/>
          </p:nvSpPr>
          <p:spPr bwMode="auto">
            <a:xfrm>
              <a:off x="2767" y="140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8" name="Line 32"/>
            <p:cNvSpPr>
              <a:spLocks noChangeShapeType="1"/>
            </p:cNvSpPr>
            <p:nvPr/>
          </p:nvSpPr>
          <p:spPr bwMode="auto">
            <a:xfrm>
              <a:off x="3583" y="907"/>
              <a:ext cx="454"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9" name="Line 33"/>
            <p:cNvSpPr>
              <a:spLocks noChangeShapeType="1"/>
            </p:cNvSpPr>
            <p:nvPr/>
          </p:nvSpPr>
          <p:spPr bwMode="auto">
            <a:xfrm flipV="1">
              <a:off x="3583" y="1134"/>
              <a:ext cx="454" cy="27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0" name="Line 34"/>
            <p:cNvSpPr>
              <a:spLocks noChangeShapeType="1"/>
            </p:cNvSpPr>
            <p:nvPr/>
          </p:nvSpPr>
          <p:spPr bwMode="auto">
            <a:xfrm>
              <a:off x="4309" y="1134"/>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1" name="Text Box 35"/>
            <p:cNvSpPr txBox="1">
              <a:spLocks noChangeArrowheads="1"/>
            </p:cNvSpPr>
            <p:nvPr/>
          </p:nvSpPr>
          <p:spPr bwMode="auto">
            <a:xfrm>
              <a:off x="680"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1</a:t>
              </a:r>
              <a:r>
                <a:rPr lang="zh-CN" altLang="en-US" b="1">
                  <a:ea typeface="楷体_GB2312" pitchFamily="49" charset="-122"/>
                </a:rPr>
                <a:t>层</a:t>
              </a:r>
            </a:p>
          </p:txBody>
        </p:sp>
        <p:sp>
          <p:nvSpPr>
            <p:cNvPr id="14372" name="Text Box 36"/>
            <p:cNvSpPr txBox="1">
              <a:spLocks noChangeArrowheads="1"/>
            </p:cNvSpPr>
            <p:nvPr/>
          </p:nvSpPr>
          <p:spPr bwMode="auto">
            <a:xfrm>
              <a:off x="1542"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2</a:t>
              </a:r>
              <a:r>
                <a:rPr lang="zh-CN" altLang="en-US" b="1">
                  <a:ea typeface="楷体_GB2312" pitchFamily="49" charset="-122"/>
                </a:rPr>
                <a:t>层</a:t>
              </a:r>
            </a:p>
          </p:txBody>
        </p:sp>
        <p:sp>
          <p:nvSpPr>
            <p:cNvPr id="14373" name="Text Box 37"/>
            <p:cNvSpPr txBox="1">
              <a:spLocks noChangeArrowheads="1"/>
            </p:cNvSpPr>
            <p:nvPr/>
          </p:nvSpPr>
          <p:spPr bwMode="auto">
            <a:xfrm>
              <a:off x="2449"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3</a:t>
              </a:r>
              <a:r>
                <a:rPr lang="zh-CN" altLang="en-US" b="1">
                  <a:ea typeface="楷体_GB2312" pitchFamily="49" charset="-122"/>
                </a:rPr>
                <a:t>层</a:t>
              </a:r>
            </a:p>
          </p:txBody>
        </p:sp>
        <p:sp>
          <p:nvSpPr>
            <p:cNvPr id="14374" name="Text Box 38"/>
            <p:cNvSpPr txBox="1">
              <a:spLocks noChangeArrowheads="1"/>
            </p:cNvSpPr>
            <p:nvPr/>
          </p:nvSpPr>
          <p:spPr bwMode="auto">
            <a:xfrm>
              <a:off x="3175"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4</a:t>
              </a:r>
              <a:r>
                <a:rPr lang="zh-CN" altLang="en-US" b="1">
                  <a:ea typeface="楷体_GB2312" pitchFamily="49" charset="-122"/>
                </a:rPr>
                <a:t>层</a:t>
              </a:r>
            </a:p>
          </p:txBody>
        </p:sp>
        <p:sp>
          <p:nvSpPr>
            <p:cNvPr id="14375" name="Text Box 39"/>
            <p:cNvSpPr txBox="1">
              <a:spLocks noChangeArrowheads="1"/>
            </p:cNvSpPr>
            <p:nvPr/>
          </p:nvSpPr>
          <p:spPr bwMode="auto">
            <a:xfrm>
              <a:off x="3901" y="0"/>
              <a:ext cx="499"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ea typeface="楷体_GB2312" pitchFamily="49" charset="-122"/>
                </a:rPr>
                <a:t>第</a:t>
              </a:r>
              <a:r>
                <a:rPr lang="en-US" altLang="zh-CN" b="1">
                  <a:ea typeface="楷体_GB2312" pitchFamily="49" charset="-122"/>
                </a:rPr>
                <a:t>5</a:t>
              </a:r>
              <a:r>
                <a:rPr lang="zh-CN" altLang="en-US" b="1">
                  <a:ea typeface="楷体_GB2312" pitchFamily="49" charset="-122"/>
                </a:rPr>
                <a:t>层</a:t>
              </a:r>
            </a:p>
          </p:txBody>
        </p:sp>
        <p:sp>
          <p:nvSpPr>
            <p:cNvPr id="14376" name="Text Box 40"/>
            <p:cNvSpPr txBox="1">
              <a:spLocks noChangeArrowheads="1"/>
            </p:cNvSpPr>
            <p:nvPr/>
          </p:nvSpPr>
          <p:spPr bwMode="auto">
            <a:xfrm>
              <a:off x="1950" y="589"/>
              <a:ext cx="362"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1</a:t>
              </a:r>
            </a:p>
          </p:txBody>
        </p:sp>
        <p:sp>
          <p:nvSpPr>
            <p:cNvPr id="14377" name="Text Box 41"/>
            <p:cNvSpPr txBox="1">
              <a:spLocks noChangeArrowheads="1"/>
            </p:cNvSpPr>
            <p:nvPr/>
          </p:nvSpPr>
          <p:spPr bwMode="auto">
            <a:xfrm>
              <a:off x="1950" y="1451"/>
              <a:ext cx="36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W</a:t>
              </a:r>
              <a:r>
                <a:rPr lang="en-US" altLang="zh-CN" baseline="-25000"/>
                <a:t>2</a:t>
              </a:r>
            </a:p>
          </p:txBody>
        </p:sp>
        <p:sp>
          <p:nvSpPr>
            <p:cNvPr id="14378" name="Text Box 42"/>
            <p:cNvSpPr txBox="1">
              <a:spLocks noChangeArrowheads="1"/>
            </p:cNvSpPr>
            <p:nvPr/>
          </p:nvSpPr>
          <p:spPr bwMode="auto">
            <a:xfrm>
              <a:off x="2767" y="635"/>
              <a:ext cx="36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1</a:t>
              </a:r>
            </a:p>
          </p:txBody>
        </p:sp>
        <p:sp>
          <p:nvSpPr>
            <p:cNvPr id="14379" name="Text Box 43"/>
            <p:cNvSpPr txBox="1">
              <a:spLocks noChangeArrowheads="1"/>
            </p:cNvSpPr>
            <p:nvPr/>
          </p:nvSpPr>
          <p:spPr bwMode="auto">
            <a:xfrm>
              <a:off x="2767" y="1497"/>
              <a:ext cx="36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p>
          </p:txBody>
        </p:sp>
        <p:sp>
          <p:nvSpPr>
            <p:cNvPr id="14380" name="Text Box 44"/>
            <p:cNvSpPr txBox="1">
              <a:spLocks noChangeArrowheads="1"/>
            </p:cNvSpPr>
            <p:nvPr/>
          </p:nvSpPr>
          <p:spPr bwMode="auto">
            <a:xfrm>
              <a:off x="3674" y="545"/>
              <a:ext cx="544"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baseline="-25000"/>
                <a:t>1</a:t>
              </a:r>
              <a:r>
                <a:rPr lang="en-US" altLang="zh-CN"/>
                <a:t>Z</a:t>
              </a:r>
              <a:r>
                <a:rPr lang="en-US" altLang="zh-CN" baseline="-25000"/>
                <a:t>1</a:t>
              </a:r>
            </a:p>
          </p:txBody>
        </p:sp>
        <p:sp>
          <p:nvSpPr>
            <p:cNvPr id="14381" name="Text Box 45"/>
            <p:cNvSpPr txBox="1">
              <a:spLocks noChangeArrowheads="1"/>
            </p:cNvSpPr>
            <p:nvPr/>
          </p:nvSpPr>
          <p:spPr bwMode="auto">
            <a:xfrm>
              <a:off x="3674" y="1406"/>
              <a:ext cx="544"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u="sng"/>
                <a:t>W</a:t>
              </a:r>
              <a:r>
                <a:rPr lang="en-US" altLang="zh-CN" u="sng" baseline="-25000"/>
                <a:t>2</a:t>
              </a:r>
              <a:r>
                <a:rPr lang="en-US" altLang="zh-CN"/>
                <a:t>Z</a:t>
              </a:r>
              <a:r>
                <a:rPr lang="en-US" altLang="zh-CN" baseline="-25000"/>
                <a:t>2</a:t>
              </a:r>
            </a:p>
          </p:txBody>
        </p:sp>
        <p:sp>
          <p:nvSpPr>
            <p:cNvPr id="14382" name="Text Box 46"/>
            <p:cNvSpPr txBox="1">
              <a:spLocks noChangeArrowheads="1"/>
            </p:cNvSpPr>
            <p:nvPr/>
          </p:nvSpPr>
          <p:spPr bwMode="auto">
            <a:xfrm>
              <a:off x="4626" y="997"/>
              <a:ext cx="227"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14383" name="Text Box 47"/>
            <p:cNvSpPr txBox="1">
              <a:spLocks noChangeArrowheads="1"/>
            </p:cNvSpPr>
            <p:nvPr/>
          </p:nvSpPr>
          <p:spPr bwMode="auto">
            <a:xfrm>
              <a:off x="3266" y="317"/>
              <a:ext cx="453"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14384" name="Text Box 48"/>
            <p:cNvSpPr txBox="1">
              <a:spLocks noChangeArrowheads="1"/>
            </p:cNvSpPr>
            <p:nvPr/>
          </p:nvSpPr>
          <p:spPr bwMode="auto">
            <a:xfrm>
              <a:off x="3266" y="1721"/>
              <a:ext cx="408"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  y</a:t>
              </a:r>
              <a:endParaRPr lang="en-US" altLang="zh-CN" baseline="-25000"/>
            </a:p>
          </p:txBody>
        </p:sp>
        <p:sp>
          <p:nvSpPr>
            <p:cNvPr id="14385" name="Line 49"/>
            <p:cNvSpPr>
              <a:spLocks noChangeShapeType="1"/>
            </p:cNvSpPr>
            <p:nvPr/>
          </p:nvSpPr>
          <p:spPr bwMode="auto">
            <a:xfrm>
              <a:off x="3356"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6" name="Line 50"/>
            <p:cNvSpPr>
              <a:spLocks noChangeShapeType="1"/>
            </p:cNvSpPr>
            <p:nvPr/>
          </p:nvSpPr>
          <p:spPr bwMode="auto">
            <a:xfrm>
              <a:off x="3492" y="589"/>
              <a:ext cx="0" cy="18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7" name="Line 51"/>
            <p:cNvSpPr>
              <a:spLocks noChangeShapeType="1"/>
            </p:cNvSpPr>
            <p:nvPr/>
          </p:nvSpPr>
          <p:spPr bwMode="auto">
            <a:xfrm flipV="1">
              <a:off x="3356"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8" name="Line 52"/>
            <p:cNvSpPr>
              <a:spLocks noChangeShapeType="1"/>
            </p:cNvSpPr>
            <p:nvPr/>
          </p:nvSpPr>
          <p:spPr bwMode="auto">
            <a:xfrm flipV="1">
              <a:off x="3492" y="1542"/>
              <a:ext cx="0" cy="18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 name="灯片编号占位符 1">
            <a:extLst>
              <a:ext uri="{FF2B5EF4-FFF2-40B4-BE49-F238E27FC236}">
                <a16:creationId xmlns:a16="http://schemas.microsoft.com/office/drawing/2014/main" id="{87B27974-C918-DF86-F13D-B4BB46656055}"/>
              </a:ext>
            </a:extLst>
          </p:cNvPr>
          <p:cNvSpPr>
            <a:spLocks noGrp="1"/>
          </p:cNvSpPr>
          <p:nvPr>
            <p:ph type="sldNum" sz="quarter" idx="11"/>
          </p:nvPr>
        </p:nvSpPr>
        <p:spPr/>
        <p:txBody>
          <a:bodyPr/>
          <a:lstStyle/>
          <a:p>
            <a:pPr>
              <a:defRPr/>
            </a:pPr>
            <a:fld id="{B77A47BA-BA63-4780-94A9-8AFA2EA4438D}" type="slidenum">
              <a:rPr lang="en-US" altLang="zh-CN" smtClean="0"/>
              <a:pPr>
                <a:defRPr/>
              </a:pPr>
              <a:t>37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wipe(left)">
                                      <p:cBhvr>
                                        <p:cTn id="7" dur="500"/>
                                        <p:tgtEl>
                                          <p:spTgt spid="14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wipe(left)">
                                      <p:cBhvr>
                                        <p:cTn id="12" dur="500"/>
                                        <p:tgtEl>
                                          <p:spTgt spid="14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wipe(left)">
                                      <p:cBhvr>
                                        <p:cTn id="17" dur="500"/>
                                        <p:tgtEl>
                                          <p:spTgt spid="14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wipe(left)">
                                      <p:cBhvr>
                                        <p:cTn id="22" dur="500"/>
                                        <p:tgtEl>
                                          <p:spTgt spid="143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Effect transition="in" filter="wipe(left)">
                                      <p:cBhvr>
                                        <p:cTn id="27" dur="500"/>
                                        <p:tgtEl>
                                          <p:spTgt spid="14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594205" y="404664"/>
            <a:ext cx="10972800" cy="1371600"/>
          </a:xfrm>
        </p:spPr>
        <p:txBody>
          <a:bodyPr/>
          <a:lstStyle/>
          <a:p>
            <a:pPr algn="ctr" eaLnBrk="1" hangingPunct="1"/>
            <a:r>
              <a:rPr lang="en-US" altLang="zh-CN" dirty="0">
                <a:solidFill>
                  <a:srgbClr val="008000"/>
                </a:solidFill>
                <a:ea typeface="黑体" panose="02010609060101010101" pitchFamily="49" charset="-122"/>
              </a:rPr>
              <a:t>    </a:t>
            </a:r>
            <a:r>
              <a:rPr lang="zh-CN" altLang="en-US" dirty="0">
                <a:solidFill>
                  <a:srgbClr val="008000"/>
                </a:solidFill>
                <a:ea typeface="黑体" panose="02010609060101010101" pitchFamily="49" charset="-122"/>
              </a:rPr>
              <a:t>两输入且有</a:t>
            </a:r>
            <a:r>
              <a:rPr lang="en-US" altLang="zh-CN" dirty="0">
                <a:solidFill>
                  <a:srgbClr val="008000"/>
                </a:solidFill>
                <a:ea typeface="黑体" panose="02010609060101010101" pitchFamily="49" charset="-122"/>
              </a:rPr>
              <a:t>9</a:t>
            </a:r>
            <a:r>
              <a:rPr lang="zh-CN" altLang="en-US" dirty="0">
                <a:solidFill>
                  <a:srgbClr val="008000"/>
                </a:solidFill>
                <a:ea typeface="黑体" panose="02010609060101010101" pitchFamily="49" charset="-122"/>
              </a:rPr>
              <a:t>条规则的</a:t>
            </a:r>
            <a:r>
              <a:rPr lang="en-US" altLang="zh-CN" dirty="0" err="1">
                <a:solidFill>
                  <a:srgbClr val="008000"/>
                </a:solidFill>
                <a:ea typeface="黑体" panose="02010609060101010101" pitchFamily="49" charset="-122"/>
              </a:rPr>
              <a:t>Sugeno</a:t>
            </a:r>
            <a:r>
              <a:rPr lang="en-US" altLang="zh-CN" dirty="0">
                <a:solidFill>
                  <a:srgbClr val="008000"/>
                </a:solidFill>
                <a:ea typeface="黑体" panose="02010609060101010101" pitchFamily="49" charset="-122"/>
              </a:rPr>
              <a:t> </a:t>
            </a:r>
            <a:r>
              <a:rPr lang="zh-CN" altLang="en-US" dirty="0">
                <a:solidFill>
                  <a:srgbClr val="008000"/>
                </a:solidFill>
                <a:ea typeface="黑体" panose="02010609060101010101" pitchFamily="49" charset="-122"/>
              </a:rPr>
              <a:t>模糊模型的</a:t>
            </a:r>
            <a:r>
              <a:rPr lang="en-US" altLang="zh-CN" dirty="0">
                <a:solidFill>
                  <a:srgbClr val="008000"/>
                </a:solidFill>
                <a:ea typeface="黑体" panose="02010609060101010101" pitchFamily="49" charset="-122"/>
              </a:rPr>
              <a:t>ANFIS</a:t>
            </a:r>
            <a:r>
              <a:rPr lang="zh-CN" altLang="en-US" dirty="0">
                <a:solidFill>
                  <a:srgbClr val="008000"/>
                </a:solidFill>
                <a:ea typeface="黑体" panose="02010609060101010101" pitchFamily="49" charset="-122"/>
              </a:rPr>
              <a:t>结构</a:t>
            </a:r>
          </a:p>
        </p:txBody>
      </p:sp>
      <p:grpSp>
        <p:nvGrpSpPr>
          <p:cNvPr id="15363" name="Group 3"/>
          <p:cNvGrpSpPr>
            <a:grpSpLocks/>
          </p:cNvGrpSpPr>
          <p:nvPr/>
        </p:nvGrpSpPr>
        <p:grpSpPr bwMode="auto">
          <a:xfrm>
            <a:off x="1847850" y="1557338"/>
            <a:ext cx="7632700" cy="5266267"/>
            <a:chOff x="0" y="0"/>
            <a:chExt cx="4808" cy="3732"/>
          </a:xfrm>
        </p:grpSpPr>
        <p:sp>
          <p:nvSpPr>
            <p:cNvPr id="15364" name="Rectangle 5"/>
            <p:cNvSpPr>
              <a:spLocks noChangeArrowheads="1"/>
            </p:cNvSpPr>
            <p:nvPr/>
          </p:nvSpPr>
          <p:spPr bwMode="auto">
            <a:xfrm>
              <a:off x="771" y="1271"/>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2</a:t>
              </a:r>
              <a:endParaRPr lang="en-US" altLang="zh-CN"/>
            </a:p>
          </p:txBody>
        </p:sp>
        <p:sp>
          <p:nvSpPr>
            <p:cNvPr id="15365" name="Rectangle 6"/>
            <p:cNvSpPr>
              <a:spLocks noChangeArrowheads="1"/>
            </p:cNvSpPr>
            <p:nvPr/>
          </p:nvSpPr>
          <p:spPr bwMode="auto">
            <a:xfrm>
              <a:off x="771" y="1679"/>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3</a:t>
              </a:r>
              <a:endParaRPr lang="en-US" altLang="zh-CN"/>
            </a:p>
          </p:txBody>
        </p:sp>
        <p:sp>
          <p:nvSpPr>
            <p:cNvPr id="15366" name="Rectangle 7"/>
            <p:cNvSpPr>
              <a:spLocks noChangeArrowheads="1"/>
            </p:cNvSpPr>
            <p:nvPr/>
          </p:nvSpPr>
          <p:spPr bwMode="auto">
            <a:xfrm>
              <a:off x="771" y="2178"/>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1</a:t>
              </a:r>
              <a:endParaRPr lang="en-US" altLang="zh-CN"/>
            </a:p>
          </p:txBody>
        </p:sp>
        <p:sp>
          <p:nvSpPr>
            <p:cNvPr id="15367" name="Rectangle 8"/>
            <p:cNvSpPr>
              <a:spLocks noChangeArrowheads="1"/>
            </p:cNvSpPr>
            <p:nvPr/>
          </p:nvSpPr>
          <p:spPr bwMode="auto">
            <a:xfrm>
              <a:off x="771" y="2586"/>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2</a:t>
              </a:r>
              <a:endParaRPr lang="en-US" altLang="zh-CN"/>
            </a:p>
          </p:txBody>
        </p:sp>
        <p:sp>
          <p:nvSpPr>
            <p:cNvPr id="15368" name="Oval 9"/>
            <p:cNvSpPr>
              <a:spLocks noChangeArrowheads="1"/>
            </p:cNvSpPr>
            <p:nvPr/>
          </p:nvSpPr>
          <p:spPr bwMode="auto">
            <a:xfrm>
              <a:off x="1588" y="2268"/>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Times New Roman" panose="02020603050405020304" pitchFamily="18" charset="0"/>
                  <a:cs typeface="Times New Roman" panose="02020603050405020304" pitchFamily="18" charset="0"/>
                </a:rPr>
                <a:t>∏</a:t>
              </a:r>
            </a:p>
          </p:txBody>
        </p:sp>
        <p:sp>
          <p:nvSpPr>
            <p:cNvPr id="15369" name="Rectangle 10"/>
            <p:cNvSpPr>
              <a:spLocks noChangeArrowheads="1"/>
            </p:cNvSpPr>
            <p:nvPr/>
          </p:nvSpPr>
          <p:spPr bwMode="auto">
            <a:xfrm>
              <a:off x="3266" y="1906"/>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5</a:t>
              </a:r>
            </a:p>
          </p:txBody>
        </p:sp>
        <p:sp>
          <p:nvSpPr>
            <p:cNvPr id="15370" name="Rectangle 11"/>
            <p:cNvSpPr>
              <a:spLocks noChangeArrowheads="1"/>
            </p:cNvSpPr>
            <p:nvPr/>
          </p:nvSpPr>
          <p:spPr bwMode="auto">
            <a:xfrm>
              <a:off x="3266" y="2631"/>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7</a:t>
              </a:r>
            </a:p>
          </p:txBody>
        </p:sp>
        <p:sp>
          <p:nvSpPr>
            <p:cNvPr id="15371" name="Oval 12"/>
            <p:cNvSpPr>
              <a:spLocks noChangeArrowheads="1"/>
            </p:cNvSpPr>
            <p:nvPr/>
          </p:nvSpPr>
          <p:spPr bwMode="auto">
            <a:xfrm>
              <a:off x="1588" y="263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Times New Roman" panose="02020603050405020304" pitchFamily="18" charset="0"/>
                  <a:cs typeface="Times New Roman" panose="02020603050405020304" pitchFamily="18" charset="0"/>
                </a:rPr>
                <a:t>∏</a:t>
              </a:r>
            </a:p>
          </p:txBody>
        </p:sp>
        <p:sp>
          <p:nvSpPr>
            <p:cNvPr id="15372" name="Oval 13"/>
            <p:cNvSpPr>
              <a:spLocks noChangeArrowheads="1"/>
            </p:cNvSpPr>
            <p:nvPr/>
          </p:nvSpPr>
          <p:spPr bwMode="auto">
            <a:xfrm>
              <a:off x="3992" y="1951"/>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5373" name="Text Box 14"/>
            <p:cNvSpPr txBox="1">
              <a:spLocks noChangeArrowheads="1"/>
            </p:cNvSpPr>
            <p:nvPr/>
          </p:nvSpPr>
          <p:spPr bwMode="auto">
            <a:xfrm>
              <a:off x="45" y="1271"/>
              <a:ext cx="272"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5374" name="Text Box 15"/>
            <p:cNvSpPr txBox="1">
              <a:spLocks noChangeArrowheads="1"/>
            </p:cNvSpPr>
            <p:nvPr/>
          </p:nvSpPr>
          <p:spPr bwMode="auto">
            <a:xfrm>
              <a:off x="0" y="2631"/>
              <a:ext cx="272"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5375" name="Line 16"/>
            <p:cNvSpPr>
              <a:spLocks noChangeShapeType="1"/>
            </p:cNvSpPr>
            <p:nvPr/>
          </p:nvSpPr>
          <p:spPr bwMode="auto">
            <a:xfrm flipV="1">
              <a:off x="181" y="1407"/>
              <a:ext cx="590"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6" name="Line 17"/>
            <p:cNvSpPr>
              <a:spLocks noChangeShapeType="1"/>
            </p:cNvSpPr>
            <p:nvPr/>
          </p:nvSpPr>
          <p:spPr bwMode="auto">
            <a:xfrm flipV="1">
              <a:off x="136" y="2314"/>
              <a:ext cx="635"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7" name="Line 18"/>
            <p:cNvSpPr>
              <a:spLocks noChangeShapeType="1"/>
            </p:cNvSpPr>
            <p:nvPr/>
          </p:nvSpPr>
          <p:spPr bwMode="auto">
            <a:xfrm>
              <a:off x="181" y="1407"/>
              <a:ext cx="590"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8" name="Line 19"/>
            <p:cNvSpPr>
              <a:spLocks noChangeShapeType="1"/>
            </p:cNvSpPr>
            <p:nvPr/>
          </p:nvSpPr>
          <p:spPr bwMode="auto">
            <a:xfrm>
              <a:off x="136" y="2722"/>
              <a:ext cx="635"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9" name="Line 20"/>
            <p:cNvSpPr>
              <a:spLocks noChangeShapeType="1"/>
            </p:cNvSpPr>
            <p:nvPr/>
          </p:nvSpPr>
          <p:spPr bwMode="auto">
            <a:xfrm>
              <a:off x="1860" y="953"/>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0" name="Line 21"/>
            <p:cNvSpPr>
              <a:spLocks noChangeShapeType="1"/>
            </p:cNvSpPr>
            <p:nvPr/>
          </p:nvSpPr>
          <p:spPr bwMode="auto">
            <a:xfrm>
              <a:off x="1860" y="2767"/>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1" name="Line 22"/>
            <p:cNvSpPr>
              <a:spLocks noChangeShapeType="1"/>
            </p:cNvSpPr>
            <p:nvPr/>
          </p:nvSpPr>
          <p:spPr bwMode="auto">
            <a:xfrm>
              <a:off x="1860" y="635"/>
              <a:ext cx="544" cy="31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2" name="Line 23"/>
            <p:cNvSpPr>
              <a:spLocks noChangeShapeType="1"/>
            </p:cNvSpPr>
            <p:nvPr/>
          </p:nvSpPr>
          <p:spPr bwMode="auto">
            <a:xfrm flipV="1">
              <a:off x="1860" y="590"/>
              <a:ext cx="589"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3" name="Line 24"/>
            <p:cNvSpPr>
              <a:spLocks noChangeShapeType="1"/>
            </p:cNvSpPr>
            <p:nvPr/>
          </p:nvSpPr>
          <p:spPr bwMode="auto">
            <a:xfrm>
              <a:off x="2722" y="208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4" name="Line 25"/>
            <p:cNvSpPr>
              <a:spLocks noChangeShapeType="1"/>
            </p:cNvSpPr>
            <p:nvPr/>
          </p:nvSpPr>
          <p:spPr bwMode="auto">
            <a:xfrm>
              <a:off x="2722" y="953"/>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5" name="Line 26"/>
            <p:cNvSpPr>
              <a:spLocks noChangeShapeType="1"/>
            </p:cNvSpPr>
            <p:nvPr/>
          </p:nvSpPr>
          <p:spPr bwMode="auto">
            <a:xfrm>
              <a:off x="3538" y="2087"/>
              <a:ext cx="45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6" name="Line 27"/>
            <p:cNvSpPr>
              <a:spLocks noChangeShapeType="1"/>
            </p:cNvSpPr>
            <p:nvPr/>
          </p:nvSpPr>
          <p:spPr bwMode="auto">
            <a:xfrm flipV="1">
              <a:off x="3538" y="2132"/>
              <a:ext cx="454" cy="31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7" name="Line 28"/>
            <p:cNvSpPr>
              <a:spLocks noChangeShapeType="1"/>
            </p:cNvSpPr>
            <p:nvPr/>
          </p:nvSpPr>
          <p:spPr bwMode="auto">
            <a:xfrm>
              <a:off x="4264" y="2087"/>
              <a:ext cx="317"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8" name="Text Box 29"/>
            <p:cNvSpPr txBox="1">
              <a:spLocks noChangeArrowheads="1"/>
            </p:cNvSpPr>
            <p:nvPr/>
          </p:nvSpPr>
          <p:spPr bwMode="auto">
            <a:xfrm>
              <a:off x="454" y="3448"/>
              <a:ext cx="771"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ea typeface="楷体_GB2312" pitchFamily="49" charset="-122"/>
                </a:rPr>
                <a:t>前件参数</a:t>
              </a:r>
              <a:endParaRPr lang="zh-CN" altLang="en-US" sz="2000" b="1" baseline="-25000" dirty="0">
                <a:ea typeface="楷体_GB2312" pitchFamily="49" charset="-122"/>
              </a:endParaRPr>
            </a:p>
          </p:txBody>
        </p:sp>
        <p:sp>
          <p:nvSpPr>
            <p:cNvPr id="15389" name="Text Box 30"/>
            <p:cNvSpPr txBox="1">
              <a:spLocks noChangeArrowheads="1"/>
            </p:cNvSpPr>
            <p:nvPr/>
          </p:nvSpPr>
          <p:spPr bwMode="auto">
            <a:xfrm>
              <a:off x="3130" y="0"/>
              <a:ext cx="544"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  x  y</a:t>
              </a:r>
              <a:endParaRPr lang="en-US" altLang="zh-CN" baseline="-25000"/>
            </a:p>
          </p:txBody>
        </p:sp>
        <p:sp>
          <p:nvSpPr>
            <p:cNvPr id="15390" name="Text Box 31"/>
            <p:cNvSpPr txBox="1">
              <a:spLocks noChangeArrowheads="1"/>
            </p:cNvSpPr>
            <p:nvPr/>
          </p:nvSpPr>
          <p:spPr bwMode="auto">
            <a:xfrm>
              <a:off x="4581" y="1951"/>
              <a:ext cx="227"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Z</a:t>
              </a:r>
              <a:endParaRPr lang="en-US" altLang="zh-CN" baseline="-25000"/>
            </a:p>
          </p:txBody>
        </p:sp>
        <p:sp>
          <p:nvSpPr>
            <p:cNvPr id="15391" name="Rectangle 32"/>
            <p:cNvSpPr>
              <a:spLocks noChangeArrowheads="1"/>
            </p:cNvSpPr>
            <p:nvPr/>
          </p:nvSpPr>
          <p:spPr bwMode="auto">
            <a:xfrm>
              <a:off x="771" y="862"/>
              <a:ext cx="272" cy="272"/>
            </a:xfrm>
            <a:prstGeom prst="rect">
              <a:avLst/>
            </a:prstGeom>
            <a:solidFill>
              <a:srgbClr val="33CC33"/>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A</a:t>
              </a:r>
              <a:r>
                <a:rPr lang="en-US" altLang="zh-CN" baseline="-25000"/>
                <a:t>1</a:t>
              </a:r>
              <a:endParaRPr lang="en-US" altLang="zh-CN"/>
            </a:p>
          </p:txBody>
        </p:sp>
        <p:sp>
          <p:nvSpPr>
            <p:cNvPr id="15392" name="Line 33"/>
            <p:cNvSpPr>
              <a:spLocks noChangeShapeType="1"/>
            </p:cNvSpPr>
            <p:nvPr/>
          </p:nvSpPr>
          <p:spPr bwMode="auto">
            <a:xfrm flipV="1">
              <a:off x="181" y="998"/>
              <a:ext cx="590" cy="40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3" name="Rectangle 34"/>
            <p:cNvSpPr>
              <a:spLocks noChangeArrowheads="1"/>
            </p:cNvSpPr>
            <p:nvPr/>
          </p:nvSpPr>
          <p:spPr bwMode="auto">
            <a:xfrm>
              <a:off x="771" y="2994"/>
              <a:ext cx="272" cy="272"/>
            </a:xfrm>
            <a:prstGeom prst="rect">
              <a:avLst/>
            </a:prstGeom>
            <a:solidFill>
              <a:srgbClr val="FBF35B"/>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B</a:t>
              </a:r>
              <a:r>
                <a:rPr lang="en-US" altLang="zh-CN" baseline="-25000"/>
                <a:t>3</a:t>
              </a:r>
              <a:endParaRPr lang="en-US" altLang="zh-CN"/>
            </a:p>
          </p:txBody>
        </p:sp>
        <p:sp>
          <p:nvSpPr>
            <p:cNvPr id="15394" name="Line 35"/>
            <p:cNvSpPr>
              <a:spLocks noChangeShapeType="1"/>
            </p:cNvSpPr>
            <p:nvPr/>
          </p:nvSpPr>
          <p:spPr bwMode="auto">
            <a:xfrm>
              <a:off x="136" y="2722"/>
              <a:ext cx="635"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5" name="Oval 36"/>
            <p:cNvSpPr>
              <a:spLocks noChangeArrowheads="1"/>
            </p:cNvSpPr>
            <p:nvPr/>
          </p:nvSpPr>
          <p:spPr bwMode="auto">
            <a:xfrm>
              <a:off x="1588" y="1543"/>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Times New Roman" panose="02020603050405020304" pitchFamily="18" charset="0"/>
                  <a:cs typeface="Times New Roman" panose="02020603050405020304" pitchFamily="18" charset="0"/>
                </a:rPr>
                <a:t>∏</a:t>
              </a:r>
            </a:p>
          </p:txBody>
        </p:sp>
        <p:sp>
          <p:nvSpPr>
            <p:cNvPr id="15396" name="Oval 37"/>
            <p:cNvSpPr>
              <a:spLocks noChangeArrowheads="1"/>
            </p:cNvSpPr>
            <p:nvPr/>
          </p:nvSpPr>
          <p:spPr bwMode="auto">
            <a:xfrm>
              <a:off x="1588" y="1906"/>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Times New Roman" panose="02020603050405020304" pitchFamily="18" charset="0"/>
                  <a:cs typeface="Times New Roman" panose="02020603050405020304" pitchFamily="18" charset="0"/>
                </a:rPr>
                <a:t>∏</a:t>
              </a:r>
            </a:p>
          </p:txBody>
        </p:sp>
        <p:sp>
          <p:nvSpPr>
            <p:cNvPr id="15397" name="Oval 38"/>
            <p:cNvSpPr>
              <a:spLocks noChangeArrowheads="1"/>
            </p:cNvSpPr>
            <p:nvPr/>
          </p:nvSpPr>
          <p:spPr bwMode="auto">
            <a:xfrm>
              <a:off x="1588" y="2994"/>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Times New Roman" panose="02020603050405020304" pitchFamily="18" charset="0"/>
                  <a:cs typeface="Times New Roman" panose="02020603050405020304" pitchFamily="18" charset="0"/>
                </a:rPr>
                <a:t>∏</a:t>
              </a:r>
            </a:p>
          </p:txBody>
        </p:sp>
        <p:sp>
          <p:nvSpPr>
            <p:cNvPr id="15398" name="Oval 39"/>
            <p:cNvSpPr>
              <a:spLocks noChangeArrowheads="1"/>
            </p:cNvSpPr>
            <p:nvPr/>
          </p:nvSpPr>
          <p:spPr bwMode="auto">
            <a:xfrm>
              <a:off x="1588" y="3357"/>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latin typeface="Times New Roman" panose="02020603050405020304" pitchFamily="18" charset="0"/>
                  <a:cs typeface="Times New Roman" panose="02020603050405020304" pitchFamily="18" charset="0"/>
                </a:rPr>
                <a:t>∏</a:t>
              </a:r>
            </a:p>
          </p:txBody>
        </p:sp>
        <p:sp>
          <p:nvSpPr>
            <p:cNvPr id="15399" name="Oval 40"/>
            <p:cNvSpPr>
              <a:spLocks noChangeArrowheads="1"/>
            </p:cNvSpPr>
            <p:nvPr/>
          </p:nvSpPr>
          <p:spPr bwMode="auto">
            <a:xfrm>
              <a:off x="1588" y="817"/>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5400" name="Oval 41"/>
            <p:cNvSpPr>
              <a:spLocks noChangeArrowheads="1"/>
            </p:cNvSpPr>
            <p:nvPr/>
          </p:nvSpPr>
          <p:spPr bwMode="auto">
            <a:xfrm>
              <a:off x="1588" y="1180"/>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5401" name="Line 42"/>
            <p:cNvSpPr>
              <a:spLocks noChangeShapeType="1"/>
            </p:cNvSpPr>
            <p:nvPr/>
          </p:nvSpPr>
          <p:spPr bwMode="auto">
            <a:xfrm flipV="1">
              <a:off x="1043" y="590"/>
              <a:ext cx="545"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2" name="Line 43"/>
            <p:cNvSpPr>
              <a:spLocks noChangeShapeType="1"/>
            </p:cNvSpPr>
            <p:nvPr/>
          </p:nvSpPr>
          <p:spPr bwMode="auto">
            <a:xfrm>
              <a:off x="1043" y="998"/>
              <a:ext cx="545" cy="31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3" name="Line 44"/>
            <p:cNvSpPr>
              <a:spLocks noChangeShapeType="1"/>
            </p:cNvSpPr>
            <p:nvPr/>
          </p:nvSpPr>
          <p:spPr bwMode="auto">
            <a:xfrm flipV="1">
              <a:off x="1043" y="953"/>
              <a:ext cx="545" cy="45"/>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4" name="Line 45"/>
            <p:cNvSpPr>
              <a:spLocks noChangeShapeType="1"/>
            </p:cNvSpPr>
            <p:nvPr/>
          </p:nvSpPr>
          <p:spPr bwMode="auto">
            <a:xfrm flipV="1">
              <a:off x="1043" y="635"/>
              <a:ext cx="545" cy="1679"/>
            </a:xfrm>
            <a:prstGeom prst="line">
              <a:avLst/>
            </a:prstGeom>
            <a:noFill/>
            <a:ln w="9525" cmpd="sng">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5" name="Oval 46"/>
            <p:cNvSpPr>
              <a:spLocks noChangeArrowheads="1"/>
            </p:cNvSpPr>
            <p:nvPr/>
          </p:nvSpPr>
          <p:spPr bwMode="auto">
            <a:xfrm>
              <a:off x="1588" y="454"/>
              <a:ext cx="272" cy="273"/>
            </a:xfrm>
            <a:prstGeom prst="ellipse">
              <a:avLst/>
            </a:prstGeom>
            <a:solidFill>
              <a:srgbClr val="FF6600"/>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b="1" dirty="0">
                  <a:latin typeface="Times New Roman" panose="02020603050405020304" pitchFamily="18" charset="0"/>
                  <a:cs typeface="Times New Roman" panose="02020603050405020304" pitchFamily="18" charset="0"/>
                </a:rPr>
                <a:t>∏</a:t>
              </a:r>
            </a:p>
          </p:txBody>
        </p:sp>
        <p:sp>
          <p:nvSpPr>
            <p:cNvPr id="15406" name="Line 47"/>
            <p:cNvSpPr>
              <a:spLocks noChangeShapeType="1"/>
            </p:cNvSpPr>
            <p:nvPr/>
          </p:nvSpPr>
          <p:spPr bwMode="auto">
            <a:xfrm>
              <a:off x="1043" y="1407"/>
              <a:ext cx="545" cy="226"/>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7" name="Line 48"/>
            <p:cNvSpPr>
              <a:spLocks noChangeShapeType="1"/>
            </p:cNvSpPr>
            <p:nvPr/>
          </p:nvSpPr>
          <p:spPr bwMode="auto">
            <a:xfrm>
              <a:off x="1043" y="1407"/>
              <a:ext cx="545" cy="635"/>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8" name="Line 49"/>
            <p:cNvSpPr>
              <a:spLocks noChangeShapeType="1"/>
            </p:cNvSpPr>
            <p:nvPr/>
          </p:nvSpPr>
          <p:spPr bwMode="auto">
            <a:xfrm>
              <a:off x="1043" y="1407"/>
              <a:ext cx="545" cy="95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9" name="Line 50"/>
            <p:cNvSpPr>
              <a:spLocks noChangeShapeType="1"/>
            </p:cNvSpPr>
            <p:nvPr/>
          </p:nvSpPr>
          <p:spPr bwMode="auto">
            <a:xfrm>
              <a:off x="1043" y="1815"/>
              <a:ext cx="545" cy="90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0" name="Line 51"/>
            <p:cNvSpPr>
              <a:spLocks noChangeShapeType="1"/>
            </p:cNvSpPr>
            <p:nvPr/>
          </p:nvSpPr>
          <p:spPr bwMode="auto">
            <a:xfrm>
              <a:off x="1043" y="1815"/>
              <a:ext cx="545" cy="1315"/>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1" name="Line 52"/>
            <p:cNvSpPr>
              <a:spLocks noChangeShapeType="1"/>
            </p:cNvSpPr>
            <p:nvPr/>
          </p:nvSpPr>
          <p:spPr bwMode="auto">
            <a:xfrm>
              <a:off x="1043" y="1815"/>
              <a:ext cx="545" cy="163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2" name="Line 53"/>
            <p:cNvSpPr>
              <a:spLocks noChangeShapeType="1"/>
            </p:cNvSpPr>
            <p:nvPr/>
          </p:nvSpPr>
          <p:spPr bwMode="auto">
            <a:xfrm flipV="1">
              <a:off x="1043" y="1679"/>
              <a:ext cx="545" cy="635"/>
            </a:xfrm>
            <a:prstGeom prst="line">
              <a:avLst/>
            </a:prstGeom>
            <a:noFill/>
            <a:ln w="9525" cmpd="sng">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3" name="Line 54"/>
            <p:cNvSpPr>
              <a:spLocks noChangeShapeType="1"/>
            </p:cNvSpPr>
            <p:nvPr/>
          </p:nvSpPr>
          <p:spPr bwMode="auto">
            <a:xfrm>
              <a:off x="1043" y="2314"/>
              <a:ext cx="545" cy="45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4" name="Line 55"/>
            <p:cNvSpPr>
              <a:spLocks noChangeShapeType="1"/>
            </p:cNvSpPr>
            <p:nvPr/>
          </p:nvSpPr>
          <p:spPr bwMode="auto">
            <a:xfrm flipV="1">
              <a:off x="1043" y="998"/>
              <a:ext cx="545" cy="1724"/>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5" name="Line 56"/>
            <p:cNvSpPr>
              <a:spLocks noChangeShapeType="1"/>
            </p:cNvSpPr>
            <p:nvPr/>
          </p:nvSpPr>
          <p:spPr bwMode="auto">
            <a:xfrm flipV="1">
              <a:off x="1043" y="2087"/>
              <a:ext cx="545" cy="635"/>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6" name="Line 57"/>
            <p:cNvSpPr>
              <a:spLocks noChangeShapeType="1"/>
            </p:cNvSpPr>
            <p:nvPr/>
          </p:nvSpPr>
          <p:spPr bwMode="auto">
            <a:xfrm>
              <a:off x="1043" y="2722"/>
              <a:ext cx="545" cy="408"/>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7" name="Line 58"/>
            <p:cNvSpPr>
              <a:spLocks noChangeShapeType="1"/>
            </p:cNvSpPr>
            <p:nvPr/>
          </p:nvSpPr>
          <p:spPr bwMode="auto">
            <a:xfrm flipV="1">
              <a:off x="1043" y="1361"/>
              <a:ext cx="545" cy="176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8" name="Line 59"/>
            <p:cNvSpPr>
              <a:spLocks noChangeShapeType="1"/>
            </p:cNvSpPr>
            <p:nvPr/>
          </p:nvSpPr>
          <p:spPr bwMode="auto">
            <a:xfrm flipV="1">
              <a:off x="1043" y="2404"/>
              <a:ext cx="545" cy="726"/>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19" name="Line 60"/>
            <p:cNvSpPr>
              <a:spLocks noChangeShapeType="1"/>
            </p:cNvSpPr>
            <p:nvPr/>
          </p:nvSpPr>
          <p:spPr bwMode="auto">
            <a:xfrm>
              <a:off x="1043" y="3130"/>
              <a:ext cx="545"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20" name="Oval 61"/>
            <p:cNvSpPr>
              <a:spLocks noChangeArrowheads="1"/>
            </p:cNvSpPr>
            <p:nvPr/>
          </p:nvSpPr>
          <p:spPr bwMode="auto">
            <a:xfrm>
              <a:off x="2449" y="2268"/>
              <a:ext cx="272" cy="273"/>
            </a:xfrm>
            <a:prstGeom prst="ellipse">
              <a:avLst/>
            </a:prstGeom>
            <a:solidFill>
              <a:srgbClr val="99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5421" name="Oval 62"/>
            <p:cNvSpPr>
              <a:spLocks noChangeArrowheads="1"/>
            </p:cNvSpPr>
            <p:nvPr/>
          </p:nvSpPr>
          <p:spPr bwMode="auto">
            <a:xfrm>
              <a:off x="2449" y="2631"/>
              <a:ext cx="272" cy="273"/>
            </a:xfrm>
            <a:prstGeom prst="ellipse">
              <a:avLst/>
            </a:prstGeom>
            <a:solidFill>
              <a:srgbClr val="99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5422" name="Oval 63"/>
            <p:cNvSpPr>
              <a:spLocks noChangeArrowheads="1"/>
            </p:cNvSpPr>
            <p:nvPr/>
          </p:nvSpPr>
          <p:spPr bwMode="auto">
            <a:xfrm>
              <a:off x="2449" y="1543"/>
              <a:ext cx="272" cy="273"/>
            </a:xfrm>
            <a:prstGeom prst="ellipse">
              <a:avLst/>
            </a:prstGeom>
            <a:solidFill>
              <a:srgbClr val="99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5423" name="Oval 64"/>
            <p:cNvSpPr>
              <a:spLocks noChangeArrowheads="1"/>
            </p:cNvSpPr>
            <p:nvPr/>
          </p:nvSpPr>
          <p:spPr bwMode="auto">
            <a:xfrm>
              <a:off x="2449" y="1906"/>
              <a:ext cx="272" cy="273"/>
            </a:xfrm>
            <a:prstGeom prst="ellipse">
              <a:avLst/>
            </a:prstGeom>
            <a:solidFill>
              <a:srgbClr val="99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5424" name="Oval 65"/>
            <p:cNvSpPr>
              <a:spLocks noChangeArrowheads="1"/>
            </p:cNvSpPr>
            <p:nvPr/>
          </p:nvSpPr>
          <p:spPr bwMode="auto">
            <a:xfrm>
              <a:off x="2449" y="2994"/>
              <a:ext cx="272" cy="273"/>
            </a:xfrm>
            <a:prstGeom prst="ellipse">
              <a:avLst/>
            </a:prstGeom>
            <a:solidFill>
              <a:srgbClr val="99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5425" name="Oval 66"/>
            <p:cNvSpPr>
              <a:spLocks noChangeArrowheads="1"/>
            </p:cNvSpPr>
            <p:nvPr/>
          </p:nvSpPr>
          <p:spPr bwMode="auto">
            <a:xfrm>
              <a:off x="2449" y="3357"/>
              <a:ext cx="272" cy="273"/>
            </a:xfrm>
            <a:prstGeom prst="ellipse">
              <a:avLst/>
            </a:prstGeom>
            <a:solidFill>
              <a:srgbClr val="99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5426" name="Oval 67"/>
            <p:cNvSpPr>
              <a:spLocks noChangeArrowheads="1"/>
            </p:cNvSpPr>
            <p:nvPr/>
          </p:nvSpPr>
          <p:spPr bwMode="auto">
            <a:xfrm>
              <a:off x="2449" y="817"/>
              <a:ext cx="272" cy="273"/>
            </a:xfrm>
            <a:prstGeom prst="ellipse">
              <a:avLst/>
            </a:prstGeom>
            <a:solidFill>
              <a:srgbClr val="99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5427" name="Oval 68"/>
            <p:cNvSpPr>
              <a:spLocks noChangeArrowheads="1"/>
            </p:cNvSpPr>
            <p:nvPr/>
          </p:nvSpPr>
          <p:spPr bwMode="auto">
            <a:xfrm>
              <a:off x="2449" y="1180"/>
              <a:ext cx="272" cy="273"/>
            </a:xfrm>
            <a:prstGeom prst="ellipse">
              <a:avLst/>
            </a:prstGeom>
            <a:solidFill>
              <a:srgbClr val="99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5428" name="Oval 69"/>
            <p:cNvSpPr>
              <a:spLocks noChangeArrowheads="1"/>
            </p:cNvSpPr>
            <p:nvPr/>
          </p:nvSpPr>
          <p:spPr bwMode="auto">
            <a:xfrm>
              <a:off x="2449" y="454"/>
              <a:ext cx="272" cy="273"/>
            </a:xfrm>
            <a:prstGeom prst="ellipse">
              <a:avLst/>
            </a:prstGeom>
            <a:solidFill>
              <a:srgbClr val="9900FF"/>
            </a:solidFill>
            <a:ln w="952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t>N</a:t>
              </a:r>
            </a:p>
          </p:txBody>
        </p:sp>
        <p:sp>
          <p:nvSpPr>
            <p:cNvPr id="15429" name="Line 70"/>
            <p:cNvSpPr>
              <a:spLocks noChangeShapeType="1"/>
            </p:cNvSpPr>
            <p:nvPr/>
          </p:nvSpPr>
          <p:spPr bwMode="auto">
            <a:xfrm>
              <a:off x="1860" y="1316"/>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0" name="Line 71"/>
            <p:cNvSpPr>
              <a:spLocks noChangeShapeType="1"/>
            </p:cNvSpPr>
            <p:nvPr/>
          </p:nvSpPr>
          <p:spPr bwMode="auto">
            <a:xfrm>
              <a:off x="1860" y="590"/>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1" name="Line 72"/>
            <p:cNvSpPr>
              <a:spLocks noChangeShapeType="1"/>
            </p:cNvSpPr>
            <p:nvPr/>
          </p:nvSpPr>
          <p:spPr bwMode="auto">
            <a:xfrm>
              <a:off x="1860" y="3130"/>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2" name="Line 73"/>
            <p:cNvSpPr>
              <a:spLocks noChangeShapeType="1"/>
            </p:cNvSpPr>
            <p:nvPr/>
          </p:nvSpPr>
          <p:spPr bwMode="auto">
            <a:xfrm>
              <a:off x="1860" y="3493"/>
              <a:ext cx="589"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3" name="Line 74"/>
            <p:cNvSpPr>
              <a:spLocks noChangeShapeType="1"/>
            </p:cNvSpPr>
            <p:nvPr/>
          </p:nvSpPr>
          <p:spPr bwMode="auto">
            <a:xfrm>
              <a:off x="1860" y="590"/>
              <a:ext cx="589" cy="726"/>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4" name="Line 75"/>
            <p:cNvSpPr>
              <a:spLocks noChangeShapeType="1"/>
            </p:cNvSpPr>
            <p:nvPr/>
          </p:nvSpPr>
          <p:spPr bwMode="auto">
            <a:xfrm flipH="1">
              <a:off x="1860" y="590"/>
              <a:ext cx="544" cy="726"/>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5" name="Line 76"/>
            <p:cNvSpPr>
              <a:spLocks noChangeShapeType="1"/>
            </p:cNvSpPr>
            <p:nvPr/>
          </p:nvSpPr>
          <p:spPr bwMode="auto">
            <a:xfrm>
              <a:off x="1860" y="545"/>
              <a:ext cx="589" cy="1134"/>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6" name="Line 77"/>
            <p:cNvSpPr>
              <a:spLocks noChangeShapeType="1"/>
            </p:cNvSpPr>
            <p:nvPr/>
          </p:nvSpPr>
          <p:spPr bwMode="auto">
            <a:xfrm>
              <a:off x="1860" y="545"/>
              <a:ext cx="589" cy="1497"/>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7" name="Line 78"/>
            <p:cNvSpPr>
              <a:spLocks noChangeShapeType="1"/>
            </p:cNvSpPr>
            <p:nvPr/>
          </p:nvSpPr>
          <p:spPr bwMode="auto">
            <a:xfrm flipV="1">
              <a:off x="1860" y="3130"/>
              <a:ext cx="544"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8" name="Line 79"/>
            <p:cNvSpPr>
              <a:spLocks noChangeShapeType="1"/>
            </p:cNvSpPr>
            <p:nvPr/>
          </p:nvSpPr>
          <p:spPr bwMode="auto">
            <a:xfrm flipV="1">
              <a:off x="1860" y="2767"/>
              <a:ext cx="589" cy="726"/>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39" name="Line 80"/>
            <p:cNvSpPr>
              <a:spLocks noChangeShapeType="1"/>
            </p:cNvSpPr>
            <p:nvPr/>
          </p:nvSpPr>
          <p:spPr bwMode="auto">
            <a:xfrm flipV="1">
              <a:off x="1860" y="2404"/>
              <a:ext cx="589" cy="108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40" name="Line 81"/>
            <p:cNvSpPr>
              <a:spLocks noChangeShapeType="1"/>
            </p:cNvSpPr>
            <p:nvPr/>
          </p:nvSpPr>
          <p:spPr bwMode="auto">
            <a:xfrm flipH="1" flipV="1">
              <a:off x="1860" y="3130"/>
              <a:ext cx="589"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41" name="Line 82"/>
            <p:cNvSpPr>
              <a:spLocks noChangeShapeType="1"/>
            </p:cNvSpPr>
            <p:nvPr/>
          </p:nvSpPr>
          <p:spPr bwMode="auto">
            <a:xfrm flipH="1" flipV="1">
              <a:off x="1860" y="2767"/>
              <a:ext cx="589" cy="726"/>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42" name="Line 83"/>
            <p:cNvSpPr>
              <a:spLocks noChangeShapeType="1"/>
            </p:cNvSpPr>
            <p:nvPr/>
          </p:nvSpPr>
          <p:spPr bwMode="auto">
            <a:xfrm flipH="1" flipV="1">
              <a:off x="1860" y="2404"/>
              <a:ext cx="589" cy="108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43" name="Line 84"/>
            <p:cNvSpPr>
              <a:spLocks noChangeShapeType="1"/>
            </p:cNvSpPr>
            <p:nvPr/>
          </p:nvSpPr>
          <p:spPr bwMode="auto">
            <a:xfrm flipH="1">
              <a:off x="1860" y="590"/>
              <a:ext cx="544" cy="1089"/>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44" name="Line 85"/>
            <p:cNvSpPr>
              <a:spLocks noChangeShapeType="1"/>
            </p:cNvSpPr>
            <p:nvPr/>
          </p:nvSpPr>
          <p:spPr bwMode="auto">
            <a:xfrm flipH="1">
              <a:off x="1860" y="590"/>
              <a:ext cx="544" cy="145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45" name="Text Box 86"/>
            <p:cNvSpPr txBox="1">
              <a:spLocks noChangeArrowheads="1"/>
            </p:cNvSpPr>
            <p:nvPr/>
          </p:nvSpPr>
          <p:spPr bwMode="auto">
            <a:xfrm>
              <a:off x="1948" y="1633"/>
              <a:ext cx="349" cy="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t>…………</a:t>
              </a:r>
            </a:p>
          </p:txBody>
        </p:sp>
        <p:sp>
          <p:nvSpPr>
            <p:cNvPr id="15446" name="Rectangle 87"/>
            <p:cNvSpPr>
              <a:spLocks noChangeArrowheads="1"/>
            </p:cNvSpPr>
            <p:nvPr/>
          </p:nvSpPr>
          <p:spPr bwMode="auto">
            <a:xfrm>
              <a:off x="3266" y="2268"/>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6</a:t>
              </a:r>
            </a:p>
          </p:txBody>
        </p:sp>
        <p:sp>
          <p:nvSpPr>
            <p:cNvPr id="15447" name="Rectangle 88"/>
            <p:cNvSpPr>
              <a:spLocks noChangeArrowheads="1"/>
            </p:cNvSpPr>
            <p:nvPr/>
          </p:nvSpPr>
          <p:spPr bwMode="auto">
            <a:xfrm>
              <a:off x="3266" y="2994"/>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8</a:t>
              </a:r>
            </a:p>
          </p:txBody>
        </p:sp>
        <p:sp>
          <p:nvSpPr>
            <p:cNvPr id="15448" name="Rectangle 89"/>
            <p:cNvSpPr>
              <a:spLocks noChangeArrowheads="1"/>
            </p:cNvSpPr>
            <p:nvPr/>
          </p:nvSpPr>
          <p:spPr bwMode="auto">
            <a:xfrm>
              <a:off x="3266" y="3357"/>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9</a:t>
              </a:r>
            </a:p>
          </p:txBody>
        </p:sp>
        <p:sp>
          <p:nvSpPr>
            <p:cNvPr id="15449" name="Rectangle 90"/>
            <p:cNvSpPr>
              <a:spLocks noChangeArrowheads="1"/>
            </p:cNvSpPr>
            <p:nvPr/>
          </p:nvSpPr>
          <p:spPr bwMode="auto">
            <a:xfrm>
              <a:off x="3266" y="1543"/>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4</a:t>
              </a:r>
            </a:p>
          </p:txBody>
        </p:sp>
        <p:sp>
          <p:nvSpPr>
            <p:cNvPr id="15450" name="Rectangle 91"/>
            <p:cNvSpPr>
              <a:spLocks noChangeArrowheads="1"/>
            </p:cNvSpPr>
            <p:nvPr/>
          </p:nvSpPr>
          <p:spPr bwMode="auto">
            <a:xfrm>
              <a:off x="3266" y="1180"/>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3</a:t>
              </a:r>
            </a:p>
          </p:txBody>
        </p:sp>
        <p:sp>
          <p:nvSpPr>
            <p:cNvPr id="15451" name="Rectangle 92"/>
            <p:cNvSpPr>
              <a:spLocks noChangeArrowheads="1"/>
            </p:cNvSpPr>
            <p:nvPr/>
          </p:nvSpPr>
          <p:spPr bwMode="auto">
            <a:xfrm>
              <a:off x="3266" y="817"/>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2</a:t>
              </a:r>
            </a:p>
          </p:txBody>
        </p:sp>
        <p:sp>
          <p:nvSpPr>
            <p:cNvPr id="15452" name="Rectangle 93"/>
            <p:cNvSpPr>
              <a:spLocks noChangeArrowheads="1"/>
            </p:cNvSpPr>
            <p:nvPr/>
          </p:nvSpPr>
          <p:spPr bwMode="auto">
            <a:xfrm>
              <a:off x="3266" y="454"/>
              <a:ext cx="272" cy="272"/>
            </a:xfrm>
            <a:prstGeom prst="rect">
              <a:avLst/>
            </a:prstGeom>
            <a:solidFill>
              <a:srgbClr val="66FFFF"/>
            </a:solidFill>
            <a:ln w="952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1</a:t>
              </a:r>
            </a:p>
          </p:txBody>
        </p:sp>
        <p:sp>
          <p:nvSpPr>
            <p:cNvPr id="15453" name="Line 94"/>
            <p:cNvSpPr>
              <a:spLocks noChangeShapeType="1"/>
            </p:cNvSpPr>
            <p:nvPr/>
          </p:nvSpPr>
          <p:spPr bwMode="auto">
            <a:xfrm>
              <a:off x="2722" y="1316"/>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54" name="Line 95"/>
            <p:cNvSpPr>
              <a:spLocks noChangeShapeType="1"/>
            </p:cNvSpPr>
            <p:nvPr/>
          </p:nvSpPr>
          <p:spPr bwMode="auto">
            <a:xfrm>
              <a:off x="2722" y="1679"/>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55" name="Line 96"/>
            <p:cNvSpPr>
              <a:spLocks noChangeShapeType="1"/>
            </p:cNvSpPr>
            <p:nvPr/>
          </p:nvSpPr>
          <p:spPr bwMode="auto">
            <a:xfrm>
              <a:off x="2722" y="2404"/>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56" name="Line 97"/>
            <p:cNvSpPr>
              <a:spLocks noChangeShapeType="1"/>
            </p:cNvSpPr>
            <p:nvPr/>
          </p:nvSpPr>
          <p:spPr bwMode="auto">
            <a:xfrm>
              <a:off x="2722" y="2767"/>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57" name="Line 98"/>
            <p:cNvSpPr>
              <a:spLocks noChangeShapeType="1"/>
            </p:cNvSpPr>
            <p:nvPr/>
          </p:nvSpPr>
          <p:spPr bwMode="auto">
            <a:xfrm>
              <a:off x="2722" y="3130"/>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58" name="Line 99"/>
            <p:cNvSpPr>
              <a:spLocks noChangeShapeType="1"/>
            </p:cNvSpPr>
            <p:nvPr/>
          </p:nvSpPr>
          <p:spPr bwMode="auto">
            <a:xfrm>
              <a:off x="2722" y="3493"/>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59" name="Line 100"/>
            <p:cNvSpPr>
              <a:spLocks noChangeShapeType="1"/>
            </p:cNvSpPr>
            <p:nvPr/>
          </p:nvSpPr>
          <p:spPr bwMode="auto">
            <a:xfrm>
              <a:off x="2722" y="590"/>
              <a:ext cx="544" cy="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0" name="Line 101"/>
            <p:cNvSpPr>
              <a:spLocks noChangeShapeType="1"/>
            </p:cNvSpPr>
            <p:nvPr/>
          </p:nvSpPr>
          <p:spPr bwMode="auto">
            <a:xfrm>
              <a:off x="3311" y="227"/>
              <a:ext cx="0" cy="3130"/>
            </a:xfrm>
            <a:prstGeom prst="line">
              <a:avLst/>
            </a:prstGeom>
            <a:noFill/>
            <a:ln w="19050" cmpd="sng">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1" name="Line 102"/>
            <p:cNvSpPr>
              <a:spLocks noChangeShapeType="1"/>
            </p:cNvSpPr>
            <p:nvPr/>
          </p:nvSpPr>
          <p:spPr bwMode="auto">
            <a:xfrm>
              <a:off x="3447" y="227"/>
              <a:ext cx="0" cy="3130"/>
            </a:xfrm>
            <a:prstGeom prst="line">
              <a:avLst/>
            </a:prstGeom>
            <a:noFill/>
            <a:ln w="19050" cmpd="sng">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2" name="Line 103"/>
            <p:cNvSpPr>
              <a:spLocks noChangeShapeType="1"/>
            </p:cNvSpPr>
            <p:nvPr/>
          </p:nvSpPr>
          <p:spPr bwMode="auto">
            <a:xfrm>
              <a:off x="3311" y="227"/>
              <a:ext cx="0" cy="227"/>
            </a:xfrm>
            <a:prstGeom prst="line">
              <a:avLst/>
            </a:prstGeom>
            <a:noFill/>
            <a:ln w="28575" cmpd="sng">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3" name="Line 104"/>
            <p:cNvSpPr>
              <a:spLocks noChangeShapeType="1"/>
            </p:cNvSpPr>
            <p:nvPr/>
          </p:nvSpPr>
          <p:spPr bwMode="auto">
            <a:xfrm>
              <a:off x="3447" y="227"/>
              <a:ext cx="0" cy="227"/>
            </a:xfrm>
            <a:prstGeom prst="line">
              <a:avLst/>
            </a:prstGeom>
            <a:noFill/>
            <a:ln w="28575" cmpd="sng">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4" name="Line 105"/>
            <p:cNvSpPr>
              <a:spLocks noChangeShapeType="1"/>
            </p:cNvSpPr>
            <p:nvPr/>
          </p:nvSpPr>
          <p:spPr bwMode="auto">
            <a:xfrm flipV="1">
              <a:off x="3538" y="2132"/>
              <a:ext cx="499" cy="635"/>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5" name="Line 106"/>
            <p:cNvSpPr>
              <a:spLocks noChangeShapeType="1"/>
            </p:cNvSpPr>
            <p:nvPr/>
          </p:nvSpPr>
          <p:spPr bwMode="auto">
            <a:xfrm flipV="1">
              <a:off x="3538" y="2178"/>
              <a:ext cx="499" cy="952"/>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6" name="Line 107"/>
            <p:cNvSpPr>
              <a:spLocks noChangeShapeType="1"/>
            </p:cNvSpPr>
            <p:nvPr/>
          </p:nvSpPr>
          <p:spPr bwMode="auto">
            <a:xfrm flipV="1">
              <a:off x="3538" y="2223"/>
              <a:ext cx="499" cy="1270"/>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7" name="Line 108"/>
            <p:cNvSpPr>
              <a:spLocks noChangeShapeType="1"/>
            </p:cNvSpPr>
            <p:nvPr/>
          </p:nvSpPr>
          <p:spPr bwMode="auto">
            <a:xfrm>
              <a:off x="3538" y="1679"/>
              <a:ext cx="454" cy="36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8" name="Line 109"/>
            <p:cNvSpPr>
              <a:spLocks noChangeShapeType="1"/>
            </p:cNvSpPr>
            <p:nvPr/>
          </p:nvSpPr>
          <p:spPr bwMode="auto">
            <a:xfrm>
              <a:off x="3538" y="1316"/>
              <a:ext cx="454" cy="726"/>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69" name="Line 110"/>
            <p:cNvSpPr>
              <a:spLocks noChangeShapeType="1"/>
            </p:cNvSpPr>
            <p:nvPr/>
          </p:nvSpPr>
          <p:spPr bwMode="auto">
            <a:xfrm>
              <a:off x="3538" y="953"/>
              <a:ext cx="454" cy="1043"/>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70" name="Line 111"/>
            <p:cNvSpPr>
              <a:spLocks noChangeShapeType="1"/>
            </p:cNvSpPr>
            <p:nvPr/>
          </p:nvSpPr>
          <p:spPr bwMode="auto">
            <a:xfrm>
              <a:off x="3538" y="590"/>
              <a:ext cx="454" cy="1361"/>
            </a:xfrm>
            <a:prstGeom prst="line">
              <a:avLst/>
            </a:prstGeom>
            <a:noFill/>
            <a:ln w="952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71" name="Rectangle 112"/>
            <p:cNvSpPr>
              <a:spLocks noChangeArrowheads="1"/>
            </p:cNvSpPr>
            <p:nvPr/>
          </p:nvSpPr>
          <p:spPr bwMode="auto">
            <a:xfrm>
              <a:off x="3629" y="3402"/>
              <a:ext cx="763"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dirty="0">
                  <a:ea typeface="楷体_GB2312" pitchFamily="49" charset="-122"/>
                </a:rPr>
                <a:t>后件参数</a:t>
              </a:r>
            </a:p>
          </p:txBody>
        </p:sp>
      </p:grpSp>
      <p:sp>
        <p:nvSpPr>
          <p:cNvPr id="2" name="灯片编号占位符 1">
            <a:extLst>
              <a:ext uri="{FF2B5EF4-FFF2-40B4-BE49-F238E27FC236}">
                <a16:creationId xmlns:a16="http://schemas.microsoft.com/office/drawing/2014/main" id="{BD5E84BE-01D1-CD19-CB2B-F41FDED18355}"/>
              </a:ext>
            </a:extLst>
          </p:cNvPr>
          <p:cNvSpPr>
            <a:spLocks noGrp="1"/>
          </p:cNvSpPr>
          <p:nvPr>
            <p:ph type="sldNum" sz="quarter" idx="11"/>
          </p:nvPr>
        </p:nvSpPr>
        <p:spPr/>
        <p:txBody>
          <a:bodyPr/>
          <a:lstStyle/>
          <a:p>
            <a:pPr>
              <a:defRPr/>
            </a:pPr>
            <a:fld id="{B77A47BA-BA63-4780-94A9-8AFA2EA4438D}" type="slidenum">
              <a:rPr lang="en-US" altLang="zh-CN" smtClean="0"/>
              <a:pPr>
                <a:defRPr/>
              </a:pPr>
              <a:t>38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wipe(up)">
                                      <p:cBhvr>
                                        <p:cTn id="7" dur="500"/>
                                        <p:tgtEl>
                                          <p:spTgt spid="15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1981200" y="457209"/>
            <a:ext cx="8229600" cy="1027113"/>
          </a:xfrm>
        </p:spPr>
        <p:txBody>
          <a:bodyPr/>
          <a:lstStyle/>
          <a:p>
            <a:pPr algn="ctr" eaLnBrk="1" hangingPunct="1"/>
            <a:r>
              <a:rPr lang="zh-CN" altLang="en-US" dirty="0">
                <a:solidFill>
                  <a:srgbClr val="008000"/>
                </a:solidFill>
                <a:ea typeface="黑体" panose="02010609060101010101" pitchFamily="49" charset="-122"/>
              </a:rPr>
              <a:t>分割为</a:t>
            </a:r>
            <a:r>
              <a:rPr lang="en-US" altLang="zh-CN" dirty="0">
                <a:solidFill>
                  <a:srgbClr val="008000"/>
                </a:solidFill>
                <a:ea typeface="黑体" panose="02010609060101010101" pitchFamily="49" charset="-122"/>
              </a:rPr>
              <a:t>9</a:t>
            </a:r>
            <a:r>
              <a:rPr lang="zh-CN" altLang="en-US" dirty="0">
                <a:solidFill>
                  <a:srgbClr val="008000"/>
                </a:solidFill>
                <a:ea typeface="黑体" panose="02010609060101010101" pitchFamily="49" charset="-122"/>
              </a:rPr>
              <a:t>个</a:t>
            </a:r>
            <a:r>
              <a:rPr lang="en-US" altLang="zh-CN" dirty="0">
                <a:solidFill>
                  <a:srgbClr val="008000"/>
                </a:solidFill>
                <a:ea typeface="黑体" panose="02010609060101010101" pitchFamily="49" charset="-122"/>
              </a:rPr>
              <a:t>F</a:t>
            </a:r>
            <a:r>
              <a:rPr lang="zh-CN" altLang="en-US" dirty="0">
                <a:solidFill>
                  <a:srgbClr val="008000"/>
                </a:solidFill>
                <a:ea typeface="黑体" panose="02010609060101010101" pitchFamily="49" charset="-122"/>
              </a:rPr>
              <a:t>区域的输入空间</a:t>
            </a:r>
          </a:p>
        </p:txBody>
      </p:sp>
      <p:grpSp>
        <p:nvGrpSpPr>
          <p:cNvPr id="16387" name="Group 3"/>
          <p:cNvGrpSpPr>
            <a:grpSpLocks/>
          </p:cNvGrpSpPr>
          <p:nvPr/>
        </p:nvGrpSpPr>
        <p:grpSpPr bwMode="auto">
          <a:xfrm>
            <a:off x="3287722" y="1196975"/>
            <a:ext cx="6048375" cy="5500688"/>
            <a:chOff x="0" y="0"/>
            <a:chExt cx="4128" cy="3601"/>
          </a:xfrm>
        </p:grpSpPr>
        <p:sp>
          <p:nvSpPr>
            <p:cNvPr id="16388" name="Line 11"/>
            <p:cNvSpPr>
              <a:spLocks noChangeShapeType="1"/>
            </p:cNvSpPr>
            <p:nvPr/>
          </p:nvSpPr>
          <p:spPr bwMode="auto">
            <a:xfrm flipV="1">
              <a:off x="771" y="227"/>
              <a:ext cx="0" cy="2586"/>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9" name="Line 12"/>
            <p:cNvSpPr>
              <a:spLocks noChangeShapeType="1"/>
            </p:cNvSpPr>
            <p:nvPr/>
          </p:nvSpPr>
          <p:spPr bwMode="auto">
            <a:xfrm>
              <a:off x="771" y="2813"/>
              <a:ext cx="2994" cy="0"/>
            </a:xfrm>
            <a:prstGeom prst="line">
              <a:avLst/>
            </a:prstGeom>
            <a:noFill/>
            <a:ln w="28575"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6390"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 y="2903"/>
              <a:ext cx="2949" cy="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1"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0" y="240"/>
              <a:ext cx="699" cy="2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 name="Text Box 15"/>
            <p:cNvSpPr txBox="1">
              <a:spLocks noChangeArrowheads="1"/>
            </p:cNvSpPr>
            <p:nvPr/>
          </p:nvSpPr>
          <p:spPr bwMode="auto">
            <a:xfrm>
              <a:off x="3856" y="2677"/>
              <a:ext cx="2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X</a:t>
              </a:r>
            </a:p>
          </p:txBody>
        </p:sp>
        <p:sp>
          <p:nvSpPr>
            <p:cNvPr id="16393" name="Text Box 16"/>
            <p:cNvSpPr txBox="1">
              <a:spLocks noChangeArrowheads="1"/>
            </p:cNvSpPr>
            <p:nvPr/>
          </p:nvSpPr>
          <p:spPr bwMode="auto">
            <a:xfrm>
              <a:off x="635" y="0"/>
              <a:ext cx="2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t>Y</a:t>
              </a:r>
            </a:p>
          </p:txBody>
        </p:sp>
        <p:sp>
          <p:nvSpPr>
            <p:cNvPr id="16394" name="Rectangle 17"/>
            <p:cNvSpPr>
              <a:spLocks noChangeArrowheads="1"/>
            </p:cNvSpPr>
            <p:nvPr/>
          </p:nvSpPr>
          <p:spPr bwMode="auto">
            <a:xfrm>
              <a:off x="1179" y="273"/>
              <a:ext cx="590" cy="2540"/>
            </a:xfrm>
            <a:prstGeom prst="rect">
              <a:avLst/>
            </a:prstGeom>
            <a:solidFill>
              <a:srgbClr val="66FF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395" name="Rectangle 18"/>
            <p:cNvSpPr>
              <a:spLocks noChangeArrowheads="1"/>
            </p:cNvSpPr>
            <p:nvPr/>
          </p:nvSpPr>
          <p:spPr bwMode="auto">
            <a:xfrm>
              <a:off x="2533" y="273"/>
              <a:ext cx="661" cy="2540"/>
            </a:xfrm>
            <a:prstGeom prst="rect">
              <a:avLst/>
            </a:prstGeom>
            <a:solidFill>
              <a:srgbClr val="66FF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396" name="Rectangle 19"/>
            <p:cNvSpPr>
              <a:spLocks noChangeArrowheads="1"/>
            </p:cNvSpPr>
            <p:nvPr/>
          </p:nvSpPr>
          <p:spPr bwMode="auto">
            <a:xfrm>
              <a:off x="771" y="542"/>
              <a:ext cx="2767" cy="589"/>
            </a:xfrm>
            <a:prstGeom prst="rect">
              <a:avLst/>
            </a:prstGeom>
            <a:solidFill>
              <a:srgbClr val="66FF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397" name="Rectangle 20"/>
            <p:cNvSpPr>
              <a:spLocks noChangeArrowheads="1"/>
            </p:cNvSpPr>
            <p:nvPr/>
          </p:nvSpPr>
          <p:spPr bwMode="auto">
            <a:xfrm>
              <a:off x="771" y="1744"/>
              <a:ext cx="2767" cy="658"/>
            </a:xfrm>
            <a:prstGeom prst="rect">
              <a:avLst/>
            </a:prstGeom>
            <a:solidFill>
              <a:srgbClr val="66FF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398" name="Text Box 21"/>
            <p:cNvSpPr txBox="1">
              <a:spLocks noChangeArrowheads="1"/>
            </p:cNvSpPr>
            <p:nvPr/>
          </p:nvSpPr>
          <p:spPr bwMode="auto">
            <a:xfrm>
              <a:off x="907" y="2404"/>
              <a:ext cx="2631"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t>  1                      4                    7      </a:t>
              </a:r>
            </a:p>
          </p:txBody>
        </p:sp>
        <p:sp>
          <p:nvSpPr>
            <p:cNvPr id="16399" name="Text Box 22"/>
            <p:cNvSpPr txBox="1">
              <a:spLocks noChangeArrowheads="1"/>
            </p:cNvSpPr>
            <p:nvPr/>
          </p:nvSpPr>
          <p:spPr bwMode="auto">
            <a:xfrm>
              <a:off x="907" y="1361"/>
              <a:ext cx="2631"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t>  2                     5                     8     </a:t>
              </a:r>
            </a:p>
          </p:txBody>
        </p:sp>
        <p:sp>
          <p:nvSpPr>
            <p:cNvPr id="16400" name="Text Box 23"/>
            <p:cNvSpPr txBox="1">
              <a:spLocks noChangeArrowheads="1"/>
            </p:cNvSpPr>
            <p:nvPr/>
          </p:nvSpPr>
          <p:spPr bwMode="auto">
            <a:xfrm>
              <a:off x="862" y="363"/>
              <a:ext cx="2631"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a:t>  3                      6                    9      </a:t>
              </a:r>
            </a:p>
          </p:txBody>
        </p:sp>
        <p:sp>
          <p:nvSpPr>
            <p:cNvPr id="16401" name="Rectangle 24"/>
            <p:cNvSpPr>
              <a:spLocks noChangeArrowheads="1"/>
            </p:cNvSpPr>
            <p:nvPr/>
          </p:nvSpPr>
          <p:spPr bwMode="auto">
            <a:xfrm>
              <a:off x="771" y="273"/>
              <a:ext cx="2767" cy="2540"/>
            </a:xfrm>
            <a:prstGeom prst="rect">
              <a:avLst/>
            </a:prstGeom>
            <a:noFill/>
            <a:ln w="9525" cmpd="sng">
              <a:solidFill>
                <a:srgbClr val="00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2" name="灯片编号占位符 1">
            <a:extLst>
              <a:ext uri="{FF2B5EF4-FFF2-40B4-BE49-F238E27FC236}">
                <a16:creationId xmlns:a16="http://schemas.microsoft.com/office/drawing/2014/main" id="{3A6BDCE6-742E-BAD4-FD71-64250A3D070F}"/>
              </a:ext>
            </a:extLst>
          </p:cNvPr>
          <p:cNvSpPr>
            <a:spLocks noGrp="1"/>
          </p:cNvSpPr>
          <p:nvPr>
            <p:ph type="sldNum" sz="quarter" idx="11"/>
          </p:nvPr>
        </p:nvSpPr>
        <p:spPr/>
        <p:txBody>
          <a:bodyPr/>
          <a:lstStyle/>
          <a:p>
            <a:pPr>
              <a:defRPr/>
            </a:pPr>
            <a:fld id="{B77A47BA-BA63-4780-94A9-8AFA2EA4438D}" type="slidenum">
              <a:rPr lang="en-US" altLang="zh-CN" smtClean="0"/>
              <a:pPr>
                <a:defRPr/>
              </a:pPr>
              <a:t>39</a:t>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609600" y="332656"/>
            <a:ext cx="10972800" cy="1371600"/>
          </a:xfrm>
        </p:spPr>
        <p:txBody>
          <a:bodyPr/>
          <a:lstStyle/>
          <a:p>
            <a:pPr algn="ctr" eaLnBrk="1" hangingPunct="1"/>
            <a:r>
              <a:rPr lang="en-US" altLang="zh-CN" dirty="0">
                <a:solidFill>
                  <a:srgbClr val="008000"/>
                </a:solidFill>
                <a:ea typeface="黑体" panose="02010609060101010101" pitchFamily="49" charset="-122"/>
              </a:rPr>
              <a:t>ANFIS</a:t>
            </a:r>
            <a:r>
              <a:rPr lang="zh-CN" altLang="en-US" dirty="0">
                <a:solidFill>
                  <a:srgbClr val="008000"/>
                </a:solidFill>
                <a:ea typeface="黑体" panose="02010609060101010101" pitchFamily="49" charset="-122"/>
              </a:rPr>
              <a:t>模糊建模的步骤</a:t>
            </a:r>
          </a:p>
        </p:txBody>
      </p:sp>
      <p:sp>
        <p:nvSpPr>
          <p:cNvPr id="17411" name="Rectangle 3"/>
          <p:cNvSpPr>
            <a:spLocks noGrp="1" noChangeArrowheads="1"/>
          </p:cNvSpPr>
          <p:nvPr>
            <p:ph type="body" idx="4294967295"/>
          </p:nvPr>
        </p:nvSpPr>
        <p:spPr>
          <a:xfrm>
            <a:off x="1127448" y="1772816"/>
            <a:ext cx="9793088" cy="4752528"/>
          </a:xfrm>
        </p:spPr>
        <p:txBody>
          <a:bodyPr/>
          <a:lstStyle/>
          <a:p>
            <a:pPr eaLnBrk="1" hangingPunct="1">
              <a:lnSpc>
                <a:spcPct val="120000"/>
              </a:lnSpc>
            </a:pPr>
            <a:r>
              <a:rPr lang="zh-CN" altLang="en-US" dirty="0">
                <a:ea typeface="黑体" panose="02010609060101010101" pitchFamily="49" charset="-122"/>
              </a:rPr>
              <a:t>下面介绍在</a:t>
            </a:r>
            <a:r>
              <a:rPr lang="en-US" altLang="zh-CN" dirty="0" err="1">
                <a:ea typeface="黑体" panose="02010609060101010101" pitchFamily="49" charset="-122"/>
              </a:rPr>
              <a:t>Matlab</a:t>
            </a:r>
            <a:r>
              <a:rPr lang="zh-CN" altLang="en-US" dirty="0">
                <a:ea typeface="黑体" panose="02010609060101010101" pitchFamily="49" charset="-122"/>
              </a:rPr>
              <a:t>的</a:t>
            </a:r>
            <a:r>
              <a:rPr lang="en-US" altLang="zh-CN" dirty="0">
                <a:ea typeface="黑体" panose="02010609060101010101" pitchFamily="49" charset="-122"/>
              </a:rPr>
              <a:t>Fuzzy</a:t>
            </a:r>
            <a:r>
              <a:rPr lang="zh-CN" altLang="en-US" dirty="0">
                <a:ea typeface="黑体" panose="02010609060101010101" pitchFamily="49" charset="-122"/>
              </a:rPr>
              <a:t>工具箱支持下</a:t>
            </a:r>
            <a:r>
              <a:rPr lang="en-US" altLang="zh-CN" dirty="0">
                <a:ea typeface="黑体" panose="02010609060101010101" pitchFamily="49" charset="-122"/>
              </a:rPr>
              <a:t>F</a:t>
            </a:r>
            <a:r>
              <a:rPr lang="zh-CN" altLang="en-US" dirty="0">
                <a:ea typeface="黑体" panose="02010609060101010101" pitchFamily="49" charset="-122"/>
              </a:rPr>
              <a:t>建模过程</a:t>
            </a:r>
          </a:p>
          <a:p>
            <a:pPr marL="971550" lvl="1" indent="-514350" eaLnBrk="1" hangingPunct="1">
              <a:lnSpc>
                <a:spcPct val="120000"/>
              </a:lnSpc>
              <a:buFont typeface="+mj-ea"/>
              <a:buAutoNum type="circleNumDbPlain"/>
            </a:pPr>
            <a:r>
              <a:rPr lang="zh-CN" altLang="en-US" sz="3200" b="1" dirty="0">
                <a:ea typeface="楷体_GB2312" pitchFamily="49" charset="-122"/>
              </a:rPr>
              <a:t>产生训练数据和测试数据</a:t>
            </a:r>
          </a:p>
          <a:p>
            <a:pPr marL="971550" lvl="1" indent="-514350" eaLnBrk="1" hangingPunct="1">
              <a:lnSpc>
                <a:spcPct val="120000"/>
              </a:lnSpc>
              <a:buFont typeface="+mj-ea"/>
              <a:buAutoNum type="circleNumDbPlain"/>
            </a:pPr>
            <a:r>
              <a:rPr lang="zh-CN" altLang="en-US" sz="3200" b="1" dirty="0">
                <a:ea typeface="楷体_GB2312" pitchFamily="49" charset="-122"/>
              </a:rPr>
              <a:t>确定输入变量的隶属度函数的类型和个数</a:t>
            </a:r>
          </a:p>
          <a:p>
            <a:pPr marL="971550" lvl="1" indent="-514350" eaLnBrk="1" hangingPunct="1">
              <a:lnSpc>
                <a:spcPct val="120000"/>
              </a:lnSpc>
              <a:buFont typeface="+mj-ea"/>
              <a:buAutoNum type="circleNumDbPlain"/>
            </a:pPr>
            <a:r>
              <a:rPr lang="zh-CN" altLang="en-US" sz="3200" b="1" dirty="0">
                <a:ea typeface="楷体_GB2312" pitchFamily="49" charset="-122"/>
              </a:rPr>
              <a:t>由</a:t>
            </a:r>
            <a:r>
              <a:rPr lang="en-US" altLang="zh-CN" sz="3200" b="1" u="sng" dirty="0" err="1">
                <a:solidFill>
                  <a:srgbClr val="FF0000"/>
                </a:solidFill>
                <a:ea typeface="楷体_GB2312" pitchFamily="49" charset="-122"/>
              </a:rPr>
              <a:t>genfis</a:t>
            </a:r>
            <a:r>
              <a:rPr lang="zh-CN" altLang="en-US" sz="3200" b="1" u="sng" dirty="0">
                <a:solidFill>
                  <a:srgbClr val="FF0000"/>
                </a:solidFill>
                <a:ea typeface="楷体_GB2312" pitchFamily="49" charset="-122"/>
              </a:rPr>
              <a:t>函数</a:t>
            </a:r>
            <a:r>
              <a:rPr lang="zh-CN" altLang="en-US" sz="3200" b="1" dirty="0">
                <a:ea typeface="楷体_GB2312" pitchFamily="49" charset="-122"/>
              </a:rPr>
              <a:t>产生初始的</a:t>
            </a:r>
            <a:r>
              <a:rPr lang="en-US" altLang="zh-CN" sz="3200" b="1" dirty="0">
                <a:ea typeface="楷体_GB2312" pitchFamily="49" charset="-122"/>
              </a:rPr>
              <a:t>FIS</a:t>
            </a:r>
            <a:r>
              <a:rPr lang="zh-CN" altLang="en-US" sz="3200" b="1" dirty="0">
                <a:ea typeface="楷体_GB2312" pitchFamily="49" charset="-122"/>
              </a:rPr>
              <a:t>结构</a:t>
            </a:r>
          </a:p>
          <a:p>
            <a:pPr marL="971550" lvl="1" indent="-514350" eaLnBrk="1" hangingPunct="1">
              <a:lnSpc>
                <a:spcPct val="120000"/>
              </a:lnSpc>
              <a:buFont typeface="+mj-ea"/>
              <a:buAutoNum type="circleNumDbPlain"/>
            </a:pPr>
            <a:r>
              <a:rPr lang="zh-CN" altLang="en-US" sz="3200" b="1" dirty="0">
                <a:ea typeface="楷体_GB2312" pitchFamily="49" charset="-122"/>
              </a:rPr>
              <a:t>设定</a:t>
            </a:r>
            <a:r>
              <a:rPr lang="en-US" altLang="zh-CN" sz="3200" b="1" dirty="0">
                <a:ea typeface="楷体_GB2312" pitchFamily="49" charset="-122"/>
              </a:rPr>
              <a:t>ANFIS</a:t>
            </a:r>
            <a:r>
              <a:rPr lang="zh-CN" altLang="en-US" sz="3200" b="1" dirty="0">
                <a:ea typeface="楷体_GB2312" pitchFamily="49" charset="-122"/>
              </a:rPr>
              <a:t>训练的参数</a:t>
            </a:r>
          </a:p>
          <a:p>
            <a:pPr marL="971550" lvl="1" indent="-514350" eaLnBrk="1" hangingPunct="1">
              <a:lnSpc>
                <a:spcPct val="120000"/>
              </a:lnSpc>
              <a:buFont typeface="+mj-ea"/>
              <a:buAutoNum type="circleNumDbPlain"/>
            </a:pPr>
            <a:r>
              <a:rPr lang="zh-CN" altLang="en-US" sz="3200" b="1" dirty="0">
                <a:ea typeface="楷体_GB2312" pitchFamily="49" charset="-122"/>
              </a:rPr>
              <a:t>利用</a:t>
            </a:r>
            <a:r>
              <a:rPr lang="en-US" altLang="zh-CN" sz="3200" b="1" u="sng" dirty="0" err="1">
                <a:solidFill>
                  <a:srgbClr val="FF0000"/>
                </a:solidFill>
                <a:ea typeface="楷体_GB2312" pitchFamily="49" charset="-122"/>
              </a:rPr>
              <a:t>anfis</a:t>
            </a:r>
            <a:r>
              <a:rPr lang="zh-CN" altLang="en-US" sz="3200" b="1" u="sng" dirty="0">
                <a:solidFill>
                  <a:srgbClr val="FF0000"/>
                </a:solidFill>
                <a:ea typeface="楷体_GB2312" pitchFamily="49" charset="-122"/>
              </a:rPr>
              <a:t>函数</a:t>
            </a:r>
            <a:r>
              <a:rPr lang="zh-CN" altLang="en-US" sz="3200" b="1" dirty="0">
                <a:ea typeface="楷体_GB2312" pitchFamily="49" charset="-122"/>
              </a:rPr>
              <a:t>训练</a:t>
            </a:r>
            <a:r>
              <a:rPr lang="en-US" altLang="zh-CN" sz="3200" b="1" dirty="0">
                <a:ea typeface="楷体_GB2312" pitchFamily="49" charset="-122"/>
              </a:rPr>
              <a:t>ANFIS</a:t>
            </a:r>
          </a:p>
          <a:p>
            <a:pPr marL="971550" lvl="1" indent="-514350" eaLnBrk="1" hangingPunct="1">
              <a:lnSpc>
                <a:spcPct val="120000"/>
              </a:lnSpc>
              <a:buFont typeface="+mj-ea"/>
              <a:buAutoNum type="circleNumDbPlain"/>
            </a:pPr>
            <a:r>
              <a:rPr lang="zh-CN" altLang="en-US" sz="3200" b="1" dirty="0">
                <a:ea typeface="楷体_GB2312" pitchFamily="49" charset="-122"/>
              </a:rPr>
              <a:t>检验得到的</a:t>
            </a:r>
            <a:r>
              <a:rPr lang="en-US" altLang="zh-CN" sz="3200" b="1" dirty="0">
                <a:ea typeface="楷体_GB2312" pitchFamily="49" charset="-122"/>
              </a:rPr>
              <a:t>FIS</a:t>
            </a:r>
            <a:r>
              <a:rPr lang="zh-CN" altLang="en-US" sz="3200" b="1" dirty="0">
                <a:ea typeface="楷体_GB2312" pitchFamily="49" charset="-122"/>
              </a:rPr>
              <a:t>的性能</a:t>
            </a:r>
          </a:p>
        </p:txBody>
      </p:sp>
      <p:sp>
        <p:nvSpPr>
          <p:cNvPr id="2" name="灯片编号占位符 1">
            <a:extLst>
              <a:ext uri="{FF2B5EF4-FFF2-40B4-BE49-F238E27FC236}">
                <a16:creationId xmlns:a16="http://schemas.microsoft.com/office/drawing/2014/main" id="{829F98D0-FAA6-13FD-C251-94F3643B677E}"/>
              </a:ext>
            </a:extLst>
          </p:cNvPr>
          <p:cNvSpPr>
            <a:spLocks noGrp="1"/>
          </p:cNvSpPr>
          <p:nvPr>
            <p:ph type="sldNum" sz="quarter" idx="11"/>
          </p:nvPr>
        </p:nvSpPr>
        <p:spPr/>
        <p:txBody>
          <a:bodyPr/>
          <a:lstStyle/>
          <a:p>
            <a:pPr>
              <a:defRPr/>
            </a:pPr>
            <a:fld id="{B77A47BA-BA63-4780-94A9-8AFA2EA4438D}" type="slidenum">
              <a:rPr lang="en-US" altLang="zh-CN" smtClean="0"/>
              <a:pPr>
                <a:defRPr/>
              </a:pPr>
              <a:t>40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wipe(left)">
                                      <p:cBhvr>
                                        <p:cTn id="7" dur="500"/>
                                        <p:tgtEl>
                                          <p:spTgt spid="1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wipe(left)">
                                      <p:cBhvr>
                                        <p:cTn id="12" dur="500"/>
                                        <p:tgtEl>
                                          <p:spTgt spid="174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wipe(left)">
                                      <p:cBhvr>
                                        <p:cTn id="17" dur="500"/>
                                        <p:tgtEl>
                                          <p:spTgt spid="174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411">
                                            <p:txEl>
                                              <p:pRg st="3" end="3"/>
                                            </p:txEl>
                                          </p:spTgt>
                                        </p:tgtEl>
                                        <p:attrNameLst>
                                          <p:attrName>style.visibility</p:attrName>
                                        </p:attrNameLst>
                                      </p:cBhvr>
                                      <p:to>
                                        <p:strVal val="visible"/>
                                      </p:to>
                                    </p:set>
                                    <p:animEffect transition="in" filter="wipe(left)">
                                      <p:cBhvr>
                                        <p:cTn id="22" dur="500"/>
                                        <p:tgtEl>
                                          <p:spTgt spid="174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411">
                                            <p:txEl>
                                              <p:pRg st="4" end="4"/>
                                            </p:txEl>
                                          </p:spTgt>
                                        </p:tgtEl>
                                        <p:attrNameLst>
                                          <p:attrName>style.visibility</p:attrName>
                                        </p:attrNameLst>
                                      </p:cBhvr>
                                      <p:to>
                                        <p:strVal val="visible"/>
                                      </p:to>
                                    </p:set>
                                    <p:animEffect transition="in" filter="wipe(left)">
                                      <p:cBhvr>
                                        <p:cTn id="27" dur="500"/>
                                        <p:tgtEl>
                                          <p:spTgt spid="174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411">
                                            <p:txEl>
                                              <p:pRg st="5" end="5"/>
                                            </p:txEl>
                                          </p:spTgt>
                                        </p:tgtEl>
                                        <p:attrNameLst>
                                          <p:attrName>style.visibility</p:attrName>
                                        </p:attrNameLst>
                                      </p:cBhvr>
                                      <p:to>
                                        <p:strVal val="visible"/>
                                      </p:to>
                                    </p:set>
                                    <p:animEffect transition="in" filter="wipe(left)">
                                      <p:cBhvr>
                                        <p:cTn id="32" dur="500"/>
                                        <p:tgtEl>
                                          <p:spTgt spid="1741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411">
                                            <p:txEl>
                                              <p:pRg st="6" end="6"/>
                                            </p:txEl>
                                          </p:spTgt>
                                        </p:tgtEl>
                                        <p:attrNameLst>
                                          <p:attrName>style.visibility</p:attrName>
                                        </p:attrNameLst>
                                      </p:cBhvr>
                                      <p:to>
                                        <p:strVal val="visible"/>
                                      </p:to>
                                    </p:set>
                                    <p:animEffect transition="in" filter="wipe(left)">
                                      <p:cBhvr>
                                        <p:cTn id="37" dur="500"/>
                                        <p:tgtEl>
                                          <p:spTgt spid="174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uiExpand="1"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44624"/>
            <a:ext cx="8229600" cy="1371600"/>
          </a:xfrm>
        </p:spPr>
        <p:txBody>
          <a:bodyPr/>
          <a:lstStyle/>
          <a:p>
            <a:pPr algn="ctr"/>
            <a:r>
              <a:rPr lang="en-US" altLang="zh-CN" dirty="0" err="1">
                <a:solidFill>
                  <a:srgbClr val="FF0000"/>
                </a:solidFill>
              </a:rPr>
              <a:t>anfis</a:t>
            </a:r>
            <a:r>
              <a:rPr lang="en-US" altLang="zh-CN" dirty="0">
                <a:solidFill>
                  <a:srgbClr val="008000"/>
                </a:solidFill>
              </a:rPr>
              <a:t> </a:t>
            </a:r>
            <a:r>
              <a:rPr lang="zh-CN" altLang="en-US" dirty="0">
                <a:solidFill>
                  <a:srgbClr val="008000"/>
                </a:solidFill>
                <a:latin typeface="黑体" panose="02010609060101010101" pitchFamily="49" charset="-122"/>
                <a:ea typeface="黑体" panose="02010609060101010101" pitchFamily="49" charset="-122"/>
              </a:rPr>
              <a:t>函数说明</a:t>
            </a:r>
          </a:p>
        </p:txBody>
      </p:sp>
      <p:sp>
        <p:nvSpPr>
          <p:cNvPr id="3" name="内容占位符 2"/>
          <p:cNvSpPr>
            <a:spLocks noGrp="1"/>
          </p:cNvSpPr>
          <p:nvPr>
            <p:ph idx="1"/>
          </p:nvPr>
        </p:nvSpPr>
        <p:spPr>
          <a:xfrm>
            <a:off x="983432" y="1152128"/>
            <a:ext cx="10297144" cy="5733256"/>
          </a:xfrm>
        </p:spPr>
        <p:txBody>
          <a:bodyPr/>
          <a:lstStyle/>
          <a:p>
            <a:pPr lvl="1" eaLnBrk="1" hangingPunct="1">
              <a:buNone/>
            </a:pPr>
            <a:r>
              <a:rPr lang="en-US" altLang="zh-CN" sz="3200" b="1" dirty="0">
                <a:solidFill>
                  <a:srgbClr val="008000"/>
                </a:solidFill>
              </a:rPr>
              <a:t>[</a:t>
            </a:r>
            <a:r>
              <a:rPr lang="en-US" altLang="zh-CN" sz="3200" b="1" dirty="0">
                <a:solidFill>
                  <a:srgbClr val="0000FF"/>
                </a:solidFill>
              </a:rPr>
              <a:t>Fis2</a:t>
            </a:r>
            <a:r>
              <a:rPr lang="en-US" altLang="zh-CN" sz="3200" b="1" dirty="0">
                <a:solidFill>
                  <a:srgbClr val="008000"/>
                </a:solidFill>
              </a:rPr>
              <a:t>,error,stepsize, </a:t>
            </a:r>
            <a:r>
              <a:rPr lang="en-US" altLang="zh-CN" sz="3200" b="1" dirty="0"/>
              <a:t>fis3</a:t>
            </a:r>
            <a:r>
              <a:rPr lang="en-US" altLang="zh-CN" sz="3200" b="1" dirty="0">
                <a:solidFill>
                  <a:srgbClr val="008000"/>
                </a:solidFill>
              </a:rPr>
              <a:t>,chkEr]</a:t>
            </a:r>
            <a:r>
              <a:rPr lang="en-US" altLang="zh-CN" sz="3200" b="1" dirty="0"/>
              <a:t>=</a:t>
            </a:r>
          </a:p>
          <a:p>
            <a:pPr eaLnBrk="1" hangingPunct="1">
              <a:buNone/>
            </a:pPr>
            <a:r>
              <a:rPr lang="en-US" altLang="zh-CN" b="1" dirty="0" err="1">
                <a:solidFill>
                  <a:srgbClr val="FF0000"/>
                </a:solidFill>
                <a:latin typeface="Times New Roman" panose="02020603050405020304" pitchFamily="18" charset="0"/>
                <a:cs typeface="Times New Roman" panose="02020603050405020304" pitchFamily="18" charset="0"/>
              </a:rPr>
              <a:t>anfis</a:t>
            </a:r>
            <a:r>
              <a:rPr lang="en-US" altLang="zh-CN" b="1" dirty="0">
                <a:solidFill>
                  <a:srgbClr val="008000"/>
                </a:solidFill>
                <a:latin typeface="Times New Roman" panose="02020603050405020304" pitchFamily="18" charset="0"/>
                <a:cs typeface="Times New Roman" panose="02020603050405020304" pitchFamily="18" charset="0"/>
              </a:rPr>
              <a:t>(</a:t>
            </a:r>
            <a:r>
              <a:rPr lang="en-US" altLang="zh-CN" b="1" dirty="0" err="1">
                <a:solidFill>
                  <a:srgbClr val="008000"/>
                </a:solidFill>
                <a:latin typeface="Times New Roman" panose="02020603050405020304" pitchFamily="18" charset="0"/>
                <a:cs typeface="Times New Roman" panose="02020603050405020304" pitchFamily="18" charset="0"/>
              </a:rPr>
              <a:t>trndata</a:t>
            </a:r>
            <a:r>
              <a:rPr lang="en-US" altLang="zh-CN" b="1" dirty="0">
                <a:solidFill>
                  <a:srgbClr val="008000"/>
                </a:solidFill>
                <a:latin typeface="Times New Roman" panose="02020603050405020304" pitchFamily="18" charset="0"/>
                <a:cs typeface="Times New Roman" panose="02020603050405020304" pitchFamily="18" charset="0"/>
              </a:rPr>
              <a:t>, </a:t>
            </a:r>
            <a:r>
              <a:rPr lang="en-US" altLang="zh-CN" b="1" dirty="0">
                <a:solidFill>
                  <a:srgbClr val="CC00CC"/>
                </a:solidFill>
                <a:latin typeface="Times New Roman" panose="02020603050405020304" pitchFamily="18" charset="0"/>
                <a:cs typeface="Times New Roman" panose="02020603050405020304" pitchFamily="18" charset="0"/>
              </a:rPr>
              <a:t>fis1</a:t>
            </a:r>
            <a:r>
              <a:rPr lang="en-US" altLang="zh-CN" b="1" dirty="0">
                <a:solidFill>
                  <a:srgbClr val="008000"/>
                </a:solidFill>
                <a:latin typeface="Times New Roman" panose="02020603050405020304" pitchFamily="18" charset="0"/>
                <a:cs typeface="Times New Roman" panose="02020603050405020304" pitchFamily="18" charset="0"/>
              </a:rPr>
              <a:t>, </a:t>
            </a:r>
            <a:r>
              <a:rPr lang="en-US" altLang="zh-CN" b="1" dirty="0" err="1">
                <a:solidFill>
                  <a:srgbClr val="008000"/>
                </a:solidFill>
                <a:latin typeface="Times New Roman" panose="02020603050405020304" pitchFamily="18" charset="0"/>
                <a:cs typeface="Times New Roman" panose="02020603050405020304" pitchFamily="18" charset="0"/>
              </a:rPr>
              <a:t>trnOpt</a:t>
            </a:r>
            <a:r>
              <a:rPr lang="en-US" altLang="zh-CN" b="1" dirty="0">
                <a:solidFill>
                  <a:srgbClr val="008000"/>
                </a:solidFill>
                <a:latin typeface="Times New Roman" panose="02020603050405020304" pitchFamily="18" charset="0"/>
                <a:cs typeface="Times New Roman" panose="02020603050405020304" pitchFamily="18" charset="0"/>
              </a:rPr>
              <a:t>, </a:t>
            </a:r>
            <a:r>
              <a:rPr lang="en-US" altLang="zh-CN" b="1" dirty="0" err="1">
                <a:solidFill>
                  <a:srgbClr val="008000"/>
                </a:solidFill>
                <a:latin typeface="Times New Roman" panose="02020603050405020304" pitchFamily="18" charset="0"/>
                <a:cs typeface="Times New Roman" panose="02020603050405020304" pitchFamily="18" charset="0"/>
              </a:rPr>
              <a:t>dispOpt</a:t>
            </a:r>
            <a:r>
              <a:rPr lang="en-US" altLang="zh-CN" b="1" dirty="0">
                <a:solidFill>
                  <a:srgbClr val="008000"/>
                </a:solidFill>
                <a:latin typeface="Times New Roman" panose="02020603050405020304" pitchFamily="18" charset="0"/>
                <a:cs typeface="Times New Roman" panose="02020603050405020304" pitchFamily="18" charset="0"/>
              </a:rPr>
              <a:t>, </a:t>
            </a:r>
            <a:r>
              <a:rPr lang="en-US" altLang="zh-CN" b="1" dirty="0" err="1">
                <a:solidFill>
                  <a:srgbClr val="008000"/>
                </a:solidFill>
                <a:latin typeface="Times New Roman" panose="02020603050405020304" pitchFamily="18" charset="0"/>
                <a:cs typeface="Times New Roman" panose="02020603050405020304" pitchFamily="18" charset="0"/>
              </a:rPr>
              <a:t>chkData</a:t>
            </a:r>
            <a:r>
              <a:rPr lang="en-US" altLang="zh-CN" b="1" dirty="0">
                <a:solidFill>
                  <a:srgbClr val="008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dirty="0">
                <a:solidFill>
                  <a:srgbClr val="008000"/>
                </a:solidFill>
                <a:latin typeface="Times New Roman" panose="02020603050405020304" pitchFamily="18" charset="0"/>
                <a:cs typeface="Times New Roman" panose="02020603050405020304" pitchFamily="18" charset="0"/>
              </a:rPr>
              <a:t>Method</a:t>
            </a:r>
            <a:r>
              <a:rPr lang="en-US" altLang="zh-CN" b="1" dirty="0">
                <a:latin typeface="Times New Roman" panose="02020603050405020304" pitchFamily="18" charset="0"/>
                <a:cs typeface="Times New Roman" panose="02020603050405020304" pitchFamily="18" charset="0"/>
              </a:rPr>
              <a:t>]</a:t>
            </a:r>
            <a:r>
              <a:rPr lang="en-US" altLang="zh-CN" b="1" dirty="0">
                <a:solidFill>
                  <a:srgbClr val="008000"/>
                </a:solidFill>
                <a:latin typeface="Times New Roman" panose="02020603050405020304" pitchFamily="18" charset="0"/>
                <a:cs typeface="Times New Roman" panose="02020603050405020304" pitchFamily="18" charset="0"/>
              </a:rPr>
              <a:t>)</a:t>
            </a:r>
          </a:p>
          <a:p>
            <a:pPr eaLnBrk="1" hangingPunct="1">
              <a:buNone/>
            </a:pPr>
            <a:r>
              <a:rPr lang="zh-CN" altLang="en-US" sz="2800" b="1" dirty="0">
                <a:latin typeface="Times New Roman" panose="02020603050405020304" pitchFamily="18" charset="0"/>
                <a:cs typeface="Times New Roman" panose="02020603050405020304" pitchFamily="18" charset="0"/>
              </a:rPr>
              <a:t>输入函数</a:t>
            </a:r>
            <a:r>
              <a:rPr lang="en-US" altLang="zh-CN" sz="2800" b="1" dirty="0">
                <a:latin typeface="Times New Roman" panose="02020603050405020304" pitchFamily="18" charset="0"/>
                <a:cs typeface="Times New Roman" panose="02020603050405020304" pitchFamily="18" charset="0"/>
              </a:rPr>
              <a:t>——</a:t>
            </a:r>
          </a:p>
          <a:p>
            <a:pPr eaLnBrk="1" hangingPunct="1">
              <a:buNone/>
            </a:pPr>
            <a:r>
              <a:rPr lang="en-US" altLang="zh-CN" sz="2800" b="1" dirty="0" err="1">
                <a:solidFill>
                  <a:srgbClr val="008000"/>
                </a:solidFill>
              </a:rPr>
              <a:t>trndata</a:t>
            </a:r>
            <a:r>
              <a:rPr lang="en-US" altLang="zh-CN" sz="2800" b="1" dirty="0"/>
              <a:t>——</a:t>
            </a:r>
            <a:r>
              <a:rPr lang="zh-CN" altLang="en-US" sz="2800" b="1" dirty="0"/>
              <a:t>为训练学习的</a:t>
            </a:r>
            <a:r>
              <a:rPr lang="en-US" altLang="zh-CN" sz="2800" b="1" dirty="0"/>
              <a:t>I/O</a:t>
            </a:r>
            <a:r>
              <a:rPr lang="zh-CN" altLang="en-US" sz="2800" b="1" dirty="0"/>
              <a:t>数据矩阵</a:t>
            </a:r>
            <a:endParaRPr lang="en-US" altLang="zh-CN" sz="2800" b="1" dirty="0"/>
          </a:p>
          <a:p>
            <a:pPr eaLnBrk="1" hangingPunct="1">
              <a:buNone/>
            </a:pPr>
            <a:r>
              <a:rPr lang="en-US" altLang="zh-CN" sz="2800" b="1" dirty="0">
                <a:solidFill>
                  <a:srgbClr val="CC00CC"/>
                </a:solidFill>
                <a:latin typeface="Times New Roman" panose="02020603050405020304" pitchFamily="18" charset="0"/>
                <a:cs typeface="Times New Roman" panose="02020603050405020304" pitchFamily="18" charset="0"/>
              </a:rPr>
              <a:t>fis1 </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为指定初始的</a:t>
            </a:r>
            <a:r>
              <a:rPr lang="en-US" altLang="zh-CN" sz="2800" b="1" dirty="0" err="1">
                <a:latin typeface="Times New Roman" panose="02020603050405020304" pitchFamily="18" charset="0"/>
                <a:cs typeface="Times New Roman" panose="02020603050405020304" pitchFamily="18" charset="0"/>
              </a:rPr>
              <a:t>Fis</a:t>
            </a:r>
            <a:r>
              <a:rPr lang="zh-CN" altLang="en-US" sz="2800" b="1" dirty="0">
                <a:latin typeface="Times New Roman" panose="02020603050405020304" pitchFamily="18" charset="0"/>
                <a:cs typeface="Times New Roman" panose="02020603050405020304" pitchFamily="18" charset="0"/>
              </a:rPr>
              <a:t>结构</a:t>
            </a:r>
            <a:endParaRPr lang="en-US" altLang="zh-CN" sz="2800" b="1" dirty="0"/>
          </a:p>
          <a:p>
            <a:pPr eaLnBrk="1" hangingPunct="1">
              <a:buNone/>
            </a:pPr>
            <a:r>
              <a:rPr lang="en-US" altLang="zh-CN" sz="2800" b="1" dirty="0" err="1">
                <a:solidFill>
                  <a:srgbClr val="008000"/>
                </a:solidFill>
                <a:latin typeface="Times New Roman" panose="02020603050405020304" pitchFamily="18" charset="0"/>
                <a:cs typeface="Times New Roman" panose="02020603050405020304" pitchFamily="18" charset="0"/>
              </a:rPr>
              <a:t>trnOpt</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为指定训练的有关选项</a:t>
            </a:r>
            <a:endParaRPr lang="en-US" altLang="zh-CN" sz="2800" b="1" dirty="0">
              <a:latin typeface="Times New Roman" panose="02020603050405020304" pitchFamily="18" charset="0"/>
              <a:cs typeface="Times New Roman" panose="02020603050405020304" pitchFamily="18" charset="0"/>
            </a:endParaRPr>
          </a:p>
          <a:p>
            <a:pPr eaLnBrk="1" hangingPunct="1">
              <a:buNone/>
            </a:pPr>
            <a:r>
              <a:rPr lang="en-US" altLang="zh-CN" sz="2800" b="1" dirty="0" err="1">
                <a:solidFill>
                  <a:srgbClr val="008000"/>
                </a:solidFill>
                <a:latin typeface="Times New Roman" panose="02020603050405020304" pitchFamily="18" charset="0"/>
                <a:cs typeface="Times New Roman" panose="02020603050405020304" pitchFamily="18" charset="0"/>
              </a:rPr>
              <a:t>dispOpt</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用于训练过程中命令窗的显示内容</a:t>
            </a:r>
            <a:endParaRPr lang="en-US" altLang="zh-CN" sz="2800" b="1" dirty="0">
              <a:latin typeface="Times New Roman" panose="02020603050405020304" pitchFamily="18" charset="0"/>
              <a:cs typeface="Times New Roman" panose="02020603050405020304" pitchFamily="18" charset="0"/>
            </a:endParaRPr>
          </a:p>
          <a:p>
            <a:pPr eaLnBrk="1" hangingPunct="1">
              <a:buNone/>
            </a:pPr>
            <a:r>
              <a:rPr lang="en-US" altLang="zh-CN" sz="2800" b="1" dirty="0" err="1">
                <a:solidFill>
                  <a:srgbClr val="008000"/>
                </a:solidFill>
                <a:latin typeface="Times New Roman" panose="02020603050405020304" pitchFamily="18" charset="0"/>
                <a:cs typeface="Times New Roman" panose="02020603050405020304" pitchFamily="18" charset="0"/>
              </a:rPr>
              <a:t>chkData</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用于测试的数据</a:t>
            </a:r>
            <a:endParaRPr lang="en-US" altLang="zh-CN" sz="2800" b="1" dirty="0">
              <a:latin typeface="Times New Roman" panose="02020603050405020304" pitchFamily="18" charset="0"/>
              <a:cs typeface="Times New Roman" panose="02020603050405020304" pitchFamily="18" charset="0"/>
            </a:endParaRPr>
          </a:p>
          <a:p>
            <a:pPr eaLnBrk="1" hangingPunct="1">
              <a:buNone/>
            </a:pPr>
            <a:r>
              <a:rPr lang="en-US" altLang="zh-CN" sz="2800" b="1" dirty="0">
                <a:solidFill>
                  <a:srgbClr val="008000"/>
                </a:solidFill>
                <a:latin typeface="Times New Roman" panose="02020603050405020304" pitchFamily="18" charset="0"/>
                <a:cs typeface="Times New Roman" panose="02020603050405020304" pitchFamily="18" charset="0"/>
              </a:rPr>
              <a:t>Method</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为隶属函数参数训练中的可选最优化方法</a:t>
            </a:r>
            <a:endParaRPr lang="en-US" altLang="zh-CN" sz="2800" b="1" dirty="0">
              <a:latin typeface="Times New Roman" panose="02020603050405020304" pitchFamily="18" charset="0"/>
              <a:cs typeface="Times New Roman" panose="02020603050405020304" pitchFamily="18" charset="0"/>
            </a:endParaRPr>
          </a:p>
          <a:p>
            <a:pPr eaLnBrk="1" hangingPunct="1">
              <a:buNone/>
            </a:pPr>
            <a:r>
              <a:rPr lang="en-US" altLang="zh-CN" sz="2800" b="1" dirty="0">
                <a:latin typeface="Times New Roman" panose="02020603050405020304" pitchFamily="18" charset="0"/>
                <a:cs typeface="Times New Roman" panose="02020603050405020304" pitchFamily="18" charset="0"/>
              </a:rPr>
              <a:t>                     (</a:t>
            </a:r>
            <a:r>
              <a:rPr lang="en-US" altLang="zh-CN" sz="2800" b="1" dirty="0">
                <a:solidFill>
                  <a:srgbClr val="FF0000"/>
                </a:solidFill>
                <a:latin typeface="Times New Roman" panose="02020603050405020304" pitchFamily="18" charset="0"/>
                <a:cs typeface="Times New Roman" panose="02020603050405020304" pitchFamily="18" charset="0"/>
              </a:rPr>
              <a:t>1(</a:t>
            </a:r>
            <a:r>
              <a:rPr lang="zh-CN" altLang="en-US" sz="2800" b="1" dirty="0">
                <a:solidFill>
                  <a:srgbClr val="FF0000"/>
                </a:solidFill>
                <a:latin typeface="Times New Roman" panose="02020603050405020304" pitchFamily="18" charset="0"/>
                <a:cs typeface="Times New Roman" panose="02020603050405020304" pitchFamily="18" charset="0"/>
              </a:rPr>
              <a:t>缺省</a:t>
            </a:r>
            <a:r>
              <a:rPr lang="en-US" altLang="zh-CN" sz="2800" b="1" dirty="0">
                <a:solidFill>
                  <a:srgbClr val="FF0000"/>
                </a:solidFill>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——BP</a:t>
            </a:r>
            <a:r>
              <a:rPr lang="zh-CN" altLang="en-US" sz="2800" b="1" dirty="0">
                <a:latin typeface="Times New Roman" panose="02020603050405020304" pitchFamily="18" charset="0"/>
                <a:cs typeface="Times New Roman" panose="02020603050405020304" pitchFamily="18" charset="0"/>
              </a:rPr>
              <a:t>算法与最小二乘算法的结合，</a:t>
            </a:r>
            <a:endParaRPr lang="en-US" altLang="zh-CN" sz="2800" b="1" dirty="0">
              <a:latin typeface="Times New Roman" panose="02020603050405020304" pitchFamily="18" charset="0"/>
              <a:cs typeface="Times New Roman" panose="02020603050405020304" pitchFamily="18" charset="0"/>
            </a:endParaRPr>
          </a:p>
          <a:p>
            <a:pPr eaLnBrk="1" hangingPunct="1">
              <a:buNone/>
            </a:pPr>
            <a:r>
              <a:rPr lang="en-US" altLang="zh-CN" sz="2800" b="1" dirty="0">
                <a:latin typeface="Times New Roman" panose="02020603050405020304" pitchFamily="18" charset="0"/>
                <a:cs typeface="Times New Roman" panose="02020603050405020304" pitchFamily="18" charset="0"/>
              </a:rPr>
              <a:t>                      0——BP</a:t>
            </a:r>
            <a:r>
              <a:rPr lang="zh-CN" altLang="en-US" sz="2800" b="1" dirty="0">
                <a:latin typeface="Times New Roman" panose="02020603050405020304" pitchFamily="18" charset="0"/>
                <a:cs typeface="Times New Roman" panose="02020603050405020304" pitchFamily="18" charset="0"/>
              </a:rPr>
              <a:t>算法</a:t>
            </a:r>
            <a:r>
              <a:rPr lang="en-US" altLang="zh-CN" sz="2800" b="1" dirty="0">
                <a:latin typeface="Times New Roman" panose="02020603050405020304" pitchFamily="18" charset="0"/>
                <a:cs typeface="Times New Roman" panose="02020603050405020304" pitchFamily="18" charset="0"/>
              </a:rPr>
              <a:t>)</a:t>
            </a:r>
          </a:p>
          <a:p>
            <a:endParaRPr lang="zh-CN" altLang="en-US" sz="2800" dirty="0"/>
          </a:p>
        </p:txBody>
      </p:sp>
      <p:sp>
        <p:nvSpPr>
          <p:cNvPr id="4" name="灯片编号占位符 3">
            <a:extLst>
              <a:ext uri="{FF2B5EF4-FFF2-40B4-BE49-F238E27FC236}">
                <a16:creationId xmlns:a16="http://schemas.microsoft.com/office/drawing/2014/main" id="{D35FF0E8-8456-B178-AA13-02C9E6109481}"/>
              </a:ext>
            </a:extLst>
          </p:cNvPr>
          <p:cNvSpPr>
            <a:spLocks noGrp="1"/>
          </p:cNvSpPr>
          <p:nvPr>
            <p:ph type="sldNum" sz="quarter" idx="11"/>
          </p:nvPr>
        </p:nvSpPr>
        <p:spPr/>
        <p:txBody>
          <a:bodyPr/>
          <a:lstStyle/>
          <a:p>
            <a:pPr>
              <a:defRPr/>
            </a:pPr>
            <a:fld id="{1F3E0329-027F-44B1-A42A-8643FF593956}" type="slidenum">
              <a:rPr lang="en-US" altLang="zh-CN" smtClean="0"/>
              <a:pPr>
                <a:defRPr/>
              </a:pPr>
              <a:t>41</a:t>
            </a:fld>
            <a:endParaRPr lang="en-US" altLang="zh-CN"/>
          </a:p>
        </p:txBody>
      </p:sp>
    </p:spTree>
    <p:extLst>
      <p:ext uri="{BB962C8B-B14F-4D97-AF65-F5344CB8AC3E}">
        <p14:creationId xmlns:p14="http://schemas.microsoft.com/office/powerpoint/2010/main" val="262067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left)">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wipe(left)">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188640"/>
            <a:ext cx="8229600" cy="1371600"/>
          </a:xfrm>
        </p:spPr>
        <p:txBody>
          <a:bodyPr/>
          <a:lstStyle/>
          <a:p>
            <a:pPr algn="ctr"/>
            <a:r>
              <a:rPr lang="en-US" altLang="zh-CN" dirty="0" err="1">
                <a:solidFill>
                  <a:srgbClr val="FF0000"/>
                </a:solidFill>
              </a:rPr>
              <a:t>anfis</a:t>
            </a:r>
            <a:r>
              <a:rPr lang="en-US" altLang="zh-CN" dirty="0">
                <a:solidFill>
                  <a:srgbClr val="008000"/>
                </a:solidFill>
              </a:rPr>
              <a:t> </a:t>
            </a:r>
            <a:r>
              <a:rPr lang="zh-CN" altLang="en-US" dirty="0">
                <a:solidFill>
                  <a:srgbClr val="008000"/>
                </a:solidFill>
                <a:latin typeface="黑体" panose="02010609060101010101" pitchFamily="49" charset="-122"/>
                <a:ea typeface="黑体" panose="02010609060101010101" pitchFamily="49" charset="-122"/>
              </a:rPr>
              <a:t>函数说明</a:t>
            </a:r>
          </a:p>
        </p:txBody>
      </p:sp>
      <p:sp>
        <p:nvSpPr>
          <p:cNvPr id="3" name="内容占位符 2"/>
          <p:cNvSpPr>
            <a:spLocks noGrp="1"/>
          </p:cNvSpPr>
          <p:nvPr>
            <p:ph idx="1"/>
          </p:nvPr>
        </p:nvSpPr>
        <p:spPr>
          <a:xfrm>
            <a:off x="983432" y="1412776"/>
            <a:ext cx="10153128" cy="5184576"/>
          </a:xfrm>
        </p:spPr>
        <p:txBody>
          <a:bodyPr/>
          <a:lstStyle/>
          <a:p>
            <a:pPr lvl="1" eaLnBrk="1" hangingPunct="1">
              <a:lnSpc>
                <a:spcPct val="120000"/>
              </a:lnSpc>
              <a:buNone/>
            </a:pPr>
            <a:r>
              <a:rPr lang="en-US" altLang="zh-CN" sz="3200" b="1" dirty="0">
                <a:solidFill>
                  <a:srgbClr val="008000"/>
                </a:solidFill>
              </a:rPr>
              <a:t>[</a:t>
            </a:r>
            <a:r>
              <a:rPr lang="en-US" altLang="zh-CN" sz="3200" b="1" dirty="0">
                <a:solidFill>
                  <a:srgbClr val="0000FF"/>
                </a:solidFill>
              </a:rPr>
              <a:t>Fis2</a:t>
            </a:r>
            <a:r>
              <a:rPr lang="en-US" altLang="zh-CN" sz="3200" b="1" dirty="0">
                <a:solidFill>
                  <a:srgbClr val="008000"/>
                </a:solidFill>
              </a:rPr>
              <a:t>,error,stepsize, </a:t>
            </a:r>
            <a:r>
              <a:rPr lang="en-US" altLang="zh-CN" sz="3200" b="1" dirty="0"/>
              <a:t>fis3</a:t>
            </a:r>
            <a:r>
              <a:rPr lang="en-US" altLang="zh-CN" sz="3200" b="1" dirty="0">
                <a:solidFill>
                  <a:srgbClr val="008000"/>
                </a:solidFill>
              </a:rPr>
              <a:t>,chkEr]=</a:t>
            </a:r>
          </a:p>
          <a:p>
            <a:pPr eaLnBrk="1" hangingPunct="1">
              <a:lnSpc>
                <a:spcPct val="120000"/>
              </a:lnSpc>
              <a:buNone/>
            </a:pPr>
            <a:r>
              <a:rPr lang="en-US" altLang="zh-CN" b="1" dirty="0" err="1">
                <a:solidFill>
                  <a:srgbClr val="FF0000"/>
                </a:solidFill>
                <a:latin typeface="Times New Roman" panose="02020603050405020304" pitchFamily="18" charset="0"/>
                <a:cs typeface="Times New Roman" panose="02020603050405020304" pitchFamily="18" charset="0"/>
              </a:rPr>
              <a:t>anfis</a:t>
            </a:r>
            <a:r>
              <a:rPr lang="en-US" altLang="zh-CN" b="1" dirty="0">
                <a:solidFill>
                  <a:srgbClr val="008000"/>
                </a:solidFill>
                <a:latin typeface="Times New Roman" panose="02020603050405020304" pitchFamily="18" charset="0"/>
                <a:cs typeface="Times New Roman" panose="02020603050405020304" pitchFamily="18" charset="0"/>
              </a:rPr>
              <a:t>(</a:t>
            </a:r>
            <a:r>
              <a:rPr lang="en-US" altLang="zh-CN" b="1" dirty="0" err="1">
                <a:solidFill>
                  <a:srgbClr val="008000"/>
                </a:solidFill>
                <a:latin typeface="Times New Roman" panose="02020603050405020304" pitchFamily="18" charset="0"/>
                <a:cs typeface="Times New Roman" panose="02020603050405020304" pitchFamily="18" charset="0"/>
              </a:rPr>
              <a:t>trndata</a:t>
            </a:r>
            <a:r>
              <a:rPr lang="en-US" altLang="zh-CN" b="1" dirty="0">
                <a:solidFill>
                  <a:srgbClr val="008000"/>
                </a:solidFill>
                <a:latin typeface="Times New Roman" panose="02020603050405020304" pitchFamily="18" charset="0"/>
                <a:cs typeface="Times New Roman" panose="02020603050405020304" pitchFamily="18" charset="0"/>
              </a:rPr>
              <a:t>, </a:t>
            </a:r>
            <a:r>
              <a:rPr lang="en-US" altLang="zh-CN" b="1" dirty="0">
                <a:solidFill>
                  <a:srgbClr val="CC00CC"/>
                </a:solidFill>
                <a:latin typeface="Times New Roman" panose="02020603050405020304" pitchFamily="18" charset="0"/>
                <a:cs typeface="Times New Roman" panose="02020603050405020304" pitchFamily="18" charset="0"/>
              </a:rPr>
              <a:t>fis1</a:t>
            </a:r>
            <a:r>
              <a:rPr lang="en-US" altLang="zh-CN" b="1" dirty="0">
                <a:solidFill>
                  <a:srgbClr val="008000"/>
                </a:solidFill>
                <a:latin typeface="Times New Roman" panose="02020603050405020304" pitchFamily="18" charset="0"/>
                <a:cs typeface="Times New Roman" panose="02020603050405020304" pitchFamily="18" charset="0"/>
              </a:rPr>
              <a:t>, </a:t>
            </a:r>
            <a:r>
              <a:rPr lang="en-US" altLang="zh-CN" b="1" dirty="0" err="1">
                <a:solidFill>
                  <a:srgbClr val="008000"/>
                </a:solidFill>
                <a:latin typeface="Times New Roman" panose="02020603050405020304" pitchFamily="18" charset="0"/>
                <a:cs typeface="Times New Roman" panose="02020603050405020304" pitchFamily="18" charset="0"/>
              </a:rPr>
              <a:t>trnOpt</a:t>
            </a:r>
            <a:r>
              <a:rPr lang="en-US" altLang="zh-CN" b="1" dirty="0">
                <a:solidFill>
                  <a:srgbClr val="008000"/>
                </a:solidFill>
                <a:latin typeface="Times New Roman" panose="02020603050405020304" pitchFamily="18" charset="0"/>
                <a:cs typeface="Times New Roman" panose="02020603050405020304" pitchFamily="18" charset="0"/>
              </a:rPr>
              <a:t>, </a:t>
            </a:r>
            <a:r>
              <a:rPr lang="en-US" altLang="zh-CN" b="1" dirty="0" err="1">
                <a:solidFill>
                  <a:srgbClr val="008000"/>
                </a:solidFill>
                <a:latin typeface="Times New Roman" panose="02020603050405020304" pitchFamily="18" charset="0"/>
                <a:cs typeface="Times New Roman" panose="02020603050405020304" pitchFamily="18" charset="0"/>
              </a:rPr>
              <a:t>dispOpt</a:t>
            </a:r>
            <a:r>
              <a:rPr lang="en-US" altLang="zh-CN" b="1" dirty="0">
                <a:solidFill>
                  <a:srgbClr val="008000"/>
                </a:solidFill>
                <a:latin typeface="Times New Roman" panose="02020603050405020304" pitchFamily="18" charset="0"/>
                <a:cs typeface="Times New Roman" panose="02020603050405020304" pitchFamily="18" charset="0"/>
              </a:rPr>
              <a:t>, </a:t>
            </a:r>
            <a:r>
              <a:rPr lang="en-US" altLang="zh-CN" b="1" dirty="0" err="1">
                <a:solidFill>
                  <a:srgbClr val="008000"/>
                </a:solidFill>
                <a:latin typeface="Times New Roman" panose="02020603050405020304" pitchFamily="18" charset="0"/>
                <a:cs typeface="Times New Roman" panose="02020603050405020304" pitchFamily="18" charset="0"/>
              </a:rPr>
              <a:t>chkData</a:t>
            </a:r>
            <a:r>
              <a:rPr lang="en-US" altLang="zh-CN" b="1" dirty="0">
                <a:solidFill>
                  <a:srgbClr val="008000"/>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dirty="0">
                <a:solidFill>
                  <a:srgbClr val="008000"/>
                </a:solidFill>
                <a:latin typeface="Times New Roman" panose="02020603050405020304" pitchFamily="18" charset="0"/>
                <a:cs typeface="Times New Roman" panose="02020603050405020304" pitchFamily="18" charset="0"/>
              </a:rPr>
              <a:t>Method</a:t>
            </a:r>
            <a:r>
              <a:rPr lang="en-US" altLang="zh-CN" b="1" dirty="0">
                <a:latin typeface="Times New Roman" panose="02020603050405020304" pitchFamily="18" charset="0"/>
                <a:cs typeface="Times New Roman" panose="02020603050405020304" pitchFamily="18" charset="0"/>
              </a:rPr>
              <a:t>]</a:t>
            </a:r>
            <a:r>
              <a:rPr lang="en-US" altLang="zh-CN" b="1" dirty="0">
                <a:solidFill>
                  <a:srgbClr val="008000"/>
                </a:solidFill>
                <a:latin typeface="Times New Roman" panose="02020603050405020304" pitchFamily="18" charset="0"/>
                <a:cs typeface="Times New Roman" panose="02020603050405020304" pitchFamily="18" charset="0"/>
              </a:rPr>
              <a:t>)</a:t>
            </a:r>
          </a:p>
          <a:p>
            <a:pPr eaLnBrk="1" hangingPunct="1">
              <a:lnSpc>
                <a:spcPct val="120000"/>
              </a:lnSpc>
              <a:buNone/>
            </a:pPr>
            <a:r>
              <a:rPr lang="zh-CN" altLang="en-US" sz="2800" b="1" dirty="0">
                <a:latin typeface="Times New Roman" panose="02020603050405020304" pitchFamily="18" charset="0"/>
                <a:cs typeface="Times New Roman" panose="02020603050405020304" pitchFamily="18" charset="0"/>
              </a:rPr>
              <a:t>输出函数</a:t>
            </a:r>
            <a:r>
              <a:rPr lang="en-US" altLang="zh-CN" sz="2800" b="1" dirty="0">
                <a:latin typeface="Times New Roman" panose="02020603050405020304" pitchFamily="18" charset="0"/>
                <a:cs typeface="Times New Roman" panose="02020603050405020304" pitchFamily="18" charset="0"/>
              </a:rPr>
              <a:t>——</a:t>
            </a:r>
          </a:p>
          <a:p>
            <a:pPr eaLnBrk="1" hangingPunct="1">
              <a:lnSpc>
                <a:spcPct val="120000"/>
              </a:lnSpc>
              <a:buNone/>
            </a:pPr>
            <a:r>
              <a:rPr lang="en-US" altLang="zh-CN" sz="2800" b="1" dirty="0">
                <a:solidFill>
                  <a:srgbClr val="0000FF"/>
                </a:solidFill>
              </a:rPr>
              <a:t>Fis2</a:t>
            </a:r>
            <a:r>
              <a:rPr lang="en-US" altLang="zh-CN" sz="2800" b="1" dirty="0"/>
              <a:t>——</a:t>
            </a:r>
            <a:r>
              <a:rPr lang="zh-CN" altLang="en-US" sz="2800" b="1" dirty="0"/>
              <a:t>最后训练结束时的</a:t>
            </a:r>
            <a:r>
              <a:rPr lang="en-US" altLang="zh-CN" sz="2800" b="1" dirty="0" err="1"/>
              <a:t>Fis</a:t>
            </a:r>
            <a:r>
              <a:rPr lang="zh-CN" altLang="en-US" sz="2800" b="1" dirty="0"/>
              <a:t>结构</a:t>
            </a:r>
            <a:endParaRPr lang="en-US" altLang="zh-CN" sz="2800" b="1" dirty="0"/>
          </a:p>
          <a:p>
            <a:pPr eaLnBrk="1" hangingPunct="1">
              <a:lnSpc>
                <a:spcPct val="120000"/>
              </a:lnSpc>
              <a:buNone/>
            </a:pPr>
            <a:r>
              <a:rPr lang="en-US" altLang="zh-CN" sz="2800" b="1" dirty="0">
                <a:solidFill>
                  <a:srgbClr val="008000"/>
                </a:solidFill>
                <a:latin typeface="Times New Roman" panose="02020603050405020304" pitchFamily="18" charset="0"/>
                <a:cs typeface="Times New Roman" panose="02020603050405020304" pitchFamily="18" charset="0"/>
              </a:rPr>
              <a:t>error</a:t>
            </a:r>
            <a:r>
              <a:rPr lang="en-US" altLang="zh-CN" sz="2800" b="1" dirty="0">
                <a:latin typeface="Times New Roman" panose="02020603050405020304" pitchFamily="18" charset="0"/>
                <a:cs typeface="Times New Roman" panose="02020603050405020304" pitchFamily="18" charset="0"/>
              </a:rPr>
              <a:t>——</a:t>
            </a:r>
            <a:r>
              <a:rPr lang="zh-CN" altLang="en-US" sz="2800" b="1" dirty="0"/>
              <a:t>最后训练结束时的误差</a:t>
            </a:r>
            <a:endParaRPr lang="en-US" altLang="zh-CN" sz="2800" b="1" dirty="0"/>
          </a:p>
          <a:p>
            <a:pPr eaLnBrk="1" hangingPunct="1">
              <a:lnSpc>
                <a:spcPct val="120000"/>
              </a:lnSpc>
              <a:buNone/>
            </a:pPr>
            <a:r>
              <a:rPr lang="en-US" altLang="zh-CN" sz="2800" b="1" dirty="0" err="1">
                <a:solidFill>
                  <a:srgbClr val="008000"/>
                </a:solidFill>
                <a:latin typeface="Times New Roman" panose="02020603050405020304" pitchFamily="18" charset="0"/>
                <a:cs typeface="Times New Roman" panose="02020603050405020304" pitchFamily="18" charset="0"/>
              </a:rPr>
              <a:t>stepsize</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为训练步长向量</a:t>
            </a:r>
            <a:endParaRPr lang="en-US" altLang="zh-CN" sz="2800" b="1" dirty="0">
              <a:latin typeface="Times New Roman" panose="02020603050405020304" pitchFamily="18" charset="0"/>
              <a:cs typeface="Times New Roman" panose="02020603050405020304" pitchFamily="18" charset="0"/>
            </a:endParaRPr>
          </a:p>
          <a:p>
            <a:pPr eaLnBrk="1" hangingPunct="1">
              <a:lnSpc>
                <a:spcPct val="120000"/>
              </a:lnSpc>
              <a:buNone/>
            </a:pPr>
            <a:r>
              <a:rPr lang="en-US" altLang="zh-CN" sz="2800" b="1" dirty="0">
                <a:latin typeface="Times New Roman" panose="02020603050405020304" pitchFamily="18" charset="0"/>
                <a:cs typeface="Times New Roman" panose="02020603050405020304" pitchFamily="18" charset="0"/>
              </a:rPr>
              <a:t>fis3——</a:t>
            </a:r>
            <a:r>
              <a:rPr lang="zh-CN" altLang="en-US" sz="2800" b="1" dirty="0">
                <a:latin typeface="Times New Roman" panose="02020603050405020304" pitchFamily="18" charset="0"/>
                <a:cs typeface="Times New Roman" panose="02020603050405020304" pitchFamily="18" charset="0"/>
              </a:rPr>
              <a:t>对测试数据具有最小均方差的</a:t>
            </a:r>
            <a:r>
              <a:rPr lang="en-US" altLang="zh-CN" sz="2800" b="1" dirty="0" err="1">
                <a:latin typeface="Times New Roman" panose="02020603050405020304" pitchFamily="18" charset="0"/>
                <a:cs typeface="Times New Roman" panose="02020603050405020304" pitchFamily="18" charset="0"/>
              </a:rPr>
              <a:t>Fis</a:t>
            </a:r>
            <a:r>
              <a:rPr lang="zh-CN" altLang="en-US" sz="2800" b="1" dirty="0">
                <a:latin typeface="Times New Roman" panose="02020603050405020304" pitchFamily="18" charset="0"/>
                <a:cs typeface="Times New Roman" panose="02020603050405020304" pitchFamily="18" charset="0"/>
              </a:rPr>
              <a:t>结构</a:t>
            </a:r>
            <a:endParaRPr lang="en-US" altLang="zh-CN" sz="2800" b="1" dirty="0">
              <a:latin typeface="Times New Roman" panose="02020603050405020304" pitchFamily="18" charset="0"/>
              <a:cs typeface="Times New Roman" panose="02020603050405020304" pitchFamily="18" charset="0"/>
            </a:endParaRPr>
          </a:p>
          <a:p>
            <a:pPr eaLnBrk="1" hangingPunct="1">
              <a:lnSpc>
                <a:spcPct val="120000"/>
              </a:lnSpc>
              <a:buNone/>
            </a:pPr>
            <a:r>
              <a:rPr lang="en-US" altLang="zh-CN" sz="2800" b="1" dirty="0" err="1">
                <a:solidFill>
                  <a:srgbClr val="008000"/>
                </a:solidFill>
                <a:latin typeface="Times New Roman" panose="02020603050405020304" pitchFamily="18" charset="0"/>
                <a:cs typeface="Times New Roman" panose="02020603050405020304" pitchFamily="18" charset="0"/>
              </a:rPr>
              <a:t>chkEr</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测试数据具有的最小均方差。</a:t>
            </a:r>
            <a:endParaRPr lang="en-US" altLang="zh-CN" sz="2800" b="1" dirty="0">
              <a:latin typeface="Times New Roman" panose="02020603050405020304" pitchFamily="18" charset="0"/>
              <a:cs typeface="Times New Roman" panose="02020603050405020304" pitchFamily="18" charset="0"/>
            </a:endParaRPr>
          </a:p>
          <a:p>
            <a:endParaRPr lang="zh-CN" altLang="en-US" sz="2800" dirty="0"/>
          </a:p>
        </p:txBody>
      </p:sp>
      <p:sp>
        <p:nvSpPr>
          <p:cNvPr id="4" name="灯片编号占位符 3">
            <a:extLst>
              <a:ext uri="{FF2B5EF4-FFF2-40B4-BE49-F238E27FC236}">
                <a16:creationId xmlns:a16="http://schemas.microsoft.com/office/drawing/2014/main" id="{A1C89504-7BB1-8D9E-32BE-516C84BDA7EB}"/>
              </a:ext>
            </a:extLst>
          </p:cNvPr>
          <p:cNvSpPr>
            <a:spLocks noGrp="1"/>
          </p:cNvSpPr>
          <p:nvPr>
            <p:ph type="sldNum" sz="quarter" idx="11"/>
          </p:nvPr>
        </p:nvSpPr>
        <p:spPr/>
        <p:txBody>
          <a:bodyPr/>
          <a:lstStyle/>
          <a:p>
            <a:pPr>
              <a:defRPr/>
            </a:pPr>
            <a:fld id="{1F3E0329-027F-44B1-A42A-8643FF593956}" type="slidenum">
              <a:rPr lang="en-US" altLang="zh-CN" smtClean="0"/>
              <a:pPr>
                <a:defRPr/>
              </a:pPr>
              <a:t>42</a:t>
            </a:fld>
            <a:endParaRPr lang="en-US" altLang="zh-CN"/>
          </a:p>
        </p:txBody>
      </p:sp>
    </p:spTree>
    <p:extLst>
      <p:ext uri="{BB962C8B-B14F-4D97-AF65-F5344CB8AC3E}">
        <p14:creationId xmlns:p14="http://schemas.microsoft.com/office/powerpoint/2010/main" val="99631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1981200" y="457209"/>
            <a:ext cx="8229600" cy="1171575"/>
          </a:xfrm>
        </p:spPr>
        <p:txBody>
          <a:bodyPr/>
          <a:lstStyle/>
          <a:p>
            <a:pPr algn="ctr" eaLnBrk="1" hangingPunct="1"/>
            <a:r>
              <a:rPr lang="en-US" altLang="zh-CN" dirty="0">
                <a:solidFill>
                  <a:srgbClr val="008000"/>
                </a:solidFill>
                <a:ea typeface="黑体" panose="02010609060101010101" pitchFamily="49" charset="-122"/>
              </a:rPr>
              <a:t>ANFIS </a:t>
            </a:r>
            <a:r>
              <a:rPr lang="zh-CN" altLang="en-US" dirty="0">
                <a:solidFill>
                  <a:srgbClr val="008000"/>
                </a:solidFill>
                <a:ea typeface="黑体" panose="02010609060101010101" pitchFamily="49" charset="-122"/>
              </a:rPr>
              <a:t>实例</a:t>
            </a:r>
            <a:r>
              <a:rPr lang="en-US" altLang="zh-CN" dirty="0">
                <a:solidFill>
                  <a:srgbClr val="008000"/>
                </a:solidFill>
                <a:ea typeface="黑体" panose="02010609060101010101" pitchFamily="49" charset="-122"/>
              </a:rPr>
              <a:t>1</a:t>
            </a:r>
          </a:p>
        </p:txBody>
      </p:sp>
      <p:sp>
        <p:nvSpPr>
          <p:cNvPr id="18435" name="Rectangle 3"/>
          <p:cNvSpPr>
            <a:spLocks noGrp="1" noChangeArrowheads="1"/>
          </p:cNvSpPr>
          <p:nvPr>
            <p:ph type="body" idx="4294967295"/>
          </p:nvPr>
        </p:nvSpPr>
        <p:spPr>
          <a:xfrm>
            <a:off x="1271464" y="1557338"/>
            <a:ext cx="9577064" cy="4895850"/>
          </a:xfrm>
        </p:spPr>
        <p:txBody>
          <a:bodyPr/>
          <a:lstStyle/>
          <a:p>
            <a:pPr eaLnBrk="1" hangingPunct="1">
              <a:lnSpc>
                <a:spcPct val="120000"/>
              </a:lnSpc>
            </a:pPr>
            <a:r>
              <a:rPr lang="zh-CN" altLang="en-US" dirty="0">
                <a:ea typeface="黑体" panose="02010609060101010101" pitchFamily="49" charset="-122"/>
              </a:rPr>
              <a:t>利用</a:t>
            </a:r>
            <a:r>
              <a:rPr lang="en-US" altLang="zh-CN" dirty="0">
                <a:ea typeface="黑体" panose="02010609060101010101" pitchFamily="49" charset="-122"/>
              </a:rPr>
              <a:t>F</a:t>
            </a:r>
            <a:r>
              <a:rPr lang="zh-CN" altLang="en-US" dirty="0">
                <a:ea typeface="黑体" panose="02010609060101010101" pitchFamily="49" charset="-122"/>
              </a:rPr>
              <a:t>推理系统对下面非线性函数进行逼近</a:t>
            </a:r>
          </a:p>
          <a:p>
            <a:pPr eaLnBrk="1" hangingPunct="1">
              <a:lnSpc>
                <a:spcPct val="120000"/>
              </a:lnSpc>
              <a:buFont typeface="Wingdings" panose="05000000000000000000" pitchFamily="2" charset="2"/>
              <a:buNone/>
            </a:pPr>
            <a:r>
              <a:rPr lang="zh-CN" altLang="en-US" sz="3600" b="1" i="1" dirty="0">
                <a:solidFill>
                  <a:srgbClr val="FF0000"/>
                </a:solidFill>
                <a:latin typeface="Times New Roman" panose="02020603050405020304" pitchFamily="18" charset="0"/>
                <a:ea typeface="黑体" panose="02010609060101010101" pitchFamily="49" charset="-122"/>
              </a:rPr>
              <a:t>    </a:t>
            </a:r>
            <a:r>
              <a:rPr lang="en-US" altLang="zh-CN" sz="3600" b="1" i="1" dirty="0">
                <a:solidFill>
                  <a:srgbClr val="FF0000"/>
                </a:solidFill>
                <a:latin typeface="Times New Roman" panose="02020603050405020304" pitchFamily="18" charset="0"/>
                <a:ea typeface="黑体" panose="02010609060101010101" pitchFamily="49" charset="-122"/>
              </a:rPr>
              <a:t>f</a:t>
            </a:r>
            <a:r>
              <a:rPr lang="en-US" altLang="zh-CN" sz="3600" b="1" dirty="0">
                <a:solidFill>
                  <a:srgbClr val="FF0000"/>
                </a:solidFill>
                <a:latin typeface="Times New Roman" panose="02020603050405020304" pitchFamily="18" charset="0"/>
                <a:ea typeface="黑体" panose="02010609060101010101" pitchFamily="49" charset="-122"/>
              </a:rPr>
              <a:t>(</a:t>
            </a:r>
            <a:r>
              <a:rPr lang="en-US" altLang="zh-CN" sz="3600" b="1" i="1" dirty="0">
                <a:solidFill>
                  <a:srgbClr val="FF0000"/>
                </a:solidFill>
                <a:latin typeface="Times New Roman" panose="02020603050405020304" pitchFamily="18" charset="0"/>
                <a:ea typeface="黑体" panose="02010609060101010101" pitchFamily="49" charset="-122"/>
              </a:rPr>
              <a:t>x</a:t>
            </a:r>
            <a:r>
              <a:rPr lang="en-US" altLang="zh-CN" sz="3600" b="1" dirty="0">
                <a:solidFill>
                  <a:srgbClr val="FF0000"/>
                </a:solidFill>
                <a:latin typeface="Times New Roman" panose="02020603050405020304" pitchFamily="18" charset="0"/>
                <a:ea typeface="黑体" panose="02010609060101010101" pitchFamily="49" charset="-122"/>
              </a:rPr>
              <a:t>)</a:t>
            </a:r>
            <a:r>
              <a:rPr lang="en-US" altLang="zh-CN" sz="3600" b="1" i="1" dirty="0">
                <a:solidFill>
                  <a:srgbClr val="FF0000"/>
                </a:solidFill>
                <a:latin typeface="Times New Roman" panose="02020603050405020304" pitchFamily="18" charset="0"/>
                <a:ea typeface="黑体" panose="02010609060101010101" pitchFamily="49" charset="-122"/>
              </a:rPr>
              <a:t>=</a:t>
            </a:r>
            <a:r>
              <a:rPr lang="en-US" altLang="zh-CN" sz="3600" b="1" dirty="0">
                <a:solidFill>
                  <a:srgbClr val="FF0000"/>
                </a:solidFill>
                <a:latin typeface="Times New Roman" panose="02020603050405020304" pitchFamily="18" charset="0"/>
                <a:ea typeface="黑体" panose="02010609060101010101" pitchFamily="49" charset="-122"/>
              </a:rPr>
              <a:t>0.7</a:t>
            </a:r>
            <a:r>
              <a:rPr lang="en-US" altLang="zh-CN" sz="3600" b="1" i="1" dirty="0">
                <a:solidFill>
                  <a:srgbClr val="FF0000"/>
                </a:solidFill>
                <a:latin typeface="Times New Roman" panose="02020603050405020304" pitchFamily="18" charset="0"/>
                <a:ea typeface="黑体" panose="02010609060101010101" pitchFamily="49" charset="-122"/>
              </a:rPr>
              <a:t>sin</a:t>
            </a:r>
            <a:r>
              <a:rPr lang="en-US" altLang="zh-CN" sz="3600" b="1" dirty="0">
                <a:solidFill>
                  <a:srgbClr val="FF0000"/>
                </a:solidFill>
                <a:latin typeface="Times New Roman" panose="02020603050405020304" pitchFamily="18" charset="0"/>
                <a:ea typeface="黑体" panose="02010609060101010101" pitchFamily="49" charset="-122"/>
              </a:rPr>
              <a:t>(</a:t>
            </a:r>
            <a:r>
              <a:rPr lang="el-GR" altLang="en-US" sz="3600" b="1" i="1" dirty="0">
                <a:solidFill>
                  <a:srgbClr val="FF0000"/>
                </a:solidFill>
                <a:latin typeface="Times New Roman" panose="02020603050405020304" pitchFamily="18" charset="0"/>
                <a:ea typeface="黑体" panose="02010609060101010101" pitchFamily="49" charset="-122"/>
              </a:rPr>
              <a:t>π</a:t>
            </a:r>
            <a:r>
              <a:rPr lang="en-US" altLang="zh-CN" sz="3600" b="1" i="1" dirty="0">
                <a:solidFill>
                  <a:srgbClr val="FF0000"/>
                </a:solidFill>
                <a:latin typeface="Times New Roman" panose="02020603050405020304" pitchFamily="18" charset="0"/>
                <a:ea typeface="黑体" panose="02010609060101010101" pitchFamily="49" charset="-122"/>
              </a:rPr>
              <a:t>x</a:t>
            </a:r>
            <a:r>
              <a:rPr lang="en-US" altLang="zh-CN" sz="3600" b="1" dirty="0">
                <a:solidFill>
                  <a:srgbClr val="FF0000"/>
                </a:solidFill>
                <a:latin typeface="Times New Roman" panose="02020603050405020304" pitchFamily="18" charset="0"/>
                <a:ea typeface="黑体" panose="02010609060101010101" pitchFamily="49" charset="-122"/>
              </a:rPr>
              <a:t>)+0.3</a:t>
            </a:r>
            <a:r>
              <a:rPr lang="en-US" altLang="zh-CN" sz="3600" b="1" i="1" dirty="0">
                <a:solidFill>
                  <a:srgbClr val="FF0000"/>
                </a:solidFill>
                <a:latin typeface="Times New Roman" panose="02020603050405020304" pitchFamily="18" charset="0"/>
                <a:ea typeface="黑体" panose="02010609060101010101" pitchFamily="49" charset="-122"/>
              </a:rPr>
              <a:t>sin</a:t>
            </a:r>
            <a:r>
              <a:rPr lang="en-US" altLang="zh-CN" sz="3600" b="1" dirty="0">
                <a:solidFill>
                  <a:srgbClr val="FF0000"/>
                </a:solidFill>
                <a:latin typeface="Times New Roman" panose="02020603050405020304" pitchFamily="18" charset="0"/>
                <a:ea typeface="黑体" panose="02010609060101010101" pitchFamily="49" charset="-122"/>
              </a:rPr>
              <a:t>(3</a:t>
            </a:r>
            <a:r>
              <a:rPr lang="el-GR" altLang="en-US" sz="3600" b="1" i="1" dirty="0">
                <a:solidFill>
                  <a:srgbClr val="FF0000"/>
                </a:solidFill>
                <a:latin typeface="Times New Roman" panose="02020603050405020304" pitchFamily="18" charset="0"/>
                <a:ea typeface="黑体" panose="02010609060101010101" pitchFamily="49" charset="-122"/>
              </a:rPr>
              <a:t>π</a:t>
            </a:r>
            <a:r>
              <a:rPr lang="en-US" altLang="zh-CN" sz="3600" b="1" i="1" dirty="0">
                <a:solidFill>
                  <a:srgbClr val="FF0000"/>
                </a:solidFill>
                <a:latin typeface="Times New Roman" panose="02020603050405020304" pitchFamily="18" charset="0"/>
                <a:ea typeface="黑体" panose="02010609060101010101" pitchFamily="49" charset="-122"/>
              </a:rPr>
              <a:t>x</a:t>
            </a:r>
            <a:r>
              <a:rPr lang="en-US" altLang="zh-CN" sz="3600" b="1" dirty="0">
                <a:solidFill>
                  <a:srgbClr val="FF0000"/>
                </a:solidFill>
                <a:latin typeface="Times New Roman" panose="02020603050405020304" pitchFamily="18" charset="0"/>
                <a:ea typeface="黑体" panose="02010609060101010101" pitchFamily="49" charset="-122"/>
              </a:rPr>
              <a:t>)+0.1</a:t>
            </a:r>
            <a:r>
              <a:rPr lang="en-US" altLang="zh-CN" sz="3600" b="1" i="1" dirty="0">
                <a:solidFill>
                  <a:srgbClr val="FF0000"/>
                </a:solidFill>
                <a:latin typeface="Times New Roman" panose="02020603050405020304" pitchFamily="18" charset="0"/>
                <a:ea typeface="黑体" panose="02010609060101010101" pitchFamily="49" charset="-122"/>
              </a:rPr>
              <a:t>sin</a:t>
            </a:r>
            <a:r>
              <a:rPr lang="en-US" altLang="zh-CN" sz="3600" b="1" dirty="0">
                <a:solidFill>
                  <a:srgbClr val="FF0000"/>
                </a:solidFill>
                <a:latin typeface="Times New Roman" panose="02020603050405020304" pitchFamily="18" charset="0"/>
                <a:ea typeface="黑体" panose="02010609060101010101" pitchFamily="49" charset="-122"/>
              </a:rPr>
              <a:t>(5</a:t>
            </a:r>
            <a:r>
              <a:rPr lang="el-GR" altLang="en-US" sz="3600" b="1" i="1" dirty="0">
                <a:solidFill>
                  <a:srgbClr val="FF0000"/>
                </a:solidFill>
                <a:latin typeface="Times New Roman" panose="02020603050405020304" pitchFamily="18" charset="0"/>
                <a:ea typeface="黑体" panose="02010609060101010101" pitchFamily="49" charset="-122"/>
              </a:rPr>
              <a:t>π</a:t>
            </a:r>
            <a:r>
              <a:rPr lang="en-US" altLang="zh-CN" sz="3600" b="1" i="1" dirty="0">
                <a:solidFill>
                  <a:srgbClr val="FF0000"/>
                </a:solidFill>
                <a:latin typeface="Times New Roman" panose="02020603050405020304" pitchFamily="18" charset="0"/>
                <a:ea typeface="黑体" panose="02010609060101010101" pitchFamily="49" charset="-122"/>
              </a:rPr>
              <a:t>x</a:t>
            </a:r>
            <a:r>
              <a:rPr lang="en-US" altLang="zh-CN" sz="3600" b="1" dirty="0">
                <a:solidFill>
                  <a:srgbClr val="FF0000"/>
                </a:solidFill>
                <a:latin typeface="Times New Roman" panose="02020603050405020304" pitchFamily="18" charset="0"/>
                <a:ea typeface="黑体" panose="02010609060101010101" pitchFamily="49" charset="-122"/>
              </a:rPr>
              <a:t>)</a:t>
            </a:r>
          </a:p>
          <a:p>
            <a:pPr eaLnBrk="1" hangingPunct="1">
              <a:lnSpc>
                <a:spcPct val="120000"/>
              </a:lnSpc>
            </a:pPr>
            <a:r>
              <a:rPr lang="zh-CN" altLang="en-US" b="1" dirty="0">
                <a:solidFill>
                  <a:srgbClr val="0000FF"/>
                </a:solidFill>
                <a:ea typeface="楷体_GB2312" pitchFamily="49" charset="-122"/>
              </a:rPr>
              <a:t>设定</a:t>
            </a:r>
            <a:r>
              <a:rPr lang="en-US" altLang="zh-CN" b="1" dirty="0">
                <a:solidFill>
                  <a:srgbClr val="0000FF"/>
                </a:solidFill>
                <a:ea typeface="楷体_GB2312" pitchFamily="49" charset="-122"/>
              </a:rPr>
              <a:t>x</a:t>
            </a:r>
            <a:r>
              <a:rPr lang="zh-CN" altLang="en-US" b="1" dirty="0">
                <a:solidFill>
                  <a:srgbClr val="0000FF"/>
                </a:solidFill>
                <a:ea typeface="楷体_GB2312" pitchFamily="49" charset="-122"/>
              </a:rPr>
              <a:t>输入的范围为</a:t>
            </a:r>
            <a:r>
              <a:rPr lang="en-US" altLang="zh-CN" b="1" dirty="0">
                <a:solidFill>
                  <a:srgbClr val="0000FF"/>
                </a:solidFill>
                <a:ea typeface="楷体_GB2312" pitchFamily="49" charset="-122"/>
              </a:rPr>
              <a:t>[-1</a:t>
            </a:r>
            <a:r>
              <a:rPr lang="zh-CN" altLang="en-US" b="1" dirty="0">
                <a:solidFill>
                  <a:srgbClr val="0000FF"/>
                </a:solidFill>
                <a:ea typeface="楷体_GB2312" pitchFamily="49" charset="-122"/>
              </a:rPr>
              <a:t>，</a:t>
            </a:r>
            <a:r>
              <a:rPr lang="en-US" altLang="zh-CN" b="1" dirty="0">
                <a:solidFill>
                  <a:srgbClr val="0000FF"/>
                </a:solidFill>
                <a:ea typeface="楷体_GB2312" pitchFamily="49" charset="-122"/>
              </a:rPr>
              <a:t>1]</a:t>
            </a:r>
          </a:p>
          <a:p>
            <a:pPr lvl="1" eaLnBrk="1" hangingPunct="1">
              <a:lnSpc>
                <a:spcPct val="120000"/>
              </a:lnSpc>
            </a:pPr>
            <a:r>
              <a:rPr lang="zh-CN" altLang="en-US" b="1" dirty="0">
                <a:solidFill>
                  <a:srgbClr val="0000FF"/>
                </a:solidFill>
                <a:ea typeface="楷体_GB2312" pitchFamily="49" charset="-122"/>
              </a:rPr>
              <a:t>并将它</a:t>
            </a:r>
            <a:r>
              <a:rPr lang="en-US" altLang="zh-CN" b="1" dirty="0">
                <a:solidFill>
                  <a:srgbClr val="0000FF"/>
                </a:solidFill>
                <a:ea typeface="楷体_GB2312" pitchFamily="49" charset="-122"/>
              </a:rPr>
              <a:t>F</a:t>
            </a:r>
            <a:r>
              <a:rPr lang="zh-CN" altLang="en-US" b="1" dirty="0">
                <a:solidFill>
                  <a:srgbClr val="0000FF"/>
                </a:solidFill>
                <a:ea typeface="楷体_GB2312" pitchFamily="49" charset="-122"/>
              </a:rPr>
              <a:t>分割成</a:t>
            </a:r>
            <a:r>
              <a:rPr lang="zh-CN" altLang="en-US" b="1" u="sng" dirty="0">
                <a:solidFill>
                  <a:srgbClr val="0000FF"/>
                </a:solidFill>
                <a:ea typeface="楷体_GB2312" pitchFamily="49" charset="-122"/>
              </a:rPr>
              <a:t>五个区域</a:t>
            </a:r>
            <a:r>
              <a:rPr lang="en-US" altLang="zh-CN" b="1" dirty="0">
                <a:solidFill>
                  <a:srgbClr val="0000FF"/>
                </a:solidFill>
                <a:ea typeface="楷体_GB2312" pitchFamily="49" charset="-122"/>
              </a:rPr>
              <a:t>(</a:t>
            </a:r>
            <a:r>
              <a:rPr lang="zh-CN" altLang="en-US" b="1" dirty="0">
                <a:solidFill>
                  <a:srgbClr val="0000FF"/>
                </a:solidFill>
                <a:ea typeface="楷体_GB2312" pitchFamily="49" charset="-122"/>
              </a:rPr>
              <a:t>即设</a:t>
            </a:r>
            <a:r>
              <a:rPr lang="en-US" altLang="zh-CN" b="1" dirty="0">
                <a:solidFill>
                  <a:srgbClr val="0000FF"/>
                </a:solidFill>
                <a:ea typeface="楷体_GB2312" pitchFamily="49" charset="-122"/>
              </a:rPr>
              <a:t>5</a:t>
            </a:r>
            <a:r>
              <a:rPr lang="zh-CN" altLang="en-US" b="1" dirty="0">
                <a:solidFill>
                  <a:srgbClr val="0000FF"/>
                </a:solidFill>
                <a:ea typeface="楷体_GB2312" pitchFamily="49" charset="-122"/>
              </a:rPr>
              <a:t>个隶属函数</a:t>
            </a:r>
            <a:r>
              <a:rPr lang="en-US" altLang="zh-CN" b="1" dirty="0">
                <a:solidFill>
                  <a:srgbClr val="0000FF"/>
                </a:solidFill>
                <a:ea typeface="楷体_GB2312" pitchFamily="49" charset="-122"/>
              </a:rPr>
              <a:t>)</a:t>
            </a:r>
          </a:p>
          <a:p>
            <a:pPr lvl="1" eaLnBrk="1" hangingPunct="1">
              <a:lnSpc>
                <a:spcPct val="120000"/>
              </a:lnSpc>
            </a:pPr>
            <a:r>
              <a:rPr lang="en-US" altLang="zh-CN" b="1" dirty="0">
                <a:solidFill>
                  <a:srgbClr val="0000FF"/>
                </a:solidFill>
                <a:ea typeface="楷体_GB2312" pitchFamily="49" charset="-122"/>
              </a:rPr>
              <a:t>F</a:t>
            </a:r>
            <a:r>
              <a:rPr lang="zh-CN" altLang="en-US" b="1" dirty="0">
                <a:solidFill>
                  <a:srgbClr val="0000FF"/>
                </a:solidFill>
                <a:ea typeface="楷体_GB2312" pitchFamily="49" charset="-122"/>
              </a:rPr>
              <a:t>隶属函数采用</a:t>
            </a:r>
            <a:r>
              <a:rPr lang="zh-CN" altLang="en-US" b="1" u="sng" dirty="0">
                <a:solidFill>
                  <a:srgbClr val="0000FF"/>
                </a:solidFill>
                <a:ea typeface="楷体_GB2312" pitchFamily="49" charset="-122"/>
              </a:rPr>
              <a:t>广义的钟形函数</a:t>
            </a:r>
          </a:p>
          <a:p>
            <a:pPr eaLnBrk="1" hangingPunct="1">
              <a:lnSpc>
                <a:spcPct val="120000"/>
              </a:lnSpc>
            </a:pPr>
            <a:r>
              <a:rPr lang="zh-CN" altLang="en-US" b="1" dirty="0">
                <a:solidFill>
                  <a:srgbClr val="0000FF"/>
                </a:solidFill>
                <a:ea typeface="楷体_GB2312" pitchFamily="49" charset="-122"/>
              </a:rPr>
              <a:t>设定的</a:t>
            </a:r>
            <a:r>
              <a:rPr lang="en-US" altLang="zh-CN" b="1" dirty="0">
                <a:solidFill>
                  <a:srgbClr val="0000FF"/>
                </a:solidFill>
                <a:ea typeface="楷体_GB2312" pitchFamily="49" charset="-122"/>
              </a:rPr>
              <a:t>ANFIS</a:t>
            </a:r>
            <a:r>
              <a:rPr lang="zh-CN" altLang="en-US" b="1" dirty="0">
                <a:solidFill>
                  <a:srgbClr val="0000FF"/>
                </a:solidFill>
                <a:ea typeface="楷体_GB2312" pitchFamily="49" charset="-122"/>
              </a:rPr>
              <a:t>训练次数为</a:t>
            </a:r>
            <a:r>
              <a:rPr lang="en-US" altLang="zh-CN" b="1" dirty="0">
                <a:solidFill>
                  <a:srgbClr val="0000FF"/>
                </a:solidFill>
                <a:ea typeface="楷体_GB2312" pitchFamily="49" charset="-122"/>
              </a:rPr>
              <a:t>50</a:t>
            </a:r>
          </a:p>
          <a:p>
            <a:pPr eaLnBrk="1" hangingPunct="1">
              <a:lnSpc>
                <a:spcPct val="120000"/>
              </a:lnSpc>
            </a:pPr>
            <a:r>
              <a:rPr lang="zh-CN" altLang="en-US" b="1" dirty="0">
                <a:solidFill>
                  <a:srgbClr val="0000FF"/>
                </a:solidFill>
                <a:ea typeface="楷体_GB2312" pitchFamily="49" charset="-122"/>
              </a:rPr>
              <a:t>初始步长为</a:t>
            </a:r>
            <a:r>
              <a:rPr lang="en-US" altLang="zh-CN" b="1" dirty="0">
                <a:solidFill>
                  <a:srgbClr val="0000FF"/>
                </a:solidFill>
                <a:ea typeface="楷体_GB2312" pitchFamily="49" charset="-122"/>
              </a:rPr>
              <a:t>0.01</a:t>
            </a:r>
          </a:p>
        </p:txBody>
      </p:sp>
      <p:sp>
        <p:nvSpPr>
          <p:cNvPr id="2" name="灯片编号占位符 1">
            <a:extLst>
              <a:ext uri="{FF2B5EF4-FFF2-40B4-BE49-F238E27FC236}">
                <a16:creationId xmlns:a16="http://schemas.microsoft.com/office/drawing/2014/main" id="{DCFCED45-3C7F-19CD-B01D-6B163F2D2580}"/>
              </a:ext>
            </a:extLst>
          </p:cNvPr>
          <p:cNvSpPr>
            <a:spLocks noGrp="1"/>
          </p:cNvSpPr>
          <p:nvPr>
            <p:ph type="sldNum" sz="quarter" idx="11"/>
          </p:nvPr>
        </p:nvSpPr>
        <p:spPr/>
        <p:txBody>
          <a:bodyPr/>
          <a:lstStyle/>
          <a:p>
            <a:pPr>
              <a:defRPr/>
            </a:pPr>
            <a:fld id="{B77A47BA-BA63-4780-94A9-8AFA2EA4438D}" type="slidenum">
              <a:rPr lang="en-US" altLang="zh-CN" smtClean="0"/>
              <a:pPr>
                <a:defRPr/>
              </a:pPr>
              <a:t>43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wipe(left)">
                                      <p:cBhvr>
                                        <p:cTn id="17" dur="500"/>
                                        <p:tgtEl>
                                          <p:spTgt spid="184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435">
                                            <p:txEl>
                                              <p:pRg st="3" end="3"/>
                                            </p:txEl>
                                          </p:spTgt>
                                        </p:tgtEl>
                                        <p:attrNameLst>
                                          <p:attrName>style.visibility</p:attrName>
                                        </p:attrNameLst>
                                      </p:cBhvr>
                                      <p:to>
                                        <p:strVal val="visible"/>
                                      </p:to>
                                    </p:set>
                                    <p:animEffect transition="in" filter="wipe(left)">
                                      <p:cBhvr>
                                        <p:cTn id="22" dur="500"/>
                                        <p:tgtEl>
                                          <p:spTgt spid="184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435">
                                            <p:txEl>
                                              <p:pRg st="4" end="4"/>
                                            </p:txEl>
                                          </p:spTgt>
                                        </p:tgtEl>
                                        <p:attrNameLst>
                                          <p:attrName>style.visibility</p:attrName>
                                        </p:attrNameLst>
                                      </p:cBhvr>
                                      <p:to>
                                        <p:strVal val="visible"/>
                                      </p:to>
                                    </p:set>
                                    <p:animEffect transition="in" filter="wipe(left)">
                                      <p:cBhvr>
                                        <p:cTn id="27" dur="500"/>
                                        <p:tgtEl>
                                          <p:spTgt spid="1843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435">
                                            <p:txEl>
                                              <p:pRg st="5" end="5"/>
                                            </p:txEl>
                                          </p:spTgt>
                                        </p:tgtEl>
                                        <p:attrNameLst>
                                          <p:attrName>style.visibility</p:attrName>
                                        </p:attrNameLst>
                                      </p:cBhvr>
                                      <p:to>
                                        <p:strVal val="visible"/>
                                      </p:to>
                                    </p:set>
                                    <p:animEffect transition="in" filter="wipe(left)">
                                      <p:cBhvr>
                                        <p:cTn id="32" dur="500"/>
                                        <p:tgtEl>
                                          <p:spTgt spid="1843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435">
                                            <p:txEl>
                                              <p:pRg st="6" end="6"/>
                                            </p:txEl>
                                          </p:spTgt>
                                        </p:tgtEl>
                                        <p:attrNameLst>
                                          <p:attrName>style.visibility</p:attrName>
                                        </p:attrNameLst>
                                      </p:cBhvr>
                                      <p:to>
                                        <p:strVal val="visible"/>
                                      </p:to>
                                    </p:set>
                                    <p:animEffect transition="in" filter="wipe(left)">
                                      <p:cBhvr>
                                        <p:cTn id="37" dur="500"/>
                                        <p:tgtEl>
                                          <p:spTgt spid="184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1981200" y="457200"/>
            <a:ext cx="8229600" cy="884238"/>
          </a:xfrm>
        </p:spPr>
        <p:txBody>
          <a:bodyPr/>
          <a:lstStyle/>
          <a:p>
            <a:pPr algn="ctr" eaLnBrk="1" hangingPunct="1"/>
            <a:r>
              <a:rPr lang="zh-CN" altLang="en-US" sz="4000" dirty="0">
                <a:solidFill>
                  <a:srgbClr val="008000"/>
                </a:solidFill>
                <a:ea typeface="黑体" panose="02010609060101010101" pitchFamily="49" charset="-122"/>
              </a:rPr>
              <a:t>产生训练数据</a:t>
            </a:r>
          </a:p>
        </p:txBody>
      </p:sp>
      <p:sp>
        <p:nvSpPr>
          <p:cNvPr id="19459" name="Rectangle 3"/>
          <p:cNvSpPr>
            <a:spLocks noGrp="1" noChangeArrowheads="1"/>
          </p:cNvSpPr>
          <p:nvPr>
            <p:ph type="body" idx="4294967295"/>
          </p:nvPr>
        </p:nvSpPr>
        <p:spPr>
          <a:xfrm>
            <a:off x="1302296" y="1838754"/>
            <a:ext cx="9587408" cy="3600450"/>
          </a:xfrm>
        </p:spPr>
        <p:txBody>
          <a:bodyPr/>
          <a:lstStyle/>
          <a:p>
            <a:pPr eaLnBrk="1" hangingPunct="1">
              <a:lnSpc>
                <a:spcPct val="80000"/>
              </a:lnSpc>
            </a:pPr>
            <a:r>
              <a:rPr lang="en-US" altLang="zh-CN" b="1" dirty="0">
                <a:solidFill>
                  <a:srgbClr val="FF0000"/>
                </a:solidFill>
                <a:ea typeface="楷体_GB2312" pitchFamily="49" charset="-122"/>
              </a:rPr>
              <a:t>STEP1</a:t>
            </a:r>
            <a:r>
              <a:rPr lang="zh-CN" altLang="en-US" b="1" dirty="0">
                <a:solidFill>
                  <a:srgbClr val="FF0000"/>
                </a:solidFill>
                <a:ea typeface="楷体_GB2312" pitchFamily="49" charset="-122"/>
              </a:rPr>
              <a:t>：</a:t>
            </a:r>
            <a:r>
              <a:rPr lang="en-US" altLang="zh-CN" b="1" dirty="0">
                <a:solidFill>
                  <a:srgbClr val="FF0000"/>
                </a:solidFill>
                <a:ea typeface="楷体_GB2312" pitchFamily="49" charset="-122"/>
              </a:rPr>
              <a:t> </a:t>
            </a:r>
            <a:r>
              <a:rPr lang="zh-CN" altLang="en-US" b="1" dirty="0">
                <a:solidFill>
                  <a:srgbClr val="FF0000"/>
                </a:solidFill>
                <a:latin typeface="黑体" panose="02010609060101010101" pitchFamily="49" charset="-122"/>
                <a:ea typeface="黑体" panose="02010609060101010101" pitchFamily="49" charset="-122"/>
              </a:rPr>
              <a:t>产生训练数据</a:t>
            </a:r>
          </a:p>
          <a:p>
            <a:pPr lvl="1" eaLnBrk="1" hangingPunct="1">
              <a:lnSpc>
                <a:spcPct val="150000"/>
              </a:lnSpc>
              <a:buFont typeface="Wingdings" panose="05000000000000000000" pitchFamily="2" charset="2"/>
              <a:buNone/>
            </a:pPr>
            <a:r>
              <a:rPr lang="en-US" altLang="zh-CN" sz="3200" b="1" dirty="0" err="1">
                <a:cs typeface="Times New Roman" panose="02020603050405020304" pitchFamily="18" charset="0"/>
              </a:rPr>
              <a:t>data_n</a:t>
            </a:r>
            <a:r>
              <a:rPr lang="en-US" altLang="zh-CN" sz="3200" b="1" dirty="0">
                <a:cs typeface="Times New Roman" panose="02020603050405020304" pitchFamily="18" charset="0"/>
              </a:rPr>
              <a:t>=101;   </a:t>
            </a:r>
            <a:r>
              <a:rPr lang="en-US" altLang="zh-CN" sz="3200" b="1" dirty="0">
                <a:solidFill>
                  <a:srgbClr val="0000FF"/>
                </a:solidFill>
                <a:cs typeface="Times New Roman" panose="02020603050405020304" pitchFamily="18" charset="0"/>
              </a:rPr>
              <a:t>%</a:t>
            </a:r>
            <a:r>
              <a:rPr lang="zh-CN" altLang="en-US" sz="3200" b="1" dirty="0">
                <a:solidFill>
                  <a:srgbClr val="0000FF"/>
                </a:solidFill>
                <a:cs typeface="Times New Roman" panose="02020603050405020304" pitchFamily="18" charset="0"/>
              </a:rPr>
              <a:t>设定产生训练数据的个数</a:t>
            </a:r>
            <a:endParaRPr lang="en-US" altLang="zh-CN" sz="3200" b="1" dirty="0">
              <a:solidFill>
                <a:srgbClr val="0000FF"/>
              </a:solidFill>
              <a:cs typeface="Times New Roman" panose="02020603050405020304" pitchFamily="18" charset="0"/>
            </a:endParaRPr>
          </a:p>
          <a:p>
            <a:pPr lvl="1" eaLnBrk="1" hangingPunct="1">
              <a:lnSpc>
                <a:spcPct val="150000"/>
              </a:lnSpc>
              <a:buFont typeface="Wingdings" panose="05000000000000000000" pitchFamily="2" charset="2"/>
              <a:buNone/>
            </a:pPr>
            <a:r>
              <a:rPr lang="en-US" altLang="zh-CN" sz="3200" b="1" dirty="0">
                <a:cs typeface="Times New Roman" panose="02020603050405020304" pitchFamily="18" charset="0"/>
              </a:rPr>
              <a:t>x=</a:t>
            </a:r>
            <a:r>
              <a:rPr lang="en-US" altLang="zh-CN" sz="3200" b="1" dirty="0" err="1">
                <a:cs typeface="Times New Roman" panose="02020603050405020304" pitchFamily="18" charset="0"/>
              </a:rPr>
              <a:t>linspace</a:t>
            </a:r>
            <a:r>
              <a:rPr lang="en-US" altLang="zh-CN" sz="3200" b="1" dirty="0">
                <a:cs typeface="Times New Roman" panose="02020603050405020304" pitchFamily="18" charset="0"/>
              </a:rPr>
              <a:t>(-1, 1, </a:t>
            </a:r>
            <a:r>
              <a:rPr lang="en-US" altLang="zh-CN" sz="3200" b="1" dirty="0" err="1">
                <a:cs typeface="Times New Roman" panose="02020603050405020304" pitchFamily="18" charset="0"/>
              </a:rPr>
              <a:t>data_n</a:t>
            </a:r>
            <a:r>
              <a:rPr lang="en-US" altLang="zh-CN" sz="3200" b="1" dirty="0">
                <a:cs typeface="Times New Roman" panose="02020603050405020304" pitchFamily="18" charset="0"/>
              </a:rPr>
              <a:t>)';</a:t>
            </a:r>
          </a:p>
          <a:p>
            <a:pPr lvl="1" eaLnBrk="1" hangingPunct="1">
              <a:lnSpc>
                <a:spcPct val="150000"/>
              </a:lnSpc>
              <a:buFont typeface="Wingdings" panose="05000000000000000000" pitchFamily="2" charset="2"/>
              <a:buNone/>
            </a:pPr>
            <a:r>
              <a:rPr lang="en-US" altLang="zh-CN" sz="3200" b="1" dirty="0">
                <a:cs typeface="Times New Roman" panose="02020603050405020304" pitchFamily="18" charset="0"/>
              </a:rPr>
              <a:t>f=0.7*sin(pi*x)+0.3*sin(3*pi*x)+0.1*sin(5*pi*x);</a:t>
            </a:r>
          </a:p>
          <a:p>
            <a:pPr lvl="1" eaLnBrk="1" hangingPunct="1">
              <a:lnSpc>
                <a:spcPct val="150000"/>
              </a:lnSpc>
              <a:buFont typeface="Wingdings" panose="05000000000000000000" pitchFamily="2" charset="2"/>
              <a:buNone/>
            </a:pPr>
            <a:r>
              <a:rPr lang="en-US" altLang="zh-CN" sz="3200" b="1" dirty="0">
                <a:solidFill>
                  <a:srgbClr val="008000"/>
                </a:solidFill>
                <a:cs typeface="Times New Roman" panose="02020603050405020304" pitchFamily="18" charset="0"/>
              </a:rPr>
              <a:t>data=[x  f ];   %</a:t>
            </a:r>
            <a:r>
              <a:rPr lang="zh-CN" altLang="en-US" sz="3200" b="1" dirty="0">
                <a:solidFill>
                  <a:srgbClr val="008000"/>
                </a:solidFill>
                <a:cs typeface="Times New Roman" panose="02020603050405020304" pitchFamily="18" charset="0"/>
              </a:rPr>
              <a:t>训练样本集</a:t>
            </a:r>
            <a:endParaRPr lang="en-US" altLang="zh-CN" sz="3200" b="1" dirty="0">
              <a:solidFill>
                <a:srgbClr val="008000"/>
              </a:solidFill>
              <a:cs typeface="Times New Roman" panose="02020603050405020304" pitchFamily="18" charset="0"/>
            </a:endParaRPr>
          </a:p>
        </p:txBody>
      </p:sp>
      <p:sp>
        <p:nvSpPr>
          <p:cNvPr id="19460" name="矩形 1"/>
          <p:cNvSpPr>
            <a:spLocks noChangeArrowheads="1"/>
          </p:cNvSpPr>
          <p:nvPr/>
        </p:nvSpPr>
        <p:spPr bwMode="auto">
          <a:xfrm>
            <a:off x="7176120" y="3390321"/>
            <a:ext cx="3309937" cy="497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00007D"/>
              </a:buClr>
              <a:buSzPct val="75000"/>
            </a:pPr>
            <a:r>
              <a:rPr lang="en-US" altLang="zh-CN" sz="2400" b="1" dirty="0">
                <a:solidFill>
                  <a:srgbClr val="0000FF"/>
                </a:solidFill>
                <a:ea typeface="楷体_GB2312" pitchFamily="49" charset="-122"/>
              </a:rPr>
              <a:t>x</a:t>
            </a:r>
            <a:r>
              <a:rPr lang="zh-CN" altLang="en-US" sz="2400" b="1" dirty="0">
                <a:solidFill>
                  <a:srgbClr val="0000FF"/>
                </a:solidFill>
                <a:ea typeface="楷体_GB2312" pitchFamily="49" charset="-122"/>
              </a:rPr>
              <a:t>输入的范围为</a:t>
            </a:r>
            <a:r>
              <a:rPr lang="en-US" altLang="zh-CN" sz="2400" b="1" dirty="0">
                <a:solidFill>
                  <a:srgbClr val="0000FF"/>
                </a:solidFill>
                <a:ea typeface="楷体_GB2312" pitchFamily="49" charset="-122"/>
              </a:rPr>
              <a:t>[-1</a:t>
            </a:r>
            <a:r>
              <a:rPr lang="zh-CN" altLang="en-US" sz="2400" b="1" dirty="0">
                <a:solidFill>
                  <a:srgbClr val="0000FF"/>
                </a:solidFill>
                <a:ea typeface="楷体_GB2312" pitchFamily="49" charset="-122"/>
              </a:rPr>
              <a:t>，</a:t>
            </a:r>
            <a:r>
              <a:rPr lang="en-US" altLang="zh-CN" sz="2400" b="1" dirty="0">
                <a:solidFill>
                  <a:srgbClr val="0000FF"/>
                </a:solidFill>
                <a:ea typeface="楷体_GB2312" pitchFamily="49" charset="-122"/>
              </a:rPr>
              <a:t>1]</a:t>
            </a:r>
          </a:p>
        </p:txBody>
      </p:sp>
      <p:sp>
        <p:nvSpPr>
          <p:cNvPr id="2" name="灯片编号占位符 1">
            <a:extLst>
              <a:ext uri="{FF2B5EF4-FFF2-40B4-BE49-F238E27FC236}">
                <a16:creationId xmlns:a16="http://schemas.microsoft.com/office/drawing/2014/main" id="{8B3E2A03-1004-8142-526D-AD647FFF2EFA}"/>
              </a:ext>
            </a:extLst>
          </p:cNvPr>
          <p:cNvSpPr>
            <a:spLocks noGrp="1"/>
          </p:cNvSpPr>
          <p:nvPr>
            <p:ph type="sldNum" sz="quarter" idx="11"/>
          </p:nvPr>
        </p:nvSpPr>
        <p:spPr/>
        <p:txBody>
          <a:bodyPr/>
          <a:lstStyle/>
          <a:p>
            <a:pPr>
              <a:defRPr/>
            </a:pPr>
            <a:fld id="{B77A47BA-BA63-4780-94A9-8AFA2EA4438D}" type="slidenum">
              <a:rPr lang="en-US" altLang="zh-CN" smtClean="0"/>
              <a:pPr>
                <a:defRPr/>
              </a:pPr>
              <a:t>44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wipe(left)">
                                      <p:cBhvr>
                                        <p:cTn id="7" dur="500"/>
                                        <p:tgtEl>
                                          <p:spTgt spid="194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wipe(left)">
                                      <p:cBhvr>
                                        <p:cTn id="12" dur="500"/>
                                        <p:tgtEl>
                                          <p:spTgt spid="194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wipe(left)">
                                      <p:cBhvr>
                                        <p:cTn id="17" dur="500"/>
                                        <p:tgtEl>
                                          <p:spTgt spid="194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9460"/>
                                        </p:tgtEl>
                                        <p:attrNameLst>
                                          <p:attrName>style.visibility</p:attrName>
                                        </p:attrNameLst>
                                      </p:cBhvr>
                                      <p:to>
                                        <p:strVal val="visible"/>
                                      </p:to>
                                    </p:set>
                                    <p:anim calcmode="lin" valueType="num">
                                      <p:cBhvr additive="base">
                                        <p:cTn id="22" dur="500" fill="hold"/>
                                        <p:tgtEl>
                                          <p:spTgt spid="19460"/>
                                        </p:tgtEl>
                                        <p:attrNameLst>
                                          <p:attrName>ppt_x</p:attrName>
                                        </p:attrNameLst>
                                      </p:cBhvr>
                                      <p:tavLst>
                                        <p:tav tm="0">
                                          <p:val>
                                            <p:strVal val="#ppt_x"/>
                                          </p:val>
                                        </p:tav>
                                        <p:tav tm="100000">
                                          <p:val>
                                            <p:strVal val="#ppt_x"/>
                                          </p:val>
                                        </p:tav>
                                      </p:tavLst>
                                    </p:anim>
                                    <p:anim calcmode="lin" valueType="num">
                                      <p:cBhvr additive="base">
                                        <p:cTn id="23" dur="500" fill="hold"/>
                                        <p:tgtEl>
                                          <p:spTgt spid="19460"/>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459">
                                            <p:txEl>
                                              <p:pRg st="3" end="3"/>
                                            </p:txEl>
                                          </p:spTgt>
                                        </p:tgtEl>
                                        <p:attrNameLst>
                                          <p:attrName>style.visibility</p:attrName>
                                        </p:attrNameLst>
                                      </p:cBhvr>
                                      <p:to>
                                        <p:strVal val="visible"/>
                                      </p:to>
                                    </p:set>
                                    <p:animEffect transition="in" filter="wipe(left)">
                                      <p:cBhvr>
                                        <p:cTn id="28" dur="500"/>
                                        <p:tgtEl>
                                          <p:spTgt spid="19459">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459">
                                            <p:txEl>
                                              <p:pRg st="4" end="4"/>
                                            </p:txEl>
                                          </p:spTgt>
                                        </p:tgtEl>
                                        <p:attrNameLst>
                                          <p:attrName>style.visibility</p:attrName>
                                        </p:attrNameLst>
                                      </p:cBhvr>
                                      <p:to>
                                        <p:strVal val="visible"/>
                                      </p:to>
                                    </p:set>
                                    <p:animEffect transition="in" filter="wipe(left)">
                                      <p:cBhvr>
                                        <p:cTn id="33" dur="5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P spid="19460"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5C45F9E7-6160-11E8-47B2-5678FF2C3B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2556"/>
          <a:stretch/>
        </p:blipFill>
        <p:spPr bwMode="auto">
          <a:xfrm>
            <a:off x="7320136" y="1649667"/>
            <a:ext cx="4925240" cy="3244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2" name="Rectangle 2"/>
          <p:cNvSpPr>
            <a:spLocks noGrp="1" noChangeArrowheads="1"/>
          </p:cNvSpPr>
          <p:nvPr>
            <p:ph type="title" idx="4294967295"/>
          </p:nvPr>
        </p:nvSpPr>
        <p:spPr>
          <a:xfrm>
            <a:off x="1981200" y="457200"/>
            <a:ext cx="8229600" cy="884238"/>
          </a:xfrm>
        </p:spPr>
        <p:txBody>
          <a:bodyPr/>
          <a:lstStyle/>
          <a:p>
            <a:pPr algn="ctr" eaLnBrk="1" hangingPunct="1"/>
            <a:r>
              <a:rPr lang="zh-CN" altLang="en-US" dirty="0">
                <a:solidFill>
                  <a:srgbClr val="008000"/>
                </a:solidFill>
                <a:ea typeface="黑体" panose="02010609060101010101" pitchFamily="49" charset="-122"/>
              </a:rPr>
              <a:t>初始化</a:t>
            </a:r>
            <a:r>
              <a:rPr lang="en-US" altLang="zh-CN" dirty="0">
                <a:solidFill>
                  <a:srgbClr val="008000"/>
                </a:solidFill>
                <a:ea typeface="黑体" panose="02010609060101010101" pitchFamily="49" charset="-122"/>
              </a:rPr>
              <a:t>FIS</a:t>
            </a:r>
            <a:r>
              <a:rPr lang="zh-CN" altLang="en-US" dirty="0">
                <a:solidFill>
                  <a:srgbClr val="008000"/>
                </a:solidFill>
                <a:ea typeface="黑体" panose="02010609060101010101" pitchFamily="49" charset="-122"/>
              </a:rPr>
              <a:t>结构</a:t>
            </a:r>
          </a:p>
        </p:txBody>
      </p:sp>
      <p:sp>
        <p:nvSpPr>
          <p:cNvPr id="20483" name="Rectangle 3"/>
          <p:cNvSpPr>
            <a:spLocks noGrp="1" noChangeArrowheads="1"/>
          </p:cNvSpPr>
          <p:nvPr>
            <p:ph type="body" idx="4294967295"/>
          </p:nvPr>
        </p:nvSpPr>
        <p:spPr>
          <a:xfrm>
            <a:off x="1127448" y="1634284"/>
            <a:ext cx="8949680" cy="3240087"/>
          </a:xfrm>
        </p:spPr>
        <p:txBody>
          <a:bodyPr/>
          <a:lstStyle/>
          <a:p>
            <a:pPr eaLnBrk="1" hangingPunct="1">
              <a:lnSpc>
                <a:spcPct val="150000"/>
              </a:lnSpc>
            </a:pPr>
            <a:r>
              <a:rPr lang="en-US" altLang="zh-CN" b="1" dirty="0">
                <a:solidFill>
                  <a:srgbClr val="FF0000"/>
                </a:solidFill>
                <a:ea typeface="楷体_GB2312" pitchFamily="49" charset="-122"/>
              </a:rPr>
              <a:t>STEP2</a:t>
            </a:r>
            <a:r>
              <a:rPr lang="zh-CN" altLang="en-US" b="1" dirty="0">
                <a:solidFill>
                  <a:srgbClr val="FF0000"/>
                </a:solidFill>
                <a:latin typeface="黑体" panose="02010609060101010101" pitchFamily="49" charset="-122"/>
                <a:ea typeface="黑体" panose="02010609060101010101" pitchFamily="49" charset="-122"/>
              </a:rPr>
              <a:t>：</a:t>
            </a:r>
            <a:r>
              <a:rPr lang="en-US" altLang="zh-CN" b="1" dirty="0">
                <a:solidFill>
                  <a:srgbClr val="FF0000"/>
                </a:solidFill>
                <a:latin typeface="黑体" panose="02010609060101010101" pitchFamily="49" charset="-122"/>
                <a:ea typeface="黑体" panose="02010609060101010101" pitchFamily="49" charset="-122"/>
              </a:rPr>
              <a:t> </a:t>
            </a:r>
            <a:r>
              <a:rPr lang="zh-CN" altLang="en-US" b="1" dirty="0">
                <a:solidFill>
                  <a:srgbClr val="FF0000"/>
                </a:solidFill>
                <a:ea typeface="黑体" panose="02010609060101010101" pitchFamily="49" charset="-122"/>
              </a:rPr>
              <a:t>设定</a:t>
            </a:r>
            <a:r>
              <a:rPr lang="en-US" altLang="zh-CN" b="1" dirty="0">
                <a:solidFill>
                  <a:srgbClr val="FF0000"/>
                </a:solidFill>
                <a:ea typeface="黑体" panose="02010609060101010101" pitchFamily="49" charset="-122"/>
              </a:rPr>
              <a:t>FIS</a:t>
            </a:r>
            <a:r>
              <a:rPr lang="zh-CN" altLang="en-US" b="1" dirty="0">
                <a:solidFill>
                  <a:srgbClr val="FF0000"/>
                </a:solidFill>
                <a:ea typeface="黑体" panose="02010609060101010101" pitchFamily="49" charset="-122"/>
              </a:rPr>
              <a:t>结构的初值</a:t>
            </a:r>
          </a:p>
          <a:p>
            <a:pPr lvl="1" eaLnBrk="1" hangingPunct="1">
              <a:lnSpc>
                <a:spcPct val="150000"/>
              </a:lnSpc>
              <a:buFont typeface="Wingdings" panose="05000000000000000000" pitchFamily="2" charset="2"/>
              <a:buNone/>
            </a:pPr>
            <a:endParaRPr lang="en-US" altLang="zh-CN" sz="2000" b="1" dirty="0"/>
          </a:p>
          <a:p>
            <a:pPr lvl="1" eaLnBrk="1" hangingPunct="1">
              <a:lnSpc>
                <a:spcPct val="130000"/>
              </a:lnSpc>
              <a:buFont typeface="Wingdings" panose="05000000000000000000" pitchFamily="2" charset="2"/>
              <a:buNone/>
            </a:pPr>
            <a:r>
              <a:rPr lang="en-US" altLang="zh-CN" sz="3200" b="1" dirty="0" err="1"/>
              <a:t>mf_n</a:t>
            </a:r>
            <a:r>
              <a:rPr lang="en-US" altLang="zh-CN" sz="3200" b="1" dirty="0"/>
              <a:t>=5;  </a:t>
            </a:r>
          </a:p>
          <a:p>
            <a:pPr lvl="1" eaLnBrk="1" hangingPunct="1">
              <a:lnSpc>
                <a:spcPct val="130000"/>
              </a:lnSpc>
              <a:buFont typeface="Wingdings" panose="05000000000000000000" pitchFamily="2" charset="2"/>
              <a:buNone/>
            </a:pPr>
            <a:r>
              <a:rPr lang="en-US" altLang="zh-CN" sz="3200" b="1" dirty="0" err="1"/>
              <a:t>mf_type</a:t>
            </a:r>
            <a:r>
              <a:rPr lang="en-US" altLang="zh-CN" sz="3200" b="1" dirty="0"/>
              <a:t>='</a:t>
            </a:r>
            <a:r>
              <a:rPr lang="en-US" altLang="zh-CN" sz="3200" b="1" dirty="0" err="1"/>
              <a:t>gbellmf</a:t>
            </a:r>
            <a:r>
              <a:rPr lang="en-US" altLang="zh-CN" sz="3200" b="1" dirty="0"/>
              <a:t> ';</a:t>
            </a:r>
          </a:p>
          <a:p>
            <a:pPr lvl="1" eaLnBrk="1" hangingPunct="1">
              <a:lnSpc>
                <a:spcPct val="130000"/>
              </a:lnSpc>
              <a:buFont typeface="Wingdings" panose="05000000000000000000" pitchFamily="2" charset="2"/>
              <a:buNone/>
            </a:pPr>
            <a:r>
              <a:rPr lang="en-US" altLang="zh-CN" sz="3200" b="1" dirty="0">
                <a:solidFill>
                  <a:srgbClr val="CC00CC"/>
                </a:solidFill>
              </a:rPr>
              <a:t>fis1</a:t>
            </a:r>
            <a:r>
              <a:rPr lang="en-US" altLang="zh-CN" sz="3200" b="1" dirty="0">
                <a:solidFill>
                  <a:srgbClr val="008000"/>
                </a:solidFill>
              </a:rPr>
              <a:t>=genfis1(data, </a:t>
            </a:r>
            <a:r>
              <a:rPr lang="en-US" altLang="zh-CN" sz="3200" b="1" dirty="0" err="1">
                <a:solidFill>
                  <a:srgbClr val="008000"/>
                </a:solidFill>
              </a:rPr>
              <a:t>mf_n</a:t>
            </a:r>
            <a:r>
              <a:rPr lang="en-US" altLang="zh-CN" sz="3200" b="1" dirty="0">
                <a:solidFill>
                  <a:srgbClr val="008000"/>
                </a:solidFill>
              </a:rPr>
              <a:t>, </a:t>
            </a:r>
            <a:r>
              <a:rPr lang="en-US" altLang="zh-CN" sz="3200" b="1" dirty="0" err="1">
                <a:solidFill>
                  <a:srgbClr val="008000"/>
                </a:solidFill>
              </a:rPr>
              <a:t>mf_type</a:t>
            </a:r>
            <a:r>
              <a:rPr lang="en-US" altLang="zh-CN" sz="3200" b="1" dirty="0">
                <a:solidFill>
                  <a:srgbClr val="008000"/>
                </a:solidFill>
              </a:rPr>
              <a:t>); </a:t>
            </a:r>
            <a:endParaRPr lang="zh-CN" altLang="en-US" sz="3200" b="1" dirty="0">
              <a:solidFill>
                <a:srgbClr val="008000"/>
              </a:solidFill>
              <a:ea typeface="楷体_GB2312" pitchFamily="49" charset="-122"/>
            </a:endParaRPr>
          </a:p>
        </p:txBody>
      </p:sp>
      <p:sp>
        <p:nvSpPr>
          <p:cNvPr id="20484" name="矩形 1"/>
          <p:cNvSpPr>
            <a:spLocks noChangeArrowheads="1"/>
          </p:cNvSpPr>
          <p:nvPr/>
        </p:nvSpPr>
        <p:spPr bwMode="auto">
          <a:xfrm>
            <a:off x="1343472" y="5496793"/>
            <a:ext cx="9217024" cy="1223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Arial" panose="020B0604020202020204" pitchFamily="34" charset="0"/>
              <a:buChar char="•"/>
            </a:pPr>
            <a:r>
              <a:rPr lang="zh-CN" altLang="en-US" sz="3200" b="1" dirty="0">
                <a:solidFill>
                  <a:srgbClr val="0000FF"/>
                </a:solidFill>
                <a:ea typeface="楷体_GB2312" pitchFamily="49" charset="-122"/>
              </a:rPr>
              <a:t>将输入空间</a:t>
            </a:r>
            <a:r>
              <a:rPr lang="en-US" altLang="zh-CN" sz="3200" b="1" dirty="0">
                <a:solidFill>
                  <a:srgbClr val="0000FF"/>
                </a:solidFill>
                <a:ea typeface="楷体_GB2312" pitchFamily="49" charset="-122"/>
              </a:rPr>
              <a:t>F</a:t>
            </a:r>
            <a:r>
              <a:rPr lang="zh-CN" altLang="en-US" sz="3200" b="1" dirty="0">
                <a:solidFill>
                  <a:srgbClr val="0000FF"/>
                </a:solidFill>
                <a:ea typeface="楷体_GB2312" pitchFamily="49" charset="-122"/>
              </a:rPr>
              <a:t>分割成</a:t>
            </a:r>
            <a:r>
              <a:rPr lang="zh-CN" altLang="en-US" sz="3200" b="1" u="sng" dirty="0">
                <a:solidFill>
                  <a:srgbClr val="0000FF"/>
                </a:solidFill>
                <a:ea typeface="楷体_GB2312" pitchFamily="49" charset="-122"/>
              </a:rPr>
              <a:t>五个区域</a:t>
            </a:r>
            <a:r>
              <a:rPr lang="en-US" altLang="zh-CN" sz="3200" b="1" dirty="0">
                <a:solidFill>
                  <a:srgbClr val="0000FF"/>
                </a:solidFill>
                <a:ea typeface="楷体_GB2312" pitchFamily="49" charset="-122"/>
              </a:rPr>
              <a:t>(</a:t>
            </a:r>
            <a:r>
              <a:rPr lang="zh-CN" altLang="en-US" sz="3200" b="1" dirty="0">
                <a:solidFill>
                  <a:srgbClr val="0000FF"/>
                </a:solidFill>
                <a:ea typeface="楷体_GB2312" pitchFamily="49" charset="-122"/>
              </a:rPr>
              <a:t>即设</a:t>
            </a:r>
            <a:r>
              <a:rPr lang="en-US" altLang="zh-CN" sz="3200" b="1" dirty="0">
                <a:solidFill>
                  <a:srgbClr val="0000FF"/>
                </a:solidFill>
                <a:ea typeface="楷体_GB2312" pitchFamily="49" charset="-122"/>
              </a:rPr>
              <a:t>5</a:t>
            </a:r>
            <a:r>
              <a:rPr lang="zh-CN" altLang="en-US" sz="3200" b="1" dirty="0">
                <a:solidFill>
                  <a:srgbClr val="0000FF"/>
                </a:solidFill>
                <a:ea typeface="楷体_GB2312" pitchFamily="49" charset="-122"/>
              </a:rPr>
              <a:t>个隶属函数</a:t>
            </a:r>
            <a:r>
              <a:rPr lang="en-US" altLang="zh-CN" sz="3200" b="1" dirty="0">
                <a:solidFill>
                  <a:srgbClr val="0000FF"/>
                </a:solidFill>
                <a:ea typeface="楷体_GB2312" pitchFamily="49" charset="-122"/>
              </a:rPr>
              <a:t>)</a:t>
            </a:r>
          </a:p>
          <a:p>
            <a:pPr eaLnBrk="1" hangingPunct="1">
              <a:lnSpc>
                <a:spcPct val="120000"/>
              </a:lnSpc>
              <a:buFont typeface="Arial" panose="020B0604020202020204" pitchFamily="34" charset="0"/>
              <a:buChar char="•"/>
            </a:pPr>
            <a:r>
              <a:rPr lang="en-US" altLang="zh-CN" sz="3200" b="1" dirty="0">
                <a:solidFill>
                  <a:srgbClr val="0000FF"/>
                </a:solidFill>
                <a:ea typeface="楷体_GB2312" pitchFamily="49" charset="-122"/>
              </a:rPr>
              <a:t>F</a:t>
            </a:r>
            <a:r>
              <a:rPr lang="zh-CN" altLang="en-US" sz="3200" b="1" dirty="0">
                <a:solidFill>
                  <a:srgbClr val="0000FF"/>
                </a:solidFill>
                <a:ea typeface="楷体_GB2312" pitchFamily="49" charset="-122"/>
              </a:rPr>
              <a:t>隶属函数采用</a:t>
            </a:r>
            <a:r>
              <a:rPr lang="zh-CN" altLang="en-US" sz="3200" b="1" u="sng" dirty="0">
                <a:solidFill>
                  <a:srgbClr val="0000FF"/>
                </a:solidFill>
                <a:ea typeface="楷体_GB2312" pitchFamily="49" charset="-122"/>
              </a:rPr>
              <a:t>广义的钟形函数</a:t>
            </a:r>
          </a:p>
        </p:txBody>
      </p:sp>
      <p:sp>
        <p:nvSpPr>
          <p:cNvPr id="3" name="灯片编号占位符 2">
            <a:extLst>
              <a:ext uri="{FF2B5EF4-FFF2-40B4-BE49-F238E27FC236}">
                <a16:creationId xmlns:a16="http://schemas.microsoft.com/office/drawing/2014/main" id="{D9A43084-DE27-660D-67FA-DAA94D856087}"/>
              </a:ext>
            </a:extLst>
          </p:cNvPr>
          <p:cNvSpPr>
            <a:spLocks noGrp="1"/>
          </p:cNvSpPr>
          <p:nvPr>
            <p:ph type="sldNum" sz="quarter" idx="11"/>
          </p:nvPr>
        </p:nvSpPr>
        <p:spPr/>
        <p:txBody>
          <a:bodyPr/>
          <a:lstStyle/>
          <a:p>
            <a:pPr>
              <a:defRPr/>
            </a:pPr>
            <a:fld id="{B77A47BA-BA63-4780-94A9-8AFA2EA4438D}" type="slidenum">
              <a:rPr lang="en-US" altLang="zh-CN" smtClean="0"/>
              <a:pPr>
                <a:defRPr/>
              </a:pPr>
              <a:t>45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left)">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wipe(left)">
                                      <p:cBhvr>
                                        <p:cTn id="12" dur="500"/>
                                        <p:tgtEl>
                                          <p:spTgt spid="2048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3">
                                            <p:txEl>
                                              <p:pRg st="3" end="3"/>
                                            </p:txEl>
                                          </p:spTgt>
                                        </p:tgtEl>
                                        <p:attrNameLst>
                                          <p:attrName>style.visibility</p:attrName>
                                        </p:attrNameLst>
                                      </p:cBhvr>
                                      <p:to>
                                        <p:strVal val="visible"/>
                                      </p:to>
                                    </p:set>
                                    <p:animEffect transition="in" filter="wipe(left)">
                                      <p:cBhvr>
                                        <p:cTn id="17" dur="500"/>
                                        <p:tgtEl>
                                          <p:spTgt spid="2048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3">
                                            <p:txEl>
                                              <p:pRg st="4" end="4"/>
                                            </p:txEl>
                                          </p:spTgt>
                                        </p:tgtEl>
                                        <p:attrNameLst>
                                          <p:attrName>style.visibility</p:attrName>
                                        </p:attrNameLst>
                                      </p:cBhvr>
                                      <p:to>
                                        <p:strVal val="visible"/>
                                      </p:to>
                                    </p:set>
                                    <p:animEffect transition="in" filter="wipe(left)">
                                      <p:cBhvr>
                                        <p:cTn id="22" dur="500"/>
                                        <p:tgtEl>
                                          <p:spTgt spid="2048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0484"/>
                                        </p:tgtEl>
                                        <p:attrNameLst>
                                          <p:attrName>style.visibility</p:attrName>
                                        </p:attrNameLst>
                                      </p:cBhvr>
                                      <p:to>
                                        <p:strVal val="visible"/>
                                      </p:to>
                                    </p:set>
                                    <p:anim calcmode="lin" valueType="num">
                                      <p:cBhvr additive="base">
                                        <p:cTn id="27" dur="500" fill="hold"/>
                                        <p:tgtEl>
                                          <p:spTgt spid="20484"/>
                                        </p:tgtEl>
                                        <p:attrNameLst>
                                          <p:attrName>ppt_x</p:attrName>
                                        </p:attrNameLst>
                                      </p:cBhvr>
                                      <p:tavLst>
                                        <p:tav tm="0">
                                          <p:val>
                                            <p:strVal val="#ppt_x"/>
                                          </p:val>
                                        </p:tav>
                                        <p:tav tm="100000">
                                          <p:val>
                                            <p:strVal val="#ppt_x"/>
                                          </p:val>
                                        </p:tav>
                                      </p:tavLst>
                                    </p:anim>
                                    <p:anim calcmode="lin" valueType="num">
                                      <p:cBhvr additive="base">
                                        <p:cTn id="28" dur="500" fill="hold"/>
                                        <p:tgtEl>
                                          <p:spTgt spid="2048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1000"/>
                                        <p:tgtEl>
                                          <p:spTgt spid="2"/>
                                        </p:tgtEl>
                                      </p:cBhvr>
                                    </p:animEffect>
                                    <p:anim calcmode="lin" valueType="num">
                                      <p:cBhvr>
                                        <p:cTn id="34" dur="1000" fill="hold"/>
                                        <p:tgtEl>
                                          <p:spTgt spid="2"/>
                                        </p:tgtEl>
                                        <p:attrNameLst>
                                          <p:attrName>ppt_x</p:attrName>
                                        </p:attrNameLst>
                                      </p:cBhvr>
                                      <p:tavLst>
                                        <p:tav tm="0">
                                          <p:val>
                                            <p:strVal val="#ppt_x"/>
                                          </p:val>
                                        </p:tav>
                                        <p:tav tm="100000">
                                          <p:val>
                                            <p:strVal val="#ppt_x"/>
                                          </p:val>
                                        </p:tav>
                                      </p:tavLst>
                                    </p:anim>
                                    <p:anim calcmode="lin" valueType="num">
                                      <p:cBhvr>
                                        <p:cTn id="3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P spid="20484"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1549152" y="404664"/>
            <a:ext cx="8723312" cy="884238"/>
          </a:xfrm>
        </p:spPr>
        <p:txBody>
          <a:bodyPr/>
          <a:lstStyle/>
          <a:p>
            <a:pPr algn="ctr" eaLnBrk="1" hangingPunct="1"/>
            <a:r>
              <a:rPr lang="zh-CN" altLang="en-US" dirty="0">
                <a:solidFill>
                  <a:srgbClr val="008000"/>
                </a:solidFill>
                <a:ea typeface="黑体" panose="02010609060101010101" pitchFamily="49" charset="-122"/>
              </a:rPr>
              <a:t>设定训练参数，训练的初始化</a:t>
            </a:r>
            <a:r>
              <a:rPr lang="en-US" altLang="zh-CN" dirty="0">
                <a:solidFill>
                  <a:srgbClr val="008000"/>
                </a:solidFill>
                <a:ea typeface="黑体" panose="02010609060101010101" pitchFamily="49" charset="-122"/>
              </a:rPr>
              <a:t>FIS</a:t>
            </a:r>
            <a:endParaRPr lang="zh-CN" altLang="en-US" dirty="0">
              <a:solidFill>
                <a:srgbClr val="008000"/>
              </a:solidFill>
              <a:ea typeface="黑体" panose="02010609060101010101" pitchFamily="49" charset="-122"/>
            </a:endParaRPr>
          </a:p>
        </p:txBody>
      </p:sp>
      <p:sp>
        <p:nvSpPr>
          <p:cNvPr id="21507" name="Rectangle 3"/>
          <p:cNvSpPr>
            <a:spLocks noGrp="1" noChangeArrowheads="1"/>
          </p:cNvSpPr>
          <p:nvPr>
            <p:ph type="body" idx="4294967295"/>
          </p:nvPr>
        </p:nvSpPr>
        <p:spPr>
          <a:xfrm>
            <a:off x="1199456" y="1484322"/>
            <a:ext cx="8856662" cy="5373687"/>
          </a:xfrm>
        </p:spPr>
        <p:txBody>
          <a:bodyPr/>
          <a:lstStyle/>
          <a:p>
            <a:pPr eaLnBrk="1" hangingPunct="1">
              <a:lnSpc>
                <a:spcPct val="80000"/>
              </a:lnSpc>
            </a:pPr>
            <a:r>
              <a:rPr lang="en-US" altLang="zh-CN" b="1" dirty="0">
                <a:solidFill>
                  <a:srgbClr val="FF0000"/>
                </a:solidFill>
                <a:ea typeface="楷体_GB2312" pitchFamily="49" charset="-122"/>
              </a:rPr>
              <a:t>STEP3</a:t>
            </a:r>
            <a:r>
              <a:rPr lang="zh-CN" altLang="en-US" b="1" dirty="0">
                <a:solidFill>
                  <a:srgbClr val="FF0000"/>
                </a:solidFill>
                <a:latin typeface="黑体" panose="02010609060101010101" pitchFamily="49" charset="-122"/>
                <a:ea typeface="黑体" panose="02010609060101010101" pitchFamily="49" charset="-122"/>
              </a:rPr>
              <a:t>：</a:t>
            </a:r>
            <a:r>
              <a:rPr lang="en-US" altLang="zh-CN" b="1" dirty="0">
                <a:solidFill>
                  <a:srgbClr val="FF0000"/>
                </a:solidFill>
                <a:latin typeface="黑体" panose="02010609060101010101" pitchFamily="49" charset="-122"/>
                <a:ea typeface="黑体" panose="02010609060101010101" pitchFamily="49" charset="-122"/>
              </a:rPr>
              <a:t> </a:t>
            </a:r>
            <a:r>
              <a:rPr lang="zh-CN" altLang="en-US" b="1" dirty="0">
                <a:solidFill>
                  <a:srgbClr val="FF0000"/>
                </a:solidFill>
                <a:latin typeface="黑体" panose="02010609060101010101" pitchFamily="49" charset="-122"/>
                <a:ea typeface="黑体" panose="02010609060101010101" pitchFamily="49" charset="-122"/>
              </a:rPr>
              <a:t>设定训练选项并训练之</a:t>
            </a:r>
          </a:p>
          <a:p>
            <a:pPr lvl="1" eaLnBrk="1" hangingPunct="1">
              <a:lnSpc>
                <a:spcPct val="120000"/>
              </a:lnSpc>
              <a:buFont typeface="Wingdings" panose="05000000000000000000" pitchFamily="2" charset="2"/>
              <a:buNone/>
            </a:pPr>
            <a:r>
              <a:rPr lang="en-US" altLang="zh-CN" b="1" dirty="0"/>
              <a:t>epoch=</a:t>
            </a:r>
            <a:r>
              <a:rPr lang="en-US" altLang="zh-CN" b="1" dirty="0">
                <a:solidFill>
                  <a:srgbClr val="FFC000"/>
                </a:solidFill>
              </a:rPr>
              <a:t>50</a:t>
            </a:r>
            <a:r>
              <a:rPr lang="zh-CN" altLang="en-US" b="1" dirty="0"/>
              <a:t>；</a:t>
            </a:r>
          </a:p>
          <a:p>
            <a:pPr lvl="1" eaLnBrk="1" hangingPunct="1">
              <a:lnSpc>
                <a:spcPct val="120000"/>
              </a:lnSpc>
              <a:buFont typeface="Wingdings" panose="05000000000000000000" pitchFamily="2" charset="2"/>
              <a:buNone/>
            </a:pPr>
            <a:r>
              <a:rPr lang="en-US" altLang="zh-CN" b="1" dirty="0" err="1"/>
              <a:t>errorgoal</a:t>
            </a:r>
            <a:r>
              <a:rPr lang="en-US" altLang="zh-CN" b="1" dirty="0"/>
              <a:t>=</a:t>
            </a:r>
            <a:r>
              <a:rPr lang="en-US" altLang="zh-CN" b="1" dirty="0">
                <a:solidFill>
                  <a:srgbClr val="FFC000"/>
                </a:solidFill>
              </a:rPr>
              <a:t>0</a:t>
            </a:r>
            <a:r>
              <a:rPr lang="en-US" altLang="zh-CN" b="1" dirty="0"/>
              <a:t>;</a:t>
            </a:r>
          </a:p>
          <a:p>
            <a:pPr lvl="1" eaLnBrk="1" hangingPunct="1">
              <a:lnSpc>
                <a:spcPct val="120000"/>
              </a:lnSpc>
              <a:buFont typeface="Wingdings" panose="05000000000000000000" pitchFamily="2" charset="2"/>
              <a:buNone/>
            </a:pPr>
            <a:r>
              <a:rPr lang="en-US" altLang="zh-CN" b="1" dirty="0"/>
              <a:t>step=</a:t>
            </a:r>
            <a:r>
              <a:rPr lang="en-US" altLang="zh-CN" b="1" dirty="0">
                <a:solidFill>
                  <a:srgbClr val="FFC000"/>
                </a:solidFill>
              </a:rPr>
              <a:t>0.01</a:t>
            </a:r>
            <a:r>
              <a:rPr lang="en-US" altLang="zh-CN" b="1" dirty="0"/>
              <a:t>;</a:t>
            </a:r>
          </a:p>
          <a:p>
            <a:pPr lvl="1" eaLnBrk="1" hangingPunct="1">
              <a:lnSpc>
                <a:spcPct val="120000"/>
              </a:lnSpc>
              <a:buFont typeface="Wingdings" panose="05000000000000000000" pitchFamily="2" charset="2"/>
              <a:buNone/>
            </a:pPr>
            <a:r>
              <a:rPr lang="en-US" altLang="zh-CN" b="1" dirty="0" err="1"/>
              <a:t>trnOpt</a:t>
            </a:r>
            <a:r>
              <a:rPr lang="en-US" altLang="zh-CN" b="1" dirty="0"/>
              <a:t>=[epoch </a:t>
            </a:r>
            <a:r>
              <a:rPr lang="en-US" altLang="zh-CN" b="1" dirty="0" err="1"/>
              <a:t>errorgoal</a:t>
            </a:r>
            <a:r>
              <a:rPr lang="en-US" altLang="zh-CN" b="1" dirty="0"/>
              <a:t> step </a:t>
            </a:r>
            <a:r>
              <a:rPr lang="en-US" altLang="zh-CN" b="1" dirty="0" err="1"/>
              <a:t>NaN</a:t>
            </a:r>
            <a:r>
              <a:rPr lang="en-US" altLang="zh-CN" b="1" dirty="0"/>
              <a:t> </a:t>
            </a:r>
            <a:r>
              <a:rPr lang="en-US" altLang="zh-CN" b="1" dirty="0" err="1"/>
              <a:t>NaN</a:t>
            </a:r>
            <a:r>
              <a:rPr lang="en-US" altLang="zh-CN" b="1" dirty="0"/>
              <a:t>];</a:t>
            </a:r>
          </a:p>
          <a:p>
            <a:pPr lvl="1" eaLnBrk="1" hangingPunct="1">
              <a:lnSpc>
                <a:spcPct val="120000"/>
              </a:lnSpc>
              <a:buFont typeface="Wingdings" panose="05000000000000000000" pitchFamily="2" charset="2"/>
              <a:buNone/>
            </a:pPr>
            <a:r>
              <a:rPr lang="en-US" altLang="zh-CN" b="1" dirty="0" err="1">
                <a:solidFill>
                  <a:srgbClr val="CC00CC"/>
                </a:solidFill>
              </a:rPr>
              <a:t>dispOpt</a:t>
            </a:r>
            <a:r>
              <a:rPr lang="en-US" altLang="zh-CN" b="1" dirty="0"/>
              <a:t>=[</a:t>
            </a:r>
            <a:r>
              <a:rPr lang="en-US" altLang="zh-CN" b="1" dirty="0">
                <a:solidFill>
                  <a:srgbClr val="CC00CC"/>
                </a:solidFill>
              </a:rPr>
              <a:t>1 1 1 1</a:t>
            </a:r>
            <a:r>
              <a:rPr lang="en-US" altLang="zh-CN" b="1" dirty="0"/>
              <a:t>]; </a:t>
            </a:r>
          </a:p>
          <a:p>
            <a:pPr lvl="1" eaLnBrk="1" hangingPunct="1">
              <a:lnSpc>
                <a:spcPct val="120000"/>
              </a:lnSpc>
              <a:buFont typeface="Wingdings" panose="05000000000000000000" pitchFamily="2" charset="2"/>
              <a:buNone/>
            </a:pPr>
            <a:r>
              <a:rPr lang="en-US" altLang="zh-CN" b="1" dirty="0" err="1"/>
              <a:t>chkData</a:t>
            </a:r>
            <a:r>
              <a:rPr lang="en-US" altLang="zh-CN" b="1" dirty="0"/>
              <a:t>=[ ];</a:t>
            </a:r>
          </a:p>
          <a:p>
            <a:pPr lvl="1" eaLnBrk="1" hangingPunct="1">
              <a:lnSpc>
                <a:spcPct val="120000"/>
              </a:lnSpc>
              <a:buFont typeface="Wingdings" panose="05000000000000000000" pitchFamily="2" charset="2"/>
              <a:buNone/>
            </a:pPr>
            <a:r>
              <a:rPr lang="en-US" altLang="zh-CN" b="1" dirty="0">
                <a:solidFill>
                  <a:srgbClr val="008000"/>
                </a:solidFill>
              </a:rPr>
              <a:t>[</a:t>
            </a:r>
            <a:r>
              <a:rPr lang="en-US" altLang="zh-CN" b="1" dirty="0">
                <a:solidFill>
                  <a:srgbClr val="0000FF"/>
                </a:solidFill>
              </a:rPr>
              <a:t>fis2</a:t>
            </a:r>
            <a:r>
              <a:rPr lang="en-US" altLang="zh-CN" b="1" dirty="0">
                <a:solidFill>
                  <a:srgbClr val="008000"/>
                </a:solidFill>
              </a:rPr>
              <a:t>,error,st,fis3,e2]</a:t>
            </a:r>
            <a:r>
              <a:rPr lang="en-US" altLang="zh-CN" b="1" dirty="0"/>
              <a:t>=</a:t>
            </a:r>
          </a:p>
          <a:p>
            <a:pPr lvl="1" eaLnBrk="1" hangingPunct="1">
              <a:lnSpc>
                <a:spcPct val="120000"/>
              </a:lnSpc>
              <a:buFont typeface="Wingdings" panose="05000000000000000000" pitchFamily="2" charset="2"/>
              <a:buNone/>
            </a:pPr>
            <a:r>
              <a:rPr lang="en-US" altLang="zh-CN" b="1" dirty="0" err="1">
                <a:solidFill>
                  <a:srgbClr val="FF0000"/>
                </a:solidFill>
              </a:rPr>
              <a:t>anfis</a:t>
            </a:r>
            <a:r>
              <a:rPr lang="en-US" altLang="zh-CN" b="1" dirty="0">
                <a:solidFill>
                  <a:srgbClr val="008000"/>
                </a:solidFill>
              </a:rPr>
              <a:t>(data, </a:t>
            </a:r>
            <a:r>
              <a:rPr lang="en-US" altLang="zh-CN" b="1" dirty="0">
                <a:solidFill>
                  <a:srgbClr val="CC00CC"/>
                </a:solidFill>
              </a:rPr>
              <a:t>fis1</a:t>
            </a:r>
            <a:r>
              <a:rPr lang="en-US" altLang="zh-CN" b="1" dirty="0">
                <a:solidFill>
                  <a:srgbClr val="008000"/>
                </a:solidFill>
              </a:rPr>
              <a:t>, </a:t>
            </a:r>
            <a:r>
              <a:rPr lang="en-US" altLang="zh-CN" b="1" dirty="0" err="1">
                <a:solidFill>
                  <a:srgbClr val="008000"/>
                </a:solidFill>
              </a:rPr>
              <a:t>trnOpt</a:t>
            </a:r>
            <a:r>
              <a:rPr lang="en-US" altLang="zh-CN" b="1" dirty="0">
                <a:solidFill>
                  <a:srgbClr val="008000"/>
                </a:solidFill>
              </a:rPr>
              <a:t>, </a:t>
            </a:r>
            <a:r>
              <a:rPr lang="en-US" altLang="zh-CN" b="1" dirty="0" err="1">
                <a:solidFill>
                  <a:srgbClr val="008000"/>
                </a:solidFill>
              </a:rPr>
              <a:t>dispOpt</a:t>
            </a:r>
            <a:r>
              <a:rPr lang="en-US" altLang="zh-CN" b="1" dirty="0">
                <a:solidFill>
                  <a:srgbClr val="008000"/>
                </a:solidFill>
              </a:rPr>
              <a:t>, </a:t>
            </a:r>
            <a:r>
              <a:rPr lang="en-US" altLang="zh-CN" b="1" dirty="0" err="1">
                <a:solidFill>
                  <a:srgbClr val="008000"/>
                </a:solidFill>
              </a:rPr>
              <a:t>chkData</a:t>
            </a:r>
            <a:r>
              <a:rPr lang="en-US" altLang="zh-CN" b="1" dirty="0">
                <a:solidFill>
                  <a:srgbClr val="008000"/>
                </a:solidFill>
              </a:rPr>
              <a:t>);</a:t>
            </a:r>
          </a:p>
        </p:txBody>
      </p:sp>
      <p:sp>
        <p:nvSpPr>
          <p:cNvPr id="2" name="矩形 1"/>
          <p:cNvSpPr/>
          <p:nvPr/>
        </p:nvSpPr>
        <p:spPr>
          <a:xfrm>
            <a:off x="5999312" y="1916832"/>
            <a:ext cx="6192688" cy="2000548"/>
          </a:xfrm>
          <a:prstGeom prst="rect">
            <a:avLst/>
          </a:prstGeom>
          <a:solidFill>
            <a:srgbClr val="FFFF99"/>
          </a:solidFill>
          <a:scene3d>
            <a:camera prst="orthographicFront"/>
            <a:lightRig rig="threePt" dir="t"/>
          </a:scene3d>
          <a:sp3d>
            <a:bevelT w="165100" prst="coolSlant"/>
          </a:sp3d>
        </p:spPr>
        <p:txBody>
          <a:bodyPr wrap="square">
            <a:spAutoFit/>
          </a:bodyPr>
          <a:lstStyle/>
          <a:p>
            <a:r>
              <a:rPr lang="en-US" altLang="zh-CN" sz="2400" dirty="0"/>
              <a:t> </a:t>
            </a:r>
            <a:r>
              <a:rPr lang="en-US" altLang="zh-CN" sz="2800" b="1" dirty="0" err="1">
                <a:solidFill>
                  <a:srgbClr val="CC00CC"/>
                </a:solidFill>
              </a:rPr>
              <a:t>dispOpt</a:t>
            </a:r>
            <a:r>
              <a:rPr lang="en-US" altLang="zh-CN" sz="2800" b="1" dirty="0">
                <a:solidFill>
                  <a:srgbClr val="CC00CC"/>
                </a:solidFill>
              </a:rPr>
              <a:t>[x1,x2,x3,x4]</a:t>
            </a:r>
          </a:p>
          <a:p>
            <a:r>
              <a:rPr lang="en-US" altLang="zh-CN" sz="2400" dirty="0"/>
              <a:t>   x1——general </a:t>
            </a:r>
            <a:r>
              <a:rPr lang="en-US" altLang="zh-CN" sz="2400" dirty="0" err="1"/>
              <a:t>anfis</a:t>
            </a:r>
            <a:r>
              <a:rPr lang="en-US" altLang="zh-CN" sz="2400" dirty="0"/>
              <a:t> information   </a:t>
            </a:r>
          </a:p>
          <a:p>
            <a:r>
              <a:rPr lang="en-US" altLang="zh-CN" sz="2400" dirty="0"/>
              <a:t>   x2——error </a:t>
            </a:r>
          </a:p>
          <a:p>
            <a:r>
              <a:rPr lang="en-US" altLang="zh-CN" sz="2400" dirty="0"/>
              <a:t>   x3——step size at each parameter update </a:t>
            </a:r>
          </a:p>
          <a:p>
            <a:r>
              <a:rPr lang="en-US" altLang="zh-CN" sz="2400" dirty="0"/>
              <a:t>   x4——final results</a:t>
            </a:r>
            <a:endParaRPr lang="zh-CN" altLang="en-US" sz="2400" dirty="0"/>
          </a:p>
        </p:txBody>
      </p:sp>
      <p:sp>
        <p:nvSpPr>
          <p:cNvPr id="4" name="矩形标注 3"/>
          <p:cNvSpPr/>
          <p:nvPr/>
        </p:nvSpPr>
        <p:spPr bwMode="auto">
          <a:xfrm>
            <a:off x="5550157" y="4524722"/>
            <a:ext cx="1800200" cy="648072"/>
          </a:xfrm>
          <a:prstGeom prst="wedgeRectCallout">
            <a:avLst>
              <a:gd name="adj1" fmla="val 40543"/>
              <a:gd name="adj2" fmla="val -9786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en-US" altLang="zh-CN" sz="2000" b="1" dirty="0"/>
              <a:t>step</a:t>
            </a:r>
            <a:r>
              <a:rPr lang="zh-CN" altLang="en-US" sz="2000" b="1" dirty="0"/>
              <a:t>减少率</a:t>
            </a:r>
            <a:endParaRPr lang="en-US" altLang="zh-CN" sz="2000" b="1" dirty="0"/>
          </a:p>
          <a:p>
            <a:r>
              <a:rPr lang="en-US" altLang="zh-CN" sz="2000" b="1" dirty="0"/>
              <a:t>Default:  0.9</a:t>
            </a:r>
            <a:endParaRPr lang="zh-CN" altLang="en-US" sz="2000" b="1" dirty="0"/>
          </a:p>
        </p:txBody>
      </p:sp>
      <p:sp>
        <p:nvSpPr>
          <p:cNvPr id="7" name="矩形标注 6"/>
          <p:cNvSpPr/>
          <p:nvPr/>
        </p:nvSpPr>
        <p:spPr bwMode="auto">
          <a:xfrm>
            <a:off x="8112224" y="4480830"/>
            <a:ext cx="1800200" cy="684076"/>
          </a:xfrm>
          <a:prstGeom prst="wedgeRectCallout">
            <a:avLst>
              <a:gd name="adj1" fmla="val -55603"/>
              <a:gd name="adj2" fmla="val -86517"/>
            </a:avLst>
          </a:prstGeom>
          <a:solidFill>
            <a:srgbClr val="FFC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sz="2000" b="1" dirty="0"/>
              <a:t>step</a:t>
            </a:r>
            <a:r>
              <a:rPr lang="zh-CN" altLang="en-US" sz="2000" b="1" dirty="0"/>
              <a:t>增长率</a:t>
            </a:r>
            <a:endParaRPr lang="en-US" altLang="zh-CN" sz="2000" b="1" dirty="0"/>
          </a:p>
          <a:p>
            <a:r>
              <a:rPr lang="en-US" altLang="zh-CN" sz="2000" b="1" dirty="0"/>
              <a:t>Default: 1.1</a:t>
            </a:r>
            <a:endParaRPr lang="zh-CN" altLang="en-US" sz="2000" b="1" dirty="0"/>
          </a:p>
        </p:txBody>
      </p:sp>
      <p:sp>
        <p:nvSpPr>
          <p:cNvPr id="3" name="灯片编号占位符 2">
            <a:extLst>
              <a:ext uri="{FF2B5EF4-FFF2-40B4-BE49-F238E27FC236}">
                <a16:creationId xmlns:a16="http://schemas.microsoft.com/office/drawing/2014/main" id="{FA1B3C39-9472-4955-6AAD-E9B6183E8F13}"/>
              </a:ext>
            </a:extLst>
          </p:cNvPr>
          <p:cNvSpPr>
            <a:spLocks noGrp="1"/>
          </p:cNvSpPr>
          <p:nvPr>
            <p:ph type="sldNum" sz="quarter" idx="11"/>
          </p:nvPr>
        </p:nvSpPr>
        <p:spPr/>
        <p:txBody>
          <a:bodyPr/>
          <a:lstStyle/>
          <a:p>
            <a:pPr>
              <a:defRPr/>
            </a:pPr>
            <a:fld id="{B77A47BA-BA63-4780-94A9-8AFA2EA4438D}" type="slidenum">
              <a:rPr lang="en-US" altLang="zh-CN" smtClean="0"/>
              <a:pPr>
                <a:defRPr/>
              </a:pPr>
              <a:t>46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wipe(left)">
                                      <p:cBhvr>
                                        <p:cTn id="7" dur="500"/>
                                        <p:tgtEl>
                                          <p:spTgt spid="21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wipe(left)">
                                      <p:cBhvr>
                                        <p:cTn id="12" dur="500"/>
                                        <p:tgtEl>
                                          <p:spTgt spid="215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wipe(left)">
                                      <p:cBhvr>
                                        <p:cTn id="17" dur="500"/>
                                        <p:tgtEl>
                                          <p:spTgt spid="215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wipe(left)">
                                      <p:cBhvr>
                                        <p:cTn id="22" dur="500"/>
                                        <p:tgtEl>
                                          <p:spTgt spid="215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Effect transition="in" filter="wipe(left)">
                                      <p:cBhvr>
                                        <p:cTn id="27" dur="500"/>
                                        <p:tgtEl>
                                          <p:spTgt spid="2150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1000"/>
                                        <p:tgtEl>
                                          <p:spTgt spid="4"/>
                                        </p:tgtEl>
                                      </p:cBhvr>
                                    </p:animEffect>
                                    <p:anim calcmode="lin" valueType="num">
                                      <p:cBhvr>
                                        <p:cTn id="33" dur="1000" fill="hold"/>
                                        <p:tgtEl>
                                          <p:spTgt spid="4"/>
                                        </p:tgtEl>
                                        <p:attrNameLst>
                                          <p:attrName>ppt_x</p:attrName>
                                        </p:attrNameLst>
                                      </p:cBhvr>
                                      <p:tavLst>
                                        <p:tav tm="0">
                                          <p:val>
                                            <p:strVal val="#ppt_x"/>
                                          </p:val>
                                        </p:tav>
                                        <p:tav tm="100000">
                                          <p:val>
                                            <p:strVal val="#ppt_x"/>
                                          </p:val>
                                        </p:tav>
                                      </p:tavLst>
                                    </p:anim>
                                    <p:anim calcmode="lin" valueType="num">
                                      <p:cBhvr>
                                        <p:cTn id="34" dur="1000" fill="hold"/>
                                        <p:tgtEl>
                                          <p:spTgt spid="4"/>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1507">
                                            <p:txEl>
                                              <p:pRg st="5" end="5"/>
                                            </p:txEl>
                                          </p:spTgt>
                                        </p:tgtEl>
                                        <p:attrNameLst>
                                          <p:attrName>style.visibility</p:attrName>
                                        </p:attrNameLst>
                                      </p:cBhvr>
                                      <p:to>
                                        <p:strVal val="visible"/>
                                      </p:to>
                                    </p:set>
                                    <p:animEffect transition="in" filter="wipe(left)">
                                      <p:cBhvr>
                                        <p:cTn id="44" dur="500"/>
                                        <p:tgtEl>
                                          <p:spTgt spid="21507">
                                            <p:txEl>
                                              <p:pRg st="5" end="5"/>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1000"/>
                                        <p:tgtEl>
                                          <p:spTgt spid="2"/>
                                        </p:tgtEl>
                                      </p:cBhvr>
                                    </p:animEffect>
                                    <p:anim calcmode="lin" valueType="num">
                                      <p:cBhvr>
                                        <p:cTn id="50" dur="1000" fill="hold"/>
                                        <p:tgtEl>
                                          <p:spTgt spid="2"/>
                                        </p:tgtEl>
                                        <p:attrNameLst>
                                          <p:attrName>ppt_x</p:attrName>
                                        </p:attrNameLst>
                                      </p:cBhvr>
                                      <p:tavLst>
                                        <p:tav tm="0">
                                          <p:val>
                                            <p:strVal val="#ppt_x"/>
                                          </p:val>
                                        </p:tav>
                                        <p:tav tm="100000">
                                          <p:val>
                                            <p:strVal val="#ppt_x"/>
                                          </p:val>
                                        </p:tav>
                                      </p:tavLst>
                                    </p:anim>
                                    <p:anim calcmode="lin" valueType="num">
                                      <p:cBhvr>
                                        <p:cTn id="5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1507">
                                            <p:txEl>
                                              <p:pRg st="6" end="6"/>
                                            </p:txEl>
                                          </p:spTgt>
                                        </p:tgtEl>
                                        <p:attrNameLst>
                                          <p:attrName>style.visibility</p:attrName>
                                        </p:attrNameLst>
                                      </p:cBhvr>
                                      <p:to>
                                        <p:strVal val="visible"/>
                                      </p:to>
                                    </p:set>
                                    <p:animEffect transition="in" filter="wipe(left)">
                                      <p:cBhvr>
                                        <p:cTn id="56" dur="500"/>
                                        <p:tgtEl>
                                          <p:spTgt spid="21507">
                                            <p:txEl>
                                              <p:pRg st="6" end="6"/>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1507">
                                            <p:txEl>
                                              <p:pRg st="7" end="7"/>
                                            </p:txEl>
                                          </p:spTgt>
                                        </p:tgtEl>
                                        <p:attrNameLst>
                                          <p:attrName>style.visibility</p:attrName>
                                        </p:attrNameLst>
                                      </p:cBhvr>
                                      <p:to>
                                        <p:strVal val="visible"/>
                                      </p:to>
                                    </p:set>
                                    <p:animEffect transition="in" filter="wipe(left)">
                                      <p:cBhvr>
                                        <p:cTn id="61" dur="500"/>
                                        <p:tgtEl>
                                          <p:spTgt spid="21507">
                                            <p:txEl>
                                              <p:pRg st="7" end="7"/>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1507">
                                            <p:txEl>
                                              <p:pRg st="8" end="8"/>
                                            </p:txEl>
                                          </p:spTgt>
                                        </p:tgtEl>
                                        <p:attrNameLst>
                                          <p:attrName>style.visibility</p:attrName>
                                        </p:attrNameLst>
                                      </p:cBhvr>
                                      <p:to>
                                        <p:strVal val="visible"/>
                                      </p:to>
                                    </p:set>
                                    <p:animEffect transition="in" filter="wipe(left)">
                                      <p:cBhvr>
                                        <p:cTn id="66" dur="500"/>
                                        <p:tgtEl>
                                          <p:spTgt spid="2150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uiExpand="1" build="p" autoUpdateAnimBg="0"/>
      <p:bldP spid="2" grpId="0" animBg="1"/>
      <p:bldP spid="4" grpId="0" animBg="1"/>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0CEB926-8474-5EA1-1530-31409056AC9B}"/>
              </a:ext>
            </a:extLst>
          </p:cNvPr>
          <p:cNvSpPr/>
          <p:nvPr/>
        </p:nvSpPr>
        <p:spPr>
          <a:xfrm>
            <a:off x="479376" y="1432223"/>
            <a:ext cx="11195416" cy="1739559"/>
          </a:xfrm>
          <a:prstGeom prst="rect">
            <a:avLst/>
          </a:prstGeom>
          <a:solidFill>
            <a:srgbClr val="FFFFCC"/>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53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376" y="3171782"/>
            <a:ext cx="11195416" cy="3533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0" name="Rectangle 2"/>
          <p:cNvSpPr>
            <a:spLocks noGrp="1" noChangeArrowheads="1"/>
          </p:cNvSpPr>
          <p:nvPr>
            <p:ph type="title" idx="4294967295"/>
          </p:nvPr>
        </p:nvSpPr>
        <p:spPr>
          <a:xfrm>
            <a:off x="1981200" y="260648"/>
            <a:ext cx="8229600" cy="1171575"/>
          </a:xfrm>
        </p:spPr>
        <p:txBody>
          <a:bodyPr/>
          <a:lstStyle/>
          <a:p>
            <a:pPr algn="ctr" eaLnBrk="1" hangingPunct="1"/>
            <a:r>
              <a:rPr lang="zh-CN" altLang="zh-CN" dirty="0">
                <a:solidFill>
                  <a:srgbClr val="008000"/>
                </a:solidFill>
                <a:ea typeface="黑体" panose="02010609060101010101" pitchFamily="49" charset="-122"/>
              </a:rPr>
              <a:t>显示训练前、后的结果</a:t>
            </a:r>
          </a:p>
        </p:txBody>
      </p:sp>
      <p:sp>
        <p:nvSpPr>
          <p:cNvPr id="22531" name="Rectangle 3"/>
          <p:cNvSpPr>
            <a:spLocks noGrp="1" noChangeArrowheads="1"/>
          </p:cNvSpPr>
          <p:nvPr>
            <p:ph type="body" idx="4294967295"/>
          </p:nvPr>
        </p:nvSpPr>
        <p:spPr>
          <a:xfrm>
            <a:off x="901601" y="1651407"/>
            <a:ext cx="4906367" cy="1643523"/>
          </a:xfrm>
        </p:spPr>
        <p:txBody>
          <a:bodyPr/>
          <a:lstStyle/>
          <a:p>
            <a:pPr eaLnBrk="1" hangingPunct="1">
              <a:lnSpc>
                <a:spcPct val="80000"/>
              </a:lnSpc>
              <a:buFont typeface="Wingdings" panose="05000000000000000000" pitchFamily="2" charset="2"/>
              <a:buNone/>
            </a:pPr>
            <a:r>
              <a:rPr lang="en-US" altLang="zh-CN" sz="2400" dirty="0"/>
              <a:t>Figure(1); </a:t>
            </a:r>
          </a:p>
          <a:p>
            <a:pPr eaLnBrk="1" hangingPunct="1">
              <a:lnSpc>
                <a:spcPct val="80000"/>
              </a:lnSpc>
              <a:buFont typeface="Wingdings" panose="05000000000000000000" pitchFamily="2" charset="2"/>
              <a:buNone/>
            </a:pPr>
            <a:r>
              <a:rPr lang="en-US" altLang="zh-CN" sz="2400" dirty="0"/>
              <a:t>subplot(121); </a:t>
            </a:r>
            <a:r>
              <a:rPr lang="en-US" altLang="zh-CN" sz="2400" dirty="0" err="1"/>
              <a:t>plotmf</a:t>
            </a:r>
            <a:r>
              <a:rPr lang="en-US" altLang="zh-CN" sz="2400" dirty="0"/>
              <a:t>(fis1,'input',1);</a:t>
            </a:r>
          </a:p>
          <a:p>
            <a:pPr eaLnBrk="1" hangingPunct="1">
              <a:lnSpc>
                <a:spcPct val="80000"/>
              </a:lnSpc>
              <a:buFont typeface="Wingdings" panose="05000000000000000000" pitchFamily="2" charset="2"/>
              <a:buNone/>
            </a:pPr>
            <a:r>
              <a:rPr lang="en-US" altLang="zh-CN" sz="2400" dirty="0"/>
              <a:t>delete(</a:t>
            </a:r>
            <a:r>
              <a:rPr lang="en-US" altLang="zh-CN" sz="2400" dirty="0" err="1"/>
              <a:t>findobj</a:t>
            </a:r>
            <a:r>
              <a:rPr lang="en-US" altLang="zh-CN" sz="2400" dirty="0"/>
              <a:t>(</a:t>
            </a:r>
            <a:r>
              <a:rPr lang="en-US" altLang="zh-CN" sz="2400" dirty="0" err="1"/>
              <a:t>gca</a:t>
            </a:r>
            <a:r>
              <a:rPr lang="en-US" altLang="zh-CN" sz="2400" dirty="0"/>
              <a:t>,'</a:t>
            </a:r>
            <a:r>
              <a:rPr lang="en-US" altLang="zh-CN" sz="2400" dirty="0" err="1"/>
              <a:t>xLabel</a:t>
            </a:r>
            <a:r>
              <a:rPr lang="en-US" altLang="zh-CN" sz="2400" dirty="0"/>
              <a:t>', 'text'));</a:t>
            </a:r>
          </a:p>
          <a:p>
            <a:pPr eaLnBrk="1" hangingPunct="1">
              <a:lnSpc>
                <a:spcPct val="80000"/>
              </a:lnSpc>
              <a:buFont typeface="Wingdings" panose="05000000000000000000" pitchFamily="2" charset="2"/>
              <a:buNone/>
            </a:pPr>
            <a:r>
              <a:rPr lang="en-US" altLang="zh-CN" sz="2400" dirty="0"/>
              <a:t>title('</a:t>
            </a:r>
            <a:r>
              <a:rPr lang="zh-CN" altLang="en-US" sz="2400" dirty="0"/>
              <a:t>训练前的隶属度函数</a:t>
            </a:r>
            <a:r>
              <a:rPr lang="en-US" altLang="zh-CN" sz="2400" dirty="0"/>
              <a:t>');</a:t>
            </a:r>
          </a:p>
        </p:txBody>
      </p:sp>
      <p:sp>
        <p:nvSpPr>
          <p:cNvPr id="2" name="灯片编号占位符 1">
            <a:extLst>
              <a:ext uri="{FF2B5EF4-FFF2-40B4-BE49-F238E27FC236}">
                <a16:creationId xmlns:a16="http://schemas.microsoft.com/office/drawing/2014/main" id="{4E05DDFB-4382-DCCE-EEB0-F4920DE111EE}"/>
              </a:ext>
            </a:extLst>
          </p:cNvPr>
          <p:cNvSpPr>
            <a:spLocks noGrp="1"/>
          </p:cNvSpPr>
          <p:nvPr>
            <p:ph type="sldNum" sz="quarter" idx="11"/>
          </p:nvPr>
        </p:nvSpPr>
        <p:spPr/>
        <p:txBody>
          <a:bodyPr/>
          <a:lstStyle/>
          <a:p>
            <a:pPr>
              <a:defRPr/>
            </a:pPr>
            <a:fld id="{B77A47BA-BA63-4780-94A9-8AFA2EA4438D}" type="slidenum">
              <a:rPr lang="en-US" altLang="zh-CN" smtClean="0"/>
              <a:pPr>
                <a:defRPr/>
              </a:pPr>
              <a:t>47</a:t>
            </a:fld>
            <a:endParaRPr lang="en-US" altLang="zh-CN"/>
          </a:p>
        </p:txBody>
      </p:sp>
      <p:sp>
        <p:nvSpPr>
          <p:cNvPr id="3" name="Rectangle 3">
            <a:extLst>
              <a:ext uri="{FF2B5EF4-FFF2-40B4-BE49-F238E27FC236}">
                <a16:creationId xmlns:a16="http://schemas.microsoft.com/office/drawing/2014/main" id="{682A3A36-2BE8-0D67-DB48-D089C41925C2}"/>
              </a:ext>
            </a:extLst>
          </p:cNvPr>
          <p:cNvSpPr txBox="1">
            <a:spLocks noChangeArrowheads="1"/>
          </p:cNvSpPr>
          <p:nvPr/>
        </p:nvSpPr>
        <p:spPr bwMode="auto">
          <a:xfrm>
            <a:off x="6436636" y="1934444"/>
            <a:ext cx="5184576" cy="1360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lnSpc>
                <a:spcPct val="80000"/>
              </a:lnSpc>
              <a:buFont typeface="Wingdings" pitchFamily="2" charset="2"/>
              <a:buNone/>
            </a:pPr>
            <a:r>
              <a:rPr lang="en-US" altLang="zh-CN" sz="2400" kern="0" dirty="0"/>
              <a:t>subplot(122); </a:t>
            </a:r>
            <a:r>
              <a:rPr lang="en-US" altLang="zh-CN" sz="2400" kern="0" dirty="0" err="1"/>
              <a:t>plotmf</a:t>
            </a:r>
            <a:r>
              <a:rPr lang="en-US" altLang="zh-CN" sz="2400" kern="0" dirty="0"/>
              <a:t>(fis2,'input',1);</a:t>
            </a:r>
          </a:p>
          <a:p>
            <a:pPr eaLnBrk="1" hangingPunct="1">
              <a:lnSpc>
                <a:spcPct val="80000"/>
              </a:lnSpc>
              <a:buFont typeface="Wingdings" pitchFamily="2" charset="2"/>
              <a:buNone/>
            </a:pPr>
            <a:r>
              <a:rPr lang="en-US" altLang="zh-CN" sz="2400" kern="0" dirty="0"/>
              <a:t>delete(</a:t>
            </a:r>
            <a:r>
              <a:rPr lang="en-US" altLang="zh-CN" sz="2400" kern="0" dirty="0" err="1"/>
              <a:t>findobj</a:t>
            </a:r>
            <a:r>
              <a:rPr lang="en-US" altLang="zh-CN" sz="2400" kern="0" dirty="0"/>
              <a:t>(</a:t>
            </a:r>
            <a:r>
              <a:rPr lang="en-US" altLang="zh-CN" sz="2400" kern="0" dirty="0" err="1"/>
              <a:t>gca</a:t>
            </a:r>
            <a:r>
              <a:rPr lang="en-US" altLang="zh-CN" sz="2400" kern="0" dirty="0"/>
              <a:t>,'</a:t>
            </a:r>
            <a:r>
              <a:rPr lang="en-US" altLang="zh-CN" sz="2400" kern="0" dirty="0" err="1"/>
              <a:t>xLabel</a:t>
            </a:r>
            <a:r>
              <a:rPr lang="en-US" altLang="zh-CN" sz="2400" kern="0" dirty="0"/>
              <a:t>', 'text'));</a:t>
            </a:r>
          </a:p>
          <a:p>
            <a:pPr eaLnBrk="1" hangingPunct="1">
              <a:lnSpc>
                <a:spcPct val="80000"/>
              </a:lnSpc>
              <a:buFont typeface="Wingdings" pitchFamily="2" charset="2"/>
              <a:buNone/>
            </a:pPr>
            <a:r>
              <a:rPr lang="en-US" altLang="zh-CN" sz="2400" kern="0" dirty="0"/>
              <a:t>title('</a:t>
            </a:r>
            <a:r>
              <a:rPr lang="zh-CN" altLang="en-US" sz="2400" kern="0" dirty="0"/>
              <a:t>训练后的隶属度函数</a:t>
            </a:r>
            <a:r>
              <a:rPr lang="en-US" altLang="zh-CN" sz="2400" kern="0" dirty="0"/>
              <a:t>');</a:t>
            </a:r>
          </a:p>
        </p:txBody>
      </p:sp>
      <p:cxnSp>
        <p:nvCxnSpPr>
          <p:cNvPr id="6" name="直接连接符 5">
            <a:extLst>
              <a:ext uri="{FF2B5EF4-FFF2-40B4-BE49-F238E27FC236}">
                <a16:creationId xmlns:a16="http://schemas.microsoft.com/office/drawing/2014/main" id="{784DCF79-3A3C-E0B7-FCF9-1D4B9C0ACEDE}"/>
              </a:ext>
            </a:extLst>
          </p:cNvPr>
          <p:cNvCxnSpPr>
            <a:stCxn id="4" idx="0"/>
            <a:endCxn id="4" idx="2"/>
          </p:cNvCxnSpPr>
          <p:nvPr/>
        </p:nvCxnSpPr>
        <p:spPr>
          <a:xfrm>
            <a:off x="6077084" y="1432223"/>
            <a:ext cx="0" cy="1739559"/>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wipe(left)">
                                      <p:cBhvr>
                                        <p:cTn id="7" dur="500"/>
                                        <p:tgtEl>
                                          <p:spTgt spid="225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wipe(left)">
                                      <p:cBhvr>
                                        <p:cTn id="12" dur="500"/>
                                        <p:tgtEl>
                                          <p:spTgt spid="225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31">
                                            <p:txEl>
                                              <p:pRg st="2" end="2"/>
                                            </p:txEl>
                                          </p:spTgt>
                                        </p:tgtEl>
                                        <p:attrNameLst>
                                          <p:attrName>style.visibility</p:attrName>
                                        </p:attrNameLst>
                                      </p:cBhvr>
                                      <p:to>
                                        <p:strVal val="visible"/>
                                      </p:to>
                                    </p:set>
                                    <p:animEffect transition="in" filter="wipe(left)">
                                      <p:cBhvr>
                                        <p:cTn id="17" dur="500"/>
                                        <p:tgtEl>
                                          <p:spTgt spid="225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531">
                                            <p:txEl>
                                              <p:pRg st="3" end="3"/>
                                            </p:txEl>
                                          </p:spTgt>
                                        </p:tgtEl>
                                        <p:attrNameLst>
                                          <p:attrName>style.visibility</p:attrName>
                                        </p:attrNameLst>
                                      </p:cBhvr>
                                      <p:to>
                                        <p:strVal val="visible"/>
                                      </p:to>
                                    </p:set>
                                    <p:animEffect transition="in" filter="wipe(left)">
                                      <p:cBhvr>
                                        <p:cTn id="22" dur="500"/>
                                        <p:tgtEl>
                                          <p:spTgt spid="225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wipe(left)">
                                      <p:cBhvr>
                                        <p:cTn id="27" dur="5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wipe(left)">
                                      <p:cBhvr>
                                        <p:cTn id="32" dur="500"/>
                                        <p:tgtEl>
                                          <p:spTgt spid="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wipe(left)">
                                      <p:cBhvr>
                                        <p:cTn id="37" dur="500"/>
                                        <p:tgtEl>
                                          <p:spTgt spid="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2533"/>
                                        </p:tgtEl>
                                        <p:attrNameLst>
                                          <p:attrName>style.visibility</p:attrName>
                                        </p:attrNameLst>
                                      </p:cBhvr>
                                      <p:to>
                                        <p:strVal val="visible"/>
                                      </p:to>
                                    </p:set>
                                    <p:animEffect transition="in" filter="fade">
                                      <p:cBhvr>
                                        <p:cTn id="42" dur="1000"/>
                                        <p:tgtEl>
                                          <p:spTgt spid="22533"/>
                                        </p:tgtEl>
                                      </p:cBhvr>
                                    </p:animEffect>
                                    <p:anim calcmode="lin" valueType="num">
                                      <p:cBhvr>
                                        <p:cTn id="43" dur="1000" fill="hold"/>
                                        <p:tgtEl>
                                          <p:spTgt spid="22533"/>
                                        </p:tgtEl>
                                        <p:attrNameLst>
                                          <p:attrName>ppt_x</p:attrName>
                                        </p:attrNameLst>
                                      </p:cBhvr>
                                      <p:tavLst>
                                        <p:tav tm="0">
                                          <p:val>
                                            <p:strVal val="#ppt_x"/>
                                          </p:val>
                                        </p:tav>
                                        <p:tav tm="100000">
                                          <p:val>
                                            <p:strVal val="#ppt_x"/>
                                          </p:val>
                                        </p:tav>
                                      </p:tavLst>
                                    </p:anim>
                                    <p:anim calcmode="lin" valueType="num">
                                      <p:cBhvr>
                                        <p:cTn id="44" dur="1000" fill="hold"/>
                                        <p:tgtEl>
                                          <p:spTgt spid="225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P spid="3"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262D9BF-F595-656E-D50D-89E23F540640}"/>
              </a:ext>
            </a:extLst>
          </p:cNvPr>
          <p:cNvSpPr/>
          <p:nvPr/>
        </p:nvSpPr>
        <p:spPr>
          <a:xfrm>
            <a:off x="479376" y="1432223"/>
            <a:ext cx="11195416" cy="1739559"/>
          </a:xfrm>
          <a:prstGeom prst="rect">
            <a:avLst/>
          </a:prstGeom>
          <a:solidFill>
            <a:srgbClr val="CCFFFF"/>
          </a:solidFill>
          <a:ln>
            <a:solidFill>
              <a:srgbClr val="CC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554" name="Rectangle 2"/>
          <p:cNvSpPr>
            <a:spLocks noGrp="1" noChangeArrowheads="1"/>
          </p:cNvSpPr>
          <p:nvPr>
            <p:ph type="title" idx="4294967295"/>
          </p:nvPr>
        </p:nvSpPr>
        <p:spPr>
          <a:xfrm>
            <a:off x="1954213" y="298459"/>
            <a:ext cx="8229600" cy="1171575"/>
          </a:xfrm>
        </p:spPr>
        <p:txBody>
          <a:bodyPr/>
          <a:lstStyle/>
          <a:p>
            <a:pPr algn="ctr" eaLnBrk="1" hangingPunct="1"/>
            <a:r>
              <a:rPr lang="zh-CN" altLang="zh-CN">
                <a:solidFill>
                  <a:srgbClr val="008000"/>
                </a:solidFill>
                <a:ea typeface="黑体" panose="02010609060101010101" pitchFamily="49" charset="-122"/>
              </a:rPr>
              <a:t>显示训练前、后的结果</a:t>
            </a:r>
          </a:p>
        </p:txBody>
      </p:sp>
      <p:sp>
        <p:nvSpPr>
          <p:cNvPr id="23555" name="Rectangle 3"/>
          <p:cNvSpPr txBox="1">
            <a:spLocks noChangeArrowheads="1"/>
          </p:cNvSpPr>
          <p:nvPr/>
        </p:nvSpPr>
        <p:spPr bwMode="auto">
          <a:xfrm>
            <a:off x="767408" y="1575036"/>
            <a:ext cx="5040560" cy="1363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20000"/>
              </a:spcBef>
              <a:buClr>
                <a:schemeClr val="bg2"/>
              </a:buClr>
              <a:buSzPct val="75000"/>
              <a:buFont typeface="Wingdings" panose="05000000000000000000" pitchFamily="2" charset="2"/>
              <a:buNone/>
            </a:pPr>
            <a:r>
              <a:rPr lang="en-US" altLang="zh-CN" sz="2000" dirty="0"/>
              <a:t>Figure(2); subplot(121); </a:t>
            </a:r>
          </a:p>
          <a:p>
            <a:pPr eaLnBrk="1" hangingPunct="1">
              <a:lnSpc>
                <a:spcPct val="80000"/>
              </a:lnSpc>
              <a:spcBef>
                <a:spcPct val="20000"/>
              </a:spcBef>
              <a:buClr>
                <a:schemeClr val="bg2"/>
              </a:buClr>
              <a:buSzPct val="75000"/>
              <a:buFont typeface="Wingdings" panose="05000000000000000000" pitchFamily="2" charset="2"/>
              <a:buNone/>
            </a:pPr>
            <a:r>
              <a:rPr lang="en-US" altLang="zh-CN" sz="2000" dirty="0"/>
              <a:t> </a:t>
            </a:r>
            <a:r>
              <a:rPr lang="en-US" altLang="zh-CN" sz="2000" dirty="0" err="1"/>
              <a:t>newdata_n</a:t>
            </a:r>
            <a:r>
              <a:rPr lang="en-US" altLang="zh-CN" sz="2000" dirty="0"/>
              <a:t>=1001;  %</a:t>
            </a:r>
            <a:r>
              <a:rPr lang="zh-CN" altLang="en-US" sz="2000" dirty="0"/>
              <a:t>产生测试数据的个数</a:t>
            </a:r>
            <a:endParaRPr lang="en-US" altLang="zh-CN" sz="2000" dirty="0"/>
          </a:p>
          <a:p>
            <a:pPr eaLnBrk="1" hangingPunct="1">
              <a:lnSpc>
                <a:spcPct val="80000"/>
              </a:lnSpc>
              <a:spcBef>
                <a:spcPct val="20000"/>
              </a:spcBef>
              <a:buClr>
                <a:schemeClr val="bg2"/>
              </a:buClr>
              <a:buSzPct val="75000"/>
              <a:buFont typeface="Wingdings" panose="05000000000000000000" pitchFamily="2" charset="2"/>
              <a:buNone/>
            </a:pPr>
            <a:r>
              <a:rPr lang="en-US" altLang="zh-CN" sz="2000" dirty="0" err="1"/>
              <a:t>x_new</a:t>
            </a:r>
            <a:r>
              <a:rPr lang="en-US" altLang="zh-CN" sz="2000" dirty="0"/>
              <a:t>=</a:t>
            </a:r>
            <a:r>
              <a:rPr lang="en-US" altLang="zh-CN" sz="2000" dirty="0" err="1"/>
              <a:t>linspace</a:t>
            </a:r>
            <a:r>
              <a:rPr lang="en-US" altLang="zh-CN" sz="2000" dirty="0"/>
              <a:t>(-1,1,newdata_n);</a:t>
            </a:r>
          </a:p>
          <a:p>
            <a:pPr eaLnBrk="1" hangingPunct="1">
              <a:lnSpc>
                <a:spcPct val="80000"/>
              </a:lnSpc>
              <a:spcBef>
                <a:spcPct val="20000"/>
              </a:spcBef>
              <a:buClr>
                <a:schemeClr val="bg2"/>
              </a:buClr>
              <a:buSzPct val="75000"/>
              <a:buFont typeface="Wingdings" panose="05000000000000000000" pitchFamily="2" charset="2"/>
              <a:buNone/>
            </a:pPr>
            <a:r>
              <a:rPr lang="en-US" altLang="zh-CN" sz="2000" dirty="0" err="1"/>
              <a:t>y_new</a:t>
            </a:r>
            <a:r>
              <a:rPr lang="en-US" altLang="zh-CN" sz="2000" dirty="0"/>
              <a:t>=</a:t>
            </a:r>
            <a:r>
              <a:rPr lang="en-US" altLang="zh-CN" sz="2000" dirty="0" err="1"/>
              <a:t>evalfis</a:t>
            </a:r>
            <a:r>
              <a:rPr lang="en-US" altLang="zh-CN" sz="2000" dirty="0"/>
              <a:t>(x_new,fis2);</a:t>
            </a:r>
          </a:p>
        </p:txBody>
      </p:sp>
      <p:pic>
        <p:nvPicPr>
          <p:cNvPr id="235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492" y="3314595"/>
            <a:ext cx="10657184" cy="340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a:extLst>
              <a:ext uri="{FF2B5EF4-FFF2-40B4-BE49-F238E27FC236}">
                <a16:creationId xmlns:a16="http://schemas.microsoft.com/office/drawing/2014/main" id="{49FF1580-5A5F-7460-DB96-FB2B00F0FC06}"/>
              </a:ext>
            </a:extLst>
          </p:cNvPr>
          <p:cNvSpPr>
            <a:spLocks noGrp="1"/>
          </p:cNvSpPr>
          <p:nvPr>
            <p:ph type="sldNum" sz="quarter" idx="11"/>
          </p:nvPr>
        </p:nvSpPr>
        <p:spPr/>
        <p:txBody>
          <a:bodyPr/>
          <a:lstStyle/>
          <a:p>
            <a:pPr>
              <a:defRPr/>
            </a:pPr>
            <a:fld id="{B77A47BA-BA63-4780-94A9-8AFA2EA4438D}" type="slidenum">
              <a:rPr lang="en-US" altLang="zh-CN" smtClean="0"/>
              <a:pPr>
                <a:defRPr/>
              </a:pPr>
              <a:t>48</a:t>
            </a:fld>
            <a:endParaRPr lang="en-US" altLang="zh-CN"/>
          </a:p>
        </p:txBody>
      </p:sp>
      <p:sp>
        <p:nvSpPr>
          <p:cNvPr id="3" name="Rectangle 3">
            <a:extLst>
              <a:ext uri="{FF2B5EF4-FFF2-40B4-BE49-F238E27FC236}">
                <a16:creationId xmlns:a16="http://schemas.microsoft.com/office/drawing/2014/main" id="{ACC5D289-504F-4480-D374-FF3B1B4B8DDE}"/>
              </a:ext>
            </a:extLst>
          </p:cNvPr>
          <p:cNvSpPr txBox="1">
            <a:spLocks noChangeArrowheads="1"/>
          </p:cNvSpPr>
          <p:nvPr/>
        </p:nvSpPr>
        <p:spPr bwMode="auto">
          <a:xfrm>
            <a:off x="6168008" y="1575036"/>
            <a:ext cx="5040560" cy="1569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20000"/>
              </a:spcBef>
              <a:buClr>
                <a:schemeClr val="bg2"/>
              </a:buClr>
              <a:buSzPct val="75000"/>
              <a:buFont typeface="Wingdings" panose="05000000000000000000" pitchFamily="2" charset="2"/>
              <a:buNone/>
            </a:pPr>
            <a:r>
              <a:rPr lang="en-US" altLang="zh-CN" sz="2000" dirty="0"/>
              <a:t>plot(data(:,1),data(:,2),‘r.’,</a:t>
            </a:r>
            <a:r>
              <a:rPr lang="en-US" altLang="zh-CN" sz="2000" dirty="0" err="1"/>
              <a:t>x_new,y_new</a:t>
            </a:r>
            <a:r>
              <a:rPr lang="en-US" altLang="zh-CN" sz="2000" dirty="0"/>
              <a:t>);  </a:t>
            </a:r>
          </a:p>
          <a:p>
            <a:pPr eaLnBrk="1" hangingPunct="1">
              <a:lnSpc>
                <a:spcPct val="80000"/>
              </a:lnSpc>
              <a:spcBef>
                <a:spcPct val="20000"/>
              </a:spcBef>
              <a:buClr>
                <a:schemeClr val="bg2"/>
              </a:buClr>
              <a:buSzPct val="75000"/>
              <a:buFont typeface="Wingdings" panose="05000000000000000000" pitchFamily="2" charset="2"/>
              <a:buNone/>
            </a:pPr>
            <a:r>
              <a:rPr lang="en-US" altLang="zh-CN" sz="2000" b="1" dirty="0">
                <a:solidFill>
                  <a:srgbClr val="FF0000"/>
                </a:solidFill>
              </a:rPr>
              <a:t>%</a:t>
            </a:r>
            <a:r>
              <a:rPr lang="zh-CN" altLang="en-US" sz="2000" b="1" dirty="0">
                <a:solidFill>
                  <a:srgbClr val="FF0000"/>
                </a:solidFill>
              </a:rPr>
              <a:t>红点表示训练后测试的数据</a:t>
            </a:r>
            <a:endParaRPr lang="en-US" altLang="zh-CN" sz="2000" b="1" dirty="0">
              <a:solidFill>
                <a:srgbClr val="FF0000"/>
              </a:solidFill>
            </a:endParaRPr>
          </a:p>
          <a:p>
            <a:pPr eaLnBrk="1" hangingPunct="1">
              <a:lnSpc>
                <a:spcPct val="80000"/>
              </a:lnSpc>
              <a:spcBef>
                <a:spcPct val="20000"/>
              </a:spcBef>
              <a:buClr>
                <a:schemeClr val="bg2"/>
              </a:buClr>
              <a:buSzPct val="75000"/>
              <a:buFont typeface="Wingdings" panose="05000000000000000000" pitchFamily="2" charset="2"/>
              <a:buNone/>
            </a:pPr>
            <a:r>
              <a:rPr lang="en-US" altLang="zh-CN" sz="2000" dirty="0"/>
              <a:t>title('</a:t>
            </a:r>
            <a:r>
              <a:rPr lang="zh-CN" altLang="en-US" sz="2000" dirty="0"/>
              <a:t>原始的</a:t>
            </a:r>
            <a:r>
              <a:rPr lang="en-US" altLang="zh-CN" sz="2000" dirty="0"/>
              <a:t>f(x)</a:t>
            </a:r>
            <a:r>
              <a:rPr lang="zh-CN" altLang="en-US" sz="2000" dirty="0"/>
              <a:t>和</a:t>
            </a:r>
            <a:r>
              <a:rPr lang="en-US" altLang="zh-CN" sz="2000" dirty="0"/>
              <a:t>ANFIS</a:t>
            </a:r>
            <a:r>
              <a:rPr lang="zh-CN" altLang="en-US" sz="2000" dirty="0"/>
              <a:t>输出</a:t>
            </a:r>
            <a:r>
              <a:rPr lang="en-US" altLang="zh-CN" sz="2000" dirty="0"/>
              <a:t>')'</a:t>
            </a:r>
          </a:p>
          <a:p>
            <a:pPr eaLnBrk="1" hangingPunct="1">
              <a:lnSpc>
                <a:spcPct val="80000"/>
              </a:lnSpc>
              <a:spcBef>
                <a:spcPct val="20000"/>
              </a:spcBef>
              <a:buClr>
                <a:schemeClr val="bg2"/>
              </a:buClr>
              <a:buSzPct val="75000"/>
              <a:buFont typeface="Wingdings" panose="05000000000000000000" pitchFamily="2" charset="2"/>
              <a:buNone/>
            </a:pPr>
            <a:r>
              <a:rPr lang="en-US" altLang="zh-CN" sz="2000" dirty="0"/>
              <a:t>subplot(122); plot(error);</a:t>
            </a:r>
          </a:p>
          <a:p>
            <a:pPr eaLnBrk="1" hangingPunct="1">
              <a:lnSpc>
                <a:spcPct val="80000"/>
              </a:lnSpc>
              <a:spcBef>
                <a:spcPct val="20000"/>
              </a:spcBef>
              <a:buClr>
                <a:schemeClr val="bg2"/>
              </a:buClr>
              <a:buSzPct val="75000"/>
              <a:buFont typeface="Wingdings" panose="05000000000000000000" pitchFamily="2" charset="2"/>
              <a:buNone/>
            </a:pPr>
            <a:r>
              <a:rPr lang="en-US" altLang="zh-CN" sz="2000" dirty="0"/>
              <a:t>title('</a:t>
            </a:r>
            <a:r>
              <a:rPr lang="zh-CN" altLang="en-US" sz="2000" dirty="0"/>
              <a:t>训练过程误差</a:t>
            </a:r>
            <a:r>
              <a:rPr lang="en-US" altLang="zh-CN" sz="2000" dirty="0"/>
              <a:t>');</a:t>
            </a:r>
          </a:p>
        </p:txBody>
      </p:sp>
      <p:cxnSp>
        <p:nvCxnSpPr>
          <p:cNvPr id="5" name="直接连接符 4">
            <a:extLst>
              <a:ext uri="{FF2B5EF4-FFF2-40B4-BE49-F238E27FC236}">
                <a16:creationId xmlns:a16="http://schemas.microsoft.com/office/drawing/2014/main" id="{025E4CC8-07FC-6AF2-9065-5DF8531DB963}"/>
              </a:ext>
            </a:extLst>
          </p:cNvPr>
          <p:cNvCxnSpPr/>
          <p:nvPr/>
        </p:nvCxnSpPr>
        <p:spPr>
          <a:xfrm>
            <a:off x="6077084" y="1432223"/>
            <a:ext cx="0" cy="1739559"/>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left)">
                                      <p:cBhvr>
                                        <p:cTn id="7" dur="500"/>
                                        <p:tgtEl>
                                          <p:spTgt spid="23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wipe(left)">
                                      <p:cBhvr>
                                        <p:cTn id="12" dur="500"/>
                                        <p:tgtEl>
                                          <p:spTgt spid="235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wipe(left)">
                                      <p:cBhvr>
                                        <p:cTn id="17" dur="500"/>
                                        <p:tgtEl>
                                          <p:spTgt spid="235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3555">
                                            <p:txEl>
                                              <p:pRg st="3" end="3"/>
                                            </p:txEl>
                                          </p:spTgt>
                                        </p:tgtEl>
                                        <p:attrNameLst>
                                          <p:attrName>style.visibility</p:attrName>
                                        </p:attrNameLst>
                                      </p:cBhvr>
                                      <p:to>
                                        <p:strVal val="visible"/>
                                      </p:to>
                                    </p:set>
                                    <p:animEffect transition="in" filter="wipe(left)">
                                      <p:cBhvr>
                                        <p:cTn id="22" dur="500"/>
                                        <p:tgtEl>
                                          <p:spTgt spid="235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wipe(left)">
                                      <p:cBhvr>
                                        <p:cTn id="27" dur="5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wipe(left)">
                                      <p:cBhvr>
                                        <p:cTn id="32" dur="500"/>
                                        <p:tgtEl>
                                          <p:spTgt spid="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wipe(left)">
                                      <p:cBhvr>
                                        <p:cTn id="37" dur="500"/>
                                        <p:tgtEl>
                                          <p:spTgt spid="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wipe(left)">
                                      <p:cBhvr>
                                        <p:cTn id="42" dur="500"/>
                                        <p:tgtEl>
                                          <p:spTgt spid="3">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wipe(left)">
                                      <p:cBhvr>
                                        <p:cTn id="47" dur="500"/>
                                        <p:tgtEl>
                                          <p:spTgt spid="3">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23556"/>
                                        </p:tgtEl>
                                        <p:attrNameLst>
                                          <p:attrName>style.visibility</p:attrName>
                                        </p:attrNameLst>
                                      </p:cBhvr>
                                      <p:to>
                                        <p:strVal val="visible"/>
                                      </p:to>
                                    </p:set>
                                    <p:animEffect transition="in" filter="fade">
                                      <p:cBhvr>
                                        <p:cTn id="52" dur="1000"/>
                                        <p:tgtEl>
                                          <p:spTgt spid="23556"/>
                                        </p:tgtEl>
                                      </p:cBhvr>
                                    </p:animEffect>
                                    <p:anim calcmode="lin" valueType="num">
                                      <p:cBhvr>
                                        <p:cTn id="53" dur="1000" fill="hold"/>
                                        <p:tgtEl>
                                          <p:spTgt spid="23556"/>
                                        </p:tgtEl>
                                        <p:attrNameLst>
                                          <p:attrName>ppt_x</p:attrName>
                                        </p:attrNameLst>
                                      </p:cBhvr>
                                      <p:tavLst>
                                        <p:tav tm="0">
                                          <p:val>
                                            <p:strVal val="#ppt_x"/>
                                          </p:val>
                                        </p:tav>
                                        <p:tav tm="100000">
                                          <p:val>
                                            <p:strVal val="#ppt_x"/>
                                          </p:val>
                                        </p:tav>
                                      </p:tavLst>
                                    </p:anim>
                                    <p:anim calcmode="lin" valueType="num">
                                      <p:cBhvr>
                                        <p:cTn id="54" dur="1000" fill="hold"/>
                                        <p:tgtEl>
                                          <p:spTgt spid="235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41C852-B710-4B93-AA5D-9914DB8F36C0}"/>
              </a:ext>
            </a:extLst>
          </p:cNvPr>
          <p:cNvSpPr>
            <a:spLocks noGrp="1"/>
          </p:cNvSpPr>
          <p:nvPr>
            <p:ph type="title"/>
          </p:nvPr>
        </p:nvSpPr>
        <p:spPr>
          <a:xfrm>
            <a:off x="1990328" y="225654"/>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程序运行后生成的规则</a:t>
            </a:r>
          </a:p>
        </p:txBody>
      </p:sp>
      <p:pic>
        <p:nvPicPr>
          <p:cNvPr id="4" name="内容占位符 3">
            <a:extLst>
              <a:ext uri="{FF2B5EF4-FFF2-40B4-BE49-F238E27FC236}">
                <a16:creationId xmlns:a16="http://schemas.microsoft.com/office/drawing/2014/main" id="{C4EFF0BA-F457-49C7-8203-67E5AF70E4F9}"/>
              </a:ext>
            </a:extLst>
          </p:cNvPr>
          <p:cNvPicPr>
            <a:picLocks noGrp="1" noChangeAspect="1"/>
          </p:cNvPicPr>
          <p:nvPr>
            <p:ph idx="1"/>
          </p:nvPr>
        </p:nvPicPr>
        <p:blipFill>
          <a:blip r:embed="rId2"/>
          <a:stretch>
            <a:fillRect/>
          </a:stretch>
        </p:blipFill>
        <p:spPr>
          <a:xfrm>
            <a:off x="7248129" y="1434446"/>
            <a:ext cx="4604666" cy="2507376"/>
          </a:xfrm>
          <a:prstGeom prst="rect">
            <a:avLst/>
          </a:prstGeom>
        </p:spPr>
      </p:pic>
      <p:sp>
        <p:nvSpPr>
          <p:cNvPr id="6" name="文本框 5">
            <a:extLst>
              <a:ext uri="{FF2B5EF4-FFF2-40B4-BE49-F238E27FC236}">
                <a16:creationId xmlns:a16="http://schemas.microsoft.com/office/drawing/2014/main" id="{F7A6C486-BD80-40B7-96A8-0BED7DD1DFE6}"/>
              </a:ext>
            </a:extLst>
          </p:cNvPr>
          <p:cNvSpPr txBox="1"/>
          <p:nvPr/>
        </p:nvSpPr>
        <p:spPr>
          <a:xfrm>
            <a:off x="625711" y="1685027"/>
            <a:ext cx="6408712" cy="3688189"/>
          </a:xfrm>
          <a:prstGeom prst="rect">
            <a:avLst/>
          </a:prstGeom>
          <a:noFill/>
        </p:spPr>
        <p:txBody>
          <a:bodyPr wrap="square" rtlCol="0">
            <a:spAutoFit/>
          </a:bodyPr>
          <a:lstStyle/>
          <a:p>
            <a:pPr marL="342900" indent="-342900">
              <a:lnSpc>
                <a:spcPct val="150000"/>
              </a:lnSpc>
              <a:buAutoNum type="arabicPeriod"/>
            </a:pPr>
            <a:r>
              <a:rPr lang="en-US" altLang="zh-CN" sz="2800" dirty="0"/>
              <a:t>If (x=mf1) then  y=-7.059x-7.015</a:t>
            </a:r>
          </a:p>
          <a:p>
            <a:pPr marL="342900" indent="-342900">
              <a:lnSpc>
                <a:spcPct val="150000"/>
              </a:lnSpc>
              <a:buFont typeface="Arial" panose="020B0604020202020204" pitchFamily="34" charset="0"/>
              <a:buAutoNum type="arabicPeriod"/>
            </a:pPr>
            <a:r>
              <a:rPr lang="en-US" altLang="zh-CN" sz="2800" dirty="0"/>
              <a:t>If (x=mf2) then  y=-0.2027x-0.5016</a:t>
            </a:r>
          </a:p>
          <a:p>
            <a:pPr marL="342900" indent="-342900">
              <a:lnSpc>
                <a:spcPct val="150000"/>
              </a:lnSpc>
              <a:buFont typeface="Arial" panose="020B0604020202020204" pitchFamily="34" charset="0"/>
              <a:buAutoNum type="arabicPeriod"/>
            </a:pPr>
            <a:r>
              <a:rPr lang="en-US" altLang="zh-CN" sz="2800" dirty="0"/>
              <a:t>If (x=mf3) then  y=7.21x+1.363e-12</a:t>
            </a:r>
          </a:p>
          <a:p>
            <a:pPr marL="342900" indent="-342900">
              <a:lnSpc>
                <a:spcPct val="150000"/>
              </a:lnSpc>
              <a:buFont typeface="Arial" panose="020B0604020202020204" pitchFamily="34" charset="0"/>
              <a:buAutoNum type="arabicPeriod"/>
            </a:pPr>
            <a:r>
              <a:rPr lang="en-US" altLang="zh-CN" sz="2800" dirty="0"/>
              <a:t>If (x=mf4) then  y=0.2027x+0.5016</a:t>
            </a:r>
          </a:p>
          <a:p>
            <a:pPr marL="342900" indent="-342900">
              <a:lnSpc>
                <a:spcPct val="150000"/>
              </a:lnSpc>
              <a:buFont typeface="Arial" panose="020B0604020202020204" pitchFamily="34" charset="0"/>
              <a:buAutoNum type="arabicPeriod"/>
            </a:pPr>
            <a:r>
              <a:rPr lang="en-US" altLang="zh-CN" sz="2800" dirty="0"/>
              <a:t>If (x=mf5) then  y=-7.059x+7.015</a:t>
            </a:r>
          </a:p>
          <a:p>
            <a:pPr>
              <a:lnSpc>
                <a:spcPct val="150000"/>
              </a:lnSpc>
            </a:pPr>
            <a:endParaRPr lang="zh-CN" altLang="en-US" dirty="0"/>
          </a:p>
        </p:txBody>
      </p:sp>
      <p:pic>
        <p:nvPicPr>
          <p:cNvPr id="7" name="图片 6">
            <a:extLst>
              <a:ext uri="{FF2B5EF4-FFF2-40B4-BE49-F238E27FC236}">
                <a16:creationId xmlns:a16="http://schemas.microsoft.com/office/drawing/2014/main" id="{2F3D2805-EFD8-4FF7-9AFD-9901D83D238E}"/>
              </a:ext>
            </a:extLst>
          </p:cNvPr>
          <p:cNvPicPr>
            <a:picLocks noChangeAspect="1"/>
          </p:cNvPicPr>
          <p:nvPr/>
        </p:nvPicPr>
        <p:blipFill>
          <a:blip r:embed="rId3"/>
          <a:stretch>
            <a:fillRect/>
          </a:stretch>
        </p:blipFill>
        <p:spPr>
          <a:xfrm>
            <a:off x="7668030" y="3997974"/>
            <a:ext cx="4184765" cy="2851159"/>
          </a:xfrm>
          <a:prstGeom prst="rect">
            <a:avLst/>
          </a:prstGeom>
        </p:spPr>
      </p:pic>
      <p:sp>
        <p:nvSpPr>
          <p:cNvPr id="5" name="灯片编号占位符 4">
            <a:extLst>
              <a:ext uri="{FF2B5EF4-FFF2-40B4-BE49-F238E27FC236}">
                <a16:creationId xmlns:a16="http://schemas.microsoft.com/office/drawing/2014/main" id="{6A062A67-92F5-C399-4978-DC3892C85740}"/>
              </a:ext>
            </a:extLst>
          </p:cNvPr>
          <p:cNvSpPr>
            <a:spLocks noGrp="1"/>
          </p:cNvSpPr>
          <p:nvPr>
            <p:ph type="sldNum" sz="quarter" idx="11"/>
          </p:nvPr>
        </p:nvSpPr>
        <p:spPr/>
        <p:txBody>
          <a:bodyPr/>
          <a:lstStyle/>
          <a:p>
            <a:pPr>
              <a:defRPr/>
            </a:pPr>
            <a:fld id="{1F3E0329-027F-44B1-A42A-8643FF593956}" type="slidenum">
              <a:rPr lang="en-US" altLang="zh-CN" smtClean="0"/>
              <a:pPr>
                <a:defRPr/>
              </a:pPr>
              <a:t>49</a:t>
            </a:fld>
            <a:endParaRPr lang="en-US" altLang="zh-CN"/>
          </a:p>
        </p:txBody>
      </p:sp>
    </p:spTree>
    <p:extLst>
      <p:ext uri="{BB962C8B-B14F-4D97-AF65-F5344CB8AC3E}">
        <p14:creationId xmlns:p14="http://schemas.microsoft.com/office/powerpoint/2010/main" val="19413199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1981200" y="457209"/>
            <a:ext cx="8229600" cy="1171575"/>
          </a:xfrm>
        </p:spPr>
        <p:txBody>
          <a:bodyPr/>
          <a:lstStyle/>
          <a:p>
            <a:pPr algn="ctr" eaLnBrk="1" hangingPunct="1"/>
            <a:r>
              <a:rPr lang="en-US" altLang="zh-CN" dirty="0">
                <a:solidFill>
                  <a:srgbClr val="008000"/>
                </a:solidFill>
                <a:ea typeface="黑体" panose="02010609060101010101" pitchFamily="49" charset="-122"/>
              </a:rPr>
              <a:t>ANFIS </a:t>
            </a:r>
            <a:r>
              <a:rPr lang="zh-CN" altLang="en-US" dirty="0">
                <a:solidFill>
                  <a:srgbClr val="008000"/>
                </a:solidFill>
                <a:ea typeface="黑体" panose="02010609060101010101" pitchFamily="49" charset="-122"/>
              </a:rPr>
              <a:t>实例</a:t>
            </a:r>
            <a:r>
              <a:rPr lang="en-US" altLang="zh-CN" dirty="0">
                <a:solidFill>
                  <a:srgbClr val="008000"/>
                </a:solidFill>
                <a:ea typeface="黑体" panose="02010609060101010101" pitchFamily="49" charset="-122"/>
              </a:rPr>
              <a:t>2</a:t>
            </a:r>
          </a:p>
        </p:txBody>
      </p:sp>
      <p:sp>
        <p:nvSpPr>
          <p:cNvPr id="24579" name="Rectangle 3"/>
          <p:cNvSpPr>
            <a:spLocks noGrp="1" noChangeArrowheads="1"/>
          </p:cNvSpPr>
          <p:nvPr>
            <p:ph type="body" idx="4294967295"/>
          </p:nvPr>
        </p:nvSpPr>
        <p:spPr>
          <a:xfrm>
            <a:off x="983432" y="1576379"/>
            <a:ext cx="10873208" cy="4824412"/>
          </a:xfrm>
        </p:spPr>
        <p:txBody>
          <a:bodyPr/>
          <a:lstStyle/>
          <a:p>
            <a:pPr eaLnBrk="1" hangingPunct="1">
              <a:lnSpc>
                <a:spcPct val="120000"/>
              </a:lnSpc>
            </a:pPr>
            <a:r>
              <a:rPr lang="zh-CN" altLang="en-US" dirty="0">
                <a:ea typeface="黑体" panose="02010609060101010101" pitchFamily="49" charset="-122"/>
              </a:rPr>
              <a:t>利用</a:t>
            </a:r>
            <a:r>
              <a:rPr lang="en-US" altLang="zh-CN" dirty="0">
                <a:ea typeface="黑体" panose="02010609060101010101" pitchFamily="49" charset="-122"/>
              </a:rPr>
              <a:t>ANFIS</a:t>
            </a:r>
            <a:r>
              <a:rPr lang="zh-CN" altLang="en-US" dirty="0">
                <a:ea typeface="黑体" panose="02010609060101010101" pitchFamily="49" charset="-122"/>
              </a:rPr>
              <a:t>逼近非线性函数</a:t>
            </a:r>
          </a:p>
          <a:p>
            <a:pPr eaLnBrk="1" hangingPunct="1">
              <a:lnSpc>
                <a:spcPct val="120000"/>
              </a:lnSpc>
              <a:buFont typeface="Wingdings" panose="05000000000000000000" pitchFamily="2" charset="2"/>
              <a:buNone/>
            </a:pPr>
            <a:r>
              <a:rPr lang="zh-CN" altLang="en-US" sz="3600" b="1" i="1" dirty="0">
                <a:solidFill>
                  <a:srgbClr val="FF0000"/>
                </a:solidFill>
                <a:latin typeface="Times New Roman" panose="02020603050405020304" pitchFamily="18" charset="0"/>
                <a:ea typeface="黑体" panose="02010609060101010101" pitchFamily="49" charset="-122"/>
              </a:rPr>
              <a:t>      </a:t>
            </a:r>
            <a:r>
              <a:rPr lang="en-US" altLang="zh-CN" sz="3600" b="1" i="1" dirty="0">
                <a:solidFill>
                  <a:srgbClr val="FF0000"/>
                </a:solidFill>
                <a:latin typeface="Times New Roman" panose="02020603050405020304" pitchFamily="18" charset="0"/>
                <a:ea typeface="黑体" panose="02010609060101010101" pitchFamily="49" charset="-122"/>
              </a:rPr>
              <a:t>z </a:t>
            </a:r>
            <a:r>
              <a:rPr lang="en-US" altLang="zh-CN" sz="3600" b="1" dirty="0">
                <a:solidFill>
                  <a:srgbClr val="FF0000"/>
                </a:solidFill>
                <a:latin typeface="Times New Roman" panose="02020603050405020304" pitchFamily="18" charset="0"/>
                <a:ea typeface="黑体" panose="02010609060101010101" pitchFamily="49" charset="-122"/>
              </a:rPr>
              <a:t>= </a:t>
            </a:r>
            <a:r>
              <a:rPr lang="en-US" altLang="zh-CN" sz="3600" b="1" i="1" dirty="0">
                <a:solidFill>
                  <a:srgbClr val="FF0000"/>
                </a:solidFill>
                <a:latin typeface="Times New Roman" panose="02020603050405020304" pitchFamily="18" charset="0"/>
                <a:ea typeface="黑体" panose="02010609060101010101" pitchFamily="49" charset="-122"/>
              </a:rPr>
              <a:t>sin</a:t>
            </a:r>
            <a:r>
              <a:rPr lang="en-US" altLang="zh-CN" sz="3600" b="1" dirty="0">
                <a:solidFill>
                  <a:srgbClr val="FF0000"/>
                </a:solidFill>
                <a:latin typeface="Times New Roman" panose="02020603050405020304" pitchFamily="18" charset="0"/>
                <a:ea typeface="黑体" panose="02010609060101010101" pitchFamily="49" charset="-122"/>
              </a:rPr>
              <a:t>(</a:t>
            </a:r>
            <a:r>
              <a:rPr lang="en-US" altLang="zh-CN" sz="3600" b="1" i="1" dirty="0">
                <a:solidFill>
                  <a:srgbClr val="FF0000"/>
                </a:solidFill>
                <a:latin typeface="Times New Roman" panose="02020603050405020304" pitchFamily="18" charset="0"/>
                <a:ea typeface="黑体" panose="02010609060101010101" pitchFamily="49" charset="-122"/>
              </a:rPr>
              <a:t>x</a:t>
            </a:r>
            <a:r>
              <a:rPr lang="en-US" altLang="zh-CN" sz="3600" b="1" dirty="0">
                <a:solidFill>
                  <a:srgbClr val="FF0000"/>
                </a:solidFill>
                <a:latin typeface="Times New Roman" panose="02020603050405020304" pitchFamily="18" charset="0"/>
                <a:ea typeface="黑体" panose="02010609060101010101" pitchFamily="49" charset="-122"/>
              </a:rPr>
              <a:t>)</a:t>
            </a:r>
            <a:r>
              <a:rPr lang="en-US" altLang="zh-CN" sz="3600" b="1" i="1" dirty="0">
                <a:solidFill>
                  <a:srgbClr val="FF0000"/>
                </a:solidFill>
                <a:latin typeface="Times New Roman" panose="02020603050405020304" pitchFamily="18" charset="0"/>
                <a:ea typeface="黑体" panose="02010609060101010101" pitchFamily="49" charset="-122"/>
              </a:rPr>
              <a:t>sin</a:t>
            </a:r>
            <a:r>
              <a:rPr lang="en-US" altLang="zh-CN" sz="3600" b="1" dirty="0">
                <a:solidFill>
                  <a:srgbClr val="FF0000"/>
                </a:solidFill>
                <a:latin typeface="Times New Roman" panose="02020603050405020304" pitchFamily="18" charset="0"/>
                <a:ea typeface="黑体" panose="02010609060101010101" pitchFamily="49" charset="-122"/>
              </a:rPr>
              <a:t>(</a:t>
            </a:r>
            <a:r>
              <a:rPr lang="en-US" altLang="zh-CN" sz="3600" b="1" i="1" dirty="0">
                <a:solidFill>
                  <a:srgbClr val="FF0000"/>
                </a:solidFill>
                <a:latin typeface="Times New Roman" panose="02020603050405020304" pitchFamily="18" charset="0"/>
                <a:ea typeface="黑体" panose="02010609060101010101" pitchFamily="49" charset="-122"/>
              </a:rPr>
              <a:t>y</a:t>
            </a:r>
            <a:r>
              <a:rPr lang="en-US" altLang="zh-CN" sz="3600" b="1" dirty="0">
                <a:solidFill>
                  <a:srgbClr val="FF0000"/>
                </a:solidFill>
                <a:latin typeface="Times New Roman" panose="02020603050405020304" pitchFamily="18" charset="0"/>
                <a:ea typeface="黑体" panose="02010609060101010101" pitchFamily="49" charset="-122"/>
              </a:rPr>
              <a:t>)/(</a:t>
            </a:r>
            <a:r>
              <a:rPr lang="en-US" altLang="zh-CN" sz="3600" b="1" i="1" dirty="0" err="1">
                <a:solidFill>
                  <a:srgbClr val="FF0000"/>
                </a:solidFill>
                <a:latin typeface="Times New Roman" panose="02020603050405020304" pitchFamily="18" charset="0"/>
                <a:ea typeface="黑体" panose="02010609060101010101" pitchFamily="49" charset="-122"/>
              </a:rPr>
              <a:t>xy</a:t>
            </a:r>
            <a:r>
              <a:rPr lang="en-US" altLang="zh-CN" sz="3600" b="1" dirty="0">
                <a:solidFill>
                  <a:srgbClr val="FF0000"/>
                </a:solidFill>
                <a:latin typeface="Times New Roman" panose="02020603050405020304" pitchFamily="18" charset="0"/>
                <a:ea typeface="黑体" panose="02010609060101010101" pitchFamily="49" charset="-122"/>
              </a:rPr>
              <a:t>)</a:t>
            </a:r>
          </a:p>
          <a:p>
            <a:pPr eaLnBrk="1" hangingPunct="1">
              <a:lnSpc>
                <a:spcPct val="120000"/>
              </a:lnSpc>
            </a:pPr>
            <a:r>
              <a:rPr lang="zh-CN" altLang="en-US" b="1" dirty="0">
                <a:solidFill>
                  <a:srgbClr val="0000FF"/>
                </a:solidFill>
                <a:ea typeface="楷体_GB2312" pitchFamily="49" charset="-122"/>
              </a:rPr>
              <a:t>设定</a:t>
            </a:r>
            <a:r>
              <a:rPr lang="en-US" altLang="zh-CN" b="1" dirty="0">
                <a:solidFill>
                  <a:srgbClr val="0000FF"/>
                </a:solidFill>
                <a:ea typeface="楷体_GB2312" pitchFamily="49" charset="-122"/>
              </a:rPr>
              <a:t>x, y</a:t>
            </a:r>
            <a:r>
              <a:rPr lang="zh-CN" altLang="en-US" b="1" dirty="0">
                <a:solidFill>
                  <a:srgbClr val="0000FF"/>
                </a:solidFill>
                <a:ea typeface="楷体_GB2312" pitchFamily="49" charset="-122"/>
              </a:rPr>
              <a:t>输入的范围为</a:t>
            </a:r>
            <a:r>
              <a:rPr lang="en-US" altLang="zh-CN" b="1" dirty="0">
                <a:solidFill>
                  <a:srgbClr val="0000FF"/>
                </a:solidFill>
                <a:ea typeface="楷体_GB2312" pitchFamily="49" charset="-122"/>
              </a:rPr>
              <a:t>[-10, 10]</a:t>
            </a:r>
          </a:p>
          <a:p>
            <a:pPr lvl="1" eaLnBrk="1" hangingPunct="1">
              <a:lnSpc>
                <a:spcPct val="120000"/>
              </a:lnSpc>
            </a:pPr>
            <a:r>
              <a:rPr lang="zh-CN" altLang="en-US" sz="3200" b="1" dirty="0">
                <a:solidFill>
                  <a:srgbClr val="0000FF"/>
                </a:solidFill>
                <a:ea typeface="楷体_GB2312" pitchFamily="49" charset="-122"/>
              </a:rPr>
              <a:t>并将它</a:t>
            </a:r>
            <a:r>
              <a:rPr lang="en-US" altLang="zh-CN" sz="3200" b="1" dirty="0">
                <a:solidFill>
                  <a:srgbClr val="0000FF"/>
                </a:solidFill>
                <a:ea typeface="楷体_GB2312" pitchFamily="49" charset="-122"/>
              </a:rPr>
              <a:t>F</a:t>
            </a:r>
            <a:r>
              <a:rPr lang="zh-CN" altLang="en-US" sz="3200" b="1" dirty="0">
                <a:solidFill>
                  <a:srgbClr val="0000FF"/>
                </a:solidFill>
                <a:ea typeface="楷体_GB2312" pitchFamily="49" charset="-122"/>
              </a:rPr>
              <a:t>分割成四个区域</a:t>
            </a:r>
            <a:r>
              <a:rPr lang="en-US" altLang="zh-CN" sz="3200" b="1" dirty="0">
                <a:solidFill>
                  <a:srgbClr val="0000FF"/>
                </a:solidFill>
                <a:ea typeface="楷体_GB2312" pitchFamily="49" charset="-122"/>
              </a:rPr>
              <a:t>(</a:t>
            </a:r>
            <a:r>
              <a:rPr lang="zh-CN" altLang="en-US" sz="3200" b="1" dirty="0">
                <a:solidFill>
                  <a:srgbClr val="0000FF"/>
                </a:solidFill>
                <a:ea typeface="楷体_GB2312" pitchFamily="49" charset="-122"/>
              </a:rPr>
              <a:t>即设</a:t>
            </a:r>
            <a:r>
              <a:rPr lang="en-US" altLang="zh-CN" sz="3200" b="1" dirty="0">
                <a:solidFill>
                  <a:srgbClr val="0000FF"/>
                </a:solidFill>
                <a:ea typeface="楷体_GB2312" pitchFamily="49" charset="-122"/>
              </a:rPr>
              <a:t>4</a:t>
            </a:r>
            <a:r>
              <a:rPr lang="zh-CN" altLang="en-US" sz="3200" b="1" dirty="0">
                <a:solidFill>
                  <a:srgbClr val="0000FF"/>
                </a:solidFill>
                <a:ea typeface="楷体_GB2312" pitchFamily="49" charset="-122"/>
              </a:rPr>
              <a:t>个隶属函数</a:t>
            </a:r>
            <a:r>
              <a:rPr lang="en-US" altLang="zh-CN" sz="3200" b="1" dirty="0">
                <a:solidFill>
                  <a:srgbClr val="0000FF"/>
                </a:solidFill>
                <a:ea typeface="楷体_GB2312" pitchFamily="49" charset="-122"/>
              </a:rPr>
              <a:t>)</a:t>
            </a:r>
          </a:p>
          <a:p>
            <a:pPr lvl="1" eaLnBrk="1" hangingPunct="1">
              <a:lnSpc>
                <a:spcPct val="120000"/>
              </a:lnSpc>
            </a:pPr>
            <a:r>
              <a:rPr lang="en-US" altLang="zh-CN" sz="3200" b="1" dirty="0">
                <a:solidFill>
                  <a:srgbClr val="0000FF"/>
                </a:solidFill>
                <a:ea typeface="楷体_GB2312" pitchFamily="49" charset="-122"/>
              </a:rPr>
              <a:t>F</a:t>
            </a:r>
            <a:r>
              <a:rPr lang="zh-CN" altLang="en-US" sz="3200" b="1" dirty="0">
                <a:solidFill>
                  <a:srgbClr val="0000FF"/>
                </a:solidFill>
                <a:ea typeface="楷体_GB2312" pitchFamily="49" charset="-122"/>
              </a:rPr>
              <a:t>隶属函数采用广义的钟形函数</a:t>
            </a:r>
          </a:p>
          <a:p>
            <a:pPr lvl="1" eaLnBrk="1" hangingPunct="1">
              <a:lnSpc>
                <a:spcPct val="120000"/>
              </a:lnSpc>
            </a:pPr>
            <a:r>
              <a:rPr lang="zh-CN" altLang="en-US" sz="3200" b="1" dirty="0">
                <a:solidFill>
                  <a:srgbClr val="0000FF"/>
                </a:solidFill>
                <a:ea typeface="楷体_GB2312" pitchFamily="49" charset="-122"/>
              </a:rPr>
              <a:t>训练数据采用</a:t>
            </a:r>
            <a:r>
              <a:rPr lang="en-US" altLang="zh-CN" sz="3200" b="1" dirty="0">
                <a:solidFill>
                  <a:srgbClr val="0000FF"/>
                </a:solidFill>
                <a:ea typeface="楷体_GB2312" pitchFamily="49" charset="-122"/>
              </a:rPr>
              <a:t>[-10 10] ×[-10 10]</a:t>
            </a:r>
            <a:r>
              <a:rPr lang="zh-CN" altLang="en-US" sz="3200" b="1" dirty="0">
                <a:solidFill>
                  <a:srgbClr val="0000FF"/>
                </a:solidFill>
                <a:ea typeface="楷体_GB2312" pitchFamily="49" charset="-122"/>
              </a:rPr>
              <a:t>上</a:t>
            </a:r>
            <a:r>
              <a:rPr lang="el-GR" altLang="en-US" sz="3200" b="1" dirty="0">
                <a:solidFill>
                  <a:srgbClr val="0000FF"/>
                </a:solidFill>
                <a:ea typeface="楷体_GB2312" pitchFamily="49" charset="-122"/>
              </a:rPr>
              <a:t>Δ</a:t>
            </a:r>
            <a:r>
              <a:rPr lang="en-US" altLang="zh-CN" sz="3200" b="1" dirty="0">
                <a:solidFill>
                  <a:srgbClr val="0000FF"/>
                </a:solidFill>
                <a:ea typeface="楷体_GB2312" pitchFamily="49" charset="-122"/>
              </a:rPr>
              <a:t>=1</a:t>
            </a:r>
            <a:r>
              <a:rPr lang="zh-CN" altLang="en-US" sz="3200" b="1" dirty="0">
                <a:solidFill>
                  <a:srgbClr val="0000FF"/>
                </a:solidFill>
                <a:ea typeface="楷体_GB2312" pitchFamily="49" charset="-122"/>
              </a:rPr>
              <a:t>的均匀栅格采样</a:t>
            </a:r>
          </a:p>
          <a:p>
            <a:pPr eaLnBrk="1" hangingPunct="1">
              <a:lnSpc>
                <a:spcPct val="120000"/>
              </a:lnSpc>
            </a:pPr>
            <a:r>
              <a:rPr lang="zh-CN" altLang="en-US" b="1" dirty="0">
                <a:solidFill>
                  <a:srgbClr val="0000FF"/>
                </a:solidFill>
                <a:ea typeface="楷体_GB2312" pitchFamily="49" charset="-122"/>
              </a:rPr>
              <a:t>设定的</a:t>
            </a:r>
            <a:r>
              <a:rPr lang="en-US" altLang="zh-CN" b="1" dirty="0">
                <a:solidFill>
                  <a:srgbClr val="0000FF"/>
                </a:solidFill>
                <a:ea typeface="楷体_GB2312" pitchFamily="49" charset="-122"/>
              </a:rPr>
              <a:t>ANFIS</a:t>
            </a:r>
            <a:r>
              <a:rPr lang="zh-CN" altLang="en-US" b="1" dirty="0">
                <a:solidFill>
                  <a:srgbClr val="0000FF"/>
                </a:solidFill>
                <a:ea typeface="楷体_GB2312" pitchFamily="49" charset="-122"/>
              </a:rPr>
              <a:t>训练次数为</a:t>
            </a:r>
            <a:r>
              <a:rPr lang="en-US" altLang="zh-CN" b="1" dirty="0">
                <a:solidFill>
                  <a:srgbClr val="0000FF"/>
                </a:solidFill>
                <a:ea typeface="楷体_GB2312" pitchFamily="49" charset="-122"/>
              </a:rPr>
              <a:t>100</a:t>
            </a:r>
          </a:p>
        </p:txBody>
      </p:sp>
      <p:sp>
        <p:nvSpPr>
          <p:cNvPr id="2" name="灯片编号占位符 1">
            <a:extLst>
              <a:ext uri="{FF2B5EF4-FFF2-40B4-BE49-F238E27FC236}">
                <a16:creationId xmlns:a16="http://schemas.microsoft.com/office/drawing/2014/main" id="{E69233E8-145F-10A8-632E-F242A6A82F02}"/>
              </a:ext>
            </a:extLst>
          </p:cNvPr>
          <p:cNvSpPr>
            <a:spLocks noGrp="1"/>
          </p:cNvSpPr>
          <p:nvPr>
            <p:ph type="sldNum" sz="quarter" idx="11"/>
          </p:nvPr>
        </p:nvSpPr>
        <p:spPr/>
        <p:txBody>
          <a:bodyPr/>
          <a:lstStyle/>
          <a:p>
            <a:pPr>
              <a:defRPr/>
            </a:pPr>
            <a:fld id="{B77A47BA-BA63-4780-94A9-8AFA2EA4438D}" type="slidenum">
              <a:rPr lang="en-US" altLang="zh-CN" smtClean="0"/>
              <a:pPr>
                <a:defRPr/>
              </a:pPr>
              <a:t>50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wipe(left)">
                                      <p:cBhvr>
                                        <p:cTn id="7" dur="500"/>
                                        <p:tgtEl>
                                          <p:spTgt spid="245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wipe(left)">
                                      <p:cBhvr>
                                        <p:cTn id="12" dur="500"/>
                                        <p:tgtEl>
                                          <p:spTgt spid="245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wipe(left)">
                                      <p:cBhvr>
                                        <p:cTn id="17" dur="500"/>
                                        <p:tgtEl>
                                          <p:spTgt spid="245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579">
                                            <p:txEl>
                                              <p:pRg st="3" end="3"/>
                                            </p:txEl>
                                          </p:spTgt>
                                        </p:tgtEl>
                                        <p:attrNameLst>
                                          <p:attrName>style.visibility</p:attrName>
                                        </p:attrNameLst>
                                      </p:cBhvr>
                                      <p:to>
                                        <p:strVal val="visible"/>
                                      </p:to>
                                    </p:set>
                                    <p:animEffect transition="in" filter="wipe(left)">
                                      <p:cBhvr>
                                        <p:cTn id="22" dur="500"/>
                                        <p:tgtEl>
                                          <p:spTgt spid="245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579">
                                            <p:txEl>
                                              <p:pRg st="4" end="4"/>
                                            </p:txEl>
                                          </p:spTgt>
                                        </p:tgtEl>
                                        <p:attrNameLst>
                                          <p:attrName>style.visibility</p:attrName>
                                        </p:attrNameLst>
                                      </p:cBhvr>
                                      <p:to>
                                        <p:strVal val="visible"/>
                                      </p:to>
                                    </p:set>
                                    <p:animEffect transition="in" filter="wipe(left)">
                                      <p:cBhvr>
                                        <p:cTn id="27" dur="500"/>
                                        <p:tgtEl>
                                          <p:spTgt spid="2457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579">
                                            <p:txEl>
                                              <p:pRg st="5" end="5"/>
                                            </p:txEl>
                                          </p:spTgt>
                                        </p:tgtEl>
                                        <p:attrNameLst>
                                          <p:attrName>style.visibility</p:attrName>
                                        </p:attrNameLst>
                                      </p:cBhvr>
                                      <p:to>
                                        <p:strVal val="visible"/>
                                      </p:to>
                                    </p:set>
                                    <p:animEffect transition="in" filter="wipe(left)">
                                      <p:cBhvr>
                                        <p:cTn id="32" dur="500"/>
                                        <p:tgtEl>
                                          <p:spTgt spid="2457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579">
                                            <p:txEl>
                                              <p:pRg st="6" end="6"/>
                                            </p:txEl>
                                          </p:spTgt>
                                        </p:tgtEl>
                                        <p:attrNameLst>
                                          <p:attrName>style.visibility</p:attrName>
                                        </p:attrNameLst>
                                      </p:cBhvr>
                                      <p:to>
                                        <p:strVal val="visible"/>
                                      </p:to>
                                    </p:set>
                                    <p:animEffect transition="in" filter="wipe(left)">
                                      <p:cBhvr>
                                        <p:cTn id="37" dur="500"/>
                                        <p:tgtEl>
                                          <p:spTgt spid="245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839416" y="334141"/>
            <a:ext cx="6984776" cy="955675"/>
          </a:xfrm>
        </p:spPr>
        <p:txBody>
          <a:bodyPr/>
          <a:lstStyle/>
          <a:p>
            <a:pPr eaLnBrk="1" hangingPunct="1"/>
            <a:r>
              <a:rPr lang="zh-CN" altLang="en-US" dirty="0">
                <a:solidFill>
                  <a:srgbClr val="008000"/>
                </a:solidFill>
                <a:ea typeface="黑体" panose="02010609060101010101" pitchFamily="49" charset="-122"/>
              </a:rPr>
              <a:t>产生训练数据并初始化</a:t>
            </a:r>
            <a:r>
              <a:rPr lang="en-US" altLang="zh-CN" dirty="0">
                <a:solidFill>
                  <a:srgbClr val="008000"/>
                </a:solidFill>
                <a:ea typeface="黑体" panose="02010609060101010101" pitchFamily="49" charset="-122"/>
              </a:rPr>
              <a:t>FIS</a:t>
            </a:r>
          </a:p>
        </p:txBody>
      </p:sp>
      <p:sp>
        <p:nvSpPr>
          <p:cNvPr id="25603" name="Rectangle 3"/>
          <p:cNvSpPr>
            <a:spLocks noGrp="1" noChangeArrowheads="1"/>
          </p:cNvSpPr>
          <p:nvPr>
            <p:ph type="body" idx="4294967295"/>
          </p:nvPr>
        </p:nvSpPr>
        <p:spPr>
          <a:xfrm>
            <a:off x="983432" y="1339859"/>
            <a:ext cx="9525818" cy="5445125"/>
          </a:xfrm>
        </p:spPr>
        <p:txBody>
          <a:bodyPr vert="horz" wrap="square" lIns="90170" tIns="46990" rIns="90170" bIns="46990" numCol="1" anchor="t" anchorCtr="0" compatLnSpc="1">
            <a:prstTxWarp prst="textNoShape">
              <a:avLst/>
            </a:prstTxWarp>
          </a:bodyPr>
          <a:lstStyle/>
          <a:p>
            <a:pPr eaLnBrk="1" hangingPunct="1">
              <a:lnSpc>
                <a:spcPct val="80000"/>
              </a:lnSpc>
              <a:buFont typeface="Wingdings" panose="05000000000000000000" pitchFamily="2" charset="2"/>
              <a:buNone/>
            </a:pPr>
            <a:r>
              <a:rPr lang="en-US" altLang="zh-CN" sz="2400" b="1" dirty="0">
                <a:solidFill>
                  <a:srgbClr val="0000FF"/>
                </a:solidFill>
                <a:latin typeface="楷体_GB2312" pitchFamily="49" charset="-122"/>
                <a:ea typeface="楷体_GB2312" pitchFamily="49" charset="-122"/>
              </a:rPr>
              <a:t>% </a:t>
            </a:r>
            <a:r>
              <a:rPr lang="zh-CN" altLang="en-US" sz="2400" b="1" dirty="0">
                <a:solidFill>
                  <a:srgbClr val="0000FF"/>
                </a:solidFill>
                <a:latin typeface="楷体_GB2312" pitchFamily="49" charset="-122"/>
                <a:ea typeface="楷体_GB2312" pitchFamily="49" charset="-122"/>
              </a:rPr>
              <a:t>产生训练数据</a:t>
            </a:r>
          </a:p>
          <a:p>
            <a:pPr eaLnBrk="1" hangingPunct="1">
              <a:lnSpc>
                <a:spcPct val="80000"/>
              </a:lnSpc>
              <a:buFont typeface="Wingdings" panose="05000000000000000000" pitchFamily="2" charset="2"/>
              <a:buNone/>
            </a:pPr>
            <a:r>
              <a:rPr lang="en-US" altLang="zh-CN" sz="2400" dirty="0"/>
              <a:t>x=[-10:10]; y=[-10:10];</a:t>
            </a:r>
          </a:p>
          <a:p>
            <a:pPr eaLnBrk="1" hangingPunct="1">
              <a:lnSpc>
                <a:spcPct val="80000"/>
              </a:lnSpc>
              <a:buFont typeface="Wingdings" panose="05000000000000000000" pitchFamily="2" charset="2"/>
              <a:buNone/>
            </a:pPr>
            <a:r>
              <a:rPr lang="en-US" altLang="zh-CN" sz="2400" dirty="0"/>
              <a:t>[</a:t>
            </a:r>
            <a:r>
              <a:rPr lang="en-US" altLang="zh-CN" sz="2400" dirty="0" err="1"/>
              <a:t>xx,yy</a:t>
            </a:r>
            <a:r>
              <a:rPr lang="en-US" altLang="zh-CN" sz="2400" dirty="0"/>
              <a:t>]=</a:t>
            </a:r>
            <a:r>
              <a:rPr lang="en-US" altLang="zh-CN" sz="2400" dirty="0" err="1"/>
              <a:t>meshgrid</a:t>
            </a:r>
            <a:r>
              <a:rPr lang="en-US" altLang="zh-CN" sz="2400" dirty="0"/>
              <a:t>(</a:t>
            </a:r>
            <a:r>
              <a:rPr lang="en-US" altLang="zh-CN" sz="2400" dirty="0" err="1"/>
              <a:t>x,y</a:t>
            </a:r>
            <a:r>
              <a:rPr lang="en-US" altLang="zh-CN" sz="2400" dirty="0"/>
              <a:t>);</a:t>
            </a:r>
          </a:p>
          <a:p>
            <a:pPr eaLnBrk="1" hangingPunct="1">
              <a:lnSpc>
                <a:spcPct val="80000"/>
              </a:lnSpc>
              <a:buFont typeface="Wingdings" panose="05000000000000000000" pitchFamily="2" charset="2"/>
              <a:buNone/>
            </a:pPr>
            <a:r>
              <a:rPr lang="en-US" altLang="zh-CN" sz="2400" dirty="0"/>
              <a:t>z1=sin(xx)./(xx);</a:t>
            </a:r>
          </a:p>
          <a:p>
            <a:pPr eaLnBrk="1" hangingPunct="1">
              <a:lnSpc>
                <a:spcPct val="80000"/>
              </a:lnSpc>
              <a:buFont typeface="Wingdings" panose="05000000000000000000" pitchFamily="2" charset="2"/>
              <a:buNone/>
            </a:pPr>
            <a:r>
              <a:rPr lang="en-US" altLang="zh-CN" sz="2400" dirty="0"/>
              <a:t>index=find(</a:t>
            </a:r>
            <a:r>
              <a:rPr lang="en-US" altLang="zh-CN" sz="2400" dirty="0" err="1"/>
              <a:t>isnan</a:t>
            </a:r>
            <a:r>
              <a:rPr lang="en-US" altLang="zh-CN" sz="2400" dirty="0"/>
              <a:t>(z1)==1);</a:t>
            </a:r>
          </a:p>
          <a:p>
            <a:pPr eaLnBrk="1" hangingPunct="1">
              <a:lnSpc>
                <a:spcPct val="80000"/>
              </a:lnSpc>
              <a:buFont typeface="Wingdings" panose="05000000000000000000" pitchFamily="2" charset="2"/>
              <a:buNone/>
            </a:pPr>
            <a:r>
              <a:rPr lang="en-US" altLang="zh-CN" sz="2400" dirty="0"/>
              <a:t>z1(index)=ones(size(index));</a:t>
            </a:r>
          </a:p>
          <a:p>
            <a:pPr eaLnBrk="1" hangingPunct="1">
              <a:lnSpc>
                <a:spcPct val="80000"/>
              </a:lnSpc>
              <a:buFont typeface="Wingdings" panose="05000000000000000000" pitchFamily="2" charset="2"/>
              <a:buNone/>
            </a:pPr>
            <a:r>
              <a:rPr lang="en-US" altLang="zh-CN" sz="2400" dirty="0"/>
              <a:t>z2=sin(</a:t>
            </a:r>
            <a:r>
              <a:rPr lang="en-US" altLang="zh-CN" sz="2400" dirty="0" err="1"/>
              <a:t>yy</a:t>
            </a:r>
            <a:r>
              <a:rPr lang="en-US" altLang="zh-CN" sz="2400" dirty="0"/>
              <a:t>)./(</a:t>
            </a:r>
            <a:r>
              <a:rPr lang="en-US" altLang="zh-CN" sz="2400" dirty="0" err="1"/>
              <a:t>yy</a:t>
            </a:r>
            <a:r>
              <a:rPr lang="en-US" altLang="zh-CN" sz="2400" dirty="0"/>
              <a:t>);</a:t>
            </a:r>
          </a:p>
          <a:p>
            <a:pPr eaLnBrk="1" hangingPunct="1">
              <a:lnSpc>
                <a:spcPct val="80000"/>
              </a:lnSpc>
              <a:buFont typeface="Wingdings" panose="05000000000000000000" pitchFamily="2" charset="2"/>
              <a:buNone/>
            </a:pPr>
            <a:r>
              <a:rPr lang="en-US" altLang="zh-CN" sz="2400" dirty="0"/>
              <a:t>index=find(</a:t>
            </a:r>
            <a:r>
              <a:rPr lang="en-US" altLang="zh-CN" sz="2400" dirty="0" err="1"/>
              <a:t>isnan</a:t>
            </a:r>
            <a:r>
              <a:rPr lang="en-US" altLang="zh-CN" sz="2400" dirty="0"/>
              <a:t>(z2)==1);</a:t>
            </a:r>
          </a:p>
          <a:p>
            <a:pPr eaLnBrk="1" hangingPunct="1">
              <a:lnSpc>
                <a:spcPct val="80000"/>
              </a:lnSpc>
              <a:buFont typeface="Wingdings" panose="05000000000000000000" pitchFamily="2" charset="2"/>
              <a:buNone/>
            </a:pPr>
            <a:r>
              <a:rPr lang="en-US" altLang="zh-CN" sz="2400" dirty="0"/>
              <a:t>z2(index)=ones(size(index));</a:t>
            </a:r>
          </a:p>
          <a:p>
            <a:pPr eaLnBrk="1" hangingPunct="1">
              <a:lnSpc>
                <a:spcPct val="80000"/>
              </a:lnSpc>
              <a:buFont typeface="Wingdings" panose="05000000000000000000" pitchFamily="2" charset="2"/>
              <a:buNone/>
            </a:pPr>
            <a:r>
              <a:rPr lang="en-US" altLang="zh-CN" sz="2400" dirty="0" err="1"/>
              <a:t>zz</a:t>
            </a:r>
            <a:r>
              <a:rPr lang="en-US" altLang="zh-CN" sz="2400" dirty="0"/>
              <a:t>=z1.*z2;</a:t>
            </a:r>
          </a:p>
          <a:p>
            <a:pPr eaLnBrk="1" hangingPunct="1">
              <a:lnSpc>
                <a:spcPct val="80000"/>
              </a:lnSpc>
              <a:buFont typeface="Wingdings" panose="05000000000000000000" pitchFamily="2" charset="2"/>
              <a:buNone/>
            </a:pPr>
            <a:r>
              <a:rPr lang="en-US" altLang="zh-CN" sz="2400" dirty="0"/>
              <a:t>data=[xx(:) </a:t>
            </a:r>
            <a:r>
              <a:rPr lang="en-US" altLang="zh-CN" sz="2400" dirty="0" err="1"/>
              <a:t>yy</a:t>
            </a:r>
            <a:r>
              <a:rPr lang="en-US" altLang="zh-CN" sz="2400" dirty="0"/>
              <a:t>(:) </a:t>
            </a:r>
            <a:r>
              <a:rPr lang="en-US" altLang="zh-CN" sz="2400" dirty="0" err="1"/>
              <a:t>zz</a:t>
            </a:r>
            <a:r>
              <a:rPr lang="en-US" altLang="zh-CN" sz="2400" dirty="0"/>
              <a:t>(:)];</a:t>
            </a:r>
          </a:p>
          <a:p>
            <a:pPr eaLnBrk="1" hangingPunct="1">
              <a:lnSpc>
                <a:spcPct val="80000"/>
              </a:lnSpc>
              <a:buFont typeface="Wingdings" panose="05000000000000000000" pitchFamily="2" charset="2"/>
              <a:buNone/>
            </a:pPr>
            <a:r>
              <a:rPr lang="en-US" altLang="zh-CN" sz="2400" b="1" dirty="0">
                <a:solidFill>
                  <a:srgbClr val="0000FF"/>
                </a:solidFill>
                <a:latin typeface="楷体_GB2312" pitchFamily="49" charset="-122"/>
                <a:ea typeface="楷体_GB2312" pitchFamily="49" charset="-122"/>
              </a:rPr>
              <a:t>%</a:t>
            </a:r>
            <a:r>
              <a:rPr lang="zh-CN" altLang="en-US" sz="2400" b="1" dirty="0">
                <a:solidFill>
                  <a:srgbClr val="0000FF"/>
                </a:solidFill>
                <a:latin typeface="楷体_GB2312" pitchFamily="49" charset="-122"/>
                <a:ea typeface="楷体_GB2312" pitchFamily="49" charset="-122"/>
              </a:rPr>
              <a:t>训练选项</a:t>
            </a:r>
          </a:p>
          <a:p>
            <a:pPr eaLnBrk="1" hangingPunct="1">
              <a:lnSpc>
                <a:spcPct val="80000"/>
              </a:lnSpc>
              <a:buFont typeface="Wingdings" panose="05000000000000000000" pitchFamily="2" charset="2"/>
              <a:buNone/>
            </a:pPr>
            <a:r>
              <a:rPr lang="en-US" altLang="zh-CN" sz="2400" dirty="0" err="1"/>
              <a:t>mf_n</a:t>
            </a:r>
            <a:r>
              <a:rPr lang="en-US" altLang="zh-CN" sz="2400" dirty="0"/>
              <a:t>=4;</a:t>
            </a:r>
          </a:p>
          <a:p>
            <a:pPr eaLnBrk="1" hangingPunct="1">
              <a:lnSpc>
                <a:spcPct val="80000"/>
              </a:lnSpc>
              <a:buFont typeface="Wingdings" panose="05000000000000000000" pitchFamily="2" charset="2"/>
              <a:buNone/>
            </a:pPr>
            <a:r>
              <a:rPr lang="en-US" altLang="zh-CN" sz="2400" dirty="0" err="1"/>
              <a:t>mf_type</a:t>
            </a:r>
            <a:r>
              <a:rPr lang="en-US" altLang="zh-CN" sz="2400" dirty="0"/>
              <a:t>='</a:t>
            </a:r>
            <a:r>
              <a:rPr lang="en-US" altLang="zh-CN" sz="2400" dirty="0" err="1"/>
              <a:t>gbellmf</a:t>
            </a:r>
            <a:r>
              <a:rPr lang="en-US" altLang="zh-CN" sz="2400" dirty="0"/>
              <a:t>';</a:t>
            </a:r>
          </a:p>
          <a:p>
            <a:pPr eaLnBrk="1" hangingPunct="1">
              <a:lnSpc>
                <a:spcPct val="80000"/>
              </a:lnSpc>
              <a:buFont typeface="Wingdings" panose="05000000000000000000" pitchFamily="2" charset="2"/>
              <a:buNone/>
            </a:pPr>
            <a:r>
              <a:rPr lang="en-US" altLang="zh-CN" sz="2800" dirty="0">
                <a:solidFill>
                  <a:srgbClr val="FF0000"/>
                </a:solidFill>
              </a:rPr>
              <a:t>fis1=genfis1(</a:t>
            </a:r>
            <a:r>
              <a:rPr lang="en-US" altLang="zh-CN" sz="2800" dirty="0" err="1">
                <a:solidFill>
                  <a:srgbClr val="FF0000"/>
                </a:solidFill>
              </a:rPr>
              <a:t>data,mf_n,mf_type</a:t>
            </a:r>
            <a:r>
              <a:rPr lang="en-US" altLang="zh-CN" sz="2800" dirty="0">
                <a:solidFill>
                  <a:srgbClr val="FF0000"/>
                </a:solidFill>
              </a:rPr>
              <a:t>);</a:t>
            </a:r>
            <a:r>
              <a:rPr lang="en-US" altLang="zh-CN" sz="2400" dirty="0"/>
              <a:t>   </a:t>
            </a:r>
            <a:r>
              <a:rPr lang="en-US" altLang="zh-CN" sz="2400" b="1" dirty="0">
                <a:solidFill>
                  <a:srgbClr val="0000FF"/>
                </a:solidFill>
                <a:latin typeface="楷体_GB2312" pitchFamily="49" charset="-122"/>
                <a:ea typeface="楷体_GB2312" pitchFamily="49" charset="-122"/>
              </a:rPr>
              <a:t>%</a:t>
            </a:r>
            <a:r>
              <a:rPr lang="zh-CN" altLang="en-US" sz="2400" b="1" dirty="0">
                <a:solidFill>
                  <a:srgbClr val="0000FF"/>
                </a:solidFill>
                <a:latin typeface="楷体_GB2312" pitchFamily="49" charset="-122"/>
                <a:ea typeface="楷体_GB2312" pitchFamily="49" charset="-122"/>
              </a:rPr>
              <a:t>产生</a:t>
            </a:r>
            <a:r>
              <a:rPr lang="en-US" altLang="zh-CN" sz="2400" b="1" dirty="0">
                <a:solidFill>
                  <a:srgbClr val="0000FF"/>
                </a:solidFill>
                <a:latin typeface="楷体_GB2312" pitchFamily="49" charset="-122"/>
                <a:ea typeface="楷体_GB2312" pitchFamily="49" charset="-122"/>
              </a:rPr>
              <a:t>FIS</a:t>
            </a:r>
            <a:r>
              <a:rPr lang="zh-CN" altLang="en-US" sz="2400" b="1" dirty="0">
                <a:solidFill>
                  <a:srgbClr val="0000FF"/>
                </a:solidFill>
                <a:latin typeface="楷体_GB2312" pitchFamily="49" charset="-122"/>
                <a:ea typeface="楷体_GB2312" pitchFamily="49" charset="-122"/>
              </a:rPr>
              <a:t>结构的初值</a:t>
            </a:r>
          </a:p>
        </p:txBody>
      </p:sp>
      <p:pic>
        <p:nvPicPr>
          <p:cNvPr id="2" name="Picture 5">
            <a:extLst>
              <a:ext uri="{FF2B5EF4-FFF2-40B4-BE49-F238E27FC236}">
                <a16:creationId xmlns:a16="http://schemas.microsoft.com/office/drawing/2014/main" id="{5932E8B4-364D-99B1-327F-8EB733DEF3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2988" b="51973"/>
          <a:stretch/>
        </p:blipFill>
        <p:spPr bwMode="auto">
          <a:xfrm>
            <a:off x="7797700" y="154818"/>
            <a:ext cx="4248472" cy="3168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a:extLst>
              <a:ext uri="{FF2B5EF4-FFF2-40B4-BE49-F238E27FC236}">
                <a16:creationId xmlns:a16="http://schemas.microsoft.com/office/drawing/2014/main" id="{0E0758E1-5D90-7E36-8EE2-FAE3C9A030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787" b="51416"/>
          <a:stretch/>
        </p:blipFill>
        <p:spPr bwMode="auto">
          <a:xfrm>
            <a:off x="7660866" y="3323801"/>
            <a:ext cx="4267782" cy="3072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id="{64B853DF-3653-621B-7885-C1854AB62BF7}"/>
              </a:ext>
            </a:extLst>
          </p:cNvPr>
          <p:cNvSpPr>
            <a:spLocks noGrp="1"/>
          </p:cNvSpPr>
          <p:nvPr>
            <p:ph type="sldNum" sz="quarter" idx="11"/>
          </p:nvPr>
        </p:nvSpPr>
        <p:spPr/>
        <p:txBody>
          <a:bodyPr/>
          <a:lstStyle/>
          <a:p>
            <a:pPr>
              <a:defRPr/>
            </a:pPr>
            <a:fld id="{B77A47BA-BA63-4780-94A9-8AFA2EA4438D}" type="slidenum">
              <a:rPr lang="en-US" altLang="zh-CN" smtClean="0"/>
              <a:pPr>
                <a:defRPr/>
              </a:pPr>
              <a:t>51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609600" y="332656"/>
            <a:ext cx="10972800" cy="1371600"/>
          </a:xfrm>
        </p:spPr>
        <p:txBody>
          <a:bodyPr/>
          <a:lstStyle/>
          <a:p>
            <a:pPr algn="ctr" eaLnBrk="1" hangingPunct="1"/>
            <a:r>
              <a:rPr lang="zh-CN" altLang="en-US" dirty="0">
                <a:solidFill>
                  <a:srgbClr val="008000"/>
                </a:solidFill>
                <a:ea typeface="黑体" panose="02010609060101010101" pitchFamily="49" charset="-122"/>
              </a:rPr>
              <a:t>利用</a:t>
            </a:r>
            <a:r>
              <a:rPr lang="en-US" altLang="zh-CN" dirty="0" err="1">
                <a:solidFill>
                  <a:srgbClr val="008000"/>
                </a:solidFill>
                <a:ea typeface="黑体" panose="02010609060101010101" pitchFamily="49" charset="-122"/>
              </a:rPr>
              <a:t>anfis</a:t>
            </a:r>
            <a:r>
              <a:rPr lang="zh-CN" altLang="en-US" dirty="0">
                <a:solidFill>
                  <a:srgbClr val="008000"/>
                </a:solidFill>
                <a:ea typeface="黑体" panose="02010609060101010101" pitchFamily="49" charset="-122"/>
              </a:rPr>
              <a:t>函数训练</a:t>
            </a:r>
            <a:r>
              <a:rPr lang="en-US" altLang="zh-CN" dirty="0">
                <a:solidFill>
                  <a:srgbClr val="008000"/>
                </a:solidFill>
                <a:ea typeface="黑体" panose="02010609060101010101" pitchFamily="49" charset="-122"/>
              </a:rPr>
              <a:t>fis1</a:t>
            </a:r>
          </a:p>
        </p:txBody>
      </p:sp>
      <p:sp>
        <p:nvSpPr>
          <p:cNvPr id="26627" name="Rectangle 3"/>
          <p:cNvSpPr>
            <a:spLocks noGrp="1" noChangeArrowheads="1"/>
          </p:cNvSpPr>
          <p:nvPr>
            <p:ph type="body" idx="4294967295"/>
          </p:nvPr>
        </p:nvSpPr>
        <p:spPr>
          <a:xfrm>
            <a:off x="1487488" y="1631950"/>
            <a:ext cx="8589640" cy="5226050"/>
          </a:xfrm>
        </p:spPr>
        <p:txBody>
          <a:bodyPr/>
          <a:lstStyle/>
          <a:p>
            <a:pPr eaLnBrk="1" hangingPunct="1">
              <a:lnSpc>
                <a:spcPct val="90000"/>
              </a:lnSpc>
              <a:buFont typeface="Wingdings" panose="05000000000000000000" pitchFamily="2" charset="2"/>
              <a:buNone/>
            </a:pPr>
            <a:r>
              <a:rPr lang="en-US" altLang="zh-CN" sz="2800" dirty="0"/>
              <a:t>epoch=100;</a:t>
            </a:r>
          </a:p>
          <a:p>
            <a:pPr eaLnBrk="1" hangingPunct="1">
              <a:lnSpc>
                <a:spcPct val="90000"/>
              </a:lnSpc>
              <a:buFont typeface="Wingdings" panose="05000000000000000000" pitchFamily="2" charset="2"/>
              <a:buNone/>
            </a:pPr>
            <a:r>
              <a:rPr lang="en-US" altLang="zh-CN" sz="2800" dirty="0" err="1"/>
              <a:t>errorgoal</a:t>
            </a:r>
            <a:r>
              <a:rPr lang="en-US" altLang="zh-CN" sz="2800" dirty="0"/>
              <a:t>=</a:t>
            </a:r>
            <a:r>
              <a:rPr lang="en-US" altLang="zh-CN" sz="2800" dirty="0" err="1"/>
              <a:t>NaN</a:t>
            </a:r>
            <a:r>
              <a:rPr lang="en-US" altLang="zh-CN" sz="2800" dirty="0"/>
              <a:t>;</a:t>
            </a:r>
          </a:p>
          <a:p>
            <a:pPr eaLnBrk="1" hangingPunct="1">
              <a:lnSpc>
                <a:spcPct val="90000"/>
              </a:lnSpc>
              <a:buFont typeface="Wingdings" panose="05000000000000000000" pitchFamily="2" charset="2"/>
              <a:buNone/>
            </a:pPr>
            <a:r>
              <a:rPr lang="en-US" altLang="zh-CN" sz="2800" dirty="0"/>
              <a:t>step=0.1;</a:t>
            </a:r>
          </a:p>
          <a:p>
            <a:pPr eaLnBrk="1" hangingPunct="1">
              <a:lnSpc>
                <a:spcPct val="90000"/>
              </a:lnSpc>
              <a:buFont typeface="Wingdings" panose="05000000000000000000" pitchFamily="2" charset="2"/>
              <a:buNone/>
            </a:pPr>
            <a:r>
              <a:rPr lang="en-US" altLang="zh-CN" sz="2800" dirty="0" err="1"/>
              <a:t>stepd</a:t>
            </a:r>
            <a:r>
              <a:rPr lang="en-US" altLang="zh-CN" sz="2800" dirty="0"/>
              <a:t>=0.9;</a:t>
            </a:r>
          </a:p>
          <a:p>
            <a:pPr eaLnBrk="1" hangingPunct="1">
              <a:lnSpc>
                <a:spcPct val="90000"/>
              </a:lnSpc>
              <a:buFont typeface="Wingdings" panose="05000000000000000000" pitchFamily="2" charset="2"/>
              <a:buNone/>
            </a:pPr>
            <a:r>
              <a:rPr lang="en-US" altLang="zh-CN" sz="2800" dirty="0" err="1"/>
              <a:t>stepi</a:t>
            </a:r>
            <a:r>
              <a:rPr lang="en-US" altLang="zh-CN" sz="2800" dirty="0"/>
              <a:t>=1.1;</a:t>
            </a:r>
          </a:p>
          <a:p>
            <a:pPr eaLnBrk="1" hangingPunct="1">
              <a:lnSpc>
                <a:spcPct val="90000"/>
              </a:lnSpc>
              <a:buFont typeface="Wingdings" panose="05000000000000000000" pitchFamily="2" charset="2"/>
              <a:buNone/>
            </a:pPr>
            <a:r>
              <a:rPr lang="en-US" altLang="zh-CN" sz="2800" dirty="0" err="1"/>
              <a:t>trnOpt</a:t>
            </a:r>
            <a:r>
              <a:rPr lang="en-US" altLang="zh-CN" sz="2800" dirty="0"/>
              <a:t>=[epoch </a:t>
            </a:r>
            <a:r>
              <a:rPr lang="en-US" altLang="zh-CN" sz="2800" dirty="0" err="1"/>
              <a:t>errorgoal</a:t>
            </a:r>
            <a:r>
              <a:rPr lang="en-US" altLang="zh-CN" sz="2800" dirty="0"/>
              <a:t> step </a:t>
            </a:r>
            <a:r>
              <a:rPr lang="en-US" altLang="zh-CN" sz="2800" dirty="0" err="1"/>
              <a:t>stepd</a:t>
            </a:r>
            <a:r>
              <a:rPr lang="en-US" altLang="zh-CN" sz="2800" dirty="0"/>
              <a:t> </a:t>
            </a:r>
            <a:r>
              <a:rPr lang="en-US" altLang="zh-CN" sz="2800" dirty="0" err="1"/>
              <a:t>stepi</a:t>
            </a:r>
            <a:r>
              <a:rPr lang="en-US" altLang="zh-CN" sz="2800" dirty="0"/>
              <a:t>];</a:t>
            </a:r>
          </a:p>
          <a:p>
            <a:pPr eaLnBrk="1" hangingPunct="1">
              <a:lnSpc>
                <a:spcPct val="90000"/>
              </a:lnSpc>
              <a:buFont typeface="Wingdings" panose="05000000000000000000" pitchFamily="2" charset="2"/>
              <a:buNone/>
            </a:pPr>
            <a:r>
              <a:rPr lang="en-US" altLang="zh-CN" sz="2800" dirty="0" err="1"/>
              <a:t>dispOpt</a:t>
            </a:r>
            <a:r>
              <a:rPr lang="en-US" altLang="zh-CN" sz="2800" dirty="0"/>
              <a:t>=[1 1 1 1];</a:t>
            </a:r>
          </a:p>
          <a:p>
            <a:pPr eaLnBrk="1" hangingPunct="1">
              <a:lnSpc>
                <a:spcPct val="90000"/>
              </a:lnSpc>
              <a:buFont typeface="Wingdings" panose="05000000000000000000" pitchFamily="2" charset="2"/>
              <a:buNone/>
            </a:pPr>
            <a:r>
              <a:rPr lang="en-US" altLang="zh-CN" sz="2800" dirty="0">
                <a:solidFill>
                  <a:srgbClr val="CC00CC"/>
                </a:solidFill>
              </a:rPr>
              <a:t>[fis2,error,st]=</a:t>
            </a:r>
            <a:r>
              <a:rPr lang="en-US" altLang="zh-CN" sz="2800" dirty="0" err="1">
                <a:solidFill>
                  <a:srgbClr val="CC00CC"/>
                </a:solidFill>
              </a:rPr>
              <a:t>anfis</a:t>
            </a:r>
            <a:r>
              <a:rPr lang="en-US" altLang="zh-CN" sz="2800" dirty="0">
                <a:solidFill>
                  <a:srgbClr val="CC00CC"/>
                </a:solidFill>
              </a:rPr>
              <a:t>(data, fis1, </a:t>
            </a:r>
            <a:r>
              <a:rPr lang="en-US" altLang="zh-CN" sz="2800" dirty="0" err="1">
                <a:solidFill>
                  <a:srgbClr val="CC00CC"/>
                </a:solidFill>
              </a:rPr>
              <a:t>trnOpt</a:t>
            </a:r>
            <a:r>
              <a:rPr lang="en-US" altLang="zh-CN" sz="2800" dirty="0">
                <a:solidFill>
                  <a:srgbClr val="CC00CC"/>
                </a:solidFill>
              </a:rPr>
              <a:t>, </a:t>
            </a:r>
            <a:r>
              <a:rPr lang="en-US" altLang="zh-CN" sz="2800" dirty="0" err="1">
                <a:solidFill>
                  <a:srgbClr val="CC00CC"/>
                </a:solidFill>
              </a:rPr>
              <a:t>dispOpt</a:t>
            </a:r>
            <a:r>
              <a:rPr lang="en-US" altLang="zh-CN" sz="2800" dirty="0">
                <a:solidFill>
                  <a:srgbClr val="CC00CC"/>
                </a:solidFill>
              </a:rPr>
              <a:t>);</a:t>
            </a:r>
          </a:p>
          <a:p>
            <a:pPr eaLnBrk="1" hangingPunct="1">
              <a:lnSpc>
                <a:spcPct val="90000"/>
              </a:lnSpc>
              <a:buFont typeface="Wingdings" panose="05000000000000000000" pitchFamily="2" charset="2"/>
              <a:buNone/>
            </a:pPr>
            <a:r>
              <a:rPr lang="en-US" altLang="zh-CN" sz="2800" dirty="0"/>
              <a:t>%</a:t>
            </a:r>
            <a:r>
              <a:rPr lang="zh-CN" altLang="en-US" sz="2800" dirty="0"/>
              <a:t>计算的</a:t>
            </a:r>
            <a:r>
              <a:rPr lang="en-US" altLang="zh-CN" sz="2800" dirty="0"/>
              <a:t>FIS</a:t>
            </a:r>
            <a:r>
              <a:rPr lang="zh-CN" altLang="en-US" sz="2800" dirty="0"/>
              <a:t>输出</a:t>
            </a:r>
          </a:p>
          <a:p>
            <a:pPr eaLnBrk="1" hangingPunct="1">
              <a:lnSpc>
                <a:spcPct val="90000"/>
              </a:lnSpc>
              <a:buFont typeface="Wingdings" panose="05000000000000000000" pitchFamily="2" charset="2"/>
              <a:buNone/>
            </a:pPr>
            <a:r>
              <a:rPr lang="en-US" altLang="zh-CN" sz="2800" dirty="0"/>
              <a:t>zz1=</a:t>
            </a:r>
            <a:r>
              <a:rPr lang="en-US" altLang="zh-CN" sz="2800" dirty="0" err="1"/>
              <a:t>evalfis</a:t>
            </a:r>
            <a:r>
              <a:rPr lang="en-US" altLang="zh-CN" sz="2800" dirty="0"/>
              <a:t>([xx(:) </a:t>
            </a:r>
            <a:r>
              <a:rPr lang="en-US" altLang="zh-CN" sz="2800" dirty="0" err="1"/>
              <a:t>yy</a:t>
            </a:r>
            <a:r>
              <a:rPr lang="en-US" altLang="zh-CN" sz="2800" dirty="0"/>
              <a:t>(:)],fis2);</a:t>
            </a:r>
          </a:p>
          <a:p>
            <a:pPr eaLnBrk="1" hangingPunct="1">
              <a:lnSpc>
                <a:spcPct val="90000"/>
              </a:lnSpc>
              <a:buFont typeface="Wingdings" panose="05000000000000000000" pitchFamily="2" charset="2"/>
              <a:buNone/>
            </a:pPr>
            <a:r>
              <a:rPr lang="en-US" altLang="zh-CN" sz="2800" dirty="0"/>
              <a:t>zz2=reshape(zz1,size(</a:t>
            </a:r>
            <a:r>
              <a:rPr lang="en-US" altLang="zh-CN" sz="2800" dirty="0" err="1"/>
              <a:t>zz</a:t>
            </a:r>
            <a:r>
              <a:rPr lang="en-US" altLang="zh-CN" sz="2800" dirty="0"/>
              <a:t>));</a:t>
            </a:r>
          </a:p>
        </p:txBody>
      </p:sp>
      <p:sp>
        <p:nvSpPr>
          <p:cNvPr id="2" name="灯片编号占位符 1">
            <a:extLst>
              <a:ext uri="{FF2B5EF4-FFF2-40B4-BE49-F238E27FC236}">
                <a16:creationId xmlns:a16="http://schemas.microsoft.com/office/drawing/2014/main" id="{AC3C57C8-FF7C-73E4-ED30-8060CDEE835A}"/>
              </a:ext>
            </a:extLst>
          </p:cNvPr>
          <p:cNvSpPr>
            <a:spLocks noGrp="1"/>
          </p:cNvSpPr>
          <p:nvPr>
            <p:ph type="sldNum" sz="quarter" idx="11"/>
          </p:nvPr>
        </p:nvSpPr>
        <p:spPr/>
        <p:txBody>
          <a:bodyPr/>
          <a:lstStyle/>
          <a:p>
            <a:pPr>
              <a:defRPr/>
            </a:pPr>
            <a:fld id="{B77A47BA-BA63-4780-94A9-8AFA2EA4438D}" type="slidenum">
              <a:rPr lang="en-US" altLang="zh-CN" smtClean="0"/>
              <a:pPr>
                <a:defRPr/>
              </a:pPr>
              <a:t>52</a:t>
            </a:fld>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idx="4294967295"/>
          </p:nvPr>
        </p:nvSpPr>
        <p:spPr>
          <a:xfrm>
            <a:off x="1981200" y="260648"/>
            <a:ext cx="8229600" cy="1243013"/>
          </a:xfrm>
        </p:spPr>
        <p:txBody>
          <a:bodyPr/>
          <a:lstStyle/>
          <a:p>
            <a:pPr algn="ctr" eaLnBrk="1" hangingPunct="1"/>
            <a:r>
              <a:rPr lang="zh-CN" altLang="zh-CN" dirty="0">
                <a:solidFill>
                  <a:srgbClr val="008000"/>
                </a:solidFill>
                <a:ea typeface="黑体" panose="02010609060101010101" pitchFamily="49" charset="-122"/>
              </a:rPr>
              <a:t>绘图表示训练结果</a:t>
            </a:r>
          </a:p>
        </p:txBody>
      </p:sp>
      <p:sp>
        <p:nvSpPr>
          <p:cNvPr id="27651" name="Rectangle 3"/>
          <p:cNvSpPr>
            <a:spLocks noGrp="1" noChangeArrowheads="1"/>
          </p:cNvSpPr>
          <p:nvPr>
            <p:ph type="body" sz="half" idx="4294967295"/>
          </p:nvPr>
        </p:nvSpPr>
        <p:spPr>
          <a:xfrm>
            <a:off x="832592" y="1771244"/>
            <a:ext cx="4903369" cy="4687888"/>
          </a:xfrm>
        </p:spPr>
        <p:txBody>
          <a:bodyPr/>
          <a:lstStyle/>
          <a:p>
            <a:pPr eaLnBrk="1" hangingPunct="1">
              <a:buFont typeface="Wingdings" panose="05000000000000000000" pitchFamily="2" charset="2"/>
              <a:buNone/>
            </a:pPr>
            <a:r>
              <a:rPr lang="en-US" altLang="zh-CN" sz="2000" dirty="0"/>
              <a:t>figure(1); </a:t>
            </a:r>
          </a:p>
          <a:p>
            <a:pPr eaLnBrk="1" hangingPunct="1">
              <a:buFont typeface="Wingdings" panose="05000000000000000000" pitchFamily="2" charset="2"/>
              <a:buNone/>
            </a:pPr>
            <a:r>
              <a:rPr lang="en-US" altLang="zh-CN" sz="2000" dirty="0"/>
              <a:t>subplot(221); </a:t>
            </a:r>
            <a:r>
              <a:rPr lang="en-US" altLang="zh-CN" sz="2000" dirty="0" err="1"/>
              <a:t>plotmf</a:t>
            </a:r>
            <a:r>
              <a:rPr lang="en-US" altLang="zh-CN" sz="2000" dirty="0"/>
              <a:t>(fis1,'input',1);</a:t>
            </a:r>
          </a:p>
          <a:p>
            <a:pPr eaLnBrk="1" hangingPunct="1">
              <a:buFont typeface="Wingdings" panose="05000000000000000000" pitchFamily="2" charset="2"/>
              <a:buNone/>
            </a:pPr>
            <a:r>
              <a:rPr lang="en-US" altLang="zh-CN" sz="2000" dirty="0"/>
              <a:t>subplot(222); </a:t>
            </a:r>
            <a:r>
              <a:rPr lang="en-US" altLang="zh-CN" sz="2000" dirty="0" err="1"/>
              <a:t>plotmf</a:t>
            </a:r>
            <a:r>
              <a:rPr lang="en-US" altLang="zh-CN" sz="2000" dirty="0"/>
              <a:t>(fis1,'input',2);</a:t>
            </a:r>
          </a:p>
          <a:p>
            <a:pPr eaLnBrk="1" hangingPunct="1">
              <a:buFont typeface="Wingdings" panose="05000000000000000000" pitchFamily="2" charset="2"/>
              <a:buNone/>
            </a:pPr>
            <a:r>
              <a:rPr lang="en-US" altLang="zh-CN" sz="2000" dirty="0"/>
              <a:t>subplot(223); </a:t>
            </a:r>
            <a:r>
              <a:rPr lang="en-US" altLang="zh-CN" sz="2000" dirty="0" err="1"/>
              <a:t>plotmf</a:t>
            </a:r>
            <a:r>
              <a:rPr lang="en-US" altLang="zh-CN" sz="2000" dirty="0"/>
              <a:t>(fis2,'input',1);</a:t>
            </a:r>
          </a:p>
          <a:p>
            <a:pPr eaLnBrk="1" hangingPunct="1">
              <a:buFont typeface="Wingdings" panose="05000000000000000000" pitchFamily="2" charset="2"/>
              <a:buNone/>
            </a:pPr>
            <a:r>
              <a:rPr lang="en-US" altLang="zh-CN" sz="2000" dirty="0"/>
              <a:t>subplot(224); </a:t>
            </a:r>
            <a:r>
              <a:rPr lang="en-US" altLang="zh-CN" sz="2000" dirty="0" err="1"/>
              <a:t>plotmf</a:t>
            </a:r>
            <a:r>
              <a:rPr lang="en-US" altLang="zh-CN" sz="2000" dirty="0"/>
              <a:t>(fis2,'input',2);</a:t>
            </a:r>
          </a:p>
          <a:p>
            <a:pPr eaLnBrk="1" hangingPunct="1">
              <a:buFont typeface="Wingdings" panose="05000000000000000000" pitchFamily="2" charset="2"/>
              <a:buNone/>
            </a:pPr>
            <a:r>
              <a:rPr lang="en-US" altLang="zh-CN" sz="2000" dirty="0"/>
              <a:t>delete(</a:t>
            </a:r>
            <a:r>
              <a:rPr lang="en-US" altLang="zh-CN" sz="2000" dirty="0" err="1"/>
              <a:t>findobj</a:t>
            </a:r>
            <a:r>
              <a:rPr lang="en-US" altLang="zh-CN" sz="2000" dirty="0"/>
              <a:t>(</a:t>
            </a:r>
            <a:r>
              <a:rPr lang="en-US" altLang="zh-CN" sz="2000" dirty="0" err="1"/>
              <a:t>gca</a:t>
            </a:r>
            <a:r>
              <a:rPr lang="en-US" altLang="zh-CN" sz="2000" dirty="0"/>
              <a:t>,'</a:t>
            </a:r>
            <a:r>
              <a:rPr lang="en-US" altLang="zh-CN" sz="2000" dirty="0" err="1"/>
              <a:t>xLabel</a:t>
            </a:r>
            <a:r>
              <a:rPr lang="en-US" altLang="zh-CN" sz="2000" dirty="0"/>
              <a:t>', 'text'));</a:t>
            </a:r>
          </a:p>
          <a:p>
            <a:pPr eaLnBrk="1" hangingPunct="1">
              <a:buFont typeface="Wingdings" panose="05000000000000000000" pitchFamily="2" charset="2"/>
              <a:buNone/>
            </a:pPr>
            <a:r>
              <a:rPr lang="en-US" altLang="zh-CN" sz="2000" dirty="0"/>
              <a:t>subplot(221); title('</a:t>
            </a:r>
            <a:r>
              <a:rPr lang="zh-CN" altLang="en-US" sz="2000" dirty="0"/>
              <a:t>训练前</a:t>
            </a:r>
            <a:r>
              <a:rPr lang="en-US" altLang="zh-CN" sz="2000" dirty="0"/>
              <a:t>X</a:t>
            </a:r>
            <a:r>
              <a:rPr lang="zh-CN" altLang="en-US" sz="2000" dirty="0"/>
              <a:t>的隶属度函数</a:t>
            </a:r>
            <a:r>
              <a:rPr lang="en-US" altLang="zh-CN" sz="2000" dirty="0"/>
              <a:t>');</a:t>
            </a:r>
          </a:p>
          <a:p>
            <a:pPr eaLnBrk="1" hangingPunct="1">
              <a:buFont typeface="Wingdings" panose="05000000000000000000" pitchFamily="2" charset="2"/>
              <a:buNone/>
            </a:pPr>
            <a:r>
              <a:rPr lang="en-US" altLang="zh-CN" sz="2000" dirty="0"/>
              <a:t>subplot(222); title('</a:t>
            </a:r>
            <a:r>
              <a:rPr lang="zh-CN" altLang="en-US" sz="2000" dirty="0"/>
              <a:t>训练前</a:t>
            </a:r>
            <a:r>
              <a:rPr lang="en-US" altLang="zh-CN" sz="2000" dirty="0"/>
              <a:t>Y</a:t>
            </a:r>
            <a:r>
              <a:rPr lang="zh-CN" altLang="en-US" sz="2000" dirty="0"/>
              <a:t>的隶属度函数</a:t>
            </a:r>
            <a:r>
              <a:rPr lang="en-US" altLang="zh-CN" sz="2000" dirty="0"/>
              <a:t>');</a:t>
            </a:r>
          </a:p>
          <a:p>
            <a:pPr eaLnBrk="1" hangingPunct="1">
              <a:buFont typeface="Wingdings" panose="05000000000000000000" pitchFamily="2" charset="2"/>
              <a:buNone/>
            </a:pPr>
            <a:r>
              <a:rPr lang="en-US" altLang="zh-CN" sz="2000" dirty="0"/>
              <a:t>subplot(223); title('</a:t>
            </a:r>
            <a:r>
              <a:rPr lang="zh-CN" altLang="en-US" sz="2000" dirty="0"/>
              <a:t>训练后</a:t>
            </a:r>
            <a:r>
              <a:rPr lang="en-US" altLang="zh-CN" sz="2000" dirty="0"/>
              <a:t>X</a:t>
            </a:r>
            <a:r>
              <a:rPr lang="zh-CN" altLang="en-US" sz="2000" dirty="0"/>
              <a:t>的隶属度函数</a:t>
            </a:r>
            <a:r>
              <a:rPr lang="en-US" altLang="zh-CN" sz="2000" dirty="0"/>
              <a:t>');</a:t>
            </a:r>
          </a:p>
          <a:p>
            <a:pPr eaLnBrk="1" hangingPunct="1">
              <a:buFont typeface="Wingdings" panose="05000000000000000000" pitchFamily="2" charset="2"/>
              <a:buNone/>
            </a:pPr>
            <a:r>
              <a:rPr lang="en-US" altLang="zh-CN" sz="2000" dirty="0"/>
              <a:t>subplot(224); title('</a:t>
            </a:r>
            <a:r>
              <a:rPr lang="zh-CN" altLang="en-US" sz="2000" dirty="0"/>
              <a:t>训练后</a:t>
            </a:r>
            <a:r>
              <a:rPr lang="en-US" altLang="zh-CN" sz="2000" dirty="0"/>
              <a:t>Y</a:t>
            </a:r>
            <a:r>
              <a:rPr lang="zh-CN" altLang="en-US" sz="2000" dirty="0"/>
              <a:t>的隶属度函数</a:t>
            </a:r>
            <a:r>
              <a:rPr lang="en-US" altLang="zh-CN" sz="2000" dirty="0"/>
              <a:t>');</a:t>
            </a:r>
          </a:p>
        </p:txBody>
      </p:sp>
      <p:sp>
        <p:nvSpPr>
          <p:cNvPr id="27652" name="Rectangle 5"/>
          <p:cNvSpPr>
            <a:spLocks noGrp="1" noChangeArrowheads="1"/>
          </p:cNvSpPr>
          <p:nvPr>
            <p:ph type="body" sz="half" idx="4294967295"/>
          </p:nvPr>
        </p:nvSpPr>
        <p:spPr>
          <a:xfrm>
            <a:off x="6456039" y="1568152"/>
            <a:ext cx="5040561" cy="5137448"/>
          </a:xfrm>
          <a:solidFill>
            <a:schemeClr val="accent2">
              <a:lumMod val="20000"/>
              <a:lumOff val="80000"/>
            </a:schemeClr>
          </a:solidFill>
        </p:spPr>
        <p:txBody>
          <a:bodyPr/>
          <a:lstStyle/>
          <a:p>
            <a:pPr eaLnBrk="1" hangingPunct="1">
              <a:lnSpc>
                <a:spcPct val="90000"/>
              </a:lnSpc>
              <a:buFont typeface="Wingdings" panose="05000000000000000000" pitchFamily="2" charset="2"/>
              <a:buNone/>
            </a:pPr>
            <a:r>
              <a:rPr lang="en-US" altLang="zh-CN" sz="1800" dirty="0"/>
              <a:t>figure(2);</a:t>
            </a:r>
          </a:p>
          <a:p>
            <a:pPr eaLnBrk="1" hangingPunct="1">
              <a:lnSpc>
                <a:spcPct val="90000"/>
              </a:lnSpc>
              <a:buFont typeface="Wingdings" panose="05000000000000000000" pitchFamily="2" charset="2"/>
              <a:buNone/>
            </a:pPr>
            <a:r>
              <a:rPr lang="en-US" altLang="zh-CN" sz="1800" dirty="0"/>
              <a:t>subplot(221); </a:t>
            </a:r>
          </a:p>
          <a:p>
            <a:pPr eaLnBrk="1" hangingPunct="1">
              <a:lnSpc>
                <a:spcPct val="90000"/>
              </a:lnSpc>
              <a:buFont typeface="Wingdings" panose="05000000000000000000" pitchFamily="2" charset="2"/>
              <a:buNone/>
            </a:pPr>
            <a:r>
              <a:rPr lang="en-US" altLang="zh-CN" sz="1800" dirty="0"/>
              <a:t>mesh(</a:t>
            </a:r>
            <a:r>
              <a:rPr lang="en-US" altLang="zh-CN" sz="1800" dirty="0" err="1"/>
              <a:t>xx,yy,zz</a:t>
            </a:r>
            <a:r>
              <a:rPr lang="en-US" altLang="zh-CN" sz="1800" dirty="0"/>
              <a:t>);</a:t>
            </a:r>
          </a:p>
          <a:p>
            <a:pPr eaLnBrk="1" hangingPunct="1">
              <a:lnSpc>
                <a:spcPct val="90000"/>
              </a:lnSpc>
              <a:buFont typeface="Wingdings" panose="05000000000000000000" pitchFamily="2" charset="2"/>
              <a:buNone/>
            </a:pPr>
            <a:r>
              <a:rPr lang="en-US" altLang="zh-CN" sz="1800" dirty="0"/>
              <a:t>limit=[-10 10 -10 10 min(</a:t>
            </a:r>
            <a:r>
              <a:rPr lang="en-US" altLang="zh-CN" sz="1800" dirty="0" err="1"/>
              <a:t>zz</a:t>
            </a:r>
            <a:r>
              <a:rPr lang="en-US" altLang="zh-CN" sz="1800" dirty="0"/>
              <a:t>(:)) max(</a:t>
            </a:r>
            <a:r>
              <a:rPr lang="en-US" altLang="zh-CN" sz="1800" dirty="0" err="1"/>
              <a:t>zz</a:t>
            </a:r>
            <a:r>
              <a:rPr lang="en-US" altLang="zh-CN" sz="1800" dirty="0"/>
              <a:t>(:))];</a:t>
            </a:r>
          </a:p>
          <a:p>
            <a:pPr eaLnBrk="1" hangingPunct="1">
              <a:lnSpc>
                <a:spcPct val="90000"/>
              </a:lnSpc>
              <a:buFont typeface="Wingdings" panose="05000000000000000000" pitchFamily="2" charset="2"/>
              <a:buNone/>
            </a:pPr>
            <a:r>
              <a:rPr lang="en-US" altLang="zh-CN" sz="1800" dirty="0"/>
              <a:t>axis(limit); set(</a:t>
            </a:r>
            <a:r>
              <a:rPr lang="en-US" altLang="zh-CN" sz="1800" dirty="0" err="1"/>
              <a:t>gca</a:t>
            </a:r>
            <a:r>
              <a:rPr lang="en-US" altLang="zh-CN" sz="1800" dirty="0"/>
              <a:t>, 'box', 'on');</a:t>
            </a:r>
          </a:p>
          <a:p>
            <a:pPr eaLnBrk="1" hangingPunct="1">
              <a:lnSpc>
                <a:spcPct val="90000"/>
              </a:lnSpc>
              <a:buFont typeface="Wingdings" panose="05000000000000000000" pitchFamily="2" charset="2"/>
              <a:buNone/>
            </a:pPr>
            <a:r>
              <a:rPr lang="en-US" altLang="zh-CN" sz="1800" dirty="0" err="1"/>
              <a:t>xlabel</a:t>
            </a:r>
            <a:r>
              <a:rPr lang="en-US" altLang="zh-CN" sz="1800" dirty="0"/>
              <a:t>('X');</a:t>
            </a:r>
            <a:r>
              <a:rPr lang="en-US" altLang="zh-CN" sz="1800" dirty="0" err="1"/>
              <a:t>ylabel</a:t>
            </a:r>
            <a:r>
              <a:rPr lang="en-US" altLang="zh-CN" sz="1800" dirty="0"/>
              <a:t>('Y');title('</a:t>
            </a:r>
            <a:r>
              <a:rPr lang="zh-CN" altLang="en-US" sz="1800" dirty="0"/>
              <a:t>训练数据</a:t>
            </a:r>
            <a:r>
              <a:rPr lang="en-US" altLang="zh-CN" sz="1800" dirty="0"/>
              <a:t>');</a:t>
            </a:r>
          </a:p>
          <a:p>
            <a:pPr eaLnBrk="1" hangingPunct="1">
              <a:lnSpc>
                <a:spcPct val="90000"/>
              </a:lnSpc>
              <a:buFont typeface="Wingdings" panose="05000000000000000000" pitchFamily="2" charset="2"/>
              <a:buNone/>
            </a:pPr>
            <a:r>
              <a:rPr lang="en-US" altLang="zh-CN" sz="1800" dirty="0"/>
              <a:t>subplot(222); </a:t>
            </a:r>
          </a:p>
          <a:p>
            <a:pPr eaLnBrk="1" hangingPunct="1">
              <a:lnSpc>
                <a:spcPct val="90000"/>
              </a:lnSpc>
              <a:buFont typeface="Wingdings" panose="05000000000000000000" pitchFamily="2" charset="2"/>
              <a:buNone/>
            </a:pPr>
            <a:r>
              <a:rPr lang="en-US" altLang="zh-CN" sz="1800" dirty="0"/>
              <a:t>mesh(xx,yy,zz2);</a:t>
            </a:r>
          </a:p>
          <a:p>
            <a:pPr eaLnBrk="1" hangingPunct="1">
              <a:lnSpc>
                <a:spcPct val="90000"/>
              </a:lnSpc>
              <a:buFont typeface="Wingdings" panose="05000000000000000000" pitchFamily="2" charset="2"/>
              <a:buNone/>
            </a:pPr>
            <a:r>
              <a:rPr lang="en-US" altLang="zh-CN" sz="1800" dirty="0"/>
              <a:t>limit=[-10 10 -10 10 min(</a:t>
            </a:r>
            <a:r>
              <a:rPr lang="en-US" altLang="zh-CN" sz="1800" dirty="0" err="1"/>
              <a:t>zz</a:t>
            </a:r>
            <a:r>
              <a:rPr lang="en-US" altLang="zh-CN" sz="1800" dirty="0"/>
              <a:t>(:)) max(</a:t>
            </a:r>
            <a:r>
              <a:rPr lang="en-US" altLang="zh-CN" sz="1800" dirty="0" err="1"/>
              <a:t>zz</a:t>
            </a:r>
            <a:r>
              <a:rPr lang="en-US" altLang="zh-CN" sz="1800" dirty="0"/>
              <a:t>(:))];</a:t>
            </a:r>
          </a:p>
          <a:p>
            <a:pPr eaLnBrk="1" hangingPunct="1">
              <a:lnSpc>
                <a:spcPct val="90000"/>
              </a:lnSpc>
              <a:buFont typeface="Wingdings" panose="05000000000000000000" pitchFamily="2" charset="2"/>
              <a:buNone/>
            </a:pPr>
            <a:r>
              <a:rPr lang="en-US" altLang="zh-CN" sz="1800" dirty="0"/>
              <a:t>axis(limit); set(</a:t>
            </a:r>
            <a:r>
              <a:rPr lang="en-US" altLang="zh-CN" sz="1800" dirty="0" err="1"/>
              <a:t>gca</a:t>
            </a:r>
            <a:r>
              <a:rPr lang="en-US" altLang="zh-CN" sz="1800" dirty="0"/>
              <a:t>, 'box', 'on');</a:t>
            </a:r>
          </a:p>
          <a:p>
            <a:pPr eaLnBrk="1" hangingPunct="1">
              <a:lnSpc>
                <a:spcPct val="90000"/>
              </a:lnSpc>
              <a:buFont typeface="Wingdings" panose="05000000000000000000" pitchFamily="2" charset="2"/>
              <a:buNone/>
            </a:pPr>
            <a:r>
              <a:rPr lang="en-US" altLang="zh-CN" sz="1800" dirty="0" err="1"/>
              <a:t>xlabel</a:t>
            </a:r>
            <a:r>
              <a:rPr lang="en-US" altLang="zh-CN" sz="1800" dirty="0"/>
              <a:t>('X'); </a:t>
            </a:r>
            <a:r>
              <a:rPr lang="en-US" altLang="zh-CN" sz="1800" dirty="0" err="1"/>
              <a:t>ylabel</a:t>
            </a:r>
            <a:r>
              <a:rPr lang="en-US" altLang="zh-CN" sz="1800" dirty="0"/>
              <a:t>('Y');title('ANFIS</a:t>
            </a:r>
            <a:r>
              <a:rPr lang="zh-CN" altLang="en-US" sz="1800" dirty="0"/>
              <a:t>输出</a:t>
            </a:r>
            <a:r>
              <a:rPr lang="en-US" altLang="zh-CN" sz="1800" dirty="0"/>
              <a:t>');</a:t>
            </a:r>
          </a:p>
          <a:p>
            <a:pPr eaLnBrk="1" hangingPunct="1">
              <a:lnSpc>
                <a:spcPct val="90000"/>
              </a:lnSpc>
              <a:buFont typeface="Wingdings" panose="05000000000000000000" pitchFamily="2" charset="2"/>
              <a:buNone/>
            </a:pPr>
            <a:r>
              <a:rPr lang="en-US" altLang="zh-CN" sz="1800" dirty="0"/>
              <a:t>subplot(223); </a:t>
            </a:r>
          </a:p>
          <a:p>
            <a:pPr eaLnBrk="1" hangingPunct="1">
              <a:lnSpc>
                <a:spcPct val="90000"/>
              </a:lnSpc>
              <a:buFont typeface="Wingdings" panose="05000000000000000000" pitchFamily="2" charset="2"/>
              <a:buNone/>
            </a:pPr>
            <a:r>
              <a:rPr lang="en-US" altLang="zh-CN" sz="1800" dirty="0"/>
              <a:t>plot(1:epoch, error);</a:t>
            </a:r>
          </a:p>
          <a:p>
            <a:pPr eaLnBrk="1" hangingPunct="1">
              <a:lnSpc>
                <a:spcPct val="90000"/>
              </a:lnSpc>
              <a:buFont typeface="Wingdings" panose="05000000000000000000" pitchFamily="2" charset="2"/>
              <a:buNone/>
            </a:pPr>
            <a:r>
              <a:rPr lang="en-US" altLang="zh-CN" sz="1800" dirty="0" err="1"/>
              <a:t>xlabel</a:t>
            </a:r>
            <a:r>
              <a:rPr lang="en-US" altLang="zh-CN" sz="1800" dirty="0"/>
              <a:t>('</a:t>
            </a:r>
            <a:r>
              <a:rPr lang="zh-CN" altLang="en-US" sz="1800" dirty="0"/>
              <a:t>步数</a:t>
            </a:r>
            <a:r>
              <a:rPr lang="en-US" altLang="zh-CN" sz="1800" dirty="0"/>
              <a:t>');  title('</a:t>
            </a:r>
            <a:r>
              <a:rPr lang="zh-CN" altLang="en-US" sz="1800" dirty="0"/>
              <a:t>训练过程误差</a:t>
            </a:r>
            <a:r>
              <a:rPr lang="en-US" altLang="zh-CN" sz="1800" dirty="0"/>
              <a:t>');</a:t>
            </a:r>
          </a:p>
          <a:p>
            <a:pPr eaLnBrk="1" hangingPunct="1">
              <a:lnSpc>
                <a:spcPct val="90000"/>
              </a:lnSpc>
              <a:buFont typeface="Wingdings" panose="05000000000000000000" pitchFamily="2" charset="2"/>
              <a:buNone/>
            </a:pPr>
            <a:r>
              <a:rPr lang="en-US" altLang="zh-CN" sz="1800" dirty="0"/>
              <a:t>subplot(224); </a:t>
            </a:r>
          </a:p>
          <a:p>
            <a:pPr eaLnBrk="1" hangingPunct="1">
              <a:lnSpc>
                <a:spcPct val="90000"/>
              </a:lnSpc>
              <a:buFont typeface="Wingdings" panose="05000000000000000000" pitchFamily="2" charset="2"/>
              <a:buNone/>
            </a:pPr>
            <a:r>
              <a:rPr lang="en-US" altLang="zh-CN" sz="1800" dirty="0"/>
              <a:t>plot(1:epoch, </a:t>
            </a:r>
            <a:r>
              <a:rPr lang="en-US" altLang="zh-CN" sz="1800" dirty="0" err="1"/>
              <a:t>st</a:t>
            </a:r>
            <a:r>
              <a:rPr lang="en-US" altLang="zh-CN" sz="1800" dirty="0"/>
              <a:t>);</a:t>
            </a:r>
          </a:p>
          <a:p>
            <a:pPr eaLnBrk="1" hangingPunct="1">
              <a:lnSpc>
                <a:spcPct val="90000"/>
              </a:lnSpc>
              <a:buFont typeface="Wingdings" panose="05000000000000000000" pitchFamily="2" charset="2"/>
              <a:buNone/>
            </a:pPr>
            <a:r>
              <a:rPr lang="en-US" altLang="zh-CN" sz="1800" dirty="0" err="1"/>
              <a:t>xlabel</a:t>
            </a:r>
            <a:r>
              <a:rPr lang="en-US" altLang="zh-CN" sz="1800" dirty="0"/>
              <a:t>('</a:t>
            </a:r>
            <a:r>
              <a:rPr lang="zh-CN" altLang="en-US" sz="1800" dirty="0"/>
              <a:t>步数</a:t>
            </a:r>
            <a:r>
              <a:rPr lang="en-US" altLang="zh-CN" sz="1800" dirty="0"/>
              <a:t>');  title('</a:t>
            </a:r>
            <a:r>
              <a:rPr lang="zh-CN" altLang="en-US" sz="1800" dirty="0"/>
              <a:t>训练过程步长</a:t>
            </a:r>
            <a:r>
              <a:rPr lang="en-US" altLang="zh-CN" sz="1800" dirty="0"/>
              <a:t>');</a:t>
            </a:r>
          </a:p>
        </p:txBody>
      </p:sp>
      <p:sp>
        <p:nvSpPr>
          <p:cNvPr id="2" name="灯片编号占位符 1">
            <a:extLst>
              <a:ext uri="{FF2B5EF4-FFF2-40B4-BE49-F238E27FC236}">
                <a16:creationId xmlns:a16="http://schemas.microsoft.com/office/drawing/2014/main" id="{36FF7B4D-0E9E-7EB0-1211-80DA0C342B01}"/>
              </a:ext>
            </a:extLst>
          </p:cNvPr>
          <p:cNvSpPr>
            <a:spLocks noGrp="1"/>
          </p:cNvSpPr>
          <p:nvPr>
            <p:ph type="sldNum" sz="quarter" idx="11"/>
          </p:nvPr>
        </p:nvSpPr>
        <p:spPr/>
        <p:txBody>
          <a:bodyPr/>
          <a:lstStyle/>
          <a:p>
            <a:pPr>
              <a:defRPr/>
            </a:pPr>
            <a:fld id="{B77A47BA-BA63-4780-94A9-8AFA2EA4438D}" type="slidenum">
              <a:rPr lang="en-US" altLang="zh-CN" smtClean="0"/>
              <a:pPr>
                <a:defRPr/>
              </a:pPr>
              <a:t>53</a:t>
            </a:fld>
            <a:endParaRPr lang="en-US" altLang="zh-C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457" y="44624"/>
            <a:ext cx="10967151" cy="6858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BF47AD2B-96D1-7006-AF64-416AD9FE2928}"/>
              </a:ext>
            </a:extLst>
          </p:cNvPr>
          <p:cNvSpPr>
            <a:spLocks noGrp="1"/>
          </p:cNvSpPr>
          <p:nvPr>
            <p:ph type="sldNum" sz="quarter" idx="11"/>
          </p:nvPr>
        </p:nvSpPr>
        <p:spPr/>
        <p:txBody>
          <a:bodyPr/>
          <a:lstStyle/>
          <a:p>
            <a:pPr>
              <a:defRPr/>
            </a:pPr>
            <a:fld id="{B77A47BA-BA63-4780-94A9-8AFA2EA4438D}" type="slidenum">
              <a:rPr lang="en-US" altLang="zh-CN" smtClean="0"/>
              <a:pPr>
                <a:defRPr/>
              </a:pPr>
              <a:t>54</a:t>
            </a:fld>
            <a:endParaRPr lang="en-US" altLang="zh-CN"/>
          </a:p>
        </p:txBody>
      </p:sp>
      <p:sp>
        <p:nvSpPr>
          <p:cNvPr id="3" name="文本框 2">
            <a:extLst>
              <a:ext uri="{FF2B5EF4-FFF2-40B4-BE49-F238E27FC236}">
                <a16:creationId xmlns:a16="http://schemas.microsoft.com/office/drawing/2014/main" id="{16DBC71B-F0FD-3413-833E-0D851DE72844}"/>
              </a:ext>
            </a:extLst>
          </p:cNvPr>
          <p:cNvSpPr txBox="1"/>
          <p:nvPr/>
        </p:nvSpPr>
        <p:spPr>
          <a:xfrm>
            <a:off x="3575720" y="3228945"/>
            <a:ext cx="4680520" cy="400110"/>
          </a:xfrm>
          <a:prstGeom prst="rect">
            <a:avLst/>
          </a:prstGeom>
          <a:solidFill>
            <a:srgbClr val="CCFF99"/>
          </a:solidFill>
        </p:spPr>
        <p:txBody>
          <a:bodyPr wrap="square" rtlCol="0">
            <a:spAutoFit/>
          </a:bodyPr>
          <a:lstStyle/>
          <a:p>
            <a:r>
              <a:rPr lang="en-US" altLang="zh-CN" sz="2000" b="1" dirty="0">
                <a:solidFill>
                  <a:srgbClr val="FF0000"/>
                </a:solidFill>
                <a:latin typeface="+mn-lt"/>
                <a:ea typeface="黑体" panose="02010609060101010101" pitchFamily="49" charset="-122"/>
              </a:rPr>
              <a:t>4</a:t>
            </a:r>
            <a:r>
              <a:rPr lang="zh-CN" altLang="en-US" sz="2000" b="1" dirty="0">
                <a:solidFill>
                  <a:srgbClr val="FF0000"/>
                </a:solidFill>
                <a:latin typeface="+mn-lt"/>
                <a:ea typeface="黑体" panose="02010609060101010101" pitchFamily="49" charset="-122"/>
              </a:rPr>
              <a:t>个隶属函数，运行</a:t>
            </a:r>
            <a:r>
              <a:rPr lang="en-US" altLang="zh-CN" sz="2000" b="1" dirty="0">
                <a:solidFill>
                  <a:srgbClr val="FF0000"/>
                </a:solidFill>
                <a:latin typeface="+mn-lt"/>
                <a:ea typeface="黑体" panose="02010609060101010101" pitchFamily="49" charset="-122"/>
              </a:rPr>
              <a:t>100</a:t>
            </a:r>
            <a:r>
              <a:rPr lang="zh-CN" altLang="en-US" sz="2000" b="1" dirty="0">
                <a:solidFill>
                  <a:srgbClr val="FF0000"/>
                </a:solidFill>
                <a:latin typeface="+mn-lt"/>
                <a:ea typeface="黑体" panose="02010609060101010101" pitchFamily="49" charset="-122"/>
              </a:rPr>
              <a:t>次前、后的结果</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416" y="27384"/>
            <a:ext cx="1072919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9C248AF-2DCC-1441-44F1-715CDFDCA64A}"/>
              </a:ext>
            </a:extLst>
          </p:cNvPr>
          <p:cNvSpPr>
            <a:spLocks noGrp="1"/>
          </p:cNvSpPr>
          <p:nvPr>
            <p:ph type="sldNum" sz="quarter" idx="11"/>
          </p:nvPr>
        </p:nvSpPr>
        <p:spPr/>
        <p:txBody>
          <a:bodyPr/>
          <a:lstStyle/>
          <a:p>
            <a:pPr>
              <a:defRPr/>
            </a:pPr>
            <a:fld id="{B77A47BA-BA63-4780-94A9-8AFA2EA4438D}" type="slidenum">
              <a:rPr lang="en-US" altLang="zh-CN" smtClean="0"/>
              <a:pPr>
                <a:defRPr/>
              </a:pPr>
              <a:t>55</a:t>
            </a:fld>
            <a:endParaRPr lang="en-US" altLang="zh-CN"/>
          </a:p>
        </p:txBody>
      </p:sp>
      <p:sp>
        <p:nvSpPr>
          <p:cNvPr id="3" name="文本框 2">
            <a:extLst>
              <a:ext uri="{FF2B5EF4-FFF2-40B4-BE49-F238E27FC236}">
                <a16:creationId xmlns:a16="http://schemas.microsoft.com/office/drawing/2014/main" id="{5385696A-B37C-B499-2E2F-9AB68D815BC8}"/>
              </a:ext>
            </a:extLst>
          </p:cNvPr>
          <p:cNvSpPr txBox="1"/>
          <p:nvPr/>
        </p:nvSpPr>
        <p:spPr>
          <a:xfrm>
            <a:off x="3935760" y="3228945"/>
            <a:ext cx="4248472" cy="400110"/>
          </a:xfrm>
          <a:prstGeom prst="rect">
            <a:avLst/>
          </a:prstGeom>
          <a:solidFill>
            <a:srgbClr val="CCFF99"/>
          </a:solidFill>
        </p:spPr>
        <p:txBody>
          <a:bodyPr wrap="square" rtlCol="0">
            <a:spAutoFit/>
          </a:bodyPr>
          <a:lstStyle/>
          <a:p>
            <a:r>
              <a:rPr lang="en-US" altLang="zh-CN" sz="2000" b="1" dirty="0">
                <a:solidFill>
                  <a:srgbClr val="FF0000"/>
                </a:solidFill>
                <a:latin typeface="+mn-lt"/>
                <a:ea typeface="黑体" panose="02010609060101010101" pitchFamily="49" charset="-122"/>
              </a:rPr>
              <a:t>4</a:t>
            </a:r>
            <a:r>
              <a:rPr lang="zh-CN" altLang="en-US" sz="2000" b="1" dirty="0">
                <a:solidFill>
                  <a:srgbClr val="FF0000"/>
                </a:solidFill>
                <a:latin typeface="+mn-lt"/>
                <a:ea typeface="黑体" panose="02010609060101010101" pitchFamily="49" charset="-122"/>
              </a:rPr>
              <a:t>个</a:t>
            </a:r>
            <a:r>
              <a:rPr lang="zh-CN" altLang="en-US" sz="2000" b="1" dirty="0">
                <a:solidFill>
                  <a:srgbClr val="FF0000"/>
                </a:solidFill>
                <a:ea typeface="黑体" panose="02010609060101010101" pitchFamily="49" charset="-122"/>
              </a:rPr>
              <a:t>隶属函数</a:t>
            </a:r>
            <a:r>
              <a:rPr lang="zh-CN" altLang="en-US" sz="2000" b="1" dirty="0">
                <a:solidFill>
                  <a:srgbClr val="FF0000"/>
                </a:solidFill>
                <a:latin typeface="+mn-lt"/>
                <a:ea typeface="黑体" panose="02010609060101010101" pitchFamily="49" charset="-122"/>
              </a:rPr>
              <a:t>，运行</a:t>
            </a:r>
            <a:r>
              <a:rPr lang="en-US" altLang="zh-CN" sz="2000" b="1" dirty="0">
                <a:solidFill>
                  <a:srgbClr val="FF0000"/>
                </a:solidFill>
                <a:latin typeface="+mn-lt"/>
                <a:ea typeface="黑体" panose="02010609060101010101" pitchFamily="49" charset="-122"/>
              </a:rPr>
              <a:t>100</a:t>
            </a:r>
            <a:r>
              <a:rPr lang="zh-CN" altLang="en-US" sz="2000" b="1" dirty="0">
                <a:solidFill>
                  <a:srgbClr val="FF0000"/>
                </a:solidFill>
                <a:latin typeface="+mn-lt"/>
                <a:ea typeface="黑体" panose="02010609060101010101" pitchFamily="49" charset="-122"/>
              </a:rPr>
              <a:t>次后的结果</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457" y="107776"/>
            <a:ext cx="10967151"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22746A0F-255F-7D05-0A44-FEFC96526FE9}"/>
              </a:ext>
            </a:extLst>
          </p:cNvPr>
          <p:cNvSpPr>
            <a:spLocks noGrp="1"/>
          </p:cNvSpPr>
          <p:nvPr>
            <p:ph type="sldNum" sz="quarter" idx="11"/>
          </p:nvPr>
        </p:nvSpPr>
        <p:spPr/>
        <p:txBody>
          <a:bodyPr/>
          <a:lstStyle/>
          <a:p>
            <a:pPr>
              <a:defRPr/>
            </a:pPr>
            <a:fld id="{B77A47BA-BA63-4780-94A9-8AFA2EA4438D}" type="slidenum">
              <a:rPr lang="en-US" altLang="zh-CN" smtClean="0"/>
              <a:pPr>
                <a:defRPr/>
              </a:pPr>
              <a:t>56</a:t>
            </a:fld>
            <a:endParaRPr lang="en-US" altLang="zh-CN"/>
          </a:p>
        </p:txBody>
      </p:sp>
      <p:sp>
        <p:nvSpPr>
          <p:cNvPr id="3" name="文本框 2">
            <a:extLst>
              <a:ext uri="{FF2B5EF4-FFF2-40B4-BE49-F238E27FC236}">
                <a16:creationId xmlns:a16="http://schemas.microsoft.com/office/drawing/2014/main" id="{4DB18C63-2A78-7AE1-CD0B-C7F743385636}"/>
              </a:ext>
            </a:extLst>
          </p:cNvPr>
          <p:cNvSpPr txBox="1"/>
          <p:nvPr/>
        </p:nvSpPr>
        <p:spPr>
          <a:xfrm>
            <a:off x="3575720" y="3228945"/>
            <a:ext cx="4752528" cy="400110"/>
          </a:xfrm>
          <a:prstGeom prst="rect">
            <a:avLst/>
          </a:prstGeom>
          <a:solidFill>
            <a:srgbClr val="CCFFFF"/>
          </a:solidFill>
        </p:spPr>
        <p:txBody>
          <a:bodyPr wrap="square" rtlCol="0">
            <a:spAutoFit/>
          </a:bodyPr>
          <a:lstStyle/>
          <a:p>
            <a:r>
              <a:rPr lang="en-US" altLang="zh-CN" sz="2000" b="1" dirty="0">
                <a:solidFill>
                  <a:srgbClr val="FF0000"/>
                </a:solidFill>
                <a:latin typeface="+mn-lt"/>
                <a:ea typeface="黑体" panose="02010609060101010101" pitchFamily="49" charset="-122"/>
              </a:rPr>
              <a:t>4</a:t>
            </a:r>
            <a:r>
              <a:rPr lang="zh-CN" altLang="en-US" sz="2000" b="1" dirty="0">
                <a:solidFill>
                  <a:srgbClr val="FF0000"/>
                </a:solidFill>
                <a:latin typeface="+mn-lt"/>
                <a:ea typeface="黑体" panose="02010609060101010101" pitchFamily="49" charset="-122"/>
              </a:rPr>
              <a:t>个</a:t>
            </a:r>
            <a:r>
              <a:rPr lang="zh-CN" altLang="en-US" sz="2000" b="1" dirty="0">
                <a:solidFill>
                  <a:srgbClr val="FF0000"/>
                </a:solidFill>
                <a:ea typeface="黑体" panose="02010609060101010101" pitchFamily="49" charset="-122"/>
              </a:rPr>
              <a:t>隶属函数</a:t>
            </a:r>
            <a:r>
              <a:rPr lang="zh-CN" altLang="en-US" sz="2000" b="1" dirty="0">
                <a:solidFill>
                  <a:srgbClr val="FF0000"/>
                </a:solidFill>
                <a:latin typeface="+mn-lt"/>
                <a:ea typeface="黑体" panose="02010609060101010101" pitchFamily="49" charset="-122"/>
              </a:rPr>
              <a:t>，运行</a:t>
            </a:r>
            <a:r>
              <a:rPr lang="en-US" altLang="zh-CN" sz="2000" b="1" dirty="0">
                <a:solidFill>
                  <a:srgbClr val="FF0000"/>
                </a:solidFill>
                <a:latin typeface="+mn-lt"/>
                <a:ea typeface="黑体" panose="02010609060101010101" pitchFamily="49" charset="-122"/>
              </a:rPr>
              <a:t>1000</a:t>
            </a:r>
            <a:r>
              <a:rPr lang="zh-CN" altLang="en-US" sz="2000" b="1" dirty="0">
                <a:solidFill>
                  <a:srgbClr val="FF0000"/>
                </a:solidFill>
                <a:latin typeface="+mn-lt"/>
                <a:ea typeface="黑体" panose="02010609060101010101" pitchFamily="49" charset="-122"/>
              </a:rPr>
              <a:t>次前、后的结果</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457" y="116632"/>
            <a:ext cx="11039159" cy="6741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B506BEAB-E454-46D5-922F-5CC69DED4E63}"/>
              </a:ext>
            </a:extLst>
          </p:cNvPr>
          <p:cNvSpPr>
            <a:spLocks noGrp="1"/>
          </p:cNvSpPr>
          <p:nvPr>
            <p:ph type="sldNum" sz="quarter" idx="11"/>
          </p:nvPr>
        </p:nvSpPr>
        <p:spPr/>
        <p:txBody>
          <a:bodyPr/>
          <a:lstStyle/>
          <a:p>
            <a:pPr>
              <a:defRPr/>
            </a:pPr>
            <a:fld id="{B77A47BA-BA63-4780-94A9-8AFA2EA4438D}" type="slidenum">
              <a:rPr lang="en-US" altLang="zh-CN" smtClean="0"/>
              <a:pPr>
                <a:defRPr/>
              </a:pPr>
              <a:t>57</a:t>
            </a:fld>
            <a:endParaRPr lang="en-US" altLang="zh-CN"/>
          </a:p>
        </p:txBody>
      </p:sp>
      <p:sp>
        <p:nvSpPr>
          <p:cNvPr id="3" name="文本框 2">
            <a:extLst>
              <a:ext uri="{FF2B5EF4-FFF2-40B4-BE49-F238E27FC236}">
                <a16:creationId xmlns:a16="http://schemas.microsoft.com/office/drawing/2014/main" id="{462BE060-D96E-9B60-8EC3-A508136F2BB2}"/>
              </a:ext>
            </a:extLst>
          </p:cNvPr>
          <p:cNvSpPr txBox="1"/>
          <p:nvPr/>
        </p:nvSpPr>
        <p:spPr>
          <a:xfrm>
            <a:off x="3719736" y="3228945"/>
            <a:ext cx="4248472" cy="400110"/>
          </a:xfrm>
          <a:prstGeom prst="rect">
            <a:avLst/>
          </a:prstGeom>
          <a:solidFill>
            <a:srgbClr val="CCFFFF"/>
          </a:solidFill>
        </p:spPr>
        <p:txBody>
          <a:bodyPr wrap="square" rtlCol="0">
            <a:spAutoFit/>
          </a:bodyPr>
          <a:lstStyle/>
          <a:p>
            <a:r>
              <a:rPr lang="en-US" altLang="zh-CN" sz="2000" b="1" dirty="0">
                <a:solidFill>
                  <a:srgbClr val="FF0000"/>
                </a:solidFill>
                <a:latin typeface="+mn-lt"/>
                <a:ea typeface="黑体" panose="02010609060101010101" pitchFamily="49" charset="-122"/>
              </a:rPr>
              <a:t>4</a:t>
            </a:r>
            <a:r>
              <a:rPr lang="zh-CN" altLang="en-US" sz="2000" b="1" dirty="0">
                <a:solidFill>
                  <a:srgbClr val="FF0000"/>
                </a:solidFill>
                <a:latin typeface="+mn-lt"/>
                <a:ea typeface="黑体" panose="02010609060101010101" pitchFamily="49" charset="-122"/>
              </a:rPr>
              <a:t>个</a:t>
            </a:r>
            <a:r>
              <a:rPr lang="zh-CN" altLang="en-US" sz="2000" b="1" dirty="0">
                <a:solidFill>
                  <a:srgbClr val="FF0000"/>
                </a:solidFill>
                <a:ea typeface="黑体" panose="02010609060101010101" pitchFamily="49" charset="-122"/>
              </a:rPr>
              <a:t>隶属函数</a:t>
            </a:r>
            <a:r>
              <a:rPr lang="zh-CN" altLang="en-US" sz="2000" b="1" dirty="0">
                <a:solidFill>
                  <a:srgbClr val="FF0000"/>
                </a:solidFill>
                <a:latin typeface="+mn-lt"/>
                <a:ea typeface="黑体" panose="02010609060101010101" pitchFamily="49" charset="-122"/>
              </a:rPr>
              <a:t>，运行</a:t>
            </a:r>
            <a:r>
              <a:rPr lang="en-US" altLang="zh-CN" sz="2000" b="1" dirty="0">
                <a:solidFill>
                  <a:srgbClr val="FF0000"/>
                </a:solidFill>
                <a:latin typeface="+mn-lt"/>
                <a:ea typeface="黑体" panose="02010609060101010101" pitchFamily="49" charset="-122"/>
              </a:rPr>
              <a:t>1000</a:t>
            </a:r>
            <a:r>
              <a:rPr lang="zh-CN" altLang="en-US" sz="2000" b="1" dirty="0">
                <a:solidFill>
                  <a:srgbClr val="FF0000"/>
                </a:solidFill>
                <a:latin typeface="+mn-lt"/>
                <a:ea typeface="黑体" panose="02010609060101010101" pitchFamily="49" charset="-122"/>
              </a:rPr>
              <a:t>次后的结果</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457" y="116632"/>
            <a:ext cx="11039159" cy="6705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99196DDE-D5FC-F50E-4BD0-EE65E80005E6}"/>
              </a:ext>
            </a:extLst>
          </p:cNvPr>
          <p:cNvSpPr>
            <a:spLocks noGrp="1"/>
          </p:cNvSpPr>
          <p:nvPr>
            <p:ph type="sldNum" sz="quarter" idx="11"/>
          </p:nvPr>
        </p:nvSpPr>
        <p:spPr/>
        <p:txBody>
          <a:bodyPr/>
          <a:lstStyle/>
          <a:p>
            <a:pPr>
              <a:defRPr/>
            </a:pPr>
            <a:fld id="{B77A47BA-BA63-4780-94A9-8AFA2EA4438D}" type="slidenum">
              <a:rPr lang="en-US" altLang="zh-CN" smtClean="0"/>
              <a:pPr>
                <a:defRPr/>
              </a:pPr>
              <a:t>58</a:t>
            </a:fld>
            <a:endParaRPr lang="en-US" altLang="zh-CN"/>
          </a:p>
        </p:txBody>
      </p:sp>
      <p:sp>
        <p:nvSpPr>
          <p:cNvPr id="3" name="文本框 2">
            <a:extLst>
              <a:ext uri="{FF2B5EF4-FFF2-40B4-BE49-F238E27FC236}">
                <a16:creationId xmlns:a16="http://schemas.microsoft.com/office/drawing/2014/main" id="{A4F9B5C2-F1F8-0674-6C33-AA66C2E1589E}"/>
              </a:ext>
            </a:extLst>
          </p:cNvPr>
          <p:cNvSpPr txBox="1"/>
          <p:nvPr/>
        </p:nvSpPr>
        <p:spPr>
          <a:xfrm>
            <a:off x="3575720" y="3228945"/>
            <a:ext cx="4608512" cy="400110"/>
          </a:xfrm>
          <a:prstGeom prst="rect">
            <a:avLst/>
          </a:prstGeom>
          <a:solidFill>
            <a:srgbClr val="FFFF00"/>
          </a:solidFill>
        </p:spPr>
        <p:txBody>
          <a:bodyPr wrap="square" rtlCol="0">
            <a:spAutoFit/>
          </a:bodyPr>
          <a:lstStyle/>
          <a:p>
            <a:r>
              <a:rPr lang="en-US" altLang="zh-CN" sz="2000" b="1" dirty="0">
                <a:solidFill>
                  <a:srgbClr val="FF0000"/>
                </a:solidFill>
                <a:latin typeface="+mn-lt"/>
                <a:ea typeface="黑体" panose="02010609060101010101" pitchFamily="49" charset="-122"/>
              </a:rPr>
              <a:t>5</a:t>
            </a:r>
            <a:r>
              <a:rPr lang="zh-CN" altLang="en-US" sz="2000" b="1" dirty="0">
                <a:solidFill>
                  <a:srgbClr val="FF0000"/>
                </a:solidFill>
                <a:latin typeface="+mn-lt"/>
                <a:ea typeface="黑体" panose="02010609060101010101" pitchFamily="49" charset="-122"/>
              </a:rPr>
              <a:t>个</a:t>
            </a:r>
            <a:r>
              <a:rPr lang="zh-CN" altLang="en-US" sz="2000" b="1" dirty="0">
                <a:solidFill>
                  <a:srgbClr val="FF0000"/>
                </a:solidFill>
                <a:ea typeface="黑体" panose="02010609060101010101" pitchFamily="49" charset="-122"/>
              </a:rPr>
              <a:t>隶属函数</a:t>
            </a:r>
            <a:r>
              <a:rPr lang="zh-CN" altLang="en-US" sz="2000" b="1" dirty="0">
                <a:solidFill>
                  <a:srgbClr val="FF0000"/>
                </a:solidFill>
                <a:latin typeface="+mn-lt"/>
                <a:ea typeface="黑体" panose="02010609060101010101" pitchFamily="49" charset="-122"/>
              </a:rPr>
              <a:t>，运行</a:t>
            </a:r>
            <a:r>
              <a:rPr lang="en-US" altLang="zh-CN" sz="2000" b="1" dirty="0">
                <a:solidFill>
                  <a:srgbClr val="FF0000"/>
                </a:solidFill>
                <a:latin typeface="+mn-lt"/>
                <a:ea typeface="黑体" panose="02010609060101010101" pitchFamily="49" charset="-122"/>
              </a:rPr>
              <a:t>100</a:t>
            </a:r>
            <a:r>
              <a:rPr lang="zh-CN" altLang="en-US" sz="2000" b="1" dirty="0">
                <a:solidFill>
                  <a:srgbClr val="FF0000"/>
                </a:solidFill>
                <a:latin typeface="+mn-lt"/>
                <a:ea typeface="黑体" panose="02010609060101010101" pitchFamily="49" charset="-122"/>
              </a:rPr>
              <a:t>次前、后的结果</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457" y="116632"/>
            <a:ext cx="10895143" cy="6741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E5649DF0-5437-4109-68CB-7F5F4572DCAC}"/>
              </a:ext>
            </a:extLst>
          </p:cNvPr>
          <p:cNvSpPr>
            <a:spLocks noGrp="1"/>
          </p:cNvSpPr>
          <p:nvPr>
            <p:ph type="sldNum" sz="quarter" idx="11"/>
          </p:nvPr>
        </p:nvSpPr>
        <p:spPr/>
        <p:txBody>
          <a:bodyPr/>
          <a:lstStyle/>
          <a:p>
            <a:pPr>
              <a:defRPr/>
            </a:pPr>
            <a:fld id="{B77A47BA-BA63-4780-94A9-8AFA2EA4438D}" type="slidenum">
              <a:rPr lang="en-US" altLang="zh-CN" smtClean="0"/>
              <a:pPr>
                <a:defRPr/>
              </a:pPr>
              <a:t>59</a:t>
            </a:fld>
            <a:endParaRPr lang="en-US" altLang="zh-CN"/>
          </a:p>
        </p:txBody>
      </p:sp>
      <p:sp>
        <p:nvSpPr>
          <p:cNvPr id="3" name="文本框 2">
            <a:extLst>
              <a:ext uri="{FF2B5EF4-FFF2-40B4-BE49-F238E27FC236}">
                <a16:creationId xmlns:a16="http://schemas.microsoft.com/office/drawing/2014/main" id="{A06691F9-13CA-02A4-233A-9B29AF031D53}"/>
              </a:ext>
            </a:extLst>
          </p:cNvPr>
          <p:cNvSpPr txBox="1"/>
          <p:nvPr/>
        </p:nvSpPr>
        <p:spPr>
          <a:xfrm>
            <a:off x="3935760" y="3287261"/>
            <a:ext cx="4176464" cy="400110"/>
          </a:xfrm>
          <a:prstGeom prst="rect">
            <a:avLst/>
          </a:prstGeom>
          <a:solidFill>
            <a:srgbClr val="FFFF00"/>
          </a:solidFill>
        </p:spPr>
        <p:txBody>
          <a:bodyPr wrap="square" rtlCol="0">
            <a:spAutoFit/>
          </a:bodyPr>
          <a:lstStyle/>
          <a:p>
            <a:r>
              <a:rPr lang="en-US" altLang="zh-CN" sz="2000" b="1" dirty="0">
                <a:solidFill>
                  <a:srgbClr val="FF0000"/>
                </a:solidFill>
                <a:latin typeface="+mn-lt"/>
                <a:ea typeface="黑体" panose="02010609060101010101" pitchFamily="49" charset="-122"/>
              </a:rPr>
              <a:t>5</a:t>
            </a:r>
            <a:r>
              <a:rPr lang="zh-CN" altLang="en-US" sz="2000" b="1" dirty="0">
                <a:solidFill>
                  <a:srgbClr val="FF0000"/>
                </a:solidFill>
                <a:latin typeface="+mn-lt"/>
                <a:ea typeface="黑体" panose="02010609060101010101" pitchFamily="49" charset="-122"/>
              </a:rPr>
              <a:t>个</a:t>
            </a:r>
            <a:r>
              <a:rPr lang="zh-CN" altLang="en-US" sz="2000" b="1" dirty="0">
                <a:solidFill>
                  <a:srgbClr val="FF0000"/>
                </a:solidFill>
                <a:ea typeface="黑体" panose="02010609060101010101" pitchFamily="49" charset="-122"/>
              </a:rPr>
              <a:t>隶属函数</a:t>
            </a:r>
            <a:r>
              <a:rPr lang="zh-CN" altLang="en-US" sz="2000" b="1" dirty="0">
                <a:solidFill>
                  <a:srgbClr val="FF0000"/>
                </a:solidFill>
                <a:latin typeface="+mn-lt"/>
                <a:ea typeface="黑体" panose="02010609060101010101" pitchFamily="49" charset="-122"/>
              </a:rPr>
              <a:t>，运行</a:t>
            </a:r>
            <a:r>
              <a:rPr lang="en-US" altLang="zh-CN" sz="2000" b="1" dirty="0">
                <a:solidFill>
                  <a:srgbClr val="FF0000"/>
                </a:solidFill>
                <a:latin typeface="+mn-lt"/>
                <a:ea typeface="黑体" panose="02010609060101010101" pitchFamily="49" charset="-122"/>
              </a:rPr>
              <a:t>100</a:t>
            </a:r>
            <a:r>
              <a:rPr lang="zh-CN" altLang="en-US" sz="2000" b="1" dirty="0">
                <a:solidFill>
                  <a:srgbClr val="FF0000"/>
                </a:solidFill>
                <a:latin typeface="+mn-lt"/>
                <a:ea typeface="黑体" panose="02010609060101010101" pitchFamily="49" charset="-122"/>
              </a:rPr>
              <a:t>次后的结果</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46DA71B-DD5E-42B1-9B10-B2BB49A13C63}"/>
              </a:ext>
            </a:extLst>
          </p:cNvPr>
          <p:cNvPicPr>
            <a:picLocks noChangeAspect="1"/>
          </p:cNvPicPr>
          <p:nvPr/>
        </p:nvPicPr>
        <p:blipFill>
          <a:blip r:embed="rId2"/>
          <a:stretch>
            <a:fillRect/>
          </a:stretch>
        </p:blipFill>
        <p:spPr>
          <a:xfrm>
            <a:off x="1950311" y="167378"/>
            <a:ext cx="7015141" cy="1445068"/>
          </a:xfrm>
          <a:prstGeom prst="rect">
            <a:avLst/>
          </a:prstGeom>
        </p:spPr>
      </p:pic>
      <p:sp>
        <p:nvSpPr>
          <p:cNvPr id="2" name="标题 1">
            <a:extLst>
              <a:ext uri="{FF2B5EF4-FFF2-40B4-BE49-F238E27FC236}">
                <a16:creationId xmlns:a16="http://schemas.microsoft.com/office/drawing/2014/main" id="{3941C852-B710-4B93-AA5D-9914DB8F36C0}"/>
              </a:ext>
            </a:extLst>
          </p:cNvPr>
          <p:cNvSpPr>
            <a:spLocks noGrp="1"/>
          </p:cNvSpPr>
          <p:nvPr>
            <p:ph type="title"/>
          </p:nvPr>
        </p:nvSpPr>
        <p:spPr>
          <a:xfrm>
            <a:off x="1990328" y="225654"/>
            <a:ext cx="8229600" cy="1371600"/>
          </a:xfrm>
        </p:spPr>
        <p:txBody>
          <a:bodyPr/>
          <a:lstStyle/>
          <a:p>
            <a:r>
              <a:rPr lang="zh-CN" altLang="en-US" dirty="0">
                <a:solidFill>
                  <a:srgbClr val="008000"/>
                </a:solidFill>
                <a:latin typeface="黑体" panose="02010609060101010101" pitchFamily="49" charset="-122"/>
                <a:ea typeface="黑体" panose="02010609060101010101" pitchFamily="49" charset="-122"/>
              </a:rPr>
              <a:t>程序运行后生成的规则</a:t>
            </a:r>
          </a:p>
        </p:txBody>
      </p:sp>
      <p:pic>
        <p:nvPicPr>
          <p:cNvPr id="8" name="图片 7">
            <a:extLst>
              <a:ext uri="{FF2B5EF4-FFF2-40B4-BE49-F238E27FC236}">
                <a16:creationId xmlns:a16="http://schemas.microsoft.com/office/drawing/2014/main" id="{4D5B4948-A187-4B9C-AFDD-DB0362CDD9A5}"/>
              </a:ext>
            </a:extLst>
          </p:cNvPr>
          <p:cNvPicPr>
            <a:picLocks noChangeAspect="1"/>
          </p:cNvPicPr>
          <p:nvPr/>
        </p:nvPicPr>
        <p:blipFill>
          <a:blip r:embed="rId3"/>
          <a:stretch>
            <a:fillRect/>
          </a:stretch>
        </p:blipFill>
        <p:spPr>
          <a:xfrm>
            <a:off x="9230743" y="0"/>
            <a:ext cx="2961257" cy="1974171"/>
          </a:xfrm>
          <a:prstGeom prst="rect">
            <a:avLst/>
          </a:prstGeom>
        </p:spPr>
      </p:pic>
      <p:sp>
        <p:nvSpPr>
          <p:cNvPr id="10" name="文本框 9">
            <a:extLst>
              <a:ext uri="{FF2B5EF4-FFF2-40B4-BE49-F238E27FC236}">
                <a16:creationId xmlns:a16="http://schemas.microsoft.com/office/drawing/2014/main" id="{A2F48E3F-BFCE-47F9-98A1-0343848A25CB}"/>
              </a:ext>
            </a:extLst>
          </p:cNvPr>
          <p:cNvSpPr txBox="1"/>
          <p:nvPr/>
        </p:nvSpPr>
        <p:spPr>
          <a:xfrm>
            <a:off x="1683660" y="1484549"/>
            <a:ext cx="6975124" cy="461665"/>
          </a:xfrm>
          <a:prstGeom prst="rect">
            <a:avLst/>
          </a:prstGeom>
          <a:solidFill>
            <a:srgbClr val="FFFF00"/>
          </a:solid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if  (x=mf1</a:t>
            </a:r>
            <a:r>
              <a:rPr lang="en-US" altLang="zh-CN" sz="2400" b="1" dirty="0">
                <a:solidFill>
                  <a:srgbClr val="FF0000"/>
                </a:solidFill>
                <a:latin typeface="Times New Roman" panose="02020603050405020304" pitchFamily="18" charset="0"/>
                <a:cs typeface="Times New Roman" panose="02020603050405020304" pitchFamily="18" charset="0"/>
              </a:rPr>
              <a:t>j</a:t>
            </a:r>
            <a:r>
              <a:rPr lang="en-US" altLang="zh-CN" sz="2400" b="1" dirty="0">
                <a:latin typeface="Times New Roman" panose="02020603050405020304" pitchFamily="18" charset="0"/>
                <a:cs typeface="Times New Roman" panose="02020603050405020304" pitchFamily="18" charset="0"/>
              </a:rPr>
              <a:t>  and y=mf2</a:t>
            </a:r>
            <a:r>
              <a:rPr lang="en-US" altLang="zh-CN" sz="2400" b="1" dirty="0">
                <a:solidFill>
                  <a:srgbClr val="FF0000"/>
                </a:solidFill>
                <a:latin typeface="Times New Roman" panose="02020603050405020304" pitchFamily="18" charset="0"/>
                <a:cs typeface="Times New Roman" panose="02020603050405020304" pitchFamily="18" charset="0"/>
              </a:rPr>
              <a:t>k</a:t>
            </a:r>
            <a:r>
              <a:rPr lang="en-US" altLang="zh-CN" sz="2400" b="1" dirty="0">
                <a:latin typeface="Times New Roman" panose="02020603050405020304" pitchFamily="18" charset="0"/>
                <a:cs typeface="Times New Roman" panose="02020603050405020304" pitchFamily="18" charset="0"/>
              </a:rPr>
              <a:t>)  then z=</a:t>
            </a:r>
            <a:r>
              <a:rPr lang="en-US" altLang="zh-CN" sz="2400" b="1" dirty="0" err="1">
                <a:solidFill>
                  <a:srgbClr val="CC00CC"/>
                </a:solidFill>
                <a:latin typeface="Times New Roman" panose="02020603050405020304" pitchFamily="18" charset="0"/>
                <a:cs typeface="Times New Roman" panose="02020603050405020304" pitchFamily="18" charset="0"/>
              </a:rPr>
              <a:t>a</a:t>
            </a:r>
            <a:r>
              <a:rPr lang="en-US" altLang="zh-CN" sz="2400" b="1" dirty="0" err="1">
                <a:latin typeface="Times New Roman" panose="02020603050405020304" pitchFamily="18" charset="0"/>
                <a:cs typeface="Times New Roman" panose="02020603050405020304" pitchFamily="18" charset="0"/>
              </a:rPr>
              <a:t>x+</a:t>
            </a:r>
            <a:r>
              <a:rPr lang="en-US" altLang="zh-CN" sz="2400" b="1" dirty="0" err="1">
                <a:solidFill>
                  <a:srgbClr val="008000"/>
                </a:solidFill>
                <a:latin typeface="Times New Roman" panose="02020603050405020304" pitchFamily="18" charset="0"/>
                <a:cs typeface="Times New Roman" panose="02020603050405020304" pitchFamily="18" charset="0"/>
              </a:rPr>
              <a:t>b</a:t>
            </a:r>
            <a:r>
              <a:rPr lang="en-US" altLang="zh-CN" sz="2400" b="1" dirty="0" err="1">
                <a:latin typeface="Times New Roman" panose="02020603050405020304" pitchFamily="18" charset="0"/>
                <a:cs typeface="Times New Roman" panose="02020603050405020304" pitchFamily="18" charset="0"/>
              </a:rPr>
              <a:t>y+c</a:t>
            </a:r>
            <a:r>
              <a:rPr lang="en-US" altLang="zh-CN" sz="2400" b="1" dirty="0">
                <a:latin typeface="Times New Roman" panose="02020603050405020304" pitchFamily="18" charset="0"/>
                <a:cs typeface="Times New Roman" panose="02020603050405020304" pitchFamily="18" charset="0"/>
              </a:rPr>
              <a:t>    //[</a:t>
            </a:r>
            <a:r>
              <a:rPr lang="en-US" altLang="zh-CN" sz="2400" b="1" dirty="0" err="1">
                <a:solidFill>
                  <a:srgbClr val="CC00CC"/>
                </a:solidFill>
                <a:latin typeface="Times New Roman" panose="02020603050405020304" pitchFamily="18" charset="0"/>
                <a:cs typeface="Times New Roman" panose="02020603050405020304" pitchFamily="18" charset="0"/>
              </a:rPr>
              <a:t>a</a:t>
            </a:r>
            <a:r>
              <a:rPr lang="en-US" altLang="zh-CN" sz="2400" b="1" dirty="0" err="1">
                <a:latin typeface="Times New Roman" panose="02020603050405020304" pitchFamily="18" charset="0"/>
                <a:cs typeface="Times New Roman" panose="02020603050405020304" pitchFamily="18" charset="0"/>
              </a:rPr>
              <a:t>,</a:t>
            </a:r>
            <a:r>
              <a:rPr lang="en-US" altLang="zh-CN" sz="2400" b="1" dirty="0" err="1">
                <a:solidFill>
                  <a:srgbClr val="008000"/>
                </a:solidFill>
                <a:latin typeface="Times New Roman" panose="02020603050405020304" pitchFamily="18" charset="0"/>
                <a:cs typeface="Times New Roman" panose="02020603050405020304" pitchFamily="18" charset="0"/>
              </a:rPr>
              <a:t>b</a:t>
            </a:r>
            <a:r>
              <a:rPr lang="en-US" altLang="zh-CN" sz="2400" b="1" dirty="0" err="1">
                <a:latin typeface="Times New Roman" panose="02020603050405020304" pitchFamily="18" charset="0"/>
                <a:cs typeface="Times New Roman" panose="02020603050405020304" pitchFamily="18" charset="0"/>
              </a:rPr>
              <a:t>,c</a:t>
            </a:r>
            <a:r>
              <a:rPr lang="en-US" altLang="zh-CN" sz="2400" b="1" dirty="0">
                <a:latin typeface="Times New Roman" panose="02020603050405020304" pitchFamily="18" charset="0"/>
                <a:cs typeface="Times New Roman" panose="02020603050405020304" pitchFamily="18" charset="0"/>
              </a:rPr>
              <a:t>] </a:t>
            </a:r>
            <a:endParaRPr lang="zh-CN" altLang="en-US" sz="2400" b="1"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26734532-C021-40D5-9773-CC52D6E4F440}"/>
              </a:ext>
            </a:extLst>
          </p:cNvPr>
          <p:cNvGraphicFramePr>
            <a:graphicFrameLocks noGrp="1"/>
          </p:cNvGraphicFramePr>
          <p:nvPr>
            <p:extLst>
              <p:ext uri="{D42A27DB-BD31-4B8C-83A1-F6EECF244321}">
                <p14:modId xmlns:p14="http://schemas.microsoft.com/office/powerpoint/2010/main" val="347004981"/>
              </p:ext>
            </p:extLst>
          </p:nvPr>
        </p:nvGraphicFramePr>
        <p:xfrm>
          <a:off x="1487488" y="1885301"/>
          <a:ext cx="8227198" cy="4937760"/>
        </p:xfrm>
        <a:graphic>
          <a:graphicData uri="http://schemas.openxmlformats.org/drawingml/2006/table">
            <a:tbl>
              <a:tblPr firstRow="1" bandRow="1">
                <a:tableStyleId>{2D5ABB26-0587-4C30-8999-92F81FD0307C}</a:tableStyleId>
              </a:tblPr>
              <a:tblGrid>
                <a:gridCol w="723513">
                  <a:extLst>
                    <a:ext uri="{9D8B030D-6E8A-4147-A177-3AD203B41FA5}">
                      <a16:colId xmlns:a16="http://schemas.microsoft.com/office/drawing/2014/main" val="2725542827"/>
                    </a:ext>
                  </a:extLst>
                </a:gridCol>
                <a:gridCol w="1619433">
                  <a:extLst>
                    <a:ext uri="{9D8B030D-6E8A-4147-A177-3AD203B41FA5}">
                      <a16:colId xmlns:a16="http://schemas.microsoft.com/office/drawing/2014/main" val="607949157"/>
                    </a:ext>
                  </a:extLst>
                </a:gridCol>
                <a:gridCol w="1619433">
                  <a:extLst>
                    <a:ext uri="{9D8B030D-6E8A-4147-A177-3AD203B41FA5}">
                      <a16:colId xmlns:a16="http://schemas.microsoft.com/office/drawing/2014/main" val="1866918866"/>
                    </a:ext>
                  </a:extLst>
                </a:gridCol>
                <a:gridCol w="1366213">
                  <a:extLst>
                    <a:ext uri="{9D8B030D-6E8A-4147-A177-3AD203B41FA5}">
                      <a16:colId xmlns:a16="http://schemas.microsoft.com/office/drawing/2014/main" val="669340141"/>
                    </a:ext>
                  </a:extLst>
                </a:gridCol>
                <a:gridCol w="1512168">
                  <a:extLst>
                    <a:ext uri="{9D8B030D-6E8A-4147-A177-3AD203B41FA5}">
                      <a16:colId xmlns:a16="http://schemas.microsoft.com/office/drawing/2014/main" val="2045381018"/>
                    </a:ext>
                  </a:extLst>
                </a:gridCol>
                <a:gridCol w="1386438">
                  <a:extLst>
                    <a:ext uri="{9D8B030D-6E8A-4147-A177-3AD203B41FA5}">
                      <a16:colId xmlns:a16="http://schemas.microsoft.com/office/drawing/2014/main" val="1418828298"/>
                    </a:ext>
                  </a:extLst>
                </a:gridCol>
              </a:tblGrid>
              <a:tr h="301498">
                <a:tc>
                  <a:txBody>
                    <a:bodyPr/>
                    <a:lstStyle/>
                    <a:p>
                      <a:r>
                        <a:rPr lang="en-US" altLang="zh-CN" dirty="0">
                          <a:latin typeface="Times New Roman" panose="02020603050405020304" pitchFamily="18" charset="0"/>
                          <a:cs typeface="Times New Roman" panose="02020603050405020304" pitchFamily="18" charset="0"/>
                        </a:rPr>
                        <a:t>x\y</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mf21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altLang="zh-CN" dirty="0">
                          <a:latin typeface="Times New Roman" panose="02020603050405020304" pitchFamily="18" charset="0"/>
                          <a:cs typeface="Times New Roman" panose="02020603050405020304" pitchFamily="18" charset="0"/>
                        </a:rPr>
                        <a:t>mf22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altLang="zh-CN" dirty="0">
                          <a:latin typeface="Times New Roman" panose="02020603050405020304" pitchFamily="18" charset="0"/>
                          <a:cs typeface="Times New Roman" panose="02020603050405020304" pitchFamily="18" charset="0"/>
                        </a:rPr>
                        <a:t>mf23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altLang="zh-CN" dirty="0">
                          <a:latin typeface="Times New Roman" panose="02020603050405020304" pitchFamily="18" charset="0"/>
                          <a:cs typeface="Times New Roman" panose="02020603050405020304" pitchFamily="18" charset="0"/>
                        </a:rPr>
                        <a:t>mf24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altLang="zh-CN" dirty="0">
                          <a:latin typeface="Times New Roman" panose="02020603050405020304" pitchFamily="18" charset="0"/>
                          <a:cs typeface="Times New Roman" panose="02020603050405020304" pitchFamily="18" charset="0"/>
                        </a:rPr>
                        <a:t>mf25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899416820"/>
                  </a:ext>
                </a:extLst>
              </a:tr>
              <a:tr h="536541">
                <a:tc>
                  <a:txBody>
                    <a:bodyPr/>
                    <a:lstStyle/>
                    <a:p>
                      <a:r>
                        <a:rPr lang="en-US" altLang="zh-CN" dirty="0">
                          <a:latin typeface="Times New Roman" panose="02020603050405020304" pitchFamily="18" charset="0"/>
                          <a:cs typeface="Times New Roman" panose="02020603050405020304" pitchFamily="18" charset="0"/>
                        </a:rPr>
                        <a:t>mf11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r>
                        <a:rPr lang="en-US" altLang="zh-CN" dirty="0">
                          <a:latin typeface="Times New Roman" panose="02020603050405020304" pitchFamily="18" charset="0"/>
                          <a:cs typeface="Times New Roman" panose="02020603050405020304" pitchFamily="18" charset="0"/>
                        </a:rPr>
                        <a:t> [</a:t>
                      </a:r>
                      <a:r>
                        <a:rPr lang="en-US" altLang="zh-CN" dirty="0">
                          <a:solidFill>
                            <a:srgbClr val="CC00CC"/>
                          </a:solidFill>
                          <a:latin typeface="Times New Roman" panose="02020603050405020304" pitchFamily="18" charset="0"/>
                          <a:cs typeface="Times New Roman" panose="02020603050405020304" pitchFamily="18" charset="0"/>
                        </a:rPr>
                        <a:t>0.01107</a:t>
                      </a:r>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0.01107</a:t>
                      </a:r>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0.2073]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a:latin typeface="Times New Roman" panose="02020603050405020304" pitchFamily="18" charset="0"/>
                          <a:cs typeface="Times New Roman" panose="02020603050405020304" pitchFamily="18" charset="0"/>
                        </a:rPr>
                        <a:t> [</a:t>
                      </a:r>
                      <a:r>
                        <a:rPr lang="en-US" altLang="zh-CN" dirty="0">
                          <a:solidFill>
                            <a:srgbClr val="CC00CC"/>
                          </a:solidFill>
                          <a:latin typeface="Times New Roman" panose="02020603050405020304" pitchFamily="18" charset="0"/>
                          <a:cs typeface="Times New Roman" panose="02020603050405020304" pitchFamily="18" charset="0"/>
                        </a:rPr>
                        <a:t>-0.04817 </a:t>
                      </a:r>
                      <a:r>
                        <a:rPr lang="en-US" altLang="zh-CN" dirty="0">
                          <a:solidFill>
                            <a:srgbClr val="008000"/>
                          </a:solidFill>
                          <a:latin typeface="Times New Roman" panose="02020603050405020304" pitchFamily="18" charset="0"/>
                          <a:cs typeface="Times New Roman" panose="02020603050405020304" pitchFamily="18" charset="0"/>
                        </a:rPr>
                        <a:t>0.007512</a:t>
                      </a:r>
                    </a:p>
                    <a:p>
                      <a:r>
                        <a:rPr lang="en-US" altLang="zh-CN" dirty="0">
                          <a:latin typeface="Times New Roman" panose="02020603050405020304" pitchFamily="18" charset="0"/>
                          <a:cs typeface="Times New Roman" panose="02020603050405020304" pitchFamily="18" charset="0"/>
                        </a:rPr>
                        <a:t> -0.4546]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a:latin typeface="Times New Roman" panose="02020603050405020304" pitchFamily="18" charset="0"/>
                          <a:cs typeface="Times New Roman" panose="02020603050405020304" pitchFamily="18" charset="0"/>
                        </a:rPr>
                        <a:t> [</a:t>
                      </a:r>
                      <a:r>
                        <a:rPr lang="en-US" altLang="zh-CN" dirty="0">
                          <a:solidFill>
                            <a:srgbClr val="CC00CC"/>
                          </a:solidFill>
                          <a:latin typeface="Times New Roman" panose="02020603050405020304" pitchFamily="18" charset="0"/>
                          <a:cs typeface="Times New Roman" panose="02020603050405020304" pitchFamily="18" charset="0"/>
                        </a:rPr>
                        <a:t>0.1954</a:t>
                      </a:r>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0.0007239</a:t>
                      </a:r>
                      <a:r>
                        <a:rPr lang="en-US" altLang="zh-CN" dirty="0">
                          <a:latin typeface="Times New Roman" panose="02020603050405020304" pitchFamily="18" charset="0"/>
                          <a:cs typeface="Times New Roman" panose="02020603050405020304" pitchFamily="18" charset="0"/>
                        </a:rPr>
                        <a:t> 1.892]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a:latin typeface="Times New Roman" panose="02020603050405020304" pitchFamily="18" charset="0"/>
                          <a:cs typeface="Times New Roman" panose="02020603050405020304" pitchFamily="18" charset="0"/>
                        </a:rPr>
                        <a:t>  </a:t>
                      </a:r>
                      <a:r>
                        <a:rPr lang="en-US" altLang="zh-CN" dirty="0">
                          <a:solidFill>
                            <a:srgbClr val="CC00CC"/>
                          </a:solidFill>
                          <a:latin typeface="Times New Roman" panose="02020603050405020304" pitchFamily="18" charset="0"/>
                          <a:cs typeface="Times New Roman" panose="02020603050405020304" pitchFamily="18" charset="0"/>
                        </a:rPr>
                        <a:t>[-0.0488</a:t>
                      </a:r>
                    </a:p>
                    <a:p>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-0.006597 </a:t>
                      </a:r>
                    </a:p>
                    <a:p>
                      <a:r>
                        <a:rPr lang="en-US" altLang="zh-CN" dirty="0">
                          <a:latin typeface="Times New Roman" panose="02020603050405020304" pitchFamily="18" charset="0"/>
                          <a:cs typeface="Times New Roman" panose="02020603050405020304" pitchFamily="18" charset="0"/>
                        </a:rPr>
                        <a:t> -0.465]]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 [</a:t>
                      </a:r>
                      <a:r>
                        <a:rPr lang="en-US" altLang="zh-CN" dirty="0">
                          <a:solidFill>
                            <a:srgbClr val="CC00CC"/>
                          </a:solidFill>
                          <a:latin typeface="Times New Roman" panose="02020603050405020304" pitchFamily="18" charset="0"/>
                          <a:cs typeface="Times New Roman" panose="02020603050405020304" pitchFamily="18" charset="0"/>
                        </a:rPr>
                        <a:t>0.01116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srgbClr val="008000"/>
                          </a:solidFill>
                          <a:latin typeface="Times New Roman" panose="02020603050405020304" pitchFamily="18" charset="0"/>
                          <a:cs typeface="Times New Roman" panose="02020603050405020304" pitchFamily="18" charset="0"/>
                        </a:rPr>
                        <a:t> -0.01089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 0.2061]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8220721"/>
                  </a:ext>
                </a:extLst>
              </a:tr>
              <a:tr h="536541">
                <a:tc>
                  <a:txBody>
                    <a:bodyPr/>
                    <a:lstStyle/>
                    <a:p>
                      <a:r>
                        <a:rPr lang="en-US" altLang="zh-CN" dirty="0">
                          <a:latin typeface="Times New Roman" panose="02020603050405020304" pitchFamily="18" charset="0"/>
                          <a:cs typeface="Times New Roman" panose="02020603050405020304" pitchFamily="18" charset="0"/>
                        </a:rPr>
                        <a:t>mf11</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r>
                        <a:rPr lang="en-US" altLang="zh-CN" dirty="0">
                          <a:latin typeface="Times New Roman" panose="02020603050405020304" pitchFamily="18" charset="0"/>
                          <a:cs typeface="Times New Roman" panose="02020603050405020304" pitchFamily="18" charset="0"/>
                        </a:rPr>
                        <a:t> [</a:t>
                      </a:r>
                      <a:r>
                        <a:rPr lang="en-US" altLang="zh-CN" dirty="0">
                          <a:solidFill>
                            <a:srgbClr val="CC00CC"/>
                          </a:solidFill>
                          <a:latin typeface="Times New Roman" panose="02020603050405020304" pitchFamily="18" charset="0"/>
                          <a:cs typeface="Times New Roman" panose="02020603050405020304" pitchFamily="18" charset="0"/>
                        </a:rPr>
                        <a:t>0.007514</a:t>
                      </a:r>
                      <a:r>
                        <a:rPr lang="en-US" altLang="zh-CN" dirty="0">
                          <a:latin typeface="Times New Roman" panose="02020603050405020304" pitchFamily="18" charset="0"/>
                          <a:cs typeface="Times New Roman" panose="02020603050405020304" pitchFamily="18" charset="0"/>
                        </a:rPr>
                        <a:t> </a:t>
                      </a:r>
                    </a:p>
                    <a:p>
                      <a:r>
                        <a:rPr lang="en-US" altLang="zh-CN" dirty="0">
                          <a:solidFill>
                            <a:srgbClr val="008000"/>
                          </a:solidFill>
                          <a:latin typeface="Times New Roman" panose="02020603050405020304" pitchFamily="18" charset="0"/>
                          <a:cs typeface="Times New Roman" panose="02020603050405020304" pitchFamily="18" charset="0"/>
                        </a:rPr>
                        <a:t> -0.04817</a:t>
                      </a:r>
                    </a:p>
                    <a:p>
                      <a:r>
                        <a:rPr lang="en-US" altLang="zh-CN" dirty="0">
                          <a:latin typeface="Times New Roman" panose="02020603050405020304" pitchFamily="18" charset="0"/>
                          <a:cs typeface="Times New Roman" panose="02020603050405020304" pitchFamily="18" charset="0"/>
                        </a:rPr>
                        <a:t> -0.4546]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en-US" altLang="zh-CN" dirty="0">
                          <a:solidFill>
                            <a:srgbClr val="CC00CC"/>
                          </a:solidFill>
                          <a:latin typeface="Times New Roman" panose="02020603050405020304" pitchFamily="18" charset="0"/>
                          <a:cs typeface="Times New Roman" panose="02020603050405020304" pitchFamily="18" charset="0"/>
                        </a:rPr>
                        <a:t>-0.03268</a:t>
                      </a:r>
                    </a:p>
                    <a:p>
                      <a:r>
                        <a:rPr lang="en-US" altLang="zh-CN" dirty="0">
                          <a:solidFill>
                            <a:srgbClr val="008000"/>
                          </a:solidFill>
                          <a:latin typeface="Times New Roman" panose="02020603050405020304" pitchFamily="18" charset="0"/>
                          <a:cs typeface="Times New Roman" panose="02020603050405020304" pitchFamily="18" charset="0"/>
                        </a:rPr>
                        <a:t> -0.03267 </a:t>
                      </a:r>
                      <a:r>
                        <a:rPr lang="en-US" altLang="zh-CN" dirty="0">
                          <a:latin typeface="Times New Roman" panose="02020603050405020304" pitchFamily="18" charset="0"/>
                          <a:cs typeface="Times New Roman" panose="02020603050405020304" pitchFamily="18" charset="0"/>
                        </a:rPr>
                        <a:t>0.03264]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0.1326 </a:t>
                      </a:r>
                    </a:p>
                    <a:p>
                      <a:r>
                        <a:rPr lang="en-US" altLang="zh-CN" dirty="0">
                          <a:solidFill>
                            <a:srgbClr val="008000"/>
                          </a:solidFill>
                          <a:latin typeface="Times New Roman" panose="02020603050405020304" pitchFamily="18" charset="0"/>
                          <a:cs typeface="Times New Roman" panose="02020603050405020304" pitchFamily="18" charset="0"/>
                        </a:rPr>
                        <a:t>-0.00315</a:t>
                      </a:r>
                    </a:p>
                    <a:p>
                      <a:r>
                        <a:rPr lang="en-US" altLang="zh-CN" dirty="0">
                          <a:latin typeface="Times New Roman" panose="02020603050405020304" pitchFamily="18" charset="0"/>
                          <a:cs typeface="Times New Roman" panose="02020603050405020304" pitchFamily="18" charset="0"/>
                        </a:rPr>
                        <a:t> -0.3406]</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-0.03311 </a:t>
                      </a:r>
                      <a:r>
                        <a:rPr lang="en-US" altLang="zh-CN" dirty="0">
                          <a:solidFill>
                            <a:srgbClr val="008000"/>
                          </a:solidFill>
                          <a:latin typeface="Times New Roman" panose="02020603050405020304" pitchFamily="18" charset="0"/>
                          <a:cs typeface="Times New Roman" panose="02020603050405020304" pitchFamily="18" charset="0"/>
                        </a:rPr>
                        <a:t>0.02869 </a:t>
                      </a:r>
                    </a:p>
                    <a:p>
                      <a:r>
                        <a:rPr lang="en-US" altLang="zh-CN" dirty="0">
                          <a:latin typeface="Times New Roman" panose="02020603050405020304" pitchFamily="18" charset="0"/>
                          <a:cs typeface="Times New Roman" panose="02020603050405020304" pitchFamily="18" charset="0"/>
                        </a:rPr>
                        <a:t>0.0522]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0.007572</a:t>
                      </a:r>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0.04736</a:t>
                      </a:r>
                    </a:p>
                    <a:p>
                      <a:r>
                        <a:rPr lang="en-US" altLang="zh-CN" dirty="0">
                          <a:latin typeface="Times New Roman" panose="02020603050405020304" pitchFamily="18" charset="0"/>
                          <a:cs typeface="Times New Roman" panose="02020603050405020304" pitchFamily="18" charset="0"/>
                        </a:rPr>
                        <a:t> -0.4459]</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732690"/>
                  </a:ext>
                </a:extLst>
              </a:tr>
              <a:tr h="536541">
                <a:tc>
                  <a:txBody>
                    <a:bodyPr/>
                    <a:lstStyle/>
                    <a:p>
                      <a:r>
                        <a:rPr lang="en-US" altLang="zh-CN" dirty="0">
                          <a:latin typeface="Times New Roman" panose="02020603050405020304" pitchFamily="18" charset="0"/>
                          <a:cs typeface="Times New Roman" panose="02020603050405020304" pitchFamily="18" charset="0"/>
                        </a:rPr>
                        <a:t>mf13</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0.000728</a:t>
                      </a:r>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0.1954 </a:t>
                      </a:r>
                    </a:p>
                    <a:p>
                      <a:r>
                        <a:rPr lang="en-US" altLang="zh-CN" dirty="0">
                          <a:latin typeface="Times New Roman" panose="02020603050405020304" pitchFamily="18" charset="0"/>
                          <a:cs typeface="Times New Roman" panose="02020603050405020304" pitchFamily="18" charset="0"/>
                        </a:rPr>
                        <a:t>1.892]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-0.003168 </a:t>
                      </a:r>
                      <a:r>
                        <a:rPr lang="en-US" altLang="zh-CN" dirty="0">
                          <a:solidFill>
                            <a:srgbClr val="008000"/>
                          </a:solidFill>
                          <a:latin typeface="Times New Roman" panose="02020603050405020304" pitchFamily="18" charset="0"/>
                          <a:cs typeface="Times New Roman" panose="02020603050405020304" pitchFamily="18" charset="0"/>
                        </a:rPr>
                        <a:t>0.1326</a:t>
                      </a:r>
                    </a:p>
                    <a:p>
                      <a:r>
                        <a:rPr lang="en-US" altLang="zh-CN" dirty="0">
                          <a:latin typeface="Times New Roman" panose="02020603050405020304" pitchFamily="18" charset="0"/>
                          <a:cs typeface="Times New Roman" panose="02020603050405020304" pitchFamily="18" charset="0"/>
                        </a:rPr>
                        <a:t> -0.3407]</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0.01286</a:t>
                      </a:r>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0.01278</a:t>
                      </a:r>
                    </a:p>
                    <a:p>
                      <a:r>
                        <a:rPr lang="en-US" altLang="zh-CN" dirty="0">
                          <a:latin typeface="Times New Roman" panose="02020603050405020304" pitchFamily="18" charset="0"/>
                          <a:cs typeface="Times New Roman" panose="02020603050405020304" pitchFamily="18" charset="0"/>
                        </a:rPr>
                        <a:t> 2.227]</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-0.00321</a:t>
                      </a:r>
                    </a:p>
                    <a:p>
                      <a:r>
                        <a:rPr lang="en-US" altLang="zh-CN" dirty="0">
                          <a:solidFill>
                            <a:srgbClr val="008000"/>
                          </a:solidFill>
                          <a:latin typeface="Times New Roman" panose="02020603050405020304" pitchFamily="18" charset="0"/>
                          <a:cs typeface="Times New Roman" panose="02020603050405020304" pitchFamily="18" charset="0"/>
                        </a:rPr>
                        <a:t>-0.1164 </a:t>
                      </a:r>
                    </a:p>
                    <a:p>
                      <a:r>
                        <a:rPr lang="en-US" altLang="zh-CN" dirty="0">
                          <a:latin typeface="Times New Roman" panose="02020603050405020304" pitchFamily="18" charset="0"/>
                          <a:cs typeface="Times New Roman" panose="02020603050405020304" pitchFamily="18" charset="0"/>
                        </a:rPr>
                        <a:t>-0.4229]</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0.0007336</a:t>
                      </a:r>
                    </a:p>
                    <a:p>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-0.1921</a:t>
                      </a:r>
                    </a:p>
                    <a:p>
                      <a:r>
                        <a:rPr lang="en-US" altLang="zh-CN" dirty="0">
                          <a:solidFill>
                            <a:srgbClr val="008000"/>
                          </a:solidFill>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1.857]</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6802149"/>
                  </a:ext>
                </a:extLst>
              </a:tr>
              <a:tr h="536541">
                <a:tc>
                  <a:txBody>
                    <a:bodyPr/>
                    <a:lstStyle/>
                    <a:p>
                      <a:r>
                        <a:rPr lang="en-US" altLang="zh-CN" dirty="0">
                          <a:latin typeface="Times New Roman" panose="02020603050405020304" pitchFamily="18" charset="0"/>
                          <a:cs typeface="Times New Roman" panose="02020603050405020304" pitchFamily="18" charset="0"/>
                        </a:rPr>
                        <a:t>mf14</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-0.006591 </a:t>
                      </a:r>
                    </a:p>
                    <a:p>
                      <a:r>
                        <a:rPr lang="en-US" altLang="zh-CN" dirty="0">
                          <a:solidFill>
                            <a:srgbClr val="008000"/>
                          </a:solidFill>
                          <a:latin typeface="Times New Roman" panose="02020603050405020304" pitchFamily="18" charset="0"/>
                          <a:cs typeface="Times New Roman" panose="02020603050405020304" pitchFamily="18" charset="0"/>
                        </a:rPr>
                        <a:t>-0.0488</a:t>
                      </a:r>
                    </a:p>
                    <a:p>
                      <a:r>
                        <a:rPr lang="en-US" altLang="zh-CN" dirty="0">
                          <a:latin typeface="Times New Roman" panose="02020603050405020304" pitchFamily="18" charset="0"/>
                          <a:cs typeface="Times New Roman" panose="02020603050405020304" pitchFamily="18" charset="0"/>
                        </a:rPr>
                        <a:t> -0.465]</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0.02866</a:t>
                      </a:r>
                    </a:p>
                    <a:p>
                      <a:r>
                        <a:rPr lang="en-US" altLang="zh-CN" dirty="0">
                          <a:solidFill>
                            <a:srgbClr val="008000"/>
                          </a:solidFill>
                          <a:latin typeface="Times New Roman" panose="02020603050405020304" pitchFamily="18" charset="0"/>
                          <a:cs typeface="Times New Roman" panose="02020603050405020304" pitchFamily="18" charset="0"/>
                        </a:rPr>
                        <a:t>-0.0331</a:t>
                      </a:r>
                    </a:p>
                    <a:p>
                      <a:r>
                        <a:rPr lang="en-US" altLang="zh-CN" dirty="0">
                          <a:latin typeface="Times New Roman" panose="02020603050405020304" pitchFamily="18" charset="0"/>
                          <a:cs typeface="Times New Roman" panose="02020603050405020304" pitchFamily="18" charset="0"/>
                        </a:rPr>
                        <a:t>0.05232]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-0.1163</a:t>
                      </a:r>
                    </a:p>
                    <a:p>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-0.003192</a:t>
                      </a:r>
                    </a:p>
                    <a:p>
                      <a:r>
                        <a:rPr lang="en-US" altLang="zh-CN" dirty="0">
                          <a:latin typeface="Times New Roman" panose="02020603050405020304" pitchFamily="18" charset="0"/>
                          <a:cs typeface="Times New Roman" panose="02020603050405020304" pitchFamily="18" charset="0"/>
                        </a:rPr>
                        <a:t> -0.4232]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0.02904</a:t>
                      </a:r>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0.02907 </a:t>
                      </a:r>
                    </a:p>
                    <a:p>
                      <a:r>
                        <a:rPr lang="en-US" altLang="zh-CN" dirty="0">
                          <a:latin typeface="Times New Roman" panose="02020603050405020304" pitchFamily="18" charset="0"/>
                          <a:cs typeface="Times New Roman" panose="02020603050405020304" pitchFamily="18" charset="0"/>
                        </a:rPr>
                        <a:t>0.0724]</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-0.006642 </a:t>
                      </a:r>
                      <a:r>
                        <a:rPr lang="en-US" altLang="zh-CN" dirty="0">
                          <a:solidFill>
                            <a:srgbClr val="008000"/>
                          </a:solidFill>
                          <a:latin typeface="Times New Roman" panose="02020603050405020304" pitchFamily="18" charset="0"/>
                          <a:cs typeface="Times New Roman" panose="02020603050405020304" pitchFamily="18" charset="0"/>
                        </a:rPr>
                        <a:t>0.04798</a:t>
                      </a:r>
                    </a:p>
                    <a:p>
                      <a:r>
                        <a:rPr lang="en-US" altLang="zh-CN" dirty="0">
                          <a:latin typeface="Times New Roman" panose="02020603050405020304" pitchFamily="18" charset="0"/>
                          <a:cs typeface="Times New Roman" panose="02020603050405020304" pitchFamily="18" charset="0"/>
                        </a:rPr>
                        <a:t> -0.4563]</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9514722"/>
                  </a:ext>
                </a:extLst>
              </a:tr>
              <a:tr h="536541">
                <a:tc>
                  <a:txBody>
                    <a:bodyPr/>
                    <a:lstStyle/>
                    <a:p>
                      <a:r>
                        <a:rPr lang="en-US" altLang="zh-CN" dirty="0">
                          <a:latin typeface="Times New Roman" panose="02020603050405020304" pitchFamily="18" charset="0"/>
                          <a:cs typeface="Times New Roman" panose="02020603050405020304" pitchFamily="18" charset="0"/>
                        </a:rPr>
                        <a:t>mf15</a:t>
                      </a:r>
                      <a:endParaRPr lang="zh-CN"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-0.01089 </a:t>
                      </a:r>
                      <a:r>
                        <a:rPr lang="en-US" altLang="zh-CN" dirty="0">
                          <a:solidFill>
                            <a:srgbClr val="008000"/>
                          </a:solidFill>
                          <a:latin typeface="Times New Roman" panose="02020603050405020304" pitchFamily="18" charset="0"/>
                          <a:cs typeface="Times New Roman" panose="02020603050405020304" pitchFamily="18" charset="0"/>
                        </a:rPr>
                        <a:t>0.01116</a:t>
                      </a:r>
                    </a:p>
                    <a:p>
                      <a:r>
                        <a:rPr lang="en-US" altLang="zh-CN" dirty="0">
                          <a:latin typeface="Times New Roman" panose="02020603050405020304" pitchFamily="18" charset="0"/>
                          <a:cs typeface="Times New Roman" panose="02020603050405020304" pitchFamily="18" charset="0"/>
                        </a:rPr>
                        <a:t> 0.2061]</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0.04735</a:t>
                      </a:r>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0.00757</a:t>
                      </a:r>
                    </a:p>
                    <a:p>
                      <a:r>
                        <a:rPr lang="en-US" altLang="zh-CN" dirty="0">
                          <a:latin typeface="Times New Roman" panose="02020603050405020304" pitchFamily="18" charset="0"/>
                          <a:cs typeface="Times New Roman" panose="02020603050405020304" pitchFamily="18" charset="0"/>
                        </a:rPr>
                        <a:t> -0.4459]</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-0.1921</a:t>
                      </a:r>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0.0007295</a:t>
                      </a:r>
                      <a:r>
                        <a:rPr lang="en-US" altLang="zh-CN" dirty="0">
                          <a:latin typeface="Times New Roman" panose="02020603050405020304" pitchFamily="18" charset="0"/>
                          <a:cs typeface="Times New Roman" panose="02020603050405020304" pitchFamily="18" charset="0"/>
                        </a:rPr>
                        <a:t> 1.857]</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0.04798</a:t>
                      </a:r>
                    </a:p>
                    <a:p>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-0.006648</a:t>
                      </a:r>
                    </a:p>
                    <a:p>
                      <a:r>
                        <a:rPr lang="en-US" altLang="zh-CN" dirty="0">
                          <a:latin typeface="Times New Roman" panose="02020603050405020304" pitchFamily="18" charset="0"/>
                          <a:cs typeface="Times New Roman" panose="02020603050405020304" pitchFamily="18" charset="0"/>
                        </a:rPr>
                        <a:t> -0.4562]</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CC00CC"/>
                          </a:solidFill>
                          <a:latin typeface="Times New Roman" panose="02020603050405020304" pitchFamily="18" charset="0"/>
                          <a:cs typeface="Times New Roman" panose="02020603050405020304" pitchFamily="18" charset="0"/>
                        </a:rPr>
                        <a:t>-0.01097</a:t>
                      </a:r>
                    </a:p>
                    <a:p>
                      <a:r>
                        <a:rPr lang="en-US" altLang="zh-CN" dirty="0">
                          <a:latin typeface="Times New Roman" panose="02020603050405020304" pitchFamily="18" charset="0"/>
                          <a:cs typeface="Times New Roman" panose="02020603050405020304" pitchFamily="18" charset="0"/>
                        </a:rPr>
                        <a:t> </a:t>
                      </a:r>
                      <a:r>
                        <a:rPr lang="en-US" altLang="zh-CN" dirty="0">
                          <a:solidFill>
                            <a:srgbClr val="008000"/>
                          </a:solidFill>
                          <a:latin typeface="Times New Roman" panose="02020603050405020304" pitchFamily="18" charset="0"/>
                          <a:cs typeface="Times New Roman" panose="02020603050405020304" pitchFamily="18" charset="0"/>
                        </a:rPr>
                        <a:t>-0.01097</a:t>
                      </a:r>
                      <a:r>
                        <a:rPr lang="en-US" altLang="zh-CN" dirty="0">
                          <a:latin typeface="Times New Roman" panose="02020603050405020304" pitchFamily="18" charset="0"/>
                          <a:cs typeface="Times New Roman" panose="02020603050405020304" pitchFamily="18" charset="0"/>
                        </a:rPr>
                        <a:t> 0.2049]</a:t>
                      </a:r>
                      <a:endParaRPr lang="zh-CN" altLang="en-US"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2248840"/>
                  </a:ext>
                </a:extLst>
              </a:tr>
            </a:tbl>
          </a:graphicData>
        </a:graphic>
      </p:graphicFrame>
      <p:sp>
        <p:nvSpPr>
          <p:cNvPr id="4" name="灯片编号占位符 3">
            <a:extLst>
              <a:ext uri="{FF2B5EF4-FFF2-40B4-BE49-F238E27FC236}">
                <a16:creationId xmlns:a16="http://schemas.microsoft.com/office/drawing/2014/main" id="{7AAAC887-B004-71BA-83CF-FC1A7C545432}"/>
              </a:ext>
            </a:extLst>
          </p:cNvPr>
          <p:cNvSpPr>
            <a:spLocks noGrp="1"/>
          </p:cNvSpPr>
          <p:nvPr>
            <p:ph type="sldNum" sz="quarter" idx="11"/>
          </p:nvPr>
        </p:nvSpPr>
        <p:spPr/>
        <p:txBody>
          <a:bodyPr/>
          <a:lstStyle/>
          <a:p>
            <a:pPr>
              <a:defRPr/>
            </a:pPr>
            <a:fld id="{1F3E0329-027F-44B1-A42A-8643FF593956}" type="slidenum">
              <a:rPr lang="en-US" altLang="zh-CN" smtClean="0"/>
              <a:pPr>
                <a:defRPr/>
              </a:pPr>
              <a:t>60</a:t>
            </a:fld>
            <a:endParaRPr lang="en-US" altLang="zh-CN"/>
          </a:p>
        </p:txBody>
      </p:sp>
    </p:spTree>
    <p:extLst>
      <p:ext uri="{BB962C8B-B14F-4D97-AF65-F5344CB8AC3E}">
        <p14:creationId xmlns:p14="http://schemas.microsoft.com/office/powerpoint/2010/main" val="354753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32"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circle(out)">
                                      <p:cBhvr>
                                        <p:cTn id="13"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416" y="188922"/>
            <a:ext cx="10801200" cy="666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26ADB30-5953-3982-A8B2-25DD31210881}"/>
              </a:ext>
            </a:extLst>
          </p:cNvPr>
          <p:cNvSpPr>
            <a:spLocks noGrp="1"/>
          </p:cNvSpPr>
          <p:nvPr>
            <p:ph type="sldNum" sz="quarter" idx="11"/>
          </p:nvPr>
        </p:nvSpPr>
        <p:spPr/>
        <p:txBody>
          <a:bodyPr/>
          <a:lstStyle/>
          <a:p>
            <a:pPr>
              <a:defRPr/>
            </a:pPr>
            <a:fld id="{B77A47BA-BA63-4780-94A9-8AFA2EA4438D}" type="slidenum">
              <a:rPr lang="en-US" altLang="zh-CN" smtClean="0"/>
              <a:pPr>
                <a:defRPr/>
              </a:pPr>
              <a:t>61</a:t>
            </a:fld>
            <a:endParaRPr lang="en-US" altLang="zh-CN"/>
          </a:p>
        </p:txBody>
      </p:sp>
      <p:sp>
        <p:nvSpPr>
          <p:cNvPr id="3" name="文本框 2">
            <a:extLst>
              <a:ext uri="{FF2B5EF4-FFF2-40B4-BE49-F238E27FC236}">
                <a16:creationId xmlns:a16="http://schemas.microsoft.com/office/drawing/2014/main" id="{EC75BAB0-15EF-DB26-DDE5-332DB6E13E3B}"/>
              </a:ext>
            </a:extLst>
          </p:cNvPr>
          <p:cNvSpPr txBox="1"/>
          <p:nvPr/>
        </p:nvSpPr>
        <p:spPr>
          <a:xfrm>
            <a:off x="3863752" y="3323410"/>
            <a:ext cx="4752528" cy="400110"/>
          </a:xfrm>
          <a:prstGeom prst="rect">
            <a:avLst/>
          </a:prstGeom>
          <a:solidFill>
            <a:schemeClr val="accent5"/>
          </a:solidFill>
        </p:spPr>
        <p:txBody>
          <a:bodyPr wrap="square" rtlCol="0">
            <a:spAutoFit/>
          </a:bodyPr>
          <a:lstStyle/>
          <a:p>
            <a:r>
              <a:rPr lang="en-US" altLang="zh-CN" sz="2000" b="1" dirty="0">
                <a:solidFill>
                  <a:srgbClr val="FF0000"/>
                </a:solidFill>
                <a:latin typeface="+mn-lt"/>
                <a:ea typeface="黑体" panose="02010609060101010101" pitchFamily="49" charset="-122"/>
              </a:rPr>
              <a:t>6</a:t>
            </a:r>
            <a:r>
              <a:rPr lang="zh-CN" altLang="en-US" sz="2000" b="1" dirty="0">
                <a:solidFill>
                  <a:srgbClr val="FF0000"/>
                </a:solidFill>
                <a:latin typeface="+mn-lt"/>
                <a:ea typeface="黑体" panose="02010609060101010101" pitchFamily="49" charset="-122"/>
              </a:rPr>
              <a:t>个</a:t>
            </a:r>
            <a:r>
              <a:rPr lang="zh-CN" altLang="en-US" sz="2000" b="1" dirty="0">
                <a:solidFill>
                  <a:srgbClr val="FF0000"/>
                </a:solidFill>
                <a:ea typeface="黑体" panose="02010609060101010101" pitchFamily="49" charset="-122"/>
              </a:rPr>
              <a:t>隶属函数</a:t>
            </a:r>
            <a:r>
              <a:rPr lang="zh-CN" altLang="en-US" sz="2000" b="1" dirty="0">
                <a:solidFill>
                  <a:srgbClr val="FF0000"/>
                </a:solidFill>
                <a:latin typeface="+mn-lt"/>
                <a:ea typeface="黑体" panose="02010609060101010101" pitchFamily="49" charset="-122"/>
              </a:rPr>
              <a:t>，运行</a:t>
            </a:r>
            <a:r>
              <a:rPr lang="en-US" altLang="zh-CN" sz="2000" b="1" dirty="0">
                <a:solidFill>
                  <a:srgbClr val="FF0000"/>
                </a:solidFill>
                <a:latin typeface="+mn-lt"/>
                <a:ea typeface="黑体" panose="02010609060101010101" pitchFamily="49" charset="-122"/>
              </a:rPr>
              <a:t>100</a:t>
            </a:r>
            <a:r>
              <a:rPr lang="zh-CN" altLang="en-US" sz="2000" b="1" dirty="0">
                <a:solidFill>
                  <a:srgbClr val="FF0000"/>
                </a:solidFill>
                <a:latin typeface="+mn-lt"/>
                <a:ea typeface="黑体" panose="02010609060101010101" pitchFamily="49" charset="-122"/>
              </a:rPr>
              <a:t>次前、后的结果</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424" y="404822"/>
            <a:ext cx="10441160" cy="645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DE413C6E-C3D5-1746-0600-0C2EBEC97DFA}"/>
              </a:ext>
            </a:extLst>
          </p:cNvPr>
          <p:cNvSpPr>
            <a:spLocks noGrp="1"/>
          </p:cNvSpPr>
          <p:nvPr>
            <p:ph type="sldNum" sz="quarter" idx="11"/>
          </p:nvPr>
        </p:nvSpPr>
        <p:spPr/>
        <p:txBody>
          <a:bodyPr/>
          <a:lstStyle/>
          <a:p>
            <a:pPr>
              <a:defRPr/>
            </a:pPr>
            <a:fld id="{B77A47BA-BA63-4780-94A9-8AFA2EA4438D}" type="slidenum">
              <a:rPr lang="en-US" altLang="zh-CN" smtClean="0"/>
              <a:pPr>
                <a:defRPr/>
              </a:pPr>
              <a:t>62</a:t>
            </a:fld>
            <a:endParaRPr lang="en-US" altLang="zh-CN"/>
          </a:p>
        </p:txBody>
      </p:sp>
      <p:sp>
        <p:nvSpPr>
          <p:cNvPr id="3" name="文本框 2">
            <a:extLst>
              <a:ext uri="{FF2B5EF4-FFF2-40B4-BE49-F238E27FC236}">
                <a16:creationId xmlns:a16="http://schemas.microsoft.com/office/drawing/2014/main" id="{1B1C4EAE-5838-43E7-0284-02BD69CE7C40}"/>
              </a:ext>
            </a:extLst>
          </p:cNvPr>
          <p:cNvSpPr txBox="1"/>
          <p:nvPr/>
        </p:nvSpPr>
        <p:spPr>
          <a:xfrm>
            <a:off x="4007768" y="3228945"/>
            <a:ext cx="4176464" cy="400110"/>
          </a:xfrm>
          <a:prstGeom prst="rect">
            <a:avLst/>
          </a:prstGeom>
          <a:solidFill>
            <a:schemeClr val="accent5"/>
          </a:solidFill>
        </p:spPr>
        <p:txBody>
          <a:bodyPr wrap="square" rtlCol="0">
            <a:spAutoFit/>
          </a:bodyPr>
          <a:lstStyle/>
          <a:p>
            <a:r>
              <a:rPr lang="en-US" altLang="zh-CN" sz="2000" b="1" dirty="0">
                <a:solidFill>
                  <a:srgbClr val="FF0000"/>
                </a:solidFill>
                <a:latin typeface="+mn-lt"/>
                <a:ea typeface="黑体" panose="02010609060101010101" pitchFamily="49" charset="-122"/>
              </a:rPr>
              <a:t>6</a:t>
            </a:r>
            <a:r>
              <a:rPr lang="zh-CN" altLang="en-US" sz="2000" b="1" dirty="0">
                <a:solidFill>
                  <a:srgbClr val="FF0000"/>
                </a:solidFill>
                <a:latin typeface="+mn-lt"/>
                <a:ea typeface="黑体" panose="02010609060101010101" pitchFamily="49" charset="-122"/>
              </a:rPr>
              <a:t>个</a:t>
            </a:r>
            <a:r>
              <a:rPr lang="zh-CN" altLang="en-US" sz="2000" b="1" dirty="0">
                <a:solidFill>
                  <a:srgbClr val="FF0000"/>
                </a:solidFill>
                <a:ea typeface="黑体" panose="02010609060101010101" pitchFamily="49" charset="-122"/>
              </a:rPr>
              <a:t>隶属函数</a:t>
            </a:r>
            <a:r>
              <a:rPr lang="zh-CN" altLang="en-US" sz="2000" b="1" dirty="0">
                <a:solidFill>
                  <a:srgbClr val="FF0000"/>
                </a:solidFill>
                <a:latin typeface="+mn-lt"/>
                <a:ea typeface="黑体" panose="02010609060101010101" pitchFamily="49" charset="-122"/>
              </a:rPr>
              <a:t>，运行</a:t>
            </a:r>
            <a:r>
              <a:rPr lang="en-US" altLang="zh-CN" sz="2000" b="1" dirty="0">
                <a:solidFill>
                  <a:srgbClr val="FF0000"/>
                </a:solidFill>
                <a:latin typeface="+mn-lt"/>
                <a:ea typeface="黑体" panose="02010609060101010101" pitchFamily="49" charset="-122"/>
              </a:rPr>
              <a:t>100</a:t>
            </a:r>
            <a:r>
              <a:rPr lang="zh-CN" altLang="en-US" sz="2000" b="1" dirty="0">
                <a:solidFill>
                  <a:srgbClr val="FF0000"/>
                </a:solidFill>
                <a:latin typeface="+mn-lt"/>
                <a:ea typeface="黑体" panose="02010609060101010101" pitchFamily="49" charset="-122"/>
              </a:rPr>
              <a:t>次后的结果</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1C1E6E-D24F-0C65-DC1F-1C8CE3F8B622}"/>
              </a:ext>
            </a:extLst>
          </p:cNvPr>
          <p:cNvSpPr>
            <a:spLocks noGrp="1"/>
          </p:cNvSpPr>
          <p:nvPr>
            <p:ph type="title"/>
          </p:nvPr>
        </p:nvSpPr>
        <p:spPr>
          <a:xfrm>
            <a:off x="254000" y="188640"/>
            <a:ext cx="11582400" cy="1371600"/>
          </a:xfrm>
        </p:spPr>
        <p:txBody>
          <a:bodyPr/>
          <a:lstStyle/>
          <a:p>
            <a:pPr algn="ctr"/>
            <a:r>
              <a:rPr lang="en-US" altLang="zh-CN" dirty="0" err="1">
                <a:solidFill>
                  <a:srgbClr val="008000"/>
                </a:solidFill>
                <a:latin typeface="黑体" panose="02010609060101010101" pitchFamily="49" charset="-122"/>
                <a:ea typeface="黑体" panose="02010609060101010101" pitchFamily="49" charset="-122"/>
                <a:cs typeface="Noto Sans SC"/>
                <a:sym typeface="Noto Sans SC"/>
              </a:rPr>
              <a:t>进化模糊系统</a:t>
            </a:r>
            <a:r>
              <a:rPr lang="en-US" altLang="zh-CN" dirty="0">
                <a:solidFill>
                  <a:srgbClr val="008000"/>
                </a:solidFill>
                <a:latin typeface="+mn-lt"/>
                <a:ea typeface="黑体" panose="02010609060101010101" pitchFamily="49" charset="-122"/>
                <a:cs typeface="Noto Sans SC"/>
                <a:sym typeface="Noto Sans SC"/>
              </a:rPr>
              <a:t> </a:t>
            </a:r>
            <a:r>
              <a:rPr lang="en-US" altLang="zh-CN" sz="4000" b="1" dirty="0">
                <a:solidFill>
                  <a:srgbClr val="008000"/>
                </a:solidFill>
                <a:latin typeface="+mn-lt"/>
                <a:ea typeface="黑体" panose="02010609060101010101" pitchFamily="49" charset="-122"/>
                <a:cs typeface="Noto Sans SC"/>
                <a:sym typeface="Noto Sans SC"/>
              </a:rPr>
              <a:t>(</a:t>
            </a:r>
            <a:r>
              <a:rPr lang="en-US" altLang="zh-CN" sz="4000" dirty="0">
                <a:solidFill>
                  <a:srgbClr val="008000"/>
                </a:solidFill>
                <a:latin typeface="+mn-lt"/>
                <a:ea typeface="黑体" panose="02010609060101010101" pitchFamily="49" charset="-122"/>
                <a:cs typeface="Noto Sans SC"/>
                <a:sym typeface="Noto Sans SC"/>
              </a:rPr>
              <a:t>Evolutionary Fuzzy Systems</a:t>
            </a:r>
            <a:r>
              <a:rPr lang="en-US" altLang="zh-CN" sz="4000" b="1" dirty="0">
                <a:solidFill>
                  <a:srgbClr val="008000"/>
                </a:solidFill>
                <a:latin typeface="+mn-lt"/>
                <a:ea typeface="黑体" panose="02010609060101010101" pitchFamily="49" charset="-122"/>
                <a:cs typeface="Noto Sans SC"/>
                <a:sym typeface="Noto Sans SC"/>
              </a:rPr>
              <a:t>)</a:t>
            </a:r>
            <a:endParaRPr lang="zh-CN" altLang="en-US" dirty="0">
              <a:solidFill>
                <a:srgbClr val="008000"/>
              </a:solidFill>
              <a:latin typeface="+mn-lt"/>
              <a:ea typeface="黑体" panose="02010609060101010101" pitchFamily="49" charset="-122"/>
            </a:endParaRPr>
          </a:p>
        </p:txBody>
      </p:sp>
      <p:sp>
        <p:nvSpPr>
          <p:cNvPr id="3" name="内容占位符 2">
            <a:extLst>
              <a:ext uri="{FF2B5EF4-FFF2-40B4-BE49-F238E27FC236}">
                <a16:creationId xmlns:a16="http://schemas.microsoft.com/office/drawing/2014/main" id="{AA40EA87-8D5D-2E07-EC94-F2ED61FBC972}"/>
              </a:ext>
            </a:extLst>
          </p:cNvPr>
          <p:cNvSpPr>
            <a:spLocks noGrp="1"/>
          </p:cNvSpPr>
          <p:nvPr>
            <p:ph idx="1"/>
          </p:nvPr>
        </p:nvSpPr>
        <p:spPr>
          <a:xfrm>
            <a:off x="767408" y="1579138"/>
            <a:ext cx="10513168" cy="5278861"/>
          </a:xfrm>
        </p:spPr>
        <p:txBody>
          <a:bodyPr/>
          <a:lstStyle/>
          <a:p>
            <a:pPr marL="0" indent="0">
              <a:lnSpc>
                <a:spcPct val="110000"/>
              </a:lnSpc>
              <a:buNone/>
            </a:pPr>
            <a:r>
              <a:rPr lang="zh-CN" altLang="en-US" sz="2800" dirty="0">
                <a:solidFill>
                  <a:srgbClr val="2D3748"/>
                </a:solidFill>
                <a:ea typeface="黑体" panose="02010609060101010101" pitchFamily="49" charset="-122"/>
                <a:cs typeface="Noto Sans SC"/>
                <a:sym typeface="Noto Sans SC"/>
              </a:rPr>
              <a:t>它将</a:t>
            </a:r>
            <a:r>
              <a:rPr lang="en-US" altLang="zh-CN" sz="2800" dirty="0" err="1">
                <a:solidFill>
                  <a:srgbClr val="2D3748"/>
                </a:solidFill>
                <a:ea typeface="黑体" panose="02010609060101010101" pitchFamily="49" charset="-122"/>
                <a:cs typeface="Noto Sans SC"/>
                <a:sym typeface="Noto Sans SC"/>
              </a:rPr>
              <a:t>进化算法</a:t>
            </a:r>
            <a:r>
              <a:rPr lang="en-US" altLang="zh-CN" sz="2800" dirty="0">
                <a:solidFill>
                  <a:srgbClr val="2D3748"/>
                </a:solidFill>
                <a:ea typeface="黑体" panose="02010609060101010101" pitchFamily="49" charset="-122"/>
                <a:cs typeface="Noto Sans SC"/>
                <a:sym typeface="Noto Sans SC"/>
              </a:rPr>
              <a:t>(</a:t>
            </a:r>
            <a:r>
              <a:rPr lang="en-US" altLang="zh-CN" sz="2800" dirty="0" err="1">
                <a:solidFill>
                  <a:srgbClr val="2D3748"/>
                </a:solidFill>
                <a:ea typeface="黑体" panose="02010609060101010101" pitchFamily="49" charset="-122"/>
                <a:cs typeface="Noto Sans SC"/>
                <a:sym typeface="Noto Sans SC"/>
              </a:rPr>
              <a:t>如遗传算法、粒子群优化</a:t>
            </a:r>
            <a:r>
              <a:rPr lang="en-US" altLang="zh-CN" sz="2800" dirty="0">
                <a:solidFill>
                  <a:srgbClr val="2D3748"/>
                </a:solidFill>
                <a:ea typeface="黑体" panose="02010609060101010101" pitchFamily="49" charset="-122"/>
                <a:cs typeface="Noto Sans SC"/>
                <a:sym typeface="Noto Sans SC"/>
              </a:rPr>
              <a:t>)</a:t>
            </a:r>
            <a:r>
              <a:rPr lang="en-US" altLang="zh-CN" sz="2800" dirty="0" err="1">
                <a:solidFill>
                  <a:srgbClr val="2D3748"/>
                </a:solidFill>
                <a:ea typeface="黑体" panose="02010609060101010101" pitchFamily="49" charset="-122"/>
                <a:cs typeface="Noto Sans SC"/>
                <a:sym typeface="Noto Sans SC"/>
              </a:rPr>
              <a:t>与F逻辑</a:t>
            </a:r>
            <a:r>
              <a:rPr lang="zh-CN" altLang="en-US" sz="2800" dirty="0">
                <a:solidFill>
                  <a:srgbClr val="2D3748"/>
                </a:solidFill>
                <a:ea typeface="黑体" panose="02010609060101010101" pitchFamily="49" charset="-122"/>
                <a:cs typeface="Noto Sans SC"/>
                <a:sym typeface="Noto Sans SC"/>
              </a:rPr>
              <a:t>相融合</a:t>
            </a:r>
            <a:r>
              <a:rPr lang="en-US" altLang="zh-CN" sz="2800" dirty="0">
                <a:solidFill>
                  <a:srgbClr val="2D3748"/>
                </a:solidFill>
                <a:ea typeface="黑体" panose="02010609060101010101" pitchFamily="49" charset="-122"/>
                <a:cs typeface="Noto Sans SC"/>
                <a:sym typeface="Noto Sans SC"/>
              </a:rPr>
              <a:t>，</a:t>
            </a:r>
            <a:r>
              <a:rPr lang="en-US" altLang="zh-CN" sz="2800" dirty="0" err="1">
                <a:solidFill>
                  <a:srgbClr val="CC00CC"/>
                </a:solidFill>
                <a:ea typeface="黑体" panose="02010609060101010101" pitchFamily="49" charset="-122"/>
                <a:cs typeface="Noto Sans SC"/>
                <a:sym typeface="Noto Sans SC"/>
              </a:rPr>
              <a:t>将F系统的设计转化为高效的全局优化问题</a:t>
            </a:r>
            <a:r>
              <a:rPr lang="en-US" altLang="zh-CN" sz="2800" dirty="0" err="1">
                <a:solidFill>
                  <a:srgbClr val="2D3748"/>
                </a:solidFill>
                <a:ea typeface="黑体" panose="02010609060101010101" pitchFamily="49" charset="-122"/>
                <a:cs typeface="Noto Sans SC"/>
                <a:sym typeface="Noto Sans SC"/>
              </a:rPr>
              <a:t>，实现从数据驱动的自动化系统构建,而非单纯依赖人工经验</a:t>
            </a:r>
            <a:r>
              <a:rPr lang="en-US" altLang="zh-CN" sz="2800" dirty="0">
                <a:solidFill>
                  <a:srgbClr val="2D3748"/>
                </a:solidFill>
                <a:ea typeface="黑体" panose="02010609060101010101" pitchFamily="49" charset="-122"/>
                <a:cs typeface="Noto Sans SC"/>
                <a:sym typeface="Noto Sans SC"/>
              </a:rPr>
              <a:t>。</a:t>
            </a:r>
          </a:p>
          <a:p>
            <a:pPr>
              <a:lnSpc>
                <a:spcPct val="110000"/>
              </a:lnSpc>
            </a:pPr>
            <a:r>
              <a:rPr lang="en-US" altLang="zh-CN" b="1" dirty="0" err="1">
                <a:solidFill>
                  <a:srgbClr val="FF0000"/>
                </a:solidFill>
                <a:ea typeface="黑体" panose="02010609060101010101" pitchFamily="49" charset="-122"/>
                <a:cs typeface="Noto Sans SC"/>
                <a:sym typeface="Noto Sans SC"/>
              </a:rPr>
              <a:t>参数优化</a:t>
            </a:r>
            <a:endParaRPr lang="en-US" altLang="zh-CN" b="1" dirty="0">
              <a:solidFill>
                <a:srgbClr val="FF0000"/>
              </a:solidFill>
              <a:ea typeface="黑体" panose="02010609060101010101" pitchFamily="49" charset="-122"/>
              <a:cs typeface="Noto Sans SC"/>
              <a:sym typeface="Noto Sans SC"/>
            </a:endParaRPr>
          </a:p>
          <a:p>
            <a:pPr lvl="1">
              <a:lnSpc>
                <a:spcPct val="110000"/>
              </a:lnSpc>
            </a:pPr>
            <a:r>
              <a:rPr lang="en-US" altLang="zh-CN" dirty="0" err="1">
                <a:solidFill>
                  <a:schemeClr val="tx1">
                    <a:lumMod val="95000"/>
                    <a:lumOff val="5000"/>
                  </a:schemeClr>
                </a:solidFill>
                <a:ea typeface="黑体" panose="02010609060101010101" pitchFamily="49" charset="-122"/>
                <a:cs typeface="Noto Sans SC"/>
                <a:sym typeface="Noto Sans SC"/>
              </a:rPr>
              <a:t>在F规则结构固定的前提下，利用进化算法迭代优化隶属函数的关键参数，提升系统的拟合精度</a:t>
            </a:r>
            <a:r>
              <a:rPr lang="en-US" altLang="zh-CN" dirty="0">
                <a:solidFill>
                  <a:schemeClr val="tx1">
                    <a:lumMod val="95000"/>
                    <a:lumOff val="5000"/>
                  </a:schemeClr>
                </a:solidFill>
                <a:ea typeface="黑体" panose="02010609060101010101" pitchFamily="49" charset="-122"/>
                <a:cs typeface="Noto Sans SC"/>
                <a:sym typeface="Noto Sans SC"/>
              </a:rPr>
              <a:t>。</a:t>
            </a:r>
            <a:endParaRPr lang="en-US" altLang="zh-CN" sz="2000" dirty="0">
              <a:solidFill>
                <a:schemeClr val="tx1">
                  <a:lumMod val="95000"/>
                  <a:lumOff val="5000"/>
                </a:schemeClr>
              </a:solidFill>
              <a:ea typeface="黑体" panose="02010609060101010101" pitchFamily="49" charset="-122"/>
            </a:endParaRPr>
          </a:p>
          <a:p>
            <a:pPr>
              <a:lnSpc>
                <a:spcPct val="110000"/>
              </a:lnSpc>
            </a:pPr>
            <a:r>
              <a:rPr lang="en-US" altLang="zh-CN" b="1" dirty="0" err="1">
                <a:solidFill>
                  <a:srgbClr val="3333FF"/>
                </a:solidFill>
                <a:ea typeface="黑体" panose="02010609060101010101" pitchFamily="49" charset="-122"/>
                <a:cs typeface="Noto Sans SC"/>
                <a:sym typeface="Noto Sans SC"/>
              </a:rPr>
              <a:t>结构优化</a:t>
            </a:r>
            <a:endParaRPr lang="en-US" altLang="zh-CN" b="1" dirty="0">
              <a:solidFill>
                <a:srgbClr val="3333FF"/>
              </a:solidFill>
              <a:ea typeface="黑体" panose="02010609060101010101" pitchFamily="49" charset="-122"/>
              <a:cs typeface="Noto Sans SC"/>
              <a:sym typeface="Noto Sans SC"/>
            </a:endParaRPr>
          </a:p>
          <a:p>
            <a:pPr lvl="1">
              <a:lnSpc>
                <a:spcPct val="110000"/>
              </a:lnSpc>
            </a:pPr>
            <a:r>
              <a:rPr lang="en-US" altLang="zh-CN" dirty="0">
                <a:solidFill>
                  <a:schemeClr val="tx1">
                    <a:lumMod val="95000"/>
                    <a:lumOff val="5000"/>
                  </a:schemeClr>
                </a:solidFill>
                <a:ea typeface="黑体" panose="02010609060101010101" pitchFamily="49" charset="-122"/>
                <a:cs typeface="Noto Sans SC"/>
                <a:sym typeface="Noto Sans SC"/>
              </a:rPr>
              <a:t>实现F系统结构的全自动学习：包括筛选最优输入特征子集、自动生成或精简F规则库，以及确定隶属函数的数量与类型，摆脱对预设结构的限制，构建更适配问题本质的系统框架。</a:t>
            </a:r>
            <a:endParaRPr lang="en-US" altLang="zh-CN" sz="2000" dirty="0">
              <a:solidFill>
                <a:schemeClr val="tx1">
                  <a:lumMod val="95000"/>
                  <a:lumOff val="5000"/>
                </a:schemeClr>
              </a:solidFill>
              <a:ea typeface="黑体" panose="02010609060101010101" pitchFamily="49" charset="-122"/>
            </a:endParaRPr>
          </a:p>
        </p:txBody>
      </p:sp>
      <p:sp>
        <p:nvSpPr>
          <p:cNvPr id="4" name="灯片编号占位符 3">
            <a:extLst>
              <a:ext uri="{FF2B5EF4-FFF2-40B4-BE49-F238E27FC236}">
                <a16:creationId xmlns:a16="http://schemas.microsoft.com/office/drawing/2014/main" id="{2D923392-8F01-7832-21AC-02DA9BE76C04}"/>
              </a:ext>
            </a:extLst>
          </p:cNvPr>
          <p:cNvSpPr>
            <a:spLocks noGrp="1"/>
          </p:cNvSpPr>
          <p:nvPr>
            <p:ph type="sldNum" sz="quarter" idx="11"/>
          </p:nvPr>
        </p:nvSpPr>
        <p:spPr/>
        <p:txBody>
          <a:bodyPr/>
          <a:lstStyle/>
          <a:p>
            <a:pPr>
              <a:defRPr/>
            </a:pPr>
            <a:fld id="{1F3E0329-027F-44B1-A42A-8643FF593956}" type="slidenum">
              <a:rPr lang="en-US" altLang="zh-CN" smtClean="0"/>
              <a:pPr>
                <a:defRPr/>
              </a:pPr>
              <a:t>63</a:t>
            </a:fld>
            <a:endParaRPr lang="en-US" altLang="zh-CN"/>
          </a:p>
        </p:txBody>
      </p:sp>
    </p:spTree>
    <p:extLst>
      <p:ext uri="{BB962C8B-B14F-4D97-AF65-F5344CB8AC3E}">
        <p14:creationId xmlns:p14="http://schemas.microsoft.com/office/powerpoint/2010/main" val="3670094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50-0B69-78A7-239A-CF857A107101}"/>
              </a:ext>
            </a:extLst>
          </p:cNvPr>
          <p:cNvSpPr>
            <a:spLocks noGrp="1"/>
          </p:cNvSpPr>
          <p:nvPr>
            <p:ph type="title"/>
          </p:nvPr>
        </p:nvSpPr>
        <p:spPr>
          <a:xfrm>
            <a:off x="1981200" y="257200"/>
            <a:ext cx="8229600" cy="1371600"/>
          </a:xfrm>
        </p:spPr>
        <p:txBody>
          <a:bodyPr/>
          <a:lstStyle/>
          <a:p>
            <a:pPr algn="ctr"/>
            <a:r>
              <a:rPr lang="en-US" altLang="zh-CN" dirty="0">
                <a:solidFill>
                  <a:srgbClr val="008000"/>
                </a:solidFill>
              </a:rPr>
              <a:t> 9.9  F</a:t>
            </a:r>
            <a:r>
              <a:rPr lang="zh-CN" altLang="en-US" dirty="0">
                <a:solidFill>
                  <a:srgbClr val="008000"/>
                </a:solidFill>
                <a:latin typeface="黑体" panose="02010609060101010101" pitchFamily="49" charset="-122"/>
                <a:ea typeface="黑体" panose="02010609060101010101" pitchFamily="49" charset="-122"/>
              </a:rPr>
              <a:t>专家系统</a:t>
            </a:r>
            <a:r>
              <a:rPr lang="zh-CN" altLang="en-US" dirty="0">
                <a:solidFill>
                  <a:srgbClr val="008000"/>
                </a:solidFill>
              </a:rPr>
              <a:t> </a:t>
            </a:r>
          </a:p>
        </p:txBody>
      </p:sp>
      <p:sp>
        <p:nvSpPr>
          <p:cNvPr id="3" name="内容占位符 2">
            <a:extLst>
              <a:ext uri="{FF2B5EF4-FFF2-40B4-BE49-F238E27FC236}">
                <a16:creationId xmlns:a16="http://schemas.microsoft.com/office/drawing/2014/main" id="{CB4E8F5F-0AF0-98FC-B071-7A78A65CCF63}"/>
              </a:ext>
            </a:extLst>
          </p:cNvPr>
          <p:cNvSpPr>
            <a:spLocks noGrp="1"/>
          </p:cNvSpPr>
          <p:nvPr>
            <p:ph idx="1"/>
          </p:nvPr>
        </p:nvSpPr>
        <p:spPr>
          <a:xfrm>
            <a:off x="911424" y="1628800"/>
            <a:ext cx="10225136" cy="4896544"/>
          </a:xfrm>
        </p:spPr>
        <p:txBody>
          <a:bodyPr/>
          <a:lstStyle/>
          <a:p>
            <a:r>
              <a:rPr lang="zh-CN" altLang="en-US" b="1" dirty="0">
                <a:solidFill>
                  <a:srgbClr val="FF0000"/>
                </a:solidFill>
              </a:rPr>
              <a:t>传统的专家系统</a:t>
            </a:r>
            <a:endParaRPr lang="en-US" altLang="zh-CN" b="1" dirty="0">
              <a:solidFill>
                <a:srgbClr val="FF0000"/>
              </a:solidFill>
            </a:endParaRPr>
          </a:p>
          <a:p>
            <a:pPr lvl="1"/>
            <a:r>
              <a:rPr lang="zh-CN" altLang="en-US" b="1" dirty="0">
                <a:latin typeface="+mj-ea"/>
                <a:ea typeface="+mj-ea"/>
                <a:cs typeface="Noto Sans SC"/>
                <a:sym typeface="Noto Sans SC"/>
              </a:rPr>
              <a:t>是</a:t>
            </a:r>
            <a:r>
              <a:rPr lang="en-US" altLang="zh-CN" b="1" dirty="0" err="1">
                <a:latin typeface="+mj-ea"/>
                <a:ea typeface="+mj-ea"/>
                <a:cs typeface="Noto Sans SC"/>
                <a:sym typeface="Noto Sans SC"/>
              </a:rPr>
              <a:t>基于规则的计算机系统，核心由知识库（领域知识）和推理引擎（逻辑推导）组成，擅长解决特定领域的专业问题</a:t>
            </a:r>
            <a:endParaRPr lang="en-US" altLang="zh-CN" b="1" dirty="0">
              <a:latin typeface="+mj-ea"/>
              <a:ea typeface="+mj-ea"/>
            </a:endParaRPr>
          </a:p>
          <a:p>
            <a:pPr lvl="1"/>
            <a:r>
              <a:rPr lang="zh-CN" altLang="en-US" b="1" dirty="0">
                <a:solidFill>
                  <a:srgbClr val="3333FF"/>
                </a:solidFill>
              </a:rPr>
              <a:t>规则的前件和后件只能是精确的数值或命题；</a:t>
            </a:r>
            <a:endParaRPr lang="en-US" altLang="zh-CN" b="1" dirty="0">
              <a:solidFill>
                <a:srgbClr val="3333FF"/>
              </a:solidFill>
            </a:endParaRPr>
          </a:p>
          <a:p>
            <a:pPr lvl="1"/>
            <a:r>
              <a:rPr lang="zh-CN" altLang="en-US" b="1" dirty="0"/>
              <a:t>若要模拟领域专家知识的不确定性，只能引入</a:t>
            </a:r>
            <a:r>
              <a:rPr lang="en-US" altLang="zh-CN" b="1" dirty="0"/>
              <a:t>”</a:t>
            </a:r>
            <a:r>
              <a:rPr lang="zh-CN" altLang="en-US" b="1" dirty="0">
                <a:solidFill>
                  <a:srgbClr val="008000"/>
                </a:solidFill>
              </a:rPr>
              <a:t>置信度</a:t>
            </a:r>
            <a:r>
              <a:rPr lang="zh-CN" altLang="en-US" b="1" dirty="0"/>
              <a:t>”来表示规则的可信程度；</a:t>
            </a:r>
            <a:endParaRPr lang="en-US" altLang="zh-CN" b="1" dirty="0"/>
          </a:p>
          <a:p>
            <a:pPr lvl="1"/>
            <a:r>
              <a:rPr lang="zh-CN" altLang="en-US" b="1" dirty="0"/>
              <a:t>“</a:t>
            </a:r>
            <a:r>
              <a:rPr lang="zh-CN" altLang="en-US" b="1" dirty="0">
                <a:solidFill>
                  <a:srgbClr val="008000"/>
                </a:solidFill>
              </a:rPr>
              <a:t>置信度</a:t>
            </a:r>
            <a:r>
              <a:rPr lang="zh-CN" altLang="en-US" b="1" dirty="0"/>
              <a:t>”策略在许多情况下不能很好地模拟领域专家的经验、窍门和求解问题的策略和方法；</a:t>
            </a:r>
            <a:endParaRPr lang="en-US" altLang="zh-CN" b="1" dirty="0"/>
          </a:p>
          <a:p>
            <a:pPr lvl="1"/>
            <a:r>
              <a:rPr lang="zh-CN" altLang="en-US" b="1" dirty="0"/>
              <a:t>需要将不确定性引入规则内部</a:t>
            </a:r>
            <a:r>
              <a:rPr lang="zh-CN" altLang="en-US" sz="3200" b="1" dirty="0"/>
              <a:t>，</a:t>
            </a:r>
            <a:endParaRPr lang="en-US" altLang="zh-CN" sz="3200" b="1" dirty="0"/>
          </a:p>
          <a:p>
            <a:pPr marL="457200" lvl="1" indent="0" algn="r">
              <a:buNone/>
            </a:pPr>
            <a:r>
              <a:rPr lang="en-US" altLang="zh-CN" sz="3600" b="1" dirty="0">
                <a:solidFill>
                  <a:srgbClr val="CC00CC"/>
                </a:solidFill>
                <a:effectLst>
                  <a:outerShdw blurRad="38100" dist="38100" dir="2700000" algn="tl">
                    <a:srgbClr val="000000">
                      <a:alpha val="43137"/>
                    </a:srgbClr>
                  </a:outerShdw>
                </a:effectLst>
              </a:rPr>
              <a:t>——F</a:t>
            </a:r>
            <a:r>
              <a:rPr lang="zh-CN" altLang="en-US" sz="3600" b="1" dirty="0">
                <a:solidFill>
                  <a:srgbClr val="CC00CC"/>
                </a:solidFill>
                <a:effectLst>
                  <a:outerShdw blurRad="38100" dist="38100" dir="2700000" algn="tl">
                    <a:srgbClr val="000000">
                      <a:alpha val="43137"/>
                    </a:srgbClr>
                  </a:outerShdw>
                </a:effectLst>
              </a:rPr>
              <a:t>专家系统</a:t>
            </a:r>
          </a:p>
        </p:txBody>
      </p:sp>
      <p:sp>
        <p:nvSpPr>
          <p:cNvPr id="4" name="灯片编号占位符 3">
            <a:extLst>
              <a:ext uri="{FF2B5EF4-FFF2-40B4-BE49-F238E27FC236}">
                <a16:creationId xmlns:a16="http://schemas.microsoft.com/office/drawing/2014/main" id="{A2FBAAE7-D836-BE52-4F10-2C6CDD141569}"/>
              </a:ext>
            </a:extLst>
          </p:cNvPr>
          <p:cNvSpPr>
            <a:spLocks noGrp="1"/>
          </p:cNvSpPr>
          <p:nvPr>
            <p:ph type="sldNum" sz="quarter" idx="11"/>
          </p:nvPr>
        </p:nvSpPr>
        <p:spPr/>
        <p:txBody>
          <a:bodyPr/>
          <a:lstStyle/>
          <a:p>
            <a:pPr>
              <a:defRPr/>
            </a:pPr>
            <a:fld id="{1F3E0329-027F-44B1-A42A-8643FF593956}" type="slidenum">
              <a:rPr lang="en-US" altLang="zh-CN" smtClean="0"/>
              <a:pPr>
                <a:defRPr/>
              </a:pPr>
              <a:t>64</a:t>
            </a:fld>
            <a:endParaRPr lang="en-US" altLang="zh-CN"/>
          </a:p>
        </p:txBody>
      </p:sp>
    </p:spTree>
    <p:extLst>
      <p:ext uri="{BB962C8B-B14F-4D97-AF65-F5344CB8AC3E}">
        <p14:creationId xmlns:p14="http://schemas.microsoft.com/office/powerpoint/2010/main" val="82263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left)">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left)">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B67D3A-CB33-4778-AE39-C3A253BE78BF}"/>
              </a:ext>
            </a:extLst>
          </p:cNvPr>
          <p:cNvSpPr>
            <a:spLocks noGrp="1"/>
          </p:cNvSpPr>
          <p:nvPr>
            <p:ph type="title"/>
          </p:nvPr>
        </p:nvSpPr>
        <p:spPr>
          <a:xfrm>
            <a:off x="1996738" y="332656"/>
            <a:ext cx="8229600" cy="1371600"/>
          </a:xfrm>
        </p:spPr>
        <p:txBody>
          <a:bodyPr/>
          <a:lstStyle/>
          <a:p>
            <a:pPr algn="ctr"/>
            <a:r>
              <a:rPr lang="en-US" altLang="zh-CN" dirty="0">
                <a:solidFill>
                  <a:srgbClr val="008000"/>
                </a:solidFill>
                <a:ea typeface="黑体" panose="02010609060101010101" pitchFamily="49" charset="-122"/>
              </a:rPr>
              <a:t>9.9.1</a:t>
            </a:r>
            <a:r>
              <a:rPr lang="en-US" altLang="zh-CN" dirty="0">
                <a:solidFill>
                  <a:srgbClr val="008000"/>
                </a:solidFill>
                <a:latin typeface="黑体" panose="02010609060101010101" pitchFamily="49" charset="-122"/>
                <a:ea typeface="黑体" panose="02010609060101010101" pitchFamily="49" charset="-122"/>
              </a:rPr>
              <a:t> </a:t>
            </a:r>
            <a:r>
              <a:rPr lang="zh-CN" altLang="en-US" dirty="0">
                <a:solidFill>
                  <a:srgbClr val="008000"/>
                </a:solidFill>
                <a:latin typeface="黑体" panose="02010609060101010101" pitchFamily="49" charset="-122"/>
                <a:ea typeface="黑体" panose="02010609060101010101" pitchFamily="49" charset="-122"/>
              </a:rPr>
              <a:t>专家系统概述</a:t>
            </a:r>
          </a:p>
        </p:txBody>
      </p:sp>
      <p:sp>
        <p:nvSpPr>
          <p:cNvPr id="3" name="内容占位符 2">
            <a:extLst>
              <a:ext uri="{FF2B5EF4-FFF2-40B4-BE49-F238E27FC236}">
                <a16:creationId xmlns:a16="http://schemas.microsoft.com/office/drawing/2014/main" id="{97B976D6-981D-47C0-8875-E0D53D72F90E}"/>
              </a:ext>
            </a:extLst>
          </p:cNvPr>
          <p:cNvSpPr>
            <a:spLocks noGrp="1"/>
          </p:cNvSpPr>
          <p:nvPr>
            <p:ph idx="1"/>
          </p:nvPr>
        </p:nvSpPr>
        <p:spPr>
          <a:xfrm>
            <a:off x="1055440" y="1628800"/>
            <a:ext cx="10225136" cy="5040560"/>
          </a:xfrm>
        </p:spPr>
        <p:txBody>
          <a:bodyPr/>
          <a:lstStyle/>
          <a:p>
            <a:r>
              <a:rPr lang="zh-CN" altLang="en-US" b="1" dirty="0"/>
              <a:t>专家系统</a:t>
            </a:r>
            <a:r>
              <a:rPr lang="en-US" altLang="zh-CN" b="1" dirty="0"/>
              <a:t>(Expert System——ES)</a:t>
            </a:r>
            <a:r>
              <a:rPr lang="zh-CN" altLang="en-US" b="1" dirty="0"/>
              <a:t>是一种智能计算机程序，它运用知识和推理来解决只有专家才能解决的复杂问题。</a:t>
            </a:r>
            <a:endParaRPr lang="en-US" altLang="zh-CN" b="1" dirty="0"/>
          </a:p>
          <a:p>
            <a:r>
              <a:rPr lang="zh-CN" altLang="en-US" b="1" dirty="0"/>
              <a:t>专家系统可以解决的问题一般包括</a:t>
            </a:r>
            <a:r>
              <a:rPr lang="en-US" altLang="zh-CN" b="1" dirty="0"/>
              <a:t>——</a:t>
            </a:r>
          </a:p>
          <a:p>
            <a:pPr lvl="1"/>
            <a:r>
              <a:rPr lang="zh-CN" altLang="en-US" b="1" dirty="0"/>
              <a:t>解释、预测、诊断、规划、监视、指导和控制等</a:t>
            </a:r>
            <a:endParaRPr lang="en-US" altLang="zh-CN" b="1" dirty="0"/>
          </a:p>
          <a:p>
            <a:r>
              <a:rPr lang="zh-CN" altLang="en-US" b="1" dirty="0"/>
              <a:t>专家系统和传统的计算机应用程序</a:t>
            </a:r>
            <a:r>
              <a:rPr lang="zh-CN" altLang="en-US" b="1" dirty="0">
                <a:solidFill>
                  <a:srgbClr val="FF0000"/>
                </a:solidFill>
              </a:rPr>
              <a:t>最本质的不同之处</a:t>
            </a:r>
            <a:r>
              <a:rPr lang="zh-CN" altLang="en-US" b="1" dirty="0"/>
              <a:t>在于</a:t>
            </a:r>
            <a:r>
              <a:rPr lang="en-US" altLang="zh-CN" b="1" dirty="0"/>
              <a:t>——</a:t>
            </a:r>
          </a:p>
          <a:p>
            <a:pPr lvl="1"/>
            <a:r>
              <a:rPr lang="zh-CN" altLang="en-US" b="1" dirty="0"/>
              <a:t>专家系统所要解决的问题一般没有算法解，并且经常要在不完全、不精确或不确定的信息基础上做出结论。</a:t>
            </a:r>
            <a:endParaRPr lang="en-US" altLang="zh-CN" b="1" dirty="0"/>
          </a:p>
        </p:txBody>
      </p:sp>
      <p:sp>
        <p:nvSpPr>
          <p:cNvPr id="4" name="灯片编号占位符 3">
            <a:extLst>
              <a:ext uri="{FF2B5EF4-FFF2-40B4-BE49-F238E27FC236}">
                <a16:creationId xmlns:a16="http://schemas.microsoft.com/office/drawing/2014/main" id="{E951AC7F-7899-00DD-37D7-C2D1D1911960}"/>
              </a:ext>
            </a:extLst>
          </p:cNvPr>
          <p:cNvSpPr>
            <a:spLocks noGrp="1"/>
          </p:cNvSpPr>
          <p:nvPr>
            <p:ph type="sldNum" sz="quarter" idx="11"/>
          </p:nvPr>
        </p:nvSpPr>
        <p:spPr/>
        <p:txBody>
          <a:bodyPr/>
          <a:lstStyle/>
          <a:p>
            <a:pPr>
              <a:defRPr/>
            </a:pPr>
            <a:fld id="{1F3E0329-027F-44B1-A42A-8643FF593956}" type="slidenum">
              <a:rPr lang="en-US" altLang="zh-CN" smtClean="0"/>
              <a:pPr>
                <a:defRPr/>
              </a:pPr>
              <a:t>65</a:t>
            </a:fld>
            <a:endParaRPr lang="en-US" altLang="zh-CN"/>
          </a:p>
        </p:txBody>
      </p:sp>
    </p:spTree>
    <p:extLst>
      <p:ext uri="{BB962C8B-B14F-4D97-AF65-F5344CB8AC3E}">
        <p14:creationId xmlns:p14="http://schemas.microsoft.com/office/powerpoint/2010/main" val="1338067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3863C4-516A-4B03-825A-028C783EC504}"/>
              </a:ext>
            </a:extLst>
          </p:cNvPr>
          <p:cNvSpPr>
            <a:spLocks noGrp="1"/>
          </p:cNvSpPr>
          <p:nvPr>
            <p:ph type="title"/>
          </p:nvPr>
        </p:nvSpPr>
        <p:spPr>
          <a:xfrm>
            <a:off x="2019300" y="194520"/>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专家系统的发展</a:t>
            </a:r>
          </a:p>
        </p:txBody>
      </p:sp>
      <p:sp>
        <p:nvSpPr>
          <p:cNvPr id="3" name="内容占位符 2">
            <a:extLst>
              <a:ext uri="{FF2B5EF4-FFF2-40B4-BE49-F238E27FC236}">
                <a16:creationId xmlns:a16="http://schemas.microsoft.com/office/drawing/2014/main" id="{A42B58E4-BBAD-4E1F-B042-3438D9992C0C}"/>
              </a:ext>
            </a:extLst>
          </p:cNvPr>
          <p:cNvSpPr>
            <a:spLocks noGrp="1"/>
          </p:cNvSpPr>
          <p:nvPr>
            <p:ph idx="1"/>
          </p:nvPr>
        </p:nvSpPr>
        <p:spPr>
          <a:xfrm>
            <a:off x="1055440" y="1566120"/>
            <a:ext cx="10225136" cy="5177580"/>
          </a:xfrm>
        </p:spPr>
        <p:txBody>
          <a:bodyPr/>
          <a:lstStyle/>
          <a:p>
            <a:r>
              <a:rPr lang="zh-CN" altLang="en-US" b="1" dirty="0">
                <a:solidFill>
                  <a:srgbClr val="FF0000"/>
                </a:solidFill>
                <a:latin typeface="黑体" panose="02010609060101010101" pitchFamily="49" charset="-122"/>
                <a:ea typeface="黑体" panose="02010609060101010101" pitchFamily="49" charset="-122"/>
              </a:rPr>
              <a:t>第一阶段：初创期</a:t>
            </a:r>
            <a:r>
              <a:rPr lang="en-US" altLang="zh-CN" b="1" dirty="0"/>
              <a:t>(1960s</a:t>
            </a:r>
            <a:r>
              <a:rPr lang="zh-CN" altLang="en-US" b="1" dirty="0"/>
              <a:t>中</a:t>
            </a:r>
            <a:r>
              <a:rPr lang="en-US" altLang="zh-CN" b="1" dirty="0"/>
              <a:t>~1970s</a:t>
            </a:r>
            <a:r>
              <a:rPr lang="zh-CN" altLang="en-US" b="1" dirty="0"/>
              <a:t>初</a:t>
            </a:r>
            <a:r>
              <a:rPr lang="en-US" altLang="zh-CN" b="1" dirty="0"/>
              <a:t>)</a:t>
            </a:r>
          </a:p>
          <a:p>
            <a:pPr lvl="1"/>
            <a:r>
              <a:rPr lang="en-US" altLang="zh-CN" sz="2400" b="1" dirty="0"/>
              <a:t>DENDRAL</a:t>
            </a:r>
            <a:r>
              <a:rPr lang="zh-CN" altLang="en-US" sz="2400" b="1" dirty="0"/>
              <a:t>系统</a:t>
            </a:r>
            <a:r>
              <a:rPr lang="en-US" altLang="zh-CN" sz="2400" b="1" dirty="0"/>
              <a:t>(</a:t>
            </a:r>
            <a:r>
              <a:rPr lang="zh-CN" altLang="en-US" sz="2400" b="1" dirty="0"/>
              <a:t>斯坦福大学</a:t>
            </a:r>
            <a:r>
              <a:rPr lang="en-US" altLang="zh-CN" sz="2400" b="1" dirty="0"/>
              <a:t>)</a:t>
            </a:r>
            <a:r>
              <a:rPr lang="zh-CN" altLang="en-US" sz="2400" b="1" dirty="0"/>
              <a:t>：分析化学子结构的专家系统。</a:t>
            </a:r>
            <a:endParaRPr lang="en-US" altLang="zh-CN" sz="2400" b="1" dirty="0"/>
          </a:p>
          <a:p>
            <a:pPr lvl="1"/>
            <a:r>
              <a:rPr lang="en-US" altLang="zh-CN" sz="2400" b="1" dirty="0"/>
              <a:t>MYCSYMA</a:t>
            </a:r>
            <a:r>
              <a:rPr lang="zh-CN" altLang="en-US" sz="2400" b="1" dirty="0"/>
              <a:t>系统</a:t>
            </a:r>
            <a:r>
              <a:rPr lang="en-US" altLang="zh-CN" sz="2400" b="1" dirty="0"/>
              <a:t>(</a:t>
            </a:r>
            <a:r>
              <a:rPr lang="zh-CN" altLang="en-US" sz="2400" b="1" dirty="0"/>
              <a:t>麻省理工学院</a:t>
            </a:r>
            <a:r>
              <a:rPr lang="en-US" altLang="zh-CN" sz="2400" b="1" dirty="0"/>
              <a:t>)</a:t>
            </a:r>
            <a:r>
              <a:rPr lang="zh-CN" altLang="en-US" sz="2400" b="1" dirty="0"/>
              <a:t>：用于数学运算的数学专家系统  </a:t>
            </a:r>
            <a:endParaRPr lang="en-US" altLang="zh-CN" sz="2400" b="1" dirty="0"/>
          </a:p>
          <a:p>
            <a:r>
              <a:rPr lang="zh-CN" altLang="en-US" b="1" dirty="0">
                <a:solidFill>
                  <a:srgbClr val="FF0000"/>
                </a:solidFill>
                <a:latin typeface="黑体" panose="02010609060101010101" pitchFamily="49" charset="-122"/>
                <a:ea typeface="黑体" panose="02010609060101010101" pitchFamily="49" charset="-122"/>
              </a:rPr>
              <a:t>第二阶段：成熟期</a:t>
            </a:r>
            <a:r>
              <a:rPr lang="en-US" altLang="zh-CN" b="1" dirty="0"/>
              <a:t>(1970s</a:t>
            </a:r>
            <a:r>
              <a:rPr lang="zh-CN" altLang="en-US" b="1" dirty="0"/>
              <a:t>中</a:t>
            </a:r>
            <a:r>
              <a:rPr lang="en-US" altLang="zh-CN" b="1" dirty="0"/>
              <a:t>~1980s</a:t>
            </a:r>
            <a:r>
              <a:rPr lang="zh-CN" altLang="en-US" b="1" dirty="0"/>
              <a:t>初</a:t>
            </a:r>
            <a:r>
              <a:rPr lang="en-US" altLang="zh-CN" b="1" dirty="0"/>
              <a:t>)</a:t>
            </a:r>
          </a:p>
          <a:p>
            <a:pPr lvl="1"/>
            <a:r>
              <a:rPr lang="en-US" altLang="zh-CN" sz="2400" b="1" dirty="0"/>
              <a:t>MYCIN</a:t>
            </a:r>
            <a:r>
              <a:rPr lang="zh-CN" altLang="en-US" sz="2400" b="1" dirty="0"/>
              <a:t>系统</a:t>
            </a:r>
            <a:r>
              <a:rPr lang="en-US" altLang="zh-CN" sz="2400" b="1" dirty="0"/>
              <a:t>(</a:t>
            </a:r>
            <a:r>
              <a:rPr lang="zh-CN" altLang="en-US" sz="2400" b="1" dirty="0"/>
              <a:t>斯坦福大学</a:t>
            </a:r>
            <a:r>
              <a:rPr lang="en-US" altLang="zh-CN" sz="2400" b="1" dirty="0"/>
              <a:t>)</a:t>
            </a:r>
            <a:r>
              <a:rPr lang="zh-CN" altLang="en-US" sz="2400" b="1" dirty="0"/>
              <a:t>：血液感染病诊断专家系统</a:t>
            </a:r>
            <a:endParaRPr lang="en-US" altLang="zh-CN" sz="2400" b="1" dirty="0"/>
          </a:p>
          <a:p>
            <a:pPr lvl="1"/>
            <a:r>
              <a:rPr lang="en-US" altLang="zh-CN" sz="2400" b="1" dirty="0"/>
              <a:t>PROSPECTOR</a:t>
            </a:r>
            <a:r>
              <a:rPr lang="zh-CN" altLang="en-US" sz="2400" b="1" dirty="0"/>
              <a:t>系统</a:t>
            </a:r>
            <a:r>
              <a:rPr lang="en-US" altLang="zh-CN" sz="2400" b="1" dirty="0"/>
              <a:t>(</a:t>
            </a:r>
            <a:r>
              <a:rPr lang="zh-CN" altLang="en-US" sz="2400" b="1" dirty="0"/>
              <a:t>斯坦福研究所</a:t>
            </a:r>
            <a:r>
              <a:rPr lang="en-US" altLang="zh-CN" sz="2400" b="1" dirty="0"/>
              <a:t>)</a:t>
            </a:r>
            <a:r>
              <a:rPr lang="zh-CN" altLang="en-US" sz="2400" b="1" dirty="0"/>
              <a:t>：探矿专家系统</a:t>
            </a:r>
            <a:endParaRPr lang="en-US" altLang="zh-CN" sz="2400" b="1" dirty="0"/>
          </a:p>
          <a:p>
            <a:pPr lvl="1"/>
            <a:r>
              <a:rPr lang="en-US" altLang="zh-CN" sz="2400" b="1" dirty="0"/>
              <a:t>CASNET</a:t>
            </a:r>
            <a:r>
              <a:rPr lang="zh-CN" altLang="en-US" sz="2400" b="1" dirty="0"/>
              <a:t>系统</a:t>
            </a:r>
            <a:r>
              <a:rPr lang="en-US" altLang="zh-CN" sz="2400" b="1" dirty="0"/>
              <a:t>(</a:t>
            </a:r>
            <a:r>
              <a:rPr lang="zh-CN" altLang="en-US" sz="2400" b="1" dirty="0"/>
              <a:t>拉特格尔大学</a:t>
            </a:r>
            <a:r>
              <a:rPr lang="en-US" altLang="zh-CN" sz="2400" b="1" dirty="0"/>
              <a:t>)</a:t>
            </a:r>
            <a:r>
              <a:rPr lang="zh-CN" altLang="en-US" sz="2400" b="1" dirty="0"/>
              <a:t>：用于青光眼诊断与治疗</a:t>
            </a:r>
            <a:endParaRPr lang="en-US" altLang="zh-CN" sz="2400" b="1" dirty="0"/>
          </a:p>
          <a:p>
            <a:pPr lvl="1"/>
            <a:r>
              <a:rPr lang="en-US" altLang="zh-CN" sz="2400" b="1" dirty="0"/>
              <a:t>1981</a:t>
            </a:r>
            <a:r>
              <a:rPr lang="zh-CN" altLang="en-US" sz="2400" b="1" dirty="0"/>
              <a:t>年，</a:t>
            </a:r>
            <a:r>
              <a:rPr lang="en-US" altLang="zh-CN" sz="2400" b="1" dirty="0"/>
              <a:t>AM</a:t>
            </a:r>
            <a:r>
              <a:rPr lang="zh-CN" altLang="en-US" sz="2400" b="1" dirty="0"/>
              <a:t>系统</a:t>
            </a:r>
            <a:r>
              <a:rPr lang="en-US" altLang="zh-CN" sz="2400" b="1" dirty="0"/>
              <a:t>(</a:t>
            </a:r>
            <a:r>
              <a:rPr lang="zh-CN" altLang="en-US" sz="2400" b="1" dirty="0"/>
              <a:t>斯坦福大学</a:t>
            </a:r>
            <a:r>
              <a:rPr lang="en-US" altLang="zh-CN" sz="2400" b="1" dirty="0"/>
              <a:t>)</a:t>
            </a:r>
            <a:r>
              <a:rPr lang="zh-CN" altLang="en-US" sz="2400" b="1" dirty="0"/>
              <a:t>：模拟人类进行概括、抽象和归纳推理，发现某些数论的概念和定理</a:t>
            </a:r>
            <a:endParaRPr lang="en-US" altLang="zh-CN" sz="2400" b="1" dirty="0"/>
          </a:p>
          <a:p>
            <a:pPr lvl="1"/>
            <a:r>
              <a:rPr lang="en-US" altLang="zh-CN" sz="2400" b="1" dirty="0"/>
              <a:t>HEARSAY</a:t>
            </a:r>
            <a:r>
              <a:rPr lang="zh-CN" altLang="en-US" sz="2400" b="1" dirty="0"/>
              <a:t>系统</a:t>
            </a:r>
            <a:r>
              <a:rPr lang="en-US" altLang="zh-CN" sz="2400" b="1" dirty="0"/>
              <a:t>(</a:t>
            </a:r>
            <a:r>
              <a:rPr lang="zh-CN" altLang="en-US" sz="2400" b="1" dirty="0"/>
              <a:t>卡内基梅隆大学</a:t>
            </a:r>
            <a:r>
              <a:rPr lang="en-US" altLang="zh-CN" sz="2400" b="1" dirty="0"/>
              <a:t>)</a:t>
            </a:r>
            <a:r>
              <a:rPr lang="zh-CN" altLang="en-US" sz="2400" b="1" dirty="0"/>
              <a:t>：语音识别专家系统 。</a:t>
            </a:r>
            <a:endParaRPr lang="en-US" altLang="zh-CN" sz="2400" b="1" dirty="0"/>
          </a:p>
          <a:p>
            <a:endParaRPr lang="zh-CN" altLang="en-US" sz="2800" dirty="0"/>
          </a:p>
        </p:txBody>
      </p:sp>
      <p:sp>
        <p:nvSpPr>
          <p:cNvPr id="4" name="灯片编号占位符 3">
            <a:extLst>
              <a:ext uri="{FF2B5EF4-FFF2-40B4-BE49-F238E27FC236}">
                <a16:creationId xmlns:a16="http://schemas.microsoft.com/office/drawing/2014/main" id="{10C9932C-7D00-E78E-F60C-BAFBC2AFE4F4}"/>
              </a:ext>
            </a:extLst>
          </p:cNvPr>
          <p:cNvSpPr>
            <a:spLocks noGrp="1"/>
          </p:cNvSpPr>
          <p:nvPr>
            <p:ph type="sldNum" sz="quarter" idx="11"/>
          </p:nvPr>
        </p:nvSpPr>
        <p:spPr/>
        <p:txBody>
          <a:bodyPr/>
          <a:lstStyle/>
          <a:p>
            <a:pPr>
              <a:defRPr/>
            </a:pPr>
            <a:fld id="{1F3E0329-027F-44B1-A42A-8643FF593956}" type="slidenum">
              <a:rPr lang="en-US" altLang="zh-CN" smtClean="0"/>
              <a:pPr>
                <a:defRPr/>
              </a:pPr>
              <a:t>66</a:t>
            </a:fld>
            <a:endParaRPr lang="en-US" altLang="zh-CN"/>
          </a:p>
        </p:txBody>
      </p:sp>
    </p:spTree>
    <p:extLst>
      <p:ext uri="{BB962C8B-B14F-4D97-AF65-F5344CB8AC3E}">
        <p14:creationId xmlns:p14="http://schemas.microsoft.com/office/powerpoint/2010/main" val="3431919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3863C4-516A-4B03-825A-028C783EC504}"/>
              </a:ext>
            </a:extLst>
          </p:cNvPr>
          <p:cNvSpPr>
            <a:spLocks noGrp="1"/>
          </p:cNvSpPr>
          <p:nvPr>
            <p:ph type="title"/>
          </p:nvPr>
        </p:nvSpPr>
        <p:spPr>
          <a:xfrm>
            <a:off x="1985888" y="217116"/>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专家系统的发展</a:t>
            </a:r>
          </a:p>
        </p:txBody>
      </p:sp>
      <p:sp>
        <p:nvSpPr>
          <p:cNvPr id="3" name="内容占位符 2">
            <a:extLst>
              <a:ext uri="{FF2B5EF4-FFF2-40B4-BE49-F238E27FC236}">
                <a16:creationId xmlns:a16="http://schemas.microsoft.com/office/drawing/2014/main" id="{A42B58E4-BBAD-4E1F-B042-3438D9992C0C}"/>
              </a:ext>
            </a:extLst>
          </p:cNvPr>
          <p:cNvSpPr>
            <a:spLocks noGrp="1"/>
          </p:cNvSpPr>
          <p:nvPr>
            <p:ph idx="1"/>
          </p:nvPr>
        </p:nvSpPr>
        <p:spPr>
          <a:xfrm>
            <a:off x="1981200" y="1700808"/>
            <a:ext cx="8507288" cy="4968552"/>
          </a:xfrm>
        </p:spPr>
        <p:txBody>
          <a:bodyPr/>
          <a:lstStyle/>
          <a:p>
            <a:pPr marL="0" indent="0">
              <a:buNone/>
            </a:pPr>
            <a:r>
              <a:rPr lang="zh-CN" altLang="en-US" dirty="0">
                <a:solidFill>
                  <a:srgbClr val="FF0000"/>
                </a:solidFill>
                <a:latin typeface="黑体" panose="02010609060101010101" pitchFamily="49" charset="-122"/>
                <a:ea typeface="黑体" panose="02010609060101010101" pitchFamily="49" charset="-122"/>
              </a:rPr>
              <a:t>第三阶段：发展期</a:t>
            </a:r>
            <a:r>
              <a:rPr lang="en-US" altLang="zh-CN" dirty="0"/>
              <a:t>(1980s</a:t>
            </a:r>
            <a:r>
              <a:rPr lang="zh-CN" altLang="en-US" dirty="0"/>
              <a:t>中</a:t>
            </a:r>
            <a:r>
              <a:rPr lang="en-US" altLang="zh-CN" dirty="0"/>
              <a:t>~</a:t>
            </a:r>
            <a:r>
              <a:rPr lang="zh-CN" altLang="en-US" dirty="0"/>
              <a:t>今</a:t>
            </a:r>
            <a:r>
              <a:rPr lang="en-US" altLang="zh-CN" dirty="0"/>
              <a:t>)</a:t>
            </a:r>
          </a:p>
          <a:p>
            <a:r>
              <a:rPr lang="en-US" altLang="zh-CN" sz="2800" b="1" dirty="0"/>
              <a:t>XCON</a:t>
            </a:r>
            <a:r>
              <a:rPr lang="zh-CN" altLang="en-US" sz="2800" b="1" dirty="0"/>
              <a:t>专家系统 </a:t>
            </a:r>
            <a:r>
              <a:rPr lang="en-US" altLang="zh-CN" sz="2800" b="1" dirty="0"/>
              <a:t>(DEC</a:t>
            </a:r>
            <a:r>
              <a:rPr lang="zh-CN" altLang="en-US" sz="2800" b="1" dirty="0"/>
              <a:t>公司、卡内基梅隆大学</a:t>
            </a:r>
            <a:r>
              <a:rPr lang="en-US" altLang="zh-CN" sz="2800" b="1" dirty="0"/>
              <a:t>)</a:t>
            </a:r>
            <a:r>
              <a:rPr lang="zh-CN" altLang="en-US" sz="2800" b="1" dirty="0"/>
              <a:t>：为</a:t>
            </a:r>
            <a:r>
              <a:rPr lang="en-US" altLang="zh-CN" sz="2800" b="1" dirty="0"/>
              <a:t>VAX</a:t>
            </a:r>
            <a:r>
              <a:rPr lang="zh-CN" altLang="en-US" sz="2800" b="1" dirty="0"/>
              <a:t>计算机系统 制订硬件配置方案。</a:t>
            </a:r>
            <a:endParaRPr lang="en-US" altLang="zh-CN" sz="2800" b="1" dirty="0"/>
          </a:p>
          <a:p>
            <a:r>
              <a:rPr lang="zh-CN" altLang="en-US" b="1" dirty="0"/>
              <a:t>专家系统开发工具：</a:t>
            </a:r>
            <a:endParaRPr lang="en-US" altLang="zh-CN" b="1" dirty="0"/>
          </a:p>
          <a:p>
            <a:pPr lvl="1"/>
            <a:r>
              <a:rPr lang="zh-CN" altLang="en-US" b="1" dirty="0"/>
              <a:t>骨架系统：</a:t>
            </a:r>
            <a:r>
              <a:rPr lang="en-US" altLang="zh-CN" b="1" dirty="0"/>
              <a:t>EMYCIN</a:t>
            </a:r>
            <a:r>
              <a:rPr lang="zh-CN" altLang="en-US" b="1" dirty="0"/>
              <a:t>、</a:t>
            </a:r>
            <a:r>
              <a:rPr lang="en-US" altLang="zh-CN" b="1" dirty="0"/>
              <a:t>KAS</a:t>
            </a:r>
            <a:r>
              <a:rPr lang="zh-CN" altLang="en-US" b="1" dirty="0"/>
              <a:t>、</a:t>
            </a:r>
            <a:r>
              <a:rPr lang="en-US" altLang="zh-CN" b="1" dirty="0"/>
              <a:t>EXPERT</a:t>
            </a:r>
            <a:r>
              <a:rPr lang="zh-CN" altLang="en-US" b="1" dirty="0"/>
              <a:t>等</a:t>
            </a:r>
            <a:endParaRPr lang="en-US" altLang="zh-CN" b="1" dirty="0"/>
          </a:p>
          <a:p>
            <a:pPr lvl="1"/>
            <a:r>
              <a:rPr lang="zh-CN" altLang="en-US" b="1" dirty="0"/>
              <a:t>通用型知识表达语言：</a:t>
            </a:r>
            <a:r>
              <a:rPr lang="en-US" altLang="zh-CN" b="1" dirty="0"/>
              <a:t>OPS5</a:t>
            </a:r>
            <a:r>
              <a:rPr lang="zh-CN" altLang="en-US" b="1" dirty="0"/>
              <a:t>等</a:t>
            </a:r>
            <a:endParaRPr lang="en-US" altLang="zh-CN" b="1" dirty="0"/>
          </a:p>
          <a:p>
            <a:pPr lvl="1"/>
            <a:r>
              <a:rPr lang="zh-CN" altLang="en-US" b="1" dirty="0"/>
              <a:t>专家系统开发环境：</a:t>
            </a:r>
            <a:r>
              <a:rPr lang="en-US" altLang="zh-CN" b="1" dirty="0"/>
              <a:t>AGE</a:t>
            </a:r>
            <a:r>
              <a:rPr lang="zh-CN" altLang="en-US" b="1" dirty="0"/>
              <a:t>等</a:t>
            </a:r>
            <a:endParaRPr lang="en-US" altLang="zh-CN" b="1" dirty="0"/>
          </a:p>
          <a:p>
            <a:endParaRPr lang="zh-CN" altLang="en-US" sz="2800" dirty="0"/>
          </a:p>
        </p:txBody>
      </p:sp>
      <p:sp>
        <p:nvSpPr>
          <p:cNvPr id="4" name="灯片编号占位符 3">
            <a:extLst>
              <a:ext uri="{FF2B5EF4-FFF2-40B4-BE49-F238E27FC236}">
                <a16:creationId xmlns:a16="http://schemas.microsoft.com/office/drawing/2014/main" id="{C2A1187F-6367-3F13-79CC-A7E302345432}"/>
              </a:ext>
            </a:extLst>
          </p:cNvPr>
          <p:cNvSpPr>
            <a:spLocks noGrp="1"/>
          </p:cNvSpPr>
          <p:nvPr>
            <p:ph type="sldNum" sz="quarter" idx="11"/>
          </p:nvPr>
        </p:nvSpPr>
        <p:spPr/>
        <p:txBody>
          <a:bodyPr/>
          <a:lstStyle/>
          <a:p>
            <a:pPr>
              <a:defRPr/>
            </a:pPr>
            <a:fld id="{1F3E0329-027F-44B1-A42A-8643FF593956}" type="slidenum">
              <a:rPr lang="en-US" altLang="zh-CN" smtClean="0"/>
              <a:pPr>
                <a:defRPr/>
              </a:pPr>
              <a:t>67</a:t>
            </a:fld>
            <a:endParaRPr lang="en-US" altLang="zh-CN"/>
          </a:p>
        </p:txBody>
      </p:sp>
    </p:spTree>
    <p:extLst>
      <p:ext uri="{BB962C8B-B14F-4D97-AF65-F5344CB8AC3E}">
        <p14:creationId xmlns:p14="http://schemas.microsoft.com/office/powerpoint/2010/main" val="156742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3863C4-516A-4B03-825A-028C783EC504}"/>
              </a:ext>
            </a:extLst>
          </p:cNvPr>
          <p:cNvSpPr>
            <a:spLocks noGrp="1"/>
          </p:cNvSpPr>
          <p:nvPr>
            <p:ph type="title"/>
          </p:nvPr>
        </p:nvSpPr>
        <p:spPr>
          <a:xfrm>
            <a:off x="1981200" y="332656"/>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我国研制开发的专家系统</a:t>
            </a:r>
          </a:p>
        </p:txBody>
      </p:sp>
      <p:sp>
        <p:nvSpPr>
          <p:cNvPr id="3" name="内容占位符 2">
            <a:extLst>
              <a:ext uri="{FF2B5EF4-FFF2-40B4-BE49-F238E27FC236}">
                <a16:creationId xmlns:a16="http://schemas.microsoft.com/office/drawing/2014/main" id="{A42B58E4-BBAD-4E1F-B042-3438D9992C0C}"/>
              </a:ext>
            </a:extLst>
          </p:cNvPr>
          <p:cNvSpPr>
            <a:spLocks noGrp="1"/>
          </p:cNvSpPr>
          <p:nvPr>
            <p:ph idx="1"/>
          </p:nvPr>
        </p:nvSpPr>
        <p:spPr>
          <a:xfrm>
            <a:off x="1199456" y="1844824"/>
            <a:ext cx="10081120" cy="5037336"/>
          </a:xfrm>
        </p:spPr>
        <p:txBody>
          <a:bodyPr/>
          <a:lstStyle/>
          <a:p>
            <a:pPr>
              <a:lnSpc>
                <a:spcPct val="150000"/>
              </a:lnSpc>
            </a:pPr>
            <a:r>
              <a:rPr lang="zh-CN" altLang="en-US" b="1" dirty="0"/>
              <a:t>施肥专家系统 </a:t>
            </a:r>
            <a:r>
              <a:rPr lang="en-US" altLang="zh-CN" b="1" dirty="0"/>
              <a:t>(</a:t>
            </a:r>
            <a:r>
              <a:rPr lang="zh-CN" altLang="en-US" b="1" dirty="0"/>
              <a:t>中国科学院合肥智能机械研究所</a:t>
            </a:r>
            <a:r>
              <a:rPr lang="en-US" altLang="zh-CN" b="1" dirty="0"/>
              <a:t>)</a:t>
            </a:r>
          </a:p>
          <a:p>
            <a:pPr>
              <a:lnSpc>
                <a:spcPct val="150000"/>
              </a:lnSpc>
            </a:pPr>
            <a:r>
              <a:rPr lang="zh-CN" altLang="en-US" b="1" dirty="0"/>
              <a:t>新构造找水专家系统</a:t>
            </a:r>
            <a:r>
              <a:rPr lang="en-US" altLang="zh-CN" b="1" dirty="0"/>
              <a:t>(</a:t>
            </a:r>
            <a:r>
              <a:rPr lang="zh-CN" altLang="en-US" b="1" dirty="0"/>
              <a:t>南京大学</a:t>
            </a:r>
            <a:r>
              <a:rPr lang="en-US" altLang="zh-CN" b="1" dirty="0"/>
              <a:t>)</a:t>
            </a:r>
          </a:p>
          <a:p>
            <a:pPr>
              <a:lnSpc>
                <a:spcPct val="150000"/>
              </a:lnSpc>
            </a:pPr>
            <a:r>
              <a:rPr lang="zh-CN" altLang="en-US" b="1" dirty="0"/>
              <a:t>勘探专家系统及油气资源评价专家系统</a:t>
            </a:r>
            <a:r>
              <a:rPr lang="en-US" altLang="zh-CN" b="1" dirty="0"/>
              <a:t>(</a:t>
            </a:r>
            <a:r>
              <a:rPr lang="zh-CN" altLang="en-US" b="1" dirty="0"/>
              <a:t>吉林大学</a:t>
            </a:r>
            <a:r>
              <a:rPr lang="en-US" altLang="zh-CN" b="1" dirty="0"/>
              <a:t>)</a:t>
            </a:r>
          </a:p>
          <a:p>
            <a:pPr>
              <a:lnSpc>
                <a:spcPct val="150000"/>
              </a:lnSpc>
            </a:pPr>
            <a:r>
              <a:rPr lang="zh-CN" altLang="en-US" b="1" dirty="0"/>
              <a:t>服装普及剪裁专家系统及花布图案设计专家系统</a:t>
            </a:r>
            <a:r>
              <a:rPr lang="en-US" altLang="zh-CN" b="1" dirty="0"/>
              <a:t>(</a:t>
            </a:r>
            <a:r>
              <a:rPr lang="zh-CN" altLang="en-US" b="1" dirty="0"/>
              <a:t>浙江大学</a:t>
            </a:r>
            <a:r>
              <a:rPr lang="en-US" altLang="zh-CN" b="1" dirty="0"/>
              <a:t>)</a:t>
            </a:r>
            <a:r>
              <a:rPr lang="zh-CN" altLang="en-US" b="1" dirty="0"/>
              <a:t> </a:t>
            </a:r>
            <a:endParaRPr lang="en-US" altLang="zh-CN" b="1" dirty="0"/>
          </a:p>
          <a:p>
            <a:pPr>
              <a:lnSpc>
                <a:spcPct val="150000"/>
              </a:lnSpc>
            </a:pPr>
            <a:r>
              <a:rPr lang="zh-CN" altLang="en-US" b="1" dirty="0"/>
              <a:t>关幼波肝病诊断专家系统 </a:t>
            </a:r>
            <a:r>
              <a:rPr lang="en-US" altLang="zh-CN" b="1" dirty="0"/>
              <a:t>(</a:t>
            </a:r>
            <a:r>
              <a:rPr lang="zh-CN" altLang="en-US" b="1" dirty="0"/>
              <a:t>北京中医学院</a:t>
            </a:r>
            <a:r>
              <a:rPr lang="en-US" altLang="zh-CN" b="1" dirty="0"/>
              <a:t>)</a:t>
            </a:r>
          </a:p>
          <a:p>
            <a:pPr marL="0" indent="0">
              <a:buNone/>
            </a:pPr>
            <a:endParaRPr lang="zh-CN" altLang="en-US" sz="2800" dirty="0"/>
          </a:p>
        </p:txBody>
      </p:sp>
      <p:sp>
        <p:nvSpPr>
          <p:cNvPr id="4" name="灯片编号占位符 3">
            <a:extLst>
              <a:ext uri="{FF2B5EF4-FFF2-40B4-BE49-F238E27FC236}">
                <a16:creationId xmlns:a16="http://schemas.microsoft.com/office/drawing/2014/main" id="{7B6672C3-204E-E12C-3046-73BC3A7C30A1}"/>
              </a:ext>
            </a:extLst>
          </p:cNvPr>
          <p:cNvSpPr>
            <a:spLocks noGrp="1"/>
          </p:cNvSpPr>
          <p:nvPr>
            <p:ph type="sldNum" sz="quarter" idx="11"/>
          </p:nvPr>
        </p:nvSpPr>
        <p:spPr/>
        <p:txBody>
          <a:bodyPr/>
          <a:lstStyle/>
          <a:p>
            <a:pPr>
              <a:defRPr/>
            </a:pPr>
            <a:fld id="{1F3E0329-027F-44B1-A42A-8643FF593956}" type="slidenum">
              <a:rPr lang="en-US" altLang="zh-CN" smtClean="0"/>
              <a:pPr>
                <a:defRPr/>
              </a:pPr>
              <a:t>68</a:t>
            </a:fld>
            <a:endParaRPr lang="en-US" altLang="zh-CN"/>
          </a:p>
        </p:txBody>
      </p:sp>
    </p:spTree>
    <p:extLst>
      <p:ext uri="{BB962C8B-B14F-4D97-AF65-F5344CB8AC3E}">
        <p14:creationId xmlns:p14="http://schemas.microsoft.com/office/powerpoint/2010/main" val="879099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671F44-733B-4579-8AF6-3D4B4AE023E9}"/>
              </a:ext>
            </a:extLst>
          </p:cNvPr>
          <p:cNvSpPr>
            <a:spLocks noGrp="1"/>
          </p:cNvSpPr>
          <p:nvPr>
            <p:ph type="title"/>
          </p:nvPr>
        </p:nvSpPr>
        <p:spPr>
          <a:xfrm>
            <a:off x="1947664" y="188640"/>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专家系统与传统程序的比较</a:t>
            </a:r>
          </a:p>
        </p:txBody>
      </p:sp>
      <p:graphicFrame>
        <p:nvGraphicFramePr>
          <p:cNvPr id="4" name="表格 3">
            <a:extLst>
              <a:ext uri="{FF2B5EF4-FFF2-40B4-BE49-F238E27FC236}">
                <a16:creationId xmlns:a16="http://schemas.microsoft.com/office/drawing/2014/main" id="{BAADE8B5-AE3A-4E58-8527-034E188D0ECB}"/>
              </a:ext>
            </a:extLst>
          </p:cNvPr>
          <p:cNvGraphicFramePr>
            <a:graphicFrameLocks noGrp="1"/>
          </p:cNvGraphicFramePr>
          <p:nvPr>
            <p:extLst>
              <p:ext uri="{D42A27DB-BD31-4B8C-83A1-F6EECF244321}">
                <p14:modId xmlns:p14="http://schemas.microsoft.com/office/powerpoint/2010/main" val="1952690270"/>
              </p:ext>
            </p:extLst>
          </p:nvPr>
        </p:nvGraphicFramePr>
        <p:xfrm>
          <a:off x="1199456" y="1335360"/>
          <a:ext cx="9937104" cy="5334000"/>
        </p:xfrm>
        <a:graphic>
          <a:graphicData uri="http://schemas.openxmlformats.org/drawingml/2006/table">
            <a:tbl>
              <a:tblPr firstRow="1" bandRow="1">
                <a:tableStyleId>{2D5ABB26-0587-4C30-8999-92F81FD0307C}</a:tableStyleId>
              </a:tblPr>
              <a:tblGrid>
                <a:gridCol w="1980142">
                  <a:extLst>
                    <a:ext uri="{9D8B030D-6E8A-4147-A177-3AD203B41FA5}">
                      <a16:colId xmlns:a16="http://schemas.microsoft.com/office/drawing/2014/main" val="2139313809"/>
                    </a:ext>
                  </a:extLst>
                </a:gridCol>
                <a:gridCol w="2988410">
                  <a:extLst>
                    <a:ext uri="{9D8B030D-6E8A-4147-A177-3AD203B41FA5}">
                      <a16:colId xmlns:a16="http://schemas.microsoft.com/office/drawing/2014/main" val="2357574207"/>
                    </a:ext>
                  </a:extLst>
                </a:gridCol>
                <a:gridCol w="4968552">
                  <a:extLst>
                    <a:ext uri="{9D8B030D-6E8A-4147-A177-3AD203B41FA5}">
                      <a16:colId xmlns:a16="http://schemas.microsoft.com/office/drawing/2014/main" val="2152572025"/>
                    </a:ext>
                  </a:extLst>
                </a:gridCol>
              </a:tblGrid>
              <a:tr h="370840">
                <a:tc>
                  <a:txBody>
                    <a:bodyPr/>
                    <a:lstStyle/>
                    <a:p>
                      <a:endParaRPr lang="zh-CN"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800" b="1" dirty="0">
                          <a:solidFill>
                            <a:srgbClr val="0000FF"/>
                          </a:solidFill>
                          <a:effectLst>
                            <a:outerShdw blurRad="38100" dist="38100" dir="2700000" algn="tl">
                              <a:srgbClr val="000000">
                                <a:alpha val="43137"/>
                              </a:srgbClr>
                            </a:outerShdw>
                          </a:effectLst>
                        </a:rPr>
                        <a:t>传统程序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zh-CN" altLang="en-US" sz="2800" b="1" dirty="0">
                          <a:solidFill>
                            <a:srgbClr val="FF0000"/>
                          </a:solidFill>
                          <a:effectLst>
                            <a:outerShdw blurRad="38100" dist="38100" dir="2700000" algn="tl">
                              <a:srgbClr val="000000">
                                <a:alpha val="43137"/>
                              </a:srgbClr>
                            </a:outerShdw>
                          </a:effectLst>
                        </a:rPr>
                        <a:t>专家系统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2651283963"/>
                  </a:ext>
                </a:extLst>
              </a:tr>
              <a:tr h="370840">
                <a:tc>
                  <a:txBody>
                    <a:bodyPr/>
                    <a:lstStyle/>
                    <a:p>
                      <a:pPr algn="ctr"/>
                      <a:r>
                        <a:rPr lang="zh-CN" altLang="en-US" sz="2800" b="1" dirty="0"/>
                        <a:t>编程思想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t>数据结构</a:t>
                      </a:r>
                      <a:r>
                        <a:rPr lang="en-US" altLang="zh-CN" sz="2800" b="1" dirty="0"/>
                        <a:t>+</a:t>
                      </a:r>
                      <a:r>
                        <a:rPr lang="zh-CN" altLang="en-US" sz="2800" b="1" dirty="0"/>
                        <a:t>算法</a:t>
                      </a:r>
                      <a:endParaRPr lang="en-US" altLang="zh-CN"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r>
                        <a:rPr lang="zh-CN" altLang="en-US" sz="2800" b="1" dirty="0"/>
                        <a:t>知识</a:t>
                      </a:r>
                      <a:r>
                        <a:rPr lang="en-US" altLang="zh-CN" sz="2800" b="1" dirty="0"/>
                        <a:t>+</a:t>
                      </a:r>
                      <a:r>
                        <a:rPr lang="zh-CN" altLang="en-US" sz="2800" b="1" dirty="0"/>
                        <a:t>推理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478537065"/>
                  </a:ext>
                </a:extLst>
              </a:tr>
              <a:tr h="370840">
                <a:tc>
                  <a:txBody>
                    <a:bodyPr/>
                    <a:lstStyle/>
                    <a:p>
                      <a:pPr algn="ctr"/>
                      <a:r>
                        <a:rPr lang="zh-CN" altLang="en-US" sz="2800" b="1" dirty="0"/>
                        <a:t>知识存在方式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800" b="1" dirty="0"/>
                        <a:t>隐含于程序中</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r>
                        <a:rPr lang="zh-CN" altLang="en-US" sz="2800" b="1" dirty="0"/>
                        <a:t>单独组成知识库，与推理机分离</a:t>
                      </a:r>
                      <a:r>
                        <a:rPr lang="en-US" altLang="zh-CN" sz="2400" b="1" dirty="0"/>
                        <a:t>(</a:t>
                      </a:r>
                      <a:r>
                        <a:rPr lang="zh-CN" altLang="en-US" sz="2400" b="1" dirty="0"/>
                        <a:t>灵活、易修改</a:t>
                      </a:r>
                      <a:r>
                        <a:rPr lang="en-US" altLang="zh-CN" sz="2400" b="1" dirty="0"/>
                        <a:t>)</a:t>
                      </a:r>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1199098301"/>
                  </a:ext>
                </a:extLst>
              </a:tr>
              <a:tr h="370840">
                <a:tc>
                  <a:txBody>
                    <a:bodyPr/>
                    <a:lstStyle/>
                    <a:p>
                      <a:pPr algn="ctr"/>
                      <a:r>
                        <a:rPr lang="zh-CN" altLang="en-US" sz="2800" b="1" dirty="0"/>
                        <a:t>处理对象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800" b="1" dirty="0"/>
                        <a:t>    数值计算和</a:t>
                      </a:r>
                      <a:endParaRPr lang="en-US" altLang="zh-CN" sz="2800" b="1" dirty="0"/>
                    </a:p>
                    <a:p>
                      <a:r>
                        <a:rPr lang="en-US" altLang="zh-CN" sz="2800" b="1" dirty="0"/>
                        <a:t>     </a:t>
                      </a:r>
                      <a:r>
                        <a:rPr lang="zh-CN" altLang="en-US" sz="2800" b="1" dirty="0"/>
                        <a:t>数据处理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r>
                        <a:rPr lang="zh-CN" altLang="en-US" sz="2800" b="1" dirty="0"/>
                        <a:t>面向符号处理</a:t>
                      </a:r>
                      <a:r>
                        <a:rPr lang="en-US" altLang="zh-CN" sz="2800" b="1" dirty="0"/>
                        <a:t>(</a:t>
                      </a:r>
                      <a:r>
                        <a:rPr lang="zh-CN" altLang="en-US" sz="2800" b="1" dirty="0"/>
                        <a:t>对象多是不精确、模糊的，知识的模式匹配多是不精确的</a:t>
                      </a:r>
                      <a:r>
                        <a:rPr lang="en-US" altLang="zh-CN" sz="2800" b="1" dirty="0"/>
                        <a:t>)</a:t>
                      </a:r>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2924475924"/>
                  </a:ext>
                </a:extLst>
              </a:tr>
              <a:tr h="370840">
                <a:tc>
                  <a:txBody>
                    <a:bodyPr/>
                    <a:lstStyle/>
                    <a:p>
                      <a:pPr algn="ctr"/>
                      <a:r>
                        <a:rPr lang="zh-CN" altLang="en-US" sz="2800" b="1" dirty="0"/>
                        <a:t>解释机构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800" b="1" dirty="0"/>
                        <a:t>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r>
                        <a:rPr lang="zh-CN" altLang="en-US" sz="2800" b="1" dirty="0"/>
                        <a:t>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4239598986"/>
                  </a:ext>
                </a:extLst>
              </a:tr>
              <a:tr h="370840">
                <a:tc>
                  <a:txBody>
                    <a:bodyPr/>
                    <a:lstStyle/>
                    <a:p>
                      <a:pPr algn="ctr"/>
                      <a:r>
                        <a:rPr lang="zh-CN" altLang="en-US" sz="2800" b="1" dirty="0"/>
                        <a:t>系统运行结果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800" b="1" dirty="0"/>
                        <a:t>产生正确的</a:t>
                      </a:r>
                      <a:endParaRPr lang="en-US" altLang="zh-CN" sz="2800" b="1" dirty="0"/>
                    </a:p>
                    <a:p>
                      <a:pPr algn="ctr"/>
                      <a:r>
                        <a:rPr lang="zh-CN" altLang="en-US" sz="2800" b="1" dirty="0"/>
                        <a:t>答案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r>
                        <a:rPr lang="zh-CN" altLang="en-US" sz="2800" b="1" dirty="0"/>
                        <a:t>通常产生正确的答案，有时会产生错误答案</a:t>
                      </a:r>
                      <a:r>
                        <a:rPr lang="en-US" altLang="zh-CN" sz="2800" b="1" dirty="0"/>
                        <a:t>(</a:t>
                      </a:r>
                      <a:r>
                        <a:rPr lang="zh-CN" altLang="en-US" sz="2800" b="1" dirty="0"/>
                        <a:t>问题</a:t>
                      </a:r>
                      <a:r>
                        <a:rPr lang="en-US" altLang="zh-CN" sz="2800" b="1" dirty="0"/>
                        <a:t>)</a:t>
                      </a:r>
                      <a:endParaRPr lang="zh-CN" altLang="en-US" sz="2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694912143"/>
                  </a:ext>
                </a:extLst>
              </a:tr>
              <a:tr h="370840">
                <a:tc>
                  <a:txBody>
                    <a:bodyPr/>
                    <a:lstStyle/>
                    <a:p>
                      <a:pPr algn="ctr"/>
                      <a:r>
                        <a:rPr lang="zh-CN" altLang="en-US" sz="2800" b="1" dirty="0"/>
                        <a:t>体系结构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zh-CN" altLang="en-US" sz="2800" b="1" dirty="0"/>
                        <a:t>不同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3452423784"/>
                  </a:ext>
                </a:extLst>
              </a:tr>
            </a:tbl>
          </a:graphicData>
        </a:graphic>
      </p:graphicFrame>
      <p:sp>
        <p:nvSpPr>
          <p:cNvPr id="3" name="灯片编号占位符 2">
            <a:extLst>
              <a:ext uri="{FF2B5EF4-FFF2-40B4-BE49-F238E27FC236}">
                <a16:creationId xmlns:a16="http://schemas.microsoft.com/office/drawing/2014/main" id="{70A29E43-9CD3-2809-26CE-408B2C0098AC}"/>
              </a:ext>
            </a:extLst>
          </p:cNvPr>
          <p:cNvSpPr>
            <a:spLocks noGrp="1"/>
          </p:cNvSpPr>
          <p:nvPr>
            <p:ph type="sldNum" sz="quarter" idx="11"/>
          </p:nvPr>
        </p:nvSpPr>
        <p:spPr/>
        <p:txBody>
          <a:bodyPr/>
          <a:lstStyle/>
          <a:p>
            <a:pPr>
              <a:defRPr/>
            </a:pPr>
            <a:fld id="{1F3E0329-027F-44B1-A42A-8643FF593956}" type="slidenum">
              <a:rPr lang="en-US" altLang="zh-CN" smtClean="0"/>
              <a:pPr>
                <a:defRPr/>
              </a:pPr>
              <a:t>69</a:t>
            </a:fld>
            <a:endParaRPr lang="en-US" altLang="zh-CN"/>
          </a:p>
        </p:txBody>
      </p:sp>
    </p:spTree>
    <p:extLst>
      <p:ext uri="{BB962C8B-B14F-4D97-AF65-F5344CB8AC3E}">
        <p14:creationId xmlns:p14="http://schemas.microsoft.com/office/powerpoint/2010/main" val="40377894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31C2C-E74E-F59D-F1A7-2B0E2E393525}"/>
              </a:ext>
            </a:extLst>
          </p:cNvPr>
          <p:cNvSpPr>
            <a:spLocks noGrp="1"/>
          </p:cNvSpPr>
          <p:nvPr>
            <p:ph type="title"/>
          </p:nvPr>
        </p:nvSpPr>
        <p:spPr>
          <a:xfrm>
            <a:off x="1981200" y="257200"/>
            <a:ext cx="8229600" cy="1371600"/>
          </a:xfrm>
        </p:spPr>
        <p:txBody>
          <a:bodyPr/>
          <a:lstStyle/>
          <a:p>
            <a:pPr algn="ctr"/>
            <a:r>
              <a:rPr lang="en-US" altLang="zh-CN" dirty="0">
                <a:solidFill>
                  <a:srgbClr val="008000"/>
                </a:solidFill>
                <a:latin typeface="黑体" panose="02010609060101010101" pitchFamily="49" charset="-122"/>
                <a:ea typeface="黑体" panose="02010609060101010101" pitchFamily="49" charset="-122"/>
              </a:rPr>
              <a:t>F</a:t>
            </a:r>
            <a:r>
              <a:rPr lang="zh-CN" altLang="en-US" dirty="0">
                <a:solidFill>
                  <a:srgbClr val="008000"/>
                </a:solidFill>
                <a:latin typeface="黑体" panose="02010609060101010101" pitchFamily="49" charset="-122"/>
                <a:ea typeface="黑体" panose="02010609060101010101" pitchFamily="49" charset="-122"/>
              </a:rPr>
              <a:t>专家系统与传统专家的区别</a:t>
            </a:r>
            <a:endParaRPr lang="zh-CN" altLang="en-US" dirty="0"/>
          </a:p>
        </p:txBody>
      </p:sp>
      <p:sp>
        <p:nvSpPr>
          <p:cNvPr id="3" name="内容占位符 2">
            <a:extLst>
              <a:ext uri="{FF2B5EF4-FFF2-40B4-BE49-F238E27FC236}">
                <a16:creationId xmlns:a16="http://schemas.microsoft.com/office/drawing/2014/main" id="{8AC49078-CC74-F7EC-99A6-F02848ACF34E}"/>
              </a:ext>
            </a:extLst>
          </p:cNvPr>
          <p:cNvSpPr>
            <a:spLocks noGrp="1"/>
          </p:cNvSpPr>
          <p:nvPr>
            <p:ph idx="1"/>
          </p:nvPr>
        </p:nvSpPr>
        <p:spPr>
          <a:xfrm>
            <a:off x="875420" y="1303040"/>
            <a:ext cx="9973108" cy="5297760"/>
          </a:xfrm>
        </p:spPr>
        <p:txBody>
          <a:bodyPr/>
          <a:lstStyle/>
          <a:p>
            <a:r>
              <a:rPr lang="zh-CN" altLang="en-US" b="1" dirty="0">
                <a:solidFill>
                  <a:srgbClr val="CC00CC"/>
                </a:solidFill>
              </a:rPr>
              <a:t>知识表示方面</a:t>
            </a:r>
            <a:endParaRPr lang="en-US" altLang="zh-CN" b="1" dirty="0">
              <a:solidFill>
                <a:srgbClr val="CC00CC"/>
              </a:solidFill>
            </a:endParaRPr>
          </a:p>
          <a:p>
            <a:pPr lvl="1"/>
            <a:r>
              <a:rPr lang="en-US" altLang="zh-CN" sz="3200" b="1" dirty="0"/>
              <a:t>F</a:t>
            </a:r>
            <a:r>
              <a:rPr lang="zh-CN" altLang="en-US" sz="3200" b="1" dirty="0"/>
              <a:t>专家系统能用更贴切的反映各种</a:t>
            </a:r>
            <a:r>
              <a:rPr lang="en-US" altLang="zh-CN" sz="3200" b="1" dirty="0"/>
              <a:t>F</a:t>
            </a:r>
            <a:r>
              <a:rPr lang="zh-CN" altLang="en-US" sz="3200" b="1" dirty="0"/>
              <a:t>性的方法如实表示出知识；</a:t>
            </a:r>
            <a:endParaRPr lang="en-US" altLang="zh-CN" sz="3200" b="1" dirty="0"/>
          </a:p>
          <a:p>
            <a:r>
              <a:rPr lang="zh-CN" altLang="en-US" b="1" dirty="0">
                <a:solidFill>
                  <a:srgbClr val="CC00CC"/>
                </a:solidFill>
              </a:rPr>
              <a:t>知识处理方面</a:t>
            </a:r>
            <a:endParaRPr lang="en-US" altLang="zh-CN" b="1" dirty="0">
              <a:solidFill>
                <a:srgbClr val="CC00CC"/>
              </a:solidFill>
            </a:endParaRPr>
          </a:p>
          <a:p>
            <a:pPr lvl="1"/>
            <a:r>
              <a:rPr lang="en-US" altLang="zh-CN" sz="3200" b="1" dirty="0"/>
              <a:t>F</a:t>
            </a:r>
            <a:r>
              <a:rPr lang="zh-CN" altLang="en-US" sz="3200" b="1" dirty="0"/>
              <a:t>专家系统允许允许部分匹配推理规则的前件，既能处理精确推理也能处理近似推理；</a:t>
            </a:r>
            <a:endParaRPr lang="en-US" altLang="zh-CN" sz="3200" b="1" dirty="0"/>
          </a:p>
          <a:p>
            <a:r>
              <a:rPr lang="zh-CN" altLang="en-US" b="1" dirty="0">
                <a:solidFill>
                  <a:srgbClr val="CC00CC"/>
                </a:solidFill>
              </a:rPr>
              <a:t>知识获取方向</a:t>
            </a:r>
            <a:endParaRPr lang="en-US" altLang="zh-CN" b="1" dirty="0">
              <a:solidFill>
                <a:srgbClr val="CC00CC"/>
              </a:solidFill>
            </a:endParaRPr>
          </a:p>
          <a:p>
            <a:pPr lvl="1"/>
            <a:r>
              <a:rPr lang="en-US" altLang="zh-CN" sz="3200" b="1" dirty="0"/>
              <a:t>F</a:t>
            </a:r>
            <a:r>
              <a:rPr lang="zh-CN" altLang="en-US" sz="3200" b="1" dirty="0"/>
              <a:t>专家系统可获取不确定、不完全、不精确和</a:t>
            </a:r>
            <a:r>
              <a:rPr lang="en-US" altLang="zh-CN" sz="3200" b="1" dirty="0"/>
              <a:t>F</a:t>
            </a:r>
            <a:r>
              <a:rPr lang="zh-CN" altLang="en-US" sz="3200" b="1" dirty="0"/>
              <a:t>知识，方便了领域专家，缩小了知识工程师与领域专家的距离。</a:t>
            </a:r>
          </a:p>
        </p:txBody>
      </p:sp>
      <p:sp>
        <p:nvSpPr>
          <p:cNvPr id="4" name="灯片编号占位符 3">
            <a:extLst>
              <a:ext uri="{FF2B5EF4-FFF2-40B4-BE49-F238E27FC236}">
                <a16:creationId xmlns:a16="http://schemas.microsoft.com/office/drawing/2014/main" id="{0979C9E8-F4EB-FA37-1DBE-ADC476CBE6B7}"/>
              </a:ext>
            </a:extLst>
          </p:cNvPr>
          <p:cNvSpPr>
            <a:spLocks noGrp="1"/>
          </p:cNvSpPr>
          <p:nvPr>
            <p:ph type="sldNum" sz="quarter" idx="11"/>
          </p:nvPr>
        </p:nvSpPr>
        <p:spPr/>
        <p:txBody>
          <a:bodyPr/>
          <a:lstStyle/>
          <a:p>
            <a:pPr>
              <a:defRPr/>
            </a:pPr>
            <a:fld id="{1F3E0329-027F-44B1-A42A-8643FF593956}" type="slidenum">
              <a:rPr lang="en-US" altLang="zh-CN" smtClean="0"/>
              <a:pPr>
                <a:defRPr/>
              </a:pPr>
              <a:t>70</a:t>
            </a:fld>
            <a:endParaRPr lang="en-US" altLang="zh-CN"/>
          </a:p>
        </p:txBody>
      </p:sp>
    </p:spTree>
    <p:extLst>
      <p:ext uri="{BB962C8B-B14F-4D97-AF65-F5344CB8AC3E}">
        <p14:creationId xmlns:p14="http://schemas.microsoft.com/office/powerpoint/2010/main" val="22546382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511D19-AAFB-C0B3-2D28-D54090003C9C}"/>
              </a:ext>
            </a:extLst>
          </p:cNvPr>
          <p:cNvSpPr>
            <a:spLocks noGrp="1"/>
          </p:cNvSpPr>
          <p:nvPr>
            <p:ph type="title"/>
          </p:nvPr>
        </p:nvSpPr>
        <p:spPr>
          <a:xfrm>
            <a:off x="1992992" y="185192"/>
            <a:ext cx="8229600" cy="1371600"/>
          </a:xfrm>
        </p:spPr>
        <p:txBody>
          <a:bodyPr/>
          <a:lstStyle/>
          <a:p>
            <a:pPr algn="ctr"/>
            <a:r>
              <a:rPr lang="en-US" altLang="zh-CN" dirty="0">
                <a:solidFill>
                  <a:srgbClr val="008000"/>
                </a:solidFill>
                <a:ea typeface="黑体" panose="02010609060101010101" pitchFamily="49" charset="-122"/>
              </a:rPr>
              <a:t>9.9.2</a:t>
            </a:r>
            <a:r>
              <a:rPr lang="en-US" altLang="zh-CN" dirty="0">
                <a:solidFill>
                  <a:srgbClr val="008000"/>
                </a:solidFill>
                <a:latin typeface="黑体" panose="02010609060101010101" pitchFamily="49" charset="-122"/>
                <a:ea typeface="黑体" panose="02010609060101010101" pitchFamily="49" charset="-122"/>
              </a:rPr>
              <a:t> F</a:t>
            </a:r>
            <a:r>
              <a:rPr lang="zh-CN" altLang="en-US" dirty="0">
                <a:solidFill>
                  <a:srgbClr val="008000"/>
                </a:solidFill>
                <a:latin typeface="黑体" panose="02010609060101010101" pitchFamily="49" charset="-122"/>
                <a:ea typeface="黑体" panose="02010609060101010101" pitchFamily="49" charset="-122"/>
              </a:rPr>
              <a:t>专家系统的特征</a:t>
            </a:r>
            <a:endParaRPr lang="zh-CN" altLang="en-US" dirty="0"/>
          </a:p>
        </p:txBody>
      </p:sp>
      <p:sp>
        <p:nvSpPr>
          <p:cNvPr id="3" name="内容占位符 2">
            <a:extLst>
              <a:ext uri="{FF2B5EF4-FFF2-40B4-BE49-F238E27FC236}">
                <a16:creationId xmlns:a16="http://schemas.microsoft.com/office/drawing/2014/main" id="{4015FE49-A90F-6549-69E6-3EDBC442DE0F}"/>
              </a:ext>
            </a:extLst>
          </p:cNvPr>
          <p:cNvSpPr>
            <a:spLocks noGrp="1"/>
          </p:cNvSpPr>
          <p:nvPr>
            <p:ph idx="1"/>
          </p:nvPr>
        </p:nvSpPr>
        <p:spPr>
          <a:xfrm>
            <a:off x="983432" y="1488232"/>
            <a:ext cx="10297144" cy="5184576"/>
          </a:xfrm>
        </p:spPr>
        <p:txBody>
          <a:bodyPr/>
          <a:lstStyle/>
          <a:p>
            <a:r>
              <a:rPr lang="zh-CN" altLang="en-US" sz="2800" b="1" dirty="0">
                <a:solidFill>
                  <a:srgbClr val="FF0000"/>
                </a:solidFill>
              </a:rPr>
              <a:t>具有或略高于领域专家求解问题的能力和水平</a:t>
            </a:r>
            <a:endParaRPr lang="en-US" altLang="zh-CN" sz="2800" b="1" dirty="0">
              <a:solidFill>
                <a:srgbClr val="FF0000"/>
              </a:solidFill>
            </a:endParaRPr>
          </a:p>
          <a:p>
            <a:pPr lvl="1"/>
            <a:r>
              <a:rPr lang="zh-CN" altLang="en-US" sz="2400" b="1" dirty="0"/>
              <a:t>虽领域窄，但求解速度、运用启发式信息的能力及结论都略高于领域专家的水平。</a:t>
            </a:r>
            <a:endParaRPr lang="en-US" altLang="zh-CN" sz="2400" b="1" dirty="0"/>
          </a:p>
          <a:p>
            <a:r>
              <a:rPr lang="zh-CN" altLang="en-US" sz="2800" b="1" dirty="0">
                <a:solidFill>
                  <a:srgbClr val="FF0000"/>
                </a:solidFill>
              </a:rPr>
              <a:t>知识的</a:t>
            </a:r>
            <a:r>
              <a:rPr lang="en-US" altLang="zh-CN" sz="2800" b="1" dirty="0">
                <a:solidFill>
                  <a:srgbClr val="FF0000"/>
                </a:solidFill>
              </a:rPr>
              <a:t>F</a:t>
            </a:r>
            <a:r>
              <a:rPr lang="zh-CN" altLang="en-US" sz="2800" b="1" dirty="0">
                <a:solidFill>
                  <a:srgbClr val="FF0000"/>
                </a:solidFill>
              </a:rPr>
              <a:t>性</a:t>
            </a:r>
            <a:endParaRPr lang="en-US" altLang="zh-CN" sz="2800" b="1" dirty="0">
              <a:solidFill>
                <a:srgbClr val="FF0000"/>
              </a:solidFill>
            </a:endParaRPr>
          </a:p>
          <a:p>
            <a:pPr lvl="1"/>
            <a:r>
              <a:rPr lang="zh-CN" altLang="en-US" sz="2400" b="1" dirty="0"/>
              <a:t>使推理深度不可能太浅，搜索路径不可能太短</a:t>
            </a:r>
            <a:endParaRPr lang="en-US" altLang="zh-CN" sz="2400" b="1" dirty="0"/>
          </a:p>
          <a:p>
            <a:r>
              <a:rPr lang="en-US" altLang="zh-CN" sz="2800" b="1" dirty="0">
                <a:solidFill>
                  <a:srgbClr val="FF0000"/>
                </a:solidFill>
              </a:rPr>
              <a:t>F</a:t>
            </a:r>
            <a:r>
              <a:rPr lang="zh-CN" altLang="en-US" sz="2800" b="1" dirty="0">
                <a:solidFill>
                  <a:srgbClr val="FF0000"/>
                </a:solidFill>
              </a:rPr>
              <a:t>的符号处理能力</a:t>
            </a:r>
            <a:endParaRPr lang="en-US" altLang="zh-CN" sz="2800" b="1" dirty="0">
              <a:solidFill>
                <a:srgbClr val="FF0000"/>
              </a:solidFill>
            </a:endParaRPr>
          </a:p>
          <a:p>
            <a:pPr lvl="1"/>
            <a:r>
              <a:rPr lang="zh-CN" altLang="en-US" sz="2400" b="1" dirty="0"/>
              <a:t>具有</a:t>
            </a:r>
            <a:r>
              <a:rPr lang="en-US" altLang="zh-CN" sz="2400" b="1" dirty="0"/>
              <a:t>F</a:t>
            </a:r>
            <a:r>
              <a:rPr lang="zh-CN" altLang="en-US" sz="2400" b="1" dirty="0"/>
              <a:t>匹配、</a:t>
            </a:r>
            <a:r>
              <a:rPr lang="en-US" altLang="zh-CN" sz="2400" b="1" dirty="0"/>
              <a:t>F</a:t>
            </a:r>
            <a:r>
              <a:rPr lang="zh-CN" altLang="en-US" sz="2400" b="1" dirty="0"/>
              <a:t>启发式搜索和</a:t>
            </a:r>
            <a:r>
              <a:rPr lang="en-US" altLang="zh-CN" sz="2400" b="1" dirty="0"/>
              <a:t>F</a:t>
            </a:r>
            <a:r>
              <a:rPr lang="zh-CN" altLang="en-US" sz="2400" b="1" dirty="0"/>
              <a:t>推理的能力；</a:t>
            </a:r>
            <a:endParaRPr lang="en-US" altLang="zh-CN" sz="2400" b="1" dirty="0"/>
          </a:p>
          <a:p>
            <a:r>
              <a:rPr lang="zh-CN" altLang="en-US" sz="2800" b="1" dirty="0">
                <a:solidFill>
                  <a:srgbClr val="FF0000"/>
                </a:solidFill>
              </a:rPr>
              <a:t>具有解释功能</a:t>
            </a:r>
            <a:endParaRPr lang="en-US" altLang="zh-CN" sz="2800" b="1" dirty="0">
              <a:solidFill>
                <a:srgbClr val="FF0000"/>
              </a:solidFill>
            </a:endParaRPr>
          </a:p>
          <a:p>
            <a:pPr lvl="1"/>
            <a:r>
              <a:rPr lang="en-US" altLang="zh-CN" sz="2400" b="1" dirty="0"/>
              <a:t>Why? How?</a:t>
            </a:r>
          </a:p>
          <a:p>
            <a:r>
              <a:rPr lang="zh-CN" altLang="en-US" sz="2800" b="1" dirty="0">
                <a:solidFill>
                  <a:srgbClr val="FF0000"/>
                </a:solidFill>
              </a:rPr>
              <a:t>获取</a:t>
            </a:r>
            <a:r>
              <a:rPr lang="en-US" altLang="zh-CN" sz="2800" b="1" dirty="0">
                <a:solidFill>
                  <a:srgbClr val="FF0000"/>
                </a:solidFill>
              </a:rPr>
              <a:t>F</a:t>
            </a:r>
            <a:r>
              <a:rPr lang="zh-CN" altLang="en-US" sz="2800" b="1" dirty="0">
                <a:solidFill>
                  <a:srgbClr val="FF0000"/>
                </a:solidFill>
              </a:rPr>
              <a:t>知识的能力</a:t>
            </a:r>
            <a:endParaRPr lang="en-US" altLang="zh-CN" sz="2800" b="1" dirty="0">
              <a:solidFill>
                <a:srgbClr val="FF0000"/>
              </a:solidFill>
            </a:endParaRPr>
          </a:p>
          <a:p>
            <a:pPr lvl="1"/>
            <a:r>
              <a:rPr lang="zh-CN" altLang="en-US" sz="2400" b="1" dirty="0"/>
              <a:t>使系统的知识越来越丰富，系统本身具有学习的功能</a:t>
            </a:r>
            <a:endParaRPr lang="en-US" altLang="zh-CN" sz="2400" b="1" dirty="0"/>
          </a:p>
          <a:p>
            <a:pPr lvl="1"/>
            <a:endParaRPr lang="zh-CN" altLang="en-US" dirty="0"/>
          </a:p>
        </p:txBody>
      </p:sp>
      <p:sp>
        <p:nvSpPr>
          <p:cNvPr id="4" name="灯片编号占位符 3">
            <a:extLst>
              <a:ext uri="{FF2B5EF4-FFF2-40B4-BE49-F238E27FC236}">
                <a16:creationId xmlns:a16="http://schemas.microsoft.com/office/drawing/2014/main" id="{DF0EB134-6BEE-89FD-0751-39A0A9A113C4}"/>
              </a:ext>
            </a:extLst>
          </p:cNvPr>
          <p:cNvSpPr>
            <a:spLocks noGrp="1"/>
          </p:cNvSpPr>
          <p:nvPr>
            <p:ph type="sldNum" sz="quarter" idx="11"/>
          </p:nvPr>
        </p:nvSpPr>
        <p:spPr/>
        <p:txBody>
          <a:bodyPr/>
          <a:lstStyle/>
          <a:p>
            <a:pPr>
              <a:defRPr/>
            </a:pPr>
            <a:fld id="{1F3E0329-027F-44B1-A42A-8643FF593956}" type="slidenum">
              <a:rPr lang="en-US" altLang="zh-CN" smtClean="0"/>
              <a:pPr>
                <a:defRPr/>
              </a:pPr>
              <a:t>71</a:t>
            </a:fld>
            <a:endParaRPr lang="en-US" altLang="zh-CN"/>
          </a:p>
        </p:txBody>
      </p:sp>
    </p:spTree>
    <p:extLst>
      <p:ext uri="{BB962C8B-B14F-4D97-AF65-F5344CB8AC3E}">
        <p14:creationId xmlns:p14="http://schemas.microsoft.com/office/powerpoint/2010/main" val="36764639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EC7F9-EE46-868D-DDC9-827AB3DF61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B0E9C39-DE3D-4FFF-E375-91B38F5D2ECE}"/>
              </a:ext>
            </a:extLst>
          </p:cNvPr>
          <p:cNvSpPr>
            <a:spLocks noGrp="1"/>
          </p:cNvSpPr>
          <p:nvPr>
            <p:ph type="title"/>
          </p:nvPr>
        </p:nvSpPr>
        <p:spPr>
          <a:xfrm>
            <a:off x="587869" y="571528"/>
            <a:ext cx="10972800" cy="1027584"/>
          </a:xfrm>
        </p:spPr>
        <p:txBody>
          <a:bodyPr/>
          <a:lstStyle/>
          <a:p>
            <a:pPr algn="ctr"/>
            <a:r>
              <a:rPr lang="en-US" altLang="zh-CN" dirty="0">
                <a:solidFill>
                  <a:srgbClr val="008000"/>
                </a:solidFill>
              </a:rPr>
              <a:t>F</a:t>
            </a:r>
            <a:r>
              <a:rPr lang="zh-CN" altLang="en-US" dirty="0">
                <a:solidFill>
                  <a:srgbClr val="008000"/>
                </a:solidFill>
                <a:latin typeface="黑体" panose="02010609060101010101" pitchFamily="49" charset="-122"/>
                <a:ea typeface="黑体" panose="02010609060101010101" pitchFamily="49" charset="-122"/>
              </a:rPr>
              <a:t>专家系统的发展历程</a:t>
            </a:r>
          </a:p>
        </p:txBody>
      </p:sp>
      <p:sp>
        <p:nvSpPr>
          <p:cNvPr id="3" name="内容占位符 2">
            <a:extLst>
              <a:ext uri="{FF2B5EF4-FFF2-40B4-BE49-F238E27FC236}">
                <a16:creationId xmlns:a16="http://schemas.microsoft.com/office/drawing/2014/main" id="{C0032B6D-037B-4F36-D6E7-E2A351A80F07}"/>
              </a:ext>
            </a:extLst>
          </p:cNvPr>
          <p:cNvSpPr>
            <a:spLocks noGrp="1"/>
          </p:cNvSpPr>
          <p:nvPr>
            <p:ph idx="1"/>
          </p:nvPr>
        </p:nvSpPr>
        <p:spPr>
          <a:xfrm>
            <a:off x="618380" y="1628800"/>
            <a:ext cx="11238259" cy="4983088"/>
          </a:xfrm>
        </p:spPr>
        <p:txBody>
          <a:bodyPr/>
          <a:lstStyle/>
          <a:p>
            <a:r>
              <a:rPr lang="en-US" altLang="zh-CN" sz="3600" b="1" dirty="0" err="1">
                <a:solidFill>
                  <a:srgbClr val="CC00CC"/>
                </a:solidFill>
                <a:latin typeface="Noto Sans SC"/>
                <a:ea typeface="Noto Sans SC"/>
                <a:cs typeface="Noto Sans SC"/>
                <a:sym typeface="Noto Sans SC"/>
              </a:rPr>
              <a:t>纯模糊系统</a:t>
            </a:r>
            <a:r>
              <a:rPr lang="en-US" altLang="zh-CN" sz="3600" b="1" dirty="0">
                <a:solidFill>
                  <a:srgbClr val="CC00CC"/>
                </a:solidFill>
                <a:latin typeface="Noto Sans SC"/>
                <a:ea typeface="Noto Sans SC"/>
                <a:cs typeface="Noto Sans SC"/>
                <a:sym typeface="Noto Sans SC"/>
              </a:rPr>
              <a:t> (1965-1980s)</a:t>
            </a:r>
            <a:endParaRPr lang="en-US" altLang="zh-CN" sz="3600" dirty="0">
              <a:solidFill>
                <a:srgbClr val="CC00CC"/>
              </a:solidFill>
              <a:ea typeface="黑体" panose="02010609060101010101" pitchFamily="49" charset="-122"/>
            </a:endParaRPr>
          </a:p>
          <a:p>
            <a:pPr lvl="1">
              <a:buFont typeface="Wingdings" panose="05000000000000000000" pitchFamily="2" charset="2"/>
              <a:buChar char="p"/>
            </a:pPr>
            <a:r>
              <a:rPr lang="zh-CN" altLang="en-US" sz="3200" dirty="0">
                <a:solidFill>
                  <a:srgbClr val="008000"/>
                </a:solidFill>
                <a:latin typeface="黑体" panose="02010609060101010101" pitchFamily="49" charset="-122"/>
                <a:ea typeface="黑体" panose="02010609060101010101" pitchFamily="49" charset="-122"/>
              </a:rPr>
              <a:t>核心基础：</a:t>
            </a:r>
            <a:endParaRPr lang="en-US" altLang="zh-CN" sz="3200" dirty="0">
              <a:solidFill>
                <a:srgbClr val="008000"/>
              </a:solidFill>
              <a:latin typeface="黑体" panose="02010609060101010101" pitchFamily="49" charset="-122"/>
              <a:ea typeface="黑体" panose="02010609060101010101" pitchFamily="49" charset="-122"/>
            </a:endParaRPr>
          </a:p>
          <a:p>
            <a:pPr lvl="2">
              <a:buFont typeface="Wingdings" panose="05000000000000000000" pitchFamily="2" charset="2"/>
              <a:buChar char="p"/>
            </a:pPr>
            <a:r>
              <a:rPr lang="zh-CN" altLang="en-US" sz="2800" dirty="0">
                <a:latin typeface="黑体" panose="02010609060101010101" pitchFamily="49" charset="-122"/>
                <a:ea typeface="黑体" panose="02010609060101010101" pitchFamily="49" charset="-122"/>
              </a:rPr>
              <a:t>基于</a:t>
            </a:r>
            <a:r>
              <a:rPr lang="en-US" altLang="zh-CN" sz="2800" dirty="0"/>
              <a:t>Zadeh</a:t>
            </a:r>
            <a:r>
              <a:rPr lang="zh-CN" altLang="en-US" sz="2800" dirty="0">
                <a:latin typeface="黑体" panose="02010609060101010101" pitchFamily="49" charset="-122"/>
                <a:ea typeface="黑体" panose="02010609060101010101" pitchFamily="49" charset="-122"/>
              </a:rPr>
              <a:t>的</a:t>
            </a:r>
            <a:r>
              <a:rPr lang="en-US" altLang="zh-CN" sz="2800" dirty="0"/>
              <a:t>F</a:t>
            </a:r>
            <a:r>
              <a:rPr lang="zh-CN" altLang="en-US" sz="2800" dirty="0">
                <a:latin typeface="黑体" panose="02010609060101010101" pitchFamily="49" charset="-122"/>
                <a:ea typeface="黑体" panose="02010609060101010101" pitchFamily="49" charset="-122"/>
              </a:rPr>
              <a:t>集合理论与</a:t>
            </a:r>
            <a:r>
              <a:rPr lang="en-US" altLang="zh-CN" sz="2800" dirty="0">
                <a:ea typeface="黑体" panose="02010609060101010101" pitchFamily="49" charset="-122"/>
                <a:cs typeface="Noto Sans SC"/>
                <a:sym typeface="Noto Sans SC"/>
              </a:rPr>
              <a:t>Mamdani</a:t>
            </a:r>
            <a:r>
              <a:rPr lang="zh-CN" altLang="en-US" sz="2800" dirty="0">
                <a:ea typeface="黑体" panose="02010609060101010101" pitchFamily="49" charset="-122"/>
                <a:cs typeface="Noto Sans SC"/>
                <a:sym typeface="Noto Sans SC"/>
              </a:rPr>
              <a:t>推理机制，确定</a:t>
            </a:r>
            <a:r>
              <a:rPr lang="en-US" altLang="zh-CN" sz="2800" dirty="0">
                <a:ea typeface="黑体" panose="02010609060101010101" pitchFamily="49" charset="-122"/>
                <a:cs typeface="Noto Sans SC"/>
                <a:sym typeface="Noto Sans SC"/>
              </a:rPr>
              <a:t>F</a:t>
            </a:r>
            <a:r>
              <a:rPr lang="zh-CN" altLang="en-US" sz="2800" dirty="0">
                <a:ea typeface="黑体" panose="02010609060101010101" pitchFamily="49" charset="-122"/>
                <a:cs typeface="Noto Sans SC"/>
                <a:sym typeface="Noto Sans SC"/>
              </a:rPr>
              <a:t>系统基本框架</a:t>
            </a:r>
            <a:endParaRPr lang="en-US" altLang="zh-CN" sz="2800" dirty="0">
              <a:ea typeface="黑体" panose="02010609060101010101" pitchFamily="49" charset="-122"/>
              <a:cs typeface="Noto Sans SC"/>
              <a:sym typeface="Noto Sans SC"/>
            </a:endParaRPr>
          </a:p>
          <a:p>
            <a:pPr marL="857250" lvl="1" indent="-457200">
              <a:buFont typeface="Wingdings" panose="05000000000000000000" pitchFamily="2" charset="2"/>
              <a:buChar char="p"/>
            </a:pPr>
            <a:r>
              <a:rPr lang="zh-CN" altLang="en-US" sz="3200" dirty="0">
                <a:solidFill>
                  <a:srgbClr val="008000"/>
                </a:solidFill>
                <a:ea typeface="黑体" panose="02010609060101010101" pitchFamily="49" charset="-122"/>
                <a:cs typeface="Noto Sans SC"/>
                <a:sym typeface="Noto Sans SC"/>
              </a:rPr>
              <a:t>主要特征：</a:t>
            </a:r>
            <a:r>
              <a:rPr lang="en-US" altLang="zh-CN" sz="3200" dirty="0">
                <a:solidFill>
                  <a:srgbClr val="008000"/>
                </a:solidFill>
                <a:latin typeface="Noto Sans SC"/>
                <a:ea typeface="Noto Sans SC"/>
                <a:cs typeface="Noto Sans SC"/>
                <a:sym typeface="Noto Sans SC"/>
              </a:rPr>
              <a:t> </a:t>
            </a:r>
          </a:p>
          <a:p>
            <a:pPr marL="1257300" lvl="2" indent="-457200">
              <a:buFont typeface="Wingdings" panose="05000000000000000000" pitchFamily="2" charset="2"/>
              <a:buChar char="p"/>
            </a:pPr>
            <a:r>
              <a:rPr lang="en-US" altLang="zh-CN" sz="2800" dirty="0" err="1">
                <a:latin typeface="黑体" panose="02010609060101010101" pitchFamily="49" charset="-122"/>
                <a:ea typeface="黑体" panose="02010609060101010101" pitchFamily="49" charset="-122"/>
                <a:cs typeface="Noto Sans SC"/>
                <a:sym typeface="Noto Sans SC"/>
              </a:rPr>
              <a:t>系统结构简单直观，知识完全依赖人工编码与专家经验总结</a:t>
            </a:r>
            <a:r>
              <a:rPr lang="en-US" altLang="zh-CN" sz="2800" dirty="0">
                <a:latin typeface="黑体" panose="02010609060101010101" pitchFamily="49" charset="-122"/>
                <a:ea typeface="黑体" panose="02010609060101010101" pitchFamily="49" charset="-122"/>
                <a:cs typeface="Noto Sans SC"/>
                <a:sym typeface="Noto Sans SC"/>
              </a:rPr>
              <a:t>。</a:t>
            </a:r>
          </a:p>
          <a:p>
            <a:pPr marL="857250" lvl="1" indent="-457200">
              <a:buFont typeface="Wingdings" panose="05000000000000000000" pitchFamily="2" charset="2"/>
              <a:buChar char="p"/>
            </a:pPr>
            <a:r>
              <a:rPr lang="en-US" altLang="zh-CN" sz="3200" dirty="0" err="1">
                <a:solidFill>
                  <a:srgbClr val="008000"/>
                </a:solidFill>
                <a:latin typeface="黑体" panose="02010609060101010101" pitchFamily="49" charset="-122"/>
                <a:ea typeface="黑体" panose="02010609060101010101" pitchFamily="49" charset="-122"/>
                <a:cs typeface="Noto Sans SC"/>
                <a:sym typeface="Noto Sans SC"/>
              </a:rPr>
              <a:t>关键局限</a:t>
            </a:r>
            <a:r>
              <a:rPr lang="en-US" altLang="zh-CN" sz="3200" dirty="0">
                <a:solidFill>
                  <a:srgbClr val="008000"/>
                </a:solidFill>
                <a:latin typeface="黑体" panose="02010609060101010101" pitchFamily="49" charset="-122"/>
                <a:ea typeface="黑体" panose="02010609060101010101" pitchFamily="49" charset="-122"/>
                <a:cs typeface="Noto Sans SC"/>
                <a:sym typeface="Noto Sans SC"/>
              </a:rPr>
              <a:t>：</a:t>
            </a:r>
          </a:p>
          <a:p>
            <a:pPr marL="1257300" lvl="2" indent="-457200">
              <a:buFont typeface="Wingdings" panose="05000000000000000000" pitchFamily="2" charset="2"/>
              <a:buChar char="p"/>
            </a:pPr>
            <a:r>
              <a:rPr lang="en-US" altLang="zh-CN" sz="2800" dirty="0" err="1">
                <a:latin typeface="黑体" panose="02010609060101010101" pitchFamily="49" charset="-122"/>
                <a:ea typeface="黑体" panose="02010609060101010101" pitchFamily="49" charset="-122"/>
                <a:cs typeface="Noto Sans SC"/>
                <a:sym typeface="Noto Sans SC"/>
              </a:rPr>
              <a:t>知识获取困难，自适应能力差，设计过程高度依赖开发者的专业经验</a:t>
            </a:r>
            <a:endParaRPr lang="en-US" altLang="zh-CN" dirty="0">
              <a:ea typeface="黑体" panose="02010609060101010101" pitchFamily="49" charset="-122"/>
              <a:cs typeface="Noto Sans SC"/>
              <a:sym typeface="Noto Sans SC"/>
            </a:endParaRPr>
          </a:p>
          <a:p>
            <a:pPr lvl="1"/>
            <a:endParaRPr lang="zh-CN" altLang="en-US" dirty="0">
              <a:ea typeface="黑体" panose="02010609060101010101" pitchFamily="49" charset="-122"/>
            </a:endParaRPr>
          </a:p>
        </p:txBody>
      </p:sp>
      <p:sp>
        <p:nvSpPr>
          <p:cNvPr id="4" name="灯片编号占位符 3">
            <a:extLst>
              <a:ext uri="{FF2B5EF4-FFF2-40B4-BE49-F238E27FC236}">
                <a16:creationId xmlns:a16="http://schemas.microsoft.com/office/drawing/2014/main" id="{5A288EB8-2287-E2D9-C494-5145DD425E8C}"/>
              </a:ext>
            </a:extLst>
          </p:cNvPr>
          <p:cNvSpPr>
            <a:spLocks noGrp="1"/>
          </p:cNvSpPr>
          <p:nvPr>
            <p:ph type="sldNum" sz="quarter" idx="11"/>
          </p:nvPr>
        </p:nvSpPr>
        <p:spPr/>
        <p:txBody>
          <a:bodyPr/>
          <a:lstStyle/>
          <a:p>
            <a:pPr>
              <a:defRPr/>
            </a:pPr>
            <a:fld id="{1F3E0329-027F-44B1-A42A-8643FF593956}" type="slidenum">
              <a:rPr lang="en-US" altLang="zh-CN" smtClean="0"/>
              <a:pPr>
                <a:defRPr/>
              </a:pPr>
              <a:t>72</a:t>
            </a:fld>
            <a:endParaRPr lang="en-US" altLang="zh-CN"/>
          </a:p>
        </p:txBody>
      </p:sp>
    </p:spTree>
    <p:extLst>
      <p:ext uri="{BB962C8B-B14F-4D97-AF65-F5344CB8AC3E}">
        <p14:creationId xmlns:p14="http://schemas.microsoft.com/office/powerpoint/2010/main" val="57983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20C44-C88F-6EE2-433A-D60DAA3F79C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6184776-1C21-81DD-03BB-74B309B17AAF}"/>
              </a:ext>
            </a:extLst>
          </p:cNvPr>
          <p:cNvSpPr>
            <a:spLocks noGrp="1"/>
          </p:cNvSpPr>
          <p:nvPr>
            <p:ph type="title"/>
          </p:nvPr>
        </p:nvSpPr>
        <p:spPr>
          <a:xfrm>
            <a:off x="600819" y="246112"/>
            <a:ext cx="10972800" cy="1027584"/>
          </a:xfrm>
        </p:spPr>
        <p:txBody>
          <a:bodyPr/>
          <a:lstStyle/>
          <a:p>
            <a:pPr algn="ctr"/>
            <a:r>
              <a:rPr lang="en-US" altLang="zh-CN" dirty="0">
                <a:solidFill>
                  <a:srgbClr val="008000"/>
                </a:solidFill>
              </a:rPr>
              <a:t>F</a:t>
            </a:r>
            <a:r>
              <a:rPr lang="zh-CN" altLang="en-US" dirty="0">
                <a:solidFill>
                  <a:srgbClr val="008000"/>
                </a:solidFill>
                <a:latin typeface="黑体" panose="02010609060101010101" pitchFamily="49" charset="-122"/>
                <a:ea typeface="黑体" panose="02010609060101010101" pitchFamily="49" charset="-122"/>
              </a:rPr>
              <a:t>专家系统的发展历程</a:t>
            </a:r>
          </a:p>
        </p:txBody>
      </p:sp>
      <p:sp>
        <p:nvSpPr>
          <p:cNvPr id="3" name="内容占位符 2">
            <a:extLst>
              <a:ext uri="{FF2B5EF4-FFF2-40B4-BE49-F238E27FC236}">
                <a16:creationId xmlns:a16="http://schemas.microsoft.com/office/drawing/2014/main" id="{AB4513C1-92FA-8FF9-902A-C46BF38C758D}"/>
              </a:ext>
            </a:extLst>
          </p:cNvPr>
          <p:cNvSpPr>
            <a:spLocks noGrp="1"/>
          </p:cNvSpPr>
          <p:nvPr>
            <p:ph idx="1"/>
          </p:nvPr>
        </p:nvSpPr>
        <p:spPr>
          <a:xfrm>
            <a:off x="911424" y="1412776"/>
            <a:ext cx="10225136" cy="5199112"/>
          </a:xfrm>
        </p:spPr>
        <p:txBody>
          <a:bodyPr/>
          <a:lstStyle/>
          <a:p>
            <a:r>
              <a:rPr lang="en-US" altLang="zh-CN" b="1" dirty="0" err="1">
                <a:solidFill>
                  <a:srgbClr val="3333FF"/>
                </a:solidFill>
                <a:latin typeface="Noto Sans SC"/>
                <a:ea typeface="Noto Sans SC"/>
                <a:cs typeface="Noto Sans SC"/>
                <a:sym typeface="Noto Sans SC"/>
              </a:rPr>
              <a:t>混合智能系统</a:t>
            </a:r>
            <a:r>
              <a:rPr lang="en-US" altLang="zh-CN" b="1" dirty="0">
                <a:solidFill>
                  <a:srgbClr val="3333FF"/>
                </a:solidFill>
                <a:latin typeface="Noto Sans SC"/>
                <a:ea typeface="Noto Sans SC"/>
                <a:cs typeface="Noto Sans SC"/>
                <a:sym typeface="Noto Sans SC"/>
              </a:rPr>
              <a:t> (1990s-2010s</a:t>
            </a:r>
            <a:r>
              <a:rPr lang="zh-CN" altLang="en-US" b="1" dirty="0">
                <a:solidFill>
                  <a:srgbClr val="3333FF"/>
                </a:solidFill>
                <a:latin typeface="Noto Sans SC"/>
                <a:ea typeface="Noto Sans SC"/>
                <a:cs typeface="Noto Sans SC"/>
                <a:sym typeface="Noto Sans SC"/>
              </a:rPr>
              <a:t>）</a:t>
            </a:r>
            <a:endParaRPr lang="en-US" altLang="zh-CN" dirty="0">
              <a:solidFill>
                <a:srgbClr val="3333FF"/>
              </a:solidFill>
              <a:ea typeface="黑体" panose="02010609060101010101" pitchFamily="49" charset="-122"/>
            </a:endParaRPr>
          </a:p>
          <a:p>
            <a:pPr lvl="1">
              <a:lnSpc>
                <a:spcPct val="116666"/>
              </a:lnSpc>
              <a:buFont typeface="Wingdings" panose="05000000000000000000" pitchFamily="2" charset="2"/>
              <a:buChar char="p"/>
              <a:defRPr/>
            </a:pPr>
            <a:r>
              <a:rPr lang="en-US" altLang="zh-CN" b="1" dirty="0" err="1">
                <a:solidFill>
                  <a:srgbClr val="008000"/>
                </a:solidFill>
                <a:latin typeface="+mj-lt"/>
                <a:ea typeface="黑体" panose="02010609060101010101" pitchFamily="49" charset="-122"/>
                <a:cs typeface="Noto Sans SC"/>
                <a:sym typeface="Noto Sans SC"/>
              </a:rPr>
              <a:t>神经-模糊融合：</a:t>
            </a:r>
            <a:r>
              <a:rPr lang="en-US" altLang="zh-CN" dirty="0" err="1">
                <a:latin typeface="+mj-lt"/>
                <a:ea typeface="黑体" panose="02010609060101010101" pitchFamily="49" charset="-122"/>
                <a:cs typeface="Noto Sans SC"/>
                <a:sym typeface="Noto Sans SC"/>
              </a:rPr>
              <a:t>结合神经网络的自主学习能力与F系统的可解释性（如ANFIS模型</a:t>
            </a:r>
            <a:r>
              <a:rPr lang="en-US" altLang="zh-CN" dirty="0">
                <a:latin typeface="+mj-lt"/>
                <a:ea typeface="黑体" panose="02010609060101010101" pitchFamily="49" charset="-122"/>
                <a:cs typeface="Noto Sans SC"/>
                <a:sym typeface="Noto Sans SC"/>
              </a:rPr>
              <a:t>），</a:t>
            </a:r>
            <a:r>
              <a:rPr lang="en-US" altLang="zh-CN" dirty="0" err="1">
                <a:latin typeface="+mj-lt"/>
                <a:ea typeface="黑体" panose="02010609060101010101" pitchFamily="49" charset="-122"/>
                <a:cs typeface="Noto Sans SC"/>
                <a:sym typeface="Noto Sans SC"/>
              </a:rPr>
              <a:t>提升了系统的适应性</a:t>
            </a:r>
            <a:r>
              <a:rPr lang="en-US" altLang="zh-CN" dirty="0">
                <a:solidFill>
                  <a:srgbClr val="4A5568"/>
                </a:solidFill>
                <a:latin typeface="+mj-lt"/>
                <a:ea typeface="黑体" panose="02010609060101010101" pitchFamily="49" charset="-122"/>
                <a:cs typeface="Noto Sans SC"/>
                <a:sym typeface="Noto Sans SC"/>
              </a:rPr>
              <a:t>。</a:t>
            </a:r>
            <a:endParaRPr lang="en-US" altLang="zh-CN" dirty="0">
              <a:latin typeface="+mj-lt"/>
              <a:ea typeface="黑体" panose="02010609060101010101" pitchFamily="49" charset="-122"/>
            </a:endParaRPr>
          </a:p>
          <a:p>
            <a:pPr lvl="1">
              <a:lnSpc>
                <a:spcPct val="116666"/>
              </a:lnSpc>
              <a:buFont typeface="Wingdings" panose="05000000000000000000" pitchFamily="2" charset="2"/>
              <a:buChar char="p"/>
            </a:pPr>
            <a:r>
              <a:rPr lang="en-US" altLang="zh-CN" b="1" dirty="0" err="1">
                <a:solidFill>
                  <a:srgbClr val="008000"/>
                </a:solidFill>
                <a:latin typeface="+mj-lt"/>
                <a:ea typeface="黑体" panose="02010609060101010101" pitchFamily="49" charset="-122"/>
                <a:cs typeface="Noto Sans SC"/>
                <a:sym typeface="Noto Sans SC"/>
              </a:rPr>
              <a:t>进化与</a:t>
            </a:r>
            <a:r>
              <a:rPr lang="en-US" altLang="zh-CN" b="1" dirty="0" err="1">
                <a:solidFill>
                  <a:srgbClr val="CC00CC"/>
                </a:solidFill>
                <a:latin typeface="+mj-lt"/>
                <a:ea typeface="黑体" panose="02010609060101010101" pitchFamily="49" charset="-122"/>
                <a:cs typeface="Noto Sans SC"/>
                <a:sym typeface="Noto Sans SC"/>
              </a:rPr>
              <a:t>二型模糊</a:t>
            </a:r>
            <a:r>
              <a:rPr lang="en-US" altLang="zh-CN" b="1" dirty="0" err="1">
                <a:solidFill>
                  <a:srgbClr val="008000"/>
                </a:solidFill>
                <a:latin typeface="+mj-lt"/>
                <a:ea typeface="黑体" panose="02010609060101010101" pitchFamily="49" charset="-122"/>
                <a:cs typeface="Noto Sans SC"/>
                <a:sym typeface="Noto Sans SC"/>
              </a:rPr>
              <a:t>：</a:t>
            </a:r>
            <a:r>
              <a:rPr lang="en-US" altLang="zh-CN" dirty="0" err="1">
                <a:latin typeface="+mj-lt"/>
                <a:ea typeface="黑体" panose="02010609060101010101" pitchFamily="49" charset="-122"/>
                <a:cs typeface="Noto Sans SC"/>
                <a:sym typeface="Noto Sans SC"/>
              </a:rPr>
              <a:t>引入遗传算法优化F规则，并发展二型F系统以处理更高维度的不确定性，增强鲁棒性</a:t>
            </a:r>
            <a:r>
              <a:rPr lang="en-US" altLang="zh-CN" dirty="0">
                <a:latin typeface="+mj-lt"/>
                <a:ea typeface="黑体" panose="02010609060101010101" pitchFamily="49" charset="-122"/>
                <a:cs typeface="Noto Sans SC"/>
                <a:sym typeface="Noto Sans SC"/>
              </a:rPr>
              <a:t>。</a:t>
            </a:r>
          </a:p>
          <a:p>
            <a:pPr marL="0" indent="0"/>
            <a:r>
              <a:rPr lang="en-US" altLang="zh-CN" b="1" dirty="0" err="1">
                <a:solidFill>
                  <a:srgbClr val="FF0000"/>
                </a:solidFill>
                <a:latin typeface="Noto Sans SC"/>
                <a:ea typeface="Noto Sans SC"/>
                <a:cs typeface="Noto Sans SC"/>
                <a:sym typeface="Noto Sans SC"/>
              </a:rPr>
              <a:t>前沿探索</a:t>
            </a:r>
            <a:r>
              <a:rPr lang="en-US" altLang="zh-CN" b="1" dirty="0">
                <a:solidFill>
                  <a:srgbClr val="FF0000"/>
                </a:solidFill>
                <a:latin typeface="Noto Sans SC"/>
                <a:ea typeface="Noto Sans SC"/>
                <a:cs typeface="Noto Sans SC"/>
                <a:sym typeface="Noto Sans SC"/>
              </a:rPr>
              <a:t> (2020s </a:t>
            </a:r>
            <a:r>
              <a:rPr lang="en-US" altLang="zh-CN" b="1" dirty="0" err="1">
                <a:solidFill>
                  <a:srgbClr val="FF0000"/>
                </a:solidFill>
                <a:latin typeface="Noto Sans SC"/>
                <a:ea typeface="Noto Sans SC"/>
                <a:cs typeface="Noto Sans SC"/>
                <a:sym typeface="Noto Sans SC"/>
              </a:rPr>
              <a:t>至今</a:t>
            </a:r>
            <a:r>
              <a:rPr lang="en-US" altLang="zh-CN" b="1" dirty="0">
                <a:solidFill>
                  <a:srgbClr val="FF0000"/>
                </a:solidFill>
                <a:latin typeface="Noto Sans SC"/>
                <a:ea typeface="Noto Sans SC"/>
                <a:cs typeface="Noto Sans SC"/>
                <a:sym typeface="Noto Sans SC"/>
              </a:rPr>
              <a:t>)</a:t>
            </a:r>
            <a:endParaRPr lang="en-US" altLang="zh-CN" dirty="0">
              <a:solidFill>
                <a:srgbClr val="FF0000"/>
              </a:solidFill>
            </a:endParaRPr>
          </a:p>
          <a:p>
            <a:pPr lvl="1" indent="-342900">
              <a:lnSpc>
                <a:spcPct val="116666"/>
              </a:lnSpc>
              <a:buFont typeface="Wingdings" panose="05000000000000000000" pitchFamily="2" charset="2"/>
              <a:buChar char="p"/>
              <a:defRPr/>
            </a:pPr>
            <a:r>
              <a:rPr lang="en-US" altLang="zh-CN" sz="2400" b="1" dirty="0" err="1">
                <a:solidFill>
                  <a:srgbClr val="008000"/>
                </a:solidFill>
                <a:latin typeface="Noto Sans SC"/>
                <a:ea typeface="Noto Sans SC"/>
                <a:cs typeface="Noto Sans SC"/>
                <a:sym typeface="Noto Sans SC"/>
              </a:rPr>
              <a:t>深度融合前沿技术</a:t>
            </a:r>
            <a:r>
              <a:rPr lang="en-US" altLang="zh-CN" sz="2400" b="1" dirty="0" err="1">
                <a:solidFill>
                  <a:srgbClr val="4FD1C5"/>
                </a:solidFill>
                <a:latin typeface="Noto Sans SC"/>
                <a:ea typeface="Noto Sans SC"/>
                <a:cs typeface="Noto Sans SC"/>
                <a:sym typeface="Noto Sans SC"/>
              </a:rPr>
              <a:t>：</a:t>
            </a:r>
            <a:r>
              <a:rPr lang="en-US" altLang="zh-CN" sz="2400" dirty="0" err="1">
                <a:latin typeface="Noto Sans SC"/>
                <a:ea typeface="Noto Sans SC"/>
                <a:cs typeface="Noto Sans SC"/>
                <a:sym typeface="Noto Sans SC"/>
              </a:rPr>
              <a:t>将F逻辑与大数据、深度学习、大语言模型</a:t>
            </a:r>
            <a:r>
              <a:rPr lang="en-US" altLang="zh-CN" sz="2400" dirty="0">
                <a:latin typeface="Noto Sans SC"/>
                <a:ea typeface="Noto Sans SC"/>
                <a:cs typeface="Noto Sans SC"/>
                <a:sym typeface="Noto Sans SC"/>
              </a:rPr>
              <a:t>(LLM)</a:t>
            </a:r>
            <a:r>
              <a:rPr lang="en-US" altLang="zh-CN" sz="2400" dirty="0" err="1">
                <a:latin typeface="Noto Sans SC"/>
                <a:ea typeface="Noto Sans SC"/>
                <a:cs typeface="Noto Sans SC"/>
                <a:sym typeface="Noto Sans SC"/>
              </a:rPr>
              <a:t>相结合</a:t>
            </a:r>
            <a:r>
              <a:rPr lang="en-US" altLang="zh-CN" sz="2400" dirty="0">
                <a:latin typeface="Noto Sans SC"/>
                <a:ea typeface="Noto Sans SC"/>
                <a:cs typeface="Noto Sans SC"/>
                <a:sym typeface="Noto Sans SC"/>
              </a:rPr>
              <a:t>, </a:t>
            </a:r>
            <a:r>
              <a:rPr lang="en-US" altLang="zh-CN" sz="2400" dirty="0" err="1">
                <a:latin typeface="Noto Sans SC"/>
                <a:ea typeface="Noto Sans SC"/>
                <a:cs typeface="Noto Sans SC"/>
                <a:sym typeface="Noto Sans SC"/>
              </a:rPr>
              <a:t>突破传统知识表示的瓶颈</a:t>
            </a:r>
            <a:r>
              <a:rPr lang="en-US" altLang="zh-CN" sz="2400" dirty="0">
                <a:latin typeface="Noto Sans SC"/>
                <a:ea typeface="Noto Sans SC"/>
                <a:cs typeface="Noto Sans SC"/>
                <a:sym typeface="Noto Sans SC"/>
              </a:rPr>
              <a:t>。</a:t>
            </a:r>
            <a:endParaRPr lang="en-US" altLang="zh-CN" sz="2400" dirty="0"/>
          </a:p>
          <a:p>
            <a:pPr lvl="1" indent="-342900">
              <a:lnSpc>
                <a:spcPct val="116666"/>
              </a:lnSpc>
              <a:buFont typeface="Wingdings" panose="05000000000000000000" pitchFamily="2" charset="2"/>
              <a:buChar char="p"/>
            </a:pPr>
            <a:r>
              <a:rPr lang="en-US" altLang="zh-CN" sz="2400" b="1" dirty="0" err="1">
                <a:solidFill>
                  <a:srgbClr val="008000"/>
                </a:solidFill>
                <a:latin typeface="Noto Sans SC"/>
                <a:ea typeface="Noto Sans SC"/>
                <a:cs typeface="Noto Sans SC"/>
                <a:sym typeface="Noto Sans SC"/>
              </a:rPr>
              <a:t>下一代人机协同：</a:t>
            </a:r>
            <a:r>
              <a:rPr lang="en-US" altLang="zh-CN" sz="2400" dirty="0" err="1">
                <a:latin typeface="Noto Sans SC"/>
                <a:ea typeface="Noto Sans SC"/>
                <a:cs typeface="Noto Sans SC"/>
                <a:sym typeface="Noto Sans SC"/>
              </a:rPr>
              <a:t>利用LLM自动生成与优化F规则，构建更自然、更符合人类认知的人机协作智能系统</a:t>
            </a:r>
            <a:r>
              <a:rPr lang="en-US" altLang="zh-CN" sz="2400" dirty="0">
                <a:latin typeface="Noto Sans SC"/>
                <a:ea typeface="Noto Sans SC"/>
                <a:cs typeface="Noto Sans SC"/>
                <a:sym typeface="Noto Sans SC"/>
              </a:rPr>
              <a:t>。</a:t>
            </a:r>
          </a:p>
          <a:p>
            <a:pPr lvl="1"/>
            <a:endParaRPr lang="zh-CN" altLang="en-US" dirty="0">
              <a:ea typeface="黑体" panose="02010609060101010101" pitchFamily="49" charset="-122"/>
            </a:endParaRPr>
          </a:p>
        </p:txBody>
      </p:sp>
      <p:sp>
        <p:nvSpPr>
          <p:cNvPr id="4" name="灯片编号占位符 3">
            <a:extLst>
              <a:ext uri="{FF2B5EF4-FFF2-40B4-BE49-F238E27FC236}">
                <a16:creationId xmlns:a16="http://schemas.microsoft.com/office/drawing/2014/main" id="{4B6C785E-DF22-268E-647F-8906602BFD80}"/>
              </a:ext>
            </a:extLst>
          </p:cNvPr>
          <p:cNvSpPr>
            <a:spLocks noGrp="1"/>
          </p:cNvSpPr>
          <p:nvPr>
            <p:ph type="sldNum" sz="quarter" idx="11"/>
          </p:nvPr>
        </p:nvSpPr>
        <p:spPr/>
        <p:txBody>
          <a:bodyPr/>
          <a:lstStyle/>
          <a:p>
            <a:pPr>
              <a:defRPr/>
            </a:pPr>
            <a:fld id="{1F3E0329-027F-44B1-A42A-8643FF593956}" type="slidenum">
              <a:rPr lang="en-US" altLang="zh-CN" smtClean="0"/>
              <a:pPr>
                <a:defRPr/>
              </a:pPr>
              <a:t>73</a:t>
            </a:fld>
            <a:endParaRPr lang="en-US" altLang="zh-CN"/>
          </a:p>
        </p:txBody>
      </p:sp>
    </p:spTree>
    <p:extLst>
      <p:ext uri="{BB962C8B-B14F-4D97-AF65-F5344CB8AC3E}">
        <p14:creationId xmlns:p14="http://schemas.microsoft.com/office/powerpoint/2010/main" val="2307677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282D39-605E-1CC9-F484-CC37800EF45E}"/>
              </a:ext>
            </a:extLst>
          </p:cNvPr>
          <p:cNvSpPr>
            <a:spLocks noGrp="1"/>
          </p:cNvSpPr>
          <p:nvPr>
            <p:ph type="title"/>
          </p:nvPr>
        </p:nvSpPr>
        <p:spPr>
          <a:xfrm>
            <a:off x="609600" y="185192"/>
            <a:ext cx="10972800" cy="1371600"/>
          </a:xfrm>
        </p:spPr>
        <p:txBody>
          <a:bodyPr/>
          <a:lstStyle/>
          <a:p>
            <a:pPr algn="ctr"/>
            <a:r>
              <a:rPr lang="en-US" altLang="zh-CN" dirty="0" err="1">
                <a:solidFill>
                  <a:srgbClr val="008000"/>
                </a:solidFill>
                <a:latin typeface="+mn-lt"/>
                <a:ea typeface="黑体" panose="02010609060101010101" pitchFamily="49" charset="-122"/>
                <a:cs typeface="Noto Sans SC"/>
                <a:sym typeface="Noto Sans SC"/>
              </a:rPr>
              <a:t>二型模糊系统</a:t>
            </a:r>
            <a:r>
              <a:rPr lang="en-US" altLang="zh-CN" dirty="0">
                <a:solidFill>
                  <a:srgbClr val="008000"/>
                </a:solidFill>
                <a:latin typeface="+mn-lt"/>
                <a:ea typeface="黑体" panose="02010609060101010101" pitchFamily="49" charset="-122"/>
                <a:cs typeface="Noto Sans SC"/>
                <a:sym typeface="Noto Sans SC"/>
              </a:rPr>
              <a:t> (Type-2 FS)</a:t>
            </a:r>
            <a:endParaRPr lang="zh-CN" altLang="en-US" dirty="0">
              <a:solidFill>
                <a:srgbClr val="008000"/>
              </a:solidFill>
              <a:latin typeface="+mn-lt"/>
              <a:ea typeface="黑体" panose="02010609060101010101" pitchFamily="49" charset="-122"/>
            </a:endParaRPr>
          </a:p>
        </p:txBody>
      </p:sp>
      <p:sp>
        <p:nvSpPr>
          <p:cNvPr id="3" name="内容占位符 2">
            <a:extLst>
              <a:ext uri="{FF2B5EF4-FFF2-40B4-BE49-F238E27FC236}">
                <a16:creationId xmlns:a16="http://schemas.microsoft.com/office/drawing/2014/main" id="{9F7A202C-CE7E-649A-3C33-C4521CD5BB88}"/>
              </a:ext>
            </a:extLst>
          </p:cNvPr>
          <p:cNvSpPr>
            <a:spLocks noGrp="1"/>
          </p:cNvSpPr>
          <p:nvPr>
            <p:ph idx="1"/>
          </p:nvPr>
        </p:nvSpPr>
        <p:spPr>
          <a:xfrm>
            <a:off x="609600" y="1388293"/>
            <a:ext cx="10972800" cy="1630133"/>
          </a:xfrm>
        </p:spPr>
        <p:txBody>
          <a:bodyPr/>
          <a:lstStyle/>
          <a:p>
            <a:r>
              <a:rPr lang="en-US" altLang="zh-CN" b="1" dirty="0" err="1">
                <a:solidFill>
                  <a:srgbClr val="FF0000"/>
                </a:solidFill>
                <a:ea typeface="黑体" panose="02010609060101010101" pitchFamily="49" charset="-122"/>
                <a:cs typeface="Noto Sans SC"/>
                <a:sym typeface="Noto Sans SC"/>
              </a:rPr>
              <a:t>一型</a:t>
            </a:r>
            <a:r>
              <a:rPr lang="en-US" altLang="zh-CN" b="1" dirty="0">
                <a:solidFill>
                  <a:srgbClr val="FF0000"/>
                </a:solidFill>
                <a:ea typeface="黑体" panose="02010609060101010101" pitchFamily="49" charset="-122"/>
                <a:cs typeface="Noto Sans SC"/>
                <a:sym typeface="Noto Sans SC"/>
              </a:rPr>
              <a:t>(Type-1)</a:t>
            </a:r>
            <a:r>
              <a:rPr lang="en-US" altLang="zh-CN" b="1" dirty="0" err="1">
                <a:solidFill>
                  <a:srgbClr val="FF0000"/>
                </a:solidFill>
                <a:ea typeface="黑体" panose="02010609060101010101" pitchFamily="49" charset="-122"/>
                <a:cs typeface="Noto Sans SC"/>
                <a:sym typeface="Noto Sans SC"/>
              </a:rPr>
              <a:t>模糊集合的局限性</a:t>
            </a:r>
            <a:endParaRPr lang="en-US" altLang="zh-CN" b="1" dirty="0">
              <a:solidFill>
                <a:srgbClr val="FF0000"/>
              </a:solidFill>
              <a:ea typeface="黑体" panose="02010609060101010101" pitchFamily="49" charset="-122"/>
              <a:cs typeface="Noto Sans SC"/>
              <a:sym typeface="Noto Sans SC"/>
            </a:endParaRPr>
          </a:p>
          <a:p>
            <a:pPr lvl="1"/>
            <a:r>
              <a:rPr lang="en-US" altLang="zh-CN" dirty="0" err="1">
                <a:solidFill>
                  <a:srgbClr val="374151"/>
                </a:solidFill>
                <a:latin typeface="黑体" panose="02010609060101010101" pitchFamily="49" charset="-122"/>
                <a:ea typeface="黑体" panose="02010609060101010101" pitchFamily="49" charset="-122"/>
                <a:cs typeface="Noto Sans SC"/>
                <a:sym typeface="Noto Sans SC"/>
              </a:rPr>
              <a:t>通过一个</a:t>
            </a:r>
            <a:r>
              <a:rPr lang="en-US" altLang="zh-CN" b="1" dirty="0" err="1">
                <a:solidFill>
                  <a:srgbClr val="4FD1C5"/>
                </a:solidFill>
                <a:latin typeface="黑体" panose="02010609060101010101" pitchFamily="49" charset="-122"/>
                <a:ea typeface="黑体" panose="02010609060101010101" pitchFamily="49" charset="-122"/>
                <a:cs typeface="Noto Sans SC"/>
                <a:sym typeface="Noto Sans SC"/>
              </a:rPr>
              <a:t>确定的、单点的</a:t>
            </a:r>
            <a:r>
              <a:rPr lang="en-US" altLang="zh-CN" dirty="0" err="1">
                <a:solidFill>
                  <a:srgbClr val="374151"/>
                </a:solidFill>
                <a:latin typeface="黑体" panose="02010609060101010101" pitchFamily="49" charset="-122"/>
                <a:ea typeface="黑体" panose="02010609060101010101" pitchFamily="49" charset="-122"/>
                <a:cs typeface="Noto Sans SC"/>
                <a:sym typeface="Noto Sans SC"/>
              </a:rPr>
              <a:t>隶属度函数来描述元素属于某个F概念的程度</a:t>
            </a:r>
            <a:r>
              <a:rPr lang="en-US" altLang="zh-CN" dirty="0">
                <a:solidFill>
                  <a:srgbClr val="374151"/>
                </a:solidFill>
                <a:latin typeface="黑体" panose="02010609060101010101" pitchFamily="49" charset="-122"/>
                <a:ea typeface="黑体" panose="02010609060101010101" pitchFamily="49" charset="-122"/>
                <a:cs typeface="Noto Sans SC"/>
                <a:sym typeface="Noto Sans SC"/>
              </a:rPr>
              <a:t>。</a:t>
            </a:r>
            <a:endParaRPr lang="en-US" altLang="zh-CN" dirty="0">
              <a:latin typeface="黑体" panose="02010609060101010101" pitchFamily="49" charset="-122"/>
              <a:ea typeface="黑体" panose="02010609060101010101" pitchFamily="49" charset="-122"/>
            </a:endParaRPr>
          </a:p>
          <a:p>
            <a:pPr lvl="1"/>
            <a:endParaRPr lang="zh-CN" altLang="en-US" dirty="0"/>
          </a:p>
        </p:txBody>
      </p:sp>
      <p:sp>
        <p:nvSpPr>
          <p:cNvPr id="4" name="灯片编号占位符 3">
            <a:extLst>
              <a:ext uri="{FF2B5EF4-FFF2-40B4-BE49-F238E27FC236}">
                <a16:creationId xmlns:a16="http://schemas.microsoft.com/office/drawing/2014/main" id="{58AAC902-185E-6202-FE13-8686DC4B9727}"/>
              </a:ext>
            </a:extLst>
          </p:cNvPr>
          <p:cNvSpPr>
            <a:spLocks noGrp="1"/>
          </p:cNvSpPr>
          <p:nvPr>
            <p:ph type="sldNum" sz="quarter" idx="11"/>
          </p:nvPr>
        </p:nvSpPr>
        <p:spPr/>
        <p:txBody>
          <a:bodyPr/>
          <a:lstStyle/>
          <a:p>
            <a:pPr>
              <a:defRPr/>
            </a:pPr>
            <a:fld id="{1F3E0329-027F-44B1-A42A-8643FF593956}" type="slidenum">
              <a:rPr lang="en-US" altLang="zh-CN" smtClean="0"/>
              <a:pPr>
                <a:defRPr/>
              </a:pPr>
              <a:t>74</a:t>
            </a:fld>
            <a:endParaRPr lang="en-US" altLang="zh-CN"/>
          </a:p>
        </p:txBody>
      </p:sp>
      <p:sp>
        <p:nvSpPr>
          <p:cNvPr id="6" name="文本框 5">
            <a:extLst>
              <a:ext uri="{FF2B5EF4-FFF2-40B4-BE49-F238E27FC236}">
                <a16:creationId xmlns:a16="http://schemas.microsoft.com/office/drawing/2014/main" id="{17F2072B-62F4-9EDE-087A-AEB860037760}"/>
              </a:ext>
            </a:extLst>
          </p:cNvPr>
          <p:cNvSpPr txBox="1"/>
          <p:nvPr/>
        </p:nvSpPr>
        <p:spPr>
          <a:xfrm>
            <a:off x="7680176" y="5359020"/>
            <a:ext cx="4455671" cy="707886"/>
          </a:xfrm>
          <a:prstGeom prst="rect">
            <a:avLst/>
          </a:prstGeom>
          <a:noFill/>
        </p:spPr>
        <p:txBody>
          <a:bodyPr wrap="square">
            <a:spAutoFit/>
          </a:bodyPr>
          <a:lstStyle/>
          <a:p>
            <a:r>
              <a:rPr lang="en-US" altLang="zh-CN" sz="2000" dirty="0" err="1">
                <a:solidFill>
                  <a:srgbClr val="374151"/>
                </a:solidFill>
                <a:latin typeface="+mn-lt"/>
                <a:ea typeface="黑体" panose="02010609060101010101" pitchFamily="49" charset="-122"/>
                <a:cs typeface="Noto Sans SC"/>
                <a:sym typeface="Noto Sans SC"/>
              </a:rPr>
              <a:t>例如</a:t>
            </a:r>
            <a:r>
              <a:rPr lang="en-US" altLang="zh-CN" sz="2000" dirty="0">
                <a:solidFill>
                  <a:srgbClr val="374151"/>
                </a:solidFill>
                <a:latin typeface="+mn-lt"/>
                <a:ea typeface="黑体" panose="02010609060101010101" pitchFamily="49" charset="-122"/>
                <a:cs typeface="Noto Sans SC"/>
                <a:sym typeface="Noto Sans SC"/>
              </a:rPr>
              <a:t>，“</a:t>
            </a:r>
            <a:r>
              <a:rPr lang="en-US" altLang="zh-CN" sz="2000" dirty="0" err="1">
                <a:solidFill>
                  <a:srgbClr val="374151"/>
                </a:solidFill>
                <a:latin typeface="+mn-lt"/>
                <a:ea typeface="黑体" panose="02010609060101010101" pitchFamily="49" charset="-122"/>
                <a:cs typeface="Noto Sans SC"/>
                <a:sym typeface="Noto Sans SC"/>
              </a:rPr>
              <a:t>年轻</a:t>
            </a:r>
            <a:r>
              <a:rPr lang="en-US" altLang="zh-CN" sz="2000" dirty="0">
                <a:solidFill>
                  <a:srgbClr val="374151"/>
                </a:solidFill>
                <a:latin typeface="+mn-lt"/>
                <a:ea typeface="黑体" panose="02010609060101010101" pitchFamily="49" charset="-122"/>
                <a:cs typeface="Noto Sans SC"/>
                <a:sym typeface="Noto Sans SC"/>
              </a:rPr>
              <a:t>(25)=0.9，这个值完全精确</a:t>
            </a:r>
            <a:r>
              <a:rPr lang="zh-CN" altLang="en-US" sz="2000" dirty="0">
                <a:solidFill>
                  <a:srgbClr val="374151"/>
                </a:solidFill>
                <a:latin typeface="+mn-lt"/>
                <a:ea typeface="黑体" panose="02010609060101010101" pitchFamily="49" charset="-122"/>
                <a:cs typeface="Noto Sans SC"/>
                <a:sym typeface="Noto Sans SC"/>
              </a:rPr>
              <a:t>、</a:t>
            </a:r>
            <a:r>
              <a:rPr lang="en-US" altLang="zh-CN" sz="2000" dirty="0" err="1">
                <a:solidFill>
                  <a:srgbClr val="374151"/>
                </a:solidFill>
                <a:latin typeface="+mn-lt"/>
                <a:ea typeface="黑体" panose="02010609060101010101" pitchFamily="49" charset="-122"/>
                <a:cs typeface="Noto Sans SC"/>
                <a:sym typeface="Noto Sans SC"/>
              </a:rPr>
              <a:t>没有任何模糊空间</a:t>
            </a:r>
            <a:endParaRPr lang="zh-CN" altLang="en-US" sz="2000" dirty="0">
              <a:latin typeface="+mn-lt"/>
              <a:ea typeface="黑体" panose="02010609060101010101" pitchFamily="49" charset="-122"/>
            </a:endParaRPr>
          </a:p>
        </p:txBody>
      </p:sp>
      <p:pic>
        <p:nvPicPr>
          <p:cNvPr id="8" name="图片 7">
            <a:extLst>
              <a:ext uri="{FF2B5EF4-FFF2-40B4-BE49-F238E27FC236}">
                <a16:creationId xmlns:a16="http://schemas.microsoft.com/office/drawing/2014/main" id="{965DB86C-69F4-F263-291E-FE598660C655}"/>
              </a:ext>
            </a:extLst>
          </p:cNvPr>
          <p:cNvPicPr>
            <a:picLocks noChangeAspect="1"/>
          </p:cNvPicPr>
          <p:nvPr/>
        </p:nvPicPr>
        <p:blipFill>
          <a:blip r:embed="rId2"/>
          <a:stretch>
            <a:fillRect/>
          </a:stretch>
        </p:blipFill>
        <p:spPr>
          <a:xfrm>
            <a:off x="7252452" y="3018426"/>
            <a:ext cx="5225913" cy="2080205"/>
          </a:xfrm>
          <a:prstGeom prst="rect">
            <a:avLst/>
          </a:prstGeom>
        </p:spPr>
      </p:pic>
      <p:cxnSp>
        <p:nvCxnSpPr>
          <p:cNvPr id="9" name="直接连接符 8">
            <a:extLst>
              <a:ext uri="{FF2B5EF4-FFF2-40B4-BE49-F238E27FC236}">
                <a16:creationId xmlns:a16="http://schemas.microsoft.com/office/drawing/2014/main" id="{83F0588E-DA87-CEC3-917A-A6FFB72BAE98}"/>
              </a:ext>
            </a:extLst>
          </p:cNvPr>
          <p:cNvCxnSpPr/>
          <p:nvPr/>
        </p:nvCxnSpPr>
        <p:spPr bwMode="auto">
          <a:xfrm>
            <a:off x="8760296" y="2982757"/>
            <a:ext cx="0" cy="2196579"/>
          </a:xfrm>
          <a:prstGeom prst="line">
            <a:avLst/>
          </a:prstGeom>
          <a:solidFill>
            <a:schemeClr val="accent1"/>
          </a:solidFill>
          <a:ln w="57150" cap="flat" cmpd="sng" algn="ctr">
            <a:solidFill>
              <a:srgbClr val="FF00FF"/>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9">
            <a:extLst>
              <a:ext uri="{FF2B5EF4-FFF2-40B4-BE49-F238E27FC236}">
                <a16:creationId xmlns:a16="http://schemas.microsoft.com/office/drawing/2014/main" id="{30C7EE45-4911-0E11-459E-497527C379CE}"/>
              </a:ext>
            </a:extLst>
          </p:cNvPr>
          <p:cNvSpPr txBox="1"/>
          <p:nvPr/>
        </p:nvSpPr>
        <p:spPr>
          <a:xfrm>
            <a:off x="7365802" y="2838742"/>
            <a:ext cx="4778870" cy="461665"/>
          </a:xfrm>
          <a:prstGeom prst="rect">
            <a:avLst/>
          </a:prstGeom>
          <a:noFill/>
        </p:spPr>
        <p:txBody>
          <a:bodyPr wrap="square">
            <a:spAutoFit/>
          </a:bodyPr>
          <a:lstStyle/>
          <a:p>
            <a:r>
              <a:rPr lang="zh-CN" altLang="en-US" sz="2400" b="1" dirty="0">
                <a:solidFill>
                  <a:srgbClr val="FF0000"/>
                </a:solidFill>
                <a:effectLst>
                  <a:outerShdw blurRad="38100" dist="38100" dir="2700000" algn="tl">
                    <a:srgbClr val="000000">
                      <a:alpha val="43137"/>
                    </a:srgbClr>
                  </a:outerShdw>
                </a:effectLst>
                <a:ea typeface="黑体" pitchFamily="2" charset="-122"/>
                <a:sym typeface="Symbol" pitchFamily="18" charset="2"/>
              </a:rPr>
              <a:t>   年轻</a:t>
            </a:r>
            <a:r>
              <a:rPr lang="en-US" altLang="zh-CN" sz="2400" b="1" dirty="0">
                <a:solidFill>
                  <a:srgbClr val="FF0000"/>
                </a:solidFill>
                <a:effectLst>
                  <a:outerShdw blurRad="38100" dist="38100" dir="2700000" algn="tl">
                    <a:srgbClr val="000000">
                      <a:alpha val="43137"/>
                    </a:srgbClr>
                  </a:outerShdw>
                </a:effectLst>
                <a:ea typeface="黑体" pitchFamily="2" charset="-122"/>
                <a:sym typeface="Symbol" pitchFamily="18" charset="2"/>
              </a:rPr>
              <a:t>           </a:t>
            </a:r>
            <a:r>
              <a:rPr lang="zh-CN" altLang="en-US" sz="2400" b="1" dirty="0">
                <a:solidFill>
                  <a:srgbClr val="008000"/>
                </a:solidFill>
                <a:effectLst>
                  <a:outerShdw blurRad="38100" dist="38100" dir="2700000" algn="tl">
                    <a:srgbClr val="000000">
                      <a:alpha val="43137"/>
                    </a:srgbClr>
                  </a:outerShdw>
                </a:effectLst>
                <a:ea typeface="黑体" pitchFamily="2" charset="-122"/>
                <a:sym typeface="Symbol" pitchFamily="18" charset="2"/>
              </a:rPr>
              <a:t>中年</a:t>
            </a:r>
            <a:r>
              <a:rPr lang="en-US" altLang="zh-CN" sz="2400" b="1" baseline="-25000" dirty="0">
                <a:solidFill>
                  <a:srgbClr val="008000"/>
                </a:solidFill>
                <a:effectLst>
                  <a:outerShdw blurRad="38100" dist="38100" dir="2700000" algn="tl">
                    <a:srgbClr val="000000">
                      <a:alpha val="43137"/>
                    </a:srgbClr>
                  </a:outerShdw>
                </a:effectLst>
                <a:ea typeface="黑体" pitchFamily="2" charset="-122"/>
                <a:sym typeface="Symbol" pitchFamily="18" charset="2"/>
              </a:rPr>
              <a:t>                   </a:t>
            </a:r>
            <a:r>
              <a:rPr lang="zh-CN" altLang="en-US" sz="2400" b="1" dirty="0">
                <a:solidFill>
                  <a:srgbClr val="7030A0"/>
                </a:solidFill>
                <a:effectLst>
                  <a:outerShdw blurRad="38100" dist="38100" dir="2700000" algn="tl">
                    <a:srgbClr val="000000">
                      <a:alpha val="43137"/>
                    </a:srgbClr>
                  </a:outerShdw>
                </a:effectLst>
                <a:ea typeface="黑体" pitchFamily="2" charset="-122"/>
                <a:sym typeface="Symbol" pitchFamily="18" charset="2"/>
              </a:rPr>
              <a:t>老年</a:t>
            </a:r>
            <a:endParaRPr lang="zh-CN" altLang="en-US" sz="2400" b="1" dirty="0">
              <a:effectLst>
                <a:outerShdw blurRad="38100" dist="38100" dir="2700000" algn="tl">
                  <a:srgbClr val="000000">
                    <a:alpha val="43137"/>
                  </a:srgbClr>
                </a:outerShdw>
              </a:effectLst>
            </a:endParaRPr>
          </a:p>
        </p:txBody>
      </p:sp>
      <p:sp>
        <p:nvSpPr>
          <p:cNvPr id="11" name="AutoShape 11">
            <a:extLst>
              <a:ext uri="{FF2B5EF4-FFF2-40B4-BE49-F238E27FC236}">
                <a16:creationId xmlns:a16="http://schemas.microsoft.com/office/drawing/2014/main" id="{8AF47D5F-83F5-0375-E932-0CC300737E01}"/>
              </a:ext>
            </a:extLst>
          </p:cNvPr>
          <p:cNvSpPr/>
          <p:nvPr/>
        </p:nvSpPr>
        <p:spPr>
          <a:xfrm>
            <a:off x="837771" y="2852936"/>
            <a:ext cx="6080988" cy="1371600"/>
          </a:xfrm>
          <a:prstGeom prst="rect">
            <a:avLst/>
          </a:prstGeom>
          <a:noFill/>
          <a:ln w="12700" cap="flat" cmpd="sng">
            <a:noFill/>
            <a:prstDash val="solid"/>
            <a:round/>
          </a:ln>
        </p:spPr>
        <p:txBody>
          <a:bodyPr vert="horz" wrap="square" lIns="0" tIns="0" rIns="0" bIns="0" rtlCol="0" anchor="ctr" anchorCtr="0"/>
          <a:lstStyle/>
          <a:p>
            <a:pPr marL="342900" indent="-342900" algn="l">
              <a:lnSpc>
                <a:spcPct val="125000"/>
              </a:lnSpc>
              <a:buFont typeface="Wingdings" panose="05000000000000000000" pitchFamily="2" charset="2"/>
              <a:buChar char="p"/>
              <a:defRPr/>
            </a:pPr>
            <a:r>
              <a:rPr lang="en-US" sz="2400" b="1" i="0" u="none" strike="noStrike" dirty="0" err="1">
                <a:solidFill>
                  <a:srgbClr val="CC00CC"/>
                </a:solidFill>
                <a:latin typeface="黑体" panose="02010609060101010101" pitchFamily="49" charset="-122"/>
                <a:ea typeface="黑体" panose="02010609060101010101" pitchFamily="49" charset="-122"/>
                <a:cs typeface="Noto Sans SC"/>
                <a:sym typeface="Noto Sans SC"/>
              </a:rPr>
              <a:t>语境依赖：定义的相对性</a:t>
            </a:r>
            <a:endParaRPr lang="en-US" sz="2400" dirty="0">
              <a:solidFill>
                <a:srgbClr val="CC00CC"/>
              </a:solidFill>
              <a:latin typeface="黑体" panose="02010609060101010101" pitchFamily="49" charset="-122"/>
              <a:ea typeface="黑体" panose="02010609060101010101" pitchFamily="49" charset="-122"/>
            </a:endParaRPr>
          </a:p>
          <a:p>
            <a:pPr marL="0" indent="0" algn="l">
              <a:lnSpc>
                <a:spcPct val="108333"/>
              </a:lnSpc>
            </a:pPr>
            <a:r>
              <a:rPr lang="en-US" sz="2000" b="0" i="0" u="none" strike="noStrike" dirty="0">
                <a:latin typeface="黑体" panose="02010609060101010101" pitchFamily="49" charset="-122"/>
                <a:ea typeface="黑体" panose="02010609060101010101" pitchFamily="49" charset="-122"/>
                <a:cs typeface="Noto Sans SC"/>
                <a:sym typeface="Noto Sans SC"/>
              </a:rPr>
              <a:t>“</a:t>
            </a:r>
            <a:r>
              <a:rPr lang="en-US" sz="2000" b="0" i="0" u="none" strike="noStrike" dirty="0" err="1">
                <a:latin typeface="黑体" panose="02010609060101010101" pitchFamily="49" charset="-122"/>
                <a:ea typeface="黑体" panose="02010609060101010101" pitchFamily="49" charset="-122"/>
                <a:cs typeface="Noto Sans SC"/>
                <a:sym typeface="Noto Sans SC"/>
              </a:rPr>
              <a:t>年轻人”的界定在不同文化、社会背景或具体场景中，往往存在显著差异，难以用统一的单点值衡量</a:t>
            </a:r>
            <a:r>
              <a:rPr lang="en-US" sz="2000" b="0" i="0" u="none" strike="noStrike" dirty="0">
                <a:latin typeface="黑体" panose="02010609060101010101" pitchFamily="49" charset="-122"/>
                <a:ea typeface="黑体" panose="02010609060101010101" pitchFamily="49" charset="-122"/>
                <a:cs typeface="Noto Sans SC"/>
                <a:sym typeface="Noto Sans SC"/>
              </a:rPr>
              <a:t>。</a:t>
            </a:r>
          </a:p>
        </p:txBody>
      </p:sp>
      <p:sp>
        <p:nvSpPr>
          <p:cNvPr id="12" name="AutoShape 14">
            <a:extLst>
              <a:ext uri="{FF2B5EF4-FFF2-40B4-BE49-F238E27FC236}">
                <a16:creationId xmlns:a16="http://schemas.microsoft.com/office/drawing/2014/main" id="{E2343A3D-BF61-167C-0602-8A6B27293582}"/>
              </a:ext>
            </a:extLst>
          </p:cNvPr>
          <p:cNvSpPr/>
          <p:nvPr/>
        </p:nvSpPr>
        <p:spPr>
          <a:xfrm>
            <a:off x="837771" y="4221088"/>
            <a:ext cx="6080988" cy="1154831"/>
          </a:xfrm>
          <a:prstGeom prst="rect">
            <a:avLst/>
          </a:prstGeom>
          <a:noFill/>
          <a:ln w="12700" cap="flat" cmpd="sng">
            <a:noFill/>
            <a:prstDash val="solid"/>
            <a:round/>
          </a:ln>
        </p:spPr>
        <p:txBody>
          <a:bodyPr vert="horz" wrap="square" lIns="0" tIns="0" rIns="0" bIns="0" rtlCol="0" anchor="ctr" anchorCtr="0"/>
          <a:lstStyle/>
          <a:p>
            <a:pPr marL="342900" indent="-342900" algn="l">
              <a:lnSpc>
                <a:spcPct val="125000"/>
              </a:lnSpc>
              <a:buFont typeface="Wingdings" panose="05000000000000000000" pitchFamily="2" charset="2"/>
              <a:buChar char="p"/>
              <a:defRPr/>
            </a:pPr>
            <a:r>
              <a:rPr lang="en-US" sz="2400" b="1" i="0" u="none" strike="noStrike" dirty="0" err="1">
                <a:solidFill>
                  <a:srgbClr val="008000"/>
                </a:solidFill>
                <a:latin typeface="黑体" panose="02010609060101010101" pitchFamily="49" charset="-122"/>
                <a:ea typeface="黑体" panose="02010609060101010101" pitchFamily="49" charset="-122"/>
                <a:cs typeface="Noto Sans SC"/>
                <a:sym typeface="Noto Sans SC"/>
              </a:rPr>
              <a:t>专家分歧：认知的主观性</a:t>
            </a:r>
            <a:endParaRPr lang="en-US" sz="2400" dirty="0">
              <a:solidFill>
                <a:srgbClr val="008000"/>
              </a:solidFill>
              <a:latin typeface="黑体" panose="02010609060101010101" pitchFamily="49" charset="-122"/>
              <a:ea typeface="黑体" panose="02010609060101010101" pitchFamily="49" charset="-122"/>
            </a:endParaRPr>
          </a:p>
          <a:p>
            <a:pPr marL="0" indent="0" algn="l">
              <a:lnSpc>
                <a:spcPct val="108333"/>
              </a:lnSpc>
            </a:pPr>
            <a:r>
              <a:rPr lang="en-US" sz="2000" b="0" i="0" u="none" strike="noStrike" dirty="0" err="1">
                <a:latin typeface="黑体" panose="02010609060101010101" pitchFamily="49" charset="-122"/>
                <a:ea typeface="黑体" panose="02010609060101010101" pitchFamily="49" charset="-122"/>
                <a:cs typeface="Noto Sans SC"/>
                <a:sym typeface="Noto Sans SC"/>
              </a:rPr>
              <a:t>不同领域的专家对隶属度函数的关键参数设定常持有不同观点，单一的精确值无法调和这些合理的分歧</a:t>
            </a:r>
            <a:r>
              <a:rPr lang="en-US" sz="2400" b="0" i="0" u="none" strike="noStrike" dirty="0">
                <a:latin typeface="黑体" panose="02010609060101010101" pitchFamily="49" charset="-122"/>
                <a:ea typeface="黑体" panose="02010609060101010101" pitchFamily="49" charset="-122"/>
                <a:cs typeface="Noto Sans SC"/>
                <a:sym typeface="Noto Sans SC"/>
              </a:rPr>
              <a:t>。</a:t>
            </a:r>
          </a:p>
        </p:txBody>
      </p:sp>
      <p:sp>
        <p:nvSpPr>
          <p:cNvPr id="13" name="AutoShape 17">
            <a:extLst>
              <a:ext uri="{FF2B5EF4-FFF2-40B4-BE49-F238E27FC236}">
                <a16:creationId xmlns:a16="http://schemas.microsoft.com/office/drawing/2014/main" id="{4BA99993-671F-3DE1-DEEB-E618CFCBF7FF}"/>
              </a:ext>
            </a:extLst>
          </p:cNvPr>
          <p:cNvSpPr/>
          <p:nvPr/>
        </p:nvSpPr>
        <p:spPr>
          <a:xfrm>
            <a:off x="865603" y="5589240"/>
            <a:ext cx="6080988" cy="1154831"/>
          </a:xfrm>
          <a:prstGeom prst="rect">
            <a:avLst/>
          </a:prstGeom>
          <a:noFill/>
          <a:ln w="12700" cap="flat" cmpd="sng">
            <a:noFill/>
            <a:prstDash val="solid"/>
            <a:round/>
          </a:ln>
        </p:spPr>
        <p:txBody>
          <a:bodyPr vert="horz" wrap="square" lIns="0" tIns="0" rIns="0" bIns="0" rtlCol="0" anchor="ctr" anchorCtr="0"/>
          <a:lstStyle/>
          <a:p>
            <a:pPr marL="342900" indent="-342900" algn="l">
              <a:lnSpc>
                <a:spcPct val="125000"/>
              </a:lnSpc>
              <a:buFont typeface="Wingdings" panose="05000000000000000000" pitchFamily="2" charset="2"/>
              <a:buChar char="p"/>
              <a:defRPr/>
            </a:pPr>
            <a:r>
              <a:rPr lang="en-US" sz="2400" b="1" i="0" u="none" strike="noStrike" dirty="0" err="1">
                <a:solidFill>
                  <a:srgbClr val="7030A0"/>
                </a:solidFill>
                <a:latin typeface="黑体" panose="02010609060101010101" pitchFamily="49" charset="-122"/>
                <a:ea typeface="黑体" panose="02010609060101010101" pitchFamily="49" charset="-122"/>
                <a:cs typeface="Noto Sans SC"/>
                <a:sym typeface="Noto Sans SC"/>
              </a:rPr>
              <a:t>数据噪声：测量的不精确性</a:t>
            </a:r>
            <a:endParaRPr lang="en-US" sz="2400" dirty="0">
              <a:solidFill>
                <a:srgbClr val="7030A0"/>
              </a:solidFill>
              <a:latin typeface="黑体" panose="02010609060101010101" pitchFamily="49" charset="-122"/>
              <a:ea typeface="黑体" panose="02010609060101010101" pitchFamily="49" charset="-122"/>
            </a:endParaRPr>
          </a:p>
          <a:p>
            <a:pPr marL="0" indent="0" algn="l">
              <a:lnSpc>
                <a:spcPct val="108333"/>
              </a:lnSpc>
            </a:pPr>
            <a:r>
              <a:rPr lang="en-US" sz="2000" b="0" i="0" u="none" strike="noStrike" dirty="0" err="1">
                <a:latin typeface="黑体" panose="02010609060101010101" pitchFamily="49" charset="-122"/>
                <a:ea typeface="黑体" panose="02010609060101010101" pitchFamily="49" charset="-122"/>
                <a:cs typeface="Noto Sans SC"/>
                <a:sym typeface="Noto Sans SC"/>
              </a:rPr>
              <a:t>实际系统中的传感器数据或训练样本不可避免地包含随机误差与干扰，一型模糊集无法有效包容这类噪声</a:t>
            </a:r>
            <a:r>
              <a:rPr lang="en-US" sz="2000" b="0" i="0" u="none" strike="noStrike" dirty="0">
                <a:latin typeface="黑体" panose="02010609060101010101" pitchFamily="49" charset="-122"/>
                <a:ea typeface="黑体" panose="02010609060101010101" pitchFamily="49" charset="-122"/>
                <a:cs typeface="Noto Sans SC"/>
                <a:sym typeface="Noto Sans SC"/>
              </a:rPr>
              <a:t>。</a:t>
            </a:r>
          </a:p>
        </p:txBody>
      </p:sp>
      <p:sp>
        <p:nvSpPr>
          <p:cNvPr id="14" name="AutoShape 19">
            <a:extLst>
              <a:ext uri="{FF2B5EF4-FFF2-40B4-BE49-F238E27FC236}">
                <a16:creationId xmlns:a16="http://schemas.microsoft.com/office/drawing/2014/main" id="{83008D09-8097-99B1-E2EA-19247622C9D0}"/>
              </a:ext>
            </a:extLst>
          </p:cNvPr>
          <p:cNvSpPr/>
          <p:nvPr/>
        </p:nvSpPr>
        <p:spPr>
          <a:xfrm>
            <a:off x="4617373" y="4762041"/>
            <a:ext cx="7574627" cy="2080205"/>
          </a:xfrm>
          <a:prstGeom prst="rect">
            <a:avLst/>
          </a:prstGeom>
          <a:solidFill>
            <a:srgbClr val="FFFF00"/>
          </a:solidFill>
          <a:ln w="12700" cap="flat" cmpd="sng">
            <a:noFill/>
            <a:prstDash val="solid"/>
            <a:round/>
          </a:ln>
        </p:spPr>
        <p:txBody>
          <a:bodyPr vert="horz" wrap="square" lIns="0" tIns="0" rIns="0" bIns="0" rtlCol="0" anchor="ctr" anchorCtr="0"/>
          <a:lstStyle/>
          <a:p>
            <a:pPr marL="0" indent="0" algn="l">
              <a:lnSpc>
                <a:spcPct val="116666"/>
              </a:lnSpc>
              <a:defRPr/>
            </a:pPr>
            <a:r>
              <a:rPr lang="en-US" sz="2800" b="1" i="0" u="none" strike="noStrike" dirty="0" err="1">
                <a:solidFill>
                  <a:srgbClr val="FF0066"/>
                </a:solidFill>
                <a:latin typeface="黑体" panose="02010609060101010101" pitchFamily="49" charset="-122"/>
                <a:ea typeface="黑体" panose="02010609060101010101" pitchFamily="49" charset="-122"/>
                <a:cs typeface="Noto Sans SC"/>
                <a:sym typeface="Noto Sans SC"/>
              </a:rPr>
              <a:t>核心局限</a:t>
            </a:r>
            <a:r>
              <a:rPr lang="en-US" sz="2800" b="1" i="0" u="none" strike="noStrike" dirty="0">
                <a:solidFill>
                  <a:srgbClr val="FF0066"/>
                </a:solidFill>
                <a:latin typeface="黑体" panose="02010609060101010101" pitchFamily="49" charset="-122"/>
                <a:ea typeface="黑体" panose="02010609060101010101" pitchFamily="49" charset="-122"/>
                <a:cs typeface="Noto Sans SC"/>
                <a:sym typeface="Noto Sans SC"/>
              </a:rPr>
              <a:t>：</a:t>
            </a:r>
          </a:p>
          <a:p>
            <a:pPr marL="0" indent="0" algn="l">
              <a:lnSpc>
                <a:spcPct val="116666"/>
              </a:lnSpc>
              <a:defRPr/>
            </a:pPr>
            <a:r>
              <a:rPr lang="en-US" sz="2800" b="0" i="0" u="none" strike="noStrike" dirty="0">
                <a:solidFill>
                  <a:srgbClr val="374151"/>
                </a:solidFill>
                <a:latin typeface="黑体" panose="02010609060101010101" pitchFamily="49" charset="-122"/>
                <a:ea typeface="黑体" panose="02010609060101010101" pitchFamily="49" charset="-122"/>
                <a:cs typeface="Noto Sans SC"/>
                <a:sym typeface="Noto Sans SC"/>
              </a:rPr>
              <a:t>一型模糊集合无法有效处理“</a:t>
            </a:r>
            <a:r>
              <a:rPr lang="en-US" sz="2800" b="0" i="0" u="none" strike="noStrike" dirty="0" err="1">
                <a:solidFill>
                  <a:srgbClr val="0070C0"/>
                </a:solidFill>
                <a:latin typeface="黑体" panose="02010609060101010101" pitchFamily="49" charset="-122"/>
                <a:ea typeface="黑体" panose="02010609060101010101" pitchFamily="49" charset="-122"/>
                <a:cs typeface="Noto Sans SC"/>
                <a:sym typeface="Noto Sans SC"/>
              </a:rPr>
              <a:t>关于模糊性的模糊性</a:t>
            </a:r>
            <a:r>
              <a:rPr lang="en-US" sz="2800" b="0" i="0" u="none" strike="noStrike" dirty="0">
                <a:solidFill>
                  <a:srgbClr val="374151"/>
                </a:solidFill>
                <a:latin typeface="黑体" panose="02010609060101010101" pitchFamily="49" charset="-122"/>
                <a:ea typeface="黑体" panose="02010609060101010101" pitchFamily="49" charset="-122"/>
                <a:cs typeface="Noto Sans SC"/>
                <a:sym typeface="Noto Sans SC"/>
              </a:rPr>
              <a:t>”,</a:t>
            </a:r>
            <a:r>
              <a:rPr lang="en-US" sz="2800" b="0" i="0" u="none" strike="noStrike" dirty="0" err="1">
                <a:solidFill>
                  <a:srgbClr val="374151"/>
                </a:solidFill>
                <a:latin typeface="黑体" panose="02010609060101010101" pitchFamily="49" charset="-122"/>
                <a:ea typeface="黑体" panose="02010609060101010101" pitchFamily="49" charset="-122"/>
                <a:cs typeface="Noto Sans SC"/>
                <a:sym typeface="Noto Sans SC"/>
              </a:rPr>
              <a:t>当系统面临严重的不确定性或噪声干扰时</a:t>
            </a:r>
            <a:r>
              <a:rPr lang="en-US" sz="2800" dirty="0" err="1">
                <a:solidFill>
                  <a:srgbClr val="374151"/>
                </a:solidFill>
                <a:latin typeface="黑体" panose="02010609060101010101" pitchFamily="49" charset="-122"/>
                <a:ea typeface="黑体" panose="02010609060101010101" pitchFamily="49" charset="-122"/>
                <a:cs typeface="Noto Sans SC"/>
                <a:sym typeface="Noto Sans SC"/>
              </a:rPr>
              <a:t>,</a:t>
            </a:r>
            <a:r>
              <a:rPr lang="en-US" sz="2800" b="0" i="0" u="none" strike="noStrike" dirty="0" err="1">
                <a:solidFill>
                  <a:srgbClr val="374151"/>
                </a:solidFill>
                <a:latin typeface="黑体" panose="02010609060101010101" pitchFamily="49" charset="-122"/>
                <a:ea typeface="黑体" panose="02010609060101010101" pitchFamily="49" charset="-122"/>
                <a:cs typeface="Noto Sans SC"/>
                <a:sym typeface="Noto Sans SC"/>
              </a:rPr>
              <a:t>其推理的性能和鲁棒性将受到显著制约</a:t>
            </a:r>
            <a:r>
              <a:rPr lang="en-US" sz="2800" b="0" i="0" u="none" strike="noStrike" dirty="0">
                <a:solidFill>
                  <a:srgbClr val="374151"/>
                </a:solidFill>
                <a:latin typeface="黑体" panose="02010609060101010101" pitchFamily="49" charset="-122"/>
                <a:ea typeface="黑体" panose="02010609060101010101" pitchFamily="49" charset="-122"/>
                <a:cs typeface="Noto Sans SC"/>
                <a:sym typeface="Noto Sans SC"/>
              </a:rPr>
              <a:t>。</a:t>
            </a:r>
            <a:endParaRPr lang="en-US" sz="28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99182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2" presetClass="entr" presetSubtype="8"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1" grpId="0"/>
      <p:bldP spid="12" grpId="0"/>
      <p:bldP spid="13" grpId="0"/>
      <p:bldP spid="1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A2180-6AC5-2B8C-E759-C1D19725E95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60716B7-2183-E3D1-CC5E-88D8059233A4}"/>
              </a:ext>
            </a:extLst>
          </p:cNvPr>
          <p:cNvSpPr>
            <a:spLocks noGrp="1"/>
          </p:cNvSpPr>
          <p:nvPr>
            <p:ph type="title"/>
          </p:nvPr>
        </p:nvSpPr>
        <p:spPr>
          <a:xfrm>
            <a:off x="609600" y="185192"/>
            <a:ext cx="10972800" cy="1371600"/>
          </a:xfrm>
        </p:spPr>
        <p:txBody>
          <a:bodyPr/>
          <a:lstStyle/>
          <a:p>
            <a:pPr algn="ctr"/>
            <a:r>
              <a:rPr lang="en-US" altLang="zh-CN" dirty="0" err="1">
                <a:solidFill>
                  <a:srgbClr val="008000"/>
                </a:solidFill>
                <a:latin typeface="+mn-lt"/>
                <a:ea typeface="黑体" panose="02010609060101010101" pitchFamily="49" charset="-122"/>
                <a:cs typeface="Noto Sans SC"/>
                <a:sym typeface="Noto Sans SC"/>
              </a:rPr>
              <a:t>二型模糊</a:t>
            </a:r>
            <a:r>
              <a:rPr lang="zh-CN" altLang="en-US" dirty="0">
                <a:solidFill>
                  <a:srgbClr val="008000"/>
                </a:solidFill>
                <a:latin typeface="+mn-lt"/>
                <a:ea typeface="黑体" panose="02010609060101010101" pitchFamily="49" charset="-122"/>
                <a:cs typeface="Noto Sans SC"/>
                <a:sym typeface="Noto Sans SC"/>
              </a:rPr>
              <a:t>集合</a:t>
            </a:r>
            <a:r>
              <a:rPr lang="en-US" altLang="zh-CN" dirty="0">
                <a:solidFill>
                  <a:srgbClr val="008000"/>
                </a:solidFill>
                <a:latin typeface="+mn-lt"/>
                <a:ea typeface="黑体" panose="02010609060101010101" pitchFamily="49" charset="-122"/>
                <a:cs typeface="Noto Sans SC"/>
                <a:sym typeface="Noto Sans SC"/>
              </a:rPr>
              <a:t> (Type-2 FS)</a:t>
            </a:r>
            <a:endParaRPr lang="zh-CN" altLang="en-US" dirty="0">
              <a:solidFill>
                <a:srgbClr val="008000"/>
              </a:solidFill>
              <a:latin typeface="+mn-lt"/>
              <a:ea typeface="黑体" panose="02010609060101010101" pitchFamily="49" charset="-122"/>
            </a:endParaRPr>
          </a:p>
        </p:txBody>
      </p:sp>
      <p:sp>
        <p:nvSpPr>
          <p:cNvPr id="3" name="内容占位符 2">
            <a:extLst>
              <a:ext uri="{FF2B5EF4-FFF2-40B4-BE49-F238E27FC236}">
                <a16:creationId xmlns:a16="http://schemas.microsoft.com/office/drawing/2014/main" id="{D0AFF3B3-4814-7D54-7112-8FE55653B32A}"/>
              </a:ext>
            </a:extLst>
          </p:cNvPr>
          <p:cNvSpPr>
            <a:spLocks noGrp="1"/>
          </p:cNvSpPr>
          <p:nvPr>
            <p:ph idx="1"/>
          </p:nvPr>
        </p:nvSpPr>
        <p:spPr>
          <a:xfrm>
            <a:off x="609600" y="1314446"/>
            <a:ext cx="10972800" cy="1630133"/>
          </a:xfrm>
        </p:spPr>
        <p:txBody>
          <a:bodyPr/>
          <a:lstStyle/>
          <a:p>
            <a:r>
              <a:rPr lang="zh-CN" altLang="en-US" b="1" dirty="0">
                <a:solidFill>
                  <a:srgbClr val="FF0000"/>
                </a:solidFill>
                <a:ea typeface="黑体" panose="02010609060101010101" pitchFamily="49" charset="-122"/>
                <a:cs typeface="Noto Sans SC"/>
                <a:sym typeface="Noto Sans SC"/>
              </a:rPr>
              <a:t>二</a:t>
            </a:r>
            <a:r>
              <a:rPr lang="en-US" altLang="zh-CN" b="1" dirty="0">
                <a:solidFill>
                  <a:srgbClr val="FF0000"/>
                </a:solidFill>
                <a:ea typeface="黑体" panose="02010609060101010101" pitchFamily="49" charset="-122"/>
                <a:cs typeface="Noto Sans SC"/>
                <a:sym typeface="Noto Sans SC"/>
              </a:rPr>
              <a:t>型(Type-2)</a:t>
            </a:r>
            <a:r>
              <a:rPr lang="en-US" altLang="zh-CN" b="1" dirty="0" err="1">
                <a:solidFill>
                  <a:srgbClr val="FF0000"/>
                </a:solidFill>
                <a:ea typeface="黑体" panose="02010609060101010101" pitchFamily="49" charset="-122"/>
                <a:cs typeface="Noto Sans SC"/>
                <a:sym typeface="Noto Sans SC"/>
              </a:rPr>
              <a:t>模糊集合的</a:t>
            </a:r>
            <a:r>
              <a:rPr lang="zh-CN" altLang="en-US" b="1" dirty="0">
                <a:solidFill>
                  <a:srgbClr val="FF0000"/>
                </a:solidFill>
                <a:ea typeface="黑体" panose="02010609060101010101" pitchFamily="49" charset="-122"/>
                <a:cs typeface="Noto Sans SC"/>
                <a:sym typeface="Noto Sans SC"/>
              </a:rPr>
              <a:t>核心思想</a:t>
            </a:r>
            <a:endParaRPr lang="en-US" altLang="zh-CN" b="1" dirty="0">
              <a:solidFill>
                <a:srgbClr val="FF0000"/>
              </a:solidFill>
              <a:ea typeface="黑体" panose="02010609060101010101" pitchFamily="49" charset="-122"/>
              <a:cs typeface="Noto Sans SC"/>
              <a:sym typeface="Noto Sans SC"/>
            </a:endParaRPr>
          </a:p>
          <a:p>
            <a:pPr lvl="1"/>
            <a:r>
              <a:rPr lang="en-US" altLang="zh-CN" dirty="0" err="1">
                <a:solidFill>
                  <a:srgbClr val="374151"/>
                </a:solidFill>
                <a:latin typeface="黑体" panose="02010609060101010101" pitchFamily="49" charset="-122"/>
                <a:ea typeface="黑体" panose="02010609060101010101" pitchFamily="49" charset="-122"/>
                <a:cs typeface="Noto Sans SC"/>
                <a:sym typeface="Noto Sans SC"/>
              </a:rPr>
              <a:t>将一型中</a:t>
            </a:r>
            <a:r>
              <a:rPr lang="en-US" altLang="zh-CN" b="1" dirty="0" err="1">
                <a:solidFill>
                  <a:srgbClr val="00B0F0"/>
                </a:solidFill>
                <a:latin typeface="黑体" panose="02010609060101010101" pitchFamily="49" charset="-122"/>
                <a:ea typeface="黑体" panose="02010609060101010101" pitchFamily="49" charset="-122"/>
                <a:cs typeface="Noto Sans SC"/>
                <a:sym typeface="Noto Sans SC"/>
              </a:rPr>
              <a:t>精确的单点隶属度</a:t>
            </a:r>
            <a:r>
              <a:rPr lang="en-US" altLang="zh-CN" dirty="0" err="1">
                <a:solidFill>
                  <a:srgbClr val="374151"/>
                </a:solidFill>
                <a:latin typeface="黑体" panose="02010609060101010101" pitchFamily="49" charset="-122"/>
                <a:ea typeface="黑体" panose="02010609060101010101" pitchFamily="49" charset="-122"/>
                <a:cs typeface="Noto Sans SC"/>
                <a:sym typeface="Noto Sans SC"/>
              </a:rPr>
              <a:t>，扩展为一个区间或更复杂分布的</a:t>
            </a:r>
            <a:r>
              <a:rPr lang="en-US" altLang="zh-CN" b="1" dirty="0" err="1">
                <a:solidFill>
                  <a:srgbClr val="CC00CC"/>
                </a:solidFill>
                <a:latin typeface="黑体" panose="02010609060101010101" pitchFamily="49" charset="-122"/>
                <a:ea typeface="黑体" panose="02010609060101010101" pitchFamily="49" charset="-122"/>
                <a:cs typeface="Noto Sans SC"/>
                <a:sym typeface="Noto Sans SC"/>
              </a:rPr>
              <a:t>模糊集合</a:t>
            </a:r>
            <a:r>
              <a:rPr lang="en-US" altLang="zh-CN" dirty="0" err="1">
                <a:solidFill>
                  <a:srgbClr val="374151"/>
                </a:solidFill>
                <a:latin typeface="黑体" panose="02010609060101010101" pitchFamily="49" charset="-122"/>
                <a:ea typeface="黑体" panose="02010609060101010101" pitchFamily="49" charset="-122"/>
                <a:cs typeface="Noto Sans SC"/>
                <a:sym typeface="Noto Sans SC"/>
              </a:rPr>
              <a:t>，为模糊性本身赋予了新的维度</a:t>
            </a:r>
            <a:r>
              <a:rPr lang="en-US" altLang="zh-CN" dirty="0">
                <a:solidFill>
                  <a:srgbClr val="374151"/>
                </a:solidFill>
                <a:latin typeface="黑体" panose="02010609060101010101" pitchFamily="49" charset="-122"/>
                <a:ea typeface="黑体" panose="02010609060101010101" pitchFamily="49" charset="-122"/>
                <a:cs typeface="Noto Sans SC"/>
                <a:sym typeface="Noto Sans SC"/>
              </a:rPr>
              <a:t>。</a:t>
            </a:r>
            <a:endParaRPr lang="en-US" altLang="zh-CN" dirty="0">
              <a:latin typeface="黑体" panose="02010609060101010101" pitchFamily="49" charset="-122"/>
              <a:ea typeface="黑体" panose="02010609060101010101" pitchFamily="49" charset="-122"/>
            </a:endParaRPr>
          </a:p>
          <a:p>
            <a:pPr lvl="1"/>
            <a:endParaRPr lang="zh-CN" altLang="en-US" dirty="0"/>
          </a:p>
        </p:txBody>
      </p:sp>
      <p:sp>
        <p:nvSpPr>
          <p:cNvPr id="4" name="灯片编号占位符 3">
            <a:extLst>
              <a:ext uri="{FF2B5EF4-FFF2-40B4-BE49-F238E27FC236}">
                <a16:creationId xmlns:a16="http://schemas.microsoft.com/office/drawing/2014/main" id="{9C67B1F9-4019-3F10-7EF7-08E260625602}"/>
              </a:ext>
            </a:extLst>
          </p:cNvPr>
          <p:cNvSpPr>
            <a:spLocks noGrp="1"/>
          </p:cNvSpPr>
          <p:nvPr>
            <p:ph type="sldNum" sz="quarter" idx="11"/>
          </p:nvPr>
        </p:nvSpPr>
        <p:spPr/>
        <p:txBody>
          <a:bodyPr/>
          <a:lstStyle/>
          <a:p>
            <a:pPr>
              <a:defRPr/>
            </a:pPr>
            <a:fld id="{1F3E0329-027F-44B1-A42A-8643FF593956}" type="slidenum">
              <a:rPr lang="en-US" altLang="zh-CN" smtClean="0"/>
              <a:pPr>
                <a:defRPr/>
              </a:pPr>
              <a:t>75</a:t>
            </a:fld>
            <a:endParaRPr lang="en-US" altLang="zh-CN"/>
          </a:p>
        </p:txBody>
      </p:sp>
      <p:sp>
        <p:nvSpPr>
          <p:cNvPr id="11" name="AutoShape 11">
            <a:extLst>
              <a:ext uri="{FF2B5EF4-FFF2-40B4-BE49-F238E27FC236}">
                <a16:creationId xmlns:a16="http://schemas.microsoft.com/office/drawing/2014/main" id="{8CB33268-37A1-E6C2-6D0D-D33A1E8C5F18}"/>
              </a:ext>
            </a:extLst>
          </p:cNvPr>
          <p:cNvSpPr/>
          <p:nvPr/>
        </p:nvSpPr>
        <p:spPr>
          <a:xfrm>
            <a:off x="1011772" y="3388033"/>
            <a:ext cx="10397180" cy="1371600"/>
          </a:xfrm>
          <a:prstGeom prst="rect">
            <a:avLst/>
          </a:prstGeom>
          <a:noFill/>
          <a:ln w="12700" cap="flat" cmpd="sng">
            <a:noFill/>
            <a:prstDash val="solid"/>
            <a:round/>
          </a:ln>
        </p:spPr>
        <p:txBody>
          <a:bodyPr vert="horz" wrap="square" lIns="0" tIns="0" rIns="0" bIns="0" rtlCol="0" anchor="ctr" anchorCtr="0"/>
          <a:lstStyle/>
          <a:p>
            <a:pPr marL="342900" indent="-342900">
              <a:lnSpc>
                <a:spcPct val="125000"/>
              </a:lnSpc>
              <a:buFont typeface="Wingdings" panose="05000000000000000000" pitchFamily="2" charset="2"/>
              <a:buChar char="p"/>
              <a:defRPr/>
            </a:pPr>
            <a:r>
              <a:rPr lang="en-US" altLang="zh-CN" sz="2800" b="1" dirty="0" err="1">
                <a:solidFill>
                  <a:srgbClr val="00B050"/>
                </a:solidFill>
                <a:latin typeface="Noto Sans SC"/>
                <a:ea typeface="Noto Sans SC"/>
                <a:cs typeface="Noto Sans SC"/>
                <a:sym typeface="Noto Sans SC"/>
              </a:rPr>
              <a:t>二型模糊集合</a:t>
            </a:r>
            <a:endParaRPr lang="en-US" altLang="zh-CN" sz="2800" b="1" dirty="0">
              <a:solidFill>
                <a:srgbClr val="00B050"/>
              </a:solidFill>
              <a:latin typeface="Noto Sans SC"/>
              <a:ea typeface="Noto Sans SC"/>
              <a:cs typeface="Noto Sans SC"/>
              <a:sym typeface="Noto Sans SC"/>
            </a:endParaRPr>
          </a:p>
          <a:p>
            <a:pPr>
              <a:lnSpc>
                <a:spcPct val="125000"/>
              </a:lnSpc>
              <a:defRPr/>
            </a:pPr>
            <a:r>
              <a:rPr lang="en-US" sz="2400" b="0" i="0" u="none" strike="noStrike" dirty="0">
                <a:solidFill>
                  <a:srgbClr val="4A5568"/>
                </a:solidFill>
                <a:latin typeface="+mn-lt"/>
                <a:ea typeface="黑体" panose="02010609060101010101" pitchFamily="49" charset="-122"/>
                <a:cs typeface="Noto Sans SC"/>
                <a:sym typeface="Noto Sans SC"/>
              </a:rPr>
              <a:t>“</a:t>
            </a:r>
            <a:r>
              <a:rPr lang="en-US" altLang="zh-CN" sz="2400" dirty="0" err="1">
                <a:solidFill>
                  <a:srgbClr val="4A5568"/>
                </a:solidFill>
                <a:latin typeface="+mn-lt"/>
                <a:ea typeface="黑体" panose="02010609060101010101" pitchFamily="49" charset="-122"/>
                <a:cs typeface="Noto Sans SC"/>
                <a:sym typeface="Noto Sans SC"/>
              </a:rPr>
              <a:t>元素</a:t>
            </a:r>
            <a:r>
              <a:rPr lang="en-US" altLang="zh-CN" sz="2400" dirty="0">
                <a:solidFill>
                  <a:srgbClr val="4A5568"/>
                </a:solidFill>
                <a:latin typeface="+mn-lt"/>
                <a:ea typeface="黑体" panose="02010609060101010101" pitchFamily="49" charset="-122"/>
                <a:cs typeface="Noto Sans SC"/>
                <a:sym typeface="Noto Sans SC"/>
              </a:rPr>
              <a:t> x </a:t>
            </a:r>
            <a:r>
              <a:rPr lang="en-US" altLang="zh-CN" sz="2400" dirty="0" err="1">
                <a:solidFill>
                  <a:srgbClr val="4A5568"/>
                </a:solidFill>
                <a:latin typeface="+mn-lt"/>
                <a:ea typeface="黑体" panose="02010609060101010101" pitchFamily="49" charset="-122"/>
                <a:cs typeface="Noto Sans SC"/>
                <a:sym typeface="Noto Sans SC"/>
              </a:rPr>
              <a:t>的隶属度是定义在</a:t>
            </a:r>
            <a:r>
              <a:rPr lang="en-US" altLang="zh-CN" sz="2400" dirty="0">
                <a:solidFill>
                  <a:srgbClr val="4A5568"/>
                </a:solidFill>
                <a:latin typeface="+mn-lt"/>
                <a:ea typeface="黑体" panose="02010609060101010101" pitchFamily="49" charset="-122"/>
                <a:cs typeface="Noto Sans SC"/>
                <a:sym typeface="Noto Sans SC"/>
              </a:rPr>
              <a:t> [0,1] </a:t>
            </a:r>
            <a:r>
              <a:rPr lang="en-US" altLang="zh-CN" sz="2400" dirty="0" err="1">
                <a:solidFill>
                  <a:srgbClr val="4A5568"/>
                </a:solidFill>
                <a:latin typeface="+mn-lt"/>
                <a:ea typeface="黑体" panose="02010609060101010101" pitchFamily="49" charset="-122"/>
                <a:cs typeface="Noto Sans SC"/>
                <a:sym typeface="Noto Sans SC"/>
              </a:rPr>
              <a:t>区间上的模糊集合，称为</a:t>
            </a:r>
            <a:r>
              <a:rPr lang="en-US" altLang="zh-CN" sz="2400" b="1" dirty="0" err="1">
                <a:solidFill>
                  <a:srgbClr val="00B050"/>
                </a:solidFill>
                <a:latin typeface="+mn-lt"/>
                <a:ea typeface="黑体" panose="02010609060101010101" pitchFamily="49" charset="-122"/>
                <a:cs typeface="Noto Sans SC"/>
                <a:sym typeface="Noto Sans SC"/>
              </a:rPr>
              <a:t>次隶属函数</a:t>
            </a:r>
            <a:r>
              <a:rPr lang="en-US" altLang="zh-CN" sz="2400" dirty="0" err="1">
                <a:solidFill>
                  <a:srgbClr val="4A5568"/>
                </a:solidFill>
                <a:latin typeface="+mn-lt"/>
                <a:ea typeface="黑体" panose="02010609060101010101" pitchFamily="49" charset="-122"/>
                <a:cs typeface="Noto Sans SC"/>
                <a:sym typeface="Noto Sans SC"/>
              </a:rPr>
              <a:t>。它为隶属度增加了“</a:t>
            </a:r>
            <a:r>
              <a:rPr lang="en-US" altLang="zh-CN" sz="2400" dirty="0" err="1">
                <a:solidFill>
                  <a:srgbClr val="7030A0"/>
                </a:solidFill>
                <a:latin typeface="+mn-lt"/>
                <a:ea typeface="黑体" panose="02010609060101010101" pitchFamily="49" charset="-122"/>
                <a:cs typeface="Noto Sans SC"/>
                <a:sym typeface="Noto Sans SC"/>
              </a:rPr>
              <a:t>模糊的模糊</a:t>
            </a:r>
            <a:r>
              <a:rPr lang="en-US" altLang="zh-CN" sz="2400" dirty="0" err="1">
                <a:solidFill>
                  <a:srgbClr val="4A5568"/>
                </a:solidFill>
                <a:latin typeface="+mn-lt"/>
                <a:ea typeface="黑体" panose="02010609060101010101" pitchFamily="49" charset="-122"/>
                <a:cs typeface="Noto Sans SC"/>
                <a:sym typeface="Noto Sans SC"/>
              </a:rPr>
              <a:t>”这一维度，能够直接量化和处理系统中的不确定性来源</a:t>
            </a:r>
            <a:r>
              <a:rPr lang="en-US" altLang="zh-CN" sz="2400" dirty="0">
                <a:solidFill>
                  <a:srgbClr val="4A5568"/>
                </a:solidFill>
                <a:latin typeface="+mn-lt"/>
                <a:ea typeface="黑体" panose="02010609060101010101" pitchFamily="49" charset="-122"/>
                <a:cs typeface="Noto Sans SC"/>
                <a:sym typeface="Noto Sans SC"/>
              </a:rPr>
              <a:t>。</a:t>
            </a:r>
            <a:endParaRPr lang="en-US" altLang="zh-CN" sz="2400" dirty="0">
              <a:latin typeface="+mn-lt"/>
              <a:ea typeface="黑体" panose="02010609060101010101" pitchFamily="49" charset="-122"/>
            </a:endParaRPr>
          </a:p>
          <a:p>
            <a:pPr marL="0" indent="0" algn="l">
              <a:lnSpc>
                <a:spcPct val="108333"/>
              </a:lnSpc>
            </a:pPr>
            <a:endParaRPr lang="en-US" sz="2000" b="0" i="0" u="none" strike="noStrike" dirty="0">
              <a:solidFill>
                <a:srgbClr val="4A5568"/>
              </a:solidFill>
              <a:latin typeface="黑体" panose="02010609060101010101" pitchFamily="49" charset="-122"/>
              <a:ea typeface="黑体" panose="02010609060101010101" pitchFamily="49" charset="-122"/>
              <a:cs typeface="Noto Sans SC"/>
              <a:sym typeface="Noto Sans SC"/>
            </a:endParaRPr>
          </a:p>
        </p:txBody>
      </p:sp>
      <p:sp>
        <p:nvSpPr>
          <p:cNvPr id="12" name="AutoShape 14">
            <a:extLst>
              <a:ext uri="{FF2B5EF4-FFF2-40B4-BE49-F238E27FC236}">
                <a16:creationId xmlns:a16="http://schemas.microsoft.com/office/drawing/2014/main" id="{6362B5A0-2419-4B9A-CBFC-A8A85FC440E2}"/>
              </a:ext>
            </a:extLst>
          </p:cNvPr>
          <p:cNvSpPr/>
          <p:nvPr/>
        </p:nvSpPr>
        <p:spPr>
          <a:xfrm>
            <a:off x="1027412" y="4629180"/>
            <a:ext cx="10397180" cy="2184196"/>
          </a:xfrm>
          <a:prstGeom prst="rect">
            <a:avLst/>
          </a:prstGeom>
          <a:noFill/>
          <a:ln w="12700" cap="flat" cmpd="sng">
            <a:noFill/>
            <a:prstDash val="solid"/>
            <a:round/>
          </a:ln>
        </p:spPr>
        <p:txBody>
          <a:bodyPr vert="horz" wrap="square" lIns="0" tIns="0" rIns="0" bIns="0" rtlCol="0" anchor="ctr" anchorCtr="0"/>
          <a:lstStyle/>
          <a:p>
            <a:pPr marL="342900" indent="-342900">
              <a:lnSpc>
                <a:spcPct val="125000"/>
              </a:lnSpc>
              <a:buFont typeface="Wingdings" panose="05000000000000000000" pitchFamily="2" charset="2"/>
              <a:buChar char="p"/>
              <a:defRPr/>
            </a:pPr>
            <a:r>
              <a:rPr lang="en-US" altLang="zh-CN" sz="2800" b="1" dirty="0" err="1">
                <a:solidFill>
                  <a:srgbClr val="CC00CC"/>
                </a:solidFill>
                <a:latin typeface="Noto Sans SC"/>
                <a:ea typeface="Noto Sans SC"/>
                <a:cs typeface="Noto Sans SC"/>
                <a:sym typeface="Noto Sans SC"/>
              </a:rPr>
              <a:t>建模深层不确定性</a:t>
            </a:r>
            <a:endParaRPr lang="en-US" sz="2800" dirty="0">
              <a:solidFill>
                <a:srgbClr val="CC00CC"/>
              </a:solidFill>
              <a:latin typeface="黑体" panose="02010609060101010101" pitchFamily="49" charset="-122"/>
              <a:ea typeface="黑体" panose="02010609060101010101" pitchFamily="49" charset="-122"/>
            </a:endParaRPr>
          </a:p>
          <a:p>
            <a:pPr>
              <a:lnSpc>
                <a:spcPct val="116666"/>
              </a:lnSpc>
              <a:defRPr/>
            </a:pPr>
            <a:r>
              <a:rPr lang="en-US" altLang="zh-CN" sz="2400" dirty="0">
                <a:solidFill>
                  <a:srgbClr val="374151"/>
                </a:solidFill>
                <a:latin typeface="黑体" panose="02010609060101010101" pitchFamily="49" charset="-122"/>
                <a:ea typeface="黑体" panose="02010609060101010101" pitchFamily="49" charset="-122"/>
                <a:cs typeface="Noto Sans SC"/>
                <a:sym typeface="Noto Sans SC"/>
              </a:rPr>
              <a:t>通过将隶属度模糊化，二型模糊集合能够直接建模和处理影响一型隶属度函数形状与位置的不确定性。这使其在应对</a:t>
            </a:r>
            <a:r>
              <a:rPr lang="en-US" altLang="zh-CN" sz="2400" b="1" dirty="0">
                <a:solidFill>
                  <a:srgbClr val="00B0F0"/>
                </a:solidFill>
                <a:latin typeface="黑体" panose="02010609060101010101" pitchFamily="49" charset="-122"/>
                <a:ea typeface="黑体" panose="02010609060101010101" pitchFamily="49" charset="-122"/>
                <a:cs typeface="Noto Sans SC"/>
                <a:sym typeface="Noto Sans SC"/>
              </a:rPr>
              <a:t>复杂、高噪声、信息不完整</a:t>
            </a:r>
            <a:r>
              <a:rPr lang="en-US" altLang="zh-CN" sz="2400" dirty="0">
                <a:solidFill>
                  <a:srgbClr val="374151"/>
                </a:solidFill>
                <a:latin typeface="黑体" panose="02010609060101010101" pitchFamily="49" charset="-122"/>
                <a:ea typeface="黑体" panose="02010609060101010101" pitchFamily="49" charset="-122"/>
                <a:cs typeface="Noto Sans SC"/>
                <a:sym typeface="Noto Sans SC"/>
              </a:rPr>
              <a:t>的现实环境时，展现出天然的鲁棒性优势。</a:t>
            </a:r>
            <a:endParaRPr lang="en-US" altLang="zh-CN"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210819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p:bldP spid="1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65E81-2C2D-2933-A88E-78EC626F0F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CBDD68-D84D-783E-6C42-ACF826276AF8}"/>
              </a:ext>
            </a:extLst>
          </p:cNvPr>
          <p:cNvSpPr>
            <a:spLocks noGrp="1"/>
          </p:cNvSpPr>
          <p:nvPr>
            <p:ph type="title"/>
          </p:nvPr>
        </p:nvSpPr>
        <p:spPr>
          <a:xfrm>
            <a:off x="609600" y="185192"/>
            <a:ext cx="10972800" cy="1371600"/>
          </a:xfrm>
        </p:spPr>
        <p:txBody>
          <a:bodyPr/>
          <a:lstStyle/>
          <a:p>
            <a:pPr algn="ctr"/>
            <a:r>
              <a:rPr lang="en-US" altLang="zh-CN" dirty="0" err="1">
                <a:solidFill>
                  <a:srgbClr val="008000"/>
                </a:solidFill>
                <a:latin typeface="+mn-lt"/>
                <a:ea typeface="黑体" panose="02010609060101010101" pitchFamily="49" charset="-122"/>
                <a:cs typeface="Noto Sans SC"/>
                <a:sym typeface="Noto Sans SC"/>
              </a:rPr>
              <a:t>二型模糊</a:t>
            </a:r>
            <a:r>
              <a:rPr lang="zh-CN" altLang="en-US" dirty="0">
                <a:solidFill>
                  <a:srgbClr val="008000"/>
                </a:solidFill>
                <a:latin typeface="+mn-lt"/>
                <a:ea typeface="黑体" panose="02010609060101010101" pitchFamily="49" charset="-122"/>
                <a:cs typeface="Noto Sans SC"/>
                <a:sym typeface="Noto Sans SC"/>
              </a:rPr>
              <a:t>集合</a:t>
            </a:r>
            <a:r>
              <a:rPr lang="en-US" altLang="zh-CN" dirty="0">
                <a:solidFill>
                  <a:srgbClr val="008000"/>
                </a:solidFill>
                <a:latin typeface="+mn-lt"/>
                <a:ea typeface="黑体" panose="02010609060101010101" pitchFamily="49" charset="-122"/>
                <a:cs typeface="Noto Sans SC"/>
                <a:sym typeface="Noto Sans SC"/>
              </a:rPr>
              <a:t> (Type-2 FS)</a:t>
            </a:r>
            <a:endParaRPr lang="zh-CN" altLang="en-US" dirty="0">
              <a:solidFill>
                <a:srgbClr val="008000"/>
              </a:solidFill>
              <a:latin typeface="+mn-lt"/>
              <a:ea typeface="黑体" panose="02010609060101010101" pitchFamily="49" charset="-122"/>
            </a:endParaRPr>
          </a:p>
        </p:txBody>
      </p:sp>
      <p:sp>
        <p:nvSpPr>
          <p:cNvPr id="3" name="内容占位符 2">
            <a:extLst>
              <a:ext uri="{FF2B5EF4-FFF2-40B4-BE49-F238E27FC236}">
                <a16:creationId xmlns:a16="http://schemas.microsoft.com/office/drawing/2014/main" id="{9FA0FCD5-9547-7477-EAE2-D08FA8321194}"/>
              </a:ext>
            </a:extLst>
          </p:cNvPr>
          <p:cNvSpPr>
            <a:spLocks noGrp="1"/>
          </p:cNvSpPr>
          <p:nvPr>
            <p:ph idx="1"/>
          </p:nvPr>
        </p:nvSpPr>
        <p:spPr>
          <a:xfrm>
            <a:off x="825624" y="1527592"/>
            <a:ext cx="10526960" cy="995988"/>
          </a:xfrm>
        </p:spPr>
        <p:txBody>
          <a:bodyPr/>
          <a:lstStyle/>
          <a:p>
            <a:r>
              <a:rPr lang="zh-CN" altLang="en-US" b="1" dirty="0">
                <a:solidFill>
                  <a:srgbClr val="00B050"/>
                </a:solidFill>
                <a:ea typeface="黑体" panose="02010609060101010101" pitchFamily="49" charset="-122"/>
                <a:cs typeface="Noto Sans SC"/>
                <a:sym typeface="Noto Sans SC"/>
              </a:rPr>
              <a:t>不确定域</a:t>
            </a:r>
            <a:r>
              <a:rPr lang="en-US" altLang="zh-CN" b="1" dirty="0">
                <a:solidFill>
                  <a:srgbClr val="00B050"/>
                </a:solidFill>
                <a:ea typeface="黑体" panose="02010609060101010101" pitchFamily="49" charset="-122"/>
                <a:cs typeface="Noto Sans SC"/>
                <a:sym typeface="Noto Sans SC"/>
              </a:rPr>
              <a:t>(</a:t>
            </a:r>
            <a:r>
              <a:rPr lang="en-US" altLang="zh-CN" b="1" dirty="0">
                <a:solidFill>
                  <a:srgbClr val="00B050"/>
                </a:solidFill>
                <a:latin typeface="Noto Sans SC"/>
                <a:ea typeface="Noto Sans SC"/>
                <a:cs typeface="Noto Sans SC"/>
                <a:sym typeface="Noto Sans SC"/>
              </a:rPr>
              <a:t>Footprint of Uncertainty, FOU </a:t>
            </a:r>
            <a:r>
              <a:rPr lang="en-US" altLang="zh-CN" b="1" dirty="0">
                <a:solidFill>
                  <a:srgbClr val="00B050"/>
                </a:solidFill>
                <a:ea typeface="黑体" panose="02010609060101010101" pitchFamily="49" charset="-122"/>
                <a:cs typeface="Noto Sans SC"/>
                <a:sym typeface="Noto Sans SC"/>
              </a:rPr>
              <a:t>)</a:t>
            </a:r>
          </a:p>
          <a:p>
            <a:pPr marL="457200" lvl="1" indent="0">
              <a:buNone/>
            </a:pPr>
            <a:r>
              <a:rPr lang="en-US" altLang="zh-CN" sz="2400" dirty="0">
                <a:solidFill>
                  <a:srgbClr val="4A5568"/>
                </a:solidFill>
                <a:latin typeface="Noto Sans SC"/>
                <a:ea typeface="Noto Sans SC"/>
                <a:cs typeface="Noto Sans SC"/>
                <a:sym typeface="Noto Sans SC"/>
              </a:rPr>
              <a:t>形象表示了隶属度函数可能存在的“</a:t>
            </a:r>
            <a:r>
              <a:rPr lang="en-US" altLang="zh-CN" sz="2400" dirty="0" err="1">
                <a:solidFill>
                  <a:srgbClr val="4A5568"/>
                </a:solidFill>
                <a:latin typeface="Noto Sans SC"/>
                <a:ea typeface="Noto Sans SC"/>
                <a:cs typeface="Noto Sans SC"/>
                <a:sym typeface="Noto Sans SC"/>
              </a:rPr>
              <a:t>模糊带</a:t>
            </a:r>
            <a:r>
              <a:rPr lang="en-US" altLang="zh-CN" sz="2400" dirty="0">
                <a:solidFill>
                  <a:srgbClr val="4A5568"/>
                </a:solidFill>
                <a:latin typeface="Noto Sans SC"/>
                <a:ea typeface="Noto Sans SC"/>
                <a:cs typeface="Noto Sans SC"/>
                <a:sym typeface="Noto Sans SC"/>
              </a:rPr>
              <a:t>”,</a:t>
            </a:r>
            <a:r>
              <a:rPr lang="en-US" altLang="zh-CN" sz="2400" dirty="0" err="1">
                <a:solidFill>
                  <a:srgbClr val="4A5568"/>
                </a:solidFill>
                <a:latin typeface="Noto Sans SC"/>
                <a:ea typeface="Noto Sans SC"/>
                <a:cs typeface="Noto Sans SC"/>
                <a:sym typeface="Noto Sans SC"/>
              </a:rPr>
              <a:t>是二型模糊性的核心体现</a:t>
            </a:r>
            <a:endParaRPr lang="zh-CN" altLang="en-US" sz="2400" dirty="0"/>
          </a:p>
        </p:txBody>
      </p:sp>
      <p:sp>
        <p:nvSpPr>
          <p:cNvPr id="4" name="灯片编号占位符 3">
            <a:extLst>
              <a:ext uri="{FF2B5EF4-FFF2-40B4-BE49-F238E27FC236}">
                <a16:creationId xmlns:a16="http://schemas.microsoft.com/office/drawing/2014/main" id="{C0DEC19E-537A-16CE-1498-F6B56E07F771}"/>
              </a:ext>
            </a:extLst>
          </p:cNvPr>
          <p:cNvSpPr>
            <a:spLocks noGrp="1"/>
          </p:cNvSpPr>
          <p:nvPr>
            <p:ph type="sldNum" sz="quarter" idx="11"/>
          </p:nvPr>
        </p:nvSpPr>
        <p:spPr/>
        <p:txBody>
          <a:bodyPr/>
          <a:lstStyle/>
          <a:p>
            <a:pPr>
              <a:defRPr/>
            </a:pPr>
            <a:fld id="{1F3E0329-027F-44B1-A42A-8643FF593956}" type="slidenum">
              <a:rPr lang="en-US" altLang="zh-CN" smtClean="0"/>
              <a:pPr>
                <a:defRPr/>
              </a:pPr>
              <a:t>76</a:t>
            </a:fld>
            <a:endParaRPr lang="en-US" altLang="zh-CN"/>
          </a:p>
        </p:txBody>
      </p:sp>
      <p:sp>
        <p:nvSpPr>
          <p:cNvPr id="11" name="AutoShape 11">
            <a:extLst>
              <a:ext uri="{FF2B5EF4-FFF2-40B4-BE49-F238E27FC236}">
                <a16:creationId xmlns:a16="http://schemas.microsoft.com/office/drawing/2014/main" id="{186D9A44-22E0-A732-4D36-247C7E1E366A}"/>
              </a:ext>
            </a:extLst>
          </p:cNvPr>
          <p:cNvSpPr/>
          <p:nvPr/>
        </p:nvSpPr>
        <p:spPr>
          <a:xfrm>
            <a:off x="880061" y="2762820"/>
            <a:ext cx="5431963" cy="1967960"/>
          </a:xfrm>
          <a:prstGeom prst="rect">
            <a:avLst/>
          </a:prstGeom>
          <a:noFill/>
          <a:ln w="12700" cap="flat" cmpd="sng">
            <a:noFill/>
            <a:prstDash val="solid"/>
            <a:round/>
          </a:ln>
        </p:spPr>
        <p:txBody>
          <a:bodyPr vert="horz" wrap="square" lIns="0" tIns="0" rIns="0" bIns="0" rtlCol="0" anchor="ctr" anchorCtr="0"/>
          <a:lstStyle/>
          <a:p>
            <a:pPr marL="342900" indent="-342900">
              <a:lnSpc>
                <a:spcPct val="125000"/>
              </a:lnSpc>
              <a:buFont typeface="Wingdings" panose="05000000000000000000" pitchFamily="2" charset="2"/>
              <a:buChar char="p"/>
              <a:defRPr/>
            </a:pPr>
            <a:r>
              <a:rPr lang="zh-CN" altLang="en-US" sz="2800" b="1" dirty="0">
                <a:solidFill>
                  <a:srgbClr val="4E86BF"/>
                </a:solidFill>
                <a:latin typeface="Noto Sans SC"/>
                <a:ea typeface="Noto Sans SC"/>
                <a:cs typeface="Noto Sans SC"/>
                <a:sym typeface="Noto Sans SC"/>
              </a:rPr>
              <a:t>上隶属函数（</a:t>
            </a:r>
            <a:r>
              <a:rPr lang="en-US" altLang="zh-CN" sz="2800" b="1" dirty="0">
                <a:solidFill>
                  <a:srgbClr val="4E86BF"/>
                </a:solidFill>
                <a:latin typeface="Noto Sans SC"/>
                <a:ea typeface="Noto Sans SC"/>
                <a:cs typeface="Noto Sans SC"/>
                <a:sym typeface="Noto Sans SC"/>
              </a:rPr>
              <a:t>UMF</a:t>
            </a:r>
            <a:r>
              <a:rPr lang="zh-CN" altLang="en-US" sz="2800" b="1" dirty="0">
                <a:solidFill>
                  <a:srgbClr val="4E86BF"/>
                </a:solidFill>
                <a:latin typeface="Noto Sans SC"/>
                <a:ea typeface="Noto Sans SC"/>
                <a:cs typeface="Noto Sans SC"/>
                <a:sym typeface="Noto Sans SC"/>
              </a:rPr>
              <a:t>）</a:t>
            </a:r>
            <a:endParaRPr lang="en-US" altLang="zh-CN" sz="2800" b="1" dirty="0">
              <a:solidFill>
                <a:srgbClr val="4E86BF"/>
              </a:solidFill>
              <a:latin typeface="Noto Sans SC"/>
              <a:ea typeface="Noto Sans SC"/>
              <a:cs typeface="Noto Sans SC"/>
              <a:sym typeface="Noto Sans SC"/>
            </a:endParaRPr>
          </a:p>
          <a:p>
            <a:pPr>
              <a:lnSpc>
                <a:spcPct val="125000"/>
              </a:lnSpc>
              <a:defRPr/>
            </a:pPr>
            <a:r>
              <a:rPr lang="en-US" altLang="zh-CN" sz="2400" dirty="0" err="1">
                <a:solidFill>
                  <a:srgbClr val="4A5568"/>
                </a:solidFill>
                <a:latin typeface="Noto Sans SC"/>
                <a:ea typeface="Noto Sans SC"/>
                <a:cs typeface="Noto Sans SC"/>
                <a:sym typeface="Noto Sans SC"/>
              </a:rPr>
              <a:t>构成不确定域</a:t>
            </a:r>
            <a:r>
              <a:rPr lang="en-US" altLang="zh-CN" sz="2400" dirty="0">
                <a:solidFill>
                  <a:srgbClr val="4A5568"/>
                </a:solidFill>
                <a:latin typeface="Noto Sans SC"/>
                <a:ea typeface="Noto Sans SC"/>
                <a:cs typeface="Noto Sans SC"/>
                <a:sym typeface="Noto Sans SC"/>
              </a:rPr>
              <a:t>(FOU)</a:t>
            </a:r>
            <a:r>
              <a:rPr lang="en-US" altLang="zh-CN" sz="2400" dirty="0" err="1">
                <a:solidFill>
                  <a:srgbClr val="4A5568"/>
                </a:solidFill>
                <a:latin typeface="Noto Sans SC"/>
                <a:ea typeface="Noto Sans SC"/>
                <a:cs typeface="Noto Sans SC"/>
                <a:sym typeface="Noto Sans SC"/>
              </a:rPr>
              <a:t>上边界的一型F集合，代表了隶属度的最大值边界，界定了模糊带的上限范围</a:t>
            </a:r>
            <a:endParaRPr lang="en-US" altLang="zh-CN" sz="2400" dirty="0">
              <a:latin typeface="+mn-lt"/>
              <a:ea typeface="黑体" panose="02010609060101010101" pitchFamily="49" charset="-122"/>
            </a:endParaRPr>
          </a:p>
          <a:p>
            <a:pPr marL="0" indent="0" algn="l">
              <a:lnSpc>
                <a:spcPct val="108333"/>
              </a:lnSpc>
            </a:pPr>
            <a:endParaRPr lang="en-US" sz="2000" b="0" i="0" u="none" strike="noStrike" dirty="0">
              <a:solidFill>
                <a:srgbClr val="4A5568"/>
              </a:solidFill>
              <a:latin typeface="黑体" panose="02010609060101010101" pitchFamily="49" charset="-122"/>
              <a:ea typeface="黑体" panose="02010609060101010101" pitchFamily="49" charset="-122"/>
              <a:cs typeface="Noto Sans SC"/>
              <a:sym typeface="Noto Sans SC"/>
            </a:endParaRPr>
          </a:p>
        </p:txBody>
      </p:sp>
      <p:sp>
        <p:nvSpPr>
          <p:cNvPr id="12" name="AutoShape 14">
            <a:extLst>
              <a:ext uri="{FF2B5EF4-FFF2-40B4-BE49-F238E27FC236}">
                <a16:creationId xmlns:a16="http://schemas.microsoft.com/office/drawing/2014/main" id="{A4298CD2-CB73-EB38-9116-CEAAD79A48BF}"/>
              </a:ext>
            </a:extLst>
          </p:cNvPr>
          <p:cNvSpPr/>
          <p:nvPr/>
        </p:nvSpPr>
        <p:spPr>
          <a:xfrm>
            <a:off x="859877" y="4698193"/>
            <a:ext cx="5668171" cy="1974615"/>
          </a:xfrm>
          <a:prstGeom prst="rect">
            <a:avLst/>
          </a:prstGeom>
          <a:noFill/>
          <a:ln w="12700" cap="flat" cmpd="sng">
            <a:noFill/>
            <a:prstDash val="solid"/>
            <a:round/>
          </a:ln>
        </p:spPr>
        <p:txBody>
          <a:bodyPr vert="horz" wrap="square" lIns="0" tIns="0" rIns="0" bIns="0" rtlCol="0" anchor="ctr" anchorCtr="0"/>
          <a:lstStyle/>
          <a:p>
            <a:pPr marL="342900" indent="-342900">
              <a:lnSpc>
                <a:spcPct val="125000"/>
              </a:lnSpc>
              <a:buFont typeface="Wingdings" panose="05000000000000000000" pitchFamily="2" charset="2"/>
              <a:buChar char="p"/>
              <a:defRPr/>
            </a:pPr>
            <a:r>
              <a:rPr lang="zh-CN" altLang="en-US" sz="2800" b="1" dirty="0">
                <a:solidFill>
                  <a:srgbClr val="FA7A12"/>
                </a:solidFill>
                <a:latin typeface="Noto Sans SC"/>
                <a:ea typeface="Noto Sans SC"/>
                <a:cs typeface="Noto Sans SC"/>
                <a:sym typeface="Noto Sans SC"/>
              </a:rPr>
              <a:t>下隶属函数（</a:t>
            </a:r>
            <a:r>
              <a:rPr lang="en-US" altLang="zh-CN" sz="2800" b="1" dirty="0">
                <a:solidFill>
                  <a:srgbClr val="FA7A12"/>
                </a:solidFill>
                <a:latin typeface="Noto Sans SC"/>
                <a:ea typeface="Noto Sans SC"/>
                <a:cs typeface="Noto Sans SC"/>
                <a:sym typeface="Noto Sans SC"/>
              </a:rPr>
              <a:t>LMF</a:t>
            </a:r>
            <a:r>
              <a:rPr lang="zh-CN" altLang="en-US" sz="2800" b="1" dirty="0">
                <a:solidFill>
                  <a:srgbClr val="FA7A12"/>
                </a:solidFill>
                <a:latin typeface="Noto Sans SC"/>
                <a:ea typeface="Noto Sans SC"/>
                <a:cs typeface="Noto Sans SC"/>
                <a:sym typeface="Noto Sans SC"/>
              </a:rPr>
              <a:t>）</a:t>
            </a:r>
            <a:endParaRPr lang="en-US" sz="2800" dirty="0">
              <a:solidFill>
                <a:srgbClr val="FA7A12"/>
              </a:solidFill>
              <a:latin typeface="黑体" panose="02010609060101010101" pitchFamily="49" charset="-122"/>
              <a:ea typeface="黑体" panose="02010609060101010101" pitchFamily="49" charset="-122"/>
            </a:endParaRPr>
          </a:p>
          <a:p>
            <a:pPr>
              <a:lnSpc>
                <a:spcPct val="108333"/>
              </a:lnSpc>
              <a:defRPr/>
            </a:pPr>
            <a:r>
              <a:rPr lang="en-US" altLang="zh-CN" sz="2400" dirty="0" err="1">
                <a:solidFill>
                  <a:srgbClr val="4A5568"/>
                </a:solidFill>
                <a:latin typeface="Noto Sans SC"/>
                <a:ea typeface="Noto Sans SC"/>
                <a:cs typeface="Noto Sans SC"/>
                <a:sym typeface="Noto Sans SC"/>
              </a:rPr>
              <a:t>构成不确定域</a:t>
            </a:r>
            <a:r>
              <a:rPr lang="en-US" altLang="zh-CN" sz="2400" dirty="0">
                <a:solidFill>
                  <a:srgbClr val="4A5568"/>
                </a:solidFill>
                <a:latin typeface="Noto Sans SC"/>
                <a:ea typeface="Noto Sans SC"/>
                <a:cs typeface="Noto Sans SC"/>
                <a:sym typeface="Noto Sans SC"/>
              </a:rPr>
              <a:t>(FOU)</a:t>
            </a:r>
            <a:r>
              <a:rPr lang="en-US" altLang="zh-CN" sz="2400" dirty="0" err="1">
                <a:solidFill>
                  <a:srgbClr val="4A5568"/>
                </a:solidFill>
                <a:latin typeface="Noto Sans SC"/>
                <a:ea typeface="Noto Sans SC"/>
                <a:cs typeface="Noto Sans SC"/>
                <a:sym typeface="Noto Sans SC"/>
              </a:rPr>
              <a:t>下边界的一型F集合，代表了隶属度的最小值边界，界定了模糊带的下限范围</a:t>
            </a:r>
            <a:r>
              <a:rPr lang="en-US" altLang="zh-CN" sz="2400" dirty="0">
                <a:solidFill>
                  <a:srgbClr val="4A5568"/>
                </a:solidFill>
                <a:latin typeface="Noto Sans SC"/>
                <a:ea typeface="Noto Sans SC"/>
                <a:cs typeface="Noto Sans SC"/>
                <a:sym typeface="Noto Sans SC"/>
              </a:rPr>
              <a:t>。</a:t>
            </a:r>
            <a:endParaRPr lang="en-US" altLang="zh-CN" dirty="0"/>
          </a:p>
        </p:txBody>
      </p:sp>
      <p:pic>
        <p:nvPicPr>
          <p:cNvPr id="10" name="图片 9">
            <a:extLst>
              <a:ext uri="{FF2B5EF4-FFF2-40B4-BE49-F238E27FC236}">
                <a16:creationId xmlns:a16="http://schemas.microsoft.com/office/drawing/2014/main" id="{2CA5CA47-22CD-F1B2-0994-0C8856BF1AB4}"/>
              </a:ext>
            </a:extLst>
          </p:cNvPr>
          <p:cNvPicPr>
            <a:picLocks noChangeAspect="1"/>
          </p:cNvPicPr>
          <p:nvPr/>
        </p:nvPicPr>
        <p:blipFill>
          <a:blip r:embed="rId3"/>
          <a:stretch>
            <a:fillRect/>
          </a:stretch>
        </p:blipFill>
        <p:spPr>
          <a:xfrm>
            <a:off x="6911005" y="2762819"/>
            <a:ext cx="5280995" cy="3702031"/>
          </a:xfrm>
          <a:prstGeom prst="rect">
            <a:avLst/>
          </a:prstGeom>
        </p:spPr>
      </p:pic>
      <p:cxnSp>
        <p:nvCxnSpPr>
          <p:cNvPr id="13" name="直接连接符 12">
            <a:extLst>
              <a:ext uri="{FF2B5EF4-FFF2-40B4-BE49-F238E27FC236}">
                <a16:creationId xmlns:a16="http://schemas.microsoft.com/office/drawing/2014/main" id="{5FEACCA2-8317-2D5C-93AC-9CC3B571913D}"/>
              </a:ext>
            </a:extLst>
          </p:cNvPr>
          <p:cNvCxnSpPr/>
          <p:nvPr/>
        </p:nvCxnSpPr>
        <p:spPr bwMode="auto">
          <a:xfrm>
            <a:off x="8832304" y="3284984"/>
            <a:ext cx="0" cy="2772643"/>
          </a:xfrm>
          <a:prstGeom prst="line">
            <a:avLst/>
          </a:prstGeom>
          <a:solidFill>
            <a:schemeClr val="accent1"/>
          </a:solidFill>
          <a:ln w="57150" cap="flat" cmpd="sng" algn="ctr">
            <a:solidFill>
              <a:srgbClr val="FF00FF"/>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92797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p:bldP spid="1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D99E7F-F93A-443A-92E6-3E080AE70E1B}"/>
              </a:ext>
            </a:extLst>
          </p:cNvPr>
          <p:cNvSpPr>
            <a:spLocks noGrp="1"/>
          </p:cNvSpPr>
          <p:nvPr>
            <p:ph type="title"/>
          </p:nvPr>
        </p:nvSpPr>
        <p:spPr>
          <a:xfrm>
            <a:off x="1981200" y="260648"/>
            <a:ext cx="8435280" cy="1371600"/>
          </a:xfrm>
        </p:spPr>
        <p:txBody>
          <a:bodyPr/>
          <a:lstStyle/>
          <a:p>
            <a:pPr algn="ctr"/>
            <a:r>
              <a:rPr lang="en-US" altLang="zh-CN" dirty="0">
                <a:solidFill>
                  <a:srgbClr val="008000"/>
                </a:solidFill>
                <a:latin typeface="Comic Sans MS" panose="030F0702030302020204" pitchFamily="66" charset="0"/>
                <a:ea typeface="黑体" panose="02010609060101010101" pitchFamily="49" charset="-122"/>
              </a:rPr>
              <a:t>F</a:t>
            </a:r>
            <a:r>
              <a:rPr lang="zh-CN" altLang="en-US" dirty="0">
                <a:solidFill>
                  <a:srgbClr val="008000"/>
                </a:solidFill>
                <a:latin typeface="Comic Sans MS" panose="030F0702030302020204" pitchFamily="66" charset="0"/>
                <a:ea typeface="黑体" panose="02010609060101010101" pitchFamily="49" charset="-122"/>
              </a:rPr>
              <a:t>专家系统的结构与功能</a:t>
            </a:r>
            <a:endParaRPr lang="zh-CN" altLang="en-US" dirty="0">
              <a:solidFill>
                <a:srgbClr val="008000"/>
              </a:solidFill>
            </a:endParaRPr>
          </a:p>
        </p:txBody>
      </p:sp>
      <p:pic>
        <p:nvPicPr>
          <p:cNvPr id="5" name="图片 4">
            <a:extLst>
              <a:ext uri="{FF2B5EF4-FFF2-40B4-BE49-F238E27FC236}">
                <a16:creationId xmlns:a16="http://schemas.microsoft.com/office/drawing/2014/main" id="{8966E58F-2720-4433-B805-4E10D413E424}"/>
              </a:ext>
            </a:extLst>
          </p:cNvPr>
          <p:cNvPicPr>
            <a:picLocks noChangeAspect="1"/>
          </p:cNvPicPr>
          <p:nvPr/>
        </p:nvPicPr>
        <p:blipFill>
          <a:blip r:embed="rId2"/>
          <a:stretch>
            <a:fillRect/>
          </a:stretch>
        </p:blipFill>
        <p:spPr>
          <a:xfrm>
            <a:off x="2402904" y="1340768"/>
            <a:ext cx="8229600" cy="4224365"/>
          </a:xfrm>
          <a:prstGeom prst="rect">
            <a:avLst/>
          </a:prstGeom>
        </p:spPr>
      </p:pic>
      <p:sp>
        <p:nvSpPr>
          <p:cNvPr id="7" name="矩形 6">
            <a:extLst>
              <a:ext uri="{FF2B5EF4-FFF2-40B4-BE49-F238E27FC236}">
                <a16:creationId xmlns:a16="http://schemas.microsoft.com/office/drawing/2014/main" id="{5A83F551-562E-4843-B5B5-F64F9FAA9388}"/>
              </a:ext>
            </a:extLst>
          </p:cNvPr>
          <p:cNvSpPr/>
          <p:nvPr/>
        </p:nvSpPr>
        <p:spPr bwMode="auto">
          <a:xfrm>
            <a:off x="4588024" y="4400119"/>
            <a:ext cx="5216896" cy="1008112"/>
          </a:xfrm>
          <a:prstGeom prst="rect">
            <a:avLst/>
          </a:prstGeom>
          <a:noFill/>
          <a:ln w="57150" cap="flat" cmpd="sng" algn="ctr">
            <a:solidFill>
              <a:srgbClr val="FF0000"/>
            </a:solidFill>
            <a:prstDash val="solid"/>
            <a:round/>
            <a:headEnd type="none" w="med" len="med"/>
            <a:tailEnd type="none" w="med" len="med"/>
          </a:ln>
          <a:effectLst>
            <a:outerShdw blurRad="50800" dist="50800" dir="5400000" algn="ctr" rotWithShape="0">
              <a:srgbClr val="000000">
                <a:alpha val="62000"/>
              </a:srgbClr>
            </a:outerShdw>
          </a:effectLst>
        </p:spPr>
        <p:txBody>
          <a:bodyPr vert="horz" wrap="square" lIns="91440" tIns="45720" rIns="91440" bIns="45720" numCol="1" rtlCol="0" anchor="t" anchorCtr="0" compatLnSpc="1">
            <a:prstTxWarp prst="textNoShape">
              <a:avLst/>
            </a:prstTxWarp>
          </a:bodyPr>
          <a:lstStyle/>
          <a:p>
            <a:endParaRPr lang="zh-CN" altLang="en-US"/>
          </a:p>
        </p:txBody>
      </p:sp>
      <p:sp>
        <p:nvSpPr>
          <p:cNvPr id="8" name="对话气泡: 矩形 7">
            <a:extLst>
              <a:ext uri="{FF2B5EF4-FFF2-40B4-BE49-F238E27FC236}">
                <a16:creationId xmlns:a16="http://schemas.microsoft.com/office/drawing/2014/main" id="{483CFCD7-CCA7-40CF-8152-264344A7C75F}"/>
              </a:ext>
            </a:extLst>
          </p:cNvPr>
          <p:cNvSpPr/>
          <p:nvPr/>
        </p:nvSpPr>
        <p:spPr bwMode="auto">
          <a:xfrm>
            <a:off x="9666588" y="5818132"/>
            <a:ext cx="2334068" cy="951131"/>
          </a:xfrm>
          <a:prstGeom prst="wedgeRectCallout">
            <a:avLst>
              <a:gd name="adj1" fmla="val -70156"/>
              <a:gd name="adj2" fmla="val -148137"/>
            </a:avLst>
          </a:prstGeom>
          <a:solidFill>
            <a:schemeClr val="accent1"/>
          </a:solidFill>
          <a:ln w="9525" cap="flat" cmpd="sng" algn="ctr">
            <a:solidFill>
              <a:schemeClr val="accent5">
                <a:lumMod val="9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sz="2400" b="1" dirty="0">
                <a:solidFill>
                  <a:srgbClr val="FFFF00"/>
                </a:solidFill>
                <a:latin typeface="黑体" panose="02010609060101010101" pitchFamily="49" charset="-122"/>
                <a:ea typeface="黑体" panose="02010609060101010101" pitchFamily="49" charset="-122"/>
              </a:rPr>
              <a:t>存放领域专家提供的专门知识</a:t>
            </a:r>
          </a:p>
        </p:txBody>
      </p:sp>
      <p:sp>
        <p:nvSpPr>
          <p:cNvPr id="10" name="对话气泡: 矩形 9">
            <a:extLst>
              <a:ext uri="{FF2B5EF4-FFF2-40B4-BE49-F238E27FC236}">
                <a16:creationId xmlns:a16="http://schemas.microsoft.com/office/drawing/2014/main" id="{789F86C8-D3F9-46F3-BADA-E68B0EA97470}"/>
              </a:ext>
            </a:extLst>
          </p:cNvPr>
          <p:cNvSpPr/>
          <p:nvPr/>
        </p:nvSpPr>
        <p:spPr bwMode="auto">
          <a:xfrm>
            <a:off x="4314065" y="5611387"/>
            <a:ext cx="3654144" cy="1246613"/>
          </a:xfrm>
          <a:prstGeom prst="wedgeRectCallout">
            <a:avLst>
              <a:gd name="adj1" fmla="val -8177"/>
              <a:gd name="adj2" fmla="val -81062"/>
            </a:avLst>
          </a:prstGeom>
          <a:solidFill>
            <a:srgbClr val="92D050"/>
          </a:solid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en-US" sz="2400" b="1" dirty="0">
                <a:latin typeface="黑体" panose="02010609060101010101" pitchFamily="49" charset="-122"/>
                <a:ea typeface="黑体" panose="02010609060101010101" pitchFamily="49" charset="-122"/>
              </a:rPr>
              <a:t>记忆所采用的规则和控制策略</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使专家系统能以逻辑方式协调地工作</a:t>
            </a:r>
          </a:p>
        </p:txBody>
      </p:sp>
      <p:sp>
        <p:nvSpPr>
          <p:cNvPr id="12" name="对话气泡: 矩形 11">
            <a:extLst>
              <a:ext uri="{FF2B5EF4-FFF2-40B4-BE49-F238E27FC236}">
                <a16:creationId xmlns:a16="http://schemas.microsoft.com/office/drawing/2014/main" id="{70A5F5FF-DEBE-4D4A-B660-A6771AF21576}"/>
              </a:ext>
            </a:extLst>
          </p:cNvPr>
          <p:cNvSpPr/>
          <p:nvPr/>
        </p:nvSpPr>
        <p:spPr bwMode="auto">
          <a:xfrm>
            <a:off x="839415" y="2852936"/>
            <a:ext cx="2429513" cy="1255823"/>
          </a:xfrm>
          <a:prstGeom prst="wedgeRectCallout">
            <a:avLst>
              <a:gd name="adj1" fmla="val 84236"/>
              <a:gd name="adj2" fmla="val 55860"/>
            </a:avLst>
          </a:prstGeom>
          <a:solidFill>
            <a:srgbClr val="FFCCFF"/>
          </a:solidFill>
          <a:ln w="9525" cap="flat" cmpd="sng" algn="ctr">
            <a:solidFill>
              <a:srgbClr val="CC00C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en-US" sz="2400" b="1" dirty="0">
                <a:latin typeface="黑体" panose="02010609060101010101" pitchFamily="49" charset="-122"/>
                <a:ea typeface="黑体" panose="02010609060101010101" pitchFamily="49" charset="-122"/>
              </a:rPr>
              <a:t>用人们易于理解 的方式来解释自身的推理过程</a:t>
            </a:r>
          </a:p>
        </p:txBody>
      </p:sp>
      <p:sp>
        <p:nvSpPr>
          <p:cNvPr id="14" name="文本框 13">
            <a:extLst>
              <a:ext uri="{FF2B5EF4-FFF2-40B4-BE49-F238E27FC236}">
                <a16:creationId xmlns:a16="http://schemas.microsoft.com/office/drawing/2014/main" id="{2AD1C770-0E96-40D5-B1CF-79C7C4C94B01}"/>
              </a:ext>
            </a:extLst>
          </p:cNvPr>
          <p:cNvSpPr txBox="1"/>
          <p:nvPr/>
        </p:nvSpPr>
        <p:spPr>
          <a:xfrm>
            <a:off x="2676137" y="4760159"/>
            <a:ext cx="1530423" cy="400110"/>
          </a:xfrm>
          <a:prstGeom prst="rect">
            <a:avLst/>
          </a:prstGeom>
          <a:solidFill>
            <a:schemeClr val="bg1"/>
          </a:solidFill>
        </p:spPr>
        <p:txBody>
          <a:bodyPr wrap="square" rtlCol="0">
            <a:spAutoFit/>
          </a:bodyPr>
          <a:lstStyle/>
          <a:p>
            <a:r>
              <a:rPr lang="zh-CN" altLang="en-US" sz="2000" b="1" dirty="0"/>
              <a:t>综合数据库</a:t>
            </a:r>
          </a:p>
        </p:txBody>
      </p:sp>
      <p:sp>
        <p:nvSpPr>
          <p:cNvPr id="15" name="矩形 14">
            <a:extLst>
              <a:ext uri="{FF2B5EF4-FFF2-40B4-BE49-F238E27FC236}">
                <a16:creationId xmlns:a16="http://schemas.microsoft.com/office/drawing/2014/main" id="{A25AF7FA-89C0-4F7F-A988-52CEBF41AF17}"/>
              </a:ext>
            </a:extLst>
          </p:cNvPr>
          <p:cNvSpPr/>
          <p:nvPr/>
        </p:nvSpPr>
        <p:spPr bwMode="auto">
          <a:xfrm>
            <a:off x="6996608" y="3680048"/>
            <a:ext cx="2592288" cy="563187"/>
          </a:xfrm>
          <a:prstGeom prst="rect">
            <a:avLst/>
          </a:prstGeom>
          <a:solidFill>
            <a:srgbClr val="3399FF">
              <a:alpha val="37000"/>
            </a:srgbClr>
          </a:solidFill>
          <a:ln w="5715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1" name="对话气泡: 矩形 10">
            <a:extLst>
              <a:ext uri="{FF2B5EF4-FFF2-40B4-BE49-F238E27FC236}">
                <a16:creationId xmlns:a16="http://schemas.microsoft.com/office/drawing/2014/main" id="{07A79021-5E4A-481C-9669-F2ED9BEB0BB2}"/>
              </a:ext>
            </a:extLst>
          </p:cNvPr>
          <p:cNvSpPr/>
          <p:nvPr/>
        </p:nvSpPr>
        <p:spPr bwMode="auto">
          <a:xfrm>
            <a:off x="-1" y="5289993"/>
            <a:ext cx="2999657" cy="1524752"/>
          </a:xfrm>
          <a:prstGeom prst="wedgeRectCallout">
            <a:avLst>
              <a:gd name="adj1" fmla="val 63048"/>
              <a:gd name="adj2" fmla="val -65059"/>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en-US" sz="2400" b="1" dirty="0">
                <a:latin typeface="黑体" panose="02010609060101010101" pitchFamily="49" charset="-122"/>
                <a:ea typeface="黑体" panose="02010609060101010101" pitchFamily="49" charset="-122"/>
              </a:rPr>
              <a:t>存放用户提供的初始事实、问题描述及系统运行过程中得到的中间结果、最终结果</a:t>
            </a:r>
          </a:p>
        </p:txBody>
      </p:sp>
      <p:sp>
        <p:nvSpPr>
          <p:cNvPr id="3" name="矩形 2">
            <a:extLst>
              <a:ext uri="{FF2B5EF4-FFF2-40B4-BE49-F238E27FC236}">
                <a16:creationId xmlns:a16="http://schemas.microsoft.com/office/drawing/2014/main" id="{B7E6B0DD-6193-7A44-282E-4E972BC8F976}"/>
              </a:ext>
            </a:extLst>
          </p:cNvPr>
          <p:cNvSpPr/>
          <p:nvPr/>
        </p:nvSpPr>
        <p:spPr bwMode="auto">
          <a:xfrm>
            <a:off x="4278568" y="2599919"/>
            <a:ext cx="309465" cy="432048"/>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sp>
        <p:nvSpPr>
          <p:cNvPr id="4" name="灯片编号占位符 3">
            <a:extLst>
              <a:ext uri="{FF2B5EF4-FFF2-40B4-BE49-F238E27FC236}">
                <a16:creationId xmlns:a16="http://schemas.microsoft.com/office/drawing/2014/main" id="{D73F286E-4457-74C8-0166-7A73B72393F3}"/>
              </a:ext>
            </a:extLst>
          </p:cNvPr>
          <p:cNvSpPr>
            <a:spLocks noGrp="1"/>
          </p:cNvSpPr>
          <p:nvPr>
            <p:ph type="sldNum" sz="quarter" idx="11"/>
          </p:nvPr>
        </p:nvSpPr>
        <p:spPr/>
        <p:txBody>
          <a:bodyPr/>
          <a:lstStyle/>
          <a:p>
            <a:pPr>
              <a:defRPr/>
            </a:pPr>
            <a:fld id="{1F3E0329-027F-44B1-A42A-8643FF593956}" type="slidenum">
              <a:rPr lang="en-US" altLang="zh-CN" smtClean="0"/>
              <a:pPr>
                <a:defRPr/>
              </a:pPr>
              <a:t>77</a:t>
            </a:fld>
            <a:endParaRPr lang="en-US" altLang="zh-CN"/>
          </a:p>
        </p:txBody>
      </p:sp>
    </p:spTree>
    <p:extLst>
      <p:ext uri="{BB962C8B-B14F-4D97-AF65-F5344CB8AC3E}">
        <p14:creationId xmlns:p14="http://schemas.microsoft.com/office/powerpoint/2010/main" val="3400805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0-#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0AC78A-0527-4597-8C75-5230CE351FF9}"/>
              </a:ext>
            </a:extLst>
          </p:cNvPr>
          <p:cNvSpPr>
            <a:spLocks noGrp="1"/>
          </p:cNvSpPr>
          <p:nvPr>
            <p:ph type="title"/>
          </p:nvPr>
        </p:nvSpPr>
        <p:spPr>
          <a:xfrm>
            <a:off x="1981200" y="188640"/>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综合数据库的工作机制</a:t>
            </a:r>
          </a:p>
        </p:txBody>
      </p:sp>
      <p:sp>
        <p:nvSpPr>
          <p:cNvPr id="3" name="内容占位符 2">
            <a:extLst>
              <a:ext uri="{FF2B5EF4-FFF2-40B4-BE49-F238E27FC236}">
                <a16:creationId xmlns:a16="http://schemas.microsoft.com/office/drawing/2014/main" id="{9D557A52-3047-4EF2-8BBA-FF38C3DC2AA7}"/>
              </a:ext>
            </a:extLst>
          </p:cNvPr>
          <p:cNvSpPr>
            <a:spLocks noGrp="1"/>
          </p:cNvSpPr>
          <p:nvPr>
            <p:ph idx="1"/>
          </p:nvPr>
        </p:nvSpPr>
        <p:spPr>
          <a:xfrm>
            <a:off x="1055440" y="1560240"/>
            <a:ext cx="10513168" cy="4307160"/>
          </a:xfrm>
        </p:spPr>
        <p:txBody>
          <a:bodyPr/>
          <a:lstStyle/>
          <a:p>
            <a:r>
              <a:rPr lang="zh-CN" altLang="en-US" b="1" dirty="0"/>
              <a:t>是推理机不可缺少的工作场地，同时由于它可记录推理过程中的各种有关信息，又为解释机构提供了回答用户咨询的依据。</a:t>
            </a:r>
          </a:p>
        </p:txBody>
      </p:sp>
      <p:sp>
        <p:nvSpPr>
          <p:cNvPr id="10" name="矩形 9">
            <a:extLst>
              <a:ext uri="{FF2B5EF4-FFF2-40B4-BE49-F238E27FC236}">
                <a16:creationId xmlns:a16="http://schemas.microsoft.com/office/drawing/2014/main" id="{FC0E04D6-0D32-04EE-5D24-2FDDF9C12174}"/>
              </a:ext>
            </a:extLst>
          </p:cNvPr>
          <p:cNvSpPr/>
          <p:nvPr/>
        </p:nvSpPr>
        <p:spPr bwMode="auto">
          <a:xfrm>
            <a:off x="6535759" y="3477557"/>
            <a:ext cx="288032" cy="244637"/>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pic>
        <p:nvPicPr>
          <p:cNvPr id="7" name="图片 6">
            <a:extLst>
              <a:ext uri="{FF2B5EF4-FFF2-40B4-BE49-F238E27FC236}">
                <a16:creationId xmlns:a16="http://schemas.microsoft.com/office/drawing/2014/main" id="{99E2361D-1C52-3CED-EE43-07FEFF762846}"/>
              </a:ext>
            </a:extLst>
          </p:cNvPr>
          <p:cNvPicPr>
            <a:picLocks noChangeAspect="1"/>
          </p:cNvPicPr>
          <p:nvPr/>
        </p:nvPicPr>
        <p:blipFill>
          <a:blip r:embed="rId2"/>
          <a:stretch>
            <a:fillRect/>
          </a:stretch>
        </p:blipFill>
        <p:spPr>
          <a:xfrm>
            <a:off x="5514578" y="2901493"/>
            <a:ext cx="6054030" cy="3248665"/>
          </a:xfrm>
          <a:prstGeom prst="rect">
            <a:avLst/>
          </a:prstGeom>
          <a:effectLst>
            <a:glow rad="127000">
              <a:srgbClr val="00B0F0"/>
            </a:glow>
          </a:effectLst>
        </p:spPr>
      </p:pic>
      <p:pic>
        <p:nvPicPr>
          <p:cNvPr id="12" name="图片 11" descr="图示&#10;&#10;AI 生成的内容可能不正确。">
            <a:extLst>
              <a:ext uri="{FF2B5EF4-FFF2-40B4-BE49-F238E27FC236}">
                <a16:creationId xmlns:a16="http://schemas.microsoft.com/office/drawing/2014/main" id="{FFC750A3-A740-4C7F-923D-0DB2EF47F7E7}"/>
              </a:ext>
            </a:extLst>
          </p:cNvPr>
          <p:cNvPicPr>
            <a:picLocks noChangeAspect="1"/>
          </p:cNvPicPr>
          <p:nvPr/>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831474" y="3429000"/>
            <a:ext cx="3544455" cy="3461008"/>
          </a:xfrm>
          <a:prstGeom prst="rect">
            <a:avLst/>
          </a:prstGeom>
        </p:spPr>
      </p:pic>
      <p:sp>
        <p:nvSpPr>
          <p:cNvPr id="8" name="对话气泡: 圆角矩形 7">
            <a:extLst>
              <a:ext uri="{FF2B5EF4-FFF2-40B4-BE49-F238E27FC236}">
                <a16:creationId xmlns:a16="http://schemas.microsoft.com/office/drawing/2014/main" id="{A75E3029-1305-1D25-9D9C-F16F3F8ED28D}"/>
              </a:ext>
            </a:extLst>
          </p:cNvPr>
          <p:cNvSpPr/>
          <p:nvPr/>
        </p:nvSpPr>
        <p:spPr bwMode="auto">
          <a:xfrm>
            <a:off x="5663951" y="5445224"/>
            <a:ext cx="1159839" cy="422176"/>
          </a:xfrm>
          <a:prstGeom prst="wedgeRoundRectCallout">
            <a:avLst>
              <a:gd name="adj1" fmla="val -193154"/>
              <a:gd name="adj2" fmla="val -258965"/>
              <a:gd name="adj3" fmla="val 16667"/>
            </a:avLst>
          </a:prstGeom>
          <a:noFill/>
          <a:ln w="38100">
            <a:solidFill>
              <a:srgbClr val="CC00CC"/>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sp>
        <p:nvSpPr>
          <p:cNvPr id="4" name="灯片编号占位符 3">
            <a:extLst>
              <a:ext uri="{FF2B5EF4-FFF2-40B4-BE49-F238E27FC236}">
                <a16:creationId xmlns:a16="http://schemas.microsoft.com/office/drawing/2014/main" id="{28695C05-405E-B2AA-F2D2-CE5F3AD766DF}"/>
              </a:ext>
            </a:extLst>
          </p:cNvPr>
          <p:cNvSpPr>
            <a:spLocks noGrp="1"/>
          </p:cNvSpPr>
          <p:nvPr>
            <p:ph type="sldNum" sz="quarter" idx="11"/>
          </p:nvPr>
        </p:nvSpPr>
        <p:spPr/>
        <p:txBody>
          <a:bodyPr/>
          <a:lstStyle/>
          <a:p>
            <a:pPr>
              <a:defRPr/>
            </a:pPr>
            <a:fld id="{1F3E0329-027F-44B1-A42A-8643FF593956}" type="slidenum">
              <a:rPr lang="en-US" altLang="zh-CN" smtClean="0"/>
              <a:pPr>
                <a:defRPr/>
              </a:pPr>
              <a:t>78</a:t>
            </a:fld>
            <a:endParaRPr lang="en-US" altLang="zh-CN"/>
          </a:p>
        </p:txBody>
      </p:sp>
    </p:spTree>
    <p:extLst>
      <p:ext uri="{BB962C8B-B14F-4D97-AF65-F5344CB8AC3E}">
        <p14:creationId xmlns:p14="http://schemas.microsoft.com/office/powerpoint/2010/main" val="27215118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0AC78A-0527-4597-8C75-5230CE351FF9}"/>
              </a:ext>
            </a:extLst>
          </p:cNvPr>
          <p:cNvSpPr>
            <a:spLocks noGrp="1"/>
          </p:cNvSpPr>
          <p:nvPr>
            <p:ph type="title"/>
          </p:nvPr>
        </p:nvSpPr>
        <p:spPr>
          <a:xfrm>
            <a:off x="1981200" y="188640"/>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人机接口的结构模型</a:t>
            </a:r>
          </a:p>
        </p:txBody>
      </p:sp>
      <p:sp>
        <p:nvSpPr>
          <p:cNvPr id="3" name="内容占位符 2">
            <a:extLst>
              <a:ext uri="{FF2B5EF4-FFF2-40B4-BE49-F238E27FC236}">
                <a16:creationId xmlns:a16="http://schemas.microsoft.com/office/drawing/2014/main" id="{9D557A52-3047-4EF2-8BBA-FF38C3DC2AA7}"/>
              </a:ext>
            </a:extLst>
          </p:cNvPr>
          <p:cNvSpPr>
            <a:spLocks noGrp="1"/>
          </p:cNvSpPr>
          <p:nvPr>
            <p:ph idx="1"/>
          </p:nvPr>
        </p:nvSpPr>
        <p:spPr>
          <a:xfrm>
            <a:off x="1199456" y="1560240"/>
            <a:ext cx="10081120" cy="4307160"/>
          </a:xfrm>
        </p:spPr>
        <p:txBody>
          <a:bodyPr/>
          <a:lstStyle/>
          <a:p>
            <a:r>
              <a:rPr lang="zh-CN" altLang="en-US" sz="2800" b="1" dirty="0"/>
              <a:t>专家系统与领域专家、知识工程师、一般用户间进行交互的界面，</a:t>
            </a:r>
            <a:endParaRPr lang="en-US" altLang="zh-CN" sz="2800" b="1" dirty="0"/>
          </a:p>
          <a:p>
            <a:r>
              <a:rPr lang="zh-CN" altLang="en-US" sz="2800" b="1" dirty="0"/>
              <a:t>完成更新、完善扩充知识库，推理过程中人机交互，结束 时显示结果。</a:t>
            </a:r>
          </a:p>
        </p:txBody>
      </p:sp>
      <p:sp>
        <p:nvSpPr>
          <p:cNvPr id="4" name="矩形 3">
            <a:extLst>
              <a:ext uri="{FF2B5EF4-FFF2-40B4-BE49-F238E27FC236}">
                <a16:creationId xmlns:a16="http://schemas.microsoft.com/office/drawing/2014/main" id="{2B4DA831-984D-A316-6F08-B0BC9069C753}"/>
              </a:ext>
            </a:extLst>
          </p:cNvPr>
          <p:cNvSpPr/>
          <p:nvPr/>
        </p:nvSpPr>
        <p:spPr bwMode="auto">
          <a:xfrm>
            <a:off x="5811737" y="6541241"/>
            <a:ext cx="864096" cy="332656"/>
          </a:xfrm>
          <a:prstGeom prst="rect">
            <a:avLst/>
          </a:prstGeom>
          <a:solidFill>
            <a:schemeClr val="bg1"/>
          </a:solid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sp>
        <p:nvSpPr>
          <p:cNvPr id="6" name="矩形 5">
            <a:extLst>
              <a:ext uri="{FF2B5EF4-FFF2-40B4-BE49-F238E27FC236}">
                <a16:creationId xmlns:a16="http://schemas.microsoft.com/office/drawing/2014/main" id="{D6CF85D7-4C3D-01AF-5E37-61F2E6C326A0}"/>
              </a:ext>
            </a:extLst>
          </p:cNvPr>
          <p:cNvSpPr/>
          <p:nvPr/>
        </p:nvSpPr>
        <p:spPr bwMode="auto">
          <a:xfrm>
            <a:off x="9608477" y="6391772"/>
            <a:ext cx="1008112" cy="404664"/>
          </a:xfrm>
          <a:prstGeom prst="rect">
            <a:avLst/>
          </a:prstGeom>
          <a:solidFill>
            <a:schemeClr val="bg1"/>
          </a:solid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sp>
        <p:nvSpPr>
          <p:cNvPr id="8" name="矩形 7">
            <a:extLst>
              <a:ext uri="{FF2B5EF4-FFF2-40B4-BE49-F238E27FC236}">
                <a16:creationId xmlns:a16="http://schemas.microsoft.com/office/drawing/2014/main" id="{2036C1FD-1340-E5AC-7262-A6F2FBC45F5E}"/>
              </a:ext>
            </a:extLst>
          </p:cNvPr>
          <p:cNvSpPr/>
          <p:nvPr/>
        </p:nvSpPr>
        <p:spPr bwMode="auto">
          <a:xfrm>
            <a:off x="2495600" y="4293105"/>
            <a:ext cx="288032" cy="244637"/>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pic>
        <p:nvPicPr>
          <p:cNvPr id="11" name="图片 10">
            <a:extLst>
              <a:ext uri="{FF2B5EF4-FFF2-40B4-BE49-F238E27FC236}">
                <a16:creationId xmlns:a16="http://schemas.microsoft.com/office/drawing/2014/main" id="{40E0244A-36D0-1D7B-BB01-658D59A75F07}"/>
              </a:ext>
            </a:extLst>
          </p:cNvPr>
          <p:cNvPicPr>
            <a:picLocks noChangeAspect="1"/>
          </p:cNvPicPr>
          <p:nvPr/>
        </p:nvPicPr>
        <p:blipFill>
          <a:blip r:embed="rId2"/>
          <a:stretch>
            <a:fillRect/>
          </a:stretch>
        </p:blipFill>
        <p:spPr>
          <a:xfrm>
            <a:off x="1233633" y="3722520"/>
            <a:ext cx="4939737" cy="2650722"/>
          </a:xfrm>
          <a:prstGeom prst="rect">
            <a:avLst/>
          </a:prstGeom>
          <a:effectLst>
            <a:glow rad="127000">
              <a:srgbClr val="00B0F0"/>
            </a:glow>
          </a:effectLst>
        </p:spPr>
      </p:pic>
      <p:pic>
        <p:nvPicPr>
          <p:cNvPr id="13" name="图片 12" descr="图示&#10;&#10;AI 生成的内容可能不正确。">
            <a:extLst>
              <a:ext uri="{FF2B5EF4-FFF2-40B4-BE49-F238E27FC236}">
                <a16:creationId xmlns:a16="http://schemas.microsoft.com/office/drawing/2014/main" id="{6C91EA6A-9B2C-E63B-FF6E-36EA76EB265C}"/>
              </a:ext>
            </a:extLst>
          </p:cNvPr>
          <p:cNvPicPr>
            <a:picLocks noChangeAspect="1"/>
          </p:cNvPicPr>
          <p:nvPr/>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300551" y="3886037"/>
            <a:ext cx="4207636" cy="2910399"/>
          </a:xfrm>
          <a:prstGeom prst="rect">
            <a:avLst/>
          </a:prstGeom>
        </p:spPr>
      </p:pic>
      <p:sp>
        <p:nvSpPr>
          <p:cNvPr id="9" name="对话气泡: 圆角矩形 8">
            <a:extLst>
              <a:ext uri="{FF2B5EF4-FFF2-40B4-BE49-F238E27FC236}">
                <a16:creationId xmlns:a16="http://schemas.microsoft.com/office/drawing/2014/main" id="{9063438E-C4BC-281D-5D63-6BBA863DB9D9}"/>
              </a:ext>
            </a:extLst>
          </p:cNvPr>
          <p:cNvSpPr/>
          <p:nvPr/>
        </p:nvSpPr>
        <p:spPr bwMode="auto">
          <a:xfrm>
            <a:off x="2083321" y="4455835"/>
            <a:ext cx="3580631" cy="413325"/>
          </a:xfrm>
          <a:prstGeom prst="wedgeRoundRectCallout">
            <a:avLst>
              <a:gd name="adj1" fmla="val 120254"/>
              <a:gd name="adj2" fmla="val -95660"/>
              <a:gd name="adj3" fmla="val 16667"/>
            </a:avLst>
          </a:prstGeom>
          <a:noFill/>
          <a:ln w="38100">
            <a:solidFill>
              <a:srgbClr val="008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sp>
        <p:nvSpPr>
          <p:cNvPr id="5" name="灯片编号占位符 4">
            <a:extLst>
              <a:ext uri="{FF2B5EF4-FFF2-40B4-BE49-F238E27FC236}">
                <a16:creationId xmlns:a16="http://schemas.microsoft.com/office/drawing/2014/main" id="{2A1D6840-3C60-DDB0-4138-C9C89CF3347D}"/>
              </a:ext>
            </a:extLst>
          </p:cNvPr>
          <p:cNvSpPr>
            <a:spLocks noGrp="1"/>
          </p:cNvSpPr>
          <p:nvPr>
            <p:ph type="sldNum" sz="quarter" idx="11"/>
          </p:nvPr>
        </p:nvSpPr>
        <p:spPr/>
        <p:txBody>
          <a:bodyPr/>
          <a:lstStyle/>
          <a:p>
            <a:pPr>
              <a:defRPr/>
            </a:pPr>
            <a:fld id="{1F3E0329-027F-44B1-A42A-8643FF593956}" type="slidenum">
              <a:rPr lang="en-US" altLang="zh-CN" smtClean="0"/>
              <a:pPr>
                <a:defRPr/>
              </a:pPr>
              <a:t>79</a:t>
            </a:fld>
            <a:endParaRPr lang="en-US" altLang="zh-CN"/>
          </a:p>
        </p:txBody>
      </p:sp>
    </p:spTree>
    <p:extLst>
      <p:ext uri="{BB962C8B-B14F-4D97-AF65-F5344CB8AC3E}">
        <p14:creationId xmlns:p14="http://schemas.microsoft.com/office/powerpoint/2010/main" val="69245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1D7090E-2FC4-4506-BDF8-9F8B7B1D8548}"/>
              </a:ext>
            </a:extLst>
          </p:cNvPr>
          <p:cNvPicPr>
            <a:picLocks noChangeAspect="1"/>
          </p:cNvPicPr>
          <p:nvPr/>
        </p:nvPicPr>
        <p:blipFill>
          <a:blip r:embed="rId2"/>
          <a:stretch>
            <a:fillRect/>
          </a:stretch>
        </p:blipFill>
        <p:spPr>
          <a:xfrm>
            <a:off x="6600056" y="4263574"/>
            <a:ext cx="5121230" cy="2564904"/>
          </a:xfrm>
          <a:prstGeom prst="rect">
            <a:avLst/>
          </a:prstGeom>
        </p:spPr>
      </p:pic>
      <p:sp>
        <p:nvSpPr>
          <p:cNvPr id="2" name="标题 1">
            <a:extLst>
              <a:ext uri="{FF2B5EF4-FFF2-40B4-BE49-F238E27FC236}">
                <a16:creationId xmlns:a16="http://schemas.microsoft.com/office/drawing/2014/main" id="{F7E6155F-8E56-4F1F-8D4C-67F9404C2F23}"/>
              </a:ext>
            </a:extLst>
          </p:cNvPr>
          <p:cNvSpPr>
            <a:spLocks noGrp="1"/>
          </p:cNvSpPr>
          <p:nvPr>
            <p:ph type="title"/>
          </p:nvPr>
        </p:nvSpPr>
        <p:spPr>
          <a:xfrm>
            <a:off x="1981200" y="304800"/>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知识获取机构</a:t>
            </a:r>
          </a:p>
        </p:txBody>
      </p:sp>
      <p:sp>
        <p:nvSpPr>
          <p:cNvPr id="3" name="内容占位符 2">
            <a:extLst>
              <a:ext uri="{FF2B5EF4-FFF2-40B4-BE49-F238E27FC236}">
                <a16:creationId xmlns:a16="http://schemas.microsoft.com/office/drawing/2014/main" id="{89C68406-9030-481F-8B68-1538981CA5A9}"/>
              </a:ext>
            </a:extLst>
          </p:cNvPr>
          <p:cNvSpPr>
            <a:spLocks noGrp="1"/>
          </p:cNvSpPr>
          <p:nvPr>
            <p:ph idx="1"/>
          </p:nvPr>
        </p:nvSpPr>
        <p:spPr>
          <a:xfrm>
            <a:off x="1127448" y="1676400"/>
            <a:ext cx="9937104" cy="4191000"/>
          </a:xfrm>
        </p:spPr>
        <p:txBody>
          <a:bodyPr/>
          <a:lstStyle/>
          <a:p>
            <a:r>
              <a:rPr lang="zh-CN" altLang="en-US" b="1" dirty="0"/>
              <a:t>“</a:t>
            </a:r>
            <a:r>
              <a:rPr lang="zh-CN" altLang="en-US" b="1" dirty="0">
                <a:solidFill>
                  <a:srgbClr val="FF0000"/>
                </a:solidFill>
              </a:rPr>
              <a:t>瓶颈</a:t>
            </a:r>
            <a:r>
              <a:rPr lang="zh-CN" altLang="en-US" b="1" dirty="0"/>
              <a:t>”，是建造和设计专家系统的关键</a:t>
            </a:r>
            <a:endParaRPr lang="en-US" altLang="zh-CN" b="1" dirty="0"/>
          </a:p>
          <a:p>
            <a:r>
              <a:rPr lang="zh-CN" altLang="en-US" b="1" dirty="0"/>
              <a:t>基本任务</a:t>
            </a:r>
            <a:r>
              <a:rPr lang="en-US" altLang="zh-CN" b="1" dirty="0"/>
              <a:t>——</a:t>
            </a:r>
            <a:r>
              <a:rPr lang="zh-CN" altLang="en-US" b="1" dirty="0"/>
              <a:t>为专家系统知识，建立健全、完善、有效的知识库，以满足求解领域问题的需要。</a:t>
            </a:r>
          </a:p>
        </p:txBody>
      </p:sp>
      <p:sp>
        <p:nvSpPr>
          <p:cNvPr id="6" name="矩形 5">
            <a:extLst>
              <a:ext uri="{FF2B5EF4-FFF2-40B4-BE49-F238E27FC236}">
                <a16:creationId xmlns:a16="http://schemas.microsoft.com/office/drawing/2014/main" id="{17D4A718-66C8-9F59-8B5C-D212D23015EC}"/>
              </a:ext>
            </a:extLst>
          </p:cNvPr>
          <p:cNvSpPr/>
          <p:nvPr/>
        </p:nvSpPr>
        <p:spPr bwMode="auto">
          <a:xfrm>
            <a:off x="2495600" y="4480516"/>
            <a:ext cx="288032" cy="244637"/>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pic>
        <p:nvPicPr>
          <p:cNvPr id="9" name="图片 8">
            <a:extLst>
              <a:ext uri="{FF2B5EF4-FFF2-40B4-BE49-F238E27FC236}">
                <a16:creationId xmlns:a16="http://schemas.microsoft.com/office/drawing/2014/main" id="{855777FA-78DA-7041-C6B9-BCB2DBF2104D}"/>
              </a:ext>
            </a:extLst>
          </p:cNvPr>
          <p:cNvPicPr>
            <a:picLocks noChangeAspect="1"/>
          </p:cNvPicPr>
          <p:nvPr/>
        </p:nvPicPr>
        <p:blipFill>
          <a:blip r:embed="rId3"/>
          <a:stretch>
            <a:fillRect/>
          </a:stretch>
        </p:blipFill>
        <p:spPr>
          <a:xfrm>
            <a:off x="869123" y="3747716"/>
            <a:ext cx="5194446" cy="2787402"/>
          </a:xfrm>
          <a:prstGeom prst="rect">
            <a:avLst/>
          </a:prstGeom>
          <a:effectLst>
            <a:glow rad="127000">
              <a:srgbClr val="00B0F0"/>
            </a:glow>
          </a:effectLst>
        </p:spPr>
      </p:pic>
      <p:sp>
        <p:nvSpPr>
          <p:cNvPr id="7" name="对话气泡: 圆角矩形 6">
            <a:extLst>
              <a:ext uri="{FF2B5EF4-FFF2-40B4-BE49-F238E27FC236}">
                <a16:creationId xmlns:a16="http://schemas.microsoft.com/office/drawing/2014/main" id="{8E8EF8BB-615F-855B-1ADF-D4CEF961D1E2}"/>
              </a:ext>
            </a:extLst>
          </p:cNvPr>
          <p:cNvSpPr/>
          <p:nvPr/>
        </p:nvSpPr>
        <p:spPr bwMode="auto">
          <a:xfrm>
            <a:off x="3863752" y="5286040"/>
            <a:ext cx="1728192" cy="375208"/>
          </a:xfrm>
          <a:prstGeom prst="wedgeRoundRectCallout">
            <a:avLst>
              <a:gd name="adj1" fmla="val 152492"/>
              <a:gd name="adj2" fmla="val -108985"/>
              <a:gd name="adj3" fmla="val 16667"/>
            </a:avLst>
          </a:prstGeom>
          <a:noFill/>
          <a:ln w="38100">
            <a:solidFill>
              <a:srgbClr val="3333FF"/>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Arial" panose="020B0604020202020204" pitchFamily="34" charset="0"/>
              <a:ea typeface="宋体" panose="02010600030101010101" pitchFamily="2" charset="-122"/>
            </a:endParaRPr>
          </a:p>
        </p:txBody>
      </p:sp>
      <p:sp>
        <p:nvSpPr>
          <p:cNvPr id="5" name="灯片编号占位符 4">
            <a:extLst>
              <a:ext uri="{FF2B5EF4-FFF2-40B4-BE49-F238E27FC236}">
                <a16:creationId xmlns:a16="http://schemas.microsoft.com/office/drawing/2014/main" id="{7977AF40-7EEF-C078-C43E-A4D448BE3393}"/>
              </a:ext>
            </a:extLst>
          </p:cNvPr>
          <p:cNvSpPr>
            <a:spLocks noGrp="1"/>
          </p:cNvSpPr>
          <p:nvPr>
            <p:ph type="sldNum" sz="quarter" idx="11"/>
          </p:nvPr>
        </p:nvSpPr>
        <p:spPr/>
        <p:txBody>
          <a:bodyPr/>
          <a:lstStyle/>
          <a:p>
            <a:pPr>
              <a:defRPr/>
            </a:pPr>
            <a:fld id="{1F3E0329-027F-44B1-A42A-8643FF593956}" type="slidenum">
              <a:rPr lang="en-US" altLang="zh-CN" smtClean="0"/>
              <a:pPr>
                <a:defRPr/>
              </a:pPr>
              <a:t>80</a:t>
            </a:fld>
            <a:endParaRPr lang="en-US" altLang="zh-CN"/>
          </a:p>
        </p:txBody>
      </p:sp>
    </p:spTree>
    <p:extLst>
      <p:ext uri="{BB962C8B-B14F-4D97-AF65-F5344CB8AC3E}">
        <p14:creationId xmlns:p14="http://schemas.microsoft.com/office/powerpoint/2010/main" val="358722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C61F23D-1318-4B65-BBA7-968AF82A434B}"/>
              </a:ext>
            </a:extLst>
          </p:cNvPr>
          <p:cNvPicPr>
            <a:picLocks noChangeAspect="1"/>
          </p:cNvPicPr>
          <p:nvPr/>
        </p:nvPicPr>
        <p:blipFill rotWithShape="1">
          <a:blip r:embed="rId2"/>
          <a:srcRect l="7023" t="29925" r="10778"/>
          <a:stretch/>
        </p:blipFill>
        <p:spPr>
          <a:xfrm>
            <a:off x="1487488" y="2996953"/>
            <a:ext cx="9073007" cy="3871092"/>
          </a:xfrm>
          <a:prstGeom prst="rect">
            <a:avLst/>
          </a:prstGeom>
        </p:spPr>
      </p:pic>
      <p:sp>
        <p:nvSpPr>
          <p:cNvPr id="2" name="标题 1">
            <a:extLst>
              <a:ext uri="{FF2B5EF4-FFF2-40B4-BE49-F238E27FC236}">
                <a16:creationId xmlns:a16="http://schemas.microsoft.com/office/drawing/2014/main" id="{89E423AC-D626-4EE0-A33D-49B04C3D0FD1}"/>
              </a:ext>
            </a:extLst>
          </p:cNvPr>
          <p:cNvSpPr>
            <a:spLocks noGrp="1"/>
          </p:cNvSpPr>
          <p:nvPr>
            <p:ph type="title"/>
          </p:nvPr>
        </p:nvSpPr>
        <p:spPr/>
        <p:txBody>
          <a:bodyPr/>
          <a:lstStyle/>
          <a:p>
            <a:pPr algn="ctr"/>
            <a:r>
              <a:rPr lang="zh-CN" altLang="en-US" dirty="0">
                <a:solidFill>
                  <a:srgbClr val="008000"/>
                </a:solidFill>
                <a:latin typeface="黑体" panose="02010609060101010101" pitchFamily="49" charset="-122"/>
                <a:ea typeface="黑体" panose="02010609060101010101" pitchFamily="49" charset="-122"/>
              </a:rPr>
              <a:t>专家系统的工作过程</a:t>
            </a:r>
          </a:p>
        </p:txBody>
      </p:sp>
      <p:sp>
        <p:nvSpPr>
          <p:cNvPr id="7" name="内容占位符 6">
            <a:extLst>
              <a:ext uri="{FF2B5EF4-FFF2-40B4-BE49-F238E27FC236}">
                <a16:creationId xmlns:a16="http://schemas.microsoft.com/office/drawing/2014/main" id="{A37F7E38-61BF-4E6B-B39E-D61B2B5D0136}"/>
              </a:ext>
            </a:extLst>
          </p:cNvPr>
          <p:cNvSpPr>
            <a:spLocks noGrp="1"/>
          </p:cNvSpPr>
          <p:nvPr>
            <p:ph idx="1"/>
          </p:nvPr>
        </p:nvSpPr>
        <p:spPr>
          <a:xfrm>
            <a:off x="983432" y="1791072"/>
            <a:ext cx="10153128" cy="1637928"/>
          </a:xfrm>
        </p:spPr>
        <p:txBody>
          <a:bodyPr/>
          <a:lstStyle/>
          <a:p>
            <a:pPr>
              <a:buFont typeface="Wingdings" panose="05000000000000000000" pitchFamily="2" charset="2"/>
              <a:buChar char="l"/>
            </a:pPr>
            <a:r>
              <a:rPr lang="zh-CN" altLang="en-US" b="1" dirty="0"/>
              <a:t>在专家系统的运行过程中，会不断地通过人机接口与用户进行交互，向用户提问，并向用户作出解释。</a:t>
            </a:r>
          </a:p>
        </p:txBody>
      </p:sp>
      <p:sp>
        <p:nvSpPr>
          <p:cNvPr id="3" name="灯片编号占位符 2">
            <a:extLst>
              <a:ext uri="{FF2B5EF4-FFF2-40B4-BE49-F238E27FC236}">
                <a16:creationId xmlns:a16="http://schemas.microsoft.com/office/drawing/2014/main" id="{0BD6AEC4-24A6-82AF-8DB1-D3E3CCC4CA23}"/>
              </a:ext>
            </a:extLst>
          </p:cNvPr>
          <p:cNvSpPr>
            <a:spLocks noGrp="1"/>
          </p:cNvSpPr>
          <p:nvPr>
            <p:ph type="sldNum" sz="quarter" idx="11"/>
          </p:nvPr>
        </p:nvSpPr>
        <p:spPr/>
        <p:txBody>
          <a:bodyPr/>
          <a:lstStyle/>
          <a:p>
            <a:pPr>
              <a:defRPr/>
            </a:pPr>
            <a:fld id="{1F3E0329-027F-44B1-A42A-8643FF593956}" type="slidenum">
              <a:rPr lang="en-US" altLang="zh-CN" smtClean="0"/>
              <a:pPr>
                <a:defRPr/>
              </a:pPr>
              <a:t>81</a:t>
            </a:fld>
            <a:endParaRPr lang="en-US" altLang="zh-CN"/>
          </a:p>
        </p:txBody>
      </p:sp>
    </p:spTree>
    <p:extLst>
      <p:ext uri="{BB962C8B-B14F-4D97-AF65-F5344CB8AC3E}">
        <p14:creationId xmlns:p14="http://schemas.microsoft.com/office/powerpoint/2010/main" val="40578087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CF524F-FECF-4E84-99EA-A1241E8E3C74}"/>
              </a:ext>
            </a:extLst>
          </p:cNvPr>
          <p:cNvSpPr>
            <a:spLocks noGrp="1"/>
          </p:cNvSpPr>
          <p:nvPr>
            <p:ph type="title"/>
          </p:nvPr>
        </p:nvSpPr>
        <p:spPr>
          <a:xfrm>
            <a:off x="1981200" y="188640"/>
            <a:ext cx="8229600" cy="1371600"/>
          </a:xfrm>
        </p:spPr>
        <p:txBody>
          <a:bodyPr/>
          <a:lstStyle/>
          <a:p>
            <a:pPr algn="ctr"/>
            <a:r>
              <a:rPr lang="en-US" altLang="zh-CN" dirty="0">
                <a:solidFill>
                  <a:srgbClr val="008000"/>
                </a:solidFill>
                <a:latin typeface="Comic Sans MS" panose="030F0702030302020204" pitchFamily="66" charset="0"/>
                <a:ea typeface="黑体" panose="02010609060101010101" pitchFamily="49" charset="-122"/>
              </a:rPr>
              <a:t>F</a:t>
            </a:r>
            <a:r>
              <a:rPr lang="zh-CN" altLang="en-US" dirty="0">
                <a:solidFill>
                  <a:srgbClr val="008000"/>
                </a:solidFill>
                <a:latin typeface="Comic Sans MS" panose="030F0702030302020204" pitchFamily="66" charset="0"/>
                <a:ea typeface="黑体" panose="02010609060101010101" pitchFamily="49" charset="-122"/>
              </a:rPr>
              <a:t>专家系统的建模</a:t>
            </a:r>
            <a:endParaRPr lang="zh-CN" altLang="en-US" dirty="0">
              <a:solidFill>
                <a:srgbClr val="008000"/>
              </a:solidFill>
            </a:endParaRPr>
          </a:p>
        </p:txBody>
      </p:sp>
      <p:sp>
        <p:nvSpPr>
          <p:cNvPr id="3" name="内容占位符 2">
            <a:extLst>
              <a:ext uri="{FF2B5EF4-FFF2-40B4-BE49-F238E27FC236}">
                <a16:creationId xmlns:a16="http://schemas.microsoft.com/office/drawing/2014/main" id="{E23F695E-9F27-41ED-B785-59A8FA029D2F}"/>
              </a:ext>
            </a:extLst>
          </p:cNvPr>
          <p:cNvSpPr>
            <a:spLocks noGrp="1"/>
          </p:cNvSpPr>
          <p:nvPr>
            <p:ph idx="1"/>
          </p:nvPr>
        </p:nvSpPr>
        <p:spPr>
          <a:xfrm>
            <a:off x="1199456" y="1560240"/>
            <a:ext cx="10153128" cy="4307160"/>
          </a:xfrm>
        </p:spPr>
        <p:txBody>
          <a:bodyPr/>
          <a:lstStyle/>
          <a:p>
            <a:r>
              <a:rPr lang="en-US" altLang="zh-CN" sz="2800" b="1" dirty="0"/>
              <a:t>F</a:t>
            </a:r>
            <a:r>
              <a:rPr lang="zh-CN" altLang="en-US" sz="2800" b="1" dirty="0"/>
              <a:t>专家系统</a:t>
            </a:r>
            <a:r>
              <a:rPr lang="en-US" altLang="zh-CN" sz="2800" b="1" dirty="0"/>
              <a:t>——</a:t>
            </a:r>
            <a:r>
              <a:rPr lang="zh-CN" altLang="en-US" sz="2800" b="1" dirty="0"/>
              <a:t>是指采用</a:t>
            </a:r>
            <a:r>
              <a:rPr lang="en-US" altLang="zh-CN" sz="2800" b="1" dirty="0"/>
              <a:t>F</a:t>
            </a:r>
            <a:r>
              <a:rPr lang="zh-CN" altLang="en-US" sz="2800" b="1" dirty="0"/>
              <a:t>技术来处理不确定性的一类专家系统。</a:t>
            </a:r>
            <a:endParaRPr lang="en-US" altLang="zh-CN" sz="2800" b="1" dirty="0"/>
          </a:p>
          <a:p>
            <a:r>
              <a:rPr lang="zh-CN" altLang="en-US" b="1" dirty="0"/>
              <a:t> </a:t>
            </a:r>
            <a:r>
              <a:rPr lang="en-US" altLang="zh-CN" sz="2800" b="1" dirty="0"/>
              <a:t>F</a:t>
            </a:r>
            <a:r>
              <a:rPr lang="zh-CN" altLang="en-US" sz="2800" b="1" dirty="0"/>
              <a:t>专家系统的基本结构与传统专家系统类似</a:t>
            </a:r>
            <a:endParaRPr lang="zh-CN" altLang="en-US" b="1" dirty="0"/>
          </a:p>
        </p:txBody>
      </p:sp>
      <p:pic>
        <p:nvPicPr>
          <p:cNvPr id="4" name="图片 3">
            <a:extLst>
              <a:ext uri="{FF2B5EF4-FFF2-40B4-BE49-F238E27FC236}">
                <a16:creationId xmlns:a16="http://schemas.microsoft.com/office/drawing/2014/main" id="{53C8276D-376E-48A9-BBCF-957A37045F3F}"/>
              </a:ext>
            </a:extLst>
          </p:cNvPr>
          <p:cNvPicPr>
            <a:picLocks noChangeAspect="1"/>
          </p:cNvPicPr>
          <p:nvPr/>
        </p:nvPicPr>
        <p:blipFill>
          <a:blip r:embed="rId2"/>
          <a:stretch>
            <a:fillRect/>
          </a:stretch>
        </p:blipFill>
        <p:spPr>
          <a:xfrm>
            <a:off x="2711624" y="3140968"/>
            <a:ext cx="7373626" cy="3717032"/>
          </a:xfrm>
          <a:prstGeom prst="rect">
            <a:avLst/>
          </a:prstGeom>
        </p:spPr>
      </p:pic>
      <p:sp>
        <p:nvSpPr>
          <p:cNvPr id="5" name="灯片编号占位符 4">
            <a:extLst>
              <a:ext uri="{FF2B5EF4-FFF2-40B4-BE49-F238E27FC236}">
                <a16:creationId xmlns:a16="http://schemas.microsoft.com/office/drawing/2014/main" id="{BC121A42-43A5-2547-19E9-974960F7D5E8}"/>
              </a:ext>
            </a:extLst>
          </p:cNvPr>
          <p:cNvSpPr>
            <a:spLocks noGrp="1"/>
          </p:cNvSpPr>
          <p:nvPr>
            <p:ph type="sldNum" sz="quarter" idx="11"/>
          </p:nvPr>
        </p:nvSpPr>
        <p:spPr/>
        <p:txBody>
          <a:bodyPr/>
          <a:lstStyle/>
          <a:p>
            <a:pPr>
              <a:defRPr/>
            </a:pPr>
            <a:fld id="{1F3E0329-027F-44B1-A42A-8643FF593956}" type="slidenum">
              <a:rPr lang="en-US" altLang="zh-CN" smtClean="0"/>
              <a:pPr>
                <a:defRPr/>
              </a:pPr>
              <a:t>82</a:t>
            </a:fld>
            <a:endParaRPr lang="en-US" altLang="zh-CN"/>
          </a:p>
        </p:txBody>
      </p:sp>
    </p:spTree>
    <p:extLst>
      <p:ext uri="{BB962C8B-B14F-4D97-AF65-F5344CB8AC3E}">
        <p14:creationId xmlns:p14="http://schemas.microsoft.com/office/powerpoint/2010/main" val="40749449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98E85F-3796-4CB1-99F8-6436247CC656}"/>
              </a:ext>
            </a:extLst>
          </p:cNvPr>
          <p:cNvSpPr>
            <a:spLocks noGrp="1"/>
          </p:cNvSpPr>
          <p:nvPr>
            <p:ph type="title"/>
          </p:nvPr>
        </p:nvSpPr>
        <p:spPr/>
        <p:txBody>
          <a:bodyPr/>
          <a:lstStyle/>
          <a:p>
            <a:pPr algn="ctr"/>
            <a:r>
              <a:rPr lang="zh-CN" altLang="en-US" dirty="0">
                <a:solidFill>
                  <a:srgbClr val="008000"/>
                </a:solidFill>
                <a:latin typeface="黑体" panose="02010609060101010101" pitchFamily="49" charset="-122"/>
                <a:ea typeface="黑体" panose="02010609060101010101" pitchFamily="49" charset="-122"/>
              </a:rPr>
              <a:t>开发</a:t>
            </a:r>
            <a:r>
              <a:rPr lang="en-US" altLang="zh-CN" dirty="0">
                <a:solidFill>
                  <a:srgbClr val="008000"/>
                </a:solidFill>
                <a:latin typeface="+mn-lt"/>
                <a:ea typeface="黑体" panose="02010609060101010101" pitchFamily="49" charset="-122"/>
              </a:rPr>
              <a:t>F</a:t>
            </a:r>
            <a:r>
              <a:rPr lang="zh-CN" altLang="en-US" dirty="0">
                <a:solidFill>
                  <a:srgbClr val="008000"/>
                </a:solidFill>
                <a:latin typeface="黑体" panose="02010609060101010101" pitchFamily="49" charset="-122"/>
                <a:ea typeface="黑体" panose="02010609060101010101" pitchFamily="49" charset="-122"/>
              </a:rPr>
              <a:t>专家系统的典型过程步骤</a:t>
            </a:r>
          </a:p>
        </p:txBody>
      </p:sp>
      <p:sp>
        <p:nvSpPr>
          <p:cNvPr id="3" name="内容占位符 2">
            <a:extLst>
              <a:ext uri="{FF2B5EF4-FFF2-40B4-BE49-F238E27FC236}">
                <a16:creationId xmlns:a16="http://schemas.microsoft.com/office/drawing/2014/main" id="{E40B3631-3712-4977-8AD1-2D99CB00F4A1}"/>
              </a:ext>
            </a:extLst>
          </p:cNvPr>
          <p:cNvSpPr>
            <a:spLocks noGrp="1"/>
          </p:cNvSpPr>
          <p:nvPr>
            <p:ph idx="1"/>
          </p:nvPr>
        </p:nvSpPr>
        <p:spPr>
          <a:xfrm>
            <a:off x="1559496" y="1828799"/>
            <a:ext cx="8651304" cy="4894907"/>
          </a:xfrm>
        </p:spPr>
        <p:txBody>
          <a:bodyPr/>
          <a:lstStyle/>
          <a:p>
            <a:pPr marL="514350" indent="-514350">
              <a:lnSpc>
                <a:spcPct val="150000"/>
              </a:lnSpc>
              <a:buFont typeface="+mj-lt"/>
              <a:buAutoNum type="arabicPeriod"/>
            </a:pPr>
            <a:r>
              <a:rPr lang="zh-CN" altLang="en-US" b="1" dirty="0"/>
              <a:t>指定问题并定义语言变量</a:t>
            </a:r>
            <a:endParaRPr lang="en-US" altLang="zh-CN" b="1" dirty="0"/>
          </a:p>
          <a:p>
            <a:pPr marL="514350" indent="-514350">
              <a:lnSpc>
                <a:spcPct val="150000"/>
              </a:lnSpc>
              <a:buFont typeface="+mj-lt"/>
              <a:buAutoNum type="arabicPeriod"/>
            </a:pPr>
            <a:r>
              <a:rPr lang="zh-CN" altLang="en-US" b="1" dirty="0"/>
              <a:t>定义</a:t>
            </a:r>
            <a:r>
              <a:rPr lang="en-US" altLang="zh-CN" b="1" dirty="0"/>
              <a:t>F</a:t>
            </a:r>
            <a:r>
              <a:rPr lang="zh-CN" altLang="en-US" b="1" dirty="0"/>
              <a:t>集</a:t>
            </a:r>
            <a:endParaRPr lang="en-US" altLang="zh-CN" b="1" dirty="0"/>
          </a:p>
          <a:p>
            <a:pPr marL="514350" indent="-514350">
              <a:lnSpc>
                <a:spcPct val="150000"/>
              </a:lnSpc>
              <a:buFont typeface="+mj-lt"/>
              <a:buAutoNum type="arabicPeriod"/>
            </a:pPr>
            <a:r>
              <a:rPr lang="zh-CN" altLang="en-US" b="1" dirty="0"/>
              <a:t>抽取并构造</a:t>
            </a:r>
            <a:r>
              <a:rPr lang="en-US" altLang="zh-CN" b="1" dirty="0"/>
              <a:t>F</a:t>
            </a:r>
            <a:r>
              <a:rPr lang="zh-CN" altLang="en-US" b="1" dirty="0"/>
              <a:t>规则</a:t>
            </a:r>
            <a:endParaRPr lang="en-US" altLang="zh-CN" b="1" dirty="0"/>
          </a:p>
          <a:p>
            <a:pPr marL="514350" indent="-514350">
              <a:lnSpc>
                <a:spcPct val="150000"/>
              </a:lnSpc>
              <a:buFont typeface="+mj-lt"/>
              <a:buAutoNum type="arabicPeriod"/>
            </a:pPr>
            <a:r>
              <a:rPr lang="zh-CN" altLang="en-US" b="1" dirty="0"/>
              <a:t>对</a:t>
            </a:r>
            <a:r>
              <a:rPr lang="en-US" altLang="zh-CN" b="1" dirty="0"/>
              <a:t>F</a:t>
            </a:r>
            <a:r>
              <a:rPr lang="zh-CN" altLang="en-US" b="1" dirty="0"/>
              <a:t>集、</a:t>
            </a:r>
            <a:r>
              <a:rPr lang="en-US" altLang="zh-CN" b="1" dirty="0"/>
              <a:t>F</a:t>
            </a:r>
            <a:r>
              <a:rPr lang="zh-CN" altLang="en-US" b="1" dirty="0"/>
              <a:t>规则和流程进行程序编码以便在专家系统中执行</a:t>
            </a:r>
            <a:r>
              <a:rPr lang="en-US" altLang="zh-CN" b="1" dirty="0"/>
              <a:t>F</a:t>
            </a:r>
            <a:r>
              <a:rPr lang="zh-CN" altLang="en-US" b="1" dirty="0"/>
              <a:t>推理。</a:t>
            </a:r>
            <a:endParaRPr lang="en-US" altLang="zh-CN" b="1" dirty="0"/>
          </a:p>
          <a:p>
            <a:pPr marL="514350" indent="-514350">
              <a:lnSpc>
                <a:spcPct val="150000"/>
              </a:lnSpc>
              <a:buFont typeface="+mj-lt"/>
              <a:buAutoNum type="arabicPeriod"/>
            </a:pPr>
            <a:r>
              <a:rPr lang="zh-CN" altLang="en-US" b="1" dirty="0"/>
              <a:t>评估并调整系统。</a:t>
            </a:r>
          </a:p>
        </p:txBody>
      </p:sp>
      <p:sp>
        <p:nvSpPr>
          <p:cNvPr id="4" name="灯片编号占位符 3">
            <a:extLst>
              <a:ext uri="{FF2B5EF4-FFF2-40B4-BE49-F238E27FC236}">
                <a16:creationId xmlns:a16="http://schemas.microsoft.com/office/drawing/2014/main" id="{16591067-8782-5CC4-0F2C-6D5FE6F9423D}"/>
              </a:ext>
            </a:extLst>
          </p:cNvPr>
          <p:cNvSpPr>
            <a:spLocks noGrp="1"/>
          </p:cNvSpPr>
          <p:nvPr>
            <p:ph type="sldNum" sz="quarter" idx="11"/>
          </p:nvPr>
        </p:nvSpPr>
        <p:spPr/>
        <p:txBody>
          <a:bodyPr/>
          <a:lstStyle/>
          <a:p>
            <a:pPr>
              <a:defRPr/>
            </a:pPr>
            <a:fld id="{1F3E0329-027F-44B1-A42A-8643FF593956}" type="slidenum">
              <a:rPr lang="en-US" altLang="zh-CN" smtClean="0"/>
              <a:pPr>
                <a:defRPr/>
              </a:pPr>
              <a:t>83</a:t>
            </a:fld>
            <a:endParaRPr lang="en-US" altLang="zh-CN"/>
          </a:p>
        </p:txBody>
      </p:sp>
    </p:spTree>
    <p:extLst>
      <p:ext uri="{BB962C8B-B14F-4D97-AF65-F5344CB8AC3E}">
        <p14:creationId xmlns:p14="http://schemas.microsoft.com/office/powerpoint/2010/main" val="114130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0B6C5C-1A01-4559-A02C-51499E12E8AD}"/>
              </a:ext>
            </a:extLst>
          </p:cNvPr>
          <p:cNvSpPr>
            <a:spLocks noGrp="1"/>
          </p:cNvSpPr>
          <p:nvPr>
            <p:ph type="title"/>
          </p:nvPr>
        </p:nvSpPr>
        <p:spPr>
          <a:xfrm>
            <a:off x="1981200" y="188640"/>
            <a:ext cx="8229600" cy="1371600"/>
          </a:xfrm>
        </p:spPr>
        <p:txBody>
          <a:bodyPr/>
          <a:lstStyle/>
          <a:p>
            <a:pPr algn="ctr"/>
            <a:r>
              <a:rPr lang="en-US" altLang="zh-CN" dirty="0">
                <a:solidFill>
                  <a:srgbClr val="008000"/>
                </a:solidFill>
              </a:rPr>
              <a:t>F</a:t>
            </a:r>
            <a:r>
              <a:rPr lang="zh-CN" altLang="en-US" dirty="0">
                <a:solidFill>
                  <a:srgbClr val="008000"/>
                </a:solidFill>
                <a:latin typeface="黑体" panose="02010609060101010101" pitchFamily="49" charset="-122"/>
                <a:ea typeface="黑体" panose="02010609060101010101" pitchFamily="49" charset="-122"/>
              </a:rPr>
              <a:t>专家系统建模实例</a:t>
            </a:r>
          </a:p>
        </p:txBody>
      </p:sp>
      <p:sp>
        <p:nvSpPr>
          <p:cNvPr id="3" name="内容占位符 2">
            <a:extLst>
              <a:ext uri="{FF2B5EF4-FFF2-40B4-BE49-F238E27FC236}">
                <a16:creationId xmlns:a16="http://schemas.microsoft.com/office/drawing/2014/main" id="{BAB379F7-8E95-483F-808E-AEAF3EF435DF}"/>
              </a:ext>
            </a:extLst>
          </p:cNvPr>
          <p:cNvSpPr>
            <a:spLocks noGrp="1"/>
          </p:cNvSpPr>
          <p:nvPr>
            <p:ph idx="1"/>
          </p:nvPr>
        </p:nvSpPr>
        <p:spPr>
          <a:xfrm>
            <a:off x="983432" y="1560240"/>
            <a:ext cx="10369152" cy="4893096"/>
          </a:xfrm>
        </p:spPr>
        <p:txBody>
          <a:bodyPr/>
          <a:lstStyle/>
          <a:p>
            <a:pPr marL="0" indent="0">
              <a:lnSpc>
                <a:spcPct val="130000"/>
              </a:lnSpc>
              <a:buNone/>
            </a:pPr>
            <a:r>
              <a:rPr lang="zh-CN" altLang="en-US"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备件服务中心</a:t>
            </a:r>
            <a:r>
              <a:rPr lang="zh-CN" altLang="en-US" b="1" dirty="0"/>
              <a:t>的例子</a:t>
            </a:r>
            <a:r>
              <a:rPr lang="en-US" altLang="zh-CN" b="1" dirty="0"/>
              <a:t>(Turksen,1992)</a:t>
            </a:r>
            <a:r>
              <a:rPr lang="zh-CN" altLang="en-US" b="1" dirty="0"/>
              <a:t>：</a:t>
            </a:r>
            <a:endParaRPr lang="en-US" altLang="zh-CN" b="1" dirty="0"/>
          </a:p>
          <a:p>
            <a:pPr>
              <a:lnSpc>
                <a:spcPct val="130000"/>
              </a:lnSpc>
            </a:pPr>
            <a:r>
              <a:rPr lang="zh-CN" altLang="en-US" b="1" dirty="0"/>
              <a:t>服务中心保存零件备件并修复损坏的零件备件。</a:t>
            </a:r>
            <a:endParaRPr lang="en-US" altLang="zh-CN" b="1" dirty="0"/>
          </a:p>
          <a:p>
            <a:pPr>
              <a:lnSpc>
                <a:spcPct val="130000"/>
              </a:lnSpc>
            </a:pPr>
            <a:r>
              <a:rPr lang="zh-CN" altLang="en-US" b="1" dirty="0"/>
              <a:t>客户拿来一个损坏的零件备件，换走一个相同型号的零件备件。</a:t>
            </a:r>
            <a:endParaRPr lang="en-US" altLang="zh-CN" b="1" dirty="0"/>
          </a:p>
          <a:p>
            <a:pPr>
              <a:lnSpc>
                <a:spcPct val="130000"/>
              </a:lnSpc>
            </a:pPr>
            <a:r>
              <a:rPr lang="zh-CN" altLang="en-US" b="1" dirty="0"/>
              <a:t>损坏的零件备件被修好后放置在架子上作为零件备件。</a:t>
            </a:r>
            <a:endParaRPr lang="en-US" altLang="zh-CN" b="1" dirty="0"/>
          </a:p>
          <a:p>
            <a:pPr>
              <a:lnSpc>
                <a:spcPct val="130000"/>
              </a:lnSpc>
            </a:pPr>
            <a:r>
              <a:rPr lang="zh-CN" altLang="en-US" b="1" dirty="0"/>
              <a:t>我们的目标是向零件备件服务中心的经理建议使客户满意的决策方针</a:t>
            </a:r>
          </a:p>
        </p:txBody>
      </p:sp>
      <p:sp>
        <p:nvSpPr>
          <p:cNvPr id="4" name="灯片编号占位符 3">
            <a:extLst>
              <a:ext uri="{FF2B5EF4-FFF2-40B4-BE49-F238E27FC236}">
                <a16:creationId xmlns:a16="http://schemas.microsoft.com/office/drawing/2014/main" id="{CC5346B2-64BC-4AA7-1BBB-62E7C3368F04}"/>
              </a:ext>
            </a:extLst>
          </p:cNvPr>
          <p:cNvSpPr>
            <a:spLocks noGrp="1"/>
          </p:cNvSpPr>
          <p:nvPr>
            <p:ph type="sldNum" sz="quarter" idx="11"/>
          </p:nvPr>
        </p:nvSpPr>
        <p:spPr/>
        <p:txBody>
          <a:bodyPr/>
          <a:lstStyle/>
          <a:p>
            <a:pPr>
              <a:defRPr/>
            </a:pPr>
            <a:fld id="{1F3E0329-027F-44B1-A42A-8643FF593956}" type="slidenum">
              <a:rPr lang="en-US" altLang="zh-CN" smtClean="0"/>
              <a:pPr>
                <a:defRPr/>
              </a:pPr>
              <a:t>84</a:t>
            </a:fld>
            <a:endParaRPr lang="en-US" altLang="zh-CN"/>
          </a:p>
        </p:txBody>
      </p:sp>
    </p:spTree>
    <p:extLst>
      <p:ext uri="{BB962C8B-B14F-4D97-AF65-F5344CB8AC3E}">
        <p14:creationId xmlns:p14="http://schemas.microsoft.com/office/powerpoint/2010/main" val="3286320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18097F-B9B5-4328-B334-B82472E0A8A9}"/>
              </a:ext>
            </a:extLst>
          </p:cNvPr>
          <p:cNvSpPr>
            <a:spLocks noGrp="1"/>
          </p:cNvSpPr>
          <p:nvPr>
            <p:ph type="title"/>
          </p:nvPr>
        </p:nvSpPr>
        <p:spPr>
          <a:xfrm>
            <a:off x="1842356" y="188640"/>
            <a:ext cx="8507288" cy="1371600"/>
          </a:xfrm>
        </p:spPr>
        <p:txBody>
          <a:bodyPr/>
          <a:lstStyle/>
          <a:p>
            <a:r>
              <a:rPr lang="zh-CN" altLang="en-US" dirty="0">
                <a:solidFill>
                  <a:srgbClr val="008000"/>
                </a:solidFill>
                <a:latin typeface="黑体" panose="02010609060101010101" pitchFamily="49" charset="-122"/>
                <a:ea typeface="黑体" panose="02010609060101010101" pitchFamily="49" charset="-122"/>
              </a:rPr>
              <a:t>步骤</a:t>
            </a:r>
            <a:r>
              <a:rPr lang="en-US" altLang="zh-CN" dirty="0">
                <a:solidFill>
                  <a:srgbClr val="008000"/>
                </a:solidFill>
                <a:latin typeface="黑体" panose="02010609060101010101" pitchFamily="49" charset="-122"/>
                <a:ea typeface="黑体" panose="02010609060101010101" pitchFamily="49" charset="-122"/>
              </a:rPr>
              <a:t>1</a:t>
            </a:r>
            <a:r>
              <a:rPr lang="zh-CN" altLang="en-US" dirty="0">
                <a:solidFill>
                  <a:srgbClr val="008000"/>
                </a:solidFill>
                <a:latin typeface="黑体" panose="02010609060101010101" pitchFamily="49" charset="-122"/>
                <a:ea typeface="黑体" panose="02010609060101010101" pitchFamily="49" charset="-122"/>
              </a:rPr>
              <a:t>：指定问题并定义语言变量</a:t>
            </a:r>
          </a:p>
        </p:txBody>
      </p:sp>
      <p:sp>
        <p:nvSpPr>
          <p:cNvPr id="3" name="内容占位符 2">
            <a:extLst>
              <a:ext uri="{FF2B5EF4-FFF2-40B4-BE49-F238E27FC236}">
                <a16:creationId xmlns:a16="http://schemas.microsoft.com/office/drawing/2014/main" id="{87C325EE-1A77-43EF-B646-C2DEF8A95D23}"/>
              </a:ext>
            </a:extLst>
          </p:cNvPr>
          <p:cNvSpPr>
            <a:spLocks noGrp="1"/>
          </p:cNvSpPr>
          <p:nvPr>
            <p:ph idx="1"/>
          </p:nvPr>
        </p:nvSpPr>
        <p:spPr>
          <a:xfrm>
            <a:off x="1199456" y="1560240"/>
            <a:ext cx="10009112" cy="4965104"/>
          </a:xfrm>
        </p:spPr>
        <p:txBody>
          <a:bodyPr/>
          <a:lstStyle/>
          <a:p>
            <a:r>
              <a:rPr lang="zh-CN" altLang="en-US" b="1" dirty="0"/>
              <a:t>确定问题的输入</a:t>
            </a:r>
            <a:r>
              <a:rPr lang="en-US" altLang="zh-CN" b="1" dirty="0"/>
              <a:t>/</a:t>
            </a:r>
            <a:r>
              <a:rPr lang="zh-CN" altLang="en-US" b="1" dirty="0"/>
              <a:t>输出变量及范围，本例中有</a:t>
            </a:r>
            <a:r>
              <a:rPr lang="en-US" altLang="zh-CN" b="1" dirty="0"/>
              <a:t>4</a:t>
            </a:r>
            <a:r>
              <a:rPr lang="zh-CN" altLang="en-US" b="1" dirty="0"/>
              <a:t>个主要的语言变量：</a:t>
            </a:r>
            <a:endParaRPr lang="en-US" altLang="zh-CN" b="1" dirty="0"/>
          </a:p>
          <a:p>
            <a:pPr marL="971550" lvl="1" indent="-514350">
              <a:buFont typeface="+mj-ea"/>
              <a:buAutoNum type="circleNumDbPlain"/>
            </a:pPr>
            <a:r>
              <a:rPr lang="zh-CN" altLang="en-US" b="1" dirty="0">
                <a:solidFill>
                  <a:srgbClr val="0000FF"/>
                </a:solidFill>
              </a:rPr>
              <a:t>平均等待时间</a:t>
            </a:r>
            <a:r>
              <a:rPr lang="en-US" altLang="zh-CN" b="1" dirty="0">
                <a:solidFill>
                  <a:srgbClr val="0000FF"/>
                </a:solidFill>
              </a:rPr>
              <a:t>(</a:t>
            </a:r>
            <a:r>
              <a:rPr lang="zh-CN" altLang="en-US" b="1" dirty="0">
                <a:solidFill>
                  <a:srgbClr val="0000FF"/>
                </a:solidFill>
              </a:rPr>
              <a:t>平均延迟</a:t>
            </a:r>
            <a:r>
              <a:rPr lang="en-US" altLang="zh-CN" b="1" dirty="0">
                <a:solidFill>
                  <a:srgbClr val="0000FF"/>
                </a:solidFill>
              </a:rPr>
              <a:t>)m</a:t>
            </a:r>
          </a:p>
          <a:p>
            <a:pPr marL="971550" lvl="1" indent="-514350">
              <a:buFont typeface="+mj-ea"/>
              <a:buAutoNum type="circleNumDbPlain"/>
            </a:pPr>
            <a:r>
              <a:rPr lang="zh-CN" altLang="en-US" b="1" dirty="0">
                <a:solidFill>
                  <a:srgbClr val="0000FF"/>
                </a:solidFill>
              </a:rPr>
              <a:t>服务员人数</a:t>
            </a:r>
            <a:r>
              <a:rPr lang="en-US" altLang="zh-CN" b="1" dirty="0">
                <a:solidFill>
                  <a:srgbClr val="0000FF"/>
                </a:solidFill>
              </a:rPr>
              <a:t>s</a:t>
            </a:r>
          </a:p>
          <a:p>
            <a:pPr marL="971550" lvl="1" indent="-514350">
              <a:buFont typeface="+mj-ea"/>
              <a:buAutoNum type="circleNumDbPlain"/>
            </a:pPr>
            <a:r>
              <a:rPr lang="zh-CN" altLang="en-US" b="1" dirty="0">
                <a:solidFill>
                  <a:srgbClr val="0000FF"/>
                </a:solidFill>
              </a:rPr>
              <a:t>服务中心的修理利用因子</a:t>
            </a:r>
            <a:r>
              <a:rPr lang="en-US" altLang="zh-CN" b="1" dirty="0">
                <a:solidFill>
                  <a:srgbClr val="0000FF"/>
                </a:solidFill>
              </a:rPr>
              <a:t>p</a:t>
            </a:r>
          </a:p>
          <a:p>
            <a:pPr marL="971550" lvl="1" indent="-514350">
              <a:buFont typeface="+mj-ea"/>
              <a:buAutoNum type="circleNumDbPlain"/>
            </a:pPr>
            <a:r>
              <a:rPr lang="zh-CN" altLang="en-US" b="1" dirty="0">
                <a:solidFill>
                  <a:srgbClr val="CC00CC"/>
                </a:solidFill>
              </a:rPr>
              <a:t>初始零件备件数量</a:t>
            </a:r>
            <a:r>
              <a:rPr lang="en-US" altLang="zh-CN" b="1" dirty="0">
                <a:solidFill>
                  <a:srgbClr val="CC00CC"/>
                </a:solidFill>
              </a:rPr>
              <a:t>n</a:t>
            </a:r>
          </a:p>
          <a:p>
            <a:r>
              <a:rPr lang="zh-CN" altLang="en-US" b="1" dirty="0"/>
              <a:t>考虑的决策模型：</a:t>
            </a:r>
            <a:r>
              <a:rPr lang="en-US" altLang="zh-CN" b="1" dirty="0"/>
              <a:t>3</a:t>
            </a:r>
            <a:r>
              <a:rPr lang="zh-CN" altLang="en-US" b="1" dirty="0"/>
              <a:t>输入</a:t>
            </a:r>
            <a:r>
              <a:rPr lang="en-US" altLang="zh-CN" b="1" dirty="0"/>
              <a:t>(</a:t>
            </a:r>
            <a:r>
              <a:rPr lang="en-US" altLang="zh-CN" b="1" dirty="0" err="1">
                <a:solidFill>
                  <a:srgbClr val="0000FF"/>
                </a:solidFill>
              </a:rPr>
              <a:t>m,s,p</a:t>
            </a:r>
            <a:r>
              <a:rPr lang="en-US" altLang="zh-CN" b="1" dirty="0"/>
              <a:t>)</a:t>
            </a:r>
            <a:r>
              <a:rPr lang="zh-CN" altLang="en-US" b="1" dirty="0"/>
              <a:t>，</a:t>
            </a:r>
            <a:r>
              <a:rPr lang="en-US" altLang="zh-CN" b="1" dirty="0"/>
              <a:t>1</a:t>
            </a:r>
            <a:r>
              <a:rPr lang="zh-CN" altLang="en-US" b="1" dirty="0"/>
              <a:t>输出</a:t>
            </a:r>
            <a:r>
              <a:rPr lang="en-US" altLang="zh-CN" b="1" dirty="0">
                <a:solidFill>
                  <a:srgbClr val="CC00CC"/>
                </a:solidFill>
              </a:rPr>
              <a:t>n</a:t>
            </a:r>
          </a:p>
          <a:p>
            <a:r>
              <a:rPr lang="zh-CN" altLang="en-US" b="1" dirty="0"/>
              <a:t>即经理应该决定在客户可接受范围内维持平均延迟时间所需的配件数量。</a:t>
            </a:r>
          </a:p>
        </p:txBody>
      </p:sp>
      <p:sp>
        <p:nvSpPr>
          <p:cNvPr id="4" name="灯片编号占位符 3">
            <a:extLst>
              <a:ext uri="{FF2B5EF4-FFF2-40B4-BE49-F238E27FC236}">
                <a16:creationId xmlns:a16="http://schemas.microsoft.com/office/drawing/2014/main" id="{09BEA61D-9953-C928-4BED-78BEBDAFA230}"/>
              </a:ext>
            </a:extLst>
          </p:cNvPr>
          <p:cNvSpPr>
            <a:spLocks noGrp="1"/>
          </p:cNvSpPr>
          <p:nvPr>
            <p:ph type="sldNum" sz="quarter" idx="11"/>
          </p:nvPr>
        </p:nvSpPr>
        <p:spPr/>
        <p:txBody>
          <a:bodyPr/>
          <a:lstStyle/>
          <a:p>
            <a:pPr>
              <a:defRPr/>
            </a:pPr>
            <a:fld id="{1F3E0329-027F-44B1-A42A-8643FF593956}" type="slidenum">
              <a:rPr lang="en-US" altLang="zh-CN" smtClean="0"/>
              <a:pPr>
                <a:defRPr/>
              </a:pPr>
              <a:t>85</a:t>
            </a:fld>
            <a:endParaRPr lang="en-US" altLang="zh-CN"/>
          </a:p>
        </p:txBody>
      </p:sp>
    </p:spTree>
    <p:extLst>
      <p:ext uri="{BB962C8B-B14F-4D97-AF65-F5344CB8AC3E}">
        <p14:creationId xmlns:p14="http://schemas.microsoft.com/office/powerpoint/2010/main" val="181731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7E1E67A-47BA-4B7C-9BF6-F63F38625864}"/>
              </a:ext>
            </a:extLst>
          </p:cNvPr>
          <p:cNvSpPr>
            <a:spLocks noGrp="1"/>
          </p:cNvSpPr>
          <p:nvPr>
            <p:ph type="title"/>
          </p:nvPr>
        </p:nvSpPr>
        <p:spPr>
          <a:xfrm>
            <a:off x="1981200" y="44624"/>
            <a:ext cx="8229600" cy="792088"/>
          </a:xfrm>
          <a:solidFill>
            <a:schemeClr val="bg1"/>
          </a:solidFill>
        </p:spPr>
        <p:txBody>
          <a:bodyPr/>
          <a:lstStyle/>
          <a:p>
            <a:pPr algn="ctr"/>
            <a:r>
              <a:rPr lang="zh-CN" altLang="en-US" dirty="0">
                <a:solidFill>
                  <a:srgbClr val="008000"/>
                </a:solidFill>
                <a:latin typeface="黑体" panose="02010609060101010101" pitchFamily="49" charset="-122"/>
                <a:ea typeface="黑体" panose="02010609060101010101" pitchFamily="49" charset="-122"/>
              </a:rPr>
              <a:t>各语言变量及取值范围</a:t>
            </a:r>
          </a:p>
        </p:txBody>
      </p:sp>
      <p:graphicFrame>
        <p:nvGraphicFramePr>
          <p:cNvPr id="2" name="表格 1">
            <a:extLst>
              <a:ext uri="{FF2B5EF4-FFF2-40B4-BE49-F238E27FC236}">
                <a16:creationId xmlns:a16="http://schemas.microsoft.com/office/drawing/2014/main" id="{3CF3E38C-42EF-0C24-BC9C-A466A7AD7A31}"/>
              </a:ext>
            </a:extLst>
          </p:cNvPr>
          <p:cNvGraphicFramePr>
            <a:graphicFrameLocks noGrp="1"/>
          </p:cNvGraphicFramePr>
          <p:nvPr>
            <p:extLst>
              <p:ext uri="{D42A27DB-BD31-4B8C-83A1-F6EECF244321}">
                <p14:modId xmlns:p14="http://schemas.microsoft.com/office/powerpoint/2010/main" val="2756586734"/>
              </p:ext>
            </p:extLst>
          </p:nvPr>
        </p:nvGraphicFramePr>
        <p:xfrm>
          <a:off x="2351584" y="955236"/>
          <a:ext cx="6974560" cy="5902764"/>
        </p:xfrm>
        <a:graphic>
          <a:graphicData uri="http://schemas.openxmlformats.org/drawingml/2006/table">
            <a:tbl>
              <a:tblPr firstRow="1" bandRow="1">
                <a:tableStyleId>{2D5ABB26-0587-4C30-8999-92F81FD0307C}</a:tableStyleId>
              </a:tblPr>
              <a:tblGrid>
                <a:gridCol w="1743640">
                  <a:extLst>
                    <a:ext uri="{9D8B030D-6E8A-4147-A177-3AD203B41FA5}">
                      <a16:colId xmlns:a16="http://schemas.microsoft.com/office/drawing/2014/main" val="3650235181"/>
                    </a:ext>
                  </a:extLst>
                </a:gridCol>
                <a:gridCol w="1743640">
                  <a:extLst>
                    <a:ext uri="{9D8B030D-6E8A-4147-A177-3AD203B41FA5}">
                      <a16:colId xmlns:a16="http://schemas.microsoft.com/office/drawing/2014/main" val="2623079968"/>
                    </a:ext>
                  </a:extLst>
                </a:gridCol>
                <a:gridCol w="1743640">
                  <a:extLst>
                    <a:ext uri="{9D8B030D-6E8A-4147-A177-3AD203B41FA5}">
                      <a16:colId xmlns:a16="http://schemas.microsoft.com/office/drawing/2014/main" val="1447610421"/>
                    </a:ext>
                  </a:extLst>
                </a:gridCol>
                <a:gridCol w="1743640">
                  <a:extLst>
                    <a:ext uri="{9D8B030D-6E8A-4147-A177-3AD203B41FA5}">
                      <a16:colId xmlns:a16="http://schemas.microsoft.com/office/drawing/2014/main" val="1073212551"/>
                    </a:ext>
                  </a:extLst>
                </a:gridCol>
              </a:tblGrid>
              <a:tr h="346749">
                <a:tc>
                  <a:txBody>
                    <a:bodyPr/>
                    <a:lstStyle/>
                    <a:p>
                      <a:pPr algn="ctr">
                        <a:lnSpc>
                          <a:spcPct val="80000"/>
                        </a:lnSpc>
                      </a:pPr>
                      <a:r>
                        <a:rPr lang="zh-CN" altLang="en-US" b="1" dirty="0"/>
                        <a:t>语言变量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b="1" dirty="0"/>
                        <a:t>语言值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b="1" dirty="0"/>
                        <a:t>符号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b="1" dirty="0"/>
                        <a:t>值范围</a:t>
                      </a:r>
                      <a:r>
                        <a:rPr lang="en-US" altLang="zh-CN" b="1" dirty="0"/>
                        <a:t>(</a:t>
                      </a:r>
                      <a:r>
                        <a:rPr lang="zh-CN" altLang="en-US" b="1" dirty="0"/>
                        <a:t>标准化</a:t>
                      </a:r>
                      <a:r>
                        <a:rPr lang="en-US" altLang="zh-CN" b="1" dirty="0"/>
                        <a:t>)</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38155318"/>
                  </a:ext>
                </a:extLst>
              </a:tr>
              <a:tr h="346749">
                <a:tc>
                  <a:txBody>
                    <a:bodyPr/>
                    <a:lstStyle/>
                    <a:p>
                      <a:pPr algn="ctr">
                        <a:lnSpc>
                          <a:spcPct val="80000"/>
                        </a:lnSpc>
                      </a:pPr>
                      <a:r>
                        <a:rPr lang="zh-CN" altLang="en-US" sz="2000" b="1" dirty="0">
                          <a:latin typeface="Aharoni" panose="02010803020104030203" pitchFamily="2" charset="-79"/>
                          <a:cs typeface="Aharoni" panose="02010803020104030203" pitchFamily="2" charset="-79"/>
                        </a:rPr>
                        <a:t>平均时延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Very Short</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VS</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 0.3]</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3011344"/>
                  </a:ext>
                </a:extLst>
              </a:tr>
              <a:tr h="346749">
                <a:tc>
                  <a:txBody>
                    <a:bodyPr/>
                    <a:lstStyle/>
                    <a:p>
                      <a:pPr algn="ctr">
                        <a:lnSpc>
                          <a:spcPct val="80000"/>
                        </a:lnSpc>
                      </a:pPr>
                      <a:r>
                        <a:rPr lang="en-US" altLang="zh-CN" sz="2000" b="1" dirty="0">
                          <a:latin typeface="Aharoni" panose="02010803020104030203" pitchFamily="2" charset="-79"/>
                          <a:cs typeface="Aharoni" panose="02010803020104030203" pitchFamily="2" charset="-79"/>
                        </a:rPr>
                        <a:t>m</a:t>
                      </a:r>
                      <a:endParaRPr lang="zh-CN" altLang="en-US" sz="20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Short</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S</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[0.1, 0.5]</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3494592"/>
                  </a:ext>
                </a:extLst>
              </a:tr>
              <a:tr h="346749">
                <a:tc>
                  <a:txBody>
                    <a:bodyPr/>
                    <a:lstStyle/>
                    <a:p>
                      <a:pPr algn="ctr">
                        <a:lnSpc>
                          <a:spcPct val="80000"/>
                        </a:lnSpc>
                      </a:pPr>
                      <a:endParaRPr lang="zh-CN" altLang="en-US" sz="20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Medium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[0.4, 0.7]</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7351609"/>
                  </a:ext>
                </a:extLst>
              </a:tr>
              <a:tr h="346749">
                <a:tc>
                  <a:txBody>
                    <a:bodyPr/>
                    <a:lstStyle/>
                    <a:p>
                      <a:pPr algn="ctr">
                        <a:lnSpc>
                          <a:spcPct val="80000"/>
                        </a:lnSpc>
                      </a:pPr>
                      <a:r>
                        <a:rPr lang="zh-CN" altLang="en-US" sz="2000" b="1" dirty="0">
                          <a:latin typeface="Aharoni" panose="02010803020104030203" pitchFamily="2" charset="-79"/>
                          <a:cs typeface="Aharoni" panose="02010803020104030203" pitchFamily="2" charset="-79"/>
                        </a:rPr>
                        <a:t>服务人员数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5"/>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Small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S</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 0.35 ]</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130220677"/>
                  </a:ext>
                </a:extLst>
              </a:tr>
              <a:tr h="346749">
                <a:tc>
                  <a:txBody>
                    <a:bodyPr/>
                    <a:lstStyle/>
                    <a:p>
                      <a:pPr algn="ctr">
                        <a:lnSpc>
                          <a:spcPct val="80000"/>
                        </a:lnSpc>
                      </a:pPr>
                      <a:r>
                        <a:rPr lang="en-US" altLang="zh-CN" sz="2000" b="1" dirty="0">
                          <a:latin typeface="Aharoni" panose="02010803020104030203" pitchFamily="2" charset="-79"/>
                          <a:cs typeface="Aharoni" panose="02010803020104030203" pitchFamily="2" charset="-79"/>
                        </a:rPr>
                        <a:t>s</a:t>
                      </a:r>
                      <a:endParaRPr lang="zh-CN" altLang="en-US" sz="20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Medium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[0.30, 0.70]</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2436928650"/>
                  </a:ext>
                </a:extLst>
              </a:tr>
              <a:tr h="346749">
                <a:tc>
                  <a:txBody>
                    <a:bodyPr/>
                    <a:lstStyle/>
                    <a:p>
                      <a:pPr algn="ctr">
                        <a:lnSpc>
                          <a:spcPct val="80000"/>
                        </a:lnSpc>
                      </a:pPr>
                      <a:endParaRPr lang="zh-CN" altLang="en-US" sz="20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Large</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[0.60, 1]</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144707491"/>
                  </a:ext>
                </a:extLst>
              </a:tr>
              <a:tr h="346749">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lang="zh-CN" altLang="en-US" sz="2000" b="1" dirty="0">
                          <a:latin typeface="Aharoni" panose="02010803020104030203" pitchFamily="2" charset="-79"/>
                          <a:cs typeface="Aharoni" panose="02010803020104030203" pitchFamily="2" charset="-79"/>
                        </a:rPr>
                        <a:t>修理利用因子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Low</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 0.6]</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1162891"/>
                  </a:ext>
                </a:extLst>
              </a:tr>
              <a:tr h="346749">
                <a:tc>
                  <a:txBody>
                    <a:bodyPr/>
                    <a:lstStyle/>
                    <a:p>
                      <a:pPr algn="ctr">
                        <a:lnSpc>
                          <a:spcPct val="80000"/>
                        </a:lnSpc>
                      </a:pPr>
                      <a:r>
                        <a:rPr lang="en-US" altLang="zh-CN" sz="2000" b="1" dirty="0">
                          <a:latin typeface="Aharoni" panose="02010803020104030203" pitchFamily="2" charset="-79"/>
                          <a:cs typeface="Aharoni" panose="02010803020104030203" pitchFamily="2" charset="-79"/>
                        </a:rPr>
                        <a:t>p</a:t>
                      </a:r>
                      <a:endParaRPr lang="zh-CN" altLang="en-US" sz="20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Medium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[0.4, 0.8]</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143237"/>
                  </a:ext>
                </a:extLst>
              </a:tr>
              <a:tr h="346749">
                <a:tc>
                  <a:txBody>
                    <a:bodyPr/>
                    <a:lstStyle/>
                    <a:p>
                      <a:pPr algn="ctr">
                        <a:lnSpc>
                          <a:spcPct val="80000"/>
                        </a:lnSpc>
                      </a:pPr>
                      <a:endParaRPr lang="zh-CN" altLang="en-US" sz="20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High</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H</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[0.6, 1]</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930993"/>
                  </a:ext>
                </a:extLst>
              </a:tr>
              <a:tr h="346749">
                <a:tc>
                  <a:txBody>
                    <a:bodyPr/>
                    <a:lstStyle/>
                    <a:p>
                      <a:pPr algn="ctr">
                        <a:lnSpc>
                          <a:spcPct val="80000"/>
                        </a:lnSpc>
                      </a:pPr>
                      <a:endParaRPr lang="zh-CN" altLang="en-US" sz="20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Very Small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VS</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 0.30]</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93371254"/>
                  </a:ext>
                </a:extLst>
              </a:tr>
              <a:tr h="346749">
                <a:tc>
                  <a:txBody>
                    <a:bodyPr/>
                    <a:lstStyle/>
                    <a:p>
                      <a:pPr algn="ctr">
                        <a:lnSpc>
                          <a:spcPct val="80000"/>
                        </a:lnSpc>
                      </a:pPr>
                      <a:r>
                        <a:rPr lang="zh-CN" altLang="en-US" sz="2000" b="1" dirty="0">
                          <a:solidFill>
                            <a:srgbClr val="CC00CC"/>
                          </a:solidFill>
                          <a:latin typeface="Aharoni" panose="02010803020104030203" pitchFamily="2" charset="-79"/>
                          <a:cs typeface="Aharoni" panose="02010803020104030203" pitchFamily="2" charset="-79"/>
                        </a:rPr>
                        <a:t>零件备件数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Small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S</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 0.40]</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916309538"/>
                  </a:ext>
                </a:extLst>
              </a:tr>
              <a:tr h="346749">
                <a:tc>
                  <a:txBody>
                    <a:bodyPr/>
                    <a:lstStyle/>
                    <a:p>
                      <a:pPr algn="ctr">
                        <a:lnSpc>
                          <a:spcPct val="80000"/>
                        </a:lnSpc>
                      </a:pPr>
                      <a:r>
                        <a:rPr lang="en-US" altLang="zh-CN" sz="2000" b="1" dirty="0">
                          <a:solidFill>
                            <a:srgbClr val="CC00CC"/>
                          </a:solidFill>
                          <a:latin typeface="Aharoni" panose="02010803020104030203" pitchFamily="2" charset="-79"/>
                          <a:cs typeface="Aharoni" panose="02010803020104030203" pitchFamily="2" charset="-79"/>
                        </a:rPr>
                        <a:t>n</a:t>
                      </a:r>
                      <a:endParaRPr lang="zh-CN" altLang="en-US" sz="2000" b="1" dirty="0">
                        <a:solidFill>
                          <a:srgbClr val="CC00CC"/>
                        </a:solidFill>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Rather Small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RS</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[0.25, 0.45]</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663703880"/>
                  </a:ext>
                </a:extLst>
              </a:tr>
              <a:tr h="346749">
                <a:tc>
                  <a:txBody>
                    <a:bodyPr/>
                    <a:lstStyle/>
                    <a:p>
                      <a:pPr algn="ctr">
                        <a:lnSpc>
                          <a:spcPct val="80000"/>
                        </a:lnSpc>
                      </a:pP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Medium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[0.30, 0.70]</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00203414"/>
                  </a:ext>
                </a:extLst>
              </a:tr>
              <a:tr h="346749">
                <a:tc>
                  <a:txBody>
                    <a:bodyPr/>
                    <a:lstStyle/>
                    <a:p>
                      <a:pPr algn="ctr">
                        <a:lnSpc>
                          <a:spcPct val="80000"/>
                        </a:lnSpc>
                      </a:pP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Rather Large</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RL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[0.55, 0.75]</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672133147"/>
                  </a:ext>
                </a:extLst>
              </a:tr>
              <a:tr h="346749">
                <a:tc>
                  <a:txBody>
                    <a:bodyPr/>
                    <a:lstStyle/>
                    <a:p>
                      <a:pPr algn="ctr">
                        <a:lnSpc>
                          <a:spcPct val="80000"/>
                        </a:lnSpc>
                      </a:pP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Large</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[0.60, 1]</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698391973"/>
                  </a:ext>
                </a:extLst>
              </a:tr>
              <a:tr h="122951">
                <a:tc>
                  <a:txBody>
                    <a:bodyPr/>
                    <a:lstStyle/>
                    <a:p>
                      <a:pPr algn="ctr">
                        <a:lnSpc>
                          <a:spcPct val="80000"/>
                        </a:lnSpc>
                      </a:pP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Very Large</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[0.70, 1]</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143718519"/>
                  </a:ext>
                </a:extLst>
              </a:tr>
            </a:tbl>
          </a:graphicData>
        </a:graphic>
      </p:graphicFrame>
      <p:sp>
        <p:nvSpPr>
          <p:cNvPr id="3" name="灯片编号占位符 2">
            <a:extLst>
              <a:ext uri="{FF2B5EF4-FFF2-40B4-BE49-F238E27FC236}">
                <a16:creationId xmlns:a16="http://schemas.microsoft.com/office/drawing/2014/main" id="{AA67CBE8-3818-31A2-76FA-0E6CE5A9623E}"/>
              </a:ext>
            </a:extLst>
          </p:cNvPr>
          <p:cNvSpPr>
            <a:spLocks noGrp="1"/>
          </p:cNvSpPr>
          <p:nvPr>
            <p:ph type="sldNum" sz="quarter" idx="11"/>
          </p:nvPr>
        </p:nvSpPr>
        <p:spPr/>
        <p:txBody>
          <a:bodyPr/>
          <a:lstStyle/>
          <a:p>
            <a:pPr>
              <a:defRPr/>
            </a:pPr>
            <a:fld id="{1F3E0329-027F-44B1-A42A-8643FF593956}" type="slidenum">
              <a:rPr lang="en-US" altLang="zh-CN" smtClean="0"/>
              <a:pPr>
                <a:defRPr/>
              </a:pPr>
              <a:t>86</a:t>
            </a:fld>
            <a:endParaRPr lang="en-US" altLang="zh-CN"/>
          </a:p>
        </p:txBody>
      </p:sp>
    </p:spTree>
    <p:extLst>
      <p:ext uri="{BB962C8B-B14F-4D97-AF65-F5344CB8AC3E}">
        <p14:creationId xmlns:p14="http://schemas.microsoft.com/office/powerpoint/2010/main" val="26237999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D8A5DF1-B328-4E7B-93ED-0A0102B26A14}"/>
              </a:ext>
            </a:extLst>
          </p:cNvPr>
          <p:cNvPicPr>
            <a:picLocks noChangeAspect="1"/>
          </p:cNvPicPr>
          <p:nvPr/>
        </p:nvPicPr>
        <p:blipFill>
          <a:blip r:embed="rId2"/>
          <a:stretch>
            <a:fillRect/>
          </a:stretch>
        </p:blipFill>
        <p:spPr>
          <a:xfrm>
            <a:off x="3719736" y="2737793"/>
            <a:ext cx="6192688" cy="2734057"/>
          </a:xfrm>
          <a:prstGeom prst="rect">
            <a:avLst/>
          </a:prstGeom>
        </p:spPr>
      </p:pic>
      <p:sp>
        <p:nvSpPr>
          <p:cNvPr id="2" name="标题 1">
            <a:extLst>
              <a:ext uri="{FF2B5EF4-FFF2-40B4-BE49-F238E27FC236}">
                <a16:creationId xmlns:a16="http://schemas.microsoft.com/office/drawing/2014/main" id="{9967D323-B5AE-46F3-9496-0CE43F164110}"/>
              </a:ext>
            </a:extLst>
          </p:cNvPr>
          <p:cNvSpPr>
            <a:spLocks noGrp="1"/>
          </p:cNvSpPr>
          <p:nvPr>
            <p:ph type="title"/>
          </p:nvPr>
        </p:nvSpPr>
        <p:spPr>
          <a:xfrm>
            <a:off x="2001271" y="304800"/>
            <a:ext cx="8229600" cy="1371600"/>
          </a:xfrm>
        </p:spPr>
        <p:txBody>
          <a:bodyPr/>
          <a:lstStyle/>
          <a:p>
            <a:pPr algn="ctr"/>
            <a:r>
              <a:rPr lang="zh-CN" altLang="en-US" dirty="0">
                <a:solidFill>
                  <a:srgbClr val="008000"/>
                </a:solidFill>
                <a:ea typeface="黑体" panose="02010609060101010101" pitchFamily="49" charset="-122"/>
              </a:rPr>
              <a:t>步骤</a:t>
            </a:r>
            <a:r>
              <a:rPr lang="en-US" altLang="zh-CN" dirty="0">
                <a:solidFill>
                  <a:srgbClr val="008000"/>
                </a:solidFill>
                <a:ea typeface="黑体" panose="02010609060101010101" pitchFamily="49" charset="-122"/>
              </a:rPr>
              <a:t>2</a:t>
            </a:r>
            <a:r>
              <a:rPr lang="zh-CN" altLang="en-US" dirty="0">
                <a:solidFill>
                  <a:srgbClr val="008000"/>
                </a:solidFill>
                <a:ea typeface="黑体" panose="02010609060101010101" pitchFamily="49" charset="-122"/>
              </a:rPr>
              <a:t>：确定</a:t>
            </a:r>
            <a:r>
              <a:rPr lang="en-US" altLang="zh-CN" dirty="0">
                <a:solidFill>
                  <a:srgbClr val="008000"/>
                </a:solidFill>
                <a:ea typeface="黑体" panose="02010609060101010101" pitchFamily="49" charset="-122"/>
              </a:rPr>
              <a:t>F</a:t>
            </a:r>
            <a:r>
              <a:rPr lang="zh-CN" altLang="en-US" dirty="0">
                <a:solidFill>
                  <a:srgbClr val="008000"/>
                </a:solidFill>
                <a:ea typeface="黑体" panose="02010609060101010101" pitchFamily="49" charset="-122"/>
              </a:rPr>
              <a:t>集</a:t>
            </a:r>
          </a:p>
        </p:txBody>
      </p:sp>
      <p:sp>
        <p:nvSpPr>
          <p:cNvPr id="3" name="内容占位符 2">
            <a:extLst>
              <a:ext uri="{FF2B5EF4-FFF2-40B4-BE49-F238E27FC236}">
                <a16:creationId xmlns:a16="http://schemas.microsoft.com/office/drawing/2014/main" id="{D15CE35E-CAF1-4166-92B1-BE934CA9EAE1}"/>
              </a:ext>
            </a:extLst>
          </p:cNvPr>
          <p:cNvSpPr>
            <a:spLocks noGrp="1"/>
          </p:cNvSpPr>
          <p:nvPr>
            <p:ph idx="1"/>
          </p:nvPr>
        </p:nvSpPr>
        <p:spPr>
          <a:xfrm>
            <a:off x="1055441" y="1484784"/>
            <a:ext cx="9937104" cy="4191000"/>
          </a:xfrm>
        </p:spPr>
        <p:txBody>
          <a:bodyPr/>
          <a:lstStyle/>
          <a:p>
            <a:r>
              <a:rPr lang="en-US" altLang="zh-CN" sz="2800" b="1" dirty="0"/>
              <a:t>F</a:t>
            </a:r>
            <a:r>
              <a:rPr lang="zh-CN" altLang="en-US" sz="2800" b="1" dirty="0"/>
              <a:t>集可有不同的形状。常用三角形或梯形就可以表达专家的知识了，同时也能极大地简化计算过程。</a:t>
            </a:r>
            <a:endParaRPr lang="en-US" altLang="zh-CN" sz="2800" b="1" dirty="0"/>
          </a:p>
          <a:p>
            <a:r>
              <a:rPr lang="zh-CN" altLang="en-US" sz="2800" b="1" dirty="0">
                <a:solidFill>
                  <a:srgbClr val="0000FF"/>
                </a:solidFill>
              </a:rPr>
              <a:t>平均延迟</a:t>
            </a:r>
            <a:r>
              <a:rPr lang="en-US" altLang="zh-CN" sz="2800" b="1" dirty="0">
                <a:solidFill>
                  <a:srgbClr val="0000FF"/>
                </a:solidFill>
              </a:rPr>
              <a:t>m</a:t>
            </a:r>
            <a:r>
              <a:rPr lang="zh-CN" altLang="en-US" sz="2800" b="1" dirty="0">
                <a:solidFill>
                  <a:srgbClr val="0000FF"/>
                </a:solidFill>
              </a:rPr>
              <a:t>的</a:t>
            </a:r>
            <a:r>
              <a:rPr lang="en-US" altLang="zh-CN" sz="2800" b="1" dirty="0">
                <a:solidFill>
                  <a:srgbClr val="0000FF"/>
                </a:solidFill>
              </a:rPr>
              <a:t>F</a:t>
            </a:r>
            <a:r>
              <a:rPr lang="zh-CN" altLang="en-US" sz="2800" b="1" dirty="0">
                <a:solidFill>
                  <a:srgbClr val="0000FF"/>
                </a:solidFill>
              </a:rPr>
              <a:t>集</a:t>
            </a:r>
          </a:p>
        </p:txBody>
      </p:sp>
      <p:graphicFrame>
        <p:nvGraphicFramePr>
          <p:cNvPr id="5" name="表格 4">
            <a:extLst>
              <a:ext uri="{FF2B5EF4-FFF2-40B4-BE49-F238E27FC236}">
                <a16:creationId xmlns:a16="http://schemas.microsoft.com/office/drawing/2014/main" id="{F26E8452-0F09-0468-88B2-37FB8E4B74F0}"/>
              </a:ext>
            </a:extLst>
          </p:cNvPr>
          <p:cNvGraphicFramePr>
            <a:graphicFrameLocks noGrp="1"/>
          </p:cNvGraphicFramePr>
          <p:nvPr>
            <p:extLst>
              <p:ext uri="{D42A27DB-BD31-4B8C-83A1-F6EECF244321}">
                <p14:modId xmlns:p14="http://schemas.microsoft.com/office/powerpoint/2010/main" val="1974441633"/>
              </p:ext>
            </p:extLst>
          </p:nvPr>
        </p:nvGraphicFramePr>
        <p:xfrm>
          <a:off x="2657183" y="5471850"/>
          <a:ext cx="6974560" cy="1394538"/>
        </p:xfrm>
        <a:graphic>
          <a:graphicData uri="http://schemas.openxmlformats.org/drawingml/2006/table">
            <a:tbl>
              <a:tblPr firstRow="1" bandRow="1">
                <a:tableStyleId>{2D5ABB26-0587-4C30-8999-92F81FD0307C}</a:tableStyleId>
              </a:tblPr>
              <a:tblGrid>
                <a:gridCol w="1743640">
                  <a:extLst>
                    <a:ext uri="{9D8B030D-6E8A-4147-A177-3AD203B41FA5}">
                      <a16:colId xmlns:a16="http://schemas.microsoft.com/office/drawing/2014/main" val="3650235181"/>
                    </a:ext>
                  </a:extLst>
                </a:gridCol>
                <a:gridCol w="1743640">
                  <a:extLst>
                    <a:ext uri="{9D8B030D-6E8A-4147-A177-3AD203B41FA5}">
                      <a16:colId xmlns:a16="http://schemas.microsoft.com/office/drawing/2014/main" val="2623079968"/>
                    </a:ext>
                  </a:extLst>
                </a:gridCol>
                <a:gridCol w="1743640">
                  <a:extLst>
                    <a:ext uri="{9D8B030D-6E8A-4147-A177-3AD203B41FA5}">
                      <a16:colId xmlns:a16="http://schemas.microsoft.com/office/drawing/2014/main" val="1447610421"/>
                    </a:ext>
                  </a:extLst>
                </a:gridCol>
                <a:gridCol w="1743640">
                  <a:extLst>
                    <a:ext uri="{9D8B030D-6E8A-4147-A177-3AD203B41FA5}">
                      <a16:colId xmlns:a16="http://schemas.microsoft.com/office/drawing/2014/main" val="1073212551"/>
                    </a:ext>
                  </a:extLst>
                </a:gridCol>
              </a:tblGrid>
              <a:tr h="346749">
                <a:tc>
                  <a:txBody>
                    <a:bodyPr/>
                    <a:lstStyle/>
                    <a:p>
                      <a:pPr algn="ctr">
                        <a:lnSpc>
                          <a:spcPct val="80000"/>
                        </a:lnSpc>
                      </a:pPr>
                      <a:r>
                        <a:rPr lang="zh-CN" altLang="en-US" b="1" dirty="0"/>
                        <a:t>语言变量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b="1" dirty="0"/>
                        <a:t>语言值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b="1" dirty="0"/>
                        <a:t>符号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b="1" dirty="0"/>
                        <a:t>值范围</a:t>
                      </a:r>
                      <a:r>
                        <a:rPr lang="en-US" altLang="zh-CN" b="1" dirty="0"/>
                        <a:t>(</a:t>
                      </a:r>
                      <a:r>
                        <a:rPr lang="zh-CN" altLang="en-US" b="1" dirty="0"/>
                        <a:t>标准化</a:t>
                      </a:r>
                      <a:r>
                        <a:rPr lang="en-US" altLang="zh-CN" b="1" dirty="0"/>
                        <a:t>)</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38155318"/>
                  </a:ext>
                </a:extLst>
              </a:tr>
              <a:tr h="346749">
                <a:tc>
                  <a:txBody>
                    <a:bodyPr/>
                    <a:lstStyle/>
                    <a:p>
                      <a:pPr algn="ctr">
                        <a:lnSpc>
                          <a:spcPct val="80000"/>
                        </a:lnSpc>
                      </a:pPr>
                      <a:r>
                        <a:rPr lang="zh-CN" altLang="en-US" sz="2000" b="1" dirty="0">
                          <a:latin typeface="Aharoni" panose="02010803020104030203" pitchFamily="2" charset="-79"/>
                          <a:cs typeface="Aharoni" panose="02010803020104030203" pitchFamily="2" charset="-79"/>
                        </a:rPr>
                        <a:t>平均时延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Very Short</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VS</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 0.3]</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3011344"/>
                  </a:ext>
                </a:extLst>
              </a:tr>
              <a:tr h="346749">
                <a:tc>
                  <a:txBody>
                    <a:bodyPr/>
                    <a:lstStyle/>
                    <a:p>
                      <a:pPr algn="ctr">
                        <a:lnSpc>
                          <a:spcPct val="80000"/>
                        </a:lnSpc>
                      </a:pPr>
                      <a:r>
                        <a:rPr lang="en-US" altLang="zh-CN" sz="2000" b="1" dirty="0">
                          <a:latin typeface="Aharoni" panose="02010803020104030203" pitchFamily="2" charset="-79"/>
                          <a:cs typeface="Aharoni" panose="02010803020104030203" pitchFamily="2" charset="-79"/>
                        </a:rPr>
                        <a:t>m</a:t>
                      </a:r>
                      <a:endParaRPr lang="zh-CN" altLang="en-US" sz="20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Short</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S</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[0.1, 0.5]</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3494592"/>
                  </a:ext>
                </a:extLst>
              </a:tr>
              <a:tr h="346749">
                <a:tc>
                  <a:txBody>
                    <a:bodyPr/>
                    <a:lstStyle/>
                    <a:p>
                      <a:pPr algn="ctr">
                        <a:lnSpc>
                          <a:spcPct val="80000"/>
                        </a:lnSpc>
                      </a:pPr>
                      <a:endParaRPr lang="zh-CN" altLang="en-US" sz="20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Medium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[0.4, 0.7]</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7351609"/>
                  </a:ext>
                </a:extLst>
              </a:tr>
            </a:tbl>
          </a:graphicData>
        </a:graphic>
      </p:graphicFrame>
      <p:sp>
        <p:nvSpPr>
          <p:cNvPr id="6" name="灯片编号占位符 5">
            <a:extLst>
              <a:ext uri="{FF2B5EF4-FFF2-40B4-BE49-F238E27FC236}">
                <a16:creationId xmlns:a16="http://schemas.microsoft.com/office/drawing/2014/main" id="{99747CD2-4F06-17D6-9131-EF5D659F1EC6}"/>
              </a:ext>
            </a:extLst>
          </p:cNvPr>
          <p:cNvSpPr>
            <a:spLocks noGrp="1"/>
          </p:cNvSpPr>
          <p:nvPr>
            <p:ph type="sldNum" sz="quarter" idx="11"/>
          </p:nvPr>
        </p:nvSpPr>
        <p:spPr/>
        <p:txBody>
          <a:bodyPr/>
          <a:lstStyle/>
          <a:p>
            <a:pPr>
              <a:defRPr/>
            </a:pPr>
            <a:fld id="{1F3E0329-027F-44B1-A42A-8643FF593956}" type="slidenum">
              <a:rPr lang="en-US" altLang="zh-CN" smtClean="0"/>
              <a:pPr>
                <a:defRPr/>
              </a:pPr>
              <a:t>87</a:t>
            </a:fld>
            <a:endParaRPr lang="en-US" altLang="zh-CN"/>
          </a:p>
        </p:txBody>
      </p:sp>
    </p:spTree>
    <p:extLst>
      <p:ext uri="{BB962C8B-B14F-4D97-AF65-F5344CB8AC3E}">
        <p14:creationId xmlns:p14="http://schemas.microsoft.com/office/powerpoint/2010/main" val="2688961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B4FD88-EB2C-41D0-BBA0-DD2D5D8E73F6}"/>
              </a:ext>
            </a:extLst>
          </p:cNvPr>
          <p:cNvSpPr>
            <a:spLocks noGrp="1"/>
          </p:cNvSpPr>
          <p:nvPr>
            <p:ph type="title"/>
          </p:nvPr>
        </p:nvSpPr>
        <p:spPr>
          <a:xfrm>
            <a:off x="1981200" y="0"/>
            <a:ext cx="8229600" cy="1371600"/>
          </a:xfrm>
        </p:spPr>
        <p:txBody>
          <a:bodyPr/>
          <a:lstStyle/>
          <a:p>
            <a:pPr algn="ctr"/>
            <a:r>
              <a:rPr lang="zh-CN" altLang="en-US" dirty="0">
                <a:solidFill>
                  <a:srgbClr val="008000"/>
                </a:solidFill>
                <a:ea typeface="黑体" panose="02010609060101010101" pitchFamily="49" charset="-122"/>
              </a:rPr>
              <a:t>步骤</a:t>
            </a:r>
            <a:r>
              <a:rPr lang="en-US" altLang="zh-CN" dirty="0">
                <a:solidFill>
                  <a:srgbClr val="008000"/>
                </a:solidFill>
                <a:ea typeface="黑体" panose="02010609060101010101" pitchFamily="49" charset="-122"/>
              </a:rPr>
              <a:t>2</a:t>
            </a:r>
            <a:r>
              <a:rPr lang="zh-CN" altLang="en-US" dirty="0">
                <a:solidFill>
                  <a:srgbClr val="008000"/>
                </a:solidFill>
                <a:ea typeface="黑体" panose="02010609060101010101" pitchFamily="49" charset="-122"/>
              </a:rPr>
              <a:t>：确定</a:t>
            </a:r>
            <a:r>
              <a:rPr lang="en-US" altLang="zh-CN" dirty="0">
                <a:solidFill>
                  <a:srgbClr val="008000"/>
                </a:solidFill>
                <a:ea typeface="黑体" panose="02010609060101010101" pitchFamily="49" charset="-122"/>
              </a:rPr>
              <a:t>F</a:t>
            </a:r>
            <a:r>
              <a:rPr lang="zh-CN" altLang="en-US" dirty="0">
                <a:solidFill>
                  <a:srgbClr val="008000"/>
                </a:solidFill>
                <a:ea typeface="黑体" panose="02010609060101010101" pitchFamily="49" charset="-122"/>
              </a:rPr>
              <a:t>集</a:t>
            </a:r>
            <a:endParaRPr lang="zh-CN" altLang="en-US" dirty="0"/>
          </a:p>
        </p:txBody>
      </p:sp>
      <p:sp>
        <p:nvSpPr>
          <p:cNvPr id="3" name="内容占位符 2">
            <a:extLst>
              <a:ext uri="{FF2B5EF4-FFF2-40B4-BE49-F238E27FC236}">
                <a16:creationId xmlns:a16="http://schemas.microsoft.com/office/drawing/2014/main" id="{3CB08130-C135-4BC2-A5B3-7ED05819EC31}"/>
              </a:ext>
            </a:extLst>
          </p:cNvPr>
          <p:cNvSpPr>
            <a:spLocks noGrp="1"/>
          </p:cNvSpPr>
          <p:nvPr>
            <p:ph idx="1"/>
          </p:nvPr>
        </p:nvSpPr>
        <p:spPr>
          <a:xfrm>
            <a:off x="1405136" y="1556792"/>
            <a:ext cx="8229600" cy="4598640"/>
          </a:xfrm>
        </p:spPr>
        <p:txBody>
          <a:bodyPr/>
          <a:lstStyle/>
          <a:p>
            <a:r>
              <a:rPr lang="zh-CN" altLang="en-US" b="1" dirty="0">
                <a:solidFill>
                  <a:srgbClr val="0000FF"/>
                </a:solidFill>
              </a:rPr>
              <a:t>服务员人数</a:t>
            </a:r>
            <a:r>
              <a:rPr lang="en-US" altLang="zh-CN" b="1" dirty="0">
                <a:solidFill>
                  <a:srgbClr val="0000FF"/>
                </a:solidFill>
              </a:rPr>
              <a:t>s</a:t>
            </a:r>
            <a:r>
              <a:rPr lang="zh-CN" altLang="en-US" b="1" dirty="0">
                <a:solidFill>
                  <a:srgbClr val="0000FF"/>
                </a:solidFill>
              </a:rPr>
              <a:t>的</a:t>
            </a:r>
            <a:r>
              <a:rPr lang="en-US" altLang="zh-CN" b="1" dirty="0">
                <a:solidFill>
                  <a:srgbClr val="0000FF"/>
                </a:solidFill>
              </a:rPr>
              <a:t>F</a:t>
            </a:r>
            <a:r>
              <a:rPr lang="zh-CN" altLang="en-US" b="1" dirty="0">
                <a:solidFill>
                  <a:srgbClr val="0000FF"/>
                </a:solidFill>
              </a:rPr>
              <a:t>集</a:t>
            </a:r>
            <a:endParaRPr lang="en-US" altLang="zh-CN" b="1" dirty="0">
              <a:solidFill>
                <a:srgbClr val="0000FF"/>
              </a:solidFill>
            </a:endParaRPr>
          </a:p>
          <a:p>
            <a:endParaRPr lang="en-US" altLang="zh-CN" dirty="0"/>
          </a:p>
          <a:p>
            <a:endParaRPr lang="en-US" altLang="zh-CN" dirty="0"/>
          </a:p>
          <a:p>
            <a:endParaRPr lang="en-US" altLang="zh-CN" dirty="0"/>
          </a:p>
          <a:p>
            <a:endParaRPr lang="en-US" altLang="zh-CN" dirty="0"/>
          </a:p>
        </p:txBody>
      </p:sp>
      <p:pic>
        <p:nvPicPr>
          <p:cNvPr id="4" name="图片 3">
            <a:extLst>
              <a:ext uri="{FF2B5EF4-FFF2-40B4-BE49-F238E27FC236}">
                <a16:creationId xmlns:a16="http://schemas.microsoft.com/office/drawing/2014/main" id="{8330D4E1-DACD-4955-BC6B-617545C53834}"/>
              </a:ext>
            </a:extLst>
          </p:cNvPr>
          <p:cNvPicPr>
            <a:picLocks noChangeAspect="1"/>
          </p:cNvPicPr>
          <p:nvPr/>
        </p:nvPicPr>
        <p:blipFill>
          <a:blip r:embed="rId2"/>
          <a:stretch>
            <a:fillRect/>
          </a:stretch>
        </p:blipFill>
        <p:spPr>
          <a:xfrm>
            <a:off x="2999656" y="2499212"/>
            <a:ext cx="5040560" cy="2324642"/>
          </a:xfrm>
          <a:prstGeom prst="rect">
            <a:avLst/>
          </a:prstGeom>
        </p:spPr>
      </p:pic>
      <p:graphicFrame>
        <p:nvGraphicFramePr>
          <p:cNvPr id="8" name="表格 7">
            <a:extLst>
              <a:ext uri="{FF2B5EF4-FFF2-40B4-BE49-F238E27FC236}">
                <a16:creationId xmlns:a16="http://schemas.microsoft.com/office/drawing/2014/main" id="{87BCDBE9-0124-4620-C834-49CE7D2926F5}"/>
              </a:ext>
            </a:extLst>
          </p:cNvPr>
          <p:cNvGraphicFramePr>
            <a:graphicFrameLocks noGrp="1"/>
          </p:cNvGraphicFramePr>
          <p:nvPr>
            <p:extLst>
              <p:ext uri="{D42A27DB-BD31-4B8C-83A1-F6EECF244321}">
                <p14:modId xmlns:p14="http://schemas.microsoft.com/office/powerpoint/2010/main" val="2220551774"/>
              </p:ext>
            </p:extLst>
          </p:nvPr>
        </p:nvGraphicFramePr>
        <p:xfrm>
          <a:off x="1631504" y="4993142"/>
          <a:ext cx="8229600" cy="1546264"/>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3650235181"/>
                    </a:ext>
                  </a:extLst>
                </a:gridCol>
                <a:gridCol w="2057400">
                  <a:extLst>
                    <a:ext uri="{9D8B030D-6E8A-4147-A177-3AD203B41FA5}">
                      <a16:colId xmlns:a16="http://schemas.microsoft.com/office/drawing/2014/main" val="2623079968"/>
                    </a:ext>
                  </a:extLst>
                </a:gridCol>
                <a:gridCol w="2057400">
                  <a:extLst>
                    <a:ext uri="{9D8B030D-6E8A-4147-A177-3AD203B41FA5}">
                      <a16:colId xmlns:a16="http://schemas.microsoft.com/office/drawing/2014/main" val="1447610421"/>
                    </a:ext>
                  </a:extLst>
                </a:gridCol>
                <a:gridCol w="2057400">
                  <a:extLst>
                    <a:ext uri="{9D8B030D-6E8A-4147-A177-3AD203B41FA5}">
                      <a16:colId xmlns:a16="http://schemas.microsoft.com/office/drawing/2014/main" val="1073212551"/>
                    </a:ext>
                  </a:extLst>
                </a:gridCol>
              </a:tblGrid>
              <a:tr h="346749">
                <a:tc>
                  <a:txBody>
                    <a:bodyPr/>
                    <a:lstStyle/>
                    <a:p>
                      <a:pPr algn="ctr">
                        <a:lnSpc>
                          <a:spcPct val="80000"/>
                        </a:lnSpc>
                      </a:pPr>
                      <a:r>
                        <a:rPr lang="zh-CN" altLang="en-US" sz="2000" b="1" dirty="0"/>
                        <a:t>语言变量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sz="2000" b="1" dirty="0"/>
                        <a:t>语言值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sz="2000" b="1" dirty="0"/>
                        <a:t>符号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sz="2000" b="1" dirty="0"/>
                        <a:t>值范围</a:t>
                      </a:r>
                      <a:r>
                        <a:rPr lang="en-US" altLang="zh-CN" sz="2000" b="1" dirty="0"/>
                        <a:t>(</a:t>
                      </a:r>
                      <a:r>
                        <a:rPr lang="zh-CN" altLang="en-US" sz="2000" b="1" dirty="0"/>
                        <a:t>标准化</a:t>
                      </a:r>
                      <a:r>
                        <a:rPr lang="en-US" altLang="zh-CN" sz="2000" b="1" dirty="0"/>
                        <a:t>)</a:t>
                      </a:r>
                      <a:endParaRPr lang="zh-CN" altLang="en-US" sz="20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38155318"/>
                  </a:ext>
                </a:extLst>
              </a:tr>
              <a:tr h="346749">
                <a:tc>
                  <a:txBody>
                    <a:bodyPr/>
                    <a:lstStyle/>
                    <a:p>
                      <a:pPr algn="ctr">
                        <a:lnSpc>
                          <a:spcPct val="80000"/>
                        </a:lnSpc>
                      </a:pPr>
                      <a:r>
                        <a:rPr lang="zh-CN" altLang="en-US" sz="2400" b="1" dirty="0">
                          <a:latin typeface="Aharoni" panose="02010803020104030203" pitchFamily="2" charset="-79"/>
                          <a:cs typeface="Aharoni" panose="02010803020104030203" pitchFamily="2" charset="-79"/>
                        </a:rPr>
                        <a:t>服务人员数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5"/>
                    </a:solidFill>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Small</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S</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2000" b="1" dirty="0">
                          <a:latin typeface="Times New Roman" panose="02020603050405020304" pitchFamily="18" charset="0"/>
                          <a:cs typeface="Times New Roman" panose="02020603050405020304" pitchFamily="18" charset="0"/>
                        </a:rPr>
                        <a:t>[0, 0.35 ]</a:t>
                      </a:r>
                      <a:endParaRPr lang="zh-CN" altLang="en-US"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130220677"/>
                  </a:ext>
                </a:extLst>
              </a:tr>
              <a:tr h="346749">
                <a:tc>
                  <a:txBody>
                    <a:bodyPr/>
                    <a:lstStyle/>
                    <a:p>
                      <a:pPr algn="ctr">
                        <a:lnSpc>
                          <a:spcPct val="80000"/>
                        </a:lnSpc>
                      </a:pPr>
                      <a:r>
                        <a:rPr lang="en-US" altLang="zh-CN" sz="2400" b="1" dirty="0">
                          <a:latin typeface="Aharoni" panose="02010803020104030203" pitchFamily="2" charset="-79"/>
                          <a:cs typeface="Aharoni" panose="02010803020104030203" pitchFamily="2" charset="-79"/>
                        </a:rPr>
                        <a:t>s</a:t>
                      </a:r>
                      <a:endParaRPr lang="zh-CN" altLang="en-US" sz="24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solidFill>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Medium</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M</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2000" b="1" dirty="0">
                          <a:latin typeface="Times New Roman" panose="02020603050405020304" pitchFamily="18" charset="0"/>
                          <a:cs typeface="Times New Roman" panose="02020603050405020304" pitchFamily="18" charset="0"/>
                        </a:rPr>
                        <a:t>[0.30, 0.70]</a:t>
                      </a:r>
                      <a:endParaRPr lang="zh-CN" altLang="en-US"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2436928650"/>
                  </a:ext>
                </a:extLst>
              </a:tr>
              <a:tr h="346749">
                <a:tc>
                  <a:txBody>
                    <a:bodyPr/>
                    <a:lstStyle/>
                    <a:p>
                      <a:pPr algn="ctr">
                        <a:lnSpc>
                          <a:spcPct val="80000"/>
                        </a:lnSpc>
                      </a:pPr>
                      <a:endParaRPr lang="zh-CN" altLang="en-US" sz="24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Large</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L</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lnSpc>
                          <a:spcPct val="80000"/>
                        </a:lnSpc>
                      </a:pPr>
                      <a:r>
                        <a:rPr lang="en-US" altLang="zh-CN" sz="2000" b="1" dirty="0">
                          <a:latin typeface="Times New Roman" panose="02020603050405020304" pitchFamily="18" charset="0"/>
                          <a:cs typeface="Times New Roman" panose="02020603050405020304" pitchFamily="18" charset="0"/>
                        </a:rPr>
                        <a:t>[0.60, 1]</a:t>
                      </a:r>
                      <a:endParaRPr lang="zh-CN" altLang="en-US"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144707491"/>
                  </a:ext>
                </a:extLst>
              </a:tr>
            </a:tbl>
          </a:graphicData>
        </a:graphic>
      </p:graphicFrame>
      <p:sp>
        <p:nvSpPr>
          <p:cNvPr id="5" name="灯片编号占位符 4">
            <a:extLst>
              <a:ext uri="{FF2B5EF4-FFF2-40B4-BE49-F238E27FC236}">
                <a16:creationId xmlns:a16="http://schemas.microsoft.com/office/drawing/2014/main" id="{9F0B96AF-E4C9-3F27-15E5-1BFB52FF4CF3}"/>
              </a:ext>
            </a:extLst>
          </p:cNvPr>
          <p:cNvSpPr>
            <a:spLocks noGrp="1"/>
          </p:cNvSpPr>
          <p:nvPr>
            <p:ph type="sldNum" sz="quarter" idx="11"/>
          </p:nvPr>
        </p:nvSpPr>
        <p:spPr/>
        <p:txBody>
          <a:bodyPr/>
          <a:lstStyle/>
          <a:p>
            <a:pPr>
              <a:defRPr/>
            </a:pPr>
            <a:fld id="{1F3E0329-027F-44B1-A42A-8643FF593956}" type="slidenum">
              <a:rPr lang="en-US" altLang="zh-CN" smtClean="0"/>
              <a:pPr>
                <a:defRPr/>
              </a:pPr>
              <a:t>88</a:t>
            </a:fld>
            <a:endParaRPr lang="en-US" altLang="zh-CN"/>
          </a:p>
        </p:txBody>
      </p:sp>
    </p:spTree>
    <p:extLst>
      <p:ext uri="{BB962C8B-B14F-4D97-AF65-F5344CB8AC3E}">
        <p14:creationId xmlns:p14="http://schemas.microsoft.com/office/powerpoint/2010/main" val="301076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B4FD88-EB2C-41D0-BBA0-DD2D5D8E73F6}"/>
              </a:ext>
            </a:extLst>
          </p:cNvPr>
          <p:cNvSpPr>
            <a:spLocks noGrp="1"/>
          </p:cNvSpPr>
          <p:nvPr>
            <p:ph type="title"/>
          </p:nvPr>
        </p:nvSpPr>
        <p:spPr>
          <a:xfrm>
            <a:off x="1981200" y="0"/>
            <a:ext cx="8229600" cy="1371600"/>
          </a:xfrm>
        </p:spPr>
        <p:txBody>
          <a:bodyPr/>
          <a:lstStyle/>
          <a:p>
            <a:pPr algn="ctr"/>
            <a:r>
              <a:rPr lang="zh-CN" altLang="en-US" dirty="0">
                <a:solidFill>
                  <a:srgbClr val="008000"/>
                </a:solidFill>
                <a:ea typeface="黑体" panose="02010609060101010101" pitchFamily="49" charset="-122"/>
              </a:rPr>
              <a:t>步骤</a:t>
            </a:r>
            <a:r>
              <a:rPr lang="en-US" altLang="zh-CN" dirty="0">
                <a:solidFill>
                  <a:srgbClr val="008000"/>
                </a:solidFill>
                <a:ea typeface="黑体" panose="02010609060101010101" pitchFamily="49" charset="-122"/>
              </a:rPr>
              <a:t>2</a:t>
            </a:r>
            <a:r>
              <a:rPr lang="zh-CN" altLang="en-US" dirty="0">
                <a:solidFill>
                  <a:srgbClr val="008000"/>
                </a:solidFill>
                <a:ea typeface="黑体" panose="02010609060101010101" pitchFamily="49" charset="-122"/>
              </a:rPr>
              <a:t>：确定</a:t>
            </a:r>
            <a:r>
              <a:rPr lang="en-US" altLang="zh-CN" dirty="0">
                <a:solidFill>
                  <a:srgbClr val="008000"/>
                </a:solidFill>
                <a:ea typeface="黑体" panose="02010609060101010101" pitchFamily="49" charset="-122"/>
              </a:rPr>
              <a:t>F</a:t>
            </a:r>
            <a:r>
              <a:rPr lang="zh-CN" altLang="en-US" dirty="0">
                <a:solidFill>
                  <a:srgbClr val="008000"/>
                </a:solidFill>
                <a:ea typeface="黑体" panose="02010609060101010101" pitchFamily="49" charset="-122"/>
              </a:rPr>
              <a:t>集</a:t>
            </a:r>
            <a:endParaRPr lang="zh-CN" altLang="en-US" dirty="0"/>
          </a:p>
        </p:txBody>
      </p:sp>
      <p:sp>
        <p:nvSpPr>
          <p:cNvPr id="3" name="内容占位符 2">
            <a:extLst>
              <a:ext uri="{FF2B5EF4-FFF2-40B4-BE49-F238E27FC236}">
                <a16:creationId xmlns:a16="http://schemas.microsoft.com/office/drawing/2014/main" id="{3CB08130-C135-4BC2-A5B3-7ED05819EC31}"/>
              </a:ext>
            </a:extLst>
          </p:cNvPr>
          <p:cNvSpPr>
            <a:spLocks noGrp="1"/>
          </p:cNvSpPr>
          <p:nvPr>
            <p:ph idx="1"/>
          </p:nvPr>
        </p:nvSpPr>
        <p:spPr>
          <a:xfrm>
            <a:off x="1508040" y="1371600"/>
            <a:ext cx="8229600" cy="4598640"/>
          </a:xfrm>
        </p:spPr>
        <p:txBody>
          <a:bodyPr/>
          <a:lstStyle/>
          <a:p>
            <a:r>
              <a:rPr lang="zh-CN" altLang="en-US" b="1" dirty="0">
                <a:solidFill>
                  <a:srgbClr val="0000FF"/>
                </a:solidFill>
              </a:rPr>
              <a:t>修理利用因子</a:t>
            </a:r>
            <a:r>
              <a:rPr lang="en-US" altLang="zh-CN" b="1" dirty="0">
                <a:solidFill>
                  <a:srgbClr val="0000FF"/>
                </a:solidFill>
              </a:rPr>
              <a:t>p</a:t>
            </a:r>
            <a:r>
              <a:rPr lang="zh-CN" altLang="en-US" b="1" dirty="0">
                <a:solidFill>
                  <a:srgbClr val="0000FF"/>
                </a:solidFill>
              </a:rPr>
              <a:t>的</a:t>
            </a:r>
            <a:r>
              <a:rPr lang="en-US" altLang="zh-CN" b="1" dirty="0">
                <a:solidFill>
                  <a:srgbClr val="0000FF"/>
                </a:solidFill>
              </a:rPr>
              <a:t>F</a:t>
            </a:r>
            <a:r>
              <a:rPr lang="zh-CN" altLang="en-US" b="1" dirty="0">
                <a:solidFill>
                  <a:srgbClr val="0000FF"/>
                </a:solidFill>
              </a:rPr>
              <a:t>集</a:t>
            </a:r>
            <a:endParaRPr lang="en-US" altLang="zh-CN" b="1" dirty="0">
              <a:solidFill>
                <a:srgbClr val="0000FF"/>
              </a:solidFill>
            </a:endParaRPr>
          </a:p>
        </p:txBody>
      </p:sp>
      <p:pic>
        <p:nvPicPr>
          <p:cNvPr id="5" name="图片 4">
            <a:extLst>
              <a:ext uri="{FF2B5EF4-FFF2-40B4-BE49-F238E27FC236}">
                <a16:creationId xmlns:a16="http://schemas.microsoft.com/office/drawing/2014/main" id="{503C4C60-2077-4B74-96A0-795E85709EE5}"/>
              </a:ext>
            </a:extLst>
          </p:cNvPr>
          <p:cNvPicPr>
            <a:picLocks noChangeAspect="1"/>
          </p:cNvPicPr>
          <p:nvPr/>
        </p:nvPicPr>
        <p:blipFill>
          <a:blip r:embed="rId2"/>
          <a:stretch>
            <a:fillRect/>
          </a:stretch>
        </p:blipFill>
        <p:spPr>
          <a:xfrm>
            <a:off x="3297904" y="2357375"/>
            <a:ext cx="5040560" cy="2119061"/>
          </a:xfrm>
          <a:prstGeom prst="rect">
            <a:avLst/>
          </a:prstGeom>
        </p:spPr>
      </p:pic>
      <p:graphicFrame>
        <p:nvGraphicFramePr>
          <p:cNvPr id="4" name="表格 3">
            <a:extLst>
              <a:ext uri="{FF2B5EF4-FFF2-40B4-BE49-F238E27FC236}">
                <a16:creationId xmlns:a16="http://schemas.microsoft.com/office/drawing/2014/main" id="{D41A4B11-72BA-AF42-CD52-E77416004DA5}"/>
              </a:ext>
            </a:extLst>
          </p:cNvPr>
          <p:cNvGraphicFramePr>
            <a:graphicFrameLocks noGrp="1"/>
          </p:cNvGraphicFramePr>
          <p:nvPr>
            <p:extLst>
              <p:ext uri="{D42A27DB-BD31-4B8C-83A1-F6EECF244321}">
                <p14:modId xmlns:p14="http://schemas.microsoft.com/office/powerpoint/2010/main" val="705302764"/>
              </p:ext>
            </p:extLst>
          </p:nvPr>
        </p:nvGraphicFramePr>
        <p:xfrm>
          <a:off x="2207568" y="4948843"/>
          <a:ext cx="8229600" cy="1546264"/>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3650235181"/>
                    </a:ext>
                  </a:extLst>
                </a:gridCol>
                <a:gridCol w="2057400">
                  <a:extLst>
                    <a:ext uri="{9D8B030D-6E8A-4147-A177-3AD203B41FA5}">
                      <a16:colId xmlns:a16="http://schemas.microsoft.com/office/drawing/2014/main" val="2623079968"/>
                    </a:ext>
                  </a:extLst>
                </a:gridCol>
                <a:gridCol w="2057400">
                  <a:extLst>
                    <a:ext uri="{9D8B030D-6E8A-4147-A177-3AD203B41FA5}">
                      <a16:colId xmlns:a16="http://schemas.microsoft.com/office/drawing/2014/main" val="1447610421"/>
                    </a:ext>
                  </a:extLst>
                </a:gridCol>
                <a:gridCol w="2057400">
                  <a:extLst>
                    <a:ext uri="{9D8B030D-6E8A-4147-A177-3AD203B41FA5}">
                      <a16:colId xmlns:a16="http://schemas.microsoft.com/office/drawing/2014/main" val="1073212551"/>
                    </a:ext>
                  </a:extLst>
                </a:gridCol>
              </a:tblGrid>
              <a:tr h="346749">
                <a:tc>
                  <a:txBody>
                    <a:bodyPr/>
                    <a:lstStyle/>
                    <a:p>
                      <a:pPr algn="ctr">
                        <a:lnSpc>
                          <a:spcPct val="80000"/>
                        </a:lnSpc>
                      </a:pPr>
                      <a:r>
                        <a:rPr lang="zh-CN" altLang="en-US" sz="2000" b="1" dirty="0"/>
                        <a:t>语言变量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sz="2000" b="1" dirty="0"/>
                        <a:t>语言值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sz="2000" b="1" dirty="0"/>
                        <a:t>符号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sz="2000" b="1" dirty="0"/>
                        <a:t>值范围</a:t>
                      </a:r>
                      <a:r>
                        <a:rPr lang="en-US" altLang="zh-CN" sz="2000" b="1" dirty="0"/>
                        <a:t>(</a:t>
                      </a:r>
                      <a:r>
                        <a:rPr lang="zh-CN" altLang="en-US" sz="2000" b="1" dirty="0"/>
                        <a:t>标准化</a:t>
                      </a:r>
                      <a:r>
                        <a:rPr lang="en-US" altLang="zh-CN" sz="2000" b="1" dirty="0"/>
                        <a:t>)</a:t>
                      </a:r>
                      <a:endParaRPr lang="zh-CN" alt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38155318"/>
                  </a:ext>
                </a:extLst>
              </a:tr>
              <a:tr h="346749">
                <a:tc>
                  <a:txBody>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lang="zh-CN" altLang="en-US" sz="2400" b="1" dirty="0">
                          <a:latin typeface="Aharoni" panose="02010803020104030203" pitchFamily="2" charset="-79"/>
                          <a:cs typeface="Aharoni" panose="02010803020104030203" pitchFamily="2" charset="-79"/>
                        </a:rPr>
                        <a:t>修理利用因子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Low</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L</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000" b="1" dirty="0">
                          <a:latin typeface="Times New Roman" panose="02020603050405020304" pitchFamily="18" charset="0"/>
                          <a:cs typeface="Times New Roman" panose="02020603050405020304" pitchFamily="18" charset="0"/>
                        </a:rPr>
                        <a:t>[0, 0.6]</a:t>
                      </a:r>
                      <a:endParaRPr lang="zh-CN" altLang="en-US"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1162891"/>
                  </a:ext>
                </a:extLst>
              </a:tr>
              <a:tr h="346749">
                <a:tc>
                  <a:txBody>
                    <a:bodyPr/>
                    <a:lstStyle/>
                    <a:p>
                      <a:pPr algn="ctr">
                        <a:lnSpc>
                          <a:spcPct val="80000"/>
                        </a:lnSpc>
                      </a:pPr>
                      <a:r>
                        <a:rPr lang="en-US" altLang="zh-CN" sz="2400" b="1" dirty="0">
                          <a:latin typeface="Aharoni" panose="02010803020104030203" pitchFamily="2" charset="-79"/>
                          <a:cs typeface="Aharoni" panose="02010803020104030203" pitchFamily="2" charset="-79"/>
                        </a:rPr>
                        <a:t>p</a:t>
                      </a:r>
                      <a:endParaRPr lang="zh-CN" altLang="en-US" sz="24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Medium</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M</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000" b="1" dirty="0">
                          <a:latin typeface="Times New Roman" panose="02020603050405020304" pitchFamily="18" charset="0"/>
                          <a:cs typeface="Times New Roman" panose="02020603050405020304" pitchFamily="18" charset="0"/>
                        </a:rPr>
                        <a:t>[0.4, 0.8]</a:t>
                      </a:r>
                      <a:endParaRPr lang="zh-CN" altLang="en-US"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143237"/>
                  </a:ext>
                </a:extLst>
              </a:tr>
              <a:tr h="346749">
                <a:tc>
                  <a:txBody>
                    <a:bodyPr/>
                    <a:lstStyle/>
                    <a:p>
                      <a:pPr algn="ctr">
                        <a:lnSpc>
                          <a:spcPct val="80000"/>
                        </a:lnSpc>
                      </a:pPr>
                      <a:endParaRPr lang="zh-CN" altLang="en-US" sz="24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High</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000" dirty="0">
                          <a:latin typeface="Aharoni" panose="02010803020104030203" pitchFamily="2" charset="-79"/>
                          <a:cs typeface="Aharoni" panose="02010803020104030203" pitchFamily="2" charset="-79"/>
                        </a:rPr>
                        <a:t>H</a:t>
                      </a:r>
                      <a:endParaRPr lang="zh-CN" altLang="en-US" sz="20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80000"/>
                        </a:lnSpc>
                      </a:pPr>
                      <a:r>
                        <a:rPr lang="en-US" altLang="zh-CN" sz="2000" b="1" dirty="0">
                          <a:latin typeface="Times New Roman" panose="02020603050405020304" pitchFamily="18" charset="0"/>
                          <a:cs typeface="Times New Roman" panose="02020603050405020304" pitchFamily="18" charset="0"/>
                        </a:rPr>
                        <a:t>[0.6, 1]</a:t>
                      </a:r>
                      <a:endParaRPr lang="zh-CN" altLang="en-US"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930993"/>
                  </a:ext>
                </a:extLst>
              </a:tr>
            </a:tbl>
          </a:graphicData>
        </a:graphic>
      </p:graphicFrame>
      <p:sp>
        <p:nvSpPr>
          <p:cNvPr id="6" name="灯片编号占位符 5">
            <a:extLst>
              <a:ext uri="{FF2B5EF4-FFF2-40B4-BE49-F238E27FC236}">
                <a16:creationId xmlns:a16="http://schemas.microsoft.com/office/drawing/2014/main" id="{590BE38B-F4F5-B94C-1DB4-7348C044C1FD}"/>
              </a:ext>
            </a:extLst>
          </p:cNvPr>
          <p:cNvSpPr>
            <a:spLocks noGrp="1"/>
          </p:cNvSpPr>
          <p:nvPr>
            <p:ph type="sldNum" sz="quarter" idx="11"/>
          </p:nvPr>
        </p:nvSpPr>
        <p:spPr/>
        <p:txBody>
          <a:bodyPr/>
          <a:lstStyle/>
          <a:p>
            <a:pPr>
              <a:defRPr/>
            </a:pPr>
            <a:fld id="{1F3E0329-027F-44B1-A42A-8643FF593956}" type="slidenum">
              <a:rPr lang="en-US" altLang="zh-CN" smtClean="0"/>
              <a:pPr>
                <a:defRPr/>
              </a:pPr>
              <a:t>89</a:t>
            </a:fld>
            <a:endParaRPr lang="en-US" altLang="zh-CN"/>
          </a:p>
        </p:txBody>
      </p:sp>
    </p:spTree>
    <p:extLst>
      <p:ext uri="{BB962C8B-B14F-4D97-AF65-F5344CB8AC3E}">
        <p14:creationId xmlns:p14="http://schemas.microsoft.com/office/powerpoint/2010/main" val="50871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B4FD88-EB2C-41D0-BBA0-DD2D5D8E73F6}"/>
              </a:ext>
            </a:extLst>
          </p:cNvPr>
          <p:cNvSpPr>
            <a:spLocks noGrp="1"/>
          </p:cNvSpPr>
          <p:nvPr>
            <p:ph type="title"/>
          </p:nvPr>
        </p:nvSpPr>
        <p:spPr>
          <a:xfrm>
            <a:off x="1981200" y="0"/>
            <a:ext cx="8229600" cy="1371600"/>
          </a:xfrm>
        </p:spPr>
        <p:txBody>
          <a:bodyPr/>
          <a:lstStyle/>
          <a:p>
            <a:pPr algn="ctr"/>
            <a:r>
              <a:rPr lang="zh-CN" altLang="en-US" dirty="0">
                <a:solidFill>
                  <a:srgbClr val="008000"/>
                </a:solidFill>
                <a:ea typeface="黑体" panose="02010609060101010101" pitchFamily="49" charset="-122"/>
              </a:rPr>
              <a:t>步骤</a:t>
            </a:r>
            <a:r>
              <a:rPr lang="en-US" altLang="zh-CN" dirty="0">
                <a:solidFill>
                  <a:srgbClr val="008000"/>
                </a:solidFill>
                <a:ea typeface="黑体" panose="02010609060101010101" pitchFamily="49" charset="-122"/>
              </a:rPr>
              <a:t>2</a:t>
            </a:r>
            <a:r>
              <a:rPr lang="zh-CN" altLang="en-US" dirty="0">
                <a:solidFill>
                  <a:srgbClr val="008000"/>
                </a:solidFill>
                <a:ea typeface="黑体" panose="02010609060101010101" pitchFamily="49" charset="-122"/>
              </a:rPr>
              <a:t>：确定</a:t>
            </a:r>
            <a:r>
              <a:rPr lang="en-US" altLang="zh-CN" dirty="0">
                <a:solidFill>
                  <a:srgbClr val="008000"/>
                </a:solidFill>
                <a:ea typeface="黑体" panose="02010609060101010101" pitchFamily="49" charset="-122"/>
              </a:rPr>
              <a:t>F</a:t>
            </a:r>
            <a:r>
              <a:rPr lang="zh-CN" altLang="en-US" dirty="0">
                <a:solidFill>
                  <a:srgbClr val="008000"/>
                </a:solidFill>
                <a:ea typeface="黑体" panose="02010609060101010101" pitchFamily="49" charset="-122"/>
              </a:rPr>
              <a:t>集</a:t>
            </a:r>
            <a:endParaRPr lang="zh-CN" altLang="en-US" dirty="0"/>
          </a:p>
        </p:txBody>
      </p:sp>
      <p:sp>
        <p:nvSpPr>
          <p:cNvPr id="3" name="内容占位符 2">
            <a:extLst>
              <a:ext uri="{FF2B5EF4-FFF2-40B4-BE49-F238E27FC236}">
                <a16:creationId xmlns:a16="http://schemas.microsoft.com/office/drawing/2014/main" id="{3CB08130-C135-4BC2-A5B3-7ED05819EC31}"/>
              </a:ext>
            </a:extLst>
          </p:cNvPr>
          <p:cNvSpPr>
            <a:spLocks noGrp="1"/>
          </p:cNvSpPr>
          <p:nvPr>
            <p:ph idx="1"/>
          </p:nvPr>
        </p:nvSpPr>
        <p:spPr>
          <a:xfrm>
            <a:off x="983432" y="1129680"/>
            <a:ext cx="8229600" cy="4598640"/>
          </a:xfrm>
        </p:spPr>
        <p:txBody>
          <a:bodyPr/>
          <a:lstStyle/>
          <a:p>
            <a:r>
              <a:rPr lang="zh-CN" altLang="en-US" b="1" dirty="0">
                <a:solidFill>
                  <a:srgbClr val="CC00CC"/>
                </a:solidFill>
              </a:rPr>
              <a:t>零件备件数量</a:t>
            </a:r>
            <a:r>
              <a:rPr lang="en-US" altLang="zh-CN" b="1" dirty="0">
                <a:solidFill>
                  <a:srgbClr val="CC00CC"/>
                </a:solidFill>
              </a:rPr>
              <a:t>n</a:t>
            </a:r>
            <a:r>
              <a:rPr lang="zh-CN" altLang="en-US" b="1" dirty="0">
                <a:solidFill>
                  <a:srgbClr val="CC00CC"/>
                </a:solidFill>
              </a:rPr>
              <a:t>的</a:t>
            </a:r>
            <a:r>
              <a:rPr lang="en-US" altLang="zh-CN" b="1" dirty="0">
                <a:solidFill>
                  <a:srgbClr val="CC00CC"/>
                </a:solidFill>
              </a:rPr>
              <a:t>F</a:t>
            </a:r>
            <a:r>
              <a:rPr lang="zh-CN" altLang="en-US" b="1" dirty="0">
                <a:solidFill>
                  <a:srgbClr val="CC00CC"/>
                </a:solidFill>
              </a:rPr>
              <a:t>集</a:t>
            </a:r>
          </a:p>
        </p:txBody>
      </p:sp>
      <p:pic>
        <p:nvPicPr>
          <p:cNvPr id="4" name="图片 3">
            <a:extLst>
              <a:ext uri="{FF2B5EF4-FFF2-40B4-BE49-F238E27FC236}">
                <a16:creationId xmlns:a16="http://schemas.microsoft.com/office/drawing/2014/main" id="{D784FB2B-0AFB-46C8-B9BC-70057D3DF18E}"/>
              </a:ext>
            </a:extLst>
          </p:cNvPr>
          <p:cNvPicPr>
            <a:picLocks noChangeAspect="1"/>
          </p:cNvPicPr>
          <p:nvPr/>
        </p:nvPicPr>
        <p:blipFill>
          <a:blip r:embed="rId2"/>
          <a:stretch>
            <a:fillRect/>
          </a:stretch>
        </p:blipFill>
        <p:spPr>
          <a:xfrm>
            <a:off x="2639616" y="1719646"/>
            <a:ext cx="6912768" cy="2645458"/>
          </a:xfrm>
          <a:prstGeom prst="rect">
            <a:avLst/>
          </a:prstGeom>
        </p:spPr>
      </p:pic>
      <p:graphicFrame>
        <p:nvGraphicFramePr>
          <p:cNvPr id="7" name="表格 6">
            <a:extLst>
              <a:ext uri="{FF2B5EF4-FFF2-40B4-BE49-F238E27FC236}">
                <a16:creationId xmlns:a16="http://schemas.microsoft.com/office/drawing/2014/main" id="{46AAC793-1040-A77F-9F76-5DFE934893FE}"/>
              </a:ext>
            </a:extLst>
          </p:cNvPr>
          <p:cNvGraphicFramePr>
            <a:graphicFrameLocks noGrp="1"/>
          </p:cNvGraphicFramePr>
          <p:nvPr/>
        </p:nvGraphicFramePr>
        <p:xfrm>
          <a:off x="2577824" y="4098612"/>
          <a:ext cx="6974560" cy="2759397"/>
        </p:xfrm>
        <a:graphic>
          <a:graphicData uri="http://schemas.openxmlformats.org/drawingml/2006/table">
            <a:tbl>
              <a:tblPr firstRow="1" bandRow="1">
                <a:tableStyleId>{2D5ABB26-0587-4C30-8999-92F81FD0307C}</a:tableStyleId>
              </a:tblPr>
              <a:tblGrid>
                <a:gridCol w="1743640">
                  <a:extLst>
                    <a:ext uri="{9D8B030D-6E8A-4147-A177-3AD203B41FA5}">
                      <a16:colId xmlns:a16="http://schemas.microsoft.com/office/drawing/2014/main" val="3650235181"/>
                    </a:ext>
                  </a:extLst>
                </a:gridCol>
                <a:gridCol w="1743640">
                  <a:extLst>
                    <a:ext uri="{9D8B030D-6E8A-4147-A177-3AD203B41FA5}">
                      <a16:colId xmlns:a16="http://schemas.microsoft.com/office/drawing/2014/main" val="2623079968"/>
                    </a:ext>
                  </a:extLst>
                </a:gridCol>
                <a:gridCol w="1743640">
                  <a:extLst>
                    <a:ext uri="{9D8B030D-6E8A-4147-A177-3AD203B41FA5}">
                      <a16:colId xmlns:a16="http://schemas.microsoft.com/office/drawing/2014/main" val="1447610421"/>
                    </a:ext>
                  </a:extLst>
                </a:gridCol>
                <a:gridCol w="1743640">
                  <a:extLst>
                    <a:ext uri="{9D8B030D-6E8A-4147-A177-3AD203B41FA5}">
                      <a16:colId xmlns:a16="http://schemas.microsoft.com/office/drawing/2014/main" val="1073212551"/>
                    </a:ext>
                  </a:extLst>
                </a:gridCol>
              </a:tblGrid>
              <a:tr h="346749">
                <a:tc>
                  <a:txBody>
                    <a:bodyPr/>
                    <a:lstStyle/>
                    <a:p>
                      <a:pPr algn="ctr">
                        <a:lnSpc>
                          <a:spcPct val="80000"/>
                        </a:lnSpc>
                      </a:pPr>
                      <a:r>
                        <a:rPr lang="zh-CN" altLang="en-US" b="1" dirty="0"/>
                        <a:t>语言变量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b="1" dirty="0"/>
                        <a:t>语言值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b="1" dirty="0"/>
                        <a:t>符号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80000"/>
                        </a:lnSpc>
                      </a:pPr>
                      <a:r>
                        <a:rPr lang="zh-CN" altLang="en-US" b="1" dirty="0"/>
                        <a:t>值范围</a:t>
                      </a:r>
                      <a:r>
                        <a:rPr lang="en-US" altLang="zh-CN" b="1" dirty="0"/>
                        <a:t>(</a:t>
                      </a:r>
                      <a:r>
                        <a:rPr lang="zh-CN" altLang="en-US" b="1" dirty="0"/>
                        <a:t>标准化</a:t>
                      </a:r>
                      <a:r>
                        <a:rPr lang="en-US" altLang="zh-CN" b="1" dirty="0"/>
                        <a:t>)</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38155318"/>
                  </a:ext>
                </a:extLst>
              </a:tr>
              <a:tr h="346749">
                <a:tc>
                  <a:txBody>
                    <a:bodyPr/>
                    <a:lstStyle/>
                    <a:p>
                      <a:pPr algn="ctr">
                        <a:lnSpc>
                          <a:spcPct val="80000"/>
                        </a:lnSpc>
                      </a:pPr>
                      <a:endParaRPr lang="zh-CN" altLang="en-US" sz="20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Very Small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VS</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 0.30]</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93371254"/>
                  </a:ext>
                </a:extLst>
              </a:tr>
              <a:tr h="346749">
                <a:tc>
                  <a:txBody>
                    <a:bodyPr/>
                    <a:lstStyle/>
                    <a:p>
                      <a:pPr algn="ctr">
                        <a:lnSpc>
                          <a:spcPct val="80000"/>
                        </a:lnSpc>
                      </a:pPr>
                      <a:r>
                        <a:rPr lang="zh-CN" altLang="en-US" sz="2000" b="1" dirty="0">
                          <a:latin typeface="Aharoni" panose="02010803020104030203" pitchFamily="2" charset="-79"/>
                          <a:cs typeface="Aharoni" panose="02010803020104030203" pitchFamily="2" charset="-79"/>
                        </a:rPr>
                        <a:t>零件备件数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Small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S</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 0.40]</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916309538"/>
                  </a:ext>
                </a:extLst>
              </a:tr>
              <a:tr h="346749">
                <a:tc>
                  <a:txBody>
                    <a:bodyPr/>
                    <a:lstStyle/>
                    <a:p>
                      <a:pPr algn="ctr">
                        <a:lnSpc>
                          <a:spcPct val="80000"/>
                        </a:lnSpc>
                      </a:pPr>
                      <a:r>
                        <a:rPr lang="en-US" altLang="zh-CN" sz="2000" b="1" dirty="0">
                          <a:latin typeface="Aharoni" panose="02010803020104030203" pitchFamily="2" charset="-79"/>
                          <a:cs typeface="Aharoni" panose="02010803020104030203" pitchFamily="2" charset="-79"/>
                        </a:rPr>
                        <a:t>n</a:t>
                      </a:r>
                      <a:endParaRPr lang="zh-CN" altLang="en-US" sz="2000" b="1"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Rather Small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RS</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[0.25, 0.45]</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663703880"/>
                  </a:ext>
                </a:extLst>
              </a:tr>
              <a:tr h="346749">
                <a:tc>
                  <a:txBody>
                    <a:bodyPr/>
                    <a:lstStyle/>
                    <a:p>
                      <a:pPr algn="ctr">
                        <a:lnSpc>
                          <a:spcPct val="80000"/>
                        </a:lnSpc>
                      </a:pP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Medium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M</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[0.30, 0.70]</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00203414"/>
                  </a:ext>
                </a:extLst>
              </a:tr>
              <a:tr h="346749">
                <a:tc>
                  <a:txBody>
                    <a:bodyPr/>
                    <a:lstStyle/>
                    <a:p>
                      <a:pPr algn="ctr">
                        <a:lnSpc>
                          <a:spcPct val="80000"/>
                        </a:lnSpc>
                      </a:pP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Rather Large</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RL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[0.55, 0.75]</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3672133147"/>
                  </a:ext>
                </a:extLst>
              </a:tr>
              <a:tr h="346749">
                <a:tc>
                  <a:txBody>
                    <a:bodyPr/>
                    <a:lstStyle/>
                    <a:p>
                      <a:pPr algn="ctr">
                        <a:lnSpc>
                          <a:spcPct val="80000"/>
                        </a:lnSpc>
                      </a:pP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Large</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[0.60, 1]</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698391973"/>
                  </a:ext>
                </a:extLst>
              </a:tr>
              <a:tr h="122951">
                <a:tc>
                  <a:txBody>
                    <a:bodyPr/>
                    <a:lstStyle/>
                    <a:p>
                      <a:pPr algn="ctr">
                        <a:lnSpc>
                          <a:spcPct val="80000"/>
                        </a:lnSpc>
                      </a:pP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Very Large</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dirty="0">
                          <a:latin typeface="Aharoni" panose="02010803020104030203" pitchFamily="2" charset="-79"/>
                          <a:cs typeface="Aharoni" panose="02010803020104030203" pitchFamily="2" charset="-79"/>
                        </a:rPr>
                        <a:t>VL</a:t>
                      </a:r>
                      <a:endParaRPr lang="zh-CN" altLang="en-US" sz="1800" dirty="0">
                        <a:latin typeface="Aharoni" panose="02010803020104030203" pitchFamily="2" charset="-79"/>
                        <a:cs typeface="Aharoni" panose="02010803020104030203" pitchFamily="2" charset="-79"/>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tc>
                  <a:txBody>
                    <a:bodyPr/>
                    <a:lstStyle/>
                    <a:p>
                      <a:pPr algn="ctr">
                        <a:lnSpc>
                          <a:spcPct val="80000"/>
                        </a:lnSpc>
                      </a:pPr>
                      <a:r>
                        <a:rPr lang="en-US" altLang="zh-CN" sz="1800" b="1" dirty="0">
                          <a:latin typeface="Times New Roman" panose="02020603050405020304" pitchFamily="18" charset="0"/>
                          <a:cs typeface="Times New Roman" panose="02020603050405020304" pitchFamily="18" charset="0"/>
                        </a:rPr>
                        <a:t>[0.70, 1]</a:t>
                      </a:r>
                      <a:endParaRPr lang="zh-CN" alt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FF"/>
                    </a:solidFill>
                  </a:tcPr>
                </a:tc>
                <a:extLst>
                  <a:ext uri="{0D108BD9-81ED-4DB2-BD59-A6C34878D82A}">
                    <a16:rowId xmlns:a16="http://schemas.microsoft.com/office/drawing/2014/main" val="2143718519"/>
                  </a:ext>
                </a:extLst>
              </a:tr>
            </a:tbl>
          </a:graphicData>
        </a:graphic>
      </p:graphicFrame>
      <p:sp>
        <p:nvSpPr>
          <p:cNvPr id="5" name="灯片编号占位符 4">
            <a:extLst>
              <a:ext uri="{FF2B5EF4-FFF2-40B4-BE49-F238E27FC236}">
                <a16:creationId xmlns:a16="http://schemas.microsoft.com/office/drawing/2014/main" id="{AA4025AC-DDE2-C1A0-E45E-50AF8794218A}"/>
              </a:ext>
            </a:extLst>
          </p:cNvPr>
          <p:cNvSpPr>
            <a:spLocks noGrp="1"/>
          </p:cNvSpPr>
          <p:nvPr>
            <p:ph type="sldNum" sz="quarter" idx="11"/>
          </p:nvPr>
        </p:nvSpPr>
        <p:spPr/>
        <p:txBody>
          <a:bodyPr/>
          <a:lstStyle/>
          <a:p>
            <a:pPr>
              <a:defRPr/>
            </a:pPr>
            <a:fld id="{1F3E0329-027F-44B1-A42A-8643FF593956}" type="slidenum">
              <a:rPr lang="en-US" altLang="zh-CN" smtClean="0"/>
              <a:pPr>
                <a:defRPr/>
              </a:pPr>
              <a:t>90</a:t>
            </a:fld>
            <a:endParaRPr lang="en-US" altLang="zh-CN"/>
          </a:p>
        </p:txBody>
      </p:sp>
    </p:spTree>
    <p:extLst>
      <p:ext uri="{BB962C8B-B14F-4D97-AF65-F5344CB8AC3E}">
        <p14:creationId xmlns:p14="http://schemas.microsoft.com/office/powerpoint/2010/main" val="2726692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3F3D20-5061-48FE-B0A8-5084BE5EF5A8}"/>
              </a:ext>
            </a:extLst>
          </p:cNvPr>
          <p:cNvSpPr>
            <a:spLocks noGrp="1"/>
          </p:cNvSpPr>
          <p:nvPr>
            <p:ph type="title"/>
          </p:nvPr>
        </p:nvSpPr>
        <p:spPr>
          <a:xfrm>
            <a:off x="1992506" y="116632"/>
            <a:ext cx="8229600" cy="1371600"/>
          </a:xfrm>
        </p:spPr>
        <p:txBody>
          <a:bodyPr/>
          <a:lstStyle/>
          <a:p>
            <a:pPr algn="ctr"/>
            <a:r>
              <a:rPr lang="zh-CN" altLang="en-US" dirty="0">
                <a:solidFill>
                  <a:srgbClr val="008000"/>
                </a:solidFill>
                <a:latin typeface="+mn-lt"/>
                <a:ea typeface="黑体" panose="02010609060101010101" pitchFamily="49" charset="-122"/>
              </a:rPr>
              <a:t>步骤</a:t>
            </a:r>
            <a:r>
              <a:rPr lang="en-US" altLang="zh-CN" dirty="0">
                <a:solidFill>
                  <a:srgbClr val="008000"/>
                </a:solidFill>
                <a:latin typeface="+mn-lt"/>
                <a:ea typeface="黑体" panose="02010609060101010101" pitchFamily="49" charset="-122"/>
              </a:rPr>
              <a:t>3</a:t>
            </a:r>
            <a:r>
              <a:rPr lang="zh-CN" altLang="en-US" dirty="0">
                <a:solidFill>
                  <a:srgbClr val="008000"/>
                </a:solidFill>
                <a:latin typeface="+mn-lt"/>
                <a:ea typeface="黑体" panose="02010609060101010101" pitchFamily="49" charset="-122"/>
              </a:rPr>
              <a:t>：抽取并构造</a:t>
            </a:r>
            <a:r>
              <a:rPr lang="en-US" altLang="zh-CN" dirty="0">
                <a:solidFill>
                  <a:srgbClr val="008000"/>
                </a:solidFill>
                <a:latin typeface="+mn-lt"/>
                <a:ea typeface="黑体" panose="02010609060101010101" pitchFamily="49" charset="-122"/>
              </a:rPr>
              <a:t>F</a:t>
            </a:r>
            <a:r>
              <a:rPr lang="zh-CN" altLang="en-US" dirty="0">
                <a:solidFill>
                  <a:srgbClr val="008000"/>
                </a:solidFill>
                <a:latin typeface="+mn-lt"/>
                <a:ea typeface="黑体" panose="02010609060101010101" pitchFamily="49" charset="-122"/>
              </a:rPr>
              <a:t>规则 </a:t>
            </a:r>
          </a:p>
        </p:txBody>
      </p:sp>
      <p:sp>
        <p:nvSpPr>
          <p:cNvPr id="3" name="内容占位符 2">
            <a:extLst>
              <a:ext uri="{FF2B5EF4-FFF2-40B4-BE49-F238E27FC236}">
                <a16:creationId xmlns:a16="http://schemas.microsoft.com/office/drawing/2014/main" id="{237BC033-C829-484B-99E7-D94842F679FE}"/>
              </a:ext>
            </a:extLst>
          </p:cNvPr>
          <p:cNvSpPr>
            <a:spLocks noGrp="1"/>
          </p:cNvSpPr>
          <p:nvPr>
            <p:ph idx="1"/>
          </p:nvPr>
        </p:nvSpPr>
        <p:spPr>
          <a:xfrm>
            <a:off x="1343472" y="1488231"/>
            <a:ext cx="9649072" cy="4778275"/>
          </a:xfrm>
        </p:spPr>
        <p:txBody>
          <a:bodyPr/>
          <a:lstStyle/>
          <a:p>
            <a:pPr>
              <a:lnSpc>
                <a:spcPct val="130000"/>
              </a:lnSpc>
            </a:pPr>
            <a:r>
              <a:rPr lang="zh-CN" altLang="en-US" b="1" dirty="0"/>
              <a:t>要完成这个任务，就需要向专家咨询如何 使用前面定义过的</a:t>
            </a:r>
            <a:r>
              <a:rPr lang="en-US" altLang="zh-CN" b="1" dirty="0"/>
              <a:t>F</a:t>
            </a:r>
            <a:r>
              <a:rPr lang="zh-CN" altLang="en-US" b="1" dirty="0"/>
              <a:t>语言变量来解决问题。</a:t>
            </a:r>
            <a:endParaRPr lang="en-US" altLang="zh-CN" b="1" dirty="0"/>
          </a:p>
          <a:p>
            <a:pPr>
              <a:lnSpc>
                <a:spcPct val="130000"/>
              </a:lnSpc>
            </a:pPr>
            <a:r>
              <a:rPr lang="zh-CN" altLang="en-US" b="1" dirty="0"/>
              <a:t>所需要的知识也可以从其他渠道得到，如书本、计算机数据库、流程图和观察到的人类行为。</a:t>
            </a:r>
            <a:endParaRPr lang="en-US" altLang="zh-CN" b="1" dirty="0"/>
          </a:p>
          <a:p>
            <a:pPr>
              <a:lnSpc>
                <a:spcPct val="130000"/>
              </a:lnSpc>
            </a:pPr>
            <a:r>
              <a:rPr lang="zh-CN" altLang="en-US" b="1" dirty="0"/>
              <a:t>本例“</a:t>
            </a:r>
            <a:r>
              <a:rPr lang="en-US" altLang="zh-CN" b="1" dirty="0"/>
              <a:t>3</a:t>
            </a:r>
            <a:r>
              <a:rPr lang="zh-CN" altLang="en-US" b="1" dirty="0"/>
              <a:t>输入、</a:t>
            </a:r>
            <a:r>
              <a:rPr lang="en-US" altLang="zh-CN" b="1" dirty="0"/>
              <a:t>1</a:t>
            </a:r>
            <a:r>
              <a:rPr lang="zh-CN" altLang="en-US" b="1" dirty="0"/>
              <a:t>输出”，用矩阵形式表示 </a:t>
            </a:r>
            <a:r>
              <a:rPr lang="en-US" altLang="zh-CN" b="1" dirty="0"/>
              <a:t>F</a:t>
            </a:r>
            <a:r>
              <a:rPr lang="zh-CN" altLang="en-US" b="1" dirty="0"/>
              <a:t>规则很方便。用</a:t>
            </a:r>
            <a:r>
              <a:rPr lang="en-US" altLang="zh-CN" b="1" dirty="0"/>
              <a:t>M</a:t>
            </a:r>
            <a:r>
              <a:rPr lang="en-US" altLang="zh-CN" b="1" dirty="0">
                <a:sym typeface="Symbol" panose="05050102010706020507" pitchFamily="18" charset="2"/>
              </a:rPr>
              <a:t></a:t>
            </a:r>
            <a:r>
              <a:rPr lang="en-US" altLang="zh-CN" b="1" dirty="0"/>
              <a:t>S</a:t>
            </a:r>
            <a:r>
              <a:rPr lang="en-US" altLang="zh-CN" b="1" dirty="0">
                <a:sym typeface="Symbol" panose="05050102010706020507" pitchFamily="18" charset="2"/>
              </a:rPr>
              <a:t></a:t>
            </a:r>
            <a:r>
              <a:rPr lang="en-US" altLang="zh-CN" b="1" dirty="0"/>
              <a:t>P</a:t>
            </a:r>
            <a:r>
              <a:rPr lang="zh-CN" altLang="en-US" b="1" dirty="0"/>
              <a:t>立方体表示</a:t>
            </a:r>
            <a:r>
              <a:rPr lang="en-US" altLang="zh-CN" b="1" dirty="0"/>
              <a:t>——</a:t>
            </a:r>
            <a:r>
              <a:rPr lang="zh-CN" altLang="en-US" b="1" dirty="0"/>
              <a:t>模糊关联记忆</a:t>
            </a:r>
            <a:r>
              <a:rPr lang="en-US" altLang="zh-CN" b="1" dirty="0"/>
              <a:t>FAM</a:t>
            </a:r>
            <a:endParaRPr lang="zh-CN" altLang="en-US" b="1" dirty="0"/>
          </a:p>
        </p:txBody>
      </p:sp>
      <p:sp>
        <p:nvSpPr>
          <p:cNvPr id="4" name="灯片编号占位符 3">
            <a:extLst>
              <a:ext uri="{FF2B5EF4-FFF2-40B4-BE49-F238E27FC236}">
                <a16:creationId xmlns:a16="http://schemas.microsoft.com/office/drawing/2014/main" id="{637CBC78-03CF-467C-AA0B-21F606875B7A}"/>
              </a:ext>
            </a:extLst>
          </p:cNvPr>
          <p:cNvSpPr>
            <a:spLocks noGrp="1"/>
          </p:cNvSpPr>
          <p:nvPr>
            <p:ph type="sldNum" sz="quarter" idx="11"/>
          </p:nvPr>
        </p:nvSpPr>
        <p:spPr/>
        <p:txBody>
          <a:bodyPr/>
          <a:lstStyle/>
          <a:p>
            <a:pPr>
              <a:defRPr/>
            </a:pPr>
            <a:fld id="{1F3E0329-027F-44B1-A42A-8643FF593956}" type="slidenum">
              <a:rPr lang="en-US" altLang="zh-CN" smtClean="0"/>
              <a:pPr>
                <a:defRPr/>
              </a:pPr>
              <a:t>91</a:t>
            </a:fld>
            <a:endParaRPr lang="en-US" altLang="zh-CN"/>
          </a:p>
        </p:txBody>
      </p:sp>
    </p:spTree>
    <p:extLst>
      <p:ext uri="{BB962C8B-B14F-4D97-AF65-F5344CB8AC3E}">
        <p14:creationId xmlns:p14="http://schemas.microsoft.com/office/powerpoint/2010/main" val="205572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4F56A3-B207-4EB2-B666-ACA9EAEBB91C}"/>
              </a:ext>
            </a:extLst>
          </p:cNvPr>
          <p:cNvSpPr>
            <a:spLocks noGrp="1"/>
          </p:cNvSpPr>
          <p:nvPr>
            <p:ph type="title"/>
          </p:nvPr>
        </p:nvSpPr>
        <p:spPr>
          <a:xfrm>
            <a:off x="1981200" y="0"/>
            <a:ext cx="8229600" cy="1371600"/>
          </a:xfrm>
        </p:spPr>
        <p:txBody>
          <a:bodyPr/>
          <a:lstStyle/>
          <a:p>
            <a:pPr algn="ctr"/>
            <a:r>
              <a:rPr lang="zh-CN" altLang="en-US" dirty="0">
                <a:solidFill>
                  <a:srgbClr val="008000"/>
                </a:solidFill>
                <a:latin typeface="黑体" panose="02010609060101010101" pitchFamily="49" charset="-122"/>
                <a:ea typeface="黑体" panose="02010609060101010101" pitchFamily="49" charset="-122"/>
              </a:rPr>
              <a:t>规则表</a:t>
            </a:r>
            <a:r>
              <a:rPr lang="en-US" altLang="zh-CN" dirty="0">
                <a:solidFill>
                  <a:srgbClr val="008000"/>
                </a:solidFill>
                <a:latin typeface="黑体" panose="02010609060101010101" pitchFamily="49" charset="-122"/>
                <a:ea typeface="黑体" panose="02010609060101010101" pitchFamily="49" charset="-122"/>
              </a:rPr>
              <a:t>(</a:t>
            </a:r>
            <a:r>
              <a:rPr lang="zh-CN" altLang="en-US" dirty="0">
                <a:solidFill>
                  <a:srgbClr val="008000"/>
                </a:solidFill>
                <a:latin typeface="黑体" panose="02010609060101010101" pitchFamily="49" charset="-122"/>
                <a:ea typeface="黑体" panose="02010609060101010101" pitchFamily="49" charset="-122"/>
              </a:rPr>
              <a:t>共</a:t>
            </a:r>
            <a:r>
              <a:rPr lang="en-US" altLang="zh-CN" dirty="0">
                <a:solidFill>
                  <a:srgbClr val="008000"/>
                </a:solidFill>
                <a:latin typeface="黑体" panose="02010609060101010101" pitchFamily="49" charset="-122"/>
                <a:ea typeface="黑体" panose="02010609060101010101" pitchFamily="49" charset="-122"/>
              </a:rPr>
              <a:t>27</a:t>
            </a:r>
            <a:r>
              <a:rPr lang="zh-CN" altLang="en-US" dirty="0">
                <a:solidFill>
                  <a:srgbClr val="008000"/>
                </a:solidFill>
                <a:latin typeface="黑体" panose="02010609060101010101" pitchFamily="49" charset="-122"/>
                <a:ea typeface="黑体" panose="02010609060101010101" pitchFamily="49" charset="-122"/>
              </a:rPr>
              <a:t>条</a:t>
            </a:r>
            <a:r>
              <a:rPr lang="en-US" altLang="zh-CN" dirty="0">
                <a:solidFill>
                  <a:srgbClr val="008000"/>
                </a:solidFill>
                <a:latin typeface="黑体" panose="02010609060101010101" pitchFamily="49" charset="-122"/>
                <a:ea typeface="黑体" panose="02010609060101010101" pitchFamily="49" charset="-122"/>
              </a:rPr>
              <a:t>)</a:t>
            </a:r>
            <a:endParaRPr lang="zh-CN" altLang="en-US" dirty="0">
              <a:solidFill>
                <a:srgbClr val="008000"/>
              </a:solidFill>
              <a:latin typeface="黑体" panose="02010609060101010101" pitchFamily="49" charset="-122"/>
              <a:ea typeface="黑体" panose="02010609060101010101" pitchFamily="49" charset="-122"/>
            </a:endParaRPr>
          </a:p>
        </p:txBody>
      </p:sp>
      <p:graphicFrame>
        <p:nvGraphicFramePr>
          <p:cNvPr id="3" name="表格 2">
            <a:extLst>
              <a:ext uri="{FF2B5EF4-FFF2-40B4-BE49-F238E27FC236}">
                <a16:creationId xmlns:a16="http://schemas.microsoft.com/office/drawing/2014/main" id="{D4D74D7E-9B42-F447-E8E8-9F366A078E91}"/>
              </a:ext>
            </a:extLst>
          </p:cNvPr>
          <p:cNvGraphicFramePr>
            <a:graphicFrameLocks noGrp="1"/>
          </p:cNvGraphicFramePr>
          <p:nvPr>
            <p:extLst>
              <p:ext uri="{D42A27DB-BD31-4B8C-83A1-F6EECF244321}">
                <p14:modId xmlns:p14="http://schemas.microsoft.com/office/powerpoint/2010/main" val="1564780956"/>
              </p:ext>
            </p:extLst>
          </p:nvPr>
        </p:nvGraphicFramePr>
        <p:xfrm>
          <a:off x="1970439" y="1196761"/>
          <a:ext cx="8013570" cy="5277915"/>
        </p:xfrm>
        <a:graphic>
          <a:graphicData uri="http://schemas.openxmlformats.org/drawingml/2006/table">
            <a:tbl>
              <a:tblPr firstRow="1" bandRow="1">
                <a:tableStyleId>{2D5ABB26-0587-4C30-8999-92F81FD0307C}</a:tableStyleId>
              </a:tblPr>
              <a:tblGrid>
                <a:gridCol w="534238">
                  <a:extLst>
                    <a:ext uri="{9D8B030D-6E8A-4147-A177-3AD203B41FA5}">
                      <a16:colId xmlns:a16="http://schemas.microsoft.com/office/drawing/2014/main" val="1032148042"/>
                    </a:ext>
                  </a:extLst>
                </a:gridCol>
                <a:gridCol w="534238">
                  <a:extLst>
                    <a:ext uri="{9D8B030D-6E8A-4147-A177-3AD203B41FA5}">
                      <a16:colId xmlns:a16="http://schemas.microsoft.com/office/drawing/2014/main" val="346271502"/>
                    </a:ext>
                  </a:extLst>
                </a:gridCol>
                <a:gridCol w="534238">
                  <a:extLst>
                    <a:ext uri="{9D8B030D-6E8A-4147-A177-3AD203B41FA5}">
                      <a16:colId xmlns:a16="http://schemas.microsoft.com/office/drawing/2014/main" val="2003637239"/>
                    </a:ext>
                  </a:extLst>
                </a:gridCol>
                <a:gridCol w="534238">
                  <a:extLst>
                    <a:ext uri="{9D8B030D-6E8A-4147-A177-3AD203B41FA5}">
                      <a16:colId xmlns:a16="http://schemas.microsoft.com/office/drawing/2014/main" val="1861369748"/>
                    </a:ext>
                  </a:extLst>
                </a:gridCol>
                <a:gridCol w="534238">
                  <a:extLst>
                    <a:ext uri="{9D8B030D-6E8A-4147-A177-3AD203B41FA5}">
                      <a16:colId xmlns:a16="http://schemas.microsoft.com/office/drawing/2014/main" val="886942802"/>
                    </a:ext>
                  </a:extLst>
                </a:gridCol>
                <a:gridCol w="534238">
                  <a:extLst>
                    <a:ext uri="{9D8B030D-6E8A-4147-A177-3AD203B41FA5}">
                      <a16:colId xmlns:a16="http://schemas.microsoft.com/office/drawing/2014/main" val="2531446804"/>
                    </a:ext>
                  </a:extLst>
                </a:gridCol>
                <a:gridCol w="534238">
                  <a:extLst>
                    <a:ext uri="{9D8B030D-6E8A-4147-A177-3AD203B41FA5}">
                      <a16:colId xmlns:a16="http://schemas.microsoft.com/office/drawing/2014/main" val="3255221382"/>
                    </a:ext>
                  </a:extLst>
                </a:gridCol>
                <a:gridCol w="534238">
                  <a:extLst>
                    <a:ext uri="{9D8B030D-6E8A-4147-A177-3AD203B41FA5}">
                      <a16:colId xmlns:a16="http://schemas.microsoft.com/office/drawing/2014/main" val="4025570820"/>
                    </a:ext>
                  </a:extLst>
                </a:gridCol>
                <a:gridCol w="534238">
                  <a:extLst>
                    <a:ext uri="{9D8B030D-6E8A-4147-A177-3AD203B41FA5}">
                      <a16:colId xmlns:a16="http://schemas.microsoft.com/office/drawing/2014/main" val="635351415"/>
                    </a:ext>
                  </a:extLst>
                </a:gridCol>
                <a:gridCol w="534238">
                  <a:extLst>
                    <a:ext uri="{9D8B030D-6E8A-4147-A177-3AD203B41FA5}">
                      <a16:colId xmlns:a16="http://schemas.microsoft.com/office/drawing/2014/main" val="428176306"/>
                    </a:ext>
                  </a:extLst>
                </a:gridCol>
                <a:gridCol w="534238">
                  <a:extLst>
                    <a:ext uri="{9D8B030D-6E8A-4147-A177-3AD203B41FA5}">
                      <a16:colId xmlns:a16="http://schemas.microsoft.com/office/drawing/2014/main" val="4171589787"/>
                    </a:ext>
                  </a:extLst>
                </a:gridCol>
                <a:gridCol w="534238">
                  <a:extLst>
                    <a:ext uri="{9D8B030D-6E8A-4147-A177-3AD203B41FA5}">
                      <a16:colId xmlns:a16="http://schemas.microsoft.com/office/drawing/2014/main" val="2982031262"/>
                    </a:ext>
                  </a:extLst>
                </a:gridCol>
                <a:gridCol w="534238">
                  <a:extLst>
                    <a:ext uri="{9D8B030D-6E8A-4147-A177-3AD203B41FA5}">
                      <a16:colId xmlns:a16="http://schemas.microsoft.com/office/drawing/2014/main" val="3409427112"/>
                    </a:ext>
                  </a:extLst>
                </a:gridCol>
                <a:gridCol w="534238">
                  <a:extLst>
                    <a:ext uri="{9D8B030D-6E8A-4147-A177-3AD203B41FA5}">
                      <a16:colId xmlns:a16="http://schemas.microsoft.com/office/drawing/2014/main" val="591948108"/>
                    </a:ext>
                  </a:extLst>
                </a:gridCol>
                <a:gridCol w="534238">
                  <a:extLst>
                    <a:ext uri="{9D8B030D-6E8A-4147-A177-3AD203B41FA5}">
                      <a16:colId xmlns:a16="http://schemas.microsoft.com/office/drawing/2014/main" val="2890979333"/>
                    </a:ext>
                  </a:extLst>
                </a:gridCol>
              </a:tblGrid>
              <a:tr h="515315">
                <a:tc>
                  <a:txBody>
                    <a:bodyPr/>
                    <a:lstStyle/>
                    <a:p>
                      <a:pPr algn="ctr"/>
                      <a:r>
                        <a:rPr lang="zh-CN" altLang="en-US" b="1" dirty="0"/>
                        <a:t>规则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sz="2800" b="1" dirty="0"/>
                        <a:t>m</a:t>
                      </a:r>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altLang="zh-CN" sz="2800" b="1" dirty="0"/>
                        <a:t>s</a:t>
                      </a:r>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altLang="zh-CN" sz="2800" b="1" dirty="0"/>
                        <a:t>p</a:t>
                      </a:r>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altLang="zh-CN" sz="2800" b="1" dirty="0">
                          <a:solidFill>
                            <a:srgbClr val="FF0000"/>
                          </a:solidFill>
                        </a:rPr>
                        <a:t>n</a:t>
                      </a:r>
                      <a:endParaRPr lang="zh-CN" altLang="en-US" sz="2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zh-CN" altLang="en-US" b="1" dirty="0"/>
                        <a:t>规则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sz="2800" b="1" dirty="0"/>
                        <a:t>m</a:t>
                      </a:r>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altLang="zh-CN" sz="2800" b="1" dirty="0"/>
                        <a:t>s</a:t>
                      </a:r>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altLang="zh-CN" sz="2800" b="1" dirty="0"/>
                        <a:t>p</a:t>
                      </a:r>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altLang="zh-CN" sz="2800" b="1" dirty="0">
                          <a:solidFill>
                            <a:srgbClr val="FF0000"/>
                          </a:solidFill>
                        </a:rPr>
                        <a:t>n</a:t>
                      </a:r>
                      <a:endParaRPr lang="zh-CN" altLang="en-US" sz="2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zh-CN" altLang="en-US" b="1" dirty="0"/>
                        <a:t>规则</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sz="2800" b="1" dirty="0"/>
                        <a:t>m</a:t>
                      </a:r>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33"/>
                    </a:solidFill>
                  </a:tcPr>
                </a:tc>
                <a:tc>
                  <a:txBody>
                    <a:bodyPr/>
                    <a:lstStyle/>
                    <a:p>
                      <a:pPr algn="ctr"/>
                      <a:r>
                        <a:rPr lang="en-US" altLang="zh-CN" sz="2800" b="1" dirty="0"/>
                        <a:t>s</a:t>
                      </a:r>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33"/>
                    </a:solidFill>
                  </a:tcPr>
                </a:tc>
                <a:tc>
                  <a:txBody>
                    <a:bodyPr/>
                    <a:lstStyle/>
                    <a:p>
                      <a:pPr algn="ctr"/>
                      <a:r>
                        <a:rPr lang="en-US" altLang="zh-CN" sz="2800" b="1" dirty="0"/>
                        <a:t>p</a:t>
                      </a:r>
                      <a:endParaRPr lang="zh-CN" alt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33"/>
                    </a:solidFill>
                  </a:tcPr>
                </a:tc>
                <a:tc>
                  <a:txBody>
                    <a:bodyPr/>
                    <a:lstStyle/>
                    <a:p>
                      <a:pPr algn="ctr"/>
                      <a:r>
                        <a:rPr lang="en-US" altLang="zh-CN" sz="2800" b="1" dirty="0">
                          <a:solidFill>
                            <a:srgbClr val="FF0000"/>
                          </a:solidFill>
                        </a:rPr>
                        <a:t>n</a:t>
                      </a:r>
                      <a:endParaRPr lang="zh-CN" altLang="en-US" sz="2800"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618306849"/>
                  </a:ext>
                </a:extLst>
              </a:tr>
              <a:tr h="515315">
                <a:tc>
                  <a:txBody>
                    <a:bodyPr/>
                    <a:lstStyle/>
                    <a:p>
                      <a:pPr algn="ctr"/>
                      <a:r>
                        <a:rPr lang="en-US" altLang="zh-CN" b="1" dirty="0"/>
                        <a:t>1</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10</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19</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H</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VL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3769588"/>
                  </a:ext>
                </a:extLst>
              </a:tr>
              <a:tr h="515315">
                <a:tc>
                  <a:txBody>
                    <a:bodyPr/>
                    <a:lstStyle/>
                    <a:p>
                      <a:pPr algn="ctr"/>
                      <a:r>
                        <a:rPr lang="en-US" altLang="zh-CN" b="1" dirty="0"/>
                        <a:t>2</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11</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20</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H</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8206383"/>
                  </a:ext>
                </a:extLst>
              </a:tr>
              <a:tr h="515315">
                <a:tc>
                  <a:txBody>
                    <a:bodyPr/>
                    <a:lstStyle/>
                    <a:p>
                      <a:pPr algn="ctr"/>
                      <a:r>
                        <a:rPr lang="en-US" altLang="zh-CN" b="1" dirty="0"/>
                        <a:t>3</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Arial"/>
                          <a:ea typeface="宋体"/>
                          <a:cs typeface="+mn-cs"/>
                        </a:rPr>
                        <a:t>L</a:t>
                      </a:r>
                      <a:endParaRPr kumimoji="0" lang="zh-CN" altLang="en-US" sz="1800" b="1" i="0" u="none" strike="noStrike" kern="1200" cap="none" spc="0" normalizeH="0" baseline="0" noProof="0" dirty="0">
                        <a:ln>
                          <a:noFill/>
                        </a:ln>
                        <a:solidFill>
                          <a:srgbClr val="000000"/>
                        </a:solidFill>
                        <a:effectLst/>
                        <a:uLnTx/>
                        <a:uFillTx/>
                        <a:latin typeface="Arial"/>
                        <a:ea typeface="宋体"/>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12</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21</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H</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5136976"/>
                  </a:ext>
                </a:extLst>
              </a:tr>
              <a:tr h="515315">
                <a:tc>
                  <a:txBody>
                    <a:bodyPr/>
                    <a:lstStyle/>
                    <a:p>
                      <a:pPr algn="ctr"/>
                      <a:r>
                        <a:rPr lang="en-US" altLang="zh-CN" b="1" dirty="0"/>
                        <a:t>4</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Arial"/>
                          <a:ea typeface="宋体"/>
                          <a:cs typeface="+mn-cs"/>
                        </a:rPr>
                        <a:t>L</a:t>
                      </a:r>
                      <a:endParaRPr kumimoji="0" lang="zh-CN" altLang="en-US" sz="1800" b="1" i="0" u="none" strike="noStrike" kern="1200" cap="none" spc="0" normalizeH="0" baseline="0" noProof="0" dirty="0">
                        <a:ln>
                          <a:noFill/>
                        </a:ln>
                        <a:solidFill>
                          <a:srgbClr val="000000"/>
                        </a:solidFill>
                        <a:effectLst/>
                        <a:uLnTx/>
                        <a:uFillTx/>
                        <a:latin typeface="Arial"/>
                        <a:ea typeface="宋体"/>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13</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RS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22</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H</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520013"/>
                  </a:ext>
                </a:extLst>
              </a:tr>
              <a:tr h="515315">
                <a:tc>
                  <a:txBody>
                    <a:bodyPr/>
                    <a:lstStyle/>
                    <a:p>
                      <a:pPr algn="ctr"/>
                      <a:r>
                        <a:rPr lang="en-US" altLang="zh-CN" b="1" dirty="0"/>
                        <a:t>5</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Arial"/>
                          <a:ea typeface="宋体"/>
                          <a:cs typeface="+mn-cs"/>
                        </a:rPr>
                        <a:t>L</a:t>
                      </a:r>
                      <a:endParaRPr kumimoji="0" lang="zh-CN" altLang="en-US" sz="1800" b="1" i="0" u="none" strike="noStrike" kern="1200" cap="none" spc="0" normalizeH="0" baseline="0" noProof="0" dirty="0">
                        <a:ln>
                          <a:noFill/>
                        </a:ln>
                        <a:solidFill>
                          <a:srgbClr val="000000"/>
                        </a:solidFill>
                        <a:effectLst/>
                        <a:uLnTx/>
                        <a:uFillTx/>
                        <a:latin typeface="Arial"/>
                        <a:ea typeface="宋体"/>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14</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23</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H</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3460224"/>
                  </a:ext>
                </a:extLst>
              </a:tr>
              <a:tr h="515315">
                <a:tc>
                  <a:txBody>
                    <a:bodyPr/>
                    <a:lstStyle/>
                    <a:p>
                      <a:pPr algn="ctr"/>
                      <a:r>
                        <a:rPr lang="en-US" altLang="zh-CN" b="1" dirty="0"/>
                        <a:t>6</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Arial"/>
                          <a:ea typeface="宋体"/>
                          <a:cs typeface="+mn-cs"/>
                        </a:rPr>
                        <a:t>L</a:t>
                      </a:r>
                      <a:endParaRPr kumimoji="0" lang="zh-CN" altLang="en-US" sz="1800" b="1" i="0" u="none" strike="noStrike" kern="1200" cap="none" spc="0" normalizeH="0" baseline="0" noProof="0" dirty="0">
                        <a:ln>
                          <a:noFill/>
                        </a:ln>
                        <a:solidFill>
                          <a:srgbClr val="000000"/>
                        </a:solidFill>
                        <a:effectLst/>
                        <a:uLnTx/>
                        <a:uFillTx/>
                        <a:latin typeface="Arial"/>
                        <a:ea typeface="宋体"/>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15</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24</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H</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988258"/>
                  </a:ext>
                </a:extLst>
              </a:tr>
              <a:tr h="515315">
                <a:tc>
                  <a:txBody>
                    <a:bodyPr/>
                    <a:lstStyle/>
                    <a:p>
                      <a:pPr algn="ctr"/>
                      <a:r>
                        <a:rPr lang="en-US" altLang="zh-CN" b="1" dirty="0"/>
                        <a:t>7</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000000"/>
                          </a:solidFill>
                          <a:effectLst/>
                          <a:uLnTx/>
                          <a:uFillTx/>
                          <a:latin typeface="Arial"/>
                          <a:ea typeface="宋体"/>
                          <a:cs typeface="+mn-cs"/>
                        </a:rPr>
                        <a:t>L</a:t>
                      </a:r>
                      <a:endParaRPr kumimoji="0" lang="zh-CN" altLang="en-US" sz="1800" b="1" i="0" u="none" strike="noStrike" kern="1200" cap="none" spc="0" normalizeH="0" baseline="0" noProof="0" dirty="0">
                        <a:ln>
                          <a:noFill/>
                        </a:ln>
                        <a:solidFill>
                          <a:srgbClr val="000000"/>
                        </a:solidFill>
                        <a:effectLst/>
                        <a:uLnTx/>
                        <a:uFillTx/>
                        <a:latin typeface="Arial"/>
                        <a:ea typeface="宋体"/>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16</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25</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H</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RL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0177930"/>
                  </a:ext>
                </a:extLst>
              </a:tr>
              <a:tr h="515315">
                <a:tc>
                  <a:txBody>
                    <a:bodyPr/>
                    <a:lstStyle/>
                    <a:p>
                      <a:pPr algn="ctr"/>
                      <a:r>
                        <a:rPr lang="en-US" altLang="zh-CN" b="1" dirty="0"/>
                        <a:t>8</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00"/>
                          </a:solidFill>
                          <a:effectLst/>
                          <a:uLnTx/>
                          <a:uFillTx/>
                          <a:latin typeface="Arial"/>
                          <a:ea typeface="宋体"/>
                          <a:cs typeface="+mn-cs"/>
                        </a:rPr>
                        <a:t>L</a:t>
                      </a:r>
                      <a:endParaRPr kumimoji="0" lang="zh-CN" altLang="en-US" sz="1800" b="1" i="0" u="none" strike="noStrike" kern="1200" cap="none" spc="0" normalizeH="0" baseline="0" noProof="0" dirty="0">
                        <a:ln>
                          <a:noFill/>
                        </a:ln>
                        <a:solidFill>
                          <a:srgbClr val="000000"/>
                        </a:solidFill>
                        <a:effectLst/>
                        <a:uLnTx/>
                        <a:uFillTx/>
                        <a:latin typeface="Arial"/>
                        <a:ea typeface="宋体"/>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17</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RS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26</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H</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1142637"/>
                  </a:ext>
                </a:extLst>
              </a:tr>
              <a:tr h="515315">
                <a:tc>
                  <a:txBody>
                    <a:bodyPr/>
                    <a:lstStyle/>
                    <a:p>
                      <a:pPr algn="ctr"/>
                      <a:r>
                        <a:rPr lang="en-US" altLang="zh-CN" b="1" dirty="0"/>
                        <a:t>9</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VS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18</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27</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r>
                        <a:rPr lang="en-US" altLang="zh-CN" b="1" dirty="0"/>
                        <a:t>M</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L</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H</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b="1" dirty="0"/>
                        <a:t>RS</a:t>
                      </a:r>
                      <a:endParaRPr lang="zh-CN" alt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170723"/>
                  </a:ext>
                </a:extLst>
              </a:tr>
            </a:tbl>
          </a:graphicData>
        </a:graphic>
      </p:graphicFrame>
      <p:sp>
        <p:nvSpPr>
          <p:cNvPr id="4" name="灯片编号占位符 3">
            <a:extLst>
              <a:ext uri="{FF2B5EF4-FFF2-40B4-BE49-F238E27FC236}">
                <a16:creationId xmlns:a16="http://schemas.microsoft.com/office/drawing/2014/main" id="{1C15344C-AD75-2661-A2C6-74D63DA3E2A2}"/>
              </a:ext>
            </a:extLst>
          </p:cNvPr>
          <p:cNvSpPr>
            <a:spLocks noGrp="1"/>
          </p:cNvSpPr>
          <p:nvPr>
            <p:ph type="sldNum" sz="quarter" idx="11"/>
          </p:nvPr>
        </p:nvSpPr>
        <p:spPr/>
        <p:txBody>
          <a:bodyPr/>
          <a:lstStyle/>
          <a:p>
            <a:pPr>
              <a:defRPr/>
            </a:pPr>
            <a:fld id="{1F3E0329-027F-44B1-A42A-8643FF593956}" type="slidenum">
              <a:rPr lang="en-US" altLang="zh-CN" smtClean="0"/>
              <a:pPr>
                <a:defRPr/>
              </a:pPr>
              <a:t>92</a:t>
            </a:fld>
            <a:endParaRPr lang="en-US" altLang="zh-CN"/>
          </a:p>
        </p:txBody>
      </p:sp>
    </p:spTree>
    <p:extLst>
      <p:ext uri="{BB962C8B-B14F-4D97-AF65-F5344CB8AC3E}">
        <p14:creationId xmlns:p14="http://schemas.microsoft.com/office/powerpoint/2010/main" val="29691510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BFC7D4F-C6FA-4C36-99D5-E7406BB3F10B}"/>
              </a:ext>
            </a:extLst>
          </p:cNvPr>
          <p:cNvPicPr>
            <a:picLocks noChangeAspect="1"/>
          </p:cNvPicPr>
          <p:nvPr/>
        </p:nvPicPr>
        <p:blipFill>
          <a:blip r:embed="rId2"/>
          <a:stretch>
            <a:fillRect/>
          </a:stretch>
        </p:blipFill>
        <p:spPr>
          <a:xfrm>
            <a:off x="1631513" y="1313384"/>
            <a:ext cx="6864255" cy="5544616"/>
          </a:xfrm>
          <a:prstGeom prst="rect">
            <a:avLst/>
          </a:prstGeom>
        </p:spPr>
      </p:pic>
      <p:sp>
        <p:nvSpPr>
          <p:cNvPr id="2" name="标题 1">
            <a:extLst>
              <a:ext uri="{FF2B5EF4-FFF2-40B4-BE49-F238E27FC236}">
                <a16:creationId xmlns:a16="http://schemas.microsoft.com/office/drawing/2014/main" id="{277E067C-77AA-4DB5-BBD1-B2D6E17BB5EB}"/>
              </a:ext>
            </a:extLst>
          </p:cNvPr>
          <p:cNvSpPr>
            <a:spLocks noGrp="1"/>
          </p:cNvSpPr>
          <p:nvPr>
            <p:ph type="title"/>
          </p:nvPr>
        </p:nvSpPr>
        <p:spPr>
          <a:xfrm>
            <a:off x="2063552" y="0"/>
            <a:ext cx="8229600" cy="1371600"/>
          </a:xfrm>
        </p:spPr>
        <p:txBody>
          <a:bodyPr/>
          <a:lstStyle/>
          <a:p>
            <a:pPr algn="ctr"/>
            <a:r>
              <a:rPr lang="zh-CN" altLang="en-US" dirty="0">
                <a:solidFill>
                  <a:srgbClr val="008000"/>
                </a:solidFill>
                <a:ea typeface="黑体" panose="02010609060101010101" pitchFamily="49" charset="-122"/>
              </a:rPr>
              <a:t>规则库的立方体表示</a:t>
            </a:r>
            <a:endParaRPr lang="zh-CN" altLang="en-US" dirty="0"/>
          </a:p>
        </p:txBody>
      </p:sp>
      <p:sp>
        <p:nvSpPr>
          <p:cNvPr id="3" name="内容占位符 2">
            <a:extLst>
              <a:ext uri="{FF2B5EF4-FFF2-40B4-BE49-F238E27FC236}">
                <a16:creationId xmlns:a16="http://schemas.microsoft.com/office/drawing/2014/main" id="{92784ABD-5DDE-4DA2-AC4D-EB1863A5C189}"/>
              </a:ext>
            </a:extLst>
          </p:cNvPr>
          <p:cNvSpPr>
            <a:spLocks noGrp="1"/>
          </p:cNvSpPr>
          <p:nvPr>
            <p:ph idx="1"/>
          </p:nvPr>
        </p:nvSpPr>
        <p:spPr>
          <a:xfrm>
            <a:off x="8491724" y="1008448"/>
            <a:ext cx="3602856" cy="908384"/>
          </a:xfrm>
        </p:spPr>
        <p:txBody>
          <a:bodyPr/>
          <a:lstStyle/>
          <a:p>
            <a:pPr marL="0" indent="0">
              <a:buNone/>
            </a:pPr>
            <a:r>
              <a:rPr lang="zh-CN" altLang="en-US" sz="2800" b="1" dirty="0"/>
              <a:t>本例用矩阵形式可以很方便表示 </a:t>
            </a:r>
            <a:r>
              <a:rPr lang="en-US" altLang="zh-CN" sz="2800" b="1" dirty="0"/>
              <a:t>F</a:t>
            </a:r>
            <a:r>
              <a:rPr lang="zh-CN" altLang="en-US" sz="2800" b="1" dirty="0"/>
              <a:t>规则</a:t>
            </a:r>
            <a:endParaRPr lang="zh-CN" altLang="en-US" b="1" dirty="0"/>
          </a:p>
        </p:txBody>
      </p:sp>
      <p:pic>
        <p:nvPicPr>
          <p:cNvPr id="5" name="图片 4">
            <a:extLst>
              <a:ext uri="{FF2B5EF4-FFF2-40B4-BE49-F238E27FC236}">
                <a16:creationId xmlns:a16="http://schemas.microsoft.com/office/drawing/2014/main" id="{0CA83D03-1B76-444B-A75E-F267C9B8BFF9}"/>
              </a:ext>
            </a:extLst>
          </p:cNvPr>
          <p:cNvPicPr>
            <a:picLocks noChangeAspect="1"/>
          </p:cNvPicPr>
          <p:nvPr/>
        </p:nvPicPr>
        <p:blipFill>
          <a:blip r:embed="rId3"/>
          <a:stretch>
            <a:fillRect/>
          </a:stretch>
        </p:blipFill>
        <p:spPr>
          <a:xfrm>
            <a:off x="8256240" y="2321832"/>
            <a:ext cx="3024948" cy="2244316"/>
          </a:xfrm>
          <a:prstGeom prst="rect">
            <a:avLst/>
          </a:prstGeom>
        </p:spPr>
      </p:pic>
      <p:pic>
        <p:nvPicPr>
          <p:cNvPr id="6" name="图片 5">
            <a:extLst>
              <a:ext uri="{FF2B5EF4-FFF2-40B4-BE49-F238E27FC236}">
                <a16:creationId xmlns:a16="http://schemas.microsoft.com/office/drawing/2014/main" id="{2996C376-CCCF-4E11-8F82-6411961889FE}"/>
              </a:ext>
            </a:extLst>
          </p:cNvPr>
          <p:cNvPicPr>
            <a:picLocks noChangeAspect="1"/>
          </p:cNvPicPr>
          <p:nvPr/>
        </p:nvPicPr>
        <p:blipFill>
          <a:blip r:embed="rId4"/>
          <a:stretch>
            <a:fillRect/>
          </a:stretch>
        </p:blipFill>
        <p:spPr>
          <a:xfrm>
            <a:off x="5927543" y="4784738"/>
            <a:ext cx="2904761" cy="2104201"/>
          </a:xfrm>
          <a:prstGeom prst="rect">
            <a:avLst/>
          </a:prstGeom>
        </p:spPr>
      </p:pic>
      <p:sp>
        <p:nvSpPr>
          <p:cNvPr id="7" name="灯片编号占位符 6">
            <a:extLst>
              <a:ext uri="{FF2B5EF4-FFF2-40B4-BE49-F238E27FC236}">
                <a16:creationId xmlns:a16="http://schemas.microsoft.com/office/drawing/2014/main" id="{3D2CF9B5-87BD-BF32-3D1F-91FFE210C898}"/>
              </a:ext>
            </a:extLst>
          </p:cNvPr>
          <p:cNvSpPr>
            <a:spLocks noGrp="1"/>
          </p:cNvSpPr>
          <p:nvPr>
            <p:ph type="sldNum" sz="quarter" idx="11"/>
          </p:nvPr>
        </p:nvSpPr>
        <p:spPr/>
        <p:txBody>
          <a:bodyPr/>
          <a:lstStyle/>
          <a:p>
            <a:pPr>
              <a:defRPr/>
            </a:pPr>
            <a:fld id="{1F3E0329-027F-44B1-A42A-8643FF593956}" type="slidenum">
              <a:rPr lang="en-US" altLang="zh-CN" smtClean="0"/>
              <a:pPr>
                <a:defRPr/>
              </a:pPr>
              <a:t>93</a:t>
            </a:fld>
            <a:endParaRPr lang="en-US" altLang="zh-CN"/>
          </a:p>
        </p:txBody>
      </p:sp>
    </p:spTree>
    <p:extLst>
      <p:ext uri="{BB962C8B-B14F-4D97-AF65-F5344CB8AC3E}">
        <p14:creationId xmlns:p14="http://schemas.microsoft.com/office/powerpoint/2010/main" val="6025219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CF6F6B-FF0E-492A-BA13-06B01B6A982C}"/>
              </a:ext>
            </a:extLst>
          </p:cNvPr>
          <p:cNvSpPr>
            <a:spLocks noGrp="1"/>
          </p:cNvSpPr>
          <p:nvPr>
            <p:ph type="title"/>
          </p:nvPr>
        </p:nvSpPr>
        <p:spPr/>
        <p:txBody>
          <a:bodyPr/>
          <a:lstStyle/>
          <a:p>
            <a:r>
              <a:rPr lang="zh-CN" altLang="en-US" dirty="0">
                <a:solidFill>
                  <a:srgbClr val="008000"/>
                </a:solidFill>
                <a:latin typeface="+mn-lt"/>
                <a:ea typeface="黑体" panose="02010609060101010101" pitchFamily="49" charset="-122"/>
              </a:rPr>
              <a:t>步骤</a:t>
            </a:r>
            <a:r>
              <a:rPr lang="en-US" altLang="zh-CN" dirty="0">
                <a:solidFill>
                  <a:srgbClr val="008000"/>
                </a:solidFill>
                <a:latin typeface="+mn-lt"/>
                <a:ea typeface="黑体" panose="02010609060101010101" pitchFamily="49" charset="-122"/>
              </a:rPr>
              <a:t>4</a:t>
            </a:r>
            <a:r>
              <a:rPr lang="zh-CN" altLang="en-US" dirty="0">
                <a:solidFill>
                  <a:srgbClr val="008000"/>
                </a:solidFill>
                <a:latin typeface="+mn-lt"/>
                <a:ea typeface="黑体" panose="02010609060101010101" pitchFamily="49" charset="-122"/>
              </a:rPr>
              <a:t>：对</a:t>
            </a:r>
            <a:r>
              <a:rPr lang="en-US" altLang="zh-CN" dirty="0">
                <a:solidFill>
                  <a:srgbClr val="008000"/>
                </a:solidFill>
                <a:latin typeface="+mn-lt"/>
                <a:ea typeface="黑体" panose="02010609060101010101" pitchFamily="49" charset="-122"/>
              </a:rPr>
              <a:t>F</a:t>
            </a:r>
            <a:r>
              <a:rPr lang="zh-CN" altLang="en-US" dirty="0">
                <a:solidFill>
                  <a:srgbClr val="008000"/>
                </a:solidFill>
                <a:latin typeface="+mn-lt"/>
                <a:ea typeface="黑体" panose="02010609060101010101" pitchFamily="49" charset="-122"/>
              </a:rPr>
              <a:t>集、</a:t>
            </a:r>
            <a:r>
              <a:rPr lang="en-US" altLang="zh-CN" dirty="0">
                <a:solidFill>
                  <a:srgbClr val="008000"/>
                </a:solidFill>
                <a:latin typeface="+mn-lt"/>
                <a:ea typeface="黑体" panose="02010609060101010101" pitchFamily="49" charset="-122"/>
              </a:rPr>
              <a:t>F</a:t>
            </a:r>
            <a:r>
              <a:rPr lang="zh-CN" altLang="en-US" dirty="0">
                <a:solidFill>
                  <a:srgbClr val="008000"/>
                </a:solidFill>
                <a:latin typeface="+mn-lt"/>
                <a:ea typeface="黑体" panose="02010609060101010101" pitchFamily="49" charset="-122"/>
              </a:rPr>
              <a:t>规则和流程进行程序编码以便在专家系统中执行</a:t>
            </a:r>
            <a:r>
              <a:rPr lang="en-US" altLang="zh-CN" dirty="0">
                <a:solidFill>
                  <a:srgbClr val="008000"/>
                </a:solidFill>
                <a:latin typeface="+mn-lt"/>
                <a:ea typeface="黑体" panose="02010609060101010101" pitchFamily="49" charset="-122"/>
              </a:rPr>
              <a:t>F</a:t>
            </a:r>
            <a:r>
              <a:rPr lang="zh-CN" altLang="en-US" dirty="0">
                <a:solidFill>
                  <a:srgbClr val="008000"/>
                </a:solidFill>
                <a:latin typeface="+mn-lt"/>
                <a:ea typeface="黑体" panose="02010609060101010101" pitchFamily="49" charset="-122"/>
              </a:rPr>
              <a:t>推理。</a:t>
            </a:r>
          </a:p>
        </p:txBody>
      </p:sp>
      <p:sp>
        <p:nvSpPr>
          <p:cNvPr id="3" name="内容占位符 2">
            <a:extLst>
              <a:ext uri="{FF2B5EF4-FFF2-40B4-BE49-F238E27FC236}">
                <a16:creationId xmlns:a16="http://schemas.microsoft.com/office/drawing/2014/main" id="{9F77A839-34FA-4F80-9AF0-25EB22838859}"/>
              </a:ext>
            </a:extLst>
          </p:cNvPr>
          <p:cNvSpPr>
            <a:spLocks noGrp="1"/>
          </p:cNvSpPr>
          <p:nvPr>
            <p:ph idx="1"/>
          </p:nvPr>
        </p:nvSpPr>
        <p:spPr>
          <a:xfrm>
            <a:off x="1981200" y="1981200"/>
            <a:ext cx="8229600" cy="1951856"/>
          </a:xfrm>
        </p:spPr>
        <p:txBody>
          <a:bodyPr/>
          <a:lstStyle/>
          <a:p>
            <a:r>
              <a:rPr lang="zh-CN" altLang="en-US" b="1" dirty="0"/>
              <a:t>可用</a:t>
            </a:r>
            <a:r>
              <a:rPr lang="en-US" altLang="zh-CN" b="1" dirty="0"/>
              <a:t>C/C++</a:t>
            </a:r>
            <a:r>
              <a:rPr lang="zh-CN" altLang="en-US" b="1" dirty="0"/>
              <a:t>等程序语言来建立系统，或都用</a:t>
            </a:r>
            <a:r>
              <a:rPr lang="en-US" altLang="zh-CN" b="1" dirty="0" err="1"/>
              <a:t>Matlab</a:t>
            </a:r>
            <a:r>
              <a:rPr lang="zh-CN" altLang="en-US" b="1" dirty="0"/>
              <a:t>中的</a:t>
            </a:r>
            <a:r>
              <a:rPr lang="en-US" altLang="zh-CN" b="1" dirty="0"/>
              <a:t>Fuzzy</a:t>
            </a:r>
            <a:r>
              <a:rPr lang="zh-CN" altLang="en-US" b="1" dirty="0"/>
              <a:t>工具箱开发工具来系统 。</a:t>
            </a:r>
          </a:p>
        </p:txBody>
      </p:sp>
      <p:sp>
        <p:nvSpPr>
          <p:cNvPr id="4" name="灯片编号占位符 3">
            <a:extLst>
              <a:ext uri="{FF2B5EF4-FFF2-40B4-BE49-F238E27FC236}">
                <a16:creationId xmlns:a16="http://schemas.microsoft.com/office/drawing/2014/main" id="{D3F32370-19BB-D966-EC6A-7C1192996C36}"/>
              </a:ext>
            </a:extLst>
          </p:cNvPr>
          <p:cNvSpPr>
            <a:spLocks noGrp="1"/>
          </p:cNvSpPr>
          <p:nvPr>
            <p:ph type="sldNum" sz="quarter" idx="11"/>
          </p:nvPr>
        </p:nvSpPr>
        <p:spPr/>
        <p:txBody>
          <a:bodyPr/>
          <a:lstStyle/>
          <a:p>
            <a:pPr>
              <a:defRPr/>
            </a:pPr>
            <a:fld id="{1F3E0329-027F-44B1-A42A-8643FF593956}" type="slidenum">
              <a:rPr lang="en-US" altLang="zh-CN" smtClean="0"/>
              <a:pPr>
                <a:defRPr/>
              </a:pPr>
              <a:t>94</a:t>
            </a:fld>
            <a:endParaRPr lang="en-US" altLang="zh-CN"/>
          </a:p>
        </p:txBody>
      </p:sp>
    </p:spTree>
    <p:extLst>
      <p:ext uri="{BB962C8B-B14F-4D97-AF65-F5344CB8AC3E}">
        <p14:creationId xmlns:p14="http://schemas.microsoft.com/office/powerpoint/2010/main" val="5732554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840ECAAD-7C43-435B-B5F7-BEFABB32DB2B}"/>
              </a:ext>
            </a:extLst>
          </p:cNvPr>
          <p:cNvPicPr>
            <a:picLocks noChangeAspect="1"/>
          </p:cNvPicPr>
          <p:nvPr/>
        </p:nvPicPr>
        <p:blipFill>
          <a:blip r:embed="rId2"/>
          <a:stretch>
            <a:fillRect/>
          </a:stretch>
        </p:blipFill>
        <p:spPr>
          <a:xfrm>
            <a:off x="2567608" y="4616249"/>
            <a:ext cx="5328592" cy="2485159"/>
          </a:xfrm>
          <a:prstGeom prst="rect">
            <a:avLst/>
          </a:prstGeom>
        </p:spPr>
      </p:pic>
      <p:sp>
        <p:nvSpPr>
          <p:cNvPr id="2" name="标题 1">
            <a:extLst>
              <a:ext uri="{FF2B5EF4-FFF2-40B4-BE49-F238E27FC236}">
                <a16:creationId xmlns:a16="http://schemas.microsoft.com/office/drawing/2014/main" id="{7CEB3660-6125-4AB5-8458-31F00CB7E0BD}"/>
              </a:ext>
            </a:extLst>
          </p:cNvPr>
          <p:cNvSpPr>
            <a:spLocks noGrp="1"/>
          </p:cNvSpPr>
          <p:nvPr>
            <p:ph type="title"/>
          </p:nvPr>
        </p:nvSpPr>
        <p:spPr>
          <a:xfrm>
            <a:off x="1981200" y="457200"/>
            <a:ext cx="8229600" cy="883568"/>
          </a:xfrm>
        </p:spPr>
        <p:txBody>
          <a:bodyPr/>
          <a:lstStyle/>
          <a:p>
            <a:pPr algn="ctr"/>
            <a:r>
              <a:rPr lang="zh-CN" altLang="en-US" dirty="0">
                <a:solidFill>
                  <a:srgbClr val="008000"/>
                </a:solidFill>
                <a:ea typeface="黑体" panose="02010609060101010101" pitchFamily="49" charset="-122"/>
              </a:rPr>
              <a:t>步骤</a:t>
            </a:r>
            <a:r>
              <a:rPr lang="en-US" altLang="zh-CN" dirty="0">
                <a:solidFill>
                  <a:srgbClr val="008000"/>
                </a:solidFill>
                <a:ea typeface="黑体" panose="02010609060101010101" pitchFamily="49" charset="-122"/>
              </a:rPr>
              <a:t>5</a:t>
            </a:r>
            <a:r>
              <a:rPr lang="zh-CN" altLang="en-US" dirty="0">
                <a:solidFill>
                  <a:srgbClr val="008000"/>
                </a:solidFill>
                <a:ea typeface="黑体" panose="02010609060101010101" pitchFamily="49" charset="-122"/>
              </a:rPr>
              <a:t>：评估并调整系统</a:t>
            </a:r>
            <a:endParaRPr lang="zh-CN" altLang="en-US" dirty="0"/>
          </a:p>
        </p:txBody>
      </p:sp>
      <p:sp>
        <p:nvSpPr>
          <p:cNvPr id="3" name="内容占位符 2">
            <a:extLst>
              <a:ext uri="{FF2B5EF4-FFF2-40B4-BE49-F238E27FC236}">
                <a16:creationId xmlns:a16="http://schemas.microsoft.com/office/drawing/2014/main" id="{974E5CB7-7F4D-4503-B50C-8738D4C7F9C4}"/>
              </a:ext>
            </a:extLst>
          </p:cNvPr>
          <p:cNvSpPr>
            <a:spLocks noGrp="1"/>
          </p:cNvSpPr>
          <p:nvPr>
            <p:ph idx="1"/>
          </p:nvPr>
        </p:nvSpPr>
        <p:spPr>
          <a:xfrm>
            <a:off x="983432" y="1340768"/>
            <a:ext cx="10297144" cy="4526632"/>
          </a:xfrm>
        </p:spPr>
        <p:txBody>
          <a:bodyPr/>
          <a:lstStyle/>
          <a:p>
            <a:r>
              <a:rPr lang="zh-CN" altLang="en-US" sz="2800" b="1" dirty="0"/>
              <a:t>此处要看</a:t>
            </a:r>
            <a:r>
              <a:rPr lang="en-US" altLang="zh-CN" sz="2800" b="1" dirty="0"/>
              <a:t>F</a:t>
            </a:r>
            <a:r>
              <a:rPr lang="zh-CN" altLang="en-US" sz="2800" b="1" dirty="0"/>
              <a:t>系统是否满足开始时指定的需求</a:t>
            </a:r>
            <a:endParaRPr lang="en-US" altLang="zh-CN" sz="2800" b="1" dirty="0"/>
          </a:p>
          <a:p>
            <a:r>
              <a:rPr lang="zh-CN" altLang="en-US" sz="2800" b="1" dirty="0"/>
              <a:t>一些测试情形取决于</a:t>
            </a:r>
            <a:r>
              <a:rPr lang="en-US" altLang="zh-CN" sz="2800" b="1" dirty="0"/>
              <a:t>m, s, p</a:t>
            </a:r>
          </a:p>
          <a:p>
            <a:r>
              <a:rPr lang="zh-CN" altLang="en-US" sz="2800" b="1" dirty="0"/>
              <a:t>通常，调试</a:t>
            </a:r>
            <a:r>
              <a:rPr lang="en-US" altLang="zh-CN" sz="2800" b="1" dirty="0"/>
              <a:t>F</a:t>
            </a:r>
            <a:r>
              <a:rPr lang="zh-CN" altLang="en-US" sz="2800" b="1" dirty="0"/>
              <a:t>专家系统花费的时间和精力远超过决定</a:t>
            </a:r>
            <a:r>
              <a:rPr lang="en-US" altLang="zh-CN" sz="2800" b="1" dirty="0"/>
              <a:t>F</a:t>
            </a:r>
            <a:r>
              <a:rPr lang="zh-CN" altLang="en-US" sz="2800" b="1" dirty="0"/>
              <a:t>集和构造</a:t>
            </a:r>
            <a:r>
              <a:rPr lang="en-US" altLang="zh-CN" sz="2800" b="1" dirty="0"/>
              <a:t>F</a:t>
            </a:r>
            <a:r>
              <a:rPr lang="zh-CN" altLang="en-US" sz="2800" b="1" dirty="0"/>
              <a:t>规则所花的时间和精力。</a:t>
            </a:r>
            <a:endParaRPr lang="en-US" altLang="zh-CN" sz="2800" b="1" dirty="0"/>
          </a:p>
          <a:p>
            <a:r>
              <a:rPr lang="zh-CN" altLang="en-US" sz="2800" b="1" dirty="0"/>
              <a:t>若多次调整后，专家可能对系统的性能还是不满意，为提高性能，专家可能建议在</a:t>
            </a:r>
            <a:r>
              <a:rPr lang="zh-CN" altLang="en-US" sz="2800" b="1" dirty="0">
                <a:solidFill>
                  <a:srgbClr val="3333FF"/>
                </a:solidFill>
              </a:rPr>
              <a:t>服务员人数</a:t>
            </a:r>
            <a:r>
              <a:rPr lang="en-US" altLang="zh-CN" sz="2800" b="1" dirty="0">
                <a:solidFill>
                  <a:srgbClr val="3333FF"/>
                </a:solidFill>
              </a:rPr>
              <a:t>s</a:t>
            </a:r>
            <a:r>
              <a:rPr lang="zh-CN" altLang="en-US" sz="2800" b="1" dirty="0"/>
              <a:t>的论域上增加集合</a:t>
            </a:r>
            <a:r>
              <a:rPr lang="en-US" altLang="zh-CN" sz="2800" b="1" dirty="0">
                <a:solidFill>
                  <a:srgbClr val="FF0000"/>
                </a:solidFill>
              </a:rPr>
              <a:t>RS</a:t>
            </a:r>
            <a:r>
              <a:rPr lang="zh-CN" altLang="en-US" sz="2800" b="1" dirty="0"/>
              <a:t>、</a:t>
            </a:r>
            <a:r>
              <a:rPr lang="en-US" altLang="zh-CN" sz="2800" b="1" dirty="0">
                <a:solidFill>
                  <a:srgbClr val="3333FF"/>
                </a:solidFill>
              </a:rPr>
              <a:t>RL</a:t>
            </a:r>
            <a:r>
              <a:rPr lang="zh-CN" altLang="en-US" sz="2800" b="1" dirty="0"/>
              <a:t>来改进系统的性能</a:t>
            </a:r>
            <a:endParaRPr lang="en-US" altLang="zh-CN" sz="2800" b="1" dirty="0"/>
          </a:p>
          <a:p>
            <a:endParaRPr lang="zh-CN" altLang="en-US" sz="2800" dirty="0"/>
          </a:p>
          <a:p>
            <a:endParaRPr lang="zh-CN" altLang="en-US" dirty="0"/>
          </a:p>
        </p:txBody>
      </p:sp>
      <p:pic>
        <p:nvPicPr>
          <p:cNvPr id="4" name="图片 3">
            <a:extLst>
              <a:ext uri="{FF2B5EF4-FFF2-40B4-BE49-F238E27FC236}">
                <a16:creationId xmlns:a16="http://schemas.microsoft.com/office/drawing/2014/main" id="{A1FE7756-1F77-4703-AF66-C54C3F0E1F7D}"/>
              </a:ext>
            </a:extLst>
          </p:cNvPr>
          <p:cNvPicPr>
            <a:picLocks noChangeAspect="1"/>
          </p:cNvPicPr>
          <p:nvPr/>
        </p:nvPicPr>
        <p:blipFill>
          <a:blip r:embed="rId3"/>
          <a:stretch>
            <a:fillRect/>
          </a:stretch>
        </p:blipFill>
        <p:spPr>
          <a:xfrm>
            <a:off x="2567608" y="4653136"/>
            <a:ext cx="5400600" cy="2204864"/>
          </a:xfrm>
          <a:prstGeom prst="rect">
            <a:avLst/>
          </a:prstGeom>
        </p:spPr>
      </p:pic>
      <p:sp>
        <p:nvSpPr>
          <p:cNvPr id="6" name="灯片编号占位符 5">
            <a:extLst>
              <a:ext uri="{FF2B5EF4-FFF2-40B4-BE49-F238E27FC236}">
                <a16:creationId xmlns:a16="http://schemas.microsoft.com/office/drawing/2014/main" id="{3423BB0A-D791-BC6F-00A0-B26D5F99495C}"/>
              </a:ext>
            </a:extLst>
          </p:cNvPr>
          <p:cNvSpPr>
            <a:spLocks noGrp="1"/>
          </p:cNvSpPr>
          <p:nvPr>
            <p:ph type="sldNum" sz="quarter" idx="11"/>
          </p:nvPr>
        </p:nvSpPr>
        <p:spPr/>
        <p:txBody>
          <a:bodyPr/>
          <a:lstStyle/>
          <a:p>
            <a:pPr>
              <a:defRPr/>
            </a:pPr>
            <a:fld id="{1F3E0329-027F-44B1-A42A-8643FF593956}" type="slidenum">
              <a:rPr lang="en-US" altLang="zh-CN" smtClean="0"/>
              <a:pPr>
                <a:defRPr/>
              </a:pPr>
              <a:t>95</a:t>
            </a:fld>
            <a:endParaRPr lang="en-US" altLang="zh-CN"/>
          </a:p>
        </p:txBody>
      </p:sp>
      <p:grpSp>
        <p:nvGrpSpPr>
          <p:cNvPr id="18" name="组合 17">
            <a:extLst>
              <a:ext uri="{FF2B5EF4-FFF2-40B4-BE49-F238E27FC236}">
                <a16:creationId xmlns:a16="http://schemas.microsoft.com/office/drawing/2014/main" id="{16513D12-1D8C-89CD-566E-9947773D4536}"/>
              </a:ext>
            </a:extLst>
          </p:cNvPr>
          <p:cNvGrpSpPr/>
          <p:nvPr/>
        </p:nvGrpSpPr>
        <p:grpSpPr>
          <a:xfrm>
            <a:off x="5735960" y="4797152"/>
            <a:ext cx="1368152" cy="1800200"/>
            <a:chOff x="5735960" y="4797152"/>
            <a:chExt cx="1368152" cy="1800200"/>
          </a:xfrm>
        </p:grpSpPr>
        <p:cxnSp>
          <p:nvCxnSpPr>
            <p:cNvPr id="9" name="直接连接符 8">
              <a:extLst>
                <a:ext uri="{FF2B5EF4-FFF2-40B4-BE49-F238E27FC236}">
                  <a16:creationId xmlns:a16="http://schemas.microsoft.com/office/drawing/2014/main" id="{41BD183B-E42E-B42C-82DB-CACA677C0820}"/>
                </a:ext>
              </a:extLst>
            </p:cNvPr>
            <p:cNvCxnSpPr>
              <a:cxnSpLocks/>
            </p:cNvCxnSpPr>
            <p:nvPr/>
          </p:nvCxnSpPr>
          <p:spPr>
            <a:xfrm flipV="1">
              <a:off x="5735960" y="4797152"/>
              <a:ext cx="696053" cy="1800200"/>
            </a:xfrm>
            <a:prstGeom prst="line">
              <a:avLst/>
            </a:prstGeom>
            <a:ln>
              <a:solidFill>
                <a:srgbClr val="33CCFF"/>
              </a:solidFill>
            </a:ln>
          </p:spPr>
          <p:style>
            <a:lnRef idx="3">
              <a:schemeClr val="dk1"/>
            </a:lnRef>
            <a:fillRef idx="0">
              <a:schemeClr val="dk1"/>
            </a:fillRef>
            <a:effectRef idx="2">
              <a:schemeClr val="dk1"/>
            </a:effectRef>
            <a:fontRef idx="minor">
              <a:schemeClr val="tx1"/>
            </a:fontRef>
          </p:style>
        </p:cxnSp>
        <p:cxnSp>
          <p:nvCxnSpPr>
            <p:cNvPr id="11" name="直接连接符 10">
              <a:extLst>
                <a:ext uri="{FF2B5EF4-FFF2-40B4-BE49-F238E27FC236}">
                  <a16:creationId xmlns:a16="http://schemas.microsoft.com/office/drawing/2014/main" id="{E85BFBFB-ED04-75FF-2C24-FECAC3F221A7}"/>
                </a:ext>
              </a:extLst>
            </p:cNvPr>
            <p:cNvCxnSpPr>
              <a:cxnSpLocks/>
            </p:cNvCxnSpPr>
            <p:nvPr/>
          </p:nvCxnSpPr>
          <p:spPr>
            <a:xfrm>
              <a:off x="6432013" y="4797152"/>
              <a:ext cx="672099" cy="1800200"/>
            </a:xfrm>
            <a:prstGeom prst="line">
              <a:avLst/>
            </a:prstGeom>
            <a:ln>
              <a:solidFill>
                <a:srgbClr val="33CCFF"/>
              </a:solidFill>
            </a:ln>
          </p:spPr>
          <p:style>
            <a:lnRef idx="3">
              <a:schemeClr val="dk1"/>
            </a:lnRef>
            <a:fillRef idx="0">
              <a:schemeClr val="dk1"/>
            </a:fillRef>
            <a:effectRef idx="2">
              <a:schemeClr val="dk1"/>
            </a:effectRef>
            <a:fontRef idx="minor">
              <a:schemeClr val="tx1"/>
            </a:fontRef>
          </p:style>
        </p:cxnSp>
      </p:grpSp>
      <p:grpSp>
        <p:nvGrpSpPr>
          <p:cNvPr id="17" name="组合 16">
            <a:extLst>
              <a:ext uri="{FF2B5EF4-FFF2-40B4-BE49-F238E27FC236}">
                <a16:creationId xmlns:a16="http://schemas.microsoft.com/office/drawing/2014/main" id="{4D167431-7F61-E1C5-9750-8BBEB7FF60CF}"/>
              </a:ext>
            </a:extLst>
          </p:cNvPr>
          <p:cNvGrpSpPr/>
          <p:nvPr/>
        </p:nvGrpSpPr>
        <p:grpSpPr>
          <a:xfrm>
            <a:off x="3863752" y="4797152"/>
            <a:ext cx="1416170" cy="1800200"/>
            <a:chOff x="3863752" y="4797152"/>
            <a:chExt cx="1416170" cy="1800200"/>
          </a:xfrm>
        </p:grpSpPr>
        <p:cxnSp>
          <p:nvCxnSpPr>
            <p:cNvPr id="8" name="直接连接符 7">
              <a:extLst>
                <a:ext uri="{FF2B5EF4-FFF2-40B4-BE49-F238E27FC236}">
                  <a16:creationId xmlns:a16="http://schemas.microsoft.com/office/drawing/2014/main" id="{D4D699BF-0798-9E12-4A25-9A850786FD02}"/>
                </a:ext>
              </a:extLst>
            </p:cNvPr>
            <p:cNvCxnSpPr/>
            <p:nvPr/>
          </p:nvCxnSpPr>
          <p:spPr>
            <a:xfrm flipV="1">
              <a:off x="3863752" y="4797152"/>
              <a:ext cx="720080" cy="18002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6" name="直接连接符 15">
              <a:extLst>
                <a:ext uri="{FF2B5EF4-FFF2-40B4-BE49-F238E27FC236}">
                  <a16:creationId xmlns:a16="http://schemas.microsoft.com/office/drawing/2014/main" id="{C040893A-CFA7-E6C0-57BF-06259DA358B6}"/>
                </a:ext>
              </a:extLst>
            </p:cNvPr>
            <p:cNvCxnSpPr>
              <a:cxnSpLocks/>
            </p:cNvCxnSpPr>
            <p:nvPr/>
          </p:nvCxnSpPr>
          <p:spPr>
            <a:xfrm>
              <a:off x="4583832" y="4797152"/>
              <a:ext cx="696090" cy="180020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654107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par>
                          <p:cTn id="34" fill="hold">
                            <p:stCondLst>
                              <p:cond delay="500"/>
                            </p:stCondLst>
                            <p:childTnLst>
                              <p:par>
                                <p:cTn id="35" presetID="10" presetClass="entr" presetSubtype="0" fill="hold" nodeType="after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4E04A5-BEE3-49D6-B11D-9024ECA47749}"/>
              </a:ext>
            </a:extLst>
          </p:cNvPr>
          <p:cNvSpPr>
            <a:spLocks noGrp="1"/>
          </p:cNvSpPr>
          <p:nvPr>
            <p:ph type="title"/>
          </p:nvPr>
        </p:nvSpPr>
        <p:spPr>
          <a:xfrm>
            <a:off x="1965902" y="404664"/>
            <a:ext cx="8229600" cy="883568"/>
          </a:xfrm>
        </p:spPr>
        <p:txBody>
          <a:bodyPr/>
          <a:lstStyle/>
          <a:p>
            <a:pPr algn="ctr"/>
            <a:r>
              <a:rPr lang="zh-CN" altLang="en-US" dirty="0">
                <a:solidFill>
                  <a:srgbClr val="008000"/>
                </a:solidFill>
                <a:ea typeface="黑体" panose="02010609060101010101" pitchFamily="49" charset="-122"/>
              </a:rPr>
              <a:t>改进后规则库的立方体表示</a:t>
            </a:r>
            <a:endParaRPr lang="zh-CN" altLang="en-US" dirty="0"/>
          </a:p>
        </p:txBody>
      </p:sp>
      <p:pic>
        <p:nvPicPr>
          <p:cNvPr id="4" name="图片 3">
            <a:extLst>
              <a:ext uri="{FF2B5EF4-FFF2-40B4-BE49-F238E27FC236}">
                <a16:creationId xmlns:a16="http://schemas.microsoft.com/office/drawing/2014/main" id="{A87D8A54-B991-4B39-BDD4-3C6AD36FB061}"/>
              </a:ext>
            </a:extLst>
          </p:cNvPr>
          <p:cNvPicPr>
            <a:picLocks noChangeAspect="1"/>
          </p:cNvPicPr>
          <p:nvPr/>
        </p:nvPicPr>
        <p:blipFill>
          <a:blip r:embed="rId2"/>
          <a:stretch>
            <a:fillRect/>
          </a:stretch>
        </p:blipFill>
        <p:spPr>
          <a:xfrm>
            <a:off x="1703512" y="1214102"/>
            <a:ext cx="6077798" cy="5630061"/>
          </a:xfrm>
          <a:prstGeom prst="rect">
            <a:avLst/>
          </a:prstGeom>
        </p:spPr>
      </p:pic>
      <p:pic>
        <p:nvPicPr>
          <p:cNvPr id="5" name="图片 4">
            <a:extLst>
              <a:ext uri="{FF2B5EF4-FFF2-40B4-BE49-F238E27FC236}">
                <a16:creationId xmlns:a16="http://schemas.microsoft.com/office/drawing/2014/main" id="{02F483F2-4BE6-4FA4-9EED-DADBD3D41F52}"/>
              </a:ext>
            </a:extLst>
          </p:cNvPr>
          <p:cNvPicPr>
            <a:picLocks noChangeAspect="1"/>
          </p:cNvPicPr>
          <p:nvPr/>
        </p:nvPicPr>
        <p:blipFill>
          <a:blip r:embed="rId3"/>
          <a:stretch>
            <a:fillRect/>
          </a:stretch>
        </p:blipFill>
        <p:spPr>
          <a:xfrm>
            <a:off x="8218972" y="1214102"/>
            <a:ext cx="2956590" cy="2152256"/>
          </a:xfrm>
          <a:prstGeom prst="rect">
            <a:avLst/>
          </a:prstGeom>
        </p:spPr>
      </p:pic>
      <p:pic>
        <p:nvPicPr>
          <p:cNvPr id="6" name="图片 5">
            <a:extLst>
              <a:ext uri="{FF2B5EF4-FFF2-40B4-BE49-F238E27FC236}">
                <a16:creationId xmlns:a16="http://schemas.microsoft.com/office/drawing/2014/main" id="{E0ADF009-B239-4D42-9835-E675A2F9DCCB}"/>
              </a:ext>
            </a:extLst>
          </p:cNvPr>
          <p:cNvPicPr>
            <a:picLocks noChangeAspect="1"/>
          </p:cNvPicPr>
          <p:nvPr/>
        </p:nvPicPr>
        <p:blipFill>
          <a:blip r:embed="rId4"/>
          <a:stretch>
            <a:fillRect/>
          </a:stretch>
        </p:blipFill>
        <p:spPr>
          <a:xfrm>
            <a:off x="7248137" y="3429000"/>
            <a:ext cx="2631467" cy="1749352"/>
          </a:xfrm>
          <a:prstGeom prst="rect">
            <a:avLst/>
          </a:prstGeom>
        </p:spPr>
      </p:pic>
      <p:pic>
        <p:nvPicPr>
          <p:cNvPr id="7" name="图片 6">
            <a:extLst>
              <a:ext uri="{FF2B5EF4-FFF2-40B4-BE49-F238E27FC236}">
                <a16:creationId xmlns:a16="http://schemas.microsoft.com/office/drawing/2014/main" id="{0BBB7323-BA47-43E1-B8C6-22209D8EA1F9}"/>
              </a:ext>
            </a:extLst>
          </p:cNvPr>
          <p:cNvPicPr>
            <a:picLocks noChangeAspect="1"/>
          </p:cNvPicPr>
          <p:nvPr/>
        </p:nvPicPr>
        <p:blipFill>
          <a:blip r:embed="rId5"/>
          <a:stretch>
            <a:fillRect/>
          </a:stretch>
        </p:blipFill>
        <p:spPr>
          <a:xfrm>
            <a:off x="5384232" y="5051738"/>
            <a:ext cx="2474704" cy="1806271"/>
          </a:xfrm>
          <a:prstGeom prst="rect">
            <a:avLst/>
          </a:prstGeom>
        </p:spPr>
      </p:pic>
      <p:sp>
        <p:nvSpPr>
          <p:cNvPr id="3" name="灯片编号占位符 2">
            <a:extLst>
              <a:ext uri="{FF2B5EF4-FFF2-40B4-BE49-F238E27FC236}">
                <a16:creationId xmlns:a16="http://schemas.microsoft.com/office/drawing/2014/main" id="{9DAB217D-68D2-CB90-8827-E33496FB8FE7}"/>
              </a:ext>
            </a:extLst>
          </p:cNvPr>
          <p:cNvSpPr>
            <a:spLocks noGrp="1"/>
          </p:cNvSpPr>
          <p:nvPr>
            <p:ph type="sldNum" sz="quarter" idx="11"/>
          </p:nvPr>
        </p:nvSpPr>
        <p:spPr/>
        <p:txBody>
          <a:bodyPr/>
          <a:lstStyle/>
          <a:p>
            <a:pPr>
              <a:defRPr/>
            </a:pPr>
            <a:fld id="{1F3E0329-027F-44B1-A42A-8643FF593956}" type="slidenum">
              <a:rPr lang="en-US" altLang="zh-CN" smtClean="0"/>
              <a:pPr>
                <a:defRPr/>
              </a:pPr>
              <a:t>96</a:t>
            </a:fld>
            <a:endParaRPr lang="en-US" altLang="zh-CN"/>
          </a:p>
        </p:txBody>
      </p:sp>
    </p:spTree>
    <p:extLst>
      <p:ext uri="{BB962C8B-B14F-4D97-AF65-F5344CB8AC3E}">
        <p14:creationId xmlns:p14="http://schemas.microsoft.com/office/powerpoint/2010/main" val="153903969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02F9E4-31AC-4FBB-871C-2F9B5F8712FE}"/>
              </a:ext>
            </a:extLst>
          </p:cNvPr>
          <p:cNvSpPr>
            <a:spLocks noGrp="1"/>
          </p:cNvSpPr>
          <p:nvPr>
            <p:ph type="title"/>
          </p:nvPr>
        </p:nvSpPr>
        <p:spPr>
          <a:xfrm>
            <a:off x="1981200" y="457200"/>
            <a:ext cx="8229600" cy="739552"/>
          </a:xfrm>
        </p:spPr>
        <p:txBody>
          <a:bodyPr/>
          <a:lstStyle/>
          <a:p>
            <a:pPr algn="ctr"/>
            <a:r>
              <a:rPr lang="zh-CN" altLang="en-US" dirty="0">
                <a:solidFill>
                  <a:srgbClr val="008000"/>
                </a:solidFill>
                <a:latin typeface="+mn-lt"/>
                <a:ea typeface="黑体" panose="02010609060101010101" pitchFamily="49" charset="-122"/>
              </a:rPr>
              <a:t>调整</a:t>
            </a:r>
            <a:r>
              <a:rPr lang="en-US" altLang="zh-CN" dirty="0">
                <a:solidFill>
                  <a:srgbClr val="008000"/>
                </a:solidFill>
                <a:latin typeface="+mn-lt"/>
                <a:ea typeface="黑体" panose="02010609060101010101" pitchFamily="49" charset="-122"/>
              </a:rPr>
              <a:t>F</a:t>
            </a:r>
            <a:r>
              <a:rPr lang="zh-CN" altLang="en-US" dirty="0">
                <a:solidFill>
                  <a:srgbClr val="008000"/>
                </a:solidFill>
                <a:latin typeface="+mn-lt"/>
                <a:ea typeface="黑体" panose="02010609060101010101" pitchFamily="49" charset="-122"/>
              </a:rPr>
              <a:t>专家系统 </a:t>
            </a:r>
          </a:p>
        </p:txBody>
      </p:sp>
      <p:sp>
        <p:nvSpPr>
          <p:cNvPr id="3" name="内容占位符 2">
            <a:extLst>
              <a:ext uri="{FF2B5EF4-FFF2-40B4-BE49-F238E27FC236}">
                <a16:creationId xmlns:a16="http://schemas.microsoft.com/office/drawing/2014/main" id="{38B7D304-910F-45B3-A5C7-F54861620B5A}"/>
              </a:ext>
            </a:extLst>
          </p:cNvPr>
          <p:cNvSpPr>
            <a:spLocks noGrp="1"/>
          </p:cNvSpPr>
          <p:nvPr>
            <p:ph idx="1"/>
          </p:nvPr>
        </p:nvSpPr>
        <p:spPr>
          <a:xfrm>
            <a:off x="1199456" y="1340768"/>
            <a:ext cx="9937104" cy="5256584"/>
          </a:xfrm>
        </p:spPr>
        <p:txBody>
          <a:bodyPr/>
          <a:lstStyle/>
          <a:p>
            <a:pPr marL="514350" indent="-514350">
              <a:buFont typeface="+mj-lt"/>
              <a:buAutoNum type="arabicPeriod"/>
            </a:pPr>
            <a:r>
              <a:rPr lang="zh-CN" altLang="en-US" sz="2800" b="1" dirty="0"/>
              <a:t>回顾模型的输入、输出变量，若有必要要生新定义变量的范围。</a:t>
            </a:r>
            <a:endParaRPr lang="en-US" altLang="zh-CN" sz="2800" b="1" dirty="0"/>
          </a:p>
          <a:p>
            <a:pPr marL="514350" indent="-514350">
              <a:buFont typeface="+mj-lt"/>
              <a:buAutoNum type="arabicPeriod"/>
            </a:pPr>
            <a:r>
              <a:rPr lang="zh-CN" altLang="en-US" sz="2800" b="1" dirty="0"/>
              <a:t>回顾</a:t>
            </a:r>
            <a:r>
              <a:rPr lang="en-US" altLang="zh-CN" sz="2800" b="1" dirty="0"/>
              <a:t>F</a:t>
            </a:r>
            <a:r>
              <a:rPr lang="zh-CN" altLang="en-US" sz="2800" b="1" dirty="0"/>
              <a:t>集，若必要则可在论域上定义附加集合，使用更广泛的</a:t>
            </a:r>
            <a:r>
              <a:rPr lang="en-US" altLang="zh-CN" sz="2800" b="1" dirty="0"/>
              <a:t>F</a:t>
            </a:r>
            <a:r>
              <a:rPr lang="zh-CN" altLang="en-US" sz="2800" b="1" dirty="0"/>
              <a:t>集右能会导致</a:t>
            </a:r>
            <a:r>
              <a:rPr lang="en-US" altLang="zh-CN" sz="2800" b="1" dirty="0"/>
              <a:t>F</a:t>
            </a:r>
            <a:r>
              <a:rPr lang="zh-CN" altLang="en-US" sz="2800" b="1" dirty="0"/>
              <a:t>系统粗略执行。</a:t>
            </a:r>
            <a:endParaRPr lang="en-US" altLang="zh-CN" sz="2800" b="1" dirty="0"/>
          </a:p>
          <a:p>
            <a:pPr marL="514350" indent="-514350">
              <a:buFont typeface="+mj-lt"/>
              <a:buAutoNum type="arabicPeriod"/>
            </a:pPr>
            <a:r>
              <a:rPr lang="zh-CN" altLang="en-US" sz="2800" b="1" dirty="0"/>
              <a:t>相邻集合之间要有足够的重叠。虽然没有精确的方法确定合适的重叠程度，这里建议三角形之间、三角形与梯形之间应有</a:t>
            </a:r>
            <a:r>
              <a:rPr lang="en-US" altLang="zh-CN" sz="2800" b="1" dirty="0"/>
              <a:t>25%~50%</a:t>
            </a:r>
            <a:r>
              <a:rPr lang="zh-CN" altLang="en-US" sz="2800" b="1" dirty="0"/>
              <a:t>的重叠。</a:t>
            </a:r>
            <a:endParaRPr lang="en-US" altLang="zh-CN" sz="2800" b="1" dirty="0"/>
          </a:p>
          <a:p>
            <a:pPr marL="514350" indent="-514350">
              <a:buFont typeface="+mj-lt"/>
              <a:buAutoNum type="arabicPeriod"/>
            </a:pPr>
            <a:r>
              <a:rPr lang="zh-CN" altLang="en-US" sz="2800" b="1" dirty="0"/>
              <a:t>回顾现有规则，若有必要可增加新规则。</a:t>
            </a:r>
            <a:endParaRPr lang="en-US" altLang="zh-CN" sz="2800" b="1" dirty="0"/>
          </a:p>
          <a:p>
            <a:pPr marL="514350" indent="-514350">
              <a:buFont typeface="+mj-lt"/>
              <a:buAutoNum type="arabicPeriod"/>
            </a:pPr>
            <a:r>
              <a:rPr lang="zh-CN" altLang="en-US" sz="2800" b="1" dirty="0"/>
              <a:t>调整规则执行的权重。大多数</a:t>
            </a:r>
            <a:r>
              <a:rPr lang="en-US" altLang="zh-CN" sz="2800" b="1" dirty="0"/>
              <a:t>F</a:t>
            </a:r>
            <a:r>
              <a:rPr lang="zh-CN" altLang="en-US" sz="2800" b="1" dirty="0"/>
              <a:t>逻辑工具允许透过改变权重系数来控制规则的重要性。</a:t>
            </a:r>
            <a:endParaRPr lang="en-US" altLang="zh-CN" sz="2800" b="1" dirty="0"/>
          </a:p>
          <a:p>
            <a:pPr marL="0" indent="0">
              <a:buNone/>
            </a:pPr>
            <a:r>
              <a:rPr lang="zh-CN" altLang="en-US" sz="2800" b="1" dirty="0">
                <a:solidFill>
                  <a:srgbClr val="FF0000"/>
                </a:solidFill>
              </a:rPr>
              <a:t>综上，建立</a:t>
            </a:r>
            <a:r>
              <a:rPr lang="en-US" altLang="zh-CN" sz="2800" b="1" dirty="0">
                <a:solidFill>
                  <a:srgbClr val="FF0000"/>
                </a:solidFill>
              </a:rPr>
              <a:t>F</a:t>
            </a:r>
            <a:r>
              <a:rPr lang="zh-CN" altLang="en-US" sz="2800" b="1" dirty="0">
                <a:solidFill>
                  <a:srgbClr val="FF0000"/>
                </a:solidFill>
              </a:rPr>
              <a:t>专家系统是一个迭代、修改的过程。</a:t>
            </a:r>
          </a:p>
        </p:txBody>
      </p:sp>
      <p:sp>
        <p:nvSpPr>
          <p:cNvPr id="4" name="灯片编号占位符 3">
            <a:extLst>
              <a:ext uri="{FF2B5EF4-FFF2-40B4-BE49-F238E27FC236}">
                <a16:creationId xmlns:a16="http://schemas.microsoft.com/office/drawing/2014/main" id="{42A9EC0A-6840-805A-4D89-C2605B8AF643}"/>
              </a:ext>
            </a:extLst>
          </p:cNvPr>
          <p:cNvSpPr>
            <a:spLocks noGrp="1"/>
          </p:cNvSpPr>
          <p:nvPr>
            <p:ph type="sldNum" sz="quarter" idx="11"/>
          </p:nvPr>
        </p:nvSpPr>
        <p:spPr/>
        <p:txBody>
          <a:bodyPr/>
          <a:lstStyle/>
          <a:p>
            <a:pPr>
              <a:defRPr/>
            </a:pPr>
            <a:fld id="{1F3E0329-027F-44B1-A42A-8643FF593956}" type="slidenum">
              <a:rPr lang="en-US" altLang="zh-CN" smtClean="0"/>
              <a:pPr>
                <a:defRPr/>
              </a:pPr>
              <a:t>97</a:t>
            </a:fld>
            <a:endParaRPr lang="en-US" altLang="zh-CN"/>
          </a:p>
        </p:txBody>
      </p:sp>
    </p:spTree>
    <p:extLst>
      <p:ext uri="{BB962C8B-B14F-4D97-AF65-F5344CB8AC3E}">
        <p14:creationId xmlns:p14="http://schemas.microsoft.com/office/powerpoint/2010/main" val="1489205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127000"/>
            <a:ext cx="10668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400" i="0" u="none" strike="noStrike" dirty="0" err="1">
                <a:solidFill>
                  <a:srgbClr val="008000"/>
                </a:solidFill>
                <a:latin typeface="黑体" panose="02010609060101010101" pitchFamily="49" charset="-122"/>
                <a:ea typeface="黑体" panose="02010609060101010101" pitchFamily="49" charset="-122"/>
                <a:cs typeface="Noto Sans SC"/>
                <a:sym typeface="Noto Sans SC"/>
              </a:rPr>
              <a:t>挑战与趋势</a:t>
            </a:r>
            <a:endParaRPr lang="en-US" sz="4400" dirty="0">
              <a:solidFill>
                <a:srgbClr val="008000"/>
              </a:solidFill>
              <a:latin typeface="黑体" panose="02010609060101010101" pitchFamily="49" charset="-122"/>
              <a:ea typeface="黑体" panose="02010609060101010101" pitchFamily="49" charset="-122"/>
            </a:endParaRPr>
          </a:p>
        </p:txBody>
      </p:sp>
      <p:sp>
        <p:nvSpPr>
          <p:cNvPr id="5" name="AutoShape 5"/>
          <p:cNvSpPr/>
          <p:nvPr/>
        </p:nvSpPr>
        <p:spPr>
          <a:xfrm>
            <a:off x="762000" y="1524000"/>
            <a:ext cx="5638208" cy="573730"/>
          </a:xfrm>
          <a:prstGeom prst="roundRect">
            <a:avLst>
              <a:gd name="adj" fmla="val 0"/>
            </a:avLst>
          </a:prstGeom>
          <a:solidFill>
            <a:srgbClr val="4FD1C5">
              <a:alpha val="20000"/>
            </a:srgbClr>
          </a:solidFill>
          <a:ln w="25400" cap="flat" cmpd="sng">
            <a:noFill/>
            <a:prstDash val="solid"/>
            <a:round/>
          </a:ln>
        </p:spPr>
        <p:txBody>
          <a:bodyPr vert="horz" wrap="square" lIns="63500" tIns="63500" rIns="63500" bIns="63500" rtlCol="0" anchor="ctr"/>
          <a:lstStyle/>
          <a:p>
            <a:pPr algn="ctr">
              <a:defRPr/>
            </a:pPr>
            <a:endParaRPr sz="2400"/>
          </a:p>
        </p:txBody>
      </p:sp>
      <p:pic>
        <p:nvPicPr>
          <p:cNvPr id="8" name="Picture 8"/>
          <p:cNvPicPr>
            <a:picLocks noChangeAspect="1"/>
          </p:cNvPicPr>
          <p:nvPr/>
        </p:nvPicPr>
        <p:blipFill>
          <a:blip r:embed="rId3"/>
          <a:srcRect l="3408" t="48062" r="71762"/>
          <a:stretch>
            <a:fillRect/>
          </a:stretch>
        </p:blipFill>
        <p:spPr>
          <a:xfrm>
            <a:off x="9594519" y="789425"/>
            <a:ext cx="1759709" cy="1286258"/>
          </a:xfrm>
          <a:prstGeom prst="rect">
            <a:avLst/>
          </a:prstGeom>
          <a:noFill/>
          <a:ln w="25400" cap="flat" cmpd="sng">
            <a:noFill/>
            <a:prstDash val="solid"/>
            <a:round/>
          </a:ln>
        </p:spPr>
      </p:pic>
      <p:sp>
        <p:nvSpPr>
          <p:cNvPr id="11" name="AutoShape 11"/>
          <p:cNvSpPr/>
          <p:nvPr/>
        </p:nvSpPr>
        <p:spPr>
          <a:xfrm>
            <a:off x="817318" y="2146498"/>
            <a:ext cx="8231010" cy="1600002"/>
          </a:xfrm>
          <a:prstGeom prst="rect">
            <a:avLst/>
          </a:prstGeom>
          <a:noFill/>
          <a:ln w="12700" cap="flat" cmpd="sng">
            <a:noFill/>
            <a:prstDash val="solid"/>
            <a:round/>
          </a:ln>
        </p:spPr>
        <p:txBody>
          <a:bodyPr vert="horz" wrap="square" lIns="0" tIns="0" rIns="0" bIns="0" rtlCol="0" anchor="ctr" anchorCtr="0"/>
          <a:lstStyle/>
          <a:p>
            <a:pPr marL="457200" indent="-457200" algn="l">
              <a:lnSpc>
                <a:spcPct val="100000"/>
              </a:lnSpc>
              <a:buFont typeface="Wingdings" panose="05000000000000000000" pitchFamily="2" charset="2"/>
              <a:buChar char="Ø"/>
              <a:defRPr/>
            </a:pPr>
            <a:r>
              <a:rPr lang="en-US" sz="3200" b="1" i="0" u="none" strike="noStrike" dirty="0" err="1">
                <a:solidFill>
                  <a:srgbClr val="FF0000"/>
                </a:solidFill>
                <a:latin typeface="黑体" panose="02010609060101010101" pitchFamily="49" charset="-122"/>
                <a:ea typeface="黑体" panose="02010609060101010101" pitchFamily="49" charset="-122"/>
                <a:cs typeface="Noto Sans SC"/>
                <a:sym typeface="Noto Sans SC"/>
              </a:rPr>
              <a:t>维度灾难</a:t>
            </a:r>
            <a:endParaRPr lang="en-US" sz="3200" b="1" i="0" u="none" strike="noStrike" dirty="0">
              <a:solidFill>
                <a:srgbClr val="FF0000"/>
              </a:solidFill>
              <a:latin typeface="黑体" panose="02010609060101010101" pitchFamily="49" charset="-122"/>
              <a:ea typeface="黑体" panose="02010609060101010101" pitchFamily="49" charset="-122"/>
              <a:cs typeface="Noto Sans SC"/>
              <a:sym typeface="Noto Sans SC"/>
            </a:endParaRPr>
          </a:p>
          <a:p>
            <a:pPr algn="l">
              <a:lnSpc>
                <a:spcPct val="100000"/>
              </a:lnSpc>
              <a:defRPr/>
            </a:pPr>
            <a:r>
              <a:rPr lang="en-US" sz="2400" b="0" i="0" u="none" strike="noStrike" dirty="0">
                <a:solidFill>
                  <a:srgbClr val="4A5568"/>
                </a:solidFill>
                <a:latin typeface="黑体" panose="02010609060101010101" pitchFamily="49" charset="-122"/>
                <a:ea typeface="黑体" panose="02010609060101010101" pitchFamily="49" charset="-122"/>
                <a:cs typeface="Noto Sans SC"/>
                <a:sym typeface="Noto Sans SC"/>
              </a:rPr>
              <a:t>   </a:t>
            </a:r>
            <a:r>
              <a:rPr lang="en-US" sz="2800" b="0" i="0" u="none" strike="noStrike" dirty="0" err="1">
                <a:latin typeface="黑体" panose="02010609060101010101" pitchFamily="49" charset="-122"/>
                <a:ea typeface="黑体" panose="02010609060101010101" pitchFamily="49" charset="-122"/>
                <a:cs typeface="Noto Sans SC"/>
                <a:sym typeface="Noto Sans SC"/>
              </a:rPr>
              <a:t>规则数量随输入变量指数级增长，导致规则库迅速膨胀，系统维护与管理变得异常困难</a:t>
            </a:r>
            <a:r>
              <a:rPr lang="en-US" sz="2800" b="0" i="0" u="none" strike="noStrike" dirty="0">
                <a:latin typeface="黑体" panose="02010609060101010101" pitchFamily="49" charset="-122"/>
                <a:ea typeface="黑体" panose="02010609060101010101" pitchFamily="49" charset="-122"/>
                <a:cs typeface="Noto Sans SC"/>
                <a:sym typeface="Noto Sans SC"/>
              </a:rPr>
              <a:t>。</a:t>
            </a:r>
            <a:endParaRPr lang="en-US" sz="2400" dirty="0">
              <a:latin typeface="黑体" panose="02010609060101010101" pitchFamily="49" charset="-122"/>
              <a:ea typeface="黑体" panose="02010609060101010101" pitchFamily="49" charset="-122"/>
            </a:endParaRPr>
          </a:p>
        </p:txBody>
      </p:sp>
      <p:sp>
        <p:nvSpPr>
          <p:cNvPr id="14" name="AutoShape 14"/>
          <p:cNvSpPr/>
          <p:nvPr/>
        </p:nvSpPr>
        <p:spPr>
          <a:xfrm>
            <a:off x="762000" y="3824732"/>
            <a:ext cx="8231010" cy="1333500"/>
          </a:xfrm>
          <a:prstGeom prst="rect">
            <a:avLst/>
          </a:prstGeom>
          <a:noFill/>
          <a:ln w="12700" cap="flat" cmpd="sng">
            <a:noFill/>
            <a:prstDash val="solid"/>
            <a:round/>
          </a:ln>
        </p:spPr>
        <p:txBody>
          <a:bodyPr vert="horz" wrap="square" lIns="0" tIns="0" rIns="0" bIns="0" rtlCol="0" anchor="ctr" anchorCtr="0"/>
          <a:lstStyle/>
          <a:p>
            <a:pPr marL="457200" indent="-457200" algn="l">
              <a:lnSpc>
                <a:spcPct val="100000"/>
              </a:lnSpc>
              <a:buFont typeface="Wingdings" panose="05000000000000000000" pitchFamily="2" charset="2"/>
              <a:buChar char="Ø"/>
              <a:defRPr/>
            </a:pPr>
            <a:r>
              <a:rPr lang="en-US" sz="2800" b="1" i="0" u="none" strike="noStrike" dirty="0" err="1">
                <a:solidFill>
                  <a:srgbClr val="3333FF"/>
                </a:solidFill>
                <a:latin typeface="黑体" panose="02010609060101010101" pitchFamily="49" charset="-122"/>
                <a:ea typeface="黑体" panose="02010609060101010101" pitchFamily="49" charset="-122"/>
                <a:cs typeface="Noto Sans SC"/>
                <a:sym typeface="Noto Sans SC"/>
              </a:rPr>
              <a:t>知识获取瓶颈</a:t>
            </a:r>
            <a:br>
              <a:rPr lang="en-US" sz="2800" b="0" i="0" u="none" strike="noStrike" dirty="0">
                <a:solidFill>
                  <a:srgbClr val="1F2329"/>
                </a:solidFill>
                <a:latin typeface="黑体" panose="02010609060101010101" pitchFamily="49" charset="-122"/>
                <a:ea typeface="黑体" panose="02010609060101010101" pitchFamily="49" charset="-122"/>
                <a:cs typeface="Noto Sans SC"/>
                <a:sym typeface="Noto Sans SC"/>
              </a:rPr>
            </a:br>
            <a:r>
              <a:rPr lang="en-US" sz="2800" b="0" i="0" u="none" strike="noStrike" dirty="0" err="1">
                <a:latin typeface="黑体" panose="02010609060101010101" pitchFamily="49" charset="-122"/>
                <a:ea typeface="黑体" panose="02010609060101010101" pitchFamily="49" charset="-122"/>
                <a:cs typeface="Noto Sans SC"/>
                <a:sym typeface="Noto Sans SC"/>
              </a:rPr>
              <a:t>传统构建高度依赖专家知识，不仅耗时昂贵，还难以覆盖复杂场景</a:t>
            </a:r>
            <a:r>
              <a:rPr lang="en-US" sz="2800" b="0" i="0" u="none" strike="noStrike" dirty="0">
                <a:latin typeface="黑体" panose="02010609060101010101" pitchFamily="49" charset="-122"/>
                <a:ea typeface="黑体" panose="02010609060101010101" pitchFamily="49" charset="-122"/>
                <a:cs typeface="Noto Sans SC"/>
                <a:sym typeface="Noto Sans SC"/>
              </a:rPr>
              <a:t>。</a:t>
            </a:r>
            <a:endParaRPr lang="en-US" sz="2800" dirty="0">
              <a:latin typeface="黑体" panose="02010609060101010101" pitchFamily="49" charset="-122"/>
              <a:ea typeface="黑体" panose="02010609060101010101" pitchFamily="49" charset="-122"/>
            </a:endParaRPr>
          </a:p>
        </p:txBody>
      </p:sp>
      <p:sp>
        <p:nvSpPr>
          <p:cNvPr id="15" name="AutoShape 15"/>
          <p:cNvSpPr/>
          <p:nvPr/>
        </p:nvSpPr>
        <p:spPr>
          <a:xfrm>
            <a:off x="3365500" y="5461000"/>
            <a:ext cx="24765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latin typeface="黑体" panose="02010609060101010101" pitchFamily="49" charset="-122"/>
              <a:ea typeface="黑体" panose="02010609060101010101" pitchFamily="49" charset="-122"/>
            </a:endParaRPr>
          </a:p>
        </p:txBody>
      </p:sp>
      <p:sp>
        <p:nvSpPr>
          <p:cNvPr id="17" name="AutoShape 17"/>
          <p:cNvSpPr/>
          <p:nvPr/>
        </p:nvSpPr>
        <p:spPr>
          <a:xfrm>
            <a:off x="794440" y="5334000"/>
            <a:ext cx="8064896" cy="1333500"/>
          </a:xfrm>
          <a:prstGeom prst="rect">
            <a:avLst/>
          </a:prstGeom>
          <a:noFill/>
          <a:ln w="12700" cap="flat" cmpd="sng">
            <a:noFill/>
            <a:prstDash val="solid"/>
            <a:round/>
          </a:ln>
        </p:spPr>
        <p:txBody>
          <a:bodyPr vert="horz" wrap="square" lIns="0" tIns="0" rIns="0" bIns="0" rtlCol="0" anchor="ctr" anchorCtr="0"/>
          <a:lstStyle/>
          <a:p>
            <a:pPr marL="457200" indent="-457200" algn="l">
              <a:lnSpc>
                <a:spcPct val="100000"/>
              </a:lnSpc>
              <a:buFont typeface="Wingdings" panose="05000000000000000000" pitchFamily="2" charset="2"/>
              <a:buChar char="Ø"/>
              <a:defRPr/>
            </a:pPr>
            <a:r>
              <a:rPr lang="en-US" sz="2800" b="1" i="0" u="none" strike="noStrike" dirty="0" err="1">
                <a:solidFill>
                  <a:srgbClr val="CC00CC"/>
                </a:solidFill>
                <a:latin typeface="黑体" panose="02010609060101010101" pitchFamily="49" charset="-122"/>
                <a:ea typeface="黑体" panose="02010609060101010101" pitchFamily="49" charset="-122"/>
                <a:cs typeface="Noto Sans SC"/>
                <a:sym typeface="Noto Sans SC"/>
              </a:rPr>
              <a:t>可解释性权衡</a:t>
            </a:r>
            <a:br>
              <a:rPr lang="en-US" sz="2800" b="0" i="0" u="none" strike="noStrike" dirty="0">
                <a:solidFill>
                  <a:srgbClr val="1F2329"/>
                </a:solidFill>
                <a:latin typeface="黑体" panose="02010609060101010101" pitchFamily="49" charset="-122"/>
                <a:ea typeface="黑体" panose="02010609060101010101" pitchFamily="49" charset="-122"/>
                <a:cs typeface="Noto Sans SC"/>
                <a:sym typeface="Noto Sans SC"/>
              </a:rPr>
            </a:br>
            <a:r>
              <a:rPr lang="en-US" sz="2800" b="0" i="0" u="none" strike="noStrike" dirty="0" err="1">
                <a:latin typeface="黑体" panose="02010609060101010101" pitchFamily="49" charset="-122"/>
                <a:ea typeface="黑体" panose="02010609060101010101" pitchFamily="49" charset="-122"/>
                <a:cs typeface="Noto Sans SC"/>
                <a:sym typeface="Noto Sans SC"/>
              </a:rPr>
              <a:t>模型优化与规则复杂化往往牺牲了透明度，导致决策逻辑难以被人类理解</a:t>
            </a:r>
            <a:r>
              <a:rPr lang="en-US" sz="2800" b="0" i="0" u="none" strike="noStrike" dirty="0">
                <a:latin typeface="黑体" panose="02010609060101010101" pitchFamily="49" charset="-122"/>
                <a:ea typeface="黑体" panose="02010609060101010101" pitchFamily="49" charset="-122"/>
                <a:cs typeface="Noto Sans SC"/>
                <a:sym typeface="Noto Sans SC"/>
              </a:rPr>
              <a:t>。</a:t>
            </a:r>
            <a:endParaRPr lang="en-US" sz="2800" dirty="0">
              <a:latin typeface="黑体" panose="02010609060101010101" pitchFamily="49" charset="-122"/>
              <a:ea typeface="黑体" panose="02010609060101010101" pitchFamily="49" charset="-122"/>
            </a:endParaRPr>
          </a:p>
        </p:txBody>
      </p:sp>
      <p:pic>
        <p:nvPicPr>
          <p:cNvPr id="34" name="Picture 8">
            <a:extLst>
              <a:ext uri="{FF2B5EF4-FFF2-40B4-BE49-F238E27FC236}">
                <a16:creationId xmlns:a16="http://schemas.microsoft.com/office/drawing/2014/main" id="{4CB7883C-DF58-8498-0071-9158F1EE5224}"/>
              </a:ext>
            </a:extLst>
          </p:cNvPr>
          <p:cNvPicPr>
            <a:picLocks noChangeAspect="1"/>
          </p:cNvPicPr>
          <p:nvPr/>
        </p:nvPicPr>
        <p:blipFill>
          <a:blip r:embed="rId3"/>
          <a:srcRect l="30268" t="5128" r="37392"/>
          <a:stretch>
            <a:fillRect/>
          </a:stretch>
        </p:blipFill>
        <p:spPr>
          <a:xfrm>
            <a:off x="9236124" y="1877568"/>
            <a:ext cx="2291928" cy="2349500"/>
          </a:xfrm>
          <a:prstGeom prst="rect">
            <a:avLst/>
          </a:prstGeom>
          <a:noFill/>
          <a:ln w="25400" cap="flat" cmpd="sng">
            <a:noFill/>
            <a:prstDash val="solid"/>
            <a:round/>
          </a:ln>
        </p:spPr>
      </p:pic>
      <p:pic>
        <p:nvPicPr>
          <p:cNvPr id="35" name="Picture 8">
            <a:extLst>
              <a:ext uri="{FF2B5EF4-FFF2-40B4-BE49-F238E27FC236}">
                <a16:creationId xmlns:a16="http://schemas.microsoft.com/office/drawing/2014/main" id="{1FA8E12D-9784-CEB2-044E-F69B8B98F2BD}"/>
              </a:ext>
            </a:extLst>
          </p:cNvPr>
          <p:cNvPicPr>
            <a:picLocks noChangeAspect="1"/>
          </p:cNvPicPr>
          <p:nvPr/>
        </p:nvPicPr>
        <p:blipFill>
          <a:blip r:embed="rId3"/>
          <a:srcRect l="61648" r="3408"/>
          <a:stretch>
            <a:fillRect/>
          </a:stretch>
        </p:blipFill>
        <p:spPr>
          <a:xfrm>
            <a:off x="9236124" y="4381499"/>
            <a:ext cx="2476500" cy="2476501"/>
          </a:xfrm>
          <a:prstGeom prst="rect">
            <a:avLst/>
          </a:prstGeom>
          <a:noFill/>
          <a:ln w="25400" cap="flat" cmpd="sng">
            <a:noFill/>
            <a:prstDash val="solid"/>
            <a:round/>
          </a:ln>
        </p:spPr>
      </p:pic>
      <p:sp>
        <p:nvSpPr>
          <p:cNvPr id="7" name="AutoShape 7"/>
          <p:cNvSpPr/>
          <p:nvPr/>
        </p:nvSpPr>
        <p:spPr>
          <a:xfrm>
            <a:off x="920453" y="1484774"/>
            <a:ext cx="5397502" cy="51715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2D3748"/>
                </a:solidFill>
                <a:latin typeface="黑体" panose="02010609060101010101" pitchFamily="49" charset="-122"/>
                <a:ea typeface="黑体" panose="02010609060101010101" pitchFamily="49" charset="-122"/>
                <a:cs typeface="Noto Sans SC"/>
                <a:sym typeface="Noto Sans SC"/>
              </a:rPr>
              <a:t>当前挑战：发展的瓶颈与痛点</a:t>
            </a:r>
            <a:endParaRPr lang="en-US" sz="1600" dirty="0">
              <a:latin typeface="黑体" panose="02010609060101010101" pitchFamily="49" charset="-122"/>
              <a:ea typeface="黑体" panose="02010609060101010101" pitchFamily="49"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ADEBD-AACB-2E92-6857-B82BF5D2DD7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B917D88-CF4A-EC0D-36E1-389E4DAEA882}"/>
              </a:ext>
            </a:extLst>
          </p:cNvPr>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a:extLst>
              <a:ext uri="{FF2B5EF4-FFF2-40B4-BE49-F238E27FC236}">
                <a16:creationId xmlns:a16="http://schemas.microsoft.com/office/drawing/2014/main" id="{01F9C668-20EF-095D-F3D1-395DF8136964}"/>
              </a:ext>
            </a:extLst>
          </p:cNvPr>
          <p:cNvSpPr/>
          <p:nvPr/>
        </p:nvSpPr>
        <p:spPr>
          <a:xfrm>
            <a:off x="765792" y="346108"/>
            <a:ext cx="10668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4400" dirty="0" err="1">
                <a:solidFill>
                  <a:srgbClr val="008000"/>
                </a:solidFill>
                <a:latin typeface="黑体" panose="02010609060101010101" pitchFamily="49" charset="-122"/>
                <a:ea typeface="黑体" panose="02010609060101010101" pitchFamily="49" charset="-122"/>
                <a:cs typeface="Noto Sans SC"/>
                <a:sym typeface="Noto Sans SC"/>
              </a:rPr>
              <a:t>挑战与趋势</a:t>
            </a:r>
            <a:endParaRPr lang="en-US" altLang="zh-CN" sz="4400" dirty="0">
              <a:solidFill>
                <a:srgbClr val="008000"/>
              </a:solidFill>
              <a:latin typeface="黑体" panose="02010609060101010101" pitchFamily="49" charset="-122"/>
              <a:ea typeface="黑体" panose="02010609060101010101" pitchFamily="49" charset="-122"/>
            </a:endParaRPr>
          </a:p>
        </p:txBody>
      </p:sp>
      <p:sp>
        <p:nvSpPr>
          <p:cNvPr id="24" name="AutoShape 24">
            <a:extLst>
              <a:ext uri="{FF2B5EF4-FFF2-40B4-BE49-F238E27FC236}">
                <a16:creationId xmlns:a16="http://schemas.microsoft.com/office/drawing/2014/main" id="{54AFDC97-90BC-C955-3CC4-B1B2EBEBAE02}"/>
              </a:ext>
            </a:extLst>
          </p:cNvPr>
          <p:cNvSpPr/>
          <p:nvPr/>
        </p:nvSpPr>
        <p:spPr>
          <a:xfrm>
            <a:off x="407368" y="2227317"/>
            <a:ext cx="7130041" cy="1153694"/>
          </a:xfrm>
          <a:prstGeom prst="rect">
            <a:avLst/>
          </a:prstGeom>
          <a:noFill/>
          <a:ln w="12700" cap="flat" cmpd="sng">
            <a:noFill/>
            <a:prstDash val="solid"/>
            <a:round/>
          </a:ln>
        </p:spPr>
        <p:txBody>
          <a:bodyPr vert="horz" wrap="square" lIns="0" tIns="0" rIns="0" bIns="0" rtlCol="0" anchor="ctr" anchorCtr="0"/>
          <a:lstStyle/>
          <a:p>
            <a:pPr marL="457200" indent="-457200" algn="l">
              <a:lnSpc>
                <a:spcPct val="100000"/>
              </a:lnSpc>
              <a:buFont typeface="Wingdings" panose="05000000000000000000" pitchFamily="2" charset="2"/>
              <a:buChar char="Ø"/>
              <a:defRPr/>
            </a:pPr>
            <a:r>
              <a:rPr lang="en-US" sz="2800" b="1" i="0" u="none" strike="noStrike" dirty="0" err="1">
                <a:solidFill>
                  <a:srgbClr val="FF0000"/>
                </a:solidFill>
                <a:latin typeface="+mn-lt"/>
                <a:ea typeface="黑体" panose="02010609060101010101" pitchFamily="49" charset="-122"/>
                <a:cs typeface="Noto Sans SC"/>
                <a:sym typeface="Noto Sans SC"/>
              </a:rPr>
              <a:t>融合大语言模型</a:t>
            </a:r>
            <a:br>
              <a:rPr lang="en-US" sz="2800" b="0" i="0" u="none" strike="noStrike" dirty="0">
                <a:solidFill>
                  <a:srgbClr val="1F2329"/>
                </a:solidFill>
                <a:latin typeface="+mn-lt"/>
                <a:ea typeface="黑体" panose="02010609060101010101" pitchFamily="49" charset="-122"/>
                <a:cs typeface="Noto Sans SC"/>
                <a:sym typeface="Noto Sans SC"/>
              </a:rPr>
            </a:br>
            <a:r>
              <a:rPr lang="en-US" sz="2800" b="0" i="0" u="none" strike="noStrike" dirty="0" err="1">
                <a:latin typeface="+mn-lt"/>
                <a:ea typeface="黑体" panose="02010609060101010101" pitchFamily="49" charset="-122"/>
                <a:cs typeface="Noto Sans SC"/>
                <a:sym typeface="Noto Sans SC"/>
              </a:rPr>
              <a:t>利用LLM自动生成、优化模糊规则，突破知识获取瓶颈，提升系统智能化</a:t>
            </a:r>
            <a:r>
              <a:rPr lang="en-US" sz="2800" b="0" i="0" u="none" strike="noStrike" dirty="0">
                <a:latin typeface="+mn-lt"/>
                <a:ea typeface="黑体" panose="02010609060101010101" pitchFamily="49" charset="-122"/>
                <a:cs typeface="Noto Sans SC"/>
                <a:sym typeface="Noto Sans SC"/>
              </a:rPr>
              <a:t>。</a:t>
            </a:r>
            <a:endParaRPr lang="en-US" sz="2800" dirty="0">
              <a:latin typeface="+mn-lt"/>
              <a:ea typeface="黑体" panose="02010609060101010101" pitchFamily="49" charset="-122"/>
            </a:endParaRPr>
          </a:p>
        </p:txBody>
      </p:sp>
      <p:sp>
        <p:nvSpPr>
          <p:cNvPr id="27" name="AutoShape 27">
            <a:extLst>
              <a:ext uri="{FF2B5EF4-FFF2-40B4-BE49-F238E27FC236}">
                <a16:creationId xmlns:a16="http://schemas.microsoft.com/office/drawing/2014/main" id="{9E7C3632-80E9-C967-255D-2CA125F0C1F1}"/>
              </a:ext>
            </a:extLst>
          </p:cNvPr>
          <p:cNvSpPr/>
          <p:nvPr/>
        </p:nvSpPr>
        <p:spPr>
          <a:xfrm>
            <a:off x="407368" y="3573016"/>
            <a:ext cx="11305256" cy="1016000"/>
          </a:xfrm>
          <a:prstGeom prst="rect">
            <a:avLst/>
          </a:prstGeom>
          <a:noFill/>
          <a:ln w="12700" cap="flat" cmpd="sng">
            <a:noFill/>
            <a:prstDash val="solid"/>
            <a:round/>
          </a:ln>
        </p:spPr>
        <p:txBody>
          <a:bodyPr vert="horz" wrap="square" lIns="0" tIns="0" rIns="0" bIns="0" rtlCol="0" anchor="ctr" anchorCtr="0"/>
          <a:lstStyle/>
          <a:p>
            <a:pPr marL="457200" indent="-457200" algn="l">
              <a:lnSpc>
                <a:spcPct val="100000"/>
              </a:lnSpc>
              <a:buFont typeface="Wingdings" panose="05000000000000000000" pitchFamily="2" charset="2"/>
              <a:buChar char="Ø"/>
              <a:defRPr/>
            </a:pPr>
            <a:r>
              <a:rPr lang="en-US" sz="2800" b="1" i="0" u="none" strike="noStrike" dirty="0" err="1">
                <a:solidFill>
                  <a:srgbClr val="3333FF"/>
                </a:solidFill>
                <a:latin typeface="+mn-lt"/>
                <a:ea typeface="黑体" panose="02010609060101010101" pitchFamily="49" charset="-122"/>
                <a:cs typeface="Noto Sans SC"/>
                <a:sym typeface="Noto Sans SC"/>
              </a:rPr>
              <a:t>轻量化与边缘计算</a:t>
            </a:r>
            <a:br>
              <a:rPr lang="en-US" sz="2800" b="0" i="0" u="none" strike="noStrike" dirty="0">
                <a:solidFill>
                  <a:srgbClr val="1F2329"/>
                </a:solidFill>
                <a:latin typeface="+mn-lt"/>
                <a:ea typeface="黑体" panose="02010609060101010101" pitchFamily="49" charset="-122"/>
                <a:cs typeface="Noto Sans SC"/>
                <a:sym typeface="Noto Sans SC"/>
              </a:rPr>
            </a:br>
            <a:r>
              <a:rPr lang="en-US" sz="2800" b="0" i="0" u="none" strike="noStrike" dirty="0" err="1">
                <a:latin typeface="+mn-lt"/>
                <a:ea typeface="黑体" panose="02010609060101010101" pitchFamily="49" charset="-122"/>
                <a:cs typeface="Noto Sans SC"/>
                <a:sym typeface="Noto Sans SC"/>
              </a:rPr>
              <a:t>开发轻量级模糊库，在MCU等资源受限设备上实现低延迟的实时推理</a:t>
            </a:r>
            <a:endParaRPr lang="en-US" sz="2800" dirty="0">
              <a:latin typeface="+mn-lt"/>
              <a:ea typeface="黑体" panose="02010609060101010101" pitchFamily="49" charset="-122"/>
            </a:endParaRPr>
          </a:p>
        </p:txBody>
      </p:sp>
      <p:sp>
        <p:nvSpPr>
          <p:cNvPr id="30" name="AutoShape 30">
            <a:extLst>
              <a:ext uri="{FF2B5EF4-FFF2-40B4-BE49-F238E27FC236}">
                <a16:creationId xmlns:a16="http://schemas.microsoft.com/office/drawing/2014/main" id="{BED8C64D-1DCD-3917-F6C0-B2907E3698CB}"/>
              </a:ext>
            </a:extLst>
          </p:cNvPr>
          <p:cNvSpPr/>
          <p:nvPr/>
        </p:nvSpPr>
        <p:spPr>
          <a:xfrm>
            <a:off x="407368" y="4725144"/>
            <a:ext cx="10703450" cy="825500"/>
          </a:xfrm>
          <a:prstGeom prst="rect">
            <a:avLst/>
          </a:prstGeom>
          <a:noFill/>
          <a:ln w="12700" cap="flat" cmpd="sng">
            <a:noFill/>
            <a:prstDash val="solid"/>
            <a:round/>
          </a:ln>
        </p:spPr>
        <p:txBody>
          <a:bodyPr vert="horz" wrap="square" lIns="0" tIns="0" rIns="0" bIns="0" rtlCol="0" anchor="ctr" anchorCtr="0"/>
          <a:lstStyle/>
          <a:p>
            <a:pPr marL="457200" indent="-457200" algn="l">
              <a:lnSpc>
                <a:spcPct val="100000"/>
              </a:lnSpc>
              <a:buFont typeface="Wingdings" panose="05000000000000000000" pitchFamily="2" charset="2"/>
              <a:buChar char="Ø"/>
              <a:defRPr/>
            </a:pPr>
            <a:r>
              <a:rPr lang="en-US" sz="2800" b="1" i="0" u="none" strike="noStrike" dirty="0" err="1">
                <a:solidFill>
                  <a:srgbClr val="CC00CC"/>
                </a:solidFill>
                <a:latin typeface="+mn-lt"/>
                <a:ea typeface="黑体" panose="02010609060101010101" pitchFamily="49" charset="-122"/>
                <a:cs typeface="Noto Sans SC"/>
                <a:sym typeface="Noto Sans SC"/>
              </a:rPr>
              <a:t>可解释AI核心组件</a:t>
            </a:r>
            <a:br>
              <a:rPr lang="en-US" sz="2800" b="0" i="0" u="none" strike="noStrike" dirty="0">
                <a:solidFill>
                  <a:srgbClr val="1F2329"/>
                </a:solidFill>
                <a:latin typeface="+mn-lt"/>
                <a:ea typeface="黑体" panose="02010609060101010101" pitchFamily="49" charset="-122"/>
                <a:cs typeface="Noto Sans SC"/>
                <a:sym typeface="Noto Sans SC"/>
              </a:rPr>
            </a:br>
            <a:r>
              <a:rPr lang="en-US" sz="2800" b="0" i="0" u="none" strike="noStrike" dirty="0" err="1">
                <a:latin typeface="+mn-lt"/>
                <a:ea typeface="黑体" panose="02010609060101010101" pitchFamily="49" charset="-122"/>
                <a:cs typeface="Noto Sans SC"/>
                <a:sym typeface="Noto Sans SC"/>
              </a:rPr>
              <a:t>作为XAI基石，解释深度学习模型的复杂决策过程，提升可信度</a:t>
            </a:r>
            <a:r>
              <a:rPr lang="en-US" sz="2800" b="0" i="0" u="none" strike="noStrike" dirty="0">
                <a:latin typeface="+mn-lt"/>
                <a:ea typeface="黑体" panose="02010609060101010101" pitchFamily="49" charset="-122"/>
                <a:cs typeface="Noto Sans SC"/>
                <a:sym typeface="Noto Sans SC"/>
              </a:rPr>
              <a:t>。</a:t>
            </a:r>
            <a:endParaRPr lang="en-US" sz="2800" dirty="0">
              <a:latin typeface="+mn-lt"/>
              <a:ea typeface="黑体" panose="02010609060101010101" pitchFamily="49" charset="-122"/>
            </a:endParaRPr>
          </a:p>
        </p:txBody>
      </p:sp>
      <p:sp>
        <p:nvSpPr>
          <p:cNvPr id="33" name="AutoShape 33">
            <a:extLst>
              <a:ext uri="{FF2B5EF4-FFF2-40B4-BE49-F238E27FC236}">
                <a16:creationId xmlns:a16="http://schemas.microsoft.com/office/drawing/2014/main" id="{A914EDE2-C21F-7D7D-0F0A-2598922DF52F}"/>
              </a:ext>
            </a:extLst>
          </p:cNvPr>
          <p:cNvSpPr/>
          <p:nvPr/>
        </p:nvSpPr>
        <p:spPr>
          <a:xfrm>
            <a:off x="479376" y="5733256"/>
            <a:ext cx="10784068" cy="825500"/>
          </a:xfrm>
          <a:prstGeom prst="rect">
            <a:avLst/>
          </a:prstGeom>
          <a:noFill/>
          <a:ln w="12700" cap="flat" cmpd="sng">
            <a:noFill/>
            <a:prstDash val="solid"/>
            <a:round/>
          </a:ln>
        </p:spPr>
        <p:txBody>
          <a:bodyPr vert="horz" wrap="square" lIns="0" tIns="0" rIns="0" bIns="0" rtlCol="0" anchor="ctr" anchorCtr="0"/>
          <a:lstStyle/>
          <a:p>
            <a:pPr marL="457200" indent="-457200" algn="l">
              <a:lnSpc>
                <a:spcPct val="100000"/>
              </a:lnSpc>
              <a:buFont typeface="Wingdings" panose="05000000000000000000" pitchFamily="2" charset="2"/>
              <a:buChar char="Ø"/>
              <a:defRPr/>
            </a:pPr>
            <a:r>
              <a:rPr lang="en-US" sz="2800" b="1" i="0" u="none" strike="noStrike" dirty="0" err="1">
                <a:solidFill>
                  <a:srgbClr val="008000"/>
                </a:solidFill>
                <a:latin typeface="+mn-lt"/>
                <a:ea typeface="黑体" panose="02010609060101010101" pitchFamily="49" charset="-122"/>
                <a:cs typeface="Noto Sans SC"/>
                <a:sym typeface="Noto Sans SC"/>
              </a:rPr>
              <a:t>结合因果推断</a:t>
            </a:r>
            <a:br>
              <a:rPr lang="en-US" sz="2800" b="0" i="0" u="none" strike="noStrike" dirty="0">
                <a:solidFill>
                  <a:srgbClr val="1F2329"/>
                </a:solidFill>
                <a:latin typeface="+mn-lt"/>
                <a:ea typeface="黑体" panose="02010609060101010101" pitchFamily="49" charset="-122"/>
                <a:cs typeface="Noto Sans SC"/>
                <a:sym typeface="Noto Sans SC"/>
              </a:rPr>
            </a:br>
            <a:r>
              <a:rPr lang="en-US" sz="2800" b="0" i="0" u="none" strike="noStrike" dirty="0" err="1">
                <a:latin typeface="+mn-lt"/>
                <a:ea typeface="黑体" panose="02010609060101010101" pitchFamily="49" charset="-122"/>
                <a:cs typeface="Noto Sans SC"/>
                <a:sym typeface="Noto Sans SC"/>
              </a:rPr>
              <a:t>构建具备洞察力和鲁棒性的决策支持系统，增强模型的泛化能力</a:t>
            </a:r>
            <a:r>
              <a:rPr lang="en-US" sz="2800" b="0" i="0" u="none" strike="noStrike" dirty="0">
                <a:latin typeface="+mn-lt"/>
                <a:ea typeface="黑体" panose="02010609060101010101" pitchFamily="49" charset="-122"/>
                <a:cs typeface="Noto Sans SC"/>
                <a:sym typeface="Noto Sans SC"/>
              </a:rPr>
              <a:t>。</a:t>
            </a:r>
            <a:endParaRPr lang="en-US" sz="2800" dirty="0">
              <a:latin typeface="+mn-lt"/>
              <a:ea typeface="黑体" panose="02010609060101010101" pitchFamily="49" charset="-122"/>
            </a:endParaRPr>
          </a:p>
        </p:txBody>
      </p:sp>
      <p:sp>
        <p:nvSpPr>
          <p:cNvPr id="34" name="AutoShape 5">
            <a:extLst>
              <a:ext uri="{FF2B5EF4-FFF2-40B4-BE49-F238E27FC236}">
                <a16:creationId xmlns:a16="http://schemas.microsoft.com/office/drawing/2014/main" id="{EF117EE2-2590-FA45-142A-D46D21733E34}"/>
              </a:ext>
            </a:extLst>
          </p:cNvPr>
          <p:cNvSpPr/>
          <p:nvPr/>
        </p:nvSpPr>
        <p:spPr>
          <a:xfrm>
            <a:off x="762000" y="1524000"/>
            <a:ext cx="5937546" cy="573730"/>
          </a:xfrm>
          <a:prstGeom prst="roundRect">
            <a:avLst>
              <a:gd name="adj" fmla="val 0"/>
            </a:avLst>
          </a:prstGeom>
          <a:solidFill>
            <a:srgbClr val="4FD1C5">
              <a:alpha val="20000"/>
            </a:srgbClr>
          </a:solidFill>
          <a:ln w="25400" cap="flat" cmpd="sng">
            <a:noFill/>
            <a:prstDash val="solid"/>
            <a:round/>
          </a:ln>
        </p:spPr>
        <p:txBody>
          <a:bodyPr vert="horz" wrap="square" lIns="63500" tIns="63500" rIns="63500" bIns="63500" rtlCol="0" anchor="ctr"/>
          <a:lstStyle/>
          <a:p>
            <a:pPr algn="ctr">
              <a:defRPr/>
            </a:pPr>
            <a:endParaRPr sz="2400">
              <a:latin typeface="+mn-lt"/>
              <a:ea typeface="黑体" panose="02010609060101010101" pitchFamily="49" charset="-122"/>
            </a:endParaRPr>
          </a:p>
        </p:txBody>
      </p:sp>
      <p:sp>
        <p:nvSpPr>
          <p:cNvPr id="35" name="AutoShape 7">
            <a:extLst>
              <a:ext uri="{FF2B5EF4-FFF2-40B4-BE49-F238E27FC236}">
                <a16:creationId xmlns:a16="http://schemas.microsoft.com/office/drawing/2014/main" id="{5676C36D-9300-3A00-E19D-193EDEDB0FCF}"/>
              </a:ext>
            </a:extLst>
          </p:cNvPr>
          <p:cNvSpPr/>
          <p:nvPr/>
        </p:nvSpPr>
        <p:spPr>
          <a:xfrm>
            <a:off x="920452" y="1484774"/>
            <a:ext cx="5937547" cy="517151"/>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3200" b="1" dirty="0" err="1">
                <a:solidFill>
                  <a:srgbClr val="2D3748"/>
                </a:solidFill>
                <a:latin typeface="+mn-lt"/>
                <a:ea typeface="黑体" panose="02010609060101010101" pitchFamily="49" charset="-122"/>
                <a:cs typeface="Noto Sans SC"/>
                <a:sym typeface="Noto Sans SC"/>
              </a:rPr>
              <a:t>未来趋势：融合与创新的新机遇</a:t>
            </a:r>
            <a:endParaRPr lang="en-US" altLang="zh-CN" sz="1600" dirty="0">
              <a:latin typeface="+mn-lt"/>
              <a:ea typeface="黑体" panose="02010609060101010101" pitchFamily="49" charset="-122"/>
            </a:endParaRPr>
          </a:p>
        </p:txBody>
      </p:sp>
      <p:pic>
        <p:nvPicPr>
          <p:cNvPr id="37" name="图片 36">
            <a:extLst>
              <a:ext uri="{FF2B5EF4-FFF2-40B4-BE49-F238E27FC236}">
                <a16:creationId xmlns:a16="http://schemas.microsoft.com/office/drawing/2014/main" id="{547D1616-B4CC-9D18-B081-B674CDDBEB8A}"/>
              </a:ext>
            </a:extLst>
          </p:cNvPr>
          <p:cNvPicPr>
            <a:picLocks noChangeAspect="1"/>
          </p:cNvPicPr>
          <p:nvPr/>
        </p:nvPicPr>
        <p:blipFill>
          <a:blip r:embed="rId3">
            <a:extLst>
              <a:ext uri="{28A0092B-C50C-407E-A947-70E740481C1C}">
                <a14:useLocalDpi xmlns:a14="http://schemas.microsoft.com/office/drawing/2010/main" val="0"/>
              </a:ext>
            </a:extLst>
          </a:blip>
          <a:srcRect l="22626" b="44631"/>
          <a:stretch>
            <a:fillRect/>
          </a:stretch>
        </p:blipFill>
        <p:spPr>
          <a:xfrm>
            <a:off x="7824192" y="76200"/>
            <a:ext cx="4383033" cy="2920752"/>
          </a:xfrm>
          <a:prstGeom prst="rect">
            <a:avLst/>
          </a:prstGeom>
        </p:spPr>
      </p:pic>
    </p:spTree>
    <p:extLst>
      <p:ext uri="{BB962C8B-B14F-4D97-AF65-F5344CB8AC3E}">
        <p14:creationId xmlns:p14="http://schemas.microsoft.com/office/powerpoint/2010/main" val="424158391"/>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Pixel</Template>
  <TotalTime>23138</TotalTime>
  <Words>6260</Words>
  <Application>Microsoft Office PowerPoint</Application>
  <PresentationFormat>宽屏</PresentationFormat>
  <Paragraphs>1433</Paragraphs>
  <Slides>99</Slides>
  <Notes>18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99</vt:i4>
      </vt:variant>
    </vt:vector>
  </HeadingPairs>
  <TitlesOfParts>
    <vt:vector size="113" baseType="lpstr">
      <vt:lpstr>Noto Sans SC</vt:lpstr>
      <vt:lpstr>黑体</vt:lpstr>
      <vt:lpstr>华文楷体</vt:lpstr>
      <vt:lpstr>楷体_GB2312</vt:lpstr>
      <vt:lpstr>隶书</vt:lpstr>
      <vt:lpstr>Aharoni</vt:lpstr>
      <vt:lpstr>Arial</vt:lpstr>
      <vt:lpstr>Arial Black</vt:lpstr>
      <vt:lpstr>Comic Sans MS</vt:lpstr>
      <vt:lpstr>Symbol</vt:lpstr>
      <vt:lpstr>Times New Roman</vt:lpstr>
      <vt:lpstr>Wingdings</vt:lpstr>
      <vt:lpstr>Pixel</vt:lpstr>
      <vt:lpstr>Equation</vt:lpstr>
      <vt:lpstr>第 9 章 模糊推理系统</vt:lpstr>
      <vt:lpstr>9.6 模糊系统的建模过程</vt:lpstr>
      <vt:lpstr>模糊系统的建模过程</vt:lpstr>
      <vt:lpstr>9.7  使用Matlab Fuzzy 工具箱建立F系统</vt:lpstr>
      <vt:lpstr>确定使用F推理系统的F模型</vt:lpstr>
      <vt:lpstr>确定系统输入-输出的数目</vt:lpstr>
      <vt:lpstr>如设计一个两输入-单输出系统</vt:lpstr>
      <vt:lpstr>确定每个输入变量的隶属函数</vt:lpstr>
      <vt:lpstr>确定每个输入变量的隶属函数</vt:lpstr>
      <vt:lpstr>系统已有的几种类型的隶属函数</vt:lpstr>
      <vt:lpstr>确定每个输入变量的隶属函数</vt:lpstr>
      <vt:lpstr>确定每个变量的隶属函数个数</vt:lpstr>
      <vt:lpstr>确定输出变量的隶属函数</vt:lpstr>
      <vt:lpstr>输入F推理系统的规则</vt:lpstr>
      <vt:lpstr>输入F推理系统的规则</vt:lpstr>
      <vt:lpstr>显示F规则推理过程</vt:lpstr>
      <vt:lpstr>显示F规则推理过程</vt:lpstr>
      <vt:lpstr>显示F推理系统的输入-输出曲面</vt:lpstr>
      <vt:lpstr>显示F推理系统的输入-输出曲面</vt:lpstr>
      <vt:lpstr>Sugeno F模型的建立</vt:lpstr>
      <vt:lpstr>Sugeno F模型输出的建立</vt:lpstr>
      <vt:lpstr>Sugeno F模型输出的建立</vt:lpstr>
      <vt:lpstr>9.8 自适应神经-模糊推理系统 </vt:lpstr>
      <vt:lpstr>F 推理系统(FIS)的框图</vt:lpstr>
      <vt:lpstr> ANFIS的结构</vt:lpstr>
      <vt:lpstr>ANFIS结构</vt:lpstr>
      <vt:lpstr>ANFIS结构</vt:lpstr>
      <vt:lpstr>ANFIS结构</vt:lpstr>
      <vt:lpstr>ANFIS结构</vt:lpstr>
      <vt:lpstr> ANFIS的结构</vt:lpstr>
      <vt:lpstr>一阶Sugeno F模型与等效ANFIS结构</vt:lpstr>
      <vt:lpstr>ANFIS结构</vt:lpstr>
      <vt:lpstr>ANFIS结构</vt:lpstr>
      <vt:lpstr>ANFIS结构</vt:lpstr>
      <vt:lpstr>ANFIS结构</vt:lpstr>
      <vt:lpstr>ANFIS结构</vt:lpstr>
      <vt:lpstr>ANFIS结构</vt:lpstr>
      <vt:lpstr>    两输入且有9条规则的Sugeno 模糊模型的ANFIS结构</vt:lpstr>
      <vt:lpstr>分割为9个F区域的输入空间</vt:lpstr>
      <vt:lpstr>ANFIS模糊建模的步骤</vt:lpstr>
      <vt:lpstr>anfis 函数说明</vt:lpstr>
      <vt:lpstr>anfis 函数说明</vt:lpstr>
      <vt:lpstr>ANFIS 实例1</vt:lpstr>
      <vt:lpstr>产生训练数据</vt:lpstr>
      <vt:lpstr>初始化FIS结构</vt:lpstr>
      <vt:lpstr>设定训练参数，训练的初始化FIS</vt:lpstr>
      <vt:lpstr>显示训练前、后的结果</vt:lpstr>
      <vt:lpstr>显示训练前、后的结果</vt:lpstr>
      <vt:lpstr>程序运行后生成的规则</vt:lpstr>
      <vt:lpstr>ANFIS 实例2</vt:lpstr>
      <vt:lpstr>产生训练数据并初始化FIS</vt:lpstr>
      <vt:lpstr>利用anfis函数训练fis1</vt:lpstr>
      <vt:lpstr>绘图表示训练结果</vt:lpstr>
      <vt:lpstr>PowerPoint 演示文稿</vt:lpstr>
      <vt:lpstr>PowerPoint 演示文稿</vt:lpstr>
      <vt:lpstr>PowerPoint 演示文稿</vt:lpstr>
      <vt:lpstr>PowerPoint 演示文稿</vt:lpstr>
      <vt:lpstr>PowerPoint 演示文稿</vt:lpstr>
      <vt:lpstr>PowerPoint 演示文稿</vt:lpstr>
      <vt:lpstr>程序运行后生成的规则</vt:lpstr>
      <vt:lpstr>PowerPoint 演示文稿</vt:lpstr>
      <vt:lpstr>PowerPoint 演示文稿</vt:lpstr>
      <vt:lpstr>进化模糊系统 (Evolutionary Fuzzy Systems)</vt:lpstr>
      <vt:lpstr> 9.9  F专家系统 </vt:lpstr>
      <vt:lpstr>9.9.1 专家系统概述</vt:lpstr>
      <vt:lpstr>专家系统的发展</vt:lpstr>
      <vt:lpstr>专家系统的发展</vt:lpstr>
      <vt:lpstr>我国研制开发的专家系统</vt:lpstr>
      <vt:lpstr>专家系统与传统程序的比较</vt:lpstr>
      <vt:lpstr>F专家系统与传统专家的区别</vt:lpstr>
      <vt:lpstr>9.9.2 F专家系统的特征</vt:lpstr>
      <vt:lpstr>F专家系统的发展历程</vt:lpstr>
      <vt:lpstr>F专家系统的发展历程</vt:lpstr>
      <vt:lpstr>二型模糊系统 (Type-2 FS)</vt:lpstr>
      <vt:lpstr>二型模糊集合 (Type-2 FS)</vt:lpstr>
      <vt:lpstr>二型模糊集合 (Type-2 FS)</vt:lpstr>
      <vt:lpstr>F专家系统的结构与功能</vt:lpstr>
      <vt:lpstr>综合数据库的工作机制</vt:lpstr>
      <vt:lpstr>人机接口的结构模型</vt:lpstr>
      <vt:lpstr>知识获取机构</vt:lpstr>
      <vt:lpstr>专家系统的工作过程</vt:lpstr>
      <vt:lpstr>F专家系统的建模</vt:lpstr>
      <vt:lpstr>开发F专家系统的典型过程步骤</vt:lpstr>
      <vt:lpstr>F专家系统建模实例</vt:lpstr>
      <vt:lpstr>步骤1：指定问题并定义语言变量</vt:lpstr>
      <vt:lpstr>各语言变量及取值范围</vt:lpstr>
      <vt:lpstr>步骤2：确定F集</vt:lpstr>
      <vt:lpstr>步骤2：确定F集</vt:lpstr>
      <vt:lpstr>步骤2：确定F集</vt:lpstr>
      <vt:lpstr>步骤2：确定F集</vt:lpstr>
      <vt:lpstr>步骤3：抽取并构造F规则 </vt:lpstr>
      <vt:lpstr>规则表(共27条)</vt:lpstr>
      <vt:lpstr>规则库的立方体表示</vt:lpstr>
      <vt:lpstr>步骤4：对F集、F规则和流程进行程序编码以便在专家系统中执行F推理。</vt:lpstr>
      <vt:lpstr>步骤5：评估并调整系统</vt:lpstr>
      <vt:lpstr>改进后规则库的立方体表示</vt:lpstr>
      <vt:lpstr>调整F专家系统 </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8 章 模糊控制</dc:title>
  <dc:creator>凌卫新</dc:creator>
  <cp:lastModifiedBy>wxling66@outlook.com</cp:lastModifiedBy>
  <cp:revision>208</cp:revision>
  <dcterms:created xsi:type="dcterms:W3CDTF">2007-06-19T18:06:18Z</dcterms:created>
  <dcterms:modified xsi:type="dcterms:W3CDTF">2026-06-23T09:08:54Z</dcterms:modified>
</cp:coreProperties>
</file>