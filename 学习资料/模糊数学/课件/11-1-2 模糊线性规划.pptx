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audio4.wav" ContentType="audio/x-wav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75" r:id="rId2"/>
  </p:sldMasterIdLst>
  <p:notesMasterIdLst>
    <p:notesMasterId r:id="rId45"/>
  </p:notesMasterIdLst>
  <p:handoutMasterIdLst>
    <p:handoutMasterId r:id="rId46"/>
  </p:handoutMasterIdLst>
  <p:sldIdLst>
    <p:sldId id="256" r:id="rId3"/>
    <p:sldId id="322" r:id="rId4"/>
    <p:sldId id="323" r:id="rId5"/>
    <p:sldId id="324" r:id="rId6"/>
    <p:sldId id="325" r:id="rId7"/>
    <p:sldId id="329" r:id="rId8"/>
    <p:sldId id="424" r:id="rId9"/>
    <p:sldId id="430" r:id="rId10"/>
    <p:sldId id="425" r:id="rId11"/>
    <p:sldId id="470" r:id="rId12"/>
    <p:sldId id="326" r:id="rId13"/>
    <p:sldId id="327" r:id="rId14"/>
    <p:sldId id="328" r:id="rId15"/>
    <p:sldId id="433" r:id="rId16"/>
    <p:sldId id="435" r:id="rId17"/>
    <p:sldId id="436" r:id="rId18"/>
    <p:sldId id="437" r:id="rId19"/>
    <p:sldId id="438" r:id="rId20"/>
    <p:sldId id="439" r:id="rId21"/>
    <p:sldId id="440" r:id="rId22"/>
    <p:sldId id="452" r:id="rId23"/>
    <p:sldId id="441" r:id="rId24"/>
    <p:sldId id="442" r:id="rId25"/>
    <p:sldId id="443" r:id="rId26"/>
    <p:sldId id="444" r:id="rId27"/>
    <p:sldId id="445" r:id="rId28"/>
    <p:sldId id="355" r:id="rId29"/>
    <p:sldId id="357" r:id="rId30"/>
    <p:sldId id="356" r:id="rId31"/>
    <p:sldId id="358" r:id="rId32"/>
    <p:sldId id="453" r:id="rId33"/>
    <p:sldId id="454" r:id="rId34"/>
    <p:sldId id="455" r:id="rId35"/>
    <p:sldId id="456" r:id="rId36"/>
    <p:sldId id="457" r:id="rId37"/>
    <p:sldId id="458" r:id="rId38"/>
    <p:sldId id="447" r:id="rId39"/>
    <p:sldId id="448" r:id="rId40"/>
    <p:sldId id="449" r:id="rId41"/>
    <p:sldId id="450" r:id="rId42"/>
    <p:sldId id="451" r:id="rId43"/>
    <p:sldId id="446" r:id="rId44"/>
  </p:sldIdLst>
  <p:sldSz cx="12192000" cy="6858000"/>
  <p:notesSz cx="6669088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00"/>
    <a:srgbClr val="FF0000"/>
    <a:srgbClr val="CC00CC"/>
    <a:srgbClr val="FFFFCC"/>
    <a:srgbClr val="006600"/>
    <a:srgbClr val="0070C0"/>
    <a:srgbClr val="3333FF"/>
    <a:srgbClr val="9FFC24"/>
    <a:srgbClr val="42F7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005" autoAdjust="0"/>
    <p:restoredTop sz="94660"/>
  </p:normalViewPr>
  <p:slideViewPr>
    <p:cSldViewPr>
      <p:cViewPr varScale="1">
        <p:scale>
          <a:sx n="63" d="100"/>
          <a:sy n="63" d="100"/>
        </p:scale>
        <p:origin x="96" y="240"/>
      </p:cViewPr>
      <p:guideLst>
        <p:guide orient="horz" pos="21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61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0D97B-8576-4F32-9C9A-478D3267EBD3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6F5CA-1086-4A73-8724-3D5FD225C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9784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7411376-5C85-47A7-BD7F-F09B4957FC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0832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只适用于低维，高于三维使用困难。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11376-5C85-47A7-BD7F-F09B4957FC14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7337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1200" dirty="0">
                <a:solidFill>
                  <a:srgbClr val="3333FF"/>
                </a:solidFill>
              </a:rPr>
              <a:t>模糊的原因是因为这里的</a:t>
            </a:r>
            <a:r>
              <a:rPr kumimoji="1" lang="en-US" altLang="zh-CN" sz="1200" i="1" dirty="0">
                <a:solidFill>
                  <a:srgbClr val="3333FF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1200" dirty="0">
                <a:solidFill>
                  <a:srgbClr val="3333FF"/>
                </a:solidFill>
              </a:rPr>
              <a:t>是一个模糊数构成的向量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11376-5C85-47A7-BD7F-F09B4957FC14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4790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f0</a:t>
            </a:r>
            <a:r>
              <a:rPr lang="zh-CN" altLang="en-US" dirty="0"/>
              <a:t>表示完全约束（</a:t>
            </a:r>
            <a:r>
              <a:rPr lang="en-US" altLang="zh-CN" dirty="0"/>
              <a:t>A(x)=1,</a:t>
            </a: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dirty="0">
                <a:sym typeface="Symbol" panose="05050102010706020507" pitchFamily="18" charset="2"/>
              </a:rPr>
              <a:t>=1</a:t>
            </a:r>
            <a:r>
              <a:rPr lang="zh-CN" altLang="en-US" dirty="0"/>
              <a:t>）情形下的最优值，</a:t>
            </a:r>
            <a:r>
              <a:rPr lang="en-US" altLang="zh-CN" dirty="0"/>
              <a:t>f1</a:t>
            </a:r>
            <a:r>
              <a:rPr lang="zh-CN" altLang="en-US" dirty="0"/>
              <a:t>中完全不接受约束（</a:t>
            </a:r>
            <a:r>
              <a:rPr lang="en-US" altLang="zh-CN" dirty="0"/>
              <a:t>A(x)=0,</a:t>
            </a: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dirty="0">
                <a:sym typeface="Symbol" panose="05050102010706020507" pitchFamily="18" charset="2"/>
              </a:rPr>
              <a:t>=0</a:t>
            </a:r>
            <a:r>
              <a:rPr lang="zh-CN" altLang="en-US" dirty="0"/>
              <a:t>）下的最优值。这两种情形都是极端状况，并非我们所希望，我们的目的是适当降低</a:t>
            </a:r>
            <a:r>
              <a:rPr lang="zh-CN" altLang="en-US" dirty="0">
                <a:sym typeface="Symbol" panose="05050102010706020507" pitchFamily="18" charset="2"/>
              </a:rPr>
              <a:t>的值 ，使得最优值 的所提高，且介于</a:t>
            </a:r>
            <a:r>
              <a:rPr lang="en-US" altLang="zh-CN" dirty="0">
                <a:sym typeface="Symbol" panose="05050102010706020507" pitchFamily="18" charset="2"/>
              </a:rPr>
              <a:t>f0,f1</a:t>
            </a:r>
            <a:r>
              <a:rPr lang="zh-CN" altLang="en-US" dirty="0">
                <a:sym typeface="Symbol" panose="05050102010706020507" pitchFamily="18" charset="2"/>
              </a:rPr>
              <a:t>之间，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411376-5C85-47A7-BD7F-F09B4957FC14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3639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411376-5C85-47A7-BD7F-F09B4957FC14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8883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488206-C21D-4849-B967-85D07BCD625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3918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463869E-FED2-4C7A-8B6F-30276E693B4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303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478FFE-5360-4784-9B5F-53848E641B3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267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A3F627-EFEA-4160-B301-A5BB183AD24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194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162DEC-62BA-435B-B64D-53F356CEFF0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786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62C420-3C54-4BED-9D64-0A55EF8F75E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3752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D355EE-9C1F-4AFB-B5F1-9685A70D055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36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6F8D28-F97C-436A-9004-6301A252449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262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897866-ABA9-4835-B68E-E4EBC301996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994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687490-A221-444F-A8D4-9A28443981E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14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8388303-5564-434E-9F58-4126FF81E5B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6796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E204F9-976D-410F-9B2F-D0681D6C74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1921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1E4A19-C2A9-4A39-BB97-D7B45DDEEF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5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F978D-75C9-4A27-B0AF-AAD6569869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5952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BB18E-F520-4E66-B38A-C5588DF6ED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6657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B51479-7928-4197-83CC-FEB83494F06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696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43E9A-0B98-4D6F-BAF7-0B4023EBB14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388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35544" y="6286500"/>
            <a:ext cx="589856" cy="457200"/>
          </a:xfrm>
        </p:spPr>
        <p:txBody>
          <a:bodyPr/>
          <a:lstStyle>
            <a:lvl1pPr>
              <a:defRPr/>
            </a:lvl1pPr>
          </a:lstStyle>
          <a:p>
            <a:fld id="{B74106CA-57C0-4569-9234-829A010737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29736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FA383-E704-434F-A2FA-783E8DD81C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11492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A49CFE-2874-4844-88DA-43EC9A348DE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92325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5FC93E-6727-4622-9802-5B1C31B79D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8508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A019B-DF0D-4906-BDB6-047CB4AD22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597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25054" y="6248400"/>
            <a:ext cx="58985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8043684A-5011-42BF-A8A6-9FB2197724C7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2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3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2051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2052" name="Rectangle 4"/>
            <p:cNvSpPr>
              <a:spLocks noChangeArrowheads="1"/>
            </p:cNvSpPr>
            <p:nvPr/>
          </p:nvSpPr>
          <p:spPr bwMode="auto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2400">
                <a:latin typeface="Times New Roman" pitchFamily="18" charset="0"/>
              </a:endParaRPr>
            </a:p>
          </p:txBody>
        </p:sp>
        <p:grpSp>
          <p:nvGrpSpPr>
            <p:cNvPr id="205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0"/>
              <a:chExt cx="1806" cy="1989"/>
            </a:xfrm>
          </p:grpSpPr>
          <p:sp>
            <p:nvSpPr>
              <p:cNvPr id="2054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1585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55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393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0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57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1585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58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393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59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792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60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792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61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792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62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185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63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185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064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6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206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7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zh-CN"/>
          </a:p>
        </p:txBody>
      </p:sp>
      <p:sp>
        <p:nvSpPr>
          <p:cNvPr id="2068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3F8164F4-6F2F-4A5C-8A8F-A4D5B7D5976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3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7" Type="http://schemas.openxmlformats.org/officeDocument/2006/relationships/image" Target="../media/image3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0.bin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29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27.wmf"/><Relationship Id="rId4" Type="http://schemas.openxmlformats.org/officeDocument/2006/relationships/audio" Target="../media/audio3.wav"/><Relationship Id="rId9" Type="http://schemas.openxmlformats.org/officeDocument/2006/relationships/oleObject" Target="../embeddings/oleObject2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2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8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29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47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50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5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7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image" Target="../media/image58.wmf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52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5188" y="1828800"/>
            <a:ext cx="8380412" cy="2209800"/>
          </a:xfrm>
        </p:spPr>
        <p:txBody>
          <a:bodyPr/>
          <a:lstStyle/>
          <a:p>
            <a:pPr algn="ctr" eaLnBrk="1" hangingPunct="1"/>
            <a:r>
              <a:rPr lang="zh-CN" altLang="en-US" sz="6600" b="1" dirty="0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600" b="1" dirty="0">
                <a:solidFill>
                  <a:srgbClr val="E8E81C"/>
                </a:solidFill>
                <a:ea typeface="隶书" pitchFamily="49" charset="-122"/>
              </a:rPr>
              <a:t> </a:t>
            </a:r>
            <a:r>
              <a:rPr lang="en-US" altLang="zh-CN" sz="6600" b="1" dirty="0">
                <a:solidFill>
                  <a:srgbClr val="E8E81C"/>
                </a:solidFill>
                <a:ea typeface="隶书" pitchFamily="49" charset="-122"/>
              </a:rPr>
              <a:t>11 </a:t>
            </a:r>
            <a:r>
              <a:rPr lang="zh-CN" altLang="en-US" sz="6600" b="1" dirty="0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600" b="1" dirty="0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600" b="1" dirty="0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模糊线性规划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008439" y="4437064"/>
            <a:ext cx="5761037" cy="2016125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11.1  </a:t>
            </a:r>
            <a:r>
              <a:rPr lang="zh-CN" altLang="en-US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经典线性规划</a:t>
            </a:r>
            <a:endParaRPr lang="en-US" altLang="zh-CN" dirty="0">
              <a:solidFill>
                <a:srgbClr val="E90101"/>
              </a:solidFill>
              <a:latin typeface="Comic Sans MS" pitchFamily="66" charset="0"/>
              <a:ea typeface="黑体" pitchFamily="49" charset="-12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11.2  F</a:t>
            </a:r>
            <a:r>
              <a:rPr lang="zh-CN" altLang="en-US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线性规划及应用</a:t>
            </a:r>
            <a:endParaRPr lang="en-US" altLang="zh-CN" dirty="0">
              <a:solidFill>
                <a:srgbClr val="E90101"/>
              </a:solidFill>
              <a:latin typeface="Comic Sans MS" pitchFamily="66" charset="0"/>
              <a:ea typeface="黑体" pitchFamily="49" charset="-12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zh-CN" altLang="en-US" dirty="0">
              <a:solidFill>
                <a:srgbClr val="E90101"/>
              </a:solidFill>
              <a:latin typeface="Comic Sans MS" pitchFamily="66" charset="0"/>
              <a:ea typeface="黑体" pitchFamily="49" charset="-12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zh-CN" altLang="en-US" sz="3100" dirty="0">
              <a:solidFill>
                <a:srgbClr val="E90101"/>
              </a:solidFill>
              <a:latin typeface="Comic Sans MS" pitchFamily="66" charset="0"/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721B36-E231-A61D-F261-F8984183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06CA-57C0-4569-9234-829A010737E6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 idx="4294967295"/>
          </p:nvPr>
        </p:nvSpPr>
        <p:spPr>
          <a:xfrm>
            <a:off x="1981200" y="307475"/>
            <a:ext cx="8229600" cy="1371600"/>
          </a:xfrm>
        </p:spPr>
        <p:txBody>
          <a:bodyPr/>
          <a:lstStyle/>
          <a:p>
            <a:pPr algn="ctr"/>
            <a:r>
              <a:rPr lang="zh-CN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线性规划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4294967295"/>
          </p:nvPr>
        </p:nvSpPr>
        <p:spPr>
          <a:xfrm>
            <a:off x="1127448" y="1700362"/>
            <a:ext cx="10081120" cy="47529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u="sng" dirty="0">
                <a:solidFill>
                  <a:srgbClr val="FF0000"/>
                </a:solidFill>
              </a:rPr>
              <a:t>经典线性规划</a:t>
            </a:r>
            <a:r>
              <a:rPr lang="zh-CN" altLang="en-US" sz="2800" b="1" dirty="0"/>
              <a:t>是最优化方法中理论完善、方法成熟、应用广泛的一个重要分支，可以应用于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生产计划、物资调运、资源优化配置、地区经济规划</a:t>
            </a:r>
            <a:r>
              <a:rPr lang="zh-CN" altLang="en-US" sz="2800" b="1" dirty="0"/>
              <a:t>等问题。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经典线性规划的约束条件和目标函数都是确定的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但在一些实际问题中，常常碰到</a:t>
            </a:r>
            <a:r>
              <a:rPr lang="en-US" altLang="zh-CN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zh-CN" altLang="en-US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的约束条件和目标函数</a:t>
            </a:r>
            <a:r>
              <a:rPr lang="zh-CN" altLang="en-US" sz="2800" b="1" dirty="0"/>
              <a:t>，从而提出了</a:t>
            </a:r>
            <a:r>
              <a:rPr lang="en-US" altLang="zh-CN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zh-CN" altLang="en-US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线性规划</a:t>
            </a:r>
            <a:r>
              <a:rPr lang="zh-CN" altLang="en-US" sz="2800" b="1" dirty="0"/>
              <a:t>问题，即用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集的方法来求解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最优化问题。</a:t>
            </a:r>
            <a:endParaRPr lang="en-US" altLang="zh-CN" sz="2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4DEA783-B8A8-370A-C84A-54977EC221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333376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</a:rPr>
              <a:t>11.1 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经典线性规划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9416" y="1341438"/>
            <a:ext cx="10369152" cy="5257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Comic Sans MS" pitchFamily="66" charset="0"/>
                <a:ea typeface="黑体" pitchFamily="49" charset="-122"/>
              </a:rPr>
              <a:t>引例：某工厂生产</a:t>
            </a:r>
            <a:r>
              <a:rPr lang="en-US" altLang="zh-CN" dirty="0">
                <a:ea typeface="黑体" pitchFamily="49" charset="-122"/>
              </a:rPr>
              <a:t>A</a:t>
            </a:r>
            <a:r>
              <a:rPr lang="zh-CN" altLang="en-US" dirty="0">
                <a:ea typeface="黑体" pitchFamily="49" charset="-122"/>
              </a:rPr>
              <a:t>、</a:t>
            </a:r>
            <a:r>
              <a:rPr lang="en-US" altLang="zh-CN" dirty="0">
                <a:ea typeface="黑体" pitchFamily="49" charset="-122"/>
              </a:rPr>
              <a:t>B</a:t>
            </a:r>
            <a:r>
              <a:rPr lang="zh-CN" altLang="en-US" dirty="0">
                <a:latin typeface="Comic Sans MS" pitchFamily="66" charset="0"/>
                <a:ea typeface="黑体" pitchFamily="49" charset="-122"/>
              </a:rPr>
              <a:t>两种产品，其情况如下表：</a:t>
            </a:r>
            <a:endParaRPr lang="en-US" altLang="zh-CN" dirty="0">
              <a:latin typeface="Comic Sans MS" pitchFamily="66" charset="0"/>
              <a:ea typeface="黑体" pitchFamily="49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latin typeface="Comic Sans MS" pitchFamily="66" charset="0"/>
                <a:ea typeface="黑体" pitchFamily="49" charset="-122"/>
              </a:rPr>
              <a:t>   试求出该工厂生</a:t>
            </a:r>
            <a:r>
              <a:rPr lang="zh-CN" altLang="en-US" sz="2800" dirty="0">
                <a:ea typeface="黑体" pitchFamily="49" charset="-122"/>
              </a:rPr>
              <a:t>产</a:t>
            </a: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zh-CN" altLang="en-US" sz="2800" dirty="0">
                <a:ea typeface="黑体" pitchFamily="49" charset="-122"/>
              </a:rPr>
              <a:t>、</a:t>
            </a:r>
            <a:r>
              <a:rPr lang="en-US" altLang="zh-CN" sz="2800" dirty="0">
                <a:ea typeface="黑体" pitchFamily="49" charset="-122"/>
              </a:rPr>
              <a:t>B</a:t>
            </a:r>
            <a:r>
              <a:rPr lang="zh-CN" altLang="en-US" sz="2800" dirty="0">
                <a:ea typeface="黑体" pitchFamily="49" charset="-122"/>
              </a:rPr>
              <a:t>两种</a:t>
            </a:r>
            <a:endParaRPr lang="en-US" altLang="zh-CN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</a:t>
            </a:r>
            <a:r>
              <a:rPr lang="zh-CN" altLang="en-US" sz="2800" dirty="0">
                <a:latin typeface="Comic Sans MS" pitchFamily="66" charset="0"/>
                <a:ea typeface="黑体" pitchFamily="49" charset="-122"/>
              </a:rPr>
              <a:t>产品的最佳方案。</a:t>
            </a:r>
            <a:endParaRPr lang="en-US" altLang="zh-CN" sz="2800" dirty="0">
              <a:latin typeface="Comic Sans MS" pitchFamily="66" charset="0"/>
              <a:ea typeface="黑体" pitchFamily="49" charset="-122"/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rgbClr val="FF0000"/>
                </a:solidFill>
                <a:latin typeface="Comic Sans MS" pitchFamily="66" charset="0"/>
                <a:ea typeface="黑体" pitchFamily="49" charset="-122"/>
              </a:rPr>
              <a:t>解：</a:t>
            </a:r>
            <a:endParaRPr lang="en-US" altLang="zh-CN" dirty="0">
              <a:solidFill>
                <a:srgbClr val="FF0000"/>
              </a:solidFill>
              <a:latin typeface="Comic Sans MS" pitchFamily="66" charset="0"/>
              <a:ea typeface="黑体" pitchFamily="49" charset="-122"/>
            </a:endParaRPr>
          </a:p>
          <a:p>
            <a:pPr eaLnBrk="1" hangingPunct="1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Comic Sans MS" pitchFamily="66" charset="0"/>
                <a:ea typeface="黑体" pitchFamily="49" charset="-122"/>
              </a:rPr>
              <a:t>  </a:t>
            </a:r>
            <a:r>
              <a:rPr lang="zh-CN" altLang="en-US" sz="2800" b="1" dirty="0">
                <a:ea typeface="华文楷体" pitchFamily="2" charset="-122"/>
              </a:rPr>
              <a:t>设</a:t>
            </a:r>
            <a:r>
              <a:rPr lang="en-US" altLang="zh-CN" sz="2800" b="1" dirty="0">
                <a:ea typeface="华文楷体" pitchFamily="2" charset="-122"/>
              </a:rPr>
              <a:t>x</a:t>
            </a:r>
            <a:r>
              <a:rPr lang="en-US" altLang="zh-CN" sz="2800" b="1" baseline="-25000" dirty="0">
                <a:ea typeface="华文楷体" pitchFamily="2" charset="-122"/>
              </a:rPr>
              <a:t>1</a:t>
            </a:r>
            <a:r>
              <a:rPr lang="zh-CN" altLang="en-US" sz="2800" b="1" dirty="0">
                <a:ea typeface="华文楷体" pitchFamily="2" charset="-122"/>
              </a:rPr>
              <a:t>、</a:t>
            </a:r>
            <a:r>
              <a:rPr lang="en-US" altLang="zh-CN" sz="2800" b="1" dirty="0">
                <a:ea typeface="华文楷体" pitchFamily="2" charset="-122"/>
              </a:rPr>
              <a:t>x</a:t>
            </a:r>
            <a:r>
              <a:rPr lang="en-US" altLang="zh-CN" sz="2800" b="1" baseline="-25000" dirty="0">
                <a:ea typeface="华文楷体" pitchFamily="2" charset="-122"/>
              </a:rPr>
              <a:t>2</a:t>
            </a:r>
            <a:r>
              <a:rPr lang="zh-CN" altLang="en-US" sz="2800" b="1" dirty="0">
                <a:ea typeface="华文楷体" pitchFamily="2" charset="-122"/>
              </a:rPr>
              <a:t>分别为每天生产的</a:t>
            </a:r>
            <a:r>
              <a:rPr lang="en-US" altLang="zh-CN" sz="2800" b="1" dirty="0">
                <a:ea typeface="华文楷体" pitchFamily="2" charset="-122"/>
              </a:rPr>
              <a:t>A</a:t>
            </a:r>
            <a:r>
              <a:rPr lang="zh-CN" altLang="en-US" sz="2800" b="1" dirty="0">
                <a:ea typeface="华文楷体" pitchFamily="2" charset="-122"/>
              </a:rPr>
              <a:t>、</a:t>
            </a:r>
            <a:r>
              <a:rPr lang="en-US" altLang="zh-CN" sz="2800" b="1" dirty="0">
                <a:ea typeface="华文楷体" pitchFamily="2" charset="-122"/>
              </a:rPr>
              <a:t>B</a:t>
            </a:r>
          </a:p>
          <a:p>
            <a:pPr eaLnBrk="1" hangingPunct="1">
              <a:buNone/>
            </a:pPr>
            <a:r>
              <a:rPr lang="zh-CN" altLang="en-US" sz="2800" b="1" dirty="0">
                <a:ea typeface="华文楷体" pitchFamily="2" charset="-122"/>
              </a:rPr>
              <a:t>   产品数，则每天的</a:t>
            </a:r>
            <a:r>
              <a:rPr lang="zh-CN" altLang="en-US" sz="2800" b="1" u="sng" dirty="0">
                <a:solidFill>
                  <a:srgbClr val="3333FF"/>
                </a:solidFill>
                <a:ea typeface="华文楷体" pitchFamily="2" charset="-122"/>
              </a:rPr>
              <a:t>利润 </a:t>
            </a:r>
            <a:r>
              <a:rPr lang="en-US" altLang="zh-CN" sz="2800" b="1" i="1" u="sng" dirty="0">
                <a:solidFill>
                  <a:srgbClr val="3333FF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ea typeface="华文楷体" pitchFamily="2" charset="-122"/>
              </a:rPr>
              <a:t>可表示为</a:t>
            </a:r>
            <a:endParaRPr lang="en-US" altLang="zh-CN" sz="2800" b="1" i="1" u="sng" dirty="0">
              <a:solidFill>
                <a:srgbClr val="3333FF"/>
              </a:solidFill>
              <a:latin typeface="Times New Roman" panose="02020603050405020304" pitchFamily="18" charset="0"/>
              <a:ea typeface="华文楷体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ea typeface="华文楷体" pitchFamily="2" charset="-122"/>
              </a:rPr>
              <a:t>   所要求的最佳方案可归结为求</a:t>
            </a:r>
            <a:r>
              <a:rPr lang="en-US" altLang="zh-CN" sz="2800" b="1" dirty="0">
                <a:ea typeface="华文楷体" pitchFamily="2" charset="-122"/>
              </a:rPr>
              <a:t>x</a:t>
            </a:r>
            <a:r>
              <a:rPr lang="en-US" altLang="zh-CN" sz="2800" b="1" baseline="-25000" dirty="0">
                <a:ea typeface="华文楷体" pitchFamily="2" charset="-122"/>
              </a:rPr>
              <a:t>1</a:t>
            </a:r>
            <a:r>
              <a:rPr lang="zh-CN" altLang="en-US" sz="2800" b="1" dirty="0">
                <a:ea typeface="华文楷体" pitchFamily="2" charset="-122"/>
              </a:rPr>
              <a:t>、</a:t>
            </a:r>
            <a:r>
              <a:rPr lang="en-US" altLang="zh-CN" sz="2800" b="1" dirty="0">
                <a:ea typeface="华文楷体" pitchFamily="2" charset="-122"/>
              </a:rPr>
              <a:t>x</a:t>
            </a:r>
            <a:r>
              <a:rPr lang="en-US" altLang="zh-CN" sz="2800" b="1" baseline="-25000" dirty="0">
                <a:ea typeface="华文楷体" pitchFamily="2" charset="-122"/>
              </a:rPr>
              <a:t>2</a:t>
            </a:r>
            <a:r>
              <a:rPr lang="zh-CN" altLang="en-US" sz="2800" b="1" dirty="0">
                <a:ea typeface="华文楷体" pitchFamily="2" charset="-122"/>
              </a:rPr>
              <a:t>，</a:t>
            </a:r>
            <a:endParaRPr lang="en-US" altLang="zh-CN" sz="2800" b="1" dirty="0">
              <a:ea typeface="华文楷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ea typeface="华文楷体" pitchFamily="2" charset="-122"/>
              </a:rPr>
              <a:t>   使利润最大，且满足右</a:t>
            </a:r>
            <a:r>
              <a:rPr lang="zh-CN" altLang="en-US" sz="2800" b="1" u="sng" dirty="0">
                <a:solidFill>
                  <a:srgbClr val="008000"/>
                </a:solidFill>
                <a:ea typeface="华文楷体" pitchFamily="2" charset="-122"/>
              </a:rPr>
              <a:t>约束条件</a:t>
            </a:r>
            <a:r>
              <a:rPr lang="zh-CN" altLang="en-US" sz="2800" b="1" dirty="0">
                <a:ea typeface="华文楷体" pitchFamily="2" charset="-122"/>
              </a:rPr>
              <a:t>的问题，</a:t>
            </a:r>
            <a:endParaRPr lang="en-US" altLang="zh-CN" sz="2800" b="1" dirty="0">
              <a:ea typeface="华文楷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3333FF"/>
                </a:solidFill>
                <a:ea typeface="华文楷体" pitchFamily="2" charset="-122"/>
              </a:rPr>
              <a:t>   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3333FF"/>
                </a:solidFill>
                <a:ea typeface="华文楷体" pitchFamily="2" charset="-122"/>
              </a:rPr>
              <a:t> </a:t>
            </a:r>
            <a:r>
              <a:rPr lang="zh-CN" altLang="en-US" sz="2800" b="1" dirty="0">
                <a:solidFill>
                  <a:srgbClr val="3333FF"/>
                </a:solidFill>
                <a:ea typeface="华文楷体" pitchFamily="2" charset="-122"/>
              </a:rPr>
              <a:t>为目标函数</a:t>
            </a:r>
            <a:r>
              <a:rPr lang="zh-CN" altLang="en-US" sz="2800" b="1" dirty="0">
                <a:ea typeface="华文楷体" pitchFamily="2" charset="-122"/>
              </a:rPr>
              <a:t>，</a:t>
            </a:r>
            <a:r>
              <a:rPr lang="en-US" altLang="zh-CN" sz="2800" b="1" dirty="0">
                <a:ea typeface="华文楷体" pitchFamily="2" charset="-122"/>
              </a:rPr>
              <a:t>x</a:t>
            </a:r>
            <a:r>
              <a:rPr lang="en-US" altLang="zh-CN" sz="2800" b="1" baseline="-25000" dirty="0">
                <a:ea typeface="华文楷体" pitchFamily="2" charset="-122"/>
              </a:rPr>
              <a:t>1</a:t>
            </a:r>
            <a:r>
              <a:rPr lang="zh-CN" altLang="en-US" sz="2800" b="1" dirty="0">
                <a:ea typeface="华文楷体" pitchFamily="2" charset="-122"/>
              </a:rPr>
              <a:t>、</a:t>
            </a:r>
            <a:r>
              <a:rPr lang="en-US" altLang="zh-CN" sz="2800" b="1" dirty="0">
                <a:ea typeface="华文楷体" pitchFamily="2" charset="-122"/>
              </a:rPr>
              <a:t>x</a:t>
            </a:r>
            <a:r>
              <a:rPr lang="en-US" altLang="zh-CN" sz="2800" b="1" baseline="-25000" dirty="0">
                <a:ea typeface="华文楷体" pitchFamily="2" charset="-122"/>
              </a:rPr>
              <a:t>2</a:t>
            </a:r>
            <a:r>
              <a:rPr lang="zh-CN" altLang="en-US" sz="2800" b="1" dirty="0">
                <a:ea typeface="华文楷体" pitchFamily="2" charset="-122"/>
              </a:rPr>
              <a:t>均为</a:t>
            </a:r>
            <a:r>
              <a:rPr lang="zh-CN" altLang="en-US" sz="2800" b="1" u="sng" dirty="0">
                <a:ea typeface="华文楷体" pitchFamily="2" charset="-122"/>
              </a:rPr>
              <a:t>线性函数</a:t>
            </a:r>
            <a:r>
              <a:rPr lang="zh-CN" altLang="en-US" sz="2800" dirty="0">
                <a:ea typeface="黑体" pitchFamily="49" charset="-122"/>
              </a:rPr>
              <a:t>。</a:t>
            </a:r>
            <a:endParaRPr lang="en-US" altLang="zh-CN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                      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——</a:t>
            </a:r>
            <a:r>
              <a:rPr lang="zh-CN" altLang="en-US" dirty="0">
                <a:solidFill>
                  <a:srgbClr val="CC00CC"/>
                </a:solidFill>
                <a:ea typeface="黑体" pitchFamily="49" charset="-122"/>
              </a:rPr>
              <a:t>线性规划问题</a:t>
            </a:r>
            <a:r>
              <a:rPr lang="en-US" altLang="zh-CN" sz="2800" b="1" dirty="0">
                <a:ea typeface="黑体" pitchFamily="49" charset="-122"/>
              </a:rPr>
              <a:t>   </a:t>
            </a:r>
            <a:endParaRPr lang="zh-CN" altLang="en-US" sz="2000" b="1" dirty="0">
              <a:ea typeface="楷体_GB2312" pitchFamily="1" charset="-122"/>
            </a:endParaRPr>
          </a:p>
        </p:txBody>
      </p:sp>
      <p:graphicFrame>
        <p:nvGraphicFramePr>
          <p:cNvPr id="614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851640"/>
              </p:ext>
            </p:extLst>
          </p:nvPr>
        </p:nvGraphicFramePr>
        <p:xfrm>
          <a:off x="6744072" y="1983049"/>
          <a:ext cx="5111750" cy="2197100"/>
        </p:xfrm>
        <a:graphic>
          <a:graphicData uri="http://schemas.openxmlformats.org/drawingml/2006/table">
            <a:tbl>
              <a:tblPr/>
              <a:tblGrid>
                <a:gridCol w="97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1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6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华文楷体" pitchFamily="2" charset="-122"/>
                      </a:endParaRP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A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产品需要工时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B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产品需要工时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机床每天最大可利用工时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机床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2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10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机床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2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1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6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6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单件产品利润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1.5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元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1.0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元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华文楷体" pitchFamily="2" charset="-122"/>
                        </a:rPr>
                        <a:t>——</a:t>
                      </a:r>
                    </a:p>
                  </a:txBody>
                  <a:tcPr marL="91425" marR="91425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17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309105"/>
              </p:ext>
            </p:extLst>
          </p:nvPr>
        </p:nvGraphicFramePr>
        <p:xfrm>
          <a:off x="8013109" y="4370935"/>
          <a:ext cx="30749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4960" imgH="228600" progId="Equation.DSMT4">
                  <p:embed/>
                </p:oleObj>
              </mc:Choice>
              <mc:Fallback>
                <p:oleObj name="Equation" r:id="rId2" imgW="1434960" imgH="228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3109" y="4370935"/>
                        <a:ext cx="3074987" cy="4889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92119"/>
              </p:ext>
            </p:extLst>
          </p:nvPr>
        </p:nvGraphicFramePr>
        <p:xfrm>
          <a:off x="8624295" y="5067327"/>
          <a:ext cx="1852613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4292" imgH="711826" progId="Equation.DSMT4">
                  <p:embed/>
                </p:oleObj>
              </mc:Choice>
              <mc:Fallback>
                <p:oleObj name="Equation" r:id="rId4" imgW="864292" imgH="711826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4295" y="5067327"/>
                        <a:ext cx="1852613" cy="15271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8978BF-2CC3-65E2-4676-8411DDCFCC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 idx="4294967295"/>
          </p:nvPr>
        </p:nvSpPr>
        <p:spPr>
          <a:xfrm>
            <a:off x="1992313" y="188913"/>
            <a:ext cx="8229600" cy="1371600"/>
          </a:xfrm>
        </p:spPr>
        <p:txBody>
          <a:bodyPr/>
          <a:lstStyle/>
          <a:p>
            <a:pPr algn="ctr"/>
            <a:r>
              <a:rPr lang="zh-CN" altLang="zh-CN">
                <a:solidFill>
                  <a:srgbClr val="008000"/>
                </a:solidFill>
                <a:ea typeface="黑体" pitchFamily="49" charset="-122"/>
              </a:rPr>
              <a:t>经典线性规划的数学模型</a:t>
            </a:r>
            <a:endParaRPr lang="zh-CN" altLang="zh-CN"/>
          </a:p>
        </p:txBody>
      </p:sp>
      <p:sp>
        <p:nvSpPr>
          <p:cNvPr id="7171" name="内容占位符 2"/>
          <p:cNvSpPr>
            <a:spLocks noGrp="1"/>
          </p:cNvSpPr>
          <p:nvPr>
            <p:ph idx="4294967295"/>
          </p:nvPr>
        </p:nvSpPr>
        <p:spPr>
          <a:xfrm>
            <a:off x="1055440" y="1412875"/>
            <a:ext cx="10585176" cy="5111750"/>
          </a:xfrm>
        </p:spPr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目标函数：</a:t>
            </a:r>
            <a:endParaRPr lang="en-US" altLang="zh-CN" sz="28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800" dirty="0">
                <a:solidFill>
                  <a:srgbClr val="3333FF"/>
                </a:solidFill>
                <a:latin typeface="黑体" pitchFamily="49" charset="-122"/>
                <a:ea typeface="黑体" pitchFamily="49" charset="-122"/>
              </a:rPr>
              <a:t>约束条件</a:t>
            </a:r>
            <a:r>
              <a:rPr lang="zh-CN" altLang="en-US" sz="2800" dirty="0"/>
              <a:t>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sz="2800" dirty="0"/>
          </a:p>
          <a:p>
            <a:pPr lvl="1" indent="-342900">
              <a:buFont typeface="Wingdings" panose="05000000000000000000" pitchFamily="2" charset="2"/>
              <a:buChar char="l"/>
            </a:pP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ij</a:t>
            </a:r>
            <a:r>
              <a:rPr lang="zh-CN" altLang="en-US" sz="2400" dirty="0"/>
              <a:t>为技术系数 </a:t>
            </a:r>
            <a:r>
              <a:rPr lang="en-US" altLang="zh-CN" sz="2400" dirty="0"/>
              <a:t>(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=1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,…,m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 j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=1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,…n</a:t>
            </a:r>
            <a:r>
              <a:rPr lang="en-US" altLang="zh-CN" sz="2400" dirty="0"/>
              <a:t>)</a:t>
            </a:r>
          </a:p>
          <a:p>
            <a:pPr lvl="1" indent="-342900">
              <a:buFont typeface="Wingdings" panose="05000000000000000000" pitchFamily="2" charset="2"/>
              <a:buChar char="l"/>
            </a:pP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zh-CN" altLang="en-US" sz="2400" dirty="0"/>
              <a:t>为资源限量</a:t>
            </a:r>
            <a:r>
              <a:rPr lang="en-US" altLang="zh-CN" sz="2400" dirty="0"/>
              <a:t> (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=1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,…,m</a:t>
            </a:r>
            <a:r>
              <a:rPr lang="en-US" altLang="zh-CN" sz="2400" dirty="0"/>
              <a:t>)</a:t>
            </a:r>
          </a:p>
          <a:p>
            <a:pPr lvl="1" indent="-342900">
              <a:buFont typeface="Wingdings" panose="05000000000000000000" pitchFamily="2" charset="2"/>
              <a:buChar char="l"/>
            </a:pP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zh-CN" altLang="en-US" sz="2400" dirty="0"/>
              <a:t>为价值系数</a:t>
            </a:r>
            <a:r>
              <a:rPr lang="en-US" altLang="zh-CN" sz="2400" dirty="0"/>
              <a:t> (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=1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,…,m</a:t>
            </a:r>
            <a:r>
              <a:rPr lang="en-US" altLang="zh-CN" sz="2400" dirty="0"/>
              <a:t>)</a:t>
            </a:r>
          </a:p>
          <a:p>
            <a:pPr lvl="1" indent="-342900">
              <a:buFont typeface="Wingdings" panose="05000000000000000000" pitchFamily="2" charset="2"/>
              <a:buChar char="l"/>
            </a:pP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zh-CN" altLang="en-US" sz="2400" dirty="0"/>
              <a:t>为决策变量 </a:t>
            </a:r>
            <a:r>
              <a:rPr lang="en-US" altLang="zh-CN" sz="2400" dirty="0"/>
              <a:t>(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=1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,…,n</a:t>
            </a:r>
            <a:r>
              <a:rPr lang="en-US" altLang="zh-CN" sz="2400" dirty="0"/>
              <a:t>)</a:t>
            </a:r>
          </a:p>
          <a:p>
            <a:pPr algn="r"/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求一组决策变量满足约束条件，且使得目标函数值最大。</a:t>
            </a:r>
            <a:r>
              <a:rPr lang="en-US" altLang="zh-CN" sz="2800" b="1" dirty="0">
                <a:latin typeface="华文楷体" pitchFamily="2" charset="-122"/>
                <a:ea typeface="华文楷体" pitchFamily="2" charset="-122"/>
              </a:rPr>
              <a:t>——</a:t>
            </a:r>
            <a:r>
              <a:rPr lang="zh-CN" altLang="en-US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itchFamily="2" charset="-122"/>
                <a:ea typeface="华文楷体" pitchFamily="2" charset="-122"/>
              </a:rPr>
              <a:t>最优解</a:t>
            </a: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4509266"/>
              </p:ext>
            </p:extLst>
          </p:nvPr>
        </p:nvGraphicFramePr>
        <p:xfrm>
          <a:off x="3404568" y="1412875"/>
          <a:ext cx="36798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228600" progId="Equation.DSMT4">
                  <p:embed/>
                </p:oleObj>
              </mc:Choice>
              <mc:Fallback>
                <p:oleObj name="Equation" r:id="rId2" imgW="171432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4568" y="1412875"/>
                        <a:ext cx="3679825" cy="4889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236505"/>
              </p:ext>
            </p:extLst>
          </p:nvPr>
        </p:nvGraphicFramePr>
        <p:xfrm>
          <a:off x="3359696" y="1916114"/>
          <a:ext cx="5401097" cy="229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8417" imgH="1092517" progId="Equation.DSMT4">
                  <p:embed/>
                </p:oleObj>
              </mc:Choice>
              <mc:Fallback>
                <p:oleObj name="Equation" r:id="rId4" imgW="2578417" imgH="10925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1916114"/>
                        <a:ext cx="5401097" cy="229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5C1FBE-13F3-606A-4F0A-5CB7E67D1F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>
          <a:xfrm>
            <a:off x="1631950" y="188913"/>
            <a:ext cx="89281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经典线性规划的数学模型</a:t>
            </a:r>
            <a:r>
              <a:rPr lang="en-US" altLang="zh-CN" sz="3200" dirty="0">
                <a:ea typeface="黑体" pitchFamily="49" charset="-122"/>
              </a:rPr>
              <a:t>——</a:t>
            </a:r>
            <a:r>
              <a:rPr lang="zh-CN" altLang="en-US" sz="3200" dirty="0">
                <a:ea typeface="黑体" pitchFamily="49" charset="-122"/>
              </a:rPr>
              <a:t>矩阵表示</a:t>
            </a:r>
            <a:endParaRPr lang="zh-CN" altLang="en-US" sz="3200" dirty="0"/>
          </a:p>
        </p:txBody>
      </p:sp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1282700" y="1557338"/>
            <a:ext cx="8928100" cy="4824412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记 </a:t>
            </a:r>
            <a:endParaRPr lang="en-US" altLang="zh-CN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endParaRPr lang="en-US" altLang="zh-CN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endParaRPr lang="en-US" altLang="zh-CN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endParaRPr lang="en-US" altLang="zh-CN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endParaRPr lang="en-US" altLang="zh-CN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则线性规划模型可简写为：</a:t>
            </a:r>
            <a:endParaRPr lang="zh-CN" altLang="en-US" b="1" dirty="0">
              <a:latin typeface="华文楷体" pitchFamily="2" charset="-122"/>
              <a:ea typeface="华文楷体" pitchFamily="2" charset="-122"/>
            </a:endParaRP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438500"/>
              </p:ext>
            </p:extLst>
          </p:nvPr>
        </p:nvGraphicFramePr>
        <p:xfrm>
          <a:off x="2605137" y="1628775"/>
          <a:ext cx="26685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870717" imgH="5486717" progId="Equation.DSMT4">
                  <p:embed/>
                </p:oleObj>
              </mc:Choice>
              <mc:Fallback>
                <p:oleObj name="Equation" r:id="rId2" imgW="29870717" imgH="548671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137" y="1628775"/>
                        <a:ext cx="2668588" cy="4889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318070"/>
              </p:ext>
            </p:extLst>
          </p:nvPr>
        </p:nvGraphicFramePr>
        <p:xfrm>
          <a:off x="2495600" y="2276476"/>
          <a:ext cx="6400800" cy="201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628317" imgH="22555517" progId="Equation.DSMT4">
                  <p:embed/>
                </p:oleObj>
              </mc:Choice>
              <mc:Fallback>
                <p:oleObj name="Equation" r:id="rId4" imgW="71628317" imgH="225555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2276476"/>
                        <a:ext cx="6400800" cy="201771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308377"/>
              </p:ext>
            </p:extLst>
          </p:nvPr>
        </p:nvGraphicFramePr>
        <p:xfrm>
          <a:off x="2927648" y="5044976"/>
          <a:ext cx="3381052" cy="165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720" imgH="685800" progId="Equation.DSMT4">
                  <p:embed/>
                </p:oleObj>
              </mc:Choice>
              <mc:Fallback>
                <p:oleObj name="Equation" r:id="rId6" imgW="148572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5044976"/>
                        <a:ext cx="3381052" cy="165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112224" y="4757951"/>
            <a:ext cx="3135114" cy="1947649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dirty="0" err="1">
                <a:latin typeface="+mn-lt"/>
                <a:ea typeface="黑体" panose="02010609060101010101" pitchFamily="49" charset="-122"/>
                <a:cs typeface="Times New Roman" pitchFamily="18" charset="0"/>
              </a:rPr>
              <a:t>A</a:t>
            </a:r>
            <a:r>
              <a:rPr lang="en-US" altLang="zh-CN" sz="2800" b="1" i="1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800" b="1" baseline="-25000" dirty="0" err="1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800" b="1" dirty="0"/>
              <a:t>为技术系数</a:t>
            </a:r>
            <a:endParaRPr lang="en-US" altLang="zh-CN" sz="2800" b="1" dirty="0"/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ea typeface="黑体" panose="02010609060101010101" pitchFamily="49" charset="-122"/>
                <a:cs typeface="Times New Roman" pitchFamily="18" charset="0"/>
              </a:rPr>
              <a:t>b</a:t>
            </a:r>
            <a:r>
              <a:rPr lang="en-US" altLang="zh-CN" sz="2800" b="1" i="1" baseline="-25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800" b="1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b="1" dirty="0"/>
              <a:t>为资源限量</a:t>
            </a:r>
            <a:r>
              <a:rPr lang="en-US" altLang="zh-CN" sz="2800" b="1" dirty="0"/>
              <a:t> </a:t>
            </a: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ea typeface="黑体" panose="02010609060101010101" pitchFamily="49" charset="-122"/>
                <a:cs typeface="Times New Roman" pitchFamily="18" charset="0"/>
              </a:rPr>
              <a:t>C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baseline="-25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2800" b="1" dirty="0"/>
              <a:t>为价值系数</a:t>
            </a:r>
            <a:r>
              <a:rPr lang="en-US" altLang="zh-CN" sz="2800" b="1" dirty="0"/>
              <a:t> </a:t>
            </a:r>
          </a:p>
          <a:p>
            <a:pPr>
              <a:lnSpc>
                <a:spcPct val="110000"/>
              </a:lnSpc>
            </a:pPr>
            <a:r>
              <a:rPr lang="en-US" altLang="zh-CN" sz="2800" b="1" i="1" dirty="0">
                <a:ea typeface="黑体" panose="02010609060101010101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1  </a:t>
            </a:r>
            <a:r>
              <a:rPr lang="zh-CN" altLang="en-US" sz="2800" b="1" dirty="0"/>
              <a:t>为决策变量 </a:t>
            </a:r>
            <a:endParaRPr lang="en-US" altLang="zh-CN" sz="2800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9EE4F3-4191-2F30-69ED-83548C45BB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 autoUpdateAnimBg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4"/>
          <p:cNvSpPr>
            <a:spLocks noGrp="1"/>
          </p:cNvSpPr>
          <p:nvPr>
            <p:ph type="title" idx="4294967295"/>
          </p:nvPr>
        </p:nvSpPr>
        <p:spPr>
          <a:xfrm>
            <a:off x="1703389" y="260350"/>
            <a:ext cx="8785225" cy="1371600"/>
          </a:xfrm>
        </p:spPr>
        <p:txBody>
          <a:bodyPr/>
          <a:lstStyle/>
          <a:p>
            <a:r>
              <a:rPr lang="zh-CN" altLang="zh-CN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线性规划问题的一般形式转化方法</a:t>
            </a:r>
          </a:p>
        </p:txBody>
      </p:sp>
      <p:sp>
        <p:nvSpPr>
          <p:cNvPr id="9219" name="内容占位符 5"/>
          <p:cNvSpPr>
            <a:spLocks noGrp="1"/>
          </p:cNvSpPr>
          <p:nvPr>
            <p:ph idx="4294967295"/>
          </p:nvPr>
        </p:nvSpPr>
        <p:spPr>
          <a:xfrm>
            <a:off x="1271464" y="1700214"/>
            <a:ext cx="10153128" cy="4968875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目标函数最大与最小相互转换：</a:t>
            </a:r>
            <a:endParaRPr lang="en-US" altLang="zh-CN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lvl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将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i="1" dirty="0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换为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i="1" dirty="0">
                <a:latin typeface="黑体" pitchFamily="49" charset="-122"/>
                <a:ea typeface="黑体" pitchFamily="49" charset="-122"/>
              </a:rPr>
              <a:t>- </a:t>
            </a:r>
            <a:r>
              <a:rPr lang="en-US" altLang="zh-CN" i="1" dirty="0">
                <a:latin typeface="Times New Roman" pitchFamily="18" charset="0"/>
                <a:ea typeface="黑体" pitchFamily="49" charset="-122"/>
              </a:rPr>
              <a:t>f</a:t>
            </a:r>
          </a:p>
          <a:p>
            <a:pPr lvl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如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>
                <a:solidFill>
                  <a:srgbClr val="3333FF"/>
                </a:solidFill>
                <a:latin typeface="黑体" pitchFamily="49" charset="-122"/>
                <a:ea typeface="黑体" pitchFamily="49" charset="-122"/>
              </a:rPr>
              <a:t>不等式约束转化为等式约束：</a:t>
            </a:r>
            <a:endParaRPr lang="en-US" altLang="zh-CN" dirty="0">
              <a:solidFill>
                <a:srgbClr val="3333FF"/>
              </a:solidFill>
              <a:latin typeface="黑体" pitchFamily="49" charset="-122"/>
              <a:ea typeface="黑体" pitchFamily="49" charset="-122"/>
            </a:endParaRPr>
          </a:p>
          <a:p>
            <a:pPr lvl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加上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减去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一个新变量(松弛变量)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  <a:p>
            <a:pPr lvl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如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等式约束转化为不等式约束 </a:t>
            </a:r>
            <a:endParaRPr lang="en-US" altLang="zh-CN" dirty="0">
              <a:solidFill>
                <a:srgbClr val="CC00CC"/>
              </a:solidFill>
              <a:latin typeface="黑体" pitchFamily="49" charset="-122"/>
              <a:ea typeface="黑体" pitchFamily="49" charset="-122"/>
            </a:endParaRPr>
          </a:p>
          <a:p>
            <a:pPr lvl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如</a:t>
            </a:r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301134"/>
              </p:ext>
            </p:extLst>
          </p:nvPr>
        </p:nvGraphicFramePr>
        <p:xfrm>
          <a:off x="2783632" y="2852739"/>
          <a:ext cx="30829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228600" progId="Equation.DSMT4">
                  <p:embed/>
                </p:oleObj>
              </mc:Choice>
              <mc:Fallback>
                <p:oleObj name="Equation" r:id="rId2" imgW="134604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2852739"/>
                        <a:ext cx="30829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703070"/>
              </p:ext>
            </p:extLst>
          </p:nvPr>
        </p:nvGraphicFramePr>
        <p:xfrm>
          <a:off x="2999656" y="4470400"/>
          <a:ext cx="163195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080" imgH="228600" progId="Equation.DSMT4">
                  <p:embed/>
                </p:oleObj>
              </mc:Choice>
              <mc:Fallback>
                <p:oleObj name="Equation" r:id="rId4" imgW="83808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4470400"/>
                        <a:ext cx="163195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447222"/>
              </p:ext>
            </p:extLst>
          </p:nvPr>
        </p:nvGraphicFramePr>
        <p:xfrm>
          <a:off x="2711624" y="5918424"/>
          <a:ext cx="19050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228600" progId="Equation.DSMT4">
                  <p:embed/>
                </p:oleObj>
              </mc:Choice>
              <mc:Fallback>
                <p:oleObj name="Equation" r:id="rId6" imgW="85068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5918424"/>
                        <a:ext cx="19050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800415"/>
              </p:ext>
            </p:extLst>
          </p:nvPr>
        </p:nvGraphicFramePr>
        <p:xfrm>
          <a:off x="8362407" y="5131137"/>
          <a:ext cx="1872207" cy="1719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7320" imgH="685800" progId="Equation.DSMT4">
                  <p:embed/>
                </p:oleObj>
              </mc:Choice>
              <mc:Fallback>
                <p:oleObj name="Equation" r:id="rId8" imgW="787320" imgH="685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2407" y="5131137"/>
                        <a:ext cx="1872207" cy="171939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75111"/>
              </p:ext>
            </p:extLst>
          </p:nvPr>
        </p:nvGraphicFramePr>
        <p:xfrm>
          <a:off x="6293593" y="2852739"/>
          <a:ext cx="29733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1280" imgH="228600" progId="Equation.DSMT4">
                  <p:embed/>
                </p:oleObj>
              </mc:Choice>
              <mc:Fallback>
                <p:oleObj name="Equation" r:id="rId10" imgW="151128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3593" y="2852739"/>
                        <a:ext cx="2973388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692501" y="27617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Symbol"/>
              </a:rPr>
              <a:t></a:t>
            </a:r>
            <a:endParaRPr lang="zh-CN" altLang="en-US" sz="2800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926082D7-2419-8F26-867B-E803005791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859953"/>
              </p:ext>
            </p:extLst>
          </p:nvPr>
        </p:nvGraphicFramePr>
        <p:xfrm>
          <a:off x="4677828" y="4451288"/>
          <a:ext cx="2295291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31560" imgH="228600" progId="Equation.DSMT4">
                  <p:embed/>
                </p:oleObj>
              </mc:Choice>
              <mc:Fallback>
                <p:oleObj name="Equation" r:id="rId12" imgW="1231560" imgH="228600" progId="Equation.DSMT4">
                  <p:embed/>
                  <p:pic>
                    <p:nvPicPr>
                      <p:cNvPr id="92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7828" y="4451288"/>
                        <a:ext cx="2295291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75475F65-5817-27F4-2DC0-7762994134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388521"/>
              </p:ext>
            </p:extLst>
          </p:nvPr>
        </p:nvGraphicFramePr>
        <p:xfrm>
          <a:off x="4538787" y="5661248"/>
          <a:ext cx="23876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66680" imgH="482400" progId="Equation.DSMT4">
                  <p:embed/>
                </p:oleObj>
              </mc:Choice>
              <mc:Fallback>
                <p:oleObj name="Equation" r:id="rId14" imgW="1066680" imgH="482400" progId="Equation.DSMT4">
                  <p:embed/>
                  <p:pic>
                    <p:nvPicPr>
                      <p:cNvPr id="92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8787" y="5661248"/>
                        <a:ext cx="23876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4B6F2A-738B-58E6-347B-E03FB361EB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 autoUpdateAnimBg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7475"/>
            <a:ext cx="8229600" cy="1371600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线性规划问题的解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485900"/>
            <a:ext cx="10153128" cy="5183188"/>
          </a:xfrm>
        </p:spPr>
        <p:txBody>
          <a:bodyPr vert="horz" wrap="square" lIns="90170" tIns="46990" rIns="90170" bIns="4699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记</a:t>
            </a: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ea typeface="黑体" pitchFamily="49" charset="-122"/>
              </a:rPr>
              <a:t>定义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若</a:t>
            </a:r>
            <a:r>
              <a:rPr lang="zh-CN" altLang="en-US" sz="2400" b="1" dirty="0">
                <a:latin typeface="Times New Roman" pitchFamily="18" charset="0"/>
                <a:ea typeface="楷体" pitchFamily="49" charset="-122"/>
              </a:rPr>
              <a:t>x</a:t>
            </a:r>
            <a:r>
              <a:rPr lang="zh-CN" altLang="en-US" sz="2400" b="1" baseline="30000" dirty="0">
                <a:latin typeface="Times New Roman" pitchFamily="18" charset="0"/>
                <a:ea typeface="楷体" pitchFamily="49" charset="-122"/>
              </a:rPr>
              <a:t>(0)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满足约束条件，则称</a:t>
            </a:r>
            <a:r>
              <a:rPr lang="zh-CN" altLang="en-US" sz="2400" b="1" dirty="0">
                <a:latin typeface="Times New Roman" pitchFamily="18" charset="0"/>
                <a:ea typeface="楷体" pitchFamily="49" charset="-122"/>
              </a:rPr>
              <a:t>x</a:t>
            </a:r>
            <a:r>
              <a:rPr lang="zh-CN" altLang="en-US" sz="2400" b="1" baseline="30000" dirty="0">
                <a:latin typeface="Times New Roman" pitchFamily="18" charset="0"/>
                <a:ea typeface="楷体" pitchFamily="49" charset="-122"/>
              </a:rPr>
              <a:t>(0)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是线性规划问题的</a:t>
            </a:r>
            <a:r>
              <a:rPr lang="zh-CN" altLang="en-US" sz="2400" b="1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可行解</a:t>
            </a:r>
            <a:r>
              <a:rPr lang="en-US" altLang="zh-CN" sz="2400" b="1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,</a:t>
            </a:r>
            <a:endParaRPr lang="zh-CN" altLang="en-US" sz="2400" b="1" dirty="0">
              <a:solidFill>
                <a:srgbClr val="3333FF"/>
              </a:solidFill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使目标函数达到最大值的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可行解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，称为</a:t>
            </a:r>
            <a:r>
              <a:rPr lang="zh-CN" altLang="en-US" sz="2400" b="1" dirty="0">
                <a:solidFill>
                  <a:srgbClr val="CC00CC"/>
                </a:solidFill>
                <a:latin typeface="楷体" pitchFamily="49" charset="-122"/>
                <a:ea typeface="楷体" pitchFamily="49" charset="-122"/>
              </a:rPr>
              <a:t>最优解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。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若</a:t>
            </a:r>
            <a:r>
              <a:rPr lang="zh-CN" altLang="en-US" sz="2400" b="1" dirty="0">
                <a:latin typeface="Times New Roman" pitchFamily="18" charset="0"/>
                <a:ea typeface="楷体" pitchFamily="49" charset="-122"/>
              </a:rPr>
              <a:t>A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中有</a:t>
            </a:r>
            <a:r>
              <a:rPr lang="zh-CN" altLang="en-US" sz="2400" b="1" dirty="0">
                <a:latin typeface="Times New Roman" pitchFamily="18" charset="0"/>
                <a:ea typeface="楷体" pitchFamily="49" charset="-122"/>
              </a:rPr>
              <a:t>s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个列向量          </a:t>
            </a:r>
            <a:r>
              <a:rPr lang="zh-CN" altLang="en-US" sz="2400" b="1" u="sng" dirty="0">
                <a:latin typeface="楷体" pitchFamily="49" charset="-122"/>
                <a:ea typeface="楷体" pitchFamily="49" charset="-122"/>
              </a:rPr>
              <a:t>线性无关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，则称这个向量组为线性规划问题的一个</a:t>
            </a:r>
            <a:r>
              <a:rPr lang="zh-CN" altLang="en-US" sz="2400" b="1" dirty="0">
                <a:solidFill>
                  <a:srgbClr val="008000"/>
                </a:solidFill>
                <a:latin typeface="楷体" pitchFamily="49" charset="-122"/>
                <a:ea typeface="楷体" pitchFamily="49" charset="-122"/>
              </a:rPr>
              <a:t>基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，</a:t>
            </a:r>
          </a:p>
          <a:p>
            <a:pPr lvl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    记        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基</a:t>
            </a:r>
            <a:r>
              <a:rPr lang="zh-CN" altLang="en-US" sz="2400" b="1" i="1" dirty="0">
                <a:latin typeface="Times New Roman" pitchFamily="18" charset="0"/>
                <a:ea typeface="楷体" pitchFamily="49" charset="-122"/>
              </a:rPr>
              <a:t>P</a:t>
            </a:r>
            <a:r>
              <a:rPr lang="zh-CN" altLang="en-US" sz="2400" b="1" i="1" baseline="-25000" dirty="0">
                <a:latin typeface="Times New Roman" pitchFamily="18" charset="0"/>
                <a:ea typeface="楷体" pitchFamily="49" charset="-122"/>
              </a:rPr>
              <a:t>jk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对应的变量为</a:t>
            </a:r>
            <a:r>
              <a:rPr lang="zh-CN" altLang="en-US" sz="2400" b="1" dirty="0">
                <a:latin typeface="Times New Roman" pitchFamily="18" charset="0"/>
                <a:ea typeface="楷体" pitchFamily="49" charset="-122"/>
              </a:rPr>
              <a:t>x</a:t>
            </a:r>
            <a:r>
              <a:rPr lang="zh-CN" altLang="en-US" sz="2400" i="1" baseline="-25000" dirty="0">
                <a:latin typeface="Times New Roman" pitchFamily="18" charset="0"/>
                <a:ea typeface="楷体" pitchFamily="49" charset="-122"/>
              </a:rPr>
              <a:t>jk</a:t>
            </a:r>
            <a:r>
              <a:rPr lang="zh-CN" altLang="en-US" sz="2400" b="1" dirty="0">
                <a:latin typeface="Times New Roman" pitchFamily="18" charset="0"/>
                <a:ea typeface="楷体" pitchFamily="49" charset="-122"/>
              </a:rPr>
              <a:t>(</a:t>
            </a:r>
            <a:r>
              <a:rPr lang="zh-CN" altLang="en-US" sz="2400" b="1" i="1" dirty="0">
                <a:latin typeface="Times New Roman" pitchFamily="18" charset="0"/>
                <a:ea typeface="楷体" pitchFamily="49" charset="-122"/>
              </a:rPr>
              <a:t>k</a:t>
            </a:r>
            <a:r>
              <a:rPr lang="zh-CN" altLang="en-US" sz="2400" b="1" dirty="0">
                <a:latin typeface="Times New Roman" pitchFamily="18" charset="0"/>
                <a:ea typeface="楷体" pitchFamily="49" charset="-122"/>
              </a:rPr>
              <a:t>=1,2,...,s),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称为</a:t>
            </a:r>
            <a:r>
              <a:rPr lang="zh-CN" altLang="en-US" sz="2400" b="1" u="sng" dirty="0">
                <a:latin typeface="楷体" pitchFamily="49" charset="-122"/>
                <a:ea typeface="楷体" pitchFamily="49" charset="-122"/>
              </a:rPr>
              <a:t>基变量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，或称</a:t>
            </a:r>
            <a:r>
              <a:rPr lang="zh-CN" altLang="en-US" sz="2400" b="1" dirty="0">
                <a:solidFill>
                  <a:srgbClr val="008000"/>
                </a:solidFill>
                <a:latin typeface="楷体" pitchFamily="49" charset="-122"/>
                <a:ea typeface="楷体" pitchFamily="49" charset="-122"/>
              </a:rPr>
              <a:t>基础解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，记   </a:t>
            </a:r>
          </a:p>
          <a:p>
            <a:pPr lvl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  其余变量称为</a:t>
            </a:r>
            <a:r>
              <a:rPr lang="zh-CN" altLang="en-US" sz="2400" b="1" u="sng" dirty="0">
                <a:latin typeface="楷体" pitchFamily="49" charset="-122"/>
                <a:ea typeface="楷体" pitchFamily="49" charset="-122"/>
              </a:rPr>
              <a:t>非基变量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。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308713"/>
              </p:ext>
            </p:extLst>
          </p:nvPr>
        </p:nvGraphicFramePr>
        <p:xfrm>
          <a:off x="9264761" y="1412875"/>
          <a:ext cx="1892077" cy="1565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320" imgH="685800" progId="Equation.DSMT4">
                  <p:embed/>
                </p:oleObj>
              </mc:Choice>
              <mc:Fallback>
                <p:oleObj name="Equation" r:id="rId2" imgW="78732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4761" y="1412875"/>
                        <a:ext cx="1892077" cy="156569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 cap="flat" cmpd="sng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2784476" y="1412875"/>
          <a:ext cx="4316413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569917" imgH="23165117" progId="Equation.DSMT4">
                  <p:embed/>
                </p:oleObj>
              </mc:Choice>
              <mc:Fallback>
                <p:oleObj name="Equation" r:id="rId4" imgW="61569917" imgH="231651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6" y="1412875"/>
                        <a:ext cx="4316413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045319"/>
              </p:ext>
            </p:extLst>
          </p:nvPr>
        </p:nvGraphicFramePr>
        <p:xfrm>
          <a:off x="4439816" y="4149080"/>
          <a:ext cx="1457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507517" imgH="5791517" progId="Equation.DSMT4">
                  <p:embed/>
                </p:oleObj>
              </mc:Choice>
              <mc:Fallback>
                <p:oleObj name="Equation" r:id="rId6" imgW="19507517" imgH="579151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816" y="4149080"/>
                        <a:ext cx="14573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460182"/>
              </p:ext>
            </p:extLst>
          </p:nvPr>
        </p:nvGraphicFramePr>
        <p:xfrm>
          <a:off x="3431704" y="5013424"/>
          <a:ext cx="21161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346717" imgH="5791517" progId="Equation.DSMT4">
                  <p:embed/>
                </p:oleObj>
              </mc:Choice>
              <mc:Fallback>
                <p:oleObj name="Equation" r:id="rId8" imgW="28346717" imgH="579151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5013424"/>
                        <a:ext cx="21161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236046"/>
              </p:ext>
            </p:extLst>
          </p:nvPr>
        </p:nvGraphicFramePr>
        <p:xfrm>
          <a:off x="5375920" y="5949280"/>
          <a:ext cx="22066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565917" imgH="5791517" progId="Equation.DSMT4">
                  <p:embed/>
                </p:oleObj>
              </mc:Choice>
              <mc:Fallback>
                <p:oleObj name="Equation" r:id="rId10" imgW="29565917" imgH="579151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20" y="5949280"/>
                        <a:ext cx="22066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26DF4D7-CDD2-5DF3-FC3D-48E553DC3B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7475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基变量与非基变量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1485900"/>
            <a:ext cx="9793088" cy="5183188"/>
          </a:xfrm>
        </p:spPr>
        <p:txBody>
          <a:bodyPr vert="horz" wrap="square" lIns="90170" tIns="46990" rIns="90170" bIns="4699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r>
              <a:rPr lang="zh-CN" altLang="en-US" sz="2800" dirty="0">
                <a:ea typeface="黑体" pitchFamily="49" charset="-122"/>
              </a:rPr>
              <a:t>若基础解又是可行解，称为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基础可行解</a:t>
            </a:r>
            <a:endParaRPr lang="zh-CN" altLang="en-US" sz="2400" dirty="0">
              <a:solidFill>
                <a:srgbClr val="FF0000"/>
              </a:solidFill>
              <a:ea typeface="黑体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  如：</a:t>
            </a:r>
            <a:endParaRPr lang="en-US" altLang="zh-CN" sz="2400" b="1" dirty="0">
              <a:latin typeface="楷体" pitchFamily="49" charset="-122"/>
              <a:ea typeface="楷体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zh-CN" altLang="en-US" sz="2400" b="1" dirty="0"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楷体" pitchFamily="49" charset="-122"/>
              <a:ea typeface="楷体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latin typeface="楷体" pitchFamily="49" charset="-122"/>
                <a:ea typeface="黑体" pitchFamily="49" charset="-122"/>
              </a:rPr>
              <a:t>   </a:t>
            </a:r>
            <a:r>
              <a:rPr lang="zh-CN" altLang="en-US" sz="2400" dirty="0">
                <a:latin typeface="+mn-ea"/>
              </a:rPr>
              <a:t>若系数矩阵</a:t>
            </a:r>
            <a:endParaRPr lang="en-US" altLang="zh-CN" sz="2400" dirty="0">
              <a:latin typeface="+mn-ea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楷体" pitchFamily="49" charset="-122"/>
              <a:ea typeface="黑体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zh-CN" altLang="en-US" sz="2400" b="1" dirty="0">
              <a:latin typeface="楷体" pitchFamily="49" charset="-122"/>
              <a:ea typeface="黑体" pitchFamily="49" charset="-122"/>
            </a:endParaRPr>
          </a:p>
          <a:p>
            <a:pPr lvl="1"/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其中，</a:t>
            </a:r>
            <a:endParaRPr lang="en-US" altLang="zh-CN" sz="2400" b="1" dirty="0">
              <a:latin typeface="楷体" pitchFamily="49" charset="-122"/>
              <a:ea typeface="楷体" pitchFamily="49" charset="-122"/>
            </a:endParaRPr>
          </a:p>
          <a:p>
            <a:pPr lvl="1"/>
            <a:endParaRPr lang="en-US" altLang="zh-CN" sz="2400" b="1" dirty="0"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因为</a:t>
            </a:r>
            <a:r>
              <a:rPr lang="en-US" altLang="zh-CN" sz="24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sz="2400" b="1" u="sng" dirty="0">
                <a:solidFill>
                  <a:srgbClr val="008000"/>
                </a:solidFill>
                <a:latin typeface="楷体" pitchFamily="49" charset="-122"/>
                <a:ea typeface="楷体" pitchFamily="49" charset="-122"/>
              </a:rPr>
              <a:t>线性无关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，所以</a:t>
            </a:r>
            <a:r>
              <a:rPr lang="en-US" altLang="zh-CN" sz="24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是</a:t>
            </a:r>
            <a:r>
              <a:rPr lang="zh-CN" altLang="en-US" sz="2400" b="1" dirty="0">
                <a:solidFill>
                  <a:srgbClr val="CC00CC"/>
                </a:solidFill>
                <a:latin typeface="楷体" pitchFamily="49" charset="-122"/>
                <a:ea typeface="楷体" pitchFamily="49" charset="-122"/>
              </a:rPr>
              <a:t>基变量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10000"/>
              </a:lnSpc>
            </a:pPr>
            <a:r>
              <a:rPr lang="en-US" altLang="zh-CN" sz="24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x</a:t>
            </a:r>
            <a:r>
              <a:rPr lang="en-US" altLang="zh-CN" sz="2400" b="1" baseline="-25000" dirty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是基变量，</a:t>
            </a:r>
            <a:r>
              <a:rPr lang="en-US" altLang="zh-CN" sz="24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x</a:t>
            </a:r>
            <a:r>
              <a:rPr lang="en-US" altLang="zh-CN" sz="2400" b="1" baseline="-25000" dirty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为</a:t>
            </a:r>
            <a:r>
              <a:rPr lang="zh-CN" altLang="en-US" sz="2400" b="1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非基变量。</a:t>
            </a: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915051"/>
              </p:ext>
            </p:extLst>
          </p:nvPr>
        </p:nvGraphicFramePr>
        <p:xfrm>
          <a:off x="3845261" y="2132856"/>
          <a:ext cx="3672408" cy="1048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482400" progId="Equation.DSMT4">
                  <p:embed/>
                </p:oleObj>
              </mc:Choice>
              <mc:Fallback>
                <p:oleObj name="Equation" r:id="rId2" imgW="16509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5261" y="2132856"/>
                        <a:ext cx="3672408" cy="10489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260326"/>
              </p:ext>
            </p:extLst>
          </p:nvPr>
        </p:nvGraphicFramePr>
        <p:xfrm>
          <a:off x="3791744" y="4725144"/>
          <a:ext cx="4546992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457200" progId="Equation.DSMT4">
                  <p:embed/>
                </p:oleObj>
              </mc:Choice>
              <mc:Fallback>
                <p:oleObj name="Equation" r:id="rId4" imgW="2286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4725144"/>
                        <a:ext cx="4546992" cy="936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226377"/>
              </p:ext>
            </p:extLst>
          </p:nvPr>
        </p:nvGraphicFramePr>
        <p:xfrm>
          <a:off x="4367809" y="3645025"/>
          <a:ext cx="262731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0800" imgH="457200" progId="Equation.DSMT4">
                  <p:embed/>
                </p:oleObj>
              </mc:Choice>
              <mc:Fallback>
                <p:oleObj name="Equation" r:id="rId6" imgW="11808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9" y="3645025"/>
                        <a:ext cx="2627313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D049739-74FC-7FBE-8464-AD05B3AD0A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96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7200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线性规划问题的解的性质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485900"/>
            <a:ext cx="9025280" cy="5183188"/>
          </a:xfrm>
        </p:spPr>
        <p:txBody>
          <a:bodyPr vert="horz" wrap="square" lIns="90170" tIns="46990" rIns="90170" bIns="4699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线性规划问题的可行解集为凸集。</a:t>
            </a: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内点</a:t>
            </a:r>
            <a:r>
              <a:rPr lang="zh-CN" altLang="en-US" b="1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</a:rPr>
              <a:t>x </a:t>
            </a:r>
            <a:r>
              <a:rPr lang="zh-CN" altLang="en-US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en-US" b="1" dirty="0">
                <a:latin typeface="楷体" pitchFamily="49" charset="-122"/>
                <a:ea typeface="楷体" pitchFamily="49" charset="-122"/>
                <a:sym typeface="Symbol"/>
              </a:rPr>
              <a:t></a:t>
            </a:r>
            <a:r>
              <a:rPr lang="en-US" altLang="zh-CN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  <a:sym typeface="Symbol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  <a:sym typeface="Symbol"/>
              </a:rPr>
              <a:t>(1)</a:t>
            </a:r>
            <a:r>
              <a:rPr lang="en-US" altLang="zh-CN" b="1" dirty="0">
                <a:latin typeface="楷体" pitchFamily="49" charset="-122"/>
                <a:ea typeface="楷体" pitchFamily="49" charset="-122"/>
                <a:sym typeface="Symbol"/>
              </a:rPr>
              <a:t>,</a:t>
            </a:r>
            <a:r>
              <a:rPr lang="en-US" altLang="zh-CN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  <a:sym typeface="Symbol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  <a:sym typeface="Symbol"/>
              </a:rPr>
              <a:t>(2) </a:t>
            </a:r>
            <a:r>
              <a:rPr lang="zh-CN" altLang="en-US" b="1" dirty="0">
                <a:latin typeface="楷体" pitchFamily="49" charset="-122"/>
                <a:ea typeface="楷体" pitchFamily="49" charset="-122"/>
                <a:sym typeface="Symbol"/>
              </a:rPr>
              <a:t></a:t>
            </a:r>
            <a:r>
              <a:rPr lang="en-US" altLang="zh-CN" b="1" dirty="0">
                <a:ea typeface="楷体" pitchFamily="49" charset="-122"/>
                <a:sym typeface="Symbol"/>
              </a:rPr>
              <a:t>A,</a:t>
            </a:r>
            <a:r>
              <a:rPr lang="zh-CN" altLang="en-US" b="1" dirty="0">
                <a:ea typeface="楷体" pitchFamily="49" charset="-122"/>
                <a:sym typeface="Symbol"/>
              </a:rPr>
              <a:t> 存在</a:t>
            </a:r>
            <a:r>
              <a:rPr lang="en-US" altLang="zh-CN" b="1" dirty="0">
                <a:ea typeface="楷体" pitchFamily="49" charset="-122"/>
                <a:sym typeface="Symbol"/>
              </a:rPr>
              <a:t>(0,1),</a:t>
            </a:r>
            <a:r>
              <a:rPr lang="zh-CN" altLang="en-US" b="1" dirty="0">
                <a:ea typeface="楷体" pitchFamily="49" charset="-122"/>
                <a:sym typeface="Symbol"/>
              </a:rPr>
              <a:t>使</a:t>
            </a:r>
            <a:endParaRPr lang="en-US" altLang="zh-CN" b="1" dirty="0">
              <a:ea typeface="楷体" pitchFamily="49" charset="-122"/>
              <a:sym typeface="Symbol"/>
            </a:endParaRPr>
          </a:p>
          <a:p>
            <a:pPr lvl="1">
              <a:lnSpc>
                <a:spcPct val="120000"/>
              </a:lnSpc>
            </a:pPr>
            <a:endParaRPr lang="en-US" altLang="zh-CN" b="1" dirty="0">
              <a:ea typeface="楷体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若凸集</a:t>
            </a:r>
            <a:r>
              <a:rPr lang="zh-CN" altLang="en-US" b="1" dirty="0">
                <a:ea typeface="楷体" pitchFamily="49" charset="-122"/>
              </a:rPr>
              <a:t>A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中的点</a:t>
            </a:r>
            <a:r>
              <a:rPr lang="zh-CN" altLang="en-US" b="1" i="1" dirty="0">
                <a:solidFill>
                  <a:srgbClr val="006600"/>
                </a:solidFill>
                <a:latin typeface="Times New Roman" pitchFamily="18" charset="0"/>
                <a:ea typeface="楷体" pitchFamily="49" charset="-122"/>
              </a:rPr>
              <a:t>x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不是</a:t>
            </a:r>
            <a:r>
              <a:rPr lang="zh-CN" altLang="en-US" b="1" dirty="0">
                <a:ea typeface="楷体" pitchFamily="49" charset="-122"/>
              </a:rPr>
              <a:t>A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中任何线段的</a:t>
            </a:r>
            <a:r>
              <a:rPr lang="zh-CN" altLang="en-US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内点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，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则</a:t>
            </a:r>
            <a:r>
              <a:rPr lang="zh-CN" altLang="en-US" b="1" i="1" dirty="0">
                <a:solidFill>
                  <a:srgbClr val="006600"/>
                </a:solidFill>
                <a:latin typeface="Times New Roman" pitchFamily="18" charset="0"/>
                <a:ea typeface="楷体" pitchFamily="49" charset="-122"/>
              </a:rPr>
              <a:t>x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是</a:t>
            </a:r>
            <a:r>
              <a:rPr lang="zh-CN" altLang="en-US" b="1" dirty="0">
                <a:ea typeface="楷体" pitchFamily="49" charset="-122"/>
              </a:rPr>
              <a:t>A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的</a:t>
            </a:r>
            <a:r>
              <a:rPr lang="zh-CN" altLang="en-US" b="1" dirty="0">
                <a:solidFill>
                  <a:srgbClr val="008000"/>
                </a:solidFill>
                <a:latin typeface="楷体" pitchFamily="49" charset="-122"/>
                <a:ea typeface="楷体" pitchFamily="49" charset="-122"/>
              </a:rPr>
              <a:t>极点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。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可行解集中的点</a:t>
            </a:r>
            <a:r>
              <a:rPr lang="zh-CN" altLang="en-US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极点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u="sng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充分必要条件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b="1" u="sng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基础</a:t>
            </a:r>
            <a:r>
              <a:rPr lang="zh-CN" altLang="en-US" b="1" u="sng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可行解</a:t>
            </a:r>
            <a:r>
              <a:rPr lang="zh-CN" altLang="en-US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线性规划问题的最优解必在某</a:t>
            </a:r>
            <a:r>
              <a:rPr lang="zh-CN" altLang="en-US" b="1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极点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上达到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19846"/>
              </p:ext>
            </p:extLst>
          </p:nvPr>
        </p:nvGraphicFramePr>
        <p:xfrm>
          <a:off x="3409494" y="2734593"/>
          <a:ext cx="3632200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228600" progId="Equation.DSMT4">
                  <p:embed/>
                </p:oleObj>
              </mc:Choice>
              <mc:Fallback>
                <p:oleObj name="Equation" r:id="rId2" imgW="130788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494" y="2734593"/>
                        <a:ext cx="3632200" cy="5984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0" name="Group 6"/>
          <p:cNvGrpSpPr>
            <a:grpSpLocks/>
          </p:cNvGrpSpPr>
          <p:nvPr/>
        </p:nvGrpSpPr>
        <p:grpSpPr bwMode="auto">
          <a:xfrm>
            <a:off x="9111828" y="1340768"/>
            <a:ext cx="2807351" cy="2272321"/>
            <a:chOff x="114" y="-227"/>
            <a:chExt cx="4422" cy="3579"/>
          </a:xfrm>
        </p:grpSpPr>
        <p:cxnSp>
          <p:nvCxnSpPr>
            <p:cNvPr id="11271" name="直接箭头连接符 4"/>
            <p:cNvCxnSpPr>
              <a:cxnSpLocks noChangeShapeType="1"/>
            </p:cNvCxnSpPr>
            <p:nvPr/>
          </p:nvCxnSpPr>
          <p:spPr bwMode="auto">
            <a:xfrm>
              <a:off x="455" y="2723"/>
              <a:ext cx="3628" cy="1"/>
            </a:xfrm>
            <a:prstGeom prst="straightConnector1">
              <a:avLst/>
            </a:prstGeom>
            <a:noFill/>
            <a:ln w="28575" cap="flat" cmpd="sng">
              <a:solidFill>
                <a:schemeClr val="tx1"/>
              </a:solidFill>
              <a:round/>
              <a:headEnd type="arrow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272" name="直接箭头连接符 6"/>
            <p:cNvCxnSpPr>
              <a:cxnSpLocks noChangeShapeType="1"/>
            </p:cNvCxnSpPr>
            <p:nvPr/>
          </p:nvCxnSpPr>
          <p:spPr bwMode="auto">
            <a:xfrm flipV="1">
              <a:off x="4122" y="340"/>
              <a:ext cx="0" cy="2382"/>
            </a:xfrm>
            <a:prstGeom prst="straightConnector1">
              <a:avLst/>
            </a:prstGeom>
            <a:noFill/>
            <a:ln w="28575" cap="flat" cmpd="sng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273" name="AutoShape 9"/>
            <p:cNvCxnSpPr>
              <a:cxnSpLocks noChangeShapeType="1"/>
            </p:cNvCxnSpPr>
            <p:nvPr/>
          </p:nvCxnSpPr>
          <p:spPr bwMode="auto">
            <a:xfrm flipV="1">
              <a:off x="1109" y="809"/>
              <a:ext cx="2554" cy="1458"/>
            </a:xfrm>
            <a:prstGeom prst="straightConnector1">
              <a:avLst/>
            </a:prstGeom>
            <a:noFill/>
            <a:ln w="38100" cap="flat" cmpd="sng">
              <a:solidFill>
                <a:srgbClr val="CC00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1274" name="TextBox 15"/>
            <p:cNvSpPr txBox="1">
              <a:spLocks noChangeArrowheads="1"/>
            </p:cNvSpPr>
            <p:nvPr/>
          </p:nvSpPr>
          <p:spPr bwMode="auto">
            <a:xfrm>
              <a:off x="114" y="2722"/>
              <a:ext cx="4422" cy="6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x                      </a:t>
              </a:r>
              <a:r>
                <a:rPr lang="zh-CN" altLang="en-US" sz="2000" b="1" i="1" dirty="0">
                  <a:latin typeface="Times New Roman" pitchFamily="18" charset="0"/>
                </a:rPr>
                <a:t>  </a:t>
              </a:r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         </a:t>
              </a:r>
              <a:r>
                <a:rPr lang="en-US" altLang="zh-CN" sz="2000" b="1" dirty="0"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75" name="TextBox 16"/>
            <p:cNvSpPr txBox="1">
              <a:spLocks noChangeArrowheads="1"/>
            </p:cNvSpPr>
            <p:nvPr/>
          </p:nvSpPr>
          <p:spPr bwMode="auto">
            <a:xfrm>
              <a:off x="3897" y="-227"/>
              <a:ext cx="639" cy="6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000" b="1" i="1" dirty="0">
                  <a:latin typeface="Times New Roman" pitchFamily="18" charset="0"/>
                </a:rPr>
                <a:t>s</a:t>
              </a:r>
              <a:r>
                <a:rPr lang="en-US" altLang="zh-CN" sz="20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zh-CN" altLang="en-US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76" name="Text Box 12"/>
            <p:cNvSpPr txBox="1">
              <a:spLocks noChangeArrowheads="1"/>
            </p:cNvSpPr>
            <p:nvPr/>
          </p:nvSpPr>
          <p:spPr bwMode="auto">
            <a:xfrm>
              <a:off x="613" y="1645"/>
              <a:ext cx="856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i="1" dirty="0">
                  <a:latin typeface="Times New Roman" pitchFamily="18" charset="0"/>
                </a:rPr>
                <a:t>x</a:t>
              </a:r>
              <a:r>
                <a:rPr lang="zh-CN" altLang="en-US" b="1" baseline="30000" dirty="0">
                  <a:latin typeface="Times New Roman" pitchFamily="18" charset="0"/>
                </a:rPr>
                <a:t>(</a:t>
              </a:r>
              <a:r>
                <a:rPr lang="en-US" altLang="zh-CN" b="1" baseline="30000" dirty="0">
                  <a:latin typeface="Times New Roman" pitchFamily="18" charset="0"/>
                </a:rPr>
                <a:t>2</a:t>
              </a:r>
              <a:r>
                <a:rPr lang="zh-CN" altLang="en-US" b="1" baseline="30000" dirty="0">
                  <a:latin typeface="Times New Roman" pitchFamily="18" charset="0"/>
                </a:rPr>
                <a:t>)</a:t>
              </a:r>
              <a:r>
                <a:rPr lang="en-US" altLang="zh-CN" b="1" i="1" dirty="0"/>
                <a:t> </a:t>
              </a:r>
              <a:endParaRPr lang="zh-CN" altLang="en-US" dirty="0"/>
            </a:p>
          </p:txBody>
        </p:sp>
        <p:sp>
          <p:nvSpPr>
            <p:cNvPr id="11277" name="Text Box 13"/>
            <p:cNvSpPr txBox="1">
              <a:spLocks noChangeArrowheads="1"/>
            </p:cNvSpPr>
            <p:nvPr/>
          </p:nvSpPr>
          <p:spPr bwMode="auto">
            <a:xfrm>
              <a:off x="3243" y="0"/>
              <a:ext cx="856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i="1">
                  <a:latin typeface="Times New Roman" pitchFamily="18" charset="0"/>
                </a:rPr>
                <a:t>x</a:t>
              </a:r>
              <a:r>
                <a:rPr lang="zh-CN" altLang="en-US" b="1" baseline="30000">
                  <a:latin typeface="Times New Roman" pitchFamily="18" charset="0"/>
                </a:rPr>
                <a:t>(1)</a:t>
              </a:r>
              <a:r>
                <a:rPr lang="en-US" altLang="zh-CN" b="1" i="1"/>
                <a:t> </a:t>
              </a:r>
              <a:endParaRPr lang="zh-CN" altLang="en-US"/>
            </a:p>
          </p:txBody>
        </p:sp>
        <p:sp>
          <p:nvSpPr>
            <p:cNvPr id="11278" name="Oval 14"/>
            <p:cNvSpPr>
              <a:spLocks noChangeArrowheads="1"/>
            </p:cNvSpPr>
            <p:nvPr/>
          </p:nvSpPr>
          <p:spPr bwMode="auto">
            <a:xfrm>
              <a:off x="1055" y="2155"/>
              <a:ext cx="175" cy="175"/>
            </a:xfrm>
            <a:prstGeom prst="ellipse">
              <a:avLst/>
            </a:prstGeom>
            <a:solidFill>
              <a:srgbClr val="FF0000"/>
            </a:solidFill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1279" name="Oval 15"/>
            <p:cNvSpPr>
              <a:spLocks noChangeArrowheads="1"/>
            </p:cNvSpPr>
            <p:nvPr/>
          </p:nvSpPr>
          <p:spPr bwMode="auto">
            <a:xfrm>
              <a:off x="3517" y="732"/>
              <a:ext cx="175" cy="175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1280" name="Oval 16"/>
            <p:cNvSpPr>
              <a:spLocks noChangeArrowheads="1"/>
            </p:cNvSpPr>
            <p:nvPr/>
          </p:nvSpPr>
          <p:spPr bwMode="auto">
            <a:xfrm>
              <a:off x="1867" y="1640"/>
              <a:ext cx="175" cy="175"/>
            </a:xfrm>
            <a:prstGeom prst="ellipse">
              <a:avLst/>
            </a:prstGeom>
            <a:solidFill>
              <a:srgbClr val="3366FF"/>
            </a:solidFill>
            <a:ln w="9525" cap="flat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1281" name="Text Box 17"/>
            <p:cNvSpPr txBox="1">
              <a:spLocks noChangeArrowheads="1"/>
            </p:cNvSpPr>
            <p:nvPr/>
          </p:nvSpPr>
          <p:spPr bwMode="auto">
            <a:xfrm>
              <a:off x="1729" y="1151"/>
              <a:ext cx="574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i="1" dirty="0">
                  <a:latin typeface="Times New Roman" pitchFamily="18" charset="0"/>
                </a:rPr>
                <a:t>x</a:t>
              </a:r>
              <a:r>
                <a:rPr lang="en-US" altLang="zh-CN" b="1" i="1" dirty="0"/>
                <a:t> </a:t>
              </a:r>
              <a:endParaRPr lang="zh-CN" altLang="en-US" dirty="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017DD9-A0AD-BE7E-C8A4-B044FDD791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7475"/>
            <a:ext cx="8229600" cy="1371600"/>
          </a:xfrm>
        </p:spPr>
        <p:txBody>
          <a:bodyPr/>
          <a:lstStyle/>
          <a:p>
            <a:pPr algn="ctr"/>
            <a:r>
              <a:rPr lang="zh-CN" altLang="zh-CN">
                <a:solidFill>
                  <a:srgbClr val="008000"/>
                </a:solidFill>
                <a:ea typeface="黑体" pitchFamily="49" charset="-122"/>
              </a:rPr>
              <a:t>经典线性规划的图解法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6739" y="1306512"/>
            <a:ext cx="9032747" cy="5399088"/>
          </a:xfrm>
        </p:spPr>
        <p:txBody>
          <a:bodyPr vert="horz" wrap="square" lIns="90170" tIns="46990" rIns="90170" bIns="4699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例：</a:t>
            </a:r>
          </a:p>
          <a:p>
            <a:pPr>
              <a:lnSpc>
                <a:spcPct val="90000"/>
              </a:lnSpc>
            </a:pPr>
            <a:endParaRPr lang="zh-CN" altLang="en-US" sz="2800" dirty="0"/>
          </a:p>
          <a:p>
            <a:pPr>
              <a:lnSpc>
                <a:spcPct val="90000"/>
              </a:lnSpc>
            </a:pPr>
            <a:endParaRPr lang="zh-CN" altLang="en-US" sz="2800" dirty="0"/>
          </a:p>
          <a:p>
            <a:pPr>
              <a:lnSpc>
                <a:spcPct val="90000"/>
              </a:lnSpc>
            </a:pPr>
            <a:endParaRPr lang="zh-CN" altLang="en-US" sz="3600" dirty="0"/>
          </a:p>
          <a:p>
            <a:pPr>
              <a:lnSpc>
                <a:spcPct val="95000"/>
              </a:lnSpc>
            </a:pPr>
            <a:r>
              <a:rPr lang="zh-CN" altLang="en-US" sz="2800" b="1" dirty="0"/>
              <a:t>当x</a:t>
            </a:r>
            <a:r>
              <a:rPr lang="zh-CN" altLang="en-US" sz="2800" b="1" baseline="-25000" dirty="0"/>
              <a:t>1</a:t>
            </a:r>
            <a:r>
              <a:rPr lang="zh-CN" altLang="en-US" sz="2800" b="1" dirty="0"/>
              <a:t>=x</a:t>
            </a:r>
            <a:r>
              <a:rPr lang="zh-CN" altLang="en-US" sz="2800" b="1" baseline="-25000" dirty="0"/>
              <a:t>2</a:t>
            </a:r>
            <a:r>
              <a:rPr lang="zh-CN" altLang="en-US" sz="2800" b="1" dirty="0"/>
              <a:t>=0时，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b="1" baseline="-25000" dirty="0"/>
              <a:t>min</a:t>
            </a:r>
            <a:r>
              <a:rPr lang="zh-CN" altLang="en-US" sz="2800" b="1" dirty="0"/>
              <a:t>=0</a:t>
            </a:r>
          </a:p>
          <a:p>
            <a:pPr>
              <a:lnSpc>
                <a:spcPct val="95000"/>
              </a:lnSpc>
            </a:pPr>
            <a:r>
              <a:rPr lang="zh-CN" altLang="en-US" sz="2800" b="1" dirty="0"/>
              <a:t>当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b="1" dirty="0"/>
              <a:t>取不同值时，得到一组平行</a:t>
            </a:r>
          </a:p>
          <a:p>
            <a:pPr>
              <a:lnSpc>
                <a:spcPct val="95000"/>
              </a:lnSpc>
              <a:buNone/>
            </a:pPr>
            <a:r>
              <a:rPr lang="zh-CN" altLang="en-US" sz="2800" b="1" dirty="0"/>
              <a:t>    的直线，这些直线离原点越远，</a:t>
            </a:r>
          </a:p>
          <a:p>
            <a:pPr>
              <a:lnSpc>
                <a:spcPct val="95000"/>
              </a:lnSpc>
              <a:buNone/>
            </a:pPr>
            <a:r>
              <a:rPr lang="zh-CN" altLang="en-US" sz="2800" b="1" dirty="0"/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b="1" dirty="0"/>
              <a:t>的值越大。按性质(3)得：</a:t>
            </a:r>
            <a:endParaRPr lang="en-US" altLang="zh-CN" sz="2800" b="1" dirty="0"/>
          </a:p>
          <a:p>
            <a:pPr>
              <a:lnSpc>
                <a:spcPct val="95000"/>
              </a:lnSpc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最优点可能是极点</a:t>
            </a:r>
            <a:r>
              <a:rPr lang="zh-CN" altLang="en-US" sz="2800" b="1" dirty="0">
                <a:solidFill>
                  <a:srgbClr val="FF0000"/>
                </a:solidFill>
              </a:rPr>
              <a:t>(0,6),(5,0),(4,2)</a:t>
            </a:r>
          </a:p>
          <a:p>
            <a:pPr>
              <a:lnSpc>
                <a:spcPct val="95000"/>
              </a:lnSpc>
            </a:pPr>
            <a:r>
              <a:rPr lang="zh-CN" altLang="en-US" sz="2800" b="1" dirty="0"/>
              <a:t>经过计算，(4,2)为最优点，</a:t>
            </a:r>
          </a:p>
          <a:p>
            <a:pPr>
              <a:lnSpc>
                <a:spcPct val="95000"/>
              </a:lnSpc>
            </a:pPr>
            <a:r>
              <a:rPr lang="zh-CN" altLang="en-US" sz="2800" b="1" dirty="0"/>
              <a:t>即 </a:t>
            </a:r>
            <a:r>
              <a:rPr lang="zh-CN" altLang="en-US" sz="2800" b="1" dirty="0">
                <a:solidFill>
                  <a:srgbClr val="3333FF"/>
                </a:solidFill>
              </a:rPr>
              <a:t>x</a:t>
            </a:r>
            <a:r>
              <a:rPr lang="zh-CN" altLang="en-US" sz="2800" b="1" baseline="-25000" dirty="0">
                <a:solidFill>
                  <a:srgbClr val="3333FF"/>
                </a:solidFill>
              </a:rPr>
              <a:t>1</a:t>
            </a:r>
            <a:r>
              <a:rPr lang="zh-CN" altLang="en-US" sz="2800" b="1" dirty="0">
                <a:solidFill>
                  <a:srgbClr val="3333FF"/>
                </a:solidFill>
              </a:rPr>
              <a:t>=4, x</a:t>
            </a:r>
            <a:r>
              <a:rPr lang="zh-CN" altLang="en-US" sz="2800" b="1" baseline="-25000" dirty="0">
                <a:solidFill>
                  <a:srgbClr val="3333FF"/>
                </a:solidFill>
              </a:rPr>
              <a:t>2</a:t>
            </a:r>
            <a:r>
              <a:rPr lang="zh-CN" altLang="en-US" sz="2800" b="1" dirty="0">
                <a:solidFill>
                  <a:srgbClr val="3333FF"/>
                </a:solidFill>
              </a:rPr>
              <a:t>=2 </a:t>
            </a:r>
            <a:r>
              <a:rPr lang="zh-CN" altLang="en-US" sz="2800" b="1" dirty="0"/>
              <a:t>为最优解</a:t>
            </a:r>
            <a:r>
              <a:rPr lang="en-US" altLang="zh-CN" sz="2800" b="1" dirty="0"/>
              <a:t>: </a:t>
            </a:r>
            <a:r>
              <a:rPr lang="en-US" altLang="zh-CN" sz="2800" b="1" dirty="0">
                <a:solidFill>
                  <a:srgbClr val="CC00CC"/>
                </a:solidFill>
              </a:rPr>
              <a:t>8</a:t>
            </a:r>
            <a:endParaRPr lang="zh-CN" altLang="en-US" sz="2800" b="1" dirty="0">
              <a:solidFill>
                <a:srgbClr val="CC00CC"/>
              </a:solidFill>
            </a:endParaRP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165320"/>
              </p:ext>
            </p:extLst>
          </p:nvPr>
        </p:nvGraphicFramePr>
        <p:xfrm>
          <a:off x="2090546" y="1220015"/>
          <a:ext cx="3043237" cy="216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939600" progId="Equation.DSMT4">
                  <p:embed/>
                </p:oleObj>
              </mc:Choice>
              <mc:Fallback>
                <p:oleObj name="Equation" r:id="rId3" imgW="1434960" imgH="939600" progId="Equation.DSMT4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546" y="1220015"/>
                        <a:ext cx="3043237" cy="216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4" name="Group 6"/>
          <p:cNvGrpSpPr>
            <a:grpSpLocks/>
          </p:cNvGrpSpPr>
          <p:nvPr/>
        </p:nvGrpSpPr>
        <p:grpSpPr bwMode="auto">
          <a:xfrm>
            <a:off x="7961737" y="1589406"/>
            <a:ext cx="4038919" cy="4310698"/>
            <a:chOff x="0" y="0"/>
            <a:chExt cx="6359" cy="6789"/>
          </a:xfrm>
        </p:grpSpPr>
        <p:sp>
          <p:nvSpPr>
            <p:cNvPr id="12295" name="箭头 374"/>
            <p:cNvSpPr>
              <a:spLocks noChangeShapeType="1"/>
            </p:cNvSpPr>
            <p:nvPr/>
          </p:nvSpPr>
          <p:spPr bwMode="auto">
            <a:xfrm flipV="1">
              <a:off x="795" y="6206"/>
              <a:ext cx="4989" cy="1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6" name="箭头 379"/>
            <p:cNvSpPr>
              <a:spLocks noChangeShapeType="1"/>
            </p:cNvSpPr>
            <p:nvPr/>
          </p:nvSpPr>
          <p:spPr bwMode="auto">
            <a:xfrm flipV="1">
              <a:off x="794" y="423"/>
              <a:ext cx="1" cy="5783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7" name="Text Box 9"/>
            <p:cNvSpPr txBox="1">
              <a:spLocks noChangeArrowheads="1"/>
            </p:cNvSpPr>
            <p:nvPr/>
          </p:nvSpPr>
          <p:spPr bwMode="auto">
            <a:xfrm>
              <a:off x="5753" y="5867"/>
              <a:ext cx="606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x</a:t>
              </a:r>
              <a:r>
                <a:rPr lang="zh-CN" altLang="en-US" baseline="-25000"/>
                <a:t>1</a:t>
              </a:r>
            </a:p>
          </p:txBody>
        </p:sp>
        <p:sp>
          <p:nvSpPr>
            <p:cNvPr id="12298" name="Text Box 10"/>
            <p:cNvSpPr txBox="1">
              <a:spLocks noChangeArrowheads="1"/>
            </p:cNvSpPr>
            <p:nvPr/>
          </p:nvSpPr>
          <p:spPr bwMode="auto">
            <a:xfrm>
              <a:off x="681" y="0"/>
              <a:ext cx="606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x</a:t>
              </a:r>
              <a:r>
                <a:rPr lang="zh-CN" altLang="en-US" baseline="-25000"/>
                <a:t>2</a:t>
              </a:r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>
              <a:off x="795" y="764"/>
              <a:ext cx="2834" cy="5442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Text Box 12"/>
            <p:cNvSpPr txBox="1">
              <a:spLocks noChangeArrowheads="1"/>
            </p:cNvSpPr>
            <p:nvPr/>
          </p:nvSpPr>
          <p:spPr bwMode="auto">
            <a:xfrm>
              <a:off x="1135" y="843"/>
              <a:ext cx="2261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/>
                <a:t>2x</a:t>
              </a:r>
              <a:r>
                <a:rPr lang="zh-CN" altLang="en-US" baseline="-25000"/>
                <a:t>1</a:t>
              </a:r>
              <a:r>
                <a:rPr lang="zh-CN" altLang="en-US"/>
                <a:t>+x</a:t>
              </a:r>
              <a:r>
                <a:rPr lang="zh-CN" altLang="en-US" baseline="-25000"/>
                <a:t>2</a:t>
              </a:r>
              <a:r>
                <a:rPr lang="zh-CN" altLang="en-US"/>
                <a:t>=10</a:t>
              </a:r>
            </a:p>
          </p:txBody>
        </p:sp>
        <p:sp>
          <p:nvSpPr>
            <p:cNvPr id="12301" name="Text Box 13"/>
            <p:cNvSpPr txBox="1">
              <a:spLocks noChangeArrowheads="1"/>
            </p:cNvSpPr>
            <p:nvPr/>
          </p:nvSpPr>
          <p:spPr bwMode="auto">
            <a:xfrm>
              <a:off x="0" y="526"/>
              <a:ext cx="796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 10</a:t>
              </a:r>
            </a:p>
          </p:txBody>
        </p:sp>
        <p:sp>
          <p:nvSpPr>
            <p:cNvPr id="12302" name="Text Box 14"/>
            <p:cNvSpPr txBox="1">
              <a:spLocks noChangeArrowheads="1"/>
            </p:cNvSpPr>
            <p:nvPr/>
          </p:nvSpPr>
          <p:spPr bwMode="auto">
            <a:xfrm>
              <a:off x="3289" y="6207"/>
              <a:ext cx="1401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 5      6</a:t>
              </a:r>
            </a:p>
          </p:txBody>
        </p:sp>
        <p:sp>
          <p:nvSpPr>
            <p:cNvPr id="12303" name="Line 15"/>
            <p:cNvSpPr>
              <a:spLocks noChangeShapeType="1"/>
            </p:cNvSpPr>
            <p:nvPr/>
          </p:nvSpPr>
          <p:spPr bwMode="auto">
            <a:xfrm flipH="1" flipV="1">
              <a:off x="794" y="2691"/>
              <a:ext cx="3628" cy="3515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4" name="Text Box 16"/>
            <p:cNvSpPr txBox="1">
              <a:spLocks noChangeArrowheads="1"/>
            </p:cNvSpPr>
            <p:nvPr/>
          </p:nvSpPr>
          <p:spPr bwMode="auto">
            <a:xfrm>
              <a:off x="3522" y="4764"/>
              <a:ext cx="2261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/>
                <a:t>x</a:t>
              </a:r>
              <a:r>
                <a:rPr lang="zh-CN" altLang="en-US" baseline="-25000"/>
                <a:t>1</a:t>
              </a:r>
              <a:r>
                <a:rPr lang="zh-CN" altLang="en-US"/>
                <a:t>+x</a:t>
              </a:r>
              <a:r>
                <a:rPr lang="zh-CN" altLang="en-US" baseline="-25000"/>
                <a:t>2</a:t>
              </a:r>
              <a:r>
                <a:rPr lang="zh-CN" altLang="en-US"/>
                <a:t>=6</a:t>
              </a:r>
            </a:p>
          </p:txBody>
        </p:sp>
        <p:sp>
          <p:nvSpPr>
            <p:cNvPr id="12305" name="Text Box 17"/>
            <p:cNvSpPr txBox="1">
              <a:spLocks noChangeArrowheads="1"/>
            </p:cNvSpPr>
            <p:nvPr/>
          </p:nvSpPr>
          <p:spPr bwMode="auto">
            <a:xfrm>
              <a:off x="200" y="6197"/>
              <a:ext cx="594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 0</a:t>
              </a:r>
            </a:p>
          </p:txBody>
        </p:sp>
      </p:grpSp>
      <p:pic>
        <p:nvPicPr>
          <p:cNvPr id="12306" name="Picture 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4763" y="1254445"/>
            <a:ext cx="3960813" cy="484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307" name="Line 19"/>
          <p:cNvSpPr>
            <a:spLocks noChangeShapeType="1"/>
          </p:cNvSpPr>
          <p:nvPr/>
        </p:nvSpPr>
        <p:spPr bwMode="auto">
          <a:xfrm>
            <a:off x="7026701" y="3515044"/>
            <a:ext cx="1944687" cy="2779712"/>
          </a:xfrm>
          <a:prstGeom prst="line">
            <a:avLst/>
          </a:prstGeom>
          <a:noFill/>
          <a:ln w="63500" cap="flat" cmpd="sng">
            <a:solidFill>
              <a:srgbClr val="33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8" name="Line 20"/>
          <p:cNvSpPr>
            <a:spLocks noChangeShapeType="1"/>
          </p:cNvSpPr>
          <p:nvPr/>
        </p:nvSpPr>
        <p:spPr bwMode="auto">
          <a:xfrm>
            <a:off x="7891887" y="3342006"/>
            <a:ext cx="1944688" cy="2781300"/>
          </a:xfrm>
          <a:prstGeom prst="line">
            <a:avLst/>
          </a:prstGeom>
          <a:noFill/>
          <a:ln w="63500" cap="flat" cmpd="sng">
            <a:solidFill>
              <a:srgbClr val="33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9" name="Line 21"/>
          <p:cNvSpPr>
            <a:spLocks noChangeShapeType="1"/>
          </p:cNvSpPr>
          <p:nvPr/>
        </p:nvSpPr>
        <p:spPr bwMode="auto">
          <a:xfrm>
            <a:off x="8468151" y="2722882"/>
            <a:ext cx="2014537" cy="2879725"/>
          </a:xfrm>
          <a:prstGeom prst="line">
            <a:avLst/>
          </a:prstGeom>
          <a:noFill/>
          <a:ln w="63500" cap="flat" cmpd="sng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9688937" y="4153219"/>
            <a:ext cx="707886" cy="402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170" tIns="46990" rIns="90170" bIns="46990">
            <a:spAutoFit/>
          </a:bodyPr>
          <a:lstStyle/>
          <a:p>
            <a:r>
              <a:rPr lang="zh-CN" altLang="en-US" sz="2000" b="1">
                <a:solidFill>
                  <a:srgbClr val="3333FF"/>
                </a:solidFill>
              </a:rPr>
              <a:t>(4,2)</a:t>
            </a:r>
          </a:p>
        </p:txBody>
      </p:sp>
      <p:sp>
        <p:nvSpPr>
          <p:cNvPr id="12311" name="Oval 23"/>
          <p:cNvSpPr>
            <a:spLocks noChangeArrowheads="1"/>
          </p:cNvSpPr>
          <p:nvPr/>
        </p:nvSpPr>
        <p:spPr bwMode="auto">
          <a:xfrm>
            <a:off x="8428463" y="3303907"/>
            <a:ext cx="111125" cy="111125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2312" name="Oval 24"/>
          <p:cNvSpPr>
            <a:spLocks noChangeArrowheads="1"/>
          </p:cNvSpPr>
          <p:nvPr/>
        </p:nvSpPr>
        <p:spPr bwMode="auto">
          <a:xfrm>
            <a:off x="10195351" y="5462907"/>
            <a:ext cx="111125" cy="111125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2313" name="Oval 25"/>
          <p:cNvSpPr>
            <a:spLocks noChangeArrowheads="1"/>
          </p:cNvSpPr>
          <p:nvPr/>
        </p:nvSpPr>
        <p:spPr bwMode="auto">
          <a:xfrm>
            <a:off x="9692113" y="4527870"/>
            <a:ext cx="111125" cy="111125"/>
          </a:xfrm>
          <a:prstGeom prst="ellipse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71CD17-AADF-0DD3-A4BE-E038A211F4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584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 autoUpdateAnimBg="0"/>
      <p:bldP spid="12307" grpId="0" animBg="1"/>
      <p:bldP spid="12308" grpId="0" animBg="1"/>
      <p:bldP spid="12309" grpId="0" animBg="1"/>
      <p:bldP spid="12310" grpId="0" bldLvl="0" autoUpdateAnimBg="0"/>
      <p:bldP spid="12311" grpId="0" animBg="1"/>
      <p:bldP spid="12312" grpId="0" animBg="1"/>
      <p:bldP spid="123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 idx="4294967295"/>
          </p:nvPr>
        </p:nvSpPr>
        <p:spPr>
          <a:xfrm>
            <a:off x="1981200" y="115888"/>
            <a:ext cx="8578850" cy="1371600"/>
          </a:xfrm>
        </p:spPr>
        <p:txBody>
          <a:bodyPr/>
          <a:lstStyle/>
          <a:p>
            <a:r>
              <a:rPr lang="en-US" altLang="zh-CN">
                <a:solidFill>
                  <a:srgbClr val="008000"/>
                </a:solidFill>
              </a:rPr>
              <a:t>Matlab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优化工具求解线性规划问题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4294967295"/>
          </p:nvPr>
        </p:nvSpPr>
        <p:spPr>
          <a:xfrm>
            <a:off x="1127448" y="1412876"/>
            <a:ext cx="10081120" cy="525621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 [</a:t>
            </a:r>
            <a:r>
              <a:rPr lang="en-US" altLang="zh-CN" dirty="0" err="1">
                <a:solidFill>
                  <a:srgbClr val="CC00CC"/>
                </a:solidFill>
              </a:rPr>
              <a:t>x,fval,exitflag</a:t>
            </a:r>
            <a:r>
              <a:rPr lang="en-US" altLang="zh-CN" dirty="0">
                <a:solidFill>
                  <a:srgbClr val="CC00CC"/>
                </a:solidFill>
              </a:rPr>
              <a:t>, output, lambda</a:t>
            </a:r>
            <a:r>
              <a:rPr lang="en-US" altLang="zh-CN" dirty="0"/>
              <a:t>]</a:t>
            </a:r>
          </a:p>
          <a:p>
            <a:pPr marL="0" indent="0">
              <a:buNone/>
            </a:pPr>
            <a:r>
              <a:rPr lang="en-US" altLang="zh-CN" dirty="0"/>
              <a:t>=</a:t>
            </a:r>
            <a:r>
              <a:rPr lang="en-US" altLang="zh-CN" dirty="0" err="1">
                <a:solidFill>
                  <a:srgbClr val="FF0000"/>
                </a:solidFill>
              </a:rPr>
              <a:t>linprog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3333FF"/>
                </a:solidFill>
              </a:rPr>
              <a:t>f, A, b, </a:t>
            </a:r>
            <a:r>
              <a:rPr lang="en-US" altLang="zh-CN" dirty="0" err="1">
                <a:solidFill>
                  <a:srgbClr val="3333FF"/>
                </a:solidFill>
              </a:rPr>
              <a:t>Aeq</a:t>
            </a:r>
            <a:r>
              <a:rPr lang="en-US" altLang="zh-CN" dirty="0">
                <a:solidFill>
                  <a:srgbClr val="3333FF"/>
                </a:solidFill>
              </a:rPr>
              <a:t>, </a:t>
            </a:r>
            <a:r>
              <a:rPr lang="en-US" altLang="zh-CN" dirty="0" err="1">
                <a:solidFill>
                  <a:srgbClr val="3333FF"/>
                </a:solidFill>
              </a:rPr>
              <a:t>beq</a:t>
            </a:r>
            <a:r>
              <a:rPr lang="en-US" altLang="zh-CN" dirty="0">
                <a:solidFill>
                  <a:srgbClr val="3333FF"/>
                </a:solidFill>
              </a:rPr>
              <a:t>, </a:t>
            </a:r>
            <a:r>
              <a:rPr lang="en-US" altLang="zh-CN" dirty="0" err="1">
                <a:solidFill>
                  <a:srgbClr val="3333FF"/>
                </a:solidFill>
              </a:rPr>
              <a:t>lb</a:t>
            </a:r>
            <a:r>
              <a:rPr lang="en-US" altLang="zh-CN" dirty="0">
                <a:solidFill>
                  <a:srgbClr val="3333FF"/>
                </a:solidFill>
              </a:rPr>
              <a:t>, </a:t>
            </a:r>
            <a:r>
              <a:rPr lang="en-US" altLang="zh-CN" dirty="0" err="1">
                <a:solidFill>
                  <a:srgbClr val="3333FF"/>
                </a:solidFill>
              </a:rPr>
              <a:t>ub</a:t>
            </a:r>
            <a:r>
              <a:rPr lang="en-US" altLang="zh-CN" dirty="0">
                <a:solidFill>
                  <a:srgbClr val="3333FF"/>
                </a:solidFill>
              </a:rPr>
              <a:t>, x0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rgbClr val="3333FF"/>
                </a:solidFill>
                <a:latin typeface="黑体" pitchFamily="49" charset="-122"/>
                <a:ea typeface="黑体" pitchFamily="49" charset="-122"/>
              </a:rPr>
              <a:t>输入参数说明</a:t>
            </a:r>
            <a:r>
              <a:rPr lang="en-US" altLang="zh-CN" sz="2800" dirty="0">
                <a:solidFill>
                  <a:srgbClr val="3333FF"/>
                </a:solidFill>
                <a:latin typeface="黑体" pitchFamily="49" charset="-122"/>
                <a:ea typeface="黑体" pitchFamily="49" charset="-122"/>
              </a:rPr>
              <a:t>——</a:t>
            </a: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3333FF"/>
                </a:solidFill>
              </a:rPr>
              <a:t>f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目标函数的系数向量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3333FF"/>
                </a:solidFill>
              </a:rPr>
              <a:t>A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不等式约束的系数矩阵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3333FF"/>
                </a:solidFill>
              </a:rPr>
              <a:t>b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不等式约束的常数项向量，若无不等式约束，选</a:t>
            </a:r>
            <a:r>
              <a:rPr lang="en-US" altLang="zh-CN" sz="2800" b="1" dirty="0"/>
              <a:t>[ ]</a:t>
            </a:r>
          </a:p>
          <a:p>
            <a:pPr marL="0" indent="0">
              <a:buNone/>
            </a:pPr>
            <a:r>
              <a:rPr lang="en-US" altLang="zh-CN" sz="2800" b="1" dirty="0" err="1">
                <a:solidFill>
                  <a:srgbClr val="3333FF"/>
                </a:solidFill>
              </a:rPr>
              <a:t>Aeq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等式约束的系数矩阵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dirty="0" err="1">
                <a:solidFill>
                  <a:srgbClr val="3333FF"/>
                </a:solidFill>
              </a:rPr>
              <a:t>beq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等式约束的常数项向量，若无不等式约束，选</a:t>
            </a:r>
            <a:r>
              <a:rPr lang="en-US" altLang="zh-CN" sz="2800" b="1" dirty="0"/>
              <a:t>[ ]</a:t>
            </a:r>
          </a:p>
          <a:p>
            <a:pPr marL="0" indent="0">
              <a:buNone/>
            </a:pPr>
            <a:r>
              <a:rPr lang="en-US" altLang="zh-CN" sz="2800" b="1" dirty="0" err="1">
                <a:solidFill>
                  <a:srgbClr val="3333FF"/>
                </a:solidFill>
              </a:rPr>
              <a:t>lb</a:t>
            </a:r>
            <a:r>
              <a:rPr lang="en-US" altLang="zh-CN" sz="2800" b="1" dirty="0">
                <a:solidFill>
                  <a:srgbClr val="3333FF"/>
                </a:solidFill>
              </a:rPr>
              <a:t>, </a:t>
            </a:r>
            <a:r>
              <a:rPr lang="en-US" altLang="zh-CN" sz="2800" b="1" dirty="0" err="1">
                <a:solidFill>
                  <a:srgbClr val="3333FF"/>
                </a:solidFill>
              </a:rPr>
              <a:t>ub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变量的下界和上界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若无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分别用</a:t>
            </a:r>
            <a:r>
              <a:rPr lang="en-US" altLang="zh-CN" sz="2800" b="1" dirty="0"/>
              <a:t>-</a:t>
            </a:r>
            <a:r>
              <a:rPr lang="en-US" altLang="zh-CN" sz="2800" b="1" dirty="0" err="1"/>
              <a:t>inf</a:t>
            </a:r>
            <a:r>
              <a:rPr lang="en-US" altLang="zh-CN" sz="2800" b="1" dirty="0"/>
              <a:t>, </a:t>
            </a:r>
            <a:r>
              <a:rPr lang="en-US" altLang="zh-CN" sz="2800" b="1" dirty="0" err="1"/>
              <a:t>inf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表示</a:t>
            </a:r>
            <a:r>
              <a:rPr lang="en-US" altLang="zh-CN" sz="2800" b="1" dirty="0"/>
              <a:t>)</a:t>
            </a:r>
            <a:br>
              <a:rPr lang="en-US" altLang="zh-CN" sz="2800" b="1" dirty="0">
                <a:solidFill>
                  <a:srgbClr val="3333FF"/>
                </a:solidFill>
              </a:rPr>
            </a:br>
            <a:r>
              <a:rPr lang="en-US" altLang="zh-CN" sz="2800" b="1" dirty="0">
                <a:solidFill>
                  <a:srgbClr val="3333FF"/>
                </a:solidFill>
              </a:rPr>
              <a:t>x0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线性规划的初始解，常设为缺省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C395BC-D61B-3F90-AA3E-5F4E94E13D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 idx="4294967295"/>
          </p:nvPr>
        </p:nvSpPr>
        <p:spPr>
          <a:xfrm>
            <a:off x="1981200" y="115888"/>
            <a:ext cx="8578850" cy="1371600"/>
          </a:xfrm>
        </p:spPr>
        <p:txBody>
          <a:bodyPr/>
          <a:lstStyle/>
          <a:p>
            <a:r>
              <a:rPr lang="en-US" altLang="zh-CN" dirty="0" err="1">
                <a:solidFill>
                  <a:srgbClr val="008000"/>
                </a:solidFill>
              </a:rPr>
              <a:t>Matlab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优化工具求解线性规划问题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4294967295"/>
          </p:nvPr>
        </p:nvSpPr>
        <p:spPr>
          <a:xfrm>
            <a:off x="1127448" y="1412876"/>
            <a:ext cx="9540552" cy="525621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 [</a:t>
            </a:r>
            <a:r>
              <a:rPr lang="en-US" altLang="zh-CN" dirty="0" err="1">
                <a:solidFill>
                  <a:srgbClr val="CC00CC"/>
                </a:solidFill>
              </a:rPr>
              <a:t>x,fval,exitflag</a:t>
            </a:r>
            <a:r>
              <a:rPr lang="en-US" altLang="zh-CN" dirty="0">
                <a:solidFill>
                  <a:srgbClr val="CC00CC"/>
                </a:solidFill>
              </a:rPr>
              <a:t>, output, lambda</a:t>
            </a:r>
            <a:r>
              <a:rPr lang="en-US" altLang="zh-CN" dirty="0"/>
              <a:t>]</a:t>
            </a:r>
          </a:p>
          <a:p>
            <a:pPr marL="0" indent="0">
              <a:buNone/>
            </a:pPr>
            <a:r>
              <a:rPr lang="en-US" altLang="zh-CN" dirty="0"/>
              <a:t>=</a:t>
            </a:r>
            <a:r>
              <a:rPr lang="en-US" altLang="zh-CN" dirty="0" err="1">
                <a:solidFill>
                  <a:srgbClr val="FF0000"/>
                </a:solidFill>
              </a:rPr>
              <a:t>linprog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3333FF"/>
                </a:solidFill>
              </a:rPr>
              <a:t>f, A, b, </a:t>
            </a:r>
            <a:r>
              <a:rPr lang="en-US" altLang="zh-CN" dirty="0" err="1">
                <a:solidFill>
                  <a:srgbClr val="3333FF"/>
                </a:solidFill>
              </a:rPr>
              <a:t>Aeq</a:t>
            </a:r>
            <a:r>
              <a:rPr lang="en-US" altLang="zh-CN" dirty="0">
                <a:solidFill>
                  <a:srgbClr val="3333FF"/>
                </a:solidFill>
              </a:rPr>
              <a:t>, </a:t>
            </a:r>
            <a:r>
              <a:rPr lang="en-US" altLang="zh-CN" dirty="0" err="1">
                <a:solidFill>
                  <a:srgbClr val="3333FF"/>
                </a:solidFill>
              </a:rPr>
              <a:t>beq</a:t>
            </a:r>
            <a:r>
              <a:rPr lang="en-US" altLang="zh-CN" dirty="0">
                <a:solidFill>
                  <a:srgbClr val="3333FF"/>
                </a:solidFill>
              </a:rPr>
              <a:t>, </a:t>
            </a:r>
            <a:r>
              <a:rPr lang="en-US" altLang="zh-CN" dirty="0" err="1">
                <a:solidFill>
                  <a:srgbClr val="3333FF"/>
                </a:solidFill>
              </a:rPr>
              <a:t>lb</a:t>
            </a:r>
            <a:r>
              <a:rPr lang="en-US" altLang="zh-CN" dirty="0">
                <a:solidFill>
                  <a:srgbClr val="3333FF"/>
                </a:solidFill>
              </a:rPr>
              <a:t>, </a:t>
            </a:r>
            <a:r>
              <a:rPr lang="en-US" altLang="zh-CN" dirty="0" err="1">
                <a:solidFill>
                  <a:srgbClr val="3333FF"/>
                </a:solidFill>
              </a:rPr>
              <a:t>ub</a:t>
            </a:r>
            <a:r>
              <a:rPr lang="en-US" altLang="zh-CN" dirty="0">
                <a:solidFill>
                  <a:srgbClr val="3333FF"/>
                </a:solidFill>
              </a:rPr>
              <a:t>, x0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输出参数说明</a:t>
            </a:r>
            <a:r>
              <a:rPr lang="en-US" altLang="zh-CN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——</a:t>
            </a: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CC00CC"/>
                </a:solidFill>
              </a:rPr>
              <a:t>x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最优解，  </a:t>
            </a:r>
            <a:r>
              <a:rPr lang="en-US" altLang="zh-CN" sz="2800" b="1" dirty="0" err="1">
                <a:solidFill>
                  <a:srgbClr val="CC00CC"/>
                </a:solidFill>
              </a:rPr>
              <a:t>fval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最优值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dirty="0" err="1">
                <a:solidFill>
                  <a:srgbClr val="CC00CC"/>
                </a:solidFill>
              </a:rPr>
              <a:t>exitflag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描述程序运行情况：</a:t>
            </a:r>
            <a:endParaRPr lang="en-US" altLang="zh-CN" sz="2800" b="1" dirty="0"/>
          </a:p>
          <a:p>
            <a:pPr marL="857250" lvl="1" indent="-457200">
              <a:buFont typeface="宋体" pitchFamily="2" charset="-122"/>
              <a:buAutoNum type="circleNumDbPlain"/>
            </a:pPr>
            <a:r>
              <a:rPr lang="en-US" altLang="zh-CN" sz="2400" b="1" dirty="0" err="1">
                <a:solidFill>
                  <a:srgbClr val="CC00CC"/>
                </a:solidFill>
              </a:rPr>
              <a:t>exitflag</a:t>
            </a:r>
            <a:r>
              <a:rPr lang="en-US" altLang="zh-CN" sz="2400" b="1" dirty="0"/>
              <a:t> &gt; 0: </a:t>
            </a:r>
            <a:r>
              <a:rPr lang="zh-CN" altLang="en-US" sz="2400" b="1" dirty="0"/>
              <a:t>表示程序收敛到最优解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pPr marL="857250" lvl="1" indent="-457200">
              <a:buFont typeface="宋体" pitchFamily="2" charset="-122"/>
              <a:buAutoNum type="circleNumDbPlain"/>
            </a:pPr>
            <a:r>
              <a:rPr lang="en-US" altLang="zh-CN" sz="2400" b="1" dirty="0" err="1">
                <a:solidFill>
                  <a:srgbClr val="CC00CC"/>
                </a:solidFill>
              </a:rPr>
              <a:t>exitflag</a:t>
            </a:r>
            <a:r>
              <a:rPr lang="en-US" altLang="zh-CN" sz="2400" b="1" dirty="0"/>
              <a:t> = 0: </a:t>
            </a:r>
            <a:r>
              <a:rPr lang="zh-CN" altLang="en-US" sz="2400" b="1" dirty="0"/>
              <a:t>表示计算达到最大次数；</a:t>
            </a:r>
            <a:endParaRPr lang="en-US" altLang="zh-CN" sz="2400" b="1" dirty="0"/>
          </a:p>
          <a:p>
            <a:pPr marL="857250" lvl="1" indent="-457200">
              <a:buFont typeface="宋体" pitchFamily="2" charset="-122"/>
              <a:buAutoNum type="circleNumDbPlain"/>
            </a:pPr>
            <a:r>
              <a:rPr lang="en-US" altLang="zh-CN" sz="2400" b="1" dirty="0" err="1">
                <a:solidFill>
                  <a:srgbClr val="CC00CC"/>
                </a:solidFill>
              </a:rPr>
              <a:t>exitflag</a:t>
            </a:r>
            <a:r>
              <a:rPr lang="en-US" altLang="zh-CN" sz="2400" b="1" dirty="0"/>
              <a:t> &lt; 0: </a:t>
            </a:r>
            <a:r>
              <a:rPr lang="zh-CN" altLang="en-US" sz="2400" b="1" dirty="0"/>
              <a:t>表示问题无可行解或程序运行失败。</a:t>
            </a:r>
            <a:endParaRPr lang="en-US" altLang="zh-CN" sz="2400" b="1" dirty="0">
              <a:solidFill>
                <a:srgbClr val="CC00CC"/>
              </a:solidFill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CC00CC"/>
                </a:solidFill>
              </a:rPr>
              <a:t>output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程序运行信息：迭代次数、所用算法等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CC00CC"/>
                </a:solidFill>
              </a:rPr>
              <a:t>lambda</a:t>
            </a:r>
            <a:r>
              <a:rPr lang="en-US" altLang="zh-CN" sz="2800" b="1" dirty="0"/>
              <a:t>—x</a:t>
            </a:r>
            <a:r>
              <a:rPr lang="zh-CN" altLang="en-US" sz="2800" b="1" dirty="0"/>
              <a:t>处的拉格朗日乘子</a:t>
            </a:r>
            <a:endParaRPr lang="en-US" altLang="zh-CN" sz="2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75CFBA-39F3-0BF4-5735-CF938D24EB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 idx="4294967295"/>
          </p:nvPr>
        </p:nvSpPr>
        <p:spPr>
          <a:xfrm>
            <a:off x="1981200" y="115888"/>
            <a:ext cx="8578850" cy="1371600"/>
          </a:xfrm>
        </p:spPr>
        <p:txBody>
          <a:bodyPr/>
          <a:lstStyle/>
          <a:p>
            <a:r>
              <a:rPr lang="en-US" altLang="zh-CN" dirty="0" err="1">
                <a:solidFill>
                  <a:srgbClr val="008000"/>
                </a:solidFill>
              </a:rPr>
              <a:t>Matlab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优化工具求解线性规划问题</a:t>
            </a:r>
          </a:p>
        </p:txBody>
      </p:sp>
      <p:graphicFrame>
        <p:nvGraphicFramePr>
          <p:cNvPr id="15363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140919722"/>
              </p:ext>
            </p:extLst>
          </p:nvPr>
        </p:nvGraphicFramePr>
        <p:xfrm>
          <a:off x="7986187" y="1260422"/>
          <a:ext cx="3582987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7017" imgH="1143317" progId="Equation.DSMT4">
                  <p:embed/>
                </p:oleObj>
              </mc:Choice>
              <mc:Fallback>
                <p:oleObj name="Equation" r:id="rId2" imgW="1537017" imgH="1143317" progId="Equation.DSMT4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6187" y="1260422"/>
                        <a:ext cx="3582987" cy="2665412"/>
                      </a:xfrm>
                      <a:prstGeom prst="rect">
                        <a:avLst/>
                      </a:prstGeom>
                      <a:solidFill>
                        <a:srgbClr val="B2B2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内容占位符 5"/>
          <p:cNvSpPr>
            <a:spLocks noGrp="1"/>
          </p:cNvSpPr>
          <p:nvPr>
            <p:ph sz="half" idx="4294967295"/>
          </p:nvPr>
        </p:nvSpPr>
        <p:spPr>
          <a:xfrm>
            <a:off x="1415480" y="1268414"/>
            <a:ext cx="7633270" cy="41179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/>
              <a:t>f = [ -2, -1, 1];</a:t>
            </a:r>
          </a:p>
          <a:p>
            <a:pPr marL="0" indent="0">
              <a:buNone/>
            </a:pPr>
            <a:r>
              <a:rPr lang="en-US" altLang="zh-CN" sz="2800" dirty="0" err="1"/>
              <a:t>Aeq</a:t>
            </a:r>
            <a:r>
              <a:rPr lang="en-US" altLang="zh-CN" sz="2800" dirty="0"/>
              <a:t> = [1, 1, 2];</a:t>
            </a:r>
          </a:p>
          <a:p>
            <a:pPr marL="0" indent="0">
              <a:buNone/>
            </a:pPr>
            <a:r>
              <a:rPr lang="en-US" altLang="zh-CN" sz="2800" dirty="0" err="1"/>
              <a:t>beq</a:t>
            </a:r>
            <a:r>
              <a:rPr lang="en-US" altLang="zh-CN" sz="2800" dirty="0"/>
              <a:t> = 6;</a:t>
            </a:r>
          </a:p>
          <a:p>
            <a:pPr marL="0" indent="0">
              <a:buNone/>
            </a:pPr>
            <a:r>
              <a:rPr lang="en-US" altLang="zh-CN" sz="2800" dirty="0"/>
              <a:t>A = [1, 4, -1; 2, -2, 1]</a:t>
            </a:r>
          </a:p>
          <a:p>
            <a:pPr marL="0" indent="0">
              <a:buNone/>
            </a:pPr>
            <a:r>
              <a:rPr lang="en-US" altLang="zh-CN" sz="2800" dirty="0"/>
              <a:t>b = [4; 12];</a:t>
            </a:r>
          </a:p>
          <a:p>
            <a:pPr marL="0" indent="0">
              <a:buNone/>
            </a:pPr>
            <a:r>
              <a:rPr lang="en-US" altLang="zh-CN" sz="2800" dirty="0" err="1"/>
              <a:t>lb</a:t>
            </a:r>
            <a:r>
              <a:rPr lang="en-US" altLang="zh-CN" sz="2800" dirty="0"/>
              <a:t> = [  0,  0, </a:t>
            </a:r>
            <a:r>
              <a:rPr lang="zh-CN" altLang="en-US" sz="2800" dirty="0"/>
              <a:t>inf </a:t>
            </a:r>
            <a:r>
              <a:rPr lang="en-US" altLang="zh-CN" sz="2800" dirty="0"/>
              <a:t>];</a:t>
            </a:r>
          </a:p>
          <a:p>
            <a:pPr marL="0" indent="0">
              <a:buNone/>
            </a:pPr>
            <a:r>
              <a:rPr lang="en-US" altLang="zh-CN" sz="2800" dirty="0" err="1"/>
              <a:t>ub</a:t>
            </a:r>
            <a:r>
              <a:rPr lang="en-US" altLang="zh-CN" sz="2800" dirty="0"/>
              <a:t> =[</a:t>
            </a:r>
            <a:r>
              <a:rPr lang="en-US" altLang="zh-CN" sz="2800" dirty="0" err="1"/>
              <a:t>inf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inf</a:t>
            </a:r>
            <a:r>
              <a:rPr lang="en-US" altLang="zh-CN" sz="2800" dirty="0"/>
              <a:t>, 5]</a:t>
            </a:r>
          </a:p>
          <a:p>
            <a:pPr marL="0" indent="0">
              <a:buNone/>
            </a:pPr>
            <a:r>
              <a:rPr lang="en-US" altLang="zh-CN" sz="2800" dirty="0"/>
              <a:t>[</a:t>
            </a:r>
            <a:r>
              <a:rPr lang="en-US" altLang="zh-CN" sz="2800" dirty="0">
                <a:solidFill>
                  <a:srgbClr val="CC00CC"/>
                </a:solidFill>
              </a:rPr>
              <a:t>x, </a:t>
            </a:r>
            <a:r>
              <a:rPr lang="en-US" altLang="zh-CN" sz="2800" dirty="0" err="1">
                <a:solidFill>
                  <a:srgbClr val="CC00CC"/>
                </a:solidFill>
              </a:rPr>
              <a:t>fval</a:t>
            </a:r>
            <a:r>
              <a:rPr lang="en-US" altLang="zh-CN" sz="2800" dirty="0"/>
              <a:t>] = </a:t>
            </a:r>
            <a:r>
              <a:rPr lang="en-US" altLang="zh-CN" sz="2800" dirty="0" err="1">
                <a:solidFill>
                  <a:srgbClr val="FF0000"/>
                </a:solidFill>
              </a:rPr>
              <a:t>linprog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/>
              <a:t>(</a:t>
            </a:r>
            <a:r>
              <a:rPr lang="en-US" altLang="zh-CN" sz="2800" dirty="0">
                <a:solidFill>
                  <a:srgbClr val="3333FF"/>
                </a:solidFill>
              </a:rPr>
              <a:t>f, A, b, </a:t>
            </a:r>
            <a:r>
              <a:rPr lang="en-US" altLang="zh-CN" sz="2800" dirty="0" err="1">
                <a:solidFill>
                  <a:srgbClr val="3333FF"/>
                </a:solidFill>
              </a:rPr>
              <a:t>Aeq</a:t>
            </a:r>
            <a:r>
              <a:rPr lang="en-US" altLang="zh-CN" sz="2800" dirty="0">
                <a:solidFill>
                  <a:srgbClr val="3333FF"/>
                </a:solidFill>
              </a:rPr>
              <a:t>, </a:t>
            </a:r>
            <a:r>
              <a:rPr lang="en-US" altLang="zh-CN" sz="2800" dirty="0" err="1">
                <a:solidFill>
                  <a:srgbClr val="3333FF"/>
                </a:solidFill>
              </a:rPr>
              <a:t>beq</a:t>
            </a:r>
            <a:r>
              <a:rPr lang="en-US" altLang="zh-CN" sz="2800" dirty="0">
                <a:solidFill>
                  <a:srgbClr val="3333FF"/>
                </a:solidFill>
              </a:rPr>
              <a:t>, </a:t>
            </a:r>
            <a:r>
              <a:rPr lang="en-US" altLang="zh-CN" sz="2800" dirty="0" err="1">
                <a:solidFill>
                  <a:srgbClr val="3333FF"/>
                </a:solidFill>
              </a:rPr>
              <a:t>lb</a:t>
            </a:r>
            <a:r>
              <a:rPr lang="en-US" altLang="zh-CN" sz="2800" dirty="0">
                <a:solidFill>
                  <a:srgbClr val="3333FF"/>
                </a:solidFill>
              </a:rPr>
              <a:t>, </a:t>
            </a:r>
            <a:r>
              <a:rPr lang="en-US" altLang="zh-CN" sz="2800" dirty="0" err="1">
                <a:solidFill>
                  <a:srgbClr val="3333FF"/>
                </a:solidFill>
              </a:rPr>
              <a:t>ub</a:t>
            </a:r>
            <a:r>
              <a:rPr lang="en-US" altLang="zh-CN" sz="2800" dirty="0"/>
              <a:t>)</a:t>
            </a:r>
            <a:endParaRPr lang="zh-CN" altLang="en-US" sz="2800" dirty="0"/>
          </a:p>
        </p:txBody>
      </p:sp>
      <p:sp>
        <p:nvSpPr>
          <p:cNvPr id="15365" name="矩形 6"/>
          <p:cNvSpPr>
            <a:spLocks noChangeArrowheads="1"/>
          </p:cNvSpPr>
          <p:nvPr/>
        </p:nvSpPr>
        <p:spPr bwMode="auto">
          <a:xfrm>
            <a:off x="2063750" y="5301208"/>
            <a:ext cx="4032250" cy="156966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运行结果：</a:t>
            </a:r>
            <a:r>
              <a:rPr lang="en-US" altLang="zh-CN" sz="2400" dirty="0"/>
              <a:t>x =</a:t>
            </a:r>
          </a:p>
          <a:p>
            <a:pPr eaLnBrk="1" hangingPunct="1"/>
            <a:r>
              <a:rPr lang="en-US" altLang="zh-CN" sz="2400" dirty="0"/>
              <a:t>                       4.6667</a:t>
            </a:r>
          </a:p>
          <a:p>
            <a:pPr eaLnBrk="1" hangingPunct="1"/>
            <a:r>
              <a:rPr lang="en-US" altLang="zh-CN" sz="2400" dirty="0"/>
              <a:t>                       0.0000</a:t>
            </a:r>
          </a:p>
          <a:p>
            <a:pPr eaLnBrk="1" hangingPunct="1"/>
            <a:r>
              <a:rPr lang="en-US" altLang="zh-CN" sz="2400" dirty="0"/>
              <a:t>                       0.6667</a:t>
            </a:r>
          </a:p>
        </p:txBody>
      </p:sp>
      <p:sp>
        <p:nvSpPr>
          <p:cNvPr id="15366" name="矩形 8"/>
          <p:cNvSpPr>
            <a:spLocks noChangeArrowheads="1"/>
          </p:cNvSpPr>
          <p:nvPr/>
        </p:nvSpPr>
        <p:spPr bwMode="auto">
          <a:xfrm>
            <a:off x="6318250" y="5373216"/>
            <a:ext cx="4241800" cy="144655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dirty="0" err="1"/>
              <a:t>fval</a:t>
            </a:r>
            <a:r>
              <a:rPr lang="en-US" altLang="zh-CN" sz="2400" dirty="0"/>
              <a:t> =</a:t>
            </a:r>
          </a:p>
          <a:p>
            <a:pPr eaLnBrk="1" hangingPunct="1"/>
            <a:r>
              <a:rPr lang="en-US" altLang="zh-CN" sz="2400" dirty="0"/>
              <a:t>        -8.6667</a:t>
            </a:r>
          </a:p>
          <a:p>
            <a:pPr eaLnBrk="1" hangingPunct="1"/>
            <a:endParaRPr lang="en-US" altLang="zh-CN" sz="2000" dirty="0"/>
          </a:p>
          <a:p>
            <a:pPr eaLnBrk="1" hangingPunct="1"/>
            <a:endParaRPr lang="en-US" altLang="zh-CN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F70C18-D0F8-0A88-C35C-87A14E9476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 autoUpdateAnimBg="0"/>
      <p:bldP spid="15365" grpId="0" animBg="1" autoUpdateAnimBg="0"/>
      <p:bldP spid="1536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332656"/>
            <a:ext cx="8229600" cy="1099592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ea typeface="黑体" panose="02010609060101010101" pitchFamily="49" charset="-122"/>
              </a:rPr>
              <a:t>11.2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线性规划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412776"/>
            <a:ext cx="10081120" cy="5256584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kumimoji="1" lang="zh-CN" altLang="en-US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普通线性规划</a:t>
            </a:r>
            <a:r>
              <a:rPr kumimoji="1" lang="zh-CN" altLang="en-US" b="1" dirty="0">
                <a:latin typeface="宋体" panose="02010600030101010101" pitchFamily="2" charset="-122"/>
              </a:rPr>
              <a:t>其约束条件和目标函数都是确定的，但在一些实际问题中，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kumimoji="1" lang="zh-CN" altLang="en-US" b="1" dirty="0">
                <a:solidFill>
                  <a:srgbClr val="3333FF"/>
                </a:solidFill>
                <a:latin typeface="宋体" panose="02010600030101010101" pitchFamily="2" charset="-122"/>
              </a:rPr>
              <a:t>约束条件可能带有弹性，</a:t>
            </a:r>
            <a:endParaRPr kumimoji="1" lang="en-US" altLang="zh-CN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kumimoji="1" lang="zh-CN" altLang="en-US" b="1" dirty="0">
                <a:solidFill>
                  <a:srgbClr val="3333FF"/>
                </a:solidFill>
                <a:latin typeface="宋体" panose="02010600030101010101" pitchFamily="2" charset="-122"/>
              </a:rPr>
              <a:t>目标函数可能不是单一的，</a:t>
            </a:r>
            <a:endParaRPr kumimoji="1" lang="en-US" altLang="zh-CN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130000"/>
              </a:lnSpc>
              <a:buNone/>
            </a:pPr>
            <a:r>
              <a:rPr kumimoji="1" lang="zh-CN" altLang="en-US" b="1" dirty="0">
                <a:latin typeface="宋体" panose="02010600030101010101" pitchFamily="2" charset="-122"/>
              </a:rPr>
              <a:t>必须借助模糊集的方法来处理</a:t>
            </a:r>
            <a:r>
              <a:rPr kumimoji="1" lang="en-US" altLang="zh-CN" dirty="0">
                <a:latin typeface="宋体" panose="02010600030101010101" pitchFamily="2" charset="-122"/>
              </a:rPr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kumimoji="1"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线性规划</a:t>
            </a:r>
            <a:r>
              <a:rPr kumimoji="1" lang="zh-CN" altLang="en-US" b="1" dirty="0">
                <a:latin typeface="宋体" panose="02010600030101010101" pitchFamily="2" charset="-122"/>
              </a:rPr>
              <a:t>是将</a:t>
            </a:r>
            <a:r>
              <a:rPr kumimoji="1" lang="zh-CN" altLang="en-US" b="1" u="sng" dirty="0">
                <a:latin typeface="宋体" panose="02010600030101010101" pitchFamily="2" charset="-122"/>
              </a:rPr>
              <a:t>约束条件</a:t>
            </a:r>
            <a:r>
              <a:rPr kumimoji="1" lang="zh-CN" altLang="en-US" b="1" dirty="0">
                <a:latin typeface="宋体" panose="02010600030101010101" pitchFamily="2" charset="-122"/>
              </a:rPr>
              <a:t>和</a:t>
            </a:r>
            <a:r>
              <a:rPr kumimoji="1" lang="zh-CN" altLang="en-US" b="1" u="sng" dirty="0">
                <a:latin typeface="宋体" panose="02010600030101010101" pitchFamily="2" charset="-122"/>
              </a:rPr>
              <a:t>目标函数</a:t>
            </a:r>
            <a:r>
              <a:rPr kumimoji="1" lang="zh-CN" altLang="en-US" b="1" dirty="0">
                <a:latin typeface="宋体" panose="02010600030101010101" pitchFamily="2" charset="-122"/>
              </a:rPr>
              <a:t>模糊化，引入</a:t>
            </a:r>
            <a:r>
              <a:rPr kumimoji="1" lang="zh-CN" altLang="en-US" b="1" u="sng" dirty="0">
                <a:latin typeface="宋体" panose="02010600030101010101" pitchFamily="2" charset="-122"/>
              </a:rPr>
              <a:t>隶属函数</a:t>
            </a:r>
            <a:r>
              <a:rPr kumimoji="1" lang="zh-CN" altLang="en-US" b="1" dirty="0">
                <a:latin typeface="宋体" panose="02010600030101010101" pitchFamily="2" charset="-122"/>
              </a:rPr>
              <a:t>，从而导出一个新的线性规划问题，它的最优解称为原问题的</a:t>
            </a:r>
            <a:r>
              <a:rPr kumimoji="1"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模糊最优解</a:t>
            </a:r>
            <a:r>
              <a:rPr kumimoji="1"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.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2F6CC8-531F-BDE8-90C0-C948860730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71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ChangeArrowheads="1"/>
          </p:cNvSpPr>
          <p:nvPr/>
        </p:nvSpPr>
        <p:spPr bwMode="auto">
          <a:xfrm>
            <a:off x="1634357" y="571328"/>
            <a:ext cx="8839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4400" b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普通线性规划的标准形式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61395" y="1575990"/>
            <a:ext cx="7777163" cy="3005138"/>
            <a:chOff x="720" y="550"/>
            <a:chExt cx="4899" cy="1893"/>
          </a:xfrm>
        </p:grpSpPr>
        <p:graphicFrame>
          <p:nvGraphicFramePr>
            <p:cNvPr id="1026" name="Object 4"/>
            <p:cNvGraphicFramePr>
              <a:graphicFrameLocks noChangeAspect="1"/>
            </p:cNvGraphicFramePr>
            <p:nvPr/>
          </p:nvGraphicFramePr>
          <p:xfrm>
            <a:off x="1266" y="550"/>
            <a:ext cx="2086" cy="1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44520" imgH="711000" progId="Equation.DSMT4">
                    <p:embed/>
                  </p:oleObj>
                </mc:Choice>
                <mc:Fallback>
                  <p:oleObj name="Equation" r:id="rId3" imgW="1244520" imgH="711000" progId="Equation.DSMT4">
                    <p:embed/>
                    <p:pic>
                      <p:nvPicPr>
                        <p:cNvPr id="102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6" y="550"/>
                          <a:ext cx="2086" cy="1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" name="Object 5"/>
            <p:cNvGraphicFramePr>
              <a:graphicFrameLocks noChangeAspect="1"/>
            </p:cNvGraphicFramePr>
            <p:nvPr/>
          </p:nvGraphicFramePr>
          <p:xfrm>
            <a:off x="3721" y="550"/>
            <a:ext cx="811" cy="1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58720" imgH="939600" progId="Equation.DSMT4">
                    <p:embed/>
                  </p:oleObj>
                </mc:Choice>
                <mc:Fallback>
                  <p:oleObj name="Equation" r:id="rId5" imgW="558720" imgH="939600" progId="Equation.DSMT4">
                    <p:embed/>
                    <p:pic>
                      <p:nvPicPr>
                        <p:cNvPr id="102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1" y="550"/>
                          <a:ext cx="811" cy="13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2" name="Rectangle 6"/>
            <p:cNvSpPr>
              <a:spLocks noChangeArrowheads="1"/>
            </p:cNvSpPr>
            <p:nvPr/>
          </p:nvSpPr>
          <p:spPr bwMode="auto">
            <a:xfrm>
              <a:off x="720" y="1680"/>
              <a:ext cx="3408" cy="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20000"/>
                </a:spcBef>
              </a:pPr>
              <a:r>
                <a:rPr kumimoji="1"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3200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= </a:t>
              </a:r>
              <a:r>
                <a:rPr kumimoji="1"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3200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3200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 </a:t>
              </a:r>
              <a:r>
                <a:rPr kumimoji="1"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3200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3200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 </a:t>
              </a:r>
              <a:r>
                <a:rPr kumimoji="1"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 </a:t>
              </a:r>
              <a:r>
                <a:rPr kumimoji="1"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3200" i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3200" i="1" baseline="-30000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3200" i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3200" i="1" baseline="-30000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, </a:t>
              </a:r>
            </a:p>
            <a:p>
              <a:pPr eaLnBrk="1" hangingPunct="1">
                <a:lnSpc>
                  <a:spcPct val="105000"/>
                </a:lnSpc>
                <a:spcBef>
                  <a:spcPct val="20000"/>
                </a:spcBef>
              </a:pPr>
              <a:r>
                <a:rPr kumimoji="1" lang="en-US" altLang="zh-CN" sz="3200" i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3200" i="1" baseline="-30000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3200" i="1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= </a:t>
              </a:r>
              <a:r>
                <a:rPr kumimoji="1"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200" i="1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3200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3200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 </a:t>
              </a:r>
              <a:r>
                <a:rPr kumimoji="1"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+ </a:t>
              </a:r>
              <a:r>
                <a:rPr kumimoji="1"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200" i="1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3200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3200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 </a:t>
              </a:r>
              <a:r>
                <a:rPr kumimoji="1"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+ … + </a:t>
              </a:r>
              <a:r>
                <a:rPr kumimoji="1" lang="en-US" altLang="zh-CN" sz="3200" i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200" i="1" baseline="-30000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r>
                <a:rPr kumimoji="1" lang="en-US" altLang="zh-CN" sz="3200" i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3200" i="1" baseline="-30000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3200" i="1" baseline="-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33" name="Rectangle 7"/>
            <p:cNvSpPr>
              <a:spLocks noChangeArrowheads="1"/>
            </p:cNvSpPr>
            <p:nvPr/>
          </p:nvSpPr>
          <p:spPr bwMode="auto">
            <a:xfrm>
              <a:off x="3984" y="1920"/>
              <a:ext cx="163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i </a:t>
              </a:r>
              <a:r>
                <a:rPr kumimoji="1" lang="en-US" altLang="zh-CN" sz="3200">
                  <a:solidFill>
                    <a:schemeClr val="tx1"/>
                  </a:solidFill>
                  <a:latin typeface="Times New Roman" panose="02020603050405020304" pitchFamily="18" charset="0"/>
                </a:rPr>
                <a:t>= 1, 2, …, </a:t>
              </a:r>
              <a:r>
                <a:rPr kumimoji="1" lang="en-US" altLang="zh-CN" sz="32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r>
                <a:rPr kumimoji="1" lang="en-US" altLang="zh-CN" sz="320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911424" y="4707254"/>
            <a:ext cx="10225136" cy="204979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若约束条件带有弹性，即右端常数</a:t>
            </a:r>
            <a:r>
              <a:rPr kumimoji="1"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可能取</a:t>
            </a:r>
          </a:p>
          <a:p>
            <a:pPr algn="ctr" eaLnBrk="1" hangingPunct="1">
              <a:spcBef>
                <a:spcPct val="20000"/>
              </a:spcBef>
            </a:pPr>
            <a:r>
              <a:rPr kumimoji="1" lang="en-US" altLang="zh-CN" dirty="0">
                <a:solidFill>
                  <a:srgbClr val="CC00CC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CC00CC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i="1" baseline="-30000" dirty="0">
                <a:solidFill>
                  <a:srgbClr val="CC00CC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dirty="0">
                <a:solidFill>
                  <a:srgbClr val="CC00CC"/>
                </a:solidFill>
                <a:latin typeface="Times New Roman" panose="02020603050405020304" pitchFamily="18" charset="0"/>
              </a:rPr>
              <a:t>– </a:t>
            </a:r>
            <a:r>
              <a:rPr kumimoji="1" lang="en-US" altLang="zh-CN" i="1" dirty="0">
                <a:solidFill>
                  <a:srgbClr val="CC00CC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i="1" baseline="-30000" dirty="0">
                <a:solidFill>
                  <a:srgbClr val="CC00CC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dirty="0">
                <a:solidFill>
                  <a:srgbClr val="CC00CC"/>
                </a:solidFill>
                <a:latin typeface="Times New Roman" panose="02020603050405020304" pitchFamily="18" charset="0"/>
              </a:rPr>
              <a:t>,</a:t>
            </a:r>
            <a:r>
              <a:rPr kumimoji="1" lang="en-US" altLang="zh-CN" i="1" dirty="0">
                <a:solidFill>
                  <a:srgbClr val="CC00CC"/>
                </a:solidFill>
                <a:latin typeface="Times New Roman" panose="02020603050405020304" pitchFamily="18" charset="0"/>
              </a:rPr>
              <a:t> b</a:t>
            </a:r>
            <a:r>
              <a:rPr kumimoji="1" lang="en-US" altLang="zh-CN" i="1" baseline="-30000" dirty="0">
                <a:solidFill>
                  <a:srgbClr val="CC00CC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dirty="0">
                <a:solidFill>
                  <a:srgbClr val="CC00CC"/>
                </a:solidFill>
                <a:latin typeface="Times New Roman" panose="02020603050405020304" pitchFamily="18" charset="0"/>
              </a:rPr>
              <a:t>+ </a:t>
            </a:r>
            <a:r>
              <a:rPr kumimoji="1" lang="en-US" altLang="zh-CN" i="1" dirty="0">
                <a:solidFill>
                  <a:srgbClr val="CC00CC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i="1" baseline="-30000" dirty="0">
                <a:solidFill>
                  <a:srgbClr val="CC00CC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dirty="0">
                <a:solidFill>
                  <a:srgbClr val="CC00CC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内的某一个值，这里的</a:t>
            </a:r>
            <a:r>
              <a:rPr kumimoji="1"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i="1" baseline="-30000" dirty="0">
                <a:solidFill>
                  <a:srgbClr val="3333FF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＞</a:t>
            </a:r>
            <a:r>
              <a:rPr kumimoji="1" lang="en-US" altLang="zh-CN" dirty="0">
                <a:solidFill>
                  <a:srgbClr val="3333FF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，它是决策人根据实际问题选择的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伸缩指标</a:t>
            </a:r>
            <a:r>
              <a:rPr kumimoji="1"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. </a:t>
            </a:r>
            <a:r>
              <a:rPr kumimoji="1"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这样的规划称为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模糊线性规划</a:t>
            </a:r>
            <a:r>
              <a:rPr kumimoji="1"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503721-08B3-F544-EF4F-5BA71ECB2F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90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3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3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3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0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标注 4"/>
          <p:cNvSpPr/>
          <p:nvPr/>
        </p:nvSpPr>
        <p:spPr bwMode="auto">
          <a:xfrm>
            <a:off x="2942034" y="1758768"/>
            <a:ext cx="2140694" cy="713227"/>
          </a:xfrm>
          <a:prstGeom prst="wedgeRoundRectCallout">
            <a:avLst>
              <a:gd name="adj1" fmla="val 35355"/>
              <a:gd name="adj2" fmla="val 142976"/>
              <a:gd name="adj3" fmla="val 16667"/>
            </a:avLst>
          </a:prstGeom>
          <a:solidFill>
            <a:srgbClr val="FFCC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52" name="Rectangle 2"/>
          <p:cNvSpPr>
            <a:spLocks noChangeArrowheads="1"/>
          </p:cNvSpPr>
          <p:nvPr/>
        </p:nvSpPr>
        <p:spPr bwMode="auto">
          <a:xfrm>
            <a:off x="1631504" y="344850"/>
            <a:ext cx="8905002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4000" b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带有弹性约束条件的模糊线性规划模型</a:t>
            </a:r>
          </a:p>
        </p:txBody>
      </p:sp>
      <p:graphicFrame>
        <p:nvGraphicFramePr>
          <p:cNvPr id="205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113737"/>
              </p:ext>
            </p:extLst>
          </p:nvPr>
        </p:nvGraphicFramePr>
        <p:xfrm>
          <a:off x="1542603" y="1203448"/>
          <a:ext cx="3540125" cy="1803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711000" progId="Equation.DSMT4">
                  <p:embed/>
                </p:oleObj>
              </mc:Choice>
              <mc:Fallback>
                <p:oleObj name="Equation" r:id="rId4" imgW="1396800" imgH="711000" progId="Equation.DSMT4">
                  <p:embed/>
                  <p:pic>
                    <p:nvPicPr>
                      <p:cNvPr id="205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2603" y="1203448"/>
                        <a:ext cx="3540125" cy="18034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0" name="Rectangle 5"/>
          <p:cNvSpPr>
            <a:spLocks noChangeArrowheads="1"/>
          </p:cNvSpPr>
          <p:nvPr/>
        </p:nvSpPr>
        <p:spPr bwMode="auto">
          <a:xfrm>
            <a:off x="2423592" y="3061177"/>
            <a:ext cx="6732240" cy="10402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= 0(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普通约束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时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i="1" baseline="-30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kumimoji="1"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＞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0(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模糊约束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时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i="1" baseline="-30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-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 b</a:t>
            </a:r>
            <a:r>
              <a:rPr kumimoji="1"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 </a:t>
            </a:r>
            <a:r>
              <a:rPr kumimoji="1"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127448" y="4264684"/>
            <a:ext cx="7567897" cy="2400301"/>
            <a:chOff x="476" y="2494"/>
            <a:chExt cx="3978" cy="1512"/>
          </a:xfrm>
        </p:grpSpPr>
        <p:graphicFrame>
          <p:nvGraphicFramePr>
            <p:cNvPr id="2050" name="Object 7"/>
            <p:cNvGraphicFramePr>
              <a:graphicFrameLocks noChangeAspect="1"/>
            </p:cNvGraphicFramePr>
            <p:nvPr/>
          </p:nvGraphicFramePr>
          <p:xfrm>
            <a:off x="669" y="2787"/>
            <a:ext cx="2900" cy="1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879560" imgH="711000" progId="Equation.DSMT4">
                    <p:embed/>
                  </p:oleObj>
                </mc:Choice>
                <mc:Fallback>
                  <p:oleObj name="Equation" r:id="rId6" imgW="1879560" imgH="711000" progId="Equation.DSMT4">
                    <p:embed/>
                    <p:pic>
                      <p:nvPicPr>
                        <p:cNvPr id="205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9" y="2787"/>
                          <a:ext cx="2900" cy="1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9" name="Rectangle 9"/>
            <p:cNvSpPr>
              <a:spLocks noChangeArrowheads="1"/>
            </p:cNvSpPr>
            <p:nvPr/>
          </p:nvSpPr>
          <p:spPr bwMode="auto">
            <a:xfrm>
              <a:off x="476" y="2494"/>
              <a:ext cx="39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dirty="0">
                  <a:solidFill>
                    <a:srgbClr val="CC00CC"/>
                  </a:solidFill>
                  <a:latin typeface="Times New Roman" panose="02020603050405020304" pitchFamily="18" charset="0"/>
                </a:rPr>
                <a:t>请注意模糊线性规划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</a:rPr>
                <a:t>(2)</a:t>
              </a:r>
              <a:r>
                <a:rPr kumimoji="1" lang="zh-CN" altLang="en-US" dirty="0">
                  <a:solidFill>
                    <a:srgbClr val="CC00CC"/>
                  </a:solidFill>
                  <a:latin typeface="Times New Roman" panose="02020603050405020304" pitchFamily="18" charset="0"/>
                </a:rPr>
                <a:t>与普通线性规划</a:t>
              </a:r>
              <a:r>
                <a:rPr kumimoji="1" lang="zh-CN" altLang="en-US" dirty="0">
                  <a:solidFill>
                    <a:srgbClr val="CC00CC"/>
                  </a:solidFill>
                  <a:latin typeface="宋体" panose="02010600030101010101" pitchFamily="2" charset="-122"/>
                </a:rPr>
                <a:t>的区别</a:t>
              </a:r>
              <a:endParaRPr kumimoji="1" lang="zh-CN" altLang="en-US" dirty="0">
                <a:solidFill>
                  <a:srgbClr val="CC00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Rectangle 5"/>
          <p:cNvSpPr/>
          <p:nvPr/>
        </p:nvSpPr>
        <p:spPr>
          <a:xfrm>
            <a:off x="7536160" y="1393165"/>
            <a:ext cx="4464496" cy="138499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1" hangingPunct="1"/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800" b="1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伸缩指标，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若要使某个模糊约束条件尽可能满足，只需将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800" b="1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BD275C-1C9E-3094-A553-1AEA348B41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866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60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6672066" y="3805452"/>
            <a:ext cx="4848048" cy="1656184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4208361" y="422723"/>
            <a:ext cx="414568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4400" b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约束条件模糊化</a:t>
            </a:r>
            <a:endParaRPr kumimoji="1" lang="en-US" altLang="zh-CN" sz="4400" b="0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1168636" y="1332355"/>
            <a:ext cx="102251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将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中</a:t>
            </a:r>
            <a:r>
              <a:rPr kumimoji="1" lang="zh-CN" altLang="en-US" sz="3200" u="sng" dirty="0">
                <a:solidFill>
                  <a:srgbClr val="FF0000"/>
                </a:solidFill>
                <a:latin typeface="宋体" panose="02010600030101010101" pitchFamily="2" charset="-122"/>
              </a:rPr>
              <a:t>带有弹性的约束条件</a:t>
            </a:r>
            <a:r>
              <a:rPr kumimoji="1" lang="en-US" altLang="zh-CN" sz="3200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3200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3200" i="1" u="sng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3200" u="sng" dirty="0">
                <a:solidFill>
                  <a:srgbClr val="FF0000"/>
                </a:solidFill>
                <a:latin typeface="宋体" panose="02010600030101010101" pitchFamily="2" charset="-122"/>
              </a:rPr>
              <a:t>＞</a:t>
            </a:r>
            <a:r>
              <a:rPr kumimoji="1" lang="en-US" altLang="zh-CN" sz="3200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0)</a:t>
            </a:r>
            <a:r>
              <a:rPr kumimoji="1" lang="zh-CN" altLang="en-US" sz="3200" u="sng" dirty="0">
                <a:solidFill>
                  <a:srgbClr val="FF0000"/>
                </a:solidFill>
                <a:latin typeface="宋体" panose="02010600030101010101" pitchFamily="2" charset="-122"/>
              </a:rPr>
              <a:t>的隶属函数定义为</a:t>
            </a:r>
            <a:endParaRPr kumimoji="1" lang="zh-CN" altLang="en-US" sz="3200" u="sng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3095626" y="1989138"/>
          <a:ext cx="722471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69920" imgH="431640" progId="Equation.DSMT4">
                  <p:embed/>
                </p:oleObj>
              </mc:Choice>
              <mc:Fallback>
                <p:oleObj name="Equation" r:id="rId5" imgW="2869920" imgH="431640" progId="Equation.DSMT4">
                  <p:embed/>
                  <p:pic>
                    <p:nvPicPr>
                      <p:cNvPr id="25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6" y="1989138"/>
                        <a:ext cx="722471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1349356" y="5646402"/>
            <a:ext cx="9031708" cy="1114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将</a:t>
            </a:r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中</a:t>
            </a:r>
            <a:r>
              <a:rPr kumimoji="1"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普通约束条件</a:t>
            </a:r>
            <a:r>
              <a:rPr kumimoji="1" lang="en-US" altLang="zh-CN" dirty="0">
                <a:solidFill>
                  <a:srgbClr val="3333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i="1" baseline="-30000" dirty="0">
                <a:solidFill>
                  <a:srgbClr val="3333FF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dirty="0">
                <a:solidFill>
                  <a:srgbClr val="3333FF"/>
                </a:solidFill>
                <a:latin typeface="Times New Roman" panose="02020603050405020304" pitchFamily="18" charset="0"/>
              </a:rPr>
              <a:t>= 0)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的隶属函数定义为</a:t>
            </a:r>
          </a:p>
          <a:p>
            <a:pPr algn="ctr" eaLnBrk="1" hangingPunct="1">
              <a:spcBef>
                <a:spcPct val="20000"/>
              </a:spcBef>
            </a:pPr>
            <a:r>
              <a:rPr kumimoji="1"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3200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) = 1,  </a:t>
            </a:r>
            <a:r>
              <a:rPr kumimoji="1" lang="en-US" altLang="zh-CN" sz="3200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3200" i="1" baseline="-30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3200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) = </a:t>
            </a:r>
            <a:r>
              <a:rPr kumimoji="1"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3200" i="1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3079" name="Picture 7" descr="5-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246" y="2885927"/>
            <a:ext cx="4415690" cy="2452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Rot="1" noChangeArrowheads="1"/>
          </p:cNvSpPr>
          <p:nvPr/>
        </p:nvSpPr>
        <p:spPr bwMode="auto">
          <a:xfrm>
            <a:off x="5568432" y="3107432"/>
            <a:ext cx="484804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Tx/>
            </a:pPr>
            <a:r>
              <a:rPr lang="zh-CN" altLang="en-US" sz="2800" b="1" kern="0" dirty="0">
                <a:latin typeface="Times New Roman" panose="02020603050405020304" pitchFamily="18" charset="0"/>
              </a:rPr>
              <a:t>由</a:t>
            </a:r>
            <a:r>
              <a:rPr lang="en-US" altLang="zh-CN" sz="2800" b="1" i="1" kern="0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i="1" kern="0" baseline="-30000" dirty="0">
                <a:latin typeface="Times New Roman" panose="02020603050405020304" pitchFamily="18" charset="0"/>
              </a:rPr>
              <a:t>i 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)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定义可知，</a:t>
            </a:r>
            <a:r>
              <a:rPr lang="zh-CN" altLang="en-US" sz="2800" b="1" kern="0" dirty="0">
                <a:solidFill>
                  <a:srgbClr val="CC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800" b="1" i="1" kern="0" dirty="0">
                <a:solidFill>
                  <a:srgbClr val="CC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sz="2800" b="1" kern="0" dirty="0">
                <a:solidFill>
                  <a:srgbClr val="CC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kern="0" dirty="0">
                <a:solidFill>
                  <a:srgbClr val="CC00CC"/>
                </a:solidFill>
                <a:latin typeface="Times New Roman" panose="02020603050405020304" pitchFamily="18" charset="0"/>
              </a:rPr>
              <a:t>[0, 1],</a:t>
            </a:r>
            <a:r>
              <a:rPr lang="en-US" altLang="zh-CN" sz="2800" b="1" kern="0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10" name="Group 3"/>
          <p:cNvGrpSpPr>
            <a:grpSpLocks/>
          </p:cNvGrpSpPr>
          <p:nvPr/>
        </p:nvGrpSpPr>
        <p:grpSpPr bwMode="auto">
          <a:xfrm>
            <a:off x="6744486" y="3775886"/>
            <a:ext cx="4608100" cy="1562101"/>
            <a:chOff x="1007" y="437"/>
            <a:chExt cx="3004" cy="984"/>
          </a:xfrm>
        </p:grpSpPr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1007" y="437"/>
              <a:ext cx="3004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  </a:t>
              </a:r>
              <a:r>
                <a:rPr kumimoji="1" lang="en-US" altLang="zh-CN" i="1" dirty="0">
                  <a:solidFill>
                    <a:srgbClr val="CC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kumimoji="1" lang="en-US" altLang="zh-CN" i="1" baseline="-30000" dirty="0">
                  <a:solidFill>
                    <a:srgbClr val="CC00CC"/>
                  </a:solidFill>
                  <a:latin typeface="Times New Roman" panose="02020603050405020304" pitchFamily="18" charset="0"/>
                </a:rPr>
                <a:t>i 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i="1" dirty="0">
                  <a:solidFill>
                    <a:srgbClr val="CC00CC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</a:rPr>
                <a:t>) ≥</a:t>
              </a:r>
              <a:r>
                <a:rPr kumimoji="1" lang="en-US" altLang="zh-CN" i="1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 </a:t>
              </a:r>
            </a:p>
            <a:p>
              <a:pPr eaLnBrk="1" hangingPunct="1"/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 (</a:t>
              </a:r>
              <a:r>
                <a:rPr kumimoji="1" lang="en-US" altLang="zh-CN" i="1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dirty="0">
                  <a:solidFill>
                    <a:srgbClr val="CC00CC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-1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r>
                <a:rPr kumimoji="1" lang="en-US" altLang="zh-CN" i="1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  <a:r>
                <a:rPr kumimoji="1" lang="en-US" altLang="zh-CN" i="1" baseline="-30000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 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/>
                </a:rPr>
                <a:t>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i="1" dirty="0" err="1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i="1" baseline="-30000" dirty="0" err="1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i="1" baseline="-30000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i="1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)-</a:t>
              </a:r>
              <a:r>
                <a:rPr kumimoji="1" lang="en-US" altLang="zh-CN" i="1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kumimoji="1" lang="en-US" altLang="zh-CN" i="1" baseline="-30000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 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/>
                </a:rPr>
                <a:t>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dirty="0">
                  <a:solidFill>
                    <a:srgbClr val="CC00CC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1-</a:t>
              </a:r>
              <a:r>
                <a:rPr kumimoji="1" lang="en-US" altLang="zh-CN" i="1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r>
                <a:rPr kumimoji="1" lang="en-US" altLang="zh-CN" i="1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  <a:r>
                <a:rPr kumimoji="1" lang="en-US" altLang="zh-CN" i="1" baseline="-30000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 </a:t>
              </a:r>
              <a:r>
                <a:rPr kumimoji="1" lang="en-US" altLang="zh-CN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2274" y="1091"/>
              <a:ext cx="155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 dirty="0" err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 1, 2, … , </a:t>
              </a:r>
              <a:r>
                <a:rPr kumimoji="1"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kumimoji="1"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.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BD4E18-5526-BAF5-8BB3-FA61CC3EEB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11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5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5603" grpId="0" build="p" autoUpdateAnimBg="0"/>
      <p:bldP spid="25605" grpId="0" uiExpand="1" build="p" autoUpdateAnimBg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3056655" y="476672"/>
            <a:ext cx="5943600" cy="609600"/>
          </a:xfrm>
        </p:spPr>
        <p:txBody>
          <a:bodyPr/>
          <a:lstStyle/>
          <a:p>
            <a:pPr algn="ctr" eaLnBrk="1" hangingPunct="1"/>
            <a:r>
              <a:rPr kumimoji="1"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目标函数的模糊化</a:t>
            </a:r>
            <a:endParaRPr kumimoji="1" lang="en-US" altLang="zh-CN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983432" y="3114331"/>
            <a:ext cx="10225136" cy="161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设普通线性规划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的最优值分别为 </a:t>
            </a:r>
            <a:r>
              <a:rPr kumimoji="1"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3200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,  </a:t>
            </a:r>
            <a:r>
              <a:rPr kumimoji="1"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3200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记</a:t>
            </a:r>
          </a:p>
          <a:p>
            <a:pPr algn="ctr" eaLnBrk="1" hangingPunct="1">
              <a:spcBef>
                <a:spcPct val="20000"/>
              </a:spcBef>
            </a:pPr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0 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=  </a:t>
            </a:r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kumimoji="1" lang="en-US" altLang="zh-CN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  <a:r>
              <a:rPr kumimoji="1"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-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kumimoji="1" lang="en-US" altLang="zh-CN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0 </a:t>
            </a:r>
            <a:endParaRPr kumimoji="1" lang="en-US" altLang="zh-CN" b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kumimoji="1"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作为</a:t>
            </a:r>
            <a:r>
              <a:rPr kumimoji="1" lang="en-US" altLang="zh-CN" dirty="0">
                <a:solidFill>
                  <a:srgbClr val="3333FF"/>
                </a:solidFill>
                <a:latin typeface="Times New Roman" panose="02020603050405020304" pitchFamily="18" charset="0"/>
              </a:rPr>
              <a:t>F</a:t>
            </a:r>
            <a:r>
              <a:rPr kumimoji="1"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线性规划</a:t>
            </a:r>
            <a:r>
              <a:rPr kumimoji="1" lang="en-US" altLang="zh-CN" dirty="0">
                <a:solidFill>
                  <a:srgbClr val="3333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中</a:t>
            </a:r>
            <a:r>
              <a:rPr kumimoji="1" lang="zh-CN" altLang="en-US" u="sng" dirty="0">
                <a:solidFill>
                  <a:srgbClr val="3333FF"/>
                </a:solidFill>
                <a:latin typeface="Times New Roman" panose="02020603050405020304" pitchFamily="18" charset="0"/>
              </a:rPr>
              <a:t>目标函数的伸缩指标</a:t>
            </a:r>
            <a:r>
              <a:rPr kumimoji="1"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dirty="0">
                <a:solidFill>
                  <a:srgbClr val="3333FF"/>
                </a:solidFill>
                <a:latin typeface="Times New Roman" panose="02020603050405020304" pitchFamily="18" charset="0"/>
              </a:rPr>
              <a:t>也可由决策人确定</a:t>
            </a:r>
            <a:r>
              <a:rPr kumimoji="1" lang="en-US" altLang="zh-CN" dirty="0">
                <a:solidFill>
                  <a:srgbClr val="3333FF"/>
                </a:solidFill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767290" y="4683349"/>
            <a:ext cx="8705850" cy="1626274"/>
            <a:chOff x="-539" y="3020"/>
            <a:chExt cx="5616" cy="1115"/>
          </a:xfrm>
        </p:grpSpPr>
        <p:graphicFrame>
          <p:nvGraphicFramePr>
            <p:cNvPr id="409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8702726"/>
                </p:ext>
              </p:extLst>
            </p:nvPr>
          </p:nvGraphicFramePr>
          <p:xfrm>
            <a:off x="479" y="3407"/>
            <a:ext cx="4082" cy="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730240" imgH="482400" progId="Equation.DSMT4">
                    <p:embed/>
                  </p:oleObj>
                </mc:Choice>
                <mc:Fallback>
                  <p:oleObj name="Equation" r:id="rId5" imgW="2730240" imgH="482400" progId="Equation.DSMT4">
                    <p:embed/>
                    <p:pic>
                      <p:nvPicPr>
                        <p:cNvPr id="409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" y="3407"/>
                          <a:ext cx="4082" cy="7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3" name="Rectangle 9"/>
            <p:cNvSpPr>
              <a:spLocks noChangeArrowheads="1"/>
            </p:cNvSpPr>
            <p:nvPr/>
          </p:nvSpPr>
          <p:spPr bwMode="auto">
            <a:xfrm>
              <a:off x="-539" y="3020"/>
              <a:ext cx="5616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32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kumimoji="1" lang="zh-CN" altLang="en-US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定义</a:t>
              </a:r>
              <a:r>
                <a:rPr kumimoji="1" lang="en-US" altLang="zh-CN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F</a:t>
              </a:r>
              <a:r>
                <a:rPr kumimoji="1" lang="zh-CN" altLang="en-US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线性规划</a:t>
              </a:r>
              <a:r>
                <a:rPr kumimoji="1" lang="en-US" altLang="zh-CN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(2)</a:t>
              </a:r>
              <a:r>
                <a:rPr kumimoji="1" lang="zh-CN" altLang="en-US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中目标函数的隶属函数</a:t>
              </a:r>
              <a:r>
                <a:rPr kumimoji="1" lang="en-US" altLang="zh-CN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G(</a:t>
              </a:r>
              <a:r>
                <a:rPr kumimoji="1" lang="en-US" altLang="zh-CN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kumimoji="1" lang="en-US" altLang="zh-CN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)</a:t>
              </a:r>
              <a:r>
                <a:rPr kumimoji="1" lang="zh-CN" altLang="en-US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为 </a:t>
              </a:r>
            </a:p>
          </p:txBody>
        </p:sp>
      </p:grpSp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6018731" y="1372843"/>
          <a:ext cx="4149198" cy="1455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79560" imgH="711000" progId="Equation.DSMT4">
                  <p:embed/>
                </p:oleObj>
              </mc:Choice>
              <mc:Fallback>
                <p:oleObj name="Equation" r:id="rId7" imgW="1879560" imgH="711000" progId="Equation.DSMT4">
                  <p:embed/>
                  <p:pic>
                    <p:nvPicPr>
                      <p:cNvPr id="1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731" y="1372843"/>
                        <a:ext cx="4149198" cy="1455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986558"/>
              </p:ext>
            </p:extLst>
          </p:nvPr>
        </p:nvGraphicFramePr>
        <p:xfrm>
          <a:off x="1775520" y="1304392"/>
          <a:ext cx="2693271" cy="1540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520" imgH="711000" progId="Equation.DSMT4">
                  <p:embed/>
                </p:oleObj>
              </mc:Choice>
              <mc:Fallback>
                <p:oleObj name="Equation" r:id="rId9" imgW="1244520" imgH="711000" progId="Equation.DSMT4">
                  <p:embed/>
                  <p:pic>
                    <p:nvPicPr>
                      <p:cNvPr id="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1304392"/>
                        <a:ext cx="2693271" cy="1540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3575720" y="6286179"/>
            <a:ext cx="70922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sz="2800" b="1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≥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800" b="1" i="1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≤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800" b="1" i="1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-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≥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4" name="矩形 3"/>
          <p:cNvSpPr/>
          <p:nvPr/>
        </p:nvSpPr>
        <p:spPr>
          <a:xfrm>
            <a:off x="1775520" y="6316957"/>
            <a:ext cx="18405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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1]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E4BF5B-CE64-E7C9-6F8B-F602FDA212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756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build="p" autoUpdateAnimBg="0"/>
      <p:bldP spid="14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911424" y="1295400"/>
            <a:ext cx="10729192" cy="225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要求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线性规划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的</a:t>
            </a:r>
            <a:r>
              <a:rPr kumimoji="1" lang="zh-CN" altLang="en-US" sz="32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模糊最优解</a:t>
            </a:r>
            <a:r>
              <a:rPr kumimoji="1"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32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*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，则要求使所有</a:t>
            </a:r>
            <a:r>
              <a:rPr kumimoji="1" lang="zh-CN" altLang="en-US" sz="3200" dirty="0">
                <a:solidFill>
                  <a:srgbClr val="CC00CC"/>
                </a:solidFill>
                <a:latin typeface="Times New Roman" panose="02020603050405020304" pitchFamily="18" charset="0"/>
              </a:rPr>
              <a:t>约束条件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及</a:t>
            </a:r>
            <a:r>
              <a:rPr kumimoji="1" lang="zh-CN" altLang="en-US" sz="3200" dirty="0">
                <a:solidFill>
                  <a:srgbClr val="CC00CC"/>
                </a:solidFill>
                <a:latin typeface="Times New Roman" panose="02020603050405020304" pitchFamily="18" charset="0"/>
              </a:rPr>
              <a:t>目标函数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的隶属函数</a:t>
            </a:r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尽可能达到最大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，即求</a:t>
            </a:r>
            <a:r>
              <a:rPr kumimoji="1"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32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* 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满足</a:t>
            </a:r>
          </a:p>
          <a:p>
            <a:pPr algn="ctr" eaLnBrk="1" hangingPunct="1">
              <a:spcBef>
                <a:spcPct val="20000"/>
              </a:spcBef>
            </a:pPr>
            <a:r>
              <a:rPr kumimoji="1"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3200" i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)≥</a:t>
            </a:r>
            <a:r>
              <a:rPr kumimoji="1"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且 </a:t>
            </a:r>
            <a:r>
              <a:rPr kumimoji="1"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)≥</a:t>
            </a:r>
            <a:r>
              <a:rPr kumimoji="1"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且使 </a:t>
            </a:r>
            <a:r>
              <a:rPr kumimoji="1" lang="zh-CN" altLang="en-US" sz="32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达到最大值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,   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相当于求解普通线性规划问题 </a:t>
            </a:r>
            <a:endParaRPr kumimoji="1"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339300" y="3622421"/>
            <a:ext cx="7538502" cy="2236849"/>
            <a:chOff x="-110" y="2681"/>
            <a:chExt cx="5383" cy="1699"/>
          </a:xfrm>
        </p:grpSpPr>
        <p:graphicFrame>
          <p:nvGraphicFramePr>
            <p:cNvPr id="5122" name="Object 6"/>
            <p:cNvGraphicFramePr>
              <a:graphicFrameLocks noChangeAspect="1"/>
            </p:cNvGraphicFramePr>
            <p:nvPr/>
          </p:nvGraphicFramePr>
          <p:xfrm>
            <a:off x="-110" y="2681"/>
            <a:ext cx="5174" cy="1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946240" imgH="965160" progId="Equation.DSMT4">
                    <p:embed/>
                  </p:oleObj>
                </mc:Choice>
                <mc:Fallback>
                  <p:oleObj name="Equation" r:id="rId4" imgW="2946240" imgH="965160" progId="Equation.DSMT4">
                    <p:embed/>
                    <p:pic>
                      <p:nvPicPr>
                        <p:cNvPr id="512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10" y="2681"/>
                          <a:ext cx="5174" cy="16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3651" y="2736"/>
              <a:ext cx="1622" cy="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0" i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= 1, 2, …, </a:t>
              </a:r>
              <a:r>
                <a:rPr kumimoji="1"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r>
                <a:rPr kumimoji="1"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8" name="Rectangle 2"/>
          <p:cNvSpPr txBox="1">
            <a:spLocks noRot="1" noChangeArrowheads="1"/>
          </p:cNvSpPr>
          <p:nvPr/>
        </p:nvSpPr>
        <p:spPr bwMode="auto">
          <a:xfrm>
            <a:off x="3056655" y="476672"/>
            <a:ext cx="5943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Tx/>
            </a:pPr>
            <a:r>
              <a:rPr kumimoji="1" lang="zh-CN" altLang="en-US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目标函数的模糊化</a:t>
            </a:r>
            <a:endParaRPr kumimoji="1" lang="en-US" altLang="zh-CN" kern="0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67408" y="5859270"/>
            <a:ext cx="9760743" cy="1077218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200" b="1" dirty="0"/>
              <a:t>设普通线性规划</a:t>
            </a:r>
            <a:r>
              <a:rPr lang="en-US" altLang="zh-CN" sz="3200" b="1" dirty="0"/>
              <a:t>(4)</a:t>
            </a:r>
            <a:r>
              <a:rPr lang="zh-CN" altLang="en-US" sz="3200" b="1" dirty="0"/>
              <a:t>的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最优解为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线性规划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的模糊最优解为</a:t>
            </a:r>
            <a:r>
              <a:rPr lang="en-US" altLang="zh-CN" sz="32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最优值为</a:t>
            </a:r>
            <a:r>
              <a:rPr lang="en-US" altLang="zh-CN" sz="32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200" b="1" baseline="-30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32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32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782E5C5-1E9B-2E56-6051-903B208B67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161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build="p" autoUpdateAnimBg="0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839416" y="1556792"/>
            <a:ext cx="9937103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71500" indent="-571500" eaLnBrk="1" hangingPunct="1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所以，</a:t>
            </a:r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求解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线性规划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相当于求解普通线性规划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(1), (3), (4)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</a:p>
          <a:p>
            <a:pPr marL="742950" indent="-742950" eaLnBrk="1" hangingPunct="1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3200" dirty="0">
                <a:solidFill>
                  <a:srgbClr val="3333FF"/>
                </a:solidFill>
                <a:latin typeface="Times New Roman" panose="02020603050405020304" pitchFamily="18" charset="0"/>
              </a:rPr>
              <a:t>补充两点说明：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① 若要使某个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约束条件尽可能满足，只需将其伸缩指标降低直至为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    ②</a:t>
            </a:r>
            <a:r>
              <a:rPr kumimoji="1"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若</a:t>
            </a:r>
            <a:r>
              <a:rPr kumimoji="1" lang="en-US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F</a:t>
            </a:r>
            <a:r>
              <a:rPr kumimoji="1"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线性规划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中的目标函数为求</a:t>
            </a:r>
            <a:r>
              <a:rPr kumimoji="1" lang="zh-CN" altLang="en-US" sz="3200" dirty="0">
                <a:solidFill>
                  <a:srgbClr val="CC00CC"/>
                </a:solidFill>
                <a:latin typeface="宋体" panose="02010600030101010101" pitchFamily="2" charset="-122"/>
              </a:rPr>
              <a:t>最大值</a:t>
            </a:r>
            <a:r>
              <a:rPr kumimoji="1"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，或</a:t>
            </a:r>
            <a:r>
              <a:rPr kumimoji="1" lang="en-US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F</a:t>
            </a:r>
            <a:r>
              <a:rPr kumimoji="1"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约束条件为近似大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小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于等于，其相应的隶属函数可类似地写出</a:t>
            </a:r>
            <a:r>
              <a:rPr kumimoji="1"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4" name="Rectangle 2"/>
          <p:cNvSpPr txBox="1">
            <a:spLocks noRot="1" noChangeArrowheads="1"/>
          </p:cNvSpPr>
          <p:nvPr/>
        </p:nvSpPr>
        <p:spPr bwMode="auto">
          <a:xfrm>
            <a:off x="3056655" y="476672"/>
            <a:ext cx="5943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Tx/>
            </a:pPr>
            <a:r>
              <a:rPr kumimoji="1" lang="en-US" altLang="zh-CN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kumimoji="1" lang="zh-CN" altLang="en-US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线性规划问题的求解</a:t>
            </a:r>
            <a:endParaRPr kumimoji="1" lang="en-US" altLang="zh-CN" kern="0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19E781-D0E1-C4C9-866C-578A85B066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42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544" y="332656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目标函数</a:t>
            </a:r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化小结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7488" y="1484784"/>
            <a:ext cx="8723312" cy="5184576"/>
          </a:xfrm>
        </p:spPr>
        <p:txBody>
          <a:bodyPr/>
          <a:lstStyle/>
          <a:p>
            <a:r>
              <a:rPr lang="zh-CN" altLang="en-US" dirty="0">
                <a:solidFill>
                  <a:srgbClr val="CC00CC"/>
                </a:solidFill>
                <a:latin typeface="+mj-lt"/>
                <a:ea typeface="黑体" panose="02010609060101010101" pitchFamily="49" charset="-122"/>
              </a:rPr>
              <a:t>约束条件</a:t>
            </a:r>
            <a:r>
              <a:rPr lang="en-US" altLang="zh-CN" dirty="0">
                <a:solidFill>
                  <a:srgbClr val="CC00CC"/>
                </a:solidFill>
                <a:latin typeface="+mj-lt"/>
                <a:ea typeface="黑体" panose="02010609060101010101" pitchFamily="49" charset="-122"/>
              </a:rPr>
              <a:t>F</a:t>
            </a:r>
            <a:r>
              <a:rPr lang="zh-CN" altLang="en-US" dirty="0">
                <a:solidFill>
                  <a:srgbClr val="CC00CC"/>
                </a:solidFill>
                <a:latin typeface="+mj-lt"/>
                <a:ea typeface="黑体" panose="02010609060101010101" pitchFamily="49" charset="-122"/>
              </a:rPr>
              <a:t>化：</a:t>
            </a:r>
            <a:endParaRPr lang="en-US" altLang="zh-CN" dirty="0">
              <a:solidFill>
                <a:srgbClr val="CC00CC"/>
              </a:solidFill>
              <a:latin typeface="+mj-lt"/>
              <a:ea typeface="黑体" panose="02010609060101010101" pitchFamily="49" charset="-122"/>
            </a:endParaRPr>
          </a:p>
          <a:p>
            <a:endParaRPr lang="en-US" altLang="zh-CN" dirty="0">
              <a:solidFill>
                <a:srgbClr val="CC00CC"/>
              </a:solidFill>
              <a:latin typeface="+mj-lt"/>
              <a:ea typeface="黑体" panose="02010609060101010101" pitchFamily="49" charset="-122"/>
            </a:endParaRPr>
          </a:p>
          <a:p>
            <a:endParaRPr lang="en-US" altLang="zh-CN" dirty="0">
              <a:solidFill>
                <a:srgbClr val="CC00CC"/>
              </a:solidFill>
              <a:latin typeface="+mj-lt"/>
              <a:ea typeface="黑体" panose="02010609060101010101" pitchFamily="49" charset="-122"/>
            </a:endParaRPr>
          </a:p>
          <a:p>
            <a:endParaRPr lang="en-US" altLang="zh-CN" dirty="0">
              <a:solidFill>
                <a:srgbClr val="CC00CC"/>
              </a:solidFill>
              <a:latin typeface="+mj-lt"/>
              <a:ea typeface="黑体" panose="02010609060101010101" pitchFamily="49" charset="-122"/>
            </a:endParaRPr>
          </a:p>
          <a:p>
            <a:endParaRPr lang="en-US" altLang="zh-CN" sz="2000" dirty="0">
              <a:solidFill>
                <a:srgbClr val="CC00CC"/>
              </a:solidFill>
              <a:latin typeface="+mj-lt"/>
              <a:ea typeface="黑体" panose="02010609060101010101" pitchFamily="49" charset="-122"/>
            </a:endParaRPr>
          </a:p>
          <a:p>
            <a:r>
              <a:rPr lang="zh-CN" altLang="en-US" dirty="0">
                <a:solidFill>
                  <a:srgbClr val="CC00CC"/>
                </a:solidFill>
                <a:latin typeface="+mj-lt"/>
                <a:ea typeface="黑体" panose="02010609060101010101" pitchFamily="49" charset="-122"/>
              </a:rPr>
              <a:t>目标函数</a:t>
            </a:r>
            <a:r>
              <a:rPr lang="en-US" altLang="zh-CN" dirty="0">
                <a:solidFill>
                  <a:srgbClr val="CC00CC"/>
                </a:solidFill>
                <a:latin typeface="+mj-lt"/>
                <a:ea typeface="黑体" panose="02010609060101010101" pitchFamily="49" charset="-122"/>
              </a:rPr>
              <a:t>F</a:t>
            </a:r>
            <a:r>
              <a:rPr lang="zh-CN" altLang="en-US" dirty="0">
                <a:solidFill>
                  <a:srgbClr val="CC00CC"/>
                </a:solidFill>
                <a:latin typeface="+mj-lt"/>
                <a:ea typeface="黑体" panose="02010609060101010101" pitchFamily="49" charset="-122"/>
              </a:rPr>
              <a:t>化</a:t>
            </a:r>
            <a:endParaRPr lang="en-US" altLang="zh-CN" dirty="0">
              <a:solidFill>
                <a:srgbClr val="CC00CC"/>
              </a:solidFill>
              <a:latin typeface="+mj-lt"/>
              <a:ea typeface="黑体" panose="02010609060101010101" pitchFamily="49" charset="-122"/>
            </a:endParaRPr>
          </a:p>
          <a:p>
            <a:endParaRPr lang="en-US" altLang="zh-CN" dirty="0">
              <a:solidFill>
                <a:srgbClr val="CC00CC"/>
              </a:solidFill>
              <a:latin typeface="+mj-lt"/>
              <a:ea typeface="黑体" panose="02010609060101010101" pitchFamily="49" charset="-122"/>
            </a:endParaRPr>
          </a:p>
          <a:p>
            <a:endParaRPr lang="en-US" altLang="zh-CN" dirty="0">
              <a:solidFill>
                <a:srgbClr val="CC00CC"/>
              </a:solidFill>
              <a:latin typeface="+mj-lt"/>
              <a:ea typeface="黑体" panose="02010609060101010101" pitchFamily="49" charset="-122"/>
            </a:endParaRPr>
          </a:p>
          <a:p>
            <a:r>
              <a:rPr lang="zh-CN" altLang="en-US" dirty="0">
                <a:solidFill>
                  <a:srgbClr val="CC00CC"/>
                </a:solidFill>
                <a:latin typeface="+mj-lt"/>
                <a:ea typeface="黑体" panose="02010609060101010101" pitchFamily="49" charset="-122"/>
              </a:rPr>
              <a:t>新的目标函数：</a:t>
            </a: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902960"/>
              </p:ext>
            </p:extLst>
          </p:nvPr>
        </p:nvGraphicFramePr>
        <p:xfrm>
          <a:off x="3071664" y="2133600"/>
          <a:ext cx="4687887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939600" progId="Equation.DSMT4">
                  <p:embed/>
                </p:oleObj>
              </mc:Choice>
              <mc:Fallback>
                <p:oleObj name="Equation" r:id="rId2" imgW="1993680" imgH="939600" progId="Equation.DSMT4">
                  <p:embed/>
                  <p:pic>
                    <p:nvPicPr>
                      <p:cNvPr id="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2133600"/>
                        <a:ext cx="4687887" cy="217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82331"/>
              </p:ext>
            </p:extLst>
          </p:nvPr>
        </p:nvGraphicFramePr>
        <p:xfrm>
          <a:off x="2999656" y="4818752"/>
          <a:ext cx="4718346" cy="1058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06280" imgH="457200" progId="Equation.DSMT4">
                  <p:embed/>
                </p:oleObj>
              </mc:Choice>
              <mc:Fallback>
                <p:oleObj name="Equation" r:id="rId4" imgW="2006280" imgH="4572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4818752"/>
                        <a:ext cx="4718346" cy="1058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850558"/>
              </p:ext>
            </p:extLst>
          </p:nvPr>
        </p:nvGraphicFramePr>
        <p:xfrm>
          <a:off x="4943872" y="6021288"/>
          <a:ext cx="11350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400" imgH="203040" progId="Equation.DSMT4">
                  <p:embed/>
                </p:oleObj>
              </mc:Choice>
              <mc:Fallback>
                <p:oleObj name="Equation" r:id="rId6" imgW="482400" imgH="2030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872" y="6021288"/>
                        <a:ext cx="11350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6CF9DB-D7B0-4BCF-EF1B-583F2C85FC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581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47297"/>
              </p:ext>
            </p:extLst>
          </p:nvPr>
        </p:nvGraphicFramePr>
        <p:xfrm>
          <a:off x="1904615" y="1556792"/>
          <a:ext cx="8382769" cy="504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62764" imgH="3537384" progId="Word.Document.8">
                  <p:embed/>
                </p:oleObj>
              </mc:Choice>
              <mc:Fallback>
                <p:oleObj name="Document" r:id="rId2" imgW="5862764" imgH="3537384" progId="Word.Document.8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615" y="1556792"/>
                        <a:ext cx="8382769" cy="5040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4EFA990-8B9C-90A1-E4F4-02524E491335}"/>
              </a:ext>
            </a:extLst>
          </p:cNvPr>
          <p:cNvSpPr txBox="1">
            <a:spLocks/>
          </p:cNvSpPr>
          <p:nvPr/>
        </p:nvSpPr>
        <p:spPr>
          <a:xfrm>
            <a:off x="1981199" y="548680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Tx/>
            </a:pPr>
            <a:r>
              <a:rPr lang="en-US" altLang="zh-CN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线性规划举例</a:t>
            </a:r>
            <a:r>
              <a:rPr lang="en-US" altLang="zh-CN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kern="0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10DC65-B7FB-431B-82C7-E095DC6398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6013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789397"/>
              </p:ext>
            </p:extLst>
          </p:nvPr>
        </p:nvGraphicFramePr>
        <p:xfrm>
          <a:off x="1199456" y="1405880"/>
          <a:ext cx="8745957" cy="533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337528" imgH="5098235" progId="Word.Document.8">
                  <p:embed/>
                </p:oleObj>
              </mc:Choice>
              <mc:Fallback>
                <p:oleObj name="Document" r:id="rId2" imgW="8337528" imgH="5098235" progId="Word.Document.8">
                  <p:embed/>
                  <p:pic>
                    <p:nvPicPr>
                      <p:cNvPr id="71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456" y="1405880"/>
                        <a:ext cx="8745957" cy="533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2311298" y="4869160"/>
            <a:ext cx="6840760" cy="172819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887362" y="4941169"/>
            <a:ext cx="5400600" cy="130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得最优解为：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最优值为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baseline="-25000" dirty="0"/>
              <a:t>0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38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8100C7B-3D69-4733-9771-4801E55AFE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842876"/>
              </p:ext>
            </p:extLst>
          </p:nvPr>
        </p:nvGraphicFramePr>
        <p:xfrm>
          <a:off x="8112224" y="1405136"/>
          <a:ext cx="3794639" cy="2467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89400" imgH="2654300" progId="Equation.DSMT4">
                  <p:embed/>
                </p:oleObj>
              </mc:Choice>
              <mc:Fallback>
                <p:oleObj name="Equation" r:id="rId4" imgW="4089400" imgH="26543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8100C7B-3D69-4733-9771-4801E55AFE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224" y="1405136"/>
                        <a:ext cx="3794639" cy="2467842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1">
            <a:extLst>
              <a:ext uri="{FF2B5EF4-FFF2-40B4-BE49-F238E27FC236}">
                <a16:creationId xmlns:a16="http://schemas.microsoft.com/office/drawing/2014/main" id="{AE0F1A82-C0CE-595C-26C8-2D84CE4DE359}"/>
              </a:ext>
            </a:extLst>
          </p:cNvPr>
          <p:cNvSpPr txBox="1">
            <a:spLocks/>
          </p:cNvSpPr>
          <p:nvPr/>
        </p:nvSpPr>
        <p:spPr>
          <a:xfrm>
            <a:off x="1981200" y="366330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Tx/>
            </a:pPr>
            <a:r>
              <a:rPr lang="en-US" altLang="zh-CN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线性规划举例</a:t>
            </a:r>
            <a:r>
              <a:rPr lang="en-US" altLang="zh-CN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kern="0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0AB03A-C74E-2F72-7608-42EB4FFE2F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92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005929"/>
              </p:ext>
            </p:extLst>
          </p:nvPr>
        </p:nvGraphicFramePr>
        <p:xfrm>
          <a:off x="1271464" y="1484238"/>
          <a:ext cx="8416925" cy="515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506866" imgH="5204239" progId="Word.Document.8">
                  <p:embed/>
                </p:oleObj>
              </mc:Choice>
              <mc:Fallback>
                <p:oleObj name="Document" r:id="rId2" imgW="8506866" imgH="5204239" progId="Word.Document.8">
                  <p:embed/>
                  <p:pic>
                    <p:nvPicPr>
                      <p:cNvPr id="81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484238"/>
                        <a:ext cx="8416925" cy="515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 bwMode="auto">
          <a:xfrm>
            <a:off x="2014587" y="5445224"/>
            <a:ext cx="6840760" cy="141277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446635" y="5373762"/>
            <a:ext cx="6408712" cy="130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得最优解为：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=2.75,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=7.25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最优值为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baseline="-25000" dirty="0"/>
              <a:t>1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46.25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5F99A9A-C89F-4DF4-9C1E-7EBD576D90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499086"/>
              </p:ext>
            </p:extLst>
          </p:nvPr>
        </p:nvGraphicFramePr>
        <p:xfrm>
          <a:off x="8058046" y="1358790"/>
          <a:ext cx="3847558" cy="2502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89400" imgH="2654300" progId="Equation.DSMT4">
                  <p:embed/>
                </p:oleObj>
              </mc:Choice>
              <mc:Fallback>
                <p:oleObj name="Equation" r:id="rId4" imgW="4089400" imgH="26543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5F99A9A-C89F-4DF4-9C1E-7EBD576D90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8046" y="1358790"/>
                        <a:ext cx="3847558" cy="250225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76707D6-A9C4-F8EA-7F5A-3A858F3F24AA}"/>
              </a:ext>
            </a:extLst>
          </p:cNvPr>
          <p:cNvSpPr txBox="1">
            <a:spLocks/>
          </p:cNvSpPr>
          <p:nvPr/>
        </p:nvSpPr>
        <p:spPr>
          <a:xfrm>
            <a:off x="1752215" y="404664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Tx/>
            </a:pPr>
            <a:r>
              <a:rPr lang="en-US" altLang="zh-CN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线性规划举例</a:t>
            </a:r>
            <a:r>
              <a:rPr lang="en-US" altLang="zh-CN" kern="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kern="0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B22EC-5058-6A91-5955-D74B3FC207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95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70857FFE-0D43-D6BF-28A8-BA8E6CF7A38F}"/>
              </a:ext>
            </a:extLst>
          </p:cNvPr>
          <p:cNvSpPr/>
          <p:nvPr/>
        </p:nvSpPr>
        <p:spPr bwMode="auto">
          <a:xfrm>
            <a:off x="9048328" y="5556242"/>
            <a:ext cx="1152128" cy="428625"/>
          </a:xfrm>
          <a:prstGeom prst="roundRect">
            <a:avLst/>
          </a:prstGeom>
          <a:solidFill>
            <a:srgbClr val="FFCC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047A787E-619A-4A0A-B068-A2E0A903A6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576" y="692696"/>
          <a:ext cx="513715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84120" imgH="228600" progId="Equation.DSMT4">
                  <p:embed/>
                </p:oleObj>
              </mc:Choice>
              <mc:Fallback>
                <p:oleObj name="Equation" r:id="rId3" imgW="2184120" imgH="228600" progId="Equation.DSMT4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047A787E-619A-4A0A-B068-A2E0A903A6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692696"/>
                        <a:ext cx="513715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98F7FF63-33DB-4C03-896D-525965358796}"/>
              </a:ext>
            </a:extLst>
          </p:cNvPr>
          <p:cNvSpPr txBox="1"/>
          <p:nvPr/>
        </p:nvSpPr>
        <p:spPr>
          <a:xfrm>
            <a:off x="2537067" y="1353059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解普通线性规划问题</a:t>
            </a:r>
          </a:p>
        </p:txBody>
      </p:sp>
      <p:sp>
        <p:nvSpPr>
          <p:cNvPr id="6" name="Rectangle 122">
            <a:extLst>
              <a:ext uri="{FF2B5EF4-FFF2-40B4-BE49-F238E27FC236}">
                <a16:creationId xmlns:a16="http://schemas.microsoft.com/office/drawing/2014/main" id="{EE52B8FA-5155-41E4-9156-DDF5F4F76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7608" y="159473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BA7E26F-5185-48C8-9F16-956C362DC4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7609" y="2008004"/>
          <a:ext cx="4086225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92300" imgH="1625600" progId="Equation.DSMT4">
                  <p:embed/>
                </p:oleObj>
              </mc:Choice>
              <mc:Fallback>
                <p:oleObj name="Equation" r:id="rId5" imgW="1892300" imgH="1625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BA7E26F-5185-48C8-9F16-956C362DC4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9" y="2008004"/>
                        <a:ext cx="4086225" cy="350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80AB181-980A-40AF-9A67-ACDE36B7E0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5914" y="5584817"/>
          <a:ext cx="5381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84800" imgH="431800" progId="Equation.DSMT4">
                  <p:embed/>
                </p:oleObj>
              </mc:Choice>
              <mc:Fallback>
                <p:oleObj name="Equation" r:id="rId7" imgW="5384800" imgH="4318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80AB181-980A-40AF-9A67-ACDE36B7E0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914" y="5584817"/>
                        <a:ext cx="5381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8FFEFE1-FF02-4F0B-BD70-47AD5DB32E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5914" y="6197153"/>
          <a:ext cx="16478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51000" imgH="393700" progId="Equation.DSMT4">
                  <p:embed/>
                </p:oleObj>
              </mc:Choice>
              <mc:Fallback>
                <p:oleObj name="Equation" r:id="rId9" imgW="1651000" imgH="3937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8FFEFE1-FF02-4F0B-BD70-47AD5DB32E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914" y="6197153"/>
                        <a:ext cx="1647825" cy="3905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25">
            <a:extLst>
              <a:ext uri="{FF2B5EF4-FFF2-40B4-BE49-F238E27FC236}">
                <a16:creationId xmlns:a16="http://schemas.microsoft.com/office/drawing/2014/main" id="{E2CD7D6A-88BA-4235-9B6C-3FA58A0EA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466" y="5523231"/>
            <a:ext cx="36102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892175" eaLnBrk="0" hangingPunct="0"/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得模糊最优解为</a:t>
            </a:r>
            <a:endParaRPr lang="zh-CN" altLang="zh-CN" dirty="0"/>
          </a:p>
        </p:txBody>
      </p:sp>
      <p:sp>
        <p:nvSpPr>
          <p:cNvPr id="11" name="Rectangle 126">
            <a:extLst>
              <a:ext uri="{FF2B5EF4-FFF2-40B4-BE49-F238E27FC236}">
                <a16:creationId xmlns:a16="http://schemas.microsoft.com/office/drawing/2014/main" id="{9C8A6897-D676-4231-B793-748B91D40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6130805"/>
            <a:ext cx="34291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892175" eaLnBrk="0" hangingPunct="0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模糊最优值为</a:t>
            </a:r>
            <a:endParaRPr lang="zh-CN" altLang="en-US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65442E6-9A88-4105-8E75-22146F3EE9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2185" y="473622"/>
          <a:ext cx="2682577" cy="17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089400" imgH="2654300" progId="Equation.DSMT4">
                  <p:embed/>
                </p:oleObj>
              </mc:Choice>
              <mc:Fallback>
                <p:oleObj name="Equation" r:id="rId11" imgW="4089400" imgH="26543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665442E6-9A88-4105-8E75-22146F3EE9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2185" y="473622"/>
                        <a:ext cx="2682577" cy="1744613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A5A880F-6693-4C7F-B77F-962BFBC85920}"/>
              </a:ext>
            </a:extLst>
          </p:cNvPr>
          <p:cNvSpPr/>
          <p:nvPr/>
        </p:nvSpPr>
        <p:spPr bwMode="auto">
          <a:xfrm>
            <a:off x="6713532" y="692696"/>
            <a:ext cx="703195" cy="457200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593F7F0-CA11-490C-B20D-49F0AE826CEE}"/>
              </a:ext>
            </a:extLst>
          </p:cNvPr>
          <p:cNvSpPr/>
          <p:nvPr/>
        </p:nvSpPr>
        <p:spPr bwMode="auto">
          <a:xfrm>
            <a:off x="9768408" y="858352"/>
            <a:ext cx="216024" cy="216024"/>
          </a:xfrm>
          <a:prstGeom prst="ellipse">
            <a:avLst/>
          </a:prstGeom>
          <a:noFill/>
          <a:ln w="19050" cap="flat" cmpd="sng" algn="ctr">
            <a:solidFill>
              <a:srgbClr val="CC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B482890-C671-486A-BC44-D8960B909BF4}"/>
              </a:ext>
            </a:extLst>
          </p:cNvPr>
          <p:cNvSpPr/>
          <p:nvPr/>
        </p:nvSpPr>
        <p:spPr bwMode="auto">
          <a:xfrm>
            <a:off x="9876420" y="1221334"/>
            <a:ext cx="216024" cy="216024"/>
          </a:xfrm>
          <a:prstGeom prst="ellipse">
            <a:avLst/>
          </a:prstGeom>
          <a:noFill/>
          <a:ln w="1905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9181F9B-6CE0-4B81-A70E-FE6CF3A43646}"/>
              </a:ext>
            </a:extLst>
          </p:cNvPr>
          <p:cNvSpPr/>
          <p:nvPr/>
        </p:nvSpPr>
        <p:spPr bwMode="auto">
          <a:xfrm>
            <a:off x="9999526" y="1571648"/>
            <a:ext cx="435235" cy="266618"/>
          </a:xfrm>
          <a:prstGeom prst="ellipse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931BAF7-A50F-45FA-B1FD-45D9B4DF0DB7}"/>
              </a:ext>
            </a:extLst>
          </p:cNvPr>
          <p:cNvSpPr/>
          <p:nvPr/>
        </p:nvSpPr>
        <p:spPr bwMode="auto">
          <a:xfrm>
            <a:off x="5198228" y="2465204"/>
            <a:ext cx="609741" cy="457200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8427415-383B-4D62-8D8B-CE7E515EAABA}"/>
              </a:ext>
            </a:extLst>
          </p:cNvPr>
          <p:cNvSpPr/>
          <p:nvPr/>
        </p:nvSpPr>
        <p:spPr bwMode="auto">
          <a:xfrm>
            <a:off x="4848151" y="3051182"/>
            <a:ext cx="205489" cy="319801"/>
          </a:xfrm>
          <a:prstGeom prst="ellipse">
            <a:avLst/>
          </a:prstGeom>
          <a:noFill/>
          <a:ln w="38100" cap="flat" cmpd="sng" algn="ctr">
            <a:solidFill>
              <a:srgbClr val="CC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8F89C50-358C-4E96-9B7B-2F3E09733DD7}"/>
              </a:ext>
            </a:extLst>
          </p:cNvPr>
          <p:cNvSpPr/>
          <p:nvPr/>
        </p:nvSpPr>
        <p:spPr bwMode="auto">
          <a:xfrm>
            <a:off x="5053640" y="3541795"/>
            <a:ext cx="205489" cy="319801"/>
          </a:xfrm>
          <a:prstGeom prst="ellipse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FE036D2-B424-4CCE-A3BB-B3D2C6AB7356}"/>
              </a:ext>
            </a:extLst>
          </p:cNvPr>
          <p:cNvSpPr/>
          <p:nvPr/>
        </p:nvSpPr>
        <p:spPr bwMode="auto">
          <a:xfrm>
            <a:off x="4972260" y="4045303"/>
            <a:ext cx="475669" cy="319801"/>
          </a:xfrm>
          <a:prstGeom prst="ellips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4ED3003-DE3F-40C9-98F0-646303832259}"/>
              </a:ext>
            </a:extLst>
          </p:cNvPr>
          <p:cNvSpPr/>
          <p:nvPr/>
        </p:nvSpPr>
        <p:spPr bwMode="auto">
          <a:xfrm>
            <a:off x="4920149" y="4559342"/>
            <a:ext cx="556157" cy="331287"/>
          </a:xfrm>
          <a:prstGeom prst="ellips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2CF829-169C-405B-B531-ECB7BB320BA3}"/>
              </a:ext>
            </a:extLst>
          </p:cNvPr>
          <p:cNvSpPr txBox="1"/>
          <p:nvPr/>
        </p:nvSpPr>
        <p:spPr>
          <a:xfrm>
            <a:off x="7357616" y="3152298"/>
            <a:ext cx="3077144" cy="113024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最优值为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baseline="-25000" dirty="0"/>
              <a:t>0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38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最优值为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baseline="-25000" dirty="0"/>
              <a:t>1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46.25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54C655-B90B-301A-0E9F-718A6633AA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562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/>
      <p:bldP spid="10" grpId="0"/>
      <p:bldP spid="11" grpId="0"/>
      <p:bldP spid="13" grpId="0" animBg="1"/>
      <p:bldP spid="15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 idx="4294967295"/>
          </p:nvPr>
        </p:nvSpPr>
        <p:spPr>
          <a:xfrm>
            <a:off x="2046289" y="291840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线性规划求解步骤</a:t>
            </a:r>
            <a:endParaRPr lang="zh-CN" altLang="en-US" dirty="0"/>
          </a:p>
        </p:txBody>
      </p:sp>
      <p:sp>
        <p:nvSpPr>
          <p:cNvPr id="39939" name="内容占位符 2"/>
          <p:cNvSpPr>
            <a:spLocks noGrp="1"/>
          </p:cNvSpPr>
          <p:nvPr>
            <p:ph sz="half" idx="4294967295"/>
          </p:nvPr>
        </p:nvSpPr>
        <p:spPr>
          <a:xfrm>
            <a:off x="839417" y="1557339"/>
            <a:ext cx="4752528" cy="5184775"/>
          </a:xfrm>
        </p:spPr>
        <p:txBody>
          <a:bodyPr/>
          <a:lstStyle/>
          <a:p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若</a:t>
            </a: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F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约束线性规划模型为</a:t>
            </a:r>
            <a:endParaRPr lang="en-US" altLang="zh-CN" sz="2800" dirty="0">
              <a:latin typeface="+mj-lt"/>
              <a:ea typeface="黑体" panose="02010609060101010101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    </a:t>
            </a:r>
          </a:p>
          <a:p>
            <a:pPr>
              <a:buFont typeface="Wingdings" pitchFamily="2" charset="2"/>
              <a:buNone/>
            </a:pPr>
            <a:endParaRPr lang="en-US" altLang="zh-CN" sz="2400" dirty="0">
              <a:latin typeface="+mj-lt"/>
              <a:ea typeface="黑体" panose="02010609060101010101" pitchFamily="49" charset="-122"/>
            </a:endParaRPr>
          </a:p>
          <a:p>
            <a:pPr>
              <a:buFont typeface="Wingdings" pitchFamily="2" charset="2"/>
              <a:buNone/>
            </a:pPr>
            <a:endParaRPr lang="en-US" altLang="zh-CN" sz="1600" dirty="0">
              <a:latin typeface="+mj-lt"/>
              <a:ea typeface="黑体" panose="02010609060101010101" pitchFamily="49" charset="-122"/>
            </a:endParaRPr>
          </a:p>
          <a:p>
            <a:pPr>
              <a:buFont typeface="Wingdings" pitchFamily="2" charset="2"/>
              <a:buNone/>
            </a:pPr>
            <a:endParaRPr lang="en-US" altLang="zh-CN" sz="1200" dirty="0">
              <a:latin typeface="+mj-lt"/>
              <a:ea typeface="黑体" panose="02010609060101010101" pitchFamily="49" charset="-122"/>
            </a:endParaRPr>
          </a:p>
          <a:p>
            <a:pPr>
              <a:buFont typeface="宋体" pitchFamily="2" charset="-122"/>
              <a:buAutoNum type="circleNumDbPlain"/>
            </a:pP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应先分别解下面两个普通线性规划</a:t>
            </a:r>
            <a:endParaRPr lang="en-US" altLang="zh-CN" sz="2800" dirty="0">
              <a:latin typeface="+mj-lt"/>
              <a:ea typeface="黑体" panose="02010609060101010101" pitchFamily="49" charset="-122"/>
            </a:endParaRPr>
          </a:p>
          <a:p>
            <a:pPr>
              <a:buFont typeface="宋体" pitchFamily="2" charset="-122"/>
              <a:buAutoNum type="circleNumDbPlain"/>
            </a:pPr>
            <a:endParaRPr lang="en-US" altLang="zh-CN" sz="2800" dirty="0">
              <a:latin typeface="+mj-lt"/>
              <a:ea typeface="黑体" panose="02010609060101010101" pitchFamily="49" charset="-122"/>
            </a:endParaRPr>
          </a:p>
          <a:p>
            <a:pPr>
              <a:buFont typeface="宋体" pitchFamily="2" charset="-122"/>
              <a:buAutoNum type="circleNumDbPlain"/>
            </a:pPr>
            <a:endParaRPr lang="en-US" altLang="zh-CN" sz="2800" dirty="0">
              <a:latin typeface="+mj-lt"/>
              <a:ea typeface="黑体" panose="02010609060101010101" pitchFamily="49" charset="-122"/>
            </a:endParaRPr>
          </a:p>
          <a:p>
            <a:pPr>
              <a:buFont typeface="宋体" pitchFamily="2" charset="-122"/>
              <a:buAutoNum type="circleNumDbPlain"/>
            </a:pPr>
            <a:endParaRPr lang="en-US" altLang="zh-CN" sz="2800" dirty="0"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39940" name="内容占位符 6"/>
          <p:cNvSpPr>
            <a:spLocks noGrp="1"/>
          </p:cNvSpPr>
          <p:nvPr>
            <p:ph sz="half" idx="4294967295"/>
          </p:nvPr>
        </p:nvSpPr>
        <p:spPr>
          <a:xfrm>
            <a:off x="6244654" y="1700808"/>
            <a:ext cx="5395962" cy="4895850"/>
          </a:xfrm>
          <a:solidFill>
            <a:srgbClr val="FFFFCC"/>
          </a:solidFill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Calibri" pitchFamily="34" charset="0"/>
                <a:sym typeface="Wingdings 2" pitchFamily="18" charset="2"/>
              </a:rPr>
              <a:t>②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得到两个模型的最优值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Calibri" pitchFamily="34" charset="0"/>
                <a:sym typeface="Wingdings 2" pitchFamily="18" charset="2"/>
              </a:rPr>
              <a:t>③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 2" pitchFamily="18" charset="2"/>
              </a:rPr>
              <a:t> 得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新的伸求缩指标 </a:t>
            </a:r>
            <a:r>
              <a:rPr lang="en-US" altLang="zh-CN" sz="2800" b="1" i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baseline="-250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8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800" b="1" i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800" b="1" i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en-US" sz="2800" b="1" dirty="0">
              <a:solidFill>
                <a:srgbClr val="CC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Calibri" pitchFamily="34" charset="0"/>
              </a:rPr>
              <a:t>④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求解添加新变量与新的约束条件的普通线性规划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endParaRPr lang="zh-CN" altLang="en-US" sz="2800" dirty="0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375618"/>
              </p:ext>
            </p:extLst>
          </p:nvPr>
        </p:nvGraphicFramePr>
        <p:xfrm>
          <a:off x="1803141" y="2044061"/>
          <a:ext cx="2825079" cy="1439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711000" progId="Equation.DSMT4">
                  <p:embed/>
                </p:oleObj>
              </mc:Choice>
              <mc:Fallback>
                <p:oleObj name="Equation" r:id="rId2" imgW="1396800" imgH="711000" progId="Equation.DSMT4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141" y="2044061"/>
                        <a:ext cx="2825079" cy="1439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23945"/>
              </p:ext>
            </p:extLst>
          </p:nvPr>
        </p:nvGraphicFramePr>
        <p:xfrm>
          <a:off x="1703512" y="4525219"/>
          <a:ext cx="1952686" cy="1116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711000" progId="Equation.DSMT4">
                  <p:embed/>
                </p:oleObj>
              </mc:Choice>
              <mc:Fallback>
                <p:oleObj name="Equation" r:id="rId4" imgW="1244520" imgH="711000" progId="Equation.DSMT4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4525219"/>
                        <a:ext cx="1952686" cy="1116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246470"/>
              </p:ext>
            </p:extLst>
          </p:nvPr>
        </p:nvGraphicFramePr>
        <p:xfrm>
          <a:off x="1730152" y="5641976"/>
          <a:ext cx="3221038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320" imgH="711000" progId="Equation.DSMT4">
                  <p:embed/>
                </p:oleObj>
              </mc:Choice>
              <mc:Fallback>
                <p:oleObj name="Equation" r:id="rId6" imgW="1930320" imgH="711000" progId="Equation.DSMT4">
                  <p:embed/>
                  <p:pic>
                    <p:nvPicPr>
                      <p:cNvPr id="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152" y="5641976"/>
                        <a:ext cx="3221038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5"/>
          <p:cNvGrpSpPr>
            <a:grpSpLocks/>
          </p:cNvGrpSpPr>
          <p:nvPr/>
        </p:nvGrpSpPr>
        <p:grpSpPr bwMode="auto">
          <a:xfrm>
            <a:off x="6545802" y="3915271"/>
            <a:ext cx="4806782" cy="2483842"/>
            <a:chOff x="257" y="2483"/>
            <a:chExt cx="4437" cy="2582"/>
          </a:xfrm>
        </p:grpSpPr>
        <p:graphicFrame>
          <p:nvGraphicFramePr>
            <p:cNvPr id="16" name="Object 6"/>
            <p:cNvGraphicFramePr>
              <a:graphicFrameLocks noChangeAspect="1"/>
            </p:cNvGraphicFramePr>
            <p:nvPr/>
          </p:nvGraphicFramePr>
          <p:xfrm>
            <a:off x="257" y="2483"/>
            <a:ext cx="4437" cy="2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527200" imgH="1193760" progId="Equation.DSMT4">
                    <p:embed/>
                  </p:oleObj>
                </mc:Choice>
                <mc:Fallback>
                  <p:oleObj name="Equation" r:id="rId8" imgW="2527200" imgH="1193760" progId="Equation.DSMT4">
                    <p:embed/>
                    <p:pic>
                      <p:nvPicPr>
                        <p:cNvPr id="1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" y="2483"/>
                          <a:ext cx="4437" cy="20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1106" y="4602"/>
              <a:ext cx="1674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= 1, 2, …, 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29FB75-F6CB-B4BD-F16A-A3EAD9653C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004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9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  <p:bldP spid="39940" grpId="0" build="p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4"/>
          <p:cNvSpPr>
            <a:spLocks noGrp="1"/>
          </p:cNvSpPr>
          <p:nvPr>
            <p:ph type="title" idx="4294967295"/>
          </p:nvPr>
        </p:nvSpPr>
        <p:spPr>
          <a:xfrm>
            <a:off x="1774826" y="188913"/>
            <a:ext cx="914571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线性规划举例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2——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饮料配方问题</a:t>
            </a:r>
            <a:endParaRPr lang="zh-CN" altLang="en-US" dirty="0"/>
          </a:p>
        </p:txBody>
      </p:sp>
      <p:sp>
        <p:nvSpPr>
          <p:cNvPr id="40963" name="内容占位符 5"/>
          <p:cNvSpPr>
            <a:spLocks noGrp="1"/>
          </p:cNvSpPr>
          <p:nvPr>
            <p:ph idx="4294967295"/>
          </p:nvPr>
        </p:nvSpPr>
        <p:spPr>
          <a:xfrm>
            <a:off x="1055440" y="1557339"/>
            <a:ext cx="10369152" cy="49672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dirty="0"/>
              <a:t>某种饮料含有三种主要成分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 A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 A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每瓶含量分别为：</a:t>
            </a:r>
            <a:r>
              <a:rPr lang="en-US" altLang="zh-CN" sz="2800" b="1" dirty="0"/>
              <a:t>75</a:t>
            </a:r>
            <a:r>
              <a:rPr lang="en-US" altLang="zh-CN" sz="2800" b="1" dirty="0">
                <a:latin typeface="Calibri" pitchFamily="34" charset="0"/>
                <a:cs typeface="Calibri" pitchFamily="34" charset="0"/>
              </a:rPr>
              <a:t>±5mg,</a:t>
            </a:r>
            <a:r>
              <a:rPr lang="en-US" altLang="zh-CN" sz="2800" b="1" dirty="0"/>
              <a:t> 120</a:t>
            </a:r>
            <a:r>
              <a:rPr lang="en-US" altLang="zh-CN" sz="2800" b="1" dirty="0">
                <a:latin typeface="Calibri" pitchFamily="34" charset="0"/>
                <a:cs typeface="Calibri" pitchFamily="34" charset="0"/>
              </a:rPr>
              <a:t>±5mg,</a:t>
            </a:r>
            <a:r>
              <a:rPr lang="en-US" altLang="zh-CN" sz="2800" b="1" dirty="0"/>
              <a:t> 138</a:t>
            </a:r>
            <a:r>
              <a:rPr lang="en-US" altLang="zh-CN" sz="2800" b="1" dirty="0">
                <a:latin typeface="Calibri" pitchFamily="34" charset="0"/>
                <a:cs typeface="Calibri" pitchFamily="34" charset="0"/>
              </a:rPr>
              <a:t>±10mg, </a:t>
            </a:r>
            <a:r>
              <a:rPr lang="zh-CN" altLang="en-US" sz="2800" b="1" dirty="0">
                <a:latin typeface="Calibri" pitchFamily="34" charset="0"/>
                <a:cs typeface="Calibri" pitchFamily="34" charset="0"/>
              </a:rPr>
              <a:t>这三种成分主要来自于五种原料：</a:t>
            </a:r>
            <a:r>
              <a:rPr lang="en-US" altLang="zh-CN" sz="2800" b="1" dirty="0"/>
              <a:t> B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 B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 B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, B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, B</a:t>
            </a:r>
            <a:r>
              <a:rPr lang="en-US" altLang="zh-CN" sz="2800" b="1" baseline="-25000" dirty="0"/>
              <a:t>5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各种原料每千克含的成分与单价如下表所示，若生产此种饮料一万瓶，如何选择原料成本最小？</a:t>
            </a:r>
            <a:endParaRPr lang="en-US" altLang="zh-CN" sz="2800" b="1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800" b="1" dirty="0"/>
              <a:t>设一瓶饮料需选用五种原料分别为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,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,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altLang="zh-CN" sz="2800" b="1" baseline="-25000" dirty="0"/>
              <a:t>5</a:t>
            </a:r>
            <a:endParaRPr lang="zh-CN" altLang="en-US" sz="2800" b="1" dirty="0"/>
          </a:p>
        </p:txBody>
      </p:sp>
      <p:graphicFrame>
        <p:nvGraphicFramePr>
          <p:cNvPr id="4096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206168"/>
              </p:ext>
            </p:extLst>
          </p:nvPr>
        </p:nvGraphicFramePr>
        <p:xfrm>
          <a:off x="2207568" y="3789040"/>
          <a:ext cx="6696744" cy="2044066"/>
        </p:xfrm>
        <a:graphic>
          <a:graphicData uri="http://schemas.openxmlformats.org/drawingml/2006/table">
            <a:tbl>
              <a:tblPr/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4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05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177">
                  <a:extLst>
                    <a:ext uri="{9D8B030D-6E8A-4147-A177-3AD203B41FA5}">
                      <a16:colId xmlns:a16="http://schemas.microsoft.com/office/drawing/2014/main" val="886819566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原料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每瓶含量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/mg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lang="en-US" altLang="zh-CN" sz="2000" b="1" dirty="0"/>
                        <a:t>75</a:t>
                      </a:r>
                      <a:r>
                        <a:rPr lang="en-US" altLang="zh-CN" sz="2000" b="1" dirty="0">
                          <a:latin typeface="Calibri" pitchFamily="34" charset="0"/>
                          <a:cs typeface="Calibri" pitchFamily="34" charset="0"/>
                        </a:rPr>
                        <a:t>±5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/mg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lang="en-US" altLang="zh-CN" sz="2000" b="1" dirty="0"/>
                        <a:t>120</a:t>
                      </a:r>
                      <a:r>
                        <a:rPr lang="en-US" altLang="zh-CN" sz="2000" b="1" dirty="0">
                          <a:latin typeface="Calibri" pitchFamily="34" charset="0"/>
                          <a:cs typeface="Calibri" pitchFamily="34" charset="0"/>
                        </a:rPr>
                        <a:t>±5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/mg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lang="en-US" altLang="zh-CN" sz="2000" b="1" dirty="0"/>
                        <a:t>138</a:t>
                      </a:r>
                      <a:r>
                        <a:rPr lang="en-US" altLang="zh-CN" sz="2000" b="1" dirty="0">
                          <a:latin typeface="Calibri" pitchFamily="34" charset="0"/>
                          <a:cs typeface="Calibri" pitchFamily="34" charset="0"/>
                        </a:rPr>
                        <a:t>±10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单价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5F28CC-734E-853B-D8EE-AF96DC0ABE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uiExpand="1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 idx="4294967295"/>
          </p:nvPr>
        </p:nvSpPr>
        <p:spPr>
          <a:xfrm>
            <a:off x="1992314" y="115888"/>
            <a:ext cx="8856214" cy="1371600"/>
          </a:xfrm>
        </p:spPr>
        <p:txBody>
          <a:bodyPr/>
          <a:lstStyle/>
          <a:p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线性规划举例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2——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饮料配方问题</a:t>
            </a:r>
            <a:endParaRPr lang="zh-CN" altLang="en-US" dirty="0"/>
          </a:p>
        </p:txBody>
      </p:sp>
      <p:sp>
        <p:nvSpPr>
          <p:cNvPr id="41987" name="内容占位符 2"/>
          <p:cNvSpPr>
            <a:spLocks noGrp="1"/>
          </p:cNvSpPr>
          <p:nvPr>
            <p:ph idx="4294967295"/>
          </p:nvPr>
        </p:nvSpPr>
        <p:spPr>
          <a:xfrm>
            <a:off x="1199456" y="1484314"/>
            <a:ext cx="9937104" cy="5041030"/>
          </a:xfrm>
        </p:spPr>
        <p:txBody>
          <a:bodyPr/>
          <a:lstStyle/>
          <a:p>
            <a:r>
              <a:rPr lang="zh-CN" altLang="en-US" b="1" dirty="0"/>
              <a:t>问题可转化为如下</a:t>
            </a:r>
            <a:r>
              <a:rPr lang="en-US" altLang="zh-CN" b="1" dirty="0"/>
              <a:t>F</a:t>
            </a:r>
            <a:r>
              <a:rPr lang="zh-CN" altLang="en-US" b="1" dirty="0"/>
              <a:t>线性规划问题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先求解没有伸缩率的普通线性规划，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</a:t>
            </a:r>
            <a:r>
              <a:rPr lang="zh-CN" altLang="en-US" b="1" dirty="0"/>
              <a:t>得最优值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 baseline="-25000" dirty="0"/>
              <a:t>0</a:t>
            </a:r>
            <a:r>
              <a:rPr lang="en-US" altLang="zh-CN" b="1" dirty="0"/>
              <a:t>=1.5327</a:t>
            </a:r>
          </a:p>
          <a:p>
            <a:endParaRPr lang="zh-CN" altLang="en-US" dirty="0"/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941195"/>
              </p:ext>
            </p:extLst>
          </p:nvPr>
        </p:nvGraphicFramePr>
        <p:xfrm>
          <a:off x="1631504" y="2204864"/>
          <a:ext cx="82677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30520" imgH="1168200" progId="Equation.DSMT4">
                  <p:embed/>
                </p:oleObj>
              </mc:Choice>
              <mc:Fallback>
                <p:oleObj name="Equation" r:id="rId2" imgW="3530520" imgH="1168200" progId="Equation.DSMT4">
                  <p:embed/>
                  <p:pic>
                    <p:nvPicPr>
                      <p:cNvPr id="419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2204864"/>
                        <a:ext cx="8267700" cy="273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C7614A02-56CA-9AD2-46FB-B628EB750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607" y="1187364"/>
            <a:ext cx="4257675" cy="1314450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7C0095-F153-80E1-88BF-7144E39E62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 idx="4294967295"/>
          </p:nvPr>
        </p:nvSpPr>
        <p:spPr>
          <a:xfrm>
            <a:off x="1415480" y="115888"/>
            <a:ext cx="9011221" cy="1371600"/>
          </a:xfrm>
        </p:spPr>
        <p:txBody>
          <a:bodyPr/>
          <a:lstStyle/>
          <a:p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线性规划举例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2——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饮料配方问题</a:t>
            </a:r>
            <a:endParaRPr lang="zh-CN" altLang="en-US" dirty="0"/>
          </a:p>
        </p:txBody>
      </p:sp>
      <p:sp>
        <p:nvSpPr>
          <p:cNvPr id="43011" name="内容占位符 2"/>
          <p:cNvSpPr>
            <a:spLocks noGrp="1"/>
          </p:cNvSpPr>
          <p:nvPr>
            <p:ph idx="4294967295"/>
          </p:nvPr>
        </p:nvSpPr>
        <p:spPr>
          <a:xfrm>
            <a:off x="1199579" y="1341438"/>
            <a:ext cx="9011221" cy="4381500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sz="2800" b="1" dirty="0"/>
              <a:t>然后求解有伸缩率的普通线性规划</a:t>
            </a:r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得最优值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=1.4373</a:t>
            </a:r>
            <a:r>
              <a:rPr lang="zh-CN" altLang="en-US" sz="2800" dirty="0"/>
              <a:t>，</a:t>
            </a:r>
            <a:r>
              <a:rPr lang="en-US" altLang="zh-CN" sz="2800" b="1" i="1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 </a:t>
            </a:r>
            <a:endParaRPr lang="zh-CN" altLang="en-US" dirty="0"/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945952"/>
              </p:ext>
            </p:extLst>
          </p:nvPr>
        </p:nvGraphicFramePr>
        <p:xfrm>
          <a:off x="1981200" y="1978332"/>
          <a:ext cx="6899275" cy="398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240" imgH="1854000" progId="Equation.DSMT4">
                  <p:embed/>
                </p:oleObj>
              </mc:Choice>
              <mc:Fallback>
                <p:oleObj name="Equation" r:id="rId2" imgW="2946240" imgH="1854000" progId="Equation.DSMT4">
                  <p:embed/>
                  <p:pic>
                    <p:nvPicPr>
                      <p:cNvPr id="43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978332"/>
                        <a:ext cx="6899275" cy="398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83AC150-8F36-46B5-BF9B-774EE2D248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748046"/>
              </p:ext>
            </p:extLst>
          </p:nvPr>
        </p:nvGraphicFramePr>
        <p:xfrm>
          <a:off x="6847773" y="-30163"/>
          <a:ext cx="5342268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30520" imgH="1168200" progId="Equation.DSMT4">
                  <p:embed/>
                </p:oleObj>
              </mc:Choice>
              <mc:Fallback>
                <p:oleObj name="Equation" r:id="rId4" imgW="3530520" imgH="11682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83AC150-8F36-46B5-BF9B-774EE2D248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7773" y="-30163"/>
                        <a:ext cx="5342268" cy="1768475"/>
                      </a:xfrm>
                      <a:prstGeom prst="rect">
                        <a:avLst/>
                      </a:prstGeom>
                      <a:solidFill>
                        <a:srgbClr val="09E2E7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1E9A18EC-CEBD-5DC9-0636-55BEED3C8FDA}"/>
              </a:ext>
            </a:extLst>
          </p:cNvPr>
          <p:cNvSpPr txBox="1"/>
          <p:nvPr/>
        </p:nvSpPr>
        <p:spPr>
          <a:xfrm>
            <a:off x="5807968" y="5962957"/>
            <a:ext cx="3312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d</a:t>
            </a:r>
            <a:r>
              <a:rPr lang="en-US" altLang="zh-CN" sz="2800" b="1" baseline="-25000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0 </a:t>
            </a:r>
            <a:r>
              <a:rPr lang="en-US" altLang="zh-CN" sz="2800" b="1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= </a:t>
            </a:r>
            <a:r>
              <a:rPr lang="en-US" altLang="zh-CN" sz="2800" b="1" i="1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1</a:t>
            </a:r>
            <a:r>
              <a:rPr lang="en-US" altLang="zh-CN" sz="2800" b="1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-</a:t>
            </a:r>
            <a:r>
              <a:rPr lang="en-US" altLang="zh-CN" sz="2800" b="1" i="1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0</a:t>
            </a:r>
            <a:r>
              <a:rPr lang="zh-CN" altLang="en-US" sz="2800" dirty="0"/>
              <a:t> </a:t>
            </a:r>
            <a:r>
              <a:rPr lang="en-US" altLang="zh-CN" sz="2800" b="1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=-0.0955</a:t>
            </a:r>
            <a:r>
              <a:rPr lang="zh-CN" altLang="en-US" sz="2800" dirty="0"/>
              <a:t>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41AF89-150A-CD32-F4FA-98E4E73319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 idx="4294967295"/>
          </p:nvPr>
        </p:nvSpPr>
        <p:spPr>
          <a:xfrm>
            <a:off x="1539874" y="115888"/>
            <a:ext cx="8886827" cy="1371600"/>
          </a:xfrm>
        </p:spPr>
        <p:txBody>
          <a:bodyPr/>
          <a:lstStyle/>
          <a:p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线性规划举例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2——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饮料配方问题</a:t>
            </a:r>
            <a:endParaRPr lang="zh-CN" altLang="en-US" dirty="0"/>
          </a:p>
        </p:txBody>
      </p:sp>
      <p:sp>
        <p:nvSpPr>
          <p:cNvPr id="44035" name="内容占位符 2"/>
          <p:cNvSpPr>
            <a:spLocks noGrp="1"/>
          </p:cNvSpPr>
          <p:nvPr>
            <p:ph idx="4294967295"/>
          </p:nvPr>
        </p:nvSpPr>
        <p:spPr>
          <a:xfrm>
            <a:off x="1271464" y="1151905"/>
            <a:ext cx="8950449" cy="58054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             </a:t>
            </a:r>
            <a:r>
              <a:rPr lang="zh-CN" altLang="en-US" sz="2400" dirty="0"/>
              <a:t>最后求解以下线性规划</a:t>
            </a:r>
            <a:endParaRPr lang="en-US" altLang="zh-CN" sz="2800" dirty="0"/>
          </a:p>
          <a:p>
            <a:pPr marL="0" indent="0"/>
            <a:endParaRPr lang="en-US" altLang="zh-CN" sz="2800" dirty="0"/>
          </a:p>
          <a:p>
            <a:pPr marL="0" indent="0"/>
            <a:endParaRPr lang="en-US" altLang="zh-CN" sz="2800" dirty="0"/>
          </a:p>
          <a:p>
            <a:pPr marL="0" indent="0"/>
            <a:endParaRPr lang="en-US" altLang="zh-CN" sz="2800" dirty="0"/>
          </a:p>
          <a:p>
            <a:pPr marL="0" indent="0"/>
            <a:endParaRPr lang="en-US" altLang="zh-CN" sz="2800" dirty="0"/>
          </a:p>
          <a:p>
            <a:pPr marL="0" indent="0"/>
            <a:endParaRPr lang="en-US" altLang="zh-CN" sz="2800" dirty="0"/>
          </a:p>
          <a:p>
            <a:pPr marL="0" indent="0"/>
            <a:endParaRPr lang="en-US" altLang="zh-CN" sz="2800" dirty="0"/>
          </a:p>
          <a:p>
            <a:pPr marL="0" indent="0"/>
            <a:endParaRPr lang="en-US" altLang="zh-CN" sz="3600" dirty="0"/>
          </a:p>
          <a:p>
            <a:pPr marL="0" indent="0">
              <a:buFont typeface="Wingdings" pitchFamily="2" charset="2"/>
              <a:buChar char="u"/>
            </a:pPr>
            <a:r>
              <a:rPr lang="zh-CN" altLang="en-US" sz="2400" dirty="0"/>
              <a:t>得最优解</a:t>
            </a:r>
            <a:r>
              <a:rPr lang="en-US" altLang="zh-CN" sz="2400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-25000" dirty="0">
                <a:solidFill>
                  <a:srgbClr val="3333FF"/>
                </a:solidFill>
              </a:rPr>
              <a:t>1</a:t>
            </a:r>
            <a:r>
              <a:rPr lang="en-US" altLang="zh-CN" sz="2400" dirty="0">
                <a:solidFill>
                  <a:srgbClr val="3333FF"/>
                </a:solidFill>
              </a:rPr>
              <a:t>, </a:t>
            </a:r>
            <a:r>
              <a:rPr lang="en-US" altLang="zh-CN" sz="2400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-25000" dirty="0">
                <a:solidFill>
                  <a:srgbClr val="3333FF"/>
                </a:solidFill>
              </a:rPr>
              <a:t>2</a:t>
            </a:r>
            <a:r>
              <a:rPr lang="en-US" altLang="zh-CN" sz="2400" dirty="0">
                <a:solidFill>
                  <a:srgbClr val="3333FF"/>
                </a:solidFill>
              </a:rPr>
              <a:t>,</a:t>
            </a:r>
            <a:r>
              <a:rPr lang="en-US" altLang="zh-CN" sz="2400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altLang="zh-CN" sz="2400" baseline="-25000" dirty="0">
                <a:solidFill>
                  <a:srgbClr val="3333FF"/>
                </a:solidFill>
              </a:rPr>
              <a:t>3</a:t>
            </a:r>
            <a:r>
              <a:rPr lang="en-US" altLang="zh-CN" sz="2400" dirty="0">
                <a:solidFill>
                  <a:srgbClr val="3333FF"/>
                </a:solidFill>
              </a:rPr>
              <a:t>,</a:t>
            </a:r>
            <a:r>
              <a:rPr lang="en-US" altLang="zh-CN" sz="2400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altLang="zh-CN" sz="2400" baseline="-25000" dirty="0">
                <a:solidFill>
                  <a:srgbClr val="3333FF"/>
                </a:solidFill>
              </a:rPr>
              <a:t>4</a:t>
            </a:r>
            <a:r>
              <a:rPr lang="en-US" altLang="zh-CN" sz="2400" dirty="0">
                <a:solidFill>
                  <a:srgbClr val="3333FF"/>
                </a:solidFill>
              </a:rPr>
              <a:t>,</a:t>
            </a:r>
            <a:r>
              <a:rPr lang="en-US" altLang="zh-CN" sz="2400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altLang="zh-CN" sz="2400" baseline="-25000" dirty="0">
                <a:solidFill>
                  <a:srgbClr val="3333FF"/>
                </a:solidFill>
              </a:rPr>
              <a:t>5</a:t>
            </a:r>
            <a:r>
              <a:rPr lang="en-US" altLang="zh-CN" sz="2400" dirty="0">
                <a:solidFill>
                  <a:srgbClr val="3333FF"/>
                </a:solidFill>
              </a:rPr>
              <a:t>=0, 0.6708, 0.025, 0, 0.2437</a:t>
            </a:r>
          </a:p>
          <a:p>
            <a:pPr marL="0" indent="0">
              <a:buFont typeface="Wingdings" pitchFamily="2" charset="2"/>
              <a:buChar char="u"/>
            </a:pPr>
            <a:r>
              <a:rPr lang="zh-CN" altLang="en-US" sz="2400" dirty="0"/>
              <a:t>生产一万瓶应选用</a:t>
            </a:r>
            <a:r>
              <a:rPr lang="en-US" altLang="zh-CN" sz="2400" dirty="0"/>
              <a:t> 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6708kg</a:t>
            </a:r>
            <a:r>
              <a:rPr lang="en-US" altLang="zh-CN" sz="2400" dirty="0"/>
              <a:t>, B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2500kg</a:t>
            </a:r>
            <a:r>
              <a:rPr lang="en-US" altLang="zh-CN" sz="2400" dirty="0"/>
              <a:t>, B</a:t>
            </a:r>
            <a:r>
              <a:rPr lang="en-US" altLang="zh-CN" sz="2400" baseline="-25000" dirty="0"/>
              <a:t>5 </a:t>
            </a:r>
            <a:r>
              <a:rPr lang="en-US" altLang="zh-CN" sz="2400" dirty="0">
                <a:solidFill>
                  <a:srgbClr val="FF0000"/>
                </a:solidFill>
              </a:rPr>
              <a:t>2437kg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华文楷体" pitchFamily="2" charset="-122"/>
              </a:rPr>
              <a:t> </a:t>
            </a:r>
          </a:p>
          <a:p>
            <a:pPr marL="0" indent="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使得成本为 </a:t>
            </a:r>
            <a:r>
              <a:rPr lang="en-US" altLang="zh-CN" sz="2400" b="1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14850</a:t>
            </a:r>
            <a:r>
              <a:rPr lang="zh-CN" altLang="en-US" sz="2400" b="1" dirty="0">
                <a:solidFill>
                  <a:srgbClr val="CC00CC"/>
                </a:solidFill>
                <a:latin typeface="Times New Roman" pitchFamily="18" charset="0"/>
                <a:ea typeface="华文楷体" pitchFamily="2" charset="-122"/>
              </a:rPr>
              <a:t>元</a:t>
            </a:r>
            <a:r>
              <a:rPr lang="zh-CN" altLang="en-US" sz="2400" dirty="0"/>
              <a:t> </a:t>
            </a:r>
            <a:endParaRPr lang="en-US" altLang="zh-CN" sz="24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7616594-5E02-4AEA-8279-765792884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769369"/>
              </p:ext>
            </p:extLst>
          </p:nvPr>
        </p:nvGraphicFramePr>
        <p:xfrm>
          <a:off x="7099117" y="14888"/>
          <a:ext cx="5092883" cy="1685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30520" imgH="1168200" progId="Equation.DSMT4">
                  <p:embed/>
                </p:oleObj>
              </mc:Choice>
              <mc:Fallback>
                <p:oleObj name="Equation" r:id="rId2" imgW="3530520" imgH="11682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7616594-5E02-4AEA-8279-7657928843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9117" y="14888"/>
                        <a:ext cx="5092883" cy="1685920"/>
                      </a:xfrm>
                      <a:prstGeom prst="rect">
                        <a:avLst/>
                      </a:prstGeom>
                      <a:solidFill>
                        <a:srgbClr val="09E2E7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594549"/>
              </p:ext>
            </p:extLst>
          </p:nvPr>
        </p:nvGraphicFramePr>
        <p:xfrm>
          <a:off x="1271464" y="1196752"/>
          <a:ext cx="8229600" cy="434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68680" imgH="2057400" progId="Equation.DSMT4">
                  <p:embed/>
                </p:oleObj>
              </mc:Choice>
              <mc:Fallback>
                <p:oleObj name="Equation" r:id="rId4" imgW="3568680" imgH="2057400" progId="Equation.DSMT4">
                  <p:embed/>
                  <p:pic>
                    <p:nvPicPr>
                      <p:cNvPr id="440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196752"/>
                        <a:ext cx="8229600" cy="4348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BBE752-ACFC-BEB3-9B67-913BE79F3A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544" y="260648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多目标线性规划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1424" y="1694776"/>
            <a:ext cx="10081120" cy="43106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在相同的条件下，要求多个目标函数都得到最好的满足</a:t>
            </a:r>
            <a:r>
              <a:rPr lang="en-US" altLang="zh-CN" b="1" dirty="0"/>
              <a:t>, </a:t>
            </a:r>
            <a:r>
              <a:rPr lang="zh-CN" altLang="en-US" b="1" dirty="0"/>
              <a:t>这便是</a:t>
            </a:r>
            <a:r>
              <a:rPr lang="zh-CN" altLang="en-US" b="1" dirty="0">
                <a:solidFill>
                  <a:srgbClr val="FF0000"/>
                </a:solidFill>
              </a:rPr>
              <a:t>多目标规划</a:t>
            </a:r>
            <a:r>
              <a:rPr lang="zh-CN" altLang="en-US" b="1" dirty="0"/>
              <a:t>。若目标函数和约束条件都是线性的，则为</a:t>
            </a:r>
            <a:r>
              <a:rPr lang="zh-CN" altLang="en-US" b="1" dirty="0">
                <a:solidFill>
                  <a:srgbClr val="3333FF"/>
                </a:solidFill>
              </a:rPr>
              <a:t>多目标线性规划。</a:t>
            </a:r>
            <a:endParaRPr lang="en-US" altLang="zh-CN" b="1" dirty="0">
              <a:solidFill>
                <a:srgbClr val="3333FF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/>
              <a:t>一般来说，多个目标函数不可能同时达到其最优值。因此，</a:t>
            </a:r>
            <a:r>
              <a:rPr lang="zh-CN" altLang="en-US" b="1" dirty="0">
                <a:solidFill>
                  <a:srgbClr val="CC00CC"/>
                </a:solidFill>
              </a:rPr>
              <a:t>只能求使各个目标都比较“满意”的</a:t>
            </a:r>
            <a:r>
              <a:rPr lang="en-US" altLang="zh-CN" b="1" dirty="0">
                <a:solidFill>
                  <a:srgbClr val="CC00CC"/>
                </a:solidFill>
              </a:rPr>
              <a:t>F</a:t>
            </a:r>
            <a:r>
              <a:rPr lang="zh-CN" altLang="en-US" b="1" dirty="0">
                <a:solidFill>
                  <a:srgbClr val="CC00CC"/>
                </a:solidFill>
              </a:rPr>
              <a:t>最优解</a:t>
            </a:r>
            <a:r>
              <a:rPr lang="zh-CN" altLang="en-US" dirty="0">
                <a:solidFill>
                  <a:srgbClr val="CC00CC"/>
                </a:solidFill>
              </a:rPr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DA8265-7422-6994-AB9C-09F9A0D6AA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89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2135560" y="620688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例：解多目标线性规划问题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9D047B96-9809-4C94-A328-7747863858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664" y="1772817"/>
          <a:ext cx="5184576" cy="422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4960" imgH="1168200" progId="Equation.DSMT4">
                  <p:embed/>
                </p:oleObj>
              </mc:Choice>
              <mc:Fallback>
                <p:oleObj name="Equation" r:id="rId2" imgW="1434960" imgH="116820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9D047B96-9809-4C94-A328-7747863858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1772817"/>
                        <a:ext cx="5184576" cy="422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43C614-D7FD-DECB-8099-C4B306B45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/>
          <p:nvPr/>
        </p:nvSpPr>
        <p:spPr>
          <a:xfrm>
            <a:off x="2063552" y="637241"/>
            <a:ext cx="5181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en-US" altLang="zh-CN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⑴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解普通线性规划问题：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2772" name="Rectangle 4"/>
          <p:cNvSpPr/>
          <p:nvPr/>
        </p:nvSpPr>
        <p:spPr>
          <a:xfrm>
            <a:off x="1703512" y="5059734"/>
            <a:ext cx="8686800" cy="135832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120000"/>
              </a:lnSpc>
            </a:pPr>
            <a:r>
              <a:rPr lang="en-US" altLang="zh-CN" sz="3600" dirty="0">
                <a:latin typeface="宋体" panose="02010600030101010101" pitchFamily="2" charset="-122"/>
              </a:rPr>
              <a:t>    </a:t>
            </a:r>
            <a:r>
              <a:rPr lang="zh-CN" altLang="en-US" sz="3600" b="1" dirty="0">
                <a:latin typeface="宋体" panose="02010600030101010101" pitchFamily="2" charset="-122"/>
              </a:rPr>
              <a:t>得最优解为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600" b="1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sz="3600" b="1" dirty="0">
                <a:latin typeface="Times New Roman" panose="02020603050405020304" pitchFamily="18" charset="0"/>
              </a:rPr>
              <a:t>= 0,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600" b="1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3600" b="1" dirty="0">
                <a:latin typeface="Times New Roman" panose="02020603050405020304" pitchFamily="18" charset="0"/>
              </a:rPr>
              <a:t>= 2,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600" b="1" baseline="-30000" dirty="0">
                <a:latin typeface="Times New Roman" panose="02020603050405020304" pitchFamily="18" charset="0"/>
              </a:rPr>
              <a:t>3 </a:t>
            </a:r>
            <a:r>
              <a:rPr lang="en-US" altLang="zh-CN" sz="3600" b="1" dirty="0">
                <a:latin typeface="Times New Roman" panose="02020603050405020304" pitchFamily="18" charset="0"/>
              </a:rPr>
              <a:t>= 2, </a:t>
            </a:r>
          </a:p>
          <a:p>
            <a:pPr lvl="0" eaLnBrk="1" hangingPunct="1">
              <a:lnSpc>
                <a:spcPct val="120000"/>
              </a:lnSpc>
            </a:pPr>
            <a:r>
              <a:rPr lang="en-US" altLang="zh-CN" sz="36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3600" b="1" dirty="0">
                <a:latin typeface="宋体" panose="02010600030101010101" pitchFamily="2" charset="-122"/>
              </a:rPr>
              <a:t>最优值为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zh-CN" altLang="en-US" sz="3600" b="1" dirty="0">
                <a:latin typeface="宋体" panose="02010600030101010101" pitchFamily="2" charset="-122"/>
              </a:rPr>
              <a:t>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600" b="1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sz="3600" b="1" dirty="0">
                <a:latin typeface="Times New Roman" panose="02020603050405020304" pitchFamily="18" charset="0"/>
              </a:rPr>
              <a:t>= 2</a:t>
            </a:r>
            <a:r>
              <a:rPr lang="zh-CN" altLang="en-US" sz="3600" b="1" dirty="0">
                <a:latin typeface="宋体" panose="02010600030101010101" pitchFamily="2" charset="-122"/>
              </a:rPr>
              <a:t>，此时</a:t>
            </a:r>
            <a:r>
              <a:rPr lang="zh-CN" altLang="en-US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600" b="1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3600" b="1" dirty="0">
                <a:latin typeface="Times New Roman" panose="02020603050405020304" pitchFamily="18" charset="0"/>
              </a:rPr>
              <a:t>= 8. 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5FDE557D-5E64-4FB5-9BBA-8261398192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361881"/>
              </p:ext>
            </p:extLst>
          </p:nvPr>
        </p:nvGraphicFramePr>
        <p:xfrm>
          <a:off x="8926688" y="14366"/>
          <a:ext cx="3217984" cy="2620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1168200" progId="Equation.DSMT4">
                  <p:embed/>
                </p:oleObj>
              </mc:Choice>
              <mc:Fallback>
                <p:oleObj name="Equation" r:id="rId3" imgW="1434960" imgH="116820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5FDE557D-5E64-4FB5-9BBA-8261398192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6688" y="14366"/>
                        <a:ext cx="3217984" cy="2620489"/>
                      </a:xfrm>
                      <a:prstGeom prst="rect">
                        <a:avLst/>
                      </a:prstGeom>
                      <a:solidFill>
                        <a:srgbClr val="09E2E7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F277D97D-6311-4943-9193-EC53BFD0D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3633" y="1572820"/>
          <a:ext cx="5184775" cy="339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4960" imgH="939600" progId="Equation.DSMT4">
                  <p:embed/>
                </p:oleObj>
              </mc:Choice>
              <mc:Fallback>
                <p:oleObj name="Equation" r:id="rId5" imgW="1434960" imgH="939600" progId="Equation.DSMT4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F277D97D-6311-4943-9193-EC53BFD0DB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3" y="1572820"/>
                        <a:ext cx="5184775" cy="339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51F4ED-488E-C0A1-0237-653D83EB47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/>
          <p:nvPr/>
        </p:nvSpPr>
        <p:spPr>
          <a:xfrm>
            <a:off x="2135560" y="476672"/>
            <a:ext cx="5029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en-US" altLang="zh-CN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⑵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解普通线性规划问题：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3796" name="Rectangle 4"/>
          <p:cNvSpPr/>
          <p:nvPr/>
        </p:nvSpPr>
        <p:spPr>
          <a:xfrm>
            <a:off x="1676400" y="4902672"/>
            <a:ext cx="8839200" cy="135832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120000"/>
              </a:lnSpc>
            </a:pPr>
            <a:r>
              <a:rPr lang="en-US" altLang="zh-CN" sz="3600" b="1" dirty="0">
                <a:latin typeface="宋体" panose="02010600030101010101" pitchFamily="2" charset="-122"/>
              </a:rPr>
              <a:t>    </a:t>
            </a:r>
            <a:r>
              <a:rPr lang="zh-CN" altLang="en-US" sz="3600" b="1" dirty="0">
                <a:latin typeface="宋体" panose="02010600030101010101" pitchFamily="2" charset="-122"/>
              </a:rPr>
              <a:t>得最优解为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600" b="1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sz="3600" b="1" dirty="0">
                <a:latin typeface="Times New Roman" panose="02020603050405020304" pitchFamily="18" charset="0"/>
              </a:rPr>
              <a:t>= 10,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600" b="1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3600" b="1" dirty="0">
                <a:latin typeface="Times New Roman" panose="02020603050405020304" pitchFamily="18" charset="0"/>
              </a:rPr>
              <a:t>= 0,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600" b="1" baseline="-30000" dirty="0">
                <a:latin typeface="Times New Roman" panose="02020603050405020304" pitchFamily="18" charset="0"/>
              </a:rPr>
              <a:t>3 </a:t>
            </a:r>
            <a:r>
              <a:rPr lang="en-US" altLang="zh-CN" sz="3600" b="1" dirty="0">
                <a:latin typeface="Times New Roman" panose="02020603050405020304" pitchFamily="18" charset="0"/>
              </a:rPr>
              <a:t>= 0, </a:t>
            </a:r>
          </a:p>
          <a:p>
            <a:pPr lvl="0" eaLnBrk="1" hangingPunct="1">
              <a:lnSpc>
                <a:spcPct val="120000"/>
              </a:lnSpc>
            </a:pPr>
            <a:r>
              <a:rPr lang="en-US" altLang="zh-CN" sz="36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3600" b="1" dirty="0">
                <a:latin typeface="宋体" panose="02010600030101010101" pitchFamily="2" charset="-122"/>
              </a:rPr>
              <a:t>最优值为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zh-CN" altLang="en-US" sz="3600" b="1" dirty="0">
                <a:latin typeface="宋体" panose="02010600030101010101" pitchFamily="2" charset="-122"/>
              </a:rPr>
              <a:t>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600" b="1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3600" b="1" dirty="0">
                <a:latin typeface="Times New Roman" panose="02020603050405020304" pitchFamily="18" charset="0"/>
              </a:rPr>
              <a:t>= 20</a:t>
            </a:r>
            <a:r>
              <a:rPr lang="zh-CN" altLang="en-US" sz="3600" b="1" dirty="0">
                <a:latin typeface="宋体" panose="02010600030101010101" pitchFamily="2" charset="-122"/>
              </a:rPr>
              <a:t>，此时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3600" b="1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sz="3600" b="1" dirty="0">
                <a:latin typeface="Times New Roman" panose="02020603050405020304" pitchFamily="18" charset="0"/>
              </a:rPr>
              <a:t>= 10.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38F6BB1-E2D8-491D-B6EB-9984987228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601" y="1507009"/>
          <a:ext cx="5184775" cy="339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939600" progId="Equation.DSMT4">
                  <p:embed/>
                </p:oleObj>
              </mc:Choice>
              <mc:Fallback>
                <p:oleObj name="Equation" r:id="rId3" imgW="1434960" imgH="939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38F6BB1-E2D8-491D-B6EB-9984987228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1" y="1507009"/>
                        <a:ext cx="5184775" cy="339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DCCC06AC-F0E1-84BB-4524-34B01C9CC5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782956"/>
              </p:ext>
            </p:extLst>
          </p:nvPr>
        </p:nvGraphicFramePr>
        <p:xfrm>
          <a:off x="8926688" y="14366"/>
          <a:ext cx="3217984" cy="2620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4960" imgH="1168200" progId="Equation.DSMT4">
                  <p:embed/>
                </p:oleObj>
              </mc:Choice>
              <mc:Fallback>
                <p:oleObj name="Equation" r:id="rId5" imgW="1434960" imgH="116820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5FDE557D-5E64-4FB5-9BBA-8261398192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6688" y="14366"/>
                        <a:ext cx="3217984" cy="2620489"/>
                      </a:xfrm>
                      <a:prstGeom prst="rect">
                        <a:avLst/>
                      </a:prstGeom>
                      <a:solidFill>
                        <a:srgbClr val="09E2E7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EB5308-3F28-C3F7-C28B-85ACD7F962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/>
          <p:nvPr/>
        </p:nvSpPr>
        <p:spPr>
          <a:xfrm>
            <a:off x="1343472" y="499084"/>
            <a:ext cx="9172128" cy="220983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10000"/>
              </a:spcBef>
            </a:pPr>
            <a:r>
              <a:rPr lang="en-US" altLang="zh-CN" sz="3200" dirty="0">
                <a:latin typeface="宋体" panose="02010600030101010101" pitchFamily="2" charset="-122"/>
              </a:rPr>
              <a:t>    </a:t>
            </a:r>
            <a:r>
              <a:rPr lang="zh-CN" altLang="en-US" sz="3200" b="1" dirty="0">
                <a:latin typeface="宋体" panose="02010600030101010101" pitchFamily="2" charset="-122"/>
              </a:rPr>
              <a:t>线性规划问题⑴的最优解</a:t>
            </a:r>
            <a:r>
              <a:rPr lang="zh-CN" altLang="en-US" sz="3200" b="1" dirty="0">
                <a:latin typeface="Times New Roman" panose="02020603050405020304" pitchFamily="18" charset="0"/>
              </a:rPr>
              <a:t>为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lvl="0" eaLnBrk="1" hangingPunct="1">
              <a:spcBef>
                <a:spcPct val="10000"/>
              </a:spcBef>
            </a:pP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sz="3200" b="1" dirty="0">
                <a:latin typeface="Times New Roman" panose="02020603050405020304" pitchFamily="18" charset="0"/>
              </a:rPr>
              <a:t>= 0,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3200" b="1" dirty="0">
                <a:latin typeface="Times New Roman" panose="02020603050405020304" pitchFamily="18" charset="0"/>
              </a:rPr>
              <a:t>= 2,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3 </a:t>
            </a:r>
            <a:r>
              <a:rPr lang="en-US" altLang="zh-CN" sz="3200" b="1" dirty="0">
                <a:latin typeface="Times New Roman" panose="02020603050405020304" pitchFamily="18" charset="0"/>
              </a:rPr>
              <a:t>= 2, </a:t>
            </a:r>
            <a:r>
              <a:rPr lang="zh-CN" altLang="en-US" sz="3200" b="1" dirty="0">
                <a:latin typeface="Times New Roman" panose="02020603050405020304" pitchFamily="18" charset="0"/>
              </a:rPr>
              <a:t>最优值为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min 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b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=2</a:t>
            </a:r>
            <a:r>
              <a:rPr lang="en-US" altLang="zh-CN" sz="3200" b="1" dirty="0">
                <a:latin typeface="宋体" panose="02010600030101010101" pitchFamily="2" charset="-122"/>
              </a:rPr>
              <a:t>,</a:t>
            </a:r>
            <a:r>
              <a:rPr lang="zh-CN" altLang="en-US" sz="3200" b="1" dirty="0">
                <a:latin typeface="Times New Roman" panose="02020603050405020304" pitchFamily="18" charset="0"/>
              </a:rPr>
              <a:t>此时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b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 8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.</a:t>
            </a:r>
          </a:p>
          <a:p>
            <a:pPr lvl="0" eaLnBrk="1" hangingPunct="1">
              <a:spcBef>
                <a:spcPct val="10000"/>
              </a:spcBef>
            </a:pPr>
            <a:r>
              <a:rPr lang="en-US" altLang="zh-CN" sz="3200" b="1" dirty="0">
                <a:latin typeface="宋体" panose="02010600030101010101" pitchFamily="2" charset="-122"/>
              </a:rPr>
              <a:t>    </a:t>
            </a:r>
            <a:r>
              <a:rPr lang="zh-CN" altLang="en-US" sz="3200" b="1" dirty="0">
                <a:latin typeface="宋体" panose="02010600030101010101" pitchFamily="2" charset="-122"/>
              </a:rPr>
              <a:t>线性规划问题⑵的最优解</a:t>
            </a:r>
            <a:r>
              <a:rPr lang="zh-CN" altLang="en-US" sz="3200" b="1" dirty="0">
                <a:latin typeface="Times New Roman" panose="02020603050405020304" pitchFamily="18" charset="0"/>
              </a:rPr>
              <a:t>为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lvl="0" eaLnBrk="1" hangingPunct="1">
              <a:spcBef>
                <a:spcPct val="1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latin typeface="Times New Roman" panose="02020603050405020304" pitchFamily="18" charset="0"/>
              </a:rPr>
              <a:t>= 10,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3 </a:t>
            </a:r>
            <a:r>
              <a:rPr lang="en-US" altLang="zh-CN" sz="2800" b="1" dirty="0">
                <a:latin typeface="Times New Roman" panose="02020603050405020304" pitchFamily="18" charset="0"/>
              </a:rPr>
              <a:t>= 0, </a:t>
            </a:r>
            <a:r>
              <a:rPr lang="zh-CN" altLang="en-US" sz="2800" b="1" dirty="0">
                <a:latin typeface="Times New Roman" panose="02020603050405020304" pitchFamily="18" charset="0"/>
              </a:rPr>
              <a:t>最优值为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max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b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=20</a:t>
            </a:r>
            <a:r>
              <a:rPr lang="en-US" altLang="zh-CN" sz="3200" b="1" dirty="0">
                <a:latin typeface="Times New Roman" panose="02020603050405020304" pitchFamily="18" charset="0"/>
              </a:rPr>
              <a:t>,</a:t>
            </a:r>
            <a:r>
              <a:rPr lang="zh-CN" altLang="en-US" sz="3200" b="1" dirty="0">
                <a:latin typeface="Times New Roman" panose="02020603050405020304" pitchFamily="18" charset="0"/>
              </a:rPr>
              <a:t>此时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b="1" baseline="-30000" dirty="0">
                <a:solidFill>
                  <a:srgbClr val="3333FF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= 10</a:t>
            </a:r>
            <a:r>
              <a:rPr lang="en-US" altLang="zh-CN" sz="3200" b="1" dirty="0">
                <a:latin typeface="宋体" panose="02010600030101010101" pitchFamily="2" charset="-122"/>
              </a:rPr>
              <a:t>. </a:t>
            </a:r>
          </a:p>
        </p:txBody>
      </p:sp>
      <p:sp>
        <p:nvSpPr>
          <p:cNvPr id="34819" name="Rectangle 3"/>
          <p:cNvSpPr/>
          <p:nvPr/>
        </p:nvSpPr>
        <p:spPr>
          <a:xfrm>
            <a:off x="1343472" y="3263901"/>
            <a:ext cx="9217024" cy="3293209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square">
            <a:spAutoFit/>
          </a:bodyPr>
          <a:lstStyle/>
          <a:p>
            <a:pPr marL="457200" lvl="0" indent="-457200" eaLnBrk="1" hangingPunct="1">
              <a:spcBef>
                <a:spcPct val="10000"/>
              </a:spcBef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宋体" panose="02010600030101010101" pitchFamily="2" charset="-122"/>
              </a:rPr>
              <a:t>同时考虑两个目标，合理的方案是使</a:t>
            </a:r>
          </a:p>
          <a:p>
            <a:pPr lvl="0" algn="ctr" eaLnBrk="1" hangingPunct="1">
              <a:spcBef>
                <a:spcPct val="10000"/>
              </a:spcBef>
            </a:pPr>
            <a:r>
              <a:rPr lang="en-US" altLang="zh-CN" sz="3200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3200" b="1" baseline="-30000" dirty="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[ 2, 10 ]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3200" b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[ 8, 20 ]</a:t>
            </a:r>
            <a:r>
              <a:rPr lang="en-US" altLang="zh-CN" sz="3200" b="1" dirty="0">
                <a:latin typeface="宋体" panose="02010600030101010101" pitchFamily="2" charset="-122"/>
              </a:rPr>
              <a:t> </a:t>
            </a:r>
          </a:p>
          <a:p>
            <a:pPr marL="457200" lvl="0" indent="-457200" eaLnBrk="1" hangingPunct="1"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zh-CN" altLang="en-US" sz="3200" b="1" dirty="0">
                <a:latin typeface="宋体" panose="02010600030101010101" pitchFamily="2" charset="-122"/>
              </a:rPr>
              <a:t>可取伸缩指标分别为</a:t>
            </a:r>
          </a:p>
          <a:p>
            <a:pPr lvl="0" algn="ctr" eaLnBrk="1" hangingPunct="1">
              <a:spcBef>
                <a:spcPct val="10000"/>
              </a:spcBef>
            </a:pPr>
            <a:r>
              <a:rPr lang="en-US" altLang="zh-CN" sz="32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sz="3200" b="1" dirty="0">
                <a:latin typeface="Times New Roman" panose="02020603050405020304" pitchFamily="18" charset="0"/>
              </a:rPr>
              <a:t>= 10 </a:t>
            </a:r>
            <a:r>
              <a:rPr lang="en-US" altLang="zh-CN" sz="3200" b="1" dirty="0">
                <a:latin typeface="宋体" panose="02010600030101010101" pitchFamily="2" charset="-122"/>
              </a:rPr>
              <a:t>-</a:t>
            </a:r>
            <a:r>
              <a:rPr lang="en-US" altLang="zh-CN" sz="3200" b="1" dirty="0">
                <a:latin typeface="Times New Roman" panose="02020603050405020304" pitchFamily="18" charset="0"/>
              </a:rPr>
              <a:t> 2 = 8,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3200" b="1" dirty="0">
                <a:latin typeface="Times New Roman" panose="02020603050405020304" pitchFamily="18" charset="0"/>
              </a:rPr>
              <a:t>= 20 </a:t>
            </a:r>
            <a:r>
              <a:rPr lang="en-US" altLang="zh-CN" sz="3200" b="1" dirty="0">
                <a:latin typeface="宋体" panose="02010600030101010101" pitchFamily="2" charset="-122"/>
              </a:rPr>
              <a:t>-</a:t>
            </a:r>
            <a:r>
              <a:rPr lang="en-US" altLang="zh-CN" sz="3200" b="1" dirty="0">
                <a:latin typeface="Times New Roman" panose="02020603050405020304" pitchFamily="18" charset="0"/>
              </a:rPr>
              <a:t> 8 = 12</a:t>
            </a:r>
            <a:r>
              <a:rPr lang="en-US" altLang="zh-CN" sz="3200" b="1" dirty="0">
                <a:latin typeface="宋体" panose="02010600030101010101" pitchFamily="2" charset="-122"/>
              </a:rPr>
              <a:t>. </a:t>
            </a:r>
          </a:p>
          <a:p>
            <a:pPr marL="914400" lvl="1" indent="-457200">
              <a:spcBef>
                <a:spcPct val="10000"/>
              </a:spcBef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</a:rPr>
              <a:t>如果认为目标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</a:rPr>
              <a:t>更重要</a:t>
            </a:r>
            <a:r>
              <a:rPr lang="en-US" altLang="zh-CN" sz="3200" b="1" dirty="0">
                <a:latin typeface="宋体" panose="02010600030101010101" pitchFamily="2" charset="-122"/>
              </a:rPr>
              <a:t>,</a:t>
            </a:r>
            <a:r>
              <a:rPr lang="zh-CN" altLang="en-US" sz="3200" b="1" dirty="0">
                <a:latin typeface="宋体" panose="02010600030101010101" pitchFamily="2" charset="-122"/>
              </a:rPr>
              <a:t>可单独缩小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b="1" dirty="0">
                <a:latin typeface="Times New Roman" panose="02020603050405020304" pitchFamily="18" charset="0"/>
              </a:rPr>
              <a:t>;</a:t>
            </a:r>
            <a:r>
              <a:rPr lang="en-US" altLang="zh-CN" sz="3200" b="1" dirty="0">
                <a:latin typeface="宋体" panose="02010600030101010101" pitchFamily="2" charset="-122"/>
              </a:rPr>
              <a:t> </a:t>
            </a:r>
          </a:p>
          <a:p>
            <a:pPr marL="914400" lvl="1" indent="-457200">
              <a:spcBef>
                <a:spcPct val="10000"/>
              </a:spcBef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</a:rPr>
              <a:t>如果认为目标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</a:rPr>
              <a:t>更重要</a:t>
            </a:r>
            <a:r>
              <a:rPr lang="en-US" altLang="zh-CN" sz="3200" b="1" dirty="0">
                <a:latin typeface="宋体" panose="02010600030101010101" pitchFamily="2" charset="-122"/>
              </a:rPr>
              <a:t>,</a:t>
            </a:r>
            <a:r>
              <a:rPr lang="zh-CN" altLang="en-US" sz="3200" b="1" dirty="0">
                <a:latin typeface="宋体" panose="02010600030101010101" pitchFamily="2" charset="-122"/>
              </a:rPr>
              <a:t>可单独缩小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b="1" dirty="0">
                <a:latin typeface="宋体" panose="02010600030101010101" pitchFamily="2" charset="-122"/>
              </a:rPr>
              <a:t>.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99ABBF-A0E6-DF84-6695-078ECF8FE0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/>
          <p:nvPr/>
        </p:nvSpPr>
        <p:spPr>
          <a:xfrm>
            <a:off x="551384" y="345976"/>
            <a:ext cx="1116124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/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⑶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再分别将两个目标函数模糊化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变为解普通线性规划问题</a:t>
            </a:r>
            <a:r>
              <a:rPr lang="zh-CN" altLang="en-US" sz="3200" dirty="0">
                <a:latin typeface="宋体" panose="02010600030101010101" pitchFamily="2" charset="-122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5844" name="Rectangle 4"/>
          <p:cNvSpPr/>
          <p:nvPr/>
        </p:nvSpPr>
        <p:spPr>
          <a:xfrm>
            <a:off x="1812032" y="5386536"/>
            <a:ext cx="7020272" cy="10668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/>
            <a:r>
              <a:rPr lang="en-US" altLang="zh-CN" sz="3200" dirty="0">
                <a:solidFill>
                  <a:schemeClr val="folHlink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</a:rPr>
              <a:t>得最优解为</a:t>
            </a:r>
          </a:p>
          <a:p>
            <a:pPr lvl="0" eaLnBrk="1" hangingPunct="1"/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sz="3200" b="1" dirty="0">
                <a:latin typeface="Times New Roman" panose="02020603050405020304" pitchFamily="18" charset="0"/>
              </a:rPr>
              <a:t>= 6.29,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3200" b="1" dirty="0">
                <a:latin typeface="Times New Roman" panose="02020603050405020304" pitchFamily="18" charset="0"/>
              </a:rPr>
              <a:t>= 0.29,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3 </a:t>
            </a:r>
            <a:r>
              <a:rPr lang="en-US" altLang="zh-CN" sz="3200" b="1" dirty="0">
                <a:latin typeface="Times New Roman" panose="02020603050405020304" pitchFamily="18" charset="0"/>
              </a:rPr>
              <a:t>= 1.43,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CC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3200" b="1" i="1" dirty="0">
                <a:solidFill>
                  <a:srgbClr val="CC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= 0.57.</a:t>
            </a:r>
          </a:p>
        </p:txBody>
      </p:sp>
      <p:sp>
        <p:nvSpPr>
          <p:cNvPr id="35845" name="Rectangle 5"/>
          <p:cNvSpPr/>
          <p:nvPr/>
        </p:nvSpPr>
        <p:spPr>
          <a:xfrm>
            <a:off x="8350624" y="4164274"/>
            <a:ext cx="2804642" cy="1568982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/>
            <a:r>
              <a:rPr lang="zh-CN" altLang="en-US" sz="3200" b="1" dirty="0">
                <a:latin typeface="宋体" panose="02010600030101010101" pitchFamily="2" charset="-122"/>
              </a:rPr>
              <a:t>此时，</a:t>
            </a:r>
            <a:endParaRPr lang="en-US" altLang="zh-CN" sz="3200" b="1" dirty="0">
              <a:latin typeface="宋体" panose="02010600030101010101" pitchFamily="2" charset="-122"/>
            </a:endParaRPr>
          </a:p>
          <a:p>
            <a:pPr lvl="0" eaLnBrk="1" hangingPunct="1"/>
            <a:r>
              <a:rPr lang="en-US" altLang="zh-CN" sz="3200" b="1" i="1" dirty="0">
                <a:latin typeface="Times New Roman" panose="02020603050405020304" pitchFamily="18" charset="0"/>
              </a:rPr>
              <a:t> f 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sz="3200" b="1" dirty="0">
                <a:latin typeface="Times New Roman" panose="02020603050405020304" pitchFamily="18" charset="0"/>
              </a:rPr>
              <a:t>= 5.43,</a:t>
            </a:r>
          </a:p>
          <a:p>
            <a:pPr lvl="0" eaLnBrk="1" hangingPunct="1"/>
            <a:r>
              <a:rPr lang="en-US" altLang="zh-CN" sz="3200" b="1" i="1" dirty="0">
                <a:latin typeface="Times New Roman" panose="02020603050405020304" pitchFamily="18" charset="0"/>
              </a:rPr>
              <a:t> f 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3200" b="1" dirty="0">
                <a:latin typeface="Times New Roman" panose="02020603050405020304" pitchFamily="18" charset="0"/>
              </a:rPr>
              <a:t>= 14.86.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4C07751E-B9AB-4A77-85B5-8317976A6B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685173"/>
              </p:ext>
            </p:extLst>
          </p:nvPr>
        </p:nvGraphicFramePr>
        <p:xfrm>
          <a:off x="8350624" y="905265"/>
          <a:ext cx="2817882" cy="229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1168200" progId="Equation.DSMT4">
                  <p:embed/>
                </p:oleObj>
              </mc:Choice>
              <mc:Fallback>
                <p:oleObj name="Equation" r:id="rId4" imgW="1434960" imgH="116820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4C07751E-B9AB-4A77-85B5-8317976A6B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624" y="905265"/>
                        <a:ext cx="2817882" cy="2294675"/>
                      </a:xfrm>
                      <a:prstGeom prst="rect">
                        <a:avLst/>
                      </a:prstGeom>
                      <a:solidFill>
                        <a:srgbClr val="09E2E7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BC216B64-F9A8-4084-ACAC-7D5A68E1A5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40751"/>
              </p:ext>
            </p:extLst>
          </p:nvPr>
        </p:nvGraphicFramePr>
        <p:xfrm>
          <a:off x="1523999" y="1425383"/>
          <a:ext cx="4372447" cy="3523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1720" imgH="1371600" progId="Equation.DSMT4">
                  <p:embed/>
                </p:oleObj>
              </mc:Choice>
              <mc:Fallback>
                <p:oleObj name="Equation" r:id="rId6" imgW="1701720" imgH="1371600" progId="Equation.DSMT4">
                  <p:embed/>
                  <p:pic>
                    <p:nvPicPr>
                      <p:cNvPr id="12" name="Object 4">
                        <a:extLst>
                          <a:ext uri="{FF2B5EF4-FFF2-40B4-BE49-F238E27FC236}">
                            <a16:creationId xmlns:a16="http://schemas.microsoft.com/office/drawing/2014/main" id="{BC216B64-F9A8-4084-ACAC-7D5A68E1A5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999" y="1425383"/>
                        <a:ext cx="4372447" cy="3523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E4B1CCE-4BB6-4922-B91E-636CF71228C6}"/>
              </a:ext>
            </a:extLst>
          </p:cNvPr>
          <p:cNvSpPr txBox="1"/>
          <p:nvPr/>
        </p:nvSpPr>
        <p:spPr>
          <a:xfrm>
            <a:off x="8337384" y="3266608"/>
            <a:ext cx="2817882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 eaLnBrk="1" hangingPunct="1">
              <a:spcBef>
                <a:spcPct val="10000"/>
              </a:spcBef>
            </a:pPr>
            <a:r>
              <a:rPr lang="en-US" altLang="zh-CN" sz="2400" b="1" i="1" dirty="0">
                <a:solidFill>
                  <a:srgbClr val="3333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400" b="1" baseline="-30000" dirty="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[ 2, 10 ]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= 8,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400" b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[ 8, 20 ]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</a:rPr>
              <a:t>= 12</a:t>
            </a:r>
            <a:r>
              <a:rPr lang="en-US" altLang="zh-CN" sz="2000" b="1" dirty="0">
                <a:latin typeface="宋体" panose="02010600030101010101" pitchFamily="2" charset="-122"/>
              </a:rPr>
              <a:t>.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DAC516-DD06-7883-94AB-D363E9EDE8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uiExpand="1" build="p"/>
      <p:bldP spid="35845" grpId="0" uiExpand="1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686800" cy="1371600"/>
          </a:xfrm>
        </p:spPr>
        <p:txBody>
          <a:bodyPr/>
          <a:lstStyle/>
          <a:p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线性规划举例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组合投资决策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432" y="1412776"/>
            <a:ext cx="10369152" cy="367240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/>
              <a:t>某风险投资公司计划将自己拥有的资金的</a:t>
            </a:r>
            <a:r>
              <a:rPr lang="en-US" altLang="zh-CN" b="1" dirty="0">
                <a:solidFill>
                  <a:srgbClr val="FF0000"/>
                </a:solidFill>
              </a:rPr>
              <a:t>20%</a:t>
            </a:r>
            <a:r>
              <a:rPr lang="en-US" altLang="zh-CN" b="1" dirty="0">
                <a:solidFill>
                  <a:srgbClr val="FF0000"/>
                </a:solidFill>
                <a:sym typeface="Symbol"/>
              </a:rPr>
              <a:t></a:t>
            </a:r>
            <a:r>
              <a:rPr lang="en-US" altLang="zh-CN" b="1" dirty="0">
                <a:solidFill>
                  <a:srgbClr val="FF0000"/>
                </a:solidFill>
              </a:rPr>
              <a:t>3%</a:t>
            </a:r>
            <a:r>
              <a:rPr lang="zh-CN" altLang="en-US" b="1" dirty="0"/>
              <a:t>作为机动资金，其余用于投资</a:t>
            </a:r>
            <a:r>
              <a:rPr lang="en-US" altLang="zh-CN" b="1" dirty="0"/>
              <a:t>5</a:t>
            </a:r>
            <a:r>
              <a:rPr lang="zh-CN" altLang="en-US" b="1" dirty="0"/>
              <a:t>项目科技成果转化项目</a:t>
            </a:r>
            <a:r>
              <a:rPr lang="en-US" altLang="zh-CN" b="1" dirty="0"/>
              <a:t>(</a:t>
            </a:r>
            <a:r>
              <a:rPr lang="zh-CN" altLang="en-US" b="1" dirty="0"/>
              <a:t>风险投资项目</a:t>
            </a:r>
            <a:r>
              <a:rPr lang="en-US" altLang="zh-CN" b="1" dirty="0"/>
              <a:t>)</a:t>
            </a:r>
            <a:r>
              <a:rPr lang="zh-CN" altLang="en-US" b="1" dirty="0"/>
              <a:t>：</a:t>
            </a:r>
            <a:r>
              <a:rPr lang="en-US" altLang="zh-CN" b="1" dirty="0"/>
              <a:t>A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,A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,A</a:t>
            </a:r>
            <a:r>
              <a:rPr lang="en-US" altLang="zh-CN" b="1" baseline="-25000" dirty="0"/>
              <a:t>4</a:t>
            </a:r>
            <a:r>
              <a:rPr lang="en-US" altLang="zh-CN" b="1" dirty="0"/>
              <a:t>,A</a:t>
            </a:r>
            <a:r>
              <a:rPr lang="en-US" altLang="zh-CN" b="1" baseline="-25000" dirty="0"/>
              <a:t>5</a:t>
            </a:r>
            <a:r>
              <a:rPr lang="zh-CN" altLang="en-US" b="1" dirty="0"/>
              <a:t>，已知它们的投资收益率和风险损失率如下表所示，问如何投资才能使收益最大、风险最小？</a:t>
            </a:r>
            <a:endParaRPr lang="en-US" altLang="zh-CN" b="1" dirty="0"/>
          </a:p>
          <a:p>
            <a:endParaRPr lang="zh-CN" altLang="en-US" b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31181"/>
              </p:ext>
            </p:extLst>
          </p:nvPr>
        </p:nvGraphicFramePr>
        <p:xfrm>
          <a:off x="2615951" y="5263480"/>
          <a:ext cx="6960097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2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项目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1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2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3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4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r>
                        <a:rPr lang="en-US" altLang="zh-CN" sz="2400" b="1" baseline="-25000" dirty="0"/>
                        <a:t>5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投资收益率</a:t>
                      </a:r>
                      <a:r>
                        <a:rPr lang="en-US" altLang="zh-CN" sz="2400" b="1" dirty="0"/>
                        <a:t>(%)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5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10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20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30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40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风险损失率</a:t>
                      </a:r>
                      <a:r>
                        <a:rPr lang="en-US" altLang="zh-CN" sz="2400" b="1" dirty="0"/>
                        <a:t>(%)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5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8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16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18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960119-FADB-824E-892A-613B3239B4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54744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686800" cy="1371600"/>
          </a:xfrm>
        </p:spPr>
        <p:txBody>
          <a:bodyPr/>
          <a:lstStyle/>
          <a:p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线性规划举例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组合投资决策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5480" y="1484784"/>
            <a:ext cx="9505056" cy="4382616"/>
          </a:xfrm>
        </p:spPr>
        <p:txBody>
          <a:bodyPr/>
          <a:lstStyle/>
          <a:p>
            <a:r>
              <a:rPr lang="zh-CN" altLang="en-US" b="1" dirty="0"/>
              <a:t>设项目的投资为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b="1" dirty="0">
                <a:solidFill>
                  <a:srgbClr val="FF0000"/>
                </a:solidFill>
              </a:rPr>
              <a:t>%</a:t>
            </a:r>
            <a:r>
              <a:rPr lang="en-US" altLang="zh-CN" b="1" dirty="0"/>
              <a:t>(i=1,…,5)</a:t>
            </a:r>
            <a:r>
              <a:rPr lang="zh-CN" altLang="en-US" b="1" dirty="0"/>
              <a:t>，该风险投资问题是一个双目标</a:t>
            </a:r>
            <a:r>
              <a:rPr lang="en-US" altLang="zh-CN" b="1" dirty="0"/>
              <a:t>F</a:t>
            </a:r>
            <a:r>
              <a:rPr lang="zh-CN" altLang="en-US" b="1" dirty="0"/>
              <a:t>线性规划</a:t>
            </a:r>
            <a:endParaRPr lang="en-US" altLang="zh-CN" b="1" dirty="0"/>
          </a:p>
          <a:p>
            <a:endParaRPr lang="zh-CN" altLang="en-US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827486" y="2651125"/>
          <a:ext cx="6292850" cy="365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11480" imgH="1803240" progId="Equation.DSMT4">
                  <p:embed/>
                </p:oleObj>
              </mc:Choice>
              <mc:Fallback>
                <p:oleObj name="Equation" r:id="rId2" imgW="3111480" imgH="180324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486" y="2651125"/>
                        <a:ext cx="6292850" cy="365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31B554DE-7D8D-A29A-9FFD-6287E161F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960" y="5530218"/>
            <a:ext cx="6373016" cy="128315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0AB088-A196-F939-0943-9FEF5B0DDB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021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686800" cy="1371600"/>
          </a:xfrm>
        </p:spPr>
        <p:txBody>
          <a:bodyPr/>
          <a:lstStyle/>
          <a:p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线性规划举例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组合投资决策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59496" y="1484784"/>
            <a:ext cx="8229600" cy="4968552"/>
          </a:xfrm>
        </p:spPr>
        <p:txBody>
          <a:bodyPr/>
          <a:lstStyle/>
          <a:p>
            <a:r>
              <a:rPr lang="zh-CN" altLang="en-US" b="1" dirty="0"/>
              <a:t>首先求解单目标线性规划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得最优值为</a:t>
            </a:r>
            <a:r>
              <a:rPr lang="en-US" altLang="zh-CN" b="1" dirty="0">
                <a:solidFill>
                  <a:srgbClr val="CC00CC"/>
                </a:solidFill>
              </a:rPr>
              <a:t>z</a:t>
            </a:r>
            <a:r>
              <a:rPr lang="en-US" altLang="zh-CN" b="1" baseline="-25000" dirty="0">
                <a:solidFill>
                  <a:srgbClr val="CC00CC"/>
                </a:solidFill>
              </a:rPr>
              <a:t>1</a:t>
            </a:r>
            <a:r>
              <a:rPr lang="en-US" altLang="zh-CN" b="1" dirty="0">
                <a:solidFill>
                  <a:srgbClr val="CC00CC"/>
                </a:solidFill>
              </a:rPr>
              <a:t>*=33.2</a:t>
            </a:r>
            <a:r>
              <a:rPr lang="en-US" altLang="zh-CN" b="1" dirty="0"/>
              <a:t>, </a:t>
            </a:r>
            <a:r>
              <a:rPr lang="zh-CN" altLang="en-US" b="1" dirty="0"/>
              <a:t>此时</a:t>
            </a:r>
            <a:r>
              <a:rPr lang="en-US" altLang="zh-CN" b="1" dirty="0">
                <a:solidFill>
                  <a:srgbClr val="3333FF"/>
                </a:solidFill>
              </a:rPr>
              <a:t>z</a:t>
            </a:r>
            <a:r>
              <a:rPr lang="en-US" altLang="zh-CN" b="1" baseline="-25000" dirty="0">
                <a:solidFill>
                  <a:srgbClr val="3333FF"/>
                </a:solidFill>
              </a:rPr>
              <a:t>2</a:t>
            </a:r>
            <a:r>
              <a:rPr lang="en-US" altLang="zh-CN" b="1" dirty="0">
                <a:solidFill>
                  <a:srgbClr val="3333FF"/>
                </a:solidFill>
              </a:rPr>
              <a:t>=14.93</a:t>
            </a:r>
            <a:endParaRPr lang="zh-CN" altLang="en-US" b="1" dirty="0">
              <a:solidFill>
                <a:srgbClr val="3333FF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660110"/>
              </p:ext>
            </p:extLst>
          </p:nvPr>
        </p:nvGraphicFramePr>
        <p:xfrm>
          <a:off x="2351584" y="2204864"/>
          <a:ext cx="5649913" cy="318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960" imgH="1574640" progId="Equation.DSMT4">
                  <p:embed/>
                </p:oleObj>
              </mc:Choice>
              <mc:Fallback>
                <p:oleObj name="Equation" r:id="rId2" imgW="2793960" imgH="157464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2204864"/>
                        <a:ext cx="5649913" cy="318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6600056" y="2856384"/>
            <a:ext cx="4752528" cy="2588840"/>
            <a:chOff x="4572000" y="3140968"/>
            <a:chExt cx="4320480" cy="2304256"/>
          </a:xfrm>
        </p:grpSpPr>
        <p:sp>
          <p:nvSpPr>
            <p:cNvPr id="4" name="矩形 3"/>
            <p:cNvSpPr/>
            <p:nvPr/>
          </p:nvSpPr>
          <p:spPr bwMode="auto">
            <a:xfrm>
              <a:off x="4572000" y="3140968"/>
              <a:ext cx="4320480" cy="23042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63492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016" y="3284984"/>
              <a:ext cx="4038600" cy="2038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EA744E-BFFB-82AE-9AF3-55C8637A4A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942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6096000" y="3140968"/>
            <a:ext cx="4680520" cy="230425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686800" cy="1371600"/>
          </a:xfrm>
        </p:spPr>
        <p:txBody>
          <a:bodyPr/>
          <a:lstStyle/>
          <a:p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线性规划举例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组合投资决策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5480" y="1484784"/>
            <a:ext cx="8229600" cy="4968552"/>
          </a:xfrm>
        </p:spPr>
        <p:txBody>
          <a:bodyPr/>
          <a:lstStyle/>
          <a:p>
            <a:r>
              <a:rPr lang="zh-CN" altLang="en-US" b="1" dirty="0"/>
              <a:t>然后求解另一个单目标线性规划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得最优值为</a:t>
            </a:r>
            <a:r>
              <a:rPr lang="en-US" altLang="zh-CN" b="1" dirty="0">
                <a:solidFill>
                  <a:srgbClr val="3333FF"/>
                </a:solidFill>
              </a:rPr>
              <a:t>z</a:t>
            </a:r>
            <a:r>
              <a:rPr lang="en-US" altLang="zh-CN" b="1" baseline="-25000" dirty="0">
                <a:solidFill>
                  <a:srgbClr val="3333FF"/>
                </a:solidFill>
              </a:rPr>
              <a:t>2</a:t>
            </a:r>
            <a:r>
              <a:rPr lang="en-US" altLang="zh-CN" b="1" dirty="0">
                <a:solidFill>
                  <a:srgbClr val="3333FF"/>
                </a:solidFill>
              </a:rPr>
              <a:t>*=2.31</a:t>
            </a:r>
            <a:r>
              <a:rPr lang="en-US" altLang="zh-CN" b="1" dirty="0"/>
              <a:t>, </a:t>
            </a:r>
            <a:r>
              <a:rPr lang="zh-CN" altLang="en-US" b="1" dirty="0"/>
              <a:t>此时</a:t>
            </a:r>
            <a:r>
              <a:rPr lang="en-US" altLang="zh-CN" b="1" dirty="0">
                <a:solidFill>
                  <a:srgbClr val="CC00CC"/>
                </a:solidFill>
              </a:rPr>
              <a:t>z</a:t>
            </a:r>
            <a:r>
              <a:rPr lang="en-US" altLang="zh-CN" b="1" baseline="-25000" dirty="0">
                <a:solidFill>
                  <a:srgbClr val="CC00CC"/>
                </a:solidFill>
              </a:rPr>
              <a:t>1</a:t>
            </a:r>
            <a:r>
              <a:rPr lang="en-US" altLang="zh-CN" b="1" dirty="0">
                <a:solidFill>
                  <a:srgbClr val="CC00CC"/>
                </a:solidFill>
              </a:rPr>
              <a:t>=3.85</a:t>
            </a:r>
            <a:endParaRPr lang="en-US" altLang="zh-CN" b="1" dirty="0"/>
          </a:p>
          <a:p>
            <a:endParaRPr lang="en-US" altLang="zh-CN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993231"/>
              </p:ext>
            </p:extLst>
          </p:nvPr>
        </p:nvGraphicFramePr>
        <p:xfrm>
          <a:off x="2351584" y="2365375"/>
          <a:ext cx="6267450" cy="318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98520" imgH="1574640" progId="Equation.DSMT4">
                  <p:embed/>
                </p:oleObj>
              </mc:Choice>
              <mc:Fallback>
                <p:oleObj name="Equation" r:id="rId2" imgW="3098520" imgH="157464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2365375"/>
                        <a:ext cx="6267450" cy="318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884" y="3250162"/>
            <a:ext cx="4390752" cy="208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61B81A-0574-6436-D456-1AE5CABBEF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520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381257"/>
              </p:ext>
            </p:extLst>
          </p:nvPr>
        </p:nvGraphicFramePr>
        <p:xfrm>
          <a:off x="1631504" y="2420938"/>
          <a:ext cx="7781925" cy="365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48040" imgH="1803240" progId="Equation.DSMT4">
                  <p:embed/>
                </p:oleObj>
              </mc:Choice>
              <mc:Fallback>
                <p:oleObj name="Equation" r:id="rId2" imgW="3848040" imgH="180324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2420938"/>
                        <a:ext cx="7781925" cy="365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686800" cy="1371600"/>
          </a:xfrm>
        </p:spPr>
        <p:txBody>
          <a:bodyPr/>
          <a:lstStyle/>
          <a:p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线性规划举例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组合投资决策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340768"/>
            <a:ext cx="8229600" cy="4382616"/>
          </a:xfrm>
        </p:spPr>
        <p:txBody>
          <a:bodyPr/>
          <a:lstStyle/>
          <a:p>
            <a:r>
              <a:rPr lang="zh-CN" altLang="en-US" sz="2800" b="1" dirty="0"/>
              <a:t>由此可知，</a:t>
            </a:r>
            <a:r>
              <a:rPr lang="en-US" altLang="zh-CN" sz="2800" b="1" dirty="0">
                <a:solidFill>
                  <a:srgbClr val="CC00CC"/>
                </a:solidFill>
              </a:rPr>
              <a:t>z</a:t>
            </a:r>
            <a:r>
              <a:rPr lang="en-US" altLang="zh-CN" sz="2800" b="1" baseline="-25000" dirty="0">
                <a:solidFill>
                  <a:srgbClr val="CC00CC"/>
                </a:solidFill>
              </a:rPr>
              <a:t>1</a:t>
            </a:r>
            <a:r>
              <a:rPr lang="en-US" altLang="zh-CN" sz="2800" b="1" dirty="0">
                <a:solidFill>
                  <a:srgbClr val="CC00CC"/>
                </a:solidFill>
                <a:sym typeface="Symbol"/>
              </a:rPr>
              <a:t>[3.85, 33.2],</a:t>
            </a:r>
            <a:r>
              <a:rPr lang="en-US" altLang="zh-CN" sz="2800" b="1" dirty="0">
                <a:solidFill>
                  <a:srgbClr val="CC00CC"/>
                </a:solidFill>
              </a:rPr>
              <a:t> </a:t>
            </a:r>
            <a:r>
              <a:rPr lang="en-US" altLang="zh-CN" sz="2800" b="1" dirty="0">
                <a:solidFill>
                  <a:srgbClr val="3333FF"/>
                </a:solidFill>
              </a:rPr>
              <a:t>z</a:t>
            </a:r>
            <a:r>
              <a:rPr lang="en-US" altLang="zh-CN" sz="2800" b="1" baseline="-25000" dirty="0">
                <a:solidFill>
                  <a:srgbClr val="3333FF"/>
                </a:solidFill>
              </a:rPr>
              <a:t>2</a:t>
            </a:r>
            <a:r>
              <a:rPr lang="en-US" altLang="zh-CN" sz="2800" b="1" dirty="0">
                <a:solidFill>
                  <a:srgbClr val="3333FF"/>
                </a:solidFill>
                <a:sym typeface="Symbol"/>
              </a:rPr>
              <a:t>[2.31, 14.93],</a:t>
            </a:r>
          </a:p>
          <a:p>
            <a:r>
              <a:rPr lang="en-US" altLang="zh-CN" b="1" dirty="0">
                <a:sym typeface="Symbol"/>
              </a:rPr>
              <a:t> </a:t>
            </a:r>
            <a:r>
              <a:rPr lang="zh-CN" altLang="en-US" sz="2800" b="1" dirty="0">
                <a:sym typeface="Symbol"/>
              </a:rPr>
              <a:t>取伸缩指标分别为</a:t>
            </a:r>
            <a:r>
              <a:rPr lang="en-US" altLang="zh-CN" sz="2800" b="1" dirty="0">
                <a:solidFill>
                  <a:srgbClr val="CC00CC"/>
                </a:solidFill>
                <a:sym typeface="Symbol"/>
              </a:rPr>
              <a:t>29.35,</a:t>
            </a:r>
            <a:r>
              <a:rPr lang="en-US" altLang="zh-CN" sz="2800" b="1" dirty="0">
                <a:solidFill>
                  <a:srgbClr val="3333FF"/>
                </a:solidFill>
                <a:sym typeface="Symbol"/>
              </a:rPr>
              <a:t>12.62</a:t>
            </a:r>
            <a:r>
              <a:rPr lang="en-US" altLang="zh-CN" sz="2800" b="1" dirty="0">
                <a:sym typeface="Symbol"/>
              </a:rPr>
              <a:t>,</a:t>
            </a:r>
            <a:r>
              <a:rPr lang="zh-CN" altLang="en-US" sz="2800" b="1" dirty="0">
                <a:sym typeface="Symbol"/>
              </a:rPr>
              <a:t>解如下线性规划</a:t>
            </a:r>
            <a:endParaRPr lang="zh-CN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151784" y="5625623"/>
            <a:ext cx="7344816" cy="1200329"/>
          </a:xfrm>
          <a:prstGeom prst="rect">
            <a:avLst/>
          </a:prstGeom>
          <a:solidFill>
            <a:srgbClr val="FFCC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得最优解为：</a:t>
            </a:r>
            <a:endParaRPr lang="en-US" altLang="zh-CN" sz="2400" b="1" dirty="0"/>
          </a:p>
          <a:p>
            <a:r>
              <a:rPr lang="en-US" altLang="zh-CN" sz="2400" b="1" dirty="0"/>
              <a:t>    A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, A</a:t>
            </a:r>
            <a:r>
              <a:rPr lang="en-US" altLang="zh-CN" sz="2400" b="1" baseline="-25000" dirty="0"/>
              <a:t>5</a:t>
            </a:r>
            <a:r>
              <a:rPr lang="zh-CN" altLang="en-US" sz="2400" b="1" dirty="0"/>
              <a:t>分别投资</a:t>
            </a:r>
            <a:r>
              <a:rPr lang="en-US" altLang="zh-CN" sz="2400" b="1" dirty="0"/>
              <a:t>70.492%, 12.508%</a:t>
            </a:r>
            <a:r>
              <a:rPr lang="zh-CN" altLang="en-US" sz="2400" b="1" dirty="0"/>
              <a:t>，其余不投资</a:t>
            </a:r>
            <a:endParaRPr lang="en-US" altLang="zh-CN" sz="2400" b="1" dirty="0"/>
          </a:p>
          <a:p>
            <a:r>
              <a:rPr lang="zh-CN" altLang="en-US" sz="2400" b="1" dirty="0"/>
              <a:t>此时，投资收益率为</a:t>
            </a:r>
            <a:r>
              <a:rPr lang="en-US" altLang="zh-CN" sz="2400" b="1" dirty="0"/>
              <a:t>19.102%</a:t>
            </a:r>
            <a:r>
              <a:rPr lang="zh-CN" altLang="en-US" sz="2400" b="1" dirty="0"/>
              <a:t>，风险损失率为</a:t>
            </a:r>
            <a:r>
              <a:rPr lang="en-US" altLang="zh-CN" sz="2400" b="1" dirty="0"/>
              <a:t>7.891%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176120" y="2852936"/>
            <a:ext cx="4320480" cy="2664296"/>
            <a:chOff x="4860032" y="2852936"/>
            <a:chExt cx="4320480" cy="2664296"/>
          </a:xfrm>
        </p:grpSpPr>
        <p:sp>
          <p:nvSpPr>
            <p:cNvPr id="8" name="矩形 7"/>
            <p:cNvSpPr/>
            <p:nvPr/>
          </p:nvSpPr>
          <p:spPr bwMode="auto">
            <a:xfrm>
              <a:off x="4860032" y="2852936"/>
              <a:ext cx="4320480" cy="266429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6553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0379" y="2924944"/>
              <a:ext cx="4048125" cy="2543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C0BB77-ABAB-FF20-F3F6-4E3CA7A1B5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108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习题 </a:t>
            </a:r>
            <a:r>
              <a:rPr lang="en-US" altLang="zh-CN" dirty="0"/>
              <a:t>11</a:t>
            </a:r>
          </a:p>
          <a:p>
            <a:pPr marL="0" indent="0">
              <a:buNone/>
            </a:pPr>
            <a:r>
              <a:rPr lang="en-US" altLang="zh-CN" dirty="0"/>
              <a:t>      5,  6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447249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30197</TotalTime>
  <Pages>0</Pages>
  <Words>2845</Words>
  <Characters>0</Characters>
  <Application>Microsoft Office PowerPoint</Application>
  <DocSecurity>0</DocSecurity>
  <PresentationFormat>宽屏</PresentationFormat>
  <Lines>0</Lines>
  <Paragraphs>436</Paragraphs>
  <Slides>42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60" baseType="lpstr">
      <vt:lpstr>黑体</vt:lpstr>
      <vt:lpstr>华文楷体</vt:lpstr>
      <vt:lpstr>楷体</vt:lpstr>
      <vt:lpstr>楷体_GB2312</vt:lpstr>
      <vt:lpstr>隶书</vt:lpstr>
      <vt:lpstr>宋体</vt:lpstr>
      <vt:lpstr>Arial</vt:lpstr>
      <vt:lpstr>Arial Black</vt:lpstr>
      <vt:lpstr>Calibri</vt:lpstr>
      <vt:lpstr>Comic Sans MS</vt:lpstr>
      <vt:lpstr>Symbol</vt:lpstr>
      <vt:lpstr>Times New Roman</vt:lpstr>
      <vt:lpstr>Wingdings</vt:lpstr>
      <vt:lpstr>Pixel</vt:lpstr>
      <vt:lpstr>1_Pixel</vt:lpstr>
      <vt:lpstr>Equation</vt:lpstr>
      <vt:lpstr>MathType 6.0 Equation</vt:lpstr>
      <vt:lpstr>Document</vt:lpstr>
      <vt:lpstr>第 11 章 模糊线性规划</vt:lpstr>
      <vt:lpstr>线性规划</vt:lpstr>
      <vt:lpstr>11.1 经典线性规划</vt:lpstr>
      <vt:lpstr>经典线性规划的数学模型</vt:lpstr>
      <vt:lpstr>经典线性规划的数学模型——矩阵表示</vt:lpstr>
      <vt:lpstr>线性规划问题的一般形式转化方法</vt:lpstr>
      <vt:lpstr>线性规划问题的解</vt:lpstr>
      <vt:lpstr>基变量与非基变量</vt:lpstr>
      <vt:lpstr>线性规划问题的解的性质</vt:lpstr>
      <vt:lpstr>经典线性规划的图解法</vt:lpstr>
      <vt:lpstr>Matlab优化工具求解线性规划问题</vt:lpstr>
      <vt:lpstr>Matlab优化工具求解线性规划问题</vt:lpstr>
      <vt:lpstr>Matlab优化工具求解线性规划问题</vt:lpstr>
      <vt:lpstr>11.2 F线性规划 </vt:lpstr>
      <vt:lpstr>PowerPoint 演示文稿</vt:lpstr>
      <vt:lpstr>PowerPoint 演示文稿</vt:lpstr>
      <vt:lpstr>PowerPoint 演示文稿</vt:lpstr>
      <vt:lpstr>目标函数的模糊化</vt:lpstr>
      <vt:lpstr>PowerPoint 演示文稿</vt:lpstr>
      <vt:lpstr>PowerPoint 演示文稿</vt:lpstr>
      <vt:lpstr>目标函数F化小结</vt:lpstr>
      <vt:lpstr>PowerPoint 演示文稿</vt:lpstr>
      <vt:lpstr>PowerPoint 演示文稿</vt:lpstr>
      <vt:lpstr>PowerPoint 演示文稿</vt:lpstr>
      <vt:lpstr>PowerPoint 演示文稿</vt:lpstr>
      <vt:lpstr>F线性规划求解步骤</vt:lpstr>
      <vt:lpstr>F线性规划举例2——饮料配方问题</vt:lpstr>
      <vt:lpstr>F线性规划举例2——饮料配方问题</vt:lpstr>
      <vt:lpstr>F线性规划举例2——饮料配方问题</vt:lpstr>
      <vt:lpstr>F线性规划举例2——饮料配方问题</vt:lpstr>
      <vt:lpstr>多目标线性规划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F线性规划举例——组合投资决策</vt:lpstr>
      <vt:lpstr>F线性规划举例——组合投资决策</vt:lpstr>
      <vt:lpstr>F线性规划举例——组合投资决策</vt:lpstr>
      <vt:lpstr>F线性规划举例——组合投资决策</vt:lpstr>
      <vt:lpstr>F线性规划举例——组合投资决策</vt:lpstr>
      <vt:lpstr>作业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6 章 模糊逻辑</dc:title>
  <dc:creator>凌卫新</dc:creator>
  <cp:lastModifiedBy>wxling66@outlook.com</cp:lastModifiedBy>
  <cp:revision>447</cp:revision>
  <cp:lastPrinted>2016-12-19T17:30:37Z</cp:lastPrinted>
  <dcterms:created xsi:type="dcterms:W3CDTF">2007-05-29T17:35:31Z</dcterms:created>
  <dcterms:modified xsi:type="dcterms:W3CDTF">2026-06-09T06:09:02Z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2052-9.1.0.4047</vt:lpwstr>
  </property>
</Properties>
</file>