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1"/>
  </p:notesMasterIdLst>
  <p:handoutMasterIdLst>
    <p:handoutMasterId r:id="rId12"/>
  </p:handoutMasterIdLst>
  <p:sldIdLst>
    <p:sldId id="339" r:id="rId2"/>
    <p:sldId id="279" r:id="rId3"/>
    <p:sldId id="280" r:id="rId4"/>
    <p:sldId id="281" r:id="rId5"/>
    <p:sldId id="282" r:id="rId6"/>
    <p:sldId id="283" r:id="rId7"/>
    <p:sldId id="284" r:id="rId8"/>
    <p:sldId id="320" r:id="rId9"/>
    <p:sldId id="259" r:id="rId10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008000"/>
    <a:srgbClr val="CC00CC"/>
    <a:srgbClr val="FF0066"/>
    <a:srgbClr val="FF0000"/>
    <a:srgbClr val="CCFF99"/>
    <a:srgbClr val="FFFFCC"/>
    <a:srgbClr val="FFCCFF"/>
    <a:srgbClr val="CCFFFF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90" y="51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6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98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98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7A16C515-5038-4F29-9793-72B23A8885F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82961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D33F81A-6228-4033-8C95-C4667528DA5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38026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61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3962400" y="1828800"/>
            <a:ext cx="80264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3962400" y="4267200"/>
            <a:ext cx="80264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1752" y="6247897"/>
            <a:ext cx="517848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ACB426-8E95-4BBB-9181-885B2B64E6D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6759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31080" y="6266507"/>
            <a:ext cx="44584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3E0329-027F-44B1-A42A-8643FF5939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8840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BCA9C1-0131-48F7-AA99-CF8DF35E01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2939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41762" y="6283097"/>
            <a:ext cx="44584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CFDC69-780A-4B1C-97E7-61C7E54B9D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767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8979C5-4197-4E15-8450-D6EFDC2FA7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6069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63760" y="6230867"/>
            <a:ext cx="44584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995C34-E364-4B19-9DC1-3C25DD4113D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3839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55617" y="6248400"/>
            <a:ext cx="44584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7A47BA-BA63-4780-94A9-8AFA2EA4438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0013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21B6D3-6BB7-4272-938F-C3C6CB1DE3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7105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55324F-2DC6-4E2C-A824-0AA5A2A441D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5006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BC9D07-ECF5-49E4-9AEC-081DA34766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4432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457200"/>
            <a:ext cx="27432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0264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00FCB0-6827-4052-B1F8-50690392BE8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4521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40005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79F246-5609-47AB-8E41-68E47FB0007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06679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4DC022-E2FC-4194-89EB-F0AC4449F8F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94774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981200"/>
            <a:ext cx="10972800" cy="38862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91752" y="6280362"/>
            <a:ext cx="517848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933C39-8941-4754-97F1-DAC9E9289B4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6100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461A77B0-1F5B-4DE1-802B-D0CEC0E6BF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12192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9728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981200"/>
            <a:ext cx="109728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87588" y="2060575"/>
            <a:ext cx="8380412" cy="2209800"/>
          </a:xfrm>
        </p:spPr>
        <p:txBody>
          <a:bodyPr/>
          <a:lstStyle/>
          <a:p>
            <a:pPr algn="ctr" eaLnBrk="1" hangingPunct="1"/>
            <a:r>
              <a:rPr lang="zh-CN" altLang="en-US" sz="6600" b="1" dirty="0">
                <a:solidFill>
                  <a:srgbClr val="E8E8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  <a:t>第</a:t>
            </a:r>
            <a:r>
              <a:rPr lang="zh-CN" altLang="en-US" sz="6600" b="1" dirty="0">
                <a:solidFill>
                  <a:srgbClr val="E8E8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隶书" pitchFamily="49" charset="-122"/>
              </a:rPr>
              <a:t> </a:t>
            </a:r>
            <a:r>
              <a:rPr lang="en-US" altLang="zh-CN" sz="6600" b="1" dirty="0">
                <a:solidFill>
                  <a:srgbClr val="E8E8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隶书" pitchFamily="49" charset="-122"/>
              </a:rPr>
              <a:t>8 </a:t>
            </a:r>
            <a:r>
              <a:rPr lang="zh-CN" altLang="en-US" sz="6600" b="1" dirty="0">
                <a:solidFill>
                  <a:srgbClr val="E8E8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  <a:t>章</a:t>
            </a:r>
            <a:br>
              <a:rPr lang="zh-CN" altLang="en-US" sz="6600" b="1" dirty="0">
                <a:solidFill>
                  <a:srgbClr val="E8E8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</a:br>
            <a:r>
              <a:rPr lang="zh-CN" altLang="en-US" sz="6600" b="1" dirty="0">
                <a:solidFill>
                  <a:srgbClr val="E8E8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  <a:t>模糊控制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63753" y="4270375"/>
            <a:ext cx="6192837" cy="2349500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solidFill>
                  <a:srgbClr val="E90101"/>
                </a:solidFill>
                <a:latin typeface="Comic Sans MS" pitchFamily="66" charset="0"/>
                <a:ea typeface="黑体" pitchFamily="2" charset="-122"/>
              </a:rPr>
              <a:t>8.1  F</a:t>
            </a:r>
            <a:r>
              <a:rPr lang="zh-CN" altLang="en-US" sz="3200" dirty="0">
                <a:solidFill>
                  <a:srgbClr val="E90101"/>
                </a:solidFill>
                <a:latin typeface="Comic Sans MS" pitchFamily="66" charset="0"/>
                <a:ea typeface="黑体" pitchFamily="2" charset="-122"/>
              </a:rPr>
              <a:t>控制的概念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8FE8D79-9D91-7633-201D-C15E71683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CB426-8E95-4BBB-9181-885B2B64E6D8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171575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控制系统概述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416" y="1700214"/>
            <a:ext cx="10297144" cy="4968875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控制系统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是由物理器件组成的一种装置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,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它通过控制作用来改变、调整、控制另一个物理系统，使其达到某个理想的性质或行为。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3333FF"/>
                </a:solidFill>
                <a:ea typeface="黑体" pitchFamily="2" charset="-122"/>
              </a:rPr>
              <a:t>开环系统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b="1" dirty="0">
                <a:ea typeface="楷体_GB2312" pitchFamily="49" charset="-122"/>
              </a:rPr>
              <a:t>其</a:t>
            </a:r>
            <a:r>
              <a:rPr lang="zh-CN" altLang="en-US" b="1" u="sng" dirty="0">
                <a:ea typeface="楷体_GB2312" pitchFamily="49" charset="-122"/>
              </a:rPr>
              <a:t>控制作用</a:t>
            </a:r>
            <a:r>
              <a:rPr lang="zh-CN" altLang="en-US" b="1" u="sng" dirty="0">
                <a:solidFill>
                  <a:srgbClr val="CC00CC"/>
                </a:solidFill>
                <a:ea typeface="楷体_GB2312" pitchFamily="49" charset="-122"/>
              </a:rPr>
              <a:t>不</a:t>
            </a:r>
            <a:r>
              <a:rPr lang="zh-CN" altLang="en-US" b="1" u="sng" dirty="0">
                <a:ea typeface="楷体_GB2312" pitchFamily="49" charset="-122"/>
              </a:rPr>
              <a:t>取决于实际系统的输出</a:t>
            </a:r>
          </a:p>
          <a:p>
            <a:pPr lvl="2" eaLnBrk="1" hangingPunct="1">
              <a:lnSpc>
                <a:spcPct val="120000"/>
              </a:lnSpc>
            </a:pPr>
            <a:r>
              <a:rPr lang="zh-CN" altLang="en-US" sz="2800" dirty="0">
                <a:ea typeface="黑体" pitchFamily="2" charset="-122"/>
              </a:rPr>
              <a:t>如</a:t>
            </a:r>
            <a:r>
              <a:rPr lang="zh-CN" altLang="en-US" sz="2800" dirty="0">
                <a:solidFill>
                  <a:srgbClr val="008000"/>
                </a:solidFill>
                <a:ea typeface="黑体" pitchFamily="2" charset="-122"/>
              </a:rPr>
              <a:t>电烤箱、微波炉</a:t>
            </a:r>
            <a:r>
              <a:rPr lang="en-US" altLang="zh-CN" sz="2800" dirty="0">
                <a:ea typeface="黑体" pitchFamily="2" charset="-122"/>
              </a:rPr>
              <a:t>——</a:t>
            </a:r>
            <a:r>
              <a:rPr lang="zh-CN" altLang="en-US" sz="2800" dirty="0">
                <a:ea typeface="黑体" pitchFamily="2" charset="-122"/>
              </a:rPr>
              <a:t>其加热量是人工控制的</a:t>
            </a:r>
          </a:p>
          <a:p>
            <a:pPr lvl="2"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rgbClr val="008000"/>
                </a:solidFill>
                <a:ea typeface="黑体" pitchFamily="2" charset="-122"/>
              </a:rPr>
              <a:t>一般的自动洗衣机</a:t>
            </a:r>
            <a:r>
              <a:rPr lang="en-US" altLang="zh-CN" sz="2800" dirty="0">
                <a:ea typeface="黑体" pitchFamily="2" charset="-122"/>
              </a:rPr>
              <a:t>——</a:t>
            </a:r>
            <a:r>
              <a:rPr lang="zh-CN" altLang="en-US" sz="2800" dirty="0">
                <a:ea typeface="黑体" pitchFamily="2" charset="-122"/>
              </a:rPr>
              <a:t>其水温、甩干时间等是人工设定的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b="1" dirty="0">
                <a:ea typeface="楷体_GB2312" pitchFamily="49" charset="-122"/>
              </a:rPr>
              <a:t>这两种情况的控制作用都是它们输出的函数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DDE1083-06E0-203C-C1FF-E3D0EAC875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F3E0329-027F-44B1-A42A-8643FF593956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171575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控制系统概述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416" y="1556792"/>
            <a:ext cx="10585175" cy="4752975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CC00CC"/>
                </a:solidFill>
                <a:latin typeface="黑体" pitchFamily="2" charset="-122"/>
                <a:ea typeface="黑体" pitchFamily="2" charset="-122"/>
              </a:rPr>
              <a:t>闭环系统</a:t>
            </a:r>
            <a:r>
              <a:rPr lang="en-US" altLang="zh-CN" dirty="0">
                <a:solidFill>
                  <a:srgbClr val="CC00CC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dirty="0">
                <a:solidFill>
                  <a:srgbClr val="CC00CC"/>
                </a:solidFill>
                <a:latin typeface="黑体" pitchFamily="2" charset="-122"/>
                <a:ea typeface="黑体" pitchFamily="2" charset="-122"/>
              </a:rPr>
              <a:t>反馈系统</a:t>
            </a:r>
            <a:r>
              <a:rPr lang="en-US" altLang="zh-CN" dirty="0">
                <a:solidFill>
                  <a:srgbClr val="CC00CC"/>
                </a:solidFill>
                <a:latin typeface="黑体" pitchFamily="2" charset="-122"/>
                <a:ea typeface="黑体" pitchFamily="2" charset="-122"/>
              </a:rPr>
              <a:t>)</a:t>
            </a:r>
          </a:p>
          <a:p>
            <a:pPr lvl="1" eaLnBrk="1" hangingPunct="1"/>
            <a:r>
              <a:rPr lang="zh-CN" altLang="en-US" b="1" dirty="0">
                <a:ea typeface="楷体_GB2312" pitchFamily="49" charset="-122"/>
              </a:rPr>
              <a:t>其</a:t>
            </a:r>
            <a:r>
              <a:rPr lang="zh-CN" altLang="en-US" b="1" u="sng" dirty="0">
                <a:ea typeface="楷体_GB2312" pitchFamily="49" charset="-122"/>
              </a:rPr>
              <a:t>控制作用取决于实际系统的输出</a:t>
            </a:r>
          </a:p>
          <a:p>
            <a:pPr lvl="2" eaLnBrk="1" hangingPunct="1"/>
            <a:r>
              <a:rPr lang="zh-CN" altLang="en-US" sz="2800" dirty="0">
                <a:solidFill>
                  <a:srgbClr val="3333FF"/>
                </a:solidFill>
                <a:latin typeface="黑体" pitchFamily="2" charset="-122"/>
                <a:ea typeface="黑体" pitchFamily="2" charset="-122"/>
              </a:rPr>
              <a:t>室温控制系统</a:t>
            </a:r>
            <a:r>
              <a:rPr lang="en-US" altLang="zh-CN" sz="2800" dirty="0">
                <a:ea typeface="黑体" pitchFamily="2" charset="-122"/>
              </a:rPr>
              <a:t>——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当室温达到某阈值时，开启加热或制冷单元</a:t>
            </a:r>
          </a:p>
          <a:p>
            <a:pPr lvl="2" eaLnBrk="1" hangingPunct="1"/>
            <a:r>
              <a:rPr lang="zh-CN" altLang="en-US" sz="2800" dirty="0">
                <a:solidFill>
                  <a:srgbClr val="3333FF"/>
                </a:solidFill>
                <a:latin typeface="黑体" pitchFamily="2" charset="-122"/>
                <a:ea typeface="黑体" pitchFamily="2" charset="-122"/>
              </a:rPr>
              <a:t>自动导航仪</a:t>
            </a:r>
            <a:r>
              <a:rPr lang="en-US" altLang="zh-CN" sz="2800" dirty="0">
                <a:ea typeface="黑体" pitchFamily="2" charset="-122"/>
              </a:rPr>
              <a:t>——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通过仪表所测量的航向或高度自动修正飞机的航程</a:t>
            </a:r>
          </a:p>
          <a:p>
            <a:pPr lvl="1" eaLnBrk="1" hangingPunct="1"/>
            <a:r>
              <a:rPr lang="zh-CN" altLang="en-US" dirty="0">
                <a:latin typeface="黑体" pitchFamily="2" charset="-122"/>
                <a:ea typeface="黑体" pitchFamily="2" charset="-122"/>
              </a:rPr>
              <a:t>要得到满意的响应和特性，必须在闭环内附加一装置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控制器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)</a:t>
            </a:r>
          </a:p>
          <a:p>
            <a:pPr lvl="2" eaLnBrk="1" hangingPunct="1"/>
            <a:endParaRPr lang="en-US" altLang="zh-CN" dirty="0"/>
          </a:p>
        </p:txBody>
      </p:sp>
      <p:grpSp>
        <p:nvGrpSpPr>
          <p:cNvPr id="43036" name="Group 28"/>
          <p:cNvGrpSpPr>
            <a:grpSpLocks/>
          </p:cNvGrpSpPr>
          <p:nvPr/>
        </p:nvGrpSpPr>
        <p:grpSpPr bwMode="auto">
          <a:xfrm>
            <a:off x="2513806" y="5204682"/>
            <a:ext cx="7164387" cy="1550987"/>
            <a:chOff x="1247" y="3249"/>
            <a:chExt cx="4513" cy="977"/>
          </a:xfrm>
        </p:grpSpPr>
        <p:grpSp>
          <p:nvGrpSpPr>
            <p:cNvPr id="5125" name="Group 25"/>
            <p:cNvGrpSpPr>
              <a:grpSpLocks/>
            </p:cNvGrpSpPr>
            <p:nvPr/>
          </p:nvGrpSpPr>
          <p:grpSpPr bwMode="auto">
            <a:xfrm>
              <a:off x="1247" y="3249"/>
              <a:ext cx="4513" cy="977"/>
              <a:chOff x="1247" y="3249"/>
              <a:chExt cx="4513" cy="977"/>
            </a:xfrm>
          </p:grpSpPr>
          <p:sp>
            <p:nvSpPr>
              <p:cNvPr id="5128" name="Text Box 7"/>
              <p:cNvSpPr txBox="1">
                <a:spLocks noChangeArrowheads="1"/>
              </p:cNvSpPr>
              <p:nvPr/>
            </p:nvSpPr>
            <p:spPr bwMode="auto">
              <a:xfrm>
                <a:off x="2744" y="3521"/>
                <a:ext cx="794" cy="252"/>
              </a:xfrm>
              <a:prstGeom prst="rect">
                <a:avLst/>
              </a:prstGeom>
              <a:solidFill>
                <a:srgbClr val="33CC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>
                    <a:ea typeface="楷体_GB2312" pitchFamily="49" charset="-122"/>
                  </a:rPr>
                  <a:t>  </a:t>
                </a:r>
                <a:r>
                  <a:rPr lang="zh-CN" altLang="en-US" sz="2000" b="1">
                    <a:ea typeface="楷体_GB2312" pitchFamily="49" charset="-122"/>
                  </a:rPr>
                  <a:t>控制器</a:t>
                </a:r>
              </a:p>
            </p:txBody>
          </p:sp>
          <p:sp>
            <p:nvSpPr>
              <p:cNvPr id="5129" name="Text Box 8"/>
              <p:cNvSpPr txBox="1">
                <a:spLocks noChangeArrowheads="1"/>
              </p:cNvSpPr>
              <p:nvPr/>
            </p:nvSpPr>
            <p:spPr bwMode="auto">
              <a:xfrm>
                <a:off x="3833" y="3521"/>
                <a:ext cx="1135" cy="252"/>
              </a:xfrm>
              <a:prstGeom prst="rect">
                <a:avLst/>
              </a:prstGeom>
              <a:solidFill>
                <a:srgbClr val="66FF33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000" b="1" dirty="0">
                    <a:ea typeface="楷体_GB2312" pitchFamily="49" charset="-122"/>
                  </a:rPr>
                  <a:t>被控物理系统</a:t>
                </a:r>
              </a:p>
            </p:txBody>
          </p:sp>
          <p:sp>
            <p:nvSpPr>
              <p:cNvPr id="5130" name="Text Box 9"/>
              <p:cNvSpPr txBox="1">
                <a:spLocks noChangeArrowheads="1"/>
              </p:cNvSpPr>
              <p:nvPr/>
            </p:nvSpPr>
            <p:spPr bwMode="auto">
              <a:xfrm>
                <a:off x="3288" y="3974"/>
                <a:ext cx="680" cy="252"/>
              </a:xfrm>
              <a:prstGeom prst="rect">
                <a:avLst/>
              </a:prstGeom>
              <a:solidFill>
                <a:srgbClr val="FF99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000" b="1">
                    <a:ea typeface="楷体_GB2312" pitchFamily="49" charset="-122"/>
                  </a:rPr>
                  <a:t>传感器</a:t>
                </a:r>
              </a:p>
            </p:txBody>
          </p:sp>
          <p:sp>
            <p:nvSpPr>
              <p:cNvPr id="5131" name="Line 10"/>
              <p:cNvSpPr>
                <a:spLocks noChangeShapeType="1"/>
              </p:cNvSpPr>
              <p:nvPr/>
            </p:nvSpPr>
            <p:spPr bwMode="auto">
              <a:xfrm flipV="1">
                <a:off x="2517" y="3657"/>
                <a:ext cx="22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32" name="Line 11"/>
              <p:cNvSpPr>
                <a:spLocks noChangeShapeType="1"/>
              </p:cNvSpPr>
              <p:nvPr/>
            </p:nvSpPr>
            <p:spPr bwMode="auto">
              <a:xfrm>
                <a:off x="3515" y="3657"/>
                <a:ext cx="31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33" name="Line 12"/>
              <p:cNvSpPr>
                <a:spLocks noChangeShapeType="1"/>
              </p:cNvSpPr>
              <p:nvPr/>
            </p:nvSpPr>
            <p:spPr bwMode="auto">
              <a:xfrm>
                <a:off x="2381" y="3774"/>
                <a:ext cx="0" cy="38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34" name="Line 13"/>
              <p:cNvSpPr>
                <a:spLocks noChangeShapeType="1"/>
              </p:cNvSpPr>
              <p:nvPr/>
            </p:nvSpPr>
            <p:spPr bwMode="auto">
              <a:xfrm>
                <a:off x="5057" y="3657"/>
                <a:ext cx="0" cy="49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35" name="Line 15"/>
              <p:cNvSpPr>
                <a:spLocks noChangeShapeType="1"/>
              </p:cNvSpPr>
              <p:nvPr/>
            </p:nvSpPr>
            <p:spPr bwMode="auto">
              <a:xfrm>
                <a:off x="3969" y="4156"/>
                <a:ext cx="108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36" name="Line 17"/>
              <p:cNvSpPr>
                <a:spLocks noChangeShapeType="1"/>
              </p:cNvSpPr>
              <p:nvPr/>
            </p:nvSpPr>
            <p:spPr bwMode="auto">
              <a:xfrm>
                <a:off x="4967" y="3657"/>
                <a:ext cx="31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37" name="Oval 18"/>
              <p:cNvSpPr>
                <a:spLocks noChangeArrowheads="1"/>
              </p:cNvSpPr>
              <p:nvPr/>
            </p:nvSpPr>
            <p:spPr bwMode="auto">
              <a:xfrm>
                <a:off x="2245" y="3521"/>
                <a:ext cx="272" cy="272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  <a:sym typeface="Symbol" pitchFamily="18" charset="2"/>
                  </a:rPr>
                  <a:t>∑</a:t>
                </a:r>
              </a:p>
            </p:txBody>
          </p:sp>
          <p:sp>
            <p:nvSpPr>
              <p:cNvPr id="5138" name="Line 19"/>
              <p:cNvSpPr>
                <a:spLocks noChangeShapeType="1"/>
              </p:cNvSpPr>
              <p:nvPr/>
            </p:nvSpPr>
            <p:spPr bwMode="auto">
              <a:xfrm>
                <a:off x="2381" y="4156"/>
                <a:ext cx="90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39" name="Line 20"/>
              <p:cNvSpPr>
                <a:spLocks noChangeShapeType="1"/>
              </p:cNvSpPr>
              <p:nvPr/>
            </p:nvSpPr>
            <p:spPr bwMode="auto">
              <a:xfrm>
                <a:off x="1927" y="3657"/>
                <a:ext cx="31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40" name="Text Box 21"/>
              <p:cNvSpPr txBox="1">
                <a:spLocks noChangeArrowheads="1"/>
              </p:cNvSpPr>
              <p:nvPr/>
            </p:nvSpPr>
            <p:spPr bwMode="auto">
              <a:xfrm>
                <a:off x="1247" y="3521"/>
                <a:ext cx="81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b="1">
                    <a:ea typeface="楷体_GB2312" pitchFamily="49" charset="-122"/>
                  </a:rPr>
                  <a:t>系统输入</a:t>
                </a:r>
              </a:p>
            </p:txBody>
          </p:sp>
          <p:sp>
            <p:nvSpPr>
              <p:cNvPr id="5141" name="Text Box 22"/>
              <p:cNvSpPr txBox="1">
                <a:spLocks noChangeArrowheads="1"/>
              </p:cNvSpPr>
              <p:nvPr/>
            </p:nvSpPr>
            <p:spPr bwMode="auto">
              <a:xfrm>
                <a:off x="4944" y="3385"/>
                <a:ext cx="81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b="1">
                    <a:ea typeface="楷体_GB2312" pitchFamily="49" charset="-122"/>
                  </a:rPr>
                  <a:t>系统输出</a:t>
                </a:r>
              </a:p>
            </p:txBody>
          </p:sp>
          <p:sp>
            <p:nvSpPr>
              <p:cNvPr id="5142" name="Text Box 23"/>
              <p:cNvSpPr txBox="1">
                <a:spLocks noChangeArrowheads="1"/>
              </p:cNvSpPr>
              <p:nvPr/>
            </p:nvSpPr>
            <p:spPr bwMode="auto">
              <a:xfrm>
                <a:off x="2517" y="3249"/>
                <a:ext cx="45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b="1">
                    <a:ea typeface="楷体_GB2312" pitchFamily="49" charset="-122"/>
                  </a:rPr>
                  <a:t>误差</a:t>
                </a:r>
              </a:p>
            </p:txBody>
          </p:sp>
          <p:sp>
            <p:nvSpPr>
              <p:cNvPr id="5143" name="Text Box 24"/>
              <p:cNvSpPr txBox="1">
                <a:spLocks noChangeArrowheads="1"/>
              </p:cNvSpPr>
              <p:nvPr/>
            </p:nvSpPr>
            <p:spPr bwMode="auto">
              <a:xfrm>
                <a:off x="3515" y="3249"/>
                <a:ext cx="907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b="1">
                    <a:ea typeface="楷体_GB2312" pitchFamily="49" charset="-122"/>
                  </a:rPr>
                  <a:t>被控变量</a:t>
                </a:r>
              </a:p>
            </p:txBody>
          </p:sp>
        </p:grpSp>
        <p:sp>
          <p:nvSpPr>
            <p:cNvPr id="5126" name="Text Box 26"/>
            <p:cNvSpPr txBox="1">
              <a:spLocks noChangeArrowheads="1"/>
            </p:cNvSpPr>
            <p:nvPr/>
          </p:nvSpPr>
          <p:spPr bwMode="auto">
            <a:xfrm>
              <a:off x="2018" y="3612"/>
              <a:ext cx="18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+</a:t>
              </a:r>
            </a:p>
          </p:txBody>
        </p:sp>
        <p:sp>
          <p:nvSpPr>
            <p:cNvPr id="5127" name="Text Box 27"/>
            <p:cNvSpPr txBox="1">
              <a:spLocks noChangeArrowheads="1"/>
            </p:cNvSpPr>
            <p:nvPr/>
          </p:nvSpPr>
          <p:spPr bwMode="auto">
            <a:xfrm>
              <a:off x="2426" y="3838"/>
              <a:ext cx="18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-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2CF8F08-8F87-E7BC-DEE1-B602E03E4E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F3E0329-027F-44B1-A42A-8643FF593956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3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69764"/>
            <a:ext cx="8229600" cy="1243012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经典控制系统的设计问题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5440" y="1412776"/>
            <a:ext cx="10009110" cy="4463363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ea typeface="黑体" pitchFamily="2" charset="-122"/>
              </a:rPr>
              <a:t>反馈控制系统设计的一般问题是要获得非线性向量赋值函数</a:t>
            </a:r>
            <a:r>
              <a:rPr lang="en-US" altLang="zh-CN" sz="2800" i="1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sz="2800" dirty="0">
                <a:ea typeface="黑体" pitchFamily="2" charset="-122"/>
              </a:rPr>
              <a:t>(·)</a:t>
            </a:r>
            <a:r>
              <a:rPr lang="zh-CN" altLang="en-US" sz="2800" dirty="0">
                <a:ea typeface="黑体" pitchFamily="2" charset="-122"/>
              </a:rPr>
              <a:t>的一般形式</a:t>
            </a:r>
            <a:r>
              <a:rPr lang="en-US" altLang="zh-CN" sz="2800" dirty="0">
                <a:ea typeface="黑体" pitchFamily="2" charset="-122"/>
              </a:rPr>
              <a:t>——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b="1" i="1" dirty="0">
                <a:solidFill>
                  <a:srgbClr val="FF0000"/>
                </a:solidFill>
              </a:rPr>
              <a:t>  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  <a:r>
              <a:rPr lang="en-US" altLang="zh-CN" b="1" i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t, x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]</a:t>
            </a:r>
          </a:p>
          <a:p>
            <a:pPr lvl="1" eaLnBrk="1" hangingPunct="1"/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)——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装置或过程的输入</a:t>
            </a:r>
          </a:p>
          <a:p>
            <a:pPr lvl="1" eaLnBrk="1" hangingPunct="1"/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)——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参考输入，若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为常数时，为时不变系统</a:t>
            </a:r>
          </a:p>
          <a:p>
            <a:pPr lvl="1" eaLnBrk="1" hangingPunct="1"/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)——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状态矢量</a:t>
            </a:r>
          </a:p>
          <a:p>
            <a:pPr lvl="1" eaLnBrk="1" hangingPunct="1"/>
            <a:r>
              <a:rPr lang="zh-CN" altLang="en-US" sz="2400" b="1" dirty="0">
                <a:ea typeface="华文楷体" pitchFamily="2" charset="-122"/>
              </a:rPr>
              <a:t>设</a:t>
            </a:r>
            <a:r>
              <a:rPr lang="zh-CN" altLang="en-US" sz="2400" b="1" u="sng" dirty="0">
                <a:ea typeface="华文楷体" pitchFamily="2" charset="-122"/>
              </a:rPr>
              <a:t>反馈控制规律</a:t>
            </a:r>
            <a:r>
              <a:rPr lang="en-US" altLang="zh-CN" sz="2400" b="1" i="1" u="sng" dirty="0">
                <a:solidFill>
                  <a:srgbClr val="3333FF"/>
                </a:solidFill>
                <a:latin typeface="Times New Roman" panose="02020603050405020304" pitchFamily="18" charset="0"/>
                <a:ea typeface="华文楷体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2400" b="1" dirty="0">
                <a:ea typeface="华文楷体" pitchFamily="2" charset="-122"/>
              </a:rPr>
              <a:t>能稳定反馈控制系统并能得到满意的控制特性</a:t>
            </a:r>
          </a:p>
          <a:p>
            <a:pPr lvl="1" eaLnBrk="1" hangingPunct="1"/>
            <a:r>
              <a:rPr lang="zh-CN" altLang="en-US" sz="2400" dirty="0">
                <a:ea typeface="黑体" pitchFamily="2" charset="-122"/>
              </a:rPr>
              <a:t>对时不变系统的通用模型之一为</a:t>
            </a:r>
            <a:r>
              <a:rPr lang="en-US" altLang="zh-CN" sz="2400" dirty="0">
                <a:ea typeface="黑体" pitchFamily="2" charset="-122"/>
              </a:rPr>
              <a:t>: </a:t>
            </a:r>
            <a:r>
              <a:rPr lang="zh-CN" altLang="en-US" b="1" dirty="0">
                <a:solidFill>
                  <a:srgbClr val="FF0000"/>
                </a:solidFill>
              </a:rPr>
              <a:t> 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  <a:r>
              <a:rPr lang="en-US" altLang="zh-CN" b="1" i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)]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Group 28"/>
          <p:cNvGrpSpPr>
            <a:grpSpLocks/>
          </p:cNvGrpSpPr>
          <p:nvPr/>
        </p:nvGrpSpPr>
        <p:grpSpPr bwMode="auto">
          <a:xfrm>
            <a:off x="4008438" y="5341940"/>
            <a:ext cx="6659562" cy="1417197"/>
            <a:chOff x="1247" y="3249"/>
            <a:chExt cx="4513" cy="1010"/>
          </a:xfrm>
        </p:grpSpPr>
        <p:grpSp>
          <p:nvGrpSpPr>
            <p:cNvPr id="6149" name="Group 25"/>
            <p:cNvGrpSpPr>
              <a:grpSpLocks/>
            </p:cNvGrpSpPr>
            <p:nvPr/>
          </p:nvGrpSpPr>
          <p:grpSpPr bwMode="auto">
            <a:xfrm>
              <a:off x="1247" y="3249"/>
              <a:ext cx="4513" cy="1010"/>
              <a:chOff x="1247" y="3249"/>
              <a:chExt cx="4513" cy="1010"/>
            </a:xfrm>
          </p:grpSpPr>
          <p:sp>
            <p:nvSpPr>
              <p:cNvPr id="6152" name="Text Box 7"/>
              <p:cNvSpPr txBox="1">
                <a:spLocks noChangeArrowheads="1"/>
              </p:cNvSpPr>
              <p:nvPr/>
            </p:nvSpPr>
            <p:spPr bwMode="auto">
              <a:xfrm>
                <a:off x="2744" y="3521"/>
                <a:ext cx="794" cy="285"/>
              </a:xfrm>
              <a:prstGeom prst="rect">
                <a:avLst/>
              </a:prstGeom>
              <a:solidFill>
                <a:srgbClr val="33CC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>
                    <a:ea typeface="楷体_GB2312" pitchFamily="49" charset="-122"/>
                  </a:rPr>
                  <a:t>  </a:t>
                </a:r>
                <a:r>
                  <a:rPr lang="zh-CN" altLang="en-US" sz="2000" b="1">
                    <a:ea typeface="楷体_GB2312" pitchFamily="49" charset="-122"/>
                  </a:rPr>
                  <a:t>控制器</a:t>
                </a:r>
              </a:p>
            </p:txBody>
          </p:sp>
          <p:sp>
            <p:nvSpPr>
              <p:cNvPr id="6153" name="Text Box 8"/>
              <p:cNvSpPr txBox="1">
                <a:spLocks noChangeArrowheads="1"/>
              </p:cNvSpPr>
              <p:nvPr/>
            </p:nvSpPr>
            <p:spPr bwMode="auto">
              <a:xfrm>
                <a:off x="3833" y="3521"/>
                <a:ext cx="1135" cy="263"/>
              </a:xfrm>
              <a:prstGeom prst="rect">
                <a:avLst/>
              </a:prstGeom>
              <a:solidFill>
                <a:srgbClr val="66FF33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b="1" dirty="0">
                    <a:ea typeface="楷体_GB2312" pitchFamily="49" charset="-122"/>
                  </a:rPr>
                  <a:t>被控物理系统</a:t>
                </a:r>
              </a:p>
            </p:txBody>
          </p:sp>
          <p:sp>
            <p:nvSpPr>
              <p:cNvPr id="6154" name="Text Box 9"/>
              <p:cNvSpPr txBox="1">
                <a:spLocks noChangeArrowheads="1"/>
              </p:cNvSpPr>
              <p:nvPr/>
            </p:nvSpPr>
            <p:spPr bwMode="auto">
              <a:xfrm>
                <a:off x="3288" y="3974"/>
                <a:ext cx="680" cy="285"/>
              </a:xfrm>
              <a:prstGeom prst="rect">
                <a:avLst/>
              </a:prstGeom>
              <a:solidFill>
                <a:srgbClr val="FF99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000" b="1">
                    <a:ea typeface="楷体_GB2312" pitchFamily="49" charset="-122"/>
                  </a:rPr>
                  <a:t>传感器</a:t>
                </a:r>
              </a:p>
            </p:txBody>
          </p:sp>
          <p:sp>
            <p:nvSpPr>
              <p:cNvPr id="6155" name="Line 10"/>
              <p:cNvSpPr>
                <a:spLocks noChangeShapeType="1"/>
              </p:cNvSpPr>
              <p:nvPr/>
            </p:nvSpPr>
            <p:spPr bwMode="auto">
              <a:xfrm flipV="1">
                <a:off x="2517" y="3657"/>
                <a:ext cx="22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6" name="Line 11"/>
              <p:cNvSpPr>
                <a:spLocks noChangeShapeType="1"/>
              </p:cNvSpPr>
              <p:nvPr/>
            </p:nvSpPr>
            <p:spPr bwMode="auto">
              <a:xfrm>
                <a:off x="3515" y="3657"/>
                <a:ext cx="31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7" name="Line 12"/>
              <p:cNvSpPr>
                <a:spLocks noChangeShapeType="1"/>
              </p:cNvSpPr>
              <p:nvPr/>
            </p:nvSpPr>
            <p:spPr bwMode="auto">
              <a:xfrm>
                <a:off x="2381" y="3774"/>
                <a:ext cx="0" cy="38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8" name="Line 13"/>
              <p:cNvSpPr>
                <a:spLocks noChangeShapeType="1"/>
              </p:cNvSpPr>
              <p:nvPr/>
            </p:nvSpPr>
            <p:spPr bwMode="auto">
              <a:xfrm>
                <a:off x="5057" y="3657"/>
                <a:ext cx="0" cy="49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9" name="Line 15"/>
              <p:cNvSpPr>
                <a:spLocks noChangeShapeType="1"/>
              </p:cNvSpPr>
              <p:nvPr/>
            </p:nvSpPr>
            <p:spPr bwMode="auto">
              <a:xfrm>
                <a:off x="3969" y="4156"/>
                <a:ext cx="108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60" name="Line 17"/>
              <p:cNvSpPr>
                <a:spLocks noChangeShapeType="1"/>
              </p:cNvSpPr>
              <p:nvPr/>
            </p:nvSpPr>
            <p:spPr bwMode="auto">
              <a:xfrm>
                <a:off x="4967" y="3657"/>
                <a:ext cx="31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61" name="Oval 18"/>
              <p:cNvSpPr>
                <a:spLocks noChangeArrowheads="1"/>
              </p:cNvSpPr>
              <p:nvPr/>
            </p:nvSpPr>
            <p:spPr bwMode="auto">
              <a:xfrm>
                <a:off x="2245" y="3521"/>
                <a:ext cx="272" cy="272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b="1">
                    <a:ea typeface="楷体_GB2312" pitchFamily="49" charset="-122"/>
                    <a:sym typeface="Symbol" pitchFamily="18" charset="2"/>
                  </a:rPr>
                  <a:t>∑</a:t>
                </a:r>
              </a:p>
            </p:txBody>
          </p:sp>
          <p:sp>
            <p:nvSpPr>
              <p:cNvPr id="6162" name="Line 19"/>
              <p:cNvSpPr>
                <a:spLocks noChangeShapeType="1"/>
              </p:cNvSpPr>
              <p:nvPr/>
            </p:nvSpPr>
            <p:spPr bwMode="auto">
              <a:xfrm>
                <a:off x="2381" y="4156"/>
                <a:ext cx="90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63" name="Line 20"/>
              <p:cNvSpPr>
                <a:spLocks noChangeShapeType="1"/>
              </p:cNvSpPr>
              <p:nvPr/>
            </p:nvSpPr>
            <p:spPr bwMode="auto">
              <a:xfrm>
                <a:off x="1927" y="3657"/>
                <a:ext cx="31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64" name="Text Box 21"/>
              <p:cNvSpPr txBox="1">
                <a:spLocks noChangeArrowheads="1"/>
              </p:cNvSpPr>
              <p:nvPr/>
            </p:nvSpPr>
            <p:spPr bwMode="auto">
              <a:xfrm>
                <a:off x="1247" y="3521"/>
                <a:ext cx="816" cy="2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b="1">
                    <a:ea typeface="楷体_GB2312" pitchFamily="49" charset="-122"/>
                  </a:rPr>
                  <a:t>系统输入</a:t>
                </a:r>
              </a:p>
            </p:txBody>
          </p:sp>
          <p:sp>
            <p:nvSpPr>
              <p:cNvPr id="6165" name="Text Box 22"/>
              <p:cNvSpPr txBox="1">
                <a:spLocks noChangeArrowheads="1"/>
              </p:cNvSpPr>
              <p:nvPr/>
            </p:nvSpPr>
            <p:spPr bwMode="auto">
              <a:xfrm>
                <a:off x="4944" y="3385"/>
                <a:ext cx="816" cy="2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b="1">
                    <a:ea typeface="楷体_GB2312" pitchFamily="49" charset="-122"/>
                  </a:rPr>
                  <a:t>系统输出</a:t>
                </a:r>
              </a:p>
            </p:txBody>
          </p:sp>
          <p:sp>
            <p:nvSpPr>
              <p:cNvPr id="6166" name="Text Box 23"/>
              <p:cNvSpPr txBox="1">
                <a:spLocks noChangeArrowheads="1"/>
              </p:cNvSpPr>
              <p:nvPr/>
            </p:nvSpPr>
            <p:spPr bwMode="auto">
              <a:xfrm>
                <a:off x="2426" y="3249"/>
                <a:ext cx="545" cy="2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b="1" dirty="0">
                    <a:ea typeface="楷体_GB2312" pitchFamily="49" charset="-122"/>
                  </a:rPr>
                  <a:t>误差</a:t>
                </a:r>
                <a:r>
                  <a:rPr lang="en-US" altLang="zh-CN" b="1" i="1" dirty="0">
                    <a:ea typeface="楷体_GB2312" pitchFamily="49" charset="-122"/>
                  </a:rPr>
                  <a:t>e</a:t>
                </a:r>
                <a:endParaRPr lang="zh-CN" altLang="en-US" b="1" i="1" dirty="0">
                  <a:ea typeface="楷体_GB2312" pitchFamily="49" charset="-122"/>
                </a:endParaRPr>
              </a:p>
            </p:txBody>
          </p:sp>
          <p:sp>
            <p:nvSpPr>
              <p:cNvPr id="6167" name="Text Box 24"/>
              <p:cNvSpPr txBox="1">
                <a:spLocks noChangeArrowheads="1"/>
              </p:cNvSpPr>
              <p:nvPr/>
            </p:nvSpPr>
            <p:spPr bwMode="auto">
              <a:xfrm>
                <a:off x="3515" y="3249"/>
                <a:ext cx="907" cy="2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b="1" dirty="0">
                    <a:ea typeface="楷体_GB2312" pitchFamily="49" charset="-122"/>
                  </a:rPr>
                  <a:t>被控变量</a:t>
                </a:r>
              </a:p>
            </p:txBody>
          </p:sp>
        </p:grpSp>
        <p:sp>
          <p:nvSpPr>
            <p:cNvPr id="6150" name="Text Box 26"/>
            <p:cNvSpPr txBox="1">
              <a:spLocks noChangeArrowheads="1"/>
            </p:cNvSpPr>
            <p:nvPr/>
          </p:nvSpPr>
          <p:spPr bwMode="auto">
            <a:xfrm>
              <a:off x="2018" y="3612"/>
              <a:ext cx="181" cy="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+</a:t>
              </a:r>
            </a:p>
          </p:txBody>
        </p:sp>
        <p:sp>
          <p:nvSpPr>
            <p:cNvPr id="6151" name="Text Box 27"/>
            <p:cNvSpPr txBox="1">
              <a:spLocks noChangeArrowheads="1"/>
            </p:cNvSpPr>
            <p:nvPr/>
          </p:nvSpPr>
          <p:spPr bwMode="auto">
            <a:xfrm>
              <a:off x="2426" y="3838"/>
              <a:ext cx="181" cy="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-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FAD89A1-4644-CC5D-9E1A-236A01F97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F3E0329-027F-44B1-A42A-8643FF593956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027113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常规控制系统的设计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1424" y="1628775"/>
            <a:ext cx="10441160" cy="5113338"/>
          </a:xfrm>
        </p:spPr>
        <p:txBody>
          <a:bodyPr/>
          <a:lstStyle/>
          <a:p>
            <a:pPr eaLnBrk="1" hangingPunct="1"/>
            <a:r>
              <a:rPr lang="zh-CN" altLang="en-US" sz="2800" b="1" dirty="0"/>
              <a:t>在</a:t>
            </a:r>
            <a:r>
              <a:rPr lang="zh-CN" altLang="en-US" sz="2800" b="1" u="sng" dirty="0">
                <a:solidFill>
                  <a:srgbClr val="CC00CC"/>
                </a:solidFill>
              </a:rPr>
              <a:t>单输入、单输出常规控制器</a:t>
            </a:r>
            <a:r>
              <a:rPr lang="zh-CN" altLang="en-US" sz="2800" b="1" dirty="0"/>
              <a:t>的情况下，函数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800" b="1" dirty="0"/>
              <a:t>取下列形式之一</a:t>
            </a:r>
          </a:p>
          <a:p>
            <a:pPr lvl="1" eaLnBrk="1" hangingPunct="1"/>
            <a:r>
              <a:rPr lang="zh-CN" altLang="en-US" sz="2400" b="1" u="sng" dirty="0">
                <a:solidFill>
                  <a:srgbClr val="3333FF"/>
                </a:solidFill>
                <a:ea typeface="楷体_GB2312" pitchFamily="49" charset="-122"/>
              </a:rPr>
              <a:t>比例控制器</a:t>
            </a:r>
            <a:r>
              <a:rPr lang="zh-CN" altLang="en-US" sz="2400" b="1" dirty="0">
                <a:ea typeface="楷体_GB2312" pitchFamily="49" charset="-122"/>
              </a:rPr>
              <a:t>或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ea typeface="楷体_GB2312" pitchFamily="49" charset="-122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Proportional</a:t>
            </a:r>
            <a:r>
              <a:rPr lang="en-US" altLang="zh-CN" sz="2400" b="1" dirty="0">
                <a:ea typeface="楷体_GB2312" pitchFamily="49" charset="-122"/>
              </a:rPr>
              <a:t>)</a:t>
            </a:r>
            <a:r>
              <a:rPr lang="zh-CN" altLang="en-US" sz="2400" b="1" dirty="0">
                <a:solidFill>
                  <a:srgbClr val="FF0000"/>
                </a:solidFill>
                <a:ea typeface="楷体_GB2312" pitchFamily="49" charset="-122"/>
              </a:rPr>
              <a:t>控制器</a:t>
            </a:r>
          </a:p>
          <a:p>
            <a:pPr lvl="1" eaLnBrk="1" hangingPunct="1"/>
            <a:endParaRPr lang="zh-CN" altLang="en-US" sz="2400" b="1" dirty="0">
              <a:ea typeface="楷体_GB2312" pitchFamily="49" charset="-122"/>
            </a:endParaRPr>
          </a:p>
          <a:p>
            <a:pPr lvl="1" eaLnBrk="1" hangingPunct="1"/>
            <a:endParaRPr lang="zh-CN" altLang="en-US" sz="1050" b="1" dirty="0">
              <a:ea typeface="楷体_GB2312" pitchFamily="49" charset="-122"/>
            </a:endParaRPr>
          </a:p>
          <a:p>
            <a:pPr lvl="1" eaLnBrk="1" hangingPunct="1"/>
            <a:r>
              <a:rPr lang="zh-CN" altLang="en-US" sz="2400" b="1" u="sng" dirty="0">
                <a:solidFill>
                  <a:srgbClr val="3333FF"/>
                </a:solidFill>
                <a:ea typeface="楷体_GB2312" pitchFamily="49" charset="-122"/>
              </a:rPr>
              <a:t>比例积分控制器</a:t>
            </a:r>
            <a:r>
              <a:rPr lang="zh-CN" altLang="en-US" sz="2400" b="1" dirty="0">
                <a:ea typeface="楷体_GB2312" pitchFamily="49" charset="-122"/>
              </a:rPr>
              <a:t>或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PI</a:t>
            </a:r>
            <a:r>
              <a:rPr lang="en-US" altLang="zh-CN" sz="2400" b="1" dirty="0">
                <a:ea typeface="楷体_GB2312" pitchFamily="49" charset="-122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Proportional Integral</a:t>
            </a:r>
            <a:r>
              <a:rPr lang="en-US" altLang="zh-CN" sz="2400" b="1" dirty="0">
                <a:ea typeface="楷体_GB2312" pitchFamily="49" charset="-122"/>
              </a:rPr>
              <a:t>)</a:t>
            </a:r>
            <a:r>
              <a:rPr lang="zh-CN" altLang="en-US" sz="2400" b="1" dirty="0">
                <a:solidFill>
                  <a:srgbClr val="FF0000"/>
                </a:solidFill>
                <a:ea typeface="楷体_GB2312" pitchFamily="49" charset="-122"/>
              </a:rPr>
              <a:t>控制器</a:t>
            </a:r>
          </a:p>
          <a:p>
            <a:pPr lvl="1" eaLnBrk="1" hangingPunct="1"/>
            <a:endParaRPr lang="zh-CN" altLang="en-US" sz="4000" b="1" dirty="0">
              <a:ea typeface="楷体_GB2312" pitchFamily="49" charset="-122"/>
            </a:endParaRPr>
          </a:p>
          <a:p>
            <a:pPr lvl="1" eaLnBrk="1" hangingPunct="1"/>
            <a:r>
              <a:rPr lang="zh-CN" altLang="en-US" sz="2400" b="1" u="sng" dirty="0">
                <a:solidFill>
                  <a:srgbClr val="3333FF"/>
                </a:solidFill>
                <a:ea typeface="楷体_GB2312" pitchFamily="49" charset="-122"/>
              </a:rPr>
              <a:t>比例微分控制器</a:t>
            </a:r>
            <a:r>
              <a:rPr lang="zh-CN" altLang="en-US" sz="2400" b="1" dirty="0">
                <a:ea typeface="楷体_GB2312" pitchFamily="49" charset="-122"/>
              </a:rPr>
              <a:t>或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PD</a:t>
            </a:r>
            <a:r>
              <a:rPr lang="en-US" altLang="zh-CN" sz="2400" b="1" dirty="0">
                <a:ea typeface="楷体_GB2312" pitchFamily="49" charset="-122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Proportional Derivative</a:t>
            </a:r>
            <a:r>
              <a:rPr lang="en-US" altLang="zh-CN" sz="2400" b="1" dirty="0">
                <a:ea typeface="楷体_GB2312" pitchFamily="49" charset="-122"/>
              </a:rPr>
              <a:t>)</a:t>
            </a:r>
            <a:r>
              <a:rPr lang="zh-CN" altLang="en-US" sz="2400" b="1" dirty="0">
                <a:solidFill>
                  <a:srgbClr val="FF0000"/>
                </a:solidFill>
                <a:ea typeface="楷体_GB2312" pitchFamily="49" charset="-122"/>
              </a:rPr>
              <a:t>控制器</a:t>
            </a:r>
          </a:p>
          <a:p>
            <a:pPr lvl="1" eaLnBrk="1" hangingPunct="1"/>
            <a:endParaRPr lang="zh-CN" altLang="en-US" sz="2400" b="1" dirty="0">
              <a:solidFill>
                <a:srgbClr val="FF0000"/>
              </a:solidFill>
              <a:ea typeface="楷体_GB2312" pitchFamily="49" charset="-122"/>
            </a:endParaRPr>
          </a:p>
          <a:p>
            <a:pPr lvl="1" eaLnBrk="1" hangingPunct="1"/>
            <a:endParaRPr lang="zh-CN" altLang="en-US" sz="1800" b="1" dirty="0">
              <a:solidFill>
                <a:srgbClr val="FF0000"/>
              </a:solidFill>
              <a:ea typeface="楷体_GB2312" pitchFamily="49" charset="-122"/>
            </a:endParaRPr>
          </a:p>
          <a:p>
            <a:pPr lvl="1" eaLnBrk="1" hangingPunct="1"/>
            <a:r>
              <a:rPr lang="zh-CN" altLang="en-US" sz="2400" b="1" u="sng" dirty="0">
                <a:solidFill>
                  <a:srgbClr val="3333FF"/>
                </a:solidFill>
                <a:ea typeface="楷体_GB2312" pitchFamily="49" charset="-122"/>
              </a:rPr>
              <a:t>比例积分微分控制器</a:t>
            </a:r>
            <a:r>
              <a:rPr lang="zh-CN" altLang="en-US" sz="2400" b="1" dirty="0">
                <a:ea typeface="楷体_GB2312" pitchFamily="49" charset="-122"/>
              </a:rPr>
              <a:t>或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PID</a:t>
            </a:r>
            <a:r>
              <a:rPr lang="en-US" altLang="zh-CN" sz="2400" b="1" dirty="0">
                <a:ea typeface="楷体_GB2312" pitchFamily="49" charset="-122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Proportional Integral Derivative</a:t>
            </a:r>
            <a:r>
              <a:rPr lang="en-US" altLang="zh-CN" sz="2400" b="1" dirty="0">
                <a:ea typeface="楷体_GB2312" pitchFamily="49" charset="-122"/>
              </a:rPr>
              <a:t>)</a:t>
            </a:r>
            <a:r>
              <a:rPr lang="zh-CN" altLang="en-US" sz="2400" b="1" dirty="0">
                <a:solidFill>
                  <a:srgbClr val="FF0000"/>
                </a:solidFill>
                <a:ea typeface="楷体_GB2312" pitchFamily="49" charset="-122"/>
              </a:rPr>
              <a:t>控制器</a:t>
            </a:r>
          </a:p>
        </p:txBody>
      </p:sp>
      <p:graphicFrame>
        <p:nvGraphicFramePr>
          <p:cNvPr id="45060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741902069"/>
              </p:ext>
            </p:extLst>
          </p:nvPr>
        </p:nvGraphicFramePr>
        <p:xfrm>
          <a:off x="2567608" y="2610700"/>
          <a:ext cx="2281237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88840" imgH="241200" progId="Equation.DSMT4">
                  <p:embed/>
                </p:oleObj>
              </mc:Choice>
              <mc:Fallback>
                <p:oleObj name="Equation" r:id="rId2" imgW="888840" imgH="24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608" y="2610700"/>
                        <a:ext cx="2281237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2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009425030"/>
              </p:ext>
            </p:extLst>
          </p:nvPr>
        </p:nvGraphicFramePr>
        <p:xfrm>
          <a:off x="2572792" y="3700464"/>
          <a:ext cx="4087813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88760" imgH="279360" progId="Equation.DSMT4">
                  <p:embed/>
                </p:oleObj>
              </mc:Choice>
              <mc:Fallback>
                <p:oleObj name="Equation" r:id="rId4" imgW="1688760" imgH="2793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2792" y="3700464"/>
                        <a:ext cx="4087813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202504"/>
              </p:ext>
            </p:extLst>
          </p:nvPr>
        </p:nvGraphicFramePr>
        <p:xfrm>
          <a:off x="2567608" y="4724400"/>
          <a:ext cx="3651250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98320" imgH="330120" progId="Equation.DSMT4">
                  <p:embed/>
                </p:oleObj>
              </mc:Choice>
              <mc:Fallback>
                <p:oleObj name="Equation" r:id="rId6" imgW="1498320" imgH="33012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608" y="4724400"/>
                        <a:ext cx="3651250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6946214"/>
              </p:ext>
            </p:extLst>
          </p:nvPr>
        </p:nvGraphicFramePr>
        <p:xfrm>
          <a:off x="2567608" y="5876925"/>
          <a:ext cx="558165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73040" imgH="342720" progId="Equation.DSMT4">
                  <p:embed/>
                </p:oleObj>
              </mc:Choice>
              <mc:Fallback>
                <p:oleObj name="Equation" r:id="rId8" imgW="2273040" imgH="34272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608" y="5876925"/>
                        <a:ext cx="5581650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723685"/>
              </p:ext>
            </p:extLst>
          </p:nvPr>
        </p:nvGraphicFramePr>
        <p:xfrm>
          <a:off x="9768408" y="2132856"/>
          <a:ext cx="2281236" cy="280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231366" imgH="1548728" progId="Equation.3">
                  <p:embed/>
                </p:oleObj>
              </mc:Choice>
              <mc:Fallback>
                <p:oleObj name="公式" r:id="rId10" imgW="1231366" imgH="1548728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68408" y="2132856"/>
                        <a:ext cx="2281236" cy="280828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5F9CCF5-391A-241E-8CCC-FFA3068036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379F246-5609-47AB-8E41-68E47FB00079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50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50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50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750" y="260350"/>
            <a:ext cx="8229600" cy="1371600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常规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PID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控制的分析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55440" y="1484314"/>
            <a:ext cx="10297144" cy="5184775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</a:rPr>
              <a:t>PID</a:t>
            </a:r>
            <a:r>
              <a:rPr lang="zh-CN" altLang="en-US" sz="2800" dirty="0">
                <a:solidFill>
                  <a:srgbClr val="FF0000"/>
                </a:solidFill>
                <a:ea typeface="黑体" pitchFamily="2" charset="-122"/>
              </a:rPr>
              <a:t>控制器的特点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b="1" dirty="0">
                <a:ea typeface="楷体_GB2312" pitchFamily="49" charset="-122"/>
              </a:rPr>
              <a:t>根据不同被控对象适当地整定</a:t>
            </a:r>
            <a:r>
              <a:rPr lang="en-US" altLang="zh-CN" sz="2400" b="1" dirty="0">
                <a:ea typeface="楷体_GB2312" pitchFamily="49" charset="-122"/>
              </a:rPr>
              <a:t>PID</a:t>
            </a:r>
            <a:r>
              <a:rPr lang="zh-CN" altLang="en-US" sz="2400" b="1" dirty="0">
                <a:ea typeface="楷体_GB2312" pitchFamily="49" charset="-122"/>
              </a:rPr>
              <a:t>的三个参数，来获得比较满意的控制效果。实践证明，这种整定参数的过程，实际上是对比例、积分和微分三部分控制作用的折衷。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</a:rPr>
              <a:t>虽然存在许多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PID</a:t>
            </a: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</a:rPr>
              <a:t>参数的整定方法和经验公式，但这种整定不仅费时间，且参数间相互影响，往往难于收到最优效果；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b="1" dirty="0">
                <a:solidFill>
                  <a:srgbClr val="CC00CC"/>
                </a:solidFill>
                <a:ea typeface="楷体_GB2312" pitchFamily="49" charset="-122"/>
              </a:rPr>
              <a:t>PID</a:t>
            </a:r>
            <a:r>
              <a:rPr lang="zh-CN" altLang="en-US" sz="2400" b="1" dirty="0">
                <a:solidFill>
                  <a:srgbClr val="CC00CC"/>
                </a:solidFill>
                <a:ea typeface="楷体_GB2312" pitchFamily="49" charset="-122"/>
              </a:rPr>
              <a:t>控制器无法解决</a:t>
            </a:r>
            <a:r>
              <a:rPr lang="zh-CN" altLang="en-US" sz="2400" b="1" u="sng" dirty="0">
                <a:solidFill>
                  <a:srgbClr val="CC00CC"/>
                </a:solidFill>
                <a:ea typeface="楷体_GB2312" pitchFamily="49" charset="-122"/>
              </a:rPr>
              <a:t>稳定性</a:t>
            </a:r>
            <a:r>
              <a:rPr lang="zh-CN" altLang="en-US" sz="2400" b="1" dirty="0">
                <a:solidFill>
                  <a:srgbClr val="CC00CC"/>
                </a:solidFill>
                <a:ea typeface="楷体_GB2312" pitchFamily="49" charset="-122"/>
              </a:rPr>
              <a:t>与</a:t>
            </a:r>
            <a:r>
              <a:rPr lang="zh-CN" altLang="en-US" sz="2400" b="1" u="sng" dirty="0">
                <a:solidFill>
                  <a:srgbClr val="CC00CC"/>
                </a:solidFill>
                <a:ea typeface="楷体_GB2312" pitchFamily="49" charset="-122"/>
              </a:rPr>
              <a:t>准确性</a:t>
            </a:r>
            <a:r>
              <a:rPr lang="zh-CN" altLang="en-US" sz="2400" b="1" dirty="0">
                <a:solidFill>
                  <a:srgbClr val="CC00CC"/>
                </a:solidFill>
                <a:ea typeface="楷体_GB2312" pitchFamily="49" charset="-122"/>
              </a:rPr>
              <a:t>之间的矛盾</a:t>
            </a:r>
          </a:p>
          <a:p>
            <a:pPr lvl="2" eaLnBrk="1" hangingPunct="1">
              <a:lnSpc>
                <a:spcPct val="110000"/>
              </a:lnSpc>
            </a:pPr>
            <a:r>
              <a:rPr lang="zh-CN" altLang="en-US" b="1" dirty="0">
                <a:ea typeface="楷体_GB2312" pitchFamily="49" charset="-122"/>
              </a:rPr>
              <a:t>加大控制作用可使误差减少、准确性提高，但降低了稳定性</a:t>
            </a:r>
          </a:p>
          <a:p>
            <a:pPr lvl="2" eaLnBrk="1" hangingPunct="1">
              <a:lnSpc>
                <a:spcPct val="110000"/>
              </a:lnSpc>
            </a:pPr>
            <a:r>
              <a:rPr lang="zh-CN" altLang="en-US" b="1" dirty="0">
                <a:ea typeface="楷体_GB2312" pitchFamily="49" charset="-122"/>
              </a:rPr>
              <a:t>为保证稳定性，又难以保持良好的控制性能。</a:t>
            </a:r>
          </a:p>
        </p:txBody>
      </p:sp>
      <p:graphicFrame>
        <p:nvGraphicFramePr>
          <p:cNvPr id="48132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45284714"/>
              </p:ext>
            </p:extLst>
          </p:nvPr>
        </p:nvGraphicFramePr>
        <p:xfrm>
          <a:off x="3041650" y="5926138"/>
          <a:ext cx="6178550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73040" imgH="342720" progId="Equation.DSMT4">
                  <p:embed/>
                </p:oleObj>
              </mc:Choice>
              <mc:Fallback>
                <p:oleObj name="Equation" r:id="rId2" imgW="2273040" imgH="34272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1650" y="5926138"/>
                        <a:ext cx="6178550" cy="931862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97CCF72-F5EE-0E96-734A-E5C478A816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54DC022-E2FC-4194-89EB-F0AC4449F8FB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171575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常规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PID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控制的分析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5440" y="1773238"/>
            <a:ext cx="10369152" cy="4824412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dirty="0">
                <a:ea typeface="黑体" pitchFamily="2" charset="-122"/>
              </a:rPr>
              <a:t>为获得满意的控制性能，一般来说，单纯采用线性控制方式还是不够的，必须引进一些</a:t>
            </a:r>
            <a:r>
              <a:rPr lang="zh-CN" altLang="en-US" u="sng" dirty="0">
                <a:solidFill>
                  <a:srgbClr val="FF0000"/>
                </a:solidFill>
                <a:ea typeface="黑体" pitchFamily="2" charset="-122"/>
              </a:rPr>
              <a:t>非线性控制方式</a:t>
            </a:r>
            <a:r>
              <a:rPr lang="zh-CN" altLang="en-US" dirty="0">
                <a:ea typeface="黑体" pitchFamily="2" charset="-122"/>
              </a:rPr>
              <a:t>，如采取</a:t>
            </a:r>
            <a:r>
              <a:rPr lang="zh-CN" altLang="en-US" dirty="0">
                <a:solidFill>
                  <a:srgbClr val="CC00CC"/>
                </a:solidFill>
                <a:ea typeface="黑体" pitchFamily="2" charset="-122"/>
              </a:rPr>
              <a:t>变增益</a:t>
            </a:r>
            <a:r>
              <a:rPr lang="zh-CN" altLang="en-US" dirty="0">
                <a:ea typeface="黑体" pitchFamily="2" charset="-122"/>
              </a:rPr>
              <a:t>、</a:t>
            </a:r>
            <a:r>
              <a:rPr lang="zh-CN" altLang="en-US" dirty="0">
                <a:solidFill>
                  <a:srgbClr val="CC00CC"/>
                </a:solidFill>
                <a:ea typeface="黑体" pitchFamily="2" charset="-122"/>
              </a:rPr>
              <a:t>智能积分</a:t>
            </a:r>
            <a:r>
              <a:rPr lang="zh-CN" altLang="en-US" dirty="0">
                <a:ea typeface="黑体" pitchFamily="2" charset="-122"/>
              </a:rPr>
              <a:t>、</a:t>
            </a:r>
            <a:r>
              <a:rPr lang="zh-CN" altLang="en-US" dirty="0">
                <a:solidFill>
                  <a:srgbClr val="CC00CC"/>
                </a:solidFill>
                <a:ea typeface="黑体" pitchFamily="2" charset="-122"/>
              </a:rPr>
              <a:t>智能采样</a:t>
            </a:r>
            <a:r>
              <a:rPr lang="zh-CN" altLang="en-US" dirty="0">
                <a:ea typeface="黑体" pitchFamily="2" charset="-122"/>
              </a:rPr>
              <a:t>等多种途径</a:t>
            </a:r>
            <a:r>
              <a:rPr lang="en-US" altLang="zh-CN" dirty="0">
                <a:ea typeface="黑体" pitchFamily="2" charset="-122"/>
              </a:rPr>
              <a:t>——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借助于专家经验、启发式直观判断和直觉推理规则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这样的控制策略既能解决控制系统中的</a:t>
            </a:r>
            <a:r>
              <a:rPr lang="zh-CN" altLang="en-US" b="1" u="sng" dirty="0">
                <a:solidFill>
                  <a:srgbClr val="008000"/>
                </a:solidFill>
                <a:latin typeface="华文楷体" pitchFamily="2" charset="-122"/>
                <a:ea typeface="华文楷体" pitchFamily="2" charset="-122"/>
              </a:rPr>
              <a:t>稳定性与准确性的矛盾</a:t>
            </a:r>
            <a:r>
              <a:rPr lang="zh-CN" altLang="en-US" b="1" dirty="0">
                <a:solidFill>
                  <a:srgbClr val="008000"/>
                </a:solidFill>
                <a:latin typeface="华文楷体" pitchFamily="2" charset="-122"/>
                <a:ea typeface="华文楷体" pitchFamily="2" charset="-122"/>
              </a:rPr>
              <a:t>，又能</a:t>
            </a:r>
            <a:r>
              <a:rPr lang="zh-CN" altLang="en-US" b="1" u="sng" dirty="0">
                <a:solidFill>
                  <a:srgbClr val="008000"/>
                </a:solidFill>
                <a:latin typeface="华文楷体" pitchFamily="2" charset="-122"/>
                <a:ea typeface="华文楷体" pitchFamily="2" charset="-122"/>
              </a:rPr>
              <a:t>增强系统对不确定性因素的适应性，即鲁棒性</a:t>
            </a: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en-US" altLang="zh-CN" dirty="0">
                <a:ea typeface="黑体" pitchFamily="2" charset="-122"/>
              </a:rPr>
              <a:t>                                                    ——</a:t>
            </a:r>
            <a:r>
              <a:rPr lang="zh-CN" altLang="en-US" dirty="0">
                <a:ea typeface="黑体" pitchFamily="2" charset="-122"/>
              </a:rPr>
              <a:t>这就是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智能控制器。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371A6EB-7B20-0D2C-CE1D-B13F2549D9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F3E0329-027F-44B1-A42A-8643FF593956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188913"/>
            <a:ext cx="8229600" cy="1371600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模糊控制器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3432" y="1412875"/>
            <a:ext cx="10513168" cy="40322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ea typeface="黑体" pitchFamily="2" charset="-122"/>
              </a:rPr>
              <a:t>在很多控制系统中，存在着不同程度的</a:t>
            </a:r>
            <a:r>
              <a:rPr lang="zh-CN" altLang="en-US" dirty="0">
                <a:solidFill>
                  <a:srgbClr val="3333FF"/>
                </a:solidFill>
                <a:ea typeface="黑体" pitchFamily="2" charset="-122"/>
              </a:rPr>
              <a:t>不确定因素</a:t>
            </a:r>
            <a:r>
              <a:rPr lang="zh-CN" altLang="en-US" dirty="0">
                <a:ea typeface="黑体" pitchFamily="2" charset="-122"/>
              </a:rPr>
              <a:t>，包括模型误差、外部干扰影响等。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FF0000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控制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>
                <a:ea typeface="华文楷体" pitchFamily="2" charset="-122"/>
              </a:rPr>
              <a:t>以</a:t>
            </a:r>
            <a:r>
              <a:rPr lang="en-US" altLang="zh-CN" b="1" u="sng" dirty="0">
                <a:ea typeface="华文楷体" pitchFamily="2" charset="-122"/>
              </a:rPr>
              <a:t>F</a:t>
            </a:r>
            <a:r>
              <a:rPr lang="zh-CN" altLang="en-US" b="1" u="sng" dirty="0">
                <a:ea typeface="华文楷体" pitchFamily="2" charset="-122"/>
              </a:rPr>
              <a:t>数学</a:t>
            </a:r>
            <a:r>
              <a:rPr lang="zh-CN" altLang="en-US" b="1" dirty="0">
                <a:ea typeface="华文楷体" pitchFamily="2" charset="-122"/>
              </a:rPr>
              <a:t>为基础，以</a:t>
            </a:r>
            <a:r>
              <a:rPr lang="en-US" altLang="zh-CN" b="1" u="sng" dirty="0">
                <a:ea typeface="华文楷体" pitchFamily="2" charset="-122"/>
              </a:rPr>
              <a:t>F</a:t>
            </a:r>
            <a:r>
              <a:rPr lang="zh-CN" altLang="en-US" b="1" u="sng" dirty="0">
                <a:ea typeface="华文楷体" pitchFamily="2" charset="-122"/>
              </a:rPr>
              <a:t>集合</a:t>
            </a:r>
            <a:r>
              <a:rPr lang="zh-CN" altLang="en-US" b="1" dirty="0">
                <a:ea typeface="华文楷体" pitchFamily="2" charset="-122"/>
              </a:rPr>
              <a:t>、</a:t>
            </a:r>
            <a:r>
              <a:rPr lang="en-US" altLang="zh-CN" b="1" u="sng" dirty="0">
                <a:ea typeface="华文楷体" pitchFamily="2" charset="-122"/>
              </a:rPr>
              <a:t>F</a:t>
            </a:r>
            <a:r>
              <a:rPr lang="zh-CN" altLang="en-US" b="1" u="sng" dirty="0">
                <a:ea typeface="华文楷体" pitchFamily="2" charset="-122"/>
              </a:rPr>
              <a:t>关系</a:t>
            </a:r>
            <a:r>
              <a:rPr lang="zh-CN" altLang="en-US" b="1" dirty="0">
                <a:ea typeface="华文楷体" pitchFamily="2" charset="-122"/>
              </a:rPr>
              <a:t>、</a:t>
            </a:r>
            <a:r>
              <a:rPr lang="en-US" altLang="zh-CN" b="1" u="sng" dirty="0">
                <a:ea typeface="华文楷体" pitchFamily="2" charset="-122"/>
              </a:rPr>
              <a:t>F</a:t>
            </a:r>
            <a:r>
              <a:rPr lang="zh-CN" altLang="en-US" b="1" u="sng" dirty="0">
                <a:ea typeface="华文楷体" pitchFamily="2" charset="-122"/>
              </a:rPr>
              <a:t>推理</a:t>
            </a:r>
            <a:r>
              <a:rPr lang="zh-CN" altLang="en-US" b="1" dirty="0">
                <a:ea typeface="华文楷体" pitchFamily="2" charset="-122"/>
              </a:rPr>
              <a:t>来模仿人的思维来判断综合推理，处理和解决常规方法难以解决的问题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>
                <a:ea typeface="楷体_GB2312" pitchFamily="49" charset="-122"/>
              </a:rPr>
              <a:t>实际上是一种</a:t>
            </a:r>
            <a:r>
              <a:rPr lang="zh-CN" altLang="en-US" b="1" dirty="0">
                <a:solidFill>
                  <a:srgbClr val="CC00CC"/>
                </a:solidFill>
                <a:ea typeface="楷体_GB2312" pitchFamily="49" charset="-122"/>
              </a:rPr>
              <a:t>非线性控制</a:t>
            </a:r>
            <a:r>
              <a:rPr lang="zh-CN" altLang="en-US" b="1" dirty="0">
                <a:ea typeface="楷体_GB2312" pitchFamily="49" charset="-122"/>
              </a:rPr>
              <a:t>，属</a:t>
            </a:r>
            <a:r>
              <a:rPr lang="zh-CN" altLang="en-US" b="1" dirty="0">
                <a:solidFill>
                  <a:srgbClr val="CC00CC"/>
                </a:solidFill>
                <a:ea typeface="楷体_GB2312" pitchFamily="49" charset="-122"/>
              </a:rPr>
              <a:t>智能控制</a:t>
            </a:r>
            <a:r>
              <a:rPr lang="zh-CN" altLang="en-US" b="1" dirty="0">
                <a:ea typeface="楷体_GB2312" pitchFamily="49" charset="-122"/>
              </a:rPr>
              <a:t>的范畴</a:t>
            </a:r>
            <a:r>
              <a:rPr lang="en-US" altLang="zh-CN" b="1" dirty="0">
                <a:ea typeface="楷体_GB2312" pitchFamily="49" charset="-122"/>
              </a:rPr>
              <a:t>,</a:t>
            </a:r>
            <a:endParaRPr lang="zh-CN" altLang="en-US" b="1" dirty="0">
              <a:ea typeface="楷体_GB2312" pitchFamily="49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>
                <a:ea typeface="楷体_GB2312" pitchFamily="49" charset="-122"/>
              </a:rPr>
              <a:t>它不要求知道被控对象的精确数学模型</a:t>
            </a:r>
            <a:r>
              <a:rPr lang="en-US" altLang="zh-CN" b="1" dirty="0">
                <a:ea typeface="楷体_GB2312" pitchFamily="49" charset="-122"/>
              </a:rPr>
              <a:t>,</a:t>
            </a:r>
            <a:endParaRPr lang="zh-CN" altLang="en-US" b="1" dirty="0">
              <a:ea typeface="楷体_GB2312" pitchFamily="49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>
                <a:ea typeface="楷体_GB2312" pitchFamily="49" charset="-122"/>
              </a:rPr>
              <a:t>它的鲁棒性强（即抗干扰能力强）。</a:t>
            </a:r>
          </a:p>
        </p:txBody>
      </p:sp>
      <p:grpSp>
        <p:nvGrpSpPr>
          <p:cNvPr id="91153" name="Group 17"/>
          <p:cNvGrpSpPr>
            <a:grpSpLocks/>
          </p:cNvGrpSpPr>
          <p:nvPr/>
        </p:nvGrpSpPr>
        <p:grpSpPr bwMode="auto">
          <a:xfrm>
            <a:off x="6816080" y="5303256"/>
            <a:ext cx="4968875" cy="1552575"/>
            <a:chOff x="839" y="3339"/>
            <a:chExt cx="3130" cy="978"/>
          </a:xfrm>
        </p:grpSpPr>
        <p:sp>
          <p:nvSpPr>
            <p:cNvPr id="10245" name="Rectangle 5"/>
            <p:cNvSpPr>
              <a:spLocks noChangeArrowheads="1"/>
            </p:cNvSpPr>
            <p:nvPr/>
          </p:nvSpPr>
          <p:spPr bwMode="auto">
            <a:xfrm>
              <a:off x="839" y="3339"/>
              <a:ext cx="3130" cy="590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46" name="Text Box 6"/>
            <p:cNvSpPr txBox="1">
              <a:spLocks noChangeArrowheads="1"/>
            </p:cNvSpPr>
            <p:nvPr/>
          </p:nvSpPr>
          <p:spPr bwMode="auto">
            <a:xfrm>
              <a:off x="975" y="3521"/>
              <a:ext cx="635" cy="25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b="1">
                  <a:ea typeface="楷体_GB2312" pitchFamily="49" charset="-122"/>
                </a:rPr>
                <a:t>观测量</a:t>
              </a:r>
            </a:p>
          </p:txBody>
        </p:sp>
        <p:sp>
          <p:nvSpPr>
            <p:cNvPr id="10247" name="Text Box 7"/>
            <p:cNvSpPr txBox="1">
              <a:spLocks noChangeArrowheads="1"/>
            </p:cNvSpPr>
            <p:nvPr/>
          </p:nvSpPr>
          <p:spPr bwMode="auto">
            <a:xfrm>
              <a:off x="1973" y="3521"/>
              <a:ext cx="952" cy="252"/>
            </a:xfrm>
            <a:prstGeom prst="rect">
              <a:avLst/>
            </a:prstGeom>
            <a:solidFill>
              <a:srgbClr val="33CC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>
                  <a:ea typeface="楷体_GB2312" pitchFamily="49" charset="-122"/>
                </a:rPr>
                <a:t>F</a:t>
              </a:r>
              <a:r>
                <a:rPr lang="zh-CN" altLang="en-US" sz="2000" b="1">
                  <a:ea typeface="楷体_GB2312" pitchFamily="49" charset="-122"/>
                </a:rPr>
                <a:t>控制规则</a:t>
              </a:r>
            </a:p>
          </p:txBody>
        </p:sp>
        <p:sp>
          <p:nvSpPr>
            <p:cNvPr id="10248" name="Text Box 8"/>
            <p:cNvSpPr txBox="1">
              <a:spLocks noChangeArrowheads="1"/>
            </p:cNvSpPr>
            <p:nvPr/>
          </p:nvSpPr>
          <p:spPr bwMode="auto">
            <a:xfrm>
              <a:off x="3243" y="3521"/>
              <a:ext cx="635" cy="252"/>
            </a:xfrm>
            <a:prstGeom prst="rect">
              <a:avLst/>
            </a:prstGeom>
            <a:solidFill>
              <a:srgbClr val="66FF33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ea typeface="楷体_GB2312" pitchFamily="49" charset="-122"/>
                </a:rPr>
                <a:t>F</a:t>
              </a:r>
              <a:r>
                <a:rPr lang="zh-CN" altLang="en-US" sz="2000" b="1">
                  <a:ea typeface="楷体_GB2312" pitchFamily="49" charset="-122"/>
                </a:rPr>
                <a:t>判别</a:t>
              </a:r>
            </a:p>
          </p:txBody>
        </p:sp>
        <p:sp>
          <p:nvSpPr>
            <p:cNvPr id="10249" name="Text Box 9"/>
            <p:cNvSpPr txBox="1">
              <a:spLocks noChangeArrowheads="1"/>
            </p:cNvSpPr>
            <p:nvPr/>
          </p:nvSpPr>
          <p:spPr bwMode="auto">
            <a:xfrm>
              <a:off x="1882" y="4065"/>
              <a:ext cx="952" cy="252"/>
            </a:xfrm>
            <a:prstGeom prst="rect">
              <a:avLst/>
            </a:prstGeom>
            <a:solidFill>
              <a:srgbClr val="FF99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000" b="1">
                  <a:ea typeface="楷体_GB2312" pitchFamily="49" charset="-122"/>
                </a:rPr>
                <a:t>被控对象</a:t>
              </a:r>
            </a:p>
          </p:txBody>
        </p:sp>
        <p:sp>
          <p:nvSpPr>
            <p:cNvPr id="10250" name="Line 10"/>
            <p:cNvSpPr>
              <a:spLocks noChangeShapeType="1"/>
            </p:cNvSpPr>
            <p:nvPr/>
          </p:nvSpPr>
          <p:spPr bwMode="auto">
            <a:xfrm>
              <a:off x="1610" y="3657"/>
              <a:ext cx="3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1" name="Line 11"/>
            <p:cNvSpPr>
              <a:spLocks noChangeShapeType="1"/>
            </p:cNvSpPr>
            <p:nvPr/>
          </p:nvSpPr>
          <p:spPr bwMode="auto">
            <a:xfrm>
              <a:off x="2926" y="3657"/>
              <a:ext cx="31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2" name="Line 12"/>
            <p:cNvSpPr>
              <a:spLocks noChangeShapeType="1"/>
            </p:cNvSpPr>
            <p:nvPr/>
          </p:nvSpPr>
          <p:spPr bwMode="auto">
            <a:xfrm>
              <a:off x="1247" y="3793"/>
              <a:ext cx="0" cy="4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3" name="Line 13"/>
            <p:cNvSpPr>
              <a:spLocks noChangeShapeType="1"/>
            </p:cNvSpPr>
            <p:nvPr/>
          </p:nvSpPr>
          <p:spPr bwMode="auto">
            <a:xfrm>
              <a:off x="3470" y="3793"/>
              <a:ext cx="0" cy="4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4" name="Line 14"/>
            <p:cNvSpPr>
              <a:spLocks noChangeShapeType="1"/>
            </p:cNvSpPr>
            <p:nvPr/>
          </p:nvSpPr>
          <p:spPr bwMode="auto">
            <a:xfrm>
              <a:off x="1247" y="4201"/>
              <a:ext cx="63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5" name="Line 15"/>
            <p:cNvSpPr>
              <a:spLocks noChangeShapeType="1"/>
            </p:cNvSpPr>
            <p:nvPr/>
          </p:nvSpPr>
          <p:spPr bwMode="auto">
            <a:xfrm>
              <a:off x="2835" y="4201"/>
              <a:ext cx="63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ECF38CC-CD3B-F5DC-DA74-C8A289D106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F3E0329-027F-44B1-A42A-8643FF593956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1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1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1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1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1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1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9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243013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</a:rPr>
              <a:t>8.1</a:t>
            </a:r>
            <a:r>
              <a:rPr lang="zh-CN" altLang="en-US">
                <a:solidFill>
                  <a:srgbClr val="008000"/>
                </a:solidFill>
              </a:rPr>
              <a:t>　</a:t>
            </a:r>
            <a:r>
              <a:rPr lang="en-US" altLang="zh-CN">
                <a:solidFill>
                  <a:srgbClr val="008000"/>
                </a:solidFill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控制的概念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5440" y="1773238"/>
            <a:ext cx="9433048" cy="3886200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黑体" pitchFamily="2" charset="-122"/>
              </a:rPr>
              <a:t>例</a:t>
            </a:r>
            <a:r>
              <a:rPr lang="en-US" altLang="zh-CN" dirty="0">
                <a:ea typeface="黑体" pitchFamily="2" charset="-122"/>
              </a:rPr>
              <a:t>1</a:t>
            </a:r>
            <a:r>
              <a:rPr lang="zh-CN" altLang="en-US" dirty="0">
                <a:ea typeface="黑体" pitchFamily="2" charset="-122"/>
              </a:rPr>
              <a:t>：关于贮水容器水位的</a:t>
            </a:r>
            <a:r>
              <a:rPr lang="en-US" altLang="zh-CN" dirty="0">
                <a:ea typeface="黑体" pitchFamily="2" charset="-122"/>
              </a:rPr>
              <a:t>F</a:t>
            </a:r>
            <a:r>
              <a:rPr lang="zh-CN" altLang="en-US" dirty="0">
                <a:ea typeface="黑体" pitchFamily="2" charset="-122"/>
              </a:rPr>
              <a:t>控制</a:t>
            </a:r>
          </a:p>
          <a:p>
            <a:pPr lvl="1" eaLnBrk="1" hangingPunct="1"/>
            <a:r>
              <a:rPr lang="zh-CN" altLang="en-US" b="1" dirty="0">
                <a:ea typeface="楷体_GB2312" pitchFamily="49" charset="-122"/>
              </a:rPr>
              <a:t>可变的水位</a:t>
            </a:r>
            <a:r>
              <a:rPr lang="en-US" altLang="zh-CN" b="1" dirty="0">
                <a:ea typeface="楷体_GB2312" pitchFamily="49" charset="-122"/>
              </a:rPr>
              <a:t>x</a:t>
            </a:r>
          </a:p>
          <a:p>
            <a:pPr lvl="1" eaLnBrk="1" hangingPunct="1"/>
            <a:r>
              <a:rPr lang="zh-CN" altLang="en-US" b="1" dirty="0">
                <a:ea typeface="楷体_GB2312" pitchFamily="49" charset="-122"/>
              </a:rPr>
              <a:t>调节阀</a:t>
            </a:r>
            <a:r>
              <a:rPr lang="en-US" altLang="zh-CN" b="1" dirty="0">
                <a:ea typeface="楷体_GB2312" pitchFamily="49" charset="-122"/>
              </a:rPr>
              <a:t>a</a:t>
            </a:r>
            <a:r>
              <a:rPr lang="zh-CN" altLang="en-US" b="1" dirty="0">
                <a:ea typeface="楷体_GB2312" pitchFamily="49" charset="-122"/>
              </a:rPr>
              <a:t>可控制注水或排水</a:t>
            </a:r>
          </a:p>
          <a:p>
            <a:pPr eaLnBrk="1" hangingPunct="1"/>
            <a:r>
              <a:rPr lang="zh-CN" altLang="en-US" dirty="0">
                <a:ea typeface="黑体" pitchFamily="2" charset="-122"/>
              </a:rPr>
              <a:t>设计一控制器，通过</a:t>
            </a:r>
            <a:r>
              <a:rPr lang="en-US" altLang="zh-CN" dirty="0">
                <a:ea typeface="黑体" pitchFamily="2" charset="-122"/>
              </a:rPr>
              <a:t>a</a:t>
            </a:r>
            <a:r>
              <a:rPr lang="zh-CN" altLang="en-US" dirty="0">
                <a:ea typeface="黑体" pitchFamily="2" charset="-122"/>
              </a:rPr>
              <a:t>将水位控制在</a:t>
            </a:r>
            <a:r>
              <a:rPr lang="en-US" altLang="zh-CN" dirty="0">
                <a:ea typeface="黑体" pitchFamily="2" charset="-122"/>
              </a:rPr>
              <a:t>0</a:t>
            </a:r>
            <a:r>
              <a:rPr lang="zh-CN" altLang="en-US" dirty="0">
                <a:ea typeface="黑体" pitchFamily="2" charset="-122"/>
              </a:rPr>
              <a:t>点附近</a:t>
            </a:r>
          </a:p>
        </p:txBody>
      </p:sp>
      <p:grpSp>
        <p:nvGrpSpPr>
          <p:cNvPr id="9220" name="Group 4"/>
          <p:cNvGrpSpPr>
            <a:grpSpLocks/>
          </p:cNvGrpSpPr>
          <p:nvPr/>
        </p:nvGrpSpPr>
        <p:grpSpPr bwMode="auto">
          <a:xfrm>
            <a:off x="6707188" y="4076700"/>
            <a:ext cx="3960812" cy="2520950"/>
            <a:chOff x="3016" y="2069"/>
            <a:chExt cx="2495" cy="1588"/>
          </a:xfrm>
        </p:grpSpPr>
        <p:sp>
          <p:nvSpPr>
            <p:cNvPr id="11270" name="Rectangle 6"/>
            <p:cNvSpPr>
              <a:spLocks noChangeArrowheads="1"/>
            </p:cNvSpPr>
            <p:nvPr/>
          </p:nvSpPr>
          <p:spPr bwMode="auto">
            <a:xfrm>
              <a:off x="4105" y="2069"/>
              <a:ext cx="1134" cy="15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1" name="Rectangle 7" descr="横虚线"/>
            <p:cNvSpPr>
              <a:spLocks noChangeArrowheads="1"/>
            </p:cNvSpPr>
            <p:nvPr/>
          </p:nvSpPr>
          <p:spPr bwMode="auto">
            <a:xfrm>
              <a:off x="4105" y="2568"/>
              <a:ext cx="1134" cy="1089"/>
            </a:xfrm>
            <a:prstGeom prst="rect">
              <a:avLst/>
            </a:prstGeom>
            <a:pattFill prst="dashHorz">
              <a:fgClr>
                <a:srgbClr val="33CC33"/>
              </a:fgClr>
              <a:bgClr>
                <a:schemeClr val="bg1"/>
              </a:bgClr>
            </a:patt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2" name="Rectangle 8" descr="横虚线"/>
            <p:cNvSpPr>
              <a:spLocks noChangeArrowheads="1"/>
            </p:cNvSpPr>
            <p:nvPr/>
          </p:nvSpPr>
          <p:spPr bwMode="auto">
            <a:xfrm>
              <a:off x="3152" y="3203"/>
              <a:ext cx="953" cy="182"/>
            </a:xfrm>
            <a:prstGeom prst="rect">
              <a:avLst/>
            </a:prstGeom>
            <a:pattFill prst="dashHorz">
              <a:fgClr>
                <a:srgbClr val="33CC33"/>
              </a:fgClr>
              <a:bgClr>
                <a:schemeClr val="bg1"/>
              </a:bgClr>
            </a:patt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3" name="Line 9"/>
            <p:cNvSpPr>
              <a:spLocks noChangeShapeType="1"/>
            </p:cNvSpPr>
            <p:nvPr/>
          </p:nvSpPr>
          <p:spPr bwMode="auto">
            <a:xfrm>
              <a:off x="3152" y="3203"/>
              <a:ext cx="0" cy="182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4" name="Line 10"/>
            <p:cNvSpPr>
              <a:spLocks noChangeShapeType="1"/>
            </p:cNvSpPr>
            <p:nvPr/>
          </p:nvSpPr>
          <p:spPr bwMode="auto">
            <a:xfrm flipV="1">
              <a:off x="3152" y="3067"/>
              <a:ext cx="0" cy="1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5" name="Line 11"/>
            <p:cNvSpPr>
              <a:spLocks noChangeShapeType="1"/>
            </p:cNvSpPr>
            <p:nvPr/>
          </p:nvSpPr>
          <p:spPr bwMode="auto">
            <a:xfrm flipV="1">
              <a:off x="3152" y="3385"/>
              <a:ext cx="0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6" name="Line 12"/>
            <p:cNvSpPr>
              <a:spLocks noChangeShapeType="1"/>
            </p:cNvSpPr>
            <p:nvPr/>
          </p:nvSpPr>
          <p:spPr bwMode="auto">
            <a:xfrm flipH="1">
              <a:off x="3016" y="3067"/>
              <a:ext cx="1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7" name="Line 13"/>
            <p:cNvSpPr>
              <a:spLocks noChangeShapeType="1"/>
            </p:cNvSpPr>
            <p:nvPr/>
          </p:nvSpPr>
          <p:spPr bwMode="auto">
            <a:xfrm flipH="1">
              <a:off x="3016" y="3566"/>
              <a:ext cx="1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8" name="Oval 14"/>
            <p:cNvSpPr>
              <a:spLocks noChangeArrowheads="1"/>
            </p:cNvSpPr>
            <p:nvPr/>
          </p:nvSpPr>
          <p:spPr bwMode="auto">
            <a:xfrm>
              <a:off x="3424" y="3113"/>
              <a:ext cx="363" cy="3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9" name="Line 15"/>
            <p:cNvSpPr>
              <a:spLocks noChangeShapeType="1"/>
            </p:cNvSpPr>
            <p:nvPr/>
          </p:nvSpPr>
          <p:spPr bwMode="auto">
            <a:xfrm>
              <a:off x="3470" y="3158"/>
              <a:ext cx="272" cy="2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0" name="Line 16"/>
            <p:cNvSpPr>
              <a:spLocks noChangeShapeType="1"/>
            </p:cNvSpPr>
            <p:nvPr/>
          </p:nvSpPr>
          <p:spPr bwMode="auto">
            <a:xfrm flipH="1">
              <a:off x="3515" y="3158"/>
              <a:ext cx="181" cy="2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1" name="Text Box 17"/>
            <p:cNvSpPr txBox="1">
              <a:spLocks noChangeArrowheads="1"/>
            </p:cNvSpPr>
            <p:nvPr/>
          </p:nvSpPr>
          <p:spPr bwMode="auto">
            <a:xfrm>
              <a:off x="5284" y="2432"/>
              <a:ext cx="227" cy="4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x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b="1">
                  <a:solidFill>
                    <a:srgbClr val="3366FF"/>
                  </a:solidFill>
                </a:rPr>
                <a:t>0</a:t>
              </a:r>
            </a:p>
          </p:txBody>
        </p:sp>
        <p:sp>
          <p:nvSpPr>
            <p:cNvPr id="11282" name="Text Box 18"/>
            <p:cNvSpPr txBox="1">
              <a:spLocks noChangeArrowheads="1"/>
            </p:cNvSpPr>
            <p:nvPr/>
          </p:nvSpPr>
          <p:spPr bwMode="auto">
            <a:xfrm>
              <a:off x="3515" y="2795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a</a:t>
              </a:r>
            </a:p>
          </p:txBody>
        </p:sp>
        <p:sp>
          <p:nvSpPr>
            <p:cNvPr id="11283" name="Line 19"/>
            <p:cNvSpPr>
              <a:spLocks noChangeShapeType="1"/>
            </p:cNvSpPr>
            <p:nvPr/>
          </p:nvSpPr>
          <p:spPr bwMode="auto">
            <a:xfrm>
              <a:off x="4105" y="2750"/>
              <a:ext cx="1179" cy="0"/>
            </a:xfrm>
            <a:prstGeom prst="line">
              <a:avLst/>
            </a:prstGeom>
            <a:noFill/>
            <a:ln w="28575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4" name="Line 20"/>
            <p:cNvSpPr>
              <a:spLocks noChangeShapeType="1"/>
            </p:cNvSpPr>
            <p:nvPr/>
          </p:nvSpPr>
          <p:spPr bwMode="auto">
            <a:xfrm>
              <a:off x="4105" y="2069"/>
              <a:ext cx="1134" cy="0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9" name="Rectangle 5" descr="横虚线"/>
            <p:cNvSpPr>
              <a:spLocks noChangeArrowheads="1"/>
            </p:cNvSpPr>
            <p:nvPr/>
          </p:nvSpPr>
          <p:spPr bwMode="auto">
            <a:xfrm>
              <a:off x="3016" y="3067"/>
              <a:ext cx="136" cy="499"/>
            </a:xfrm>
            <a:prstGeom prst="rect">
              <a:avLst/>
            </a:prstGeom>
            <a:pattFill prst="dashHorz">
              <a:fgClr>
                <a:srgbClr val="33CC33"/>
              </a:fgClr>
              <a:bgClr>
                <a:schemeClr val="bg1"/>
              </a:bgClr>
            </a:patt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F20BA69-7802-7943-ABAB-9CB68A423B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F3E0329-027F-44B1-A42A-8643FF593956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15795</TotalTime>
  <Words>702</Words>
  <Application>Microsoft Office PowerPoint</Application>
  <PresentationFormat>宽屏</PresentationFormat>
  <Paragraphs>95</Paragraphs>
  <Slides>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黑体</vt:lpstr>
      <vt:lpstr>华文楷体</vt:lpstr>
      <vt:lpstr>楷体_GB2312</vt:lpstr>
      <vt:lpstr>隶书</vt:lpstr>
      <vt:lpstr>Arial</vt:lpstr>
      <vt:lpstr>Arial Black</vt:lpstr>
      <vt:lpstr>Comic Sans MS</vt:lpstr>
      <vt:lpstr>Times New Roman</vt:lpstr>
      <vt:lpstr>Wingdings</vt:lpstr>
      <vt:lpstr>Pixel</vt:lpstr>
      <vt:lpstr>Equation</vt:lpstr>
      <vt:lpstr>MathType 6.0 Equation</vt:lpstr>
      <vt:lpstr>公式</vt:lpstr>
      <vt:lpstr>第 8 章 模糊控制</vt:lpstr>
      <vt:lpstr>控制系统概述</vt:lpstr>
      <vt:lpstr>控制系统概述</vt:lpstr>
      <vt:lpstr>经典控制系统的设计问题</vt:lpstr>
      <vt:lpstr>常规控制系统的设计</vt:lpstr>
      <vt:lpstr>常规PID控制的分析</vt:lpstr>
      <vt:lpstr>常规PID控制的分析</vt:lpstr>
      <vt:lpstr>模糊控制器</vt:lpstr>
      <vt:lpstr>8.1　F控制的概念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 8 章 模糊控制</dc:title>
  <dc:creator>凌卫新</dc:creator>
  <cp:lastModifiedBy>wxling66@outlook.com</cp:lastModifiedBy>
  <cp:revision>187</cp:revision>
  <dcterms:created xsi:type="dcterms:W3CDTF">2007-06-19T18:06:18Z</dcterms:created>
  <dcterms:modified xsi:type="dcterms:W3CDTF">2026-05-26T13:07:29Z</dcterms:modified>
</cp:coreProperties>
</file>