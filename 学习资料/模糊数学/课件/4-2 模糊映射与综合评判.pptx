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99"/>
  </p:notesMasterIdLst>
  <p:handoutMasterIdLst>
    <p:handoutMasterId r:id="rId100"/>
  </p:handoutMasterIdLst>
  <p:sldIdLst>
    <p:sldId id="257" r:id="rId2"/>
    <p:sldId id="479" r:id="rId3"/>
    <p:sldId id="482" r:id="rId4"/>
    <p:sldId id="483" r:id="rId5"/>
    <p:sldId id="484" r:id="rId6"/>
    <p:sldId id="485" r:id="rId7"/>
    <p:sldId id="486" r:id="rId8"/>
    <p:sldId id="487" r:id="rId9"/>
    <p:sldId id="355" r:id="rId10"/>
    <p:sldId id="356" r:id="rId11"/>
    <p:sldId id="357" r:id="rId12"/>
    <p:sldId id="358" r:id="rId13"/>
    <p:sldId id="359" r:id="rId14"/>
    <p:sldId id="361" r:id="rId15"/>
    <p:sldId id="360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7" r:id="rId38"/>
    <p:sldId id="388" r:id="rId39"/>
    <p:sldId id="389" r:id="rId40"/>
    <p:sldId id="390" r:id="rId41"/>
    <p:sldId id="391" r:id="rId42"/>
    <p:sldId id="392" r:id="rId43"/>
    <p:sldId id="472" r:id="rId44"/>
    <p:sldId id="384" r:id="rId45"/>
    <p:sldId id="385" r:id="rId46"/>
    <p:sldId id="386" r:id="rId47"/>
    <p:sldId id="394" r:id="rId48"/>
    <p:sldId id="334" r:id="rId49"/>
    <p:sldId id="335" r:id="rId50"/>
    <p:sldId id="336" r:id="rId51"/>
    <p:sldId id="337" r:id="rId52"/>
    <p:sldId id="338" r:id="rId53"/>
    <p:sldId id="340" r:id="rId54"/>
    <p:sldId id="341" r:id="rId55"/>
    <p:sldId id="339" r:id="rId56"/>
    <p:sldId id="347" r:id="rId57"/>
    <p:sldId id="348" r:id="rId58"/>
    <p:sldId id="349" r:id="rId59"/>
    <p:sldId id="342" r:id="rId60"/>
    <p:sldId id="350" r:id="rId61"/>
    <p:sldId id="351" r:id="rId62"/>
    <p:sldId id="353" r:id="rId63"/>
    <p:sldId id="354" r:id="rId64"/>
    <p:sldId id="352" r:id="rId65"/>
    <p:sldId id="415" r:id="rId66"/>
    <p:sldId id="414" r:id="rId67"/>
    <p:sldId id="416" r:id="rId68"/>
    <p:sldId id="418" r:id="rId69"/>
    <p:sldId id="419" r:id="rId70"/>
    <p:sldId id="420" r:id="rId71"/>
    <p:sldId id="421" r:id="rId72"/>
    <p:sldId id="422" r:id="rId73"/>
    <p:sldId id="423" r:id="rId74"/>
    <p:sldId id="424" r:id="rId75"/>
    <p:sldId id="425" r:id="rId76"/>
    <p:sldId id="428" r:id="rId77"/>
    <p:sldId id="429" r:id="rId78"/>
    <p:sldId id="430" r:id="rId79"/>
    <p:sldId id="431" r:id="rId80"/>
    <p:sldId id="432" r:id="rId81"/>
    <p:sldId id="433" r:id="rId82"/>
    <p:sldId id="434" r:id="rId83"/>
    <p:sldId id="435" r:id="rId84"/>
    <p:sldId id="436" r:id="rId85"/>
    <p:sldId id="437" r:id="rId86"/>
    <p:sldId id="438" r:id="rId87"/>
    <p:sldId id="439" r:id="rId88"/>
    <p:sldId id="440" r:id="rId89"/>
    <p:sldId id="441" r:id="rId90"/>
    <p:sldId id="442" r:id="rId91"/>
    <p:sldId id="443" r:id="rId92"/>
    <p:sldId id="444" r:id="rId93"/>
    <p:sldId id="445" r:id="rId94"/>
    <p:sldId id="474" r:id="rId95"/>
    <p:sldId id="447" r:id="rId96"/>
    <p:sldId id="448" r:id="rId97"/>
    <p:sldId id="412" r:id="rId98"/>
  </p:sldIdLst>
  <p:sldSz cx="12192000" cy="6858000"/>
  <p:notesSz cx="6669088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F2FB"/>
    <a:srgbClr val="FF99FF"/>
    <a:srgbClr val="CC00CC"/>
    <a:srgbClr val="008000"/>
    <a:srgbClr val="FFC000"/>
    <a:srgbClr val="FF0000"/>
    <a:srgbClr val="3333FF"/>
    <a:srgbClr val="996633"/>
    <a:srgbClr val="FFCC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5622" autoAdjust="0"/>
  </p:normalViewPr>
  <p:slideViewPr>
    <p:cSldViewPr>
      <p:cViewPr varScale="1">
        <p:scale>
          <a:sx n="54" d="100"/>
          <a:sy n="54" d="100"/>
        </p:scale>
        <p:origin x="108" y="3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2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5342B7F8-8EA5-4C5D-9222-FF9E5970A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1012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57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5907"/>
            <a:ext cx="533527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30091"/>
            <a:ext cx="2889938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F495A736-1A7B-4704-9D00-8A38BEE51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82811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95A736-1A7B-4704-9D00-8A38BEE516F8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30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90070485-82DE-4EF7-9293-3AE5766EFA8C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若</a:t>
            </a:r>
            <a:r>
              <a:rPr lang="en-US" altLang="zh-CN">
                <a:ea typeface="宋体" charset="-122"/>
              </a:rPr>
              <a:t>A=(0.2,0.2 0.4, 0.1,0.1), </a:t>
            </a:r>
            <a:r>
              <a:rPr lang="zh-CN" altLang="en-US">
                <a:ea typeface="宋体" charset="-122"/>
              </a:rPr>
              <a:t>则</a:t>
            </a:r>
            <a:r>
              <a:rPr lang="en-US" altLang="zh-CN">
                <a:ea typeface="宋体" charset="-122"/>
              </a:rPr>
              <a:t>B=(0.3,0.4,0.1,0.1). </a:t>
            </a:r>
            <a:r>
              <a:rPr lang="zh-CN" altLang="en-US">
                <a:ea typeface="宋体" charset="-122"/>
              </a:rPr>
              <a:t>最后评价为”良好”</a:t>
            </a:r>
            <a:r>
              <a:rPr lang="en-US" altLang="zh-CN">
                <a:ea typeface="宋体" charset="-122"/>
              </a:rPr>
              <a:t>,</a:t>
            </a:r>
            <a:r>
              <a:rPr lang="zh-CN" altLang="en-US">
                <a:ea typeface="宋体" charset="-122"/>
              </a:rPr>
              <a:t>因为对</a:t>
            </a:r>
            <a:r>
              <a:rPr lang="en-US" altLang="zh-CN">
                <a:ea typeface="宋体" charset="-122"/>
              </a:rPr>
              <a:t>u3(</a:t>
            </a:r>
            <a:r>
              <a:rPr lang="zh-CN" altLang="en-US">
                <a:solidFill>
                  <a:srgbClr val="3333FF"/>
                </a:solidFill>
                <a:ea typeface="宋体" charset="-122"/>
              </a:rPr>
              <a:t>启发性程度</a:t>
            </a:r>
            <a:r>
              <a:rPr lang="en-US" altLang="zh-CN">
                <a:ea typeface="宋体" charset="-122"/>
              </a:rPr>
              <a:t>)</a:t>
            </a:r>
            <a:r>
              <a:rPr lang="zh-CN" altLang="en-US">
                <a:ea typeface="宋体" charset="-122"/>
              </a:rPr>
              <a:t>打分</a:t>
            </a:r>
            <a:r>
              <a:rPr lang="en-US" altLang="zh-CN">
                <a:ea typeface="宋体" charset="-122"/>
              </a:rPr>
              <a:t>f(u3)=(0.3,0.4,0.2,0.1)</a:t>
            </a:r>
            <a:r>
              <a:rPr lang="zh-CN" altLang="en-US">
                <a:ea typeface="宋体" charset="-122"/>
              </a:rPr>
              <a:t>主要影响了评判结果</a:t>
            </a:r>
          </a:p>
        </p:txBody>
      </p:sp>
    </p:spTree>
    <p:extLst>
      <p:ext uri="{BB962C8B-B14F-4D97-AF65-F5344CB8AC3E}">
        <p14:creationId xmlns:p14="http://schemas.microsoft.com/office/powerpoint/2010/main" val="2554980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439B44E9-0486-4946-992E-76FE70ECA285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9467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85BD5644-B338-4141-9189-E4C1D1504728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140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>
                <a:solidFill>
                  <a:schemeClr val="bg2"/>
                </a:solidFill>
                <a:ea typeface="宋体" charset="-122"/>
              </a:rPr>
              <a:t>· </a:t>
            </a:r>
            <a:r>
              <a:rPr lang="zh-CN" altLang="en-US">
                <a:solidFill>
                  <a:schemeClr val="bg2"/>
                </a:solidFill>
                <a:ea typeface="黑体" pitchFamily="2" charset="-122"/>
              </a:rPr>
              <a:t>，∨）也是一种“主因素突出”的综合评判。</a:t>
            </a:r>
          </a:p>
          <a:p>
            <a:pPr eaLnBrk="1" hangingPunct="1"/>
            <a:endParaRPr lang="en-US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314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31347021-DD28-48A3-9567-5E450712FE11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3975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5FA9313B-5C33-4E5D-8510-2A80AB21FC2A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19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881B8E8A-DD55-4C58-B472-65D20102AD95}" type="slidenum">
              <a:rPr lang="en-US" altLang="zh-CN" smtClean="0"/>
              <a:pPr/>
              <a:t>16</a:t>
            </a:fld>
            <a:endParaRPr lang="en-US" altLang="zh-CN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140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chemeClr val="bg2"/>
                </a:solidFill>
                <a:ea typeface="黑体" pitchFamily="2" charset="-122"/>
              </a:rPr>
              <a:t>（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∧，</a:t>
            </a:r>
            <a:r>
              <a:rPr lang="zh-CN" altLang="zh-CN">
                <a:solidFill>
                  <a:srgbClr val="008000"/>
                </a:solidFill>
                <a:ea typeface="宋体" charset="-122"/>
              </a:rPr>
              <a:t>⊕</a:t>
            </a:r>
            <a:r>
              <a:rPr lang="zh-CN" altLang="en-US">
                <a:solidFill>
                  <a:schemeClr val="bg2"/>
                </a:solidFill>
                <a:ea typeface="黑体" pitchFamily="2" charset="-122"/>
              </a:rPr>
              <a:t> ）也是一种“主因素突出”的综合评判。</a:t>
            </a:r>
          </a:p>
        </p:txBody>
      </p:sp>
    </p:spTree>
    <p:extLst>
      <p:ext uri="{BB962C8B-B14F-4D97-AF65-F5344CB8AC3E}">
        <p14:creationId xmlns:p14="http://schemas.microsoft.com/office/powerpoint/2010/main" val="738236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176CE669-AEEF-45C0-9154-F2839E8C7646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896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09B513B7-2567-4D02-9AF9-DD6549076597}" type="slidenum">
              <a:rPr lang="en-US" altLang="zh-CN" smtClean="0"/>
              <a:pPr/>
              <a:t>42</a:t>
            </a:fld>
            <a:endParaRPr lang="en-US" altLang="zh-CN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解释</a:t>
            </a:r>
            <a:r>
              <a:rPr lang="en-US" altLang="zh-CN">
                <a:ea typeface="宋体" charset="-122"/>
              </a:rPr>
              <a:t>A0=</a:t>
            </a:r>
            <a:r>
              <a:rPr lang="zh-CN" altLang="en-US">
                <a:ea typeface="宋体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180677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F197ADA4-C370-4016-8A89-8E1CEB21950A}" type="slidenum">
              <a:rPr lang="en-US" altLang="zh-CN" smtClean="0"/>
              <a:pPr/>
              <a:t>49</a:t>
            </a:fld>
            <a:endParaRPr lang="en-US" altLang="zh-CN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抄</a:t>
            </a:r>
            <a:r>
              <a:rPr lang="en-US" altLang="zh-CN">
                <a:ea typeface="宋体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3735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55CC1E31-93CE-464C-9591-BD8EB5060A87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此例中，用一级综合评判，不难看出，</a:t>
            </a:r>
            <a:r>
              <a:rPr lang="en-US" altLang="zh-CN" dirty="0">
                <a:ea typeface="宋体" charset="-122"/>
              </a:rPr>
              <a:t>R</a:t>
            </a:r>
            <a:r>
              <a:rPr lang="zh-CN" altLang="en-US" dirty="0">
                <a:ea typeface="宋体" charset="-122"/>
              </a:rPr>
              <a:t>的第一列元素在“取小”是时全部被筛选掉了，其原因在于每个</a:t>
            </a:r>
            <a:r>
              <a:rPr lang="en-US" altLang="zh-CN" dirty="0">
                <a:ea typeface="宋体" charset="-122"/>
              </a:rPr>
              <a:t>ai</a:t>
            </a:r>
            <a:r>
              <a:rPr lang="zh-CN" altLang="en-US" dirty="0">
                <a:ea typeface="宋体" charset="-122"/>
              </a:rPr>
              <a:t>都很小</a:t>
            </a:r>
            <a:r>
              <a:rPr lang="en-US" altLang="zh-CN" dirty="0">
                <a:ea typeface="宋体" charset="-122"/>
              </a:rPr>
              <a:t>.</a:t>
            </a:r>
          </a:p>
          <a:p>
            <a:pPr eaLnBrk="1" hangingPunct="1"/>
            <a:r>
              <a:rPr lang="zh-CN" altLang="en-US" dirty="0">
                <a:ea typeface="宋体" charset="-122"/>
              </a:rPr>
              <a:t>得</a:t>
            </a:r>
            <a:r>
              <a:rPr lang="en-US" altLang="zh-CN" dirty="0">
                <a:ea typeface="宋体" charset="-122"/>
              </a:rPr>
              <a:t>B</a:t>
            </a:r>
            <a:r>
              <a:rPr lang="zh-CN" altLang="en-US" dirty="0">
                <a:ea typeface="宋体" charset="-122"/>
              </a:rPr>
              <a:t>中无论是一级、二级、次品、废品的隶属度都</a:t>
            </a:r>
            <a:r>
              <a:rPr lang="en-US" altLang="zh-CN" dirty="0">
                <a:ea typeface="宋体" charset="-122"/>
              </a:rPr>
              <a:t>=0</a:t>
            </a:r>
            <a:r>
              <a:rPr lang="zh-CN" altLang="en-US" dirty="0">
                <a:ea typeface="宋体" charset="-122"/>
              </a:rPr>
              <a:t>。</a:t>
            </a:r>
            <a:r>
              <a:rPr lang="en-US" altLang="zh-CN" dirty="0">
                <a:ea typeface="宋体" charset="-122"/>
              </a:rPr>
              <a:t>18</a:t>
            </a:r>
            <a:r>
              <a:rPr lang="zh-CN" altLang="en-US" dirty="0">
                <a:ea typeface="宋体" charset="-122"/>
              </a:rPr>
              <a:t>，对这个具体问题而言</a:t>
            </a:r>
            <a:r>
              <a:rPr lang="en-US" altLang="zh-CN" dirty="0">
                <a:ea typeface="宋体" charset="-122"/>
              </a:rPr>
              <a:t>F</a:t>
            </a:r>
            <a:r>
              <a:rPr lang="zh-CN" altLang="en-US" dirty="0">
                <a:ea typeface="宋体" charset="-122"/>
              </a:rPr>
              <a:t>变换无法给出答案，可以采用其他方法，如加权平均法，也可以用二层</a:t>
            </a:r>
            <a:r>
              <a:rPr lang="en-US" altLang="zh-CN" dirty="0">
                <a:ea typeface="宋体" charset="-122"/>
              </a:rPr>
              <a:t>F</a:t>
            </a:r>
            <a:r>
              <a:rPr lang="zh-CN" altLang="en-US" dirty="0">
                <a:ea typeface="宋体" charset="-122"/>
              </a:rPr>
              <a:t>综合评判法。</a:t>
            </a:r>
          </a:p>
        </p:txBody>
      </p:sp>
    </p:spTree>
    <p:extLst>
      <p:ext uri="{BB962C8B-B14F-4D97-AF65-F5344CB8AC3E}">
        <p14:creationId xmlns:p14="http://schemas.microsoft.com/office/powerpoint/2010/main" val="1367262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49BE1131-2191-40B7-85BF-ABCB774943EF}" type="slidenum">
              <a:rPr lang="en-US" altLang="zh-CN" smtClean="0"/>
              <a:pPr/>
              <a:t>54</a:t>
            </a:fld>
            <a:endParaRPr lang="en-US" altLang="zh-CN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ea typeface="宋体" charset="-122"/>
              </a:rPr>
              <a:t>若有的子因素集</a:t>
            </a:r>
            <a:r>
              <a:rPr lang="en-US" altLang="zh-CN" dirty="0">
                <a:ea typeface="宋体" charset="-122"/>
              </a:rPr>
              <a:t>U</a:t>
            </a:r>
            <a:r>
              <a:rPr lang="zh-CN" altLang="en-US" dirty="0">
                <a:ea typeface="宋体" charset="-122"/>
              </a:rPr>
              <a:t>仍含有较多的因素，可将</a:t>
            </a:r>
            <a:r>
              <a:rPr lang="en-US" altLang="zh-CN" dirty="0">
                <a:ea typeface="宋体" charset="-122"/>
              </a:rPr>
              <a:t>U</a:t>
            </a:r>
            <a:r>
              <a:rPr lang="zh-CN" altLang="en-US" dirty="0">
                <a:ea typeface="宋体" charset="-122"/>
              </a:rPr>
              <a:t>再划分，于是有三层模型，自然有更多层模型。</a:t>
            </a:r>
          </a:p>
        </p:txBody>
      </p:sp>
    </p:spTree>
    <p:extLst>
      <p:ext uri="{BB962C8B-B14F-4D97-AF65-F5344CB8AC3E}">
        <p14:creationId xmlns:p14="http://schemas.microsoft.com/office/powerpoint/2010/main" val="1658438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67EC1BCB-DB1A-4997-8819-A3669C472D64}" type="slidenum">
              <a:rPr lang="en-US" altLang="zh-CN" smtClean="0"/>
              <a:pPr/>
              <a:t>58</a:t>
            </a:fld>
            <a:endParaRPr lang="en-US" altLang="zh-CN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比较</a:t>
            </a:r>
            <a:r>
              <a:rPr lang="en-US" altLang="zh-CN">
                <a:ea typeface="宋体" charset="-122"/>
              </a:rPr>
              <a:t>——</a:t>
            </a:r>
            <a:r>
              <a:rPr lang="zh-CN" altLang="en-US">
                <a:ea typeface="宋体" charset="-122"/>
              </a:rPr>
              <a:t>原来用一级评判得</a:t>
            </a:r>
            <a:r>
              <a:rPr lang="en-US" altLang="zh-CN">
                <a:ea typeface="宋体" charset="-122"/>
              </a:rPr>
              <a:t>B=</a:t>
            </a:r>
            <a:r>
              <a:rPr lang="zh-CN" altLang="en-US">
                <a:ea typeface="宋体" charset="-122"/>
              </a:rPr>
              <a:t>（</a:t>
            </a:r>
            <a:r>
              <a:rPr lang="en-US" altLang="zh-CN">
                <a:ea typeface="宋体" charset="-122"/>
              </a:rPr>
              <a:t>0.18, 0.18, 0.18, 0.18</a:t>
            </a:r>
            <a:r>
              <a:rPr lang="zh-CN" altLang="en-US">
                <a:ea typeface="宋体" charset="-122"/>
              </a:rPr>
              <a:t>）无法得结果</a:t>
            </a:r>
          </a:p>
        </p:txBody>
      </p:sp>
    </p:spTree>
    <p:extLst>
      <p:ext uri="{BB962C8B-B14F-4D97-AF65-F5344CB8AC3E}">
        <p14:creationId xmlns:p14="http://schemas.microsoft.com/office/powerpoint/2010/main" val="131242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95A736-1A7B-4704-9D00-8A38BEE516F8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6330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A1C2F37-323F-45A6-BC9A-67332D325FCC}" type="slidenum">
              <a:rPr lang="en-US" altLang="zh-CN" smtClean="0"/>
              <a:pPr eaLnBrk="1" hangingPunct="1"/>
              <a:t>80</a:t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解释</a:t>
            </a:r>
            <a:r>
              <a:rPr lang="en-US" altLang="zh-CN"/>
              <a:t>u1,u2,u3</a:t>
            </a:r>
            <a:r>
              <a:rPr lang="zh-CN" altLang="en-US"/>
              <a:t>的评判结果</a:t>
            </a:r>
          </a:p>
        </p:txBody>
      </p:sp>
    </p:spTree>
    <p:extLst>
      <p:ext uri="{BB962C8B-B14F-4D97-AF65-F5344CB8AC3E}">
        <p14:creationId xmlns:p14="http://schemas.microsoft.com/office/powerpoint/2010/main" val="2528601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3E2EA6A-613B-4B16-9F5A-169D701ACB03}" type="slidenum">
              <a:rPr lang="en-US" altLang="zh-CN" smtClean="0"/>
              <a:pPr eaLnBrk="1" hangingPunct="1"/>
              <a:t>81</a:t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解释</a:t>
            </a:r>
            <a:r>
              <a:rPr lang="en-US" altLang="zh-CN"/>
              <a:t>A1,A2,A3</a:t>
            </a:r>
            <a:r>
              <a:rPr lang="zh-CN" altLang="en-US"/>
              <a:t>，</a:t>
            </a:r>
            <a:r>
              <a:rPr lang="en-US" altLang="zh-CN"/>
              <a:t>A4</a:t>
            </a:r>
            <a:r>
              <a:rPr lang="zh-CN" altLang="en-US"/>
              <a:t>的含义</a:t>
            </a:r>
          </a:p>
        </p:txBody>
      </p:sp>
    </p:spTree>
    <p:extLst>
      <p:ext uri="{BB962C8B-B14F-4D97-AF65-F5344CB8AC3E}">
        <p14:creationId xmlns:p14="http://schemas.microsoft.com/office/powerpoint/2010/main" val="1484990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094767C-C5FA-4D9D-952F-7B6713380D61}" type="slidenum">
              <a:rPr lang="en-US" altLang="zh-CN" smtClean="0"/>
              <a:pPr eaLnBrk="1" hangingPunct="1"/>
              <a:t>83</a:t>
            </a:fld>
            <a:endParaRPr lang="en-US" altLang="zh-CN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用两种贴近度公式计算，所行结果是一致的，所以选择</a:t>
            </a:r>
            <a:r>
              <a:rPr lang="en-US" altLang="zh-CN"/>
              <a:t>A4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028769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DDA015E-F68F-44EF-B5FF-B6DCDF6AD0B8}" type="slidenum">
              <a:rPr lang="en-US" altLang="zh-CN" smtClean="0"/>
              <a:pPr eaLnBrk="1" hangingPunct="1"/>
              <a:t>94</a:t>
            </a:fld>
            <a:endParaRPr lang="en-US" altLang="zh-CN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Y: x ^ r=b     ^Y: x ^ r&lt;=b</a:t>
            </a:r>
          </a:p>
          <a:p>
            <a:pPr eaLnBrk="1" hangingPunct="1"/>
            <a:r>
              <a:rPr lang="zh-CN" altLang="en-US" dirty="0"/>
              <a:t>抄</a:t>
            </a:r>
            <a:r>
              <a:rPr lang="en-US" altLang="zh-CN" dirty="0"/>
              <a:t>Y</a:t>
            </a:r>
            <a:r>
              <a:rPr lang="zh-CN" altLang="en-US" dirty="0"/>
              <a:t>和</a:t>
            </a:r>
            <a:r>
              <a:rPr lang="en-US" altLang="zh-CN" dirty="0"/>
              <a:t>^Y</a:t>
            </a:r>
          </a:p>
        </p:txBody>
      </p:sp>
    </p:spTree>
    <p:extLst>
      <p:ext uri="{BB962C8B-B14F-4D97-AF65-F5344CB8AC3E}">
        <p14:creationId xmlns:p14="http://schemas.microsoft.com/office/powerpoint/2010/main" val="3727706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EC15D9D-C00F-46C9-9AB7-179ED37B35BC}" type="slidenum">
              <a:rPr lang="en-US" altLang="zh-CN" smtClean="0"/>
              <a:pPr eaLnBrk="1" hangingPunct="1"/>
              <a:t>95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/>
              <a:t>求部分解集合 </a:t>
            </a:r>
            <a:r>
              <a:rPr lang="en-US" altLang="zh-CN"/>
              <a:t>W*   </a:t>
            </a:r>
            <a:r>
              <a:rPr lang="zh-CN" altLang="en-US"/>
              <a:t>共</a:t>
            </a:r>
            <a:r>
              <a:rPr lang="en-US" altLang="zh-CN"/>
              <a:t>4</a:t>
            </a:r>
            <a:r>
              <a:rPr lang="zh-CN" altLang="en-US"/>
              <a:t>个   </a:t>
            </a:r>
            <a:r>
              <a:rPr lang="en-US" altLang="zh-CN"/>
              <a:t>W312——</a:t>
            </a:r>
            <a:r>
              <a:rPr lang="zh-CN" altLang="en-US"/>
              <a:t>用</a:t>
            </a:r>
            <a:r>
              <a:rPr lang="en-US" altLang="zh-CN"/>
              <a:t>Y</a:t>
            </a:r>
            <a:r>
              <a:rPr lang="zh-CN" altLang="en-US"/>
              <a:t>代替</a:t>
            </a:r>
            <a:r>
              <a:rPr lang="en-US" altLang="zh-CN"/>
              <a:t>^Y</a:t>
            </a:r>
            <a:r>
              <a:rPr lang="zh-CN" altLang="en-US"/>
              <a:t>中第一行第</a:t>
            </a:r>
            <a:r>
              <a:rPr lang="en-US" altLang="zh-CN"/>
              <a:t>3</a:t>
            </a:r>
            <a:r>
              <a:rPr lang="zh-CN" altLang="en-US"/>
              <a:t>列、第二行第</a:t>
            </a:r>
            <a:r>
              <a:rPr lang="en-US" altLang="zh-CN"/>
              <a:t>1</a:t>
            </a:r>
            <a:r>
              <a:rPr lang="zh-CN" altLang="en-US"/>
              <a:t>列、第三行第</a:t>
            </a:r>
            <a:r>
              <a:rPr lang="en-US" altLang="zh-CN"/>
              <a:t>2</a:t>
            </a:r>
            <a:r>
              <a:rPr lang="zh-CN" altLang="en-US"/>
              <a:t>列所得的备解矩阵</a:t>
            </a:r>
          </a:p>
        </p:txBody>
      </p:sp>
    </p:spTree>
    <p:extLst>
      <p:ext uri="{BB962C8B-B14F-4D97-AF65-F5344CB8AC3E}">
        <p14:creationId xmlns:p14="http://schemas.microsoft.com/office/powerpoint/2010/main" val="3057902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631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631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75BF89-A2BB-4A16-9EFE-659B0EFB0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363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3A146F-9300-4B06-8947-0E9C0D9835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8504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E6834-8EB1-493E-B51E-FDE67A1C31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95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AF31F-C155-4F0C-8A26-43B6DE0D36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42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678B2-85BB-44B4-B378-2B9DDE6887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616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74AD4-66ED-4B7C-A37C-0FBC82CBF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9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9BCC8-1BAB-40B2-A9B0-4BC2702202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905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E29C1-0BFD-460B-AA2A-F8D0110EF4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6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FB437-F580-4A37-9949-F9A62872AB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55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22D64-5A6C-471E-86A7-1A55AD8F55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599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5FEE8-EBF7-41C8-9B23-1CE2F078AF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9900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3D6A2-45AE-49BA-A8D8-5E8D3DAE54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637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4D0C4-B0EC-4578-B6E4-F9BC914002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250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29FCD-28BA-45FD-9912-656B124BEF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895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8252" y="6264275"/>
            <a:ext cx="51784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B1AD1D39-4097-45F6-987F-3537977C25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216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5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4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2" Type="http://schemas.openxmlformats.org/officeDocument/2006/relationships/oleObject" Target="../embeddings/Microsoft_Word_97_-_2003_Document.doc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Microsoft_Word_97_-_2003_Document1.doc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8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2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2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1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63.bin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64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2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4.wmf"/><Relationship Id="rId4" Type="http://schemas.openxmlformats.org/officeDocument/2006/relationships/oleObject" Target="../embeddings/oleObject69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6.wmf"/><Relationship Id="rId4" Type="http://schemas.openxmlformats.org/officeDocument/2006/relationships/oleObject" Target="../embeddings/oleObject71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4.wmf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8.w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77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85.bin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9.wmf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91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90.wmf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1828800"/>
            <a:ext cx="8596312" cy="2209800"/>
          </a:xfrm>
        </p:spPr>
        <p:txBody>
          <a:bodyPr/>
          <a:lstStyle/>
          <a:p>
            <a:pPr algn="ctr" eaLnBrk="1" hangingPunct="1"/>
            <a:r>
              <a:rPr lang="zh-CN" altLang="en-US" sz="63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300" b="1">
                <a:solidFill>
                  <a:srgbClr val="E8E81C"/>
                </a:solidFill>
                <a:ea typeface="隶书" pitchFamily="49" charset="-122"/>
              </a:rPr>
              <a:t> </a:t>
            </a:r>
            <a:r>
              <a:rPr lang="en-US" altLang="zh-CN" sz="6300" b="1">
                <a:solidFill>
                  <a:srgbClr val="E8E81C"/>
                </a:solidFill>
                <a:ea typeface="隶书" pitchFamily="49" charset="-122"/>
              </a:rPr>
              <a:t>4 </a:t>
            </a:r>
            <a:r>
              <a:rPr lang="zh-CN" altLang="en-US" sz="63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3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3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模糊映射与综合评判</a:t>
            </a:r>
            <a:endParaRPr lang="zh-CN" altLang="en-US" sz="6300">
              <a:solidFill>
                <a:srgbClr val="E8E81C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440238" y="4221163"/>
            <a:ext cx="4184650" cy="2520950"/>
          </a:xfrm>
        </p:spPr>
        <p:txBody>
          <a:bodyPr/>
          <a:lstStyle/>
          <a:p>
            <a:pPr algn="l" eaLnBrk="1" hangingPunct="1"/>
            <a:r>
              <a:rPr lang="en-US" altLang="zh-CN" sz="3600" dirty="0">
                <a:ea typeface="黑体" pitchFamily="2" charset="-122"/>
              </a:rPr>
              <a:t>4.1 F</a:t>
            </a:r>
            <a:r>
              <a:rPr lang="zh-CN" altLang="en-US" sz="3600" dirty="0">
                <a:ea typeface="黑体" pitchFamily="2" charset="-122"/>
              </a:rPr>
              <a:t>映射</a:t>
            </a:r>
          </a:p>
          <a:p>
            <a:pPr algn="l" eaLnBrk="1" hangingPunct="1"/>
            <a:r>
              <a:rPr lang="en-US" altLang="zh-CN" sz="3600" dirty="0">
                <a:ea typeface="黑体" pitchFamily="2" charset="-122"/>
              </a:rPr>
              <a:t>4.2 F</a:t>
            </a:r>
            <a:r>
              <a:rPr lang="zh-CN" altLang="en-US" sz="3600" dirty="0">
                <a:ea typeface="黑体" pitchFamily="2" charset="-122"/>
              </a:rPr>
              <a:t>变换</a:t>
            </a:r>
          </a:p>
          <a:p>
            <a:pPr algn="l" eaLnBrk="1" hangingPunct="1"/>
            <a:r>
              <a:rPr lang="en-US" altLang="zh-CN" sz="3600" dirty="0">
                <a:solidFill>
                  <a:srgbClr val="FF0000"/>
                </a:solidFill>
                <a:ea typeface="黑体" pitchFamily="2" charset="-122"/>
              </a:rPr>
              <a:t>4.3 F</a:t>
            </a:r>
            <a:r>
              <a:rPr lang="zh-CN" altLang="en-US" sz="3600" dirty="0">
                <a:solidFill>
                  <a:srgbClr val="FF0000"/>
                </a:solidFill>
                <a:ea typeface="黑体" pitchFamily="2" charset="-122"/>
              </a:rPr>
              <a:t>综合评判</a:t>
            </a:r>
          </a:p>
          <a:p>
            <a:pPr algn="l" eaLnBrk="1" hangingPunct="1"/>
            <a:r>
              <a:rPr lang="en-US" altLang="zh-CN" sz="3600" dirty="0">
                <a:solidFill>
                  <a:srgbClr val="FF0000"/>
                </a:solidFill>
                <a:ea typeface="黑体" pitchFamily="2" charset="-122"/>
              </a:rPr>
              <a:t>4.4 F</a:t>
            </a:r>
            <a:r>
              <a:rPr lang="zh-CN" altLang="en-US" sz="3600" dirty="0">
                <a:solidFill>
                  <a:srgbClr val="FF0000"/>
                </a:solidFill>
                <a:ea typeface="黑体" pitchFamily="2" charset="-122"/>
              </a:rPr>
              <a:t>决策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CEF38C-DBEF-C339-57E0-4DD7B82B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75BF89-A2BB-4A16-9EFE-659B0EFB0AEA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 sz="480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800">
                <a:solidFill>
                  <a:srgbClr val="008000"/>
                </a:solidFill>
                <a:ea typeface="黑体" pitchFamily="2" charset="-122"/>
              </a:rPr>
              <a:t>综合评判分类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28775"/>
            <a:ext cx="8229600" cy="48958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一级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综合评判</a:t>
            </a:r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zh-CN" altLang="en-US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多级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综合评判</a:t>
            </a: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多层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综合评判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A8F394-252F-488B-9955-FFED56166800}"/>
              </a:ext>
            </a:extLst>
          </p:cNvPr>
          <p:cNvSpPr/>
          <p:nvPr/>
        </p:nvSpPr>
        <p:spPr>
          <a:xfrm>
            <a:off x="2243572" y="2348880"/>
            <a:ext cx="7380820" cy="2644378"/>
          </a:xfrm>
          <a:prstGeom prst="rect">
            <a:avLst/>
          </a:prstGeom>
          <a:solidFill>
            <a:srgbClr val="F3FD99"/>
          </a:solidFill>
        </p:spPr>
        <p:txBody>
          <a:bodyPr wrap="square">
            <a:spAutoFit/>
          </a:bodyPr>
          <a:lstStyle/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单因素评价</a:t>
            </a:r>
          </a:p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构造</a:t>
            </a:r>
            <a:r>
              <a:rPr lang="zh-CN" altLang="en-US" sz="2800" b="1" u="sng" dirty="0">
                <a:solidFill>
                  <a:srgbClr val="3333FF"/>
                </a:solidFill>
                <a:ea typeface="华文楷体" pitchFamily="2" charset="-122"/>
              </a:rPr>
              <a:t>综合评判矩阵</a:t>
            </a:r>
          </a:p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确定</a:t>
            </a:r>
            <a:r>
              <a:rPr lang="zh-CN" altLang="en-US" sz="2800" b="1" u="sng" dirty="0">
                <a:solidFill>
                  <a:srgbClr val="3333FF"/>
                </a:solidFill>
                <a:ea typeface="华文楷体" pitchFamily="2" charset="-122"/>
              </a:rPr>
              <a:t>因素重要程度</a:t>
            </a:r>
            <a:r>
              <a:rPr lang="en-US" altLang="zh-CN" sz="2800" b="1" u="sng" dirty="0">
                <a:solidFill>
                  <a:srgbClr val="3333FF"/>
                </a:solidFill>
                <a:ea typeface="华文楷体" pitchFamily="2" charset="-122"/>
              </a:rPr>
              <a:t>F</a:t>
            </a:r>
            <a:r>
              <a:rPr lang="zh-CN" altLang="en-US" sz="2800" b="1" u="sng" dirty="0">
                <a:solidFill>
                  <a:srgbClr val="3333FF"/>
                </a:solidFill>
                <a:ea typeface="华文楷体" pitchFamily="2" charset="-122"/>
              </a:rPr>
              <a:t>集</a:t>
            </a:r>
          </a:p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确定</a:t>
            </a:r>
            <a:r>
              <a:rPr lang="zh-CN" altLang="en-US" sz="2800" b="1" u="sng" dirty="0">
                <a:solidFill>
                  <a:srgbClr val="3333FF"/>
                </a:solidFill>
                <a:ea typeface="华文楷体" pitchFamily="2" charset="-122"/>
              </a:rPr>
              <a:t>综合评价模型</a:t>
            </a: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，求出</a:t>
            </a:r>
            <a:r>
              <a:rPr lang="en-US" altLang="zh-CN" sz="2800" b="1" u="sng" dirty="0">
                <a:solidFill>
                  <a:srgbClr val="3333FF"/>
                </a:solidFill>
                <a:ea typeface="华文楷体" pitchFamily="2" charset="-122"/>
              </a:rPr>
              <a:t>F</a:t>
            </a:r>
            <a:r>
              <a:rPr lang="zh-CN" altLang="en-US" sz="2800" b="1" u="sng" dirty="0">
                <a:solidFill>
                  <a:srgbClr val="3333FF"/>
                </a:solidFill>
                <a:ea typeface="华文楷体" pitchFamily="2" charset="-122"/>
              </a:rPr>
              <a:t>综合评价集</a:t>
            </a:r>
          </a:p>
          <a:p>
            <a:pPr marL="971550" lvl="1" indent="-514350" eaLnBrk="1" hangingPunct="1">
              <a:lnSpc>
                <a:spcPct val="120000"/>
              </a:lnSpc>
              <a:buFont typeface="+mj-ea"/>
              <a:buAutoNum type="circleNumDbPlain"/>
            </a:pPr>
            <a:r>
              <a:rPr lang="zh-CN" altLang="en-US" sz="2800" b="1" dirty="0">
                <a:solidFill>
                  <a:srgbClr val="3333FF"/>
                </a:solidFill>
                <a:ea typeface="华文楷体" pitchFamily="2" charset="-122"/>
              </a:rPr>
              <a:t>综合评判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5387E0-5AEE-5167-7CB9-AE76C399E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159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uiExpand="1" build="p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综合评价过程图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700214"/>
            <a:ext cx="10009112" cy="21685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</a:rPr>
              <a:t>   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若把</a:t>
            </a:r>
            <a:r>
              <a:rPr lang="zh-CN" altLang="en-US" b="1" u="sng" dirty="0">
                <a:solidFill>
                  <a:srgbClr val="008000"/>
                </a:solidFill>
                <a:ea typeface="黑体" panose="02010609060101010101" pitchFamily="49" charset="-122"/>
              </a:rPr>
              <a:t>综合评判矩阵</a:t>
            </a:r>
            <a:r>
              <a:rPr lang="en-US" altLang="zh-CN" b="1" u="sng" dirty="0">
                <a:solidFill>
                  <a:srgbClr val="008000"/>
                </a:solidFill>
                <a:ea typeface="黑体" panose="02010609060101010101" pitchFamily="49" charset="-122"/>
              </a:rPr>
              <a:t>R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看作从</a:t>
            </a:r>
            <a:r>
              <a:rPr lang="zh-CN" altLang="en-US" b="1" u="sng" dirty="0">
                <a:solidFill>
                  <a:schemeClr val="bg2"/>
                </a:solidFill>
                <a:ea typeface="黑体" panose="02010609060101010101" pitchFamily="49" charset="-122"/>
              </a:rPr>
              <a:t>因素论域</a:t>
            </a:r>
            <a:r>
              <a:rPr lang="en-US" altLang="zh-CN" b="1" u="sng" dirty="0">
                <a:solidFill>
                  <a:schemeClr val="bg2"/>
                </a:solidFill>
                <a:ea typeface="黑体" panose="02010609060101010101" pitchFamily="49" charset="-122"/>
              </a:rPr>
              <a:t>U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到</a:t>
            </a:r>
            <a:r>
              <a:rPr lang="zh-CN" altLang="en-US" b="1" u="sng" dirty="0">
                <a:solidFill>
                  <a:schemeClr val="bg2"/>
                </a:solidFill>
                <a:ea typeface="黑体" panose="02010609060101010101" pitchFamily="49" charset="-122"/>
              </a:rPr>
              <a:t>评语论域</a:t>
            </a:r>
            <a:r>
              <a:rPr lang="en-US" altLang="zh-CN" b="1" u="sng" dirty="0">
                <a:solidFill>
                  <a:schemeClr val="bg2"/>
                </a:solidFill>
                <a:ea typeface="黑体" panose="02010609060101010101" pitchFamily="49" charset="-122"/>
              </a:rPr>
              <a:t>V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的一个</a:t>
            </a:r>
            <a:r>
              <a:rPr lang="en-US" altLang="zh-CN" b="1" u="sng" dirty="0">
                <a:solidFill>
                  <a:srgbClr val="F72603"/>
                </a:solidFill>
                <a:ea typeface="黑体" panose="02010609060101010101" pitchFamily="49" charset="-122"/>
              </a:rPr>
              <a:t>F</a:t>
            </a:r>
            <a:r>
              <a:rPr lang="zh-CN" altLang="en-US" b="1" u="sng" dirty="0">
                <a:solidFill>
                  <a:srgbClr val="F72603"/>
                </a:solidFill>
                <a:ea typeface="黑体" panose="02010609060101010101" pitchFamily="49" charset="-122"/>
              </a:rPr>
              <a:t>变换器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，那么，每当输入一个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</a:rPr>
              <a:t>F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集</a:t>
            </a:r>
            <a:r>
              <a:rPr lang="en-US" altLang="zh-CN" b="1" dirty="0">
                <a:solidFill>
                  <a:schemeClr val="bg2"/>
                </a:solidFill>
                <a:ea typeface="黑体" panose="02010609060101010101" pitchFamily="49" charset="-122"/>
              </a:rPr>
              <a:t>A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，通过</a:t>
            </a:r>
            <a:r>
              <a:rPr lang="zh-CN" altLang="en-US" b="1" u="sng" dirty="0">
                <a:solidFill>
                  <a:srgbClr val="008000"/>
                </a:solidFill>
                <a:ea typeface="黑体" panose="02010609060101010101" pitchFamily="49" charset="-122"/>
              </a:rPr>
              <a:t>变换器</a:t>
            </a:r>
            <a:r>
              <a:rPr lang="en-US" altLang="zh-CN" b="1" u="sng" dirty="0">
                <a:solidFill>
                  <a:srgbClr val="008000"/>
                </a:solidFill>
                <a:ea typeface="黑体" panose="02010609060101010101" pitchFamily="49" charset="-122"/>
              </a:rPr>
              <a:t>R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就可输出一个相应的综合评判结果，即</a:t>
            </a:r>
            <a:r>
              <a:rPr lang="en-US" altLang="zh-CN" b="1" u="sng" dirty="0">
                <a:solidFill>
                  <a:schemeClr val="bg2"/>
                </a:solidFill>
                <a:ea typeface="黑体" panose="02010609060101010101" pitchFamily="49" charset="-122"/>
              </a:rPr>
              <a:t>F</a:t>
            </a:r>
            <a:r>
              <a:rPr lang="zh-CN" altLang="en-US" b="1" u="sng" dirty="0">
                <a:solidFill>
                  <a:schemeClr val="bg2"/>
                </a:solidFill>
                <a:ea typeface="黑体" panose="02010609060101010101" pitchFamily="49" charset="-122"/>
              </a:rPr>
              <a:t>综合评价集</a:t>
            </a:r>
            <a:r>
              <a:rPr lang="en-US" altLang="zh-CN" b="1" u="sng" dirty="0">
                <a:solidFill>
                  <a:schemeClr val="bg2"/>
                </a:solidFill>
                <a:ea typeface="黑体" panose="02010609060101010101" pitchFamily="49" charset="-122"/>
              </a:rPr>
              <a:t>B</a:t>
            </a:r>
            <a:r>
              <a:rPr lang="zh-CN" altLang="en-US" b="1" dirty="0">
                <a:solidFill>
                  <a:schemeClr val="bg2"/>
                </a:solidFill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151564" name="Group 12"/>
          <p:cNvGrpSpPr>
            <a:grpSpLocks/>
          </p:cNvGrpSpPr>
          <p:nvPr/>
        </p:nvGrpSpPr>
        <p:grpSpPr bwMode="auto">
          <a:xfrm>
            <a:off x="3395377" y="4509120"/>
            <a:ext cx="5329238" cy="1871663"/>
            <a:chOff x="1156" y="2478"/>
            <a:chExt cx="3357" cy="1179"/>
          </a:xfrm>
        </p:grpSpPr>
        <p:sp>
          <p:nvSpPr>
            <p:cNvPr id="25605" name="Rectangle 4"/>
            <p:cNvSpPr>
              <a:spLocks noChangeArrowheads="1"/>
            </p:cNvSpPr>
            <p:nvPr/>
          </p:nvSpPr>
          <p:spPr bwMode="auto">
            <a:xfrm>
              <a:off x="2064" y="2931"/>
              <a:ext cx="1451" cy="726"/>
            </a:xfrm>
            <a:prstGeom prst="rect">
              <a:avLst/>
            </a:prstGeom>
            <a:solidFill>
              <a:srgbClr val="9BF2FB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06" name="Text Box 5"/>
            <p:cNvSpPr txBox="1">
              <a:spLocks noChangeArrowheads="1"/>
            </p:cNvSpPr>
            <p:nvPr/>
          </p:nvSpPr>
          <p:spPr bwMode="auto">
            <a:xfrm>
              <a:off x="2653" y="3067"/>
              <a:ext cx="59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600"/>
                <a:t>R</a:t>
              </a:r>
            </a:p>
          </p:txBody>
        </p:sp>
        <p:sp>
          <p:nvSpPr>
            <p:cNvPr id="25607" name="Line 6"/>
            <p:cNvSpPr>
              <a:spLocks noChangeShapeType="1"/>
            </p:cNvSpPr>
            <p:nvPr/>
          </p:nvSpPr>
          <p:spPr bwMode="auto">
            <a:xfrm>
              <a:off x="1338" y="3294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Line 7"/>
            <p:cNvSpPr>
              <a:spLocks noChangeShapeType="1"/>
            </p:cNvSpPr>
            <p:nvPr/>
          </p:nvSpPr>
          <p:spPr bwMode="auto">
            <a:xfrm>
              <a:off x="3515" y="3294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Text Box 8"/>
            <p:cNvSpPr txBox="1">
              <a:spLocks noChangeArrowheads="1"/>
            </p:cNvSpPr>
            <p:nvPr/>
          </p:nvSpPr>
          <p:spPr bwMode="auto">
            <a:xfrm>
              <a:off x="1156" y="2931"/>
              <a:ext cx="122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/>
                <a:t>输入</a:t>
              </a:r>
              <a:r>
                <a:rPr lang="en-US" altLang="zh-CN" sz="2800"/>
                <a:t>A</a:t>
              </a:r>
            </a:p>
          </p:txBody>
        </p:sp>
        <p:sp>
          <p:nvSpPr>
            <p:cNvPr id="25610" name="Text Box 10"/>
            <p:cNvSpPr txBox="1">
              <a:spLocks noChangeArrowheads="1"/>
            </p:cNvSpPr>
            <p:nvPr/>
          </p:nvSpPr>
          <p:spPr bwMode="auto">
            <a:xfrm>
              <a:off x="3606" y="2931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/>
                <a:t>输出</a:t>
              </a:r>
              <a:r>
                <a:rPr lang="en-US" altLang="zh-CN" sz="2800"/>
                <a:t>B</a:t>
              </a:r>
            </a:p>
          </p:txBody>
        </p:sp>
        <p:sp>
          <p:nvSpPr>
            <p:cNvPr id="25611" name="Text Box 11"/>
            <p:cNvSpPr txBox="1">
              <a:spLocks noChangeArrowheads="1"/>
            </p:cNvSpPr>
            <p:nvPr/>
          </p:nvSpPr>
          <p:spPr bwMode="auto">
            <a:xfrm>
              <a:off x="2290" y="2478"/>
              <a:ext cx="15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72603"/>
                  </a:solidFill>
                </a:rPr>
                <a:t>A</a:t>
              </a:r>
              <a:r>
                <a:rPr lang="zh-CN" altLang="en-US" sz="32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3200" dirty="0">
                  <a:solidFill>
                    <a:srgbClr val="F72603"/>
                  </a:solidFill>
                </a:rPr>
                <a:t>R=B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28A73C1-9028-1176-E096-C1741B9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24B7D7-F746-4E05-9A11-DD4FB4529D5B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98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8" y="404814"/>
            <a:ext cx="8856662" cy="884237"/>
          </a:xfrm>
        </p:spPr>
        <p:txBody>
          <a:bodyPr/>
          <a:lstStyle/>
          <a:p>
            <a:pPr algn="ctr" eaLnBrk="1" hangingPunct="1"/>
            <a:r>
              <a:rPr lang="zh-CN" altLang="en-US" sz="40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常见的</a:t>
            </a:r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综合评判模型</a:t>
            </a:r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——</a:t>
            </a:r>
            <a:r>
              <a:rPr lang="zh-CN" altLang="en-US" sz="3600" b="1">
                <a:solidFill>
                  <a:srgbClr val="F72603"/>
                </a:solidFill>
                <a:ea typeface="楷体_GB2312" pitchFamily="49" charset="-122"/>
              </a:rPr>
              <a:t>主因素突出型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341438"/>
            <a:ext cx="9865095" cy="5516562"/>
          </a:xfrm>
        </p:spPr>
        <p:txBody>
          <a:bodyPr/>
          <a:lstStyle/>
          <a:p>
            <a:pPr marL="609600" indent="-609600" eaLnBrk="1" hangingPunct="1">
              <a:buNone/>
            </a:pPr>
            <a:r>
              <a:rPr lang="en-US" altLang="zh-CN" b="1" dirty="0">
                <a:solidFill>
                  <a:srgbClr val="F72603"/>
                </a:solidFill>
                <a:ea typeface="楷体_GB2312" pitchFamily="49" charset="-122"/>
              </a:rPr>
              <a:t>1. </a:t>
            </a:r>
            <a:r>
              <a:rPr lang="zh-CN" altLang="en-US" sz="3600" b="1" dirty="0">
                <a:solidFill>
                  <a:srgbClr val="F72603"/>
                </a:solidFill>
                <a:ea typeface="楷体_GB2312" pitchFamily="49" charset="-122"/>
              </a:rPr>
              <a:t>模型</a:t>
            </a:r>
            <a:r>
              <a:rPr lang="en-US" altLang="zh-CN" sz="3600" b="1" dirty="0">
                <a:solidFill>
                  <a:srgbClr val="F72603"/>
                </a:solidFill>
                <a:ea typeface="楷体_GB2312" pitchFamily="49" charset="-122"/>
              </a:rPr>
              <a:t>M</a:t>
            </a:r>
            <a:r>
              <a:rPr lang="zh-CN" altLang="en-US" sz="3600" b="1" dirty="0">
                <a:solidFill>
                  <a:srgbClr val="F72603"/>
                </a:solidFill>
                <a:ea typeface="楷体_GB2312" pitchFamily="49" charset="-122"/>
              </a:rPr>
              <a:t>（∧，∨）</a:t>
            </a:r>
          </a:p>
          <a:p>
            <a:pPr marL="609600" indent="-609600" eaLnBrk="1" hangingPunct="1">
              <a:buNone/>
            </a:pPr>
            <a:endParaRPr lang="zh-CN" altLang="en-US" sz="2400" dirty="0">
              <a:ea typeface="黑体" pitchFamily="2" charset="-122"/>
            </a:endParaRPr>
          </a:p>
          <a:p>
            <a:pPr marL="609600" indent="-609600" eaLnBrk="1" hangingPunct="1">
              <a:buNone/>
            </a:pPr>
            <a:endParaRPr lang="zh-CN" altLang="en-US" dirty="0">
              <a:ea typeface="黑体" pitchFamily="2" charset="-122"/>
            </a:endParaRPr>
          </a:p>
          <a:p>
            <a:pPr marL="609600" indent="-609600" eaLnBrk="1" hangingPunct="1">
              <a:buNone/>
            </a:pPr>
            <a:endParaRPr lang="zh-CN" altLang="en-US" sz="900" dirty="0">
              <a:ea typeface="黑体" pitchFamily="2" charset="-122"/>
            </a:endParaRPr>
          </a:p>
          <a:p>
            <a:pPr marL="609600" indent="-609600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模型的特点：</a:t>
            </a:r>
          </a:p>
          <a:p>
            <a:pPr marL="990600" lvl="1" indent="-533400" eaLnBrk="1" hangingPunct="1"/>
            <a:r>
              <a:rPr lang="zh-CN" altLang="en-US" sz="2000" dirty="0">
                <a:ea typeface="黑体" pitchFamily="2" charset="-122"/>
              </a:rPr>
              <a:t> </a:t>
            </a:r>
            <a:r>
              <a:rPr lang="zh-CN" altLang="en-US" sz="2400" b="1" dirty="0">
                <a:ea typeface="楷体_GB2312" pitchFamily="49" charset="-122"/>
              </a:rPr>
              <a:t>先将单因素</a:t>
            </a:r>
            <a:r>
              <a:rPr lang="en-US" altLang="zh-CN" sz="2400" b="1" dirty="0" err="1">
                <a:ea typeface="楷体_GB2312" pitchFamily="49" charset="-122"/>
              </a:rPr>
              <a:t>u</a:t>
            </a:r>
            <a:r>
              <a:rPr lang="en-US" altLang="zh-CN" sz="2400" b="1" baseline="-25000" dirty="0" err="1">
                <a:ea typeface="楷体_GB2312" pitchFamily="49" charset="-122"/>
              </a:rPr>
              <a:t>i</a:t>
            </a:r>
            <a:r>
              <a:rPr lang="zh-CN" altLang="en-US" sz="2400" b="1" dirty="0">
                <a:ea typeface="楷体_GB2312" pitchFamily="49" charset="-122"/>
              </a:rPr>
              <a:t>的评价对评语</a:t>
            </a:r>
            <a:r>
              <a:rPr lang="en-US" altLang="zh-CN" sz="2400" b="1" dirty="0" err="1">
                <a:ea typeface="楷体_GB2312" pitchFamily="49" charset="-122"/>
              </a:rPr>
              <a:t>v</a:t>
            </a:r>
            <a:r>
              <a:rPr lang="en-US" altLang="zh-CN" sz="2400" b="1" baseline="-25000" dirty="0" err="1">
                <a:ea typeface="楷体_GB2312" pitchFamily="49" charset="-122"/>
              </a:rPr>
              <a:t>j</a:t>
            </a:r>
            <a:r>
              <a:rPr lang="zh-CN" altLang="en-US" sz="2400" b="1" dirty="0">
                <a:ea typeface="楷体_GB2312" pitchFamily="49" charset="-122"/>
              </a:rPr>
              <a:t>的隶属程度</a:t>
            </a:r>
            <a:r>
              <a:rPr lang="en-US" altLang="zh-CN" sz="2400" b="1" dirty="0" err="1">
                <a:ea typeface="楷体_GB2312" pitchFamily="49" charset="-122"/>
              </a:rPr>
              <a:t>r</a:t>
            </a:r>
            <a:r>
              <a:rPr lang="en-US" altLang="zh-CN" sz="2400" b="1" baseline="-25000" dirty="0" err="1">
                <a:ea typeface="楷体_GB2312" pitchFamily="49" charset="-122"/>
              </a:rPr>
              <a:t>ij</a:t>
            </a:r>
            <a:r>
              <a:rPr lang="zh-CN" altLang="en-US" sz="2400" b="1" dirty="0">
                <a:ea typeface="楷体_GB2312" pitchFamily="49" charset="-122"/>
              </a:rPr>
              <a:t>调整为：</a:t>
            </a:r>
            <a:endParaRPr lang="zh-CN" altLang="en-US" sz="2000" b="1" dirty="0"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endParaRPr lang="zh-CN" altLang="en-US" sz="2400" b="1" dirty="0">
              <a:ea typeface="楷体_GB2312" pitchFamily="49" charset="-122"/>
            </a:endParaRPr>
          </a:p>
          <a:p>
            <a:pPr marL="609600" indent="-609600" eaLnBrk="1" hangingPunct="1">
              <a:buNone/>
            </a:pPr>
            <a:endParaRPr lang="zh-CN" altLang="en-US" sz="900" b="1" dirty="0">
              <a:ea typeface="楷体_GB2312" pitchFamily="49" charset="-122"/>
            </a:endParaRPr>
          </a:p>
          <a:p>
            <a:pPr marL="609600" indent="-609600"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ea typeface="楷体_GB2312" pitchFamily="49" charset="-122"/>
              </a:rPr>
              <a:t>            这里</a:t>
            </a:r>
            <a:r>
              <a:rPr lang="en-US" altLang="zh-CN" sz="2400" b="1" dirty="0" err="1">
                <a:ea typeface="楷体_GB2312" pitchFamily="49" charset="-122"/>
              </a:rPr>
              <a:t>a</a:t>
            </a:r>
            <a:r>
              <a:rPr lang="en-US" altLang="zh-CN" sz="2400" b="1" baseline="-25000" dirty="0" err="1">
                <a:ea typeface="楷体_GB2312" pitchFamily="49" charset="-122"/>
              </a:rPr>
              <a:t>i</a:t>
            </a:r>
            <a:r>
              <a:rPr lang="zh-CN" altLang="en-US" sz="2400" b="1" dirty="0">
                <a:ea typeface="楷体_GB2312" pitchFamily="49" charset="-122"/>
              </a:rPr>
              <a:t>可看作是</a:t>
            </a:r>
            <a:r>
              <a:rPr lang="en-US" altLang="zh-CN" sz="2400" b="1" dirty="0" err="1">
                <a:ea typeface="楷体_GB2312" pitchFamily="49" charset="-122"/>
              </a:rPr>
              <a:t>r</a:t>
            </a:r>
            <a:r>
              <a:rPr lang="en-US" altLang="zh-CN" sz="2400" b="1" baseline="-25000" dirty="0" err="1">
                <a:ea typeface="楷体_GB2312" pitchFamily="49" charset="-122"/>
              </a:rPr>
              <a:t>ij</a:t>
            </a:r>
            <a:r>
              <a:rPr lang="zh-CN" altLang="en-US" sz="2400" b="1" dirty="0">
                <a:ea typeface="楷体_GB2312" pitchFamily="49" charset="-122"/>
              </a:rPr>
              <a:t>的调整系数。</a:t>
            </a:r>
          </a:p>
          <a:p>
            <a:pPr marL="990600" lvl="1" indent="-533400" eaLnBrk="1" hangingPunct="1">
              <a:lnSpc>
                <a:spcPct val="120000"/>
              </a:lnSpc>
            </a:pPr>
            <a:r>
              <a:rPr lang="zh-CN" altLang="en-US" sz="2400" b="1" dirty="0">
                <a:ea typeface="楷体_GB2312" pitchFamily="49" charset="-122"/>
              </a:rPr>
              <a:t>再将各因素调整后的所有隶属度     的最大者作为评语</a:t>
            </a:r>
            <a:r>
              <a:rPr lang="en-US" altLang="zh-CN" sz="2400" b="1" dirty="0" err="1">
                <a:ea typeface="楷体_GB2312" pitchFamily="49" charset="-122"/>
              </a:rPr>
              <a:t>v</a:t>
            </a:r>
            <a:r>
              <a:rPr lang="en-US" altLang="zh-CN" sz="2400" b="1" baseline="-25000" dirty="0" err="1">
                <a:ea typeface="楷体_GB2312" pitchFamily="49" charset="-122"/>
              </a:rPr>
              <a:t>j</a:t>
            </a:r>
            <a:r>
              <a:rPr lang="zh-CN" altLang="en-US" sz="2400" b="1" dirty="0">
                <a:ea typeface="楷体_GB2312" pitchFamily="49" charset="-122"/>
              </a:rPr>
              <a:t>对综合评判后的隶属度</a:t>
            </a:r>
            <a:r>
              <a:rPr lang="en-US" altLang="zh-CN" sz="2400" b="1" dirty="0">
                <a:ea typeface="楷体_GB2312" pitchFamily="49" charset="-122"/>
              </a:rPr>
              <a:t>b</a:t>
            </a:r>
            <a:r>
              <a:rPr lang="en-US" altLang="zh-CN" sz="2400" b="1" baseline="-25000" dirty="0">
                <a:ea typeface="楷体_GB2312" pitchFamily="49" charset="-122"/>
              </a:rPr>
              <a:t>i</a:t>
            </a:r>
            <a:r>
              <a:rPr lang="zh-CN" altLang="en-US" sz="2400" b="1" dirty="0">
                <a:ea typeface="楷体_GB2312" pitchFamily="49" charset="-122"/>
              </a:rPr>
              <a:t>，</a:t>
            </a:r>
            <a:r>
              <a:rPr lang="zh-CN" altLang="en-US" sz="2400" b="1" u="sng" dirty="0">
                <a:solidFill>
                  <a:srgbClr val="3333FF"/>
                </a:solidFill>
                <a:ea typeface="楷体_GB2312" pitchFamily="49" charset="-122"/>
              </a:rPr>
              <a:t>即只考虑调整后的    最大的、起主要影响作用的那个因素，而忽略了其他因素。</a:t>
            </a:r>
          </a:p>
        </p:txBody>
      </p:sp>
      <p:graphicFrame>
        <p:nvGraphicFramePr>
          <p:cNvPr id="15258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08213" y="1897584"/>
          <a:ext cx="439261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20900" imgH="304800" progId="Equation.3">
                  <p:embed/>
                </p:oleObj>
              </mc:Choice>
              <mc:Fallback>
                <p:oleObj name="公式" r:id="rId2" imgW="2120900" imgH="304800" progId="Equation.3">
                  <p:embed/>
                  <p:pic>
                    <p:nvPicPr>
                      <p:cNvPr id="1525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897584"/>
                        <a:ext cx="4392612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32175" y="2348881"/>
          <a:ext cx="4844214" cy="918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43100" imgH="368300" progId="Equation.3">
                  <p:embed/>
                </p:oleObj>
              </mc:Choice>
              <mc:Fallback>
                <p:oleObj name="公式" r:id="rId4" imgW="1943100" imgH="368300" progId="Equation.3">
                  <p:embed/>
                  <p:pic>
                    <p:nvPicPr>
                      <p:cNvPr id="152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348881"/>
                        <a:ext cx="4844214" cy="918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4" name="Object 8"/>
          <p:cNvGraphicFramePr>
            <a:graphicFrameLocks noChangeAspect="1"/>
          </p:cNvGraphicFramePr>
          <p:nvPr/>
        </p:nvGraphicFramePr>
        <p:xfrm>
          <a:off x="6312024" y="5200427"/>
          <a:ext cx="392112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4957" imgH="253780" progId="Equation.3">
                  <p:embed/>
                </p:oleObj>
              </mc:Choice>
              <mc:Fallback>
                <p:oleObj name="公式" r:id="rId6" imgW="164957" imgH="253780" progId="Equation.3">
                  <p:embed/>
                  <p:pic>
                    <p:nvPicPr>
                      <p:cNvPr id="152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24" y="5200427"/>
                        <a:ext cx="392112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5" name="Object 9"/>
          <p:cNvGraphicFramePr>
            <a:graphicFrameLocks noChangeAspect="1"/>
          </p:cNvGraphicFramePr>
          <p:nvPr/>
        </p:nvGraphicFramePr>
        <p:xfrm>
          <a:off x="6816080" y="5704483"/>
          <a:ext cx="392113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4957" imgH="253780" progId="Equation.3">
                  <p:embed/>
                </p:oleObj>
              </mc:Choice>
              <mc:Fallback>
                <p:oleObj name="公式" r:id="rId6" imgW="164957" imgH="253780" progId="Equation.3">
                  <p:embed/>
                  <p:pic>
                    <p:nvPicPr>
                      <p:cNvPr id="1525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5704483"/>
                        <a:ext cx="392113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6" name="Object 10"/>
          <p:cNvGraphicFramePr>
            <a:graphicFrameLocks noChangeAspect="1"/>
          </p:cNvGraphicFramePr>
          <p:nvPr/>
        </p:nvGraphicFramePr>
        <p:xfrm>
          <a:off x="3287714" y="4221164"/>
          <a:ext cx="416718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14500" imgH="254000" progId="Equation.3">
                  <p:embed/>
                </p:oleObj>
              </mc:Choice>
              <mc:Fallback>
                <p:oleObj name="公式" r:id="rId8" imgW="1714500" imgH="254000" progId="Equation.3">
                  <p:embed/>
                  <p:pic>
                    <p:nvPicPr>
                      <p:cNvPr id="1525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4221164"/>
                        <a:ext cx="4167187" cy="617537"/>
                      </a:xfrm>
                      <a:prstGeom prst="rect">
                        <a:avLst/>
                      </a:prstGeom>
                      <a:solidFill>
                        <a:srgbClr val="F3FD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9904BD-59FD-CAD3-B154-AB51846B5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750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2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2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（∧，∨）应用举例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009112" cy="5445125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考虑对教师的教学质量的评估问题：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sz="2400" b="1" dirty="0">
                <a:ea typeface="楷体_GB2312" pitchFamily="49" charset="-122"/>
              </a:rPr>
              <a:t>设与教学质量相关的因素：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   教材熟练程度、逻辑性程度、启发性程度、生动有趣程度、板书整洁程度</a:t>
            </a:r>
            <a:r>
              <a:rPr lang="en-US" altLang="zh-CN" sz="2400" b="1" dirty="0">
                <a:ea typeface="楷体_GB2312" pitchFamily="49" charset="-122"/>
              </a:rPr>
              <a:t>5</a:t>
            </a:r>
            <a:r>
              <a:rPr lang="zh-CN" altLang="en-US" sz="2400" b="1" dirty="0">
                <a:ea typeface="楷体_GB2312" pitchFamily="49" charset="-122"/>
              </a:rPr>
              <a:t>种，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sz="2400" b="1" dirty="0">
                <a:ea typeface="楷体_GB2312" pitchFamily="49" charset="-122"/>
              </a:rPr>
              <a:t>评语分为：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优秀、良好、一般</a:t>
            </a:r>
            <a:r>
              <a:rPr lang="zh-CN" altLang="en-US" sz="2400" b="1" dirty="0">
                <a:ea typeface="楷体_GB2312" pitchFamily="49" charset="-122"/>
              </a:rPr>
              <a:t>和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不好</a:t>
            </a:r>
            <a:r>
              <a:rPr lang="en-US" altLang="zh-CN" sz="2400" b="1" dirty="0">
                <a:ea typeface="楷体_GB2312" pitchFamily="49" charset="-122"/>
              </a:rPr>
              <a:t>4</a:t>
            </a:r>
            <a:r>
              <a:rPr lang="zh-CN" altLang="en-US" sz="2400" b="1" dirty="0">
                <a:ea typeface="楷体_GB2312" pitchFamily="49" charset="-122"/>
              </a:rPr>
              <a:t>种</a:t>
            </a:r>
            <a:r>
              <a:rPr lang="zh-CN" altLang="en-US" sz="2400" dirty="0"/>
              <a:t>。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sz="2400" b="1" dirty="0">
                <a:ea typeface="楷体_GB2312" pitchFamily="49" charset="-122"/>
              </a:rPr>
              <a:t>用</a:t>
            </a:r>
            <a:r>
              <a:rPr lang="en-US" altLang="zh-CN" sz="2400" b="1" dirty="0">
                <a:ea typeface="楷体_GB2312" pitchFamily="49" charset="-122"/>
              </a:rPr>
              <a:t>F</a:t>
            </a:r>
            <a:r>
              <a:rPr lang="zh-CN" altLang="en-US" sz="2400" b="1" dirty="0">
                <a:ea typeface="楷体_GB2312" pitchFamily="49" charset="-122"/>
              </a:rPr>
              <a:t>综合评判模型</a:t>
            </a:r>
            <a:r>
              <a:rPr lang="en-US" altLang="zh-CN" sz="2400" b="1" dirty="0">
                <a:ea typeface="楷体_GB2312" pitchFamily="49" charset="-122"/>
              </a:rPr>
              <a:t>M</a:t>
            </a:r>
            <a:r>
              <a:rPr lang="zh-CN" altLang="en-US" sz="2400" b="1" dirty="0">
                <a:ea typeface="楷体_GB2312" pitchFamily="49" charset="-122"/>
              </a:rPr>
              <a:t>（∧，∨）对某老师教学质量进行评估</a:t>
            </a:r>
          </a:p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设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因素集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U={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教材熟练程度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逻辑性程度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启发性程度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        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生动有趣程度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板书整洁程度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5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)}</a:t>
            </a:r>
          </a:p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设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评语集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V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    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V={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优秀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良好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一般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不好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967AF6-5429-EE8E-7907-0041A10F15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24B7D7-F746-4E05-9A11-DD4FB4529D5B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645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3376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（∧，∨）应用举例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268413"/>
            <a:ext cx="9865096" cy="5516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①</a:t>
            </a:r>
            <a:r>
              <a:rPr lang="zh-CN" altLang="en-US" b="1" dirty="0"/>
              <a:t>单因素评价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ea typeface="华文楷体" pitchFamily="2" charset="-122"/>
              </a:rPr>
              <a:t>       </a:t>
            </a:r>
            <a:r>
              <a:rPr lang="zh-CN" altLang="en-US" sz="2800" b="1" dirty="0">
                <a:ea typeface="华文楷体" pitchFamily="2" charset="-122"/>
              </a:rPr>
              <a:t>对</a:t>
            </a:r>
            <a:r>
              <a:rPr lang="en-US" altLang="zh-CN" sz="2800" b="1" dirty="0">
                <a:ea typeface="华文楷体" pitchFamily="2" charset="-122"/>
              </a:rPr>
              <a:t>U</a:t>
            </a:r>
            <a:r>
              <a:rPr lang="zh-CN" altLang="en-US" sz="2800" b="1" dirty="0">
                <a:ea typeface="华文楷体" pitchFamily="2" charset="-122"/>
              </a:rPr>
              <a:t>中每一因素</a:t>
            </a:r>
            <a:r>
              <a:rPr lang="en-US" altLang="zh-CN" b="1" dirty="0" err="1">
                <a:ea typeface="华文楷体" pitchFamily="2" charset="-122"/>
              </a:rPr>
              <a:t>u</a:t>
            </a:r>
            <a:r>
              <a:rPr lang="en-US" altLang="zh-CN" b="1" baseline="-25000" dirty="0" err="1">
                <a:ea typeface="华文楷体" pitchFamily="2" charset="-122"/>
              </a:rPr>
              <a:t>i</a:t>
            </a:r>
            <a:r>
              <a:rPr lang="en-US" altLang="zh-CN" sz="2800" b="1" dirty="0">
                <a:ea typeface="华文楷体" pitchFamily="2" charset="-122"/>
              </a:rPr>
              <a:t>(</a:t>
            </a:r>
            <a:r>
              <a:rPr lang="en-US" altLang="zh-CN" sz="2800" b="1" dirty="0" err="1">
                <a:ea typeface="华文楷体" pitchFamily="2" charset="-122"/>
              </a:rPr>
              <a:t>i</a:t>
            </a:r>
            <a:r>
              <a:rPr lang="en-US" altLang="zh-CN" sz="2800" b="1" dirty="0">
                <a:ea typeface="华文楷体" pitchFamily="2" charset="-122"/>
              </a:rPr>
              <a:t>=1,2,3,4,5)</a:t>
            </a:r>
            <a:r>
              <a:rPr lang="zh-CN" altLang="en-US" sz="2800" b="1" dirty="0">
                <a:ea typeface="华文楷体" pitchFamily="2" charset="-122"/>
              </a:rPr>
              <a:t>进行单因素评价，设请专家通过听课打分，对某教师授课的各个因素进行评价，结果如下：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)=(0.45, 0.25, 0.20, 0.10)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)=(0.50, 0.40, 0.10, 0.00)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)=(0.30, 0.40, 0.20, 0.10)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4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)=(0.40, 0.40, 0.10, 0.10)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5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)=(0.30, 0.50, 0.10, 0.10)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5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</a:t>
            </a:r>
            <a:r>
              <a:rPr lang="zh-CN" altLang="en-US" sz="2400" b="1" dirty="0"/>
              <a:t>表示对</a:t>
            </a:r>
            <a:r>
              <a:rPr lang="zh-CN" altLang="en-US" sz="2400" b="1" u="sng" dirty="0"/>
              <a:t>板书整洁程度</a:t>
            </a:r>
            <a:r>
              <a:rPr lang="zh-CN" altLang="en-US" sz="2400" b="1" dirty="0"/>
              <a:t>进行评价，认为优秀的占</a:t>
            </a:r>
            <a:r>
              <a:rPr lang="en-US" altLang="zh-CN" sz="2400" b="1" dirty="0"/>
              <a:t>30%</a:t>
            </a:r>
            <a:r>
              <a:rPr lang="zh-CN" altLang="en-US" sz="2400" b="1" dirty="0"/>
              <a:t>、良好的占</a:t>
            </a:r>
            <a:r>
              <a:rPr lang="en-US" altLang="zh-CN" sz="2400" b="1" dirty="0"/>
              <a:t>50%</a:t>
            </a:r>
            <a:r>
              <a:rPr lang="zh-CN" altLang="en-US" sz="2400" b="1" dirty="0"/>
              <a:t>、一般的占</a:t>
            </a:r>
            <a:r>
              <a:rPr lang="en-US" altLang="zh-CN" sz="2400" b="1" dirty="0"/>
              <a:t>10%</a:t>
            </a:r>
            <a:r>
              <a:rPr lang="zh-CN" altLang="en-US" sz="2400" b="1" dirty="0"/>
              <a:t>，不好的占</a:t>
            </a:r>
            <a:r>
              <a:rPr lang="en-US" altLang="zh-CN" sz="2400" b="1" dirty="0"/>
              <a:t>10%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3BC69C-E098-3AB3-650F-69C9B79AF4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24B7D7-F746-4E05-9A11-DD4FB4529D5B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2DF142-1E97-0561-3D11-E4353731B344}"/>
              </a:ext>
            </a:extLst>
          </p:cNvPr>
          <p:cNvSpPr txBox="1"/>
          <p:nvPr/>
        </p:nvSpPr>
        <p:spPr>
          <a:xfrm>
            <a:off x="7333928" y="3140968"/>
            <a:ext cx="4176464" cy="224676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U={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教材熟练程度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         逻辑性程度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         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启发性程度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      生动有趣程度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      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板书整洁程度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376424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（∧，∨）应用举例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3" y="1773238"/>
            <a:ext cx="8497442" cy="40941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dirty="0"/>
              <a:t>②</a:t>
            </a:r>
            <a:r>
              <a:rPr lang="zh-CN" altLang="en-US" b="1" dirty="0"/>
              <a:t>构造</a:t>
            </a:r>
            <a:r>
              <a:rPr lang="zh-CN" altLang="en-US" b="1" u="sng" dirty="0"/>
              <a:t>综合评判矩阵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/>
              <a:t>    将单因素评价集作为行构成矩阵</a:t>
            </a:r>
          </a:p>
        </p:txBody>
      </p:sp>
      <p:graphicFrame>
        <p:nvGraphicFramePr>
          <p:cNvPr id="15770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135560" y="3141664"/>
          <a:ext cx="5184775" cy="306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66889" imgH="1076220" progId="Equation.3">
                  <p:embed/>
                </p:oleObj>
              </mc:Choice>
              <mc:Fallback>
                <p:oleObj name="公式" r:id="rId3" imgW="1866889" imgH="1076220" progId="Equation.3">
                  <p:embed/>
                  <p:pic>
                    <p:nvPicPr>
                      <p:cNvPr id="157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3141664"/>
                        <a:ext cx="5184775" cy="306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7320335" y="2924176"/>
            <a:ext cx="1800225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3333FF"/>
                </a:solidFill>
                <a:ea typeface="楷体_GB2312" pitchFamily="49" charset="-122"/>
              </a:rPr>
              <a:t>教材熟练程度</a:t>
            </a: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3333FF"/>
                </a:solidFill>
                <a:ea typeface="楷体_GB2312" pitchFamily="49" charset="-122"/>
              </a:rPr>
              <a:t>逻辑性程度</a:t>
            </a: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3333FF"/>
                </a:solidFill>
                <a:ea typeface="楷体_GB2312" pitchFamily="49" charset="-122"/>
              </a:rPr>
              <a:t>启发性程度</a:t>
            </a: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3333FF"/>
                </a:solidFill>
                <a:ea typeface="楷体_GB2312" pitchFamily="49" charset="-122"/>
              </a:rPr>
              <a:t>生动有趣程度</a:t>
            </a:r>
          </a:p>
          <a:p>
            <a:pPr>
              <a:lnSpc>
                <a:spcPct val="200000"/>
              </a:lnSpc>
            </a:pPr>
            <a:r>
              <a:rPr lang="zh-CN" altLang="en-US" sz="2000" b="1">
                <a:solidFill>
                  <a:srgbClr val="3333FF"/>
                </a:solidFill>
                <a:ea typeface="楷体_GB2312" pitchFamily="49" charset="-122"/>
              </a:rPr>
              <a:t>板书整洁程度</a:t>
            </a:r>
          </a:p>
        </p:txBody>
      </p:sp>
      <p:sp>
        <p:nvSpPr>
          <p:cNvPr id="157703" name="Rectangle 7"/>
          <p:cNvSpPr>
            <a:spLocks noChangeArrowheads="1"/>
          </p:cNvSpPr>
          <p:nvPr/>
        </p:nvSpPr>
        <p:spPr bwMode="auto">
          <a:xfrm>
            <a:off x="3072185" y="6218239"/>
            <a:ext cx="42001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优秀     良好      一般     不好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00B8F3-8D9E-B250-9885-B77C1BD9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9B3504-16D4-4C04-B1A4-25F8AB88180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19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2" grpId="0"/>
      <p:bldP spid="1577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（∧，∨）应用举例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700214"/>
            <a:ext cx="10009112" cy="4454525"/>
          </a:xfrm>
        </p:spPr>
        <p:txBody>
          <a:bodyPr/>
          <a:lstStyle/>
          <a:p>
            <a:pPr marL="609600" indent="-609600" eaLnBrk="1" hangingPunct="1">
              <a:buNone/>
            </a:pPr>
            <a:r>
              <a:rPr lang="en-US" altLang="zh-CN" b="1" dirty="0"/>
              <a:t>③</a:t>
            </a:r>
            <a:r>
              <a:rPr lang="zh-CN" altLang="en-US" b="1" dirty="0"/>
              <a:t>确定因素重要程度</a:t>
            </a:r>
            <a:r>
              <a:rPr lang="en-US" altLang="zh-CN" b="1" dirty="0"/>
              <a:t>F</a:t>
            </a:r>
            <a:r>
              <a:rPr lang="zh-CN" altLang="en-US" b="1" dirty="0"/>
              <a:t>集</a:t>
            </a:r>
          </a:p>
          <a:p>
            <a:pPr marL="609600" indent="-609600" eaLnBrk="1" hangingPunct="1">
              <a:buNone/>
            </a:pPr>
            <a:r>
              <a:rPr lang="zh-CN" altLang="en-US" sz="2400" b="1" dirty="0"/>
              <a:t>    </a:t>
            </a:r>
            <a:r>
              <a:rPr lang="zh-CN" altLang="en-US" sz="2800" b="1" dirty="0"/>
              <a:t>设因素</a:t>
            </a:r>
            <a:r>
              <a:rPr lang="en-US" altLang="zh-CN" sz="2800" b="1" dirty="0" err="1">
                <a:ea typeface="黑体" pitchFamily="2" charset="-122"/>
              </a:rPr>
              <a:t>u</a:t>
            </a:r>
            <a:r>
              <a:rPr lang="en-US" altLang="zh-CN" sz="2800" b="1" baseline="-25000" dirty="0" err="1">
                <a:ea typeface="黑体" pitchFamily="2" charset="-122"/>
              </a:rPr>
              <a:t>i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=1,2,3,4,5)</a:t>
            </a:r>
            <a:r>
              <a:rPr lang="zh-CN" altLang="en-US" sz="2800" b="1" dirty="0"/>
              <a:t>在教学质量评估中所占的比重分别为</a:t>
            </a:r>
            <a:r>
              <a:rPr lang="en-US" altLang="zh-CN" sz="2800" b="1" dirty="0"/>
              <a:t>30%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20%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20%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20%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10%</a:t>
            </a:r>
            <a:r>
              <a:rPr lang="zh-CN" altLang="en-US" sz="2800" b="1" dirty="0"/>
              <a:t>。则</a:t>
            </a:r>
            <a:r>
              <a:rPr lang="en-US" altLang="zh-CN" sz="2800" b="1" dirty="0"/>
              <a:t>U</a:t>
            </a:r>
            <a:r>
              <a:rPr lang="zh-CN" altLang="en-US" sz="2800" b="1" dirty="0"/>
              <a:t>上的因素重要程度</a:t>
            </a:r>
            <a:r>
              <a:rPr lang="en-US" altLang="zh-CN" sz="2800" b="1" dirty="0"/>
              <a:t>F</a:t>
            </a:r>
            <a:r>
              <a:rPr lang="zh-CN" altLang="en-US" sz="2800" b="1" dirty="0"/>
              <a:t>集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为</a:t>
            </a:r>
          </a:p>
          <a:p>
            <a:pPr marL="609600" indent="-609600" eaLnBrk="1" hangingPunct="1">
              <a:buNone/>
            </a:pPr>
            <a:r>
              <a:rPr lang="zh-CN" altLang="en-US" sz="2400" dirty="0">
                <a:solidFill>
                  <a:srgbClr val="F72603"/>
                </a:solidFill>
              </a:rPr>
              <a:t>        </a:t>
            </a:r>
            <a:r>
              <a:rPr lang="en-US" altLang="zh-CN" sz="2800" dirty="0">
                <a:solidFill>
                  <a:srgbClr val="F72603"/>
                </a:solidFill>
              </a:rPr>
              <a:t>A=(0.30,0.20,0.20,0.20,0.10)</a:t>
            </a:r>
          </a:p>
          <a:p>
            <a:pPr marL="609600" indent="-609600" eaLnBrk="1" hangingPunct="1">
              <a:buNone/>
            </a:pPr>
            <a:r>
              <a:rPr lang="en-US" altLang="zh-CN" b="1" dirty="0">
                <a:latin typeface="宋体" charset="-122"/>
              </a:rPr>
              <a:t>④</a:t>
            </a:r>
            <a:r>
              <a:rPr lang="zh-CN" altLang="en-US" b="1" dirty="0">
                <a:solidFill>
                  <a:schemeClr val="bg2"/>
                </a:solidFill>
              </a:rPr>
              <a:t>确定综合评价模型，求出</a:t>
            </a:r>
            <a:r>
              <a:rPr lang="en-US" altLang="zh-CN" b="1" dirty="0">
                <a:solidFill>
                  <a:schemeClr val="bg2"/>
                </a:solidFill>
              </a:rPr>
              <a:t>F</a:t>
            </a:r>
            <a:r>
              <a:rPr lang="zh-CN" altLang="en-US" b="1" dirty="0">
                <a:solidFill>
                  <a:schemeClr val="bg2"/>
                </a:solidFill>
              </a:rPr>
              <a:t>综合评价集</a:t>
            </a:r>
            <a:r>
              <a:rPr lang="en-US" altLang="zh-CN" b="1" dirty="0">
                <a:solidFill>
                  <a:schemeClr val="bg2"/>
                </a:solidFill>
              </a:rPr>
              <a:t>B</a:t>
            </a:r>
          </a:p>
          <a:p>
            <a:pPr marL="609600" indent="-609600" eaLnBrk="1" hangingPunct="1"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B=A </a:t>
            </a:r>
            <a:r>
              <a:rPr lang="zh-CN" altLang="en-US" sz="28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 R=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</a:rPr>
              <a:t>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8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8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）</a:t>
            </a:r>
            <a:endParaRPr lang="zh-CN" altLang="en-US" sz="3600" dirty="0">
              <a:solidFill>
                <a:srgbClr val="008000"/>
              </a:solidFill>
            </a:endParaRPr>
          </a:p>
        </p:txBody>
      </p:sp>
      <p:graphicFrame>
        <p:nvGraphicFramePr>
          <p:cNvPr id="15974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51089" y="5300663"/>
          <a:ext cx="561657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43100" imgH="368300" progId="Equation.3">
                  <p:embed/>
                </p:oleObj>
              </mc:Choice>
              <mc:Fallback>
                <p:oleObj name="公式" r:id="rId3" imgW="1943100" imgH="368300" progId="Equation.3">
                  <p:embed/>
                  <p:pic>
                    <p:nvPicPr>
                      <p:cNvPr id="159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5300663"/>
                        <a:ext cx="5616575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FA1FB6-97CE-0E0D-56B5-F1EFABD700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7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（∧，∨）应用举例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557338"/>
            <a:ext cx="9865096" cy="5300662"/>
          </a:xfrm>
        </p:spPr>
        <p:txBody>
          <a:bodyPr/>
          <a:lstStyle/>
          <a:p>
            <a:pPr marL="609600" indent="-609600" eaLnBrk="1" hangingPunct="1">
              <a:buNone/>
            </a:pPr>
            <a:r>
              <a:rPr lang="en-US" altLang="zh-CN" b="1" dirty="0"/>
              <a:t>④</a:t>
            </a:r>
            <a:r>
              <a:rPr lang="zh-CN" altLang="en-US" b="1" dirty="0">
                <a:solidFill>
                  <a:schemeClr val="bg2"/>
                </a:solidFill>
              </a:rPr>
              <a:t>确定综合评价模型，求出</a:t>
            </a:r>
            <a:r>
              <a:rPr lang="en-US" altLang="zh-CN" b="1" dirty="0">
                <a:solidFill>
                  <a:schemeClr val="bg2"/>
                </a:solidFill>
              </a:rPr>
              <a:t>F</a:t>
            </a:r>
            <a:r>
              <a:rPr lang="zh-CN" altLang="en-US" b="1" dirty="0">
                <a:solidFill>
                  <a:schemeClr val="bg2"/>
                </a:solidFill>
              </a:rPr>
              <a:t>综合评价集</a:t>
            </a:r>
            <a:r>
              <a:rPr lang="en-US" altLang="zh-CN" b="1" dirty="0">
                <a:solidFill>
                  <a:schemeClr val="bg2"/>
                </a:solidFill>
              </a:rPr>
              <a:t>B</a:t>
            </a:r>
            <a:endParaRPr lang="en-US" altLang="zh-CN" sz="2800" dirty="0">
              <a:solidFill>
                <a:srgbClr val="F72603"/>
              </a:solidFill>
              <a:ea typeface="黑体" pitchFamily="2" charset="-122"/>
            </a:endParaRPr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r>
              <a:rPr lang="en-US" altLang="zh-CN" b="1" dirty="0"/>
              <a:t>⑤</a:t>
            </a:r>
            <a:r>
              <a:rPr lang="zh-CN" altLang="en-US" b="1" dirty="0"/>
              <a:t>综合评判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因为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B(v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)=0.30=max{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0.30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 </a:t>
            </a:r>
            <a:r>
              <a:rPr lang="en-US" altLang="zh-CN" sz="2800" dirty="0">
                <a:solidFill>
                  <a:srgbClr val="002060"/>
                </a:solidFill>
                <a:ea typeface="黑体" pitchFamily="2" charset="-122"/>
              </a:rPr>
              <a:t>0.25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 0.20, 0.10},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所以，由</a:t>
            </a:r>
            <a:r>
              <a:rPr lang="zh-CN" altLang="en-US" sz="2800" u="sng" dirty="0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，认为该教师的教学质量为“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优秀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”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 </a:t>
            </a:r>
          </a:p>
        </p:txBody>
      </p:sp>
      <p:graphicFrame>
        <p:nvGraphicFramePr>
          <p:cNvPr id="278536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19289" y="2276475"/>
          <a:ext cx="8353425" cy="235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81489" imgH="1076220" progId="Equation.3">
                  <p:embed/>
                </p:oleObj>
              </mc:Choice>
              <mc:Fallback>
                <p:oleObj name="公式" r:id="rId4" imgW="3981489" imgH="1076220" progId="Equation.3">
                  <p:embed/>
                  <p:pic>
                    <p:nvPicPr>
                      <p:cNvPr id="278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276475"/>
                        <a:ext cx="8353425" cy="235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8" name="Rectangle 10"/>
          <p:cNvSpPr>
            <a:spLocks noChangeArrowheads="1"/>
          </p:cNvSpPr>
          <p:nvPr/>
        </p:nvSpPr>
        <p:spPr bwMode="auto">
          <a:xfrm>
            <a:off x="1992314" y="4149726"/>
            <a:ext cx="40338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800" b="1">
                <a:solidFill>
                  <a:srgbClr val="F72603"/>
                </a:solidFill>
              </a:rPr>
              <a:t>=(0.30, 0.25, 0.20, 0.10)</a:t>
            </a:r>
          </a:p>
        </p:txBody>
      </p:sp>
      <p:sp>
        <p:nvSpPr>
          <p:cNvPr id="13" name="椭圆 12"/>
          <p:cNvSpPr>
            <a:spLocks noChangeArrowheads="1"/>
          </p:cNvSpPr>
          <p:nvPr/>
        </p:nvSpPr>
        <p:spPr bwMode="auto">
          <a:xfrm>
            <a:off x="3503613" y="3141664"/>
            <a:ext cx="647700" cy="503237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6959600" y="2276475"/>
            <a:ext cx="3168650" cy="431800"/>
          </a:xfrm>
          <a:prstGeom prst="flowChartAlternateProcess">
            <a:avLst/>
          </a:prstGeom>
          <a:noFill/>
          <a:ln w="28575">
            <a:solidFill>
              <a:srgbClr val="F7260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3C1ADD-3634-C25E-C4F5-EE86EC13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905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build="p"/>
      <p:bldP spid="278538" grpId="0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（∧，∨）应用举例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557338"/>
            <a:ext cx="9793088" cy="5300662"/>
          </a:xfrm>
        </p:spPr>
        <p:txBody>
          <a:bodyPr/>
          <a:lstStyle/>
          <a:p>
            <a:pPr marL="609600" indent="-609600" eaLnBrk="1" hangingPunct="1">
              <a:buNone/>
            </a:pPr>
            <a:r>
              <a:rPr lang="en-US" altLang="zh-CN" b="1" dirty="0"/>
              <a:t>④</a:t>
            </a:r>
            <a:r>
              <a:rPr lang="zh-CN" altLang="en-US" b="1" dirty="0">
                <a:solidFill>
                  <a:schemeClr val="bg2"/>
                </a:solidFill>
              </a:rPr>
              <a:t>确定综合评价模型，求出</a:t>
            </a:r>
            <a:r>
              <a:rPr lang="en-US" altLang="zh-CN" b="1" dirty="0">
                <a:solidFill>
                  <a:schemeClr val="bg2"/>
                </a:solidFill>
              </a:rPr>
              <a:t>F</a:t>
            </a:r>
            <a:r>
              <a:rPr lang="zh-CN" altLang="en-US" b="1" dirty="0">
                <a:solidFill>
                  <a:schemeClr val="bg2"/>
                </a:solidFill>
              </a:rPr>
              <a:t>综合评价集</a:t>
            </a:r>
            <a:r>
              <a:rPr lang="en-US" altLang="zh-CN" b="1" dirty="0">
                <a:solidFill>
                  <a:schemeClr val="bg2"/>
                </a:solidFill>
              </a:rPr>
              <a:t>B</a:t>
            </a:r>
            <a:endParaRPr lang="en-US" altLang="zh-CN" sz="2800" dirty="0">
              <a:solidFill>
                <a:srgbClr val="F72603"/>
              </a:solidFill>
              <a:ea typeface="黑体" pitchFamily="2" charset="-122"/>
            </a:endParaRPr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endParaRPr lang="en-US" altLang="zh-CN" sz="2800" b="1" dirty="0"/>
          </a:p>
          <a:p>
            <a:pPr marL="609600" indent="-609600" eaLnBrk="1" hangingPunct="1">
              <a:buNone/>
            </a:pPr>
            <a:r>
              <a:rPr lang="en-US" altLang="zh-CN" b="1" dirty="0"/>
              <a:t>⑤</a:t>
            </a:r>
            <a:r>
              <a:rPr lang="zh-CN" altLang="en-US" b="1" dirty="0"/>
              <a:t>综合评判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因为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B(v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)=0.40=max{0.30,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0.40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 0.20, 0.10},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所以，由</a:t>
            </a:r>
            <a:r>
              <a:rPr lang="zh-CN" altLang="en-US" sz="2800" u="sng" dirty="0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，认为该教师的教学质量为“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良好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”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 </a:t>
            </a:r>
          </a:p>
        </p:txBody>
      </p:sp>
      <p:graphicFrame>
        <p:nvGraphicFramePr>
          <p:cNvPr id="32772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19289" y="2276475"/>
          <a:ext cx="8353425" cy="235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981489" imgH="1076220" progId="Equation.3">
                  <p:embed/>
                </p:oleObj>
              </mc:Choice>
              <mc:Fallback>
                <p:oleObj name="公式" r:id="rId3" imgW="3981489" imgH="1076220" progId="Equation.3">
                  <p:embed/>
                  <p:pic>
                    <p:nvPicPr>
                      <p:cNvPr id="327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276475"/>
                        <a:ext cx="8353425" cy="235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43" name="AutoShape 15"/>
          <p:cNvSpPr>
            <a:spLocks noChangeArrowheads="1"/>
          </p:cNvSpPr>
          <p:nvPr/>
        </p:nvSpPr>
        <p:spPr bwMode="auto">
          <a:xfrm>
            <a:off x="6959600" y="3213100"/>
            <a:ext cx="3168650" cy="431800"/>
          </a:xfrm>
          <a:prstGeom prst="flowChartAlternateProcess">
            <a:avLst/>
          </a:prstGeom>
          <a:noFill/>
          <a:ln w="28575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8545" name="Rectangle 17"/>
          <p:cNvSpPr>
            <a:spLocks noChangeArrowheads="1"/>
          </p:cNvSpPr>
          <p:nvPr/>
        </p:nvSpPr>
        <p:spPr bwMode="auto">
          <a:xfrm>
            <a:off x="2201864" y="4189413"/>
            <a:ext cx="344487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3333FF"/>
                </a:solidFill>
              </a:rPr>
              <a:t>=(0.30, 0.40, 0.20, 0.10)</a:t>
            </a:r>
          </a:p>
        </p:txBody>
      </p:sp>
      <p:sp>
        <p:nvSpPr>
          <p:cNvPr id="32775" name="Rectangle 16"/>
          <p:cNvSpPr>
            <a:spLocks noChangeArrowheads="1"/>
          </p:cNvSpPr>
          <p:nvPr/>
        </p:nvSpPr>
        <p:spPr bwMode="auto">
          <a:xfrm>
            <a:off x="3359151" y="3213101"/>
            <a:ext cx="3313113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</a:rPr>
              <a:t>(0.20 0.20 0.40 0.10 0.10)</a:t>
            </a:r>
          </a:p>
        </p:txBody>
      </p: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4583114" y="3141664"/>
            <a:ext cx="649287" cy="503237"/>
          </a:xfrm>
          <a:prstGeom prst="ellipse">
            <a:avLst/>
          </a:prstGeom>
          <a:noFill/>
          <a:ln w="28575" algn="ctr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087987-BEB4-647B-9115-F8E3E4DFAB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363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8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8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8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43" grpId="0" animBg="1"/>
      <p:bldP spid="278545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（∧，∨）的适用范围</a:t>
            </a: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916114"/>
            <a:ext cx="10009112" cy="44545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ea typeface="楷体_GB2312" pitchFamily="49" charset="-122"/>
              </a:rPr>
              <a:t>属于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主因素突出型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的综合评判</a:t>
            </a:r>
            <a:r>
              <a:rPr lang="zh-CN" altLang="en-US" b="1" dirty="0">
                <a:ea typeface="楷体_GB2312" pitchFamily="49" charset="-122"/>
              </a:rPr>
              <a:t>，其评判结果只取决于在总评价上起主要作用的那个因素，其余因素均不影响评判结果。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此模型比较适用于</a:t>
            </a:r>
            <a:r>
              <a:rPr lang="zh-CN" altLang="en-US" u="sng" dirty="0">
                <a:solidFill>
                  <a:srgbClr val="CC00CC"/>
                </a:solidFill>
                <a:ea typeface="黑体" pitchFamily="2" charset="-122"/>
              </a:rPr>
              <a:t>单项评判最优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就能作为综合评判最优的情况。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注意</a:t>
            </a:r>
            <a:r>
              <a:rPr lang="zh-CN" altLang="en-US" dirty="0">
                <a:ea typeface="黑体" pitchFamily="2" charset="-122"/>
              </a:rPr>
              <a:t>：因素重要程度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集</a:t>
            </a:r>
            <a:r>
              <a:rPr lang="en-US" altLang="zh-CN" dirty="0">
                <a:ea typeface="黑体" pitchFamily="2" charset="-122"/>
              </a:rPr>
              <a:t>A</a:t>
            </a:r>
            <a:r>
              <a:rPr lang="zh-CN" altLang="en-US" dirty="0">
                <a:ea typeface="黑体" pitchFamily="2" charset="-122"/>
              </a:rPr>
              <a:t>中的各元素为在考虑多因素时</a:t>
            </a:r>
            <a:r>
              <a:rPr lang="en-US" altLang="zh-CN" dirty="0" err="1">
                <a:ea typeface="黑体" pitchFamily="2" charset="-122"/>
              </a:rPr>
              <a:t>r</a:t>
            </a:r>
            <a:r>
              <a:rPr lang="en-US" altLang="zh-CN" baseline="-25000" dirty="0" err="1">
                <a:ea typeface="黑体" pitchFamily="2" charset="-122"/>
              </a:rPr>
              <a:t>ij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调整系数</a:t>
            </a:r>
            <a:r>
              <a:rPr lang="zh-CN" altLang="en-US" dirty="0">
                <a:ea typeface="黑体" pitchFamily="2" charset="-122"/>
              </a:rPr>
              <a:t>，而不是普通的权重系数。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6F3655-025B-FDCC-D5FA-CEF710F86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24B7D7-F746-4E05-9A11-DD4FB4529D5B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211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6868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 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（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/>
              <a:t>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，∨）</a:t>
            </a:r>
            <a:r>
              <a:rPr lang="en-US" altLang="zh-CN" sz="3200">
                <a:ea typeface="黑体" pitchFamily="2" charset="-122"/>
              </a:rPr>
              <a:t>(</a:t>
            </a:r>
            <a:r>
              <a:rPr lang="en-US" altLang="zh-CN">
                <a:ea typeface="黑体" pitchFamily="2" charset="-122"/>
                <a:sym typeface="Symbol" pitchFamily="18" charset="2"/>
              </a:rPr>
              <a:t>•</a:t>
            </a:r>
            <a:r>
              <a:rPr lang="zh-CN" altLang="en-US" sz="3200"/>
              <a:t>为代数乘运算</a:t>
            </a:r>
            <a:r>
              <a:rPr lang="en-US" altLang="zh-CN" sz="3200"/>
              <a:t>)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341438"/>
            <a:ext cx="10225136" cy="55165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endParaRPr lang="en-US" altLang="zh-CN" sz="2800" b="1" dirty="0">
              <a:solidFill>
                <a:schemeClr val="bg2"/>
              </a:solidFill>
              <a:ea typeface="黑体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endParaRPr lang="en-US" altLang="zh-CN" sz="2400" dirty="0">
              <a:ea typeface="黑体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endParaRPr lang="en-US" altLang="zh-CN" sz="4000" dirty="0">
              <a:ea typeface="黑体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None/>
            </a:pPr>
            <a:endParaRPr lang="en-US" altLang="zh-CN" sz="900" dirty="0">
              <a:ea typeface="黑体" pitchFamily="2" charset="-122"/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模型的特点：</a:t>
            </a:r>
          </a:p>
          <a:p>
            <a:pPr marL="990600" lvl="1" indent="-533400" eaLnBrk="1" hangingPunct="1">
              <a:lnSpc>
                <a:spcPct val="90000"/>
              </a:lnSpc>
            </a:pPr>
            <a:r>
              <a:rPr lang="zh-CN" altLang="en-US" b="1" dirty="0">
                <a:ea typeface="楷体_GB2312" pitchFamily="49" charset="-122"/>
              </a:rPr>
              <a:t>先将因素</a:t>
            </a:r>
            <a:r>
              <a:rPr lang="en-US" altLang="zh-CN" b="1" dirty="0" err="1">
                <a:ea typeface="楷体_GB2312" pitchFamily="49" charset="-122"/>
              </a:rPr>
              <a:t>u</a:t>
            </a:r>
            <a:r>
              <a:rPr lang="en-US" altLang="zh-CN" b="1" baseline="-25000" dirty="0" err="1">
                <a:ea typeface="楷体_GB2312" pitchFamily="49" charset="-122"/>
              </a:rPr>
              <a:t>i</a:t>
            </a:r>
            <a:r>
              <a:rPr lang="zh-CN" altLang="en-US" b="1" dirty="0">
                <a:ea typeface="楷体_GB2312" pitchFamily="49" charset="-122"/>
              </a:rPr>
              <a:t>的评价对评语</a:t>
            </a:r>
            <a:r>
              <a:rPr lang="en-US" altLang="zh-CN" b="1" dirty="0" err="1">
                <a:ea typeface="楷体_GB2312" pitchFamily="49" charset="-122"/>
              </a:rPr>
              <a:t>v</a:t>
            </a:r>
            <a:r>
              <a:rPr lang="en-US" altLang="zh-CN" b="1" baseline="-25000" dirty="0" err="1">
                <a:ea typeface="楷体_GB2312" pitchFamily="49" charset="-122"/>
              </a:rPr>
              <a:t>j</a:t>
            </a:r>
            <a:r>
              <a:rPr lang="zh-CN" altLang="en-US" b="1" dirty="0">
                <a:ea typeface="楷体_GB2312" pitchFamily="49" charset="-122"/>
              </a:rPr>
              <a:t>的隶属程度</a:t>
            </a:r>
            <a:r>
              <a:rPr lang="en-US" altLang="zh-CN" b="1" dirty="0" err="1">
                <a:ea typeface="楷体_GB2312" pitchFamily="49" charset="-122"/>
              </a:rPr>
              <a:t>r</a:t>
            </a:r>
            <a:r>
              <a:rPr lang="en-US" altLang="zh-CN" b="1" baseline="-25000" dirty="0" err="1">
                <a:ea typeface="楷体_GB2312" pitchFamily="49" charset="-122"/>
              </a:rPr>
              <a:t>ij</a:t>
            </a:r>
            <a:r>
              <a:rPr lang="zh-CN" altLang="en-US" b="1" dirty="0">
                <a:ea typeface="楷体_GB2312" pitchFamily="49" charset="-122"/>
              </a:rPr>
              <a:t>调整为</a:t>
            </a:r>
            <a:r>
              <a:rPr lang="zh-CN" altLang="en-US" sz="2400" b="1" dirty="0">
                <a:ea typeface="楷体_GB2312" pitchFamily="49" charset="-122"/>
              </a:rPr>
              <a:t>，</a:t>
            </a:r>
          </a:p>
          <a:p>
            <a:pPr marL="990600" lvl="1" indent="-533400" eaLnBrk="1" hangingPunct="1">
              <a:lnSpc>
                <a:spcPct val="90000"/>
              </a:lnSpc>
              <a:buNone/>
            </a:pPr>
            <a:endParaRPr lang="zh-CN" altLang="en-US" sz="2400" b="1" dirty="0">
              <a:ea typeface="楷体_GB2312" pitchFamily="49" charset="-122"/>
            </a:endParaRPr>
          </a:p>
          <a:p>
            <a:pPr marL="990600" lvl="1" indent="-533400" eaLnBrk="1" hangingPunct="1">
              <a:lnSpc>
                <a:spcPct val="90000"/>
              </a:lnSpc>
              <a:buNone/>
            </a:pPr>
            <a:endParaRPr lang="zh-CN" altLang="en-US" sz="1600" b="1" dirty="0">
              <a:ea typeface="楷体_GB2312" pitchFamily="49" charset="-122"/>
            </a:endParaRPr>
          </a:p>
          <a:p>
            <a:pPr marL="609600" indent="-609600" eaLnBrk="1" hangingPunct="1">
              <a:lnSpc>
                <a:spcPct val="110000"/>
              </a:lnSpc>
              <a:buNone/>
            </a:pPr>
            <a:r>
              <a:rPr lang="zh-CN" altLang="en-US" sz="2800" b="1" dirty="0">
                <a:ea typeface="楷体_GB2312" pitchFamily="49" charset="-122"/>
              </a:rPr>
              <a:t>       这是一种</a:t>
            </a:r>
            <a:r>
              <a:rPr lang="zh-CN" altLang="en-US" sz="2800" b="1" dirty="0">
                <a:solidFill>
                  <a:srgbClr val="F72603"/>
                </a:solidFill>
                <a:ea typeface="楷体_GB2312" pitchFamily="49" charset="-122"/>
              </a:rPr>
              <a:t>以</a:t>
            </a:r>
            <a:r>
              <a:rPr lang="en-US" altLang="zh-CN" sz="2800" b="1" dirty="0" err="1">
                <a:solidFill>
                  <a:srgbClr val="F72603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 err="1">
                <a:solidFill>
                  <a:srgbClr val="F72603"/>
                </a:solidFill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F72603"/>
                </a:solidFill>
                <a:ea typeface="楷体_GB2312" pitchFamily="49" charset="-122"/>
              </a:rPr>
              <a:t>倍缩小</a:t>
            </a:r>
            <a:r>
              <a:rPr lang="en-US" altLang="zh-CN" sz="2800" b="1" dirty="0" err="1">
                <a:solidFill>
                  <a:srgbClr val="F72603"/>
                </a:solidFill>
                <a:ea typeface="楷体_GB2312" pitchFamily="49" charset="-122"/>
              </a:rPr>
              <a:t>r</a:t>
            </a:r>
            <a:r>
              <a:rPr lang="en-US" altLang="zh-CN" sz="2800" b="1" baseline="-25000" dirty="0" err="1">
                <a:solidFill>
                  <a:srgbClr val="F72603"/>
                </a:solidFill>
                <a:ea typeface="楷体_GB2312" pitchFamily="49" charset="-122"/>
              </a:rPr>
              <a:t>ij</a:t>
            </a:r>
            <a:r>
              <a:rPr lang="zh-CN" altLang="en-US" sz="2800" b="1" dirty="0">
                <a:solidFill>
                  <a:srgbClr val="F72603"/>
                </a:solidFill>
                <a:ea typeface="楷体_GB2312" pitchFamily="49" charset="-122"/>
              </a:rPr>
              <a:t>的策略</a:t>
            </a:r>
            <a:r>
              <a:rPr lang="zh-CN" altLang="en-US" sz="2800" b="1" dirty="0">
                <a:ea typeface="楷体_GB2312" pitchFamily="49" charset="-122"/>
              </a:rPr>
              <a:t>，</a:t>
            </a:r>
            <a:r>
              <a:rPr lang="en-US" altLang="zh-CN" sz="2800" b="1" dirty="0" err="1">
                <a:ea typeface="楷体_GB2312" pitchFamily="49" charset="-122"/>
              </a:rPr>
              <a:t>a</a:t>
            </a:r>
            <a:r>
              <a:rPr lang="en-US" altLang="zh-CN" sz="2800" b="1" baseline="-25000" dirty="0" err="1">
                <a:ea typeface="楷体_GB2312" pitchFamily="49" charset="-122"/>
              </a:rPr>
              <a:t>i</a:t>
            </a:r>
            <a:r>
              <a:rPr lang="zh-CN" altLang="en-US" sz="2800" b="1" dirty="0">
                <a:ea typeface="楷体_GB2312" pitchFamily="49" charset="-122"/>
              </a:rPr>
              <a:t>也是一种调整系数</a:t>
            </a:r>
          </a:p>
          <a:p>
            <a:pPr marL="990600" lvl="1" indent="-533400" eaLnBrk="1" hangingPunct="1">
              <a:lnSpc>
                <a:spcPct val="110000"/>
              </a:lnSpc>
            </a:pPr>
            <a:r>
              <a:rPr lang="zh-CN" altLang="en-US" b="1" dirty="0">
                <a:ea typeface="楷体_GB2312" pitchFamily="49" charset="-122"/>
              </a:rPr>
              <a:t>再将各因素调整后的所有隶属度     的最大者作为评语</a:t>
            </a:r>
            <a:r>
              <a:rPr lang="en-US" altLang="zh-CN" b="1" dirty="0" err="1">
                <a:ea typeface="楷体_GB2312" pitchFamily="49" charset="-122"/>
              </a:rPr>
              <a:t>v</a:t>
            </a:r>
            <a:r>
              <a:rPr lang="en-US" altLang="zh-CN" b="1" baseline="-25000" dirty="0" err="1">
                <a:ea typeface="楷体_GB2312" pitchFamily="49" charset="-122"/>
              </a:rPr>
              <a:t>j</a:t>
            </a:r>
            <a:r>
              <a:rPr lang="zh-CN" altLang="en-US" b="1" dirty="0">
                <a:ea typeface="楷体_GB2312" pitchFamily="49" charset="-122"/>
              </a:rPr>
              <a:t>对综合评判后的隶属度</a:t>
            </a:r>
            <a:r>
              <a:rPr lang="en-US" altLang="zh-CN" b="1" dirty="0">
                <a:ea typeface="楷体_GB2312" pitchFamily="49" charset="-122"/>
              </a:rPr>
              <a:t>b</a:t>
            </a:r>
            <a:r>
              <a:rPr lang="en-US" altLang="zh-CN" b="1" baseline="-25000" dirty="0">
                <a:ea typeface="楷体_GB2312" pitchFamily="49" charset="-122"/>
              </a:rPr>
              <a:t>i</a:t>
            </a:r>
            <a:r>
              <a:rPr lang="zh-CN" altLang="en-US" b="1" dirty="0">
                <a:ea typeface="楷体_GB2312" pitchFamily="49" charset="-122"/>
              </a:rPr>
              <a:t>，</a:t>
            </a:r>
          </a:p>
        </p:txBody>
      </p:sp>
      <p:graphicFrame>
        <p:nvGraphicFramePr>
          <p:cNvPr id="16179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84212" y="1361844"/>
          <a:ext cx="41338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304560" progId="Equation.DSMT4">
                  <p:embed/>
                </p:oleObj>
              </mc:Choice>
              <mc:Fallback>
                <p:oleObj name="Equation" r:id="rId3" imgW="2082600" imgH="304560" progId="Equation.DSMT4">
                  <p:embed/>
                  <p:pic>
                    <p:nvPicPr>
                      <p:cNvPr id="161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212" y="1361844"/>
                        <a:ext cx="41338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08238" y="1989138"/>
          <a:ext cx="428942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600" imgH="368280" progId="Equation.DSMT4">
                  <p:embed/>
                </p:oleObj>
              </mc:Choice>
              <mc:Fallback>
                <p:oleObj name="Equation" r:id="rId5" imgW="1866600" imgH="368280" progId="Equation.DSMT4">
                  <p:embed/>
                  <p:pic>
                    <p:nvPicPr>
                      <p:cNvPr id="161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1989138"/>
                        <a:ext cx="4289425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7032104" y="5229200"/>
          <a:ext cx="392112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4957" imgH="253780" progId="Equation.3">
                  <p:embed/>
                </p:oleObj>
              </mc:Choice>
              <mc:Fallback>
                <p:oleObj name="公式" r:id="rId7" imgW="164957" imgH="253780" progId="Equation.3">
                  <p:embed/>
                  <p:pic>
                    <p:nvPicPr>
                      <p:cNvPr id="161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104" y="5229200"/>
                        <a:ext cx="392112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0" name="Object 8"/>
          <p:cNvGraphicFramePr>
            <a:graphicFrameLocks noChangeAspect="1"/>
          </p:cNvGraphicFramePr>
          <p:nvPr/>
        </p:nvGraphicFramePr>
        <p:xfrm>
          <a:off x="3709988" y="4005263"/>
          <a:ext cx="398145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53800" progId="Equation.DSMT4">
                  <p:embed/>
                </p:oleObj>
              </mc:Choice>
              <mc:Fallback>
                <p:oleObj name="Equation" r:id="rId9" imgW="1638000" imgH="253800" progId="Equation.DSMT4">
                  <p:embed/>
                  <p:pic>
                    <p:nvPicPr>
                      <p:cNvPr id="161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4005263"/>
                        <a:ext cx="398145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0718F0-D741-3BC2-E048-1C7909DA7F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60296" y="6172200"/>
            <a:ext cx="2844800" cy="457200"/>
          </a:xfrm>
        </p:spPr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119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1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 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>
                <a:solidFill>
                  <a:srgbClr val="008000"/>
                </a:solidFill>
              </a:rPr>
              <a:t> </a:t>
            </a:r>
            <a:r>
              <a:rPr lang="zh-CN" altLang="en-US">
                <a:solidFill>
                  <a:srgbClr val="008000"/>
                </a:solidFill>
              </a:rPr>
              <a:t>，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∨）应用举例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484314"/>
            <a:ext cx="10297144" cy="53736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教师的教学质量的评估问题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前三步与模型</a:t>
            </a:r>
            <a:r>
              <a:rPr lang="en-US" altLang="zh-CN" sz="2400" b="1" dirty="0"/>
              <a:t>M</a:t>
            </a:r>
            <a:r>
              <a:rPr lang="zh-CN" altLang="en-US" sz="2400" dirty="0">
                <a:ea typeface="黑体" pitchFamily="2" charset="-122"/>
              </a:rPr>
              <a:t>（∧，∨）方法相同，得</a:t>
            </a:r>
            <a:r>
              <a:rPr lang="zh-CN" altLang="en-US" sz="2400" b="1" dirty="0">
                <a:solidFill>
                  <a:srgbClr val="F72603"/>
                </a:solidFill>
              </a:rPr>
              <a:t>综合评判矩阵</a:t>
            </a:r>
            <a:r>
              <a:rPr lang="en-US" altLang="zh-CN" sz="2400" b="1" dirty="0">
                <a:solidFill>
                  <a:srgbClr val="F72603"/>
                </a:solidFill>
              </a:rPr>
              <a:t>R</a:t>
            </a:r>
            <a:r>
              <a:rPr lang="zh-CN" altLang="en-US" sz="2400" b="1" dirty="0">
                <a:solidFill>
                  <a:srgbClr val="F72603"/>
                </a:solidFill>
              </a:rPr>
              <a:t>和因素重要程度</a:t>
            </a:r>
            <a:r>
              <a:rPr lang="en-US" altLang="zh-CN" sz="2400" b="1" dirty="0">
                <a:solidFill>
                  <a:srgbClr val="F72603"/>
                </a:solidFill>
              </a:rPr>
              <a:t>F</a:t>
            </a:r>
            <a:r>
              <a:rPr lang="zh-CN" altLang="en-US" sz="2400" b="1" dirty="0">
                <a:solidFill>
                  <a:srgbClr val="F72603"/>
                </a:solidFill>
              </a:rPr>
              <a:t>集</a:t>
            </a:r>
            <a:r>
              <a:rPr lang="en-US" altLang="zh-CN" sz="2400" b="1" dirty="0">
                <a:solidFill>
                  <a:srgbClr val="F72603"/>
                </a:solidFill>
              </a:rPr>
              <a:t>A</a:t>
            </a:r>
            <a:r>
              <a:rPr lang="zh-CN" altLang="en-US" sz="2400" b="1" dirty="0">
                <a:solidFill>
                  <a:srgbClr val="F72603"/>
                </a:solidFill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latin typeface="宋体" charset="-122"/>
              </a:rPr>
              <a:t>④</a:t>
            </a:r>
            <a:r>
              <a:rPr lang="zh-CN" altLang="en-US" sz="2400" b="1" dirty="0">
                <a:solidFill>
                  <a:schemeClr val="bg2"/>
                </a:solidFill>
                <a:latin typeface="宋体" charset="-122"/>
              </a:rPr>
              <a:t>确定综合评价模型，求出</a:t>
            </a: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  <a:latin typeface="宋体" charset="-122"/>
              </a:rPr>
              <a:t>综合评价集</a:t>
            </a: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B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 B=A </a:t>
            </a:r>
            <a:r>
              <a:rPr lang="zh-CN" altLang="en-US" sz="24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R=</a:t>
            </a:r>
            <a:r>
              <a:rPr lang="en-US" altLang="zh-CN" sz="20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</a:rPr>
              <a:t>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B=(0.135,0.080,0.060,0.030)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/>
              <a:t>⑤</a:t>
            </a:r>
            <a:r>
              <a:rPr lang="zh-CN" altLang="en-US" sz="2400" b="1" dirty="0"/>
              <a:t>综合评判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因为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B(v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)=0.135=max{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0.135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 0.080, 0.060, 0.030},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所以，由最大隶属度原则，认为该教师的教学质量为“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优秀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”</a:t>
            </a:r>
          </a:p>
        </p:txBody>
      </p:sp>
      <p:graphicFrame>
        <p:nvGraphicFramePr>
          <p:cNvPr id="16282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343150" y="3306763"/>
          <a:ext cx="45545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600" imgH="368280" progId="Equation.DSMT4">
                  <p:embed/>
                </p:oleObj>
              </mc:Choice>
              <mc:Fallback>
                <p:oleObj name="Equation" r:id="rId3" imgW="1866600" imgH="368280" progId="Equation.DSMT4">
                  <p:embed/>
                  <p:pic>
                    <p:nvPicPr>
                      <p:cNvPr id="162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3306763"/>
                        <a:ext cx="455453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7283461" y="3525519"/>
            <a:ext cx="41120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09600" indent="-609600"/>
            <a:r>
              <a:rPr lang="en-US" altLang="zh-CN" sz="2400" dirty="0">
                <a:solidFill>
                  <a:srgbClr val="F72603"/>
                </a:solidFill>
              </a:rPr>
              <a:t>A=(0.30,0.20,0.20,0.20,0.10)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659ECD-0214-879C-0C11-0DCCDC4E0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9B3504-16D4-4C04-B1A4-25F8AB881801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64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2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2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2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2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M(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sz="4000" dirty="0">
                <a:solidFill>
                  <a:srgbClr val="008000"/>
                </a:solidFill>
              </a:rPr>
              <a:t> </a:t>
            </a:r>
            <a:r>
              <a:rPr lang="zh-CN" altLang="en-US" sz="4000" dirty="0">
                <a:solidFill>
                  <a:srgbClr val="008000"/>
                </a:solidFill>
              </a:rPr>
              <a:t>，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∨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)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与模型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M(∧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，∨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)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比较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84314"/>
            <a:ext cx="9649072" cy="537368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教师的教学质量的评估问题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B=A </a:t>
            </a:r>
            <a:r>
              <a:rPr lang="zh-CN" altLang="en-US" sz="28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 R=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</a:rPr>
              <a:t>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8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8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F72603"/>
                </a:solidFill>
              </a:rPr>
              <a:t>    </a:t>
            </a:r>
            <a:r>
              <a:rPr lang="en-US" altLang="zh-CN" sz="2800" dirty="0">
                <a:solidFill>
                  <a:srgbClr val="F72603"/>
                </a:solidFill>
              </a:rPr>
              <a:t>A’=(0.20,0.20,0.30,0.20,0.10)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72603"/>
                </a:solidFill>
              </a:rPr>
              <a:t>   </a:t>
            </a:r>
            <a:r>
              <a:rPr lang="en-US" altLang="zh-CN" sz="2800" dirty="0"/>
              <a:t>(1)</a:t>
            </a:r>
            <a:r>
              <a:rPr lang="zh-CN" altLang="en-US" sz="2800" dirty="0"/>
              <a:t>用模型</a:t>
            </a:r>
            <a:r>
              <a:rPr lang="en-US" altLang="zh-CN" sz="2800" dirty="0">
                <a:ea typeface="黑体" pitchFamily="2" charset="-122"/>
              </a:rPr>
              <a:t>M(∧</a:t>
            </a:r>
            <a:r>
              <a:rPr lang="zh-CN" altLang="en-US" sz="2800" dirty="0">
                <a:ea typeface="黑体" pitchFamily="2" charset="-122"/>
              </a:rPr>
              <a:t>，∨</a:t>
            </a:r>
            <a:r>
              <a:rPr lang="en-US" altLang="zh-CN" sz="2800" dirty="0"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算得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   </a:t>
            </a:r>
            <a:r>
              <a:rPr lang="en-US" altLang="zh-CN" sz="2800" dirty="0">
                <a:ea typeface="黑体" pitchFamily="2" charset="-122"/>
              </a:rPr>
              <a:t>B=(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0.30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0.30</a:t>
            </a:r>
            <a:r>
              <a:rPr lang="en-US" altLang="zh-CN" sz="2800" dirty="0">
                <a:ea typeface="黑体" pitchFamily="2" charset="-122"/>
              </a:rPr>
              <a:t>, 0.20, 0.10)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     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此时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zh-CN" altLang="en-US" sz="2800" b="1" dirty="0"/>
              <a:t>综合评判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用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  <a:r>
              <a:rPr lang="zh-CN" altLang="en-US" sz="2800" dirty="0">
                <a:ea typeface="黑体" pitchFamily="2" charset="-122"/>
              </a:rPr>
              <a:t>失效。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   </a:t>
            </a:r>
            <a:r>
              <a:rPr lang="en-US" altLang="zh-CN" sz="2800" dirty="0"/>
              <a:t>(2)</a:t>
            </a:r>
            <a:r>
              <a:rPr lang="zh-CN" altLang="en-US" sz="2800" dirty="0"/>
              <a:t>用模型</a:t>
            </a:r>
            <a:r>
              <a:rPr lang="en-US" altLang="zh-CN" sz="2800" dirty="0">
                <a:ea typeface="黑体" pitchFamily="2" charset="-122"/>
              </a:rPr>
              <a:t>M(</a:t>
            </a:r>
            <a:r>
              <a:rPr lang="en-US" altLang="zh-CN" sz="2800" dirty="0"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sz="2800" dirty="0">
                <a:solidFill>
                  <a:srgbClr val="008000"/>
                </a:solidFill>
              </a:rPr>
              <a:t> </a:t>
            </a:r>
            <a:r>
              <a:rPr lang="zh-CN" altLang="en-US" sz="2800" dirty="0">
                <a:ea typeface="黑体" pitchFamily="2" charset="-122"/>
              </a:rPr>
              <a:t>，∨</a:t>
            </a:r>
            <a:r>
              <a:rPr lang="en-US" altLang="zh-CN" sz="2800" dirty="0">
                <a:ea typeface="黑体" pitchFamily="2" charset="-122"/>
              </a:rPr>
              <a:t>)</a:t>
            </a:r>
            <a:r>
              <a:rPr lang="zh-CN" altLang="en-US" sz="2800" dirty="0">
                <a:ea typeface="黑体" pitchFamily="2" charset="-122"/>
              </a:rPr>
              <a:t>算得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   </a:t>
            </a:r>
            <a:r>
              <a:rPr lang="en-US" altLang="zh-CN" sz="2800" dirty="0">
                <a:ea typeface="黑体" pitchFamily="2" charset="-122"/>
              </a:rPr>
              <a:t>B=(0.10,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0.12</a:t>
            </a:r>
            <a:r>
              <a:rPr lang="en-US" altLang="zh-CN" sz="2800" dirty="0">
                <a:ea typeface="黑体" pitchFamily="2" charset="-122"/>
              </a:rPr>
              <a:t>, 0.06, 0.03)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8000"/>
                </a:solidFill>
                <a:ea typeface="黑体" pitchFamily="2" charset="-122"/>
              </a:rPr>
              <a:t>  </a:t>
            </a:r>
            <a:r>
              <a:rPr lang="zh-CN" altLang="en-US" sz="2800" dirty="0">
                <a:ea typeface="黑体" pitchFamily="2" charset="-122"/>
              </a:rPr>
              <a:t>由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  <a:r>
              <a:rPr lang="zh-CN" altLang="en-US" sz="2800" dirty="0">
                <a:ea typeface="黑体" pitchFamily="2" charset="-122"/>
              </a:rPr>
              <a:t>，认为该教师的教学质量为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“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良好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”。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C2152DD-D533-A4EE-B3A8-13D4095E6F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9B3504-16D4-4C04-B1A4-25F8AB881801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76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4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84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 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>
                <a:solidFill>
                  <a:srgbClr val="008000"/>
                </a:solidFill>
              </a:rPr>
              <a:t> </a:t>
            </a:r>
            <a:r>
              <a:rPr lang="zh-CN" altLang="en-US">
                <a:solidFill>
                  <a:srgbClr val="008000"/>
                </a:solidFill>
              </a:rPr>
              <a:t>，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∨）的适用范围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981201"/>
            <a:ext cx="9865096" cy="45434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属于</a:t>
            </a:r>
            <a:r>
              <a:rPr lang="zh-CN" altLang="en-US" b="1" u="sng" dirty="0">
                <a:solidFill>
                  <a:schemeClr val="tx2"/>
                </a:solidFill>
                <a:ea typeface="楷体_GB2312" pitchFamily="49" charset="-122"/>
              </a:rPr>
              <a:t>主因素突出型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的综合评价，它与模型 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M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（∧，∨）相近，但比它更精细些，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不仅突出了主要因素，也兼顾了其他因素。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此模型适用于模型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（∧，∨）失效（不可区别），需要“加细”的情况。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注意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：在此模型中， 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是在考虑多因素时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r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ij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的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调整系数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，没有权重系数的意义，即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不一定“归一”。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789B73-F49E-2AC5-BDF2-58AAA39052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24B7D7-F746-4E05-9A11-DD4FB4529D5B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87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6868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取小</a:t>
            </a:r>
            <a:r>
              <a:rPr lang="zh-CN" altLang="en-US" u="sng" dirty="0">
                <a:solidFill>
                  <a:srgbClr val="008000"/>
                </a:solidFill>
                <a:ea typeface="黑体" pitchFamily="2" charset="-122"/>
              </a:rPr>
              <a:t>上界和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（∧，</a:t>
            </a:r>
            <a:r>
              <a:rPr lang="zh-CN" altLang="zh-CN" dirty="0">
                <a:solidFill>
                  <a:srgbClr val="008000"/>
                </a:solidFill>
              </a:rPr>
              <a:t>⊕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）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557338"/>
            <a:ext cx="9396536" cy="5300662"/>
          </a:xfrm>
        </p:spPr>
        <p:txBody>
          <a:bodyPr/>
          <a:lstStyle/>
          <a:p>
            <a:pPr marL="609600" indent="-609600" eaLnBrk="1" hangingPunct="1">
              <a:buNone/>
            </a:pPr>
            <a:endParaRPr lang="en-US" altLang="zh-CN" sz="2800" b="1" dirty="0">
              <a:solidFill>
                <a:schemeClr val="bg2"/>
              </a:solidFill>
              <a:ea typeface="黑体" pitchFamily="2" charset="-122"/>
            </a:endParaRPr>
          </a:p>
          <a:p>
            <a:pPr marL="609600" indent="-609600" eaLnBrk="1" hangingPunct="1">
              <a:buNone/>
            </a:pPr>
            <a:endParaRPr lang="en-US" altLang="zh-CN" sz="2400" dirty="0">
              <a:ea typeface="黑体" pitchFamily="2" charset="-122"/>
            </a:endParaRPr>
          </a:p>
          <a:p>
            <a:pPr marL="609600" indent="-609600" eaLnBrk="1" hangingPunct="1">
              <a:buNone/>
            </a:pPr>
            <a:endParaRPr lang="en-US" altLang="zh-CN" sz="1800" dirty="0">
              <a:solidFill>
                <a:srgbClr val="008000"/>
              </a:solidFill>
              <a:ea typeface="黑体" pitchFamily="2" charset="-122"/>
            </a:endParaRPr>
          </a:p>
          <a:p>
            <a:pPr marL="609600" indent="-609600"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模型的特点：</a:t>
            </a: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先将单因素评价中的元素</a:t>
            </a:r>
            <a:r>
              <a:rPr lang="en-US" altLang="zh-CN" dirty="0" err="1">
                <a:ea typeface="黑体" pitchFamily="2" charset="-122"/>
              </a:rPr>
              <a:t>r</a:t>
            </a:r>
            <a:r>
              <a:rPr lang="en-US" altLang="zh-CN" baseline="-25000" dirty="0" err="1">
                <a:ea typeface="黑体" pitchFamily="2" charset="-122"/>
              </a:rPr>
              <a:t>ij</a:t>
            </a:r>
            <a:r>
              <a:rPr lang="zh-CN" altLang="en-US" dirty="0">
                <a:ea typeface="黑体" pitchFamily="2" charset="-122"/>
              </a:rPr>
              <a:t>调整为</a:t>
            </a:r>
          </a:p>
          <a:p>
            <a:pPr marL="990600" lvl="1" indent="-533400" eaLnBrk="1" hangingPunct="1">
              <a:buNone/>
            </a:pPr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marL="990600" lvl="1" indent="-533400" eaLnBrk="1" hangingPunct="1">
              <a:buNone/>
            </a:pPr>
            <a:endParaRPr lang="zh-CN" altLang="en-US" sz="1800" dirty="0">
              <a:solidFill>
                <a:schemeClr val="bg2"/>
              </a:solidFill>
              <a:ea typeface="黑体" pitchFamily="2" charset="-122"/>
            </a:endParaRP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然后对各     作有上界相加以求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，因此， 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也是在考虑多因素时</a:t>
            </a:r>
            <a:r>
              <a:rPr lang="en-US" altLang="zh-CN" dirty="0" err="1">
                <a:ea typeface="黑体" pitchFamily="2" charset="-122"/>
              </a:rPr>
              <a:t>r</a:t>
            </a:r>
            <a:r>
              <a:rPr lang="en-US" altLang="zh-CN" baseline="-25000" dirty="0" err="1">
                <a:ea typeface="黑体" pitchFamily="2" charset="-122"/>
              </a:rPr>
              <a:t>ij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调整系数，</a:t>
            </a:r>
          </a:p>
          <a:p>
            <a:pPr marL="990600" lvl="1" indent="-533400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此模型是一种对每个评语</a:t>
            </a:r>
            <a:r>
              <a:rPr lang="en-US" altLang="zh-CN" dirty="0" err="1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lang="en-US" altLang="zh-CN" baseline="-25000" dirty="0" err="1">
                <a:solidFill>
                  <a:srgbClr val="008000"/>
                </a:solidFill>
                <a:ea typeface="黑体" pitchFamily="2" charset="-122"/>
              </a:rPr>
              <a:t>j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都</a:t>
            </a:r>
            <a:r>
              <a:rPr lang="zh-CN" altLang="en-US" u="sng" dirty="0">
                <a:solidFill>
                  <a:srgbClr val="008000"/>
                </a:solidFill>
                <a:ea typeface="黑体" pitchFamily="2" charset="-122"/>
              </a:rPr>
              <a:t>同时考虑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多种因素的综合评判。</a:t>
            </a:r>
          </a:p>
        </p:txBody>
      </p:sp>
      <p:graphicFrame>
        <p:nvGraphicFramePr>
          <p:cNvPr id="17101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79650" y="1341439"/>
          <a:ext cx="503078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145369" imgH="304668" progId="Equation.3">
                  <p:embed/>
                </p:oleObj>
              </mc:Choice>
              <mc:Fallback>
                <p:oleObj name="公式" r:id="rId3" imgW="2145369" imgH="304668" progId="Equation.3">
                  <p:embed/>
                  <p:pic>
                    <p:nvPicPr>
                      <p:cNvPr id="171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341439"/>
                        <a:ext cx="5030788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5" name="Object 7"/>
          <p:cNvGraphicFramePr>
            <a:graphicFrameLocks noChangeAspect="1"/>
          </p:cNvGraphicFramePr>
          <p:nvPr/>
        </p:nvGraphicFramePr>
        <p:xfrm>
          <a:off x="3863752" y="4724400"/>
          <a:ext cx="39211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4957" imgH="253780" progId="Equation.3">
                  <p:embed/>
                </p:oleObj>
              </mc:Choice>
              <mc:Fallback>
                <p:oleObj name="公式" r:id="rId5" imgW="164957" imgH="253780" progId="Equation.3">
                  <p:embed/>
                  <p:pic>
                    <p:nvPicPr>
                      <p:cNvPr id="171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4724400"/>
                        <a:ext cx="392112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6" name="Object 8"/>
          <p:cNvGraphicFramePr>
            <a:graphicFrameLocks noChangeAspect="1"/>
          </p:cNvGraphicFramePr>
          <p:nvPr/>
        </p:nvGraphicFramePr>
        <p:xfrm>
          <a:off x="2279650" y="1916114"/>
          <a:ext cx="7615238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14700" imgH="431800" progId="Equation.3">
                  <p:embed/>
                </p:oleObj>
              </mc:Choice>
              <mc:Fallback>
                <p:oleObj name="公式" r:id="rId7" imgW="3314700" imgH="431800" progId="Equation.3">
                  <p:embed/>
                  <p:pic>
                    <p:nvPicPr>
                      <p:cNvPr id="171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916114"/>
                        <a:ext cx="7615238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8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43250" y="4005263"/>
          <a:ext cx="4103688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714500" imgH="254000" progId="Equation.3">
                  <p:embed/>
                </p:oleObj>
              </mc:Choice>
              <mc:Fallback>
                <p:oleObj name="公式" r:id="rId9" imgW="1714500" imgH="254000" progId="Equation.3">
                  <p:embed/>
                  <p:pic>
                    <p:nvPicPr>
                      <p:cNvPr id="1710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005263"/>
                        <a:ext cx="4103688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FE625D-627E-7DB5-2996-512BB4D56D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23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1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1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1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</a:t>
            </a:r>
            <a:r>
              <a:rPr lang="zh-CN" altLang="zh-CN">
                <a:solidFill>
                  <a:srgbClr val="008000"/>
                </a:solidFill>
              </a:rPr>
              <a:t>⊕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）应用举例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601788"/>
            <a:ext cx="9433048" cy="5256212"/>
          </a:xfrm>
        </p:spPr>
        <p:txBody>
          <a:bodyPr/>
          <a:lstStyle/>
          <a:p>
            <a:pPr eaLnBrk="1" hangingPunct="1">
              <a:lnSpc>
                <a:spcPct val="99000"/>
              </a:lnSpc>
            </a:pP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教师的教学质量的评估问题</a:t>
            </a: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zh-CN" altLang="en-US" sz="2400" b="1" dirty="0"/>
              <a:t>    前三步与模型</a:t>
            </a:r>
            <a:r>
              <a:rPr lang="en-US" altLang="zh-CN" sz="2400" b="1" dirty="0"/>
              <a:t>M</a:t>
            </a:r>
            <a:r>
              <a:rPr lang="zh-CN" altLang="en-US" sz="2400" dirty="0">
                <a:ea typeface="黑体" pitchFamily="2" charset="-122"/>
              </a:rPr>
              <a:t>（∧，∨）方法相同，得</a:t>
            </a:r>
            <a:r>
              <a:rPr lang="zh-CN" altLang="en-US" sz="2400" b="1" dirty="0">
                <a:solidFill>
                  <a:srgbClr val="F72603"/>
                </a:solidFill>
              </a:rPr>
              <a:t>综合评判矩阵</a:t>
            </a:r>
            <a:r>
              <a:rPr lang="en-US" altLang="zh-CN" sz="2400" b="1" dirty="0">
                <a:solidFill>
                  <a:srgbClr val="F72603"/>
                </a:solidFill>
              </a:rPr>
              <a:t>R</a:t>
            </a:r>
            <a:r>
              <a:rPr lang="zh-CN" altLang="en-US" sz="2400" b="1" dirty="0">
                <a:solidFill>
                  <a:srgbClr val="F72603"/>
                </a:solidFill>
              </a:rPr>
              <a:t>和因素重要程度</a:t>
            </a:r>
            <a:r>
              <a:rPr lang="en-US" altLang="zh-CN" sz="2400" b="1" dirty="0">
                <a:solidFill>
                  <a:srgbClr val="F72603"/>
                </a:solidFill>
              </a:rPr>
              <a:t>F</a:t>
            </a:r>
            <a:r>
              <a:rPr lang="zh-CN" altLang="en-US" sz="2400" b="1" dirty="0">
                <a:solidFill>
                  <a:srgbClr val="F72603"/>
                </a:solidFill>
              </a:rPr>
              <a:t>集</a:t>
            </a:r>
            <a:r>
              <a:rPr lang="en-US" altLang="zh-CN" sz="2400" b="1" dirty="0">
                <a:solidFill>
                  <a:srgbClr val="F72603"/>
                </a:solidFill>
              </a:rPr>
              <a:t>A</a:t>
            </a:r>
            <a:r>
              <a:rPr lang="en-US" altLang="zh-CN" sz="2400" dirty="0">
                <a:solidFill>
                  <a:srgbClr val="F72603"/>
                </a:solidFill>
              </a:rPr>
              <a:t>=(0.30,0.20,0.20,0.20,0.10)</a:t>
            </a:r>
            <a:endParaRPr lang="en-US" altLang="zh-CN" sz="2400" b="1" dirty="0">
              <a:solidFill>
                <a:srgbClr val="F72603"/>
              </a:solidFill>
            </a:endParaRP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宋体" charset="-122"/>
              </a:rPr>
              <a:t>④</a:t>
            </a:r>
            <a:r>
              <a:rPr lang="zh-CN" altLang="en-US" sz="2400" b="1" dirty="0">
                <a:solidFill>
                  <a:schemeClr val="bg2"/>
                </a:solidFill>
                <a:latin typeface="宋体" charset="-122"/>
              </a:rPr>
              <a:t>确定综合评价模型，求出</a:t>
            </a: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  <a:latin typeface="宋体" charset="-122"/>
              </a:rPr>
              <a:t>综合评价集</a:t>
            </a: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B</a:t>
            </a:r>
          </a:p>
          <a:p>
            <a:pPr eaLnBrk="1" hangingPunct="1">
              <a:lnSpc>
                <a:spcPct val="99000"/>
              </a:lnSpc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 B=A</a:t>
            </a:r>
            <a:r>
              <a:rPr lang="zh-CN" altLang="en-US" sz="24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 *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R=</a:t>
            </a:r>
            <a:r>
              <a:rPr lang="en-US" altLang="zh-CN" sz="20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</a:rPr>
              <a:t>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）</a:t>
            </a: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endParaRPr lang="zh-CN" altLang="en-US" sz="20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B=(1,0.95,0.70,0.40)</a:t>
            </a: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en-US" altLang="zh-CN" sz="2400" b="1" dirty="0"/>
              <a:t>⑤</a:t>
            </a:r>
            <a:r>
              <a:rPr lang="zh-CN" altLang="en-US" sz="2400" b="1" dirty="0"/>
              <a:t>综合评判</a:t>
            </a: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tx2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chemeClr val="tx2"/>
                </a:solidFill>
                <a:ea typeface="黑体" pitchFamily="2" charset="-122"/>
              </a:rPr>
              <a:t>因为</a:t>
            </a:r>
            <a:r>
              <a:rPr lang="en-US" altLang="zh-CN" sz="2400" dirty="0">
                <a:solidFill>
                  <a:schemeClr val="tx2"/>
                </a:solidFill>
                <a:ea typeface="黑体" pitchFamily="2" charset="-122"/>
              </a:rPr>
              <a:t>B(v</a:t>
            </a:r>
            <a:r>
              <a:rPr lang="en-US" altLang="zh-CN" sz="2400" baseline="-25000" dirty="0">
                <a:solidFill>
                  <a:schemeClr val="tx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ea typeface="黑体" pitchFamily="2" charset="-122"/>
              </a:rPr>
              <a:t>)=1=max{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ea typeface="黑体" pitchFamily="2" charset="-122"/>
              </a:rPr>
              <a:t>, </a:t>
            </a:r>
            <a:r>
              <a:rPr lang="en-US" altLang="zh-CN" sz="2400" dirty="0">
                <a:ea typeface="黑体" pitchFamily="2" charset="-122"/>
              </a:rPr>
              <a:t>0.95</a:t>
            </a:r>
            <a:r>
              <a:rPr lang="en-US" altLang="zh-CN" sz="2400" dirty="0">
                <a:solidFill>
                  <a:schemeClr val="tx2"/>
                </a:solidFill>
                <a:ea typeface="黑体" pitchFamily="2" charset="-122"/>
              </a:rPr>
              <a:t>, 0.70, 0.40},</a:t>
            </a:r>
          </a:p>
          <a:p>
            <a:pPr eaLnBrk="1" hangingPunct="1">
              <a:lnSpc>
                <a:spcPct val="99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所以由最大隶属度原则，认为该教师的教学质量为“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优秀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”</a:t>
            </a:r>
          </a:p>
        </p:txBody>
      </p:sp>
      <p:graphicFrame>
        <p:nvGraphicFramePr>
          <p:cNvPr id="172037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03512" y="3731370"/>
          <a:ext cx="76327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14700" imgH="431800" progId="Equation.3">
                  <p:embed/>
                </p:oleObj>
              </mc:Choice>
              <mc:Fallback>
                <p:oleObj name="公式" r:id="rId2" imgW="3314700" imgH="431800" progId="Equation.3">
                  <p:embed/>
                  <p:pic>
                    <p:nvPicPr>
                      <p:cNvPr id="1720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3731370"/>
                        <a:ext cx="76327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A262F0-7CC8-2221-0B26-EA3F09F24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114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2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2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2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2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（∧，</a:t>
            </a:r>
            <a:r>
              <a:rPr lang="zh-CN" altLang="zh-CN">
                <a:solidFill>
                  <a:srgbClr val="008000"/>
                </a:solidFill>
              </a:rPr>
              <a:t>⊕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）适用范围</a:t>
            </a: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981200"/>
            <a:ext cx="9865096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2" charset="-122"/>
              </a:rPr>
              <a:t>它也属于</a:t>
            </a:r>
            <a:r>
              <a:rPr lang="zh-CN" altLang="en-US" u="sng" dirty="0">
                <a:ea typeface="黑体" pitchFamily="2" charset="-122"/>
              </a:rPr>
              <a:t>主因素突出型</a:t>
            </a:r>
            <a:r>
              <a:rPr lang="zh-CN" altLang="en-US" dirty="0">
                <a:ea typeface="黑体" pitchFamily="2" charset="-122"/>
              </a:rPr>
              <a:t>的综合评判，比模型模型</a:t>
            </a:r>
            <a:r>
              <a:rPr lang="en-US" altLang="zh-CN" dirty="0">
                <a:ea typeface="黑体" pitchFamily="2" charset="-122"/>
              </a:rPr>
              <a:t>M</a:t>
            </a:r>
            <a:r>
              <a:rPr lang="zh-CN" altLang="en-US" dirty="0">
                <a:ea typeface="黑体" pitchFamily="2" charset="-122"/>
              </a:rPr>
              <a:t>（∧，∨）精细，</a:t>
            </a:r>
            <a:r>
              <a:rPr lang="en-US" altLang="zh-CN" dirty="0" err="1">
                <a:ea typeface="黑体" pitchFamily="2" charset="-122"/>
              </a:rPr>
              <a:t>a</a:t>
            </a:r>
            <a:r>
              <a:rPr lang="en-US" altLang="zh-CN" baseline="-25000" dirty="0" err="1">
                <a:ea typeface="黑体" pitchFamily="2" charset="-122"/>
              </a:rPr>
              <a:t>i</a:t>
            </a:r>
            <a:r>
              <a:rPr lang="zh-CN" altLang="en-US" dirty="0">
                <a:ea typeface="黑体" pitchFamily="2" charset="-122"/>
              </a:rPr>
              <a:t>也是在考虑多因素时</a:t>
            </a:r>
            <a:r>
              <a:rPr lang="en-US" altLang="zh-CN" dirty="0" err="1">
                <a:ea typeface="黑体" pitchFamily="2" charset="-122"/>
              </a:rPr>
              <a:t>r</a:t>
            </a:r>
            <a:r>
              <a:rPr lang="en-US" altLang="zh-CN" baseline="-25000" dirty="0" err="1">
                <a:ea typeface="黑体" pitchFamily="2" charset="-122"/>
              </a:rPr>
              <a:t>ij</a:t>
            </a:r>
            <a:r>
              <a:rPr lang="zh-CN" altLang="en-US" dirty="0">
                <a:ea typeface="黑体" pitchFamily="2" charset="-122"/>
              </a:rPr>
              <a:t>的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调整系数</a:t>
            </a:r>
            <a:r>
              <a:rPr lang="zh-CN" altLang="en-US" dirty="0">
                <a:ea typeface="黑体" pitchFamily="2" charset="-122"/>
              </a:rPr>
              <a:t>，没有权重系数的意义。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注意：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各个</a:t>
            </a:r>
            <a:r>
              <a:rPr lang="en-US" altLang="zh-CN" b="1" dirty="0" err="1">
                <a:solidFill>
                  <a:srgbClr val="3333FF"/>
                </a:solidFill>
                <a:ea typeface="华文楷体" pitchFamily="2" charset="-122"/>
              </a:rPr>
              <a:t>a</a:t>
            </a:r>
            <a:r>
              <a:rPr lang="en-US" altLang="zh-CN" b="1" baseline="-25000" dirty="0" err="1">
                <a:solidFill>
                  <a:srgbClr val="3333FF"/>
                </a:solidFill>
                <a:ea typeface="华文楷体" pitchFamily="2" charset="-122"/>
              </a:rPr>
              <a:t>i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不能取得偏大，否则可能出现</a:t>
            </a:r>
            <a:r>
              <a:rPr lang="en-US" altLang="zh-CN" b="1" dirty="0" err="1">
                <a:solidFill>
                  <a:srgbClr val="3333FF"/>
                </a:solidFill>
                <a:ea typeface="华文楷体" pitchFamily="2" charset="-122"/>
              </a:rPr>
              <a:t>b</a:t>
            </a:r>
            <a:r>
              <a:rPr lang="en-US" altLang="zh-CN" b="1" baseline="-25000" dirty="0" err="1">
                <a:solidFill>
                  <a:srgbClr val="3333FF"/>
                </a:solidFill>
                <a:ea typeface="华文楷体" pitchFamily="2" charset="-122"/>
              </a:rPr>
              <a:t>j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均等于</a:t>
            </a:r>
            <a:r>
              <a:rPr lang="en-US" altLang="zh-CN" b="1" dirty="0">
                <a:solidFill>
                  <a:srgbClr val="3333FF"/>
                </a:solidFill>
                <a:ea typeface="华文楷体" pitchFamily="2" charset="-122"/>
              </a:rPr>
              <a:t>1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的情形；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各个</a:t>
            </a:r>
            <a:r>
              <a:rPr lang="en-US" altLang="zh-CN" b="1" dirty="0" err="1">
                <a:solidFill>
                  <a:srgbClr val="3333FF"/>
                </a:solidFill>
                <a:ea typeface="华文楷体" pitchFamily="2" charset="-122"/>
              </a:rPr>
              <a:t>a</a:t>
            </a:r>
            <a:r>
              <a:rPr lang="en-US" altLang="zh-CN" b="1" baseline="-25000" dirty="0" err="1">
                <a:solidFill>
                  <a:srgbClr val="3333FF"/>
                </a:solidFill>
                <a:ea typeface="华文楷体" pitchFamily="2" charset="-122"/>
              </a:rPr>
              <a:t>i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也不能取得太小，否则可能出现</a:t>
            </a:r>
            <a:r>
              <a:rPr lang="en-US" altLang="zh-CN" b="1" dirty="0" err="1">
                <a:solidFill>
                  <a:srgbClr val="3333FF"/>
                </a:solidFill>
                <a:ea typeface="华文楷体" pitchFamily="2" charset="-122"/>
              </a:rPr>
              <a:t>b</a:t>
            </a:r>
            <a:r>
              <a:rPr lang="en-US" altLang="zh-CN" b="1" baseline="-25000" dirty="0" err="1">
                <a:solidFill>
                  <a:srgbClr val="3333FF"/>
                </a:solidFill>
                <a:ea typeface="华文楷体" pitchFamily="2" charset="-122"/>
              </a:rPr>
              <a:t>j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均等于各个</a:t>
            </a:r>
            <a:r>
              <a:rPr lang="en-US" altLang="zh-CN" b="1" dirty="0" err="1">
                <a:solidFill>
                  <a:srgbClr val="3333FF"/>
                </a:solidFill>
                <a:ea typeface="华文楷体" pitchFamily="2" charset="-122"/>
              </a:rPr>
              <a:t>a</a:t>
            </a:r>
            <a:r>
              <a:rPr lang="en-US" altLang="zh-CN" b="1" baseline="-25000" dirty="0" err="1">
                <a:solidFill>
                  <a:srgbClr val="3333FF"/>
                </a:solidFill>
                <a:ea typeface="华文楷体" pitchFamily="2" charset="-122"/>
              </a:rPr>
              <a:t>i</a:t>
            </a:r>
            <a:r>
              <a:rPr lang="zh-CN" altLang="en-US" b="1" dirty="0">
                <a:solidFill>
                  <a:srgbClr val="3333FF"/>
                </a:solidFill>
                <a:ea typeface="华文楷体" pitchFamily="2" charset="-122"/>
              </a:rPr>
              <a:t>之和的情形，这时将失去单因素评价的有关信息。</a:t>
            </a:r>
            <a:endParaRPr lang="zh-CN" altLang="en-US" sz="2400" b="1" dirty="0">
              <a:solidFill>
                <a:srgbClr val="3333FF"/>
              </a:solidFill>
              <a:ea typeface="华文楷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560381-01CE-A2A3-3E20-47DF7DB942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24B7D7-F746-4E05-9A11-DD4FB4529D5B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05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M(∧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，</a:t>
            </a:r>
            <a:r>
              <a:rPr lang="zh-CN" altLang="zh-CN" sz="4000" dirty="0">
                <a:solidFill>
                  <a:srgbClr val="008000"/>
                </a:solidFill>
              </a:rPr>
              <a:t>⊕</a:t>
            </a:r>
            <a:r>
              <a:rPr lang="en-US" altLang="zh-CN" sz="4000" dirty="0">
                <a:solidFill>
                  <a:srgbClr val="008000"/>
                </a:solidFill>
              </a:rPr>
              <a:t>)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lang="en-US" altLang="zh-CN" sz="4000" dirty="0" err="1">
                <a:solidFill>
                  <a:srgbClr val="F72603"/>
                </a:solidFill>
                <a:ea typeface="黑体" pitchFamily="2" charset="-122"/>
              </a:rPr>
              <a:t>a</a:t>
            </a:r>
            <a:r>
              <a:rPr lang="en-US" altLang="zh-CN" sz="4000" baseline="-25000" dirty="0" err="1">
                <a:solidFill>
                  <a:srgbClr val="F72603"/>
                </a:solidFill>
                <a:ea typeface="黑体" pitchFamily="2" charset="-122"/>
              </a:rPr>
              <a:t>i</a:t>
            </a:r>
            <a:r>
              <a:rPr lang="zh-CN" altLang="en-US" sz="4000" dirty="0">
                <a:solidFill>
                  <a:srgbClr val="008000"/>
                </a:solidFill>
                <a:ea typeface="黑体" pitchFamily="2" charset="-122"/>
              </a:rPr>
              <a:t>的值对结果的影响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601788"/>
            <a:ext cx="8939461" cy="5256212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教师的教学质量的评估问题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F72603"/>
                </a:solidFill>
              </a:rPr>
              <a:t>   因素重要程度</a:t>
            </a:r>
            <a:r>
              <a:rPr lang="en-US" altLang="zh-CN" sz="2400" b="1" dirty="0">
                <a:solidFill>
                  <a:srgbClr val="F72603"/>
                </a:solidFill>
              </a:rPr>
              <a:t>F</a:t>
            </a:r>
            <a:r>
              <a:rPr lang="zh-CN" altLang="en-US" sz="2400" b="1" dirty="0">
                <a:solidFill>
                  <a:srgbClr val="F72603"/>
                </a:solidFill>
              </a:rPr>
              <a:t>集</a:t>
            </a:r>
            <a:r>
              <a:rPr lang="en-US" altLang="zh-CN" sz="2400" b="1" dirty="0">
                <a:solidFill>
                  <a:srgbClr val="F72603"/>
                </a:solidFill>
              </a:rPr>
              <a:t>A</a:t>
            </a:r>
            <a:r>
              <a:rPr lang="en-US" altLang="zh-CN" sz="2400" dirty="0">
                <a:solidFill>
                  <a:srgbClr val="F72603"/>
                </a:solidFill>
              </a:rPr>
              <a:t>’=(0.20,0.20,0.30,0.20,0.10)</a:t>
            </a:r>
            <a:endParaRPr lang="en-US" altLang="zh-CN" sz="2400" b="1" dirty="0">
              <a:solidFill>
                <a:srgbClr val="F72603"/>
              </a:solidFill>
            </a:endParaRP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 B’=A’ </a:t>
            </a:r>
            <a:r>
              <a:rPr lang="zh-CN" altLang="en-US" sz="24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R=</a:t>
            </a:r>
            <a:r>
              <a:rPr lang="en-US" altLang="zh-CN" sz="20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</a:rPr>
              <a:t>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b’</a:t>
            </a:r>
            <a:r>
              <a:rPr lang="en-US" altLang="zh-CN" sz="2400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=0.2+0.2+0.3+0.2+0.1=1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    b’</a:t>
            </a:r>
            <a:r>
              <a:rPr lang="en-US" altLang="zh-CN" sz="2400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=0.2+0.2+0.3+0.2+0.1=1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    b’</a:t>
            </a:r>
            <a:r>
              <a:rPr lang="en-US" altLang="zh-CN" sz="2400" baseline="-25000" dirty="0">
                <a:solidFill>
                  <a:srgbClr val="3333FF"/>
                </a:solidFill>
                <a:ea typeface="黑体" pitchFamily="2" charset="-122"/>
              </a:rPr>
              <a:t>3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=0.2+0.1+0.2+0.1+0.1=0.70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    b’</a:t>
            </a:r>
            <a:r>
              <a:rPr lang="en-US" altLang="zh-CN" sz="2400" baseline="-25000" dirty="0">
                <a:solidFill>
                  <a:srgbClr val="3333FF"/>
                </a:solidFill>
                <a:ea typeface="黑体" pitchFamily="2" charset="-122"/>
              </a:rPr>
              <a:t>4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=0.1+ 0 +0.1+0.1+0.1 =0.40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    B’=(1,1, 0.70, 0.40)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用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  <a:r>
              <a:rPr lang="zh-CN" altLang="en-US" sz="2400" dirty="0">
                <a:ea typeface="黑体" pitchFamily="2" charset="-122"/>
              </a:rPr>
              <a:t>失效！</a:t>
            </a:r>
            <a:endParaRPr lang="zh-CN" altLang="en-US" sz="2400" dirty="0">
              <a:solidFill>
                <a:srgbClr val="3333FF"/>
              </a:solidFill>
              <a:ea typeface="黑体" pitchFamily="2" charset="-122"/>
            </a:endParaRPr>
          </a:p>
        </p:txBody>
      </p:sp>
      <p:graphicFrame>
        <p:nvGraphicFramePr>
          <p:cNvPr id="286724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51088" y="2852937"/>
          <a:ext cx="76327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314700" imgH="431800" progId="Equation.3">
                  <p:embed/>
                </p:oleObj>
              </mc:Choice>
              <mc:Fallback>
                <p:oleObj name="公式" r:id="rId3" imgW="3314700" imgH="431800" progId="Equation.3">
                  <p:embed/>
                  <p:pic>
                    <p:nvPicPr>
                      <p:cNvPr id="2867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2852937"/>
                        <a:ext cx="76327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5" name="Rectangle 5"/>
          <p:cNvSpPr>
            <a:spLocks noChangeArrowheads="1"/>
          </p:cNvSpPr>
          <p:nvPr/>
        </p:nvSpPr>
        <p:spPr bwMode="auto">
          <a:xfrm>
            <a:off x="6184625" y="5797713"/>
            <a:ext cx="5672015" cy="830997"/>
          </a:xfrm>
          <a:prstGeom prst="rect">
            <a:avLst/>
          </a:prstGeom>
          <a:solidFill>
            <a:srgbClr val="F3FD99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 err="1">
                <a:ea typeface="楷体_GB2312" pitchFamily="49" charset="-122"/>
              </a:rPr>
              <a:t>a</a:t>
            </a:r>
            <a:r>
              <a:rPr lang="en-US" altLang="zh-CN" sz="2400" b="1" baseline="-25000" dirty="0" err="1">
                <a:ea typeface="楷体_GB2312" pitchFamily="49" charset="-122"/>
              </a:rPr>
              <a:t>i</a:t>
            </a:r>
            <a:r>
              <a:rPr lang="zh-CN" altLang="en-US" sz="2400" b="1" dirty="0">
                <a:ea typeface="楷体_GB2312" pitchFamily="49" charset="-122"/>
              </a:rPr>
              <a:t>取得太小，出现</a:t>
            </a:r>
            <a:r>
              <a:rPr lang="en-US" altLang="zh-CN" sz="2400" b="1" dirty="0" err="1">
                <a:ea typeface="楷体_GB2312" pitchFamily="49" charset="-122"/>
              </a:rPr>
              <a:t>b</a:t>
            </a:r>
            <a:r>
              <a:rPr lang="en-US" altLang="zh-CN" sz="2400" b="1" baseline="-25000" dirty="0" err="1">
                <a:ea typeface="楷体_GB2312" pitchFamily="49" charset="-122"/>
              </a:rPr>
              <a:t>j</a:t>
            </a:r>
            <a:r>
              <a:rPr lang="zh-CN" altLang="en-US" sz="2400" b="1" dirty="0">
                <a:ea typeface="楷体_GB2312" pitchFamily="49" charset="-122"/>
              </a:rPr>
              <a:t>均等于各个</a:t>
            </a:r>
            <a:r>
              <a:rPr lang="en-US" altLang="zh-CN" sz="2400" b="1" dirty="0" err="1">
                <a:ea typeface="楷体_GB2312" pitchFamily="49" charset="-122"/>
              </a:rPr>
              <a:t>a</a:t>
            </a:r>
            <a:r>
              <a:rPr lang="en-US" altLang="zh-CN" sz="2400" b="1" baseline="-25000" dirty="0" err="1">
                <a:ea typeface="楷体_GB2312" pitchFamily="49" charset="-122"/>
              </a:rPr>
              <a:t>i</a:t>
            </a:r>
            <a:r>
              <a:rPr lang="zh-CN" altLang="en-US" sz="2400" b="1" dirty="0">
                <a:ea typeface="楷体_GB2312" pitchFamily="49" charset="-122"/>
              </a:rPr>
              <a:t>之和，这时将失去单因素评价的有关信息。</a:t>
            </a:r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7752184" y="3672409"/>
          <a:ext cx="3203509" cy="1896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57434" imgH="1066770" progId="Equation.3">
                  <p:embed/>
                </p:oleObj>
              </mc:Choice>
              <mc:Fallback>
                <p:oleObj name="公式" r:id="rId5" imgW="1857434" imgH="106677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2184" y="3672409"/>
                        <a:ext cx="3203509" cy="18960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7A1C4C1-71A5-C8A9-6B57-5AAC5F6868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0359" y="6213212"/>
            <a:ext cx="445840" cy="457200"/>
          </a:xfrm>
        </p:spPr>
        <p:txBody>
          <a:bodyPr/>
          <a:lstStyle/>
          <a:p>
            <a:pPr>
              <a:defRPr/>
            </a:pPr>
            <a:fld id="{B1928985-958F-4925-BAAA-4C45D70B67B4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231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build="p"/>
      <p:bldP spid="2867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57200"/>
            <a:ext cx="9144000" cy="1316038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常见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综合评判模型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——</a:t>
            </a:r>
            <a:r>
              <a:rPr lang="zh-CN" altLang="en-US" sz="3600" dirty="0">
                <a:solidFill>
                  <a:srgbClr val="F72603"/>
                </a:solidFill>
                <a:ea typeface="黑体" pitchFamily="2" charset="-122"/>
              </a:rPr>
              <a:t>加权平均型</a:t>
            </a:r>
            <a:r>
              <a:rPr lang="en-US" altLang="zh-CN" sz="3600" dirty="0">
                <a:solidFill>
                  <a:srgbClr val="F72603"/>
                </a:solidFill>
                <a:ea typeface="黑体" pitchFamily="2" charset="-122"/>
              </a:rPr>
              <a:t>M(</a:t>
            </a:r>
            <a:r>
              <a:rPr lang="en-US" altLang="zh-CN" sz="4000" dirty="0">
                <a:solidFill>
                  <a:srgbClr val="F72603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sz="3600" dirty="0">
                <a:solidFill>
                  <a:srgbClr val="F72603"/>
                </a:solidFill>
                <a:ea typeface="黑体" pitchFamily="2" charset="-122"/>
              </a:rPr>
              <a:t> ,+)</a:t>
            </a:r>
            <a:r>
              <a:rPr lang="en-US" altLang="zh-CN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</a:t>
            </a:r>
            <a:br>
              <a:rPr lang="en-US" altLang="zh-CN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     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(“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”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为代数乘运算， “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+”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为代数加运算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3213101"/>
            <a:ext cx="10081120" cy="3167063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模型的特点：</a:t>
            </a: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在确定评语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对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综合评价集的隶属度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时，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考虑了所有因素</a:t>
            </a:r>
            <a:r>
              <a:rPr lang="en-US" altLang="zh-CN" dirty="0" err="1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baseline="-25000" dirty="0" err="1">
                <a:solidFill>
                  <a:srgbClr val="CC00CC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=1,2,…,m)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的影响。</a:t>
            </a: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由于同时考虑到所有因素的影响，所以各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的大小具有刻画各因素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重要性程度的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权系数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的意义</a:t>
            </a:r>
          </a:p>
          <a:p>
            <a:pPr marL="990600" lvl="1" indent="-533400" eaLnBrk="1" hangingPunct="1"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      因此， 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a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i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应满足</a:t>
            </a:r>
            <a:endParaRPr lang="zh-CN" altLang="en-US" sz="2400" dirty="0">
              <a:solidFill>
                <a:schemeClr val="bg2"/>
              </a:solidFill>
              <a:ea typeface="黑体" pitchFamily="2" charset="-122"/>
            </a:endParaRPr>
          </a:p>
        </p:txBody>
      </p:sp>
      <p:graphicFrame>
        <p:nvGraphicFramePr>
          <p:cNvPr id="16589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04649712"/>
              </p:ext>
            </p:extLst>
          </p:nvPr>
        </p:nvGraphicFramePr>
        <p:xfrm>
          <a:off x="1559496" y="1844675"/>
          <a:ext cx="430688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800" imgH="304800" progId="Equation.DSMT4">
                  <p:embed/>
                </p:oleObj>
              </mc:Choice>
              <mc:Fallback>
                <p:oleObj name="Equation" r:id="rId2" imgW="2082800" imgH="304800" progId="Equation.DSMT4">
                  <p:embed/>
                  <p:pic>
                    <p:nvPicPr>
                      <p:cNvPr id="165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844675"/>
                        <a:ext cx="4306887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3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03700136"/>
              </p:ext>
            </p:extLst>
          </p:nvPr>
        </p:nvGraphicFramePr>
        <p:xfrm>
          <a:off x="1775396" y="2420939"/>
          <a:ext cx="388302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81200" imgH="431800" progId="Equation.3">
                  <p:embed/>
                </p:oleObj>
              </mc:Choice>
              <mc:Fallback>
                <p:oleObj name="公式" r:id="rId4" imgW="1981200" imgH="431800" progId="Equation.3">
                  <p:embed/>
                  <p:pic>
                    <p:nvPicPr>
                      <p:cNvPr id="1658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396" y="2420939"/>
                        <a:ext cx="3883025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163995"/>
              </p:ext>
            </p:extLst>
          </p:nvPr>
        </p:nvGraphicFramePr>
        <p:xfrm>
          <a:off x="5015880" y="5661248"/>
          <a:ext cx="13525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09336" imgH="431613" progId="Equation.3">
                  <p:embed/>
                </p:oleObj>
              </mc:Choice>
              <mc:Fallback>
                <p:oleObj name="公式" r:id="rId6" imgW="609336" imgH="431613" progId="Equation.3">
                  <p:embed/>
                  <p:pic>
                    <p:nvPicPr>
                      <p:cNvPr id="165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5661248"/>
                        <a:ext cx="1352550" cy="9588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B8CA8E-9B65-E81B-FD36-04307B62D3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87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（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dirty="0">
                <a:solidFill>
                  <a:srgbClr val="008000"/>
                </a:solidFill>
              </a:rPr>
              <a:t> </a:t>
            </a:r>
            <a:r>
              <a:rPr lang="zh-CN" altLang="en-US" dirty="0">
                <a:solidFill>
                  <a:srgbClr val="008000"/>
                </a:solidFill>
              </a:rPr>
              <a:t>，</a:t>
            </a:r>
            <a:r>
              <a:rPr lang="en-US" altLang="zh-CN" dirty="0">
                <a:solidFill>
                  <a:srgbClr val="008000"/>
                </a:solidFill>
              </a:rPr>
              <a:t>+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）应用举例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84314"/>
            <a:ext cx="9865096" cy="5184775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教师的教学质量的评估问题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前三步与模型</a:t>
            </a:r>
            <a:r>
              <a:rPr lang="en-US" altLang="zh-CN" sz="2400" b="1" dirty="0"/>
              <a:t>M</a:t>
            </a:r>
            <a:r>
              <a:rPr lang="zh-CN" altLang="en-US" sz="2400" dirty="0">
                <a:ea typeface="黑体" pitchFamily="2" charset="-122"/>
              </a:rPr>
              <a:t>（∧，∨）方法相同，得</a:t>
            </a:r>
            <a:r>
              <a:rPr lang="zh-CN" altLang="en-US" sz="2400" b="1" dirty="0">
                <a:solidFill>
                  <a:srgbClr val="F72603"/>
                </a:solidFill>
              </a:rPr>
              <a:t>综合评判矩阵</a:t>
            </a:r>
            <a:r>
              <a:rPr lang="en-US" altLang="zh-CN" sz="2400" b="1" dirty="0">
                <a:solidFill>
                  <a:srgbClr val="F72603"/>
                </a:solidFill>
              </a:rPr>
              <a:t>R</a:t>
            </a:r>
            <a:r>
              <a:rPr lang="zh-CN" altLang="en-US" sz="2400" b="1" dirty="0">
                <a:solidFill>
                  <a:srgbClr val="F72603"/>
                </a:solidFill>
              </a:rPr>
              <a:t>和因素重要程度</a:t>
            </a:r>
            <a:r>
              <a:rPr lang="en-US" altLang="zh-CN" sz="2400" b="1" dirty="0">
                <a:solidFill>
                  <a:srgbClr val="F72603"/>
                </a:solidFill>
              </a:rPr>
              <a:t>F</a:t>
            </a:r>
            <a:r>
              <a:rPr lang="zh-CN" altLang="en-US" sz="2400" b="1" dirty="0">
                <a:solidFill>
                  <a:srgbClr val="F72603"/>
                </a:solidFill>
              </a:rPr>
              <a:t>集</a:t>
            </a:r>
            <a:r>
              <a:rPr lang="en-US" altLang="zh-CN" sz="2400" b="1" dirty="0">
                <a:solidFill>
                  <a:srgbClr val="F72603"/>
                </a:solidFill>
              </a:rPr>
              <a:t>A </a:t>
            </a:r>
            <a:r>
              <a:rPr lang="en-US" altLang="zh-CN" sz="2400" dirty="0">
                <a:solidFill>
                  <a:srgbClr val="F72603"/>
                </a:solidFill>
              </a:rPr>
              <a:t>=(0.30,0.20,0.20,0.20,0.10)</a:t>
            </a:r>
            <a:r>
              <a:rPr lang="en-US" altLang="zh-CN" sz="2400" b="1" dirty="0">
                <a:solidFill>
                  <a:srgbClr val="F72603"/>
                </a:solidFill>
              </a:rPr>
              <a:t> </a:t>
            </a:r>
            <a:r>
              <a:rPr lang="zh-CN" altLang="en-US" sz="2400" b="1" dirty="0">
                <a:solidFill>
                  <a:srgbClr val="F72603"/>
                </a:solidFill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>
                <a:latin typeface="宋体" charset="-122"/>
              </a:rPr>
              <a:t>④</a:t>
            </a:r>
            <a:r>
              <a:rPr lang="zh-CN" altLang="en-US" sz="2400" b="1" dirty="0">
                <a:solidFill>
                  <a:schemeClr val="bg2"/>
                </a:solidFill>
              </a:rPr>
              <a:t>确定综合评价模型，求出</a:t>
            </a:r>
            <a:r>
              <a:rPr lang="en-US" altLang="zh-CN" sz="2400" b="1" dirty="0">
                <a:solidFill>
                  <a:schemeClr val="bg2"/>
                </a:solidFill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</a:rPr>
              <a:t>综合评价集</a:t>
            </a:r>
            <a:r>
              <a:rPr lang="en-US" altLang="zh-CN" sz="2400" b="1" dirty="0">
                <a:solidFill>
                  <a:schemeClr val="bg2"/>
                </a:solidFill>
              </a:rPr>
              <a:t>B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 B=A </a:t>
            </a:r>
            <a:r>
              <a:rPr lang="zh-CN" altLang="en-US" sz="24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R=</a:t>
            </a:r>
            <a:r>
              <a:rPr lang="en-US" altLang="zh-CN" sz="20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</a:rPr>
              <a:t>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B=(0.405,0.365,0.150,0.080)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/>
              <a:t>⑤</a:t>
            </a:r>
            <a:r>
              <a:rPr lang="zh-CN" altLang="en-US" sz="2400" b="1" dirty="0"/>
              <a:t>综合评判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因为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B(v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)=0.405=max{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0.405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 0.365, 0.150, 0.080},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所以，由最大隶属度原则，认为该教师的教学质量为“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优秀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”</a:t>
            </a:r>
          </a:p>
        </p:txBody>
      </p:sp>
      <p:graphicFrame>
        <p:nvGraphicFramePr>
          <p:cNvPr id="16691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711450" y="3573464"/>
          <a:ext cx="41227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81200" imgH="431800" progId="Equation.3">
                  <p:embed/>
                </p:oleObj>
              </mc:Choice>
              <mc:Fallback>
                <p:oleObj name="公式" r:id="rId3" imgW="1981200" imgH="431800" progId="Equation.3">
                  <p:embed/>
                  <p:pic>
                    <p:nvPicPr>
                      <p:cNvPr id="1669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3573464"/>
                        <a:ext cx="412273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/>
        </p:nvGraphicFramePr>
        <p:xfrm>
          <a:off x="7175501" y="3284985"/>
          <a:ext cx="3203575" cy="189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57434" imgH="1066770" progId="Equation.3">
                  <p:embed/>
                </p:oleObj>
              </mc:Choice>
              <mc:Fallback>
                <p:oleObj name="公式" r:id="rId5" imgW="1857434" imgH="106677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3284985"/>
                        <a:ext cx="3203575" cy="189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7E1E18-39EC-A369-1D65-451DAB6BCF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83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6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686800" cy="1171575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常见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综合评判模型</a:t>
            </a:r>
            <a:r>
              <a:rPr lang="en-US" altLang="zh-CN" sz="4000" dirty="0">
                <a:solidFill>
                  <a:srgbClr val="008000"/>
                </a:solidFill>
                <a:ea typeface="黑体" pitchFamily="2" charset="-122"/>
              </a:rPr>
              <a:t>——</a:t>
            </a:r>
            <a:br>
              <a:rPr lang="en-US" altLang="zh-CN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</a:br>
            <a:r>
              <a:rPr lang="en-US" altLang="zh-CN" sz="40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        </a:t>
            </a:r>
            <a:r>
              <a:rPr lang="zh-CN" altLang="en-US" sz="3600" dirty="0">
                <a:solidFill>
                  <a:srgbClr val="F72603"/>
                </a:solidFill>
                <a:ea typeface="黑体" pitchFamily="2" charset="-122"/>
              </a:rPr>
              <a:t>全面制约型</a:t>
            </a:r>
            <a:r>
              <a:rPr lang="en-US" altLang="zh-CN" sz="3600" dirty="0">
                <a:solidFill>
                  <a:srgbClr val="F72603"/>
                </a:solidFill>
                <a:ea typeface="黑体" pitchFamily="2" charset="-122"/>
              </a:rPr>
              <a:t>M</a:t>
            </a:r>
            <a:r>
              <a:rPr lang="zh-CN" altLang="en-US" sz="3600" dirty="0">
                <a:solidFill>
                  <a:srgbClr val="F72603"/>
                </a:solidFill>
                <a:ea typeface="黑体" pitchFamily="2" charset="-122"/>
              </a:rPr>
              <a:t>（乘幂 ，∧）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3213101"/>
            <a:ext cx="10225136" cy="3529013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模型的特点：</a:t>
            </a: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先将单因素评价中的元素</a:t>
            </a:r>
            <a:r>
              <a:rPr lang="en-US" altLang="zh-CN" dirty="0" err="1">
                <a:ea typeface="黑体" pitchFamily="2" charset="-122"/>
              </a:rPr>
              <a:t>r</a:t>
            </a:r>
            <a:r>
              <a:rPr lang="en-US" altLang="zh-CN" baseline="-25000" dirty="0" err="1">
                <a:ea typeface="黑体" pitchFamily="2" charset="-122"/>
              </a:rPr>
              <a:t>ij</a:t>
            </a:r>
            <a:r>
              <a:rPr lang="zh-CN" altLang="en-US" dirty="0">
                <a:ea typeface="黑体" pitchFamily="2" charset="-122"/>
              </a:rPr>
              <a:t>调整为</a:t>
            </a:r>
          </a:p>
          <a:p>
            <a:pPr marL="990600" lvl="1" indent="-533400" eaLnBrk="1" hangingPunct="1">
              <a:buNone/>
            </a:pPr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marL="990600" lvl="1" indent="-533400"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然后，在调整后的    取其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最小值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作为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，这时</a:t>
            </a:r>
            <a:r>
              <a:rPr lang="en-US" altLang="zh-CN" dirty="0" err="1">
                <a:ea typeface="黑体" pitchFamily="2" charset="-122"/>
              </a:rPr>
              <a:t>r</a:t>
            </a:r>
            <a:r>
              <a:rPr lang="en-US" altLang="zh-CN" baseline="-25000" dirty="0" err="1">
                <a:ea typeface="黑体" pitchFamily="2" charset="-122"/>
              </a:rPr>
              <a:t>ij</a:t>
            </a:r>
            <a:r>
              <a:rPr lang="zh-CN" altLang="en-US" dirty="0">
                <a:ea typeface="黑体" pitchFamily="2" charset="-122"/>
              </a:rPr>
              <a:t>和</a:t>
            </a:r>
            <a:r>
              <a:rPr lang="en-US" altLang="zh-CN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baseline="-25000" dirty="0" err="1">
                <a:solidFill>
                  <a:schemeClr val="bg2"/>
                </a:solidFill>
                <a:ea typeface="黑体" pitchFamily="2" charset="-122"/>
              </a:rPr>
              <a:t>j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不再是各自相应的隶属度，而是受到全面制约。</a:t>
            </a:r>
          </a:p>
          <a:p>
            <a:pPr marL="990600" lvl="1" indent="-533400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此模型突出信息中的</a:t>
            </a:r>
            <a:r>
              <a:rPr lang="zh-CN" altLang="en-US" u="sng" dirty="0">
                <a:solidFill>
                  <a:srgbClr val="CC00CC"/>
                </a:solidFill>
                <a:ea typeface="黑体" pitchFamily="2" charset="-122"/>
              </a:rPr>
              <a:t>次要因素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而进行综合评判</a:t>
            </a:r>
            <a:endParaRPr lang="zh-CN" altLang="en-US" sz="2400" dirty="0">
              <a:solidFill>
                <a:srgbClr val="008000"/>
              </a:solidFill>
              <a:ea typeface="黑体" pitchFamily="2" charset="-122"/>
            </a:endParaRPr>
          </a:p>
        </p:txBody>
      </p:sp>
      <p:graphicFrame>
        <p:nvGraphicFramePr>
          <p:cNvPr id="16794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22054365"/>
              </p:ext>
            </p:extLst>
          </p:nvPr>
        </p:nvGraphicFramePr>
        <p:xfrm>
          <a:off x="1631504" y="1844676"/>
          <a:ext cx="54721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6800" imgH="304800" progId="Equation.3">
                  <p:embed/>
                </p:oleObj>
              </mc:Choice>
              <mc:Fallback>
                <p:oleObj name="公式" r:id="rId2" imgW="2336800" imgH="304800" progId="Equation.3">
                  <p:embed/>
                  <p:pic>
                    <p:nvPicPr>
                      <p:cNvPr id="167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1844676"/>
                        <a:ext cx="54721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9115237"/>
              </p:ext>
            </p:extLst>
          </p:nvPr>
        </p:nvGraphicFramePr>
        <p:xfrm>
          <a:off x="1702942" y="2420939"/>
          <a:ext cx="388302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01800" imgH="368300" progId="Equation.3">
                  <p:embed/>
                </p:oleObj>
              </mc:Choice>
              <mc:Fallback>
                <p:oleObj name="公式" r:id="rId4" imgW="1701800" imgH="368300" progId="Equation.3">
                  <p:embed/>
                  <p:pic>
                    <p:nvPicPr>
                      <p:cNvPr id="167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942" y="2420939"/>
                        <a:ext cx="3883025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3432176" y="4221164"/>
          <a:ext cx="404336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63700" imgH="254000" progId="Equation.3">
                  <p:embed/>
                </p:oleObj>
              </mc:Choice>
              <mc:Fallback>
                <p:oleObj name="公式" r:id="rId6" imgW="1663700" imgH="254000" progId="Equation.3">
                  <p:embed/>
                  <p:pic>
                    <p:nvPicPr>
                      <p:cNvPr id="167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4221164"/>
                        <a:ext cx="4043363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269170"/>
              </p:ext>
            </p:extLst>
          </p:nvPr>
        </p:nvGraphicFramePr>
        <p:xfrm>
          <a:off x="4839791" y="4724400"/>
          <a:ext cx="39211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4957" imgH="253780" progId="Equation.3">
                  <p:embed/>
                </p:oleObj>
              </mc:Choice>
              <mc:Fallback>
                <p:oleObj name="公式" r:id="rId8" imgW="164957" imgH="253780" progId="Equation.3">
                  <p:embed/>
                  <p:pic>
                    <p:nvPicPr>
                      <p:cNvPr id="16794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9791" y="4724400"/>
                        <a:ext cx="392113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7E7E17-1214-8AD3-0425-F9361A7506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536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4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模型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（ 乘幂 ，∧） 应用举例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268414"/>
            <a:ext cx="9145016" cy="5589587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教师的教学质量的评估问题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前三步与模型</a:t>
            </a:r>
            <a:r>
              <a:rPr lang="en-US" altLang="zh-CN" sz="2400" b="1" dirty="0"/>
              <a:t>M</a:t>
            </a:r>
            <a:r>
              <a:rPr lang="zh-CN" altLang="en-US" sz="2400" dirty="0">
                <a:ea typeface="黑体" pitchFamily="2" charset="-122"/>
              </a:rPr>
              <a:t>（∧，∨）方法相同，得</a:t>
            </a:r>
            <a:r>
              <a:rPr lang="zh-CN" altLang="en-US" sz="2400" b="1" dirty="0">
                <a:solidFill>
                  <a:srgbClr val="F72603"/>
                </a:solidFill>
              </a:rPr>
              <a:t>综合评判矩阵</a:t>
            </a:r>
            <a:r>
              <a:rPr lang="en-US" altLang="zh-CN" sz="2400" b="1" dirty="0">
                <a:solidFill>
                  <a:srgbClr val="F72603"/>
                </a:solidFill>
              </a:rPr>
              <a:t>R</a:t>
            </a:r>
            <a:r>
              <a:rPr lang="zh-CN" altLang="en-US" sz="2400" b="1" dirty="0">
                <a:solidFill>
                  <a:srgbClr val="F72603"/>
                </a:solidFill>
              </a:rPr>
              <a:t>和因素重要程度</a:t>
            </a:r>
            <a:r>
              <a:rPr lang="en-US" altLang="zh-CN" sz="2400" b="1" dirty="0">
                <a:solidFill>
                  <a:srgbClr val="F72603"/>
                </a:solidFill>
              </a:rPr>
              <a:t>F</a:t>
            </a:r>
            <a:r>
              <a:rPr lang="zh-CN" altLang="en-US" sz="2400" b="1" dirty="0">
                <a:solidFill>
                  <a:srgbClr val="F72603"/>
                </a:solidFill>
              </a:rPr>
              <a:t>集</a:t>
            </a:r>
            <a:r>
              <a:rPr lang="en-US" altLang="zh-CN" sz="2400" b="1" dirty="0">
                <a:solidFill>
                  <a:srgbClr val="F72603"/>
                </a:solidFill>
              </a:rPr>
              <a:t>A </a:t>
            </a:r>
            <a:r>
              <a:rPr lang="en-US" altLang="zh-CN" sz="2400" dirty="0">
                <a:solidFill>
                  <a:srgbClr val="F72603"/>
                </a:solidFill>
              </a:rPr>
              <a:t>=(0.30,0.20,0.20,0.20,0.10)</a:t>
            </a:r>
            <a:r>
              <a:rPr lang="en-US" altLang="zh-CN" sz="2400" b="1" dirty="0">
                <a:solidFill>
                  <a:srgbClr val="F72603"/>
                </a:solidFill>
              </a:rPr>
              <a:t> </a:t>
            </a:r>
            <a:r>
              <a:rPr lang="zh-CN" altLang="en-US" sz="2400" b="1" dirty="0">
                <a:solidFill>
                  <a:srgbClr val="F72603"/>
                </a:solidFill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dirty="0"/>
              <a:t>④</a:t>
            </a:r>
            <a:r>
              <a:rPr lang="zh-CN" altLang="en-US" sz="2400" b="1" dirty="0">
                <a:solidFill>
                  <a:schemeClr val="bg2"/>
                </a:solidFill>
              </a:rPr>
              <a:t>确定综合评价模型，求出</a:t>
            </a:r>
            <a:r>
              <a:rPr lang="en-US" altLang="zh-CN" sz="2400" b="1" dirty="0">
                <a:solidFill>
                  <a:schemeClr val="bg2"/>
                </a:solidFill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</a:rPr>
              <a:t>综合评价集</a:t>
            </a:r>
            <a:r>
              <a:rPr lang="en-US" altLang="zh-CN" sz="2400" b="1" dirty="0">
                <a:solidFill>
                  <a:schemeClr val="bg2"/>
                </a:solidFill>
              </a:rPr>
              <a:t>B</a:t>
            </a:r>
          </a:p>
          <a:p>
            <a:pPr eaLnBrk="1" hangingPunct="1">
              <a:buNone/>
            </a:pP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   B=A</a:t>
            </a:r>
            <a:r>
              <a:rPr lang="zh-CN" altLang="en-US" sz="24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 *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 R=</a:t>
            </a:r>
            <a:r>
              <a:rPr lang="en-US" altLang="zh-CN" sz="2000" dirty="0">
                <a:solidFill>
                  <a:schemeClr val="bg2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chemeClr val="bg2"/>
                </a:solidFill>
              </a:rPr>
              <a:t>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,…,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36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   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B=(0.786,0.660,0.617,0)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dirty="0"/>
              <a:t>⑤</a:t>
            </a:r>
            <a:r>
              <a:rPr lang="zh-CN" altLang="en-US" sz="2400" b="1" dirty="0"/>
              <a:t>综合评判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因为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B(v</a:t>
            </a:r>
            <a:r>
              <a:rPr lang="en-US" altLang="zh-CN" sz="24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)=0.786=max{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0.786</a:t>
            </a:r>
            <a:r>
              <a:rPr lang="en-US" altLang="zh-CN" sz="2400" dirty="0">
                <a:solidFill>
                  <a:schemeClr val="bg2"/>
                </a:solidFill>
                <a:ea typeface="黑体" pitchFamily="2" charset="-122"/>
              </a:rPr>
              <a:t>, 0.660, 0.617, 0},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所以，由最大隶属度原则，认为该教师的教学质量为“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优秀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”</a:t>
            </a:r>
          </a:p>
        </p:txBody>
      </p:sp>
      <p:graphicFrame>
        <p:nvGraphicFramePr>
          <p:cNvPr id="16896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80269777"/>
              </p:ext>
            </p:extLst>
          </p:nvPr>
        </p:nvGraphicFramePr>
        <p:xfrm>
          <a:off x="2279576" y="3493566"/>
          <a:ext cx="403383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01800" imgH="368300" progId="Equation.3">
                  <p:embed/>
                </p:oleObj>
              </mc:Choice>
              <mc:Fallback>
                <p:oleObj name="公式" r:id="rId3" imgW="1701800" imgH="368300" progId="Equation.3">
                  <p:embed/>
                  <p:pic>
                    <p:nvPicPr>
                      <p:cNvPr id="168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493566"/>
                        <a:ext cx="403383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073828841"/>
              </p:ext>
            </p:extLst>
          </p:nvPr>
        </p:nvGraphicFramePr>
        <p:xfrm>
          <a:off x="7175501" y="2852937"/>
          <a:ext cx="3690385" cy="2183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57434" imgH="1066770" progId="Equation.3">
                  <p:embed/>
                </p:oleObj>
              </mc:Choice>
              <mc:Fallback>
                <p:oleObj name="公式" r:id="rId5" imgW="1857434" imgH="1066770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2852937"/>
                        <a:ext cx="3690385" cy="2183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820659-39EE-344F-DE40-C908A6795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43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8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8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8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例：评判某地区是否适宜种橡胶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4" y="1916832"/>
            <a:ext cx="10369152" cy="439248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对橡胶生长影响较大的因素为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    </a:t>
            </a:r>
            <a:r>
              <a:rPr lang="zh-CN" altLang="en-US" sz="2800" b="1" dirty="0">
                <a:ea typeface="楷体_GB2312" pitchFamily="49" charset="-122"/>
              </a:rPr>
              <a:t>年平均气温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年极端最低气温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年平均风速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endParaRPr lang="en-US" altLang="zh-CN" sz="2400" b="1" dirty="0"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设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因素集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  <a:endParaRPr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   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U={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年平均气温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), 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年极端最低气温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年平均风速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)} </a:t>
            </a:r>
            <a:endParaRPr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设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评语集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V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    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V={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很适宜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较适宜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适宜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不适宜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8AFBC-E211-EFC3-A065-849C118549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03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例：评判某地区是否适宜种橡胶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484784"/>
            <a:ext cx="10513168" cy="5265266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根据历年资料和经验，对每个因素确定隶属函数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00050" lvl="1" indent="0" eaLnBrk="1" hangingPunct="1">
              <a:lnSpc>
                <a:spcPct val="105000"/>
              </a:lnSpc>
              <a:buNone/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(1)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年平均气温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):</a:t>
            </a:r>
          </a:p>
          <a:p>
            <a:pPr marL="914400" lvl="1" indent="-514350" eaLnBrk="1" hangingPunct="1">
              <a:lnSpc>
                <a:spcPct val="105000"/>
              </a:lnSpc>
              <a:buFont typeface="+mj-ea"/>
              <a:buAutoNum type="circleNumDbPlain"/>
            </a:pPr>
            <a:endParaRPr lang="en-US" altLang="zh-CN" b="1" dirty="0">
              <a:solidFill>
                <a:srgbClr val="3333FF"/>
              </a:solidFill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05000"/>
              </a:lnSpc>
              <a:buNone/>
            </a:pPr>
            <a:endParaRPr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05000"/>
              </a:lnSpc>
              <a:buNone/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(2)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年极端最低气温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):</a:t>
            </a:r>
          </a:p>
          <a:p>
            <a:pPr marL="400050" lvl="1" indent="0" eaLnBrk="1" hangingPunct="1">
              <a:lnSpc>
                <a:spcPct val="105000"/>
              </a:lnSpc>
              <a:buNone/>
            </a:pPr>
            <a:endParaRPr lang="en-US" altLang="zh-CN" b="1" dirty="0">
              <a:solidFill>
                <a:srgbClr val="3333FF"/>
              </a:solidFill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05000"/>
              </a:lnSpc>
              <a:buNone/>
            </a:pPr>
            <a:endParaRPr lang="en-US" altLang="zh-CN" b="1" dirty="0">
              <a:solidFill>
                <a:srgbClr val="3333FF"/>
              </a:solidFill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05000"/>
              </a:lnSpc>
              <a:buNone/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(3)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年平均风速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en-US" altLang="zh-CN" b="1" i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):</a:t>
            </a:r>
            <a:endParaRPr lang="zh-CN" altLang="en-US" sz="3200" dirty="0"/>
          </a:p>
        </p:txBody>
      </p:sp>
      <p:graphicFrame>
        <p:nvGraphicFramePr>
          <p:cNvPr id="4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2213116"/>
              </p:ext>
            </p:extLst>
          </p:nvPr>
        </p:nvGraphicFramePr>
        <p:xfrm>
          <a:off x="4799856" y="2247032"/>
          <a:ext cx="691276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45457" imgH="1437517" progId="Word.Document.8">
                  <p:embed/>
                </p:oleObj>
              </mc:Choice>
              <mc:Fallback>
                <p:oleObj name="Document" r:id="rId2" imgW="7345457" imgH="1437517" progId="Word.Document.8">
                  <p:embed/>
                  <p:pic>
                    <p:nvPicPr>
                      <p:cNvPr id="4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2247032"/>
                        <a:ext cx="691276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5886114"/>
              </p:ext>
            </p:extLst>
          </p:nvPr>
        </p:nvGraphicFramePr>
        <p:xfrm>
          <a:off x="4727848" y="3789040"/>
          <a:ext cx="7110413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063547" imgH="1366000" progId="Word.Document.8">
                  <p:embed/>
                </p:oleObj>
              </mc:Choice>
              <mc:Fallback>
                <p:oleObj name="Document" r:id="rId4" imgW="7063547" imgH="1366000" progId="Word.Document.8">
                  <p:embed/>
                  <p:pic>
                    <p:nvPicPr>
                      <p:cNvPr id="5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789040"/>
                        <a:ext cx="7110413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615979"/>
              </p:ext>
            </p:extLst>
          </p:nvPr>
        </p:nvGraphicFramePr>
        <p:xfrm>
          <a:off x="4799856" y="5373216"/>
          <a:ext cx="5725318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291437" imgH="1376063" progId="Word.Document.8">
                  <p:embed/>
                </p:oleObj>
              </mc:Choice>
              <mc:Fallback>
                <p:oleObj name="Document" r:id="rId6" imgW="6291437" imgH="1376063" progId="Word.Document.8">
                  <p:embed/>
                  <p:pic>
                    <p:nvPicPr>
                      <p:cNvPr id="6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856" y="5373216"/>
                        <a:ext cx="5725318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1ABB94-7B7D-BB21-F476-6DAD885B0A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20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8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727068"/>
              </p:ext>
            </p:extLst>
          </p:nvPr>
        </p:nvGraphicFramePr>
        <p:xfrm>
          <a:off x="1412876" y="1560514"/>
          <a:ext cx="9435653" cy="546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847113" imgH="4657254" progId="Word.Document.8">
                  <p:embed/>
                </p:oleObj>
              </mc:Choice>
              <mc:Fallback>
                <p:oleObj name="Document" r:id="rId2" imgW="7847113" imgH="4657254" progId="Word.Document.8">
                  <p:embed/>
                  <p:pic>
                    <p:nvPicPr>
                      <p:cNvPr id="70658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6" y="1560514"/>
                        <a:ext cx="9435653" cy="546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336" y="113184"/>
            <a:ext cx="11809312" cy="1371600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3200" dirty="0">
                <a:solidFill>
                  <a:srgbClr val="008000"/>
                </a:solidFill>
                <a:ea typeface="黑体" panose="02010609060101010101" pitchFamily="49" charset="-122"/>
              </a:rPr>
              <a:t>将某地区</a:t>
            </a:r>
            <a:r>
              <a:rPr lang="en-US" altLang="zh-CN" sz="3200" dirty="0">
                <a:solidFill>
                  <a:srgbClr val="008000"/>
                </a:solidFill>
                <a:ea typeface="黑体" panose="02010609060101010101" pitchFamily="49" charset="-122"/>
              </a:rPr>
              <a:t>1960-1978</a:t>
            </a:r>
            <a:r>
              <a:rPr lang="zh-CN" altLang="en-US" sz="3200" dirty="0">
                <a:solidFill>
                  <a:srgbClr val="008000"/>
                </a:solidFill>
                <a:ea typeface="黑体" panose="02010609060101010101" pitchFamily="49" charset="-122"/>
              </a:rPr>
              <a:t>年间每年对三个气候因素实测的数据，分别代入前面三个隶属函数公式，得当年该因素的隶属度列于下表：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D838AB-12F9-BD0F-E7BE-F727CA3F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87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例：评判某地区是否适宜种橡胶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4" y="1484784"/>
            <a:ext cx="10513168" cy="5256584"/>
          </a:xfrm>
        </p:spPr>
        <p:txBody>
          <a:bodyPr/>
          <a:lstStyle/>
          <a:p>
            <a:r>
              <a:rPr lang="zh-CN" altLang="en-US" sz="2800" b="1" dirty="0"/>
              <a:t>对隶属度大小给予分类，即规定：</a:t>
            </a:r>
            <a:endParaRPr lang="en-US" altLang="zh-CN" sz="2800" b="1" dirty="0"/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当</a:t>
            </a:r>
            <a:r>
              <a:rPr lang="zh-CN" altLang="en-US" sz="2400" b="1" i="1" dirty="0">
                <a:solidFill>
                  <a:srgbClr val="CC00CC"/>
                </a:solidFill>
                <a:sym typeface="Symbol" panose="05050102010706020507" pitchFamily="18" charset="2"/>
              </a:rPr>
              <a:t> 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solidFill>
                  <a:srgbClr val="CC00CC"/>
                </a:solidFill>
                <a:sym typeface="Symbol" panose="05050102010706020507" pitchFamily="18" charset="2"/>
              </a:rPr>
              <a:t>0.9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时，        为“很适宜”</a:t>
            </a:r>
            <a:endParaRPr lang="en-US" altLang="zh-CN" sz="24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当</a:t>
            </a:r>
            <a:r>
              <a:rPr lang="en-US" altLang="zh-CN" sz="2400" b="1" dirty="0">
                <a:solidFill>
                  <a:srgbClr val="CC00CC"/>
                </a:solidFill>
              </a:rPr>
              <a:t>0.9 &gt;</a:t>
            </a:r>
            <a:r>
              <a:rPr lang="zh-CN" altLang="en-US" sz="2400" b="1" i="1" dirty="0">
                <a:solidFill>
                  <a:srgbClr val="CC00CC"/>
                </a:solidFill>
                <a:sym typeface="Symbol" panose="05050102010706020507" pitchFamily="18" charset="2"/>
              </a:rPr>
              <a:t> 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solidFill>
                  <a:srgbClr val="CC00CC"/>
                </a:solidFill>
                <a:sym typeface="Symbol" panose="05050102010706020507" pitchFamily="18" charset="2"/>
              </a:rPr>
              <a:t>0.8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时，为“较适宜”</a:t>
            </a:r>
            <a:endParaRPr lang="en-US" altLang="zh-CN" sz="24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当</a:t>
            </a:r>
            <a:r>
              <a:rPr lang="en-US" altLang="zh-CN" sz="2400" b="1" dirty="0">
                <a:solidFill>
                  <a:srgbClr val="CC00CC"/>
                </a:solidFill>
              </a:rPr>
              <a:t>0.8 &gt;</a:t>
            </a:r>
            <a:r>
              <a:rPr lang="zh-CN" altLang="en-US" sz="2400" b="1" i="1" dirty="0">
                <a:solidFill>
                  <a:srgbClr val="CC00CC"/>
                </a:solidFill>
                <a:sym typeface="Symbol" panose="05050102010706020507" pitchFamily="18" charset="2"/>
              </a:rPr>
              <a:t> 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 </a:t>
            </a:r>
            <a:r>
              <a:rPr lang="en-US" altLang="zh-CN" sz="2400" b="1" dirty="0">
                <a:solidFill>
                  <a:srgbClr val="CC00CC"/>
                </a:solidFill>
                <a:sym typeface="Symbol" panose="05050102010706020507" pitchFamily="18" charset="2"/>
              </a:rPr>
              <a:t>0.7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时，为“适宜”</a:t>
            </a:r>
            <a:endParaRPr lang="en-US" altLang="zh-CN" sz="24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当</a:t>
            </a:r>
            <a:r>
              <a:rPr lang="zh-CN" altLang="en-US" sz="2400" b="1" i="1" dirty="0">
                <a:solidFill>
                  <a:srgbClr val="CC00CC"/>
                </a:solidFill>
                <a:sym typeface="Symbol" panose="05050102010706020507" pitchFamily="18" charset="2"/>
              </a:rPr>
              <a:t>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CC00CC"/>
                </a:solidFill>
                <a:sym typeface="Symbol" panose="05050102010706020507" pitchFamily="18" charset="2"/>
              </a:rPr>
              <a:t>&lt; 0.7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时，        为“不适宜”</a:t>
            </a:r>
            <a:endParaRPr lang="en-US" altLang="zh-CN" sz="24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r>
              <a:rPr lang="zh-CN" altLang="en-US" sz="2800" b="1" dirty="0">
                <a:sym typeface="Symbol" panose="05050102010706020507" pitchFamily="18" charset="2"/>
              </a:rPr>
              <a:t>对“年平均气温</a:t>
            </a:r>
            <a:r>
              <a:rPr lang="en-US" altLang="zh-CN" sz="2800" b="1" dirty="0">
                <a:sym typeface="Symbol" panose="05050102010706020507" pitchFamily="18" charset="2"/>
              </a:rPr>
              <a:t>(u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sym typeface="Symbol" panose="05050102010706020507" pitchFamily="18" charset="2"/>
              </a:rPr>
              <a:t>”有</a:t>
            </a:r>
            <a:r>
              <a:rPr lang="en-US" altLang="zh-CN" sz="2800" b="1" dirty="0">
                <a:sym typeface="Symbol" panose="05050102010706020507" pitchFamily="18" charset="2"/>
              </a:rPr>
              <a:t>42%</a:t>
            </a:r>
            <a:r>
              <a:rPr lang="zh-CN" altLang="en-US" sz="2800" b="1" dirty="0">
                <a:sym typeface="Symbol" panose="05050102010706020507" pitchFamily="18" charset="2"/>
              </a:rPr>
              <a:t>年份“很适宜”，其余均为“较适宜”，所以，其评价结果为：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zh-CN" altLang="en-US" sz="2800" dirty="0"/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)=(0.42, 0.58, 0,      0     )</a:t>
            </a:r>
          </a:p>
          <a:p>
            <a:pPr eaLnBrk="1" hangingPunct="1">
              <a:buNone/>
            </a:pPr>
            <a:r>
              <a:rPr lang="zh-CN" altLang="en-US" sz="2800" dirty="0">
                <a:ea typeface="黑体" pitchFamily="2" charset="-122"/>
              </a:rPr>
              <a:t>   同理可得其余两个因素的评价结果为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buNone/>
            </a:pP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)=(0,      0,      0.26, 0.74) </a:t>
            </a:r>
          </a:p>
          <a:p>
            <a:pPr eaLnBrk="1" hangingPunct="1">
              <a:buNone/>
            </a:pPr>
            <a:r>
              <a:rPr lang="en-US" altLang="zh-CN" sz="2800" i="1" dirty="0">
                <a:solidFill>
                  <a:schemeClr val="bg2"/>
                </a:solidFill>
                <a:ea typeface="黑体" pitchFamily="2" charset="-122"/>
              </a:rPr>
              <a:t>    </a:t>
            </a:r>
            <a:r>
              <a:rPr lang="en-US" altLang="zh-CN" sz="2800" i="1" dirty="0">
                <a:solidFill>
                  <a:schemeClr val="bg2"/>
                </a:solidFill>
                <a:latin typeface="Monotype Corsiva" pitchFamily="66" charset="0"/>
                <a:ea typeface="黑体" pitchFamily="2" charset="-122"/>
              </a:rPr>
              <a:t>f 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(u</a:t>
            </a:r>
            <a:r>
              <a:rPr lang="en-US" altLang="zh-CN" sz="2800" baseline="-25000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)=(0,      0.11, 0.26, 0.63)</a:t>
            </a:r>
            <a:endParaRPr lang="zh-CN" altLang="en-US" sz="2800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391AE-FEAB-BEE9-7B76-713562720001}"/>
              </a:ext>
            </a:extLst>
          </p:cNvPr>
          <p:cNvSpPr txBox="1"/>
          <p:nvPr/>
        </p:nvSpPr>
        <p:spPr>
          <a:xfrm>
            <a:off x="7536160" y="1844825"/>
            <a:ext cx="3024336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/>
                </a:solidFill>
                <a:ea typeface="黑体" pitchFamily="2" charset="-122"/>
              </a:rPr>
              <a:t>因素集</a:t>
            </a:r>
            <a:endParaRPr lang="en-US" altLang="zh-CN" sz="2400" b="1" dirty="0">
              <a:solidFill>
                <a:schemeClr val="bg2"/>
              </a:solidFill>
              <a:ea typeface="黑体" pitchFamily="2" charset="-122"/>
            </a:endParaRPr>
          </a:p>
          <a:p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/>
              <a:t>年平均气温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/>
              <a:t>年极端最低气温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/>
              <a:t>年平均风速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B0E8A3-2069-15E8-6A19-B3EE60370CB1}"/>
              </a:ext>
            </a:extLst>
          </p:cNvPr>
          <p:cNvSpPr txBox="1"/>
          <p:nvPr/>
        </p:nvSpPr>
        <p:spPr>
          <a:xfrm>
            <a:off x="8769710" y="4730368"/>
            <a:ext cx="1763688" cy="1938992"/>
          </a:xfrm>
          <a:prstGeom prst="rect">
            <a:avLst/>
          </a:prstGeom>
          <a:solidFill>
            <a:srgbClr val="9BF2FB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评语集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很适宜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较适宜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适宜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不适宜</a:t>
            </a:r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107482-FE47-CC1A-3F8A-7D77EBF44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140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例：评判某地区是否适宜种橡胶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484784"/>
            <a:ext cx="10081120" cy="5184576"/>
          </a:xfrm>
        </p:spPr>
        <p:txBody>
          <a:bodyPr/>
          <a:lstStyle/>
          <a:p>
            <a:r>
              <a:rPr lang="zh-CN" altLang="en-US" sz="2800" b="1" dirty="0"/>
              <a:t>从而建立了综合评判矩阵：</a:t>
            </a:r>
            <a:endParaRPr lang="en-US" altLang="zh-CN" sz="2800" b="1" dirty="0"/>
          </a:p>
          <a:p>
            <a:pPr marL="0" indent="0">
              <a:buNone/>
            </a:pP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b="1" dirty="0"/>
              <a:t>根据三个气候因素的作用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给定权重分配为</a:t>
            </a:r>
            <a:endParaRPr lang="en-US" altLang="zh-CN" sz="2800" b="1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F72603"/>
                </a:solidFill>
              </a:rPr>
              <a:t>        </a:t>
            </a:r>
            <a:r>
              <a:rPr lang="en-US" altLang="zh-CN" sz="2800" dirty="0">
                <a:solidFill>
                  <a:srgbClr val="F72603"/>
                </a:solidFill>
              </a:rPr>
              <a:t>A=(0.19, 0.80, 0.01)</a:t>
            </a:r>
            <a:endParaRPr lang="en-US" altLang="zh-CN" sz="2800" dirty="0"/>
          </a:p>
          <a:p>
            <a:r>
              <a:rPr lang="zh-CN" altLang="en-US" sz="2800" b="1" dirty="0"/>
              <a:t>选用模型</a:t>
            </a:r>
            <a:r>
              <a:rPr lang="en-US" altLang="zh-CN" sz="2800" b="1" dirty="0">
                <a:solidFill>
                  <a:srgbClr val="008000"/>
                </a:solidFill>
              </a:rPr>
              <a:t>M(</a:t>
            </a:r>
            <a:r>
              <a:rPr lang="zh-CN" altLang="en-US" sz="2800" b="1" dirty="0">
                <a:solidFill>
                  <a:srgbClr val="008000"/>
                </a:solidFill>
                <a:ea typeface="黑体" pitchFamily="2" charset="-122"/>
              </a:rPr>
              <a:t>∧，∨</a:t>
            </a:r>
            <a:r>
              <a:rPr lang="en-US" altLang="zh-CN" sz="2800" b="1" dirty="0">
                <a:solidFill>
                  <a:srgbClr val="008000"/>
                </a:solidFill>
              </a:rPr>
              <a:t>)</a:t>
            </a:r>
            <a:r>
              <a:rPr lang="zh-CN" altLang="en-US" sz="2800" b="1" dirty="0"/>
              <a:t>得综合评判如下：</a:t>
            </a:r>
            <a:endParaRPr lang="en-US" altLang="zh-CN" sz="2800" b="1" dirty="0"/>
          </a:p>
          <a:p>
            <a:pPr marL="0" indent="0">
              <a:buNone/>
            </a:pPr>
            <a:r>
              <a:rPr lang="en-US" altLang="zh-CN" sz="2800" dirty="0">
                <a:ea typeface="黑体" pitchFamily="2" charset="-122"/>
              </a:rPr>
              <a:t>       B=A*R=(0.19, 0.19, 0.26, 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0.74</a:t>
            </a:r>
            <a:r>
              <a:rPr lang="en-US" altLang="zh-CN" sz="2800" dirty="0">
                <a:ea typeface="黑体" pitchFamily="2" charset="-122"/>
              </a:rPr>
              <a:t>)</a:t>
            </a:r>
            <a:endParaRPr lang="en-US" altLang="zh-CN" sz="2800" dirty="0"/>
          </a:p>
          <a:p>
            <a:r>
              <a:rPr lang="zh-CN" altLang="en-US" sz="2800" dirty="0">
                <a:ea typeface="黑体" pitchFamily="2" charset="-122"/>
              </a:rPr>
              <a:t>由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最大隶属度原则，</a:t>
            </a:r>
            <a:r>
              <a:rPr lang="zh-CN" altLang="en-US" sz="2800" dirty="0">
                <a:ea typeface="黑体" pitchFamily="2" charset="-122"/>
              </a:rPr>
              <a:t>结论是</a:t>
            </a:r>
            <a:r>
              <a:rPr lang="en-US" altLang="zh-CN" sz="2800" dirty="0">
                <a:ea typeface="黑体" pitchFamily="2" charset="-122"/>
              </a:rPr>
              <a:t>:</a:t>
            </a:r>
          </a:p>
          <a:p>
            <a:pPr marL="0" indent="0">
              <a:buNone/>
            </a:pPr>
            <a:r>
              <a:rPr lang="zh-CN" altLang="en-US" sz="2800" dirty="0">
                <a:ea typeface="黑体" pitchFamily="2" charset="-122"/>
              </a:rPr>
              <a:t>   判定该地区种植橡胶为“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不适宜</a:t>
            </a:r>
            <a:r>
              <a:rPr lang="zh-CN" altLang="en-US" sz="2800" dirty="0">
                <a:ea typeface="黑体" pitchFamily="2" charset="-122"/>
              </a:rPr>
              <a:t>”</a:t>
            </a:r>
            <a:endParaRPr lang="zh-CN" altLang="en-US" dirty="0"/>
          </a:p>
        </p:txBody>
      </p:sp>
      <p:graphicFrame>
        <p:nvGraphicFramePr>
          <p:cNvPr id="4" name="Object 2"/>
          <p:cNvGraphicFramePr>
            <a:graphicFrameLocks/>
          </p:cNvGraphicFramePr>
          <p:nvPr/>
        </p:nvGraphicFramePr>
        <p:xfrm>
          <a:off x="1703512" y="1988840"/>
          <a:ext cx="6552728" cy="1478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402637" imgH="1585038" progId="Word.Document.8">
                  <p:embed/>
                </p:oleObj>
              </mc:Choice>
              <mc:Fallback>
                <p:oleObj name="Document" r:id="rId2" imgW="6402637" imgH="1585038" progId="Word.Document.8">
                  <p:embed/>
                  <p:pic>
                    <p:nvPicPr>
                      <p:cNvPr id="4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1988840"/>
                        <a:ext cx="6552728" cy="1478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9422F6D-8CE2-46DF-9D79-4F327D25A300}"/>
              </a:ext>
            </a:extLst>
          </p:cNvPr>
          <p:cNvSpPr txBox="1"/>
          <p:nvPr/>
        </p:nvSpPr>
        <p:spPr>
          <a:xfrm>
            <a:off x="7824192" y="1571308"/>
            <a:ext cx="3024336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/>
                </a:solidFill>
                <a:ea typeface="黑体" pitchFamily="2" charset="-122"/>
              </a:rPr>
              <a:t>因素集：</a:t>
            </a:r>
            <a:endParaRPr lang="en-US" altLang="zh-CN" sz="2400" b="1" dirty="0">
              <a:solidFill>
                <a:schemeClr val="bg2"/>
              </a:solidFill>
              <a:ea typeface="黑体" pitchFamily="2" charset="-122"/>
            </a:endParaRPr>
          </a:p>
          <a:p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/>
              <a:t>年平均气温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bg2"/>
                </a:solidFill>
                <a:ea typeface="黑体" pitchFamily="2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/>
              <a:t>年极端最低气温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/>
              <a:t>年平均风速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191AC8-5769-5DAA-FC94-8E205282EF3A}"/>
              </a:ext>
            </a:extLst>
          </p:cNvPr>
          <p:cNvSpPr txBox="1"/>
          <p:nvPr/>
        </p:nvSpPr>
        <p:spPr>
          <a:xfrm>
            <a:off x="8712311" y="4403720"/>
            <a:ext cx="1763688" cy="1938992"/>
          </a:xfrm>
          <a:prstGeom prst="rect">
            <a:avLst/>
          </a:prstGeom>
          <a:solidFill>
            <a:srgbClr val="9BF2FB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评语集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很适宜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较适宜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适宜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  <a:p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chemeClr val="bg2"/>
                </a:solidFill>
                <a:ea typeface="黑体" pitchFamily="2" charset="-122"/>
              </a:rPr>
              <a:t>—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不适宜</a:t>
            </a:r>
            <a:endParaRPr lang="zh-CN" altLang="en-US" sz="24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F7F03B-C776-B14D-54C8-04515698CB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454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1424" y="1484784"/>
            <a:ext cx="10153128" cy="518457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评价污水处理厂经营优劣的评判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因素集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  <a:endParaRPr lang="en-US" altLang="zh-CN" sz="2800" dirty="0">
              <a:solidFill>
                <a:schemeClr val="bg2"/>
              </a:solidFill>
              <a:ea typeface="黑体" pitchFamily="2" charset="-122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U={u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 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 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}</a:t>
            </a:r>
          </a:p>
          <a:p>
            <a:pPr marL="400050" lvl="1" indent="0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每日处理污水量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千吨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/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日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</a:t>
            </a:r>
          </a:p>
          <a:p>
            <a:pPr marL="400050" lvl="1" indent="0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五日生化需氧量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BOD5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去除率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(%)</a:t>
            </a:r>
          </a:p>
          <a:p>
            <a:pPr marL="400050" lvl="1" indent="0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浮物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SS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去除率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(%)</a:t>
            </a:r>
          </a:p>
          <a:p>
            <a:pPr marL="400050" lvl="1" indent="0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每吨污水处理消耗的空气量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(m</a:t>
            </a:r>
            <a:r>
              <a:rPr lang="en-US" altLang="zh-CN" sz="2400" b="1" baseline="30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/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吨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“气水比”</a:t>
            </a:r>
            <a:endParaRPr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  <a:p>
            <a:pPr marL="400050" lvl="1" indent="0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5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用去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1kg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的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BOD5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所耗电的度数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——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“单耗”</a:t>
            </a:r>
            <a:endParaRPr lang="zh-CN" altLang="en-US" sz="24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评语集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V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为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     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V={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很好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好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中等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差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 , </a:t>
            </a:r>
            <a:r>
              <a:rPr lang="zh-CN" altLang="en-US" sz="2800" b="1" dirty="0">
                <a:solidFill>
                  <a:srgbClr val="CC00CC"/>
                </a:solidFill>
                <a:ea typeface="楷体_GB2312" pitchFamily="49" charset="-122"/>
              </a:rPr>
              <a:t>很差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(v</a:t>
            </a:r>
            <a:r>
              <a:rPr lang="en-US" altLang="zh-CN" sz="2800" b="1" baseline="-25000" dirty="0">
                <a:solidFill>
                  <a:srgbClr val="CC00CC"/>
                </a:solidFill>
                <a:ea typeface="楷体_GB2312" pitchFamily="49" charset="-122"/>
              </a:rPr>
              <a:t>5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)</a:t>
            </a:r>
            <a:r>
              <a:rPr lang="en-US" altLang="zh-CN" sz="2800" b="1" dirty="0">
                <a:solidFill>
                  <a:srgbClr val="CC00CC"/>
                </a:solidFill>
                <a:ea typeface="楷体_GB2312" pitchFamily="49" charset="-122"/>
              </a:rPr>
              <a:t>}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B67725-2797-8C66-BBEF-6A3EE5330C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77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686800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5730" y="1484784"/>
            <a:ext cx="8229600" cy="194421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根据实际情况进行定级：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ea typeface="楷体_GB2312" pitchFamily="49" charset="-122"/>
              </a:rPr>
              <a:t>为例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当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CC00CC"/>
                </a:solidFill>
                <a:sym typeface="Symbol" panose="05050102010706020507" pitchFamily="18" charset="2"/>
              </a:rPr>
              <a:t>&gt;18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时，为“很好”</a:t>
            </a:r>
            <a:endParaRPr lang="en-US" altLang="zh-CN" sz="24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solidFill>
                  <a:srgbClr val="CC00CC"/>
                </a:solidFill>
              </a:rPr>
              <a:t>当</a:t>
            </a:r>
            <a:r>
              <a:rPr lang="en-US" altLang="zh-CN" sz="2400" b="1" dirty="0">
                <a:solidFill>
                  <a:srgbClr val="CC00CC"/>
                </a:solidFill>
              </a:rPr>
              <a:t>18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</a:t>
            </a:r>
            <a:r>
              <a:rPr lang="en-US" altLang="zh-CN" sz="2400" b="1" dirty="0">
                <a:solidFill>
                  <a:srgbClr val="CC00CC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CC00CC"/>
                </a:solidFill>
              </a:rPr>
              <a:t>&gt;17</a:t>
            </a:r>
            <a:r>
              <a:rPr lang="zh-CN" altLang="en-US" sz="2400" b="1" dirty="0">
                <a:solidFill>
                  <a:srgbClr val="CC00CC"/>
                </a:solidFill>
                <a:sym typeface="Symbol" panose="05050102010706020507" pitchFamily="18" charset="2"/>
              </a:rPr>
              <a:t>时，为“好”</a:t>
            </a:r>
            <a:endParaRPr lang="en-US" altLang="zh-CN" sz="2400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zh-CN" sz="2400" b="1" dirty="0">
                <a:sym typeface="Symbol" panose="05050102010706020507" pitchFamily="18" charset="2"/>
              </a:rPr>
              <a:t>……</a:t>
            </a:r>
          </a:p>
        </p:txBody>
      </p:sp>
      <p:graphicFrame>
        <p:nvGraphicFramePr>
          <p:cNvPr id="4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2522091"/>
              </p:ext>
            </p:extLst>
          </p:nvPr>
        </p:nvGraphicFramePr>
        <p:xfrm>
          <a:off x="911424" y="3534522"/>
          <a:ext cx="11974513" cy="308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896182" imgH="2796884" progId="Word.Document.8">
                  <p:embed/>
                </p:oleObj>
              </mc:Choice>
              <mc:Fallback>
                <p:oleObj name="Document" r:id="rId2" imgW="10896182" imgH="2796884" progId="Word.Document.8">
                  <p:embed/>
                  <p:pic>
                    <p:nvPicPr>
                      <p:cNvPr id="4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424" y="3534522"/>
                        <a:ext cx="11974513" cy="308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203FF4-DD10-7D59-5B49-BABED26B4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28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0840977"/>
              </p:ext>
            </p:extLst>
          </p:nvPr>
        </p:nvGraphicFramePr>
        <p:xfrm>
          <a:off x="2623814" y="2133600"/>
          <a:ext cx="8440738" cy="471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147398" imgH="4377485" progId="Word.Document.8">
                  <p:embed/>
                </p:oleObj>
              </mc:Choice>
              <mc:Fallback>
                <p:oleObj name="Document" r:id="rId2" imgW="7147398" imgH="4377485" progId="Word.Document.8">
                  <p:embed/>
                  <p:pic>
                    <p:nvPicPr>
                      <p:cNvPr id="79874" name="Object 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814" y="2133600"/>
                        <a:ext cx="8440738" cy="471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116632"/>
            <a:ext cx="8507288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9" y="1196752"/>
            <a:ext cx="10657179" cy="1008112"/>
          </a:xfrm>
        </p:spPr>
        <p:txBody>
          <a:bodyPr/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对某污水处理厂多年运行的大量实测数据经技术处理后，按</a:t>
            </a:r>
            <a:r>
              <a:rPr lang="zh-CN" altLang="en-US" sz="2800" dirty="0">
                <a:solidFill>
                  <a:srgbClr val="CC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每一旬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得出各因素的平均值如下：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9CF6A38-37B7-7F93-8951-8C2067DE130F}"/>
              </a:ext>
            </a:extLst>
          </p:cNvPr>
          <p:cNvCxnSpPr>
            <a:cxnSpLocks/>
          </p:cNvCxnSpPr>
          <p:nvPr/>
        </p:nvCxnSpPr>
        <p:spPr bwMode="auto">
          <a:xfrm>
            <a:off x="6698356" y="2133600"/>
            <a:ext cx="0" cy="424772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19E848-D88C-C533-7F10-2430F15FE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394BFB7-B783-D641-14FD-F1F5120AE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20778"/>
              </p:ext>
            </p:extLst>
          </p:nvPr>
        </p:nvGraphicFramePr>
        <p:xfrm>
          <a:off x="2032000" y="719666"/>
          <a:ext cx="8128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682489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547290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80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959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82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48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120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0088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66C2C7-2DF2-0977-F362-3698DC30DF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511736"/>
              </p:ext>
            </p:extLst>
          </p:nvPr>
        </p:nvGraphicFramePr>
        <p:xfrm>
          <a:off x="119335" y="2850232"/>
          <a:ext cx="2212825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81">
                  <a:extLst>
                    <a:ext uri="{9D8B030D-6E8A-4147-A177-3AD203B41FA5}">
                      <a16:colId xmlns:a16="http://schemas.microsoft.com/office/drawing/2014/main" val="137044004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280419411"/>
                    </a:ext>
                  </a:extLst>
                </a:gridCol>
                <a:gridCol w="556640">
                  <a:extLst>
                    <a:ext uri="{9D8B030D-6E8A-4147-A177-3AD203B41FA5}">
                      <a16:colId xmlns:a16="http://schemas.microsoft.com/office/drawing/2014/main" val="37786942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u1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ym typeface="Symbol" panose="05050102010706020507" pitchFamily="18" charset="2"/>
                        </a:rPr>
                        <a:t>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49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很好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&gt;18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solidFill>
                            <a:srgbClr val="CC00CC"/>
                          </a:solidFill>
                        </a:rPr>
                        <a:t>2</a:t>
                      </a:r>
                      <a:endParaRPr lang="zh-CN" altLang="en-US" sz="2000" b="1" dirty="0">
                        <a:solidFill>
                          <a:srgbClr val="CC00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30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17~18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solidFill>
                            <a:srgbClr val="CC00CC"/>
                          </a:solidFill>
                        </a:rPr>
                        <a:t>5</a:t>
                      </a:r>
                      <a:endParaRPr lang="zh-CN" altLang="en-US" sz="2000" b="1" dirty="0">
                        <a:solidFill>
                          <a:srgbClr val="CC00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136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16~17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solidFill>
                            <a:srgbClr val="CC00CC"/>
                          </a:solidFill>
                        </a:rPr>
                        <a:t>9</a:t>
                      </a:r>
                      <a:endParaRPr lang="zh-CN" altLang="en-US" sz="2000" b="1" dirty="0">
                        <a:solidFill>
                          <a:srgbClr val="CC00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86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15~16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solidFill>
                            <a:srgbClr val="CC00CC"/>
                          </a:solidFill>
                        </a:rPr>
                        <a:t>7</a:t>
                      </a:r>
                      <a:endParaRPr lang="zh-CN" altLang="en-US" sz="2000" b="1" dirty="0">
                        <a:solidFill>
                          <a:srgbClr val="CC00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3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很差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/>
                        <a:t>&lt;15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000" b="1" dirty="0">
                          <a:solidFill>
                            <a:srgbClr val="CC00CC"/>
                          </a:solidFill>
                        </a:rPr>
                        <a:t>13</a:t>
                      </a:r>
                      <a:endParaRPr lang="zh-CN" altLang="en-US" sz="2000" b="1" dirty="0">
                        <a:solidFill>
                          <a:srgbClr val="CC00CC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289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36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87688" y="2295706"/>
          <a:ext cx="5131722" cy="250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1143000" progId="Equation.DSMT4">
                  <p:embed/>
                </p:oleObj>
              </mc:Choice>
              <mc:Fallback>
                <p:oleObj name="Equation" r:id="rId2" imgW="2349360" imgH="1143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2295706"/>
                        <a:ext cx="5131722" cy="25014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507288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632248"/>
            <a:ext cx="8229600" cy="52633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根据上表建立</a:t>
            </a:r>
            <a:r>
              <a:rPr lang="zh-CN" altLang="en-US" dirty="0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综合评判矩阵</a:t>
            </a:r>
            <a:r>
              <a:rPr lang="en-US" altLang="zh-CN" dirty="0">
                <a:solidFill>
                  <a:srgbClr val="3333FF"/>
                </a:solidFill>
              </a:rPr>
              <a:t>R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3935760" y="3789040"/>
            <a:ext cx="864096" cy="432048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" name="矩形标注 5"/>
          <p:cNvSpPr/>
          <p:nvPr/>
        </p:nvSpPr>
        <p:spPr bwMode="auto">
          <a:xfrm>
            <a:off x="1703512" y="4941170"/>
            <a:ext cx="8784976" cy="1800199"/>
          </a:xfrm>
          <a:prstGeom prst="wedgeRectCallout">
            <a:avLst>
              <a:gd name="adj1" fmla="val -18494"/>
              <a:gd name="adj2" fmla="val -89431"/>
            </a:avLst>
          </a:prstGeom>
          <a:solidFill>
            <a:srgbClr val="F3FD99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ea typeface="宋体" pitchFamily="2" charset="-122"/>
              </a:rPr>
              <a:t>对因素</a:t>
            </a:r>
            <a:r>
              <a:rPr lang="en-US" altLang="zh-CN" sz="2800" b="1" dirty="0">
                <a:ea typeface="宋体" pitchFamily="2" charset="-122"/>
              </a:rPr>
              <a:t>u</a:t>
            </a:r>
            <a:r>
              <a:rPr lang="en-US" altLang="zh-CN" sz="2800" b="1" baseline="-25000" dirty="0">
                <a:ea typeface="宋体" pitchFamily="2" charset="-122"/>
              </a:rPr>
              <a:t>4</a:t>
            </a:r>
            <a:r>
              <a:rPr lang="zh-CN" altLang="en-US" sz="2800" b="1" dirty="0">
                <a:ea typeface="宋体" pitchFamily="2" charset="-122"/>
              </a:rPr>
              <a:t>而言，</a:t>
            </a:r>
            <a:endParaRPr lang="en-US" altLang="zh-CN" sz="2800" b="1" dirty="0">
              <a:ea typeface="宋体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ea typeface="宋体" pitchFamily="2" charset="-122"/>
              </a:rPr>
              <a:t>上页</a:t>
            </a:r>
            <a:r>
              <a:rPr lang="en-US" altLang="zh-CN" sz="2800" b="1" dirty="0">
                <a:ea typeface="宋体" pitchFamily="2" charset="-122"/>
              </a:rPr>
              <a:t>36</a:t>
            </a:r>
            <a:r>
              <a:rPr lang="zh-CN" altLang="en-US" sz="2800" b="1" dirty="0">
                <a:ea typeface="宋体" pitchFamily="2" charset="-122"/>
              </a:rPr>
              <a:t>次统计中，属于“很好</a:t>
            </a:r>
            <a:r>
              <a:rPr lang="en-US" altLang="zh-CN" sz="2800" b="1" dirty="0">
                <a:ea typeface="宋体" pitchFamily="2" charset="-122"/>
              </a:rPr>
              <a:t>(v</a:t>
            </a:r>
            <a:r>
              <a:rPr lang="en-US" altLang="zh-CN" sz="2800" b="1" baseline="-25000" dirty="0">
                <a:ea typeface="宋体" pitchFamily="2" charset="-122"/>
              </a:rPr>
              <a:t>1</a:t>
            </a:r>
            <a:r>
              <a:rPr lang="en-US" altLang="zh-CN" sz="2800" b="1" dirty="0">
                <a:ea typeface="宋体" pitchFamily="2" charset="-122"/>
              </a:rPr>
              <a:t>)</a:t>
            </a:r>
            <a:r>
              <a:rPr lang="zh-CN" altLang="en-US" sz="2800" b="1" dirty="0">
                <a:ea typeface="宋体" pitchFamily="2" charset="-122"/>
              </a:rPr>
              <a:t>”的次数为</a:t>
            </a:r>
            <a:r>
              <a:rPr lang="en-US" altLang="zh-CN" sz="2800" b="1" dirty="0">
                <a:ea typeface="宋体" pitchFamily="2" charset="-122"/>
              </a:rPr>
              <a:t>10</a:t>
            </a:r>
            <a:r>
              <a:rPr lang="zh-CN" altLang="en-US" sz="2800" b="1" dirty="0">
                <a:ea typeface="宋体" pitchFamily="2" charset="-122"/>
              </a:rPr>
              <a:t>次</a:t>
            </a:r>
            <a:endParaRPr lang="en-US" altLang="zh-CN" sz="2800" b="1" dirty="0">
              <a:ea typeface="宋体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ea typeface="宋体" pitchFamily="2" charset="-122"/>
              </a:rPr>
              <a:t>占总数的</a:t>
            </a:r>
            <a:r>
              <a:rPr lang="en-US" altLang="zh-CN" sz="2800" b="1" dirty="0">
                <a:ea typeface="宋体" pitchFamily="2" charset="-122"/>
              </a:rPr>
              <a:t>10/36=28%</a:t>
            </a:r>
            <a:r>
              <a:rPr lang="zh-CN" altLang="en-US" sz="2800" b="1" dirty="0">
                <a:ea typeface="宋体" pitchFamily="2" charset="-122"/>
              </a:rPr>
              <a:t>，</a:t>
            </a:r>
            <a:endParaRPr lang="en-US" altLang="zh-CN" sz="2800" b="1" dirty="0">
              <a:ea typeface="宋体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ea typeface="宋体" pitchFamily="2" charset="-122"/>
              </a:rPr>
              <a:t>所以，</a:t>
            </a:r>
            <a:r>
              <a:rPr lang="en-US" altLang="zh-CN" sz="2800" b="1" dirty="0">
                <a:ea typeface="宋体" pitchFamily="2" charset="-122"/>
              </a:rPr>
              <a:t>r</a:t>
            </a:r>
            <a:r>
              <a:rPr lang="en-US" altLang="zh-CN" sz="2800" b="1" baseline="-25000" dirty="0">
                <a:ea typeface="宋体" pitchFamily="2" charset="-122"/>
              </a:rPr>
              <a:t>41</a:t>
            </a:r>
            <a:r>
              <a:rPr lang="en-US" altLang="zh-CN" sz="2800" b="1" dirty="0">
                <a:ea typeface="宋体" pitchFamily="2" charset="-122"/>
              </a:rPr>
              <a:t>=0.28</a:t>
            </a:r>
            <a:endParaRPr lang="zh-CN" altLang="en-US" sz="2800" b="1" dirty="0">
              <a:ea typeface="宋体" pitchFamily="2" charset="-122"/>
            </a:endParaRPr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2C64F9-7FFC-A45D-02EF-A72984666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027A17D-4372-B679-45FB-4E98A64C5016}"/>
              </a:ext>
            </a:extLst>
          </p:cNvPr>
          <p:cNvGrpSpPr/>
          <p:nvPr/>
        </p:nvGrpSpPr>
        <p:grpSpPr>
          <a:xfrm>
            <a:off x="8112224" y="1296573"/>
            <a:ext cx="3158008" cy="862013"/>
            <a:chOff x="8112224" y="1296573"/>
            <a:chExt cx="3158008" cy="862013"/>
          </a:xfrm>
        </p:grpSpPr>
        <p:sp>
          <p:nvSpPr>
            <p:cNvPr id="10" name="对话气泡: 圆角矩形 9">
              <a:extLst>
                <a:ext uri="{FF2B5EF4-FFF2-40B4-BE49-F238E27FC236}">
                  <a16:creationId xmlns:a16="http://schemas.microsoft.com/office/drawing/2014/main" id="{1835EFC4-C54E-6C63-8C5C-C79EF45D59DD}"/>
                </a:ext>
              </a:extLst>
            </p:cNvPr>
            <p:cNvSpPr/>
            <p:nvPr/>
          </p:nvSpPr>
          <p:spPr bwMode="auto">
            <a:xfrm>
              <a:off x="8112224" y="1296573"/>
              <a:ext cx="3158008" cy="855116"/>
            </a:xfrm>
            <a:prstGeom prst="wedgeRoundRectCallout">
              <a:avLst>
                <a:gd name="adj1" fmla="val -44897"/>
                <a:gd name="adj2" fmla="val 8163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E3AA9C6-81E5-B790-0167-2D4F7B75FA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3248921"/>
                </p:ext>
              </p:extLst>
            </p:nvPr>
          </p:nvGraphicFramePr>
          <p:xfrm>
            <a:off x="8357294" y="1296573"/>
            <a:ext cx="2635250" cy="862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06360" imgH="393480" progId="Equation.DSMT4">
                    <p:embed/>
                  </p:oleObj>
                </mc:Choice>
                <mc:Fallback>
                  <p:oleObj name="Equation" r:id="rId4" imgW="1206360" imgH="39348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7294" y="1296573"/>
                          <a:ext cx="2635250" cy="8620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3659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507288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412776"/>
            <a:ext cx="10225136" cy="3960440"/>
          </a:xfrm>
        </p:spPr>
        <p:txBody>
          <a:bodyPr/>
          <a:lstStyle/>
          <a:p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对今后</a:t>
            </a:r>
            <a:r>
              <a:rPr lang="zh-CN" altLang="en-US" sz="2800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每旬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的运行效果的评价，还需求出权重分配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，各因素对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的隶属度按下公式计算</a:t>
            </a:r>
            <a:endParaRPr lang="en-US" altLang="zh-CN" sz="2800" dirty="0">
              <a:latin typeface="+mj-lt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3333FF"/>
                </a:solidFill>
                <a:latin typeface="+mj-lt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latin typeface="+mj-lt"/>
              </a:rPr>
              <a:t>1</a:t>
            </a:r>
            <a:r>
              <a:rPr lang="zh-CN" altLang="en-US" sz="2800" b="1" dirty="0">
                <a:solidFill>
                  <a:srgbClr val="3333FF"/>
                </a:solidFill>
                <a:latin typeface="+mj-lt"/>
              </a:rPr>
              <a:t>对</a:t>
            </a:r>
            <a:r>
              <a:rPr lang="en-US" altLang="zh-CN" sz="2800" b="1" dirty="0">
                <a:solidFill>
                  <a:srgbClr val="3333FF"/>
                </a:solidFill>
                <a:latin typeface="+mj-lt"/>
              </a:rPr>
              <a:t>A</a:t>
            </a:r>
            <a:r>
              <a:rPr lang="zh-CN" altLang="en-US" sz="2800" b="1" dirty="0">
                <a:solidFill>
                  <a:srgbClr val="3333FF"/>
                </a:solidFill>
                <a:latin typeface="+mj-lt"/>
              </a:rPr>
              <a:t>的隶属度</a:t>
            </a:r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r>
              <a:rPr lang="en-US" altLang="zh-CN" sz="2800" b="1" dirty="0">
                <a:solidFill>
                  <a:srgbClr val="3333FF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</a:rPr>
              <a:t>2</a:t>
            </a:r>
            <a:r>
              <a:rPr lang="zh-CN" altLang="en-US" sz="2800" b="1" dirty="0">
                <a:solidFill>
                  <a:srgbClr val="3333FF"/>
                </a:solidFill>
              </a:rPr>
              <a:t>对</a:t>
            </a:r>
            <a:r>
              <a:rPr lang="en-US" altLang="zh-CN" sz="2800" b="1" dirty="0">
                <a:solidFill>
                  <a:srgbClr val="3333FF"/>
                </a:solidFill>
              </a:rPr>
              <a:t>A</a:t>
            </a:r>
            <a:r>
              <a:rPr lang="zh-CN" altLang="en-US" sz="2800" b="1" dirty="0">
                <a:solidFill>
                  <a:srgbClr val="3333FF"/>
                </a:solidFill>
              </a:rPr>
              <a:t>的隶属度</a:t>
            </a:r>
          </a:p>
          <a:p>
            <a:endParaRPr lang="zh-CN" altLang="en-US" sz="28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711624" y="245224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331953"/>
              </p:ext>
            </p:extLst>
          </p:nvPr>
        </p:nvGraphicFramePr>
        <p:xfrm>
          <a:off x="4081463" y="2438400"/>
          <a:ext cx="4532312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1295280" progId="Equation.DSMT4">
                  <p:embed/>
                </p:oleObj>
              </mc:Choice>
              <mc:Fallback>
                <p:oleObj name="Equation" r:id="rId2" imgW="2743200" imgH="129528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1463" y="2438400"/>
                        <a:ext cx="4532312" cy="2154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917057" y="359328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63753" y="4615454"/>
          <a:ext cx="5123159" cy="2197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900" imgH="1295400" progId="Equation.DSMT4">
                  <p:embed/>
                </p:oleObj>
              </mc:Choice>
              <mc:Fallback>
                <p:oleObj name="Equation" r:id="rId4" imgW="3009900" imgH="12954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3" y="4615454"/>
                        <a:ext cx="5123159" cy="21979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F06A5D-BE4E-C8D1-5F05-C01453DB83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21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507288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412776"/>
            <a:ext cx="10081120" cy="3960440"/>
          </a:xfrm>
        </p:spPr>
        <p:txBody>
          <a:bodyPr/>
          <a:lstStyle/>
          <a:p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对今后</a:t>
            </a:r>
            <a:r>
              <a:rPr lang="zh-CN" altLang="en-US" sz="2800" dirty="0">
                <a:solidFill>
                  <a:srgbClr val="CC00CC"/>
                </a:solidFill>
                <a:latin typeface="+mj-lt"/>
                <a:ea typeface="黑体" panose="02010609060101010101" pitchFamily="49" charset="-122"/>
              </a:rPr>
              <a:t>每旬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的运行效果的评价，还需求出每个因素的权重分配</a:t>
            </a:r>
            <a:r>
              <a:rPr lang="en-US" altLang="zh-CN" sz="2800" dirty="0">
                <a:latin typeface="+mj-lt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+mj-lt"/>
                <a:ea typeface="黑体" panose="02010609060101010101" pitchFamily="49" charset="-122"/>
              </a:rPr>
              <a:t>，各因素的权重分配计算为：</a:t>
            </a:r>
            <a:endParaRPr lang="en-US" altLang="zh-CN" sz="2800" dirty="0">
              <a:latin typeface="+mj-lt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3333FF"/>
                </a:solidFill>
                <a:latin typeface="+mj-lt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latin typeface="+mj-lt"/>
              </a:rPr>
              <a:t>3</a:t>
            </a:r>
            <a:r>
              <a:rPr lang="zh-CN" altLang="en-US" sz="2800" b="1" dirty="0">
                <a:solidFill>
                  <a:srgbClr val="3333FF"/>
                </a:solidFill>
                <a:latin typeface="+mj-lt"/>
              </a:rPr>
              <a:t>对</a:t>
            </a:r>
            <a:r>
              <a:rPr lang="en-US" altLang="zh-CN" sz="2800" b="1" dirty="0">
                <a:solidFill>
                  <a:srgbClr val="3333FF"/>
                </a:solidFill>
                <a:latin typeface="+mj-lt"/>
              </a:rPr>
              <a:t>A</a:t>
            </a:r>
            <a:r>
              <a:rPr lang="zh-CN" altLang="en-US" sz="2800" b="1" dirty="0">
                <a:solidFill>
                  <a:srgbClr val="3333FF"/>
                </a:solidFill>
                <a:latin typeface="+mj-lt"/>
              </a:rPr>
              <a:t>的隶属度</a:t>
            </a:r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800" b="1" dirty="0">
              <a:solidFill>
                <a:srgbClr val="3333FF"/>
              </a:solidFill>
              <a:latin typeface="+mj-lt"/>
            </a:endParaRPr>
          </a:p>
          <a:p>
            <a:r>
              <a:rPr lang="en-US" altLang="zh-CN" sz="2800" b="1" dirty="0">
                <a:solidFill>
                  <a:srgbClr val="3333FF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</a:rPr>
              <a:t>4</a:t>
            </a:r>
            <a:r>
              <a:rPr lang="zh-CN" altLang="en-US" sz="2800" b="1" dirty="0">
                <a:solidFill>
                  <a:srgbClr val="3333FF"/>
                </a:solidFill>
              </a:rPr>
              <a:t>对</a:t>
            </a:r>
            <a:r>
              <a:rPr lang="en-US" altLang="zh-CN" sz="2800" b="1" dirty="0">
                <a:solidFill>
                  <a:srgbClr val="3333FF"/>
                </a:solidFill>
              </a:rPr>
              <a:t>A</a:t>
            </a:r>
            <a:r>
              <a:rPr lang="zh-CN" altLang="en-US" sz="2800" b="1" dirty="0">
                <a:solidFill>
                  <a:srgbClr val="3333FF"/>
                </a:solidFill>
              </a:rPr>
              <a:t>的隶属度</a:t>
            </a:r>
          </a:p>
          <a:p>
            <a:endParaRPr lang="zh-CN" altLang="en-US" sz="28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711624" y="245224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917057" y="359328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83903" y="16601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07769" y="2440261"/>
          <a:ext cx="4868281" cy="2104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4500" imgH="1295400" progId="Equation.DSMT4">
                  <p:embed/>
                </p:oleObj>
              </mc:Choice>
              <mc:Fallback>
                <p:oleObj name="Equation" r:id="rId2" imgW="2984500" imgH="12954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9" y="2440261"/>
                        <a:ext cx="4868281" cy="21043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999656" y="381655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935761" y="4696442"/>
          <a:ext cx="4877779" cy="2161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8300" imgH="1295400" progId="Equation.DSMT4">
                  <p:embed/>
                </p:oleObj>
              </mc:Choice>
              <mc:Fallback>
                <p:oleObj name="Equation" r:id="rId4" imgW="2908300" imgH="1295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1" y="4696442"/>
                        <a:ext cx="4877779" cy="2161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1843258-B8C7-2BD1-59AA-EC3C8C14CE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50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507288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12776"/>
            <a:ext cx="9001000" cy="5040560"/>
          </a:xfrm>
        </p:spPr>
        <p:txBody>
          <a:bodyPr/>
          <a:lstStyle/>
          <a:p>
            <a:r>
              <a:rPr lang="en-US" altLang="zh-CN" b="1" dirty="0">
                <a:solidFill>
                  <a:srgbClr val="3333FF"/>
                </a:solidFill>
                <a:latin typeface="+mj-lt"/>
              </a:rPr>
              <a:t>u</a:t>
            </a:r>
            <a:r>
              <a:rPr lang="en-US" altLang="zh-CN" b="1" baseline="-25000" dirty="0">
                <a:solidFill>
                  <a:srgbClr val="3333FF"/>
                </a:solidFill>
                <a:latin typeface="+mj-lt"/>
              </a:rPr>
              <a:t>5</a:t>
            </a:r>
            <a:r>
              <a:rPr lang="zh-CN" altLang="en-US" b="1" dirty="0">
                <a:solidFill>
                  <a:srgbClr val="3333FF"/>
                </a:solidFill>
                <a:latin typeface="+mj-lt"/>
              </a:rPr>
              <a:t>对</a:t>
            </a:r>
            <a:r>
              <a:rPr lang="en-US" altLang="zh-CN" b="1" dirty="0">
                <a:solidFill>
                  <a:srgbClr val="3333FF"/>
                </a:solidFill>
                <a:latin typeface="+mj-lt"/>
              </a:rPr>
              <a:t>A</a:t>
            </a:r>
            <a:r>
              <a:rPr lang="zh-CN" altLang="en-US" b="1" dirty="0">
                <a:solidFill>
                  <a:srgbClr val="3333FF"/>
                </a:solidFill>
                <a:latin typeface="+mj-lt"/>
              </a:rPr>
              <a:t>的隶属度</a:t>
            </a:r>
            <a:endParaRPr lang="en-US" altLang="zh-CN" b="1" dirty="0">
              <a:solidFill>
                <a:srgbClr val="3333FF"/>
              </a:solidFill>
              <a:latin typeface="+mj-lt"/>
            </a:endParaRPr>
          </a:p>
          <a:p>
            <a:endParaRPr lang="en-US" altLang="zh-CN" b="1" dirty="0">
              <a:solidFill>
                <a:srgbClr val="3333FF"/>
              </a:solidFill>
              <a:latin typeface="+mj-lt"/>
            </a:endParaRPr>
          </a:p>
          <a:p>
            <a:endParaRPr lang="en-US" altLang="zh-CN" sz="2000" b="1" dirty="0">
              <a:solidFill>
                <a:srgbClr val="3333FF"/>
              </a:solidFill>
              <a:latin typeface="+mj-lt"/>
            </a:endParaRPr>
          </a:p>
          <a:p>
            <a:endParaRPr lang="en-US" altLang="zh-CN" b="1" dirty="0">
              <a:solidFill>
                <a:srgbClr val="3333FF"/>
              </a:solidFill>
              <a:latin typeface="+mj-lt"/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则权重分配确定为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选用模型</a:t>
            </a:r>
            <a:r>
              <a:rPr lang="en-US" altLang="zh-CN" b="1" dirty="0">
                <a:solidFill>
                  <a:srgbClr val="008000"/>
                </a:solidFill>
              </a:rPr>
              <a:t>M(</a:t>
            </a:r>
            <a:r>
              <a:rPr lang="zh-CN" altLang="en-US" b="1" dirty="0">
                <a:solidFill>
                  <a:srgbClr val="008000"/>
                </a:solidFill>
                <a:ea typeface="黑体" pitchFamily="2" charset="-122"/>
              </a:rPr>
              <a:t>∧，∨</a:t>
            </a:r>
            <a:r>
              <a:rPr lang="en-US" altLang="zh-CN" b="1" dirty="0">
                <a:solidFill>
                  <a:srgbClr val="008000"/>
                </a:solidFill>
              </a:rPr>
              <a:t>)</a:t>
            </a:r>
            <a:r>
              <a:rPr lang="zh-CN" altLang="en-US" b="1" dirty="0">
                <a:solidFill>
                  <a:srgbClr val="008000"/>
                </a:solidFill>
              </a:rPr>
              <a:t>，</a:t>
            </a:r>
            <a:r>
              <a:rPr lang="zh-CN" altLang="en-US" b="1" dirty="0">
                <a:solidFill>
                  <a:srgbClr val="CC00CC"/>
                </a:solidFill>
              </a:rPr>
              <a:t>根据</a:t>
            </a:r>
            <a:endParaRPr lang="en-US" altLang="zh-CN" b="1" dirty="0">
              <a:solidFill>
                <a:srgbClr val="CC00CC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CC00CC"/>
                </a:solidFill>
              </a:rPr>
              <a:t>                   </a:t>
            </a:r>
            <a:r>
              <a:rPr lang="en-US" altLang="zh-CN" b="1" i="1" dirty="0">
                <a:solidFill>
                  <a:srgbClr val="CC00CC"/>
                </a:solidFill>
              </a:rPr>
              <a:t>B </a:t>
            </a:r>
            <a:r>
              <a:rPr lang="en-US" altLang="zh-CN" b="1" dirty="0">
                <a:solidFill>
                  <a:srgbClr val="CC00CC"/>
                </a:solidFill>
              </a:rPr>
              <a:t>= </a:t>
            </a:r>
            <a:r>
              <a:rPr lang="en-US" altLang="zh-CN" b="1" i="1" dirty="0">
                <a:solidFill>
                  <a:srgbClr val="CC00CC"/>
                </a:solidFill>
              </a:rPr>
              <a:t>A</a:t>
            </a:r>
            <a:r>
              <a:rPr lang="en-US" altLang="zh-CN" b="1" dirty="0">
                <a:solidFill>
                  <a:srgbClr val="CC00CC"/>
                </a:solidFill>
                <a:sym typeface="Symbol" panose="05050102010706020507" pitchFamily="18" charset="2"/>
              </a:rPr>
              <a:t></a:t>
            </a:r>
            <a:r>
              <a:rPr lang="en-US" altLang="zh-CN" b="1" i="1" dirty="0">
                <a:solidFill>
                  <a:srgbClr val="CC00CC"/>
                </a:solidFill>
              </a:rPr>
              <a:t>R</a:t>
            </a:r>
          </a:p>
          <a:p>
            <a:pPr marL="0" indent="0">
              <a:buNone/>
            </a:pPr>
            <a:r>
              <a:rPr lang="zh-CN" altLang="en-US" b="1" dirty="0">
                <a:solidFill>
                  <a:srgbClr val="CC00CC"/>
                </a:solidFill>
              </a:rPr>
              <a:t>   可运算得出当前运行效果的综合评判。</a:t>
            </a:r>
          </a:p>
          <a:p>
            <a:endParaRPr lang="zh-CN" altLang="en-US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711624" y="245224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917057" y="359328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83903" y="16601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999656" y="381655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030110" y="1480229"/>
          <a:ext cx="4968552" cy="217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400" imgH="1295400" progId="Equation.DSMT4">
                  <p:embed/>
                </p:oleObj>
              </mc:Choice>
              <mc:Fallback>
                <p:oleObj name="Equation" r:id="rId2" imgW="2946400" imgH="12954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110" y="1480229"/>
                        <a:ext cx="4968552" cy="21763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24189" y="4229274"/>
          <a:ext cx="520223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228600" progId="Equation.DSMT4">
                  <p:embed/>
                </p:oleObj>
              </mc:Choice>
              <mc:Fallback>
                <p:oleObj name="Equation" r:id="rId4" imgW="2743200" imgH="2286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9" y="4229274"/>
                        <a:ext cx="5202237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2DC59A-0AD1-DD59-6631-91B1018F8C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97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507288" cy="1371600"/>
          </a:xfrm>
        </p:spPr>
        <p:txBody>
          <a:bodyPr/>
          <a:lstStyle/>
          <a:p>
            <a:r>
              <a:rPr lang="zh-CN" altLang="en-US" sz="3600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例：污水处理厂运行管理效果的综合评判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412776"/>
            <a:ext cx="10225136" cy="5040560"/>
          </a:xfrm>
        </p:spPr>
        <p:txBody>
          <a:bodyPr/>
          <a:lstStyle/>
          <a:p>
            <a:r>
              <a:rPr lang="zh-CN" altLang="en-US" sz="2800" b="1" dirty="0">
                <a:latin typeface="+mj-lt"/>
              </a:rPr>
              <a:t>例如，该厂某月上旬的各项因素平均数据为：</a:t>
            </a:r>
            <a:endParaRPr lang="en-US" altLang="zh-CN" sz="2800" b="1" dirty="0">
              <a:latin typeface="+mj-lt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3333FF"/>
                </a:solidFill>
                <a:latin typeface="+mj-lt"/>
              </a:rPr>
              <a:t>  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=13.9,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=96.8%,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=94.7%,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=8.2, u</a:t>
            </a:r>
            <a:r>
              <a:rPr lang="en-US" altLang="zh-CN" sz="2800" b="1" baseline="-25000" dirty="0">
                <a:solidFill>
                  <a:srgbClr val="3333FF"/>
                </a:solidFill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=1.24</a:t>
            </a:r>
          </a:p>
          <a:p>
            <a:r>
              <a:rPr lang="zh-CN" altLang="en-US" sz="2800" b="1" dirty="0">
                <a:ea typeface="楷体_GB2312" pitchFamily="49" charset="-122"/>
              </a:rPr>
              <a:t>将它们分别代入上面五个隶属公式，即可求出</a:t>
            </a:r>
            <a:endParaRPr lang="en-US" altLang="zh-CN" sz="2800" b="1" dirty="0">
              <a:ea typeface="楷体_GB2312" pitchFamily="49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    A = (0, 1, 1, 0.68, 0)</a:t>
            </a:r>
          </a:p>
          <a:p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从而求出</a:t>
            </a:r>
            <a:r>
              <a:rPr lang="en-US" altLang="zh-CN" sz="2800" b="1" dirty="0">
                <a:solidFill>
                  <a:srgbClr val="CC00CC"/>
                </a:solidFill>
              </a:rPr>
              <a:t> </a:t>
            </a:r>
            <a:r>
              <a:rPr lang="en-US" altLang="zh-CN" sz="2800" b="1" i="1" dirty="0">
                <a:solidFill>
                  <a:srgbClr val="CC00CC"/>
                </a:solidFill>
              </a:rPr>
              <a:t>B </a:t>
            </a:r>
            <a:r>
              <a:rPr lang="en-US" altLang="zh-CN" sz="2800" b="1" dirty="0">
                <a:solidFill>
                  <a:srgbClr val="CC00CC"/>
                </a:solidFill>
              </a:rPr>
              <a:t>= </a:t>
            </a:r>
            <a:r>
              <a:rPr lang="en-US" altLang="zh-CN" sz="2800" b="1" i="1" dirty="0">
                <a:solidFill>
                  <a:srgbClr val="CC00CC"/>
                </a:solidFill>
              </a:rPr>
              <a:t>A</a:t>
            </a:r>
            <a:r>
              <a:rPr lang="en-US" altLang="zh-CN" sz="2800" b="1" dirty="0">
                <a:solidFill>
                  <a:srgbClr val="CC00CC"/>
                </a:solidFill>
                <a:sym typeface="Symbol" panose="05050102010706020507" pitchFamily="18" charset="2"/>
              </a:rPr>
              <a:t></a:t>
            </a:r>
            <a:r>
              <a:rPr lang="en-US" altLang="zh-CN" sz="2800" b="1" i="1" dirty="0">
                <a:solidFill>
                  <a:srgbClr val="CC00CC"/>
                </a:solidFill>
              </a:rPr>
              <a:t>R= </a:t>
            </a:r>
            <a:r>
              <a:rPr lang="en-US" altLang="zh-CN" sz="2800" b="1" dirty="0">
                <a:solidFill>
                  <a:srgbClr val="CC00CC"/>
                </a:solidFill>
              </a:rPr>
              <a:t>(0.64, 0.50, 0.17, 0.14, 0.03)</a:t>
            </a:r>
          </a:p>
          <a:p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根据最大隶属度原则，运行管理效果 “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很好</a:t>
            </a:r>
            <a:r>
              <a:rPr lang="zh-CN" altLang="en-US" sz="2800" dirty="0">
                <a:solidFill>
                  <a:srgbClr val="008000"/>
                </a:solidFill>
                <a:ea typeface="黑体" pitchFamily="2" charset="-122"/>
              </a:rPr>
              <a:t>”</a:t>
            </a:r>
            <a:endParaRPr lang="en-US" altLang="zh-CN" sz="2800" dirty="0">
              <a:solidFill>
                <a:srgbClr val="008000"/>
              </a:solidFill>
              <a:ea typeface="黑体" pitchFamily="2" charset="-122"/>
            </a:endParaRPr>
          </a:p>
          <a:p>
            <a:r>
              <a:rPr lang="zh-CN" altLang="en-US" sz="2800" dirty="0">
                <a:ea typeface="黑体" pitchFamily="2" charset="-122"/>
              </a:rPr>
              <a:t>若该月中旬得到的综合评判为</a:t>
            </a:r>
            <a:endParaRPr lang="en-US" altLang="zh-CN" sz="2800" dirty="0">
              <a:ea typeface="黑体" pitchFamily="2" charset="-122"/>
            </a:endParaRPr>
          </a:p>
          <a:p>
            <a:pPr marL="0" indent="0">
              <a:buNone/>
            </a:pPr>
            <a:r>
              <a:rPr lang="en-US" altLang="zh-CN" sz="2800" b="1" i="1" dirty="0">
                <a:solidFill>
                  <a:srgbClr val="CC00CC"/>
                </a:solidFill>
              </a:rPr>
              <a:t>       B </a:t>
            </a:r>
            <a:r>
              <a:rPr lang="en-US" altLang="zh-CN" sz="2800" b="1" dirty="0">
                <a:solidFill>
                  <a:srgbClr val="CC00CC"/>
                </a:solidFill>
              </a:rPr>
              <a:t>=(0.33, 0.26, 0.13, 0.09, 0.12)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CC00CC"/>
                </a:solidFill>
              </a:rPr>
              <a:t>   </a:t>
            </a:r>
            <a:r>
              <a:rPr lang="zh-CN" altLang="en-US" sz="2800" b="1" dirty="0"/>
              <a:t>虽然也评为“很好”，但与上旬相比 ，隶属于“很好”的程度低于上旬，因而可认为上旬的经营管理比中旬好</a:t>
            </a:r>
            <a:r>
              <a:rPr lang="en-US" altLang="zh-CN" sz="2800" b="1" dirty="0"/>
              <a:t>.</a:t>
            </a:r>
          </a:p>
          <a:p>
            <a:endParaRPr lang="en-US" altLang="zh-CN" sz="2800" b="1" dirty="0">
              <a:solidFill>
                <a:srgbClr val="3333FF"/>
              </a:solidFill>
              <a:ea typeface="楷体_GB2312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endParaRPr lang="zh-CN" altLang="en-US" sz="2800" b="1" dirty="0">
              <a:solidFill>
                <a:srgbClr val="CC00CC"/>
              </a:solidFill>
            </a:endParaRPr>
          </a:p>
          <a:p>
            <a:endParaRPr lang="zh-CN" altLang="en-US" sz="28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711624" y="245224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917057" y="359328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83903" y="16601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999656" y="381655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DA8FF0-BD6A-E977-4748-ECE18C2F2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68CDAF8-25E1-6557-1C63-96601C1D3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590736"/>
              </p:ext>
            </p:extLst>
          </p:nvPr>
        </p:nvGraphicFramePr>
        <p:xfrm>
          <a:off x="9161051" y="1319860"/>
          <a:ext cx="2911613" cy="1419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360" imgH="1143000" progId="Equation.DSMT4">
                  <p:embed/>
                </p:oleObj>
              </mc:Choice>
              <mc:Fallback>
                <p:oleObj name="Equation" r:id="rId2" imgW="2349360" imgH="11430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1051" y="1319860"/>
                        <a:ext cx="2911613" cy="14192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637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 dirty="0">
                <a:solidFill>
                  <a:srgbClr val="008000"/>
                </a:solidFill>
                <a:latin typeface="+mn-lt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484190"/>
            <a:ext cx="10657184" cy="4897139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当要评判的系统较复杂或影响因素较多时，仅由一级模型进行评判往往显得比较粗糙，</a:t>
            </a:r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endParaRPr lang="en-US" altLang="zh-CN" dirty="0"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每种模型都有自己的特点，不能很全面地反映事物的本质。</a:t>
            </a:r>
          </a:p>
          <a:p>
            <a:pPr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采用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综合评判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，可综合各种模型的特点，得到比单一模型评判更合理的结果。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8E0891-1D36-9D1A-2CFA-9BA10E7214F6}"/>
              </a:ext>
            </a:extLst>
          </p:cNvPr>
          <p:cNvSpPr txBox="1"/>
          <p:nvPr/>
        </p:nvSpPr>
        <p:spPr>
          <a:xfrm>
            <a:off x="1343472" y="2690721"/>
            <a:ext cx="7488832" cy="1476558"/>
          </a:xfrm>
          <a:prstGeom prst="rect">
            <a:avLst/>
          </a:prstGeom>
          <a:solidFill>
            <a:srgbClr val="9BF2FB"/>
          </a:solidFill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sz="2800" b="1" dirty="0"/>
              <a:t>主因素突出型：    </a:t>
            </a: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(∧, ∨),</a:t>
            </a:r>
            <a:r>
              <a:rPr kumimoji="1" lang="zh-CN" altLang="en-US" sz="2800" b="1" dirty="0"/>
              <a:t> </a:t>
            </a: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 · ,∨ ), </a:t>
            </a: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(∧, </a:t>
            </a:r>
            <a:r>
              <a:rPr lang="zh-CN" altLang="zh-CN" sz="2800" dirty="0"/>
              <a:t>⊕</a:t>
            </a:r>
            <a:r>
              <a:rPr kumimoji="1" lang="en-US" altLang="zh-CN" sz="2800" b="1" dirty="0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/>
              <a:t>非主因素突出型：</a:t>
            </a: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 · ,</a:t>
            </a:r>
            <a:r>
              <a:rPr kumimoji="1" lang="zh-CN" altLang="en-US" sz="2800" b="1" dirty="0"/>
              <a:t>＋</a:t>
            </a:r>
            <a:r>
              <a:rPr kumimoji="1" lang="en-US" altLang="zh-CN" sz="2800" b="1" dirty="0"/>
              <a:t>) 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/>
              <a:t>全面制约型：       </a:t>
            </a: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</a:t>
            </a:r>
            <a:r>
              <a:rPr lang="zh-CN" altLang="en-US" sz="2800" dirty="0">
                <a:ea typeface="黑体" pitchFamily="2" charset="-122"/>
              </a:rPr>
              <a:t>乘幂 ，∧</a:t>
            </a:r>
            <a:r>
              <a:rPr kumimoji="1" lang="en-US" altLang="zh-CN" sz="2800" b="1" dirty="0"/>
              <a:t>)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EF6D71-1396-6892-53C1-ED7B24384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3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综合评判的步骤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0830" y="1412875"/>
            <a:ext cx="9801713" cy="54451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设因素集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U={u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,u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,…,u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}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       评语集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V={v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,v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,…,</a:t>
            </a:r>
            <a:r>
              <a:rPr lang="en-US" altLang="zh-CN" dirty="0" err="1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lang="en-US" altLang="zh-CN" baseline="-25000" dirty="0" err="1">
                <a:solidFill>
                  <a:srgbClr val="008000"/>
                </a:solidFill>
                <a:ea typeface="黑体" pitchFamily="2" charset="-122"/>
              </a:rPr>
              <a:t>n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①</a:t>
            </a:r>
            <a:r>
              <a:rPr lang="zh-CN" altLang="en-US" sz="2800" dirty="0">
                <a:ea typeface="黑体" pitchFamily="2" charset="-122"/>
              </a:rPr>
              <a:t>从各种不同角度出发，选择一些有代表性的模型分别进行</a:t>
            </a:r>
            <a:r>
              <a:rPr lang="zh-CN" altLang="en-US" sz="2800" dirty="0">
                <a:solidFill>
                  <a:srgbClr val="FF00FF"/>
                </a:solidFill>
                <a:ea typeface="黑体" pitchFamily="2" charset="-122"/>
              </a:rPr>
              <a:t>一级</a:t>
            </a:r>
            <a:r>
              <a:rPr lang="en-US" altLang="zh-CN" sz="2800" dirty="0">
                <a:solidFill>
                  <a:srgbClr val="FF00FF"/>
                </a:solidFill>
                <a:ea typeface="黑体" pitchFamily="2" charset="-122"/>
              </a:rPr>
              <a:t>F</a:t>
            </a:r>
            <a:r>
              <a:rPr lang="zh-CN" altLang="en-US" sz="2800" dirty="0">
                <a:solidFill>
                  <a:srgbClr val="FF00FF"/>
                </a:solidFill>
                <a:ea typeface="黑体" pitchFamily="2" charset="-122"/>
              </a:rPr>
              <a:t>综合评判</a:t>
            </a:r>
            <a:r>
              <a:rPr lang="zh-CN" altLang="en-US" sz="2800" dirty="0">
                <a:ea typeface="黑体" pitchFamily="2" charset="-122"/>
              </a:rPr>
              <a:t>，设选择</a:t>
            </a:r>
            <a:r>
              <a:rPr lang="en-US" altLang="zh-CN" sz="2800" dirty="0">
                <a:ea typeface="黑体" pitchFamily="2" charset="-122"/>
              </a:rPr>
              <a:t>S</a:t>
            </a:r>
            <a:r>
              <a:rPr lang="zh-CN" altLang="en-US" sz="2800" dirty="0">
                <a:ea typeface="黑体" pitchFamily="2" charset="-122"/>
              </a:rPr>
              <a:t>个模型所得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综合评价集分别为：</a:t>
            </a:r>
          </a:p>
          <a:p>
            <a:pPr eaLnBrk="1" hangingPunct="1">
              <a:buNone/>
            </a:pPr>
            <a:r>
              <a:rPr lang="zh-CN" altLang="en-US" sz="2800" dirty="0">
                <a:ea typeface="黑体" pitchFamily="2" charset="-122"/>
              </a:rPr>
              <a:t>    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R=B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=</a:t>
            </a:r>
            <a:r>
              <a:rPr lang="zh-CN" altLang="en-US" dirty="0">
                <a:ea typeface="黑体" pitchFamily="2" charset="-122"/>
              </a:rPr>
              <a:t>（</a:t>
            </a:r>
            <a:r>
              <a:rPr lang="en-US" altLang="zh-CN" dirty="0"/>
              <a:t>b</a:t>
            </a:r>
            <a:r>
              <a:rPr lang="en-US" altLang="zh-CN" baseline="-25000" dirty="0">
                <a:ea typeface="黑体" pitchFamily="2" charset="-122"/>
              </a:rPr>
              <a:t>11</a:t>
            </a:r>
            <a:r>
              <a:rPr lang="en-US" altLang="zh-CN" dirty="0">
                <a:ea typeface="黑体" pitchFamily="2" charset="-122"/>
              </a:rPr>
              <a:t>,b</a:t>
            </a:r>
            <a:r>
              <a:rPr lang="en-US" altLang="zh-CN" baseline="-25000" dirty="0">
                <a:ea typeface="黑体" pitchFamily="2" charset="-122"/>
              </a:rPr>
              <a:t>12</a:t>
            </a:r>
            <a:r>
              <a:rPr lang="en-US" altLang="zh-CN" dirty="0">
                <a:ea typeface="黑体" pitchFamily="2" charset="-122"/>
              </a:rPr>
              <a:t>,…,b</a:t>
            </a:r>
            <a:r>
              <a:rPr lang="en-US" altLang="zh-CN" baseline="-25000" dirty="0">
                <a:ea typeface="黑体" pitchFamily="2" charset="-122"/>
              </a:rPr>
              <a:t>1n</a:t>
            </a:r>
            <a:r>
              <a:rPr lang="zh-CN" altLang="en-US" dirty="0">
                <a:ea typeface="黑体" pitchFamily="2" charset="-122"/>
              </a:rPr>
              <a:t>）</a:t>
            </a:r>
          </a:p>
          <a:p>
            <a:pPr eaLnBrk="1" hangingPunct="1">
              <a:buNone/>
            </a:pPr>
            <a:r>
              <a:rPr lang="zh-CN" altLang="en-US" sz="2800" dirty="0">
                <a:ea typeface="黑体" pitchFamily="2" charset="-122"/>
              </a:rPr>
              <a:t>    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zh-CN" altLang="en-US" sz="28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R=B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=</a:t>
            </a:r>
            <a:r>
              <a:rPr lang="zh-CN" altLang="en-US" dirty="0">
                <a:ea typeface="黑体" pitchFamily="2" charset="-122"/>
              </a:rPr>
              <a:t>（</a:t>
            </a:r>
            <a:r>
              <a:rPr lang="en-US" altLang="zh-CN" dirty="0"/>
              <a:t>b</a:t>
            </a:r>
            <a:r>
              <a:rPr lang="en-US" altLang="zh-CN" baseline="-25000" dirty="0">
                <a:ea typeface="黑体" pitchFamily="2" charset="-122"/>
              </a:rPr>
              <a:t>21</a:t>
            </a:r>
            <a:r>
              <a:rPr lang="en-US" altLang="zh-CN" dirty="0">
                <a:ea typeface="黑体" pitchFamily="2" charset="-122"/>
              </a:rPr>
              <a:t>,b</a:t>
            </a:r>
            <a:r>
              <a:rPr lang="en-US" altLang="zh-CN" baseline="-25000" dirty="0">
                <a:ea typeface="黑体" pitchFamily="2" charset="-122"/>
              </a:rPr>
              <a:t>22</a:t>
            </a:r>
            <a:r>
              <a:rPr lang="en-US" altLang="zh-CN" dirty="0">
                <a:ea typeface="黑体" pitchFamily="2" charset="-122"/>
              </a:rPr>
              <a:t>,…,b</a:t>
            </a:r>
            <a:r>
              <a:rPr lang="en-US" altLang="zh-CN" baseline="-25000" dirty="0">
                <a:ea typeface="黑体" pitchFamily="2" charset="-122"/>
              </a:rPr>
              <a:t>2n</a:t>
            </a:r>
            <a:r>
              <a:rPr lang="zh-CN" altLang="en-US" dirty="0"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2" charset="-122"/>
              </a:rPr>
              <a:t>     </a:t>
            </a:r>
            <a:r>
              <a:rPr lang="en-US" altLang="zh-CN" dirty="0">
                <a:ea typeface="黑体" pitchFamily="2" charset="-122"/>
              </a:rPr>
              <a:t>………………………..</a:t>
            </a:r>
          </a:p>
          <a:p>
            <a:pPr eaLnBrk="1" hangingPunct="1">
              <a:buNone/>
            </a:pPr>
            <a:r>
              <a:rPr lang="en-US" altLang="zh-CN" sz="2800" dirty="0">
                <a:ea typeface="黑体" pitchFamily="2" charset="-122"/>
              </a:rPr>
              <a:t>    A</a:t>
            </a:r>
            <a:r>
              <a:rPr lang="zh-CN" altLang="en-US" sz="2800" dirty="0">
                <a:solidFill>
                  <a:srgbClr val="CC00CC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baseline="-25000" dirty="0" err="1">
                <a:solidFill>
                  <a:srgbClr val="CC00CC"/>
                </a:solidFill>
                <a:ea typeface="黑体" pitchFamily="2" charset="-122"/>
              </a:rPr>
              <a:t>s</a:t>
            </a:r>
            <a:r>
              <a:rPr lang="en-US" altLang="zh-CN" sz="2800" dirty="0" err="1">
                <a:ea typeface="黑体" pitchFamily="2" charset="-122"/>
              </a:rPr>
              <a:t>R</a:t>
            </a:r>
            <a:r>
              <a:rPr lang="en-US" altLang="zh-CN" sz="2800" dirty="0">
                <a:ea typeface="黑体" pitchFamily="2" charset="-122"/>
              </a:rPr>
              <a:t>=</a:t>
            </a:r>
            <a:r>
              <a:rPr lang="en-US" altLang="zh-CN" sz="2800" dirty="0" err="1">
                <a:ea typeface="黑体" pitchFamily="2" charset="-122"/>
              </a:rPr>
              <a:t>B</a:t>
            </a:r>
            <a:r>
              <a:rPr lang="en-US" altLang="zh-CN" sz="2800" baseline="-25000" dirty="0" err="1">
                <a:ea typeface="黑体" pitchFamily="2" charset="-122"/>
              </a:rPr>
              <a:t>s</a:t>
            </a:r>
            <a:r>
              <a:rPr lang="en-US" altLang="zh-CN" sz="2800" dirty="0">
                <a:ea typeface="黑体" pitchFamily="2" charset="-122"/>
              </a:rPr>
              <a:t>=</a:t>
            </a:r>
            <a:r>
              <a:rPr lang="zh-CN" altLang="en-US" dirty="0">
                <a:ea typeface="黑体" pitchFamily="2" charset="-122"/>
              </a:rPr>
              <a:t>（</a:t>
            </a:r>
            <a:r>
              <a:rPr lang="en-US" altLang="zh-CN" dirty="0"/>
              <a:t>b</a:t>
            </a:r>
            <a:r>
              <a:rPr lang="en-US" altLang="zh-CN" baseline="-25000" dirty="0">
                <a:ea typeface="黑体" pitchFamily="2" charset="-122"/>
              </a:rPr>
              <a:t>s1</a:t>
            </a:r>
            <a:r>
              <a:rPr lang="en-US" altLang="zh-CN" dirty="0">
                <a:ea typeface="黑体" pitchFamily="2" charset="-122"/>
              </a:rPr>
              <a:t>,b</a:t>
            </a:r>
            <a:r>
              <a:rPr lang="en-US" altLang="zh-CN" baseline="-25000" dirty="0">
                <a:ea typeface="黑体" pitchFamily="2" charset="-122"/>
              </a:rPr>
              <a:t>s2</a:t>
            </a:r>
            <a:r>
              <a:rPr lang="en-US" altLang="zh-CN" dirty="0">
                <a:ea typeface="黑体" pitchFamily="2" charset="-122"/>
              </a:rPr>
              <a:t>,…,</a:t>
            </a:r>
            <a:r>
              <a:rPr lang="en-US" altLang="zh-CN" dirty="0" err="1">
                <a:ea typeface="黑体" pitchFamily="2" charset="-122"/>
              </a:rPr>
              <a:t>b</a:t>
            </a:r>
            <a:r>
              <a:rPr lang="en-US" altLang="zh-CN" baseline="-25000" dirty="0" err="1">
                <a:ea typeface="黑体" pitchFamily="2" charset="-122"/>
              </a:rPr>
              <a:t>sn</a:t>
            </a:r>
            <a:r>
              <a:rPr lang="zh-CN" altLang="en-US" dirty="0"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D0483D-338F-C687-A84B-C504DEEF1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268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综合评判的步骤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700214"/>
            <a:ext cx="9793088" cy="489743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②</a:t>
            </a:r>
            <a:r>
              <a:rPr lang="zh-CN" altLang="en-US" sz="2800" dirty="0">
                <a:ea typeface="黑体" pitchFamily="2" charset="-122"/>
              </a:rPr>
              <a:t>由于仅由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…,</a:t>
            </a:r>
            <a:r>
              <a:rPr lang="en-US" altLang="zh-CN" sz="2800" dirty="0" err="1">
                <a:ea typeface="黑体" pitchFamily="2" charset="-122"/>
              </a:rPr>
              <a:t>B</a:t>
            </a:r>
            <a:r>
              <a:rPr lang="en-US" altLang="zh-CN" sz="2800" baseline="-25000" dirty="0" err="1">
                <a:ea typeface="黑体" pitchFamily="2" charset="-122"/>
              </a:rPr>
              <a:t>s</a:t>
            </a:r>
            <a:r>
              <a:rPr lang="en-US" altLang="zh-CN" sz="2800" dirty="0">
                <a:ea typeface="黑体" pitchFamily="2" charset="-122"/>
              </a:rPr>
              <a:t> </a:t>
            </a:r>
            <a:r>
              <a:rPr lang="zh-CN" altLang="en-US" sz="2800" dirty="0">
                <a:ea typeface="黑体" pitchFamily="2" charset="-122"/>
              </a:rPr>
              <a:t>之一作为评判指标，可能有片面性，故把它们综合起来作为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二级评判指标</a:t>
            </a:r>
            <a:r>
              <a:rPr lang="zh-CN" altLang="en-US" sz="2800" dirty="0">
                <a:ea typeface="黑体" pitchFamily="2" charset="-122"/>
              </a:rPr>
              <a:t>，记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                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0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={B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 B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,…,B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s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}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 </a:t>
            </a:r>
            <a:r>
              <a:rPr lang="zh-CN" altLang="en-US" sz="2800" dirty="0">
                <a:ea typeface="黑体" pitchFamily="2" charset="-122"/>
              </a:rPr>
              <a:t>称之为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二级评判指标集</a:t>
            </a:r>
            <a:endParaRPr lang="zh-CN" altLang="en-US" sz="2800" dirty="0"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ea typeface="黑体" pitchFamily="2" charset="-122"/>
              </a:rPr>
              <a:t>    设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en-US" altLang="zh-CN" sz="2800" baseline="-25000" dirty="0">
                <a:ea typeface="黑体" pitchFamily="2" charset="-122"/>
              </a:rPr>
              <a:t>0</a:t>
            </a:r>
            <a:r>
              <a:rPr lang="zh-CN" altLang="en-US" sz="2800" dirty="0">
                <a:ea typeface="黑体" pitchFamily="2" charset="-122"/>
              </a:rPr>
              <a:t>中各指标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en-US" altLang="zh-CN" sz="2800" baseline="-25000" dirty="0">
                <a:ea typeface="黑体" pitchFamily="2" charset="-122"/>
              </a:rPr>
              <a:t>i</a:t>
            </a:r>
            <a:r>
              <a:rPr lang="en-US" altLang="zh-CN" sz="2800" dirty="0">
                <a:ea typeface="黑体" pitchFamily="2" charset="-122"/>
              </a:rPr>
              <a:t>(</a:t>
            </a:r>
            <a:r>
              <a:rPr lang="en-US" altLang="zh-CN" sz="2800" dirty="0" err="1">
                <a:ea typeface="黑体" pitchFamily="2" charset="-122"/>
              </a:rPr>
              <a:t>i</a:t>
            </a:r>
            <a:r>
              <a:rPr lang="en-US" altLang="zh-CN" sz="2800" dirty="0">
                <a:ea typeface="黑体" pitchFamily="2" charset="-122"/>
              </a:rPr>
              <a:t>=1,2,…,s)</a:t>
            </a:r>
            <a:r>
              <a:rPr lang="zh-CN" altLang="en-US" sz="2800" dirty="0">
                <a:ea typeface="黑体" pitchFamily="2" charset="-122"/>
              </a:rPr>
              <a:t>的权重分配为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ea typeface="黑体" pitchFamily="2" charset="-122"/>
              </a:rPr>
              <a:t>                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0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={ a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, a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,…,a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s 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}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</a:t>
            </a:r>
            <a:r>
              <a:rPr lang="zh-CN" altLang="en-US" sz="2800" dirty="0">
                <a:ea typeface="黑体" pitchFamily="2" charset="-122"/>
              </a:rPr>
              <a:t>这里，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en-US" altLang="zh-CN" sz="2800" baseline="-25000" dirty="0">
                <a:ea typeface="黑体" pitchFamily="2" charset="-122"/>
              </a:rPr>
              <a:t>i</a:t>
            </a:r>
            <a:r>
              <a:rPr lang="en-US" altLang="zh-CN" dirty="0"/>
              <a:t>≥0, </a:t>
            </a:r>
            <a:r>
              <a:rPr lang="zh-CN" altLang="en-US" dirty="0"/>
              <a:t>且</a:t>
            </a:r>
            <a:r>
              <a:rPr lang="en-US" altLang="zh-CN" sz="2800" dirty="0">
                <a:ea typeface="黑体" pitchFamily="2" charset="-122"/>
              </a:rPr>
              <a:t>a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+a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en-US" altLang="zh-CN" sz="2800" dirty="0">
                <a:ea typeface="黑体" pitchFamily="2" charset="-122"/>
              </a:rPr>
              <a:t>+…+a</a:t>
            </a:r>
            <a:r>
              <a:rPr lang="en-US" altLang="zh-CN" sz="2800" baseline="-25000" dirty="0">
                <a:ea typeface="黑体" pitchFamily="2" charset="-122"/>
              </a:rPr>
              <a:t>s</a:t>
            </a:r>
            <a:r>
              <a:rPr lang="en-US" altLang="zh-CN" sz="2800" dirty="0">
                <a:ea typeface="黑体" pitchFamily="2" charset="-122"/>
              </a:rPr>
              <a:t>=1</a:t>
            </a:r>
            <a:r>
              <a:rPr lang="zh-CN" altLang="en-US" sz="2800" dirty="0">
                <a:ea typeface="黑体" pitchFamily="2" charset="-122"/>
              </a:rPr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E8C916-3AC6-3E5B-DF4E-DC00D178D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8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8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8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077200" cy="846137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综合评判的步骤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268414"/>
            <a:ext cx="9793088" cy="5589587"/>
          </a:xfrm>
        </p:spPr>
        <p:txBody>
          <a:bodyPr/>
          <a:lstStyle/>
          <a:p>
            <a:pPr eaLnBrk="1" hangingPunct="1"/>
            <a:r>
              <a:rPr lang="zh-CN" altLang="en-US" sz="2400" dirty="0">
                <a:ea typeface="黑体" pitchFamily="2" charset="-122"/>
              </a:rPr>
              <a:t>以</a:t>
            </a:r>
            <a:r>
              <a:rPr lang="en-US" altLang="zh-CN" sz="2400" dirty="0">
                <a:ea typeface="黑体" pitchFamily="2" charset="-122"/>
              </a:rPr>
              <a:t>B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zh-CN" altLang="en-US" sz="2400" dirty="0">
                <a:ea typeface="黑体" pitchFamily="2" charset="-122"/>
              </a:rPr>
              <a:t>，</a:t>
            </a:r>
            <a:r>
              <a:rPr lang="en-US" altLang="zh-CN" sz="2400" dirty="0">
                <a:ea typeface="黑体" pitchFamily="2" charset="-122"/>
              </a:rPr>
              <a:t>B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en-US" altLang="zh-CN" sz="2400" dirty="0">
                <a:ea typeface="黑体" pitchFamily="2" charset="-122"/>
              </a:rPr>
              <a:t>…,</a:t>
            </a:r>
            <a:r>
              <a:rPr lang="en-US" altLang="zh-CN" sz="2400" dirty="0" err="1">
                <a:ea typeface="黑体" pitchFamily="2" charset="-122"/>
              </a:rPr>
              <a:t>B</a:t>
            </a:r>
            <a:r>
              <a:rPr lang="en-US" altLang="zh-CN" sz="2400" baseline="-25000" dirty="0" err="1">
                <a:ea typeface="黑体" pitchFamily="2" charset="-122"/>
              </a:rPr>
              <a:t>s</a:t>
            </a:r>
            <a:r>
              <a:rPr lang="en-US" altLang="zh-CN" sz="2400" dirty="0">
                <a:ea typeface="黑体" pitchFamily="2" charset="-122"/>
              </a:rPr>
              <a:t> </a:t>
            </a:r>
            <a:r>
              <a:rPr lang="zh-CN" altLang="en-US" sz="2400" dirty="0">
                <a:ea typeface="黑体" pitchFamily="2" charset="-122"/>
              </a:rPr>
              <a:t>作为行构成二级综合评判矩阵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③</a:t>
            </a: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进行二级指标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综合评判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对</a:t>
            </a:r>
            <a:r>
              <a:rPr lang="en-US" altLang="zh-CN" sz="2400" dirty="0">
                <a:ea typeface="黑体" pitchFamily="2" charset="-122"/>
              </a:rPr>
              <a:t>A</a:t>
            </a:r>
            <a:r>
              <a:rPr lang="en-US" altLang="zh-CN" sz="2000" baseline="-25000" dirty="0">
                <a:ea typeface="黑体" pitchFamily="2" charset="-122"/>
              </a:rPr>
              <a:t>0</a:t>
            </a:r>
            <a:r>
              <a:rPr lang="zh-CN" altLang="en-US" sz="2400" dirty="0">
                <a:ea typeface="黑体" pitchFamily="2" charset="-122"/>
              </a:rPr>
              <a:t>和</a:t>
            </a: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000" baseline="-25000" dirty="0">
                <a:ea typeface="黑体" pitchFamily="2" charset="-122"/>
              </a:rPr>
              <a:t>0</a:t>
            </a:r>
            <a:r>
              <a:rPr lang="zh-CN" altLang="en-US" sz="2400" dirty="0">
                <a:ea typeface="黑体" pitchFamily="2" charset="-122"/>
              </a:rPr>
              <a:t>采用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加权平均模型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M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（ 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，</a:t>
            </a:r>
            <a:r>
              <a:rPr lang="en-US" altLang="zh-CN" sz="2400" dirty="0">
                <a:solidFill>
                  <a:srgbClr val="CC00CC"/>
                </a:solidFill>
                <a:ea typeface="黑体" pitchFamily="2" charset="-122"/>
              </a:rPr>
              <a:t>+</a:t>
            </a:r>
            <a:r>
              <a:rPr lang="zh-CN" altLang="en-US" sz="2400" dirty="0">
                <a:solidFill>
                  <a:srgbClr val="CC00CC"/>
                </a:solidFill>
                <a:ea typeface="黑体" pitchFamily="2" charset="-122"/>
              </a:rPr>
              <a:t>）</a:t>
            </a:r>
            <a:r>
              <a:rPr lang="zh-CN" altLang="en-US" sz="2400" dirty="0">
                <a:ea typeface="黑体" pitchFamily="2" charset="-122"/>
              </a:rPr>
              <a:t>进行二级综合评判，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  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B=A</a:t>
            </a:r>
            <a:r>
              <a:rPr lang="en-US" altLang="zh-CN" sz="2000" baseline="-25000" dirty="0">
                <a:solidFill>
                  <a:srgbClr val="F72603"/>
                </a:solidFill>
                <a:ea typeface="黑体" pitchFamily="2" charset="-122"/>
              </a:rPr>
              <a:t>0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·</a:t>
            </a:r>
            <a:r>
              <a:rPr lang="en-US" altLang="zh-CN" sz="2000" baseline="-25000" dirty="0">
                <a:solidFill>
                  <a:srgbClr val="F72603"/>
                </a:solidFill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R</a:t>
            </a:r>
            <a:r>
              <a:rPr lang="en-US" altLang="zh-CN" sz="2000" baseline="-25000" dirty="0">
                <a:solidFill>
                  <a:srgbClr val="F72603"/>
                </a:solidFill>
                <a:ea typeface="黑体" pitchFamily="2" charset="-122"/>
              </a:rPr>
              <a:t>0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=</a:t>
            </a: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（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>
                <a:solidFill>
                  <a:srgbClr val="F72603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,b</a:t>
            </a:r>
            <a:r>
              <a:rPr lang="en-US" altLang="zh-CN" sz="2400" baseline="-25000" dirty="0">
                <a:solidFill>
                  <a:srgbClr val="F72603"/>
                </a:solidFill>
                <a:ea typeface="黑体" pitchFamily="2" charset="-122"/>
              </a:rPr>
              <a:t>2 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,…,</a:t>
            </a:r>
            <a:r>
              <a:rPr lang="en-US" altLang="zh-CN" sz="2400" dirty="0" err="1">
                <a:solidFill>
                  <a:srgbClr val="F72603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rgbClr val="F72603"/>
                </a:solidFill>
                <a:ea typeface="黑体" pitchFamily="2" charset="-122"/>
              </a:rPr>
              <a:t>n</a:t>
            </a:r>
            <a:r>
              <a:rPr lang="zh-CN" altLang="en-US" sz="2400" dirty="0">
                <a:solidFill>
                  <a:srgbClr val="F72603"/>
                </a:solidFill>
                <a:ea typeface="黑体" pitchFamily="2" charset="-122"/>
              </a:rPr>
              <a:t>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   其中，</a:t>
            </a:r>
            <a:endParaRPr lang="zh-CN" altLang="en-US" sz="2000" dirty="0">
              <a:ea typeface="黑体" pitchFamily="2" charset="-122"/>
            </a:endParaRPr>
          </a:p>
          <a:p>
            <a:pPr eaLnBrk="1" hangingPunct="1"/>
            <a:endParaRPr lang="zh-CN" altLang="en-US" sz="2400" dirty="0">
              <a:ea typeface="黑体" pitchFamily="2" charset="-122"/>
            </a:endParaRPr>
          </a:p>
          <a:p>
            <a:pPr eaLnBrk="1" hangingPunct="1"/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根据</a:t>
            </a:r>
            <a:r>
              <a:rPr lang="zh-CN" altLang="en-US" sz="2400" u="sng" dirty="0">
                <a:solidFill>
                  <a:srgbClr val="008000"/>
                </a:solidFill>
                <a:ea typeface="黑体" pitchFamily="2" charset="-122"/>
              </a:rPr>
              <a:t>最大隶属度原则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，最大的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b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j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值所对应的等级（评语）</a:t>
            </a:r>
            <a:r>
              <a:rPr lang="en-US" altLang="zh-CN" sz="2400" dirty="0" err="1">
                <a:solidFill>
                  <a:schemeClr val="bg2"/>
                </a:solidFill>
                <a:ea typeface="黑体" pitchFamily="2" charset="-122"/>
              </a:rPr>
              <a:t>v</a:t>
            </a:r>
            <a:r>
              <a:rPr lang="en-US" altLang="zh-CN" sz="2400" baseline="-25000" dirty="0" err="1">
                <a:solidFill>
                  <a:schemeClr val="bg2"/>
                </a:solidFill>
                <a:ea typeface="黑体" pitchFamily="2" charset="-122"/>
              </a:rPr>
              <a:t>j</a:t>
            </a:r>
            <a:r>
              <a:rPr lang="zh-CN" altLang="en-US" sz="2400" dirty="0">
                <a:solidFill>
                  <a:schemeClr val="bg2"/>
                </a:solidFill>
                <a:ea typeface="黑体" pitchFamily="2" charset="-122"/>
              </a:rPr>
              <a:t>就是所要求的最佳评判结果</a:t>
            </a:r>
          </a:p>
        </p:txBody>
      </p:sp>
      <p:graphicFrame>
        <p:nvGraphicFramePr>
          <p:cNvPr id="17920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76042" y="1844825"/>
          <a:ext cx="4248150" cy="150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54280" imgH="939600" progId="Equation.3">
                  <p:embed/>
                </p:oleObj>
              </mc:Choice>
              <mc:Fallback>
                <p:oleObj name="公式" r:id="rId3" imgW="2654280" imgH="939600" progId="Equation.3">
                  <p:embed/>
                  <p:pic>
                    <p:nvPicPr>
                      <p:cNvPr id="1792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042" y="1844825"/>
                        <a:ext cx="4248150" cy="150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6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05139" y="4929189"/>
          <a:ext cx="44418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81200" imgH="431800" progId="Equation.3">
                  <p:embed/>
                </p:oleObj>
              </mc:Choice>
              <mc:Fallback>
                <p:oleObj name="公式" r:id="rId5" imgW="1981200" imgH="431800" progId="Equation.3">
                  <p:embed/>
                  <p:pic>
                    <p:nvPicPr>
                      <p:cNvPr id="1792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139" y="4929189"/>
                        <a:ext cx="444182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0A09E4-0E16-A19C-6BC3-A6D463FBB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148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9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综合评判应用举例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484314"/>
            <a:ext cx="9144694" cy="537368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教师的教学质量的评估问题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/>
              <a:t>①</a:t>
            </a:r>
            <a:r>
              <a:rPr lang="zh-CN" altLang="en-US" sz="2800" dirty="0">
                <a:ea typeface="黑体" pitchFamily="2" charset="-122"/>
              </a:rPr>
              <a:t>选用</a:t>
            </a:r>
            <a:r>
              <a:rPr lang="en-US" altLang="zh-CN" sz="2800" dirty="0">
                <a:ea typeface="黑体" pitchFamily="2" charset="-122"/>
              </a:rPr>
              <a:t>4</a:t>
            </a:r>
            <a:r>
              <a:rPr lang="zh-CN" altLang="en-US" sz="2800" dirty="0">
                <a:ea typeface="黑体" pitchFamily="2" charset="-122"/>
              </a:rPr>
              <a:t>个模型进行一级综合评判，</a:t>
            </a:r>
            <a:endParaRPr lang="en-US" altLang="zh-CN" sz="2800" dirty="0">
              <a:ea typeface="黑体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800" dirty="0">
                <a:ea typeface="黑体" pitchFamily="2" charset="-122"/>
              </a:rPr>
              <a:t>    </a:t>
            </a:r>
            <a:r>
              <a:rPr lang="zh-CN" altLang="en-US" sz="2800" dirty="0">
                <a:ea typeface="黑体" pitchFamily="2" charset="-122"/>
              </a:rPr>
              <a:t>由前面举例得一级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综合评价集分别为：</a:t>
            </a:r>
            <a:endParaRPr lang="en-US" altLang="zh-CN" sz="2800" dirty="0">
              <a:ea typeface="黑体" pitchFamily="2" charset="-122"/>
            </a:endParaRPr>
          </a:p>
          <a:p>
            <a:pPr lvl="1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（ ∧，∨）    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=(  0.30,  0.25,  0.20,  0.10)</a:t>
            </a:r>
            <a:endParaRPr lang="en-US" altLang="zh-CN" dirty="0">
              <a:solidFill>
                <a:schemeClr val="bg2"/>
              </a:solidFill>
              <a:ea typeface="黑体" pitchFamily="2" charset="-122"/>
            </a:endParaRPr>
          </a:p>
          <a:p>
            <a:pPr lvl="1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（ </a:t>
            </a:r>
            <a:r>
              <a:rPr lang="en-US" altLang="zh-CN" dirty="0"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dirty="0">
                <a:ea typeface="黑体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， ∨）    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=(0.135,0.080,0.060,0.030)</a:t>
            </a:r>
          </a:p>
          <a:p>
            <a:pPr lvl="1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（ 乘幂 ，∧）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=(0.786,0.660,0.617,  0    )</a:t>
            </a:r>
            <a:endParaRPr lang="en-US" altLang="zh-CN" dirty="0">
              <a:solidFill>
                <a:schemeClr val="bg2"/>
              </a:solidFill>
              <a:ea typeface="黑体" pitchFamily="2" charset="-122"/>
            </a:endParaRPr>
          </a:p>
          <a:p>
            <a:pPr lvl="1" eaLnBrk="1" hangingPunct="1">
              <a:lnSpc>
                <a:spcPct val="130000"/>
              </a:lnSpc>
              <a:buFont typeface="Wingdings" pitchFamily="2" charset="2"/>
              <a:buChar char="Ø"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M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（∧，</a:t>
            </a:r>
            <a:r>
              <a:rPr lang="zh-CN" altLang="zh-CN" dirty="0">
                <a:solidFill>
                  <a:schemeClr val="bg2"/>
                </a:solidFill>
                <a:ea typeface="黑体" pitchFamily="2" charset="-122"/>
              </a:rPr>
              <a:t>⊕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）      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rgbClr val="008000"/>
                </a:solidFill>
                <a:ea typeface="黑体" pitchFamily="2" charset="-122"/>
              </a:rPr>
              <a:t>4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=(1,         0.95,  0.70, 0.40)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6D1E93-E48F-2389-DCA8-EC5CFE6156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601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077200" cy="9144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综合评判应用举例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268414"/>
            <a:ext cx="9865095" cy="55895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zh-CN" sz="2400" dirty="0"/>
              <a:t>②</a:t>
            </a:r>
            <a:r>
              <a:rPr lang="zh-CN" altLang="en-US" sz="2400" dirty="0">
                <a:ea typeface="黑体" pitchFamily="2" charset="-122"/>
              </a:rPr>
              <a:t>设二级评判指标集为</a:t>
            </a:r>
            <a:r>
              <a:rPr lang="en-US" altLang="zh-CN" sz="2400" dirty="0">
                <a:ea typeface="黑体" pitchFamily="2" charset="-122"/>
              </a:rPr>
              <a:t>U</a:t>
            </a:r>
            <a:r>
              <a:rPr lang="en-US" altLang="zh-CN" sz="2400" baseline="-25000" dirty="0">
                <a:ea typeface="黑体" pitchFamily="2" charset="-122"/>
              </a:rPr>
              <a:t>0</a:t>
            </a:r>
            <a:r>
              <a:rPr lang="en-US" altLang="zh-CN" sz="2400" dirty="0">
                <a:ea typeface="黑体" pitchFamily="2" charset="-122"/>
              </a:rPr>
              <a:t>={B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zh-CN" altLang="en-US" sz="2400" dirty="0">
                <a:ea typeface="黑体" pitchFamily="2" charset="-122"/>
              </a:rPr>
              <a:t>，</a:t>
            </a:r>
            <a:r>
              <a:rPr lang="en-US" altLang="zh-CN" sz="2400" dirty="0">
                <a:ea typeface="黑体" pitchFamily="2" charset="-122"/>
              </a:rPr>
              <a:t>B</a:t>
            </a:r>
            <a:r>
              <a:rPr lang="en-US" altLang="zh-CN" sz="2400" baseline="-25000" dirty="0">
                <a:ea typeface="黑体" pitchFamily="2" charset="-122"/>
              </a:rPr>
              <a:t>2</a:t>
            </a:r>
            <a:r>
              <a:rPr lang="zh-CN" altLang="en-US" sz="2400" dirty="0">
                <a:ea typeface="黑体" pitchFamily="2" charset="-122"/>
              </a:rPr>
              <a:t>，</a:t>
            </a:r>
            <a:r>
              <a:rPr lang="en-US" altLang="zh-CN" sz="2400" dirty="0">
                <a:ea typeface="黑体" pitchFamily="2" charset="-122"/>
              </a:rPr>
              <a:t>B</a:t>
            </a:r>
            <a:r>
              <a:rPr lang="en-US" altLang="zh-CN" sz="2400" baseline="-25000" dirty="0">
                <a:ea typeface="黑体" pitchFamily="2" charset="-122"/>
              </a:rPr>
              <a:t>3</a:t>
            </a:r>
            <a:r>
              <a:rPr lang="en-US" altLang="zh-CN" sz="2400" dirty="0">
                <a:ea typeface="黑体" pitchFamily="2" charset="-122"/>
              </a:rPr>
              <a:t>,  B</a:t>
            </a:r>
            <a:r>
              <a:rPr lang="en-US" altLang="zh-CN" sz="2400" baseline="-25000" dirty="0">
                <a:ea typeface="黑体" pitchFamily="2" charset="-122"/>
              </a:rPr>
              <a:t>4</a:t>
            </a:r>
            <a:r>
              <a:rPr lang="en-US" altLang="zh-CN" sz="2400" dirty="0">
                <a:ea typeface="黑体" pitchFamily="2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   </a:t>
            </a:r>
            <a:r>
              <a:rPr lang="zh-CN" altLang="en-US" sz="2400" dirty="0">
                <a:ea typeface="黑体" pitchFamily="2" charset="-122"/>
              </a:rPr>
              <a:t>各指标的权重分配为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A</a:t>
            </a:r>
            <a:r>
              <a:rPr lang="en-US" altLang="zh-CN" sz="2400" baseline="-25000" dirty="0">
                <a:solidFill>
                  <a:srgbClr val="F72603"/>
                </a:solidFill>
                <a:ea typeface="黑体" pitchFamily="2" charset="-122"/>
              </a:rPr>
              <a:t>0</a:t>
            </a:r>
            <a:r>
              <a:rPr lang="en-US" altLang="zh-CN" sz="2400" dirty="0">
                <a:solidFill>
                  <a:srgbClr val="F72603"/>
                </a:solidFill>
                <a:ea typeface="黑体" pitchFamily="2" charset="-122"/>
              </a:rPr>
              <a:t>={0.2, 0.3, 0.3,0.2}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    </a:t>
            </a:r>
            <a:r>
              <a:rPr lang="zh-CN" altLang="en-US" sz="2400" dirty="0">
                <a:ea typeface="黑体" pitchFamily="2" charset="-122"/>
              </a:rPr>
              <a:t>而二级综合评判矩阵为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ea typeface="黑体" pitchFamily="2" charset="-122"/>
              </a:rPr>
              <a:t>③根据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加权平均模型 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M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（ 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  <a:cs typeface="Arial" charset="0"/>
                <a:sym typeface="Symbol" pitchFamily="18" charset="2"/>
              </a:rPr>
              <a:t>•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 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，</a:t>
            </a:r>
            <a:r>
              <a:rPr lang="en-US" altLang="zh-CN" sz="2400" dirty="0">
                <a:solidFill>
                  <a:srgbClr val="3333FF"/>
                </a:solidFill>
                <a:ea typeface="黑体" pitchFamily="2" charset="-122"/>
              </a:rPr>
              <a:t>+</a:t>
            </a: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）</a:t>
            </a:r>
            <a:r>
              <a:rPr lang="zh-CN" altLang="en-US" sz="2400" dirty="0">
                <a:ea typeface="黑体" pitchFamily="2" charset="-122"/>
              </a:rPr>
              <a:t>得二级</a:t>
            </a:r>
            <a:r>
              <a:rPr lang="en-US" altLang="zh-CN" sz="2400" dirty="0">
                <a:ea typeface="黑体" pitchFamily="2" charset="-122"/>
              </a:rPr>
              <a:t>F</a:t>
            </a:r>
            <a:r>
              <a:rPr lang="zh-CN" altLang="en-US" sz="2400" dirty="0">
                <a:ea typeface="黑体" pitchFamily="2" charset="-122"/>
              </a:rPr>
              <a:t>综合评价集为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F72603"/>
                </a:solidFill>
              </a:rPr>
              <a:t>    </a:t>
            </a:r>
            <a:r>
              <a:rPr lang="en-US" altLang="zh-CN" sz="2400" dirty="0">
                <a:solidFill>
                  <a:srgbClr val="F72603"/>
                </a:solidFill>
              </a:rPr>
              <a:t>B= A</a:t>
            </a:r>
            <a:r>
              <a:rPr lang="en-US" altLang="zh-CN" sz="2000" baseline="-25000" dirty="0">
                <a:solidFill>
                  <a:srgbClr val="F72603"/>
                </a:solidFill>
                <a:ea typeface="黑体" pitchFamily="2" charset="-122"/>
              </a:rPr>
              <a:t>0 </a:t>
            </a:r>
            <a:r>
              <a:rPr lang="en-US" altLang="zh-CN" sz="2000" dirty="0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•</a:t>
            </a:r>
            <a:r>
              <a:rPr lang="en-US" altLang="zh-CN" sz="2000" baseline="-25000" dirty="0">
                <a:solidFill>
                  <a:srgbClr val="F72603"/>
                </a:solidFill>
                <a:ea typeface="黑体" pitchFamily="2" charset="-122"/>
              </a:rPr>
              <a:t> </a:t>
            </a:r>
            <a:r>
              <a:rPr lang="en-US" altLang="zh-CN" sz="2400" dirty="0">
                <a:solidFill>
                  <a:srgbClr val="F72603"/>
                </a:solidFill>
              </a:rPr>
              <a:t>R</a:t>
            </a:r>
            <a:r>
              <a:rPr lang="en-US" altLang="zh-CN" sz="2000" baseline="-25000" dirty="0">
                <a:solidFill>
                  <a:srgbClr val="F72603"/>
                </a:solidFill>
                <a:ea typeface="黑体" pitchFamily="2" charset="-122"/>
              </a:rPr>
              <a:t>0</a:t>
            </a:r>
            <a:r>
              <a:rPr lang="en-US" altLang="zh-CN" sz="2400" dirty="0">
                <a:solidFill>
                  <a:srgbClr val="F72603"/>
                </a:solidFill>
              </a:rPr>
              <a:t>=</a:t>
            </a:r>
            <a:r>
              <a:rPr lang="zh-CN" altLang="en-US" sz="2400" dirty="0">
                <a:solidFill>
                  <a:srgbClr val="F72603"/>
                </a:solidFill>
              </a:rPr>
              <a:t>（</a:t>
            </a:r>
            <a:r>
              <a:rPr lang="en-US" altLang="zh-CN" sz="2400" dirty="0">
                <a:solidFill>
                  <a:srgbClr val="F72603"/>
                </a:solidFill>
              </a:rPr>
              <a:t>0.5363,0.402,0.3831,0.109)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  <a:ea typeface="黑体" pitchFamily="2" charset="-122"/>
              </a:rPr>
              <a:t>  </a:t>
            </a:r>
            <a:r>
              <a:rPr lang="zh-CN" altLang="en-US" sz="2400" dirty="0">
                <a:solidFill>
                  <a:schemeClr val="tx2"/>
                </a:solidFill>
                <a:ea typeface="黑体" pitchFamily="2" charset="-122"/>
              </a:rPr>
              <a:t>因为</a:t>
            </a:r>
            <a:r>
              <a:rPr lang="en-US" altLang="zh-CN" sz="2400" dirty="0">
                <a:solidFill>
                  <a:schemeClr val="tx2"/>
                </a:solidFill>
                <a:ea typeface="黑体" pitchFamily="2" charset="-122"/>
              </a:rPr>
              <a:t>B(v</a:t>
            </a:r>
            <a:r>
              <a:rPr lang="en-US" altLang="zh-CN" sz="2400" baseline="-25000" dirty="0">
                <a:solidFill>
                  <a:schemeClr val="tx2"/>
                </a:solidFill>
                <a:ea typeface="黑体" pitchFamily="2" charset="-122"/>
              </a:rPr>
              <a:t>1</a:t>
            </a:r>
            <a:r>
              <a:rPr lang="en-US" altLang="zh-CN" sz="2400" dirty="0">
                <a:solidFill>
                  <a:schemeClr val="tx2"/>
                </a:solidFill>
                <a:ea typeface="黑体" pitchFamily="2" charset="-122"/>
              </a:rPr>
              <a:t>)=</a:t>
            </a:r>
            <a:r>
              <a:rPr lang="en-US" altLang="zh-CN" sz="2400" dirty="0">
                <a:ea typeface="黑体" pitchFamily="2" charset="-122"/>
              </a:rPr>
              <a:t>0.5363=max{</a:t>
            </a:r>
            <a:r>
              <a:rPr lang="en-US" altLang="zh-CN" sz="2400" dirty="0">
                <a:solidFill>
                  <a:srgbClr val="CC00CC"/>
                </a:solidFill>
              </a:rPr>
              <a:t>0.5363</a:t>
            </a:r>
            <a:r>
              <a:rPr lang="en-US" altLang="zh-CN" sz="2400" dirty="0"/>
              <a:t>,0.402,0.3831,0.109</a:t>
            </a:r>
            <a:r>
              <a:rPr lang="en-US" altLang="zh-CN" sz="2400" dirty="0">
                <a:ea typeface="黑体" pitchFamily="2" charset="-122"/>
              </a:rPr>
              <a:t>},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故由最大隶属度原则，认为该教师的教学质量为“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优秀</a:t>
            </a:r>
            <a:r>
              <a:rPr lang="zh-CN" altLang="en-US" sz="2400" dirty="0">
                <a:solidFill>
                  <a:srgbClr val="008000"/>
                </a:solidFill>
                <a:ea typeface="黑体" pitchFamily="2" charset="-122"/>
              </a:rPr>
              <a:t>”</a:t>
            </a:r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7050329"/>
              </p:ext>
            </p:extLst>
          </p:nvPr>
        </p:nvGraphicFramePr>
        <p:xfrm>
          <a:off x="3046413" y="2682875"/>
          <a:ext cx="5568950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55800" imgH="939600" progId="Equation.DSMT4">
                  <p:embed/>
                </p:oleObj>
              </mc:Choice>
              <mc:Fallback>
                <p:oleObj name="Equation" r:id="rId3" imgW="2755800" imgH="939600" progId="Equation.DSMT4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413" y="2682875"/>
                        <a:ext cx="5568950" cy="189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4099AF8-385C-2ACB-04F4-20BB88F099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06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3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多级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综合评判过程图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6092825"/>
            <a:ext cx="9022457" cy="5032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>
                <a:ea typeface="黑体" pitchFamily="2" charset="-122"/>
              </a:rPr>
              <a:t>图中</a:t>
            </a:r>
            <a:r>
              <a:rPr lang="zh-CN" altLang="en-US" sz="28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zh-CN" altLang="en-US" sz="2800" dirty="0">
                <a:solidFill>
                  <a:srgbClr val="CC00CC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，</a:t>
            </a:r>
            <a:r>
              <a:rPr lang="zh-CN" altLang="en-US" sz="280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sz="2800" baseline="-25000" dirty="0">
                <a:solidFill>
                  <a:srgbClr val="008000"/>
                </a:solidFill>
                <a:ea typeface="黑体" pitchFamily="2" charset="-122"/>
              </a:rPr>
              <a:t>s</a:t>
            </a:r>
            <a:r>
              <a:rPr lang="zh-CN" altLang="en-US" sz="2800" dirty="0">
                <a:ea typeface="黑体" pitchFamily="2" charset="-122"/>
              </a:rPr>
              <a:t>，为不同的模型， 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A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0 </a:t>
            </a:r>
            <a:r>
              <a:rPr lang="en-US" altLang="zh-CN" sz="2800" dirty="0">
                <a:solidFill>
                  <a:srgbClr val="F72603"/>
                </a:solidFill>
                <a:sym typeface="Symbol" pitchFamily="18" charset="2"/>
              </a:rPr>
              <a:t>•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 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R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0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为加权平均模型</a:t>
            </a:r>
          </a:p>
        </p:txBody>
      </p:sp>
      <p:sp>
        <p:nvSpPr>
          <p:cNvPr id="54276" name="Text Box 32"/>
          <p:cNvSpPr txBox="1">
            <a:spLocks noChangeArrowheads="1"/>
          </p:cNvSpPr>
          <p:nvPr/>
        </p:nvSpPr>
        <p:spPr bwMode="auto">
          <a:xfrm>
            <a:off x="8112125" y="1916113"/>
            <a:ext cx="2305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54277" name="Text Box 33"/>
          <p:cNvSpPr txBox="1">
            <a:spLocks noChangeArrowheads="1"/>
          </p:cNvSpPr>
          <p:nvPr/>
        </p:nvSpPr>
        <p:spPr bwMode="auto">
          <a:xfrm>
            <a:off x="7967663" y="2060575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>
                <a:solidFill>
                  <a:srgbClr val="008000"/>
                </a:solidFill>
              </a:rPr>
              <a:t>A</a:t>
            </a:r>
            <a:r>
              <a:rPr lang="en-US" altLang="zh-CN" sz="2400" baseline="-25000">
                <a:solidFill>
                  <a:srgbClr val="008000"/>
                </a:solidFill>
              </a:rPr>
              <a:t>0</a:t>
            </a:r>
            <a:r>
              <a:rPr lang="en-US" altLang="zh-CN" sz="2400">
                <a:solidFill>
                  <a:srgbClr val="008000"/>
                </a:solidFill>
              </a:rPr>
              <a:t>={a</a:t>
            </a:r>
            <a:r>
              <a:rPr lang="en-US" altLang="zh-CN" sz="2400" baseline="-25000">
                <a:solidFill>
                  <a:srgbClr val="008000"/>
                </a:solidFill>
              </a:rPr>
              <a:t>1</a:t>
            </a:r>
            <a:r>
              <a:rPr lang="zh-CN" altLang="en-US" sz="2400">
                <a:solidFill>
                  <a:srgbClr val="008000"/>
                </a:solidFill>
              </a:rPr>
              <a:t>，</a:t>
            </a:r>
            <a:r>
              <a:rPr lang="en-US" altLang="zh-CN" sz="2400">
                <a:solidFill>
                  <a:srgbClr val="008000"/>
                </a:solidFill>
              </a:rPr>
              <a:t>a</a:t>
            </a:r>
            <a:r>
              <a:rPr lang="en-US" altLang="zh-CN" sz="2400" baseline="-25000">
                <a:solidFill>
                  <a:srgbClr val="008000"/>
                </a:solidFill>
              </a:rPr>
              <a:t>2</a:t>
            </a:r>
            <a:r>
              <a:rPr lang="en-US" altLang="zh-CN" sz="2400">
                <a:solidFill>
                  <a:srgbClr val="008000"/>
                </a:solidFill>
              </a:rPr>
              <a:t>…,a</a:t>
            </a:r>
            <a:r>
              <a:rPr lang="en-US" altLang="zh-CN" sz="2400" baseline="-25000">
                <a:solidFill>
                  <a:srgbClr val="008000"/>
                </a:solidFill>
              </a:rPr>
              <a:t>s</a:t>
            </a:r>
            <a:r>
              <a:rPr lang="en-US" altLang="zh-CN" sz="2400">
                <a:solidFill>
                  <a:srgbClr val="008000"/>
                </a:solidFill>
              </a:rPr>
              <a:t>}</a:t>
            </a:r>
          </a:p>
        </p:txBody>
      </p:sp>
      <p:grpSp>
        <p:nvGrpSpPr>
          <p:cNvPr id="54278" name="Group 36"/>
          <p:cNvGrpSpPr>
            <a:grpSpLocks/>
          </p:cNvGrpSpPr>
          <p:nvPr/>
        </p:nvGrpSpPr>
        <p:grpSpPr bwMode="auto">
          <a:xfrm>
            <a:off x="3000375" y="1700214"/>
            <a:ext cx="7272338" cy="3889375"/>
            <a:chOff x="930" y="1071"/>
            <a:chExt cx="4581" cy="2450"/>
          </a:xfrm>
        </p:grpSpPr>
        <p:sp>
          <p:nvSpPr>
            <p:cNvPr id="54279" name="Rectangle 5"/>
            <p:cNvSpPr>
              <a:spLocks noChangeArrowheads="1"/>
            </p:cNvSpPr>
            <p:nvPr/>
          </p:nvSpPr>
          <p:spPr bwMode="auto">
            <a:xfrm>
              <a:off x="1565" y="1389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0" name="Text Box 6"/>
            <p:cNvSpPr txBox="1">
              <a:spLocks noChangeArrowheads="1"/>
            </p:cNvSpPr>
            <p:nvPr/>
          </p:nvSpPr>
          <p:spPr bwMode="auto">
            <a:xfrm>
              <a:off x="1927" y="2115"/>
              <a:ext cx="6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CC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800" baseline="-25000" dirty="0">
                  <a:solidFill>
                    <a:srgbClr val="CC00CC"/>
                  </a:solidFill>
                </a:rPr>
                <a:t>2</a:t>
              </a:r>
              <a:r>
                <a:rPr lang="en-US" altLang="zh-CN" sz="2800" dirty="0"/>
                <a:t>R</a:t>
              </a:r>
            </a:p>
          </p:txBody>
        </p:sp>
        <p:sp>
          <p:nvSpPr>
            <p:cNvPr id="54281" name="Rectangle 7"/>
            <p:cNvSpPr>
              <a:spLocks noChangeArrowheads="1"/>
            </p:cNvSpPr>
            <p:nvPr/>
          </p:nvSpPr>
          <p:spPr bwMode="auto">
            <a:xfrm>
              <a:off x="1565" y="2069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2" name="Rectangle 8"/>
            <p:cNvSpPr>
              <a:spLocks noChangeArrowheads="1"/>
            </p:cNvSpPr>
            <p:nvPr/>
          </p:nvSpPr>
          <p:spPr bwMode="auto">
            <a:xfrm>
              <a:off x="1565" y="3113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3" name="Rectangle 9"/>
            <p:cNvSpPr>
              <a:spLocks noChangeArrowheads="1"/>
            </p:cNvSpPr>
            <p:nvPr/>
          </p:nvSpPr>
          <p:spPr bwMode="auto">
            <a:xfrm>
              <a:off x="1837" y="3158"/>
              <a:ext cx="5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800" baseline="-25000" dirty="0" err="1">
                  <a:solidFill>
                    <a:srgbClr val="008000"/>
                  </a:solidFill>
                </a:rPr>
                <a:t>s</a:t>
              </a:r>
              <a:r>
                <a:rPr lang="en-US" altLang="zh-CN" sz="2800" dirty="0" err="1"/>
                <a:t>R</a:t>
              </a:r>
              <a:endParaRPr lang="en-US" altLang="zh-CN" sz="2800" dirty="0"/>
            </a:p>
          </p:txBody>
        </p:sp>
        <p:sp>
          <p:nvSpPr>
            <p:cNvPr id="54284" name="Rectangle 10"/>
            <p:cNvSpPr>
              <a:spLocks noChangeArrowheads="1"/>
            </p:cNvSpPr>
            <p:nvPr/>
          </p:nvSpPr>
          <p:spPr bwMode="auto">
            <a:xfrm>
              <a:off x="1882" y="1402"/>
              <a:ext cx="47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3333FF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800" baseline="-25000" dirty="0">
                  <a:solidFill>
                    <a:srgbClr val="3333FF"/>
                  </a:solidFill>
                </a:rPr>
                <a:t>1</a:t>
              </a:r>
              <a:r>
                <a:rPr lang="en-US" altLang="zh-CN" sz="2800" dirty="0"/>
                <a:t>R</a:t>
              </a:r>
            </a:p>
          </p:txBody>
        </p:sp>
        <p:sp>
          <p:nvSpPr>
            <p:cNvPr id="54285" name="Text Box 11"/>
            <p:cNvSpPr txBox="1">
              <a:spLocks noChangeArrowheads="1"/>
            </p:cNvSpPr>
            <p:nvPr/>
          </p:nvSpPr>
          <p:spPr bwMode="auto">
            <a:xfrm>
              <a:off x="1791" y="2659"/>
              <a:ext cx="72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……</a:t>
              </a:r>
            </a:p>
          </p:txBody>
        </p:sp>
        <p:sp>
          <p:nvSpPr>
            <p:cNvPr id="54286" name="Line 12"/>
            <p:cNvSpPr>
              <a:spLocks noChangeShapeType="1"/>
            </p:cNvSpPr>
            <p:nvPr/>
          </p:nvSpPr>
          <p:spPr bwMode="auto">
            <a:xfrm>
              <a:off x="930" y="1570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7" name="Line 13"/>
            <p:cNvSpPr>
              <a:spLocks noChangeShapeType="1"/>
            </p:cNvSpPr>
            <p:nvPr/>
          </p:nvSpPr>
          <p:spPr bwMode="auto">
            <a:xfrm>
              <a:off x="930" y="2251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8" name="Line 14"/>
            <p:cNvSpPr>
              <a:spLocks noChangeShapeType="1"/>
            </p:cNvSpPr>
            <p:nvPr/>
          </p:nvSpPr>
          <p:spPr bwMode="auto">
            <a:xfrm>
              <a:off x="930" y="3294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Line 15"/>
            <p:cNvSpPr>
              <a:spLocks noChangeShapeType="1"/>
            </p:cNvSpPr>
            <p:nvPr/>
          </p:nvSpPr>
          <p:spPr bwMode="auto">
            <a:xfrm>
              <a:off x="2699" y="3339"/>
              <a:ext cx="5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16"/>
            <p:cNvSpPr>
              <a:spLocks noChangeShapeType="1"/>
            </p:cNvSpPr>
            <p:nvPr/>
          </p:nvSpPr>
          <p:spPr bwMode="auto">
            <a:xfrm>
              <a:off x="2699" y="2251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Line 17"/>
            <p:cNvSpPr>
              <a:spLocks noChangeShapeType="1"/>
            </p:cNvSpPr>
            <p:nvPr/>
          </p:nvSpPr>
          <p:spPr bwMode="auto">
            <a:xfrm flipV="1">
              <a:off x="2699" y="1566"/>
              <a:ext cx="544" cy="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Text Box 18"/>
            <p:cNvSpPr txBox="1">
              <a:spLocks noChangeArrowheads="1"/>
            </p:cNvSpPr>
            <p:nvPr/>
          </p:nvSpPr>
          <p:spPr bwMode="auto">
            <a:xfrm>
              <a:off x="930" y="1253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54293" name="Text Box 19"/>
            <p:cNvSpPr txBox="1">
              <a:spLocks noChangeArrowheads="1"/>
            </p:cNvSpPr>
            <p:nvPr/>
          </p:nvSpPr>
          <p:spPr bwMode="auto">
            <a:xfrm>
              <a:off x="930" y="1933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54294" name="Text Box 20"/>
            <p:cNvSpPr txBox="1">
              <a:spLocks noChangeArrowheads="1"/>
            </p:cNvSpPr>
            <p:nvPr/>
          </p:nvSpPr>
          <p:spPr bwMode="auto">
            <a:xfrm>
              <a:off x="975" y="2976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996633"/>
                  </a:solidFill>
                </a:rPr>
                <a:t>A</a:t>
              </a:r>
            </a:p>
          </p:txBody>
        </p:sp>
        <p:sp>
          <p:nvSpPr>
            <p:cNvPr id="54295" name="Rectangle 22"/>
            <p:cNvSpPr>
              <a:spLocks noChangeArrowheads="1"/>
            </p:cNvSpPr>
            <p:nvPr/>
          </p:nvSpPr>
          <p:spPr bwMode="auto">
            <a:xfrm>
              <a:off x="3787" y="1888"/>
              <a:ext cx="545" cy="862"/>
            </a:xfrm>
            <a:prstGeom prst="rect">
              <a:avLst/>
            </a:prstGeom>
            <a:noFill/>
            <a:ln w="38100">
              <a:solidFill>
                <a:srgbClr val="F726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6" name="Text Box 23"/>
            <p:cNvSpPr txBox="1">
              <a:spLocks noChangeArrowheads="1"/>
            </p:cNvSpPr>
            <p:nvPr/>
          </p:nvSpPr>
          <p:spPr bwMode="auto">
            <a:xfrm>
              <a:off x="3878" y="2115"/>
              <a:ext cx="4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72603"/>
                  </a:solidFill>
                </a:rPr>
                <a:t>R</a:t>
              </a:r>
              <a:r>
                <a:rPr lang="en-US" altLang="zh-CN" sz="2800" baseline="-25000" dirty="0">
                  <a:solidFill>
                    <a:srgbClr val="F72603"/>
                  </a:solidFill>
                </a:rPr>
                <a:t>0</a:t>
              </a:r>
            </a:p>
          </p:txBody>
        </p:sp>
        <p:sp>
          <p:nvSpPr>
            <p:cNvPr id="54297" name="Line 24"/>
            <p:cNvSpPr>
              <a:spLocks noChangeShapeType="1"/>
            </p:cNvSpPr>
            <p:nvPr/>
          </p:nvSpPr>
          <p:spPr bwMode="auto">
            <a:xfrm>
              <a:off x="3243" y="1570"/>
              <a:ext cx="544" cy="54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8" name="Line 25"/>
            <p:cNvSpPr>
              <a:spLocks noChangeShapeType="1"/>
            </p:cNvSpPr>
            <p:nvPr/>
          </p:nvSpPr>
          <p:spPr bwMode="auto">
            <a:xfrm>
              <a:off x="3288" y="2251"/>
              <a:ext cx="499" cy="4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9" name="Line 26"/>
            <p:cNvSpPr>
              <a:spLocks noChangeShapeType="1"/>
            </p:cNvSpPr>
            <p:nvPr/>
          </p:nvSpPr>
          <p:spPr bwMode="auto">
            <a:xfrm flipV="1">
              <a:off x="3243" y="2568"/>
              <a:ext cx="544" cy="771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0" name="Line 27"/>
            <p:cNvSpPr>
              <a:spLocks noChangeShapeType="1"/>
            </p:cNvSpPr>
            <p:nvPr/>
          </p:nvSpPr>
          <p:spPr bwMode="auto">
            <a:xfrm>
              <a:off x="4332" y="2341"/>
              <a:ext cx="1179" cy="0"/>
            </a:xfrm>
            <a:prstGeom prst="line">
              <a:avLst/>
            </a:prstGeom>
            <a:noFill/>
            <a:ln w="38100">
              <a:solidFill>
                <a:srgbClr val="F7260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1" name="Line 28"/>
            <p:cNvSpPr>
              <a:spLocks noChangeShapeType="1"/>
            </p:cNvSpPr>
            <p:nvPr/>
          </p:nvSpPr>
          <p:spPr bwMode="auto">
            <a:xfrm>
              <a:off x="4014" y="1071"/>
              <a:ext cx="0" cy="81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2" name="Text Box 29"/>
            <p:cNvSpPr txBox="1">
              <a:spLocks noChangeArrowheads="1"/>
            </p:cNvSpPr>
            <p:nvPr/>
          </p:nvSpPr>
          <p:spPr bwMode="auto">
            <a:xfrm>
              <a:off x="2835" y="1253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B</a:t>
              </a:r>
              <a:r>
                <a:rPr lang="en-US" altLang="zh-CN" sz="2400" baseline="-25000"/>
                <a:t>1</a:t>
              </a:r>
            </a:p>
          </p:txBody>
        </p:sp>
        <p:sp>
          <p:nvSpPr>
            <p:cNvPr id="54303" name="Text Box 30"/>
            <p:cNvSpPr txBox="1">
              <a:spLocks noChangeArrowheads="1"/>
            </p:cNvSpPr>
            <p:nvPr/>
          </p:nvSpPr>
          <p:spPr bwMode="auto">
            <a:xfrm>
              <a:off x="2880" y="188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B</a:t>
              </a:r>
              <a:r>
                <a:rPr lang="en-US" altLang="zh-CN" sz="2400" baseline="-25000"/>
                <a:t>2</a:t>
              </a:r>
            </a:p>
          </p:txBody>
        </p:sp>
        <p:sp>
          <p:nvSpPr>
            <p:cNvPr id="54304" name="Text Box 31"/>
            <p:cNvSpPr txBox="1">
              <a:spLocks noChangeArrowheads="1"/>
            </p:cNvSpPr>
            <p:nvPr/>
          </p:nvSpPr>
          <p:spPr bwMode="auto">
            <a:xfrm>
              <a:off x="2880" y="3022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/>
                <a:t>B</a:t>
              </a:r>
              <a:r>
                <a:rPr lang="en-US" altLang="zh-CN" sz="2400" baseline="-25000"/>
                <a:t>s</a:t>
              </a:r>
            </a:p>
          </p:txBody>
        </p:sp>
        <p:sp>
          <p:nvSpPr>
            <p:cNvPr id="54305" name="Text Box 35"/>
            <p:cNvSpPr txBox="1">
              <a:spLocks noChangeArrowheads="1"/>
            </p:cNvSpPr>
            <p:nvPr/>
          </p:nvSpPr>
          <p:spPr bwMode="auto">
            <a:xfrm>
              <a:off x="4377" y="1979"/>
              <a:ext cx="10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72603"/>
                  </a:solidFill>
                </a:rPr>
                <a:t> B=A</a:t>
              </a:r>
              <a:r>
                <a:rPr lang="en-US" altLang="zh-CN" sz="2400" baseline="-25000">
                  <a:solidFill>
                    <a:srgbClr val="F72603"/>
                  </a:solidFill>
                </a:rPr>
                <a:t>0</a:t>
              </a:r>
              <a:r>
                <a:rPr lang="en-US" altLang="zh-CN" sz="2400">
                  <a:solidFill>
                    <a:srgbClr val="F72603"/>
                  </a:solidFill>
                </a:rPr>
                <a:t> </a:t>
              </a:r>
              <a:r>
                <a:rPr lang="en-US" altLang="zh-CN" sz="2400">
                  <a:solidFill>
                    <a:srgbClr val="F72603"/>
                  </a:solidFill>
                  <a:sym typeface="Symbol" pitchFamily="18" charset="2"/>
                </a:rPr>
                <a:t>•</a:t>
              </a:r>
              <a:r>
                <a:rPr lang="en-US" altLang="zh-CN" sz="2400">
                  <a:solidFill>
                    <a:srgbClr val="F72603"/>
                  </a:solidFill>
                </a:rPr>
                <a:t> R</a:t>
              </a:r>
              <a:r>
                <a:rPr lang="en-US" altLang="zh-CN" sz="2400" baseline="-25000">
                  <a:solidFill>
                    <a:srgbClr val="F72603"/>
                  </a:solidFill>
                </a:rPr>
                <a:t>0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296468" y="1988840"/>
            <a:ext cx="48716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9966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因素重要程度</a:t>
            </a:r>
            <a:r>
              <a:rPr lang="en-US" altLang="zh-CN" sz="2800" b="1" dirty="0">
                <a:solidFill>
                  <a:srgbClr val="9966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2800" b="1" dirty="0">
                <a:solidFill>
                  <a:srgbClr val="9966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</a:t>
            </a:r>
            <a:endParaRPr lang="zh-CN" altLang="en-US" sz="2800" dirty="0">
              <a:solidFill>
                <a:srgbClr val="9966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5761" y="1700213"/>
            <a:ext cx="201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一级</a:t>
            </a:r>
            <a:r>
              <a:rPr lang="en-US" altLang="zh-CN" sz="2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2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综合评判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633612-1743-12D2-C2B2-61607EBE4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7781CF-C9A2-C1D1-8A7D-D434A480BFA5}"/>
              </a:ext>
            </a:extLst>
          </p:cNvPr>
          <p:cNvSpPr txBox="1"/>
          <p:nvPr/>
        </p:nvSpPr>
        <p:spPr>
          <a:xfrm>
            <a:off x="7165975" y="4486334"/>
            <a:ext cx="2242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二级</a:t>
            </a:r>
            <a:r>
              <a:rPr lang="en-US" altLang="zh-CN" sz="24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400" dirty="0">
                <a:solidFill>
                  <a:srgbClr val="FF0000"/>
                </a:solidFill>
                <a:ea typeface="黑体" pitchFamily="2" charset="-122"/>
              </a:rPr>
              <a:t>综合评判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110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457326"/>
            <a:ext cx="10225136" cy="5400675"/>
          </a:xfrm>
        </p:spPr>
        <p:txBody>
          <a:bodyPr/>
          <a:lstStyle/>
          <a:p>
            <a:pPr eaLnBrk="1" hangingPunct="1"/>
            <a:r>
              <a:rPr kumimoji="1" lang="zh-CN" altLang="en-US" b="1" dirty="0">
                <a:solidFill>
                  <a:srgbClr val="3333FF"/>
                </a:solidFill>
              </a:rPr>
              <a:t>因素集</a:t>
            </a:r>
            <a:r>
              <a:rPr kumimoji="1" lang="en-US" altLang="zh-CN" b="1" i="1" dirty="0">
                <a:solidFill>
                  <a:srgbClr val="3333FF"/>
                </a:solidFill>
              </a:rPr>
              <a:t>U </a:t>
            </a:r>
            <a:r>
              <a:rPr kumimoji="1" lang="en-US" altLang="zh-CN" b="1" dirty="0">
                <a:solidFill>
                  <a:srgbClr val="3333FF"/>
                </a:solidFill>
              </a:rPr>
              <a:t>={</a:t>
            </a:r>
            <a:r>
              <a:rPr kumimoji="1" lang="en-US" altLang="zh-CN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b="1" baseline="-25000" dirty="0">
                <a:solidFill>
                  <a:srgbClr val="3333FF"/>
                </a:solidFill>
              </a:rPr>
              <a:t>1</a:t>
            </a:r>
            <a:r>
              <a:rPr kumimoji="1" lang="en-US" altLang="zh-CN" b="1" dirty="0">
                <a:solidFill>
                  <a:srgbClr val="3333FF"/>
                </a:solidFill>
              </a:rPr>
              <a:t>(</a:t>
            </a:r>
            <a:r>
              <a:rPr kumimoji="1" lang="zh-CN" altLang="en-US" b="1" dirty="0">
                <a:solidFill>
                  <a:srgbClr val="3333FF"/>
                </a:solidFill>
              </a:rPr>
              <a:t>花色</a:t>
            </a:r>
            <a:r>
              <a:rPr kumimoji="1" lang="en-US" altLang="zh-CN" b="1" dirty="0">
                <a:solidFill>
                  <a:srgbClr val="3333FF"/>
                </a:solidFill>
              </a:rPr>
              <a:t>), </a:t>
            </a:r>
            <a:r>
              <a:rPr kumimoji="1" lang="en-US" altLang="zh-CN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b="1" baseline="-25000" dirty="0">
                <a:solidFill>
                  <a:srgbClr val="3333FF"/>
                </a:solidFill>
              </a:rPr>
              <a:t>2</a:t>
            </a:r>
            <a:r>
              <a:rPr kumimoji="1" lang="en-US" altLang="zh-CN" b="1" dirty="0">
                <a:solidFill>
                  <a:srgbClr val="3333FF"/>
                </a:solidFill>
              </a:rPr>
              <a:t>(</a:t>
            </a:r>
            <a:r>
              <a:rPr kumimoji="1" lang="zh-CN" altLang="en-US" b="1" dirty="0">
                <a:solidFill>
                  <a:srgbClr val="3333FF"/>
                </a:solidFill>
              </a:rPr>
              <a:t>式样</a:t>
            </a:r>
            <a:r>
              <a:rPr kumimoji="1" lang="en-US" altLang="zh-CN" b="1" dirty="0">
                <a:solidFill>
                  <a:srgbClr val="3333FF"/>
                </a:solidFill>
              </a:rPr>
              <a:t>), </a:t>
            </a:r>
            <a:r>
              <a:rPr kumimoji="1" lang="en-US" altLang="zh-CN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b="1" baseline="-25000" dirty="0">
                <a:solidFill>
                  <a:srgbClr val="3333FF"/>
                </a:solidFill>
              </a:rPr>
              <a:t>3</a:t>
            </a:r>
            <a:r>
              <a:rPr kumimoji="1" lang="en-US" altLang="zh-CN" b="1" dirty="0">
                <a:solidFill>
                  <a:srgbClr val="3333FF"/>
                </a:solidFill>
              </a:rPr>
              <a:t>(</a:t>
            </a:r>
            <a:r>
              <a:rPr kumimoji="1" lang="zh-CN" altLang="en-US" b="1" dirty="0">
                <a:solidFill>
                  <a:srgbClr val="3333FF"/>
                </a:solidFill>
              </a:rPr>
              <a:t>耐穿程度</a:t>
            </a:r>
            <a:r>
              <a:rPr kumimoji="1" lang="en-US" altLang="zh-CN" b="1" dirty="0">
                <a:solidFill>
                  <a:srgbClr val="3333FF"/>
                </a:solidFill>
              </a:rPr>
              <a:t>), </a:t>
            </a:r>
            <a:r>
              <a:rPr kumimoji="1" lang="en-US" altLang="zh-CN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b="1" baseline="-25000" dirty="0">
                <a:solidFill>
                  <a:srgbClr val="3333FF"/>
                </a:solidFill>
              </a:rPr>
              <a:t>4</a:t>
            </a:r>
            <a:r>
              <a:rPr kumimoji="1" lang="en-US" altLang="zh-CN" b="1" dirty="0">
                <a:solidFill>
                  <a:srgbClr val="3333FF"/>
                </a:solidFill>
              </a:rPr>
              <a:t>(</a:t>
            </a:r>
            <a:r>
              <a:rPr kumimoji="1" lang="zh-CN" altLang="en-US" b="1" dirty="0">
                <a:solidFill>
                  <a:srgbClr val="3333FF"/>
                </a:solidFill>
              </a:rPr>
              <a:t>价格</a:t>
            </a:r>
            <a:r>
              <a:rPr kumimoji="1" lang="en-US" altLang="zh-CN" b="1" dirty="0">
                <a:solidFill>
                  <a:srgbClr val="3333FF"/>
                </a:solidFill>
              </a:rPr>
              <a:t>)}</a:t>
            </a:r>
            <a:r>
              <a:rPr kumimoji="1" lang="zh-CN" altLang="en-US" b="1" dirty="0">
                <a:solidFill>
                  <a:srgbClr val="3333FF"/>
                </a:solidFill>
              </a:rPr>
              <a:t>；</a:t>
            </a:r>
          </a:p>
          <a:p>
            <a:pPr eaLnBrk="1" hangingPunct="1"/>
            <a:r>
              <a:rPr kumimoji="1" lang="zh-CN" altLang="en-US" b="1" dirty="0">
                <a:solidFill>
                  <a:srgbClr val="008000"/>
                </a:solidFill>
              </a:rPr>
              <a:t>评判集</a:t>
            </a:r>
            <a:r>
              <a:rPr kumimoji="1" lang="en-US" altLang="zh-CN" b="1" i="1" dirty="0">
                <a:solidFill>
                  <a:srgbClr val="008000"/>
                </a:solidFill>
              </a:rPr>
              <a:t>V </a:t>
            </a:r>
            <a:r>
              <a:rPr kumimoji="1" lang="en-US" altLang="zh-CN" b="1" dirty="0">
                <a:solidFill>
                  <a:srgbClr val="008000"/>
                </a:solidFill>
              </a:rPr>
              <a:t>={</a:t>
            </a:r>
            <a:r>
              <a:rPr kumimoji="1" lang="en-US" altLang="zh-CN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b="1" baseline="-25000" dirty="0">
                <a:solidFill>
                  <a:srgbClr val="008000"/>
                </a:solidFill>
              </a:rPr>
              <a:t>1</a:t>
            </a:r>
            <a:r>
              <a:rPr kumimoji="1" lang="en-US" altLang="zh-CN" b="1" dirty="0">
                <a:solidFill>
                  <a:srgbClr val="008000"/>
                </a:solidFill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</a:rPr>
              <a:t>很欢迎</a:t>
            </a:r>
            <a:r>
              <a:rPr kumimoji="1" lang="en-US" altLang="zh-CN" b="1" dirty="0">
                <a:solidFill>
                  <a:srgbClr val="008000"/>
                </a:solidFill>
              </a:rPr>
              <a:t>), </a:t>
            </a:r>
            <a:r>
              <a:rPr kumimoji="1" lang="en-US" altLang="zh-CN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b="1" baseline="-25000" dirty="0">
                <a:solidFill>
                  <a:srgbClr val="008000"/>
                </a:solidFill>
              </a:rPr>
              <a:t>2</a:t>
            </a:r>
            <a:r>
              <a:rPr kumimoji="1" lang="en-US" altLang="zh-CN" b="1" dirty="0">
                <a:solidFill>
                  <a:srgbClr val="008000"/>
                </a:solidFill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</a:rPr>
              <a:t>较欢迎</a:t>
            </a:r>
            <a:r>
              <a:rPr kumimoji="1" lang="en-US" altLang="zh-CN" b="1" dirty="0">
                <a:solidFill>
                  <a:srgbClr val="008000"/>
                </a:solidFill>
              </a:rPr>
              <a:t>), </a:t>
            </a:r>
            <a:r>
              <a:rPr kumimoji="1" lang="en-US" altLang="zh-CN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b="1" baseline="-25000" dirty="0">
                <a:solidFill>
                  <a:srgbClr val="008000"/>
                </a:solidFill>
              </a:rPr>
              <a:t>3</a:t>
            </a:r>
            <a:r>
              <a:rPr kumimoji="1" lang="en-US" altLang="zh-CN" b="1" dirty="0">
                <a:solidFill>
                  <a:srgbClr val="008000"/>
                </a:solidFill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</a:rPr>
              <a:t>不太欢迎</a:t>
            </a:r>
            <a:r>
              <a:rPr kumimoji="1" lang="en-US" altLang="zh-CN" b="1" dirty="0">
                <a:solidFill>
                  <a:srgbClr val="008000"/>
                </a:solidFill>
              </a:rPr>
              <a:t>), </a:t>
            </a:r>
            <a:r>
              <a:rPr kumimoji="1" lang="en-US" altLang="zh-CN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b="1" baseline="-25000" dirty="0">
                <a:solidFill>
                  <a:srgbClr val="008000"/>
                </a:solidFill>
              </a:rPr>
              <a:t>4</a:t>
            </a:r>
            <a:r>
              <a:rPr kumimoji="1" lang="en-US" altLang="zh-CN" b="1" dirty="0">
                <a:solidFill>
                  <a:srgbClr val="008000"/>
                </a:solidFill>
              </a:rPr>
              <a:t>(</a:t>
            </a:r>
            <a:r>
              <a:rPr kumimoji="1" lang="zh-CN" altLang="en-US" b="1" dirty="0">
                <a:solidFill>
                  <a:srgbClr val="008000"/>
                </a:solidFill>
              </a:rPr>
              <a:t>不欢迎</a:t>
            </a:r>
            <a:r>
              <a:rPr kumimoji="1" lang="en-US" altLang="zh-CN" b="1" dirty="0">
                <a:solidFill>
                  <a:srgbClr val="008000"/>
                </a:solidFill>
              </a:rPr>
              <a:t>)}.</a:t>
            </a:r>
          </a:p>
          <a:p>
            <a:pPr eaLnBrk="1" hangingPunct="1"/>
            <a:r>
              <a:rPr kumimoji="1" lang="zh-CN" altLang="en-US" b="1" dirty="0"/>
              <a:t>对各因素所作的评判如下：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b="1" i="1" dirty="0"/>
              <a:t>       </a:t>
            </a:r>
            <a:r>
              <a:rPr kumimoji="1" lang="en-US" altLang="zh-CN" b="1" i="1" dirty="0"/>
              <a:t>u</a:t>
            </a:r>
            <a:r>
              <a:rPr kumimoji="1" lang="en-US" altLang="zh-CN" b="1" baseline="-25000" dirty="0"/>
              <a:t>1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：</a:t>
            </a:r>
            <a:r>
              <a:rPr kumimoji="1" lang="en-US" altLang="zh-CN" b="1" dirty="0"/>
              <a:t>(0.2, 0.5, 0.2, 0.1)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i="1" dirty="0"/>
              <a:t>       u</a:t>
            </a:r>
            <a:r>
              <a:rPr kumimoji="1" lang="en-US" altLang="zh-CN" b="1" baseline="-25000" dirty="0"/>
              <a:t>2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：</a:t>
            </a:r>
            <a:r>
              <a:rPr kumimoji="1" lang="en-US" altLang="zh-CN" b="1" dirty="0"/>
              <a:t>(0.7, 0.2, 0.1,   0 )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i="1" dirty="0"/>
              <a:t>       u</a:t>
            </a:r>
            <a:r>
              <a:rPr kumimoji="1" lang="en-US" altLang="zh-CN" b="1" baseline="-25000" dirty="0"/>
              <a:t>3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：</a:t>
            </a:r>
            <a:r>
              <a:rPr kumimoji="1" lang="en-US" altLang="zh-CN" b="1" dirty="0"/>
              <a:t>(  0,  0.4, 0.5, 0.1)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b="1" i="1" dirty="0"/>
              <a:t>       u</a:t>
            </a:r>
            <a:r>
              <a:rPr kumimoji="1" lang="en-US" altLang="zh-CN" b="1" baseline="-25000" dirty="0"/>
              <a:t>4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：</a:t>
            </a:r>
            <a:r>
              <a:rPr kumimoji="1" lang="en-US" altLang="zh-CN" b="1" dirty="0"/>
              <a:t>(0.2, 0.3, 0.5,   0 )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48A38F-8F52-5785-31E1-2A726D7028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829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9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9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9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9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9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3573463"/>
            <a:ext cx="9505056" cy="3103562"/>
          </a:xfrm>
        </p:spPr>
        <p:txBody>
          <a:bodyPr/>
          <a:lstStyle/>
          <a:p>
            <a:pPr eaLnBrk="1" hangingPunct="1"/>
            <a:r>
              <a:rPr kumimoji="1" lang="en-US" altLang="zh-CN" sz="2800" dirty="0"/>
              <a:t> </a:t>
            </a:r>
            <a:r>
              <a:rPr kumimoji="1" lang="zh-CN" altLang="en-US" sz="2800" b="1" dirty="0"/>
              <a:t>对于给定各因素权重</a:t>
            </a:r>
            <a:r>
              <a:rPr kumimoji="1" lang="en-US" altLang="zh-CN" sz="2800" b="1" i="1" dirty="0">
                <a:solidFill>
                  <a:srgbClr val="CC00CC"/>
                </a:solidFill>
              </a:rPr>
              <a:t>A</a:t>
            </a:r>
            <a:r>
              <a:rPr kumimoji="1" lang="en-US" altLang="zh-CN" sz="2800" b="1" dirty="0">
                <a:solidFill>
                  <a:srgbClr val="CC00CC"/>
                </a:solidFill>
              </a:rPr>
              <a:t> = (0.1, 0.2, 0.3, 0.4),</a:t>
            </a:r>
            <a:r>
              <a:rPr kumimoji="1" lang="zh-CN" altLang="en-US" sz="2800" b="1" dirty="0"/>
              <a:t>分别用各种模型所作的评判如下：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(∧, ∨)</a:t>
            </a:r>
            <a:r>
              <a:rPr kumimoji="1" lang="zh-CN" altLang="en-US" sz="2800" b="1" dirty="0"/>
              <a:t>： 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   0.2,   0.3,  0.4,   0.1  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 · ,∨ )</a:t>
            </a:r>
            <a:r>
              <a:rPr kumimoji="1" lang="zh-CN" altLang="en-US" sz="2800" b="1" dirty="0"/>
              <a:t>： 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(0.14, 0.12,  0.2,   0.03)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(∧, </a:t>
            </a:r>
            <a:r>
              <a:rPr lang="zh-CN" altLang="zh-CN" sz="2800" dirty="0"/>
              <a:t>⊕</a:t>
            </a:r>
            <a:r>
              <a:rPr kumimoji="1" lang="en-US" altLang="zh-CN" sz="2800" b="1" dirty="0"/>
              <a:t>)</a:t>
            </a:r>
            <a:r>
              <a:rPr kumimoji="1" lang="zh-CN" altLang="en-US" sz="2800" b="1" dirty="0"/>
              <a:t>： 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  0.5,   0.9,   0.9,   0.2  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 · ,</a:t>
            </a:r>
            <a:r>
              <a:rPr kumimoji="1" lang="zh-CN" altLang="en-US" sz="2800" b="1" dirty="0"/>
              <a:t>＋</a:t>
            </a:r>
            <a:r>
              <a:rPr kumimoji="1" lang="en-US" altLang="zh-CN" sz="2800" b="1" dirty="0"/>
              <a:t>)</a:t>
            </a:r>
            <a:r>
              <a:rPr kumimoji="1" lang="zh-CN" altLang="en-US" sz="2800" b="1" dirty="0"/>
              <a:t>： 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(0.24, 0.33, 0.39,  0.04 )</a:t>
            </a:r>
          </a:p>
        </p:txBody>
      </p:sp>
      <p:graphicFrame>
        <p:nvGraphicFramePr>
          <p:cNvPr id="23040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375275" y="981075"/>
          <a:ext cx="4681538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42999" imgH="847800" progId="Equation.3">
                  <p:embed/>
                </p:oleObj>
              </mc:Choice>
              <mc:Fallback>
                <p:oleObj name="公式" r:id="rId2" imgW="1542999" imgH="847800" progId="Equation.3">
                  <p:embed/>
                  <p:pic>
                    <p:nvPicPr>
                      <p:cNvPr id="230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981075"/>
                        <a:ext cx="4681538" cy="265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6167438" y="54927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8000"/>
                </a:solidFill>
              </a:rPr>
              <a:t>    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1</a:t>
            </a:r>
            <a:r>
              <a:rPr kumimoji="1" lang="en-US" altLang="zh-CN" sz="2400">
                <a:solidFill>
                  <a:srgbClr val="008000"/>
                </a:solidFill>
              </a:rPr>
              <a:t>       </a:t>
            </a:r>
            <a:r>
              <a:rPr kumimoji="1" lang="en-US" altLang="zh-CN" sz="2400" i="1">
                <a:solidFill>
                  <a:srgbClr val="008000"/>
                </a:solidFill>
              </a:rPr>
              <a:t>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2</a:t>
            </a:r>
            <a:r>
              <a:rPr kumimoji="1" lang="en-US" altLang="zh-CN" sz="2400">
                <a:solidFill>
                  <a:srgbClr val="008000"/>
                </a:solidFill>
              </a:rPr>
              <a:t>        </a:t>
            </a:r>
            <a:r>
              <a:rPr kumimoji="1" lang="en-US" altLang="zh-CN" sz="2400" i="1">
                <a:solidFill>
                  <a:srgbClr val="008000"/>
                </a:solidFill>
              </a:rPr>
              <a:t>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3 </a:t>
            </a:r>
            <a:r>
              <a:rPr kumimoji="1" lang="en-US" altLang="zh-CN" sz="2400">
                <a:solidFill>
                  <a:srgbClr val="008000"/>
                </a:solidFill>
              </a:rPr>
              <a:t>       </a:t>
            </a:r>
            <a:r>
              <a:rPr kumimoji="1" lang="en-US" altLang="zh-CN" sz="2400" i="1">
                <a:solidFill>
                  <a:srgbClr val="008000"/>
                </a:solidFill>
              </a:rPr>
              <a:t>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4</a:t>
            </a:r>
          </a:p>
        </p:txBody>
      </p:sp>
      <p:sp>
        <p:nvSpPr>
          <p:cNvPr id="230407" name="Text Box 7"/>
          <p:cNvSpPr txBox="1">
            <a:spLocks noChangeArrowheads="1"/>
          </p:cNvSpPr>
          <p:nvPr/>
        </p:nvSpPr>
        <p:spPr bwMode="auto">
          <a:xfrm>
            <a:off x="9912350" y="1052513"/>
            <a:ext cx="755650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2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3</a:t>
            </a:r>
            <a:endParaRPr kumimoji="1" lang="en-US" altLang="zh-CN" sz="2800" i="1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229C2A-0B58-B2A8-9F91-15AD402C10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2972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0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0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0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0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  <p:bldP spid="230406" grpId="0"/>
      <p:bldP spid="23040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3573463"/>
            <a:ext cx="9865095" cy="3097212"/>
          </a:xfrm>
        </p:spPr>
        <p:txBody>
          <a:bodyPr/>
          <a:lstStyle/>
          <a:p>
            <a:pPr eaLnBrk="1" hangingPunct="1"/>
            <a:r>
              <a:rPr kumimoji="1" lang="en-US" altLang="zh-CN" sz="2800" dirty="0"/>
              <a:t> </a:t>
            </a:r>
            <a:r>
              <a:rPr kumimoji="1" lang="zh-CN" altLang="en-US" sz="2800" b="1" dirty="0"/>
              <a:t>对于给定各因素权重</a:t>
            </a:r>
            <a:r>
              <a:rPr kumimoji="1" lang="en-US" altLang="zh-CN" sz="2800" b="1" i="1" dirty="0">
                <a:solidFill>
                  <a:srgbClr val="F72603"/>
                </a:solidFill>
              </a:rPr>
              <a:t>A</a:t>
            </a:r>
            <a:r>
              <a:rPr kumimoji="1" lang="en-US" altLang="zh-CN" sz="2800" b="1" dirty="0">
                <a:solidFill>
                  <a:srgbClr val="F72603"/>
                </a:solidFill>
              </a:rPr>
              <a:t> = (0.4, 0.35, 0.15, 0.1),</a:t>
            </a:r>
            <a:r>
              <a:rPr kumimoji="1" lang="zh-CN" altLang="en-US" sz="2800" b="1" dirty="0"/>
              <a:t>分别用各种模型所作的评判如下：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(∧, ∨ )</a:t>
            </a:r>
            <a:r>
              <a:rPr kumimoji="1" lang="zh-CN" altLang="en-US" sz="2800" b="1" dirty="0"/>
              <a:t>：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  0.35,   0.4,   0.2,   0.1   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 · ,∨ )</a:t>
            </a:r>
            <a:r>
              <a:rPr kumimoji="1" lang="zh-CN" altLang="en-US" sz="2800" b="1" dirty="0"/>
              <a:t>：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(0.245,   0.2,   0.08, 0.04 )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(∧, </a:t>
            </a:r>
            <a:r>
              <a:rPr lang="zh-CN" altLang="zh-CN" sz="2800" dirty="0"/>
              <a:t>⊕</a:t>
            </a:r>
            <a:r>
              <a:rPr kumimoji="1" lang="en-US" altLang="zh-CN" sz="2800" b="1" dirty="0"/>
              <a:t>)</a:t>
            </a:r>
            <a:r>
              <a:rPr kumimoji="1" lang="zh-CN" altLang="en-US" sz="2800" b="1" dirty="0"/>
              <a:t>：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  0.65,  0.85,  0.55, 0.2   )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M </a:t>
            </a:r>
            <a:r>
              <a:rPr kumimoji="1" lang="en-US" altLang="zh-CN" sz="2800" b="1" dirty="0"/>
              <a:t>( ·,</a:t>
            </a:r>
            <a:r>
              <a:rPr kumimoji="1" lang="zh-CN" altLang="en-US" sz="2800" b="1" dirty="0"/>
              <a:t>＋</a:t>
            </a:r>
            <a:r>
              <a:rPr kumimoji="1" lang="en-US" altLang="zh-CN" sz="2800" b="1" dirty="0"/>
              <a:t>)</a:t>
            </a:r>
            <a:r>
              <a:rPr kumimoji="1" lang="zh-CN" altLang="en-US" sz="2800" b="1" dirty="0"/>
              <a:t>： </a:t>
            </a:r>
            <a:r>
              <a:rPr kumimoji="1" lang="en-US" altLang="zh-CN" sz="2800" b="1" i="1" dirty="0"/>
              <a:t>B</a:t>
            </a:r>
            <a:r>
              <a:rPr kumimoji="1" lang="en-US" altLang="zh-CN" sz="2800" b="1" dirty="0"/>
              <a:t> = (0.345,  0.36,  0.24, 0.055)</a:t>
            </a:r>
          </a:p>
        </p:txBody>
      </p:sp>
      <p:graphicFrame>
        <p:nvGraphicFramePr>
          <p:cNvPr id="23347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375275" y="908051"/>
          <a:ext cx="4679950" cy="265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42999" imgH="847800" progId="Equation.3">
                  <p:embed/>
                </p:oleObj>
              </mc:Choice>
              <mc:Fallback>
                <p:oleObj name="公式" r:id="rId2" imgW="1542999" imgH="847800" progId="Equation.3">
                  <p:embed/>
                  <p:pic>
                    <p:nvPicPr>
                      <p:cNvPr id="2334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908051"/>
                        <a:ext cx="4679950" cy="265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6167438" y="549275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8000"/>
                </a:solidFill>
              </a:rPr>
              <a:t>    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1</a:t>
            </a:r>
            <a:r>
              <a:rPr kumimoji="1" lang="en-US" altLang="zh-CN" sz="2400">
                <a:solidFill>
                  <a:srgbClr val="008000"/>
                </a:solidFill>
              </a:rPr>
              <a:t>       </a:t>
            </a:r>
            <a:r>
              <a:rPr kumimoji="1" lang="en-US" altLang="zh-CN" sz="2400" i="1">
                <a:solidFill>
                  <a:srgbClr val="008000"/>
                </a:solidFill>
              </a:rPr>
              <a:t>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2</a:t>
            </a:r>
            <a:r>
              <a:rPr kumimoji="1" lang="en-US" altLang="zh-CN" sz="2400">
                <a:solidFill>
                  <a:srgbClr val="008000"/>
                </a:solidFill>
              </a:rPr>
              <a:t>        </a:t>
            </a:r>
            <a:r>
              <a:rPr kumimoji="1" lang="en-US" altLang="zh-CN" sz="2400" i="1">
                <a:solidFill>
                  <a:srgbClr val="008000"/>
                </a:solidFill>
              </a:rPr>
              <a:t>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3 </a:t>
            </a:r>
            <a:r>
              <a:rPr kumimoji="1" lang="en-US" altLang="zh-CN" sz="2400">
                <a:solidFill>
                  <a:srgbClr val="008000"/>
                </a:solidFill>
              </a:rPr>
              <a:t>       </a:t>
            </a:r>
            <a:r>
              <a:rPr kumimoji="1" lang="en-US" altLang="zh-CN" sz="2400" i="1">
                <a:solidFill>
                  <a:srgbClr val="008000"/>
                </a:solidFill>
              </a:rPr>
              <a:t>v</a:t>
            </a:r>
            <a:r>
              <a:rPr kumimoji="1" lang="en-US" altLang="zh-CN" sz="2400" baseline="-25000">
                <a:solidFill>
                  <a:srgbClr val="008000"/>
                </a:solidFill>
              </a:rPr>
              <a:t>4</a:t>
            </a: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9912350" y="1052513"/>
            <a:ext cx="755650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1</a:t>
            </a:r>
            <a:endParaRPr kumimoji="1" lang="en-US" altLang="zh-CN" sz="28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2</a:t>
            </a:r>
            <a:endParaRPr kumimoji="1" lang="en-US" altLang="zh-CN" sz="28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3</a:t>
            </a:r>
            <a:endParaRPr kumimoji="1" lang="en-US" altLang="zh-CN" sz="2800" i="1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i="1">
                <a:solidFill>
                  <a:srgbClr val="3333FF"/>
                </a:solidFill>
              </a:rPr>
              <a:t>u</a:t>
            </a:r>
            <a:r>
              <a:rPr kumimoji="1" lang="en-US" altLang="zh-CN" sz="2800" baseline="-25000">
                <a:solidFill>
                  <a:srgbClr val="3333FF"/>
                </a:solidFill>
              </a:rPr>
              <a:t>4</a:t>
            </a:r>
            <a:endParaRPr kumimoji="1" lang="en-US" altLang="zh-CN" sz="2800">
              <a:solidFill>
                <a:srgbClr val="3333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1DC0F2-5107-284F-08E7-C0C765E73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  <p:bldP spid="233478" grpId="0"/>
      <p:bldP spid="23347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6">
            <a:extLst>
              <a:ext uri="{FF2B5EF4-FFF2-40B4-BE49-F238E27FC236}">
                <a16:creationId xmlns:a16="http://schemas.microsoft.com/office/drawing/2014/main" id="{27014C1A-F5E1-463B-ACA0-5B2F0A2ED832}"/>
              </a:ext>
            </a:extLst>
          </p:cNvPr>
          <p:cNvGrpSpPr>
            <a:grpSpLocks/>
          </p:cNvGrpSpPr>
          <p:nvPr/>
        </p:nvGrpSpPr>
        <p:grpSpPr bwMode="auto">
          <a:xfrm>
            <a:off x="3000200" y="1001805"/>
            <a:ext cx="5367296" cy="2951121"/>
            <a:chOff x="930" y="1071"/>
            <a:chExt cx="4985" cy="245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B7EE33B-D182-4B31-8B62-B2C6D788A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389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FC7C65C0-21A9-4215-8FFA-BECF331FB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2115"/>
              <a:ext cx="635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CC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000" baseline="-25000" dirty="0">
                  <a:solidFill>
                    <a:srgbClr val="CC00CC"/>
                  </a:solidFill>
                </a:rPr>
                <a:t>2</a:t>
              </a:r>
              <a:r>
                <a:rPr lang="en-US" altLang="zh-CN" sz="2000" dirty="0"/>
                <a:t>R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EE492ED8-7068-46BE-AFC4-A9461082F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069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6B1E17B4-5D6A-4BA4-AFC8-2A74F78C8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3113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9705C6BF-26DA-466A-8060-6832CA7FC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3158"/>
              <a:ext cx="544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000" baseline="-25000" dirty="0" err="1">
                  <a:solidFill>
                    <a:srgbClr val="008000"/>
                  </a:solidFill>
                </a:rPr>
                <a:t>s</a:t>
              </a:r>
              <a:r>
                <a:rPr lang="en-US" altLang="zh-CN" sz="2000" dirty="0" err="1"/>
                <a:t>R</a:t>
              </a:r>
              <a:endParaRPr lang="en-US" altLang="zh-CN" sz="2000" dirty="0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4BE3A882-F76F-4ACB-A83A-D3E290960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402"/>
              <a:ext cx="551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3333FF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1</a:t>
              </a:r>
              <a:r>
                <a:rPr lang="en-US" altLang="zh-CN" sz="2000" dirty="0"/>
                <a:t>R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AF15C1EC-2306-4F6D-9C99-B7253F0B5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659"/>
              <a:ext cx="726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/>
                <a:t>……</a:t>
              </a: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ECA9AAAF-8006-4E71-9D1E-7F32B3E2E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1570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17DBACA6-9A9E-42AD-841D-49841DBF7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251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003FE50C-198F-44F5-94A6-DE3AD3F47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294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FAF33CF0-5061-4114-84C0-77C16F82B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3339"/>
              <a:ext cx="5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7940788-B1CA-4EEF-8953-CEAD692D7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2251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8BCB9012-2121-4A3F-8298-AE77AF0FE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566"/>
              <a:ext cx="544" cy="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498C58C5-426A-47D2-A6AA-DC3010DED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1253"/>
              <a:ext cx="407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996633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996633"/>
                  </a:solidFill>
                </a:rPr>
                <a:t>1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6BFC81A7-5FE1-44EA-86EE-40A7E1757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1933"/>
              <a:ext cx="407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996633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996633"/>
                  </a:solidFill>
                </a:rPr>
                <a:t>1</a:t>
              </a:r>
              <a:endParaRPr lang="en-US" altLang="zh-CN" dirty="0">
                <a:solidFill>
                  <a:srgbClr val="996633"/>
                </a:solidFill>
              </a:endParaRP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F0DC2171-C5F8-4C18-8B41-661A9BAE7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976"/>
              <a:ext cx="544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996633"/>
                  </a:solidFill>
                </a:rPr>
                <a:t>A</a:t>
              </a:r>
              <a:r>
                <a:rPr lang="en-US" altLang="zh-CN" baseline="-25000" dirty="0">
                  <a:solidFill>
                    <a:srgbClr val="996633"/>
                  </a:solidFill>
                </a:rPr>
                <a:t>1</a:t>
              </a:r>
              <a:endParaRPr lang="en-US" altLang="zh-CN" dirty="0">
                <a:solidFill>
                  <a:srgbClr val="996633"/>
                </a:solidFill>
              </a:endParaRPr>
            </a:p>
          </p:txBody>
        </p:sp>
        <p:sp>
          <p:nvSpPr>
            <p:cNvPr id="21" name="Rectangle 22">
              <a:extLst>
                <a:ext uri="{FF2B5EF4-FFF2-40B4-BE49-F238E27FC236}">
                  <a16:creationId xmlns:a16="http://schemas.microsoft.com/office/drawing/2014/main" id="{2B184163-7489-4AB3-AA35-B81886242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888"/>
              <a:ext cx="545" cy="862"/>
            </a:xfrm>
            <a:prstGeom prst="rect">
              <a:avLst/>
            </a:prstGeom>
            <a:noFill/>
            <a:ln w="38100">
              <a:solidFill>
                <a:srgbClr val="F726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22" name="Text Box 23">
              <a:extLst>
                <a:ext uri="{FF2B5EF4-FFF2-40B4-BE49-F238E27FC236}">
                  <a16:creationId xmlns:a16="http://schemas.microsoft.com/office/drawing/2014/main" id="{85D57337-DCE6-47F8-AA71-A84828B1E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115"/>
              <a:ext cx="545" cy="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72603"/>
                  </a:solidFill>
                </a:rPr>
                <a:t>R</a:t>
              </a:r>
              <a:r>
                <a:rPr lang="en-US" altLang="zh-CN" sz="2000" baseline="-25000" dirty="0">
                  <a:solidFill>
                    <a:srgbClr val="F72603"/>
                  </a:solidFill>
                </a:rPr>
                <a:t>01</a:t>
              </a:r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54F566C8-99C0-4E1B-B256-4C1022AE9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570"/>
              <a:ext cx="544" cy="54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D524DBE5-98C1-4146-8EA6-75DDDE62C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251"/>
              <a:ext cx="499" cy="4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6FFB74F3-6D43-4FFC-BA79-6873FF25B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3" y="2568"/>
              <a:ext cx="544" cy="771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C83024CD-4E62-4F74-9811-9E92CCD2A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2341"/>
              <a:ext cx="1531" cy="742"/>
            </a:xfrm>
            <a:prstGeom prst="line">
              <a:avLst/>
            </a:prstGeom>
            <a:noFill/>
            <a:ln w="38100">
              <a:solidFill>
                <a:srgbClr val="F7260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dirty="0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F9789FEC-973E-4F41-B26F-B9D0A84CA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071"/>
              <a:ext cx="0" cy="81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8072067B-DE50-43BF-8784-79AB8578E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1253"/>
              <a:ext cx="544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  <a:r>
                <a:rPr lang="en-US" altLang="zh-CN" baseline="-25000" dirty="0"/>
                <a:t>11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57DC474A-6E40-4FAC-84EF-7C84BFBE6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888"/>
              <a:ext cx="499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  <a:r>
                <a:rPr lang="en-US" altLang="zh-CN" baseline="-25000" dirty="0"/>
                <a:t>12</a:t>
              </a:r>
            </a:p>
          </p:txBody>
        </p:sp>
        <p:sp>
          <p:nvSpPr>
            <p:cNvPr id="30" name="Text Box 31">
              <a:extLst>
                <a:ext uri="{FF2B5EF4-FFF2-40B4-BE49-F238E27FC236}">
                  <a16:creationId xmlns:a16="http://schemas.microsoft.com/office/drawing/2014/main" id="{D8C49FA5-7426-4188-9867-4F86E0B5E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022"/>
              <a:ext cx="499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  <a:r>
                <a:rPr lang="en-US" altLang="zh-CN" baseline="-25000" dirty="0"/>
                <a:t>1s</a:t>
              </a:r>
            </a:p>
          </p:txBody>
        </p:sp>
        <p:sp>
          <p:nvSpPr>
            <p:cNvPr id="31" name="Text Box 35">
              <a:extLst>
                <a:ext uri="{FF2B5EF4-FFF2-40B4-BE49-F238E27FC236}">
                  <a16:creationId xmlns:a16="http://schemas.microsoft.com/office/drawing/2014/main" id="{6E58E587-E83F-4391-95B0-BB1D7032A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783457">
              <a:off x="4456" y="2321"/>
              <a:ext cx="1459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72603"/>
                  </a:solidFill>
                </a:rPr>
                <a:t> B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1</a:t>
              </a:r>
              <a:r>
                <a:rPr lang="en-US" altLang="zh-CN" dirty="0">
                  <a:solidFill>
                    <a:srgbClr val="F72603"/>
                  </a:solidFill>
                </a:rPr>
                <a:t>=A</a:t>
              </a:r>
              <a:r>
                <a:rPr lang="en-US" altLang="zh-CN" baseline="-25000" dirty="0">
                  <a:solidFill>
                    <a:srgbClr val="F72603"/>
                  </a:solidFill>
                </a:rPr>
                <a:t>01</a:t>
              </a:r>
              <a:r>
                <a:rPr lang="en-US" altLang="zh-CN" dirty="0">
                  <a:solidFill>
                    <a:srgbClr val="F72603"/>
                  </a:solidFill>
                </a:rPr>
                <a:t> </a:t>
              </a:r>
              <a:r>
                <a:rPr lang="en-US" altLang="zh-CN" dirty="0">
                  <a:solidFill>
                    <a:srgbClr val="F72603"/>
                  </a:solidFill>
                  <a:sym typeface="Symbol" pitchFamily="18" charset="2"/>
                </a:rPr>
                <a:t>•</a:t>
              </a:r>
              <a:r>
                <a:rPr lang="en-US" altLang="zh-CN" dirty="0">
                  <a:solidFill>
                    <a:srgbClr val="F72603"/>
                  </a:solidFill>
                </a:rPr>
                <a:t> R</a:t>
              </a:r>
              <a:r>
                <a:rPr lang="en-US" altLang="zh-CN" baseline="-25000" dirty="0">
                  <a:solidFill>
                    <a:srgbClr val="F72603"/>
                  </a:solidFill>
                </a:rPr>
                <a:t>01</a:t>
              </a:r>
            </a:p>
          </p:txBody>
        </p:sp>
      </p:grpSp>
      <p:sp>
        <p:nvSpPr>
          <p:cNvPr id="32" name="Text Box 33">
            <a:extLst>
              <a:ext uri="{FF2B5EF4-FFF2-40B4-BE49-F238E27FC236}">
                <a16:creationId xmlns:a16="http://schemas.microsoft.com/office/drawing/2014/main" id="{3E62E724-5897-4D2C-B3AE-BF67C580C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1296" y="1189467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</a:rPr>
              <a:t>A</a:t>
            </a:r>
            <a:r>
              <a:rPr lang="en-US" altLang="zh-CN" sz="2400" baseline="-25000" dirty="0">
                <a:solidFill>
                  <a:srgbClr val="008000"/>
                </a:solidFill>
              </a:rPr>
              <a:t>01</a:t>
            </a:r>
            <a:endParaRPr lang="en-US" altLang="zh-CN" sz="2400" dirty="0">
              <a:solidFill>
                <a:srgbClr val="008000"/>
              </a:solidFill>
            </a:endParaRPr>
          </a:p>
        </p:txBody>
      </p:sp>
      <p:grpSp>
        <p:nvGrpSpPr>
          <p:cNvPr id="33" name="Group 36">
            <a:extLst>
              <a:ext uri="{FF2B5EF4-FFF2-40B4-BE49-F238E27FC236}">
                <a16:creationId xmlns:a16="http://schemas.microsoft.com/office/drawing/2014/main" id="{F143776A-B57B-4384-B35F-78F8884D1706}"/>
              </a:ext>
            </a:extLst>
          </p:cNvPr>
          <p:cNvGrpSpPr>
            <a:grpSpLocks/>
          </p:cNvGrpSpPr>
          <p:nvPr/>
        </p:nvGrpSpPr>
        <p:grpSpPr bwMode="auto">
          <a:xfrm>
            <a:off x="2946905" y="3842108"/>
            <a:ext cx="5364065" cy="2899261"/>
            <a:chOff x="930" y="1071"/>
            <a:chExt cx="4982" cy="2450"/>
          </a:xfrm>
        </p:grpSpPr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B1CC17F1-ABC7-405E-A6EF-C70C87457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389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35" name="Text Box 6">
              <a:extLst>
                <a:ext uri="{FF2B5EF4-FFF2-40B4-BE49-F238E27FC236}">
                  <a16:creationId xmlns:a16="http://schemas.microsoft.com/office/drawing/2014/main" id="{FDC51BEC-B579-42C0-86C8-9E75BC607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7" y="2115"/>
              <a:ext cx="63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CC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000" baseline="-25000" dirty="0">
                  <a:solidFill>
                    <a:srgbClr val="CC00CC"/>
                  </a:solidFill>
                </a:rPr>
                <a:t>2</a:t>
              </a:r>
              <a:r>
                <a:rPr lang="en-US" altLang="zh-CN" sz="2000" dirty="0"/>
                <a:t>R</a:t>
              </a: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331DCD50-037A-4A8A-B0AA-F56D7B189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069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86824056-78E1-4492-90CD-339856364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3113"/>
              <a:ext cx="1134" cy="40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1886FA3E-04E9-4242-A5AE-D8304BD64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3158"/>
              <a:ext cx="544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8000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000" baseline="-25000" dirty="0" err="1">
                  <a:solidFill>
                    <a:srgbClr val="008000"/>
                  </a:solidFill>
                </a:rPr>
                <a:t>s</a:t>
              </a:r>
              <a:r>
                <a:rPr lang="en-US" altLang="zh-CN" sz="2000" dirty="0" err="1"/>
                <a:t>R</a:t>
              </a:r>
              <a:endParaRPr lang="en-US" altLang="zh-CN" sz="2000" dirty="0"/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5F2C5194-DE58-47AF-9BEC-73A26729F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402"/>
              <a:ext cx="551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3333FF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2000" baseline="-25000" dirty="0">
                  <a:solidFill>
                    <a:srgbClr val="3333FF"/>
                  </a:solidFill>
                </a:rPr>
                <a:t>1</a:t>
              </a:r>
              <a:r>
                <a:rPr lang="en-US" altLang="zh-CN" sz="2000" dirty="0"/>
                <a:t>R</a:t>
              </a:r>
            </a:p>
          </p:txBody>
        </p:sp>
        <p:sp>
          <p:nvSpPr>
            <p:cNvPr id="40" name="Text Box 11">
              <a:extLst>
                <a:ext uri="{FF2B5EF4-FFF2-40B4-BE49-F238E27FC236}">
                  <a16:creationId xmlns:a16="http://schemas.microsoft.com/office/drawing/2014/main" id="{BDB202B2-AEE7-4856-9506-D9284CF02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659"/>
              <a:ext cx="726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400"/>
                <a:t>……</a:t>
              </a:r>
            </a:p>
          </p:txBody>
        </p:sp>
        <p:sp>
          <p:nvSpPr>
            <p:cNvPr id="41" name="Line 12">
              <a:extLst>
                <a:ext uri="{FF2B5EF4-FFF2-40B4-BE49-F238E27FC236}">
                  <a16:creationId xmlns:a16="http://schemas.microsoft.com/office/drawing/2014/main" id="{40DDF87E-AF6C-47A1-B029-C7B7F41C6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1570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9F63AF95-7557-4BDE-AFD3-BCC93D732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251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" name="Line 14">
              <a:extLst>
                <a:ext uri="{FF2B5EF4-FFF2-40B4-BE49-F238E27FC236}">
                  <a16:creationId xmlns:a16="http://schemas.microsoft.com/office/drawing/2014/main" id="{F2C60231-65BE-4867-B922-DED7FD789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294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" name="Line 15">
              <a:extLst>
                <a:ext uri="{FF2B5EF4-FFF2-40B4-BE49-F238E27FC236}">
                  <a16:creationId xmlns:a16="http://schemas.microsoft.com/office/drawing/2014/main" id="{B3F43C26-BEA0-42FF-966D-EF5FE01CF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3339"/>
              <a:ext cx="5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" name="Line 16">
              <a:extLst>
                <a:ext uri="{FF2B5EF4-FFF2-40B4-BE49-F238E27FC236}">
                  <a16:creationId xmlns:a16="http://schemas.microsoft.com/office/drawing/2014/main" id="{D54F3DBA-8C2D-4929-B70D-5664771BF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2251"/>
              <a:ext cx="589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6" name="Line 17">
              <a:extLst>
                <a:ext uri="{FF2B5EF4-FFF2-40B4-BE49-F238E27FC236}">
                  <a16:creationId xmlns:a16="http://schemas.microsoft.com/office/drawing/2014/main" id="{0CB246AA-A6BC-40AC-AE96-8CF72BA6A9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566"/>
              <a:ext cx="544" cy="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7" name="Text Box 18">
              <a:extLst>
                <a:ext uri="{FF2B5EF4-FFF2-40B4-BE49-F238E27FC236}">
                  <a16:creationId xmlns:a16="http://schemas.microsoft.com/office/drawing/2014/main" id="{A52F113A-7B58-4F79-853E-3E5FFB5EB3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1253"/>
              <a:ext cx="407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</a:p>
          </p:txBody>
        </p:sp>
        <p:sp>
          <p:nvSpPr>
            <p:cNvPr id="48" name="Text Box 19">
              <a:extLst>
                <a:ext uri="{FF2B5EF4-FFF2-40B4-BE49-F238E27FC236}">
                  <a16:creationId xmlns:a16="http://schemas.microsoft.com/office/drawing/2014/main" id="{5550A371-919F-4B61-991A-C5DB59E56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1933"/>
              <a:ext cx="407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9" name="Text Box 20">
              <a:extLst>
                <a:ext uri="{FF2B5EF4-FFF2-40B4-BE49-F238E27FC236}">
                  <a16:creationId xmlns:a16="http://schemas.microsoft.com/office/drawing/2014/main" id="{62A5504A-1782-4688-A964-27A4701EA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976"/>
              <a:ext cx="544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</a:rPr>
                <a:t>A</a:t>
              </a:r>
              <a:r>
                <a:rPr lang="en-US" altLang="zh-CN" baseline="-25000" dirty="0">
                  <a:solidFill>
                    <a:schemeClr val="accent5">
                      <a:lumMod val="75000"/>
                    </a:schemeClr>
                  </a:solidFill>
                </a:rPr>
                <a:t>2</a:t>
              </a:r>
              <a:endParaRPr lang="en-US" altLang="zh-CN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0" name="Rectangle 22">
              <a:extLst>
                <a:ext uri="{FF2B5EF4-FFF2-40B4-BE49-F238E27FC236}">
                  <a16:creationId xmlns:a16="http://schemas.microsoft.com/office/drawing/2014/main" id="{2C6738D1-AC8F-4958-82D1-23E1AD916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888"/>
              <a:ext cx="545" cy="862"/>
            </a:xfrm>
            <a:prstGeom prst="rect">
              <a:avLst/>
            </a:prstGeom>
            <a:noFill/>
            <a:ln w="38100">
              <a:solidFill>
                <a:srgbClr val="F7260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51" name="Text Box 23">
              <a:extLst>
                <a:ext uri="{FF2B5EF4-FFF2-40B4-BE49-F238E27FC236}">
                  <a16:creationId xmlns:a16="http://schemas.microsoft.com/office/drawing/2014/main" id="{4F9A6043-6C33-4864-8A29-C4E70DC7B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115"/>
              <a:ext cx="545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72603"/>
                  </a:solidFill>
                </a:rPr>
                <a:t>R</a:t>
              </a:r>
              <a:r>
                <a:rPr lang="en-US" altLang="zh-CN" sz="2000" baseline="-25000" dirty="0">
                  <a:solidFill>
                    <a:srgbClr val="F72603"/>
                  </a:solidFill>
                </a:rPr>
                <a:t>02</a:t>
              </a:r>
            </a:p>
          </p:txBody>
        </p: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E2B96E17-0B6C-4632-A372-1F1A7BD1A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1570"/>
              <a:ext cx="544" cy="54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3" name="Line 25">
              <a:extLst>
                <a:ext uri="{FF2B5EF4-FFF2-40B4-BE49-F238E27FC236}">
                  <a16:creationId xmlns:a16="http://schemas.microsoft.com/office/drawing/2014/main" id="{8F68C1BF-0948-4638-972B-D7D0862A9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251"/>
              <a:ext cx="499" cy="4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4" name="Line 26">
              <a:extLst>
                <a:ext uri="{FF2B5EF4-FFF2-40B4-BE49-F238E27FC236}">
                  <a16:creationId xmlns:a16="http://schemas.microsoft.com/office/drawing/2014/main" id="{A06168D2-FF5D-4AD8-ADD5-9018761DD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3" y="2568"/>
              <a:ext cx="544" cy="771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318988B2-8786-405D-9E16-1E534F5B25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253"/>
              <a:ext cx="1580" cy="1088"/>
            </a:xfrm>
            <a:prstGeom prst="line">
              <a:avLst/>
            </a:prstGeom>
            <a:noFill/>
            <a:ln w="38100">
              <a:solidFill>
                <a:srgbClr val="F7260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6" name="Line 28">
              <a:extLst>
                <a:ext uri="{FF2B5EF4-FFF2-40B4-BE49-F238E27FC236}">
                  <a16:creationId xmlns:a16="http://schemas.microsoft.com/office/drawing/2014/main" id="{C1539914-57BF-4FA6-AFE9-D17B63B57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071"/>
              <a:ext cx="0" cy="816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54939F24-F9D4-4B9A-A995-C1AF41486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1253"/>
              <a:ext cx="544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  <a:r>
                <a:rPr lang="en-US" altLang="zh-CN" baseline="-25000" dirty="0"/>
                <a:t>21</a:t>
              </a:r>
            </a:p>
          </p:txBody>
        </p:sp>
        <p:sp>
          <p:nvSpPr>
            <p:cNvPr id="58" name="Text Box 30">
              <a:extLst>
                <a:ext uri="{FF2B5EF4-FFF2-40B4-BE49-F238E27FC236}">
                  <a16:creationId xmlns:a16="http://schemas.microsoft.com/office/drawing/2014/main" id="{77BF2A68-FB0B-4D15-B2B8-B08856BFA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888"/>
              <a:ext cx="499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  <a:r>
                <a:rPr lang="en-US" altLang="zh-CN" baseline="-25000" dirty="0"/>
                <a:t>22</a:t>
              </a:r>
            </a:p>
          </p:txBody>
        </p:sp>
        <p:sp>
          <p:nvSpPr>
            <p:cNvPr id="59" name="Text Box 31">
              <a:extLst>
                <a:ext uri="{FF2B5EF4-FFF2-40B4-BE49-F238E27FC236}">
                  <a16:creationId xmlns:a16="http://schemas.microsoft.com/office/drawing/2014/main" id="{041BF190-9B4C-4CD7-9104-76FD764BA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022"/>
              <a:ext cx="499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B</a:t>
              </a:r>
              <a:r>
                <a:rPr lang="en-US" altLang="zh-CN" baseline="-25000" dirty="0"/>
                <a:t>2s</a:t>
              </a:r>
            </a:p>
          </p:txBody>
        </p:sp>
        <p:sp>
          <p:nvSpPr>
            <p:cNvPr id="60" name="Text Box 35">
              <a:extLst>
                <a:ext uri="{FF2B5EF4-FFF2-40B4-BE49-F238E27FC236}">
                  <a16:creationId xmlns:a16="http://schemas.microsoft.com/office/drawing/2014/main" id="{78B21C3B-1DB4-47EC-94F8-B281740CD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334576">
              <a:off x="4292" y="1471"/>
              <a:ext cx="1459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72603"/>
                  </a:solidFill>
                </a:rPr>
                <a:t> B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2</a:t>
              </a:r>
              <a:r>
                <a:rPr lang="en-US" altLang="zh-CN" dirty="0">
                  <a:solidFill>
                    <a:srgbClr val="F72603"/>
                  </a:solidFill>
                </a:rPr>
                <a:t>=A</a:t>
              </a:r>
              <a:r>
                <a:rPr lang="en-US" altLang="zh-CN" baseline="-25000" dirty="0">
                  <a:solidFill>
                    <a:srgbClr val="F72603"/>
                  </a:solidFill>
                </a:rPr>
                <a:t>02</a:t>
              </a:r>
              <a:r>
                <a:rPr lang="en-US" altLang="zh-CN" dirty="0">
                  <a:solidFill>
                    <a:srgbClr val="F72603"/>
                  </a:solidFill>
                </a:rPr>
                <a:t> </a:t>
              </a:r>
              <a:r>
                <a:rPr lang="en-US" altLang="zh-CN" dirty="0">
                  <a:solidFill>
                    <a:srgbClr val="F72603"/>
                  </a:solidFill>
                  <a:sym typeface="Symbol" pitchFamily="18" charset="2"/>
                </a:rPr>
                <a:t>•</a:t>
              </a:r>
              <a:r>
                <a:rPr lang="en-US" altLang="zh-CN" dirty="0">
                  <a:solidFill>
                    <a:srgbClr val="F72603"/>
                  </a:solidFill>
                </a:rPr>
                <a:t> R</a:t>
              </a:r>
              <a:r>
                <a:rPr lang="en-US" altLang="zh-CN" baseline="-25000" dirty="0">
                  <a:solidFill>
                    <a:srgbClr val="F72603"/>
                  </a:solidFill>
                </a:rPr>
                <a:t>02</a:t>
              </a:r>
            </a:p>
          </p:txBody>
        </p:sp>
      </p:grpSp>
      <p:sp>
        <p:nvSpPr>
          <p:cNvPr id="61" name="Text Box 33">
            <a:extLst>
              <a:ext uri="{FF2B5EF4-FFF2-40B4-BE49-F238E27FC236}">
                <a16:creationId xmlns:a16="http://schemas.microsoft.com/office/drawing/2014/main" id="{C6244985-9486-4910-A3E4-C3F9857C2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6403" y="4073894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 dirty="0">
                <a:solidFill>
                  <a:srgbClr val="008000"/>
                </a:solidFill>
              </a:rPr>
              <a:t>A</a:t>
            </a:r>
            <a:r>
              <a:rPr lang="en-US" altLang="zh-CN" sz="2400" baseline="-25000" dirty="0">
                <a:solidFill>
                  <a:srgbClr val="008000"/>
                </a:solidFill>
              </a:rPr>
              <a:t>02</a:t>
            </a:r>
            <a:endParaRPr lang="en-US" altLang="zh-CN" sz="2400" dirty="0">
              <a:solidFill>
                <a:srgbClr val="008000"/>
              </a:solidFill>
            </a:endParaRPr>
          </a:p>
        </p:txBody>
      </p:sp>
      <p:sp>
        <p:nvSpPr>
          <p:cNvPr id="62" name="Rectangle 22">
            <a:extLst>
              <a:ext uri="{FF2B5EF4-FFF2-40B4-BE49-F238E27FC236}">
                <a16:creationId xmlns:a16="http://schemas.microsoft.com/office/drawing/2014/main" id="{CE0B967D-452C-4BC9-995D-6B6B5A3C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9583" y="3091403"/>
            <a:ext cx="865188" cy="1368425"/>
          </a:xfrm>
          <a:prstGeom prst="rect">
            <a:avLst/>
          </a:prstGeom>
          <a:noFill/>
          <a:ln w="3810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rgbClr val="FF00FF"/>
              </a:solidFill>
            </a:endParaRPr>
          </a:p>
        </p:txBody>
      </p:sp>
      <p:sp>
        <p:nvSpPr>
          <p:cNvPr id="63" name="Line 27">
            <a:extLst>
              <a:ext uri="{FF2B5EF4-FFF2-40B4-BE49-F238E27FC236}">
                <a16:creationId xmlns:a16="http://schemas.microsoft.com/office/drawing/2014/main" id="{E0F92BC2-126F-46A6-884D-747545015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2889" y="3809422"/>
            <a:ext cx="1871663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rgbClr val="FF00FF"/>
              </a:solidFill>
            </a:endParaRPr>
          </a:p>
        </p:txBody>
      </p:sp>
      <p:sp>
        <p:nvSpPr>
          <p:cNvPr id="64" name="Text Box 23">
            <a:extLst>
              <a:ext uri="{FF2B5EF4-FFF2-40B4-BE49-F238E27FC236}">
                <a16:creationId xmlns:a16="http://schemas.microsoft.com/office/drawing/2014/main" id="{AD9B2F7B-11B7-449F-93F7-AD82CE1C3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729" y="3461474"/>
            <a:ext cx="72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FF00FF"/>
                </a:solidFill>
              </a:rPr>
              <a:t>R</a:t>
            </a:r>
            <a:r>
              <a:rPr lang="en-US" altLang="zh-CN" sz="2800" baseline="-25000" dirty="0">
                <a:solidFill>
                  <a:srgbClr val="FF00FF"/>
                </a:solidFill>
              </a:rPr>
              <a:t>0</a:t>
            </a:r>
          </a:p>
        </p:txBody>
      </p:sp>
      <p:sp>
        <p:nvSpPr>
          <p:cNvPr id="66" name="Line 28">
            <a:extLst>
              <a:ext uri="{FF2B5EF4-FFF2-40B4-BE49-F238E27FC236}">
                <a16:creationId xmlns:a16="http://schemas.microsoft.com/office/drawing/2014/main" id="{20196526-3760-4CA0-9E5D-E96CB5B5E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0865" y="1793297"/>
            <a:ext cx="0" cy="1295400"/>
          </a:xfrm>
          <a:prstGeom prst="line">
            <a:avLst/>
          </a:prstGeom>
          <a:noFill/>
          <a:ln w="38100">
            <a:solidFill>
              <a:srgbClr val="80140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7" name="Text Box 33">
            <a:extLst>
              <a:ext uri="{FF2B5EF4-FFF2-40B4-BE49-F238E27FC236}">
                <a16:creationId xmlns:a16="http://schemas.microsoft.com/office/drawing/2014/main" id="{2E4186AC-8EF8-42CC-83A7-C015E5EB6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808" y="2230696"/>
            <a:ext cx="86518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2400" dirty="0">
                <a:solidFill>
                  <a:srgbClr val="00B0F0"/>
                </a:solidFill>
              </a:rPr>
              <a:t>A</a:t>
            </a:r>
            <a:r>
              <a:rPr lang="en-US" altLang="zh-CN" sz="2400" baseline="-25000" dirty="0">
                <a:solidFill>
                  <a:srgbClr val="00B0F0"/>
                </a:solidFill>
              </a:rPr>
              <a:t>00</a:t>
            </a:r>
            <a:endParaRPr lang="en-US" altLang="zh-CN" sz="2400" dirty="0">
              <a:solidFill>
                <a:srgbClr val="00B0F0"/>
              </a:solidFill>
            </a:endParaRPr>
          </a:p>
        </p:txBody>
      </p:sp>
      <p:sp>
        <p:nvSpPr>
          <p:cNvPr id="68" name="Text Box 35">
            <a:extLst>
              <a:ext uri="{FF2B5EF4-FFF2-40B4-BE49-F238E27FC236}">
                <a16:creationId xmlns:a16="http://schemas.microsoft.com/office/drawing/2014/main" id="{B8495BFC-17B8-4EC2-B9E7-0D10007FE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1453" y="3287078"/>
            <a:ext cx="17977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72603"/>
                </a:solidFill>
              </a:rPr>
              <a:t> </a:t>
            </a:r>
            <a:r>
              <a:rPr lang="en-US" altLang="zh-CN" sz="2400" dirty="0">
                <a:solidFill>
                  <a:srgbClr val="00B0F0"/>
                </a:solidFill>
              </a:rPr>
              <a:t>B=A</a:t>
            </a:r>
            <a:r>
              <a:rPr lang="en-US" altLang="zh-CN" sz="2400" baseline="-25000" dirty="0">
                <a:solidFill>
                  <a:srgbClr val="00B0F0"/>
                </a:solidFill>
              </a:rPr>
              <a:t>00</a:t>
            </a:r>
            <a:r>
              <a:rPr lang="en-US" altLang="zh-CN" sz="2400" dirty="0">
                <a:solidFill>
                  <a:srgbClr val="00B0F0"/>
                </a:solidFill>
              </a:rPr>
              <a:t> </a:t>
            </a:r>
            <a:r>
              <a:rPr lang="en-US" altLang="zh-CN" sz="2400" dirty="0">
                <a:solidFill>
                  <a:srgbClr val="00B0F0"/>
                </a:solidFill>
                <a:sym typeface="Symbol" pitchFamily="18" charset="2"/>
              </a:rPr>
              <a:t>•</a:t>
            </a:r>
            <a:r>
              <a:rPr lang="en-US" altLang="zh-CN" sz="2400" dirty="0">
                <a:solidFill>
                  <a:srgbClr val="00B0F0"/>
                </a:solidFill>
              </a:rPr>
              <a:t> R</a:t>
            </a:r>
            <a:r>
              <a:rPr lang="en-US" altLang="zh-CN" sz="2400" baseline="-250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69" name="Rectangle 2">
            <a:extLst>
              <a:ext uri="{FF2B5EF4-FFF2-40B4-BE49-F238E27FC236}">
                <a16:creationId xmlns:a16="http://schemas.microsoft.com/office/drawing/2014/main" id="{1071DF93-D0BF-40B0-82F4-32ABF9ADAA5E}"/>
              </a:ext>
            </a:extLst>
          </p:cNvPr>
          <p:cNvSpPr txBox="1">
            <a:spLocks noChangeArrowheads="1"/>
          </p:cNvSpPr>
          <p:nvPr/>
        </p:nvSpPr>
        <p:spPr>
          <a:xfrm>
            <a:off x="1758045" y="141094"/>
            <a:ext cx="8675911" cy="102711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kern="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三级</a:t>
            </a:r>
            <a:r>
              <a:rPr lang="en-US" altLang="zh-CN" kern="0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kern="0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综合评判过程图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7164DD-25BB-365B-056F-50C7DDDBC8E3}"/>
              </a:ext>
            </a:extLst>
          </p:cNvPr>
          <p:cNvSpPr txBox="1"/>
          <p:nvPr/>
        </p:nvSpPr>
        <p:spPr>
          <a:xfrm>
            <a:off x="-60920" y="5080333"/>
            <a:ext cx="2934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i="1" dirty="0">
                <a:solidFill>
                  <a:schemeClr val="accent5">
                    <a:lumMod val="75000"/>
                  </a:schemeClr>
                </a:solidFill>
              </a:rPr>
              <a:t>A</a:t>
            </a:r>
            <a:r>
              <a:rPr lang="en-US" altLang="zh-CN" baseline="-250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kumimoji="1" lang="en-US" altLang="zh-CN" b="1" dirty="0">
                <a:solidFill>
                  <a:schemeClr val="accent5">
                    <a:lumMod val="75000"/>
                  </a:schemeClr>
                </a:solidFill>
              </a:rPr>
              <a:t> = (0.4, 0.35, 0.15, 0.1),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1C339ED-E6B3-897D-E3AF-F2D6EB96718F}"/>
              </a:ext>
            </a:extLst>
          </p:cNvPr>
          <p:cNvSpPr txBox="1"/>
          <p:nvPr/>
        </p:nvSpPr>
        <p:spPr>
          <a:xfrm>
            <a:off x="65582" y="2360629"/>
            <a:ext cx="2588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i="1" dirty="0">
                <a:solidFill>
                  <a:srgbClr val="996633"/>
                </a:solidFill>
              </a:rPr>
              <a:t>A</a:t>
            </a:r>
            <a:r>
              <a:rPr lang="en-US" altLang="zh-CN" baseline="-25000" dirty="0">
                <a:solidFill>
                  <a:srgbClr val="996633"/>
                </a:solidFill>
              </a:rPr>
              <a:t>1</a:t>
            </a:r>
            <a:r>
              <a:rPr kumimoji="1" lang="en-US" altLang="zh-CN" b="1" dirty="0">
                <a:solidFill>
                  <a:srgbClr val="996633"/>
                </a:solidFill>
              </a:rPr>
              <a:t>= (0.1, 0.2, 0.3, 0.4)</a:t>
            </a:r>
            <a:endParaRPr lang="zh-CN" altLang="en-US" dirty="0">
              <a:solidFill>
                <a:srgbClr val="996633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4FF2C6-60F3-0373-BE9B-9BC3E2F8E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09BCC8-1BAB-40B2-A9B0-4BC2702202FC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sp>
        <p:nvSpPr>
          <p:cNvPr id="65" name="左大括号 64">
            <a:extLst>
              <a:ext uri="{FF2B5EF4-FFF2-40B4-BE49-F238E27FC236}">
                <a16:creationId xmlns:a16="http://schemas.microsoft.com/office/drawing/2014/main" id="{3CA18427-370E-B4E8-B0D9-DBCDE6A109E3}"/>
              </a:ext>
            </a:extLst>
          </p:cNvPr>
          <p:cNvSpPr/>
          <p:nvPr/>
        </p:nvSpPr>
        <p:spPr bwMode="auto">
          <a:xfrm>
            <a:off x="2585036" y="1536607"/>
            <a:ext cx="313866" cy="2183844"/>
          </a:xfrm>
          <a:prstGeom prst="leftBrace">
            <a:avLst/>
          </a:prstGeom>
          <a:ln>
            <a:solidFill>
              <a:srgbClr val="996633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1" name="左大括号 70">
            <a:extLst>
              <a:ext uri="{FF2B5EF4-FFF2-40B4-BE49-F238E27FC236}">
                <a16:creationId xmlns:a16="http://schemas.microsoft.com/office/drawing/2014/main" id="{2C6C82BD-3D01-959B-9A07-397FF6435738}"/>
              </a:ext>
            </a:extLst>
          </p:cNvPr>
          <p:cNvSpPr/>
          <p:nvPr/>
        </p:nvSpPr>
        <p:spPr bwMode="auto">
          <a:xfrm>
            <a:off x="2583371" y="4414007"/>
            <a:ext cx="344277" cy="2106070"/>
          </a:xfrm>
          <a:prstGeom prst="leftBrace">
            <a:avLst/>
          </a:prstGeom>
          <a:ln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2" name="TextBox 2">
            <a:extLst>
              <a:ext uri="{FF2B5EF4-FFF2-40B4-BE49-F238E27FC236}">
                <a16:creationId xmlns:a16="http://schemas.microsoft.com/office/drawing/2014/main" id="{664AE231-6B65-1474-525F-ABB86CE341AE}"/>
              </a:ext>
            </a:extLst>
          </p:cNvPr>
          <p:cNvSpPr txBox="1"/>
          <p:nvPr/>
        </p:nvSpPr>
        <p:spPr>
          <a:xfrm>
            <a:off x="3310004" y="965285"/>
            <a:ext cx="2016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一级</a:t>
            </a:r>
            <a:r>
              <a:rPr lang="en-US" altLang="zh-CN" sz="2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zh-CN" altLang="en-US" sz="2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综合评判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4FE4505-5EBC-E432-5FB8-11C4CFA11AA9}"/>
              </a:ext>
            </a:extLst>
          </p:cNvPr>
          <p:cNvSpPr txBox="1"/>
          <p:nvPr/>
        </p:nvSpPr>
        <p:spPr>
          <a:xfrm>
            <a:off x="5735960" y="6053356"/>
            <a:ext cx="1872509" cy="39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</a:rPr>
              <a:t>二级</a:t>
            </a:r>
            <a:r>
              <a:rPr lang="en-US" altLang="zh-CN" sz="20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</a:rPr>
              <a:t>综合评判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905670B-47C9-2516-36EA-29E173E79CEA}"/>
              </a:ext>
            </a:extLst>
          </p:cNvPr>
          <p:cNvSpPr txBox="1"/>
          <p:nvPr/>
        </p:nvSpPr>
        <p:spPr>
          <a:xfrm>
            <a:off x="7799420" y="4653572"/>
            <a:ext cx="1872509" cy="39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C00CC"/>
                </a:solidFill>
                <a:ea typeface="黑体" pitchFamily="2" charset="-122"/>
              </a:rPr>
              <a:t>三级</a:t>
            </a:r>
            <a:r>
              <a:rPr lang="en-US" altLang="zh-CN" sz="2000" dirty="0">
                <a:solidFill>
                  <a:srgbClr val="CC00CC"/>
                </a:solidFill>
                <a:ea typeface="黑体" pitchFamily="2" charset="-122"/>
              </a:rPr>
              <a:t>F</a:t>
            </a:r>
            <a:r>
              <a:rPr lang="zh-CN" altLang="en-US" sz="2000" dirty="0">
                <a:solidFill>
                  <a:srgbClr val="CC00CC"/>
                </a:solidFill>
                <a:ea typeface="黑体" pitchFamily="2" charset="-122"/>
              </a:rPr>
              <a:t>综合评判</a:t>
            </a:r>
            <a:endParaRPr lang="zh-CN" altLang="en-US" sz="2000" dirty="0">
              <a:solidFill>
                <a:srgbClr val="CC00CC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F45D95E-AD4C-1859-C74B-3F5B1BA84051}"/>
              </a:ext>
            </a:extLst>
          </p:cNvPr>
          <p:cNvSpPr txBox="1"/>
          <p:nvPr/>
        </p:nvSpPr>
        <p:spPr>
          <a:xfrm>
            <a:off x="5725764" y="3177362"/>
            <a:ext cx="1872509" cy="39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</a:rPr>
              <a:t>二级</a:t>
            </a:r>
            <a:r>
              <a:rPr lang="en-US" altLang="zh-CN" sz="2000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sz="2000" dirty="0">
                <a:solidFill>
                  <a:srgbClr val="FF0000"/>
                </a:solidFill>
                <a:ea typeface="黑体" pitchFamily="2" charset="-122"/>
              </a:rPr>
              <a:t>综合评判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105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多层次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综合评判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412776"/>
            <a:ext cx="10369152" cy="5472608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 dirty="0">
                <a:ea typeface="黑体" pitchFamily="2" charset="-122"/>
              </a:rPr>
              <a:t>在复杂系统中，评判因素很多，而每个因素都要赋予一定的权数，必然存在以下问题：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权数难以恰当分配</a:t>
            </a:r>
          </a:p>
          <a:p>
            <a:pPr lvl="2" eaLnBrk="1" hangingPunct="1">
              <a:lnSpc>
                <a:spcPct val="105000"/>
              </a:lnSpc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因为分配权数主要靠主观判断，当因素太多时，很难判断准确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得不到有意义的评判结果</a:t>
            </a:r>
          </a:p>
          <a:p>
            <a:pPr lvl="2" eaLnBrk="1" hangingPunct="1">
              <a:lnSpc>
                <a:spcPct val="105000"/>
              </a:lnSpc>
            </a:pPr>
            <a:r>
              <a:rPr lang="zh-CN" altLang="en-US" sz="2800" b="1" dirty="0">
                <a:ea typeface="华文楷体" pitchFamily="2" charset="-122"/>
              </a:rPr>
              <a:t>若因素</a:t>
            </a:r>
            <a:r>
              <a:rPr lang="en-US" altLang="zh-CN" sz="2800" b="1" i="1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&gt;10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，其中会有多数</a:t>
            </a:r>
            <a:r>
              <a:rPr lang="en-US" altLang="zh-CN" sz="2800" b="1" i="1" dirty="0" err="1">
                <a:solidFill>
                  <a:srgbClr val="CC00CC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CC00CC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&lt;0.1</a:t>
            </a:r>
            <a:r>
              <a:rPr lang="zh-CN" altLang="en-US" sz="2800" b="1" dirty="0">
                <a:ea typeface="华文楷体" pitchFamily="2" charset="-122"/>
              </a:rPr>
              <a:t>，在使用</a:t>
            </a:r>
            <a:r>
              <a:rPr lang="en-US" altLang="zh-CN" sz="2800" b="1" dirty="0">
                <a:ea typeface="华文楷体" pitchFamily="2" charset="-122"/>
              </a:rPr>
              <a:t>F</a:t>
            </a:r>
            <a:r>
              <a:rPr lang="zh-CN" altLang="en-US" sz="2800" b="1" dirty="0">
                <a:ea typeface="华文楷体" pitchFamily="2" charset="-122"/>
              </a:rPr>
              <a:t>变换等一类突出主因素方法时，在“</a:t>
            </a:r>
            <a:r>
              <a:rPr lang="zh-CN" altLang="en-US" sz="2800" b="1" dirty="0">
                <a:solidFill>
                  <a:srgbClr val="9966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楷体" pitchFamily="2" charset="-122"/>
              </a:rPr>
              <a:t>∧</a:t>
            </a:r>
            <a:r>
              <a:rPr lang="zh-CN" altLang="en-US" sz="2800" b="1" dirty="0">
                <a:ea typeface="华文楷体" pitchFamily="2" charset="-122"/>
              </a:rPr>
              <a:t>”运算后，微小的权数会“</a:t>
            </a:r>
            <a:r>
              <a:rPr lang="zh-CN" altLang="en-US" sz="2800" b="1" dirty="0">
                <a:solidFill>
                  <a:srgbClr val="008000"/>
                </a:solidFill>
                <a:ea typeface="华文楷体" pitchFamily="2" charset="-122"/>
              </a:rPr>
              <a:t>淹没</a:t>
            </a:r>
            <a:r>
              <a:rPr lang="zh-CN" altLang="en-US" sz="2800" b="1" dirty="0">
                <a:ea typeface="华文楷体" pitchFamily="2" charset="-122"/>
              </a:rPr>
              <a:t>”多数评价因素值，这样就无法求出解答</a:t>
            </a:r>
          </a:p>
          <a:p>
            <a:pPr eaLnBrk="1" hangingPunct="1">
              <a:lnSpc>
                <a:spcPct val="105000"/>
              </a:lnSpc>
            </a:pP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对这类问题可把因素按特点分成多个层次，先在低层次内进行综合评判，再对评判结果进行高层次的综合评判。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A87177-2006-1F18-70EA-234A7DC45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7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7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7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7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综合评判引例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844676"/>
            <a:ext cx="10225136" cy="475297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评判一批产品的质量，有</a:t>
            </a:r>
            <a:r>
              <a:rPr lang="en-US" altLang="zh-CN" dirty="0">
                <a:ea typeface="黑体" pitchFamily="2" charset="-122"/>
              </a:rPr>
              <a:t>9</a:t>
            </a:r>
            <a:r>
              <a:rPr lang="zh-CN" altLang="en-US" dirty="0">
                <a:ea typeface="黑体" pitchFamily="2" charset="-122"/>
              </a:rPr>
              <a:t>项基本因素。用一层综合评判模型</a:t>
            </a:r>
            <a:r>
              <a:rPr lang="en-US" altLang="zh-CN" dirty="0">
                <a:ea typeface="黑体" pitchFamily="2" charset="-122"/>
              </a:rPr>
              <a:t>M</a:t>
            </a:r>
            <a:r>
              <a:rPr lang="zh-CN" altLang="en-US" dirty="0">
                <a:ea typeface="黑体" pitchFamily="2" charset="-122"/>
              </a:rPr>
              <a:t>（∧，∨）对其评判。</a:t>
            </a:r>
          </a:p>
          <a:p>
            <a:pPr eaLnBrk="1" hangingPunct="1"/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因素集 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={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,…,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9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}</a:t>
            </a:r>
          </a:p>
          <a:p>
            <a:pPr lvl="1" eaLnBrk="1" hangingPunct="1"/>
            <a:r>
              <a:rPr kumimoji="1" lang="zh-CN" altLang="en-US" dirty="0">
                <a:ea typeface="黑体" pitchFamily="2" charset="-122"/>
              </a:rPr>
              <a:t>由评判专家、客户、质检员组成评判小组</a:t>
            </a:r>
          </a:p>
          <a:p>
            <a:pPr eaLnBrk="1" hangingPunct="1"/>
            <a:r>
              <a:rPr kumimoji="1" lang="zh-CN" altLang="en-US" dirty="0">
                <a:solidFill>
                  <a:srgbClr val="008000"/>
                </a:solidFill>
                <a:ea typeface="黑体" pitchFamily="2" charset="-122"/>
              </a:rPr>
              <a:t>评语集  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V={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4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}</a:t>
            </a:r>
          </a:p>
          <a:p>
            <a:pPr lvl="1" eaLnBrk="1" hangingPunct="1"/>
            <a:r>
              <a:rPr kumimoji="1" lang="zh-CN" altLang="en-US" dirty="0">
                <a:ea typeface="黑体" pitchFamily="2" charset="-122"/>
              </a:rPr>
              <a:t>其中， 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1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一等品，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2 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二等品，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3 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次品，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4 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废品</a:t>
            </a:r>
          </a:p>
          <a:p>
            <a:pPr eaLnBrk="1" hangingPunct="1"/>
            <a:r>
              <a:rPr kumimoji="1" lang="zh-CN" altLang="en-US" dirty="0">
                <a:solidFill>
                  <a:srgbClr val="F72603"/>
                </a:solidFill>
                <a:ea typeface="黑体" pitchFamily="2" charset="-122"/>
              </a:rPr>
              <a:t>权重向量</a:t>
            </a:r>
            <a:r>
              <a:rPr kumimoji="1" lang="en-US" altLang="zh-CN" dirty="0">
                <a:solidFill>
                  <a:srgbClr val="F72603"/>
                </a:solidFill>
                <a:ea typeface="黑体" pitchFamily="2" charset="-122"/>
              </a:rPr>
              <a:t>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en-US" altLang="zh-CN" sz="2800" dirty="0"/>
              <a:t>A=(0.1,0.12,0.07,0.07,0.16,0.10,0.10,0.10,0.18)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2A9B9B-B8C5-A038-0529-38B52AE834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8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8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8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8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8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综合评判引例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7" y="1700214"/>
            <a:ext cx="5256908" cy="475297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评判矩阵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R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由专家、客户和质检员打分</a:t>
            </a:r>
          </a:p>
          <a:p>
            <a:pPr eaLnBrk="1" hangingPunct="1"/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变换</a:t>
            </a:r>
            <a:endParaRPr lang="zh-CN" altLang="en-US" sz="2800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zh-CN" altLang="en-US" sz="1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 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B=A </a:t>
            </a:r>
            <a:r>
              <a:rPr lang="en-US" altLang="zh-CN" b="1" dirty="0"/>
              <a:t>◦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   =(</a:t>
            </a:r>
            <a:r>
              <a:rPr lang="en-US" altLang="zh-CN" dirty="0">
                <a:solidFill>
                  <a:schemeClr val="bg2"/>
                </a:solidFill>
              </a:rPr>
              <a:t>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2 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,b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3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b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2" charset="-122"/>
              </a:rPr>
              <a:t>4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    =(0.18,0.18,0.18,0.18)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 </a:t>
            </a:r>
          </a:p>
        </p:txBody>
      </p:sp>
      <p:graphicFrame>
        <p:nvGraphicFramePr>
          <p:cNvPr id="20992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152098405"/>
              </p:ext>
            </p:extLst>
          </p:nvPr>
        </p:nvGraphicFramePr>
        <p:xfrm>
          <a:off x="6930257" y="2060576"/>
          <a:ext cx="3781425" cy="380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930400" imgH="2057400" progId="Equation.3">
                  <p:embed/>
                </p:oleObj>
              </mc:Choice>
              <mc:Fallback>
                <p:oleObj name="公式" r:id="rId3" imgW="1930400" imgH="2057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257" y="2060576"/>
                        <a:ext cx="3781425" cy="380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Text Box 6"/>
          <p:cNvSpPr txBox="1">
            <a:spLocks noChangeArrowheads="1"/>
          </p:cNvSpPr>
          <p:nvPr/>
        </p:nvSpPr>
        <p:spPr bwMode="auto">
          <a:xfrm>
            <a:off x="7573194" y="1484313"/>
            <a:ext cx="3167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209927" name="Text Box 7"/>
          <p:cNvSpPr txBox="1">
            <a:spLocks noChangeArrowheads="1"/>
          </p:cNvSpPr>
          <p:nvPr/>
        </p:nvSpPr>
        <p:spPr bwMode="auto">
          <a:xfrm>
            <a:off x="7500168" y="1557339"/>
            <a:ext cx="3240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i="1" dirty="0">
                <a:solidFill>
                  <a:srgbClr val="008000"/>
                </a:solidFill>
              </a:rPr>
              <a:t>    v</a:t>
            </a:r>
            <a:r>
              <a:rPr kumimoji="1" lang="en-US" altLang="zh-CN" sz="2000" baseline="-25000" dirty="0">
                <a:solidFill>
                  <a:srgbClr val="008000"/>
                </a:solidFill>
              </a:rPr>
              <a:t>1</a:t>
            </a:r>
            <a:r>
              <a:rPr kumimoji="1" lang="en-US" altLang="zh-CN" sz="2000" dirty="0">
                <a:solidFill>
                  <a:srgbClr val="008000"/>
                </a:solidFill>
              </a:rPr>
              <a:t>       </a:t>
            </a:r>
            <a:r>
              <a:rPr kumimoji="1" lang="en-US" altLang="zh-CN" sz="2000" i="1" dirty="0">
                <a:solidFill>
                  <a:srgbClr val="008000"/>
                </a:solidFill>
              </a:rPr>
              <a:t>v</a:t>
            </a:r>
            <a:r>
              <a:rPr kumimoji="1" lang="en-US" altLang="zh-CN" sz="2000" baseline="-25000" dirty="0">
                <a:solidFill>
                  <a:srgbClr val="008000"/>
                </a:solidFill>
              </a:rPr>
              <a:t>2</a:t>
            </a:r>
            <a:r>
              <a:rPr kumimoji="1" lang="en-US" altLang="zh-CN" sz="2000" dirty="0">
                <a:solidFill>
                  <a:srgbClr val="008000"/>
                </a:solidFill>
              </a:rPr>
              <a:t>        </a:t>
            </a:r>
            <a:r>
              <a:rPr kumimoji="1" lang="en-US" altLang="zh-CN" sz="2000" i="1" dirty="0">
                <a:solidFill>
                  <a:srgbClr val="008000"/>
                </a:solidFill>
              </a:rPr>
              <a:t>v</a:t>
            </a:r>
            <a:r>
              <a:rPr kumimoji="1" lang="en-US" altLang="zh-CN" sz="2000" baseline="-25000" dirty="0">
                <a:solidFill>
                  <a:srgbClr val="008000"/>
                </a:solidFill>
              </a:rPr>
              <a:t>3 </a:t>
            </a:r>
            <a:r>
              <a:rPr kumimoji="1" lang="en-US" altLang="zh-CN" sz="2000" dirty="0">
                <a:solidFill>
                  <a:srgbClr val="008000"/>
                </a:solidFill>
              </a:rPr>
              <a:t>       </a:t>
            </a:r>
            <a:r>
              <a:rPr kumimoji="1" lang="en-US" altLang="zh-CN" sz="2000" i="1" dirty="0">
                <a:solidFill>
                  <a:srgbClr val="008000"/>
                </a:solidFill>
              </a:rPr>
              <a:t>v</a:t>
            </a:r>
            <a:r>
              <a:rPr kumimoji="1" lang="en-US" altLang="zh-CN" sz="2000" baseline="-25000" dirty="0">
                <a:solidFill>
                  <a:srgbClr val="008000"/>
                </a:solidFill>
              </a:rPr>
              <a:t>4</a:t>
            </a:r>
          </a:p>
        </p:txBody>
      </p:sp>
      <p:sp>
        <p:nvSpPr>
          <p:cNvPr id="209928" name="Text Box 8"/>
          <p:cNvSpPr txBox="1">
            <a:spLocks noChangeArrowheads="1"/>
          </p:cNvSpPr>
          <p:nvPr/>
        </p:nvSpPr>
        <p:spPr bwMode="auto">
          <a:xfrm>
            <a:off x="10668818" y="1916113"/>
            <a:ext cx="539750" cy="409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2</a:t>
            </a:r>
            <a:endParaRPr kumimoji="1" lang="en-US" altLang="zh-CN" sz="20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3</a:t>
            </a:r>
            <a:endParaRPr kumimoji="1" lang="en-US" altLang="zh-CN" sz="2000" i="1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4</a:t>
            </a:r>
            <a:endParaRPr kumimoji="1" lang="en-US" altLang="zh-CN" sz="20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5</a:t>
            </a:r>
            <a:endParaRPr kumimoji="1" lang="en-US" altLang="zh-CN" sz="2000" i="1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6</a:t>
            </a:r>
            <a:endParaRPr kumimoji="1" lang="en-US" altLang="zh-CN" sz="20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7</a:t>
            </a:r>
            <a:endParaRPr kumimoji="1" lang="en-US" altLang="zh-CN" sz="20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8</a:t>
            </a:r>
            <a:endParaRPr kumimoji="1" lang="en-US" altLang="zh-CN" sz="2000" i="1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solidFill>
                  <a:srgbClr val="3333FF"/>
                </a:solidFill>
              </a:rPr>
              <a:t>u</a:t>
            </a:r>
            <a:r>
              <a:rPr kumimoji="1" lang="en-US" altLang="zh-CN" sz="2000" baseline="-25000">
                <a:solidFill>
                  <a:srgbClr val="3333FF"/>
                </a:solidFill>
              </a:rPr>
              <a:t>9</a:t>
            </a:r>
            <a:endParaRPr kumimoji="1" lang="en-US" altLang="zh-CN" sz="2000">
              <a:solidFill>
                <a:srgbClr val="3333FF"/>
              </a:solidFill>
            </a:endParaRPr>
          </a:p>
        </p:txBody>
      </p:sp>
      <p:graphicFrame>
        <p:nvGraphicFramePr>
          <p:cNvPr id="209929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951067817"/>
              </p:ext>
            </p:extLst>
          </p:nvPr>
        </p:nvGraphicFramePr>
        <p:xfrm>
          <a:off x="2020886" y="3402391"/>
          <a:ext cx="40957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03400" imgH="368300" progId="Equation.3">
                  <p:embed/>
                </p:oleObj>
              </mc:Choice>
              <mc:Fallback>
                <p:oleObj name="公式" r:id="rId5" imgW="1803400" imgH="368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6" y="3402391"/>
                        <a:ext cx="409575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590990" y="6218239"/>
            <a:ext cx="6697698" cy="46166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/>
              <a:t> A=(0.1,0.12,0.07,0.07,0.16,0.10,0.10,0.10,0.18)</a:t>
            </a:r>
            <a:endParaRPr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0FAAAF-B2B8-4AFC-676B-B6F13CE97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2E9B5D0-AACF-EB34-719A-F9069DE1C267}"/>
              </a:ext>
            </a:extLst>
          </p:cNvPr>
          <p:cNvGrpSpPr/>
          <p:nvPr/>
        </p:nvGrpSpPr>
        <p:grpSpPr>
          <a:xfrm rot="438173">
            <a:off x="5708001" y="4062432"/>
            <a:ext cx="4248472" cy="2112169"/>
            <a:chOff x="3575720" y="3963194"/>
            <a:chExt cx="4248472" cy="2112169"/>
          </a:xfrm>
        </p:grpSpPr>
        <p:sp>
          <p:nvSpPr>
            <p:cNvPr id="4" name="爆炸形: 14 pt  3">
              <a:extLst>
                <a:ext uri="{FF2B5EF4-FFF2-40B4-BE49-F238E27FC236}">
                  <a16:creationId xmlns:a16="http://schemas.microsoft.com/office/drawing/2014/main" id="{F6CFE181-B441-1A26-2EBB-CB0281D322DA}"/>
                </a:ext>
              </a:extLst>
            </p:cNvPr>
            <p:cNvSpPr/>
            <p:nvPr/>
          </p:nvSpPr>
          <p:spPr bwMode="auto">
            <a:xfrm>
              <a:off x="3575720" y="3963194"/>
              <a:ext cx="4248472" cy="2112169"/>
            </a:xfrm>
            <a:prstGeom prst="irregularSeal2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9931" name="Text Box 11"/>
            <p:cNvSpPr txBox="1">
              <a:spLocks noChangeArrowheads="1"/>
            </p:cNvSpPr>
            <p:nvPr/>
          </p:nvSpPr>
          <p:spPr bwMode="auto">
            <a:xfrm rot="19999017">
              <a:off x="4264125" y="4789877"/>
              <a:ext cx="2484735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FFFF00"/>
                  </a:solidFill>
                  <a:ea typeface="楷体_GB2312" pitchFamily="49" charset="-122"/>
                </a:rPr>
                <a:t>无法给出答案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9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9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9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9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7" grpId="0"/>
      <p:bldP spid="209928" grpId="0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综合评判的步骤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9" y="1600200"/>
            <a:ext cx="9145266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Clr>
                <a:schemeClr val="tx1"/>
              </a:buClr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因素分类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n"/>
            </a:pPr>
            <a:r>
              <a:rPr lang="zh-CN" altLang="en-US" b="1" dirty="0">
                <a:ea typeface="楷体_GB2312" pitchFamily="49" charset="-122"/>
              </a:rPr>
              <a:t>将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因素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={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,…, 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按某种属性划分为</a:t>
            </a: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类</a:t>
            </a:r>
            <a:r>
              <a:rPr kumimoji="1" lang="zh-CN" altLang="en-US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kumimoji="1"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en-US" altLang="zh-CN" sz="3200" i="1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kumimoji="1" lang="en-US" altLang="zh-CN" sz="3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i="1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3200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CN" sz="3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i="1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3200" baseline="-25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kumimoji="1" lang="en-US" altLang="zh-CN" sz="3200" i="1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3200" i="1" baseline="-250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3200" i="1" baseline="-250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3200" i="1" baseline="-40000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3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1"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, </a:t>
            </a:r>
            <a:r>
              <a:rPr kumimoji="1" lang="en-US" altLang="zh-CN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=1,2,…,s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Font typeface="Wingdings" pitchFamily="2" charset="2"/>
              <a:buChar char="n"/>
            </a:pPr>
            <a:r>
              <a:rPr kumimoji="1" lang="zh-CN" altLang="en-US" b="1" dirty="0">
                <a:solidFill>
                  <a:srgbClr val="3333FF"/>
                </a:solidFill>
                <a:ea typeface="楷体_GB2312" pitchFamily="49" charset="-122"/>
              </a:rPr>
              <a:t>它满足条件：</a:t>
            </a:r>
          </a:p>
          <a:p>
            <a:pPr marL="1428750" lvl="2" indent="-514350" eaLnBrk="1" hangingPunct="1">
              <a:lnSpc>
                <a:spcPct val="11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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1428750" lvl="2" indent="-514350" eaLnBrk="1" hangingPunct="1">
              <a:lnSpc>
                <a:spcPct val="11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kumimoji="1" lang="en-US" altLang="zh-CN" sz="2800" b="1" i="1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 eaLnBrk="1" hangingPunct="1">
              <a:lnSpc>
                <a:spcPct val="11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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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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marL="1428750" lvl="2" indent="-514350" eaLnBrk="1" hangingPunct="1">
              <a:lnSpc>
                <a:spcPct val="110000"/>
              </a:lnSpc>
              <a:buClr>
                <a:schemeClr val="tx1"/>
              </a:buClr>
              <a:buFont typeface="+mj-ea"/>
              <a:buAutoNum type="circleNumDbPlain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CN" sz="2800" b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j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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10000"/>
              </a:lnSpc>
              <a:buClr>
                <a:schemeClr val="tx1"/>
              </a:buClr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建立评语集</a:t>
            </a:r>
            <a:r>
              <a:rPr kumimoji="1" lang="en-US" altLang="zh-CN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V={</a:t>
            </a:r>
            <a:r>
              <a:rPr kumimoji="1" lang="en-US" altLang="zh-CN" i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i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v</a:t>
            </a:r>
            <a:r>
              <a:rPr kumimoji="1" lang="en-US" altLang="zh-CN" baseline="-250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, …,</a:t>
            </a:r>
            <a:r>
              <a:rPr kumimoji="1" lang="en-US" altLang="zh-CN" i="1" dirty="0" err="1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v</a:t>
            </a:r>
            <a:r>
              <a:rPr kumimoji="1" lang="en-US" altLang="zh-CN" i="1" baseline="-25000" dirty="0" err="1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p</a:t>
            </a:r>
            <a:r>
              <a:rPr kumimoji="1" lang="en-US" altLang="zh-CN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AAF18E-0199-5486-2FC2-A2657576FC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综合评判的步骤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28776"/>
            <a:ext cx="10081120" cy="5229225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zh-CN" altLang="en-US" sz="3600" dirty="0">
                <a:solidFill>
                  <a:srgbClr val="F72603"/>
                </a:solidFill>
                <a:ea typeface="黑体" pitchFamily="2" charset="-122"/>
              </a:rPr>
              <a:t>建立权重集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r>
              <a:rPr lang="zh-CN" altLang="en-US" sz="3200" dirty="0">
                <a:solidFill>
                  <a:srgbClr val="3333FF"/>
                </a:solidFill>
                <a:ea typeface="黑体" pitchFamily="2" charset="-122"/>
              </a:rPr>
              <a:t>因素类权重集</a:t>
            </a:r>
          </a:p>
          <a:p>
            <a:pPr lvl="2" eaLnBrk="1" hangingPunct="1">
              <a:buClr>
                <a:schemeClr val="tx1"/>
              </a:buClr>
            </a:pPr>
            <a:r>
              <a:rPr lang="zh-CN" altLang="en-US" sz="2800" b="1" dirty="0">
                <a:ea typeface="楷体_GB2312" pitchFamily="49" charset="-122"/>
              </a:rPr>
              <a:t>设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第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类因素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的权数为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=1,2,…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  <a:r>
              <a:rPr lang="zh-CN" altLang="en-US" sz="2800" b="1" dirty="0">
                <a:ea typeface="楷体_GB2312" pitchFamily="49" charset="-122"/>
              </a:rPr>
              <a:t>，则因素类权重集为</a:t>
            </a:r>
          </a:p>
          <a:p>
            <a:pPr lvl="2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solidFill>
                  <a:srgbClr val="F726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b="1" i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=( </a:t>
            </a:r>
            <a:r>
              <a:rPr lang="en-US" altLang="zh-CN" sz="2800" b="1" i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…, </a:t>
            </a:r>
            <a:r>
              <a:rPr lang="en-US" altLang="zh-CN" sz="2800" b="1" i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72603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r>
              <a:rPr lang="zh-CN" altLang="en-US" sz="3200" dirty="0">
                <a:solidFill>
                  <a:srgbClr val="008000"/>
                </a:solidFill>
                <a:ea typeface="黑体" pitchFamily="2" charset="-122"/>
              </a:rPr>
              <a:t>因素权重集</a:t>
            </a:r>
          </a:p>
          <a:p>
            <a:pPr lvl="2" eaLnBrk="1" hangingPunct="1">
              <a:buClr>
                <a:schemeClr val="tx1"/>
              </a:buClr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设第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类中的第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个因素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的权数为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ij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，则第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类因素中各因素的权重集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</a:t>
            </a:r>
          </a:p>
          <a:p>
            <a:pPr lvl="2"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=(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…,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800" b="1" i="1" baseline="-40000" dirty="0" err="1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40000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),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=1,2,…,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6A7759C-84C7-7019-D82F-86E729876A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6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32656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综合评判的步骤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268760"/>
            <a:ext cx="10153128" cy="5300662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第一层综合评判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r>
              <a:rPr lang="zh-CN" altLang="en-US" dirty="0">
                <a:ea typeface="黑体" pitchFamily="2" charset="-122"/>
              </a:rPr>
              <a:t>对每一类和各个因素进行综合评判，设第</a:t>
            </a:r>
            <a:r>
              <a:rPr lang="en-US" altLang="zh-CN" i="1" dirty="0">
                <a:ea typeface="黑体" pitchFamily="2" charset="-122"/>
              </a:rPr>
              <a:t>i </a:t>
            </a:r>
            <a:r>
              <a:rPr lang="zh-CN" altLang="en-US" dirty="0">
                <a:ea typeface="黑体" pitchFamily="2" charset="-122"/>
              </a:rPr>
              <a:t>类因素一级综合评判的综合评判矩阵为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endParaRPr lang="zh-CN" altLang="en-US" dirty="0">
              <a:ea typeface="黑体" pitchFamily="2" charset="-122"/>
            </a:endParaRP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endParaRPr lang="zh-CN" altLang="en-US" dirty="0"/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endParaRPr lang="zh-CN" altLang="en-US" dirty="0"/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endParaRPr lang="zh-CN" altLang="en-US" dirty="0"/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endParaRPr lang="zh-CN" altLang="en-US" sz="4400" dirty="0"/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n"/>
            </a:pPr>
            <a:r>
              <a:rPr lang="zh-CN" altLang="en-US" dirty="0">
                <a:ea typeface="黑体" pitchFamily="2" charset="-122"/>
              </a:rPr>
              <a:t>第</a:t>
            </a:r>
            <a:r>
              <a:rPr lang="en-US" altLang="zh-CN" dirty="0" err="1">
                <a:ea typeface="黑体" pitchFamily="2" charset="-122"/>
              </a:rPr>
              <a:t>i</a:t>
            </a:r>
            <a:r>
              <a:rPr lang="zh-CN" altLang="en-US" dirty="0">
                <a:ea typeface="黑体" pitchFamily="2" charset="-122"/>
              </a:rPr>
              <a:t>类因素的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综合评判为</a:t>
            </a:r>
          </a:p>
          <a:p>
            <a:pPr lvl="1" eaLnBrk="1" hangingPunct="1">
              <a:buClr>
                <a:schemeClr val="tx1"/>
              </a:buClr>
              <a:buNone/>
            </a:pPr>
            <a:r>
              <a:rPr lang="zh-CN" altLang="en-US" dirty="0"/>
              <a:t>   </a:t>
            </a:r>
            <a:r>
              <a:rPr lang="en-US" altLang="zh-CN" i="1" dirty="0">
                <a:solidFill>
                  <a:srgbClr val="F72603"/>
                </a:solidFill>
              </a:rPr>
              <a:t>B</a:t>
            </a:r>
            <a:r>
              <a:rPr lang="en-US" altLang="zh-CN" i="1" baseline="-25000" dirty="0">
                <a:solidFill>
                  <a:srgbClr val="F72603"/>
                </a:solidFill>
              </a:rPr>
              <a:t>i</a:t>
            </a:r>
            <a:r>
              <a:rPr lang="en-US" altLang="zh-CN" dirty="0">
                <a:solidFill>
                  <a:srgbClr val="F72603"/>
                </a:solidFill>
              </a:rPr>
              <a:t>=</a:t>
            </a:r>
            <a:r>
              <a:rPr lang="en-US" altLang="zh-CN" i="1" dirty="0">
                <a:solidFill>
                  <a:srgbClr val="F72603"/>
                </a:solidFill>
              </a:rPr>
              <a:t>A</a:t>
            </a:r>
            <a:r>
              <a:rPr lang="en-US" altLang="zh-CN" i="1" baseline="-25000" dirty="0">
                <a:solidFill>
                  <a:srgbClr val="F72603"/>
                </a:solidFill>
              </a:rPr>
              <a:t>i</a:t>
            </a:r>
            <a:r>
              <a:rPr lang="en-US" altLang="zh-CN" dirty="0">
                <a:solidFill>
                  <a:srgbClr val="F72603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en-US" altLang="zh-CN" i="1" baseline="-250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s</a:t>
            </a:r>
            <a:r>
              <a:rPr lang="en-US" altLang="zh-CN" dirty="0">
                <a:solidFill>
                  <a:srgbClr val="F72603"/>
                </a:solidFill>
              </a:rPr>
              <a:t> </a:t>
            </a:r>
            <a:r>
              <a:rPr lang="en-US" altLang="zh-CN" i="1" dirty="0" err="1">
                <a:solidFill>
                  <a:srgbClr val="F72603"/>
                </a:solidFill>
              </a:rPr>
              <a:t>R</a:t>
            </a:r>
            <a:r>
              <a:rPr lang="en-US" altLang="zh-CN" i="1" baseline="-25000" dirty="0" err="1">
                <a:solidFill>
                  <a:srgbClr val="F72603"/>
                </a:solidFill>
              </a:rPr>
              <a:t>i</a:t>
            </a:r>
            <a:r>
              <a:rPr lang="en-US" altLang="zh-CN" dirty="0">
                <a:solidFill>
                  <a:srgbClr val="F72603"/>
                </a:solidFill>
              </a:rPr>
              <a:t> =(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 b</a:t>
            </a:r>
            <a:r>
              <a:rPr lang="en-US" altLang="zh-CN" baseline="-25000" dirty="0">
                <a:solidFill>
                  <a:srgbClr val="F72603"/>
                </a:solidFill>
                <a:ea typeface="黑体" pitchFamily="2" charset="-122"/>
              </a:rPr>
              <a:t>i1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，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b</a:t>
            </a:r>
            <a:r>
              <a:rPr lang="en-US" altLang="zh-CN" baseline="-25000" dirty="0">
                <a:solidFill>
                  <a:srgbClr val="F72603"/>
                </a:solidFill>
                <a:ea typeface="黑体" pitchFamily="2" charset="-122"/>
              </a:rPr>
              <a:t>i2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…,</a:t>
            </a:r>
            <a:r>
              <a:rPr lang="en-US" altLang="zh-CN" dirty="0" err="1">
                <a:solidFill>
                  <a:srgbClr val="F72603"/>
                </a:solidFill>
                <a:ea typeface="黑体" pitchFamily="2" charset="-122"/>
              </a:rPr>
              <a:t>b</a:t>
            </a:r>
            <a:r>
              <a:rPr lang="en-US" altLang="zh-CN" baseline="-25000" dirty="0" err="1">
                <a:solidFill>
                  <a:srgbClr val="F72603"/>
                </a:solidFill>
                <a:ea typeface="黑体" pitchFamily="2" charset="-122"/>
              </a:rPr>
              <a:t>ip</a:t>
            </a:r>
            <a:r>
              <a:rPr lang="en-US" altLang="zh-CN" baseline="-25000" dirty="0">
                <a:solidFill>
                  <a:srgbClr val="F72603"/>
                </a:solidFill>
                <a:ea typeface="黑体" pitchFamily="2" charset="-122"/>
              </a:rPr>
              <a:t> 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)</a:t>
            </a:r>
          </a:p>
        </p:txBody>
      </p:sp>
      <p:graphicFrame>
        <p:nvGraphicFramePr>
          <p:cNvPr id="21811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57861350"/>
              </p:ext>
            </p:extLst>
          </p:nvPr>
        </p:nvGraphicFramePr>
        <p:xfrm>
          <a:off x="3359150" y="2708920"/>
          <a:ext cx="4393034" cy="229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87500" imgH="965200" progId="Equation.3">
                  <p:embed/>
                </p:oleObj>
              </mc:Choice>
              <mc:Fallback>
                <p:oleObj name="公式" r:id="rId2" imgW="1587500" imgH="965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708920"/>
                        <a:ext cx="4393034" cy="2292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186131121"/>
              </p:ext>
            </p:extLst>
          </p:nvPr>
        </p:nvGraphicFramePr>
        <p:xfrm>
          <a:off x="1606550" y="4968875"/>
          <a:ext cx="89090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32040" imgH="304560" progId="Equation.DSMT4">
                  <p:embed/>
                </p:oleObj>
              </mc:Choice>
              <mc:Fallback>
                <p:oleObj name="Equation" r:id="rId4" imgW="3632040" imgH="304560" progId="Equation.DSMT4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4968875"/>
                        <a:ext cx="89090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AA0AAC-7234-98D1-2565-844E8603D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8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8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综合评判的步骤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557339"/>
            <a:ext cx="6768752" cy="28797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第二层综合评判</a:t>
            </a:r>
          </a:p>
          <a:p>
            <a:pPr lvl="1"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它的单因素评判矩阵应为第一层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综合评判矩阵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于是第二层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综合评判为</a:t>
            </a:r>
          </a:p>
          <a:p>
            <a:pPr lvl="1" eaLnBrk="1" hangingPunct="1">
              <a:buNone/>
            </a:pPr>
            <a:r>
              <a:rPr lang="zh-CN" altLang="en-US" dirty="0"/>
              <a:t>   </a:t>
            </a:r>
            <a:r>
              <a:rPr lang="en-US" altLang="zh-CN" sz="3200" dirty="0">
                <a:solidFill>
                  <a:srgbClr val="F72603"/>
                </a:solidFill>
              </a:rPr>
              <a:t>B=A 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zh-CN" altLang="en-US" sz="3200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3200" dirty="0">
                <a:solidFill>
                  <a:srgbClr val="F72603"/>
                </a:solidFill>
              </a:rPr>
              <a:t>R =(</a:t>
            </a:r>
            <a:r>
              <a:rPr lang="en-US" altLang="zh-CN" sz="3200" dirty="0">
                <a:solidFill>
                  <a:srgbClr val="F72603"/>
                </a:solidFill>
                <a:ea typeface="黑体" pitchFamily="2" charset="-122"/>
              </a:rPr>
              <a:t> b</a:t>
            </a:r>
            <a:r>
              <a:rPr lang="en-US" altLang="zh-CN" sz="3200" baseline="-25000" dirty="0">
                <a:solidFill>
                  <a:srgbClr val="F72603"/>
                </a:solidFill>
                <a:ea typeface="黑体" pitchFamily="2" charset="-122"/>
              </a:rPr>
              <a:t>1</a:t>
            </a:r>
            <a:r>
              <a:rPr lang="en-US" altLang="zh-CN" sz="3200" dirty="0">
                <a:solidFill>
                  <a:srgbClr val="F72603"/>
                </a:solidFill>
                <a:ea typeface="黑体" pitchFamily="2" charset="-122"/>
              </a:rPr>
              <a:t>, b</a:t>
            </a:r>
            <a:r>
              <a:rPr lang="en-US" altLang="zh-CN" sz="3200" baseline="-25000" dirty="0">
                <a:solidFill>
                  <a:srgbClr val="F72603"/>
                </a:solidFill>
                <a:ea typeface="黑体" pitchFamily="2" charset="-122"/>
              </a:rPr>
              <a:t>2</a:t>
            </a:r>
            <a:r>
              <a:rPr lang="en-US" altLang="zh-CN" sz="3200" dirty="0">
                <a:solidFill>
                  <a:srgbClr val="F72603"/>
                </a:solidFill>
                <a:ea typeface="黑体" pitchFamily="2" charset="-122"/>
              </a:rPr>
              <a:t>…,</a:t>
            </a:r>
            <a:r>
              <a:rPr lang="en-US" altLang="zh-CN" sz="3200" dirty="0" err="1">
                <a:solidFill>
                  <a:srgbClr val="F72603"/>
                </a:solidFill>
                <a:ea typeface="黑体" pitchFamily="2" charset="-122"/>
              </a:rPr>
              <a:t>b</a:t>
            </a:r>
            <a:r>
              <a:rPr lang="en-US" altLang="zh-CN" sz="3200" baseline="-25000" dirty="0" err="1">
                <a:solidFill>
                  <a:srgbClr val="F72603"/>
                </a:solidFill>
                <a:ea typeface="黑体" pitchFamily="2" charset="-122"/>
              </a:rPr>
              <a:t>p</a:t>
            </a:r>
            <a:r>
              <a:rPr lang="en-US" altLang="zh-CN" sz="3200" baseline="-25000" dirty="0">
                <a:solidFill>
                  <a:srgbClr val="F72603"/>
                </a:solidFill>
                <a:ea typeface="黑体" pitchFamily="2" charset="-122"/>
              </a:rPr>
              <a:t> </a:t>
            </a:r>
            <a:r>
              <a:rPr lang="en-US" altLang="zh-CN" sz="3200" dirty="0">
                <a:solidFill>
                  <a:srgbClr val="F72603"/>
                </a:solidFill>
                <a:ea typeface="黑体" pitchFamily="2" charset="-122"/>
              </a:rPr>
              <a:t>)</a:t>
            </a:r>
            <a:endParaRPr lang="en-US" altLang="zh-CN" sz="2400" dirty="0"/>
          </a:p>
        </p:txBody>
      </p:sp>
      <p:graphicFrame>
        <p:nvGraphicFramePr>
          <p:cNvPr id="22221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29204697"/>
              </p:ext>
            </p:extLst>
          </p:nvPr>
        </p:nvGraphicFramePr>
        <p:xfrm>
          <a:off x="7987952" y="1671541"/>
          <a:ext cx="3387449" cy="2365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46040" imgH="939600" progId="Equation.3">
                  <p:embed/>
                </p:oleObj>
              </mc:Choice>
              <mc:Fallback>
                <p:oleObj name="公式" r:id="rId3" imgW="134604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7952" y="1671541"/>
                        <a:ext cx="3387449" cy="23654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C058A8-2D67-73A8-E703-6D3F1093E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D6E499C-5261-0639-5637-B791CA97F615}"/>
              </a:ext>
            </a:extLst>
          </p:cNvPr>
          <p:cNvGrpSpPr/>
          <p:nvPr/>
        </p:nvGrpSpPr>
        <p:grpSpPr>
          <a:xfrm>
            <a:off x="3071814" y="4243075"/>
            <a:ext cx="6192837" cy="2614926"/>
            <a:chOff x="3071814" y="4243075"/>
            <a:chExt cx="6192837" cy="2614926"/>
          </a:xfrm>
        </p:grpSpPr>
        <p:grpSp>
          <p:nvGrpSpPr>
            <p:cNvPr id="222245" name="Group 37"/>
            <p:cNvGrpSpPr>
              <a:grpSpLocks/>
            </p:cNvGrpSpPr>
            <p:nvPr/>
          </p:nvGrpSpPr>
          <p:grpSpPr bwMode="auto">
            <a:xfrm>
              <a:off x="3071814" y="4365626"/>
              <a:ext cx="6192837" cy="2492375"/>
              <a:chOff x="1655" y="2750"/>
              <a:chExt cx="3901" cy="1570"/>
            </a:xfrm>
          </p:grpSpPr>
          <p:sp>
            <p:nvSpPr>
              <p:cNvPr id="64518" name="Rectangle 7"/>
              <p:cNvSpPr>
                <a:spLocks noChangeArrowheads="1"/>
              </p:cNvSpPr>
              <p:nvPr/>
            </p:nvSpPr>
            <p:spPr bwMode="auto">
              <a:xfrm>
                <a:off x="2177" y="2969"/>
                <a:ext cx="932" cy="2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19" name="Text Box 8"/>
              <p:cNvSpPr txBox="1">
                <a:spLocks noChangeArrowheads="1"/>
              </p:cNvSpPr>
              <p:nvPr/>
            </p:nvSpPr>
            <p:spPr bwMode="auto">
              <a:xfrm>
                <a:off x="2449" y="3385"/>
                <a:ext cx="52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/>
                  <a:t>R</a:t>
                </a:r>
                <a:r>
                  <a:rPr lang="en-US" altLang="zh-CN" sz="2000" baseline="-25000"/>
                  <a:t>2</a:t>
                </a:r>
              </a:p>
            </p:txBody>
          </p:sp>
          <p:sp>
            <p:nvSpPr>
              <p:cNvPr id="64520" name="Rectangle 9"/>
              <p:cNvSpPr>
                <a:spLocks noChangeArrowheads="1"/>
              </p:cNvSpPr>
              <p:nvPr/>
            </p:nvSpPr>
            <p:spPr bwMode="auto">
              <a:xfrm>
                <a:off x="2177" y="3393"/>
                <a:ext cx="932" cy="2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21" name="Rectangle 10"/>
              <p:cNvSpPr>
                <a:spLocks noChangeArrowheads="1"/>
              </p:cNvSpPr>
              <p:nvPr/>
            </p:nvSpPr>
            <p:spPr bwMode="auto">
              <a:xfrm>
                <a:off x="2177" y="4042"/>
                <a:ext cx="932" cy="25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22" name="Rectangle 11"/>
              <p:cNvSpPr>
                <a:spLocks noChangeArrowheads="1"/>
              </p:cNvSpPr>
              <p:nvPr/>
            </p:nvSpPr>
            <p:spPr bwMode="auto">
              <a:xfrm>
                <a:off x="2449" y="4070"/>
                <a:ext cx="44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/>
                  <a:t>Rs</a:t>
                </a:r>
              </a:p>
            </p:txBody>
          </p:sp>
          <p:sp>
            <p:nvSpPr>
              <p:cNvPr id="64523" name="Rectangle 12"/>
              <p:cNvSpPr>
                <a:spLocks noChangeArrowheads="1"/>
              </p:cNvSpPr>
              <p:nvPr/>
            </p:nvSpPr>
            <p:spPr bwMode="auto">
              <a:xfrm>
                <a:off x="2449" y="2976"/>
                <a:ext cx="29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/>
                  <a:t>R</a:t>
                </a:r>
                <a:r>
                  <a:rPr lang="en-US" altLang="zh-CN" sz="2000" baseline="-25000"/>
                  <a:t>1</a:t>
                </a:r>
              </a:p>
            </p:txBody>
          </p:sp>
          <p:sp>
            <p:nvSpPr>
              <p:cNvPr id="64524" name="Text Box 13"/>
              <p:cNvSpPr txBox="1">
                <a:spLocks noChangeArrowheads="1"/>
              </p:cNvSpPr>
              <p:nvPr/>
            </p:nvSpPr>
            <p:spPr bwMode="auto">
              <a:xfrm>
                <a:off x="2363" y="3760"/>
                <a:ext cx="5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……</a:t>
                </a:r>
              </a:p>
            </p:txBody>
          </p:sp>
          <p:sp>
            <p:nvSpPr>
              <p:cNvPr id="64525" name="Line 14"/>
              <p:cNvSpPr>
                <a:spLocks noChangeShapeType="1"/>
              </p:cNvSpPr>
              <p:nvPr/>
            </p:nvSpPr>
            <p:spPr bwMode="auto">
              <a:xfrm>
                <a:off x="1655" y="3082"/>
                <a:ext cx="48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6" name="Line 15"/>
              <p:cNvSpPr>
                <a:spLocks noChangeShapeType="1"/>
              </p:cNvSpPr>
              <p:nvPr/>
            </p:nvSpPr>
            <p:spPr bwMode="auto">
              <a:xfrm>
                <a:off x="1655" y="3506"/>
                <a:ext cx="48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7" name="Line 16"/>
              <p:cNvSpPr>
                <a:spLocks noChangeShapeType="1"/>
              </p:cNvSpPr>
              <p:nvPr/>
            </p:nvSpPr>
            <p:spPr bwMode="auto">
              <a:xfrm>
                <a:off x="1655" y="4155"/>
                <a:ext cx="48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8" name="Line 17"/>
              <p:cNvSpPr>
                <a:spLocks noChangeShapeType="1"/>
              </p:cNvSpPr>
              <p:nvPr/>
            </p:nvSpPr>
            <p:spPr bwMode="auto">
              <a:xfrm>
                <a:off x="3109" y="4183"/>
                <a:ext cx="48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9" name="Line 18"/>
              <p:cNvSpPr>
                <a:spLocks noChangeShapeType="1"/>
              </p:cNvSpPr>
              <p:nvPr/>
            </p:nvSpPr>
            <p:spPr bwMode="auto">
              <a:xfrm>
                <a:off x="3109" y="3506"/>
                <a:ext cx="48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0" name="Line 19"/>
              <p:cNvSpPr>
                <a:spLocks noChangeShapeType="1"/>
              </p:cNvSpPr>
              <p:nvPr/>
            </p:nvSpPr>
            <p:spPr bwMode="auto">
              <a:xfrm>
                <a:off x="3109" y="3082"/>
                <a:ext cx="48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1" name="Text Box 20"/>
              <p:cNvSpPr txBox="1">
                <a:spLocks noChangeArrowheads="1"/>
              </p:cNvSpPr>
              <p:nvPr/>
            </p:nvSpPr>
            <p:spPr bwMode="auto">
              <a:xfrm>
                <a:off x="1655" y="2885"/>
                <a:ext cx="29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solidFill>
                      <a:srgbClr val="FFC000"/>
                    </a:solidFill>
                  </a:rPr>
                  <a:t>A</a:t>
                </a:r>
                <a:r>
                  <a:rPr lang="en-US" altLang="zh-CN" baseline="-25000" dirty="0">
                    <a:solidFill>
                      <a:srgbClr val="FFC000"/>
                    </a:solidFill>
                  </a:rPr>
                  <a:t>1</a:t>
                </a:r>
              </a:p>
            </p:txBody>
          </p:sp>
          <p:sp>
            <p:nvSpPr>
              <p:cNvPr id="64532" name="Text Box 21"/>
              <p:cNvSpPr txBox="1">
                <a:spLocks noChangeArrowheads="1"/>
              </p:cNvSpPr>
              <p:nvPr/>
            </p:nvSpPr>
            <p:spPr bwMode="auto">
              <a:xfrm>
                <a:off x="1655" y="3308"/>
                <a:ext cx="29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solidFill>
                      <a:srgbClr val="3333FF"/>
                    </a:solidFill>
                  </a:rPr>
                  <a:t>A</a:t>
                </a:r>
                <a:r>
                  <a:rPr lang="en-US" altLang="zh-CN" baseline="-25000" dirty="0">
                    <a:solidFill>
                      <a:srgbClr val="3333FF"/>
                    </a:solidFill>
                  </a:rPr>
                  <a:t>2</a:t>
                </a:r>
              </a:p>
            </p:txBody>
          </p:sp>
          <p:sp>
            <p:nvSpPr>
              <p:cNvPr id="64533" name="Text Box 22"/>
              <p:cNvSpPr txBox="1">
                <a:spLocks noChangeArrowheads="1"/>
              </p:cNvSpPr>
              <p:nvPr/>
            </p:nvSpPr>
            <p:spPr bwMode="auto">
              <a:xfrm>
                <a:off x="1692" y="3957"/>
                <a:ext cx="29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solidFill>
                      <a:srgbClr val="CC00CC"/>
                    </a:solidFill>
                  </a:rPr>
                  <a:t>A</a:t>
                </a:r>
                <a:r>
                  <a:rPr lang="en-US" altLang="zh-CN" baseline="-25000" dirty="0">
                    <a:solidFill>
                      <a:srgbClr val="CC00CC"/>
                    </a:solidFill>
                  </a:rPr>
                  <a:t>s</a:t>
                </a:r>
              </a:p>
            </p:txBody>
          </p:sp>
          <p:sp>
            <p:nvSpPr>
              <p:cNvPr id="64534" name="Rectangle 23"/>
              <p:cNvSpPr>
                <a:spLocks noChangeArrowheads="1"/>
              </p:cNvSpPr>
              <p:nvPr/>
            </p:nvSpPr>
            <p:spPr bwMode="auto">
              <a:xfrm>
                <a:off x="4003" y="3308"/>
                <a:ext cx="448" cy="536"/>
              </a:xfrm>
              <a:prstGeom prst="rect">
                <a:avLst/>
              </a:prstGeom>
              <a:noFill/>
              <a:ln w="38100">
                <a:solidFill>
                  <a:srgbClr val="F72603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5" name="Text Box 24"/>
              <p:cNvSpPr txBox="1">
                <a:spLocks noChangeArrowheads="1"/>
              </p:cNvSpPr>
              <p:nvPr/>
            </p:nvSpPr>
            <p:spPr bwMode="auto">
              <a:xfrm>
                <a:off x="4082" y="3430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>
                    <a:solidFill>
                      <a:srgbClr val="F72603"/>
                    </a:solidFill>
                  </a:rPr>
                  <a:t>R</a:t>
                </a:r>
                <a:endParaRPr lang="en-US" altLang="zh-CN" sz="2800" baseline="-25000">
                  <a:solidFill>
                    <a:srgbClr val="F72603"/>
                  </a:solidFill>
                </a:endParaRPr>
              </a:p>
            </p:txBody>
          </p:sp>
          <p:sp>
            <p:nvSpPr>
              <p:cNvPr id="64536" name="Line 25"/>
              <p:cNvSpPr>
                <a:spLocks noChangeShapeType="1"/>
              </p:cNvSpPr>
              <p:nvPr/>
            </p:nvSpPr>
            <p:spPr bwMode="auto">
              <a:xfrm>
                <a:off x="3556" y="3082"/>
                <a:ext cx="447" cy="339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7" name="Line 26"/>
              <p:cNvSpPr>
                <a:spLocks noChangeShapeType="1"/>
              </p:cNvSpPr>
              <p:nvPr/>
            </p:nvSpPr>
            <p:spPr bwMode="auto">
              <a:xfrm>
                <a:off x="3593" y="3506"/>
                <a:ext cx="410" cy="28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8" name="Line 27"/>
              <p:cNvSpPr>
                <a:spLocks noChangeShapeType="1"/>
              </p:cNvSpPr>
              <p:nvPr/>
            </p:nvSpPr>
            <p:spPr bwMode="auto">
              <a:xfrm flipV="1">
                <a:off x="3556" y="3703"/>
                <a:ext cx="447" cy="48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39" name="Line 28"/>
              <p:cNvSpPr>
                <a:spLocks noChangeShapeType="1"/>
              </p:cNvSpPr>
              <p:nvPr/>
            </p:nvSpPr>
            <p:spPr bwMode="auto">
              <a:xfrm>
                <a:off x="4451" y="3562"/>
                <a:ext cx="969" cy="0"/>
              </a:xfrm>
              <a:prstGeom prst="line">
                <a:avLst/>
              </a:prstGeom>
              <a:noFill/>
              <a:ln w="38100">
                <a:solidFill>
                  <a:srgbClr val="F72603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0" name="Line 29"/>
              <p:cNvSpPr>
                <a:spLocks noChangeShapeType="1"/>
              </p:cNvSpPr>
              <p:nvPr/>
            </p:nvSpPr>
            <p:spPr bwMode="auto">
              <a:xfrm>
                <a:off x="4190" y="2800"/>
                <a:ext cx="0" cy="508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1" name="Text Box 30"/>
              <p:cNvSpPr txBox="1">
                <a:spLocks noChangeArrowheads="1"/>
              </p:cNvSpPr>
              <p:nvPr/>
            </p:nvSpPr>
            <p:spPr bwMode="auto">
              <a:xfrm>
                <a:off x="3221" y="2885"/>
                <a:ext cx="33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64542" name="Text Box 31"/>
              <p:cNvSpPr txBox="1">
                <a:spLocks noChangeArrowheads="1"/>
              </p:cNvSpPr>
              <p:nvPr/>
            </p:nvSpPr>
            <p:spPr bwMode="auto">
              <a:xfrm>
                <a:off x="3266" y="3249"/>
                <a:ext cx="33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r>
                  <a:rPr lang="en-US" altLang="zh-CN" baseline="-25000"/>
                  <a:t>2</a:t>
                </a:r>
              </a:p>
            </p:txBody>
          </p:sp>
          <p:sp>
            <p:nvSpPr>
              <p:cNvPr id="64543" name="Text Box 32"/>
              <p:cNvSpPr txBox="1">
                <a:spLocks noChangeArrowheads="1"/>
              </p:cNvSpPr>
              <p:nvPr/>
            </p:nvSpPr>
            <p:spPr bwMode="auto">
              <a:xfrm>
                <a:off x="3266" y="3929"/>
                <a:ext cx="335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/>
                  <a:t>B</a:t>
                </a:r>
                <a:r>
                  <a:rPr lang="en-US" altLang="zh-CN" baseline="-25000"/>
                  <a:t>s</a:t>
                </a:r>
              </a:p>
            </p:txBody>
          </p:sp>
          <p:sp>
            <p:nvSpPr>
              <p:cNvPr id="64544" name="Text Box 33"/>
              <p:cNvSpPr txBox="1">
                <a:spLocks noChangeArrowheads="1"/>
              </p:cNvSpPr>
              <p:nvPr/>
            </p:nvSpPr>
            <p:spPr bwMode="auto">
              <a:xfrm>
                <a:off x="4468" y="3294"/>
                <a:ext cx="85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>
                    <a:solidFill>
                      <a:srgbClr val="F72603"/>
                    </a:solidFill>
                  </a:rPr>
                  <a:t> B=A * R</a:t>
                </a:r>
                <a:endParaRPr lang="en-US" altLang="zh-CN" sz="2400" baseline="-25000">
                  <a:solidFill>
                    <a:srgbClr val="F72603"/>
                  </a:solidFill>
                </a:endParaRPr>
              </a:p>
            </p:txBody>
          </p:sp>
          <p:sp>
            <p:nvSpPr>
              <p:cNvPr id="64545" name="Text Box 35"/>
              <p:cNvSpPr txBox="1">
                <a:spLocks noChangeArrowheads="1"/>
              </p:cNvSpPr>
              <p:nvPr/>
            </p:nvSpPr>
            <p:spPr bwMode="auto">
              <a:xfrm>
                <a:off x="4286" y="2750"/>
                <a:ext cx="127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008000"/>
                    </a:solidFill>
                  </a:rPr>
                  <a:t>A=(a</a:t>
                </a:r>
                <a:r>
                  <a:rPr lang="en-US" altLang="zh-CN" sz="2000" b="1" baseline="-25000" dirty="0">
                    <a:solidFill>
                      <a:srgbClr val="008000"/>
                    </a:solidFill>
                  </a:rPr>
                  <a:t>1</a:t>
                </a:r>
                <a:r>
                  <a:rPr lang="en-US" altLang="zh-CN" sz="2000" b="1" dirty="0">
                    <a:solidFill>
                      <a:srgbClr val="008000"/>
                    </a:solidFill>
                  </a:rPr>
                  <a:t>,a</a:t>
                </a:r>
                <a:r>
                  <a:rPr lang="en-US" altLang="zh-CN" b="1" baseline="-25000" dirty="0">
                    <a:solidFill>
                      <a:srgbClr val="008000"/>
                    </a:solidFill>
                  </a:rPr>
                  <a:t>2</a:t>
                </a:r>
                <a:r>
                  <a:rPr lang="en-US" altLang="zh-CN" sz="2000" b="1" dirty="0">
                    <a:solidFill>
                      <a:srgbClr val="008000"/>
                    </a:solidFill>
                  </a:rPr>
                  <a:t>,…,a</a:t>
                </a:r>
                <a:r>
                  <a:rPr lang="en-US" altLang="zh-CN" sz="2000" b="1" baseline="-25000" dirty="0">
                    <a:solidFill>
                      <a:srgbClr val="008000"/>
                    </a:solidFill>
                  </a:rPr>
                  <a:t>s</a:t>
                </a:r>
                <a:r>
                  <a:rPr lang="en-US" altLang="zh-CN" sz="2000" b="1" dirty="0">
                    <a:solidFill>
                      <a:srgbClr val="008000"/>
                    </a:solidFill>
                  </a:rPr>
                  <a:t>)</a:t>
                </a: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A99DCDF-E45C-DD5D-B8B4-8E20562970D2}"/>
                </a:ext>
              </a:extLst>
            </p:cNvPr>
            <p:cNvSpPr txBox="1"/>
            <p:nvPr/>
          </p:nvSpPr>
          <p:spPr>
            <a:xfrm>
              <a:off x="6451227" y="6196084"/>
              <a:ext cx="187250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00B050"/>
                  </a:solidFill>
                  <a:ea typeface="黑体" pitchFamily="2" charset="-122"/>
                </a:rPr>
                <a:t>二层</a:t>
              </a:r>
              <a:r>
                <a:rPr lang="en-US" altLang="zh-CN" sz="2000" dirty="0">
                  <a:solidFill>
                    <a:srgbClr val="00B050"/>
                  </a:solidFill>
                  <a:ea typeface="黑体" pitchFamily="2" charset="-122"/>
                </a:rPr>
                <a:t>F</a:t>
              </a:r>
              <a:r>
                <a:rPr lang="zh-CN" altLang="en-US" sz="2000" dirty="0">
                  <a:solidFill>
                    <a:srgbClr val="00B050"/>
                  </a:solidFill>
                  <a:ea typeface="黑体" pitchFamily="2" charset="-122"/>
                </a:rPr>
                <a:t>综合评判</a:t>
              </a:r>
              <a:endParaRPr lang="zh-CN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1284D0E-B0EB-3D2C-3D6D-E480A81AFC89}"/>
                </a:ext>
              </a:extLst>
            </p:cNvPr>
            <p:cNvSpPr txBox="1"/>
            <p:nvPr/>
          </p:nvSpPr>
          <p:spPr>
            <a:xfrm>
              <a:off x="3784125" y="4243075"/>
              <a:ext cx="187250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00B0F0"/>
                  </a:solidFill>
                  <a:ea typeface="黑体" pitchFamily="2" charset="-122"/>
                </a:rPr>
                <a:t>一层</a:t>
              </a:r>
              <a:r>
                <a:rPr lang="en-US" altLang="zh-CN" sz="2000" dirty="0">
                  <a:solidFill>
                    <a:srgbClr val="00B0F0"/>
                  </a:solidFill>
                  <a:ea typeface="黑体" pitchFamily="2" charset="-122"/>
                </a:rPr>
                <a:t>F</a:t>
              </a:r>
              <a:r>
                <a:rPr lang="zh-CN" altLang="en-US" sz="2000" dirty="0">
                  <a:solidFill>
                    <a:srgbClr val="00B0F0"/>
                  </a:solidFill>
                  <a:ea typeface="黑体" pitchFamily="2" charset="-122"/>
                </a:rPr>
                <a:t>综合评判</a:t>
              </a:r>
              <a:endParaRPr lang="zh-CN" altLang="en-US" sz="2000" dirty="0">
                <a:solidFill>
                  <a:srgbClr val="00B0F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628775"/>
            <a:ext cx="10657183" cy="511333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评判一批产品的质量，有</a:t>
            </a:r>
            <a:r>
              <a:rPr lang="en-US" altLang="zh-CN" dirty="0">
                <a:ea typeface="黑体" pitchFamily="2" charset="-122"/>
              </a:rPr>
              <a:t>9</a:t>
            </a:r>
            <a:r>
              <a:rPr lang="zh-CN" altLang="en-US" dirty="0">
                <a:ea typeface="黑体" pitchFamily="2" charset="-122"/>
              </a:rPr>
              <a:t>项基本因素。运用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模型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M(∧,</a:t>
            </a:r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∨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dirty="0">
                <a:ea typeface="黑体" pitchFamily="2" charset="-122"/>
              </a:rPr>
              <a:t>进行多层次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综合评判。</a:t>
            </a:r>
          </a:p>
          <a:p>
            <a:pPr eaLnBrk="1" hangingPunct="1"/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因素集 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={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,…,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9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}</a:t>
            </a:r>
          </a:p>
          <a:p>
            <a:pPr lvl="1" eaLnBrk="1" hangingPunct="1"/>
            <a:r>
              <a:rPr kumimoji="1" lang="zh-CN" altLang="en-US" dirty="0">
                <a:ea typeface="黑体" pitchFamily="2" charset="-122"/>
              </a:rPr>
              <a:t>按评判专家、客户、质检员分成三个评判小组</a:t>
            </a:r>
          </a:p>
          <a:p>
            <a:pPr lvl="1" eaLnBrk="1" hangingPunct="1"/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={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1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3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}   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（专家组）</a:t>
            </a:r>
          </a:p>
          <a:p>
            <a:pPr lvl="1" eaLnBrk="1" hangingPunct="1"/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2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={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4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5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6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}   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（客户组）</a:t>
            </a:r>
          </a:p>
          <a:p>
            <a:pPr lvl="1" eaLnBrk="1" hangingPunct="1"/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3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={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7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8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u</a:t>
            </a:r>
            <a:r>
              <a:rPr kumimoji="1" lang="en-US" altLang="zh-CN" baseline="-25000" dirty="0">
                <a:solidFill>
                  <a:srgbClr val="3333FF"/>
                </a:solidFill>
                <a:ea typeface="黑体" pitchFamily="2" charset="-122"/>
              </a:rPr>
              <a:t>9</a:t>
            </a:r>
            <a:r>
              <a:rPr kumimoji="1" lang="en-US" altLang="zh-CN" dirty="0">
                <a:solidFill>
                  <a:srgbClr val="3333FF"/>
                </a:solidFill>
                <a:ea typeface="黑体" pitchFamily="2" charset="-122"/>
              </a:rPr>
              <a:t>}   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（质检员组）</a:t>
            </a:r>
            <a:endParaRPr kumimoji="1" lang="zh-CN" altLang="en-US" dirty="0">
              <a:ea typeface="黑体" pitchFamily="2" charset="-122"/>
            </a:endParaRPr>
          </a:p>
          <a:p>
            <a:pPr eaLnBrk="1" hangingPunct="1"/>
            <a:r>
              <a:rPr kumimoji="1" lang="zh-CN" altLang="en-US" dirty="0">
                <a:solidFill>
                  <a:srgbClr val="008000"/>
                </a:solidFill>
                <a:ea typeface="黑体" pitchFamily="2" charset="-122"/>
              </a:rPr>
              <a:t>评语集  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V={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3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,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v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4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}</a:t>
            </a:r>
          </a:p>
          <a:p>
            <a:pPr lvl="1" eaLnBrk="1" hangingPunct="1"/>
            <a:r>
              <a:rPr kumimoji="1" lang="zh-CN" altLang="en-US" dirty="0">
                <a:ea typeface="黑体" pitchFamily="2" charset="-122"/>
              </a:rPr>
              <a:t>其中， 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1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一等品，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2 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二等品，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3 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次品，</a:t>
            </a:r>
            <a:r>
              <a:rPr kumimoji="1" lang="en-US" altLang="zh-CN" i="1" dirty="0">
                <a:ea typeface="黑体" pitchFamily="2" charset="-122"/>
              </a:rPr>
              <a:t>v</a:t>
            </a:r>
            <a:r>
              <a:rPr kumimoji="1" lang="en-US" altLang="zh-CN" baseline="-25000" dirty="0">
                <a:ea typeface="黑体" pitchFamily="2" charset="-122"/>
              </a:rPr>
              <a:t>4 </a:t>
            </a:r>
            <a:r>
              <a:rPr kumimoji="1" lang="en-US" altLang="zh-CN" dirty="0">
                <a:ea typeface="黑体" pitchFamily="2" charset="-122"/>
              </a:rPr>
              <a:t>=</a:t>
            </a:r>
            <a:r>
              <a:rPr kumimoji="1" lang="zh-CN" altLang="en-US" dirty="0">
                <a:ea typeface="黑体" pitchFamily="2" charset="-122"/>
              </a:rPr>
              <a:t>废品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200E83-A358-6C55-4736-298CB9403F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628776"/>
            <a:ext cx="5478386" cy="496887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第一层权重向量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=(0.30, 0.42, 0.28) </a:t>
            </a:r>
            <a:r>
              <a:rPr kumimoji="1" lang="zh-CN" altLang="en-US" sz="2400" dirty="0">
                <a:solidFill>
                  <a:srgbClr val="3333FF"/>
                </a:solidFill>
                <a:ea typeface="黑体" pitchFamily="2" charset="-122"/>
              </a:rPr>
              <a:t>（专家组）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=(0.20, 0.50, 0.30) </a:t>
            </a:r>
            <a:r>
              <a:rPr kumimoji="1" lang="zh-CN" altLang="en-US" sz="2400" dirty="0">
                <a:solidFill>
                  <a:srgbClr val="3333FF"/>
                </a:solidFill>
                <a:ea typeface="黑体" pitchFamily="2" charset="-122"/>
              </a:rPr>
              <a:t>（客户组）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/>
              <a:t>A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=(0.30, 0.30, 0.40) </a:t>
            </a:r>
            <a:r>
              <a:rPr kumimoji="1" lang="zh-CN" altLang="en-US" sz="2400" dirty="0">
                <a:solidFill>
                  <a:srgbClr val="3333FF"/>
                </a:solidFill>
                <a:ea typeface="黑体" pitchFamily="2" charset="-122"/>
              </a:rPr>
              <a:t>（质检员组）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第一层评价矩阵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400" baseline="-25000" dirty="0">
                <a:ea typeface="黑体" pitchFamily="2" charset="-122"/>
              </a:rPr>
              <a:t>1</a:t>
            </a:r>
            <a:r>
              <a:rPr lang="zh-CN" altLang="en-US" sz="2400" dirty="0">
                <a:ea typeface="黑体" pitchFamily="2" charset="-122"/>
              </a:rPr>
              <a:t>、</a:t>
            </a: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400" baseline="-25000" dirty="0"/>
              <a:t>2</a:t>
            </a:r>
            <a:r>
              <a:rPr lang="zh-CN" altLang="en-US" sz="2400" dirty="0">
                <a:ea typeface="黑体" pitchFamily="2" charset="-122"/>
              </a:rPr>
              <a:t>、</a:t>
            </a:r>
            <a:r>
              <a:rPr lang="en-US" altLang="zh-CN" sz="2400" dirty="0">
                <a:ea typeface="黑体" pitchFamily="2" charset="-122"/>
              </a:rPr>
              <a:t>R</a:t>
            </a:r>
            <a:r>
              <a:rPr lang="en-US" altLang="zh-CN" sz="2400" baseline="-25000" dirty="0"/>
              <a:t>3</a:t>
            </a:r>
          </a:p>
        </p:txBody>
      </p:sp>
      <p:graphicFrame>
        <p:nvGraphicFramePr>
          <p:cNvPr id="23552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211470210"/>
              </p:ext>
            </p:extLst>
          </p:nvPr>
        </p:nvGraphicFramePr>
        <p:xfrm>
          <a:off x="6750869" y="1674813"/>
          <a:ext cx="4175125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55800" imgH="711200" progId="Equation.3">
                  <p:embed/>
                </p:oleObj>
              </mc:Choice>
              <mc:Fallback>
                <p:oleObj name="公式" r:id="rId2" imgW="19558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869" y="1674813"/>
                        <a:ext cx="4175125" cy="151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84759771"/>
              </p:ext>
            </p:extLst>
          </p:nvPr>
        </p:nvGraphicFramePr>
        <p:xfrm>
          <a:off x="6677843" y="3357564"/>
          <a:ext cx="4248150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68500" imgH="711200" progId="Equation.3">
                  <p:embed/>
                </p:oleObj>
              </mc:Choice>
              <mc:Fallback>
                <p:oleObj name="公式" r:id="rId4" imgW="19685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843" y="3357564"/>
                        <a:ext cx="4248150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56521"/>
              </p:ext>
            </p:extLst>
          </p:nvPr>
        </p:nvGraphicFramePr>
        <p:xfrm>
          <a:off x="6677844" y="5057776"/>
          <a:ext cx="4281487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68500" imgH="711200" progId="Equation.3">
                  <p:embed/>
                </p:oleObj>
              </mc:Choice>
              <mc:Fallback>
                <p:oleObj name="公式" r:id="rId6" imgW="1968500" imgH="71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844" y="5057776"/>
                        <a:ext cx="4281487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178574"/>
              </p:ext>
            </p:extLst>
          </p:nvPr>
        </p:nvGraphicFramePr>
        <p:xfrm>
          <a:off x="6750868" y="1628776"/>
          <a:ext cx="4457700" cy="475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400" imgH="2057400" progId="Equation.3">
                  <p:embed/>
                </p:oleObj>
              </mc:Choice>
              <mc:Fallback>
                <p:oleObj name="公式" r:id="rId8" imgW="1930400" imgH="2057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868" y="1628776"/>
                        <a:ext cx="4457700" cy="475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FCC91E-9EB6-67BD-8047-974744F29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60648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628800"/>
            <a:ext cx="9289032" cy="38862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第一层评判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zh-CN" altLang="en-US" dirty="0">
                <a:ea typeface="黑体" pitchFamily="2" charset="-122"/>
              </a:rPr>
              <a:t>用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模型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M(∧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，∨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)</a:t>
            </a:r>
            <a:r>
              <a:rPr lang="en-US" altLang="zh-CN" dirty="0">
                <a:ea typeface="黑体" pitchFamily="2" charset="-122"/>
              </a:rPr>
              <a:t>)</a:t>
            </a:r>
          </a:p>
          <a:p>
            <a:pPr lvl="1" eaLnBrk="1" hangingPunct="1"/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=A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n-US" altLang="zh-CN" b="1" dirty="0"/>
              <a:t>◦</a:t>
            </a:r>
            <a:r>
              <a:rPr lang="en-US" altLang="zh-CN" dirty="0"/>
              <a:t> R</a:t>
            </a:r>
            <a:r>
              <a:rPr lang="en-US" altLang="zh-CN" baseline="-25000" dirty="0"/>
              <a:t>1</a:t>
            </a:r>
            <a:r>
              <a:rPr lang="en-US" altLang="zh-CN" dirty="0"/>
              <a:t>=(0.30, 0.32, 0.26, 0.27)</a:t>
            </a:r>
          </a:p>
          <a:p>
            <a:pPr lvl="1" eaLnBrk="1" hangingPunct="1"/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=A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b="1" dirty="0"/>
              <a:t>◦</a:t>
            </a:r>
            <a:r>
              <a:rPr lang="en-US" altLang="zh-CN" dirty="0"/>
              <a:t> R</a:t>
            </a:r>
            <a:r>
              <a:rPr lang="en-US" altLang="zh-CN" baseline="-25000" dirty="0"/>
              <a:t>2</a:t>
            </a:r>
            <a:r>
              <a:rPr lang="en-US" altLang="zh-CN" dirty="0"/>
              <a:t>=(0.26, 0.36, 0.20, 0.20)</a:t>
            </a:r>
          </a:p>
          <a:p>
            <a:pPr lvl="1" eaLnBrk="1" hangingPunct="1"/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r>
              <a:rPr lang="en-US" altLang="zh-CN" dirty="0"/>
              <a:t>=A</a:t>
            </a:r>
            <a:r>
              <a:rPr lang="en-US" altLang="zh-CN" baseline="-25000" dirty="0"/>
              <a:t>3</a:t>
            </a:r>
            <a:r>
              <a:rPr lang="en-US" altLang="zh-CN" dirty="0"/>
              <a:t> </a:t>
            </a:r>
            <a:r>
              <a:rPr lang="en-US" altLang="zh-CN" b="1" dirty="0"/>
              <a:t>◦</a:t>
            </a:r>
            <a:r>
              <a:rPr lang="en-US" altLang="zh-CN" dirty="0"/>
              <a:t> R</a:t>
            </a:r>
            <a:r>
              <a:rPr lang="en-US" altLang="zh-CN" baseline="-25000" dirty="0"/>
              <a:t>3</a:t>
            </a:r>
            <a:r>
              <a:rPr lang="en-US" altLang="zh-CN" dirty="0"/>
              <a:t>=(0.40, 0.28, 0.30, 0.20)</a:t>
            </a: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第二层评判矩阵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R</a:t>
            </a:r>
          </a:p>
          <a:p>
            <a:pPr lvl="1" eaLnBrk="1" hangingPunct="1"/>
            <a:r>
              <a:rPr lang="zh-CN" altLang="en-US" b="1" dirty="0"/>
              <a:t>将第一层评判结果组合起来形成第二层评判矩阵</a:t>
            </a:r>
          </a:p>
          <a:p>
            <a:pPr lvl="1" eaLnBrk="1" hangingPunct="1"/>
            <a:endParaRPr lang="en-US" altLang="zh-CN" dirty="0"/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20818824"/>
              </p:ext>
            </p:extLst>
          </p:nvPr>
        </p:nvGraphicFramePr>
        <p:xfrm>
          <a:off x="2783633" y="4910858"/>
          <a:ext cx="5364163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62200" imgH="711200" progId="Equation.3">
                  <p:embed/>
                </p:oleObj>
              </mc:Choice>
              <mc:Fallback>
                <p:oleObj name="公式" r:id="rId2" imgW="2362200" imgH="7112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3" y="4910858"/>
                        <a:ext cx="5364163" cy="161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A1DE4D-33BA-48B9-1D60-4D887E5C6F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8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8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8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557338"/>
            <a:ext cx="10081120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第二层评判矩阵</a:t>
            </a:r>
            <a:r>
              <a:rPr lang="en-US" altLang="zh-CN" dirty="0">
                <a:solidFill>
                  <a:srgbClr val="F72603"/>
                </a:solidFill>
                <a:ea typeface="黑体" pitchFamily="2" charset="-122"/>
              </a:rPr>
              <a:t>R</a:t>
            </a:r>
          </a:p>
          <a:p>
            <a:pPr eaLnBrk="1" hangingPunct="1"/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endParaRPr lang="en-US" altLang="zh-CN" dirty="0">
              <a:solidFill>
                <a:srgbClr val="F72603"/>
              </a:solidFill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第二层权重分配</a:t>
            </a:r>
          </a:p>
          <a:p>
            <a:pPr lvl="1" eaLnBrk="1" hangingPunct="1"/>
            <a:r>
              <a:rPr lang="zh-CN" altLang="en-US" dirty="0">
                <a:ea typeface="黑体" pitchFamily="2" charset="-122"/>
              </a:rPr>
              <a:t>对因素集</a:t>
            </a:r>
            <a:r>
              <a:rPr lang="en-US" altLang="zh-CN" dirty="0">
                <a:ea typeface="黑体" pitchFamily="2" charset="-122"/>
              </a:rPr>
              <a:t>U=</a:t>
            </a:r>
            <a:r>
              <a:rPr kumimoji="1" lang="en-US" altLang="zh-CN" dirty="0">
                <a:ea typeface="黑体" pitchFamily="2" charset="-122"/>
              </a:rPr>
              <a:t>{U</a:t>
            </a:r>
            <a:r>
              <a:rPr kumimoji="1" lang="en-US" altLang="zh-CN" baseline="-25000" dirty="0">
                <a:ea typeface="黑体" pitchFamily="2" charset="-122"/>
              </a:rPr>
              <a:t>1</a:t>
            </a:r>
            <a:r>
              <a:rPr kumimoji="1" lang="en-US" altLang="zh-CN" dirty="0">
                <a:ea typeface="黑体" pitchFamily="2" charset="-122"/>
              </a:rPr>
              <a:t>, U</a:t>
            </a:r>
            <a:r>
              <a:rPr kumimoji="1" lang="en-US" altLang="zh-CN" baseline="-25000" dirty="0">
                <a:ea typeface="黑体" pitchFamily="2" charset="-122"/>
              </a:rPr>
              <a:t>2</a:t>
            </a:r>
            <a:r>
              <a:rPr kumimoji="1" lang="en-US" altLang="zh-CN" dirty="0">
                <a:ea typeface="黑体" pitchFamily="2" charset="-122"/>
              </a:rPr>
              <a:t>, U</a:t>
            </a:r>
            <a:r>
              <a:rPr kumimoji="1" lang="en-US" altLang="zh-CN" baseline="-25000" dirty="0">
                <a:ea typeface="黑体" pitchFamily="2" charset="-122"/>
              </a:rPr>
              <a:t>3</a:t>
            </a:r>
            <a:r>
              <a:rPr kumimoji="1" lang="en-US" altLang="zh-CN" dirty="0">
                <a:ea typeface="黑体" pitchFamily="2" charset="-122"/>
              </a:rPr>
              <a:t>} </a:t>
            </a:r>
            <a:r>
              <a:rPr kumimoji="1" lang="zh-CN" altLang="en-US" dirty="0">
                <a:ea typeface="黑体" pitchFamily="2" charset="-122"/>
              </a:rPr>
              <a:t>的权重分配</a:t>
            </a:r>
            <a:r>
              <a:rPr kumimoji="1" lang="en-US" altLang="zh-CN" dirty="0">
                <a:ea typeface="黑体" pitchFamily="2" charset="-122"/>
              </a:rPr>
              <a:t>A</a:t>
            </a:r>
            <a:r>
              <a:rPr kumimoji="1" lang="zh-CN" altLang="en-US" dirty="0">
                <a:ea typeface="黑体" pitchFamily="2" charset="-122"/>
              </a:rPr>
              <a:t>为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dirty="0">
                <a:solidFill>
                  <a:srgbClr val="008000"/>
                </a:solidFill>
                <a:ea typeface="黑体" pitchFamily="2" charset="-122"/>
              </a:rPr>
              <a:t>   </a:t>
            </a:r>
            <a:r>
              <a:rPr lang="en-US" altLang="zh-CN" sz="3200" dirty="0">
                <a:solidFill>
                  <a:srgbClr val="008000"/>
                </a:solidFill>
                <a:ea typeface="黑体" pitchFamily="2" charset="-122"/>
              </a:rPr>
              <a:t>A=(0.20, 0.35, 0.45)</a:t>
            </a: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ea typeface="黑体" pitchFamily="2" charset="-122"/>
              </a:rPr>
              <a:t>第二层评判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zh-CN" altLang="en-US" dirty="0">
                <a:ea typeface="黑体" pitchFamily="2" charset="-122"/>
              </a:rPr>
              <a:t>用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模型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M(∧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，∨</a:t>
            </a:r>
            <a:r>
              <a:rPr lang="en-US" altLang="zh-CN" dirty="0">
                <a:solidFill>
                  <a:srgbClr val="3333FF"/>
                </a:solidFill>
                <a:ea typeface="黑体" pitchFamily="2" charset="-122"/>
              </a:rPr>
              <a:t>)</a:t>
            </a:r>
            <a:r>
              <a:rPr lang="en-US" altLang="zh-CN" dirty="0">
                <a:ea typeface="黑体" pitchFamily="2" charset="-122"/>
              </a:rPr>
              <a:t>)</a:t>
            </a:r>
          </a:p>
          <a:p>
            <a:pPr lvl="1" eaLnBrk="1" hangingPunct="1"/>
            <a:r>
              <a:rPr lang="en-US" altLang="zh-CN" dirty="0"/>
              <a:t>B=A </a:t>
            </a:r>
            <a:r>
              <a:rPr lang="en-US" altLang="zh-CN" sz="2400" b="1" dirty="0"/>
              <a:t>◦</a:t>
            </a:r>
            <a:r>
              <a:rPr lang="en-US" altLang="zh-CN" dirty="0"/>
              <a:t> R=(0.40, 0.35, 0.30, 0.20)</a:t>
            </a:r>
          </a:p>
          <a:p>
            <a:pPr lvl="1" eaLnBrk="1" hangingPunct="1"/>
            <a:r>
              <a:rPr lang="zh-CN" altLang="en-US" dirty="0">
                <a:solidFill>
                  <a:schemeClr val="tx2"/>
                </a:solidFill>
                <a:ea typeface="黑体" pitchFamily="2" charset="-122"/>
              </a:rPr>
              <a:t>因为</a:t>
            </a:r>
            <a:r>
              <a:rPr lang="en-US" altLang="zh-CN" dirty="0">
                <a:solidFill>
                  <a:schemeClr val="tx2"/>
                </a:solidFill>
                <a:ea typeface="黑体" pitchFamily="2" charset="-122"/>
              </a:rPr>
              <a:t>B(v</a:t>
            </a:r>
            <a:r>
              <a:rPr lang="en-US" altLang="zh-CN" baseline="-25000" dirty="0">
                <a:solidFill>
                  <a:schemeClr val="tx2"/>
                </a:solidFill>
                <a:ea typeface="黑体" pitchFamily="2" charset="-122"/>
              </a:rPr>
              <a:t>1</a:t>
            </a:r>
            <a:r>
              <a:rPr lang="en-US" altLang="zh-CN" dirty="0">
                <a:solidFill>
                  <a:schemeClr val="tx2"/>
                </a:solidFill>
                <a:ea typeface="黑体" pitchFamily="2" charset="-122"/>
              </a:rPr>
              <a:t>)=</a:t>
            </a:r>
            <a:r>
              <a:rPr lang="en-US" altLang="zh-CN" dirty="0">
                <a:ea typeface="黑体" pitchFamily="2" charset="-122"/>
              </a:rPr>
              <a:t>0.40=max{</a:t>
            </a:r>
            <a:r>
              <a:rPr lang="en-US" altLang="zh-CN" dirty="0">
                <a:solidFill>
                  <a:srgbClr val="CC00CC"/>
                </a:solidFill>
              </a:rPr>
              <a:t>0.40</a:t>
            </a:r>
            <a:r>
              <a:rPr lang="en-US" altLang="zh-CN" dirty="0"/>
              <a:t>,0.35,0.30,0.20</a:t>
            </a:r>
            <a:r>
              <a:rPr lang="en-US" altLang="zh-CN" dirty="0">
                <a:ea typeface="黑体" pitchFamily="2" charset="-122"/>
              </a:rPr>
              <a:t>}, 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属一等品</a:t>
            </a:r>
          </a:p>
        </p:txBody>
      </p:sp>
      <p:graphicFrame>
        <p:nvGraphicFramePr>
          <p:cNvPr id="23962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016501" y="1989139"/>
          <a:ext cx="5364163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62200" imgH="711200" progId="Equation.3">
                  <p:embed/>
                </p:oleObj>
              </mc:Choice>
              <mc:Fallback>
                <p:oleObj name="公式" r:id="rId3" imgW="23622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1989139"/>
                        <a:ext cx="5364163" cy="161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27F177-5E5F-5608-C67F-DAF160ED2B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556792"/>
            <a:ext cx="10153128" cy="511256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某化工厂在使用某种剧毒液体氰化钠时不慎将其流入河里，河中的鱼蚌大批死亡，危害了下游人们的生命安全，由此受到起诉。法院受理了这一案件，采用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综合评判的方法研究其中的犯罪事实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考虑犯罪的</a:t>
            </a:r>
            <a:r>
              <a:rPr lang="zh-CN" altLang="en-US" b="1" dirty="0">
                <a:solidFill>
                  <a:srgbClr val="CC00CC"/>
                </a:solidFill>
              </a:rPr>
              <a:t>评语集</a:t>
            </a:r>
            <a:r>
              <a:rPr lang="en-US" altLang="zh-CN" b="1" dirty="0">
                <a:solidFill>
                  <a:srgbClr val="CC00CC"/>
                </a:solidFill>
              </a:rPr>
              <a:t>V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CC00CC"/>
                </a:solidFill>
              </a:rPr>
              <a:t>V={</a:t>
            </a:r>
            <a:r>
              <a:rPr lang="zh-CN" altLang="en-US" b="1" dirty="0">
                <a:solidFill>
                  <a:srgbClr val="CC00CC"/>
                </a:solidFill>
              </a:rPr>
              <a:t>严重犯罪</a:t>
            </a:r>
            <a:r>
              <a:rPr lang="en-US" altLang="zh-CN" b="1" dirty="0">
                <a:solidFill>
                  <a:srgbClr val="CC00CC"/>
                </a:solidFill>
              </a:rPr>
              <a:t>(v</a:t>
            </a:r>
            <a:r>
              <a:rPr lang="en-US" altLang="zh-CN" b="1" baseline="-25000" dirty="0">
                <a:solidFill>
                  <a:srgbClr val="CC00CC"/>
                </a:solidFill>
              </a:rPr>
              <a:t>1</a:t>
            </a:r>
            <a:r>
              <a:rPr lang="en-US" altLang="zh-CN" b="1" dirty="0">
                <a:solidFill>
                  <a:srgbClr val="CC00CC"/>
                </a:solidFill>
              </a:rPr>
              <a:t>), </a:t>
            </a:r>
            <a:r>
              <a:rPr lang="zh-CN" altLang="en-US" b="1" dirty="0">
                <a:solidFill>
                  <a:srgbClr val="CC00CC"/>
                </a:solidFill>
              </a:rPr>
              <a:t>中等犯罪</a:t>
            </a:r>
            <a:r>
              <a:rPr lang="en-US" altLang="zh-CN" b="1" dirty="0">
                <a:solidFill>
                  <a:srgbClr val="CC00CC"/>
                </a:solidFill>
              </a:rPr>
              <a:t>(v</a:t>
            </a:r>
            <a:r>
              <a:rPr lang="en-US" altLang="zh-CN" b="1" baseline="-25000" dirty="0">
                <a:solidFill>
                  <a:srgbClr val="CC00CC"/>
                </a:solidFill>
              </a:rPr>
              <a:t>2</a:t>
            </a:r>
            <a:r>
              <a:rPr lang="en-US" altLang="zh-CN" b="1" dirty="0">
                <a:solidFill>
                  <a:srgbClr val="CC00CC"/>
                </a:solidFill>
              </a:rPr>
              <a:t>), </a:t>
            </a:r>
            <a:r>
              <a:rPr lang="zh-CN" altLang="en-US" b="1" dirty="0">
                <a:solidFill>
                  <a:srgbClr val="CC00CC"/>
                </a:solidFill>
              </a:rPr>
              <a:t>轻度犯罪</a:t>
            </a:r>
            <a:r>
              <a:rPr lang="en-US" altLang="zh-CN" b="1" dirty="0">
                <a:solidFill>
                  <a:srgbClr val="CC00CC"/>
                </a:solidFill>
              </a:rPr>
              <a:t>(v</a:t>
            </a:r>
            <a:r>
              <a:rPr lang="en-US" altLang="zh-CN" b="1" baseline="-25000" dirty="0">
                <a:solidFill>
                  <a:srgbClr val="CC00CC"/>
                </a:solidFill>
              </a:rPr>
              <a:t>3</a:t>
            </a:r>
            <a:r>
              <a:rPr lang="en-US" altLang="zh-CN" b="1" dirty="0">
                <a:solidFill>
                  <a:srgbClr val="CC00CC"/>
                </a:solidFill>
              </a:rPr>
              <a:t>), </a:t>
            </a:r>
            <a:r>
              <a:rPr lang="zh-CN" altLang="en-US" b="1" dirty="0">
                <a:solidFill>
                  <a:srgbClr val="CC00CC"/>
                </a:solidFill>
              </a:rPr>
              <a:t>无罪</a:t>
            </a:r>
            <a:r>
              <a:rPr lang="en-US" altLang="zh-CN" b="1" dirty="0">
                <a:solidFill>
                  <a:srgbClr val="CC00CC"/>
                </a:solidFill>
              </a:rPr>
              <a:t>(v</a:t>
            </a:r>
            <a:r>
              <a:rPr lang="en-US" altLang="zh-CN" b="1" baseline="-25000" dirty="0">
                <a:solidFill>
                  <a:srgbClr val="CC00CC"/>
                </a:solidFill>
              </a:rPr>
              <a:t>4</a:t>
            </a:r>
            <a:r>
              <a:rPr lang="en-US" altLang="zh-CN" b="1" dirty="0">
                <a:solidFill>
                  <a:srgbClr val="CC00CC"/>
                </a:solidFill>
              </a:rPr>
              <a:t>)}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考虑犯罪的</a:t>
            </a:r>
            <a:r>
              <a:rPr lang="zh-CN" altLang="en-US" b="1" dirty="0">
                <a:solidFill>
                  <a:srgbClr val="3333FF"/>
                </a:solidFill>
                <a:ea typeface="黑体" pitchFamily="2" charset="-122"/>
              </a:rPr>
              <a:t>因素集</a:t>
            </a:r>
            <a:r>
              <a:rPr lang="en-US" altLang="zh-CN" b="1" dirty="0">
                <a:solidFill>
                  <a:srgbClr val="3333FF"/>
                </a:solidFill>
                <a:ea typeface="黑体" pitchFamily="2" charset="-122"/>
              </a:rPr>
              <a:t>U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U={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污染程度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污染范围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危害程度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)}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/>
              <a:t>每一因素</a:t>
            </a:r>
            <a:r>
              <a:rPr lang="en-US" altLang="zh-CN" b="1" dirty="0" err="1"/>
              <a:t>U</a:t>
            </a:r>
            <a:r>
              <a:rPr lang="en-US" altLang="zh-CN" b="1" baseline="-25000" dirty="0" err="1"/>
              <a:t>i</a:t>
            </a:r>
            <a:r>
              <a:rPr lang="en-US" altLang="zh-CN" b="1" dirty="0"/>
              <a:t>(</a:t>
            </a:r>
            <a:r>
              <a:rPr lang="en-US" altLang="zh-CN" b="1" dirty="0" err="1"/>
              <a:t>i</a:t>
            </a:r>
            <a:r>
              <a:rPr lang="en-US" altLang="zh-CN" b="1" dirty="0"/>
              <a:t>=1,2,3)</a:t>
            </a:r>
            <a:r>
              <a:rPr lang="zh-CN" altLang="en-US" b="1" dirty="0"/>
              <a:t>又由更基本的因素所决定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53A44A-0E5E-89AE-3EAD-3F951DF02E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2163" y="542926"/>
            <a:ext cx="8077200" cy="112236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628776"/>
            <a:ext cx="10081120" cy="52292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对于</a:t>
            </a:r>
            <a:r>
              <a:rPr lang="zh-CN" altLang="en-US" sz="2800" u="sng" dirty="0">
                <a:solidFill>
                  <a:srgbClr val="F72603"/>
                </a:solidFill>
                <a:ea typeface="黑体" pitchFamily="2" charset="-122"/>
              </a:rPr>
              <a:t>污染程度</a:t>
            </a:r>
            <a:r>
              <a:rPr lang="en-US" altLang="zh-CN" sz="2800" u="sng" dirty="0">
                <a:solidFill>
                  <a:srgbClr val="F72603"/>
                </a:solidFill>
                <a:ea typeface="黑体" pitchFamily="2" charset="-122"/>
              </a:rPr>
              <a:t>(U</a:t>
            </a:r>
            <a:r>
              <a:rPr lang="en-US" altLang="zh-CN" sz="2800" u="sng" baseline="-25000" dirty="0">
                <a:solidFill>
                  <a:srgbClr val="F72603"/>
                </a:solidFill>
                <a:ea typeface="黑体" pitchFamily="2" charset="-122"/>
              </a:rPr>
              <a:t>1</a:t>
            </a:r>
            <a:r>
              <a:rPr lang="en-US" altLang="zh-CN" sz="2800" u="sng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的因素集和评语集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(V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1 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为</a:t>
            </a:r>
          </a:p>
          <a:p>
            <a:pPr lvl="1" eaLnBrk="1" hangingPunct="1"/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生物需氧量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11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化学需氧量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12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氨氮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13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溶解氧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14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)}</a:t>
            </a:r>
          </a:p>
          <a:p>
            <a:pPr lvl="1" eaLnBrk="1" hangingPunct="1"/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严重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11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中等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12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轻度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13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清洁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14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)}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设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en-US" altLang="zh-CN" sz="2800" b="1" baseline="-25000" dirty="0"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中各因素经专家评议得重要程度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集为</a:t>
            </a:r>
          </a:p>
          <a:p>
            <a:pPr lvl="1" eaLnBrk="1" hangingPunct="1"/>
            <a:r>
              <a:rPr lang="en-US" altLang="zh-CN" sz="2400" b="1" dirty="0">
                <a:solidFill>
                  <a:srgbClr val="F72603"/>
                </a:solidFill>
              </a:rPr>
              <a:t>A</a:t>
            </a:r>
            <a:r>
              <a:rPr lang="en-US" altLang="zh-CN" sz="2400" b="1" baseline="-25000" dirty="0">
                <a:solidFill>
                  <a:srgbClr val="F72603"/>
                </a:solidFill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F72603"/>
                </a:solidFill>
              </a:rPr>
              <a:t>=(0.20, 0.57, 0.21, 0.02)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综合评判矩阵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="1" baseline="-25000" dirty="0"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为：</a:t>
            </a:r>
          </a:p>
          <a:p>
            <a:pPr eaLnBrk="1" hangingPunct="1"/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采用模型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M(∧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，∨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进行一层一级综合评判得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</a:t>
            </a:r>
            <a:r>
              <a:rPr lang="en-US" altLang="zh-CN" sz="2400" b="1" dirty="0"/>
              <a:t>◦</a:t>
            </a:r>
            <a:r>
              <a:rPr lang="en-US" altLang="zh-CN" sz="2400" dirty="0"/>
              <a:t> 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=(0.57, 0.20, 0.03, 0.02)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归一化得：</a:t>
            </a:r>
            <a:r>
              <a:rPr lang="en-US" altLang="zh-CN" sz="2400" b="1" dirty="0">
                <a:solidFill>
                  <a:srgbClr val="F72603"/>
                </a:solidFill>
              </a:rPr>
              <a:t>B</a:t>
            </a:r>
            <a:r>
              <a:rPr lang="en-US" altLang="zh-CN" sz="2400" b="1" baseline="-25000" dirty="0">
                <a:solidFill>
                  <a:srgbClr val="F72603"/>
                </a:solidFill>
              </a:rPr>
              <a:t>1</a:t>
            </a:r>
            <a:r>
              <a:rPr lang="en-US" altLang="zh-CN" sz="2400" b="1" dirty="0">
                <a:solidFill>
                  <a:srgbClr val="F72603"/>
                </a:solidFill>
              </a:rPr>
              <a:t>=(0.70, 0.24, 0.04, 0.02)</a:t>
            </a:r>
          </a:p>
        </p:txBody>
      </p:sp>
      <p:graphicFrame>
        <p:nvGraphicFramePr>
          <p:cNvPr id="24269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64336916"/>
              </p:ext>
            </p:extLst>
          </p:nvPr>
        </p:nvGraphicFramePr>
        <p:xfrm>
          <a:off x="6384032" y="4077072"/>
          <a:ext cx="4149725" cy="182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79600" imgH="914400" progId="Equation.3">
                  <p:embed/>
                </p:oleObj>
              </mc:Choice>
              <mc:Fallback>
                <p:oleObj name="公式" r:id="rId2" imgW="18796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4032" y="4077072"/>
                        <a:ext cx="4149725" cy="182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67E2FA-F433-B32F-5DD5-DA355484F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2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2163" y="542926"/>
            <a:ext cx="8077200" cy="112236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84314"/>
            <a:ext cx="10441160" cy="52292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对于</a:t>
            </a:r>
            <a:r>
              <a:rPr lang="zh-CN" altLang="en-US" sz="2800" u="sng" dirty="0">
                <a:solidFill>
                  <a:srgbClr val="F72603"/>
                </a:solidFill>
                <a:ea typeface="黑体" pitchFamily="2" charset="-122"/>
              </a:rPr>
              <a:t>污染范围</a:t>
            </a:r>
            <a:r>
              <a:rPr lang="en-US" altLang="zh-CN" sz="2800" u="sng" dirty="0">
                <a:solidFill>
                  <a:srgbClr val="F72603"/>
                </a:solidFill>
                <a:ea typeface="黑体" pitchFamily="2" charset="-122"/>
              </a:rPr>
              <a:t>(U</a:t>
            </a:r>
            <a:r>
              <a:rPr lang="en-US" altLang="zh-CN" sz="2800" u="sng" baseline="-25000" dirty="0">
                <a:solidFill>
                  <a:srgbClr val="F72603"/>
                </a:solidFill>
                <a:ea typeface="黑体" pitchFamily="2" charset="-122"/>
              </a:rPr>
              <a:t>2</a:t>
            </a:r>
            <a:r>
              <a:rPr lang="en-US" altLang="zh-CN" sz="2800" u="sng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的因素集和评语集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(V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2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为</a:t>
            </a:r>
          </a:p>
          <a:p>
            <a:pPr lvl="1" eaLnBrk="1" hangingPunct="1"/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分子量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21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溶解度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22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颗粒吸着性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23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水流速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24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)} </a:t>
            </a:r>
          </a:p>
          <a:p>
            <a:pPr lvl="1" eaLnBrk="1" hangingPunct="1"/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很远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21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远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22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较远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23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近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24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)}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设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en-US" altLang="zh-CN" sz="2800" b="1" baseline="-25000" dirty="0"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中各因素经专家评议得重要程度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集为</a:t>
            </a:r>
          </a:p>
          <a:p>
            <a:pPr lvl="1" eaLnBrk="1" hangingPunct="1"/>
            <a:r>
              <a:rPr lang="en-US" altLang="zh-CN" sz="2400" b="1" dirty="0">
                <a:solidFill>
                  <a:srgbClr val="CC00CC"/>
                </a:solidFill>
              </a:rPr>
              <a:t>A</a:t>
            </a:r>
            <a:r>
              <a:rPr lang="en-US" altLang="zh-CN" sz="2400" b="1" baseline="-25000" dirty="0">
                <a:solidFill>
                  <a:srgbClr val="CC00CC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CC00CC"/>
                </a:solidFill>
              </a:rPr>
              <a:t>=(0.6, 0.1, 0.1, 0.2)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综合评判矩阵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="1" baseline="-25000" dirty="0"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为：</a:t>
            </a:r>
          </a:p>
          <a:p>
            <a:pPr eaLnBrk="1" hangingPunct="1"/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采用模型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M(∧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，∨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进行一层一级综合评判得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>
              <a:solidFill>
                <a:srgbClr val="3333FF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C00CC"/>
                </a:solidFill>
                <a:ea typeface="黑体" pitchFamily="2" charset="-122"/>
              </a:rPr>
              <a:t>    </a:t>
            </a:r>
            <a:r>
              <a:rPr lang="en-US" altLang="zh-CN" sz="2800" b="1" dirty="0">
                <a:solidFill>
                  <a:srgbClr val="CC00CC"/>
                </a:solidFill>
              </a:rPr>
              <a:t>B</a:t>
            </a:r>
            <a:r>
              <a:rPr lang="en-US" altLang="zh-CN" sz="2800" b="1" baseline="-25000" dirty="0">
                <a:solidFill>
                  <a:srgbClr val="CC00CC"/>
                </a:solidFill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  <a:ea typeface="黑体" pitchFamily="2" charset="-122"/>
              </a:rPr>
              <a:t> </a:t>
            </a:r>
            <a:r>
              <a:rPr lang="en-US" altLang="zh-CN" sz="2800" b="1" dirty="0">
                <a:solidFill>
                  <a:srgbClr val="CC00CC"/>
                </a:solidFill>
              </a:rPr>
              <a:t>=A</a:t>
            </a:r>
            <a:r>
              <a:rPr lang="en-US" altLang="zh-CN" sz="2800" b="1" baseline="-25000" dirty="0">
                <a:solidFill>
                  <a:srgbClr val="CC00CC"/>
                </a:solidFill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</a:rPr>
              <a:t>◦ R</a:t>
            </a:r>
            <a:r>
              <a:rPr lang="en-US" altLang="zh-CN" sz="2800" b="1" baseline="-25000" dirty="0">
                <a:solidFill>
                  <a:srgbClr val="CC00CC"/>
                </a:solidFill>
              </a:rPr>
              <a:t>2</a:t>
            </a:r>
            <a:r>
              <a:rPr lang="en-US" altLang="zh-CN" sz="2800" b="1" dirty="0">
                <a:solidFill>
                  <a:srgbClr val="CC00CC"/>
                </a:solidFill>
              </a:rPr>
              <a:t>=(0.1, 0.6, 0.2, 0.1)</a:t>
            </a:r>
          </a:p>
        </p:txBody>
      </p:sp>
      <p:graphicFrame>
        <p:nvGraphicFramePr>
          <p:cNvPr id="24474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191250" y="3995738"/>
          <a:ext cx="3703638" cy="182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400" imgH="914400" progId="Equation.3">
                  <p:embed/>
                </p:oleObj>
              </mc:Choice>
              <mc:Fallback>
                <p:oleObj name="公式" r:id="rId2" imgW="167640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0" y="3995738"/>
                        <a:ext cx="3703638" cy="182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92DE16-8764-8F7E-924E-52273372B5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4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4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9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2163" y="542926"/>
            <a:ext cx="8077200" cy="112236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628776"/>
            <a:ext cx="10441160" cy="52292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对于</a:t>
            </a:r>
            <a:r>
              <a:rPr lang="zh-CN" altLang="en-US" sz="2800" u="sng" dirty="0">
                <a:solidFill>
                  <a:srgbClr val="F72603"/>
                </a:solidFill>
                <a:ea typeface="黑体" pitchFamily="2" charset="-122"/>
              </a:rPr>
              <a:t>危害程度</a:t>
            </a:r>
            <a:r>
              <a:rPr lang="en-US" altLang="zh-CN" sz="2800" u="sng" dirty="0">
                <a:solidFill>
                  <a:srgbClr val="F72603"/>
                </a:solidFill>
                <a:ea typeface="黑体" pitchFamily="2" charset="-122"/>
              </a:rPr>
              <a:t>(U</a:t>
            </a:r>
            <a:r>
              <a:rPr lang="en-US" altLang="zh-CN" sz="2800" u="sng" baseline="-25000" dirty="0">
                <a:solidFill>
                  <a:srgbClr val="F72603"/>
                </a:solidFill>
                <a:ea typeface="黑体" pitchFamily="2" charset="-122"/>
              </a:rPr>
              <a:t>3</a:t>
            </a:r>
            <a:r>
              <a:rPr lang="en-US" altLang="zh-CN" sz="2800" u="sng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的因素集和评语集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(V</a:t>
            </a:r>
            <a:r>
              <a:rPr lang="en-US" altLang="zh-CN" sz="2800" baseline="-25000" dirty="0">
                <a:solidFill>
                  <a:srgbClr val="F72603"/>
                </a:solidFill>
                <a:ea typeface="黑体" pitchFamily="2" charset="-122"/>
              </a:rPr>
              <a:t>3 </a:t>
            </a:r>
            <a:r>
              <a:rPr lang="en-US" altLang="zh-CN" sz="2800" dirty="0">
                <a:solidFill>
                  <a:srgbClr val="F72603"/>
                </a:solidFill>
                <a:ea typeface="黑体" pitchFamily="2" charset="-122"/>
              </a:rPr>
              <a:t>)</a:t>
            </a:r>
            <a:r>
              <a:rPr lang="zh-CN" altLang="en-US" sz="2800" dirty="0">
                <a:solidFill>
                  <a:srgbClr val="F72603"/>
                </a:solidFill>
                <a:ea typeface="黑体" pitchFamily="2" charset="-122"/>
              </a:rPr>
              <a:t>为</a:t>
            </a:r>
          </a:p>
          <a:p>
            <a:pPr lvl="1" eaLnBrk="1" hangingPunct="1"/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人身危害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31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社会经济损失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32 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3333FF"/>
                </a:solidFill>
                <a:ea typeface="楷体_GB2312" pitchFamily="49" charset="-122"/>
              </a:rPr>
              <a:t>厂家经济损失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400" b="1" baseline="-25000" dirty="0">
                <a:solidFill>
                  <a:srgbClr val="3333FF"/>
                </a:solidFill>
                <a:ea typeface="楷体_GB2312" pitchFamily="49" charset="-122"/>
              </a:rPr>
              <a:t>33</a:t>
            </a:r>
            <a:r>
              <a:rPr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)} </a:t>
            </a:r>
          </a:p>
          <a:p>
            <a:pPr lvl="1" eaLnBrk="1" hangingPunct="1"/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很严重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31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严重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32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较重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33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), </a:t>
            </a:r>
            <a:r>
              <a:rPr lang="zh-CN" altLang="en-US" sz="2400" b="1" dirty="0">
                <a:solidFill>
                  <a:srgbClr val="008000"/>
                </a:solidFill>
                <a:ea typeface="楷体_GB2312" pitchFamily="49" charset="-122"/>
              </a:rPr>
              <a:t>一般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(v</a:t>
            </a:r>
            <a:r>
              <a:rPr lang="en-US" altLang="zh-CN" sz="2400" b="1" baseline="-25000" dirty="0">
                <a:solidFill>
                  <a:srgbClr val="008000"/>
                </a:solidFill>
                <a:ea typeface="楷体_GB2312" pitchFamily="49" charset="-122"/>
              </a:rPr>
              <a:t>34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)}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设</a:t>
            </a:r>
            <a:r>
              <a:rPr lang="en-US" altLang="zh-CN" sz="2800" dirty="0">
                <a:ea typeface="黑体" pitchFamily="2" charset="-122"/>
              </a:rPr>
              <a:t>U</a:t>
            </a:r>
            <a:r>
              <a:rPr lang="en-US" altLang="zh-CN" sz="2800" b="1" baseline="-25000" dirty="0">
                <a:ea typeface="黑体" pitchFamily="2" charset="-122"/>
              </a:rPr>
              <a:t>3</a:t>
            </a:r>
            <a:r>
              <a:rPr lang="zh-CN" altLang="en-US" sz="2800" dirty="0">
                <a:ea typeface="黑体" pitchFamily="2" charset="-122"/>
              </a:rPr>
              <a:t>中各因素经专家评议得重要程度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集为</a:t>
            </a:r>
          </a:p>
          <a:p>
            <a:pPr lvl="1" eaLnBrk="1" hangingPunct="1"/>
            <a:r>
              <a:rPr lang="en-US" altLang="zh-CN" sz="2400" b="1" dirty="0">
                <a:solidFill>
                  <a:srgbClr val="996633"/>
                </a:solidFill>
              </a:rPr>
              <a:t>A</a:t>
            </a:r>
            <a:r>
              <a:rPr lang="en-US" altLang="zh-CN" sz="2400" b="1" baseline="-25000" dirty="0">
                <a:solidFill>
                  <a:srgbClr val="996633"/>
                </a:solidFill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996633"/>
                </a:solidFill>
              </a:rPr>
              <a:t>=(0.1, 0.6, 0.3)</a:t>
            </a:r>
          </a:p>
          <a:p>
            <a:pPr eaLnBrk="1" hangingPunct="1"/>
            <a:r>
              <a:rPr lang="zh-CN" altLang="en-US" sz="2800" dirty="0">
                <a:ea typeface="黑体" pitchFamily="2" charset="-122"/>
              </a:rPr>
              <a:t>综合评判矩阵</a:t>
            </a:r>
            <a:r>
              <a:rPr lang="en-US" altLang="zh-CN" sz="2800" dirty="0">
                <a:ea typeface="黑体" pitchFamily="2" charset="-122"/>
              </a:rPr>
              <a:t>R</a:t>
            </a:r>
            <a:r>
              <a:rPr lang="en-US" altLang="zh-CN" sz="2800" b="1" baseline="-25000" dirty="0">
                <a:ea typeface="黑体" pitchFamily="2" charset="-122"/>
              </a:rPr>
              <a:t>3</a:t>
            </a:r>
            <a:r>
              <a:rPr lang="zh-CN" altLang="en-US" sz="2800" dirty="0">
                <a:ea typeface="黑体" pitchFamily="2" charset="-122"/>
              </a:rPr>
              <a:t>为：</a:t>
            </a:r>
          </a:p>
          <a:p>
            <a:pPr eaLnBrk="1" hangingPunct="1"/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采用模型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M(∧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，∨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进行一层一级综合评判得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</a:t>
            </a:r>
            <a:r>
              <a:rPr lang="en-US" altLang="zh-CN" sz="2400" b="1" dirty="0"/>
              <a:t>◦</a:t>
            </a:r>
            <a:r>
              <a:rPr lang="en-US" altLang="zh-CN" sz="2400" dirty="0"/>
              <a:t> R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=(0.5, 0.4, 0.1, 0.1)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归一化得：</a:t>
            </a:r>
            <a:r>
              <a:rPr lang="en-US" altLang="zh-CN" sz="2400" b="1" dirty="0">
                <a:solidFill>
                  <a:srgbClr val="996633"/>
                </a:solidFill>
              </a:rPr>
              <a:t>B</a:t>
            </a:r>
            <a:r>
              <a:rPr lang="en-US" altLang="zh-CN" sz="2400" b="1" baseline="-25000" dirty="0">
                <a:solidFill>
                  <a:srgbClr val="996633"/>
                </a:solidFill>
              </a:rPr>
              <a:t>3</a:t>
            </a:r>
            <a:r>
              <a:rPr lang="en-US" altLang="zh-CN" sz="2400" b="1" dirty="0">
                <a:solidFill>
                  <a:srgbClr val="996633"/>
                </a:solidFill>
              </a:rPr>
              <a:t>=(0.46, 0.36, 0.09, 0.09)</a:t>
            </a:r>
          </a:p>
        </p:txBody>
      </p:sp>
      <p:graphicFrame>
        <p:nvGraphicFramePr>
          <p:cNvPr id="24678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167438" y="4100513"/>
          <a:ext cx="4038600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3700" imgH="711200" progId="Equation.3">
                  <p:embed/>
                </p:oleObj>
              </mc:Choice>
              <mc:Fallback>
                <p:oleObj name="公式" r:id="rId2" imgW="16637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4100513"/>
                        <a:ext cx="4038600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CF3BB4-4FAD-D065-640B-C320D31F3B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6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6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6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6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6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67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67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综合评判举例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628776"/>
            <a:ext cx="9937104" cy="52292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由上述一层一级</a:t>
            </a:r>
            <a:r>
              <a:rPr lang="en-US" altLang="zh-CN" sz="2800" dirty="0">
                <a:ea typeface="黑体" pitchFamily="2" charset="-122"/>
              </a:rPr>
              <a:t>F</a:t>
            </a:r>
            <a:r>
              <a:rPr lang="zh-CN" altLang="en-US" sz="2800" dirty="0">
                <a:ea typeface="黑体" pitchFamily="2" charset="-122"/>
              </a:rPr>
              <a:t>综合评价集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zh-CN" altLang="en-US" sz="2800" dirty="0">
                <a:ea typeface="黑体" pitchFamily="2" charset="-122"/>
              </a:rPr>
              <a:t>、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en-US" altLang="zh-CN" sz="2800" baseline="-25000" dirty="0">
                <a:ea typeface="黑体" pitchFamily="2" charset="-122"/>
              </a:rPr>
              <a:t>2</a:t>
            </a:r>
            <a:r>
              <a:rPr lang="zh-CN" altLang="en-US" sz="2800" dirty="0">
                <a:ea typeface="黑体" pitchFamily="2" charset="-122"/>
              </a:rPr>
              <a:t>、</a:t>
            </a:r>
            <a:r>
              <a:rPr lang="en-US" altLang="zh-CN" sz="2800" dirty="0">
                <a:ea typeface="黑体" pitchFamily="2" charset="-122"/>
              </a:rPr>
              <a:t>B</a:t>
            </a:r>
            <a:r>
              <a:rPr lang="en-US" altLang="zh-CN" sz="2800" baseline="-25000" dirty="0">
                <a:ea typeface="黑体" pitchFamily="2" charset="-122"/>
              </a:rPr>
              <a:t>3</a:t>
            </a:r>
            <a:r>
              <a:rPr lang="zh-CN" altLang="en-US" sz="2800" dirty="0">
                <a:ea typeface="黑体" pitchFamily="2" charset="-122"/>
              </a:rPr>
              <a:t>得二层综合评判矩阵</a:t>
            </a:r>
            <a:r>
              <a:rPr lang="en-US" altLang="zh-CN" sz="2800" dirty="0">
                <a:ea typeface="黑体" pitchFamily="2" charset="-122"/>
              </a:rPr>
              <a:t>R</a:t>
            </a:r>
          </a:p>
          <a:p>
            <a:pPr eaLnBrk="1" hangingPunct="1"/>
            <a:r>
              <a:rPr lang="zh-CN" altLang="en-US" sz="2800" dirty="0">
                <a:ea typeface="楷体_GB2312" pitchFamily="49" charset="-122"/>
              </a:rPr>
              <a:t>设</a:t>
            </a:r>
            <a:r>
              <a:rPr lang="en-US" altLang="zh-CN" sz="2800" b="1" dirty="0">
                <a:ea typeface="楷体_GB2312" pitchFamily="49" charset="-122"/>
              </a:rPr>
              <a:t>U={U</a:t>
            </a:r>
            <a:r>
              <a:rPr lang="en-US" altLang="zh-CN" sz="2800" b="1" baseline="-25000" dirty="0">
                <a:ea typeface="楷体_GB2312" pitchFamily="49" charset="-122"/>
              </a:rPr>
              <a:t>1</a:t>
            </a:r>
            <a:r>
              <a:rPr lang="en-US" altLang="zh-CN" sz="2800" b="1" dirty="0">
                <a:ea typeface="楷体_GB2312" pitchFamily="49" charset="-122"/>
              </a:rPr>
              <a:t>, U</a:t>
            </a:r>
            <a:r>
              <a:rPr lang="en-US" altLang="zh-CN" sz="2800" b="1" baseline="-25000" dirty="0">
                <a:ea typeface="楷体_GB2312" pitchFamily="49" charset="-122"/>
              </a:rPr>
              <a:t>2</a:t>
            </a:r>
            <a:r>
              <a:rPr lang="en-US" altLang="zh-CN" sz="2800" b="1" dirty="0">
                <a:ea typeface="楷体_GB2312" pitchFamily="49" charset="-122"/>
              </a:rPr>
              <a:t>, U</a:t>
            </a:r>
            <a:r>
              <a:rPr lang="en-US" altLang="zh-CN" sz="2800" b="1" baseline="-25000" dirty="0">
                <a:ea typeface="楷体_GB2312" pitchFamily="49" charset="-122"/>
              </a:rPr>
              <a:t>3</a:t>
            </a:r>
            <a:r>
              <a:rPr lang="en-US" altLang="zh-CN" sz="2800" b="1" dirty="0">
                <a:ea typeface="楷体_GB2312" pitchFamily="49" charset="-122"/>
              </a:rPr>
              <a:t>}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ea typeface="楷体_GB2312" pitchFamily="49" charset="-122"/>
              </a:rPr>
              <a:t>    因素重要程度</a:t>
            </a:r>
            <a:r>
              <a:rPr lang="en-US" altLang="zh-CN" sz="2800" b="1" dirty="0">
                <a:ea typeface="楷体_GB2312" pitchFamily="49" charset="-122"/>
              </a:rPr>
              <a:t>F</a:t>
            </a:r>
            <a:r>
              <a:rPr lang="zh-CN" altLang="en-US" sz="2800" b="1" dirty="0">
                <a:ea typeface="楷体_GB2312" pitchFamily="49" charset="-122"/>
              </a:rPr>
              <a:t>子集为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F72603"/>
                </a:solidFill>
                <a:ea typeface="楷体_GB2312" pitchFamily="49" charset="-122"/>
              </a:rPr>
              <a:t>    </a:t>
            </a:r>
            <a:r>
              <a:rPr lang="en-US" altLang="zh-CN" b="1" dirty="0">
                <a:solidFill>
                  <a:srgbClr val="F72603"/>
                </a:solidFill>
                <a:ea typeface="楷体_GB2312" pitchFamily="49" charset="-122"/>
              </a:rPr>
              <a:t>A=(0.5, 0.3, 0.2)</a:t>
            </a:r>
          </a:p>
          <a:p>
            <a:pPr eaLnBrk="1" hangingPunct="1"/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采用模型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M(∧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，∨</a:t>
            </a: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zh-CN" altLang="en-US" sz="2800" dirty="0">
                <a:solidFill>
                  <a:srgbClr val="3333FF"/>
                </a:solidFill>
                <a:ea typeface="黑体" pitchFamily="2" charset="-122"/>
              </a:rPr>
              <a:t>进行一级综合评判得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solidFill>
                  <a:srgbClr val="3333FF"/>
                </a:solidFill>
                <a:ea typeface="黑体" pitchFamily="2" charset="-122"/>
              </a:rPr>
              <a:t>    </a:t>
            </a:r>
            <a:r>
              <a:rPr lang="en-US" altLang="zh-CN" sz="2800" b="1" dirty="0">
                <a:solidFill>
                  <a:srgbClr val="F72603"/>
                </a:solidFill>
                <a:ea typeface="黑体" pitchFamily="2" charset="-122"/>
              </a:rPr>
              <a:t>B=</a:t>
            </a:r>
            <a:r>
              <a:rPr lang="en-US" altLang="zh-CN" sz="2800" b="1" dirty="0">
                <a:solidFill>
                  <a:srgbClr val="F72603"/>
                </a:solidFill>
              </a:rPr>
              <a:t>A◦R=(0.5, 0.3, 0.2, 0.1)</a:t>
            </a:r>
          </a:p>
          <a:p>
            <a:pPr eaLnBrk="1" hangingPunct="1"/>
            <a:r>
              <a:rPr lang="zh-CN" altLang="en-US" sz="2800" b="1" dirty="0">
                <a:solidFill>
                  <a:srgbClr val="008000"/>
                </a:solidFill>
                <a:ea typeface="楷体_GB2312" pitchFamily="49" charset="-122"/>
              </a:rPr>
              <a:t>按最大隶属度原则，犯罪事实是成立的，这使初步审理此案有了依据。</a:t>
            </a:r>
          </a:p>
        </p:txBody>
      </p:sp>
      <p:graphicFrame>
        <p:nvGraphicFramePr>
          <p:cNvPr id="24781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5988050" y="2205038"/>
          <a:ext cx="467995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62200" imgH="711200" progId="Equation.3">
                  <p:embed/>
                </p:oleObj>
              </mc:Choice>
              <mc:Fallback>
                <p:oleObj name="公式" r:id="rId2" imgW="23622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2205038"/>
                        <a:ext cx="467995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608168" y="3789040"/>
            <a:ext cx="2736230" cy="1865126"/>
          </a:xfrm>
          <a:prstGeom prst="rect">
            <a:avLst/>
          </a:prstGeom>
          <a:solidFill>
            <a:srgbClr val="F3FD99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CC00CC"/>
                </a:solidFill>
              </a:rPr>
              <a:t>V={</a:t>
            </a:r>
            <a:r>
              <a:rPr lang="zh-CN" altLang="en-US" sz="2400" b="1" dirty="0">
                <a:solidFill>
                  <a:srgbClr val="CC00CC"/>
                </a:solidFill>
              </a:rPr>
              <a:t>严重犯罪</a:t>
            </a:r>
            <a:r>
              <a:rPr lang="en-US" altLang="zh-CN" sz="2400" b="1" dirty="0">
                <a:solidFill>
                  <a:srgbClr val="CC00CC"/>
                </a:solidFill>
              </a:rPr>
              <a:t>(v</a:t>
            </a:r>
            <a:r>
              <a:rPr lang="en-US" altLang="zh-CN" sz="2400" b="1" baseline="-25000" dirty="0">
                <a:solidFill>
                  <a:srgbClr val="CC00CC"/>
                </a:solidFill>
              </a:rPr>
              <a:t>1</a:t>
            </a:r>
            <a:r>
              <a:rPr lang="en-US" altLang="zh-CN" sz="2400" b="1" dirty="0">
                <a:solidFill>
                  <a:srgbClr val="CC00CC"/>
                </a:solidFill>
              </a:rPr>
              <a:t>),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CC00CC"/>
                </a:solidFill>
              </a:rPr>
              <a:t>      </a:t>
            </a:r>
            <a:r>
              <a:rPr lang="zh-CN" altLang="en-US" sz="2400" b="1" dirty="0">
                <a:solidFill>
                  <a:srgbClr val="CC00CC"/>
                </a:solidFill>
              </a:rPr>
              <a:t>中等犯罪</a:t>
            </a:r>
            <a:r>
              <a:rPr lang="en-US" altLang="zh-CN" sz="2400" b="1" dirty="0">
                <a:solidFill>
                  <a:srgbClr val="CC00CC"/>
                </a:solidFill>
              </a:rPr>
              <a:t>(v</a:t>
            </a:r>
            <a:r>
              <a:rPr lang="en-US" altLang="zh-CN" sz="2400" b="1" baseline="-25000" dirty="0">
                <a:solidFill>
                  <a:srgbClr val="CC00CC"/>
                </a:solidFill>
              </a:rPr>
              <a:t>2</a:t>
            </a:r>
            <a:r>
              <a:rPr lang="en-US" altLang="zh-CN" sz="2400" b="1" dirty="0">
                <a:solidFill>
                  <a:srgbClr val="CC00CC"/>
                </a:solidFill>
              </a:rPr>
              <a:t>),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CC00CC"/>
                </a:solidFill>
              </a:rPr>
              <a:t>      </a:t>
            </a:r>
            <a:r>
              <a:rPr lang="zh-CN" altLang="en-US" sz="2400" b="1" dirty="0">
                <a:solidFill>
                  <a:srgbClr val="CC00CC"/>
                </a:solidFill>
              </a:rPr>
              <a:t>轻度犯罪</a:t>
            </a:r>
            <a:r>
              <a:rPr lang="en-US" altLang="zh-CN" sz="2400" b="1" dirty="0">
                <a:solidFill>
                  <a:srgbClr val="CC00CC"/>
                </a:solidFill>
              </a:rPr>
              <a:t>(v</a:t>
            </a:r>
            <a:r>
              <a:rPr lang="en-US" altLang="zh-CN" sz="2400" b="1" baseline="-25000" dirty="0">
                <a:solidFill>
                  <a:srgbClr val="CC00CC"/>
                </a:solidFill>
              </a:rPr>
              <a:t>3</a:t>
            </a:r>
            <a:r>
              <a:rPr lang="en-US" altLang="zh-CN" sz="2400" b="1" dirty="0">
                <a:solidFill>
                  <a:srgbClr val="CC00CC"/>
                </a:solidFill>
              </a:rPr>
              <a:t>), 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CC00CC"/>
                </a:solidFill>
              </a:rPr>
              <a:t>             </a:t>
            </a:r>
            <a:r>
              <a:rPr lang="zh-CN" altLang="en-US" sz="2400" b="1" dirty="0">
                <a:solidFill>
                  <a:srgbClr val="CC00CC"/>
                </a:solidFill>
              </a:rPr>
              <a:t>无罪</a:t>
            </a:r>
            <a:r>
              <a:rPr lang="en-US" altLang="zh-CN" sz="2400" b="1" dirty="0">
                <a:solidFill>
                  <a:srgbClr val="CC00CC"/>
                </a:solidFill>
              </a:rPr>
              <a:t>(v</a:t>
            </a:r>
            <a:r>
              <a:rPr lang="en-US" altLang="zh-CN" sz="2400" b="1" baseline="-25000" dirty="0">
                <a:solidFill>
                  <a:srgbClr val="CC00CC"/>
                </a:solidFill>
              </a:rPr>
              <a:t>4</a:t>
            </a:r>
            <a:r>
              <a:rPr lang="en-US" altLang="zh-CN" sz="2400" b="1" dirty="0">
                <a:solidFill>
                  <a:srgbClr val="CC00CC"/>
                </a:solidFill>
              </a:rPr>
              <a:t>)}</a:t>
            </a:r>
            <a:endParaRPr lang="en-US" altLang="zh-CN" sz="2400" b="1" dirty="0">
              <a:solidFill>
                <a:srgbClr val="CC00CC"/>
              </a:solidFill>
              <a:ea typeface="楷体_GB2312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A2F34E-C3BF-66E9-AEB6-3CA447F68D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uiExpand="1" build="p"/>
      <p:bldP spid="2" grpId="0" uiExpan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对多层次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综合评判说明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784350"/>
            <a:ext cx="10081120" cy="46164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2" charset="-122"/>
              </a:rPr>
              <a:t>上述介绍的是二层次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综合评判，若因素集</a:t>
            </a:r>
            <a:r>
              <a:rPr lang="en-US" altLang="zh-CN" dirty="0">
                <a:ea typeface="黑体" pitchFamily="2" charset="-122"/>
              </a:rPr>
              <a:t>U</a:t>
            </a:r>
            <a:r>
              <a:rPr lang="zh-CN" altLang="en-US" dirty="0">
                <a:ea typeface="黑体" pitchFamily="2" charset="-122"/>
              </a:rPr>
              <a:t>的元素非常多时，可对它作多级划分，并进行更高层次的综合评判。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2" charset="-122"/>
              </a:rPr>
              <a:t>多层次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综合评判反映了客观事物因素之间的不同层次，它可以避免当因素过多时，因素重要程度</a:t>
            </a:r>
            <a:r>
              <a:rPr lang="en-US" altLang="zh-CN" dirty="0">
                <a:ea typeface="黑体" pitchFamily="2" charset="-122"/>
              </a:rPr>
              <a:t>F</a:t>
            </a:r>
            <a:r>
              <a:rPr lang="zh-CN" altLang="en-US" dirty="0">
                <a:ea typeface="黑体" pitchFamily="2" charset="-122"/>
              </a:rPr>
              <a:t>子集难以分配的弊端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8A6FF2-19C8-9966-6E9A-F2F7F83FED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权重的确定方法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557338"/>
            <a:ext cx="10009112" cy="504031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kumimoji="1" lang="zh-CN" altLang="en-US" b="1" dirty="0"/>
              <a:t>在</a:t>
            </a:r>
            <a:r>
              <a:rPr kumimoji="1" lang="en-US" altLang="zh-CN" b="1" u="sng" dirty="0"/>
              <a:t>F</a:t>
            </a:r>
            <a:r>
              <a:rPr kumimoji="1" lang="zh-CN" altLang="en-US" b="1" u="sng" dirty="0"/>
              <a:t>综合评判决策</a:t>
            </a:r>
            <a:r>
              <a:rPr kumimoji="1" lang="zh-CN" altLang="en-US" b="1" dirty="0"/>
              <a:t>中</a:t>
            </a:r>
            <a:r>
              <a:rPr kumimoji="1" lang="en-US" altLang="zh-CN" b="1" dirty="0"/>
              <a:t>,</a:t>
            </a:r>
            <a:r>
              <a:rPr kumimoji="1" lang="zh-CN" altLang="en-US" b="1" dirty="0"/>
              <a:t>权重是至关重要的</a:t>
            </a:r>
            <a:r>
              <a:rPr kumimoji="1" lang="en-US" altLang="zh-CN" b="1" dirty="0"/>
              <a:t>,</a:t>
            </a:r>
            <a:r>
              <a:rPr kumimoji="1" lang="zh-CN" altLang="en-US" b="1" dirty="0"/>
              <a:t>它反映了各个因素在综合决策过程中所占有的地位或所起的作用，它直接影响到综合决策的结果。</a:t>
            </a:r>
            <a:endParaRPr kumimoji="1" lang="en-US" altLang="zh-CN" b="1" dirty="0"/>
          </a:p>
          <a:p>
            <a:pPr eaLnBrk="1" hangingPunct="1">
              <a:lnSpc>
                <a:spcPct val="150000"/>
              </a:lnSpc>
            </a:pPr>
            <a:r>
              <a:rPr kumimoji="1" lang="zh-CN" altLang="en-US" b="1" dirty="0"/>
              <a:t>凭经验给出的权重，在一定的程度上能反映实际情况，评判的结果也比较符合实际，但它往往带有主观性，是不能客观地反映实际情况</a:t>
            </a:r>
            <a:r>
              <a:rPr kumimoji="1" lang="en-US" altLang="zh-CN" b="1" dirty="0"/>
              <a:t>,</a:t>
            </a:r>
            <a:r>
              <a:rPr kumimoji="1" lang="zh-CN" altLang="en-US" b="1" dirty="0"/>
              <a:t>评判结果可能“失真”。</a:t>
            </a:r>
            <a:endParaRPr kumimoji="1" lang="en-US" altLang="zh-CN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67AE14-4834-CA53-1973-8C0D30433B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89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4.4  F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决策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844675"/>
            <a:ext cx="8496871" cy="44640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确定权重的统计方法</a:t>
            </a:r>
          </a:p>
          <a:p>
            <a:pPr lvl="1"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专家估测法</a:t>
            </a:r>
          </a:p>
          <a:p>
            <a:pPr lvl="1"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加权统计方法</a:t>
            </a:r>
          </a:p>
          <a:p>
            <a:pPr lvl="1" eaLnBrk="1" hangingPunct="1"/>
            <a:r>
              <a:rPr lang="zh-CN" altLang="en-US" dirty="0">
                <a:latin typeface="黑体" pitchFamily="2" charset="-122"/>
                <a:ea typeface="黑体" pitchFamily="2" charset="-122"/>
              </a:rPr>
              <a:t>频数统计方法</a:t>
            </a: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客观赋权法</a:t>
            </a:r>
            <a:endParaRPr lang="en-US" altLang="zh-CN" dirty="0">
              <a:solidFill>
                <a:srgbClr val="F72603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协调决策法</a:t>
            </a:r>
          </a:p>
          <a:p>
            <a:pPr eaLnBrk="1" hangingPunct="1"/>
            <a:r>
              <a:rPr lang="en-US" altLang="zh-CN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  <a:p>
            <a:pPr eaLnBrk="1" hangingPunct="1"/>
            <a:r>
              <a:rPr lang="zh-CN" altLang="en-US" dirty="0">
                <a:solidFill>
                  <a:srgbClr val="F72603"/>
                </a:solidFill>
                <a:latin typeface="黑体" pitchFamily="2" charset="-122"/>
                <a:ea typeface="黑体" pitchFamily="2" charset="-122"/>
              </a:rPr>
              <a:t>层次分析法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dirty="0">
              <a:solidFill>
                <a:srgbClr val="F72603"/>
              </a:solidFill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770810" y="4869160"/>
            <a:ext cx="4897190" cy="1584176"/>
            <a:chOff x="1156" y="2478"/>
            <a:chExt cx="3357" cy="1179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064" y="2931"/>
              <a:ext cx="1451" cy="7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653" y="3067"/>
              <a:ext cx="590" cy="4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600"/>
                <a:t>R</a:t>
              </a: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338" y="3294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3515" y="3294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156" y="2931"/>
              <a:ext cx="1225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/>
                <a:t>输入</a:t>
              </a:r>
              <a:r>
                <a:rPr lang="en-US" altLang="zh-CN" sz="2800"/>
                <a:t>A</a:t>
              </a: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606" y="2931"/>
              <a:ext cx="907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/>
                <a:t>输出</a:t>
              </a:r>
              <a:r>
                <a:rPr lang="en-US" altLang="zh-CN" sz="2800"/>
                <a:t>B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2290" y="2478"/>
              <a:ext cx="1587" cy="4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72603"/>
                  </a:solidFill>
                </a:rPr>
                <a:t>A</a:t>
              </a:r>
              <a:r>
                <a:rPr lang="zh-CN" altLang="en-US" sz="3200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*</a:t>
              </a:r>
              <a:r>
                <a:rPr lang="en-US" altLang="zh-CN" sz="3200" dirty="0">
                  <a:solidFill>
                    <a:srgbClr val="F72603"/>
                  </a:solidFill>
                </a:rPr>
                <a:t>R=B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DDC1BB-7D30-9EFB-28AC-B146E0F5A8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93939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4415FC39-6EE1-42F9-2E80-5FB2D2091BFF}"/>
              </a:ext>
            </a:extLst>
          </p:cNvPr>
          <p:cNvSpPr/>
          <p:nvPr/>
        </p:nvSpPr>
        <p:spPr bwMode="auto">
          <a:xfrm>
            <a:off x="1992313" y="5949950"/>
            <a:ext cx="7056015" cy="642938"/>
          </a:xfrm>
          <a:prstGeom prst="roundRect">
            <a:avLst/>
          </a:prstGeom>
          <a:solidFill>
            <a:srgbClr val="9BF2F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确定权重的统计方法</a:t>
            </a:r>
            <a:br>
              <a:rPr lang="zh-CN" altLang="en-US"/>
            </a:br>
            <a:r>
              <a:rPr lang="en-US" altLang="zh-CN" sz="360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3600">
                <a:solidFill>
                  <a:schemeClr val="bg2"/>
                </a:solidFill>
                <a:latin typeface="黑体" pitchFamily="2" charset="-122"/>
                <a:ea typeface="黑体" pitchFamily="2" charset="-122"/>
              </a:rPr>
              <a:t>专家估测法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700214"/>
            <a:ext cx="9937103" cy="865187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设因素集</a:t>
            </a:r>
            <a:r>
              <a:rPr lang="en-US" altLang="zh-CN" sz="2800" dirty="0">
                <a:ea typeface="黑体" pitchFamily="2" charset="-122"/>
              </a:rPr>
              <a:t>U={u</a:t>
            </a:r>
            <a:r>
              <a:rPr lang="en-US" altLang="zh-CN" sz="2800" baseline="-25000" dirty="0">
                <a:ea typeface="黑体" pitchFamily="2" charset="-122"/>
              </a:rPr>
              <a:t>1</a:t>
            </a:r>
            <a:r>
              <a:rPr lang="en-US" altLang="zh-CN" sz="2800" dirty="0">
                <a:ea typeface="黑体" pitchFamily="2" charset="-122"/>
              </a:rPr>
              <a:t>,u</a:t>
            </a:r>
            <a:r>
              <a:rPr lang="en-US" altLang="zh-CN" sz="2800" baseline="-25000" dirty="0">
                <a:ea typeface="黑体" pitchFamily="2" charset="-122"/>
              </a:rPr>
              <a:t>2 </a:t>
            </a:r>
            <a:r>
              <a:rPr lang="en-US" altLang="zh-CN" sz="2800" dirty="0">
                <a:ea typeface="黑体" pitchFamily="2" charset="-122"/>
              </a:rPr>
              <a:t>,…,u</a:t>
            </a:r>
            <a:r>
              <a:rPr lang="en-US" altLang="zh-CN" sz="2800" baseline="-25000" dirty="0">
                <a:ea typeface="黑体" pitchFamily="2" charset="-122"/>
              </a:rPr>
              <a:t>n</a:t>
            </a:r>
            <a:r>
              <a:rPr lang="en-US" altLang="zh-CN" sz="2800" dirty="0">
                <a:ea typeface="黑体" pitchFamily="2" charset="-122"/>
              </a:rPr>
              <a:t>},</a:t>
            </a:r>
            <a:r>
              <a:rPr lang="zh-CN" altLang="en-US" sz="2800" dirty="0">
                <a:ea typeface="黑体" pitchFamily="2" charset="-122"/>
              </a:rPr>
              <a:t>现有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lang="zh-CN" altLang="en-US" sz="2800" dirty="0">
                <a:ea typeface="黑体" pitchFamily="2" charset="-122"/>
              </a:rPr>
              <a:t>个专家各自独立地给出各因素</a:t>
            </a:r>
            <a:r>
              <a:rPr lang="en-US" altLang="zh-CN" sz="2800" dirty="0" err="1">
                <a:ea typeface="黑体" pitchFamily="2" charset="-122"/>
              </a:rPr>
              <a:t>u</a:t>
            </a:r>
            <a:r>
              <a:rPr lang="en-US" altLang="zh-CN" sz="2800" baseline="-25000" dirty="0" err="1">
                <a:ea typeface="黑体" pitchFamily="2" charset="-122"/>
              </a:rPr>
              <a:t>i</a:t>
            </a:r>
            <a:r>
              <a:rPr lang="zh-CN" altLang="en-US" sz="2800" dirty="0">
                <a:ea typeface="黑体" pitchFamily="2" charset="-122"/>
              </a:rPr>
              <a:t>的权重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zh-CN" altLang="en-US" sz="2800" dirty="0">
                <a:ea typeface="黑体" pitchFamily="2" charset="-122"/>
              </a:rPr>
              <a:t>如下表</a:t>
            </a:r>
            <a:r>
              <a:rPr lang="en-US" altLang="zh-CN" sz="2800" dirty="0">
                <a:ea typeface="黑体" pitchFamily="2" charset="-122"/>
              </a:rPr>
              <a:t>, </a:t>
            </a:r>
            <a:r>
              <a:rPr lang="zh-CN" altLang="en-US" sz="2800" dirty="0">
                <a:ea typeface="黑体" pitchFamily="2" charset="-122"/>
              </a:rPr>
              <a:t>可取各因素权重的平均值作为权重</a:t>
            </a:r>
            <a:endParaRPr lang="zh-CN" altLang="en-US" sz="2800" dirty="0"/>
          </a:p>
        </p:txBody>
      </p:sp>
      <p:graphicFrame>
        <p:nvGraphicFramePr>
          <p:cNvPr id="266244" name="Group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9017269"/>
              </p:ext>
            </p:extLst>
          </p:nvPr>
        </p:nvGraphicFramePr>
        <p:xfrm>
          <a:off x="1992314" y="2565400"/>
          <a:ext cx="8218487" cy="4032252"/>
        </p:xfrm>
        <a:graphic>
          <a:graphicData uri="http://schemas.openxmlformats.org/drawingml/2006/table">
            <a:tbl>
              <a:tblPr/>
              <a:tblGrid>
                <a:gridCol w="1008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92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专家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因素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Σ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专家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CC00CC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专家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12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专家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1k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ik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nk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权重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6311" name="Object 7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16275" y="5949950"/>
          <a:ext cx="6300788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56100" imgH="444500" progId="Equation.3">
                  <p:embed/>
                </p:oleObj>
              </mc:Choice>
              <mc:Fallback>
                <p:oleObj name="公式" r:id="rId2" imgW="43561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5949950"/>
                        <a:ext cx="6300788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142D54-8771-28DF-AB7B-384CDECE65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119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2.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加权统计法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700214"/>
            <a:ext cx="9721080" cy="41671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黑体" pitchFamily="2" charset="-122"/>
              </a:rPr>
              <a:t>当专家人数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k&lt;30</a:t>
            </a:r>
            <a:r>
              <a:rPr lang="zh-CN" altLang="en-US" dirty="0">
                <a:ea typeface="黑体" pitchFamily="2" charset="-122"/>
              </a:rPr>
              <a:t>人时</a:t>
            </a:r>
            <a:r>
              <a:rPr lang="en-US" altLang="zh-CN" dirty="0">
                <a:ea typeface="黑体" pitchFamily="2" charset="-122"/>
              </a:rPr>
              <a:t>,</a:t>
            </a:r>
            <a:r>
              <a:rPr lang="zh-CN" altLang="en-US" dirty="0">
                <a:ea typeface="黑体" pitchFamily="2" charset="-122"/>
              </a:rPr>
              <a:t>可用加权统计方法来计算权重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: </a:t>
            </a:r>
            <a:r>
              <a:rPr lang="en-US" altLang="zh-CN" dirty="0">
                <a:ea typeface="黑体" pitchFamily="2" charset="-122"/>
              </a:rPr>
              <a:t>U={u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2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3</a:t>
            </a:r>
            <a:r>
              <a:rPr lang="en-US" altLang="zh-CN" dirty="0">
                <a:ea typeface="黑体" pitchFamily="2" charset="-122"/>
              </a:rPr>
              <a:t>, u</a:t>
            </a:r>
            <a:r>
              <a:rPr lang="en-US" altLang="zh-CN" baseline="-25000" dirty="0">
                <a:ea typeface="黑体" pitchFamily="2" charset="-122"/>
              </a:rPr>
              <a:t>4</a:t>
            </a:r>
            <a:r>
              <a:rPr lang="en-US" altLang="zh-CN" dirty="0">
                <a:ea typeface="黑体" pitchFamily="2" charset="-122"/>
              </a:rPr>
              <a:t>}, </a:t>
            </a:r>
            <a:r>
              <a:rPr lang="zh-CN" altLang="en-US" dirty="0">
                <a:ea typeface="黑体" pitchFamily="2" charset="-122"/>
              </a:rPr>
              <a:t>请</a:t>
            </a:r>
            <a:r>
              <a:rPr lang="en-US" altLang="zh-CN" dirty="0">
                <a:ea typeface="黑体" pitchFamily="2" charset="-122"/>
              </a:rPr>
              <a:t>22</a:t>
            </a:r>
            <a:r>
              <a:rPr lang="zh-CN" altLang="en-US" dirty="0">
                <a:ea typeface="黑体" pitchFamily="2" charset="-122"/>
              </a:rPr>
              <a:t>专家或有关人员根据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权重分配调查表</a:t>
            </a:r>
            <a:r>
              <a:rPr lang="zh-CN" altLang="en-US" dirty="0">
                <a:ea typeface="黑体" pitchFamily="2" charset="-122"/>
              </a:rPr>
              <a:t>提出自己认为最合适的权重</a:t>
            </a:r>
            <a:r>
              <a:rPr lang="en-US" altLang="zh-CN" dirty="0">
                <a:ea typeface="黑体" pitchFamily="2" charset="-122"/>
              </a:rPr>
              <a:t>.</a:t>
            </a:r>
          </a:p>
        </p:txBody>
      </p:sp>
      <p:graphicFrame>
        <p:nvGraphicFramePr>
          <p:cNvPr id="268292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69865013"/>
              </p:ext>
            </p:extLst>
          </p:nvPr>
        </p:nvGraphicFramePr>
        <p:xfrm>
          <a:off x="3216276" y="4221162"/>
          <a:ext cx="6048076" cy="1371599"/>
        </p:xfrm>
        <a:graphic>
          <a:graphicData uri="http://schemas.openxmlformats.org/drawingml/2006/table">
            <a:tbl>
              <a:tblPr/>
              <a:tblGrid>
                <a:gridCol w="1323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8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因素</a:t>
                      </a: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8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3</a:t>
                      </a: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4</a:t>
                      </a: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Σ</a:t>
                      </a: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权重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ij</a:t>
                      </a: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76B8A4-6332-2C06-3D57-FFE99249B6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979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739775"/>
          </a:xfrm>
        </p:spPr>
        <p:txBody>
          <a:bodyPr/>
          <a:lstStyle/>
          <a:p>
            <a:pPr algn="ctr" eaLnBrk="1" hangingPunct="1"/>
            <a:r>
              <a:rPr lang="en-US" altLang="zh-CN" sz="4000">
                <a:solidFill>
                  <a:srgbClr val="008000"/>
                </a:solidFill>
                <a:ea typeface="黑体" pitchFamily="2" charset="-122"/>
              </a:rPr>
              <a:t>2. </a:t>
            </a:r>
            <a:r>
              <a:rPr lang="zh-CN" altLang="en-US" sz="4000">
                <a:solidFill>
                  <a:srgbClr val="008000"/>
                </a:solidFill>
                <a:ea typeface="黑体" pitchFamily="2" charset="-122"/>
              </a:rPr>
              <a:t>加权统计法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169989"/>
            <a:ext cx="8507413" cy="57467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2" charset="-122"/>
              </a:rPr>
              <a:t>收回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权重分配调查表</a:t>
            </a:r>
            <a:r>
              <a:rPr lang="zh-CN" altLang="en-US" sz="2800" dirty="0">
                <a:ea typeface="黑体" pitchFamily="2" charset="-122"/>
              </a:rPr>
              <a:t>后</a:t>
            </a:r>
            <a:r>
              <a:rPr lang="en-US" altLang="zh-CN" sz="2800" dirty="0">
                <a:ea typeface="黑体" pitchFamily="2" charset="-122"/>
              </a:rPr>
              <a:t>,</a:t>
            </a:r>
            <a:r>
              <a:rPr lang="zh-CN" altLang="en-US" sz="2800" dirty="0">
                <a:ea typeface="黑体" pitchFamily="2" charset="-122"/>
              </a:rPr>
              <a:t>再作权重的统计试验</a:t>
            </a:r>
            <a:r>
              <a:rPr lang="en-US" altLang="zh-CN" sz="2800" dirty="0">
                <a:ea typeface="黑体" pitchFamily="2" charset="-122"/>
              </a:rPr>
              <a:t>.</a:t>
            </a:r>
          </a:p>
        </p:txBody>
      </p:sp>
      <p:graphicFrame>
        <p:nvGraphicFramePr>
          <p:cNvPr id="269316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38052729"/>
              </p:ext>
            </p:extLst>
          </p:nvPr>
        </p:nvGraphicFramePr>
        <p:xfrm>
          <a:off x="1631504" y="1744664"/>
          <a:ext cx="8579296" cy="5121273"/>
        </p:xfrm>
        <a:graphic>
          <a:graphicData uri="http://schemas.openxmlformats.org/drawingml/2006/table">
            <a:tbl>
              <a:tblPr/>
              <a:tblGrid>
                <a:gridCol w="857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5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16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725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序号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2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ω</a:t>
                      </a:r>
                      <a:r>
                        <a:rPr kumimoji="0" lang="en-US" altLang="zh-CN" sz="24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l-GR" altLang="zh-CN" sz="24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ω</a:t>
                      </a:r>
                      <a:r>
                        <a:rPr kumimoji="0" lang="en-US" altLang="zh-CN" sz="24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l-GR" altLang="zh-CN" sz="24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ω</a:t>
                      </a:r>
                      <a:r>
                        <a:rPr kumimoji="0" lang="en-US" altLang="zh-CN" sz="24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l-GR" altLang="zh-CN" sz="24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x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</a:t>
                      </a:r>
                      <a:r>
                        <a:rPr kumimoji="0" lang="en-US" altLang="zh-CN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ω</a:t>
                      </a:r>
                      <a:r>
                        <a:rPr kumimoji="0" lang="en-US" altLang="zh-CN" sz="24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l-GR" altLang="zh-CN" sz="24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0.227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0.227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0.182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0.272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0.136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0.227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0.182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0.182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0.318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0.364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0.409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0.318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0.182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0.136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0.136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0.091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Σ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宋体" pitchFamily="2" charset="-122"/>
                        <a:cs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1.00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55989212"/>
              </p:ext>
            </p:extLst>
          </p:nvPr>
        </p:nvGraphicFramePr>
        <p:xfrm>
          <a:off x="9236076" y="592139"/>
          <a:ext cx="1192213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393480" progId="Equation.DSMT4">
                  <p:embed/>
                </p:oleObj>
              </mc:Choice>
              <mc:Fallback>
                <p:oleObj name="Equation" r:id="rId2" imgW="520560" imgH="39348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6076" y="592139"/>
                        <a:ext cx="1192213" cy="903287"/>
                      </a:xfrm>
                      <a:prstGeom prst="rect">
                        <a:avLst/>
                      </a:prstGeom>
                      <a:solidFill>
                        <a:srgbClr val="AFFFA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07CA5ED-944E-C1CA-EAB3-591623725C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231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84585"/>
            <a:ext cx="10972800" cy="1371600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2. 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加权统计法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9436" y="1656185"/>
            <a:ext cx="10153128" cy="4608090"/>
          </a:xfrm>
        </p:spPr>
        <p:txBody>
          <a:bodyPr/>
          <a:lstStyle/>
          <a:p>
            <a:pPr eaLnBrk="1" hangingPunct="1"/>
            <a:r>
              <a:rPr lang="en-US" altLang="zh-CN" i="1" dirty="0">
                <a:ea typeface="黑体" pitchFamily="2" charset="-122"/>
              </a:rPr>
              <a:t>x</a:t>
            </a:r>
            <a:r>
              <a:rPr lang="en-US" altLang="zh-CN" i="1" baseline="-25000" dirty="0">
                <a:ea typeface="黑体" pitchFamily="2" charset="-122"/>
              </a:rPr>
              <a:t>i</a:t>
            </a:r>
            <a:r>
              <a:rPr lang="en-US" altLang="zh-CN" baseline="-25000" dirty="0">
                <a:ea typeface="黑体" pitchFamily="2" charset="-122"/>
              </a:rPr>
              <a:t>:</a:t>
            </a:r>
            <a:r>
              <a:rPr lang="zh-CN" altLang="en-US" dirty="0">
                <a:ea typeface="黑体" pitchFamily="2" charset="-122"/>
              </a:rPr>
              <a:t>权数值</a:t>
            </a:r>
            <a:r>
              <a:rPr lang="en-US" altLang="zh-CN" dirty="0">
                <a:ea typeface="黑体" pitchFamily="2" charset="-122"/>
              </a:rPr>
              <a:t>,  </a:t>
            </a:r>
            <a:r>
              <a:rPr lang="en-US" altLang="zh-CN" i="1" dirty="0">
                <a:ea typeface="黑体" pitchFamily="2" charset="-122"/>
              </a:rPr>
              <a:t>N</a:t>
            </a:r>
            <a:r>
              <a:rPr lang="en-US" altLang="zh-CN" i="1" baseline="-25000" dirty="0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: </a:t>
            </a:r>
            <a:r>
              <a:rPr lang="zh-CN" altLang="en-US" dirty="0">
                <a:ea typeface="黑体" pitchFamily="2" charset="-122"/>
              </a:rPr>
              <a:t>频数</a:t>
            </a:r>
            <a:r>
              <a:rPr lang="en-US" altLang="zh-CN" dirty="0">
                <a:ea typeface="黑体" pitchFamily="2" charset="-122"/>
              </a:rPr>
              <a:t>,   </a:t>
            </a:r>
            <a:r>
              <a:rPr lang="en-US" altLang="zh-CN" i="1" dirty="0">
                <a:ea typeface="黑体" pitchFamily="2" charset="-122"/>
              </a:rPr>
              <a:t>k</a:t>
            </a:r>
            <a:r>
              <a:rPr lang="en-US" altLang="zh-CN" dirty="0">
                <a:ea typeface="黑体" pitchFamily="2" charset="-122"/>
              </a:rPr>
              <a:t>: </a:t>
            </a:r>
            <a:r>
              <a:rPr lang="zh-CN" altLang="en-US" dirty="0">
                <a:ea typeface="黑体" pitchFamily="2" charset="-122"/>
              </a:rPr>
              <a:t>总人数，</a:t>
            </a:r>
            <a:r>
              <a:rPr lang="el-GR" altLang="zh-CN" i="1" dirty="0">
                <a:cs typeface="Arial" charset="0"/>
              </a:rPr>
              <a:t>ω</a:t>
            </a:r>
            <a:r>
              <a:rPr lang="en-US" altLang="zh-CN" i="1" baseline="-25000" dirty="0">
                <a:ea typeface="黑体" pitchFamily="2" charset="-122"/>
              </a:rPr>
              <a:t>i</a:t>
            </a:r>
            <a:r>
              <a:rPr lang="en-US" altLang="zh-CN" baseline="-25000" dirty="0">
                <a:ea typeface="黑体" pitchFamily="2" charset="-122"/>
              </a:rPr>
              <a:t>: </a:t>
            </a:r>
            <a:r>
              <a:rPr lang="en-US" altLang="zh-CN" dirty="0">
                <a:ea typeface="黑体" pitchFamily="2" charset="-122"/>
              </a:rPr>
              <a:t>(</a:t>
            </a:r>
            <a:r>
              <a:rPr lang="zh-CN" altLang="en-US" dirty="0">
                <a:ea typeface="黑体" pitchFamily="2" charset="-122"/>
              </a:rPr>
              <a:t>频率</a:t>
            </a:r>
            <a:r>
              <a:rPr lang="en-US" altLang="zh-CN" dirty="0">
                <a:ea typeface="黑体" pitchFamily="2" charset="-122"/>
              </a:rPr>
              <a:t>)= </a:t>
            </a:r>
            <a:r>
              <a:rPr lang="en-US" altLang="zh-CN" i="1" dirty="0">
                <a:ea typeface="黑体" pitchFamily="2" charset="-122"/>
              </a:rPr>
              <a:t>N</a:t>
            </a:r>
            <a:r>
              <a:rPr lang="en-US" altLang="zh-CN" i="1" baseline="-25000" dirty="0">
                <a:ea typeface="黑体" pitchFamily="2" charset="-122"/>
              </a:rPr>
              <a:t>i</a:t>
            </a:r>
            <a:r>
              <a:rPr lang="en-US" altLang="zh-CN" dirty="0">
                <a:ea typeface="黑体" pitchFamily="2" charset="-122"/>
              </a:rPr>
              <a:t>/</a:t>
            </a:r>
            <a:r>
              <a:rPr lang="en-US" altLang="zh-CN" i="1" dirty="0">
                <a:ea typeface="黑体" pitchFamily="2" charset="-122"/>
              </a:rPr>
              <a:t>k</a:t>
            </a:r>
          </a:p>
          <a:p>
            <a:pPr marL="0" indent="0" eaLnBrk="1" hangingPunct="1">
              <a:buNone/>
            </a:pPr>
            <a:r>
              <a:rPr lang="en-US" altLang="zh-CN" dirty="0">
                <a:ea typeface="黑体" pitchFamily="2" charset="-122"/>
              </a:rPr>
              <a:t>    </a:t>
            </a:r>
            <a:r>
              <a:rPr lang="en-US" altLang="zh-CN" i="1" dirty="0">
                <a:ea typeface="黑体" pitchFamily="2" charset="-122"/>
              </a:rPr>
              <a:t>s</a:t>
            </a:r>
            <a:r>
              <a:rPr lang="zh-CN" altLang="en-US" dirty="0">
                <a:ea typeface="黑体" pitchFamily="2" charset="-122"/>
              </a:rPr>
              <a:t>：某因素不同的权值数目</a:t>
            </a:r>
            <a:endParaRPr lang="en-US" altLang="zh-CN" dirty="0"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按下面公式计算各因素的权重</a:t>
            </a:r>
          </a:p>
          <a:p>
            <a:pPr eaLnBrk="1" hangingPunct="1"/>
            <a:endParaRPr lang="zh-CN" altLang="en-US" dirty="0">
              <a:ea typeface="黑体" pitchFamily="2" charset="-122"/>
            </a:endParaRPr>
          </a:p>
          <a:p>
            <a:pPr eaLnBrk="1" hangingPunct="1"/>
            <a:endParaRPr lang="zh-CN" altLang="en-US" dirty="0">
              <a:ea typeface="黑体" pitchFamily="2" charset="-122"/>
            </a:endParaRPr>
          </a:p>
          <a:p>
            <a:pPr eaLnBrk="1" hangingPunct="1"/>
            <a:endParaRPr lang="zh-CN" altLang="en-US" dirty="0"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计算得权重分配为</a:t>
            </a:r>
            <a:r>
              <a:rPr lang="en-US" altLang="zh-CN" dirty="0">
                <a:ea typeface="黑体" pitchFamily="2" charset="-122"/>
              </a:rPr>
              <a:t>:</a:t>
            </a:r>
            <a:endParaRPr lang="zh-CN" altLang="en-US" dirty="0">
              <a:ea typeface="黑体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A=(0.270,0.255,0.288,0.187)</a:t>
            </a:r>
          </a:p>
        </p:txBody>
      </p:sp>
      <p:graphicFrame>
        <p:nvGraphicFramePr>
          <p:cNvPr id="27034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18076527"/>
              </p:ext>
            </p:extLst>
          </p:nvPr>
        </p:nvGraphicFramePr>
        <p:xfrm>
          <a:off x="3215680" y="3429000"/>
          <a:ext cx="540493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431640" progId="Equation.DSMT4">
                  <p:embed/>
                </p:oleObj>
              </mc:Choice>
              <mc:Fallback>
                <p:oleObj name="Equation" r:id="rId2" imgW="1701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3429000"/>
                        <a:ext cx="540493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4DA35E-9474-0CE4-4689-1B86AAE66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9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0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0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0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3.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频率统计方法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773238"/>
            <a:ext cx="10153128" cy="187166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设因素集</a:t>
            </a:r>
            <a:r>
              <a:rPr lang="en-US" altLang="zh-CN" dirty="0">
                <a:ea typeface="黑体" pitchFamily="2" charset="-122"/>
              </a:rPr>
              <a:t>U={u</a:t>
            </a:r>
            <a:r>
              <a:rPr lang="en-US" altLang="zh-CN" baseline="-25000" dirty="0">
                <a:ea typeface="黑体" pitchFamily="2" charset="-122"/>
              </a:rPr>
              <a:t>1</a:t>
            </a:r>
            <a:r>
              <a:rPr lang="en-US" altLang="zh-CN" dirty="0">
                <a:ea typeface="黑体" pitchFamily="2" charset="-122"/>
              </a:rPr>
              <a:t>,u</a:t>
            </a:r>
            <a:r>
              <a:rPr lang="en-US" altLang="zh-CN" baseline="-25000" dirty="0">
                <a:ea typeface="黑体" pitchFamily="2" charset="-122"/>
              </a:rPr>
              <a:t>2 </a:t>
            </a:r>
            <a:r>
              <a:rPr lang="en-US" altLang="zh-CN" dirty="0">
                <a:ea typeface="黑体" pitchFamily="2" charset="-122"/>
              </a:rPr>
              <a:t>,…,u</a:t>
            </a:r>
            <a:r>
              <a:rPr lang="en-US" altLang="zh-CN" baseline="-25000" dirty="0">
                <a:ea typeface="黑体" pitchFamily="2" charset="-122"/>
              </a:rPr>
              <a:t>n</a:t>
            </a:r>
            <a:r>
              <a:rPr lang="en-US" altLang="zh-CN" dirty="0">
                <a:ea typeface="黑体" pitchFamily="2" charset="-122"/>
              </a:rPr>
              <a:t>}, </a:t>
            </a:r>
            <a:r>
              <a:rPr lang="zh-CN" altLang="en-US" dirty="0">
                <a:ea typeface="黑体" pitchFamily="2" charset="-122"/>
              </a:rPr>
              <a:t>请有关专家或熟悉此项工作的具有丰富经验的人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(k</a:t>
            </a:r>
            <a:r>
              <a:rPr lang="zh-CN" altLang="zh-CN" dirty="0">
                <a:solidFill>
                  <a:srgbClr val="FF0000"/>
                </a:solidFill>
              </a:rPr>
              <a:t>≥</a:t>
            </a:r>
            <a:r>
              <a:rPr lang="en-US" altLang="zh-CN" dirty="0">
                <a:solidFill>
                  <a:srgbClr val="FF0000"/>
                </a:solidFill>
              </a:rPr>
              <a:t>30)</a:t>
            </a:r>
            <a:r>
              <a:rPr lang="en-US" altLang="zh-CN" dirty="0"/>
              <a:t>, </a:t>
            </a:r>
            <a:r>
              <a:rPr lang="zh-CN" altLang="en-US" dirty="0">
                <a:ea typeface="黑体" pitchFamily="2" charset="-122"/>
              </a:rPr>
              <a:t>根据</a:t>
            </a:r>
            <a:r>
              <a:rPr lang="zh-CN" altLang="en-US" dirty="0">
                <a:solidFill>
                  <a:srgbClr val="3333FF"/>
                </a:solidFill>
                <a:ea typeface="黑体" pitchFamily="2" charset="-122"/>
              </a:rPr>
              <a:t>权重分配调查表</a:t>
            </a:r>
            <a:r>
              <a:rPr lang="zh-CN" altLang="en-US" dirty="0">
                <a:ea typeface="黑体" pitchFamily="2" charset="-122"/>
              </a:rPr>
              <a:t>提出自己认为最合适的权重</a:t>
            </a:r>
            <a:r>
              <a:rPr lang="en-US" altLang="zh-CN" dirty="0">
                <a:ea typeface="黑体" pitchFamily="2" charset="-122"/>
              </a:rPr>
              <a:t>.</a:t>
            </a:r>
            <a:endParaRPr lang="en-US" altLang="zh-CN" dirty="0"/>
          </a:p>
        </p:txBody>
      </p:sp>
      <p:graphicFrame>
        <p:nvGraphicFramePr>
          <p:cNvPr id="271364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4305045"/>
              </p:ext>
            </p:extLst>
          </p:nvPr>
        </p:nvGraphicFramePr>
        <p:xfrm>
          <a:off x="2279651" y="4580731"/>
          <a:ext cx="7786687" cy="1152525"/>
        </p:xfrm>
        <a:graphic>
          <a:graphicData uri="http://schemas.openxmlformats.org/drawingml/2006/table">
            <a:tbl>
              <a:tblPr/>
              <a:tblGrid>
                <a:gridCol w="1703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因素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</a:t>
                      </a:r>
                      <a:endParaRPr kumimoji="0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u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权重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ij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BFB97A-480D-815F-8009-16350B7E07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66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55440" y="1484314"/>
            <a:ext cx="10225136" cy="537368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kumimoji="1" lang="zh-CN" altLang="en-US" sz="2800" dirty="0">
                <a:ea typeface="黑体" pitchFamily="2" charset="-122"/>
              </a:rPr>
              <a:t>对每一个因素</a:t>
            </a:r>
            <a:r>
              <a:rPr kumimoji="1" lang="en-US" altLang="zh-CN" sz="2800" i="1" dirty="0" err="1">
                <a:ea typeface="黑体" pitchFamily="2" charset="-122"/>
              </a:rPr>
              <a:t>u</a:t>
            </a:r>
            <a:r>
              <a:rPr kumimoji="1" lang="en-US" altLang="zh-CN" sz="2800" i="1" baseline="-25000" dirty="0" err="1">
                <a:ea typeface="黑体" pitchFamily="2" charset="-122"/>
              </a:rPr>
              <a:t>j</a:t>
            </a:r>
            <a:r>
              <a:rPr kumimoji="1" lang="en-US" altLang="zh-CN" sz="2800" i="1" dirty="0">
                <a:ea typeface="黑体" pitchFamily="2" charset="-122"/>
              </a:rPr>
              <a:t> </a:t>
            </a:r>
            <a:r>
              <a:rPr kumimoji="1" lang="en-US" altLang="zh-CN" sz="2800" dirty="0">
                <a:ea typeface="黑体" pitchFamily="2" charset="-122"/>
              </a:rPr>
              <a:t>,</a:t>
            </a:r>
            <a:r>
              <a:rPr kumimoji="1" lang="zh-CN" altLang="en-US" sz="2800" dirty="0">
                <a:ea typeface="黑体" pitchFamily="2" charset="-122"/>
              </a:rPr>
              <a:t>在</a:t>
            </a:r>
            <a:r>
              <a:rPr kumimoji="1" lang="en-US" altLang="zh-CN" sz="2800" i="1" dirty="0">
                <a:ea typeface="黑体" pitchFamily="2" charset="-122"/>
              </a:rPr>
              <a:t>k</a:t>
            </a:r>
            <a:r>
              <a:rPr kumimoji="1" lang="zh-CN" altLang="en-US" sz="2800" dirty="0">
                <a:ea typeface="黑体" pitchFamily="2" charset="-122"/>
              </a:rPr>
              <a:t>个专家所给的权重</a:t>
            </a:r>
            <a:r>
              <a:rPr kumimoji="1" lang="en-US" altLang="zh-CN" sz="2800" i="1" dirty="0" err="1">
                <a:ea typeface="黑体" pitchFamily="2" charset="-122"/>
              </a:rPr>
              <a:t>a</a:t>
            </a:r>
            <a:r>
              <a:rPr kumimoji="1" lang="en-US" altLang="zh-CN" sz="2800" i="1" baseline="-25000" dirty="0" err="1">
                <a:ea typeface="黑体" pitchFamily="2" charset="-122"/>
              </a:rPr>
              <a:t>ij</a:t>
            </a:r>
            <a:r>
              <a:rPr kumimoji="1" lang="zh-CN" altLang="en-US" sz="2800" dirty="0">
                <a:ea typeface="黑体" pitchFamily="2" charset="-122"/>
              </a:rPr>
              <a:t>中找出最大值</a:t>
            </a:r>
            <a:r>
              <a:rPr kumimoji="1" lang="en-US" altLang="zh-CN" sz="2800" i="1" dirty="0" err="1">
                <a:ea typeface="黑体" pitchFamily="2" charset="-122"/>
              </a:rPr>
              <a:t>M</a:t>
            </a:r>
            <a:r>
              <a:rPr kumimoji="1" lang="en-US" altLang="zh-CN" sz="2800" i="1" baseline="-25000" dirty="0" err="1">
                <a:ea typeface="黑体" pitchFamily="2" charset="-122"/>
              </a:rPr>
              <a:t>j</a:t>
            </a:r>
            <a:r>
              <a:rPr kumimoji="1" lang="zh-CN" altLang="en-US" sz="2800" dirty="0">
                <a:ea typeface="黑体" pitchFamily="2" charset="-122"/>
              </a:rPr>
              <a:t>和最小值</a:t>
            </a:r>
            <a:r>
              <a:rPr kumimoji="1" lang="en-US" altLang="zh-CN" sz="2800" i="1" dirty="0" err="1">
                <a:ea typeface="黑体" pitchFamily="2" charset="-122"/>
              </a:rPr>
              <a:t>m</a:t>
            </a:r>
            <a:r>
              <a:rPr kumimoji="1" lang="en-US" altLang="zh-CN" sz="2800" i="1" baseline="-25000" dirty="0" err="1">
                <a:ea typeface="黑体" pitchFamily="2" charset="-122"/>
              </a:rPr>
              <a:t>j</a:t>
            </a:r>
            <a:r>
              <a:rPr kumimoji="1" lang="en-US" altLang="zh-CN" sz="2800" i="1" dirty="0">
                <a:ea typeface="黑体" pitchFamily="2" charset="-122"/>
              </a:rPr>
              <a:t> </a:t>
            </a:r>
            <a:r>
              <a:rPr kumimoji="1" lang="en-US" altLang="zh-CN" sz="2800" dirty="0">
                <a:ea typeface="黑体" pitchFamily="2" charset="-122"/>
              </a:rPr>
              <a:t>,</a:t>
            </a:r>
            <a:r>
              <a:rPr kumimoji="1" lang="zh-CN" altLang="en-US" sz="2800" dirty="0">
                <a:ea typeface="黑体" pitchFamily="2" charset="-122"/>
              </a:rPr>
              <a:t>即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zh-CN" altLang="en-US" sz="2800" i="1" dirty="0">
                <a:solidFill>
                  <a:srgbClr val="FF0000"/>
                </a:solidFill>
                <a:ea typeface="黑体" pitchFamily="2" charset="-122"/>
              </a:rPr>
              <a:t>         </a:t>
            </a:r>
            <a:r>
              <a:rPr kumimoji="1" lang="en-US" altLang="zh-CN" sz="2800" i="1" dirty="0" err="1">
                <a:solidFill>
                  <a:srgbClr val="FF0000"/>
                </a:solidFill>
                <a:ea typeface="黑体" pitchFamily="2" charset="-122"/>
              </a:rPr>
              <a:t>M</a:t>
            </a:r>
            <a:r>
              <a:rPr kumimoji="1" lang="en-US" altLang="zh-CN" sz="2800" i="1" baseline="-25000" dirty="0" err="1">
                <a:solidFill>
                  <a:srgbClr val="FF0000"/>
                </a:solidFill>
                <a:ea typeface="黑体" pitchFamily="2" charset="-122"/>
              </a:rPr>
              <a:t>j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=max{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a</a:t>
            </a:r>
            <a:r>
              <a:rPr kumimoji="1" lang="en-US" altLang="zh-CN" sz="2800" i="1" baseline="-25000" dirty="0">
                <a:solidFill>
                  <a:srgbClr val="FF0000"/>
                </a:solidFill>
                <a:ea typeface="黑体" pitchFamily="2" charset="-122"/>
              </a:rPr>
              <a:t>ij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|1 ≤</a:t>
            </a:r>
            <a:r>
              <a:rPr kumimoji="1" lang="en-US" altLang="zh-CN" sz="2800" i="1" dirty="0" err="1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≤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},  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j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=1, 2 , … 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n</a:t>
            </a:r>
            <a:endParaRPr kumimoji="1" lang="en-US" altLang="zh-CN" sz="28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         </a:t>
            </a:r>
            <a:r>
              <a:rPr kumimoji="1" lang="en-US" altLang="zh-CN" sz="2800" i="1" dirty="0" err="1">
                <a:solidFill>
                  <a:srgbClr val="FF0000"/>
                </a:solidFill>
                <a:ea typeface="黑体" pitchFamily="2" charset="-122"/>
              </a:rPr>
              <a:t>m</a:t>
            </a:r>
            <a:r>
              <a:rPr kumimoji="1" lang="en-US" altLang="zh-CN" sz="2800" i="1" baseline="-25000" dirty="0" err="1">
                <a:solidFill>
                  <a:srgbClr val="FF0000"/>
                </a:solidFill>
                <a:ea typeface="黑体" pitchFamily="2" charset="-122"/>
              </a:rPr>
              <a:t>j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 =min {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a</a:t>
            </a:r>
            <a:r>
              <a:rPr kumimoji="1" lang="en-US" altLang="zh-CN" sz="2800" i="1" baseline="-25000" dirty="0">
                <a:solidFill>
                  <a:srgbClr val="FF0000"/>
                </a:solidFill>
                <a:ea typeface="黑体" pitchFamily="2" charset="-122"/>
              </a:rPr>
              <a:t>ij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|1 ≤</a:t>
            </a:r>
            <a:r>
              <a:rPr kumimoji="1" lang="en-US" altLang="zh-CN" sz="2800" i="1" dirty="0" err="1">
                <a:solidFill>
                  <a:srgbClr val="FF0000"/>
                </a:solidFill>
                <a:ea typeface="黑体" pitchFamily="2" charset="-122"/>
              </a:rPr>
              <a:t>i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≤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k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},  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j 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=1, 2 , … 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n</a:t>
            </a:r>
            <a:endParaRPr kumimoji="1" lang="en-US" altLang="zh-CN" sz="2800" dirty="0">
              <a:solidFill>
                <a:srgbClr val="FF0000"/>
              </a:solidFill>
              <a:ea typeface="黑体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dirty="0">
                <a:ea typeface="黑体" pitchFamily="2" charset="-122"/>
              </a:rPr>
              <a:t>选取适当的正整数</a:t>
            </a:r>
            <a:r>
              <a:rPr kumimoji="1" lang="en-US" altLang="zh-CN" sz="2800" i="1" dirty="0">
                <a:ea typeface="黑体" pitchFamily="2" charset="-122"/>
              </a:rPr>
              <a:t>p</a:t>
            </a:r>
            <a:r>
              <a:rPr kumimoji="1" lang="en-US" altLang="zh-CN" sz="2800" dirty="0">
                <a:ea typeface="黑体" pitchFamily="2" charset="-122"/>
              </a:rPr>
              <a:t>,</a:t>
            </a:r>
            <a:r>
              <a:rPr kumimoji="1" lang="zh-CN" altLang="en-US" sz="2800" dirty="0">
                <a:ea typeface="黑体" pitchFamily="2" charset="-122"/>
              </a:rPr>
              <a:t>将因素</a:t>
            </a:r>
            <a:r>
              <a:rPr kumimoji="1" lang="en-US" altLang="zh-CN" sz="2800" i="1" dirty="0" err="1">
                <a:ea typeface="黑体" pitchFamily="2" charset="-122"/>
              </a:rPr>
              <a:t>u</a:t>
            </a:r>
            <a:r>
              <a:rPr kumimoji="1" lang="en-US" altLang="zh-CN" sz="2800" i="1" baseline="-25000" dirty="0" err="1">
                <a:ea typeface="黑体" pitchFamily="2" charset="-122"/>
              </a:rPr>
              <a:t>j</a:t>
            </a:r>
            <a:r>
              <a:rPr kumimoji="1" lang="en-US" altLang="zh-CN" sz="2800" dirty="0">
                <a:ea typeface="黑体" pitchFamily="2" charset="-122"/>
              </a:rPr>
              <a:t> </a:t>
            </a:r>
            <a:r>
              <a:rPr kumimoji="1" lang="zh-CN" altLang="en-US" sz="2800" dirty="0">
                <a:ea typeface="黑体" pitchFamily="2" charset="-122"/>
              </a:rPr>
              <a:t>所对应的权重</a:t>
            </a:r>
            <a:r>
              <a:rPr kumimoji="1" lang="en-US" altLang="zh-CN" sz="2800" i="1" dirty="0" err="1">
                <a:ea typeface="黑体" pitchFamily="2" charset="-122"/>
              </a:rPr>
              <a:t>a</a:t>
            </a:r>
            <a:r>
              <a:rPr kumimoji="1" lang="en-US" altLang="zh-CN" sz="2800" i="1" baseline="-25000" dirty="0" err="1">
                <a:ea typeface="黑体" pitchFamily="2" charset="-122"/>
              </a:rPr>
              <a:t>ij</a:t>
            </a:r>
            <a:r>
              <a:rPr kumimoji="1" lang="zh-CN" altLang="en-US" sz="2800" dirty="0">
                <a:ea typeface="黑体" pitchFamily="2" charset="-122"/>
              </a:rPr>
              <a:t>从小到大分成</a:t>
            </a:r>
            <a:r>
              <a:rPr kumimoji="1" lang="en-US" altLang="zh-CN" sz="2800" i="1" dirty="0">
                <a:ea typeface="黑体" pitchFamily="2" charset="-122"/>
              </a:rPr>
              <a:t>p</a:t>
            </a:r>
            <a:r>
              <a:rPr kumimoji="1" lang="zh-CN" altLang="en-US" sz="2800" dirty="0">
                <a:ea typeface="黑体" pitchFamily="2" charset="-122"/>
              </a:rPr>
              <a:t>组</a:t>
            </a:r>
            <a:r>
              <a:rPr kumimoji="1" lang="en-US" altLang="zh-CN" sz="2800" dirty="0">
                <a:ea typeface="黑体" pitchFamily="2" charset="-122"/>
              </a:rPr>
              <a:t>, </a:t>
            </a:r>
            <a:r>
              <a:rPr kumimoji="1" lang="zh-CN" altLang="en-US" sz="2800" dirty="0">
                <a:ea typeface="黑体" pitchFamily="2" charset="-122"/>
              </a:rPr>
              <a:t>组距为</a:t>
            </a:r>
            <a:r>
              <a:rPr kumimoji="1" lang="en-US" altLang="zh-CN" sz="2800" b="1" dirty="0">
                <a:solidFill>
                  <a:srgbClr val="3333FF"/>
                </a:solidFill>
                <a:ea typeface="黑体" pitchFamily="2" charset="-122"/>
              </a:rPr>
              <a:t>(</a:t>
            </a:r>
            <a:r>
              <a:rPr kumimoji="1" lang="en-US" altLang="zh-CN" sz="2800" b="1" i="1" dirty="0" err="1">
                <a:solidFill>
                  <a:srgbClr val="3333FF"/>
                </a:solidFill>
                <a:ea typeface="黑体" pitchFamily="2" charset="-122"/>
              </a:rPr>
              <a:t>M</a:t>
            </a:r>
            <a:r>
              <a:rPr kumimoji="1" lang="en-US" altLang="zh-CN" sz="2800" b="1" i="1" baseline="-25000" dirty="0" err="1">
                <a:solidFill>
                  <a:srgbClr val="3333FF"/>
                </a:solidFill>
                <a:ea typeface="黑体" pitchFamily="2" charset="-122"/>
              </a:rPr>
              <a:t>j</a:t>
            </a:r>
            <a:r>
              <a:rPr kumimoji="1" lang="en-US" altLang="zh-CN" sz="2800" b="1" dirty="0">
                <a:solidFill>
                  <a:srgbClr val="3333FF"/>
                </a:solidFill>
                <a:ea typeface="黑体" pitchFamily="2" charset="-122"/>
              </a:rPr>
              <a:t>  - </a:t>
            </a:r>
            <a:r>
              <a:rPr kumimoji="1" lang="en-US" altLang="zh-CN" sz="2800" b="1" i="1" dirty="0" err="1">
                <a:solidFill>
                  <a:srgbClr val="3333FF"/>
                </a:solidFill>
                <a:ea typeface="黑体" pitchFamily="2" charset="-122"/>
              </a:rPr>
              <a:t>m</a:t>
            </a:r>
            <a:r>
              <a:rPr kumimoji="1" lang="en-US" altLang="zh-CN" sz="2800" b="1" i="1" baseline="-25000" dirty="0" err="1">
                <a:solidFill>
                  <a:srgbClr val="3333FF"/>
                </a:solidFill>
                <a:ea typeface="黑体" pitchFamily="2" charset="-122"/>
              </a:rPr>
              <a:t>j</a:t>
            </a:r>
            <a:r>
              <a:rPr kumimoji="1" lang="en-US" altLang="zh-CN" sz="2800" b="1" dirty="0">
                <a:solidFill>
                  <a:srgbClr val="3333FF"/>
                </a:solidFill>
                <a:ea typeface="黑体" pitchFamily="2" charset="-122"/>
              </a:rPr>
              <a:t> )/</a:t>
            </a:r>
            <a:r>
              <a:rPr kumimoji="1" lang="en-US" altLang="zh-CN" sz="2800" b="1" i="1" dirty="0">
                <a:solidFill>
                  <a:srgbClr val="3333FF"/>
                </a:solidFill>
                <a:ea typeface="黑体" pitchFamily="2" charset="-122"/>
              </a:rPr>
              <a:t>p</a:t>
            </a:r>
            <a:r>
              <a:rPr kumimoji="1" lang="en-US" altLang="zh-CN" sz="2800" b="1" dirty="0">
                <a:solidFill>
                  <a:srgbClr val="3333FF"/>
                </a:solidFill>
                <a:ea typeface="黑体" pitchFamily="2" charset="-122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dirty="0">
                <a:ea typeface="黑体" pitchFamily="2" charset="-122"/>
              </a:rPr>
              <a:t>计算落在每组内权重的频数与频率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dirty="0">
                <a:ea typeface="黑体" pitchFamily="2" charset="-122"/>
              </a:rPr>
              <a:t>取最大频率所在分组的</a:t>
            </a:r>
            <a:r>
              <a:rPr kumimoji="1" lang="zh-CN" altLang="en-US" sz="2800" dirty="0">
                <a:solidFill>
                  <a:srgbClr val="CC0099"/>
                </a:solidFill>
                <a:ea typeface="黑体" pitchFamily="2" charset="-122"/>
              </a:rPr>
              <a:t>组中值</a:t>
            </a:r>
            <a:r>
              <a:rPr kumimoji="1" lang="en-US" altLang="zh-CN" sz="2800" dirty="0">
                <a:ea typeface="黑体" pitchFamily="2" charset="-122"/>
              </a:rPr>
              <a:t>(</a:t>
            </a:r>
            <a:r>
              <a:rPr kumimoji="1" lang="zh-CN" altLang="en-US" sz="2800" dirty="0">
                <a:ea typeface="黑体" pitchFamily="2" charset="-122"/>
              </a:rPr>
              <a:t>或邻近的值</a:t>
            </a:r>
            <a:r>
              <a:rPr kumimoji="1" lang="en-US" altLang="zh-CN" sz="2800" dirty="0">
                <a:ea typeface="黑体" pitchFamily="2" charset="-122"/>
              </a:rPr>
              <a:t>)</a:t>
            </a:r>
            <a:r>
              <a:rPr kumimoji="1" lang="zh-CN" altLang="en-US" sz="2800" dirty="0">
                <a:ea typeface="黑体" pitchFamily="2" charset="-122"/>
              </a:rPr>
              <a:t>作为因素</a:t>
            </a:r>
            <a:r>
              <a:rPr kumimoji="1" lang="en-US" altLang="zh-CN" sz="2800" i="1" dirty="0" err="1">
                <a:ea typeface="黑体" pitchFamily="2" charset="-122"/>
              </a:rPr>
              <a:t>u</a:t>
            </a:r>
            <a:r>
              <a:rPr kumimoji="1" lang="en-US" altLang="zh-CN" sz="2800" i="1" baseline="-25000" dirty="0" err="1">
                <a:ea typeface="黑体" pitchFamily="2" charset="-122"/>
              </a:rPr>
              <a:t>j</a:t>
            </a:r>
            <a:r>
              <a:rPr kumimoji="1" lang="zh-CN" altLang="en-US" sz="2800" dirty="0">
                <a:ea typeface="黑体" pitchFamily="2" charset="-122"/>
              </a:rPr>
              <a:t>的权重</a:t>
            </a:r>
            <a:r>
              <a:rPr kumimoji="1" lang="en-US" altLang="zh-CN" sz="2800" dirty="0">
                <a:ea typeface="黑体" pitchFamily="2" charset="-122"/>
              </a:rPr>
              <a:t>.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dirty="0">
                <a:ea typeface="黑体" pitchFamily="2" charset="-122"/>
              </a:rPr>
              <a:t>将所得的结果归一化</a:t>
            </a:r>
            <a:r>
              <a:rPr kumimoji="1" lang="en-US" altLang="zh-CN" sz="2800" dirty="0">
                <a:ea typeface="黑体" pitchFamily="2" charset="-122"/>
              </a:rPr>
              <a:t>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ea typeface="黑体" pitchFamily="2" charset="-122"/>
              </a:rPr>
              <a:t>3. </a:t>
            </a:r>
            <a:r>
              <a:rPr lang="zh-CN" altLang="en-US" dirty="0">
                <a:solidFill>
                  <a:srgbClr val="008000"/>
                </a:solidFill>
                <a:ea typeface="黑体" pitchFamily="2" charset="-122"/>
              </a:rPr>
              <a:t>频率统计方法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9EADEC-17F8-3F08-4F1A-F4A4395FEA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15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3.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频率统计方法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)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628776"/>
            <a:ext cx="10081120" cy="26638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2" charset="-122"/>
              </a:rPr>
              <a:t>以教学型教师晋升教授的问题为例</a:t>
            </a:r>
            <a:r>
              <a:rPr lang="en-US" altLang="zh-CN" dirty="0">
                <a:ea typeface="黑体" pitchFamily="2" charset="-122"/>
              </a:rPr>
              <a:t>, </a:t>
            </a:r>
            <a:r>
              <a:rPr lang="zh-CN" altLang="en-US" dirty="0">
                <a:ea typeface="黑体" pitchFamily="2" charset="-122"/>
              </a:rPr>
              <a:t>设因素集</a:t>
            </a:r>
            <a:r>
              <a:rPr lang="en-US" altLang="zh-CN" dirty="0">
                <a:ea typeface="黑体" pitchFamily="2" charset="-122"/>
              </a:rPr>
              <a:t>U</a:t>
            </a:r>
            <a:r>
              <a:rPr lang="zh-CN" altLang="en-US" dirty="0">
                <a:ea typeface="黑体" pitchFamily="2" charset="-122"/>
              </a:rPr>
              <a:t>为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U={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政治表现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),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教学水平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科研能力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),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外语水平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(u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)}</a:t>
            </a:r>
          </a:p>
          <a:p>
            <a:pPr eaLnBrk="1" hangingPunct="1"/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选定全学院教师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92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人来统计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让他们写出自己认为最合适的权重分配</a:t>
            </a:r>
            <a:r>
              <a:rPr lang="en-US" altLang="zh-CN" sz="2800" dirty="0">
                <a:solidFill>
                  <a:schemeClr val="bg2"/>
                </a:solidFill>
                <a:ea typeface="黑体" pitchFamily="2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ea typeface="黑体" pitchFamily="2" charset="-122"/>
              </a:rPr>
              <a:t>得</a:t>
            </a:r>
          </a:p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因素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sz="2800" baseline="-25000" dirty="0">
                <a:solidFill>
                  <a:srgbClr val="CC00CC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(</a:t>
            </a:r>
            <a:r>
              <a:rPr lang="zh-CN" altLang="en-US" sz="2800" dirty="0">
                <a:solidFill>
                  <a:srgbClr val="CC00CC"/>
                </a:solidFill>
                <a:ea typeface="黑体" pitchFamily="2" charset="-122"/>
              </a:rPr>
              <a:t>政治表现</a:t>
            </a:r>
            <a:r>
              <a:rPr lang="en-US" altLang="zh-CN" sz="2800" dirty="0">
                <a:solidFill>
                  <a:srgbClr val="CC00CC"/>
                </a:solidFill>
                <a:ea typeface="黑体" pitchFamily="2" charset="-122"/>
              </a:rPr>
              <a:t>):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 </a:t>
            </a:r>
          </a:p>
          <a:p>
            <a:pPr lvl="1" eaLnBrk="1" hangingPunct="1"/>
            <a:r>
              <a:rPr lang="en-US" altLang="zh-CN" sz="3200" dirty="0">
                <a:ea typeface="黑体" pitchFamily="2" charset="-122"/>
              </a:rPr>
              <a:t>M</a:t>
            </a:r>
            <a:r>
              <a:rPr lang="en-US" altLang="zh-CN" sz="3200" baseline="-25000" dirty="0">
                <a:ea typeface="黑体" pitchFamily="2" charset="-122"/>
              </a:rPr>
              <a:t>1</a:t>
            </a:r>
            <a:r>
              <a:rPr lang="en-US" altLang="zh-CN" sz="3200" dirty="0">
                <a:ea typeface="黑体" pitchFamily="2" charset="-122"/>
              </a:rPr>
              <a:t>=0.5, m</a:t>
            </a:r>
            <a:r>
              <a:rPr lang="en-US" altLang="zh-CN" sz="3200" baseline="-25000" dirty="0">
                <a:ea typeface="黑体" pitchFamily="2" charset="-122"/>
              </a:rPr>
              <a:t>1</a:t>
            </a:r>
            <a:r>
              <a:rPr lang="en-US" altLang="zh-CN" sz="3200" dirty="0">
                <a:ea typeface="黑体" pitchFamily="2" charset="-122"/>
              </a:rPr>
              <a:t>=0.05, </a:t>
            </a:r>
            <a:r>
              <a:rPr lang="zh-CN" altLang="en-US" sz="3200" dirty="0">
                <a:ea typeface="黑体" pitchFamily="2" charset="-122"/>
              </a:rPr>
              <a:t>选</a:t>
            </a:r>
            <a:r>
              <a:rPr lang="en-US" altLang="zh-CN" sz="3200" dirty="0">
                <a:ea typeface="黑体" pitchFamily="2" charset="-122"/>
              </a:rPr>
              <a:t>p=5,</a:t>
            </a:r>
            <a:r>
              <a:rPr lang="zh-CN" altLang="en-US" sz="3200" dirty="0">
                <a:ea typeface="黑体" pitchFamily="2" charset="-122"/>
              </a:rPr>
              <a:t>组距</a:t>
            </a:r>
            <a:r>
              <a:rPr lang="en-US" altLang="zh-CN" sz="3200" dirty="0">
                <a:ea typeface="黑体" pitchFamily="2" charset="-122"/>
              </a:rPr>
              <a:t>=(0.5-0.05)/5=0.09</a:t>
            </a:r>
          </a:p>
        </p:txBody>
      </p:sp>
      <p:graphicFrame>
        <p:nvGraphicFramePr>
          <p:cNvPr id="273412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2797051"/>
              </p:ext>
            </p:extLst>
          </p:nvPr>
        </p:nvGraphicFramePr>
        <p:xfrm>
          <a:off x="1981200" y="5146674"/>
          <a:ext cx="8218487" cy="1574801"/>
        </p:xfrm>
        <a:graphic>
          <a:graphicData uri="http://schemas.openxmlformats.org/drawingml/2006/table">
            <a:tbl>
              <a:tblPr/>
              <a:tblGrid>
                <a:gridCol w="137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0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分组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0.05~0.14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0.14~0.23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0.23~0.32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0.32~0.41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0.41~0.50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频率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D85529-6A56-B8FE-0471-DBAA772D1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870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3.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频率统计方法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)(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续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)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557339"/>
            <a:ext cx="10441160" cy="3527425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CC00CC"/>
                </a:solidFill>
                <a:ea typeface="黑体" pitchFamily="2" charset="-122"/>
              </a:rPr>
              <a:t>因素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baseline="-25000" dirty="0">
                <a:solidFill>
                  <a:srgbClr val="CC00CC"/>
                </a:solidFill>
                <a:ea typeface="黑体" pitchFamily="2" charset="-122"/>
              </a:rPr>
              <a:t>2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(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教学水平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):</a:t>
            </a:r>
            <a:r>
              <a:rPr lang="en-US" altLang="zh-CN" sz="3600" dirty="0">
                <a:solidFill>
                  <a:srgbClr val="CC00CC"/>
                </a:solidFill>
                <a:ea typeface="黑体" pitchFamily="2" charset="-122"/>
              </a:rPr>
              <a:t> </a:t>
            </a:r>
          </a:p>
          <a:p>
            <a:pPr lvl="1" eaLnBrk="1" hangingPunct="1"/>
            <a:r>
              <a:rPr lang="en-US" altLang="zh-CN" sz="3200" dirty="0">
                <a:ea typeface="黑体" pitchFamily="2" charset="-122"/>
              </a:rPr>
              <a:t>M</a:t>
            </a:r>
            <a:r>
              <a:rPr lang="en-US" altLang="zh-CN" sz="3200" baseline="-25000" dirty="0">
                <a:ea typeface="黑体" pitchFamily="2" charset="-122"/>
              </a:rPr>
              <a:t>2</a:t>
            </a:r>
            <a:r>
              <a:rPr lang="en-US" altLang="zh-CN" sz="3200" dirty="0">
                <a:ea typeface="黑体" pitchFamily="2" charset="-122"/>
              </a:rPr>
              <a:t>=0.75, m</a:t>
            </a:r>
            <a:r>
              <a:rPr lang="en-US" altLang="zh-CN" sz="3200" baseline="-25000" dirty="0">
                <a:ea typeface="黑体" pitchFamily="2" charset="-122"/>
              </a:rPr>
              <a:t>2</a:t>
            </a:r>
            <a:r>
              <a:rPr lang="en-US" altLang="zh-CN" sz="3200" dirty="0">
                <a:ea typeface="黑体" pitchFamily="2" charset="-122"/>
              </a:rPr>
              <a:t>=0.25, </a:t>
            </a:r>
            <a:r>
              <a:rPr lang="zh-CN" altLang="en-US" sz="3200" dirty="0">
                <a:ea typeface="黑体" pitchFamily="2" charset="-122"/>
              </a:rPr>
              <a:t>选</a:t>
            </a:r>
            <a:r>
              <a:rPr lang="en-US" altLang="zh-CN" sz="3200" dirty="0">
                <a:ea typeface="黑体" pitchFamily="2" charset="-122"/>
              </a:rPr>
              <a:t>p=5,</a:t>
            </a:r>
            <a:r>
              <a:rPr lang="zh-CN" altLang="en-US" sz="3200" dirty="0">
                <a:ea typeface="黑体" pitchFamily="2" charset="-122"/>
              </a:rPr>
              <a:t>组距</a:t>
            </a:r>
            <a:r>
              <a:rPr lang="en-US" altLang="zh-CN" sz="3200" dirty="0">
                <a:ea typeface="黑体" pitchFamily="2" charset="-122"/>
              </a:rPr>
              <a:t>=(0.75-0.25)/5=0.1</a:t>
            </a:r>
          </a:p>
          <a:p>
            <a:pPr lvl="1" eaLnBrk="1" hangingPunct="1"/>
            <a:endParaRPr lang="en-US" altLang="zh-CN" dirty="0">
              <a:ea typeface="黑体" pitchFamily="2" charset="-122"/>
            </a:endParaRPr>
          </a:p>
          <a:p>
            <a:pPr lvl="1" eaLnBrk="1" hangingPunct="1"/>
            <a:endParaRPr lang="en-US" altLang="zh-CN" dirty="0">
              <a:ea typeface="黑体" pitchFamily="2" charset="-122"/>
            </a:endParaRPr>
          </a:p>
          <a:p>
            <a:pPr marL="457200" lvl="1" indent="0" eaLnBrk="1" hangingPunct="1">
              <a:buNone/>
            </a:pPr>
            <a:endParaRPr lang="en-US" altLang="zh-CN" sz="1400" dirty="0">
              <a:ea typeface="黑体" pitchFamily="2" charset="-122"/>
            </a:endParaRPr>
          </a:p>
          <a:p>
            <a:pPr eaLnBrk="1" hangingPunct="1"/>
            <a:r>
              <a:rPr lang="zh-CN" altLang="en-US" sz="3600" dirty="0">
                <a:solidFill>
                  <a:srgbClr val="CC00CC"/>
                </a:solidFill>
                <a:ea typeface="黑体" pitchFamily="2" charset="-122"/>
              </a:rPr>
              <a:t>因素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baseline="-25000" dirty="0">
                <a:solidFill>
                  <a:srgbClr val="CC00CC"/>
                </a:solidFill>
                <a:ea typeface="黑体" pitchFamily="2" charset="-122"/>
              </a:rPr>
              <a:t>3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(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科研能力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):</a:t>
            </a:r>
            <a:r>
              <a:rPr lang="en-US" altLang="zh-CN" sz="3600" dirty="0">
                <a:solidFill>
                  <a:srgbClr val="CC00CC"/>
                </a:solidFill>
                <a:ea typeface="黑体" pitchFamily="2" charset="-122"/>
              </a:rPr>
              <a:t> </a:t>
            </a:r>
          </a:p>
          <a:p>
            <a:pPr lvl="1" eaLnBrk="1" hangingPunct="1"/>
            <a:r>
              <a:rPr lang="en-US" altLang="zh-CN" sz="3200" dirty="0">
                <a:ea typeface="黑体" pitchFamily="2" charset="-122"/>
              </a:rPr>
              <a:t>M</a:t>
            </a:r>
            <a:r>
              <a:rPr lang="en-US" altLang="zh-CN" sz="3200" baseline="-25000" dirty="0">
                <a:ea typeface="黑体" pitchFamily="2" charset="-122"/>
              </a:rPr>
              <a:t>3</a:t>
            </a:r>
            <a:r>
              <a:rPr lang="en-US" altLang="zh-CN" sz="3200" dirty="0">
                <a:ea typeface="黑体" pitchFamily="2" charset="-122"/>
              </a:rPr>
              <a:t>=0.25, m</a:t>
            </a:r>
            <a:r>
              <a:rPr lang="en-US" altLang="zh-CN" sz="3200" baseline="-25000" dirty="0">
                <a:ea typeface="黑体" pitchFamily="2" charset="-122"/>
              </a:rPr>
              <a:t>3</a:t>
            </a:r>
            <a:r>
              <a:rPr lang="en-US" altLang="zh-CN" sz="3200" dirty="0">
                <a:ea typeface="黑体" pitchFamily="2" charset="-122"/>
              </a:rPr>
              <a:t>=0, </a:t>
            </a:r>
            <a:r>
              <a:rPr lang="zh-CN" altLang="en-US" sz="3200" dirty="0">
                <a:ea typeface="黑体" pitchFamily="2" charset="-122"/>
              </a:rPr>
              <a:t>选</a:t>
            </a:r>
            <a:r>
              <a:rPr lang="en-US" altLang="zh-CN" sz="3200" dirty="0">
                <a:ea typeface="黑体" pitchFamily="2" charset="-122"/>
              </a:rPr>
              <a:t>p=5,</a:t>
            </a:r>
            <a:r>
              <a:rPr lang="zh-CN" altLang="en-US" sz="3200" dirty="0">
                <a:ea typeface="黑体" pitchFamily="2" charset="-122"/>
              </a:rPr>
              <a:t>组距</a:t>
            </a:r>
            <a:r>
              <a:rPr lang="en-US" altLang="zh-CN" sz="3200" dirty="0">
                <a:ea typeface="黑体" pitchFamily="2" charset="-122"/>
              </a:rPr>
              <a:t>=(0.25-0)/5=0.05</a:t>
            </a:r>
            <a:endParaRPr lang="en-US" altLang="zh-CN" sz="2400" dirty="0"/>
          </a:p>
        </p:txBody>
      </p:sp>
      <p:graphicFrame>
        <p:nvGraphicFramePr>
          <p:cNvPr id="274436" name="Group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48110050"/>
              </p:ext>
            </p:extLst>
          </p:nvPr>
        </p:nvGraphicFramePr>
        <p:xfrm>
          <a:off x="1966118" y="2832890"/>
          <a:ext cx="8002587" cy="1192219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8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分组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0.25~0.35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0.35~0.45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0.45~0.55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0.55~0.65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0.65~0.75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频数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频率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0.076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0.261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0.435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0.196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0.032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74466" name="Group 34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218007398"/>
              </p:ext>
            </p:extLst>
          </p:nvPr>
        </p:nvGraphicFramePr>
        <p:xfrm>
          <a:off x="1991544" y="5397769"/>
          <a:ext cx="8002587" cy="1271591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9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分组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0.00~0.05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0.05~0.10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0.10~0.15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0.15~0.20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0.20~0.25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频数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频率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0.065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0.793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0.076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0.043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0.021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4C9FFE-1F96-1CBA-09BF-020E607BE6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5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3.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频率统计方法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(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)(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续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)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7408" y="1454153"/>
            <a:ext cx="10225136" cy="5229225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CC00CC"/>
                </a:solidFill>
                <a:ea typeface="黑体" pitchFamily="2" charset="-122"/>
              </a:rPr>
              <a:t>因素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u</a:t>
            </a:r>
            <a:r>
              <a:rPr lang="en-US" altLang="zh-CN" baseline="-25000" dirty="0">
                <a:solidFill>
                  <a:srgbClr val="CC00CC"/>
                </a:solidFill>
                <a:ea typeface="黑体" pitchFamily="2" charset="-122"/>
              </a:rPr>
              <a:t>4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(</a:t>
            </a:r>
            <a:r>
              <a:rPr lang="zh-CN" altLang="en-US" dirty="0">
                <a:solidFill>
                  <a:srgbClr val="CC00CC"/>
                </a:solidFill>
                <a:ea typeface="黑体" pitchFamily="2" charset="-122"/>
              </a:rPr>
              <a:t>外语水平</a:t>
            </a: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):</a:t>
            </a:r>
            <a:r>
              <a:rPr lang="en-US" altLang="zh-CN" sz="3600" dirty="0">
                <a:solidFill>
                  <a:srgbClr val="CC00CC"/>
                </a:solidFill>
                <a:ea typeface="黑体" pitchFamily="2" charset="-122"/>
              </a:rPr>
              <a:t> </a:t>
            </a:r>
          </a:p>
          <a:p>
            <a:pPr lvl="1" eaLnBrk="1" hangingPunct="1"/>
            <a:r>
              <a:rPr lang="en-US" altLang="zh-CN" sz="3200" dirty="0">
                <a:ea typeface="黑体" pitchFamily="2" charset="-122"/>
              </a:rPr>
              <a:t>M</a:t>
            </a:r>
            <a:r>
              <a:rPr lang="en-US" altLang="zh-CN" sz="3200" baseline="-25000" dirty="0">
                <a:ea typeface="黑体" pitchFamily="2" charset="-122"/>
              </a:rPr>
              <a:t>4</a:t>
            </a:r>
            <a:r>
              <a:rPr lang="en-US" altLang="zh-CN" sz="3200" dirty="0">
                <a:ea typeface="黑体" pitchFamily="2" charset="-122"/>
              </a:rPr>
              <a:t>=0.47, m</a:t>
            </a:r>
            <a:r>
              <a:rPr lang="en-US" altLang="zh-CN" sz="3200" baseline="-25000" dirty="0">
                <a:ea typeface="黑体" pitchFamily="2" charset="-122"/>
              </a:rPr>
              <a:t>4</a:t>
            </a:r>
            <a:r>
              <a:rPr lang="en-US" altLang="zh-CN" sz="3200" dirty="0">
                <a:ea typeface="黑体" pitchFamily="2" charset="-122"/>
              </a:rPr>
              <a:t>=0.05, </a:t>
            </a:r>
            <a:r>
              <a:rPr lang="zh-CN" altLang="en-US" sz="3200" dirty="0">
                <a:ea typeface="黑体" pitchFamily="2" charset="-122"/>
              </a:rPr>
              <a:t>选</a:t>
            </a:r>
            <a:r>
              <a:rPr lang="en-US" altLang="zh-CN" sz="3200" dirty="0">
                <a:ea typeface="黑体" pitchFamily="2" charset="-122"/>
              </a:rPr>
              <a:t>p=5,</a:t>
            </a:r>
            <a:r>
              <a:rPr lang="zh-CN" altLang="en-US" sz="3200" dirty="0">
                <a:ea typeface="黑体" pitchFamily="2" charset="-122"/>
              </a:rPr>
              <a:t>组距</a:t>
            </a:r>
            <a:r>
              <a:rPr lang="en-US" altLang="zh-CN" sz="3200" dirty="0">
                <a:ea typeface="黑体" pitchFamily="2" charset="-122"/>
              </a:rPr>
              <a:t>=(0.47-0.05)/5</a:t>
            </a:r>
            <a:r>
              <a:rPr lang="en-US" altLang="zh-CN" sz="3200" dirty="0"/>
              <a:t>≈</a:t>
            </a:r>
            <a:r>
              <a:rPr lang="en-US" altLang="zh-CN" sz="3200" dirty="0">
                <a:ea typeface="黑体" pitchFamily="2" charset="-122"/>
              </a:rPr>
              <a:t>0.09</a:t>
            </a:r>
          </a:p>
          <a:p>
            <a:pPr lvl="1" eaLnBrk="1" hangingPunct="1"/>
            <a:endParaRPr lang="en-US" altLang="zh-CN" dirty="0">
              <a:ea typeface="黑体" pitchFamily="2" charset="-122"/>
            </a:endParaRPr>
          </a:p>
          <a:p>
            <a:pPr lvl="1" eaLnBrk="1" hangingPunct="1"/>
            <a:endParaRPr lang="en-US" altLang="zh-CN" dirty="0">
              <a:ea typeface="黑体" pitchFamily="2" charset="-122"/>
            </a:endParaRPr>
          </a:p>
          <a:p>
            <a:pPr lvl="1" eaLnBrk="1" hangingPunct="1"/>
            <a:endParaRPr lang="en-US" altLang="zh-CN" sz="1400" dirty="0"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ea typeface="黑体" pitchFamily="2" charset="-122"/>
              </a:rPr>
              <a:t>由上表中的频数、频率的分布可知，一般可取频率最大的分组的组中值为相应因素的权重，也可取组中值邻近的值。</a:t>
            </a: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由此可确定权重向量为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    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A=(0.235, 0.465, 0.100,0.200)</a:t>
            </a:r>
            <a:endParaRPr lang="en-US" altLang="zh-CN" dirty="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75460" name="Group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54550259"/>
              </p:ext>
            </p:extLst>
          </p:nvPr>
        </p:nvGraphicFramePr>
        <p:xfrm>
          <a:off x="2053853" y="2812845"/>
          <a:ext cx="8002587" cy="1192219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8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分组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0.05~0.14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0.14~0.23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0.23~0.32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0.32~0.41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0.41~0.50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频数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频率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0.130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0.598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0.197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0.054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0.021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418" name="矩形 1"/>
          <p:cNvSpPr>
            <a:spLocks noChangeArrowheads="1"/>
          </p:cNvSpPr>
          <p:nvPr/>
        </p:nvSpPr>
        <p:spPr bwMode="auto">
          <a:xfrm>
            <a:off x="5447928" y="6492875"/>
            <a:ext cx="6913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U={</a:t>
            </a:r>
            <a:r>
              <a:rPr lang="zh-CN" altLang="en-US" sz="2000" b="1" dirty="0">
                <a:solidFill>
                  <a:srgbClr val="3333FF"/>
                </a:solidFill>
                <a:ea typeface="楷体_GB2312" pitchFamily="49" charset="-122"/>
              </a:rPr>
              <a:t>政治表现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000" b="1" baseline="-25000" dirty="0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),</a:t>
            </a:r>
            <a:r>
              <a:rPr lang="zh-CN" altLang="en-US" sz="2000" b="1" dirty="0">
                <a:solidFill>
                  <a:srgbClr val="3333FF"/>
                </a:solidFill>
                <a:ea typeface="楷体_GB2312" pitchFamily="49" charset="-122"/>
              </a:rPr>
              <a:t>教学水平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000" b="1" baseline="-25000" dirty="0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,</a:t>
            </a:r>
            <a:r>
              <a:rPr lang="zh-CN" altLang="en-US" sz="2000" b="1" dirty="0">
                <a:solidFill>
                  <a:srgbClr val="3333FF"/>
                </a:solidFill>
                <a:ea typeface="楷体_GB2312" pitchFamily="49" charset="-122"/>
              </a:rPr>
              <a:t>科研能力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000" b="1" baseline="-25000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),</a:t>
            </a:r>
            <a:r>
              <a:rPr lang="zh-CN" altLang="en-US" sz="2000" b="1" dirty="0">
                <a:solidFill>
                  <a:srgbClr val="3333FF"/>
                </a:solidFill>
                <a:ea typeface="楷体_GB2312" pitchFamily="49" charset="-122"/>
              </a:rPr>
              <a:t>外语水平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(u</a:t>
            </a:r>
            <a:r>
              <a:rPr lang="en-US" altLang="zh-CN" sz="2000" b="1" baseline="-25000" dirty="0">
                <a:solidFill>
                  <a:srgbClr val="3333FF"/>
                </a:solidFill>
                <a:ea typeface="楷体_GB2312" pitchFamily="49" charset="-122"/>
              </a:rPr>
              <a:t>4</a:t>
            </a:r>
            <a:r>
              <a:rPr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)}</a:t>
            </a:r>
            <a:endParaRPr lang="zh-CN" altLang="en-US" sz="2000" dirty="0">
              <a:solidFill>
                <a:srgbClr val="3333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4F87EB-938F-3125-23B9-98209D8010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92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5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  <p:bldP spid="1641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5"/>
          <p:cNvSpPr>
            <a:spLocks noGrp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客观赋权法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——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变异系数法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27448" y="1268414"/>
            <a:ext cx="10081120" cy="540067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黑体" pitchFamily="49" charset="-122"/>
                <a:ea typeface="黑体" pitchFamily="49" charset="-122"/>
              </a:rPr>
              <a:t>若某指标的数值能明确区分开各个被评价对象，则该指标有较大的权数，反之，赋给较小的权数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.</a:t>
            </a:r>
          </a:p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计算各指标的变异系数公式：</a:t>
            </a:r>
            <a:endParaRPr lang="en-US" altLang="zh-CN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endParaRPr lang="en-US" altLang="zh-CN" sz="4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457200" lvl="1" indent="0">
              <a:buNone/>
              <a:defRPr/>
            </a:pPr>
            <a:endParaRPr lang="en-US" altLang="zh-CN" b="1" dirty="0">
              <a:solidFill>
                <a:srgbClr val="3333FF"/>
              </a:solidFill>
              <a:ea typeface="华文楷体" pitchFamily="2" charset="-122"/>
            </a:endParaRPr>
          </a:p>
          <a:p>
            <a:pPr marL="971550" lvl="1" indent="-514350">
              <a:buFont typeface="+mj-ea"/>
              <a:buAutoNum type="circleNumDbPlain"/>
              <a:defRPr/>
            </a:pPr>
            <a:endParaRPr lang="en-US" altLang="zh-CN" b="1" dirty="0">
              <a:solidFill>
                <a:srgbClr val="3333FF"/>
              </a:solidFill>
              <a:ea typeface="华文楷体" pitchFamily="2" charset="-122"/>
            </a:endParaRPr>
          </a:p>
          <a:p>
            <a:pPr marL="571500" indent="-514350">
              <a:buFont typeface="Wingdings" pitchFamily="2" charset="2"/>
              <a:buChar char="Ø"/>
              <a:defRPr/>
            </a:pPr>
            <a:endParaRPr lang="en-US" altLang="zh-CN" b="1" dirty="0">
              <a:ea typeface="华文楷体" pitchFamily="2" charset="-122"/>
            </a:endParaRPr>
          </a:p>
          <a:p>
            <a:pPr marL="571500" indent="-514350">
              <a:buFont typeface="Wingdings" pitchFamily="2" charset="2"/>
              <a:buChar char="Ø"/>
              <a:defRPr/>
            </a:pPr>
            <a:endParaRPr lang="en-US" altLang="zh-CN" sz="2800" b="1" dirty="0">
              <a:ea typeface="华文楷体" pitchFamily="2" charset="-122"/>
            </a:endParaRPr>
          </a:p>
          <a:p>
            <a:pPr marL="57150" indent="0">
              <a:buNone/>
              <a:defRPr/>
            </a:pPr>
            <a:r>
              <a:rPr lang="zh-CN" altLang="en-US" b="1" dirty="0">
                <a:ea typeface="华文楷体" pitchFamily="2" charset="-122"/>
              </a:rPr>
              <a:t>  对</a:t>
            </a:r>
            <a:r>
              <a:rPr lang="en-US" altLang="zh-CN" b="1" i="1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ea typeface="华文楷体" pitchFamily="2" charset="-122"/>
              </a:rPr>
              <a:t>归一化得各指标的权数</a:t>
            </a:r>
            <a:r>
              <a:rPr lang="en-US" altLang="zh-CN" b="1" dirty="0">
                <a:ea typeface="华文楷体" pitchFamily="2" charset="-122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b="1" i="1" baseline="-25000" dirty="0" err="1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i</a:t>
            </a:r>
            <a:endParaRPr lang="en-US" altLang="zh-CN" b="1" dirty="0">
              <a:latin typeface="Times New Roman" panose="02020603050405020304" pitchFamily="18" charset="0"/>
              <a:ea typeface="华文楷体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503614" y="2852738"/>
          <a:ext cx="1658937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5800" imgH="253800" progId="Equation.3">
                  <p:embed/>
                </p:oleObj>
              </mc:Choice>
              <mc:Fallback>
                <p:oleObj name="公式" r:id="rId2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2852738"/>
                        <a:ext cx="1658937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44413"/>
              </p:ext>
            </p:extLst>
          </p:nvPr>
        </p:nvGraphicFramePr>
        <p:xfrm>
          <a:off x="7248128" y="5741987"/>
          <a:ext cx="205898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680" imgH="431640" progId="Equation.3">
                  <p:embed/>
                </p:oleObj>
              </mc:Choice>
              <mc:Fallback>
                <p:oleObj name="公式" r:id="rId4" imgW="850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5741987"/>
                        <a:ext cx="205898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32175" y="4437064"/>
          <a:ext cx="6821488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19160" imgH="444240" progId="Equation.3">
                  <p:embed/>
                </p:oleObj>
              </mc:Choice>
              <mc:Fallback>
                <p:oleObj name="公式" r:id="rId6" imgW="2819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4437064"/>
                        <a:ext cx="6821488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08213" y="3429000"/>
          <a:ext cx="6883400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44800" imgH="444500" progId="Equation.3">
                  <p:embed/>
                </p:oleObj>
              </mc:Choice>
              <mc:Fallback>
                <p:oleObj name="公式" r:id="rId8" imgW="2844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429000"/>
                        <a:ext cx="6883400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287A3-3B9E-1A00-9701-D618C3F4D3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864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5"/>
          <p:cNvSpPr>
            <a:spLocks noGrp="1"/>
          </p:cNvSpPr>
          <p:nvPr>
            <p:ph type="title"/>
          </p:nvPr>
        </p:nvSpPr>
        <p:spPr>
          <a:xfrm>
            <a:off x="1992313" y="115888"/>
            <a:ext cx="8229600" cy="1371600"/>
          </a:xfrm>
        </p:spPr>
        <p:txBody>
          <a:bodyPr/>
          <a:lstStyle/>
          <a:p>
            <a:pPr algn="ctr"/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客观赋权法</a:t>
            </a:r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——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变异系数法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055440" y="1268413"/>
            <a:ext cx="10297144" cy="547370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已知五个投资方案如下表：单位（万元）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试确定四个评价指标的权重</a:t>
            </a:r>
            <a:endParaRPr lang="en-US" altLang="zh-CN" sz="2800" dirty="0">
              <a:latin typeface="黑体" pitchFamily="49" charset="-122"/>
              <a:ea typeface="黑体" pitchFamily="49" charset="-122"/>
            </a:endParaRPr>
          </a:p>
          <a:p>
            <a:pPr>
              <a:defRPr/>
            </a:pPr>
            <a:endParaRPr lang="en-US" altLang="zh-CN" sz="28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457200" lvl="1" indent="0">
              <a:buNone/>
              <a:defRPr/>
            </a:pPr>
            <a:endParaRPr lang="en-US" altLang="zh-CN" sz="2400" b="1" dirty="0">
              <a:solidFill>
                <a:srgbClr val="3333FF"/>
              </a:solidFill>
              <a:ea typeface="华文楷体" pitchFamily="2" charset="-122"/>
            </a:endParaRPr>
          </a:p>
          <a:p>
            <a:pPr marL="971550" lvl="1" indent="-514350">
              <a:buFont typeface="+mj-ea"/>
              <a:buAutoNum type="circleNumDbPlain"/>
              <a:defRPr/>
            </a:pPr>
            <a:endParaRPr lang="en-US" altLang="zh-CN" sz="2400" b="1" dirty="0">
              <a:solidFill>
                <a:srgbClr val="3333FF"/>
              </a:solidFill>
              <a:ea typeface="华文楷体" pitchFamily="2" charset="-122"/>
            </a:endParaRPr>
          </a:p>
          <a:p>
            <a:pPr marL="571500" indent="-514350">
              <a:buFont typeface="Wingdings" pitchFamily="2" charset="2"/>
              <a:buChar char="Ø"/>
              <a:defRPr/>
            </a:pPr>
            <a:endParaRPr lang="en-US" altLang="zh-CN" sz="2800" b="1" dirty="0">
              <a:ea typeface="华文楷体" pitchFamily="2" charset="-122"/>
            </a:endParaRPr>
          </a:p>
          <a:p>
            <a:pPr marL="57150" indent="0">
              <a:buNone/>
              <a:defRPr/>
            </a:pPr>
            <a:r>
              <a:rPr lang="zh-CN" altLang="en-US" sz="2800" b="1" dirty="0">
                <a:ea typeface="华文楷体" pitchFamily="2" charset="-122"/>
              </a:rPr>
              <a:t> </a:t>
            </a:r>
            <a:r>
              <a:rPr lang="zh-CN" altLang="en-US" sz="2400" b="1" dirty="0">
                <a:ea typeface="华文楷体" pitchFamily="2" charset="-122"/>
              </a:rPr>
              <a:t>对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latin typeface="Times New Roman" panose="02020603050405020304" pitchFamily="18" charset="0"/>
                <a:ea typeface="华文楷体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ea typeface="华文楷体" pitchFamily="2" charset="-122"/>
              </a:rPr>
              <a:t>归一化得各指标的权数</a:t>
            </a:r>
            <a:endParaRPr lang="en-US" altLang="zh-CN" sz="2400" b="1" dirty="0">
              <a:ea typeface="华文楷体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758106"/>
              </p:ext>
            </p:extLst>
          </p:nvPr>
        </p:nvGraphicFramePr>
        <p:xfrm>
          <a:off x="1631504" y="1844675"/>
          <a:ext cx="6264276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0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latin typeface="+mn-lt"/>
                          <a:ea typeface="华文楷体" pitchFamily="2" charset="-122"/>
                        </a:rPr>
                        <a:t>目标    方案</a:t>
                      </a: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华文楷体" pitchFamily="2" charset="-122"/>
                        </a:rPr>
                        <a:t>A</a:t>
                      </a:r>
                      <a:r>
                        <a:rPr lang="en-US" altLang="zh-CN" sz="2000" b="1" baseline="-25000" dirty="0">
                          <a:latin typeface="+mn-lt"/>
                          <a:ea typeface="华文楷体" pitchFamily="2" charset="-122"/>
                        </a:rPr>
                        <a:t>1</a:t>
                      </a:r>
                      <a:endParaRPr lang="zh-CN" altLang="en-US" sz="2000" b="1" baseline="-25000" dirty="0">
                        <a:latin typeface="+mn-lt"/>
                        <a:ea typeface="华文楷体" pitchFamily="2" charset="-122"/>
                      </a:endParaRP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华文楷体" pitchFamily="2" charset="-122"/>
                        </a:rPr>
                        <a:t>A</a:t>
                      </a:r>
                      <a:r>
                        <a:rPr lang="en-US" altLang="zh-CN" sz="2000" b="1" baseline="-25000" dirty="0">
                          <a:latin typeface="+mn-lt"/>
                          <a:ea typeface="华文楷体" pitchFamily="2" charset="-122"/>
                        </a:rPr>
                        <a:t>2</a:t>
                      </a:r>
                      <a:endParaRPr lang="zh-CN" altLang="en-US" sz="2000" b="1" dirty="0">
                        <a:latin typeface="+mn-lt"/>
                        <a:ea typeface="华文楷体" pitchFamily="2" charset="-122"/>
                      </a:endParaRP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华文楷体" pitchFamily="2" charset="-122"/>
                        </a:rPr>
                        <a:t>A</a:t>
                      </a:r>
                      <a:r>
                        <a:rPr lang="en-US" altLang="zh-CN" sz="2000" b="1" baseline="-25000" dirty="0">
                          <a:latin typeface="+mn-lt"/>
                          <a:ea typeface="华文楷体" pitchFamily="2" charset="-122"/>
                        </a:rPr>
                        <a:t>3</a:t>
                      </a:r>
                      <a:endParaRPr lang="zh-CN" altLang="en-US" sz="2000" b="1" dirty="0">
                        <a:latin typeface="+mn-lt"/>
                        <a:ea typeface="华文楷体" pitchFamily="2" charset="-122"/>
                      </a:endParaRP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华文楷体" pitchFamily="2" charset="-122"/>
                        </a:rPr>
                        <a:t>A</a:t>
                      </a:r>
                      <a:r>
                        <a:rPr lang="en-US" altLang="zh-CN" sz="2000" b="1" baseline="-25000" dirty="0">
                          <a:latin typeface="+mn-lt"/>
                          <a:ea typeface="华文楷体" pitchFamily="2" charset="-122"/>
                        </a:rPr>
                        <a:t>4</a:t>
                      </a:r>
                      <a:endParaRPr lang="zh-CN" altLang="en-US" sz="2000" b="1" dirty="0">
                        <a:latin typeface="+mn-lt"/>
                        <a:ea typeface="华文楷体" pitchFamily="2" charset="-122"/>
                      </a:endParaRP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+mn-lt"/>
                          <a:ea typeface="华文楷体" pitchFamily="2" charset="-122"/>
                        </a:rPr>
                        <a:t>A</a:t>
                      </a:r>
                      <a:r>
                        <a:rPr lang="en-US" altLang="zh-CN" sz="2000" b="1" baseline="-25000" dirty="0">
                          <a:latin typeface="+mn-lt"/>
                          <a:ea typeface="华文楷体" pitchFamily="2" charset="-122"/>
                        </a:rPr>
                        <a:t>5</a:t>
                      </a:r>
                      <a:endParaRPr lang="zh-CN" altLang="en-US" sz="2000" b="1" dirty="0">
                        <a:latin typeface="+mn-lt"/>
                        <a:ea typeface="华文楷体" pitchFamily="2" charset="-122"/>
                      </a:endParaRP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8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华文楷体" pitchFamily="2" charset="-122"/>
                          <a:ea typeface="华文楷体" pitchFamily="2" charset="-122"/>
                        </a:rPr>
                        <a:t>投资额</a:t>
                      </a: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5.20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10.08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5.25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9.72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6.60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8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华文楷体" pitchFamily="2" charset="-122"/>
                          <a:ea typeface="华文楷体" pitchFamily="2" charset="-122"/>
                        </a:rPr>
                        <a:t>期望净现值</a:t>
                      </a: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5.20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6.70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4.20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5.25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3.75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华文楷体" pitchFamily="2" charset="-122"/>
                          <a:ea typeface="华文楷体" pitchFamily="2" charset="-122"/>
                        </a:rPr>
                        <a:t>风险盈利值</a:t>
                      </a: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4.73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5.71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3.82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5.54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3.30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latin typeface="华文楷体" pitchFamily="2" charset="-122"/>
                          <a:ea typeface="华文楷体" pitchFamily="2" charset="-122"/>
                        </a:rPr>
                        <a:t>风险损失值</a:t>
                      </a:r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0.473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1.599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0.473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1.313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0.803</a:t>
                      </a:r>
                      <a:endParaRPr lang="zh-CN" altLang="en-US" sz="2000" dirty="0"/>
                    </a:p>
                  </a:txBody>
                  <a:tcPr marL="91434" marR="9143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140359"/>
              </p:ext>
            </p:extLst>
          </p:nvPr>
        </p:nvGraphicFramePr>
        <p:xfrm>
          <a:off x="2162175" y="5805488"/>
          <a:ext cx="49053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080" imgH="253800" progId="Equation.DSMT4">
                  <p:embed/>
                </p:oleObj>
              </mc:Choice>
              <mc:Fallback>
                <p:oleObj name="Equation" r:id="rId2" imgW="2692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5805488"/>
                        <a:ext cx="490537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092680"/>
              </p:ext>
            </p:extLst>
          </p:nvPr>
        </p:nvGraphicFramePr>
        <p:xfrm>
          <a:off x="2239963" y="4241800"/>
          <a:ext cx="699293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90840" imgH="444240" progId="Equation.DSMT4">
                  <p:embed/>
                </p:oleObj>
              </mc:Choice>
              <mc:Fallback>
                <p:oleObj name="Equation" r:id="rId4" imgW="3390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4241800"/>
                        <a:ext cx="699293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649565"/>
              </p:ext>
            </p:extLst>
          </p:nvPr>
        </p:nvGraphicFramePr>
        <p:xfrm>
          <a:off x="2298700" y="5081588"/>
          <a:ext cx="20510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44240" progId="Equation.DSMT4">
                  <p:embed/>
                </p:oleObj>
              </mc:Choice>
              <mc:Fallback>
                <p:oleObj name="Equation" r:id="rId6" imgW="1396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5081588"/>
                        <a:ext cx="205105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1631504" y="1844676"/>
            <a:ext cx="1440160" cy="360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621422"/>
              </p:ext>
            </p:extLst>
          </p:nvPr>
        </p:nvGraphicFramePr>
        <p:xfrm>
          <a:off x="4295775" y="5081588"/>
          <a:ext cx="4897438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09600" imgH="393480" progId="Equation.DSMT4">
                  <p:embed/>
                </p:oleObj>
              </mc:Choice>
              <mc:Fallback>
                <p:oleObj name="Equation" r:id="rId8" imgW="300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5081588"/>
                        <a:ext cx="4897438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185426"/>
              </p:ext>
            </p:extLst>
          </p:nvPr>
        </p:nvGraphicFramePr>
        <p:xfrm>
          <a:off x="7428607" y="5849938"/>
          <a:ext cx="3563937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228600" progId="Equation.DSMT4">
                  <p:embed/>
                </p:oleObj>
              </mc:Choice>
              <mc:Fallback>
                <p:oleObj name="Equation" r:id="rId10" imgW="2044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8607" y="5849938"/>
                        <a:ext cx="3563937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503846"/>
              </p:ext>
            </p:extLst>
          </p:nvPr>
        </p:nvGraphicFramePr>
        <p:xfrm>
          <a:off x="5854700" y="6361113"/>
          <a:ext cx="480377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19160" imgH="228600" progId="Equation.DSMT4">
                  <p:embed/>
                </p:oleObj>
              </mc:Choice>
              <mc:Fallback>
                <p:oleObj name="Equation" r:id="rId12" imgW="281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6361113"/>
                        <a:ext cx="4803775" cy="39211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346247"/>
              </p:ext>
            </p:extLst>
          </p:nvPr>
        </p:nvGraphicFramePr>
        <p:xfrm>
          <a:off x="7896200" y="1844824"/>
          <a:ext cx="864096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/>
                        <a:t>  </a:t>
                      </a:r>
                      <a:endParaRPr lang="zh-CN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7.37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5.02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4.62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0.932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474259"/>
              </p:ext>
            </p:extLst>
          </p:nvPr>
        </p:nvGraphicFramePr>
        <p:xfrm>
          <a:off x="8184233" y="1811822"/>
          <a:ext cx="301623" cy="46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0" imgH="253800" progId="Equation.DSMT4">
                  <p:embed/>
                </p:oleObj>
              </mc:Choice>
              <mc:Fallback>
                <p:oleObj name="Equation" r:id="rId14" imgW="164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4233" y="1811822"/>
                        <a:ext cx="301623" cy="46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537367"/>
              </p:ext>
            </p:extLst>
          </p:nvPr>
        </p:nvGraphicFramePr>
        <p:xfrm>
          <a:off x="8760296" y="1844824"/>
          <a:ext cx="864096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/>
                        <a:t>v</a:t>
                      </a:r>
                      <a:r>
                        <a:rPr lang="en-US" altLang="zh-CN" sz="2000" b="1" i="1" baseline="-25000" dirty="0"/>
                        <a:t>i</a:t>
                      </a:r>
                      <a:endParaRPr lang="zh-CN" altLang="en-US" sz="2000" b="1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0.323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0.227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0.228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0.544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62C27-4A11-915D-C03B-3A5E8D2D00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FB4F0AC-ABAC-AD7E-8CC7-73EC07E7E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101278"/>
              </p:ext>
            </p:extLst>
          </p:nvPr>
        </p:nvGraphicFramePr>
        <p:xfrm>
          <a:off x="9627121" y="1833563"/>
          <a:ext cx="864096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1" dirty="0" err="1"/>
                        <a:t>w</a:t>
                      </a:r>
                      <a:r>
                        <a:rPr lang="en-US" altLang="zh-CN" sz="2000" b="1" i="1" baseline="-25000" dirty="0" err="1"/>
                        <a:t>i</a:t>
                      </a:r>
                      <a:endParaRPr lang="zh-CN" altLang="en-US" sz="2000" b="1" i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0.244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0.172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0.172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0.411</a:t>
                      </a:r>
                      <a:endParaRPr lang="zh-CN" alt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96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316038"/>
          </a:xfrm>
        </p:spPr>
        <p:txBody>
          <a:bodyPr/>
          <a:lstStyle/>
          <a:p>
            <a:pPr algn="ctr" eaLnBrk="1" hangingPunct="1"/>
            <a:r>
              <a:rPr kumimoji="1"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协调决策法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700214"/>
            <a:ext cx="9021886" cy="468153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kumimoji="1" lang="en-US" altLang="zh-CN" dirty="0">
                <a:ea typeface="黑体" pitchFamily="2" charset="-122"/>
              </a:rPr>
              <a:t> </a:t>
            </a:r>
            <a:r>
              <a:rPr kumimoji="1" lang="zh-CN" altLang="en-US" dirty="0">
                <a:ea typeface="黑体" pitchFamily="2" charset="-122"/>
              </a:rPr>
              <a:t>在</a:t>
            </a:r>
            <a:r>
              <a:rPr kumimoji="1" lang="en-US" altLang="zh-CN" dirty="0">
                <a:ea typeface="黑体" pitchFamily="2" charset="-122"/>
              </a:rPr>
              <a:t>F</a:t>
            </a:r>
            <a:r>
              <a:rPr kumimoji="1" lang="zh-CN" altLang="en-US" dirty="0">
                <a:ea typeface="黑体" pitchFamily="2" charset="-122"/>
              </a:rPr>
              <a:t>综合评判决策问题中</a:t>
            </a:r>
          </a:p>
          <a:p>
            <a:pPr lvl="1" eaLnBrk="1" hangingPunct="1">
              <a:lnSpc>
                <a:spcPct val="150000"/>
              </a:lnSpc>
            </a:pPr>
            <a:r>
              <a:rPr kumimoji="1" lang="zh-CN" altLang="en-US" b="1" dirty="0">
                <a:ea typeface="楷体_GB2312" pitchFamily="49" charset="-122"/>
              </a:rPr>
              <a:t>若已知综合决策 </a:t>
            </a:r>
            <a:r>
              <a:rPr kumimoji="1" lang="en-US" altLang="zh-CN" b="1" i="1" dirty="0">
                <a:ea typeface="楷体_GB2312" pitchFamily="49" charset="-122"/>
              </a:rPr>
              <a:t>B </a:t>
            </a:r>
            <a:r>
              <a:rPr kumimoji="1" lang="en-US" altLang="zh-CN" b="1" dirty="0">
                <a:ea typeface="楷体_GB2312" pitchFamily="49" charset="-122"/>
              </a:rPr>
              <a:t>= (</a:t>
            </a:r>
            <a:r>
              <a:rPr kumimoji="1" lang="en-US" altLang="zh-CN" b="1" i="1" dirty="0">
                <a:ea typeface="楷体_GB2312" pitchFamily="49" charset="-122"/>
              </a:rPr>
              <a:t>b</a:t>
            </a:r>
            <a:r>
              <a:rPr kumimoji="1" lang="en-US" altLang="zh-CN" b="1" baseline="-25000" dirty="0">
                <a:ea typeface="楷体_GB2312" pitchFamily="49" charset="-122"/>
              </a:rPr>
              <a:t>1</a:t>
            </a:r>
            <a:r>
              <a:rPr kumimoji="1" lang="en-US" altLang="zh-CN" b="1" dirty="0">
                <a:ea typeface="楷体_GB2312" pitchFamily="49" charset="-122"/>
              </a:rPr>
              <a:t>, </a:t>
            </a:r>
            <a:r>
              <a:rPr kumimoji="1" lang="en-US" altLang="zh-CN" b="1" i="1" dirty="0">
                <a:ea typeface="楷体_GB2312" pitchFamily="49" charset="-122"/>
              </a:rPr>
              <a:t>b</a:t>
            </a:r>
            <a:r>
              <a:rPr kumimoji="1" lang="en-US" altLang="zh-CN" b="1" baseline="-25000" dirty="0">
                <a:ea typeface="楷体_GB2312" pitchFamily="49" charset="-122"/>
              </a:rPr>
              <a:t>2</a:t>
            </a:r>
            <a:r>
              <a:rPr kumimoji="1" lang="en-US" altLang="zh-CN" b="1" dirty="0">
                <a:ea typeface="楷体_GB2312" pitchFamily="49" charset="-122"/>
              </a:rPr>
              <a:t>, … , </a:t>
            </a:r>
            <a:r>
              <a:rPr kumimoji="1" lang="en-US" altLang="zh-CN" b="1" i="1" dirty="0">
                <a:ea typeface="楷体_GB2312" pitchFamily="49" charset="-122"/>
              </a:rPr>
              <a:t>b</a:t>
            </a:r>
            <a:r>
              <a:rPr kumimoji="1" lang="en-US" altLang="zh-CN" b="1" baseline="-25000" dirty="0">
                <a:ea typeface="楷体_GB2312" pitchFamily="49" charset="-122"/>
              </a:rPr>
              <a:t>n</a:t>
            </a:r>
            <a:r>
              <a:rPr kumimoji="1" lang="en-US" altLang="zh-CN" b="1" i="1" dirty="0">
                <a:ea typeface="楷体_GB2312" pitchFamily="49" charset="-122"/>
              </a:rPr>
              <a:t> </a:t>
            </a:r>
            <a:r>
              <a:rPr kumimoji="1" lang="en-US" altLang="zh-CN" b="1" dirty="0">
                <a:ea typeface="楷体_GB2312" pitchFamily="49" charset="-122"/>
              </a:rPr>
              <a:t>)</a:t>
            </a:r>
          </a:p>
          <a:p>
            <a:pPr lvl="1" eaLnBrk="1" hangingPunct="1">
              <a:lnSpc>
                <a:spcPct val="150000"/>
              </a:lnSpc>
            </a:pPr>
            <a:r>
              <a:rPr kumimoji="1" lang="zh-CN" altLang="en-US" b="1" dirty="0">
                <a:ea typeface="楷体_GB2312" pitchFamily="49" charset="-122"/>
              </a:rPr>
              <a:t>综合评判矩阵</a:t>
            </a:r>
            <a:r>
              <a:rPr kumimoji="1" lang="zh-CN" altLang="en-US" b="1" i="1" dirty="0">
                <a:ea typeface="楷体_GB2312" pitchFamily="49" charset="-122"/>
              </a:rPr>
              <a:t> </a:t>
            </a:r>
            <a:r>
              <a:rPr kumimoji="1" lang="en-US" altLang="zh-CN" b="1" i="1" dirty="0">
                <a:ea typeface="楷体_GB2312" pitchFamily="49" charset="-122"/>
              </a:rPr>
              <a:t>R</a:t>
            </a:r>
            <a:r>
              <a:rPr kumimoji="1" lang="en-US" altLang="zh-CN" b="1" dirty="0">
                <a:ea typeface="楷体_GB2312" pitchFamily="49" charset="-122"/>
              </a:rPr>
              <a:t> =(</a:t>
            </a:r>
            <a:r>
              <a:rPr kumimoji="1" lang="en-US" altLang="zh-CN" b="1" i="1" dirty="0" err="1">
                <a:ea typeface="楷体_GB2312" pitchFamily="49" charset="-122"/>
              </a:rPr>
              <a:t>r</a:t>
            </a:r>
            <a:r>
              <a:rPr kumimoji="1" lang="en-US" altLang="zh-CN" b="1" i="1" baseline="-25000" dirty="0" err="1">
                <a:ea typeface="楷体_GB2312" pitchFamily="49" charset="-122"/>
              </a:rPr>
              <a:t>ij</a:t>
            </a:r>
            <a:r>
              <a:rPr kumimoji="1" lang="en-US" altLang="zh-CN" b="1" dirty="0">
                <a:ea typeface="楷体_GB2312" pitchFamily="49" charset="-122"/>
              </a:rPr>
              <a:t>)</a:t>
            </a:r>
            <a:r>
              <a:rPr kumimoji="1" lang="en-US" altLang="zh-CN" b="1" i="1" baseline="-25000" dirty="0" err="1">
                <a:ea typeface="楷体_GB2312" pitchFamily="49" charset="-122"/>
              </a:rPr>
              <a:t>m</a:t>
            </a:r>
            <a:r>
              <a:rPr kumimoji="1" lang="en-US" altLang="zh-CN" b="1" baseline="-25000" dirty="0" err="1">
                <a:ea typeface="楷体_GB2312" pitchFamily="49" charset="-122"/>
              </a:rPr>
              <a:t>×</a:t>
            </a:r>
            <a:r>
              <a:rPr kumimoji="1" lang="en-US" altLang="zh-CN" b="1" i="1" baseline="-25000" dirty="0" err="1">
                <a:ea typeface="楷体_GB2312" pitchFamily="49" charset="-122"/>
              </a:rPr>
              <a:t>n</a:t>
            </a:r>
            <a:r>
              <a:rPr kumimoji="1" lang="en-US" altLang="zh-CN" b="1" i="1" dirty="0">
                <a:ea typeface="楷体_GB2312" pitchFamily="49" charset="-122"/>
              </a:rPr>
              <a:t> </a:t>
            </a:r>
            <a:endParaRPr kumimoji="1" lang="en-US" altLang="zh-CN" b="1" dirty="0"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试问各因素的权重分配</a:t>
            </a:r>
            <a:r>
              <a:rPr kumimoji="1" lang="en-US" altLang="zh-CN" i="1" dirty="0">
                <a:solidFill>
                  <a:srgbClr val="3333FF"/>
                </a:solidFill>
                <a:ea typeface="黑体" pitchFamily="2" charset="-122"/>
              </a:rPr>
              <a:t>A</a:t>
            </a:r>
            <a:r>
              <a:rPr kumimoji="1" lang="zh-CN" altLang="en-US" dirty="0">
                <a:solidFill>
                  <a:srgbClr val="3333FF"/>
                </a:solidFill>
                <a:latin typeface="黑体" pitchFamily="2" charset="-122"/>
                <a:ea typeface="黑体" pitchFamily="2" charset="-122"/>
              </a:rPr>
              <a:t>是什么？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dirty="0">
                <a:latin typeface="黑体" pitchFamily="2" charset="-122"/>
                <a:ea typeface="黑体" pitchFamily="2" charset="-122"/>
              </a:rPr>
              <a:t>这就是要求解</a:t>
            </a:r>
            <a:r>
              <a:rPr kumimoji="1" lang="en-US" altLang="zh-CN" u="sng" dirty="0">
                <a:ea typeface="黑体" pitchFamily="2" charset="-122"/>
              </a:rPr>
              <a:t>F</a:t>
            </a:r>
            <a:r>
              <a:rPr kumimoji="1" lang="zh-CN" altLang="en-US" u="sng" dirty="0">
                <a:latin typeface="黑体" pitchFamily="2" charset="-122"/>
                <a:ea typeface="黑体" pitchFamily="2" charset="-122"/>
              </a:rPr>
              <a:t>关系方程</a:t>
            </a:r>
            <a:r>
              <a:rPr kumimoji="1" lang="en-US" altLang="zh-CN" dirty="0">
                <a:latin typeface="黑体" pitchFamily="2" charset="-122"/>
                <a:ea typeface="黑体" pitchFamily="2" charset="-122"/>
              </a:rPr>
              <a:t>: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kumimoji="1" lang="en-US" altLang="zh-CN" sz="3600" b="1" i="1" dirty="0">
                <a:solidFill>
                  <a:srgbClr val="FF0000"/>
                </a:solidFill>
              </a:rPr>
              <a:t>                  X </a:t>
            </a:r>
            <a:r>
              <a:rPr lang="en-US" altLang="zh-CN" sz="3600" b="1" dirty="0">
                <a:solidFill>
                  <a:srgbClr val="F72603"/>
                </a:solidFill>
              </a:rPr>
              <a:t>◦</a:t>
            </a:r>
            <a:r>
              <a:rPr lang="en-US" altLang="zh-CN" sz="3600" b="1" dirty="0"/>
              <a:t> </a:t>
            </a:r>
            <a:r>
              <a:rPr kumimoji="1" lang="en-US" altLang="zh-CN" sz="3600" b="1" i="1" dirty="0">
                <a:solidFill>
                  <a:srgbClr val="FF0000"/>
                </a:solidFill>
              </a:rPr>
              <a:t>R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= </a:t>
            </a:r>
            <a:r>
              <a:rPr kumimoji="1" lang="en-US" altLang="zh-CN" sz="3600" b="1" i="1" dirty="0">
                <a:solidFill>
                  <a:srgbClr val="FF0000"/>
                </a:solidFill>
              </a:rPr>
              <a:t>B</a:t>
            </a:r>
            <a:endParaRPr kumimoji="1"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7F2405-FF1D-6F74-BD8F-2F41B4C2F5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18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kumimoji="1"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协调决策法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773239"/>
            <a:ext cx="9577064" cy="4968875"/>
          </a:xfrm>
        </p:spPr>
        <p:txBody>
          <a:bodyPr/>
          <a:lstStyle/>
          <a:p>
            <a:pPr eaLnBrk="1" hangingPunct="1"/>
            <a:r>
              <a:rPr kumimoji="1" lang="zh-CN" altLang="en-US" b="1" dirty="0"/>
              <a:t>求解</a:t>
            </a:r>
            <a:r>
              <a:rPr kumimoji="1" lang="en-US" altLang="zh-CN" b="1" dirty="0"/>
              <a:t>F</a:t>
            </a:r>
            <a:r>
              <a:rPr kumimoji="1" lang="zh-CN" altLang="en-US" b="1" dirty="0"/>
              <a:t>关系方程</a:t>
            </a:r>
            <a:r>
              <a:rPr kumimoji="1" lang="en-US" altLang="zh-CN" b="1" i="1" dirty="0">
                <a:solidFill>
                  <a:srgbClr val="FF0000"/>
                </a:solidFill>
              </a:rPr>
              <a:t>X </a:t>
            </a:r>
            <a:r>
              <a:rPr lang="en-US" altLang="zh-CN" b="1" dirty="0">
                <a:solidFill>
                  <a:srgbClr val="F72603"/>
                </a:solidFill>
              </a:rPr>
              <a:t>◦</a:t>
            </a:r>
            <a:r>
              <a:rPr lang="en-US" altLang="zh-CN" b="1" dirty="0"/>
              <a:t> </a:t>
            </a:r>
            <a:r>
              <a:rPr kumimoji="1" lang="en-US" altLang="zh-CN" b="1" i="1" dirty="0">
                <a:solidFill>
                  <a:srgbClr val="FF0000"/>
                </a:solidFill>
              </a:rPr>
              <a:t>R </a:t>
            </a:r>
            <a:r>
              <a:rPr kumimoji="1" lang="en-US" altLang="zh-CN" b="1" dirty="0">
                <a:solidFill>
                  <a:srgbClr val="FF0000"/>
                </a:solidFill>
              </a:rPr>
              <a:t>= </a:t>
            </a:r>
            <a:r>
              <a:rPr kumimoji="1" lang="en-US" altLang="zh-CN" b="1" i="1" dirty="0">
                <a:solidFill>
                  <a:srgbClr val="FF0000"/>
                </a:solidFill>
              </a:rPr>
              <a:t>B</a:t>
            </a:r>
            <a:r>
              <a:rPr kumimoji="1" lang="en-US" altLang="zh-CN" b="1" i="1" dirty="0"/>
              <a:t> </a:t>
            </a:r>
            <a:r>
              <a:rPr kumimoji="1" lang="zh-CN" altLang="en-US" b="1" dirty="0"/>
              <a:t>的一个近似处理方法</a:t>
            </a:r>
            <a:r>
              <a:rPr kumimoji="1" lang="en-US" altLang="zh-CN" b="1" dirty="0"/>
              <a:t>——</a:t>
            </a:r>
          </a:p>
          <a:p>
            <a:pPr lvl="1" eaLnBrk="1" hangingPunct="1"/>
            <a:r>
              <a:rPr kumimoji="1" lang="zh-CN" altLang="en-US" b="1" dirty="0">
                <a:ea typeface="楷体_GB2312" pitchFamily="49" charset="-122"/>
              </a:rPr>
              <a:t>设有一组可供选择的权重分配方案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zh-CN" altLang="en-US" b="1" i="1" dirty="0">
                <a:solidFill>
                  <a:srgbClr val="FF0000"/>
                </a:solidFill>
              </a:rPr>
              <a:t>        </a:t>
            </a:r>
            <a:r>
              <a:rPr kumimoji="1" lang="en-US" altLang="zh-CN" b="1" i="1" dirty="0">
                <a:solidFill>
                  <a:srgbClr val="FF0000"/>
                </a:solidFill>
              </a:rPr>
              <a:t>J </a:t>
            </a:r>
            <a:r>
              <a:rPr kumimoji="1" lang="en-US" altLang="zh-CN" b="1" dirty="0">
                <a:solidFill>
                  <a:srgbClr val="FF0000"/>
                </a:solidFill>
              </a:rPr>
              <a:t>={</a:t>
            </a:r>
            <a:r>
              <a:rPr kumimoji="1" lang="en-US" altLang="zh-CN" b="1" i="1" dirty="0">
                <a:solidFill>
                  <a:srgbClr val="FF0000"/>
                </a:solidFill>
              </a:rPr>
              <a:t>A</a:t>
            </a:r>
            <a:r>
              <a:rPr kumimoji="1" lang="en-US" altLang="zh-CN" b="1" baseline="-25000" dirty="0">
                <a:solidFill>
                  <a:srgbClr val="FF0000"/>
                </a:solidFill>
              </a:rPr>
              <a:t>1</a:t>
            </a:r>
            <a:r>
              <a:rPr kumimoji="1" lang="en-US" altLang="zh-CN" b="1" dirty="0">
                <a:solidFill>
                  <a:srgbClr val="FF0000"/>
                </a:solidFill>
              </a:rPr>
              <a:t>, </a:t>
            </a:r>
            <a:r>
              <a:rPr kumimoji="1" lang="en-US" altLang="zh-CN" b="1" i="1" dirty="0">
                <a:solidFill>
                  <a:srgbClr val="FF0000"/>
                </a:solidFill>
              </a:rPr>
              <a:t>A</a:t>
            </a:r>
            <a:r>
              <a:rPr kumimoji="1" lang="en-US" altLang="zh-CN" b="1" baseline="-25000" dirty="0">
                <a:solidFill>
                  <a:srgbClr val="FF0000"/>
                </a:solidFill>
              </a:rPr>
              <a:t>2</a:t>
            </a:r>
            <a:r>
              <a:rPr kumimoji="1" lang="en-US" altLang="zh-CN" b="1" dirty="0">
                <a:solidFill>
                  <a:srgbClr val="FF0000"/>
                </a:solidFill>
              </a:rPr>
              <a:t>, … , </a:t>
            </a:r>
            <a:r>
              <a:rPr kumimoji="1" lang="en-US" altLang="zh-CN" b="1" i="1" dirty="0">
                <a:solidFill>
                  <a:srgbClr val="FF0000"/>
                </a:solidFill>
              </a:rPr>
              <a:t>A</a:t>
            </a:r>
            <a:r>
              <a:rPr kumimoji="1" lang="en-US" altLang="zh-CN" b="1" baseline="-25000" dirty="0">
                <a:solidFill>
                  <a:srgbClr val="FF0000"/>
                </a:solidFill>
              </a:rPr>
              <a:t>s</a:t>
            </a:r>
            <a:r>
              <a:rPr kumimoji="1" lang="en-US" altLang="zh-CN" b="1" dirty="0">
                <a:solidFill>
                  <a:srgbClr val="FF0000"/>
                </a:solidFill>
              </a:rPr>
              <a:t>}</a:t>
            </a:r>
          </a:p>
          <a:p>
            <a:pPr lvl="1" eaLnBrk="1" hangingPunct="1"/>
            <a:r>
              <a:rPr kumimoji="1" lang="zh-CN" altLang="en-US" b="1" dirty="0">
                <a:ea typeface="楷体_GB2312" pitchFamily="49" charset="-122"/>
              </a:rPr>
              <a:t>从</a:t>
            </a:r>
            <a:r>
              <a:rPr kumimoji="1" lang="en-US" altLang="zh-CN" b="1" i="1" dirty="0">
                <a:ea typeface="楷体_GB2312" pitchFamily="49" charset="-122"/>
              </a:rPr>
              <a:t>J</a:t>
            </a:r>
            <a:r>
              <a:rPr kumimoji="1" lang="zh-CN" altLang="en-US" b="1" dirty="0">
                <a:ea typeface="楷体_GB2312" pitchFamily="49" charset="-122"/>
              </a:rPr>
              <a:t>中选择一种最佳的权重分配</a:t>
            </a:r>
            <a:r>
              <a:rPr kumimoji="1" lang="en-US" altLang="zh-CN" b="1" i="1" dirty="0" err="1">
                <a:solidFill>
                  <a:srgbClr val="008000"/>
                </a:solidFill>
                <a:ea typeface="楷体_GB2312" pitchFamily="49" charset="-122"/>
              </a:rPr>
              <a:t>A</a:t>
            </a:r>
            <a:r>
              <a:rPr kumimoji="1" lang="en-US" altLang="zh-CN" b="1" i="1" baseline="-25000" dirty="0" err="1">
                <a:solidFill>
                  <a:srgbClr val="008000"/>
                </a:solidFill>
                <a:ea typeface="楷体_GB2312" pitchFamily="49" charset="-122"/>
              </a:rPr>
              <a:t>k</a:t>
            </a:r>
            <a:r>
              <a:rPr kumimoji="1" lang="en-US" altLang="zh-CN" b="1" i="1" dirty="0">
                <a:solidFill>
                  <a:srgbClr val="008000"/>
                </a:solidFill>
                <a:ea typeface="楷体_GB2312" pitchFamily="49" charset="-122"/>
              </a:rPr>
              <a:t> </a:t>
            </a:r>
            <a:r>
              <a:rPr kumimoji="1" lang="en-US" altLang="zh-CN" b="1" dirty="0">
                <a:ea typeface="楷体_GB2312" pitchFamily="49" charset="-122"/>
              </a:rPr>
              <a:t>, 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CN" b="1" dirty="0">
                <a:ea typeface="楷体_GB2312" pitchFamily="49" charset="-122"/>
              </a:rPr>
              <a:t>   </a:t>
            </a:r>
            <a:r>
              <a:rPr kumimoji="1" lang="zh-CN" altLang="en-US" b="1" dirty="0">
                <a:ea typeface="楷体_GB2312" pitchFamily="49" charset="-122"/>
              </a:rPr>
              <a:t>使得由</a:t>
            </a:r>
            <a:r>
              <a:rPr kumimoji="1" lang="en-US" altLang="zh-CN" b="1" i="1" dirty="0" err="1">
                <a:solidFill>
                  <a:srgbClr val="008000"/>
                </a:solidFill>
                <a:ea typeface="楷体_GB2312" pitchFamily="49" charset="-122"/>
              </a:rPr>
              <a:t>A</a:t>
            </a:r>
            <a:r>
              <a:rPr kumimoji="1" lang="en-US" altLang="zh-CN" b="1" i="1" baseline="-25000" dirty="0" err="1">
                <a:solidFill>
                  <a:srgbClr val="008000"/>
                </a:solidFill>
                <a:ea typeface="楷体_GB2312" pitchFamily="49" charset="-122"/>
              </a:rPr>
              <a:t>k</a:t>
            </a:r>
            <a:r>
              <a:rPr kumimoji="1" lang="zh-CN" altLang="en-US" b="1" dirty="0">
                <a:ea typeface="楷体_GB2312" pitchFamily="49" charset="-122"/>
              </a:rPr>
              <a:t>所决定的综合评判决策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zh-CN" altLang="en-US" b="1" dirty="0"/>
              <a:t>        </a:t>
            </a:r>
            <a:r>
              <a:rPr kumimoji="1" lang="en-US" altLang="zh-CN" b="1" i="1" dirty="0" err="1">
                <a:solidFill>
                  <a:srgbClr val="FF0000"/>
                </a:solidFill>
              </a:rPr>
              <a:t>B</a:t>
            </a:r>
            <a:r>
              <a:rPr kumimoji="1" lang="en-US" altLang="zh-CN" b="1" i="1" baseline="-25000" dirty="0" err="1">
                <a:solidFill>
                  <a:srgbClr val="FF0000"/>
                </a:solidFill>
              </a:rPr>
              <a:t>k</a:t>
            </a:r>
            <a:r>
              <a:rPr kumimoji="1" lang="en-US" altLang="zh-CN" b="1" dirty="0">
                <a:solidFill>
                  <a:srgbClr val="FF0000"/>
                </a:solidFill>
              </a:rPr>
              <a:t>= </a:t>
            </a:r>
            <a:r>
              <a:rPr kumimoji="1" lang="en-US" altLang="zh-CN" b="1" i="1" dirty="0" err="1">
                <a:solidFill>
                  <a:srgbClr val="FF0000"/>
                </a:solidFill>
              </a:rPr>
              <a:t>A</a:t>
            </a:r>
            <a:r>
              <a:rPr kumimoji="1" lang="en-US" altLang="zh-CN" b="1" i="1" baseline="-25000" dirty="0" err="1">
                <a:solidFill>
                  <a:srgbClr val="FF0000"/>
                </a:solidFill>
              </a:rPr>
              <a:t>k</a:t>
            </a:r>
            <a:r>
              <a:rPr kumimoji="1" lang="en-US" altLang="zh-CN" b="1" i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72603"/>
                </a:solidFill>
              </a:rPr>
              <a:t>◦</a:t>
            </a:r>
            <a:r>
              <a:rPr lang="en-US" altLang="zh-CN" b="1" dirty="0"/>
              <a:t> </a:t>
            </a:r>
            <a:r>
              <a:rPr kumimoji="1" lang="en-US" altLang="zh-CN" b="1" i="1" dirty="0">
                <a:solidFill>
                  <a:srgbClr val="FF0000"/>
                </a:solidFill>
              </a:rPr>
              <a:t>R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CN" b="1" i="1" dirty="0">
                <a:ea typeface="楷体_GB2312" pitchFamily="49" charset="-122"/>
              </a:rPr>
              <a:t>    </a:t>
            </a:r>
            <a:r>
              <a:rPr kumimoji="1" lang="zh-CN" altLang="en-US" b="1" dirty="0">
                <a:solidFill>
                  <a:srgbClr val="CC0099"/>
                </a:solidFill>
                <a:ea typeface="楷体_GB2312" pitchFamily="49" charset="-122"/>
              </a:rPr>
              <a:t>与</a:t>
            </a:r>
            <a:r>
              <a:rPr kumimoji="1" lang="en-US" altLang="zh-CN" b="1" i="1" dirty="0">
                <a:solidFill>
                  <a:srgbClr val="CC0099"/>
                </a:solidFill>
                <a:ea typeface="楷体_GB2312" pitchFamily="49" charset="-122"/>
              </a:rPr>
              <a:t>B</a:t>
            </a:r>
            <a:r>
              <a:rPr kumimoji="1" lang="zh-CN" altLang="en-US" b="1" dirty="0">
                <a:solidFill>
                  <a:srgbClr val="CC0099"/>
                </a:solidFill>
                <a:ea typeface="楷体_GB2312" pitchFamily="49" charset="-122"/>
              </a:rPr>
              <a:t>最贴近</a:t>
            </a:r>
            <a:r>
              <a:rPr kumimoji="1" lang="en-US" altLang="zh-CN" b="1" dirty="0">
                <a:solidFill>
                  <a:srgbClr val="CC0099"/>
                </a:solidFill>
                <a:ea typeface="楷体_GB2312" pitchFamily="49" charset="-122"/>
              </a:rPr>
              <a:t>.</a:t>
            </a:r>
          </a:p>
          <a:p>
            <a:pPr eaLnBrk="1" hangingPunct="1"/>
            <a:r>
              <a:rPr kumimoji="1" lang="zh-CN" altLang="en-US" b="1" dirty="0">
                <a:solidFill>
                  <a:srgbClr val="0000FF"/>
                </a:solidFill>
              </a:rPr>
              <a:t>用贴近度方法求得</a:t>
            </a:r>
            <a:r>
              <a:rPr kumimoji="1" lang="en-US" altLang="zh-CN" b="1" i="1" dirty="0" err="1">
                <a:solidFill>
                  <a:srgbClr val="008000"/>
                </a:solidFill>
                <a:ea typeface="楷体_GB2312" pitchFamily="49" charset="-122"/>
              </a:rPr>
              <a:t>A</a:t>
            </a:r>
            <a:r>
              <a:rPr kumimoji="1" lang="en-US" altLang="zh-CN" b="1" i="1" baseline="-25000" dirty="0" err="1">
                <a:solidFill>
                  <a:srgbClr val="008000"/>
                </a:solidFill>
                <a:ea typeface="楷体_GB2312" pitchFamily="49" charset="-122"/>
              </a:rPr>
              <a:t>k</a:t>
            </a:r>
            <a:r>
              <a:rPr kumimoji="1" lang="zh-CN" altLang="en-US" b="1" dirty="0">
                <a:solidFill>
                  <a:srgbClr val="0000FF"/>
                </a:solidFill>
              </a:rPr>
              <a:t>使：</a:t>
            </a:r>
            <a:r>
              <a:rPr kumimoji="1" lang="en-US" altLang="zh-CN" b="1" i="1" dirty="0" err="1">
                <a:solidFill>
                  <a:srgbClr val="FF0000"/>
                </a:solidFill>
              </a:rPr>
              <a:t>A</a:t>
            </a:r>
            <a:r>
              <a:rPr kumimoji="1" lang="en-US" altLang="zh-CN" b="1" i="1" baseline="-25000" dirty="0" err="1">
                <a:solidFill>
                  <a:srgbClr val="FF0000"/>
                </a:solidFill>
              </a:rPr>
              <a:t>k</a:t>
            </a:r>
            <a:r>
              <a:rPr kumimoji="1" lang="en-US" altLang="zh-CN" b="1" i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72603"/>
                </a:solidFill>
              </a:rPr>
              <a:t>◦</a:t>
            </a:r>
            <a:r>
              <a:rPr lang="en-US" altLang="zh-CN" b="1" dirty="0"/>
              <a:t> </a:t>
            </a:r>
            <a:r>
              <a:rPr kumimoji="1" lang="en-US" altLang="zh-CN" b="1" i="1" dirty="0">
                <a:solidFill>
                  <a:srgbClr val="FF0000"/>
                </a:solidFill>
              </a:rPr>
              <a:t>R </a:t>
            </a:r>
            <a:r>
              <a:rPr lang="en-US" altLang="zh-CN" dirty="0">
                <a:solidFill>
                  <a:srgbClr val="FF0000"/>
                </a:solidFill>
              </a:rPr>
              <a:t>≈</a:t>
            </a:r>
            <a:r>
              <a:rPr kumimoji="1" lang="en-US" altLang="zh-CN" b="1" i="1" dirty="0">
                <a:solidFill>
                  <a:srgbClr val="FF0000"/>
                </a:solidFill>
              </a:rPr>
              <a:t> B</a:t>
            </a:r>
            <a:endParaRPr kumimoji="1" lang="en-US" altLang="zh-CN" b="1" i="1" baseline="-25000" dirty="0">
              <a:solidFill>
                <a:srgbClr val="FF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F1C019-F8C4-3688-9267-1484D3B7C0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835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1100137"/>
          </a:xfrm>
        </p:spPr>
        <p:txBody>
          <a:bodyPr/>
          <a:lstStyle/>
          <a:p>
            <a:pPr algn="ctr" eaLnBrk="1" hangingPunct="1"/>
            <a:r>
              <a:rPr kumimoji="1"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协调决策法举例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412876"/>
            <a:ext cx="10441160" cy="4537075"/>
          </a:xfrm>
        </p:spPr>
        <p:txBody>
          <a:bodyPr/>
          <a:lstStyle/>
          <a:p>
            <a:pPr eaLnBrk="1" hangingPunct="1"/>
            <a:r>
              <a:rPr kumimoji="1" lang="zh-CN" altLang="en-US" sz="2800" b="1" dirty="0">
                <a:solidFill>
                  <a:srgbClr val="3333FF"/>
                </a:solidFill>
              </a:rPr>
              <a:t>因素集</a:t>
            </a:r>
            <a:r>
              <a:rPr kumimoji="1" lang="en-US" altLang="zh-CN" sz="2800" b="1" i="1" dirty="0">
                <a:solidFill>
                  <a:srgbClr val="3333FF"/>
                </a:solidFill>
              </a:rPr>
              <a:t>U 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={</a:t>
            </a:r>
            <a:r>
              <a:rPr kumimoji="1" lang="en-US" altLang="zh-CN" sz="2800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sz="2800" b="1" baseline="-25000" dirty="0">
                <a:solidFill>
                  <a:srgbClr val="3333FF"/>
                </a:solidFill>
              </a:rPr>
              <a:t>1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800" b="1" dirty="0">
                <a:solidFill>
                  <a:srgbClr val="3333FF"/>
                </a:solidFill>
              </a:rPr>
              <a:t>花色式样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), </a:t>
            </a:r>
            <a:r>
              <a:rPr kumimoji="1" lang="en-US" altLang="zh-CN" sz="2800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sz="2800" b="1" baseline="-25000" dirty="0">
                <a:solidFill>
                  <a:srgbClr val="3333FF"/>
                </a:solidFill>
              </a:rPr>
              <a:t>2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800" b="1" dirty="0">
                <a:solidFill>
                  <a:srgbClr val="3333FF"/>
                </a:solidFill>
              </a:rPr>
              <a:t>耐穿程度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), </a:t>
            </a:r>
            <a:r>
              <a:rPr kumimoji="1" lang="en-US" altLang="zh-CN" sz="2800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sz="2800" b="1" baseline="-25000" dirty="0">
                <a:solidFill>
                  <a:srgbClr val="3333FF"/>
                </a:solidFill>
              </a:rPr>
              <a:t>3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800" b="1" dirty="0">
                <a:solidFill>
                  <a:srgbClr val="3333FF"/>
                </a:solidFill>
              </a:rPr>
              <a:t>价格费用</a:t>
            </a:r>
            <a:r>
              <a:rPr kumimoji="1" lang="en-US" altLang="zh-CN" sz="2800" b="1" dirty="0">
                <a:solidFill>
                  <a:srgbClr val="3333FF"/>
                </a:solidFill>
              </a:rPr>
              <a:t>)}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008000"/>
                </a:solidFill>
              </a:rPr>
              <a:t>评判集</a:t>
            </a:r>
            <a:r>
              <a:rPr kumimoji="1" lang="en-US" altLang="zh-CN" sz="2800" b="1" i="1" dirty="0">
                <a:solidFill>
                  <a:srgbClr val="008000"/>
                </a:solidFill>
              </a:rPr>
              <a:t>V 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={</a:t>
            </a:r>
            <a:r>
              <a:rPr kumimoji="1" lang="en-US" altLang="zh-CN" sz="2800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sz="2800" b="1" baseline="-25000" dirty="0">
                <a:solidFill>
                  <a:srgbClr val="008000"/>
                </a:solidFill>
              </a:rPr>
              <a:t>1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800" b="1" dirty="0">
                <a:solidFill>
                  <a:srgbClr val="008000"/>
                </a:solidFill>
              </a:rPr>
              <a:t>很欢迎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), </a:t>
            </a:r>
            <a:r>
              <a:rPr kumimoji="1" lang="en-US" altLang="zh-CN" sz="2800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sz="2800" b="1" baseline="-25000" dirty="0">
                <a:solidFill>
                  <a:srgbClr val="008000"/>
                </a:solidFill>
              </a:rPr>
              <a:t>2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800" b="1" dirty="0">
                <a:solidFill>
                  <a:srgbClr val="008000"/>
                </a:solidFill>
              </a:rPr>
              <a:t>比较欢迎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), </a:t>
            </a:r>
            <a:r>
              <a:rPr kumimoji="1" lang="en-US" altLang="zh-CN" sz="2800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sz="2800" b="1" baseline="-25000" dirty="0">
                <a:solidFill>
                  <a:srgbClr val="008000"/>
                </a:solidFill>
              </a:rPr>
              <a:t>3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800" b="1" dirty="0">
                <a:solidFill>
                  <a:srgbClr val="008000"/>
                </a:solidFill>
              </a:rPr>
              <a:t>不太欢迎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), </a:t>
            </a:r>
            <a:r>
              <a:rPr kumimoji="1" lang="en-US" altLang="zh-CN" sz="2800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sz="2800" b="1" baseline="-25000" dirty="0">
                <a:solidFill>
                  <a:srgbClr val="008000"/>
                </a:solidFill>
              </a:rPr>
              <a:t>4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800" b="1" dirty="0">
                <a:solidFill>
                  <a:srgbClr val="008000"/>
                </a:solidFill>
              </a:rPr>
              <a:t>不欢迎</a:t>
            </a:r>
            <a:r>
              <a:rPr kumimoji="1" lang="en-US" altLang="zh-CN" sz="2800" b="1" dirty="0">
                <a:solidFill>
                  <a:srgbClr val="008000"/>
                </a:solidFill>
              </a:rPr>
              <a:t>)}</a:t>
            </a:r>
          </a:p>
          <a:p>
            <a:pPr eaLnBrk="1" hangingPunct="1"/>
            <a:r>
              <a:rPr kumimoji="1" lang="zh-CN" altLang="en-US" sz="2800" b="1" dirty="0"/>
              <a:t>对各单因素作的评判如下：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b="1" i="1" dirty="0"/>
              <a:t>       </a:t>
            </a:r>
            <a:r>
              <a:rPr kumimoji="1" lang="en-US" altLang="zh-CN" sz="2800" b="1" i="1" dirty="0"/>
              <a:t>u</a:t>
            </a:r>
            <a:r>
              <a:rPr kumimoji="1" lang="en-US" altLang="zh-CN" sz="2800" b="1" baseline="-25000" dirty="0"/>
              <a:t>1</a:t>
            </a:r>
            <a:r>
              <a:rPr kumimoji="1" lang="en-US" altLang="zh-CN" sz="2800" b="1" dirty="0"/>
              <a:t> </a:t>
            </a:r>
            <a:r>
              <a:rPr kumimoji="1" lang="zh-CN" altLang="en-US" sz="2800" b="1" dirty="0"/>
              <a:t>：</a:t>
            </a:r>
            <a:r>
              <a:rPr kumimoji="1" lang="en-US" altLang="zh-CN" sz="2800" b="1" dirty="0"/>
              <a:t>(0.7, 0.2, 0.1, 0   )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       u</a:t>
            </a:r>
            <a:r>
              <a:rPr kumimoji="1" lang="en-US" altLang="zh-CN" sz="2800" b="1" baseline="-25000" dirty="0"/>
              <a:t>2</a:t>
            </a:r>
            <a:r>
              <a:rPr kumimoji="1" lang="en-US" altLang="zh-CN" sz="2800" b="1" dirty="0"/>
              <a:t> </a:t>
            </a:r>
            <a:r>
              <a:rPr kumimoji="1" lang="zh-CN" altLang="en-US" sz="2800" b="1" dirty="0"/>
              <a:t>：</a:t>
            </a:r>
            <a:r>
              <a:rPr kumimoji="1" lang="en-US" altLang="zh-CN" sz="2800" b="1" dirty="0"/>
              <a:t>(0.2, 0.3, 0.4, 0.1)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/>
              <a:t>       u</a:t>
            </a:r>
            <a:r>
              <a:rPr kumimoji="1" lang="en-US" altLang="zh-CN" sz="2800" b="1" baseline="-25000" dirty="0"/>
              <a:t>3</a:t>
            </a:r>
            <a:r>
              <a:rPr kumimoji="1" lang="en-US" altLang="zh-CN" sz="2800" b="1" dirty="0"/>
              <a:t> </a:t>
            </a:r>
            <a:r>
              <a:rPr kumimoji="1" lang="zh-CN" altLang="en-US" sz="2800" b="1" dirty="0"/>
              <a:t>：</a:t>
            </a:r>
            <a:r>
              <a:rPr kumimoji="1" lang="en-US" altLang="zh-CN" sz="2800" b="1" dirty="0"/>
              <a:t>(0.3, 0.4, 0.2, 0.1)</a:t>
            </a:r>
          </a:p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得综合评判矩阵</a:t>
            </a:r>
            <a:r>
              <a:rPr lang="en-US" altLang="zh-CN" sz="2800" b="1" dirty="0">
                <a:ea typeface="楷体_GB2312" pitchFamily="49" charset="-122"/>
              </a:rPr>
              <a:t>R</a:t>
            </a:r>
          </a:p>
        </p:txBody>
      </p:sp>
      <p:graphicFrame>
        <p:nvGraphicFramePr>
          <p:cNvPr id="6656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25709119"/>
              </p:ext>
            </p:extLst>
          </p:nvPr>
        </p:nvGraphicFramePr>
        <p:xfrm>
          <a:off x="4871864" y="4725144"/>
          <a:ext cx="4356100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12900" imgH="711200" progId="Equation.3">
                  <p:embed/>
                </p:oleObj>
              </mc:Choice>
              <mc:Fallback>
                <p:oleObj name="公式" r:id="rId3" imgW="16129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4725144"/>
                        <a:ext cx="4356100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D81FCE-B326-F880-BF1C-E07377AB7C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195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kumimoji="1"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协调决策法举例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14450"/>
            <a:ext cx="10081120" cy="554355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已知某种服装经顾客评价后，得结果为</a:t>
            </a:r>
          </a:p>
          <a:p>
            <a:pPr lvl="1" eaLnBrk="1" hangingPunct="1"/>
            <a:r>
              <a:rPr lang="en-US" altLang="zh-CN" sz="2400" b="1" i="1" dirty="0">
                <a:solidFill>
                  <a:srgbClr val="008000"/>
                </a:solidFill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rgbClr val="008000"/>
                </a:solidFill>
                <a:ea typeface="楷体_GB2312" pitchFamily="49" charset="-122"/>
              </a:rPr>
              <a:t>=(0.6, 0.3, 0.1, 0)</a:t>
            </a:r>
          </a:p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按顾客的心理估计，提出下述可能的权数分配方案</a:t>
            </a:r>
          </a:p>
          <a:p>
            <a:pPr lvl="1" eaLnBrk="1" hangingPunct="1"/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=(0.2, 0.5, 0.3)</a:t>
            </a:r>
          </a:p>
          <a:p>
            <a:pPr lvl="1" eaLnBrk="1" hangingPunct="1"/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2</a:t>
            </a:r>
            <a:r>
              <a:rPr lang="en-US" altLang="zh-CN" sz="2400" dirty="0"/>
              <a:t>=(0.4, 0.3, 0.3)</a:t>
            </a:r>
          </a:p>
          <a:p>
            <a:pPr lvl="1" eaLnBrk="1" hangingPunct="1"/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3</a:t>
            </a:r>
            <a:r>
              <a:rPr lang="en-US" altLang="zh-CN" sz="2400" dirty="0"/>
              <a:t>=(0.2, 0.3, 0.5)</a:t>
            </a:r>
          </a:p>
          <a:p>
            <a:pPr lvl="1" eaLnBrk="1" hangingPunct="1"/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baseline="-25000" dirty="0">
                <a:solidFill>
                  <a:srgbClr val="FF0000"/>
                </a:solidFill>
              </a:rPr>
              <a:t>4</a:t>
            </a:r>
            <a:r>
              <a:rPr lang="en-US" altLang="zh-CN" sz="2400" dirty="0"/>
              <a:t>=(0.5, 0.2, 0.3)</a:t>
            </a: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应用模型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M(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49" charset="-122"/>
                <a:sym typeface="Symbol"/>
              </a:rPr>
              <a:t>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，＋</a:t>
            </a: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求出相应的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：</a:t>
            </a:r>
          </a:p>
          <a:p>
            <a:pPr lvl="1" eaLnBrk="1" hangingPunct="1"/>
            <a:r>
              <a:rPr kumimoji="1" lang="en-US" altLang="zh-CN" sz="24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1</a:t>
            </a:r>
            <a:r>
              <a:rPr kumimoji="1" lang="en-US" altLang="zh-CN" sz="2400" dirty="0">
                <a:solidFill>
                  <a:srgbClr val="FF0000"/>
                </a:solidFill>
              </a:rPr>
              <a:t>=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A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1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72603"/>
                </a:solidFill>
              </a:rPr>
              <a:t>◦</a:t>
            </a:r>
            <a:r>
              <a:rPr lang="en-US" altLang="zh-CN" sz="2400" dirty="0"/>
              <a:t>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R</a:t>
            </a:r>
            <a:r>
              <a:rPr kumimoji="1" lang="en-US" altLang="zh-CN" sz="2400" i="1" dirty="0"/>
              <a:t>=</a:t>
            </a:r>
            <a:r>
              <a:rPr kumimoji="1" lang="en-US" altLang="zh-CN" sz="2400" dirty="0"/>
              <a:t>(0.33, 0.31, 0.28, 0.08)</a:t>
            </a:r>
            <a:endParaRPr kumimoji="1" lang="en-US" altLang="zh-CN" sz="2400" i="1" dirty="0"/>
          </a:p>
          <a:p>
            <a:pPr lvl="1" eaLnBrk="1" hangingPunct="1"/>
            <a:r>
              <a:rPr kumimoji="1" lang="en-US" altLang="zh-CN" sz="24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2</a:t>
            </a:r>
            <a:r>
              <a:rPr kumimoji="1" lang="en-US" altLang="zh-CN" sz="2400" dirty="0">
                <a:solidFill>
                  <a:srgbClr val="FF0000"/>
                </a:solidFill>
              </a:rPr>
              <a:t>=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A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2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72603"/>
                </a:solidFill>
              </a:rPr>
              <a:t>◦</a:t>
            </a:r>
            <a:r>
              <a:rPr lang="en-US" altLang="zh-CN" sz="2400" dirty="0"/>
              <a:t>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R</a:t>
            </a:r>
            <a:r>
              <a:rPr kumimoji="1" lang="en-US" altLang="zh-CN" sz="2400" i="1" dirty="0"/>
              <a:t>=</a:t>
            </a:r>
            <a:r>
              <a:rPr kumimoji="1" lang="en-US" altLang="zh-CN" sz="2400" dirty="0"/>
              <a:t>(0.43, 0.29, 0.22, 0.06)</a:t>
            </a:r>
            <a:endParaRPr kumimoji="1" lang="en-US" altLang="zh-CN" sz="2400" i="1" dirty="0">
              <a:solidFill>
                <a:srgbClr val="FF0000"/>
              </a:solidFill>
            </a:endParaRPr>
          </a:p>
          <a:p>
            <a:pPr lvl="1" eaLnBrk="1" hangingPunct="1"/>
            <a:r>
              <a:rPr kumimoji="1" lang="en-US" altLang="zh-CN" sz="24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3</a:t>
            </a:r>
            <a:r>
              <a:rPr kumimoji="1" lang="en-US" altLang="zh-CN" sz="2400" dirty="0">
                <a:solidFill>
                  <a:srgbClr val="FF0000"/>
                </a:solidFill>
              </a:rPr>
              <a:t>=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A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3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72603"/>
                </a:solidFill>
              </a:rPr>
              <a:t>◦</a:t>
            </a:r>
            <a:r>
              <a:rPr lang="en-US" altLang="zh-CN" sz="2400" dirty="0"/>
              <a:t>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R</a:t>
            </a:r>
            <a:r>
              <a:rPr kumimoji="1" lang="en-US" altLang="zh-CN" sz="2400" i="1" dirty="0"/>
              <a:t>=</a:t>
            </a:r>
            <a:r>
              <a:rPr kumimoji="1" lang="en-US" altLang="zh-CN" sz="2400" dirty="0"/>
              <a:t>(0.35, 0.33, 0.24, 0.08)</a:t>
            </a:r>
            <a:endParaRPr kumimoji="1" lang="en-US" altLang="zh-CN" sz="2400" i="1" dirty="0">
              <a:solidFill>
                <a:srgbClr val="FF0000"/>
              </a:solidFill>
            </a:endParaRPr>
          </a:p>
          <a:p>
            <a:pPr lvl="1" eaLnBrk="1" hangingPunct="1"/>
            <a:r>
              <a:rPr kumimoji="1" lang="en-US" altLang="zh-CN" sz="24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4</a:t>
            </a:r>
            <a:r>
              <a:rPr kumimoji="1" lang="en-US" altLang="zh-CN" sz="2400" dirty="0">
                <a:solidFill>
                  <a:srgbClr val="FF0000"/>
                </a:solidFill>
              </a:rPr>
              <a:t>=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A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4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72603"/>
                </a:solidFill>
              </a:rPr>
              <a:t>◦</a:t>
            </a:r>
            <a:r>
              <a:rPr lang="en-US" altLang="zh-CN" sz="2400" dirty="0"/>
              <a:t> </a:t>
            </a:r>
            <a:r>
              <a:rPr kumimoji="1" lang="en-US" altLang="zh-CN" sz="2400" i="1" dirty="0">
                <a:solidFill>
                  <a:srgbClr val="FF0000"/>
                </a:solidFill>
              </a:rPr>
              <a:t>R</a:t>
            </a:r>
            <a:r>
              <a:rPr kumimoji="1" lang="en-US" altLang="zh-CN" sz="2400" i="1" dirty="0"/>
              <a:t>=</a:t>
            </a:r>
            <a:r>
              <a:rPr kumimoji="1" lang="en-US" altLang="zh-CN" sz="2400" dirty="0"/>
              <a:t>(0.48, 0.28, 0.19, 0.05)</a:t>
            </a:r>
            <a:endParaRPr kumimoji="1" lang="en-US" altLang="zh-CN" sz="2400" i="1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AE8064-2248-47EA-AE87-25930ABE5F93}"/>
              </a:ext>
            </a:extLst>
          </p:cNvPr>
          <p:cNvSpPr/>
          <p:nvPr/>
        </p:nvSpPr>
        <p:spPr>
          <a:xfrm>
            <a:off x="6858025" y="2996953"/>
            <a:ext cx="3846487" cy="1200329"/>
          </a:xfrm>
          <a:prstGeom prst="rect">
            <a:avLst/>
          </a:prstGeom>
          <a:solidFill>
            <a:srgbClr val="FFCC99"/>
          </a:solidFill>
          <a:effectLst>
            <a:glow rad="190500">
              <a:schemeClr val="bg1">
                <a:lumMod val="75000"/>
              </a:schemeClr>
            </a:glow>
          </a:effec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3333FF"/>
                </a:solidFill>
              </a:rPr>
              <a:t>因素集</a:t>
            </a:r>
            <a:r>
              <a:rPr kumimoji="1" lang="en-US" altLang="zh-CN" sz="2400" b="1" i="1" dirty="0">
                <a:solidFill>
                  <a:srgbClr val="3333FF"/>
                </a:solidFill>
              </a:rPr>
              <a:t>U 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= {</a:t>
            </a:r>
            <a:r>
              <a:rPr kumimoji="1" lang="en-US" altLang="zh-CN" sz="2400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1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花色式样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), </a:t>
            </a:r>
          </a:p>
          <a:p>
            <a:pPr eaLnBrk="1" hangingPunct="1"/>
            <a:r>
              <a:rPr kumimoji="1" lang="en-US" altLang="zh-CN" sz="2400" b="1" i="1" dirty="0">
                <a:solidFill>
                  <a:srgbClr val="3333FF"/>
                </a:solidFill>
              </a:rPr>
              <a:t>                   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2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耐穿程度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), </a:t>
            </a:r>
          </a:p>
          <a:p>
            <a:pPr eaLnBrk="1" hangingPunct="1"/>
            <a:r>
              <a:rPr kumimoji="1" lang="en-US" altLang="zh-CN" sz="2400" b="1" i="1" dirty="0">
                <a:solidFill>
                  <a:srgbClr val="3333FF"/>
                </a:solidFill>
              </a:rPr>
              <a:t>                   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3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价格费用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DC38D6-155D-4A6E-9FF7-C3C405CAAE34}"/>
              </a:ext>
            </a:extLst>
          </p:cNvPr>
          <p:cNvSpPr/>
          <p:nvPr/>
        </p:nvSpPr>
        <p:spPr>
          <a:xfrm>
            <a:off x="7752184" y="5152064"/>
            <a:ext cx="2915816" cy="1323439"/>
          </a:xfrm>
          <a:prstGeom prst="rect">
            <a:avLst/>
          </a:prstGeom>
          <a:solidFill>
            <a:srgbClr val="FFFF00"/>
          </a:solidFill>
          <a:effectLst>
            <a:glow rad="190500">
              <a:schemeClr val="accent1">
                <a:lumMod val="90000"/>
              </a:schemeClr>
            </a:glow>
          </a:effec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000" b="1" dirty="0">
                <a:solidFill>
                  <a:srgbClr val="008000"/>
                </a:solidFill>
              </a:rPr>
              <a:t>评判集</a:t>
            </a:r>
            <a:r>
              <a:rPr kumimoji="1" lang="en-US" altLang="zh-CN" sz="2000" b="1" i="1" dirty="0">
                <a:solidFill>
                  <a:srgbClr val="008000"/>
                </a:solidFill>
              </a:rPr>
              <a:t>V 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={</a:t>
            </a:r>
            <a:r>
              <a:rPr kumimoji="1" lang="en-US" altLang="zh-CN" sz="2000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sz="2000" b="1" baseline="-25000" dirty="0">
                <a:solidFill>
                  <a:srgbClr val="008000"/>
                </a:solidFill>
              </a:rPr>
              <a:t>1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000" b="1" dirty="0">
                <a:solidFill>
                  <a:srgbClr val="008000"/>
                </a:solidFill>
              </a:rPr>
              <a:t>很欢迎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),</a:t>
            </a:r>
          </a:p>
          <a:p>
            <a:pPr eaLnBrk="1" hangingPunct="1"/>
            <a:r>
              <a:rPr kumimoji="1" lang="en-US" altLang="zh-CN" sz="2000" b="1" dirty="0">
                <a:solidFill>
                  <a:srgbClr val="008000"/>
                </a:solidFill>
              </a:rPr>
              <a:t>                  </a:t>
            </a:r>
            <a:r>
              <a:rPr kumimoji="1" lang="en-US" altLang="zh-CN" sz="2000" b="1" i="1" dirty="0">
                <a:solidFill>
                  <a:srgbClr val="008000"/>
                </a:solidFill>
              </a:rPr>
              <a:t>v</a:t>
            </a:r>
            <a:r>
              <a:rPr kumimoji="1" lang="en-US" altLang="zh-CN" sz="2000" b="1" baseline="-25000" dirty="0">
                <a:solidFill>
                  <a:srgbClr val="008000"/>
                </a:solidFill>
              </a:rPr>
              <a:t>2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000" b="1" dirty="0">
                <a:solidFill>
                  <a:srgbClr val="008000"/>
                </a:solidFill>
              </a:rPr>
              <a:t>比较欢迎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), </a:t>
            </a:r>
          </a:p>
          <a:p>
            <a:pPr eaLnBrk="1" hangingPunct="1"/>
            <a:r>
              <a:rPr kumimoji="1" lang="en-US" altLang="zh-CN" sz="2000" b="1" i="1" dirty="0">
                <a:solidFill>
                  <a:srgbClr val="008000"/>
                </a:solidFill>
              </a:rPr>
              <a:t>                  v</a:t>
            </a:r>
            <a:r>
              <a:rPr kumimoji="1" lang="en-US" altLang="zh-CN" sz="2000" b="1" baseline="-25000" dirty="0">
                <a:solidFill>
                  <a:srgbClr val="008000"/>
                </a:solidFill>
              </a:rPr>
              <a:t>3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000" b="1" dirty="0">
                <a:solidFill>
                  <a:srgbClr val="008000"/>
                </a:solidFill>
              </a:rPr>
              <a:t>不太欢迎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), </a:t>
            </a:r>
          </a:p>
          <a:p>
            <a:pPr eaLnBrk="1" hangingPunct="1"/>
            <a:r>
              <a:rPr kumimoji="1" lang="en-US" altLang="zh-CN" sz="2000" b="1" i="1" dirty="0">
                <a:solidFill>
                  <a:srgbClr val="008000"/>
                </a:solidFill>
              </a:rPr>
              <a:t>                  v</a:t>
            </a:r>
            <a:r>
              <a:rPr kumimoji="1" lang="en-US" altLang="zh-CN" sz="2000" b="1" baseline="-25000" dirty="0">
                <a:solidFill>
                  <a:srgbClr val="008000"/>
                </a:solidFill>
              </a:rPr>
              <a:t>4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(</a:t>
            </a:r>
            <a:r>
              <a:rPr kumimoji="1" lang="zh-CN" altLang="en-US" sz="2000" b="1" dirty="0">
                <a:solidFill>
                  <a:srgbClr val="008000"/>
                </a:solidFill>
              </a:rPr>
              <a:t>不欢迎</a:t>
            </a:r>
            <a:r>
              <a:rPr kumimoji="1" lang="en-US" altLang="zh-CN" sz="2000" b="1" dirty="0">
                <a:solidFill>
                  <a:srgbClr val="008000"/>
                </a:solidFill>
              </a:rPr>
              <a:t>)}</a:t>
            </a:r>
            <a:endParaRPr kumimoji="1" lang="en-US" altLang="zh-CN" sz="2400" b="1" dirty="0">
              <a:solidFill>
                <a:srgbClr val="008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BC432E-C8B2-F217-25FD-567410EC9E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EC955F0-569D-855E-7C60-2EF6BF27E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057719"/>
              </p:ext>
            </p:extLst>
          </p:nvPr>
        </p:nvGraphicFramePr>
        <p:xfrm>
          <a:off x="8825066" y="894891"/>
          <a:ext cx="3348496" cy="147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612900" imgH="711200" progId="Equation.3">
                  <p:embed/>
                </p:oleObj>
              </mc:Choice>
              <mc:Fallback>
                <p:oleObj name="公式" r:id="rId3" imgW="1612900" imgH="711200" progId="Equation.3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5066" y="894891"/>
                        <a:ext cx="3348496" cy="147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82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75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uiExpand="1" build="p"/>
      <p:bldP spid="2" grpId="0" animBg="1"/>
      <p:bldP spid="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kumimoji="1"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协调决策法举例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773238"/>
            <a:ext cx="10225136" cy="50847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应用</a:t>
            </a:r>
            <a:r>
              <a:rPr lang="zh-CN" altLang="en-US" sz="2800" b="1" dirty="0">
                <a:solidFill>
                  <a:srgbClr val="CC0099"/>
                </a:solidFill>
              </a:rPr>
              <a:t>海明贴近度公式</a:t>
            </a:r>
            <a:r>
              <a:rPr lang="zh-CN" altLang="en-US" sz="2800" b="1" dirty="0"/>
              <a:t>，求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sz="2800" b="1" dirty="0"/>
              <a:t>与</a:t>
            </a:r>
            <a:r>
              <a:rPr lang="en-US" altLang="zh-CN" sz="2800" b="1" i="1" dirty="0">
                <a:solidFill>
                  <a:srgbClr val="008000"/>
                </a:solidFill>
              </a:rPr>
              <a:t>B</a:t>
            </a:r>
            <a:r>
              <a:rPr lang="zh-CN" altLang="en-US" sz="2800" b="1" dirty="0"/>
              <a:t>贴近度，得出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zh-CN" altLang="en-US" sz="2800" b="1" dirty="0"/>
              <a:t>哪组权数分配方案最合理</a:t>
            </a:r>
            <a:r>
              <a:rPr lang="zh-CN" altLang="en-US" sz="2800" dirty="0"/>
              <a:t>：</a:t>
            </a:r>
          </a:p>
          <a:p>
            <a:pPr eaLnBrk="1" hangingPunct="1">
              <a:lnSpc>
                <a:spcPct val="110000"/>
              </a:lnSpc>
            </a:pPr>
            <a:endParaRPr lang="zh-CN" altLang="en-US" dirty="0"/>
          </a:p>
          <a:p>
            <a:pPr eaLnBrk="1" hangingPunct="1">
              <a:lnSpc>
                <a:spcPct val="110000"/>
              </a:lnSpc>
            </a:pPr>
            <a:endParaRPr lang="zh-CN" altLang="en-US" sz="140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</a:t>
            </a:r>
            <a:r>
              <a:rPr lang="en-US" altLang="zh-CN" sz="2400" dirty="0"/>
              <a:t>1-</a:t>
            </a:r>
            <a:r>
              <a:rPr lang="en-US" altLang="zh-CN" sz="2400" dirty="0">
                <a:cs typeface="Arial" charset="0"/>
              </a:rPr>
              <a:t>¼</a:t>
            </a:r>
            <a:r>
              <a:rPr lang="en-US" altLang="zh-CN" sz="2400" dirty="0"/>
              <a:t>(|0.6-0.33|+|0.3-0.31|+|0.1-0.28|+|0-0.08|)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                =</a:t>
            </a:r>
            <a:r>
              <a:rPr lang="en-US" altLang="zh-CN" sz="2400" b="1" dirty="0"/>
              <a:t>0.865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)=0.91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)=0.875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</a:t>
            </a:r>
            <a:r>
              <a:rPr lang="en-US" altLang="zh-CN" sz="2400" b="1" dirty="0">
                <a:solidFill>
                  <a:srgbClr val="CC0099"/>
                </a:solidFill>
              </a:rPr>
              <a:t>0.93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ea typeface="楷体_GB2312" pitchFamily="49" charset="-122"/>
              </a:rPr>
              <a:t>按择近原则，</a:t>
            </a:r>
            <a:r>
              <a:rPr lang="zh-CN" altLang="en-US" sz="24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sz="2800" b="1" dirty="0">
                <a:ea typeface="楷体_GB2312" pitchFamily="49" charset="-122"/>
              </a:rPr>
              <a:t>与</a:t>
            </a:r>
            <a:r>
              <a:rPr lang="en-US" altLang="zh-CN" sz="2800" b="1" i="1" dirty="0">
                <a:solidFill>
                  <a:srgbClr val="008000"/>
                </a:solidFill>
                <a:ea typeface="楷体_GB2312" pitchFamily="49" charset="-122"/>
              </a:rPr>
              <a:t>B</a:t>
            </a:r>
            <a:r>
              <a:rPr lang="zh-CN" altLang="en-US" sz="2800" b="1" dirty="0">
                <a:ea typeface="楷体_GB2312" pitchFamily="49" charset="-122"/>
              </a:rPr>
              <a:t>最贴近，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=(0.5, 0.2, 0.3)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最合理</a:t>
            </a:r>
          </a:p>
        </p:txBody>
      </p:sp>
      <p:graphicFrame>
        <p:nvGraphicFramePr>
          <p:cNvPr id="7168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14421910"/>
              </p:ext>
            </p:extLst>
          </p:nvPr>
        </p:nvGraphicFramePr>
        <p:xfrm>
          <a:off x="2495600" y="2708921"/>
          <a:ext cx="5400675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84400" imgH="431800" progId="Equation.3">
                  <p:embed/>
                </p:oleObj>
              </mc:Choice>
              <mc:Fallback>
                <p:oleObj name="公式" r:id="rId2" imgW="2184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2708921"/>
                        <a:ext cx="5400675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472264" y="4293096"/>
            <a:ext cx="3513317" cy="1785104"/>
          </a:xfrm>
          <a:prstGeom prst="rect">
            <a:avLst/>
          </a:prstGeom>
          <a:solidFill>
            <a:srgbClr val="FFFF99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i="1" dirty="0">
                <a:solidFill>
                  <a:srgbClr val="008000"/>
                </a:solidFill>
                <a:ea typeface="楷体_GB2312" pitchFamily="49" charset="-122"/>
              </a:rPr>
              <a:t>B </a:t>
            </a: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= (0.6,   0.3,   0.1,   0)</a:t>
            </a:r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(0.33, 0.31, 0.28, 0.08)</a:t>
            </a:r>
            <a:endParaRPr kumimoji="1" lang="en-US" altLang="zh-CN" sz="2000" i="1" dirty="0"/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2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(0.43, 0.29, 0.22, 0.06)</a:t>
            </a:r>
            <a:endParaRPr kumimoji="1" lang="en-US" altLang="zh-CN" sz="2000" i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3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(0.35, 0.33, 0.24, 0.08)</a:t>
            </a:r>
            <a:endParaRPr kumimoji="1" lang="en-US" altLang="zh-CN" sz="2000" i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4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(0.48, 0.28, 0.19, 0.05)</a:t>
            </a:r>
            <a:endParaRPr kumimoji="1" lang="en-US" altLang="zh-CN" sz="2000" i="1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ED4301-BA98-425E-B543-ED061D85B0B3}"/>
              </a:ext>
            </a:extLst>
          </p:cNvPr>
          <p:cNvSpPr/>
          <p:nvPr/>
        </p:nvSpPr>
        <p:spPr>
          <a:xfrm>
            <a:off x="8154169" y="2420888"/>
            <a:ext cx="3846487" cy="1200329"/>
          </a:xfrm>
          <a:prstGeom prst="rect">
            <a:avLst/>
          </a:prstGeom>
          <a:solidFill>
            <a:srgbClr val="FFCC99"/>
          </a:solidFill>
          <a:effectLst>
            <a:glow rad="190500">
              <a:schemeClr val="bg1">
                <a:lumMod val="75000"/>
              </a:schemeClr>
            </a:glow>
          </a:effec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3333FF"/>
                </a:solidFill>
              </a:rPr>
              <a:t>因素集</a:t>
            </a:r>
            <a:r>
              <a:rPr kumimoji="1" lang="en-US" altLang="zh-CN" sz="2400" b="1" i="1" dirty="0">
                <a:solidFill>
                  <a:srgbClr val="3333FF"/>
                </a:solidFill>
              </a:rPr>
              <a:t>U 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= {</a:t>
            </a:r>
            <a:r>
              <a:rPr kumimoji="1" lang="en-US" altLang="zh-CN" sz="2400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1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花色式样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), </a:t>
            </a:r>
          </a:p>
          <a:p>
            <a:pPr eaLnBrk="1" hangingPunct="1"/>
            <a:r>
              <a:rPr kumimoji="1" lang="en-US" altLang="zh-CN" sz="2400" b="1" i="1" dirty="0">
                <a:solidFill>
                  <a:srgbClr val="3333FF"/>
                </a:solidFill>
              </a:rPr>
              <a:t>                   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2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耐穿程度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), </a:t>
            </a:r>
          </a:p>
          <a:p>
            <a:pPr eaLnBrk="1" hangingPunct="1"/>
            <a:r>
              <a:rPr kumimoji="1" lang="en-US" altLang="zh-CN" sz="2400" b="1" i="1" dirty="0">
                <a:solidFill>
                  <a:srgbClr val="3333FF"/>
                </a:solidFill>
              </a:rPr>
              <a:t>                   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3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价格费用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)}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D57201-E780-EB39-2A85-CC0B451E6B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BBA282-AB89-EA93-BDEF-464FEA5C0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174" y="4365104"/>
            <a:ext cx="2382658" cy="1627590"/>
          </a:xfrm>
          <a:prstGeom prst="rect">
            <a:avLst/>
          </a:prstGeom>
          <a:effectLst>
            <a:glow rad="241300">
              <a:srgbClr val="92D050"/>
            </a:glow>
          </a:effectLst>
        </p:spPr>
      </p:pic>
    </p:spTree>
    <p:extLst>
      <p:ext uri="{BB962C8B-B14F-4D97-AF65-F5344CB8AC3E}">
        <p14:creationId xmlns:p14="http://schemas.microsoft.com/office/powerpoint/2010/main" val="265937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1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uiExpand="1" build="p"/>
      <p:bldP spid="2" grpId="0" uiExpand="1" animBg="1"/>
      <p:bldP spid="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kumimoji="1" lang="en-US" altLang="zh-CN">
                <a:solidFill>
                  <a:srgbClr val="008000"/>
                </a:solidFill>
                <a:ea typeface="黑体" pitchFamily="2" charset="-122"/>
              </a:rPr>
              <a:t>F</a:t>
            </a:r>
            <a:r>
              <a:rPr kumimoji="1" lang="zh-CN" altLang="en-US">
                <a:solidFill>
                  <a:srgbClr val="008000"/>
                </a:solidFill>
                <a:ea typeface="黑体" pitchFamily="2" charset="-122"/>
              </a:rPr>
              <a:t>协调决策法举例</a:t>
            </a:r>
            <a:r>
              <a:rPr lang="en-US" altLang="zh-CN">
                <a:solidFill>
                  <a:srgbClr val="008000"/>
                </a:solidFill>
                <a:ea typeface="黑体" pitchFamily="2" charset="-122"/>
              </a:rPr>
              <a:t>: 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服装评判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557338"/>
            <a:ext cx="10513168" cy="5111750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应用</a:t>
            </a:r>
            <a:r>
              <a:rPr lang="zh-CN" altLang="en-US" sz="2800" dirty="0">
                <a:solidFill>
                  <a:srgbClr val="CC0099"/>
                </a:solidFill>
                <a:ea typeface="黑体" pitchFamily="2" charset="-122"/>
              </a:rPr>
              <a:t>格贴近度</a:t>
            </a:r>
            <a:r>
              <a:rPr lang="zh-CN" altLang="en-US" sz="2800" b="1" dirty="0">
                <a:solidFill>
                  <a:srgbClr val="CC0099"/>
                </a:solidFill>
              </a:rPr>
              <a:t>公式</a:t>
            </a:r>
            <a:r>
              <a:rPr lang="zh-CN" altLang="en-US" sz="2800" b="1" dirty="0"/>
              <a:t>，求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800" b="1" baseline="-25000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sz="2800" b="1" dirty="0"/>
              <a:t>与</a:t>
            </a:r>
            <a:r>
              <a:rPr lang="en-US" altLang="zh-CN" sz="2800" b="1" i="1" dirty="0">
                <a:solidFill>
                  <a:srgbClr val="008000"/>
                </a:solidFill>
              </a:rPr>
              <a:t>B</a:t>
            </a:r>
            <a:r>
              <a:rPr lang="zh-CN" altLang="en-US" sz="2800" b="1" dirty="0"/>
              <a:t>贴近度，得出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8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zh-CN" altLang="en-US" sz="2800" b="1" dirty="0"/>
              <a:t>哪组权数分配方案最合理</a:t>
            </a:r>
            <a:r>
              <a:rPr lang="zh-CN" altLang="en-US" sz="2800" dirty="0"/>
              <a:t>：</a:t>
            </a:r>
            <a:endParaRPr lang="zh-CN" altLang="en-US" sz="1600" dirty="0"/>
          </a:p>
          <a:p>
            <a:pPr eaLnBrk="1" hangingPunct="1"/>
            <a:endParaRPr lang="zh-CN" altLang="en-US" sz="3600" dirty="0"/>
          </a:p>
          <a:p>
            <a:pPr eaLnBrk="1" hangingPunct="1"/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</a:t>
            </a:r>
            <a:r>
              <a:rPr lang="en-US" altLang="zh-CN" sz="2400" dirty="0"/>
              <a:t>=(</a:t>
            </a:r>
            <a:r>
              <a:rPr lang="en-US" altLang="zh-CN" sz="2400" dirty="0">
                <a:sym typeface="Symbol"/>
              </a:rPr>
              <a:t></a:t>
            </a:r>
            <a:r>
              <a:rPr lang="en-US" altLang="zh-CN" sz="2400" dirty="0"/>
              <a:t>(0.33,0.3,0.1,0))</a:t>
            </a:r>
            <a:r>
              <a:rPr lang="en-US" altLang="zh-CN" sz="2400" dirty="0">
                <a:sym typeface="Symbol"/>
              </a:rPr>
              <a:t></a:t>
            </a:r>
            <a:r>
              <a:rPr lang="en-US" altLang="zh-CN" sz="2400" dirty="0"/>
              <a:t>(1-</a:t>
            </a:r>
            <a:r>
              <a:rPr lang="en-US" altLang="zh-CN" sz="2400" dirty="0">
                <a:sym typeface="Symbol"/>
              </a:rPr>
              <a:t></a:t>
            </a:r>
            <a:r>
              <a:rPr lang="en-US" altLang="zh-CN" sz="2400" dirty="0"/>
              <a:t>(0.6,0.31,0.28,0.08))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              =0.33 </a:t>
            </a:r>
            <a:r>
              <a:rPr lang="en-US" altLang="zh-CN" sz="2400" dirty="0">
                <a:sym typeface="Symbol"/>
              </a:rPr>
              <a:t></a:t>
            </a:r>
            <a:r>
              <a:rPr lang="en-US" altLang="zh-CN" sz="2400" dirty="0"/>
              <a:t> 0.92=0.33</a:t>
            </a:r>
          </a:p>
          <a:p>
            <a:pPr lvl="1" eaLnBrk="1" hangingPunct="1"/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)=0.43</a:t>
            </a:r>
          </a:p>
          <a:p>
            <a:pPr lvl="1" eaLnBrk="1" hangingPunct="1"/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)=0.35</a:t>
            </a:r>
          </a:p>
          <a:p>
            <a:pPr lvl="1" eaLnBrk="1" hangingPunct="1"/>
            <a:r>
              <a:rPr lang="en-US" altLang="zh-CN" sz="2400" b="1" i="1" dirty="0"/>
              <a:t>N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B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,</a:t>
            </a:r>
            <a:r>
              <a:rPr lang="en-US" altLang="zh-CN" sz="2400" b="1" i="1" dirty="0"/>
              <a:t>B</a:t>
            </a:r>
            <a:r>
              <a:rPr lang="en-US" altLang="zh-CN" sz="2400" b="1" dirty="0"/>
              <a:t>)=</a:t>
            </a:r>
            <a:r>
              <a:rPr lang="en-US" altLang="zh-CN" sz="2400" b="1" dirty="0">
                <a:solidFill>
                  <a:srgbClr val="CC0099"/>
                </a:solidFill>
              </a:rPr>
              <a:t>0.48</a:t>
            </a:r>
          </a:p>
          <a:p>
            <a:pPr eaLnBrk="1" hangingPunct="1"/>
            <a:r>
              <a:rPr lang="zh-CN" altLang="en-US" sz="2400" b="1" dirty="0">
                <a:ea typeface="楷体_GB2312" pitchFamily="49" charset="-122"/>
              </a:rPr>
              <a:t>按择近原则，</a:t>
            </a:r>
            <a:r>
              <a:rPr lang="en-US" altLang="zh-CN" sz="24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lang="en-US" altLang="zh-CN" sz="2400" b="1" baseline="-25000" dirty="0">
                <a:solidFill>
                  <a:srgbClr val="0000FF"/>
                </a:solidFill>
                <a:ea typeface="楷体_GB2312" pitchFamily="49" charset="-122"/>
              </a:rPr>
              <a:t>4</a:t>
            </a:r>
            <a:r>
              <a:rPr lang="zh-CN" altLang="en-US" sz="2400" b="1" dirty="0">
                <a:ea typeface="楷体_GB2312" pitchFamily="49" charset="-122"/>
              </a:rPr>
              <a:t>与</a:t>
            </a:r>
            <a:r>
              <a:rPr lang="en-US" altLang="zh-CN" sz="2400" b="1" i="1" dirty="0">
                <a:solidFill>
                  <a:srgbClr val="008000"/>
                </a:solidFill>
                <a:ea typeface="楷体_GB2312" pitchFamily="49" charset="-122"/>
              </a:rPr>
              <a:t>B</a:t>
            </a:r>
            <a:r>
              <a:rPr lang="zh-CN" altLang="en-US" sz="2400" b="1" dirty="0">
                <a:ea typeface="楷体_GB2312" pitchFamily="49" charset="-122"/>
              </a:rPr>
              <a:t>最贴近，</a:t>
            </a:r>
            <a:r>
              <a:rPr lang="en-US" altLang="zh-CN" sz="2400" b="1" i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=(0.5, 0.2, 0.3)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最合理</a:t>
            </a:r>
          </a:p>
          <a:p>
            <a:pPr eaLnBrk="1" hangingPunct="1"/>
            <a:r>
              <a:rPr lang="zh-CN" altLang="en-US" sz="2400" b="1" dirty="0">
                <a:ea typeface="华文楷体" pitchFamily="2" charset="-122"/>
              </a:rPr>
              <a:t>虽然</a:t>
            </a:r>
            <a:r>
              <a:rPr lang="en-US" altLang="zh-CN" sz="2400" b="1" dirty="0">
                <a:solidFill>
                  <a:srgbClr val="008000"/>
                </a:solidFill>
                <a:ea typeface="华文楷体" pitchFamily="2" charset="-122"/>
              </a:rPr>
              <a:t>F</a:t>
            </a:r>
            <a:r>
              <a:rPr lang="zh-CN" altLang="en-US" sz="2400" b="1" dirty="0">
                <a:solidFill>
                  <a:srgbClr val="008000"/>
                </a:solidFill>
                <a:ea typeface="华文楷体" pitchFamily="2" charset="-122"/>
              </a:rPr>
              <a:t>协调决策法</a:t>
            </a:r>
            <a:r>
              <a:rPr lang="zh-CN" altLang="en-US" sz="2400" b="1" dirty="0">
                <a:ea typeface="华文楷体" pitchFamily="2" charset="-122"/>
              </a:rPr>
              <a:t>求权重分配是一种</a:t>
            </a:r>
            <a:r>
              <a:rPr lang="zh-CN" altLang="en-US" sz="2400" b="1" dirty="0">
                <a:solidFill>
                  <a:srgbClr val="3333FF"/>
                </a:solidFill>
                <a:ea typeface="华文楷体" pitchFamily="2" charset="-122"/>
              </a:rPr>
              <a:t>近似方法</a:t>
            </a:r>
            <a:r>
              <a:rPr lang="zh-CN" altLang="en-US" sz="2400" b="1" dirty="0">
                <a:ea typeface="华文楷体" pitchFamily="2" charset="-122"/>
              </a:rPr>
              <a:t>，但由于运算简单、便于操作、较有效，故科技工作者乐意使用它。</a:t>
            </a:r>
          </a:p>
        </p:txBody>
      </p:sp>
      <p:graphicFrame>
        <p:nvGraphicFramePr>
          <p:cNvPr id="91141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93362171"/>
              </p:ext>
            </p:extLst>
          </p:nvPr>
        </p:nvGraphicFramePr>
        <p:xfrm>
          <a:off x="2567608" y="2348880"/>
          <a:ext cx="4752379" cy="832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39900" imgH="304800" progId="Equation.3">
                  <p:embed/>
                </p:oleObj>
              </mc:Choice>
              <mc:Fallback>
                <p:oleObj name="公式" r:id="rId3" imgW="1739900" imgH="304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2348880"/>
                        <a:ext cx="4752379" cy="832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8616280" y="3717032"/>
            <a:ext cx="3312368" cy="1785104"/>
          </a:xfrm>
          <a:prstGeom prst="rect">
            <a:avLst/>
          </a:prstGeom>
          <a:solidFill>
            <a:srgbClr val="FFFF99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b="1" i="1" dirty="0">
                <a:solidFill>
                  <a:srgbClr val="008000"/>
                </a:solidFill>
                <a:ea typeface="楷体_GB2312" pitchFamily="49" charset="-122"/>
              </a:rPr>
              <a:t>B </a:t>
            </a:r>
            <a:r>
              <a:rPr lang="en-US" altLang="zh-CN" sz="2000" b="1" dirty="0">
                <a:solidFill>
                  <a:srgbClr val="008000"/>
                </a:solidFill>
                <a:ea typeface="楷体_GB2312" pitchFamily="49" charset="-122"/>
              </a:rPr>
              <a:t>= (0.6,   0.3,   0.1,   0)</a:t>
            </a:r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(0.33, 0.31, 0.28, 0.08)</a:t>
            </a:r>
            <a:endParaRPr kumimoji="1" lang="en-US" altLang="zh-CN" sz="2000" i="1" dirty="0"/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2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(0.43, 0.29, 0.22, 0.06)</a:t>
            </a:r>
            <a:endParaRPr kumimoji="1" lang="en-US" altLang="zh-CN" sz="2000" i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3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(0.35, 0.33, 0.24, 0.08)</a:t>
            </a:r>
            <a:endParaRPr kumimoji="1" lang="en-US" altLang="zh-CN" sz="2000" i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en-US" altLang="zh-CN" sz="20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000" baseline="-25000" dirty="0">
                <a:solidFill>
                  <a:srgbClr val="FF0000"/>
                </a:solidFill>
              </a:rPr>
              <a:t>4</a:t>
            </a:r>
            <a:r>
              <a:rPr kumimoji="1" lang="en-US" altLang="zh-CN" sz="2000" dirty="0">
                <a:solidFill>
                  <a:srgbClr val="FF0000"/>
                </a:solidFill>
              </a:rPr>
              <a:t>= </a:t>
            </a:r>
            <a:r>
              <a:rPr kumimoji="1" lang="en-US" altLang="zh-CN" sz="2000" dirty="0"/>
              <a:t>(0.48, 0.28, 0.19, 0.05)</a:t>
            </a:r>
            <a:endParaRPr kumimoji="1" lang="en-US" altLang="zh-CN" sz="2000" i="1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1BA8DE-6042-4B23-A564-AFC2F7D3FAB8}"/>
              </a:ext>
            </a:extLst>
          </p:cNvPr>
          <p:cNvSpPr/>
          <p:nvPr/>
        </p:nvSpPr>
        <p:spPr>
          <a:xfrm>
            <a:off x="8112224" y="2060849"/>
            <a:ext cx="3816424" cy="1200329"/>
          </a:xfrm>
          <a:prstGeom prst="rect">
            <a:avLst/>
          </a:prstGeom>
          <a:solidFill>
            <a:srgbClr val="FFCC99"/>
          </a:solidFill>
          <a:effectLst>
            <a:glow rad="190500">
              <a:schemeClr val="bg1">
                <a:lumMod val="75000"/>
              </a:schemeClr>
            </a:glow>
          </a:effec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400" b="1" dirty="0">
                <a:solidFill>
                  <a:srgbClr val="3333FF"/>
                </a:solidFill>
              </a:rPr>
              <a:t>因素集</a:t>
            </a:r>
            <a:r>
              <a:rPr kumimoji="1" lang="en-US" altLang="zh-CN" sz="2400" b="1" i="1" dirty="0">
                <a:solidFill>
                  <a:srgbClr val="3333FF"/>
                </a:solidFill>
              </a:rPr>
              <a:t>U 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= {</a:t>
            </a:r>
            <a:r>
              <a:rPr kumimoji="1" lang="en-US" altLang="zh-CN" sz="2400" b="1" i="1" dirty="0">
                <a:solidFill>
                  <a:srgbClr val="3333FF"/>
                </a:solidFill>
              </a:rPr>
              <a:t>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1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花色式样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), </a:t>
            </a:r>
          </a:p>
          <a:p>
            <a:pPr eaLnBrk="1" hangingPunct="1"/>
            <a:r>
              <a:rPr kumimoji="1" lang="en-US" altLang="zh-CN" sz="2400" b="1" i="1" dirty="0">
                <a:solidFill>
                  <a:srgbClr val="3333FF"/>
                </a:solidFill>
              </a:rPr>
              <a:t>                   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2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耐穿程度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), </a:t>
            </a:r>
          </a:p>
          <a:p>
            <a:pPr eaLnBrk="1" hangingPunct="1"/>
            <a:r>
              <a:rPr kumimoji="1" lang="en-US" altLang="zh-CN" sz="2400" b="1" i="1" dirty="0">
                <a:solidFill>
                  <a:srgbClr val="3333FF"/>
                </a:solidFill>
              </a:rPr>
              <a:t>                   u</a:t>
            </a:r>
            <a:r>
              <a:rPr kumimoji="1" lang="en-US" altLang="zh-CN" sz="2400" b="1" baseline="-25000" dirty="0">
                <a:solidFill>
                  <a:srgbClr val="3333FF"/>
                </a:solidFill>
              </a:rPr>
              <a:t>3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(</a:t>
            </a:r>
            <a:r>
              <a:rPr kumimoji="1" lang="zh-CN" altLang="en-US" sz="2400" b="1" dirty="0">
                <a:solidFill>
                  <a:srgbClr val="3333FF"/>
                </a:solidFill>
              </a:rPr>
              <a:t>价格费用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)}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BE24FD-21A7-A557-90AA-7FAF871C07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3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uiExpand="1" build="p"/>
      <p:bldP spid="5" grpId="0" uiExpand="1" animBg="1"/>
      <p:bldP spid="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640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7448" y="1340768"/>
            <a:ext cx="9865095" cy="2736304"/>
          </a:xfrm>
        </p:spPr>
        <p:txBody>
          <a:bodyPr/>
          <a:lstStyle/>
          <a:p>
            <a:pPr eaLnBrk="1" hangingPunct="1"/>
            <a:r>
              <a:rPr kumimoji="1" lang="en-US" altLang="zh-CN" dirty="0"/>
              <a:t> </a:t>
            </a:r>
            <a:r>
              <a:rPr kumimoji="1" lang="zh-CN" altLang="en-US" b="1" dirty="0"/>
              <a:t>在</a:t>
            </a:r>
            <a:r>
              <a:rPr kumimoji="1" lang="en-US" altLang="zh-CN" b="1" dirty="0"/>
              <a:t>F</a:t>
            </a:r>
            <a:r>
              <a:rPr kumimoji="1" lang="zh-CN" altLang="en-US" b="1" dirty="0"/>
              <a:t>综合评判决策问题中</a:t>
            </a:r>
            <a:r>
              <a:rPr kumimoji="1" lang="en-US" altLang="zh-CN" b="1" dirty="0"/>
              <a:t>, </a:t>
            </a:r>
            <a:r>
              <a:rPr kumimoji="1" lang="zh-CN" altLang="en-US" b="1" dirty="0"/>
              <a:t>若已知</a:t>
            </a:r>
            <a:endParaRPr kumimoji="1" lang="en-US" altLang="zh-CN" b="1" dirty="0"/>
          </a:p>
          <a:p>
            <a:pPr lvl="1" eaLnBrk="1" hangingPunct="1"/>
            <a:r>
              <a:rPr kumimoji="1" lang="zh-CN" altLang="en-US" b="1" dirty="0"/>
              <a:t>综合决策 </a:t>
            </a:r>
            <a:r>
              <a:rPr kumimoji="1" lang="en-US" altLang="zh-CN" b="1" i="1" dirty="0"/>
              <a:t>B </a:t>
            </a:r>
            <a:r>
              <a:rPr kumimoji="1" lang="en-US" altLang="zh-CN" b="1" dirty="0"/>
              <a:t>=(</a:t>
            </a:r>
            <a:r>
              <a:rPr kumimoji="1" lang="en-US" altLang="zh-CN" b="1" i="1" dirty="0" err="1"/>
              <a:t>b</a:t>
            </a:r>
            <a:r>
              <a:rPr kumimoji="1" lang="en-US" altLang="zh-CN" b="1" i="1" baseline="-25000" dirty="0" err="1"/>
              <a:t>ij</a:t>
            </a:r>
            <a:r>
              <a:rPr kumimoji="1" lang="en-US" altLang="zh-CN" b="1" dirty="0"/>
              <a:t>)</a:t>
            </a:r>
            <a:r>
              <a:rPr kumimoji="1" lang="en-US" altLang="zh-CN" b="1" i="1" baseline="-25000" dirty="0" err="1"/>
              <a:t>n</a:t>
            </a:r>
            <a:r>
              <a:rPr kumimoji="1" lang="en-US" altLang="zh-CN" b="1" baseline="-25000" dirty="0" err="1"/>
              <a:t>×</a:t>
            </a:r>
            <a:r>
              <a:rPr kumimoji="1" lang="en-US" altLang="zh-CN" b="1" i="1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endParaRPr kumimoji="1" lang="en-US" altLang="zh-CN" b="1" i="1" dirty="0"/>
          </a:p>
          <a:p>
            <a:pPr lvl="1" eaLnBrk="1" hangingPunct="1"/>
            <a:r>
              <a:rPr kumimoji="1" lang="zh-CN" altLang="en-US" b="1" dirty="0"/>
              <a:t>综合评判矩阵</a:t>
            </a:r>
            <a:r>
              <a:rPr kumimoji="1" lang="zh-CN" altLang="en-US" b="1" i="1" dirty="0"/>
              <a:t> </a:t>
            </a:r>
            <a:r>
              <a:rPr kumimoji="1" lang="en-US" altLang="zh-CN" b="1" i="1" dirty="0"/>
              <a:t>R</a:t>
            </a:r>
            <a:r>
              <a:rPr kumimoji="1" lang="en-US" altLang="zh-CN" b="1" dirty="0"/>
              <a:t> =(</a:t>
            </a:r>
            <a:r>
              <a:rPr kumimoji="1" lang="en-US" altLang="zh-CN" b="1" i="1" dirty="0" err="1"/>
              <a:t>r</a:t>
            </a:r>
            <a:r>
              <a:rPr kumimoji="1" lang="en-US" altLang="zh-CN" b="1" i="1" baseline="-25000" dirty="0" err="1"/>
              <a:t>ij</a:t>
            </a:r>
            <a:r>
              <a:rPr kumimoji="1" lang="en-US" altLang="zh-CN" b="1" dirty="0"/>
              <a:t>)</a:t>
            </a:r>
            <a:r>
              <a:rPr kumimoji="1" lang="en-US" altLang="zh-CN" b="1" i="1" baseline="-25000" dirty="0" err="1"/>
              <a:t>m</a:t>
            </a:r>
            <a:r>
              <a:rPr kumimoji="1" lang="en-US" altLang="zh-CN" b="1" baseline="-25000" dirty="0" err="1"/>
              <a:t>×</a:t>
            </a:r>
            <a:r>
              <a:rPr kumimoji="1" lang="en-US" altLang="zh-CN" b="1" i="1" baseline="-25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kumimoji="1" lang="en-US" altLang="zh-CN" b="1" i="1" dirty="0"/>
              <a:t> </a:t>
            </a:r>
            <a:endParaRPr kumimoji="1" lang="en-US" altLang="zh-CN" b="1" dirty="0"/>
          </a:p>
          <a:p>
            <a:pPr eaLnBrk="1" hangingPunct="1"/>
            <a:r>
              <a:rPr kumimoji="1" lang="zh-CN" altLang="en-US" b="1" dirty="0"/>
              <a:t>试问各因素的</a:t>
            </a:r>
            <a:r>
              <a:rPr kumimoji="1" lang="zh-CN" altLang="en-US" dirty="0">
                <a:solidFill>
                  <a:srgbClr val="3333FF"/>
                </a:solidFill>
                <a:ea typeface="黑体" pitchFamily="2" charset="-122"/>
              </a:rPr>
              <a:t>权重分配</a:t>
            </a:r>
            <a:r>
              <a:rPr kumimoji="1" lang="en-US" altLang="zh-CN" b="1" i="1" dirty="0">
                <a:solidFill>
                  <a:srgbClr val="3333FF"/>
                </a:solidFill>
              </a:rPr>
              <a:t>X </a:t>
            </a:r>
            <a:r>
              <a:rPr kumimoji="1" lang="en-US" altLang="zh-CN" b="1" dirty="0">
                <a:solidFill>
                  <a:srgbClr val="3333FF"/>
                </a:solidFill>
              </a:rPr>
              <a:t>=(</a:t>
            </a:r>
            <a:r>
              <a:rPr kumimoji="1" lang="en-US" altLang="zh-CN" b="1" dirty="0" err="1">
                <a:solidFill>
                  <a:srgbClr val="3333FF"/>
                </a:solidFill>
              </a:rPr>
              <a:t>x</a:t>
            </a:r>
            <a:r>
              <a:rPr kumimoji="1" lang="en-US" altLang="zh-CN" b="1" i="1" baseline="-25000" dirty="0" err="1">
                <a:solidFill>
                  <a:srgbClr val="3333FF"/>
                </a:solidFill>
              </a:rPr>
              <a:t>ij</a:t>
            </a:r>
            <a:r>
              <a:rPr kumimoji="1" lang="en-US" altLang="zh-CN" b="1" dirty="0">
                <a:solidFill>
                  <a:srgbClr val="3333FF"/>
                </a:solidFill>
              </a:rPr>
              <a:t>)</a:t>
            </a:r>
            <a:r>
              <a:rPr kumimoji="1" lang="en-US" altLang="zh-CN" b="1" i="1" baseline="-25000" dirty="0">
                <a:solidFill>
                  <a:srgbClr val="3333FF"/>
                </a:solidFill>
              </a:rPr>
              <a:t> </a:t>
            </a:r>
            <a:r>
              <a:rPr kumimoji="1" lang="en-US" altLang="zh-CN" b="1" i="1" baseline="-25000" dirty="0" err="1">
                <a:solidFill>
                  <a:srgbClr val="3333FF"/>
                </a:solidFill>
              </a:rPr>
              <a:t>n</a:t>
            </a:r>
            <a:r>
              <a:rPr kumimoji="1" lang="en-US" altLang="zh-CN" b="1" baseline="-25000" dirty="0" err="1">
                <a:solidFill>
                  <a:srgbClr val="3333FF"/>
                </a:solidFill>
              </a:rPr>
              <a:t>×</a:t>
            </a:r>
            <a:r>
              <a:rPr kumimoji="1" lang="en-US" altLang="zh-CN" b="1" i="1" baseline="-25000" dirty="0" err="1">
                <a:solidFill>
                  <a:srgbClr val="3333FF"/>
                </a:solidFill>
              </a:rPr>
              <a:t>m</a:t>
            </a:r>
            <a:r>
              <a:rPr kumimoji="1" lang="zh-CN" altLang="en-US" b="1" dirty="0"/>
              <a:t>是什么？</a:t>
            </a:r>
          </a:p>
          <a:p>
            <a:pPr eaLnBrk="1" hangingPunct="1"/>
            <a:r>
              <a:rPr kumimoji="1" lang="zh-CN" altLang="en-US" b="1" dirty="0"/>
              <a:t>这就是要求解</a:t>
            </a:r>
            <a:r>
              <a:rPr kumimoji="1" lang="en-US" altLang="zh-CN" b="1" dirty="0"/>
              <a:t>F</a:t>
            </a:r>
            <a:r>
              <a:rPr kumimoji="1" lang="zh-CN" altLang="en-US" b="1" dirty="0"/>
              <a:t>关系方程 </a:t>
            </a:r>
            <a:r>
              <a:rPr kumimoji="1" lang="en-US" altLang="zh-CN" b="1" i="1" dirty="0">
                <a:solidFill>
                  <a:srgbClr val="FF0000"/>
                </a:solidFill>
              </a:rPr>
              <a:t>X </a:t>
            </a:r>
            <a:r>
              <a:rPr lang="en-US" altLang="zh-CN" b="1" dirty="0">
                <a:solidFill>
                  <a:srgbClr val="F72603"/>
                </a:solidFill>
              </a:rPr>
              <a:t>◦</a:t>
            </a:r>
            <a:r>
              <a:rPr lang="en-US" altLang="zh-CN" b="1" dirty="0"/>
              <a:t> </a:t>
            </a:r>
            <a:r>
              <a:rPr kumimoji="1" lang="en-US" altLang="zh-CN" b="1" i="1" dirty="0">
                <a:solidFill>
                  <a:srgbClr val="FF0000"/>
                </a:solidFill>
              </a:rPr>
              <a:t>R </a:t>
            </a:r>
            <a:r>
              <a:rPr kumimoji="1" lang="en-US" altLang="zh-CN" b="1" dirty="0">
                <a:solidFill>
                  <a:srgbClr val="FF0000"/>
                </a:solidFill>
              </a:rPr>
              <a:t>= </a:t>
            </a:r>
            <a:r>
              <a:rPr kumimoji="1" lang="en-US" altLang="zh-CN" b="1" i="1" dirty="0">
                <a:solidFill>
                  <a:srgbClr val="FF0000"/>
                </a:solidFill>
              </a:rPr>
              <a:t>B</a:t>
            </a:r>
            <a:endParaRPr kumimoji="1" lang="en-US" altLang="zh-CN" b="1" dirty="0">
              <a:solidFill>
                <a:srgbClr val="FF0000"/>
              </a:solidFill>
            </a:endParaRPr>
          </a:p>
        </p:txBody>
      </p:sp>
      <p:graphicFrame>
        <p:nvGraphicFramePr>
          <p:cNvPr id="3891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703389" y="4365625"/>
          <a:ext cx="8783637" cy="211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98900" imgH="939800" progId="Equation.3">
                  <p:embed/>
                </p:oleObj>
              </mc:Choice>
              <mc:Fallback>
                <p:oleObj name="公式" r:id="rId2" imgW="38989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9" y="4365625"/>
                        <a:ext cx="8783637" cy="211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94245F-D03E-95A0-DD02-6AE0B3C923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33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3359151" y="4437064"/>
            <a:ext cx="4752975" cy="504825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3789364"/>
            <a:ext cx="6192391" cy="25923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上面的方程和下面方程组同解：</a:t>
            </a:r>
          </a:p>
        </p:txBody>
      </p:sp>
      <p:graphicFrame>
        <p:nvGraphicFramePr>
          <p:cNvPr id="40964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2351088" y="1557338"/>
          <a:ext cx="7777162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98900" imgH="939800" progId="Equation.3">
                  <p:embed/>
                </p:oleObj>
              </mc:Choice>
              <mc:Fallback>
                <p:oleObj name="公式" r:id="rId2" imgW="38989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557338"/>
                        <a:ext cx="7777162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3106738" y="4433888"/>
          <a:ext cx="4970462" cy="204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0" imgH="939800" progId="Equation.3">
                  <p:embed/>
                </p:oleObj>
              </mc:Choice>
              <mc:Fallback>
                <p:oleObj name="公式" r:id="rId4" imgW="22860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4433888"/>
                        <a:ext cx="4970462" cy="204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0" name="AutoShape 10"/>
          <p:cNvSpPr>
            <a:spLocks noChangeArrowheads="1"/>
          </p:cNvSpPr>
          <p:nvPr/>
        </p:nvSpPr>
        <p:spPr bwMode="auto">
          <a:xfrm>
            <a:off x="2424114" y="1557338"/>
            <a:ext cx="2376487" cy="57626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AutoShape 11"/>
          <p:cNvSpPr>
            <a:spLocks noChangeArrowheads="1"/>
          </p:cNvSpPr>
          <p:nvPr/>
        </p:nvSpPr>
        <p:spPr bwMode="auto">
          <a:xfrm>
            <a:off x="5159376" y="1557338"/>
            <a:ext cx="504825" cy="2159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Oval 12"/>
          <p:cNvSpPr>
            <a:spLocks noChangeArrowheads="1"/>
          </p:cNvSpPr>
          <p:nvPr/>
        </p:nvSpPr>
        <p:spPr bwMode="auto">
          <a:xfrm>
            <a:off x="7751764" y="1628775"/>
            <a:ext cx="503237" cy="503238"/>
          </a:xfrm>
          <a:prstGeom prst="ellips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FE120D-756E-BA29-78F4-35C0F38312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60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9" grpId="0" animBg="1"/>
      <p:bldP spid="40970" grpId="0" animBg="1"/>
      <p:bldP spid="40971" grpId="0" animBg="1"/>
      <p:bldP spid="4097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9649072" cy="44545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下面只讨论这个方程：</a:t>
            </a: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2" charset="-122"/>
            </a:endParaRPr>
          </a:p>
          <a:p>
            <a:pPr marL="0" indent="0" eaLnBrk="1" hangingPunct="1">
              <a:buNone/>
            </a:pPr>
            <a:endParaRPr lang="zh-CN" altLang="en-US" sz="14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按</a:t>
            </a:r>
            <a:r>
              <a:rPr lang="en-US" altLang="zh-CN" dirty="0">
                <a:solidFill>
                  <a:schemeClr val="bg2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关系合成运算，方程可化为下等式，称为</a:t>
            </a:r>
            <a:r>
              <a:rPr lang="en-US" altLang="zh-CN" dirty="0">
                <a:solidFill>
                  <a:srgbClr val="FF0000"/>
                </a:solidFill>
                <a:ea typeface="黑体" pitchFamily="2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2" charset="-122"/>
              </a:rPr>
              <a:t>线性方程组</a:t>
            </a:r>
          </a:p>
          <a:p>
            <a:pPr eaLnBrk="1" hangingPunct="1"/>
            <a:endParaRPr lang="en-US" altLang="zh-CN" sz="2400" dirty="0">
              <a:ea typeface="黑体" pitchFamily="2" charset="-122"/>
            </a:endParaRPr>
          </a:p>
        </p:txBody>
      </p:sp>
      <p:graphicFrame>
        <p:nvGraphicFramePr>
          <p:cNvPr id="45060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3087688" y="1844676"/>
          <a:ext cx="6951662" cy="218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84500" imgH="939800" progId="Equation.3">
                  <p:embed/>
                </p:oleObj>
              </mc:Choice>
              <mc:Fallback>
                <p:oleObj name="公式" r:id="rId2" imgW="2984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1844676"/>
                        <a:ext cx="6951662" cy="218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3143251" y="4508501"/>
          <a:ext cx="6048375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03500" imgH="939800" progId="Equation.3">
                  <p:embed/>
                </p:oleObj>
              </mc:Choice>
              <mc:Fallback>
                <p:oleObj name="公式" r:id="rId4" imgW="2603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508501"/>
                        <a:ext cx="6048375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0B3C1E-BD28-6D5F-0D49-4A8432F0AA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08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0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50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>
            <a:extLst>
              <a:ext uri="{FF2B5EF4-FFF2-40B4-BE49-F238E27FC236}">
                <a16:creationId xmlns:a16="http://schemas.microsoft.com/office/drawing/2014/main" id="{B25CC943-039F-78A7-7BBC-9F054A064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346" y="1989138"/>
            <a:ext cx="6456518" cy="575766"/>
          </a:xfrm>
          <a:prstGeom prst="rect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93662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43472" y="1484314"/>
            <a:ext cx="8784778" cy="51847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2" charset="-122"/>
              </a:rPr>
              <a:t>定理</a:t>
            </a:r>
            <a:r>
              <a:rPr lang="en-US" altLang="zh-CN" sz="2800" dirty="0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</a:rPr>
              <a:t>]</a:t>
            </a:r>
            <a:r>
              <a:rPr lang="en-US" altLang="zh-CN" sz="2800" dirty="0"/>
              <a:t>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X </a:t>
            </a:r>
            <a:r>
              <a:rPr kumimoji="1" lang="en-US" altLang="zh-CN" sz="2800" dirty="0">
                <a:solidFill>
                  <a:schemeClr val="bg2"/>
                </a:solidFill>
              </a:rPr>
              <a:t>= (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x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1</a:t>
            </a:r>
            <a:r>
              <a:rPr kumimoji="1" lang="en-US" altLang="zh-CN" sz="2800" dirty="0">
                <a:solidFill>
                  <a:schemeClr val="bg2"/>
                </a:solidFill>
              </a:rPr>
              <a:t>, </a:t>
            </a:r>
            <a:r>
              <a:rPr kumimoji="1" lang="en-US" altLang="zh-CN" sz="2800" i="1" dirty="0">
                <a:solidFill>
                  <a:schemeClr val="bg2"/>
                </a:solidFill>
              </a:rPr>
              <a:t>x</a:t>
            </a:r>
            <a:r>
              <a:rPr kumimoji="1" lang="en-US" altLang="zh-CN" sz="2800" baseline="-25000" dirty="0">
                <a:solidFill>
                  <a:schemeClr val="bg2"/>
                </a:solidFill>
              </a:rPr>
              <a:t>2</a:t>
            </a:r>
            <a:r>
              <a:rPr kumimoji="1" lang="en-US" altLang="zh-CN" sz="2800" dirty="0">
                <a:solidFill>
                  <a:schemeClr val="bg2"/>
                </a:solidFill>
              </a:rPr>
              <a:t>, … , </a:t>
            </a:r>
            <a:r>
              <a:rPr kumimoji="1" lang="en-US" altLang="zh-CN" sz="2800" i="1" dirty="0" err="1">
                <a:solidFill>
                  <a:schemeClr val="bg2"/>
                </a:solidFill>
              </a:rPr>
              <a:t>x</a:t>
            </a:r>
            <a:r>
              <a:rPr kumimoji="1" lang="en-US" altLang="zh-CN" sz="2800" i="1" baseline="-25000" dirty="0" err="1">
                <a:solidFill>
                  <a:schemeClr val="bg2"/>
                </a:solidFill>
              </a:rPr>
              <a:t>n</a:t>
            </a:r>
            <a:r>
              <a:rPr kumimoji="1" lang="en-US" altLang="zh-CN" sz="2800" dirty="0">
                <a:solidFill>
                  <a:schemeClr val="bg2"/>
                </a:solidFill>
              </a:rPr>
              <a:t>) </a:t>
            </a: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是方程组</a:t>
            </a: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kumimoji="1" lang="zh-CN" altLang="en-US" sz="28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的解</a:t>
            </a:r>
            <a:r>
              <a:rPr kumimoji="1" lang="zh-CN" altLang="en-US" sz="2800" b="1" dirty="0">
                <a:solidFill>
                  <a:srgbClr val="002060"/>
                </a:solidFill>
                <a:ea typeface="楷体_GB2312" pitchFamily="49" charset="-122"/>
              </a:rPr>
              <a:t>的</a:t>
            </a: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充要条件</a:t>
            </a:r>
            <a:r>
              <a:rPr kumimoji="1" lang="zh-CN" altLang="en-US" sz="2800" b="1" dirty="0">
                <a:solidFill>
                  <a:srgbClr val="002060"/>
                </a:solidFill>
                <a:ea typeface="楷体_GB2312" pitchFamily="49" charset="-122"/>
              </a:rPr>
              <a:t>是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：</a:t>
            </a:r>
            <a:endParaRPr kumimoji="1" lang="en-US" altLang="zh-CN" sz="2800" b="1" dirty="0">
              <a:solidFill>
                <a:srgbClr val="0000FF"/>
              </a:solidFill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               </a:t>
            </a:r>
            <a:r>
              <a:rPr kumimoji="1"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ij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/>
              </a:rPr>
              <a:t>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≤ </a:t>
            </a:r>
            <a:r>
              <a:rPr kumimoji="1"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且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j,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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满足 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6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/>
              </a:rPr>
              <a:t> 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=1,2,…,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=1,2,…,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　</a:t>
            </a:r>
            <a:r>
              <a:rPr kumimoji="1" lang="zh-CN" altLang="en-US" sz="2800" dirty="0"/>
              <a:t>　</a:t>
            </a:r>
          </a:p>
        </p:txBody>
      </p:sp>
      <p:graphicFrame>
        <p:nvGraphicFramePr>
          <p:cNvPr id="4915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927351" y="1989138"/>
          <a:ext cx="6767513" cy="244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03500" imgH="939800" progId="Equation.3">
                  <p:embed/>
                </p:oleObj>
              </mc:Choice>
              <mc:Fallback>
                <p:oleObj name="公式" r:id="rId2" imgW="2603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1989138"/>
                        <a:ext cx="6767513" cy="244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6DF0A5-580F-48AE-CE65-30D21EB73B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311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700214"/>
            <a:ext cx="9865096" cy="51577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[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推论］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　　</a:t>
            </a:r>
            <a:r>
              <a:rPr lang="en-US" altLang="zh-CN" b="1" dirty="0"/>
              <a:t>(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1 </a:t>
            </a:r>
            <a:r>
              <a:rPr lang="en-US" altLang="zh-CN" b="1" dirty="0">
                <a:sym typeface="Symbol"/>
              </a:rPr>
              <a:t>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) </a:t>
            </a:r>
            <a:r>
              <a:rPr lang="en-US" altLang="zh-CN" b="1" dirty="0">
                <a:sym typeface="Symbol"/>
              </a:rPr>
              <a:t></a:t>
            </a:r>
            <a:r>
              <a:rPr lang="en-US" altLang="zh-CN" b="1" dirty="0"/>
              <a:t> (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2</a:t>
            </a:r>
            <a:r>
              <a:rPr lang="en-US" altLang="zh-CN" b="1" dirty="0">
                <a:sym typeface="Symbol"/>
              </a:rPr>
              <a:t> 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) </a:t>
            </a:r>
            <a:r>
              <a:rPr lang="en-US" altLang="zh-CN" b="1" dirty="0">
                <a:sym typeface="Symbol"/>
              </a:rPr>
              <a:t> </a:t>
            </a:r>
            <a:r>
              <a:rPr lang="en-US" altLang="zh-CN" b="1" dirty="0"/>
              <a:t>…</a:t>
            </a:r>
            <a:r>
              <a:rPr lang="en-US" altLang="zh-CN" b="1" dirty="0">
                <a:sym typeface="Symbol"/>
              </a:rPr>
              <a:t>  </a:t>
            </a:r>
            <a:r>
              <a:rPr lang="en-US" altLang="zh-CN" b="1" dirty="0"/>
              <a:t>(</a:t>
            </a:r>
            <a:r>
              <a:rPr lang="en-US" altLang="zh-CN" b="1" i="1" dirty="0" err="1"/>
              <a:t>r</a:t>
            </a:r>
            <a:r>
              <a:rPr lang="en-US" altLang="zh-CN" b="1" i="1" baseline="-25000" dirty="0" err="1"/>
              <a:t>n</a:t>
            </a:r>
            <a:r>
              <a:rPr lang="en-US" altLang="zh-CN" b="1" dirty="0">
                <a:sym typeface="Symbol"/>
              </a:rPr>
              <a:t>  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n</a:t>
            </a:r>
            <a:r>
              <a:rPr lang="en-US" altLang="zh-CN" b="1" dirty="0"/>
              <a:t>) = </a:t>
            </a:r>
            <a:r>
              <a:rPr lang="en-US" altLang="zh-CN" b="1" i="1" dirty="0"/>
              <a:t>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9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   有</a:t>
            </a: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</a:rPr>
              <a:t>解的</a:t>
            </a:r>
            <a:r>
              <a:rPr kumimoji="1" lang="zh-CN" altLang="en-US" b="1" dirty="0">
                <a:solidFill>
                  <a:srgbClr val="FF0000"/>
                </a:solidFill>
                <a:ea typeface="楷体_GB2312" pitchFamily="49" charset="-122"/>
              </a:rPr>
              <a:t>充要条件</a:t>
            </a: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</a:rPr>
              <a:t>是：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</a:rPr>
              <a:t>                         </a:t>
            </a:r>
            <a:r>
              <a:rPr kumimoji="1" lang="en-US" altLang="zh-CN" b="1" i="1" dirty="0" err="1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kumimoji="1" lang="en-US" altLang="zh-CN" b="1" i="1" baseline="-25000" dirty="0" err="1">
                <a:solidFill>
                  <a:srgbClr val="0000FF"/>
                </a:solidFill>
                <a:ea typeface="楷体_GB2312" pitchFamily="49" charset="-122"/>
              </a:rPr>
              <a:t>i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  <a:sym typeface="Symbol"/>
              </a:rPr>
              <a:t> 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kumimoji="1" lang="en-US" altLang="zh-CN" b="1" i="1" baseline="-25000" dirty="0">
                <a:solidFill>
                  <a:srgbClr val="0000FF"/>
                </a:solidFill>
                <a:ea typeface="楷体_GB2312" pitchFamily="49" charset="-122"/>
              </a:rPr>
              <a:t>i 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</a:rPr>
              <a:t>≤ 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</a:rPr>
              <a:t>且</a:t>
            </a: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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i</a:t>
            </a:r>
            <a:r>
              <a:rPr kumimoji="1" lang="en-US" altLang="zh-CN" b="1" baseline="-25000" dirty="0">
                <a:solidFill>
                  <a:srgbClr val="0000FF"/>
                </a:solidFill>
                <a:ea typeface="楷体_GB2312" pitchFamily="49" charset="-122"/>
              </a:rPr>
              <a:t>0</a:t>
            </a: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</a:rPr>
              <a:t>满足　  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kumimoji="1" lang="en-US" altLang="zh-CN" b="1" i="1" baseline="-25000" dirty="0">
                <a:solidFill>
                  <a:srgbClr val="0000FF"/>
                </a:solidFill>
                <a:ea typeface="楷体_GB2312" pitchFamily="49" charset="-122"/>
              </a:rPr>
              <a:t>i</a:t>
            </a:r>
            <a:r>
              <a:rPr kumimoji="1" lang="en-US" altLang="zh-CN" b="1" baseline="-60000" dirty="0">
                <a:solidFill>
                  <a:srgbClr val="0000FF"/>
                </a:solidFill>
                <a:ea typeface="楷体_GB2312" pitchFamily="49" charset="-122"/>
              </a:rPr>
              <a:t>0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  <a:sym typeface="Symbol"/>
              </a:rPr>
              <a:t>  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kumimoji="1" lang="en-US" altLang="zh-CN" b="1" i="1" baseline="-25000" dirty="0">
                <a:solidFill>
                  <a:srgbClr val="0000FF"/>
                </a:solidFill>
                <a:ea typeface="楷体_GB2312" pitchFamily="49" charset="-122"/>
              </a:rPr>
              <a:t>i</a:t>
            </a:r>
            <a:r>
              <a:rPr kumimoji="1" lang="en-US" altLang="zh-CN" b="1" baseline="-60000" dirty="0">
                <a:solidFill>
                  <a:srgbClr val="0000FF"/>
                </a:solidFill>
                <a:ea typeface="楷体_GB2312" pitchFamily="49" charset="-122"/>
              </a:rPr>
              <a:t>0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</a:rPr>
              <a:t>= 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zh-CN" altLang="en-US" b="1" dirty="0">
                <a:solidFill>
                  <a:srgbClr val="0000FF"/>
                </a:solidFill>
                <a:ea typeface="楷体_GB2312" pitchFamily="49" charset="-122"/>
              </a:rPr>
              <a:t>，（</a:t>
            </a:r>
            <a:r>
              <a:rPr kumimoji="1" lang="en-US" altLang="zh-CN" b="1" i="1" dirty="0" err="1">
                <a:solidFill>
                  <a:srgbClr val="0000FF"/>
                </a:solidFill>
                <a:ea typeface="楷体_GB2312" pitchFamily="49" charset="-122"/>
              </a:rPr>
              <a:t>i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</a:rPr>
              <a:t>=1,2,…,</a:t>
            </a:r>
            <a:r>
              <a:rPr kumimoji="1" lang="en-US" altLang="zh-CN" b="1" i="1" dirty="0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kumimoji="1" lang="en-US" altLang="zh-CN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kumimoji="1" lang="en-US" altLang="zh-CN" sz="1600" dirty="0">
              <a:ea typeface="黑体" pitchFamily="2" charset="-122"/>
            </a:endParaRPr>
          </a:p>
          <a:p>
            <a:pPr eaLnBrk="1" hangingPunct="1"/>
            <a:r>
              <a:rPr kumimoji="1" lang="zh-CN" altLang="en-US" dirty="0">
                <a:ea typeface="黑体" pitchFamily="2" charset="-122"/>
              </a:rPr>
              <a:t>所以，若要求解</a:t>
            </a:r>
            <a:r>
              <a:rPr kumimoji="1" lang="en-US" altLang="zh-CN" dirty="0">
                <a:ea typeface="黑体" pitchFamily="2" charset="-122"/>
              </a:rPr>
              <a:t>F</a:t>
            </a:r>
            <a:r>
              <a:rPr kumimoji="1" lang="zh-CN" altLang="en-US" dirty="0">
                <a:ea typeface="黑体" pitchFamily="2" charset="-122"/>
              </a:rPr>
              <a:t>线性方程组，</a:t>
            </a:r>
            <a:r>
              <a:rPr kumimoji="1" lang="zh-CN" altLang="en-US" dirty="0">
                <a:latin typeface="黑体" pitchFamily="2" charset="-122"/>
                <a:ea typeface="黑体" pitchFamily="2" charset="-122"/>
              </a:rPr>
              <a:t>则必须</a:t>
            </a:r>
          </a:p>
          <a:p>
            <a:pPr lvl="1" eaLnBrk="1" hangingPunct="1"/>
            <a:r>
              <a:rPr kumimoji="1" lang="zh-CN" altLang="en-US" b="1" dirty="0">
                <a:ea typeface="华文楷体" pitchFamily="2" charset="-122"/>
              </a:rPr>
              <a:t>求解方程　　   </a:t>
            </a:r>
            <a:r>
              <a:rPr kumimoji="1" lang="en-US" altLang="zh-CN" b="1" i="1" dirty="0">
                <a:solidFill>
                  <a:srgbClr val="CC0099"/>
                </a:solidFill>
                <a:ea typeface="华文楷体" pitchFamily="2" charset="-122"/>
              </a:rPr>
              <a:t>r</a:t>
            </a:r>
            <a:r>
              <a:rPr kumimoji="1" lang="en-US" altLang="zh-CN" b="1" dirty="0">
                <a:solidFill>
                  <a:srgbClr val="CC0099"/>
                </a:solidFill>
                <a:ea typeface="华文楷体" pitchFamily="2" charset="-122"/>
              </a:rPr>
              <a:t> </a:t>
            </a:r>
            <a:r>
              <a:rPr kumimoji="1" lang="en-US" altLang="zh-CN" b="1" dirty="0">
                <a:solidFill>
                  <a:srgbClr val="CC0099"/>
                </a:solidFill>
                <a:ea typeface="华文楷体" pitchFamily="2" charset="-122"/>
                <a:sym typeface="Symbol"/>
              </a:rPr>
              <a:t> </a:t>
            </a:r>
            <a:r>
              <a:rPr kumimoji="1" lang="en-US" altLang="zh-CN" b="1" i="1" dirty="0">
                <a:solidFill>
                  <a:srgbClr val="CC0099"/>
                </a:solidFill>
                <a:ea typeface="华文楷体" pitchFamily="2" charset="-122"/>
              </a:rPr>
              <a:t>x</a:t>
            </a:r>
            <a:r>
              <a:rPr kumimoji="1" lang="zh-CN" altLang="en-US" b="1" dirty="0">
                <a:solidFill>
                  <a:srgbClr val="CC0099"/>
                </a:solidFill>
                <a:ea typeface="华文楷体" pitchFamily="2" charset="-122"/>
              </a:rPr>
              <a:t>＝</a:t>
            </a:r>
            <a:r>
              <a:rPr kumimoji="1" lang="en-US" altLang="zh-CN" b="1" i="1" dirty="0">
                <a:solidFill>
                  <a:srgbClr val="CC0099"/>
                </a:solidFill>
                <a:ea typeface="华文楷体" pitchFamily="2" charset="-122"/>
              </a:rPr>
              <a:t>b</a:t>
            </a:r>
          </a:p>
          <a:p>
            <a:pPr lvl="1" eaLnBrk="1" hangingPunct="1">
              <a:buNone/>
            </a:pPr>
            <a:r>
              <a:rPr kumimoji="1" lang="en-US" altLang="zh-CN" b="1" dirty="0">
                <a:ea typeface="华文楷体" pitchFamily="2" charset="-122"/>
              </a:rPr>
              <a:t>   </a:t>
            </a:r>
            <a:r>
              <a:rPr kumimoji="1" lang="zh-CN" altLang="en-US" b="1" dirty="0">
                <a:ea typeface="华文楷体" pitchFamily="2" charset="-122"/>
              </a:rPr>
              <a:t>和不等式　　   </a:t>
            </a:r>
            <a:r>
              <a:rPr kumimoji="1" lang="en-US" altLang="zh-CN" b="1" i="1" dirty="0">
                <a:solidFill>
                  <a:srgbClr val="CC0099"/>
                </a:solidFill>
                <a:ea typeface="华文楷体" pitchFamily="2" charset="-122"/>
              </a:rPr>
              <a:t>r</a:t>
            </a:r>
            <a:r>
              <a:rPr kumimoji="1" lang="en-US" altLang="zh-CN" b="1" dirty="0">
                <a:solidFill>
                  <a:srgbClr val="CC0099"/>
                </a:solidFill>
                <a:ea typeface="华文楷体" pitchFamily="2" charset="-122"/>
                <a:sym typeface="Symbol"/>
              </a:rPr>
              <a:t>  </a:t>
            </a:r>
            <a:r>
              <a:rPr kumimoji="1" lang="en-US" altLang="zh-CN" b="1" i="1" dirty="0">
                <a:solidFill>
                  <a:srgbClr val="CC0099"/>
                </a:solidFill>
                <a:ea typeface="华文楷体" pitchFamily="2" charset="-122"/>
              </a:rPr>
              <a:t>x</a:t>
            </a:r>
            <a:r>
              <a:rPr kumimoji="1" lang="en-US" altLang="zh-CN" b="1" dirty="0">
                <a:solidFill>
                  <a:srgbClr val="CC0099"/>
                </a:solidFill>
                <a:ea typeface="华文楷体" pitchFamily="2" charset="-122"/>
              </a:rPr>
              <a:t> ≤ </a:t>
            </a:r>
            <a:r>
              <a:rPr kumimoji="1" lang="en-US" altLang="zh-CN" b="1" i="1" dirty="0">
                <a:solidFill>
                  <a:srgbClr val="CC0099"/>
                </a:solidFill>
                <a:ea typeface="华文楷体" pitchFamily="2" charset="-122"/>
              </a:rPr>
              <a:t>b</a:t>
            </a:r>
            <a:endParaRPr kumimoji="1" lang="en-US" altLang="zh-CN" b="1" i="1" dirty="0">
              <a:ea typeface="华文楷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1" lang="en-US" altLang="zh-CN" dirty="0">
                <a:solidFill>
                  <a:schemeClr val="bg2"/>
                </a:solidFill>
              </a:rPr>
              <a:t>            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96695B-B2C5-64BC-CDCA-12F15FD786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82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557339"/>
            <a:ext cx="8928224" cy="2663825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解方程　</a:t>
            </a:r>
            <a:r>
              <a:rPr lang="zh-CN" altLang="en-US" sz="2800" dirty="0"/>
              <a:t>　</a:t>
            </a:r>
            <a:r>
              <a:rPr lang="en-US" altLang="zh-CN" sz="2800" b="1" i="1" dirty="0">
                <a:solidFill>
                  <a:srgbClr val="FF0000"/>
                </a:solidFill>
              </a:rPr>
              <a:t>x </a:t>
            </a:r>
            <a:r>
              <a:rPr kumimoji="1" lang="en-US" altLang="zh-CN" sz="2800" b="1" dirty="0">
                <a:solidFill>
                  <a:srgbClr val="FF0000"/>
                </a:solidFill>
                <a:sym typeface="Symbol"/>
              </a:rPr>
              <a:t> 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r 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＝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b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,</a:t>
            </a:r>
            <a:r>
              <a:rPr kumimoji="1" lang="zh-CN" altLang="en-US" sz="2800" dirty="0">
                <a:solidFill>
                  <a:srgbClr val="FF0000"/>
                </a:solidFill>
              </a:rPr>
              <a:t>　  </a:t>
            </a:r>
            <a:r>
              <a:rPr kumimoji="1" lang="en-US" altLang="zh-CN" sz="2800" i="1" dirty="0">
                <a:solidFill>
                  <a:srgbClr val="FF0000"/>
                </a:solidFill>
              </a:rPr>
              <a:t>r</a:t>
            </a:r>
            <a:r>
              <a:rPr kumimoji="1" lang="zh-CN" altLang="en-US" sz="2800" dirty="0">
                <a:solidFill>
                  <a:srgbClr val="FF0000"/>
                </a:solidFill>
              </a:rPr>
              <a:t>、</a:t>
            </a:r>
            <a:r>
              <a:rPr kumimoji="1" lang="en-US" altLang="zh-CN" sz="2800" i="1" dirty="0">
                <a:solidFill>
                  <a:srgbClr val="FF0000"/>
                </a:solidFill>
              </a:rPr>
              <a:t>b</a:t>
            </a:r>
            <a:r>
              <a:rPr kumimoji="1" lang="en-US" altLang="zh-CN" sz="2800" dirty="0">
                <a:solidFill>
                  <a:srgbClr val="FF0000"/>
                </a:solidFill>
                <a:sym typeface="Symbol"/>
              </a:rPr>
              <a:t></a:t>
            </a:r>
            <a:r>
              <a:rPr kumimoji="1" lang="en-US" altLang="zh-CN" sz="2800" dirty="0">
                <a:solidFill>
                  <a:srgbClr val="FF0000"/>
                </a:solidFill>
              </a:rPr>
              <a:t>[0,1]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当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&lt;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时，方程无解，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x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=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  <a:cs typeface="Arial" charset="0"/>
              </a:rPr>
              <a:t>Ø;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当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&gt;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时，方程有唯一解，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x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=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;</a:t>
            </a:r>
          </a:p>
          <a:p>
            <a:pPr eaLnBrk="1" hangingPunct="1"/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当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=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时，方程有无穷多解，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x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= [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,1];</a:t>
            </a:r>
          </a:p>
          <a:p>
            <a:pPr eaLnBrk="1" hangingPunct="1"/>
            <a:r>
              <a:rPr kumimoji="1" lang="zh-CN" altLang="en-US" sz="2800" b="1" dirty="0">
                <a:latin typeface="华文楷体" pitchFamily="2" charset="-122"/>
                <a:ea typeface="华文楷体" pitchFamily="2" charset="-122"/>
              </a:rPr>
              <a:t>引入算子 </a:t>
            </a:r>
            <a:r>
              <a:rPr kumimoji="1" lang="el-GR" altLang="zh-CN" sz="2800" b="1" i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kumimoji="1" lang="en-US" altLang="zh-CN" sz="2800" b="1" dirty="0">
                <a:latin typeface="华文楷体" pitchFamily="2" charset="-122"/>
                <a:ea typeface="华文楷体" pitchFamily="2" charset="-122"/>
              </a:rPr>
              <a:t>, </a:t>
            </a:r>
            <a:r>
              <a:rPr kumimoji="1" lang="zh-CN" altLang="en-US" sz="2800" b="1" dirty="0">
                <a:latin typeface="华文楷体" pitchFamily="2" charset="-122"/>
                <a:ea typeface="华文楷体" pitchFamily="2" charset="-122"/>
              </a:rPr>
              <a:t>方程的解表示为：</a:t>
            </a:r>
            <a:r>
              <a:rPr kumimoji="1" lang="en-US" altLang="zh-CN" sz="2800" b="1" i="1" dirty="0">
                <a:cs typeface="Arial" charset="0"/>
              </a:rPr>
              <a:t>x </a:t>
            </a:r>
            <a:r>
              <a:rPr kumimoji="1" lang="en-US" altLang="zh-CN" sz="2800" b="1" dirty="0">
                <a:cs typeface="Arial" charset="0"/>
              </a:rPr>
              <a:t>= </a:t>
            </a:r>
            <a:r>
              <a:rPr kumimoji="1" lang="en-US" altLang="zh-CN" sz="2800" b="1" i="1" dirty="0">
                <a:cs typeface="Arial" charset="0"/>
              </a:rPr>
              <a:t>r </a:t>
            </a:r>
            <a:r>
              <a:rPr kumimoji="1" lang="el-GR" altLang="zh-CN" sz="2800" b="1" i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kumimoji="1" lang="en-US" altLang="zh-CN" sz="2800" b="1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kumimoji="1" lang="en-US" altLang="zh-CN" sz="2800" b="1" i="1" dirty="0">
                <a:cs typeface="Arial" charset="0"/>
              </a:rPr>
              <a:t>b</a:t>
            </a:r>
            <a:r>
              <a:rPr kumimoji="1" lang="en-US" altLang="zh-CN" sz="2800" b="1" dirty="0"/>
              <a:t> </a:t>
            </a:r>
            <a:r>
              <a:rPr kumimoji="1" lang="zh-CN" altLang="en-US" sz="2800" dirty="0">
                <a:solidFill>
                  <a:schemeClr val="bg2"/>
                </a:solidFill>
              </a:rPr>
              <a:t>　</a:t>
            </a:r>
          </a:p>
        </p:txBody>
      </p:sp>
      <p:graphicFrame>
        <p:nvGraphicFramePr>
          <p:cNvPr id="5222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649663" y="4500563"/>
          <a:ext cx="4030662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09088" imgH="710891" progId="Equation.3">
                  <p:embed/>
                </p:oleObj>
              </mc:Choice>
              <mc:Fallback>
                <p:oleObj name="公式" r:id="rId2" imgW="1409088" imgH="7108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4500563"/>
                        <a:ext cx="4030662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BF7C074D-05BF-49DB-8720-66DC41070A83}"/>
              </a:ext>
            </a:extLst>
          </p:cNvPr>
          <p:cNvSpPr/>
          <p:nvPr/>
        </p:nvSpPr>
        <p:spPr bwMode="auto">
          <a:xfrm>
            <a:off x="3647728" y="2060848"/>
            <a:ext cx="3384376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C0E283-DB50-4C0B-973B-206CC85E6859}"/>
              </a:ext>
            </a:extLst>
          </p:cNvPr>
          <p:cNvSpPr/>
          <p:nvPr/>
        </p:nvSpPr>
        <p:spPr bwMode="auto">
          <a:xfrm>
            <a:off x="3633639" y="2592276"/>
            <a:ext cx="3758505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7E54FD-6993-49E1-951E-A5E6F68997DF}"/>
              </a:ext>
            </a:extLst>
          </p:cNvPr>
          <p:cNvSpPr/>
          <p:nvPr/>
        </p:nvSpPr>
        <p:spPr bwMode="auto">
          <a:xfrm>
            <a:off x="3503712" y="3123704"/>
            <a:ext cx="47525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9E7E82-FBF7-CACD-0706-4AB330C377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290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  <p:bldP spid="2" grpId="0" animBg="1"/>
      <p:bldP spid="6" grpId="0" animBg="1"/>
      <p:bldP spid="7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464" y="1557338"/>
            <a:ext cx="8928224" cy="23034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关于不等式</a:t>
            </a:r>
            <a:r>
              <a:rPr lang="zh-CN" altLang="en-US" sz="2800" dirty="0"/>
              <a:t>　</a:t>
            </a:r>
            <a:r>
              <a:rPr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1" lang="en-US" altLang="zh-CN" sz="2800" b="1" dirty="0">
                <a:solidFill>
                  <a:srgbClr val="FF0000"/>
                </a:solidFill>
                <a:sym typeface="Symbol"/>
              </a:rPr>
              <a:t>  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r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 </a:t>
            </a:r>
            <a:r>
              <a:rPr kumimoji="1" lang="zh-CN" altLang="zh-CN" sz="2800" b="1" dirty="0">
                <a:solidFill>
                  <a:srgbClr val="FF0000"/>
                </a:solidFill>
              </a:rPr>
              <a:t>≤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b</a:t>
            </a:r>
            <a:r>
              <a:rPr kumimoji="1" lang="en-US" altLang="zh-CN" sz="2800" b="1" dirty="0">
                <a:solidFill>
                  <a:srgbClr val="FF0000"/>
                </a:solidFill>
              </a:rPr>
              <a:t>,</a:t>
            </a:r>
            <a:r>
              <a:rPr kumimoji="1" lang="zh-CN" altLang="en-US" sz="2800" dirty="0">
                <a:solidFill>
                  <a:srgbClr val="FF0000"/>
                </a:solidFill>
              </a:rPr>
              <a:t>　</a:t>
            </a:r>
            <a:r>
              <a:rPr kumimoji="1" lang="en-US" altLang="zh-CN" sz="2800" i="1" dirty="0">
                <a:solidFill>
                  <a:srgbClr val="0000FF"/>
                </a:solidFill>
              </a:rPr>
              <a:t>r</a:t>
            </a:r>
            <a:r>
              <a:rPr kumimoji="1" lang="zh-CN" altLang="en-US" sz="2800" i="1" dirty="0">
                <a:solidFill>
                  <a:srgbClr val="0000FF"/>
                </a:solidFill>
              </a:rPr>
              <a:t>、</a:t>
            </a:r>
            <a:r>
              <a:rPr kumimoji="1" lang="en-US" altLang="zh-CN" sz="2800" i="1" dirty="0">
                <a:solidFill>
                  <a:srgbClr val="0000FF"/>
                </a:solidFill>
              </a:rPr>
              <a:t>b</a:t>
            </a:r>
            <a:r>
              <a:rPr kumimoji="1" lang="en-US" altLang="zh-CN" sz="2800" dirty="0">
                <a:solidFill>
                  <a:srgbClr val="0000FF"/>
                </a:solidFill>
                <a:sym typeface="Symbol"/>
              </a:rPr>
              <a:t></a:t>
            </a:r>
            <a:r>
              <a:rPr kumimoji="1" lang="en-US" altLang="zh-CN" sz="2800" dirty="0">
                <a:solidFill>
                  <a:srgbClr val="0000FF"/>
                </a:solidFill>
              </a:rPr>
              <a:t>[0,1]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当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≤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时，方程有无穷多解，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x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= [0,1]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  <a:cs typeface="Arial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当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&gt;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时，方程也有无穷多解，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x 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= [0,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];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引入算子</a:t>
            </a:r>
            <a:r>
              <a:rPr kumimoji="1"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$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，方程的解表示为：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x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=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r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$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rgbClr val="0000FF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　</a:t>
            </a:r>
          </a:p>
        </p:txBody>
      </p:sp>
      <p:graphicFrame>
        <p:nvGraphicFramePr>
          <p:cNvPr id="5427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3094038" y="4221163"/>
          <a:ext cx="4921250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47560" imgH="457200" progId="Equation.3">
                  <p:embed/>
                </p:oleObj>
              </mc:Choice>
              <mc:Fallback>
                <p:oleObj name="公式" r:id="rId2" imgW="1447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38" y="4221163"/>
                        <a:ext cx="4921250" cy="155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ED245FC-97BF-4634-A6FD-C74EC609FA69}"/>
              </a:ext>
            </a:extLst>
          </p:cNvPr>
          <p:cNvSpPr/>
          <p:nvPr/>
        </p:nvSpPr>
        <p:spPr bwMode="auto">
          <a:xfrm>
            <a:off x="3575720" y="2132856"/>
            <a:ext cx="4608512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DAF34A-8966-41B1-9D93-E5B55D2C65D8}"/>
              </a:ext>
            </a:extLst>
          </p:cNvPr>
          <p:cNvSpPr/>
          <p:nvPr/>
        </p:nvSpPr>
        <p:spPr bwMode="auto">
          <a:xfrm>
            <a:off x="3647728" y="2744800"/>
            <a:ext cx="5040560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25DA52-2521-AF5F-A9A5-673D583CD1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87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uiExpand="1" build="p"/>
      <p:bldP spid="5" grpId="0" animBg="1"/>
      <p:bldP spid="6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99456" y="1412876"/>
            <a:ext cx="10153128" cy="54451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线性方程  </a:t>
            </a:r>
            <a:r>
              <a:rPr lang="en-US" altLang="zh-CN" b="1" dirty="0"/>
              <a:t>(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1 </a:t>
            </a:r>
            <a:r>
              <a:rPr lang="en-US" altLang="zh-CN" b="1" dirty="0">
                <a:sym typeface="Symbol"/>
              </a:rPr>
              <a:t>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) </a:t>
            </a:r>
            <a:r>
              <a:rPr lang="en-US" altLang="zh-CN" b="1" dirty="0">
                <a:sym typeface="Symbol"/>
              </a:rPr>
              <a:t></a:t>
            </a:r>
            <a:r>
              <a:rPr lang="en-US" altLang="zh-CN" b="1" dirty="0"/>
              <a:t> (</a:t>
            </a:r>
            <a:r>
              <a:rPr lang="en-US" altLang="zh-CN" b="1" i="1" dirty="0"/>
              <a:t>r</a:t>
            </a:r>
            <a:r>
              <a:rPr lang="en-US" altLang="zh-CN" b="1" baseline="-25000" dirty="0"/>
              <a:t>2</a:t>
            </a:r>
            <a:r>
              <a:rPr lang="en-US" altLang="zh-CN" b="1" dirty="0">
                <a:sym typeface="Symbol"/>
              </a:rPr>
              <a:t> 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) </a:t>
            </a:r>
            <a:r>
              <a:rPr lang="en-US" altLang="zh-CN" b="1" dirty="0">
                <a:sym typeface="Symbol"/>
              </a:rPr>
              <a:t> </a:t>
            </a:r>
            <a:r>
              <a:rPr lang="en-US" altLang="zh-CN" b="1" dirty="0"/>
              <a:t>…</a:t>
            </a:r>
            <a:r>
              <a:rPr lang="en-US" altLang="zh-CN" b="1" dirty="0">
                <a:sym typeface="Symbol"/>
              </a:rPr>
              <a:t>  </a:t>
            </a:r>
            <a:r>
              <a:rPr lang="en-US" altLang="zh-CN" b="1" dirty="0"/>
              <a:t>(</a:t>
            </a:r>
            <a:r>
              <a:rPr lang="en-US" altLang="zh-CN" b="1" i="1" dirty="0" err="1"/>
              <a:t>r</a:t>
            </a:r>
            <a:r>
              <a:rPr lang="en-US" altLang="zh-CN" b="1" i="1" baseline="-25000" dirty="0" err="1"/>
              <a:t>n</a:t>
            </a:r>
            <a:r>
              <a:rPr lang="en-US" altLang="zh-CN" b="1" dirty="0">
                <a:sym typeface="Symbol"/>
              </a:rPr>
              <a:t>  </a:t>
            </a:r>
            <a:r>
              <a:rPr lang="en-US" altLang="zh-CN" b="1" i="1" dirty="0" err="1"/>
              <a:t>x</a:t>
            </a:r>
            <a:r>
              <a:rPr lang="en-US" altLang="zh-CN" b="1" i="1" baseline="-25000" dirty="0" err="1"/>
              <a:t>n</a:t>
            </a:r>
            <a:r>
              <a:rPr lang="en-US" altLang="zh-CN" b="1" dirty="0"/>
              <a:t>) = </a:t>
            </a:r>
            <a:r>
              <a:rPr lang="en-US" altLang="zh-CN" b="1" i="1" dirty="0"/>
              <a:t>b</a:t>
            </a:r>
            <a:endParaRPr lang="en-US" altLang="zh-CN" sz="900" dirty="0"/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等价于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endParaRPr kumimoji="1" lang="zh-CN" altLang="en-US" sz="2400" dirty="0">
              <a:solidFill>
                <a:schemeClr val="bg2"/>
              </a:solidFill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800" dirty="0">
                <a:solidFill>
                  <a:schemeClr val="bg2"/>
                </a:solidFill>
                <a:ea typeface="黑体" pitchFamily="2" charset="-122"/>
              </a:rPr>
              <a:t>它们的解记为：</a:t>
            </a:r>
            <a:r>
              <a:rPr kumimoji="1" lang="en-US" altLang="zh-CN" i="1" dirty="0">
                <a:solidFill>
                  <a:srgbClr val="FF0000"/>
                </a:solidFill>
              </a:rPr>
              <a:t>y </a:t>
            </a:r>
            <a:r>
              <a:rPr kumimoji="1" lang="en-US" altLang="zh-CN" dirty="0">
                <a:solidFill>
                  <a:srgbClr val="FF0000"/>
                </a:solidFill>
              </a:rPr>
              <a:t>= (</a:t>
            </a:r>
            <a:r>
              <a:rPr kumimoji="1" lang="en-US" altLang="zh-CN" i="1" dirty="0">
                <a:solidFill>
                  <a:srgbClr val="FF0000"/>
                </a:solidFill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</a:rPr>
              <a:t>1</a:t>
            </a:r>
            <a:r>
              <a:rPr kumimoji="1" lang="el-GR" altLang="zh-CN" i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kumimoji="1" lang="en-US" altLang="zh-CN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, </a:t>
            </a:r>
            <a:r>
              <a:rPr kumimoji="1" lang="en-US" altLang="zh-CN" i="1" dirty="0">
                <a:solidFill>
                  <a:srgbClr val="FF0000"/>
                </a:solidFill>
              </a:rPr>
              <a:t>r</a:t>
            </a:r>
            <a:r>
              <a:rPr kumimoji="1" lang="en-US" altLang="zh-CN" baseline="-25000" dirty="0">
                <a:solidFill>
                  <a:srgbClr val="FF0000"/>
                </a:solidFill>
              </a:rPr>
              <a:t>2</a:t>
            </a:r>
            <a:r>
              <a:rPr kumimoji="1" lang="el-GR" altLang="zh-CN" i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kumimoji="1" lang="en-US" altLang="zh-CN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,...,  </a:t>
            </a:r>
            <a:r>
              <a:rPr kumimoji="1" lang="en-US" altLang="zh-CN" i="1" dirty="0" err="1">
                <a:solidFill>
                  <a:srgbClr val="FF0000"/>
                </a:solidFill>
              </a:rPr>
              <a:t>r</a:t>
            </a:r>
            <a:r>
              <a:rPr kumimoji="1" lang="en-US" altLang="zh-CN" i="1" baseline="-25000" dirty="0" err="1">
                <a:solidFill>
                  <a:srgbClr val="FF0000"/>
                </a:solidFill>
              </a:rPr>
              <a:t>n</a:t>
            </a:r>
            <a:r>
              <a:rPr kumimoji="1" lang="el-GR" altLang="zh-CN" i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kumimoji="1" lang="en-US" altLang="zh-CN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kumimoji="1" lang="en-US" altLang="zh-CN" dirty="0">
                <a:solidFill>
                  <a:srgbClr val="3333FF"/>
                </a:solidFill>
              </a:rPr>
              <a:t>                       ^</a:t>
            </a:r>
            <a:r>
              <a:rPr kumimoji="1" lang="en-US" altLang="zh-CN" i="1" dirty="0">
                <a:solidFill>
                  <a:srgbClr val="3333FF"/>
                </a:solidFill>
              </a:rPr>
              <a:t>y </a:t>
            </a:r>
            <a:r>
              <a:rPr kumimoji="1" lang="en-US" altLang="zh-CN" dirty="0">
                <a:solidFill>
                  <a:srgbClr val="3333FF"/>
                </a:solidFill>
              </a:rPr>
              <a:t>= (</a:t>
            </a:r>
            <a:r>
              <a:rPr kumimoji="1" lang="en-US" altLang="zh-CN" i="1" dirty="0">
                <a:solidFill>
                  <a:srgbClr val="3333FF"/>
                </a:solidFill>
              </a:rPr>
              <a:t>r</a:t>
            </a:r>
            <a:r>
              <a:rPr kumimoji="1" lang="en-US" altLang="zh-CN" baseline="-25000" dirty="0">
                <a:solidFill>
                  <a:srgbClr val="3333FF"/>
                </a:solidFill>
              </a:rPr>
              <a:t>1</a:t>
            </a:r>
            <a:r>
              <a:rPr kumimoji="1" lang="en-US" altLang="zh-CN" dirty="0">
                <a:solidFill>
                  <a:srgbClr val="3333FF"/>
                </a:solidFill>
              </a:rPr>
              <a:t>$ </a:t>
            </a:r>
            <a:r>
              <a:rPr kumimoji="1" lang="en-US" altLang="zh-CN" i="1" dirty="0">
                <a:solidFill>
                  <a:srgbClr val="3333FF"/>
                </a:solidFill>
              </a:rPr>
              <a:t>b</a:t>
            </a:r>
            <a:r>
              <a:rPr kumimoji="1" lang="en-US" altLang="zh-CN" dirty="0">
                <a:solidFill>
                  <a:srgbClr val="3333FF"/>
                </a:solidFill>
              </a:rPr>
              <a:t>, </a:t>
            </a:r>
            <a:r>
              <a:rPr kumimoji="1" lang="en-US" altLang="zh-CN" i="1" dirty="0">
                <a:solidFill>
                  <a:srgbClr val="3333FF"/>
                </a:solidFill>
              </a:rPr>
              <a:t>r</a:t>
            </a:r>
            <a:r>
              <a:rPr kumimoji="1" lang="en-US" altLang="zh-CN" baseline="-25000" dirty="0">
                <a:solidFill>
                  <a:srgbClr val="3333FF"/>
                </a:solidFill>
              </a:rPr>
              <a:t>2</a:t>
            </a:r>
            <a:r>
              <a:rPr kumimoji="1" lang="en-US" altLang="zh-CN" dirty="0">
                <a:solidFill>
                  <a:srgbClr val="3333FF"/>
                </a:solidFill>
              </a:rPr>
              <a:t>$ </a:t>
            </a:r>
            <a:r>
              <a:rPr kumimoji="1" lang="en-US" altLang="zh-CN" i="1" dirty="0">
                <a:solidFill>
                  <a:srgbClr val="3333FF"/>
                </a:solidFill>
              </a:rPr>
              <a:t>b</a:t>
            </a:r>
            <a:r>
              <a:rPr kumimoji="1" lang="en-US" altLang="zh-CN" dirty="0">
                <a:solidFill>
                  <a:srgbClr val="3333FF"/>
                </a:solidFill>
              </a:rPr>
              <a:t>,…, </a:t>
            </a:r>
            <a:r>
              <a:rPr kumimoji="1" lang="en-US" altLang="zh-CN" i="1" dirty="0" err="1">
                <a:solidFill>
                  <a:srgbClr val="3333FF"/>
                </a:solidFill>
              </a:rPr>
              <a:t>r</a:t>
            </a:r>
            <a:r>
              <a:rPr kumimoji="1" lang="en-US" altLang="zh-CN" i="1" baseline="-25000" dirty="0" err="1">
                <a:solidFill>
                  <a:srgbClr val="3333FF"/>
                </a:solidFill>
              </a:rPr>
              <a:t>n</a:t>
            </a:r>
            <a:r>
              <a:rPr kumimoji="1" lang="en-US" altLang="zh-CN" dirty="0">
                <a:solidFill>
                  <a:srgbClr val="3333FF"/>
                </a:solidFill>
              </a:rPr>
              <a:t>$ </a:t>
            </a:r>
            <a:r>
              <a:rPr kumimoji="1" lang="en-US" altLang="zh-CN" i="1" dirty="0">
                <a:solidFill>
                  <a:srgbClr val="3333FF"/>
                </a:solidFill>
              </a:rPr>
              <a:t>b</a:t>
            </a:r>
            <a:r>
              <a:rPr kumimoji="1" lang="en-US" altLang="zh-CN" dirty="0">
                <a:solidFill>
                  <a:srgbClr val="3333FF"/>
                </a:solidFill>
              </a:rPr>
              <a:t>)</a:t>
            </a:r>
          </a:p>
          <a:p>
            <a:pPr eaLnBrk="1" hangingPunct="1"/>
            <a:r>
              <a:rPr kumimoji="1" lang="zh-CN" altLang="en-US" sz="2800" dirty="0">
                <a:ea typeface="黑体" pitchFamily="2" charset="-122"/>
              </a:rPr>
              <a:t>由推论知，若</a:t>
            </a:r>
            <a:r>
              <a:rPr kumimoji="1" lang="en-US" altLang="zh-CN" sz="2800" i="1" dirty="0">
                <a:solidFill>
                  <a:srgbClr val="FF0000"/>
                </a:solidFill>
                <a:ea typeface="黑体" pitchFamily="2" charset="-122"/>
              </a:rPr>
              <a:t>y</a:t>
            </a:r>
            <a:r>
              <a:rPr kumimoji="1" lang="zh-CN" altLang="en-US" sz="2800" dirty="0">
                <a:ea typeface="黑体" pitchFamily="2" charset="-122"/>
              </a:rPr>
              <a:t>的第</a:t>
            </a:r>
            <a:r>
              <a:rPr kumimoji="1" lang="en-US" altLang="zh-CN" sz="2800" i="1" dirty="0" err="1">
                <a:ea typeface="黑体" pitchFamily="2" charset="-122"/>
              </a:rPr>
              <a:t>i</a:t>
            </a:r>
            <a:r>
              <a:rPr kumimoji="1" lang="zh-CN" altLang="en-US" sz="2800" dirty="0">
                <a:ea typeface="黑体" pitchFamily="2" charset="-122"/>
              </a:rPr>
              <a:t>分量非空，则将</a:t>
            </a:r>
            <a:r>
              <a:rPr kumimoji="1" lang="en-US" altLang="zh-CN" sz="2800" dirty="0">
                <a:solidFill>
                  <a:srgbClr val="3333FF"/>
                </a:solidFill>
                <a:ea typeface="黑体" pitchFamily="2" charset="-122"/>
              </a:rPr>
              <a:t>^</a:t>
            </a:r>
            <a:r>
              <a:rPr kumimoji="1" lang="en-US" altLang="zh-CN" sz="2800" i="1" dirty="0">
                <a:solidFill>
                  <a:srgbClr val="3333FF"/>
                </a:solidFill>
                <a:ea typeface="黑体" pitchFamily="2" charset="-122"/>
              </a:rPr>
              <a:t>y</a:t>
            </a:r>
            <a:r>
              <a:rPr kumimoji="1" lang="zh-CN" altLang="en-US" sz="2800" dirty="0">
                <a:ea typeface="黑体" pitchFamily="2" charset="-122"/>
              </a:rPr>
              <a:t>的第</a:t>
            </a:r>
            <a:r>
              <a:rPr kumimoji="1" lang="en-US" altLang="zh-CN" sz="2800" i="1" dirty="0" err="1">
                <a:ea typeface="黑体" pitchFamily="2" charset="-122"/>
              </a:rPr>
              <a:t>i</a:t>
            </a:r>
            <a:r>
              <a:rPr kumimoji="1" lang="zh-CN" altLang="en-US" sz="2800" dirty="0">
                <a:ea typeface="黑体" pitchFamily="2" charset="-122"/>
              </a:rPr>
              <a:t>个分量换成</a:t>
            </a:r>
            <a:r>
              <a:rPr kumimoji="1" lang="en-US" altLang="zh-CN" sz="2800" dirty="0">
                <a:solidFill>
                  <a:srgbClr val="FF0000"/>
                </a:solidFill>
                <a:ea typeface="黑体" pitchFamily="2" charset="-122"/>
              </a:rPr>
              <a:t>y</a:t>
            </a:r>
            <a:r>
              <a:rPr kumimoji="1" lang="zh-CN" altLang="en-US" sz="2800" dirty="0">
                <a:ea typeface="黑体" pitchFamily="2" charset="-122"/>
              </a:rPr>
              <a:t>的第</a:t>
            </a:r>
            <a:r>
              <a:rPr kumimoji="1" lang="en-US" altLang="zh-CN" sz="2800" dirty="0" err="1">
                <a:ea typeface="黑体" pitchFamily="2" charset="-122"/>
              </a:rPr>
              <a:t>i</a:t>
            </a:r>
            <a:r>
              <a:rPr kumimoji="1" lang="zh-CN" altLang="en-US" sz="2800" dirty="0">
                <a:ea typeface="黑体" pitchFamily="2" charset="-122"/>
              </a:rPr>
              <a:t>个分量，便得到</a:t>
            </a:r>
            <a:r>
              <a:rPr kumimoji="1" lang="en-US" altLang="zh-CN" sz="2800" dirty="0">
                <a:ea typeface="黑体" pitchFamily="2" charset="-122"/>
              </a:rPr>
              <a:t>F</a:t>
            </a:r>
            <a:r>
              <a:rPr kumimoji="1" lang="zh-CN" altLang="en-US" sz="2800" dirty="0">
                <a:ea typeface="黑体" pitchFamily="2" charset="-122"/>
              </a:rPr>
              <a:t>线性方程的一个解向量</a:t>
            </a:r>
            <a:r>
              <a:rPr kumimoji="1" lang="en-US" altLang="zh-CN" sz="2800" i="1" dirty="0" err="1">
                <a:ea typeface="黑体" pitchFamily="2" charset="-122"/>
              </a:rPr>
              <a:t>w</a:t>
            </a:r>
            <a:r>
              <a:rPr kumimoji="1" lang="en-US" altLang="zh-CN" sz="2800" i="1" baseline="-25000" dirty="0" err="1">
                <a:ea typeface="黑体" pitchFamily="2" charset="-122"/>
              </a:rPr>
              <a:t>i</a:t>
            </a:r>
            <a:r>
              <a:rPr kumimoji="1" lang="en-US" altLang="zh-CN" sz="2800" dirty="0">
                <a:ea typeface="黑体" pitchFamily="2" charset="-122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kumimoji="1" lang="en-US" altLang="zh-CN" sz="2800" dirty="0"/>
              <a:t>    </a:t>
            </a:r>
            <a:r>
              <a:rPr kumimoji="1" lang="en-US" altLang="zh-CN" sz="2800" i="1" dirty="0" err="1">
                <a:solidFill>
                  <a:srgbClr val="008000"/>
                </a:solidFill>
              </a:rPr>
              <a:t>w</a:t>
            </a:r>
            <a:r>
              <a:rPr kumimoji="1" lang="en-US" altLang="zh-CN" sz="2800" i="1" baseline="-25000" dirty="0" err="1">
                <a:solidFill>
                  <a:srgbClr val="008000"/>
                </a:solidFill>
                <a:ea typeface="黑体" pitchFamily="2" charset="-122"/>
              </a:rPr>
              <a:t>i</a:t>
            </a:r>
            <a:r>
              <a:rPr kumimoji="1" lang="en-US" altLang="zh-CN" sz="2800" i="1" baseline="-25000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en-US" altLang="zh-CN" sz="2800" dirty="0">
                <a:solidFill>
                  <a:schemeClr val="bg2"/>
                </a:solidFill>
              </a:rPr>
              <a:t>= (</a:t>
            </a:r>
            <a:r>
              <a:rPr kumimoji="1" lang="en-US" altLang="zh-CN" i="1" dirty="0">
                <a:solidFill>
                  <a:srgbClr val="0000FF"/>
                </a:solidFill>
              </a:rPr>
              <a:t>r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1</a:t>
            </a:r>
            <a:r>
              <a:rPr kumimoji="1" lang="en-US" altLang="zh-CN" dirty="0">
                <a:solidFill>
                  <a:srgbClr val="0000FF"/>
                </a:solidFill>
              </a:rPr>
              <a:t>$ </a:t>
            </a:r>
            <a:r>
              <a:rPr kumimoji="1" lang="en-US" altLang="zh-CN" i="1" dirty="0">
                <a:solidFill>
                  <a:srgbClr val="0000FF"/>
                </a:solidFill>
              </a:rPr>
              <a:t>b</a:t>
            </a:r>
            <a:r>
              <a:rPr kumimoji="1" lang="en-US" altLang="zh-CN" dirty="0">
                <a:solidFill>
                  <a:srgbClr val="0000FF"/>
                </a:solidFill>
              </a:rPr>
              <a:t>, </a:t>
            </a:r>
            <a:r>
              <a:rPr kumimoji="1" lang="en-US" altLang="zh-CN" i="1" dirty="0">
                <a:solidFill>
                  <a:srgbClr val="0000FF"/>
                </a:solidFill>
              </a:rPr>
              <a:t>r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2</a:t>
            </a:r>
            <a:r>
              <a:rPr kumimoji="1" lang="en-US" altLang="zh-CN" dirty="0">
                <a:solidFill>
                  <a:srgbClr val="0000FF"/>
                </a:solidFill>
              </a:rPr>
              <a:t>$ </a:t>
            </a:r>
            <a:r>
              <a:rPr kumimoji="1" lang="en-US" altLang="zh-CN" i="1" dirty="0">
                <a:solidFill>
                  <a:srgbClr val="0000FF"/>
                </a:solidFill>
              </a:rPr>
              <a:t>b</a:t>
            </a:r>
            <a:r>
              <a:rPr kumimoji="1" lang="en-US" altLang="zh-CN" dirty="0">
                <a:solidFill>
                  <a:srgbClr val="0000FF"/>
                </a:solidFill>
              </a:rPr>
              <a:t>,…, </a:t>
            </a:r>
            <a:r>
              <a:rPr kumimoji="1" lang="en-US" altLang="zh-CN" i="1" dirty="0">
                <a:solidFill>
                  <a:srgbClr val="0000FF"/>
                </a:solidFill>
              </a:rPr>
              <a:t>r</a:t>
            </a:r>
            <a:r>
              <a:rPr kumimoji="1" lang="en-US" altLang="zh-CN" i="1" baseline="-25000" dirty="0">
                <a:solidFill>
                  <a:srgbClr val="0000FF"/>
                </a:solidFill>
              </a:rPr>
              <a:t>i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-1</a:t>
            </a:r>
            <a:r>
              <a:rPr kumimoji="1" lang="en-US" altLang="zh-CN" dirty="0">
                <a:solidFill>
                  <a:srgbClr val="0000FF"/>
                </a:solidFill>
              </a:rPr>
              <a:t>$ </a:t>
            </a:r>
            <a:r>
              <a:rPr kumimoji="1" lang="en-US" altLang="zh-CN" i="1" dirty="0">
                <a:solidFill>
                  <a:srgbClr val="0000FF"/>
                </a:solidFill>
              </a:rPr>
              <a:t>b</a:t>
            </a:r>
            <a:r>
              <a:rPr kumimoji="1" lang="en-US" altLang="zh-CN" dirty="0">
                <a:solidFill>
                  <a:srgbClr val="0000FF"/>
                </a:solidFill>
              </a:rPr>
              <a:t>,</a:t>
            </a:r>
            <a:r>
              <a:rPr kumimoji="1" lang="en-US" altLang="zh-CN" dirty="0">
                <a:solidFill>
                  <a:schemeClr val="bg2"/>
                </a:solidFill>
              </a:rPr>
              <a:t> </a:t>
            </a:r>
            <a:r>
              <a:rPr kumimoji="1" lang="en-US" altLang="zh-CN" i="1" dirty="0" err="1">
                <a:solidFill>
                  <a:srgbClr val="FF0000"/>
                </a:solidFill>
              </a:rPr>
              <a:t>r</a:t>
            </a:r>
            <a:r>
              <a:rPr kumimoji="1" lang="en-US" altLang="zh-CN" i="1" baseline="-25000" dirty="0" err="1">
                <a:solidFill>
                  <a:srgbClr val="FF0000"/>
                </a:solidFill>
              </a:rPr>
              <a:t>i</a:t>
            </a:r>
            <a:r>
              <a:rPr kumimoji="1" lang="el-GR" altLang="zh-CN" i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kumimoji="1" lang="en-US" altLang="zh-CN" i="1" dirty="0">
                <a:solidFill>
                  <a:srgbClr val="FF0000"/>
                </a:solidFill>
                <a:cs typeface="Arial" charset="0"/>
              </a:rPr>
              <a:t> </a:t>
            </a:r>
            <a:r>
              <a:rPr kumimoji="1" lang="en-US" altLang="zh-CN" i="1" dirty="0">
                <a:solidFill>
                  <a:srgbClr val="FF0000"/>
                </a:solidFill>
              </a:rPr>
              <a:t>b</a:t>
            </a:r>
            <a:r>
              <a:rPr kumimoji="1" lang="en-US" altLang="zh-CN" dirty="0">
                <a:solidFill>
                  <a:schemeClr val="bg2"/>
                </a:solidFill>
              </a:rPr>
              <a:t>, </a:t>
            </a:r>
            <a:r>
              <a:rPr kumimoji="1" lang="en-US" altLang="zh-CN" i="1" dirty="0">
                <a:solidFill>
                  <a:srgbClr val="0000FF"/>
                </a:solidFill>
              </a:rPr>
              <a:t>r</a:t>
            </a:r>
            <a:r>
              <a:rPr kumimoji="1" lang="en-US" altLang="zh-CN" i="1" baseline="-25000" dirty="0">
                <a:solidFill>
                  <a:srgbClr val="0000FF"/>
                </a:solidFill>
              </a:rPr>
              <a:t>i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+1</a:t>
            </a:r>
            <a:r>
              <a:rPr kumimoji="1" lang="en-US" altLang="zh-CN" dirty="0">
                <a:solidFill>
                  <a:srgbClr val="0000FF"/>
                </a:solidFill>
              </a:rPr>
              <a:t>$ </a:t>
            </a:r>
            <a:r>
              <a:rPr kumimoji="1" lang="en-US" altLang="zh-CN" i="1" dirty="0">
                <a:solidFill>
                  <a:srgbClr val="0000FF"/>
                </a:solidFill>
              </a:rPr>
              <a:t>b</a:t>
            </a:r>
            <a:r>
              <a:rPr kumimoji="1" lang="en-US" altLang="zh-CN" dirty="0">
                <a:solidFill>
                  <a:srgbClr val="0000FF"/>
                </a:solidFill>
              </a:rPr>
              <a:t>,…, </a:t>
            </a:r>
            <a:r>
              <a:rPr kumimoji="1" lang="en-US" altLang="zh-CN" i="1" dirty="0" err="1">
                <a:solidFill>
                  <a:srgbClr val="0000FF"/>
                </a:solidFill>
              </a:rPr>
              <a:t>r</a:t>
            </a:r>
            <a:r>
              <a:rPr kumimoji="1" lang="en-US" altLang="zh-CN" i="1" baseline="-25000" dirty="0" err="1">
                <a:solidFill>
                  <a:srgbClr val="0000FF"/>
                </a:solidFill>
              </a:rPr>
              <a:t>n</a:t>
            </a:r>
            <a:r>
              <a:rPr kumimoji="1" lang="en-US" altLang="zh-CN" dirty="0">
                <a:solidFill>
                  <a:srgbClr val="0000FF"/>
                </a:solidFill>
              </a:rPr>
              <a:t>$ </a:t>
            </a:r>
            <a:r>
              <a:rPr kumimoji="1" lang="en-US" altLang="zh-CN" i="1" dirty="0">
                <a:solidFill>
                  <a:srgbClr val="0000FF"/>
                </a:solidFill>
              </a:rPr>
              <a:t>b</a:t>
            </a:r>
            <a:r>
              <a:rPr kumimoji="1" lang="en-US" altLang="zh-CN" dirty="0">
                <a:solidFill>
                  <a:schemeClr val="bg2"/>
                </a:solidFill>
              </a:rPr>
              <a:t>)</a:t>
            </a:r>
          </a:p>
          <a:p>
            <a:pPr eaLnBrk="1" hangingPunct="1"/>
            <a:r>
              <a:rPr kumimoji="1" lang="en-US" altLang="zh-CN" b="1" dirty="0">
                <a:solidFill>
                  <a:srgbClr val="008000"/>
                </a:solidFill>
                <a:ea typeface="楷体_GB2312" pitchFamily="49" charset="-122"/>
              </a:rPr>
              <a:t>F</a:t>
            </a:r>
            <a:r>
              <a:rPr kumimoji="1" lang="zh-CN" altLang="en-US" b="1" dirty="0">
                <a:solidFill>
                  <a:srgbClr val="008000"/>
                </a:solidFill>
                <a:ea typeface="楷体_GB2312" pitchFamily="49" charset="-122"/>
              </a:rPr>
              <a:t>线性方程的解集合为</a:t>
            </a:r>
            <a:r>
              <a:rPr kumimoji="1" lang="zh-CN" altLang="en-US" dirty="0">
                <a:solidFill>
                  <a:srgbClr val="008000"/>
                </a:solidFill>
                <a:ea typeface="黑体" pitchFamily="2" charset="-122"/>
              </a:rPr>
              <a:t>　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x </a:t>
            </a:r>
            <a:r>
              <a:rPr kumimoji="1" lang="en-US" altLang="zh-CN" dirty="0">
                <a:solidFill>
                  <a:srgbClr val="008000"/>
                </a:solidFill>
                <a:ea typeface="黑体" pitchFamily="2" charset="-122"/>
              </a:rPr>
              <a:t>= 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w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1</a:t>
            </a:r>
            <a:r>
              <a:rPr kumimoji="1" lang="en-US" altLang="zh-CN" sz="3600" dirty="0">
                <a:solidFill>
                  <a:srgbClr val="008000"/>
                </a:solidFill>
                <a:ea typeface="黑体" pitchFamily="2" charset="-122"/>
                <a:sym typeface="Symbol"/>
              </a:rPr>
              <a:t></a:t>
            </a:r>
            <a:r>
              <a:rPr kumimoji="1" lang="en-US" altLang="zh-CN" i="1" dirty="0">
                <a:solidFill>
                  <a:srgbClr val="008000"/>
                </a:solidFill>
                <a:ea typeface="黑体" pitchFamily="2" charset="-122"/>
              </a:rPr>
              <a:t>w</a:t>
            </a:r>
            <a:r>
              <a:rPr kumimoji="1" lang="en-US" altLang="zh-CN" baseline="-25000" dirty="0">
                <a:solidFill>
                  <a:srgbClr val="008000"/>
                </a:solidFill>
                <a:ea typeface="黑体" pitchFamily="2" charset="-122"/>
              </a:rPr>
              <a:t>2</a:t>
            </a:r>
            <a:r>
              <a:rPr kumimoji="1" lang="en-US" altLang="zh-CN" sz="3600" dirty="0">
                <a:solidFill>
                  <a:srgbClr val="008000"/>
                </a:solidFill>
                <a:ea typeface="黑体" pitchFamily="2" charset="-122"/>
                <a:sym typeface="Symbol"/>
              </a:rPr>
              <a:t>  </a:t>
            </a:r>
            <a:r>
              <a:rPr kumimoji="1" lang="en-US" altLang="zh-CN" sz="3600" dirty="0">
                <a:solidFill>
                  <a:srgbClr val="008000"/>
                </a:solidFill>
                <a:ea typeface="黑体" pitchFamily="2" charset="-122"/>
              </a:rPr>
              <a:t>…</a:t>
            </a:r>
            <a:r>
              <a:rPr kumimoji="1" lang="en-US" altLang="zh-CN" sz="3600" dirty="0">
                <a:solidFill>
                  <a:srgbClr val="008000"/>
                </a:solidFill>
                <a:ea typeface="黑体" pitchFamily="2" charset="-122"/>
                <a:sym typeface="Symbol"/>
              </a:rPr>
              <a:t>  </a:t>
            </a:r>
            <a:r>
              <a:rPr kumimoji="1" lang="en-US" altLang="zh-CN" i="1" dirty="0" err="1">
                <a:solidFill>
                  <a:srgbClr val="008000"/>
                </a:solidFill>
                <a:ea typeface="黑体" pitchFamily="2" charset="-122"/>
              </a:rPr>
              <a:t>w</a:t>
            </a:r>
            <a:r>
              <a:rPr kumimoji="1" lang="en-US" altLang="zh-CN" i="1" baseline="-25000" dirty="0" err="1">
                <a:solidFill>
                  <a:srgbClr val="008000"/>
                </a:solidFill>
                <a:ea typeface="黑体" pitchFamily="2" charset="-122"/>
              </a:rPr>
              <a:t>n</a:t>
            </a:r>
            <a:endParaRPr kumimoji="1" lang="en-US" altLang="zh-CN" i="1" baseline="-25000" dirty="0">
              <a:solidFill>
                <a:srgbClr val="008000"/>
              </a:solidFill>
              <a:ea typeface="黑体" pitchFamily="2" charset="-122"/>
            </a:endParaRPr>
          </a:p>
        </p:txBody>
      </p:sp>
      <p:graphicFrame>
        <p:nvGraphicFramePr>
          <p:cNvPr id="5530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37016854"/>
              </p:ext>
            </p:extLst>
          </p:nvPr>
        </p:nvGraphicFramePr>
        <p:xfrm>
          <a:off x="3792538" y="1988841"/>
          <a:ext cx="403860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63560" imgH="482400" progId="Equation.3">
                  <p:embed/>
                </p:oleObj>
              </mc:Choice>
              <mc:Fallback>
                <p:oleObj name="公式" r:id="rId2" imgW="1663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1988841"/>
                        <a:ext cx="403860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8AFF67-4276-3109-8DB5-80C882B62E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14D0C4-B0EC-4578-B6E4-F9BC91400248}" type="slidenum">
              <a:rPr lang="en-US" altLang="zh-CN" smtClean="0"/>
              <a:pPr>
                <a:defRPr/>
              </a:pPr>
              <a:t>91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57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1715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关系方程法举例</a:t>
            </a:r>
            <a:r>
              <a:rPr lang="en-US" altLang="zh-CN" sz="3600"/>
              <a:t>[P103</a:t>
            </a:r>
            <a:r>
              <a:rPr lang="zh-CN" altLang="en-US" sz="3600"/>
              <a:t>例</a:t>
            </a:r>
            <a:r>
              <a:rPr lang="en-US" altLang="zh-CN" sz="3600"/>
              <a:t>1]</a:t>
            </a:r>
            <a:r>
              <a:rPr lang="en-US" altLang="zh-CN"/>
              <a:t> 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28775"/>
            <a:ext cx="9298807" cy="4895850"/>
          </a:xfrm>
        </p:spPr>
        <p:txBody>
          <a:bodyPr/>
          <a:lstStyle/>
          <a:p>
            <a:pPr eaLnBrk="1" hangingPunct="1"/>
            <a:r>
              <a:rPr lang="zh-CN" altLang="en-US" b="1" dirty="0"/>
              <a:t>求解：</a:t>
            </a:r>
            <a:r>
              <a:rPr lang="en-US" altLang="zh-CN" b="1" dirty="0"/>
              <a:t>(0.7</a:t>
            </a:r>
            <a:r>
              <a:rPr lang="en-US" altLang="zh-CN" b="1" dirty="0">
                <a:sym typeface="Symbol"/>
              </a:rPr>
              <a:t>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)</a:t>
            </a:r>
            <a:r>
              <a:rPr lang="en-US" altLang="zh-CN" b="1" dirty="0">
                <a:sym typeface="Symbol"/>
              </a:rPr>
              <a:t></a:t>
            </a:r>
            <a:r>
              <a:rPr lang="en-US" altLang="zh-CN" b="1" dirty="0"/>
              <a:t> (0.5</a:t>
            </a:r>
            <a:r>
              <a:rPr lang="en-US" altLang="zh-CN" b="1" dirty="0">
                <a:sym typeface="Symbol"/>
              </a:rPr>
              <a:t> 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)</a:t>
            </a:r>
            <a:r>
              <a:rPr lang="en-US" altLang="zh-CN" b="1" dirty="0">
                <a:sym typeface="Symbol"/>
              </a:rPr>
              <a:t>  </a:t>
            </a:r>
            <a:r>
              <a:rPr lang="en-US" altLang="zh-CN" b="1" dirty="0"/>
              <a:t>(0.3</a:t>
            </a:r>
            <a:r>
              <a:rPr lang="en-US" altLang="zh-CN" b="1" dirty="0">
                <a:sym typeface="Symbol"/>
              </a:rPr>
              <a:t>  </a:t>
            </a:r>
            <a:r>
              <a:rPr lang="en-US" altLang="zh-CN" b="1" i="1" dirty="0"/>
              <a:t>x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)=0.5</a:t>
            </a:r>
          </a:p>
          <a:p>
            <a:pPr eaLnBrk="1" hangingPunct="1"/>
            <a:r>
              <a:rPr lang="zh-CN" altLang="en-US" dirty="0"/>
              <a:t>解：</a:t>
            </a:r>
          </a:p>
          <a:p>
            <a:pPr lvl="1" eaLnBrk="1" hangingPunct="1"/>
            <a:r>
              <a:rPr lang="en-US" altLang="zh-CN" i="1" dirty="0"/>
              <a:t>y</a:t>
            </a:r>
            <a:r>
              <a:rPr lang="en-US" altLang="zh-CN" dirty="0"/>
              <a:t> = (0.7</a:t>
            </a:r>
            <a:r>
              <a:rPr kumimoji="1" lang="el-GR" altLang="zh-CN" dirty="0">
                <a:cs typeface="Arial" charset="0"/>
              </a:rPr>
              <a:t>ε</a:t>
            </a:r>
            <a:r>
              <a:rPr kumimoji="1" lang="en-US" altLang="zh-CN" dirty="0">
                <a:cs typeface="Arial" charset="0"/>
              </a:rPr>
              <a:t>0.5, </a:t>
            </a:r>
            <a:r>
              <a:rPr lang="en-US" altLang="zh-CN" dirty="0"/>
              <a:t>0.5</a:t>
            </a:r>
            <a:r>
              <a:rPr kumimoji="1" lang="el-GR" altLang="zh-CN" dirty="0">
                <a:cs typeface="Arial" charset="0"/>
              </a:rPr>
              <a:t>ε</a:t>
            </a:r>
            <a:r>
              <a:rPr kumimoji="1" lang="en-US" altLang="zh-CN" dirty="0">
                <a:cs typeface="Arial" charset="0"/>
              </a:rPr>
              <a:t>0.5, </a:t>
            </a:r>
            <a:r>
              <a:rPr lang="en-US" altLang="zh-CN" dirty="0"/>
              <a:t>0.3</a:t>
            </a:r>
            <a:r>
              <a:rPr kumimoji="1" lang="el-GR" altLang="zh-CN" dirty="0">
                <a:cs typeface="Arial" charset="0"/>
              </a:rPr>
              <a:t>ε</a:t>
            </a:r>
            <a:r>
              <a:rPr kumimoji="1" lang="en-US" altLang="zh-CN" dirty="0">
                <a:cs typeface="Arial" charset="0"/>
              </a:rPr>
              <a:t>0.5</a:t>
            </a:r>
            <a:r>
              <a:rPr lang="en-US" altLang="zh-CN" dirty="0"/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      = (</a:t>
            </a:r>
            <a:r>
              <a:rPr lang="en-US" altLang="zh-CN" dirty="0">
                <a:solidFill>
                  <a:srgbClr val="FF0000"/>
                </a:solidFill>
              </a:rPr>
              <a:t>0.5, [0.5, 1],</a:t>
            </a:r>
            <a:r>
              <a:rPr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  <a:ea typeface="楷体_GB2312" pitchFamily="49" charset="-122"/>
                <a:cs typeface="Arial" charset="0"/>
              </a:rPr>
              <a:t>Ø</a:t>
            </a:r>
            <a:r>
              <a:rPr lang="en-US" altLang="zh-CN" dirty="0">
                <a:cs typeface="Arial" charset="0"/>
              </a:rPr>
              <a:t>)</a:t>
            </a:r>
          </a:p>
          <a:p>
            <a:pPr lvl="1" eaLnBrk="1" hangingPunct="1"/>
            <a:r>
              <a:rPr lang="en-US" altLang="zh-CN" dirty="0">
                <a:cs typeface="Arial" charset="0"/>
              </a:rPr>
              <a:t>^</a:t>
            </a:r>
            <a:r>
              <a:rPr lang="en-US" altLang="zh-CN" i="1" dirty="0">
                <a:cs typeface="Arial" charset="0"/>
              </a:rPr>
              <a:t>y</a:t>
            </a:r>
            <a:r>
              <a:rPr lang="en-US" altLang="zh-CN" dirty="0">
                <a:cs typeface="Arial" charset="0"/>
              </a:rPr>
              <a:t>=(0.7 $ </a:t>
            </a:r>
            <a:r>
              <a:rPr kumimoji="1" lang="en-US" altLang="zh-CN" dirty="0">
                <a:cs typeface="Arial" charset="0"/>
              </a:rPr>
              <a:t>0.5, </a:t>
            </a:r>
            <a:r>
              <a:rPr lang="en-US" altLang="zh-CN" dirty="0">
                <a:cs typeface="Arial" charset="0"/>
              </a:rPr>
              <a:t>0.5 </a:t>
            </a:r>
            <a:r>
              <a:rPr kumimoji="1" lang="en-US" altLang="zh-CN" dirty="0">
                <a:cs typeface="Arial" charset="0"/>
              </a:rPr>
              <a:t>$ 0.5, </a:t>
            </a:r>
            <a:r>
              <a:rPr lang="en-US" altLang="zh-CN" dirty="0">
                <a:cs typeface="Arial" charset="0"/>
              </a:rPr>
              <a:t>0.3 </a:t>
            </a:r>
            <a:r>
              <a:rPr kumimoji="1" lang="en-US" altLang="zh-CN" dirty="0">
                <a:cs typeface="Arial" charset="0"/>
              </a:rPr>
              <a:t>$ 0.5</a:t>
            </a:r>
            <a:r>
              <a:rPr lang="en-US" altLang="zh-CN" dirty="0">
                <a:cs typeface="Arial" charset="0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cs typeface="Arial" charset="0"/>
              </a:rPr>
              <a:t>       =(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[0, 0.5], [0, 1], [0, 1])</a:t>
            </a:r>
          </a:p>
          <a:p>
            <a:pPr lvl="1" eaLnBrk="1" hangingPunct="1"/>
            <a:r>
              <a:rPr lang="en-US" altLang="zh-CN" dirty="0">
                <a:cs typeface="Arial" charset="0"/>
              </a:rPr>
              <a:t>w</a:t>
            </a:r>
            <a:r>
              <a:rPr lang="en-US" altLang="zh-CN" baseline="-25000" dirty="0">
                <a:cs typeface="Arial" charset="0"/>
              </a:rPr>
              <a:t>1 </a:t>
            </a:r>
            <a:r>
              <a:rPr lang="en-US" altLang="zh-CN" dirty="0">
                <a:cs typeface="Arial" charset="0"/>
              </a:rPr>
              <a:t>=(</a:t>
            </a:r>
            <a:r>
              <a:rPr lang="en-US" altLang="zh-CN" dirty="0">
                <a:solidFill>
                  <a:srgbClr val="FF0000"/>
                </a:solidFill>
                <a:cs typeface="Arial" charset="0"/>
              </a:rPr>
              <a:t>0.5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, [0, 1], [0, 1])</a:t>
            </a:r>
          </a:p>
          <a:p>
            <a:pPr lvl="1" eaLnBrk="1" hangingPunct="1"/>
            <a:r>
              <a:rPr lang="en-US" altLang="zh-CN" dirty="0">
                <a:cs typeface="Arial" charset="0"/>
              </a:rPr>
              <a:t>w</a:t>
            </a:r>
            <a:r>
              <a:rPr lang="en-US" altLang="zh-CN" baseline="-25000" dirty="0">
                <a:cs typeface="Arial" charset="0"/>
              </a:rPr>
              <a:t>2 </a:t>
            </a:r>
            <a:r>
              <a:rPr lang="en-US" altLang="zh-CN" dirty="0">
                <a:cs typeface="Arial" charset="0"/>
              </a:rPr>
              <a:t>=(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[0, 0.5], </a:t>
            </a:r>
            <a:r>
              <a:rPr lang="en-US" altLang="zh-CN" dirty="0">
                <a:solidFill>
                  <a:srgbClr val="FF0000"/>
                </a:solidFill>
                <a:cs typeface="Arial" charset="0"/>
              </a:rPr>
              <a:t>[0.5, 1],</a:t>
            </a:r>
            <a:r>
              <a:rPr lang="en-US" altLang="zh-CN" dirty="0">
                <a:cs typeface="Arial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[0, 1])</a:t>
            </a:r>
          </a:p>
          <a:p>
            <a:pPr lvl="1" eaLnBrk="1" hangingPunct="1"/>
            <a:r>
              <a:rPr lang="en-US" altLang="zh-CN" dirty="0">
                <a:cs typeface="Arial" charset="0"/>
              </a:rPr>
              <a:t>w</a:t>
            </a:r>
            <a:r>
              <a:rPr lang="en-US" altLang="zh-CN" baseline="-25000" dirty="0">
                <a:cs typeface="Arial" charset="0"/>
              </a:rPr>
              <a:t>3</a:t>
            </a:r>
            <a:r>
              <a:rPr lang="en-US" altLang="zh-CN" dirty="0">
                <a:cs typeface="Arial" charset="0"/>
              </a:rPr>
              <a:t> =(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[0, 0.5], [0, 1], </a:t>
            </a:r>
            <a:r>
              <a:rPr kumimoji="1" lang="en-US" altLang="zh-CN" dirty="0">
                <a:solidFill>
                  <a:srgbClr val="FF0000"/>
                </a:solidFill>
                <a:ea typeface="楷体_GB2312" pitchFamily="49" charset="-122"/>
              </a:rPr>
              <a:t>Ø</a:t>
            </a:r>
            <a:r>
              <a:rPr lang="en-US" altLang="zh-CN" dirty="0">
                <a:solidFill>
                  <a:srgbClr val="0000FF"/>
                </a:solidFill>
                <a:cs typeface="Arial" charset="0"/>
              </a:rPr>
              <a:t>)= </a:t>
            </a:r>
            <a:r>
              <a:rPr kumimoji="1" lang="en-US" altLang="zh-CN" dirty="0">
                <a:solidFill>
                  <a:srgbClr val="FF0000"/>
                </a:solidFill>
                <a:ea typeface="楷体_GB2312" pitchFamily="49" charset="-122"/>
              </a:rPr>
              <a:t>Ø</a:t>
            </a:r>
            <a:endParaRPr lang="en-US" altLang="zh-CN" dirty="0">
              <a:solidFill>
                <a:srgbClr val="0000FF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BCE8AD8-0EDD-AF73-B523-2E7B531A2632}"/>
              </a:ext>
            </a:extLst>
          </p:cNvPr>
          <p:cNvGrpSpPr/>
          <p:nvPr/>
        </p:nvGrpSpPr>
        <p:grpSpPr>
          <a:xfrm>
            <a:off x="6528048" y="5013176"/>
            <a:ext cx="2546475" cy="1387624"/>
            <a:chOff x="5724128" y="5013176"/>
            <a:chExt cx="2546475" cy="1387624"/>
          </a:xfrm>
        </p:grpSpPr>
        <p:sp>
          <p:nvSpPr>
            <p:cNvPr id="2" name="矩形 1"/>
            <p:cNvSpPr/>
            <p:nvPr/>
          </p:nvSpPr>
          <p:spPr>
            <a:xfrm>
              <a:off x="6018063" y="5321288"/>
              <a:ext cx="2252540" cy="62799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kumimoji="1" lang="en-US" altLang="zh-CN" sz="3200" b="1" i="1" dirty="0">
                  <a:solidFill>
                    <a:srgbClr val="008000"/>
                  </a:solidFill>
                  <a:ea typeface="黑体" pitchFamily="2" charset="-122"/>
                </a:rPr>
                <a:t>x </a:t>
              </a:r>
              <a:r>
                <a:rPr kumimoji="1" lang="en-US" altLang="zh-CN" sz="3200" b="1" dirty="0">
                  <a:solidFill>
                    <a:srgbClr val="008000"/>
                  </a:solidFill>
                  <a:ea typeface="黑体" pitchFamily="2" charset="-122"/>
                </a:rPr>
                <a:t>= </a:t>
              </a:r>
              <a:r>
                <a:rPr kumimoji="1" lang="en-US" altLang="zh-CN" sz="3200" b="1" i="1" dirty="0">
                  <a:solidFill>
                    <a:srgbClr val="008000"/>
                  </a:solidFill>
                  <a:ea typeface="黑体" pitchFamily="2" charset="-122"/>
                </a:rPr>
                <a:t>w</a:t>
              </a:r>
              <a:r>
                <a:rPr kumimoji="1" lang="en-US" altLang="zh-CN" sz="3200" b="1" baseline="-25000" dirty="0">
                  <a:solidFill>
                    <a:srgbClr val="008000"/>
                  </a:solidFill>
                  <a:ea typeface="黑体" pitchFamily="2" charset="-122"/>
                </a:rPr>
                <a:t>1</a:t>
              </a:r>
              <a:r>
                <a:rPr kumimoji="1" lang="en-US" altLang="zh-CN" sz="3200" b="1" dirty="0">
                  <a:solidFill>
                    <a:srgbClr val="008000"/>
                  </a:solidFill>
                  <a:ea typeface="黑体" pitchFamily="2" charset="-122"/>
                  <a:sym typeface="Symbol"/>
                </a:rPr>
                <a:t></a:t>
              </a:r>
              <a:r>
                <a:rPr kumimoji="1" lang="en-US" altLang="zh-CN" sz="3200" b="1" i="1" dirty="0">
                  <a:solidFill>
                    <a:srgbClr val="008000"/>
                  </a:solidFill>
                  <a:ea typeface="黑体" pitchFamily="2" charset="-122"/>
                </a:rPr>
                <a:t>w</a:t>
              </a:r>
              <a:r>
                <a:rPr kumimoji="1" lang="en-US" altLang="zh-CN" sz="3200" b="1" baseline="-25000" dirty="0">
                  <a:solidFill>
                    <a:srgbClr val="008000"/>
                  </a:solidFill>
                  <a:ea typeface="黑体" pitchFamily="2" charset="-122"/>
                </a:rPr>
                <a:t>2</a:t>
              </a:r>
              <a:r>
                <a:rPr kumimoji="1" lang="en-US" altLang="zh-CN" sz="3200" b="1" dirty="0">
                  <a:solidFill>
                    <a:srgbClr val="008000"/>
                  </a:solidFill>
                  <a:ea typeface="黑体" pitchFamily="2" charset="-122"/>
                  <a:sym typeface="Symbol"/>
                </a:rPr>
                <a:t> </a:t>
              </a:r>
              <a:endParaRPr kumimoji="1" lang="en-US" altLang="zh-CN" sz="3200" b="1" i="1" baseline="-25000" dirty="0">
                <a:solidFill>
                  <a:srgbClr val="008000"/>
                </a:solidFill>
                <a:ea typeface="黑体" pitchFamily="2" charset="-122"/>
              </a:endParaRPr>
            </a:p>
          </p:txBody>
        </p:sp>
        <p:sp>
          <p:nvSpPr>
            <p:cNvPr id="3" name="右大括号 2">
              <a:extLst>
                <a:ext uri="{FF2B5EF4-FFF2-40B4-BE49-F238E27FC236}">
                  <a16:creationId xmlns:a16="http://schemas.microsoft.com/office/drawing/2014/main" id="{245AB5B6-3570-ABEB-EAD0-4B50D0D36F33}"/>
                </a:ext>
              </a:extLst>
            </p:cNvPr>
            <p:cNvSpPr/>
            <p:nvPr/>
          </p:nvSpPr>
          <p:spPr bwMode="auto">
            <a:xfrm>
              <a:off x="5724128" y="5013176"/>
              <a:ext cx="216024" cy="1387624"/>
            </a:xfrm>
            <a:prstGeom prst="rightBrace">
              <a:avLst/>
            </a:prstGeom>
            <a:noFill/>
            <a:ln w="57150" cap="flat" cmpd="sng" algn="ctr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37C0DF-EDB3-51CC-D84E-CA29BE215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53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关系方程法举例</a:t>
            </a:r>
            <a:r>
              <a:rPr lang="en-US" altLang="zh-CN" sz="3600"/>
              <a:t>[P103</a:t>
            </a:r>
            <a:r>
              <a:rPr lang="zh-CN" altLang="en-US" sz="3600"/>
              <a:t>例</a:t>
            </a:r>
            <a:r>
              <a:rPr lang="en-US" altLang="zh-CN" sz="3600"/>
              <a:t>1]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12777"/>
            <a:ext cx="9001000" cy="4751387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楷体_GB2312" pitchFamily="49" charset="-122"/>
              </a:rPr>
              <a:t>方程</a:t>
            </a:r>
            <a:r>
              <a:rPr lang="en-US" altLang="zh-CN" b="1" dirty="0">
                <a:ea typeface="楷体_GB2312" pitchFamily="49" charset="-122"/>
              </a:rPr>
              <a:t>(0.7</a:t>
            </a:r>
            <a:r>
              <a:rPr lang="en-US" altLang="zh-CN" b="1" dirty="0">
                <a:ea typeface="楷体_GB2312" pitchFamily="49" charset="-122"/>
                <a:sym typeface="Symbol"/>
              </a:rPr>
              <a:t></a:t>
            </a:r>
            <a:r>
              <a:rPr lang="en-US" altLang="zh-CN" b="1" i="1" dirty="0">
                <a:ea typeface="楷体_GB2312" pitchFamily="49" charset="-122"/>
              </a:rPr>
              <a:t>x</a:t>
            </a:r>
            <a:r>
              <a:rPr lang="en-US" altLang="zh-CN" b="1" baseline="-25000" dirty="0">
                <a:ea typeface="楷体_GB2312" pitchFamily="49" charset="-122"/>
              </a:rPr>
              <a:t>1</a:t>
            </a:r>
            <a:r>
              <a:rPr lang="en-US" altLang="zh-CN" b="1" dirty="0">
                <a:ea typeface="楷体_GB2312" pitchFamily="49" charset="-122"/>
              </a:rPr>
              <a:t>) </a:t>
            </a:r>
            <a:r>
              <a:rPr lang="en-US" altLang="zh-CN" b="1" dirty="0">
                <a:ea typeface="楷体_GB2312" pitchFamily="49" charset="-122"/>
                <a:sym typeface="Symbol"/>
              </a:rPr>
              <a:t></a:t>
            </a:r>
            <a:r>
              <a:rPr lang="en-US" altLang="zh-CN" b="1" dirty="0">
                <a:ea typeface="楷体_GB2312" pitchFamily="49" charset="-122"/>
              </a:rPr>
              <a:t> (0.5</a:t>
            </a:r>
            <a:r>
              <a:rPr lang="en-US" altLang="zh-CN" b="1" dirty="0">
                <a:ea typeface="楷体_GB2312" pitchFamily="49" charset="-122"/>
                <a:sym typeface="Symbol"/>
              </a:rPr>
              <a:t>  </a:t>
            </a:r>
            <a:r>
              <a:rPr lang="en-US" altLang="zh-CN" b="1" i="1" dirty="0">
                <a:ea typeface="楷体_GB2312" pitchFamily="49" charset="-122"/>
              </a:rPr>
              <a:t>x</a:t>
            </a:r>
            <a:r>
              <a:rPr lang="en-US" altLang="zh-CN" b="1" baseline="-25000" dirty="0">
                <a:ea typeface="楷体_GB2312" pitchFamily="49" charset="-122"/>
              </a:rPr>
              <a:t>2</a:t>
            </a:r>
            <a:r>
              <a:rPr lang="en-US" altLang="zh-CN" b="1" dirty="0">
                <a:ea typeface="楷体_GB2312" pitchFamily="49" charset="-122"/>
              </a:rPr>
              <a:t>)</a:t>
            </a:r>
            <a:r>
              <a:rPr lang="en-US" altLang="zh-CN" b="1" dirty="0">
                <a:ea typeface="楷体_GB2312" pitchFamily="49" charset="-122"/>
                <a:sym typeface="Symbol"/>
              </a:rPr>
              <a:t>  </a:t>
            </a:r>
            <a:r>
              <a:rPr lang="en-US" altLang="zh-CN" b="1" dirty="0">
                <a:ea typeface="楷体_GB2312" pitchFamily="49" charset="-122"/>
              </a:rPr>
              <a:t>(0.3</a:t>
            </a:r>
            <a:r>
              <a:rPr lang="en-US" altLang="zh-CN" b="1" dirty="0">
                <a:ea typeface="楷体_GB2312" pitchFamily="49" charset="-122"/>
                <a:sym typeface="Symbol"/>
              </a:rPr>
              <a:t>  </a:t>
            </a:r>
            <a:r>
              <a:rPr lang="en-US" altLang="zh-CN" b="1" i="1" dirty="0">
                <a:ea typeface="楷体_GB2312" pitchFamily="49" charset="-122"/>
              </a:rPr>
              <a:t>x</a:t>
            </a:r>
            <a:r>
              <a:rPr lang="en-US" altLang="zh-CN" b="1" baseline="-25000" dirty="0">
                <a:ea typeface="楷体_GB2312" pitchFamily="49" charset="-122"/>
              </a:rPr>
              <a:t>3</a:t>
            </a:r>
            <a:r>
              <a:rPr lang="en-US" altLang="zh-CN" b="1" dirty="0">
                <a:ea typeface="楷体_GB2312" pitchFamily="49" charset="-122"/>
              </a:rPr>
              <a:t>)=0.5</a:t>
            </a:r>
          </a:p>
          <a:p>
            <a:pPr eaLnBrk="1" hangingPunct="1"/>
            <a:r>
              <a:rPr lang="zh-CN" altLang="en-US" sz="2800" b="1" dirty="0">
                <a:ea typeface="楷体_GB2312" pitchFamily="49" charset="-122"/>
              </a:rPr>
              <a:t>解：</a:t>
            </a:r>
          </a:p>
          <a:p>
            <a:pPr lvl="1" eaLnBrk="1" hangingPunct="1"/>
            <a:r>
              <a:rPr lang="en-US" altLang="zh-CN" b="1" i="1" dirty="0">
                <a:ea typeface="楷体_GB2312" pitchFamily="49" charset="-122"/>
              </a:rPr>
              <a:t>w</a:t>
            </a:r>
            <a:r>
              <a:rPr lang="en-US" altLang="zh-CN" baseline="-25000" dirty="0">
                <a:cs typeface="Arial" charset="0"/>
              </a:rPr>
              <a:t>1</a:t>
            </a:r>
            <a:r>
              <a:rPr lang="en-US" altLang="zh-CN" b="1" dirty="0">
                <a:ea typeface="楷体_GB2312" pitchFamily="49" charset="-122"/>
              </a:rPr>
              <a:t>=(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0.5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, [0, 1], [0, 1])</a:t>
            </a:r>
          </a:p>
          <a:p>
            <a:pPr lvl="1" eaLnBrk="1" hangingPunct="1"/>
            <a:r>
              <a:rPr lang="en-US" altLang="zh-CN" b="1" i="1" dirty="0">
                <a:ea typeface="楷体_GB2312" pitchFamily="49" charset="-122"/>
              </a:rPr>
              <a:t>w</a:t>
            </a:r>
            <a:r>
              <a:rPr lang="en-US" altLang="zh-CN" baseline="-25000" dirty="0">
                <a:cs typeface="Arial" charset="0"/>
              </a:rPr>
              <a:t>2</a:t>
            </a:r>
            <a:r>
              <a:rPr lang="en-US" altLang="zh-CN" b="1" dirty="0">
                <a:ea typeface="楷体_GB2312" pitchFamily="49" charset="-122"/>
              </a:rPr>
              <a:t>=(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[0, 0.5],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[0.5, 1],</a:t>
            </a:r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[0, 1])</a:t>
            </a: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解的几何意义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——</a:t>
            </a:r>
          </a:p>
          <a:p>
            <a:pPr lvl="1" eaLnBrk="1" hangingPunct="1"/>
            <a:r>
              <a:rPr lang="en-US" altLang="zh-CN" b="1" dirty="0">
                <a:solidFill>
                  <a:srgbClr val="008000"/>
                </a:solidFill>
                <a:ea typeface="楷体_GB2312" pitchFamily="49" charset="-122"/>
              </a:rPr>
              <a:t>w</a:t>
            </a:r>
            <a:r>
              <a:rPr lang="en-US" altLang="zh-CN" b="1" baseline="-25000" dirty="0">
                <a:solidFill>
                  <a:srgbClr val="008000"/>
                </a:solidFill>
                <a:ea typeface="楷体_GB2312" pitchFamily="49" charset="-122"/>
              </a:rPr>
              <a:t>1</a:t>
            </a:r>
          </a:p>
          <a:p>
            <a:pPr lvl="1" eaLnBrk="1" hangingPunct="1"/>
            <a:r>
              <a:rPr lang="en-US" altLang="zh-CN" b="1" dirty="0">
                <a:solidFill>
                  <a:srgbClr val="CC0099"/>
                </a:solidFill>
                <a:ea typeface="楷体_GB2312" pitchFamily="49" charset="-122"/>
              </a:rPr>
              <a:t>w</a:t>
            </a:r>
            <a:r>
              <a:rPr lang="en-US" altLang="zh-CN" b="1" baseline="-25000" dirty="0">
                <a:solidFill>
                  <a:srgbClr val="CC0099"/>
                </a:solidFill>
                <a:ea typeface="楷体_GB2312" pitchFamily="49" charset="-122"/>
              </a:rPr>
              <a:t>2</a:t>
            </a:r>
          </a:p>
          <a:p>
            <a:pPr lvl="1" eaLnBrk="1" hangingPunct="1"/>
            <a:r>
              <a:rPr lang="en-US" altLang="zh-CN" b="1" dirty="0">
                <a:ea typeface="楷体_GB2312" pitchFamily="49" charset="-122"/>
              </a:rPr>
              <a:t>A</a:t>
            </a:r>
            <a:r>
              <a:rPr lang="zh-CN" altLang="en-US" b="1" dirty="0">
                <a:ea typeface="楷体_GB2312" pitchFamily="49" charset="-122"/>
              </a:rPr>
              <a:t>为最大解</a:t>
            </a:r>
          </a:p>
          <a:p>
            <a:pPr lvl="1" eaLnBrk="1" hangingPunct="1"/>
            <a:r>
              <a:rPr lang="en-US" altLang="zh-CN" b="1" dirty="0">
                <a:ea typeface="楷体_GB2312" pitchFamily="49" charset="-122"/>
              </a:rPr>
              <a:t>B</a:t>
            </a:r>
            <a:r>
              <a:rPr lang="zh-CN" altLang="en-US" b="1" dirty="0">
                <a:ea typeface="楷体_GB2312" pitchFamily="49" charset="-122"/>
              </a:rPr>
              <a:t>和</a:t>
            </a:r>
            <a:r>
              <a:rPr lang="en-US" altLang="zh-CN" b="1" dirty="0">
                <a:ea typeface="楷体_GB2312" pitchFamily="49" charset="-122"/>
              </a:rPr>
              <a:t>C</a:t>
            </a:r>
            <a:r>
              <a:rPr lang="zh-CN" altLang="en-US" b="1" dirty="0">
                <a:ea typeface="楷体_GB2312" pitchFamily="49" charset="-122"/>
              </a:rPr>
              <a:t>为极小解</a:t>
            </a:r>
          </a:p>
        </p:txBody>
      </p:sp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5483845" y="1944688"/>
            <a:ext cx="6300787" cy="4913312"/>
            <a:chOff x="657" y="300"/>
            <a:chExt cx="4218" cy="3775"/>
          </a:xfrm>
        </p:grpSpPr>
        <p:sp>
          <p:nvSpPr>
            <p:cNvPr id="36872" name="Rectangle 5"/>
            <p:cNvSpPr>
              <a:spLocks noChangeArrowheads="1"/>
            </p:cNvSpPr>
            <p:nvPr/>
          </p:nvSpPr>
          <p:spPr bwMode="auto">
            <a:xfrm>
              <a:off x="1519" y="1389"/>
              <a:ext cx="2359" cy="1995"/>
            </a:xfrm>
            <a:prstGeom prst="rect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3" name="Line 6"/>
            <p:cNvSpPr>
              <a:spLocks noChangeShapeType="1"/>
            </p:cNvSpPr>
            <p:nvPr/>
          </p:nvSpPr>
          <p:spPr bwMode="auto">
            <a:xfrm flipV="1">
              <a:off x="2200" y="436"/>
              <a:ext cx="0" cy="23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Line 7"/>
            <p:cNvSpPr>
              <a:spLocks noChangeShapeType="1"/>
            </p:cNvSpPr>
            <p:nvPr/>
          </p:nvSpPr>
          <p:spPr bwMode="auto">
            <a:xfrm>
              <a:off x="2200" y="2795"/>
              <a:ext cx="25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8"/>
            <p:cNvSpPr>
              <a:spLocks noChangeShapeType="1"/>
            </p:cNvSpPr>
            <p:nvPr/>
          </p:nvSpPr>
          <p:spPr bwMode="auto">
            <a:xfrm flipH="1">
              <a:off x="839" y="2795"/>
              <a:ext cx="1361" cy="1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Rectangle 9"/>
            <p:cNvSpPr>
              <a:spLocks noChangeArrowheads="1"/>
            </p:cNvSpPr>
            <p:nvPr/>
          </p:nvSpPr>
          <p:spPr bwMode="auto">
            <a:xfrm>
              <a:off x="2608" y="1389"/>
              <a:ext cx="1270" cy="1996"/>
            </a:xfrm>
            <a:prstGeom prst="rect">
              <a:avLst/>
            </a:prstGeom>
            <a:noFill/>
            <a:ln w="57150">
              <a:solidFill>
                <a:srgbClr val="CC00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6877" name="Rectangle 10"/>
            <p:cNvSpPr>
              <a:spLocks noChangeArrowheads="1"/>
            </p:cNvSpPr>
            <p:nvPr/>
          </p:nvSpPr>
          <p:spPr bwMode="auto">
            <a:xfrm>
              <a:off x="3188" y="784"/>
              <a:ext cx="1270" cy="1996"/>
            </a:xfrm>
            <a:prstGeom prst="rect">
              <a:avLst/>
            </a:prstGeom>
            <a:noFill/>
            <a:ln w="57150">
              <a:solidFill>
                <a:srgbClr val="CC00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78" name="Line 11"/>
            <p:cNvSpPr>
              <a:spLocks noChangeShapeType="1"/>
            </p:cNvSpPr>
            <p:nvPr/>
          </p:nvSpPr>
          <p:spPr bwMode="auto">
            <a:xfrm flipH="1">
              <a:off x="3878" y="2780"/>
              <a:ext cx="596" cy="605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Line 12"/>
            <p:cNvSpPr>
              <a:spLocks noChangeShapeType="1"/>
            </p:cNvSpPr>
            <p:nvPr/>
          </p:nvSpPr>
          <p:spPr bwMode="auto">
            <a:xfrm flipH="1">
              <a:off x="3878" y="804"/>
              <a:ext cx="580" cy="585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Line 13"/>
            <p:cNvSpPr>
              <a:spLocks noChangeShapeType="1"/>
            </p:cNvSpPr>
            <p:nvPr/>
          </p:nvSpPr>
          <p:spPr bwMode="auto">
            <a:xfrm flipH="1">
              <a:off x="2608" y="760"/>
              <a:ext cx="577" cy="629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1" name="Line 14"/>
            <p:cNvSpPr>
              <a:spLocks noChangeShapeType="1"/>
            </p:cNvSpPr>
            <p:nvPr/>
          </p:nvSpPr>
          <p:spPr bwMode="auto">
            <a:xfrm flipH="1">
              <a:off x="2608" y="2795"/>
              <a:ext cx="577" cy="590"/>
            </a:xfrm>
            <a:prstGeom prst="line">
              <a:avLst/>
            </a:prstGeom>
            <a:noFill/>
            <a:ln w="57150">
              <a:solidFill>
                <a:srgbClr val="CC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Text Box 15"/>
            <p:cNvSpPr txBox="1">
              <a:spLocks noChangeArrowheads="1"/>
            </p:cNvSpPr>
            <p:nvPr/>
          </p:nvSpPr>
          <p:spPr bwMode="auto">
            <a:xfrm>
              <a:off x="657" y="3793"/>
              <a:ext cx="317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  <a:r>
                <a:rPr lang="en-US" altLang="zh-CN" baseline="-25000"/>
                <a:t>1</a:t>
              </a:r>
            </a:p>
          </p:txBody>
        </p:sp>
        <p:sp>
          <p:nvSpPr>
            <p:cNvPr id="36883" name="Text Box 16"/>
            <p:cNvSpPr txBox="1">
              <a:spLocks noChangeArrowheads="1"/>
            </p:cNvSpPr>
            <p:nvPr/>
          </p:nvSpPr>
          <p:spPr bwMode="auto">
            <a:xfrm>
              <a:off x="2245" y="300"/>
              <a:ext cx="317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  <a:r>
                <a:rPr lang="en-US" altLang="zh-CN" baseline="-25000"/>
                <a:t>3</a:t>
              </a:r>
              <a:endParaRPr lang="en-US" altLang="zh-CN"/>
            </a:p>
          </p:txBody>
        </p:sp>
        <p:sp>
          <p:nvSpPr>
            <p:cNvPr id="36884" name="Text Box 17"/>
            <p:cNvSpPr txBox="1">
              <a:spLocks noChangeArrowheads="1"/>
            </p:cNvSpPr>
            <p:nvPr/>
          </p:nvSpPr>
          <p:spPr bwMode="auto">
            <a:xfrm>
              <a:off x="4558" y="2523"/>
              <a:ext cx="317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x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36885" name="Text Box 18"/>
            <p:cNvSpPr txBox="1">
              <a:spLocks noChangeArrowheads="1"/>
            </p:cNvSpPr>
            <p:nvPr/>
          </p:nvSpPr>
          <p:spPr bwMode="auto">
            <a:xfrm>
              <a:off x="2154" y="2795"/>
              <a:ext cx="317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</a:t>
              </a:r>
            </a:p>
          </p:txBody>
        </p:sp>
        <p:sp>
          <p:nvSpPr>
            <p:cNvPr id="36886" name="Text Box 19"/>
            <p:cNvSpPr txBox="1">
              <a:spLocks noChangeArrowheads="1"/>
            </p:cNvSpPr>
            <p:nvPr/>
          </p:nvSpPr>
          <p:spPr bwMode="auto">
            <a:xfrm>
              <a:off x="1520" y="3431"/>
              <a:ext cx="439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0.5</a:t>
              </a:r>
            </a:p>
          </p:txBody>
        </p:sp>
        <p:sp>
          <p:nvSpPr>
            <p:cNvPr id="36887" name="Text Box 20"/>
            <p:cNvSpPr txBox="1">
              <a:spLocks noChangeArrowheads="1"/>
            </p:cNvSpPr>
            <p:nvPr/>
          </p:nvSpPr>
          <p:spPr bwMode="auto">
            <a:xfrm>
              <a:off x="4422" y="2795"/>
              <a:ext cx="317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36888" name="Line 21"/>
            <p:cNvSpPr>
              <a:spLocks noChangeShapeType="1"/>
            </p:cNvSpPr>
            <p:nvPr/>
          </p:nvSpPr>
          <p:spPr bwMode="auto">
            <a:xfrm flipH="1">
              <a:off x="2200" y="799"/>
              <a:ext cx="10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Text Box 22"/>
            <p:cNvSpPr txBox="1">
              <a:spLocks noChangeArrowheads="1"/>
            </p:cNvSpPr>
            <p:nvPr/>
          </p:nvSpPr>
          <p:spPr bwMode="auto">
            <a:xfrm>
              <a:off x="2018" y="663"/>
              <a:ext cx="317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36890" name="Text Box 23"/>
            <p:cNvSpPr txBox="1">
              <a:spLocks noChangeArrowheads="1"/>
            </p:cNvSpPr>
            <p:nvPr/>
          </p:nvSpPr>
          <p:spPr bwMode="auto">
            <a:xfrm>
              <a:off x="748" y="3203"/>
              <a:ext cx="816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B(0.5,0, 0)</a:t>
              </a:r>
            </a:p>
          </p:txBody>
        </p:sp>
        <p:sp>
          <p:nvSpPr>
            <p:cNvPr id="36891" name="Text Box 24"/>
            <p:cNvSpPr txBox="1">
              <a:spLocks noChangeArrowheads="1"/>
            </p:cNvSpPr>
            <p:nvPr/>
          </p:nvSpPr>
          <p:spPr bwMode="auto">
            <a:xfrm>
              <a:off x="3291" y="1079"/>
              <a:ext cx="81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A(0.5,1,1)</a:t>
              </a:r>
            </a:p>
          </p:txBody>
        </p:sp>
        <p:sp>
          <p:nvSpPr>
            <p:cNvPr id="36892" name="Text Box 25"/>
            <p:cNvSpPr txBox="1">
              <a:spLocks noChangeArrowheads="1"/>
            </p:cNvSpPr>
            <p:nvPr/>
          </p:nvSpPr>
          <p:spPr bwMode="auto">
            <a:xfrm>
              <a:off x="3116" y="2839"/>
              <a:ext cx="770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C(0,0.5,0)</a:t>
              </a:r>
            </a:p>
          </p:txBody>
        </p:sp>
        <p:sp>
          <p:nvSpPr>
            <p:cNvPr id="36893" name="Text Box 26"/>
            <p:cNvSpPr txBox="1">
              <a:spLocks noChangeArrowheads="1"/>
            </p:cNvSpPr>
            <p:nvPr/>
          </p:nvSpPr>
          <p:spPr bwMode="auto">
            <a:xfrm>
              <a:off x="1066" y="2068"/>
              <a:ext cx="363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8000"/>
                  </a:solidFill>
                </a:rPr>
                <a:t>w</a:t>
              </a:r>
              <a:r>
                <a:rPr lang="en-US" altLang="zh-CN" b="1" baseline="-25000" dirty="0">
                  <a:solidFill>
                    <a:srgbClr val="008000"/>
                  </a:solidFill>
                </a:rPr>
                <a:t>1</a:t>
              </a:r>
              <a:endParaRPr lang="en-US" altLang="zh-CN" b="1" dirty="0">
                <a:solidFill>
                  <a:srgbClr val="008000"/>
                </a:solidFill>
              </a:endParaRPr>
            </a:p>
          </p:txBody>
        </p:sp>
        <p:sp>
          <p:nvSpPr>
            <p:cNvPr id="36894" name="Text Box 27"/>
            <p:cNvSpPr txBox="1">
              <a:spLocks noChangeArrowheads="1"/>
            </p:cNvSpPr>
            <p:nvPr/>
          </p:nvSpPr>
          <p:spPr bwMode="auto">
            <a:xfrm>
              <a:off x="4014" y="437"/>
              <a:ext cx="408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CC0099"/>
                  </a:solidFill>
                </a:rPr>
                <a:t>w</a:t>
              </a:r>
              <a:r>
                <a:rPr lang="en-US" altLang="zh-CN" b="1" baseline="-25000">
                  <a:solidFill>
                    <a:srgbClr val="CC0099"/>
                  </a:solidFill>
                </a:rPr>
                <a:t>2</a:t>
              </a:r>
              <a:endParaRPr lang="en-US" altLang="zh-CN" b="1">
                <a:solidFill>
                  <a:srgbClr val="CC0099"/>
                </a:solidFill>
              </a:endParaRPr>
            </a:p>
          </p:txBody>
        </p:sp>
      </p:grpSp>
      <p:sp>
        <p:nvSpPr>
          <p:cNvPr id="74780" name="Oval 28"/>
          <p:cNvSpPr>
            <a:spLocks noChangeArrowheads="1"/>
          </p:cNvSpPr>
          <p:nvPr/>
        </p:nvSpPr>
        <p:spPr bwMode="auto">
          <a:xfrm>
            <a:off x="9240294" y="5157789"/>
            <a:ext cx="144462" cy="14287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81" name="Oval 29"/>
          <p:cNvSpPr>
            <a:spLocks noChangeArrowheads="1"/>
          </p:cNvSpPr>
          <p:nvPr/>
        </p:nvSpPr>
        <p:spPr bwMode="auto">
          <a:xfrm>
            <a:off x="6720932" y="5876926"/>
            <a:ext cx="144463" cy="14287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82" name="Oval 30"/>
          <p:cNvSpPr>
            <a:spLocks noChangeArrowheads="1"/>
          </p:cNvSpPr>
          <p:nvPr/>
        </p:nvSpPr>
        <p:spPr bwMode="auto">
          <a:xfrm>
            <a:off x="10176919" y="3357564"/>
            <a:ext cx="144462" cy="142875"/>
          </a:xfrm>
          <a:prstGeom prst="ellipse">
            <a:avLst/>
          </a:prstGeom>
          <a:solidFill>
            <a:srgbClr val="0000FF"/>
          </a:solidFill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0DF2D7-7437-CA2C-2B2D-623EE88A5C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88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4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uiExpand="1" build="p"/>
      <p:bldP spid="74780" grpId="0" animBg="1"/>
      <p:bldP spid="74781" grpId="0" animBg="1"/>
      <p:bldP spid="74782" grpId="0" uiExpand="1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981200" y="332656"/>
            <a:ext cx="8229600" cy="1100138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   F</a:t>
            </a:r>
            <a:r>
              <a:rPr lang="zh-CN" altLang="en-US" dirty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关系方程法举例</a:t>
            </a:r>
          </a:p>
        </p:txBody>
      </p:sp>
      <p:graphicFrame>
        <p:nvGraphicFramePr>
          <p:cNvPr id="75780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79650" y="1484785"/>
          <a:ext cx="5761038" cy="155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41600" imgH="711200" progId="Equation.3">
                  <p:embed/>
                </p:oleObj>
              </mc:Choice>
              <mc:Fallback>
                <p:oleObj name="公式" r:id="rId3" imgW="2641600" imgH="711200" progId="Equation.3">
                  <p:embed/>
                  <p:pic>
                    <p:nvPicPr>
                      <p:cNvPr id="7578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484785"/>
                        <a:ext cx="5761038" cy="155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92313" y="3648075"/>
          <a:ext cx="467995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20900" imgH="711200" progId="Equation.3">
                  <p:embed/>
                </p:oleObj>
              </mc:Choice>
              <mc:Fallback>
                <p:oleObj name="公式" r:id="rId5" imgW="2120900" imgH="711200" progId="Equation.3">
                  <p:embed/>
                  <p:pic>
                    <p:nvPicPr>
                      <p:cNvPr id="757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648075"/>
                        <a:ext cx="467995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92313" y="5264150"/>
          <a:ext cx="467995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95500" imgH="711200" progId="Equation.3">
                  <p:embed/>
                </p:oleObj>
              </mc:Choice>
              <mc:Fallback>
                <p:oleObj name="公式" r:id="rId7" imgW="2095500" imgH="711200" progId="Equation.3">
                  <p:embed/>
                  <p:pic>
                    <p:nvPicPr>
                      <p:cNvPr id="757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264150"/>
                        <a:ext cx="4679950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6" name="Object 10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6743701" y="3576639"/>
          <a:ext cx="3376613" cy="158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511300" imgH="711200" progId="Equation.3">
                  <p:embed/>
                </p:oleObj>
              </mc:Choice>
              <mc:Fallback>
                <p:oleObj name="公式" r:id="rId9" imgW="1511300" imgH="711200" progId="Equation.3">
                  <p:embed/>
                  <p:pic>
                    <p:nvPicPr>
                      <p:cNvPr id="757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3576639"/>
                        <a:ext cx="3376613" cy="158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8" name="Object 12"/>
          <p:cNvGraphicFramePr>
            <a:graphicFrameLocks noChangeAspect="1"/>
          </p:cNvGraphicFramePr>
          <p:nvPr/>
        </p:nvGraphicFramePr>
        <p:xfrm>
          <a:off x="6743701" y="5251450"/>
          <a:ext cx="3673475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625600" imgH="711200" progId="Equation.3">
                  <p:embed/>
                </p:oleObj>
              </mc:Choice>
              <mc:Fallback>
                <p:oleObj name="公式" r:id="rId11" imgW="1625600" imgH="711200" progId="Equation.3">
                  <p:embed/>
                  <p:pic>
                    <p:nvPicPr>
                      <p:cNvPr id="757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1" y="5251450"/>
                        <a:ext cx="3673475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870498" y="3076768"/>
            <a:ext cx="46799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0000FF"/>
                </a:solidFill>
                <a:ea typeface="黑体" pitchFamily="2" charset="-122"/>
              </a:rPr>
              <a:t>(1) </a:t>
            </a:r>
            <a:r>
              <a:rPr lang="zh-CN" altLang="en-US" sz="3200" dirty="0">
                <a:solidFill>
                  <a:srgbClr val="0000FF"/>
                </a:solidFill>
                <a:ea typeface="黑体" pitchFamily="2" charset="-122"/>
              </a:rPr>
              <a:t>求出算子矩阵</a:t>
            </a:r>
            <a:r>
              <a:rPr lang="en-US" altLang="zh-CN" sz="3200" dirty="0">
                <a:solidFill>
                  <a:srgbClr val="0000FF"/>
                </a:solidFill>
                <a:ea typeface="黑体" pitchFamily="2" charset="-122"/>
              </a:rPr>
              <a:t>y</a:t>
            </a:r>
            <a:r>
              <a:rPr lang="zh-CN" altLang="en-US" sz="3200" dirty="0">
                <a:solidFill>
                  <a:srgbClr val="0000FF"/>
                </a:solidFill>
                <a:ea typeface="黑体" pitchFamily="2" charset="-122"/>
              </a:rPr>
              <a:t>和 </a:t>
            </a:r>
            <a:r>
              <a:rPr lang="en-US" altLang="zh-CN" sz="3200" dirty="0">
                <a:solidFill>
                  <a:srgbClr val="0000FF"/>
                </a:solidFill>
                <a:ea typeface="黑体" pitchFamily="2" charset="-122"/>
              </a:rPr>
              <a:t>^y</a:t>
            </a:r>
          </a:p>
        </p:txBody>
      </p:sp>
      <p:graphicFrame>
        <p:nvGraphicFramePr>
          <p:cNvPr id="2" name="对象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67946718"/>
              </p:ext>
            </p:extLst>
          </p:nvPr>
        </p:nvGraphicFramePr>
        <p:xfrm>
          <a:off x="8724798" y="328635"/>
          <a:ext cx="2927081" cy="1475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409088" imgH="710891" progId="Equation.3">
                  <p:embed/>
                </p:oleObj>
              </mc:Choice>
              <mc:Fallback>
                <p:oleObj name="公式" r:id="rId13" imgW="1409088" imgH="710891" progId="Equation.3">
                  <p:embed/>
                  <p:pic>
                    <p:nvPicPr>
                      <p:cNvPr id="2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4798" y="328635"/>
                        <a:ext cx="2927081" cy="14756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0874803"/>
              </p:ext>
            </p:extLst>
          </p:nvPr>
        </p:nvGraphicFramePr>
        <p:xfrm>
          <a:off x="8724798" y="2425883"/>
          <a:ext cx="2927081" cy="924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447800" imgH="457200" progId="Equation.3">
                  <p:embed/>
                </p:oleObj>
              </mc:Choice>
              <mc:Fallback>
                <p:oleObj name="公式" r:id="rId15" imgW="1447800" imgH="457200" progId="Equation.3">
                  <p:embed/>
                  <p:pic>
                    <p:nvPicPr>
                      <p:cNvPr id="3" name="对象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4798" y="2425883"/>
                        <a:ext cx="2927081" cy="92439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CDA2E-CD80-9D04-DA6A-337213CDE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029FCD-28BA-45FD-9912-656B124BEF48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93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关系方程法举例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5479" y="1452167"/>
            <a:ext cx="4038600" cy="62150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(2)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求出备解矩阵</a:t>
            </a: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W</a:t>
            </a:r>
          </a:p>
        </p:txBody>
      </p:sp>
      <p:graphicFrame>
        <p:nvGraphicFramePr>
          <p:cNvPr id="8192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353061422"/>
              </p:ext>
            </p:extLst>
          </p:nvPr>
        </p:nvGraphicFramePr>
        <p:xfrm>
          <a:off x="463378" y="2800872"/>
          <a:ext cx="3790950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52600" imgH="711200" progId="Equation.3">
                  <p:embed/>
                </p:oleObj>
              </mc:Choice>
              <mc:Fallback>
                <p:oleObj name="公式" r:id="rId3" imgW="1752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78" y="2800872"/>
                        <a:ext cx="3790950" cy="1538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6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336079172"/>
              </p:ext>
            </p:extLst>
          </p:nvPr>
        </p:nvGraphicFramePr>
        <p:xfrm>
          <a:off x="4673429" y="2608783"/>
          <a:ext cx="4719637" cy="178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79600" imgH="711200" progId="Equation.3">
                  <p:embed/>
                </p:oleObj>
              </mc:Choice>
              <mc:Fallback>
                <p:oleObj name="公式" r:id="rId5" imgW="1879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429" y="2608783"/>
                        <a:ext cx="4719637" cy="178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536900"/>
              </p:ext>
            </p:extLst>
          </p:nvPr>
        </p:nvGraphicFramePr>
        <p:xfrm>
          <a:off x="4835354" y="4961458"/>
          <a:ext cx="4592637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032000" imgH="711200" progId="Equation.3">
                  <p:embed/>
                </p:oleObj>
              </mc:Choice>
              <mc:Fallback>
                <p:oleObj name="公式" r:id="rId7" imgW="20320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354" y="4961458"/>
                        <a:ext cx="4592637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740273"/>
              </p:ext>
            </p:extLst>
          </p:nvPr>
        </p:nvGraphicFramePr>
        <p:xfrm>
          <a:off x="263352" y="5032896"/>
          <a:ext cx="4505326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93900" imgH="711200" progId="Equation.3">
                  <p:embed/>
                </p:oleObj>
              </mc:Choice>
              <mc:Fallback>
                <p:oleObj name="公式" r:id="rId9" imgW="19939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52" y="5032896"/>
                        <a:ext cx="4505326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1" name="AutoShape 11"/>
          <p:cNvSpPr>
            <a:spLocks noChangeArrowheads="1"/>
          </p:cNvSpPr>
          <p:nvPr/>
        </p:nvSpPr>
        <p:spPr bwMode="auto">
          <a:xfrm>
            <a:off x="3271665" y="2800872"/>
            <a:ext cx="863600" cy="503237"/>
          </a:xfrm>
          <a:prstGeom prst="flowChartAlternateProcess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2" name="AutoShape 12"/>
          <p:cNvSpPr>
            <a:spLocks noChangeArrowheads="1"/>
          </p:cNvSpPr>
          <p:nvPr/>
        </p:nvSpPr>
        <p:spPr bwMode="auto">
          <a:xfrm>
            <a:off x="2335040" y="3808933"/>
            <a:ext cx="719138" cy="503238"/>
          </a:xfrm>
          <a:prstGeom prst="flowChartAlternateProcess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3" name="AutoShape 13"/>
          <p:cNvSpPr>
            <a:spLocks noChangeArrowheads="1"/>
          </p:cNvSpPr>
          <p:nvPr/>
        </p:nvSpPr>
        <p:spPr bwMode="auto">
          <a:xfrm>
            <a:off x="1471441" y="3304108"/>
            <a:ext cx="720725" cy="503238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AutoShape 14"/>
          <p:cNvSpPr>
            <a:spLocks noChangeArrowheads="1"/>
          </p:cNvSpPr>
          <p:nvPr/>
        </p:nvSpPr>
        <p:spPr bwMode="auto">
          <a:xfrm>
            <a:off x="8169103" y="3808933"/>
            <a:ext cx="1079500" cy="503238"/>
          </a:xfrm>
          <a:prstGeom prst="flowChartAlternateProcess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5" name="AutoShape 15"/>
          <p:cNvSpPr>
            <a:spLocks noChangeArrowheads="1"/>
          </p:cNvSpPr>
          <p:nvPr/>
        </p:nvSpPr>
        <p:spPr bwMode="auto">
          <a:xfrm>
            <a:off x="8169103" y="2656408"/>
            <a:ext cx="1008062" cy="503238"/>
          </a:xfrm>
          <a:prstGeom prst="flowChartAlternateProcess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6" name="AutoShape 16"/>
          <p:cNvSpPr>
            <a:spLocks noChangeArrowheads="1"/>
          </p:cNvSpPr>
          <p:nvPr/>
        </p:nvSpPr>
        <p:spPr bwMode="auto">
          <a:xfrm>
            <a:off x="5935490" y="3232672"/>
            <a:ext cx="719138" cy="503237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7" name="AutoShape 17"/>
          <p:cNvSpPr>
            <a:spLocks noChangeArrowheads="1"/>
          </p:cNvSpPr>
          <p:nvPr/>
        </p:nvSpPr>
        <p:spPr bwMode="auto">
          <a:xfrm>
            <a:off x="2479503" y="5537722"/>
            <a:ext cx="1079500" cy="503237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8" name="AutoShape 18"/>
          <p:cNvSpPr>
            <a:spLocks noChangeArrowheads="1"/>
          </p:cNvSpPr>
          <p:nvPr/>
        </p:nvSpPr>
        <p:spPr bwMode="auto">
          <a:xfrm>
            <a:off x="3632028" y="5032897"/>
            <a:ext cx="1079500" cy="503237"/>
          </a:xfrm>
          <a:prstGeom prst="flowChartAlternateProcess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9" name="AutoShape 19"/>
          <p:cNvSpPr>
            <a:spLocks noChangeArrowheads="1"/>
          </p:cNvSpPr>
          <p:nvPr/>
        </p:nvSpPr>
        <p:spPr bwMode="auto">
          <a:xfrm>
            <a:off x="2623965" y="6113983"/>
            <a:ext cx="719138" cy="503238"/>
          </a:xfrm>
          <a:prstGeom prst="flowChartAlternateProcess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0" name="AutoShape 20"/>
          <p:cNvSpPr>
            <a:spLocks noChangeArrowheads="1"/>
          </p:cNvSpPr>
          <p:nvPr/>
        </p:nvSpPr>
        <p:spPr bwMode="auto">
          <a:xfrm>
            <a:off x="7088015" y="5464697"/>
            <a:ext cx="1079500" cy="503237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1" name="AutoShape 21"/>
          <p:cNvSpPr>
            <a:spLocks noChangeArrowheads="1"/>
          </p:cNvSpPr>
          <p:nvPr/>
        </p:nvSpPr>
        <p:spPr bwMode="auto">
          <a:xfrm>
            <a:off x="8169103" y="4961458"/>
            <a:ext cx="1079500" cy="503238"/>
          </a:xfrm>
          <a:prstGeom prst="flowChartAlternateProcess">
            <a:avLst/>
          </a:prstGeom>
          <a:noFill/>
          <a:ln w="28575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42" name="AutoShape 22"/>
          <p:cNvSpPr>
            <a:spLocks noChangeArrowheads="1"/>
          </p:cNvSpPr>
          <p:nvPr/>
        </p:nvSpPr>
        <p:spPr bwMode="auto">
          <a:xfrm>
            <a:off x="8240540" y="6040958"/>
            <a:ext cx="1079500" cy="503238"/>
          </a:xfrm>
          <a:prstGeom prst="flowChartAlternateProcess">
            <a:avLst/>
          </a:prstGeom>
          <a:noFill/>
          <a:ln w="28575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0442C06-6722-4FE8-B251-152FC1382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115322"/>
              </p:ext>
            </p:extLst>
          </p:nvPr>
        </p:nvGraphicFramePr>
        <p:xfrm>
          <a:off x="10116204" y="3175794"/>
          <a:ext cx="1411288" cy="1340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41200" progId="Equation.DSMT4">
                  <p:embed/>
                </p:oleObj>
              </mc:Choice>
              <mc:Fallback>
                <p:oleObj name="Equation" r:id="rId11" imgW="253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116204" y="3175794"/>
                        <a:ext cx="1411288" cy="1340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FFFA29-95D6-D09C-86DA-325676A9E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-54470" y="6339408"/>
            <a:ext cx="517848" cy="457200"/>
          </a:xfrm>
        </p:spPr>
        <p:txBody>
          <a:bodyPr/>
          <a:lstStyle/>
          <a:p>
            <a:pPr>
              <a:defRPr/>
            </a:pPr>
            <a:fld id="{AEE3D6A2-45AE-49BA-A8D8-5E8D3DAE5436}" type="slidenum">
              <a:rPr lang="en-US" altLang="zh-CN" smtClean="0"/>
              <a:pPr>
                <a:defRPr/>
              </a:pPr>
              <a:t>95</a:t>
            </a:fld>
            <a:endParaRPr lang="en-US" altLang="zh-CN" dirty="0"/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381F58A2-CC5B-84F8-CF3D-C726B5E0C4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841913"/>
              </p:ext>
            </p:extLst>
          </p:nvPr>
        </p:nvGraphicFramePr>
        <p:xfrm>
          <a:off x="8760296" y="176212"/>
          <a:ext cx="3081522" cy="1308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76160" imgH="711000" progId="Equation.DSMT4">
                  <p:embed/>
                </p:oleObj>
              </mc:Choice>
              <mc:Fallback>
                <p:oleObj name="Equation" r:id="rId13" imgW="1676160" imgH="711000" progId="Equation.DSMT4">
                  <p:embed/>
                  <p:pic>
                    <p:nvPicPr>
                      <p:cNvPr id="757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0296" y="176212"/>
                        <a:ext cx="3081522" cy="13081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374A22FC-CF72-201B-ADFD-2F67D51C04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098771"/>
              </p:ext>
            </p:extLst>
          </p:nvPr>
        </p:nvGraphicFramePr>
        <p:xfrm>
          <a:off x="8769754" y="1428750"/>
          <a:ext cx="3478403" cy="137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03240" imgH="711000" progId="Equation.DSMT4">
                  <p:embed/>
                </p:oleObj>
              </mc:Choice>
              <mc:Fallback>
                <p:oleObj name="Equation" r:id="rId15" imgW="1803240" imgH="711000" progId="Equation.DSMT4">
                  <p:embed/>
                  <p:pic>
                    <p:nvPicPr>
                      <p:cNvPr id="7578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9754" y="1428750"/>
                        <a:ext cx="3478403" cy="1372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185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8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  <p:bldP spid="81931" grpId="0" animBg="1"/>
      <p:bldP spid="81932" grpId="0" animBg="1"/>
      <p:bldP spid="81933" grpId="0" animBg="1"/>
      <p:bldP spid="81934" grpId="0" animBg="1"/>
      <p:bldP spid="81935" grpId="0" animBg="1"/>
      <p:bldP spid="81936" grpId="0" animBg="1"/>
      <p:bldP spid="81937" grpId="0" animBg="1"/>
      <p:bldP spid="81938" grpId="0" animBg="1"/>
      <p:bldP spid="81939" grpId="0" animBg="1"/>
      <p:bldP spid="81940" grpId="0" animBg="1"/>
      <p:bldP spid="81941" grpId="0" animBg="1"/>
      <p:bldP spid="8194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5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F</a:t>
            </a:r>
            <a:r>
              <a:rPr lang="zh-CN" altLang="en-US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关系方程法举例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341438"/>
            <a:ext cx="9083799" cy="551656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(3)</a:t>
            </a:r>
            <a:r>
              <a:rPr lang="zh-CN" altLang="en-US" dirty="0">
                <a:solidFill>
                  <a:srgbClr val="0000FF"/>
                </a:solidFill>
                <a:ea typeface="黑体" pitchFamily="2" charset="-122"/>
              </a:rPr>
              <a:t>求部分解集合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b="1" dirty="0"/>
              <a:t>对各备解矩阵各列取</a:t>
            </a:r>
            <a:r>
              <a:rPr lang="zh-CN" altLang="en-US" b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交集</a:t>
            </a:r>
            <a:r>
              <a:rPr lang="zh-CN" altLang="en-US" b="1" dirty="0"/>
              <a:t>后，再转置得部分解</a:t>
            </a:r>
          </a:p>
          <a:p>
            <a:pPr lvl="1" eaLnBrk="1" hangingPunct="1"/>
            <a:r>
              <a:rPr lang="en-US" altLang="zh-CN" dirty="0"/>
              <a:t>W*</a:t>
            </a:r>
            <a:r>
              <a:rPr lang="en-US" altLang="zh-CN" baseline="-25000" dirty="0"/>
              <a:t>312</a:t>
            </a:r>
            <a:r>
              <a:rPr lang="en-US" altLang="zh-CN" dirty="0"/>
              <a:t>=( 0.6,         </a:t>
            </a:r>
            <a:r>
              <a:rPr kumimoji="1" lang="en-US" altLang="zh-CN" dirty="0">
                <a:ea typeface="楷体_GB2312" pitchFamily="49" charset="-122"/>
                <a:cs typeface="Arial" charset="0"/>
              </a:rPr>
              <a:t>Ø</a:t>
            </a:r>
            <a:r>
              <a:rPr lang="en-US" altLang="zh-CN" dirty="0"/>
              <a:t>,       [0.8, 1])</a:t>
            </a:r>
          </a:p>
          <a:p>
            <a:pPr lvl="1" eaLnBrk="1" hangingPunct="1"/>
            <a:r>
              <a:rPr lang="en-US" altLang="zh-CN" dirty="0"/>
              <a:t>W*</a:t>
            </a:r>
            <a:r>
              <a:rPr lang="en-US" altLang="zh-CN" baseline="-25000" dirty="0"/>
              <a:t>313</a:t>
            </a:r>
            <a:r>
              <a:rPr lang="en-US" altLang="zh-CN" dirty="0"/>
              <a:t>=( 0.6,     [0,0.7],    [0.8, 1])</a:t>
            </a:r>
          </a:p>
          <a:p>
            <a:pPr lvl="1" eaLnBrk="1" hangingPunct="1"/>
            <a:r>
              <a:rPr lang="en-US" altLang="zh-CN" dirty="0"/>
              <a:t>W*</a:t>
            </a:r>
            <a:r>
              <a:rPr lang="en-US" altLang="zh-CN" baseline="-25000" dirty="0"/>
              <a:t>322</a:t>
            </a:r>
            <a:r>
              <a:rPr lang="en-US" altLang="zh-CN" dirty="0"/>
              <a:t>=([0,0.6],  0.7,        [0.8, 1])</a:t>
            </a:r>
          </a:p>
          <a:p>
            <a:pPr lvl="1" eaLnBrk="1" hangingPunct="1"/>
            <a:r>
              <a:rPr lang="en-US" altLang="zh-CN" dirty="0"/>
              <a:t>W*</a:t>
            </a:r>
            <a:r>
              <a:rPr lang="en-US" altLang="zh-CN" baseline="-25000" dirty="0"/>
              <a:t>323</a:t>
            </a:r>
            <a:r>
              <a:rPr lang="en-US" altLang="zh-CN" dirty="0"/>
              <a:t>=([0,0.6], [0.6,0.7], [0.8, 1])</a:t>
            </a:r>
          </a:p>
          <a:p>
            <a:pPr marL="0" indent="0" eaLnBrk="1" hangingPunct="1">
              <a:buNone/>
            </a:pPr>
            <a:r>
              <a:rPr lang="en-US" altLang="zh-CN" b="1" dirty="0">
                <a:solidFill>
                  <a:srgbClr val="008000"/>
                </a:solidFill>
                <a:ea typeface="黑体" pitchFamily="2" charset="-122"/>
              </a:rPr>
              <a:t>(4)</a:t>
            </a:r>
            <a:r>
              <a:rPr lang="zh-CN" altLang="en-US" b="1" dirty="0">
                <a:solidFill>
                  <a:srgbClr val="008000"/>
                </a:solidFill>
                <a:ea typeface="黑体" pitchFamily="2" charset="-122"/>
              </a:rPr>
              <a:t>求解集合</a:t>
            </a:r>
            <a:r>
              <a:rPr lang="en-US" altLang="zh-CN" b="1" dirty="0">
                <a:solidFill>
                  <a:srgbClr val="008000"/>
                </a:solidFill>
                <a:ea typeface="黑体" pitchFamily="2" charset="-122"/>
              </a:rPr>
              <a:t>X</a:t>
            </a:r>
          </a:p>
          <a:p>
            <a:pPr lvl="1" eaLnBrk="1" hangingPunct="1"/>
            <a:r>
              <a:rPr kumimoji="1" lang="en-US" altLang="zh-CN" b="1" dirty="0">
                <a:solidFill>
                  <a:srgbClr val="008000"/>
                </a:solidFill>
                <a:ea typeface="黑体" pitchFamily="2" charset="-122"/>
              </a:rPr>
              <a:t>X=</a:t>
            </a:r>
            <a:r>
              <a:rPr lang="en-US" altLang="zh-CN" b="1" dirty="0">
                <a:solidFill>
                  <a:srgbClr val="008000"/>
                </a:solidFill>
              </a:rPr>
              <a:t>W*</a:t>
            </a:r>
            <a:r>
              <a:rPr lang="en-US" altLang="zh-CN" b="1" baseline="-25000" dirty="0">
                <a:solidFill>
                  <a:srgbClr val="008000"/>
                </a:solidFill>
              </a:rPr>
              <a:t>312</a:t>
            </a:r>
            <a:r>
              <a:rPr kumimoji="1" lang="en-US" altLang="zh-CN" sz="3200" b="1" dirty="0">
                <a:solidFill>
                  <a:srgbClr val="008000"/>
                </a:solidFill>
                <a:ea typeface="黑体" pitchFamily="2" charset="-122"/>
                <a:sym typeface="Symbol"/>
              </a:rPr>
              <a:t> </a:t>
            </a:r>
            <a:r>
              <a:rPr lang="en-US" altLang="zh-CN" b="1" dirty="0">
                <a:solidFill>
                  <a:srgbClr val="008000"/>
                </a:solidFill>
              </a:rPr>
              <a:t>W*</a:t>
            </a:r>
            <a:r>
              <a:rPr lang="en-US" altLang="zh-CN" b="1" baseline="-25000" dirty="0">
                <a:solidFill>
                  <a:srgbClr val="008000"/>
                </a:solidFill>
              </a:rPr>
              <a:t>313</a:t>
            </a:r>
            <a:r>
              <a:rPr kumimoji="1" lang="en-US" altLang="zh-CN" sz="3200" b="1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en-US" altLang="zh-CN" b="1" dirty="0">
                <a:solidFill>
                  <a:srgbClr val="008000"/>
                </a:solidFill>
                <a:ea typeface="黑体" pitchFamily="2" charset="-122"/>
                <a:sym typeface="Symbol"/>
              </a:rPr>
              <a:t> </a:t>
            </a:r>
            <a:r>
              <a:rPr lang="en-US" altLang="zh-CN" b="1" dirty="0">
                <a:solidFill>
                  <a:srgbClr val="008000"/>
                </a:solidFill>
              </a:rPr>
              <a:t>W*</a:t>
            </a:r>
            <a:r>
              <a:rPr lang="en-US" altLang="zh-CN" b="1" baseline="-25000" dirty="0">
                <a:solidFill>
                  <a:srgbClr val="008000"/>
                </a:solidFill>
              </a:rPr>
              <a:t>322</a:t>
            </a:r>
            <a:r>
              <a:rPr kumimoji="1" lang="en-US" altLang="zh-CN" sz="3200" b="1" dirty="0">
                <a:solidFill>
                  <a:srgbClr val="008000"/>
                </a:solidFill>
                <a:ea typeface="黑体" pitchFamily="2" charset="-122"/>
              </a:rPr>
              <a:t> </a:t>
            </a:r>
            <a:r>
              <a:rPr kumimoji="1" lang="en-US" altLang="zh-CN" b="1" dirty="0">
                <a:solidFill>
                  <a:srgbClr val="008000"/>
                </a:solidFill>
                <a:ea typeface="黑体" pitchFamily="2" charset="-122"/>
                <a:sym typeface="Symbol"/>
              </a:rPr>
              <a:t> </a:t>
            </a:r>
            <a:r>
              <a:rPr lang="en-US" altLang="zh-CN" b="1" dirty="0">
                <a:solidFill>
                  <a:srgbClr val="008000"/>
                </a:solidFill>
              </a:rPr>
              <a:t>W*</a:t>
            </a:r>
            <a:r>
              <a:rPr lang="en-US" altLang="zh-CN" b="1" baseline="-25000" dirty="0">
                <a:solidFill>
                  <a:srgbClr val="008000"/>
                </a:solidFill>
              </a:rPr>
              <a:t>323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CN" baseline="-25000" dirty="0">
                <a:solidFill>
                  <a:srgbClr val="CC0099"/>
                </a:solidFill>
                <a:ea typeface="黑体" pitchFamily="2" charset="-122"/>
              </a:rPr>
              <a:t>       </a:t>
            </a:r>
            <a:r>
              <a:rPr kumimoji="1" lang="en-US" altLang="zh-CN" dirty="0">
                <a:solidFill>
                  <a:srgbClr val="CC0099"/>
                </a:solidFill>
                <a:ea typeface="黑体" pitchFamily="2" charset="-122"/>
              </a:rPr>
              <a:t>=([0,0.6],[0,0.7],[0.8,1])</a:t>
            </a:r>
          </a:p>
          <a:p>
            <a:pPr marL="0" indent="0" eaLnBrk="1" hangingPunct="1">
              <a:buNone/>
            </a:pPr>
            <a:r>
              <a:rPr lang="en-US" altLang="zh-CN" sz="2800" b="1" dirty="0">
                <a:solidFill>
                  <a:srgbClr val="0000FF"/>
                </a:solidFill>
                <a:ea typeface="楷体_GB2312" pitchFamily="49" charset="-122"/>
              </a:rPr>
              <a:t>(5)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最大解</a:t>
            </a:r>
            <a:r>
              <a:rPr lang="en-US" altLang="zh-CN" sz="2800" b="1" dirty="0" err="1">
                <a:solidFill>
                  <a:srgbClr val="FF0000"/>
                </a:solidFill>
                <a:ea typeface="楷体_GB2312" pitchFamily="49" charset="-122"/>
              </a:rPr>
              <a:t>X</a:t>
            </a:r>
            <a:r>
              <a:rPr lang="en-US" altLang="zh-CN" sz="2800" b="1" baseline="-25000" dirty="0" err="1">
                <a:solidFill>
                  <a:srgbClr val="FF0000"/>
                </a:solidFill>
                <a:ea typeface="楷体_GB2312" pitchFamily="49" charset="-122"/>
              </a:rPr>
              <a:t>max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=(0.6,0.7,1),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极小解</a:t>
            </a:r>
            <a:r>
              <a:rPr lang="en-US" altLang="zh-CN" sz="2800" b="1" dirty="0" err="1">
                <a:solidFill>
                  <a:srgbClr val="FF0000"/>
                </a:solidFill>
                <a:ea typeface="楷体_GB2312" pitchFamily="49" charset="-122"/>
              </a:rPr>
              <a:t>X</a:t>
            </a:r>
            <a:r>
              <a:rPr lang="en-US" altLang="zh-CN" sz="2800" b="1" baseline="-25000" dirty="0" err="1">
                <a:solidFill>
                  <a:srgbClr val="FF0000"/>
                </a:solidFill>
                <a:ea typeface="楷体_GB2312" pitchFamily="49" charset="-122"/>
              </a:rPr>
              <a:t>min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=(0,0,0.8)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054544-D651-F1DC-50B2-13D5490394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849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习题四</a:t>
            </a:r>
          </a:p>
          <a:p>
            <a:pPr marL="0" indent="0">
              <a:buNone/>
            </a:pPr>
            <a:r>
              <a:rPr lang="en-US" altLang="zh-CN" dirty="0"/>
              <a:t>    13, 14, 15, 16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1E7F4-0470-995D-DDDE-71A977F83C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A146F-9300-4B06-8947-0E9C0D98352F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232693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45092</TotalTime>
  <Words>9189</Words>
  <Application>Microsoft Office PowerPoint</Application>
  <PresentationFormat>宽屏</PresentationFormat>
  <Paragraphs>1356</Paragraphs>
  <Slides>97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97</vt:i4>
      </vt:variant>
    </vt:vector>
  </HeadingPairs>
  <TitlesOfParts>
    <vt:vector size="114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Monotype Corsiva</vt:lpstr>
      <vt:lpstr>Symbol</vt:lpstr>
      <vt:lpstr>Times New Roman</vt:lpstr>
      <vt:lpstr>Wingdings</vt:lpstr>
      <vt:lpstr>Pixel</vt:lpstr>
      <vt:lpstr>Equation</vt:lpstr>
      <vt:lpstr>公式</vt:lpstr>
      <vt:lpstr>Microsoft Word 97 - 2003 文档</vt:lpstr>
      <vt:lpstr>Document</vt:lpstr>
      <vt:lpstr>MathType 6.0 Equation</vt:lpstr>
      <vt:lpstr>第 4 章 模糊映射与综合评判</vt:lpstr>
      <vt:lpstr>F综合评判分类</vt:lpstr>
      <vt:lpstr>综合评价过程图</vt:lpstr>
      <vt:lpstr>常见的F综合评判模型——主因素突出型</vt:lpstr>
      <vt:lpstr>模型M（∧，∨）应用举例</vt:lpstr>
      <vt:lpstr>模型M（∧，∨）应用举例</vt:lpstr>
      <vt:lpstr>模型M（∧，∨）应用举例</vt:lpstr>
      <vt:lpstr>模型M（∧，∨）应用举例</vt:lpstr>
      <vt:lpstr>模型M（∧，∨）应用举例</vt:lpstr>
      <vt:lpstr>模型M（∧，∨）应用举例</vt:lpstr>
      <vt:lpstr>模型M（∧，∨）的适用范围</vt:lpstr>
      <vt:lpstr>2. 模型M（• ，∨）(•为代数乘运算)</vt:lpstr>
      <vt:lpstr>模型M（ • ，∨）应用举例</vt:lpstr>
      <vt:lpstr>模型M(• ，∨)与模型M(∧，∨)比较</vt:lpstr>
      <vt:lpstr>模型M（ • ，∨）的适用范围</vt:lpstr>
      <vt:lpstr>取小上界和型M（∧，⊕）</vt:lpstr>
      <vt:lpstr>模型M（∧，⊕）应用举例</vt:lpstr>
      <vt:lpstr>模型M（∧，⊕）适用范围</vt:lpstr>
      <vt:lpstr>模型M(∧，⊕) ai的值对结果的影响</vt:lpstr>
      <vt:lpstr>常见F综合评判模型——加权平均型M(• ,+)                 (“•”为代数乘运算， “+”为代数加运算)</vt:lpstr>
      <vt:lpstr>模型M（ • ，+）应用举例</vt:lpstr>
      <vt:lpstr>常见F综合评判模型——            全面制约型M（乘幂 ，∧）</vt:lpstr>
      <vt:lpstr>模型M（ 乘幂 ，∧） 应用举例</vt:lpstr>
      <vt:lpstr>例：评判某地区是否适宜种橡胶</vt:lpstr>
      <vt:lpstr>例：评判某地区是否适宜种橡胶</vt:lpstr>
      <vt:lpstr>将某地区1960-1978年间每年对三个气候因素实测的数据，分别代入前面三个隶属函数公式，得当年该因素的隶属度列于下表：</vt:lpstr>
      <vt:lpstr>例：评判某地区是否适宜种橡胶</vt:lpstr>
      <vt:lpstr>例：评判某地区是否适宜种橡胶</vt:lpstr>
      <vt:lpstr>例：污水处理厂运行管理效果的综合评判</vt:lpstr>
      <vt:lpstr>例：污水处理厂运行管理效果的综合评判</vt:lpstr>
      <vt:lpstr>例：污水处理厂运行管理效果的综合评判</vt:lpstr>
      <vt:lpstr>例：污水处理厂运行管理效果的综合评判</vt:lpstr>
      <vt:lpstr>例：污水处理厂运行管理效果的综合评判</vt:lpstr>
      <vt:lpstr>例：污水处理厂运行管理效果的综合评判</vt:lpstr>
      <vt:lpstr>例：污水处理厂运行管理效果的综合评判</vt:lpstr>
      <vt:lpstr>例：污水处理厂运行管理效果的综合评判</vt:lpstr>
      <vt:lpstr>多级F综合评判</vt:lpstr>
      <vt:lpstr>多级F综合评判的步骤</vt:lpstr>
      <vt:lpstr>多级F综合评判的步骤</vt:lpstr>
      <vt:lpstr>多级F综合评判的步骤</vt:lpstr>
      <vt:lpstr>多级F综合评判应用举例</vt:lpstr>
      <vt:lpstr>多级F综合评判应用举例</vt:lpstr>
      <vt:lpstr>多级F综合评判过程图</vt:lpstr>
      <vt:lpstr>例: 服装评判</vt:lpstr>
      <vt:lpstr>例: 服装评判</vt:lpstr>
      <vt:lpstr>例: 服装评判</vt:lpstr>
      <vt:lpstr>PowerPoint 演示文稿</vt:lpstr>
      <vt:lpstr>多层次F综合评判</vt:lpstr>
      <vt:lpstr>多层次F综合评判引例</vt:lpstr>
      <vt:lpstr>多层次F综合评判引例</vt:lpstr>
      <vt:lpstr>多层次F综合评判的步骤</vt:lpstr>
      <vt:lpstr>多层次F综合评判的步骤</vt:lpstr>
      <vt:lpstr>多层次F综合评判的步骤</vt:lpstr>
      <vt:lpstr>多层次F综合评判的步骤</vt:lpstr>
      <vt:lpstr>多层次F综合评判举例</vt:lpstr>
      <vt:lpstr>多层次F综合评判举例</vt:lpstr>
      <vt:lpstr>多层次F综合评判举例</vt:lpstr>
      <vt:lpstr>多层次F综合评判举例</vt:lpstr>
      <vt:lpstr>多层次F综合评判举例</vt:lpstr>
      <vt:lpstr>多层次F综合评判举例</vt:lpstr>
      <vt:lpstr>多层次F综合评判举例</vt:lpstr>
      <vt:lpstr>多层次F综合评判举例</vt:lpstr>
      <vt:lpstr>多层次F综合评判举例</vt:lpstr>
      <vt:lpstr>对多层次F综合评判说明</vt:lpstr>
      <vt:lpstr>权重的确定方法</vt:lpstr>
      <vt:lpstr>4.4  F决策</vt:lpstr>
      <vt:lpstr>确定权重的统计方法 1. 专家估测法</vt:lpstr>
      <vt:lpstr>2. 加权统计法</vt:lpstr>
      <vt:lpstr>2. 加权统计法</vt:lpstr>
      <vt:lpstr>2. 加权统计法</vt:lpstr>
      <vt:lpstr>3. 频率统计方法</vt:lpstr>
      <vt:lpstr>3. 频率统计方法</vt:lpstr>
      <vt:lpstr>3. 频率统计方法(举例)</vt:lpstr>
      <vt:lpstr>3. 频率统计方法(举例)(续)</vt:lpstr>
      <vt:lpstr>3. 频率统计方法(举例)(续)</vt:lpstr>
      <vt:lpstr>客观赋权法——变异系数法</vt:lpstr>
      <vt:lpstr>客观赋权法——变异系数法</vt:lpstr>
      <vt:lpstr>F协调决策法</vt:lpstr>
      <vt:lpstr>F协调决策法</vt:lpstr>
      <vt:lpstr>F协调决策法举例: 服装评判</vt:lpstr>
      <vt:lpstr>F协调决策法举例: 服装评判</vt:lpstr>
      <vt:lpstr>F协调决策法举例: 服装评判</vt:lpstr>
      <vt:lpstr>F协调决策法举例: 服装评判</vt:lpstr>
      <vt:lpstr>F关系方程法</vt:lpstr>
      <vt:lpstr>F关系方程法</vt:lpstr>
      <vt:lpstr>F关系方程法</vt:lpstr>
      <vt:lpstr>F关系方程法</vt:lpstr>
      <vt:lpstr>F关系方程法</vt:lpstr>
      <vt:lpstr>F关系方程法</vt:lpstr>
      <vt:lpstr>F关系方程法</vt:lpstr>
      <vt:lpstr>F关系方程法</vt:lpstr>
      <vt:lpstr>F关系方程法举例[P103例1] </vt:lpstr>
      <vt:lpstr>F关系方程法举例[P103例1]</vt:lpstr>
      <vt:lpstr>   F关系方程法举例</vt:lpstr>
      <vt:lpstr>F关系方程法举例</vt:lpstr>
      <vt:lpstr>F关系方程法举例</vt:lpstr>
      <vt:lpstr>作业 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4 章 模糊映射与综合评判</dc:title>
  <dc:creator>凌卫新; 微软用户</dc:creator>
  <cp:lastModifiedBy>wxling66@outlook.com</cp:lastModifiedBy>
  <cp:revision>548</cp:revision>
  <cp:lastPrinted>2015-04-20T14:16:03Z</cp:lastPrinted>
  <dcterms:created xsi:type="dcterms:W3CDTF">2007-04-24T08:13:12Z</dcterms:created>
  <dcterms:modified xsi:type="dcterms:W3CDTF">2026-04-28T12:00:14Z</dcterms:modified>
</cp:coreProperties>
</file>