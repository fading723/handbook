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76"/>
  </p:notesMasterIdLst>
  <p:handoutMasterIdLst>
    <p:handoutMasterId r:id="rId77"/>
  </p:handoutMasterIdLst>
  <p:sldIdLst>
    <p:sldId id="290" r:id="rId2"/>
    <p:sldId id="258" r:id="rId3"/>
    <p:sldId id="291" r:id="rId4"/>
    <p:sldId id="292" r:id="rId5"/>
    <p:sldId id="256" r:id="rId6"/>
    <p:sldId id="322" r:id="rId7"/>
    <p:sldId id="314" r:id="rId8"/>
    <p:sldId id="485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3" r:id="rId17"/>
    <p:sldId id="324" r:id="rId18"/>
    <p:sldId id="325" r:id="rId19"/>
    <p:sldId id="327" r:id="rId20"/>
    <p:sldId id="486" r:id="rId21"/>
    <p:sldId id="487" r:id="rId22"/>
    <p:sldId id="488" r:id="rId23"/>
    <p:sldId id="489" r:id="rId24"/>
    <p:sldId id="328" r:id="rId25"/>
    <p:sldId id="329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490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  <p:sldId id="354" r:id="rId50"/>
    <p:sldId id="355" r:id="rId51"/>
    <p:sldId id="356" r:id="rId52"/>
    <p:sldId id="357" r:id="rId53"/>
    <p:sldId id="358" r:id="rId54"/>
    <p:sldId id="359" r:id="rId55"/>
    <p:sldId id="360" r:id="rId56"/>
    <p:sldId id="361" r:id="rId57"/>
    <p:sldId id="362" r:id="rId58"/>
    <p:sldId id="365" r:id="rId59"/>
    <p:sldId id="363" r:id="rId60"/>
    <p:sldId id="364" r:id="rId61"/>
    <p:sldId id="366" r:id="rId62"/>
    <p:sldId id="367" r:id="rId63"/>
    <p:sldId id="368" r:id="rId64"/>
    <p:sldId id="482" r:id="rId65"/>
    <p:sldId id="369" r:id="rId66"/>
    <p:sldId id="370" r:id="rId67"/>
    <p:sldId id="371" r:id="rId68"/>
    <p:sldId id="483" r:id="rId69"/>
    <p:sldId id="372" r:id="rId70"/>
    <p:sldId id="373" r:id="rId71"/>
    <p:sldId id="374" r:id="rId72"/>
    <p:sldId id="484" r:id="rId73"/>
    <p:sldId id="382" r:id="rId74"/>
    <p:sldId id="409" r:id="rId7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00"/>
    <a:srgbClr val="FF99FF"/>
    <a:srgbClr val="0000FF"/>
    <a:srgbClr val="E0FFC1"/>
    <a:srgbClr val="FFFFCC"/>
    <a:srgbClr val="368B44"/>
    <a:srgbClr val="2D70B3"/>
    <a:srgbClr val="C74440"/>
    <a:srgbClr val="6B9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018" autoAdjust="0"/>
    <p:restoredTop sz="89176" autoAdjust="0"/>
  </p:normalViewPr>
  <p:slideViewPr>
    <p:cSldViewPr>
      <p:cViewPr varScale="1">
        <p:scale>
          <a:sx n="56" d="100"/>
          <a:sy n="56" d="100"/>
        </p:scale>
        <p:origin x="108" y="3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13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814710C-9446-495C-8895-4D323A4EA9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0203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77AE8BA-02E3-404F-A933-D6AB885DE8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39617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C59E4DC-BF11-493B-8E3A-DA8D71BB84BB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模式识别可以说是伴随人们生活的每一天：初生婴儿就能辨认自己的父母，大多数</a:t>
            </a:r>
            <a:r>
              <a:rPr lang="en-US" altLang="zh-CN" dirty="0">
                <a:ea typeface="黑体" pitchFamily="2" charset="-122"/>
              </a:rPr>
              <a:t>5</a:t>
            </a:r>
            <a:r>
              <a:rPr lang="zh-CN" altLang="en-US" dirty="0">
                <a:ea typeface="黑体" pitchFamily="2" charset="-122"/>
              </a:rPr>
              <a:t>岁的孩子能辨认数字和字母，无论它们是否清晰和完整；听到某人说话能辨认此人是谁，手写数学识别、闯红灯的汽车车牌号码、语音识别、机械故障的识别、农作物优良品种的识别</a:t>
            </a:r>
            <a:r>
              <a:rPr lang="en-US" altLang="zh-CN" dirty="0">
                <a:ea typeface="黑体" pitchFamily="2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1877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3FF151F-A71E-486E-B8C9-D1F22DC10FBB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客观事物大多存在模糊性，对识别而言，两个基本面都可能带有模糊性</a:t>
            </a: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5973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11F2CA8-E95E-453A-A296-E380986DA05C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sym typeface="Symbol" pitchFamily="18" charset="2"/>
              </a:rPr>
              <a:t>作图</a:t>
            </a: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7819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11F2CA8-E95E-453A-A296-E380986DA05C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sym typeface="Symbol" pitchFamily="18" charset="2"/>
              </a:rPr>
              <a:t>作图</a:t>
            </a: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2411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AC48F9B-9ECB-4BD2-B5FC-0A1BCA2DD155}" type="slidenum">
              <a:rPr lang="en-US" altLang="zh-CN" smtClean="0"/>
              <a:pPr/>
              <a:t>27</a:t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z="1000">
                <a:ea typeface="黑体" pitchFamily="2" charset="-122"/>
                <a:sym typeface="Symbol" pitchFamily="18" charset="2"/>
              </a:rPr>
              <a:t>贴近度的定义是原则性的概念，其具体规则视实际需要而定。</a:t>
            </a:r>
          </a:p>
        </p:txBody>
      </p:sp>
    </p:spTree>
    <p:extLst>
      <p:ext uri="{BB962C8B-B14F-4D97-AF65-F5344CB8AC3E}">
        <p14:creationId xmlns:p14="http://schemas.microsoft.com/office/powerpoint/2010/main" val="1950701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86B28AA-C32B-4629-9162-D16B90C43989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注意：</a:t>
            </a:r>
            <a:r>
              <a:rPr lang="en-US" altLang="zh-CN" dirty="0"/>
              <a:t>d(A)</a:t>
            </a:r>
            <a:r>
              <a:rPr lang="zh-CN" altLang="en-US" dirty="0"/>
              <a:t>与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）比较</a:t>
            </a:r>
          </a:p>
          <a:p>
            <a:pPr eaLnBrk="1" hangingPunct="1"/>
            <a:r>
              <a:rPr lang="zh-CN" altLang="en-US" dirty="0"/>
              <a:t>连续论域书上有</a:t>
            </a:r>
          </a:p>
        </p:txBody>
      </p:sp>
    </p:spTree>
    <p:extLst>
      <p:ext uri="{BB962C8B-B14F-4D97-AF65-F5344CB8AC3E}">
        <p14:creationId xmlns:p14="http://schemas.microsoft.com/office/powerpoint/2010/main" val="1203538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2E53AD3-F78C-4D05-9EDB-472F1DA40C17}" type="slidenum">
              <a:rPr lang="en-US" altLang="zh-CN" smtClean="0"/>
              <a:pPr/>
              <a:t>29</a:t>
            </a:fld>
            <a:endParaRPr lang="en-US" altLang="zh-CN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连续论域书上有</a:t>
            </a:r>
          </a:p>
        </p:txBody>
      </p:sp>
    </p:spTree>
    <p:extLst>
      <p:ext uri="{BB962C8B-B14F-4D97-AF65-F5344CB8AC3E}">
        <p14:creationId xmlns:p14="http://schemas.microsoft.com/office/powerpoint/2010/main" val="3998524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A757961-2A89-408E-AA39-CE0D1C046617}" type="slidenum">
              <a:rPr lang="en-US" altLang="zh-CN" smtClean="0"/>
              <a:pPr/>
              <a:t>30</a:t>
            </a:fld>
            <a:endParaRPr lang="en-US" altLang="zh-CN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黎曼积分</a:t>
            </a:r>
            <a:r>
              <a:rPr lang="en-US" altLang="zh-CN" dirty="0"/>
              <a:t>=</a:t>
            </a:r>
            <a:r>
              <a:rPr lang="zh-CN" altLang="en-US" dirty="0"/>
              <a:t>曲线与坐标轴所夹面积，对于</a:t>
            </a:r>
            <a:r>
              <a:rPr lang="en-US" altLang="zh-CN" dirty="0"/>
              <a:t>[</a:t>
            </a:r>
            <a:r>
              <a:rPr lang="en-US" altLang="zh-CN" dirty="0" err="1"/>
              <a:t>a,b</a:t>
            </a:r>
            <a:r>
              <a:rPr lang="en-US" altLang="zh-CN" dirty="0"/>
              <a:t>]</a:t>
            </a:r>
            <a:r>
              <a:rPr lang="zh-CN" altLang="en-US" dirty="0"/>
              <a:t>上之非负函数</a:t>
            </a:r>
            <a:r>
              <a:rPr lang="en-US" altLang="zh-CN" dirty="0"/>
              <a:t>f(x)</a:t>
            </a:r>
            <a:r>
              <a:rPr lang="zh-CN" altLang="en-US" dirty="0"/>
              <a:t>，</a:t>
            </a:r>
            <a:r>
              <a:rPr lang="en-US" altLang="zh-CN" dirty="0"/>
              <a:t>f(x)</a:t>
            </a:r>
            <a:r>
              <a:rPr lang="zh-CN" altLang="en-US" dirty="0"/>
              <a:t>所代表的曲线与</a:t>
            </a:r>
            <a:r>
              <a:rPr lang="en-US" altLang="zh-CN" dirty="0"/>
              <a:t>X</a:t>
            </a:r>
            <a:r>
              <a:rPr lang="zh-CN" altLang="en-US" dirty="0"/>
              <a:t>坐标轴所夹图形的面积，可以将此记为黎曼积分，其核心思想就是试图通过无限逼近来确定这个积分值。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91030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A218C74-9E79-4553-BF08-329BFC46BDA5}" type="slidenum">
              <a:rPr lang="en-US" altLang="zh-CN" smtClean="0"/>
              <a:pPr/>
              <a:t>36</a:t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61009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46772F2-ED3F-4112-841D-072E25B31D6D}" type="slidenum">
              <a:rPr lang="en-US" altLang="zh-CN" smtClean="0"/>
              <a:pPr/>
              <a:t>37</a:t>
            </a:fld>
            <a:endParaRPr lang="en-US" altLang="zh-CN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11997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只与</a:t>
            </a:r>
            <a:r>
              <a:rPr lang="en-US" altLang="zh-CN" dirty="0"/>
              <a:t>A</a:t>
            </a:r>
            <a:r>
              <a:rPr lang="zh-CN" altLang="en-US" dirty="0"/>
              <a:t>自己最贴近！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7AE8BA-02E3-404F-A933-D6AB885DE8A3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3795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7AE8BA-02E3-404F-A933-D6AB885DE8A3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7724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A749A92-CB87-47A0-B145-58EEB816BE19}" type="slidenum">
              <a:rPr lang="en-US" altLang="zh-CN" smtClean="0"/>
              <a:pPr/>
              <a:t>45</a:t>
            </a:fld>
            <a:endParaRPr lang="en-US" altLang="zh-CN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证明</a:t>
            </a:r>
            <a:r>
              <a:rPr lang="en-US" altLang="zh-CN"/>
              <a:t>[</a:t>
            </a:r>
            <a:r>
              <a:rPr lang="zh-CN" altLang="en-US"/>
              <a:t>性质</a:t>
            </a:r>
            <a:r>
              <a:rPr lang="en-US" altLang="zh-CN"/>
              <a:t>4]</a:t>
            </a:r>
          </a:p>
        </p:txBody>
      </p:sp>
    </p:spTree>
    <p:extLst>
      <p:ext uri="{BB962C8B-B14F-4D97-AF65-F5344CB8AC3E}">
        <p14:creationId xmlns:p14="http://schemas.microsoft.com/office/powerpoint/2010/main" val="1880456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6E4CB8D-3474-4ABC-B9D7-57CE0F526818}" type="slidenum">
              <a:rPr lang="en-US" altLang="zh-CN" smtClean="0"/>
              <a:pPr/>
              <a:t>51</a:t>
            </a:fld>
            <a:endParaRPr lang="en-US" altLang="zh-CN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82703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上述关于积分形式的贴近度，可把有限积分区间推广到无限积分区间的形式，只要相应的广义积分收敛即可。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7AE8BA-02E3-404F-A933-D6AB885DE8A3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4535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A12B528-E8E7-45E9-A68E-058D2DCFCA60}" type="slidenum">
              <a:rPr lang="en-US" altLang="zh-CN" smtClean="0"/>
              <a:pPr/>
              <a:t>61</a:t>
            </a:fld>
            <a:endParaRPr lang="en-US" altLang="zh-CN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endParaRPr lang="zh-CN" altLang="zh-CN"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4779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7AE8BA-02E3-404F-A933-D6AB885DE8A3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3676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集的隶属度是客观存在的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7AE8BA-02E3-404F-A933-D6AB885DE8A3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825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392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392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16A59-F6E8-4729-BC6D-BFE28E210D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476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368B44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  <a:ea typeface="黑体" panose="02010609060101010101" pitchFamily="49" charset="-122"/>
              </a:defRPr>
            </a:lvl1pPr>
            <a:lvl2pPr>
              <a:defRPr>
                <a:latin typeface="+mj-lt"/>
                <a:ea typeface="黑体" panose="02010609060101010101" pitchFamily="49" charset="-122"/>
              </a:defRPr>
            </a:lvl2pPr>
            <a:lvl3pPr>
              <a:defRPr>
                <a:latin typeface="+mj-lt"/>
                <a:ea typeface="黑体" panose="02010609060101010101" pitchFamily="49" charset="-122"/>
              </a:defRPr>
            </a:lvl3pPr>
            <a:lvl4pPr>
              <a:defRPr>
                <a:latin typeface="+mj-lt"/>
                <a:ea typeface="黑体" panose="02010609060101010101" pitchFamily="49" charset="-122"/>
              </a:defRPr>
            </a:lvl4pPr>
            <a:lvl5pPr>
              <a:defRPr>
                <a:latin typeface="+mj-lt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9AF99-EEB7-4264-B997-D7F9D89F74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12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2D33C4-3E15-4BA3-B398-E8A2EA82ED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125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034A66-B2F9-4700-9C31-A75059990A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088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4055A-34E3-4BD2-8464-C453B18E77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207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57724-7F62-47E9-9473-D057F1E59A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14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0E6E07-33F2-49A8-BD00-750C41AC19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43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8BEB7-65B4-4B0E-ABFC-9A92B09BAE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46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FB2AA-D1C5-4AEB-A230-3E40A6F005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27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1C30D-71C6-4176-AD36-893CAE10C2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04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E2328-BEEA-4B69-92DE-DAF21E5858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8500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F9D6D-36EA-4C0E-B0C7-CC24F67A8C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8746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6E25B-6966-49A4-8034-64784C305E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0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04D02D7E-A387-4F1B-8B74-37F0EA59D0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82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audio" Target="../media/audio2.wav"/><Relationship Id="rId7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4.bin"/><Relationship Id="rId4" Type="http://schemas.openxmlformats.org/officeDocument/2006/relationships/audio" Target="../media/audio3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6.bin"/><Relationship Id="rId4" Type="http://schemas.openxmlformats.org/officeDocument/2006/relationships/audio" Target="../media/audio3.wav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3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5.png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6.wmf"/><Relationship Id="rId7" Type="http://schemas.openxmlformats.org/officeDocument/2006/relationships/oleObject" Target="../embeddings/oleObject25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oleObject" Target="../embeddings/oleObject27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2.wmf"/><Relationship Id="rId4" Type="http://schemas.openxmlformats.org/officeDocument/2006/relationships/image" Target="../media/image37.png"/><Relationship Id="rId9" Type="http://schemas.openxmlformats.org/officeDocument/2006/relationships/oleObject" Target="../embeddings/oleObject2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image" Target="../media/image49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oleObject" Target="../embeddings/oleObject3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wmf"/><Relationship Id="rId11" Type="http://schemas.openxmlformats.org/officeDocument/2006/relationships/image" Target="../media/image48.wmf"/><Relationship Id="rId5" Type="http://schemas.openxmlformats.org/officeDocument/2006/relationships/oleObject" Target="../embeddings/oleObject31.bin"/><Relationship Id="rId10" Type="http://schemas.openxmlformats.org/officeDocument/2006/relationships/oleObject" Target="../embeddings/oleObject33.bin"/><Relationship Id="rId4" Type="http://schemas.openxmlformats.org/officeDocument/2006/relationships/image" Target="../media/image45.wmf"/><Relationship Id="rId9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wmf"/><Relationship Id="rId11" Type="http://schemas.openxmlformats.org/officeDocument/2006/relationships/image" Target="../media/image43.png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3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5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64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57.bin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69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75.w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7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74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7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8.png"/><Relationship Id="rId4" Type="http://schemas.openxmlformats.org/officeDocument/2006/relationships/image" Target="../media/image59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70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80.wmf"/><Relationship Id="rId18" Type="http://schemas.openxmlformats.org/officeDocument/2006/relationships/oleObject" Target="../embeddings/oleObject79.bin"/><Relationship Id="rId3" Type="http://schemas.openxmlformats.org/officeDocument/2006/relationships/image" Target="../media/image82.wmf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88.wmf"/><Relationship Id="rId2" Type="http://schemas.openxmlformats.org/officeDocument/2006/relationships/oleObject" Target="../embeddings/oleObject71.bin"/><Relationship Id="rId16" Type="http://schemas.openxmlformats.org/officeDocument/2006/relationships/oleObject" Target="../embeddings/oleObject7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6.wmf"/><Relationship Id="rId5" Type="http://schemas.openxmlformats.org/officeDocument/2006/relationships/image" Target="../media/image84.wmf"/><Relationship Id="rId15" Type="http://schemas.openxmlformats.org/officeDocument/2006/relationships/image" Target="../media/image87.wmf"/><Relationship Id="rId10" Type="http://schemas.openxmlformats.org/officeDocument/2006/relationships/oleObject" Target="../embeddings/oleObject75.bin"/><Relationship Id="rId19" Type="http://schemas.openxmlformats.org/officeDocument/2006/relationships/image" Target="../media/image89.w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77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image" Target="../media/image80.wmf"/><Relationship Id="rId7" Type="http://schemas.openxmlformats.org/officeDocument/2006/relationships/image" Target="../media/image91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90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59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96.wmf"/><Relationship Id="rId3" Type="http://schemas.openxmlformats.org/officeDocument/2006/relationships/image" Target="../media/image92.wmf"/><Relationship Id="rId7" Type="http://schemas.openxmlformats.org/officeDocument/2006/relationships/image" Target="../media/image93.wmf"/><Relationship Id="rId12" Type="http://schemas.openxmlformats.org/officeDocument/2006/relationships/oleObject" Target="../embeddings/oleObject89.bin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95.wmf"/><Relationship Id="rId5" Type="http://schemas.openxmlformats.org/officeDocument/2006/relationships/image" Target="../media/image90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94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7.wmf"/><Relationship Id="rId7" Type="http://schemas.openxmlformats.org/officeDocument/2006/relationships/oleObject" Target="../embeddings/oleObject92.bin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9.png"/><Relationship Id="rId5" Type="http://schemas.openxmlformats.org/officeDocument/2006/relationships/image" Target="../media/image98.wmf"/><Relationship Id="rId10" Type="http://schemas.openxmlformats.org/officeDocument/2006/relationships/image" Target="../media/image101.wmf"/><Relationship Id="rId4" Type="http://schemas.openxmlformats.org/officeDocument/2006/relationships/oleObject" Target="../embeddings/oleObject91.bin"/><Relationship Id="rId9" Type="http://schemas.openxmlformats.org/officeDocument/2006/relationships/oleObject" Target="../embeddings/oleObject93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image" Target="../media/image102.wmf"/><Relationship Id="rId7" Type="http://schemas.openxmlformats.org/officeDocument/2006/relationships/oleObject" Target="../embeddings/oleObject96.bin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9.png"/><Relationship Id="rId5" Type="http://schemas.openxmlformats.org/officeDocument/2006/relationships/image" Target="../media/image103.wmf"/><Relationship Id="rId10" Type="http://schemas.openxmlformats.org/officeDocument/2006/relationships/image" Target="../media/image105.wmf"/><Relationship Id="rId4" Type="http://schemas.openxmlformats.org/officeDocument/2006/relationships/oleObject" Target="../embeddings/oleObject95.bin"/><Relationship Id="rId9" Type="http://schemas.openxmlformats.org/officeDocument/2006/relationships/oleObject" Target="../embeddings/oleObject9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104.bin"/><Relationship Id="rId3" Type="http://schemas.openxmlformats.org/officeDocument/2006/relationships/image" Target="../media/image99.png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62.wmf"/><Relationship Id="rId2" Type="http://schemas.openxmlformats.org/officeDocument/2006/relationships/notesSlide" Target="../notesSlides/notesSlide14.xml"/><Relationship Id="rId16" Type="http://schemas.openxmlformats.org/officeDocument/2006/relationships/oleObject" Target="../embeddings/oleObject4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9.wmf"/><Relationship Id="rId5" Type="http://schemas.openxmlformats.org/officeDocument/2006/relationships/image" Target="../media/image106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111.wmf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103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106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wmf"/><Relationship Id="rId4" Type="http://schemas.openxmlformats.org/officeDocument/2006/relationships/oleObject" Target="../embeddings/oleObject108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110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18.w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3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116.bin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7200" b="1" dirty="0">
                <a:solidFill>
                  <a:srgbClr val="FFFF66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7200" b="1" dirty="0">
                <a:solidFill>
                  <a:srgbClr val="FFFF66"/>
                </a:solidFill>
                <a:ea typeface="隶书" pitchFamily="49" charset="-122"/>
              </a:rPr>
              <a:t> </a:t>
            </a:r>
            <a:r>
              <a:rPr lang="en-US" altLang="zh-CN" sz="7200" b="1" dirty="0">
                <a:solidFill>
                  <a:srgbClr val="FFFF66"/>
                </a:solidFill>
                <a:ea typeface="隶书" pitchFamily="49" charset="-122"/>
              </a:rPr>
              <a:t>2 </a:t>
            </a:r>
            <a:r>
              <a:rPr lang="zh-CN" altLang="en-US" sz="7200" b="1" dirty="0">
                <a:solidFill>
                  <a:srgbClr val="FFFF66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7200" b="1" dirty="0">
                <a:solidFill>
                  <a:srgbClr val="FFFF66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7200" b="1" dirty="0">
                <a:solidFill>
                  <a:srgbClr val="FFFF66"/>
                </a:solidFill>
                <a:latin typeface="隶书" pitchFamily="49" charset="-122"/>
                <a:ea typeface="隶书" pitchFamily="49" charset="-122"/>
              </a:rPr>
              <a:t>模糊模式识别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C6F68ED-D51D-6AB2-6BF9-61095E4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1704" y="4266108"/>
            <a:ext cx="6019800" cy="2402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 eaLnBrk="1" hangingPunct="1"/>
            <a:r>
              <a:rPr lang="en-US" altLang="zh-CN" sz="2800" kern="0" dirty="0">
                <a:solidFill>
                  <a:srgbClr val="FF0000"/>
                </a:solidFill>
                <a:ea typeface="黑体" pitchFamily="2" charset="-122"/>
              </a:rPr>
              <a:t>1 </a:t>
            </a:r>
            <a:r>
              <a:rPr lang="zh-CN" altLang="en-US" sz="2800" kern="0" dirty="0">
                <a:solidFill>
                  <a:srgbClr val="FF0000"/>
                </a:solidFill>
                <a:ea typeface="黑体" pitchFamily="2" charset="-122"/>
              </a:rPr>
              <a:t>模糊模式识别的直接方法</a:t>
            </a:r>
          </a:p>
          <a:p>
            <a:pPr algn="l" eaLnBrk="1" hangingPunct="1"/>
            <a:r>
              <a:rPr lang="en-US" altLang="zh-CN" sz="2800" kern="0" dirty="0">
                <a:solidFill>
                  <a:srgbClr val="FF0000"/>
                </a:solidFill>
                <a:ea typeface="黑体" pitchFamily="2" charset="-122"/>
              </a:rPr>
              <a:t>2 </a:t>
            </a:r>
            <a:r>
              <a:rPr lang="zh-CN" altLang="en-US" sz="2800" kern="0" dirty="0">
                <a:solidFill>
                  <a:srgbClr val="FF0000"/>
                </a:solidFill>
                <a:ea typeface="黑体" pitchFamily="2" charset="-122"/>
              </a:rPr>
              <a:t>模糊集的贴近度</a:t>
            </a:r>
          </a:p>
          <a:p>
            <a:pPr algn="l" eaLnBrk="1" hangingPunct="1"/>
            <a:r>
              <a:rPr lang="en-US" altLang="zh-CN" sz="2800" kern="0" dirty="0">
                <a:solidFill>
                  <a:srgbClr val="FF0000"/>
                </a:solidFill>
                <a:ea typeface="黑体" pitchFamily="2" charset="-122"/>
              </a:rPr>
              <a:t>3 </a:t>
            </a:r>
            <a:r>
              <a:rPr lang="zh-CN" altLang="en-US" sz="2800" kern="0" dirty="0">
                <a:solidFill>
                  <a:srgbClr val="FF0000"/>
                </a:solidFill>
                <a:ea typeface="黑体" pitchFamily="2" charset="-122"/>
              </a:rPr>
              <a:t>格贴近度</a:t>
            </a:r>
          </a:p>
          <a:p>
            <a:pPr algn="l" eaLnBrk="1" hangingPunct="1"/>
            <a:r>
              <a:rPr lang="en-US" altLang="zh-CN" sz="2800" kern="0" dirty="0">
                <a:solidFill>
                  <a:srgbClr val="FF0000"/>
                </a:solidFill>
                <a:ea typeface="黑体" pitchFamily="2" charset="-122"/>
              </a:rPr>
              <a:t>4 </a:t>
            </a:r>
            <a:r>
              <a:rPr lang="zh-CN" altLang="en-US" sz="2800" kern="0" dirty="0">
                <a:solidFill>
                  <a:srgbClr val="FF0000"/>
                </a:solidFill>
                <a:ea typeface="黑体" pitchFamily="2" charset="-122"/>
              </a:rPr>
              <a:t>模糊模式识别原则</a:t>
            </a:r>
          </a:p>
          <a:p>
            <a:pPr algn="l" eaLnBrk="1" hangingPunct="1"/>
            <a:r>
              <a:rPr lang="en-US" altLang="zh-CN" sz="2800" kern="0" dirty="0">
                <a:solidFill>
                  <a:srgbClr val="FF0000"/>
                </a:solidFill>
                <a:ea typeface="黑体" pitchFamily="2" charset="-122"/>
              </a:rPr>
              <a:t>5 </a:t>
            </a:r>
            <a:r>
              <a:rPr lang="zh-CN" altLang="en-US" sz="2800" kern="0" dirty="0">
                <a:solidFill>
                  <a:srgbClr val="FF0000"/>
                </a:solidFill>
                <a:ea typeface="黑体" pitchFamily="2" charset="-122"/>
              </a:rPr>
              <a:t>确定隶属函数的方法综述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E3110A-C233-106E-5D25-2CF3F631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16A59-F6E8-4729-BC6D-BFE28E210D3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模式识别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341439"/>
            <a:ext cx="10009112" cy="28797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模式识别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(Pattern Recognition)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就是机器识别、计算机识别或机器自动识别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模式识别的目的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让机器自动识别对象属何分类。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模式识别系统</a:t>
            </a:r>
          </a:p>
        </p:txBody>
      </p:sp>
      <p:sp>
        <p:nvSpPr>
          <p:cNvPr id="4100" name="Text Box 73"/>
          <p:cNvSpPr txBox="1">
            <a:spLocks noChangeArrowheads="1"/>
          </p:cNvSpPr>
          <p:nvPr/>
        </p:nvSpPr>
        <p:spPr bwMode="auto">
          <a:xfrm>
            <a:off x="9157593" y="5906443"/>
            <a:ext cx="1258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分类结果</a:t>
            </a:r>
          </a:p>
        </p:txBody>
      </p:sp>
      <p:grpSp>
        <p:nvGrpSpPr>
          <p:cNvPr id="4101" name="Group 74"/>
          <p:cNvGrpSpPr>
            <a:grpSpLocks/>
          </p:cNvGrpSpPr>
          <p:nvPr/>
        </p:nvGrpSpPr>
        <p:grpSpPr bwMode="auto">
          <a:xfrm>
            <a:off x="1774826" y="4149080"/>
            <a:ext cx="8569325" cy="2665412"/>
            <a:chOff x="204" y="1842"/>
            <a:chExt cx="5398" cy="1679"/>
          </a:xfrm>
        </p:grpSpPr>
        <p:sp>
          <p:nvSpPr>
            <p:cNvPr id="4102" name="Text Box 75"/>
            <p:cNvSpPr txBox="1">
              <a:spLocks noChangeArrowheads="1"/>
            </p:cNvSpPr>
            <p:nvPr/>
          </p:nvSpPr>
          <p:spPr bwMode="auto">
            <a:xfrm>
              <a:off x="385" y="2931"/>
              <a:ext cx="1044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数据获取</a:t>
              </a:r>
            </a:p>
          </p:txBody>
        </p:sp>
        <p:sp>
          <p:nvSpPr>
            <p:cNvPr id="4103" name="Text Box 76"/>
            <p:cNvSpPr txBox="1">
              <a:spLocks noChangeArrowheads="1"/>
            </p:cNvSpPr>
            <p:nvPr/>
          </p:nvSpPr>
          <p:spPr bwMode="auto">
            <a:xfrm>
              <a:off x="1746" y="2931"/>
              <a:ext cx="590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预处理</a:t>
              </a:r>
            </a:p>
          </p:txBody>
        </p:sp>
        <p:sp>
          <p:nvSpPr>
            <p:cNvPr id="4104" name="Text Box 77"/>
            <p:cNvSpPr txBox="1">
              <a:spLocks noChangeArrowheads="1"/>
            </p:cNvSpPr>
            <p:nvPr/>
          </p:nvSpPr>
          <p:spPr bwMode="auto">
            <a:xfrm>
              <a:off x="2608" y="2931"/>
              <a:ext cx="771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特征提取</a:t>
              </a:r>
            </a:p>
          </p:txBody>
        </p:sp>
        <p:sp>
          <p:nvSpPr>
            <p:cNvPr id="4105" name="Text Box 78"/>
            <p:cNvSpPr txBox="1">
              <a:spLocks noChangeArrowheads="1"/>
            </p:cNvSpPr>
            <p:nvPr/>
          </p:nvSpPr>
          <p:spPr bwMode="auto">
            <a:xfrm>
              <a:off x="3651" y="2931"/>
              <a:ext cx="1043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分类决策</a:t>
              </a:r>
            </a:p>
          </p:txBody>
        </p:sp>
        <p:sp>
          <p:nvSpPr>
            <p:cNvPr id="4106" name="Text Box 79"/>
            <p:cNvSpPr txBox="1">
              <a:spLocks noChangeArrowheads="1"/>
            </p:cNvSpPr>
            <p:nvPr/>
          </p:nvSpPr>
          <p:spPr bwMode="auto">
            <a:xfrm>
              <a:off x="385" y="2387"/>
              <a:ext cx="1044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训练样本输入</a:t>
              </a:r>
            </a:p>
          </p:txBody>
        </p:sp>
        <p:sp>
          <p:nvSpPr>
            <p:cNvPr id="4107" name="Text Box 80"/>
            <p:cNvSpPr txBox="1">
              <a:spLocks noChangeArrowheads="1"/>
            </p:cNvSpPr>
            <p:nvPr/>
          </p:nvSpPr>
          <p:spPr bwMode="auto">
            <a:xfrm>
              <a:off x="2608" y="2387"/>
              <a:ext cx="771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特征选取</a:t>
              </a:r>
            </a:p>
          </p:txBody>
        </p:sp>
        <p:sp>
          <p:nvSpPr>
            <p:cNvPr id="4108" name="Text Box 81"/>
            <p:cNvSpPr txBox="1">
              <a:spLocks noChangeArrowheads="1"/>
            </p:cNvSpPr>
            <p:nvPr/>
          </p:nvSpPr>
          <p:spPr bwMode="auto">
            <a:xfrm>
              <a:off x="3651" y="2387"/>
              <a:ext cx="1043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确定判别函数</a:t>
              </a:r>
            </a:p>
          </p:txBody>
        </p:sp>
        <p:sp>
          <p:nvSpPr>
            <p:cNvPr id="4109" name="Text Box 82"/>
            <p:cNvSpPr txBox="1">
              <a:spLocks noChangeArrowheads="1"/>
            </p:cNvSpPr>
            <p:nvPr/>
          </p:nvSpPr>
          <p:spPr bwMode="auto">
            <a:xfrm>
              <a:off x="4876" y="1933"/>
              <a:ext cx="726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误差检验</a:t>
              </a:r>
            </a:p>
          </p:txBody>
        </p:sp>
        <p:sp>
          <p:nvSpPr>
            <p:cNvPr id="4110" name="Text Box 83"/>
            <p:cNvSpPr txBox="1">
              <a:spLocks noChangeArrowheads="1"/>
            </p:cNvSpPr>
            <p:nvPr/>
          </p:nvSpPr>
          <p:spPr bwMode="auto">
            <a:xfrm>
              <a:off x="1746" y="2387"/>
              <a:ext cx="590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预处理</a:t>
              </a:r>
            </a:p>
          </p:txBody>
        </p:sp>
        <p:sp>
          <p:nvSpPr>
            <p:cNvPr id="4111" name="Text Box 84"/>
            <p:cNvSpPr txBox="1">
              <a:spLocks noChangeArrowheads="1"/>
            </p:cNvSpPr>
            <p:nvPr/>
          </p:nvSpPr>
          <p:spPr bwMode="auto">
            <a:xfrm>
              <a:off x="3651" y="1933"/>
              <a:ext cx="1044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改进判别函数</a:t>
              </a:r>
            </a:p>
          </p:txBody>
        </p:sp>
        <p:sp>
          <p:nvSpPr>
            <p:cNvPr id="4112" name="Line 85"/>
            <p:cNvSpPr>
              <a:spLocks noChangeShapeType="1"/>
            </p:cNvSpPr>
            <p:nvPr/>
          </p:nvSpPr>
          <p:spPr bwMode="auto">
            <a:xfrm>
              <a:off x="1429" y="3067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3" name="Line 86"/>
            <p:cNvSpPr>
              <a:spLocks noChangeShapeType="1"/>
            </p:cNvSpPr>
            <p:nvPr/>
          </p:nvSpPr>
          <p:spPr bwMode="auto">
            <a:xfrm>
              <a:off x="2336" y="3067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4" name="Line 87"/>
            <p:cNvSpPr>
              <a:spLocks noChangeShapeType="1"/>
            </p:cNvSpPr>
            <p:nvPr/>
          </p:nvSpPr>
          <p:spPr bwMode="auto">
            <a:xfrm>
              <a:off x="1429" y="2524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5" name="Line 88"/>
            <p:cNvSpPr>
              <a:spLocks noChangeShapeType="1"/>
            </p:cNvSpPr>
            <p:nvPr/>
          </p:nvSpPr>
          <p:spPr bwMode="auto">
            <a:xfrm>
              <a:off x="3379" y="252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" name="Line 89"/>
            <p:cNvSpPr>
              <a:spLocks noChangeShapeType="1"/>
            </p:cNvSpPr>
            <p:nvPr/>
          </p:nvSpPr>
          <p:spPr bwMode="auto">
            <a:xfrm>
              <a:off x="2336" y="252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7" name="Line 90"/>
            <p:cNvSpPr>
              <a:spLocks noChangeShapeType="1"/>
            </p:cNvSpPr>
            <p:nvPr/>
          </p:nvSpPr>
          <p:spPr bwMode="auto">
            <a:xfrm>
              <a:off x="3379" y="3067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8" name="Line 91"/>
            <p:cNvSpPr>
              <a:spLocks noChangeShapeType="1"/>
            </p:cNvSpPr>
            <p:nvPr/>
          </p:nvSpPr>
          <p:spPr bwMode="auto">
            <a:xfrm>
              <a:off x="4694" y="3067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9" name="Line 92"/>
            <p:cNvSpPr>
              <a:spLocks noChangeShapeType="1"/>
            </p:cNvSpPr>
            <p:nvPr/>
          </p:nvSpPr>
          <p:spPr bwMode="auto">
            <a:xfrm flipV="1">
              <a:off x="2018" y="2659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0" name="Line 93"/>
            <p:cNvSpPr>
              <a:spLocks noChangeShapeType="1"/>
            </p:cNvSpPr>
            <p:nvPr/>
          </p:nvSpPr>
          <p:spPr bwMode="auto">
            <a:xfrm flipV="1">
              <a:off x="4150" y="2182"/>
              <a:ext cx="0" cy="2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1" name="Line 94"/>
            <p:cNvSpPr>
              <a:spLocks noChangeShapeType="1"/>
            </p:cNvSpPr>
            <p:nvPr/>
          </p:nvSpPr>
          <p:spPr bwMode="auto">
            <a:xfrm flipV="1">
              <a:off x="4150" y="2636"/>
              <a:ext cx="0" cy="2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2" name="Line 95"/>
            <p:cNvSpPr>
              <a:spLocks noChangeShapeType="1"/>
            </p:cNvSpPr>
            <p:nvPr/>
          </p:nvSpPr>
          <p:spPr bwMode="auto">
            <a:xfrm flipV="1">
              <a:off x="2971" y="2659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3" name="Line 96"/>
            <p:cNvSpPr>
              <a:spLocks noChangeShapeType="1"/>
            </p:cNvSpPr>
            <p:nvPr/>
          </p:nvSpPr>
          <p:spPr bwMode="auto">
            <a:xfrm flipH="1">
              <a:off x="4694" y="2069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4" name="Line 97"/>
            <p:cNvSpPr>
              <a:spLocks noChangeShapeType="1"/>
            </p:cNvSpPr>
            <p:nvPr/>
          </p:nvSpPr>
          <p:spPr bwMode="auto">
            <a:xfrm>
              <a:off x="4694" y="2524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5" name="Line 98"/>
            <p:cNvSpPr>
              <a:spLocks noChangeShapeType="1"/>
            </p:cNvSpPr>
            <p:nvPr/>
          </p:nvSpPr>
          <p:spPr bwMode="auto">
            <a:xfrm>
              <a:off x="5239" y="2160"/>
              <a:ext cx="0" cy="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6" name="Text Box 99"/>
            <p:cNvSpPr txBox="1">
              <a:spLocks noChangeArrowheads="1"/>
            </p:cNvSpPr>
            <p:nvPr/>
          </p:nvSpPr>
          <p:spPr bwMode="auto">
            <a:xfrm>
              <a:off x="385" y="3249"/>
              <a:ext cx="195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3333FF"/>
                  </a:solidFill>
                  <a:ea typeface="楷体_GB2312" pitchFamily="49" charset="-122"/>
                </a:rPr>
                <a:t>未知类别模式的分类</a:t>
              </a:r>
            </a:p>
          </p:txBody>
        </p:sp>
        <p:sp>
          <p:nvSpPr>
            <p:cNvPr id="4127" name="Text Box 100"/>
            <p:cNvSpPr txBox="1">
              <a:spLocks noChangeArrowheads="1"/>
            </p:cNvSpPr>
            <p:nvPr/>
          </p:nvSpPr>
          <p:spPr bwMode="auto">
            <a:xfrm>
              <a:off x="385" y="1979"/>
              <a:ext cx="11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8000"/>
                  </a:solidFill>
                  <a:ea typeface="楷体_GB2312" pitchFamily="49" charset="-122"/>
                </a:rPr>
                <a:t>分类器设计</a:t>
              </a:r>
            </a:p>
          </p:txBody>
        </p:sp>
        <p:sp>
          <p:nvSpPr>
            <p:cNvPr id="4128" name="Rectangle 101"/>
            <p:cNvSpPr>
              <a:spLocks noChangeArrowheads="1"/>
            </p:cNvSpPr>
            <p:nvPr/>
          </p:nvSpPr>
          <p:spPr bwMode="auto">
            <a:xfrm>
              <a:off x="204" y="2840"/>
              <a:ext cx="5398" cy="681"/>
            </a:xfrm>
            <a:prstGeom prst="rect">
              <a:avLst/>
            </a:prstGeom>
            <a:noFill/>
            <a:ln w="19050">
              <a:solidFill>
                <a:srgbClr val="3333FF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9" name="Rectangle 102"/>
            <p:cNvSpPr>
              <a:spLocks noChangeArrowheads="1"/>
            </p:cNvSpPr>
            <p:nvPr/>
          </p:nvSpPr>
          <p:spPr bwMode="auto">
            <a:xfrm>
              <a:off x="204" y="1842"/>
              <a:ext cx="5398" cy="862"/>
            </a:xfrm>
            <a:prstGeom prst="rect">
              <a:avLst/>
            </a:prstGeom>
            <a:noFill/>
            <a:ln w="19050">
              <a:solidFill>
                <a:srgbClr val="008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D6AA60-43EF-41FD-DBF2-6EA16CC805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410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/>
              <a:t>前一页说明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12876"/>
            <a:ext cx="10742984" cy="518477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模式识别是当前科学发展中的一门前沿学科，也是一门典型的交叉学科，它的发展与人工智能、计算机科学、传感技术、信息论、语言学等学科的研究水平息息相关，相辅相成。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模式识别系统</a:t>
            </a:r>
            <a:r>
              <a:rPr lang="en-US" altLang="zh-CN" sz="2800" dirty="0">
                <a:ea typeface="黑体" pitchFamily="2" charset="-122"/>
              </a:rPr>
              <a:t>——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上半部分属于分类器设计的训练过程，利用样本进行训练，确定分类器的具体参数，完成分类器的设计。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而分类决策在识别过程中起作用，对待识别的样本进行分类决策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下半部分完成未知类别模式的分类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7D5F8E-8557-975A-31B5-F7A0B38267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模糊模式识别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557338"/>
            <a:ext cx="9793088" cy="5300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模式识别中有两个基本面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黑体" pitchFamily="2" charset="-122"/>
              </a:rPr>
              <a:t>事先已知若干标准模型构成标准模型库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b="1" dirty="0">
                <a:ea typeface="楷体_GB2312" pitchFamily="49" charset="-122"/>
              </a:rPr>
              <a:t>有的模式界线分明：如印刷体的字母、数字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b="1" dirty="0">
                <a:ea typeface="楷体_GB2312" pitchFamily="49" charset="-122"/>
              </a:rPr>
              <a:t>有的模式界线不明确：</a:t>
            </a:r>
          </a:p>
          <a:p>
            <a:pPr lvl="3" eaLnBrk="1" hangingPunct="1">
              <a:lnSpc>
                <a:spcPct val="90000"/>
              </a:lnSpc>
            </a:pPr>
            <a:r>
              <a:rPr lang="zh-CN" altLang="en-US" sz="2400" b="1" dirty="0">
                <a:ea typeface="楷体_GB2312" pitchFamily="49" charset="-122"/>
              </a:rPr>
              <a:t>如：高、矮、胖、瘦</a:t>
            </a:r>
            <a:r>
              <a:rPr lang="en-US" altLang="zh-CN" sz="2400" b="1" dirty="0">
                <a:ea typeface="楷体_GB2312" pitchFamily="49" charset="-122"/>
              </a:rPr>
              <a:t>——</a:t>
            </a:r>
            <a:r>
              <a:rPr lang="zh-CN" altLang="en-US" sz="2400" b="1" dirty="0">
                <a:ea typeface="楷体_GB2312" pitchFamily="49" charset="-122"/>
              </a:rPr>
              <a:t>称为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模糊模式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黑体" pitchFamily="2" charset="-122"/>
              </a:rPr>
              <a:t>有待识别的对象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模糊模式识别</a:t>
            </a:r>
            <a:r>
              <a:rPr lang="en-US" altLang="zh-CN" dirty="0"/>
              <a:t>——</a:t>
            </a:r>
            <a:r>
              <a:rPr lang="zh-CN" altLang="en-US" dirty="0"/>
              <a:t>对模糊模式的识别问题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黑体" pitchFamily="2" charset="-122"/>
              </a:rPr>
              <a:t>模式库是模糊的，而待识别对象是分明的；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800" b="1" dirty="0">
                <a:ea typeface="楷体_GB2312" pitchFamily="49" charset="-122"/>
              </a:rPr>
              <a:t>用模糊模式识别的</a:t>
            </a:r>
            <a:r>
              <a:rPr lang="zh-CN" altLang="en-US" sz="2800" b="1" u="sng" dirty="0">
                <a:solidFill>
                  <a:srgbClr val="FF00FF"/>
                </a:solidFill>
                <a:ea typeface="楷体_GB2312" pitchFamily="49" charset="-122"/>
              </a:rPr>
              <a:t>直接方法</a:t>
            </a:r>
            <a:r>
              <a:rPr lang="zh-CN" altLang="en-US" sz="2800" b="1" dirty="0">
                <a:ea typeface="楷体_GB2312" pitchFamily="49" charset="-122"/>
              </a:rPr>
              <a:t>解决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ea typeface="黑体" pitchFamily="2" charset="-122"/>
              </a:rPr>
              <a:t>模式库和待识别对象都是模糊的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800" b="1" dirty="0">
                <a:ea typeface="楷体_GB2312" pitchFamily="49" charset="-122"/>
              </a:rPr>
              <a:t>用模糊模式识别的</a:t>
            </a:r>
            <a:r>
              <a:rPr lang="zh-CN" altLang="en-US" sz="2800" b="1" u="sng" dirty="0">
                <a:solidFill>
                  <a:srgbClr val="0000FF"/>
                </a:solidFill>
                <a:ea typeface="楷体_GB2312" pitchFamily="49" charset="-122"/>
              </a:rPr>
              <a:t>间接方法</a:t>
            </a:r>
            <a:r>
              <a:rPr lang="zh-CN" altLang="en-US" sz="2800" b="1" dirty="0">
                <a:ea typeface="楷体_GB2312" pitchFamily="49" charset="-122"/>
              </a:rPr>
              <a:t>解决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39DB4C-F103-0A53-DC61-7E2BD3D311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第二章  模糊模式识别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287713" y="1828800"/>
            <a:ext cx="5616575" cy="4319588"/>
          </a:xfrm>
          <a:solidFill>
            <a:srgbClr val="FFFFCC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1 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模糊模式识别的直接方法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2 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模糊集的贴近度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3 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格贴近度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4 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模糊模式识别原则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5 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确定隶属函数的方法综述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1AE5D36-27C0-6364-9DD7-0A09A17AA8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457201"/>
            <a:ext cx="8507413" cy="955675"/>
          </a:xfrm>
        </p:spPr>
        <p:txBody>
          <a:bodyPr/>
          <a:lstStyle/>
          <a:p>
            <a:pPr algn="ctr" eaLnBrk="1" hangingPunct="1"/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模式识别</a:t>
            </a:r>
            <a:r>
              <a:rPr lang="zh-CN" altLang="en-US" sz="4000" u="sng" dirty="0">
                <a:solidFill>
                  <a:srgbClr val="008000"/>
                </a:solidFill>
                <a:ea typeface="黑体" pitchFamily="2" charset="-122"/>
              </a:rPr>
              <a:t>直接方法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的一般应用步骤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557338"/>
            <a:ext cx="9937103" cy="504031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1. 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抽选识别对象的特性指标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ea typeface="黑体" pitchFamily="2" charset="-122"/>
              </a:rPr>
              <a:t>在影响对象</a:t>
            </a:r>
            <a:r>
              <a:rPr kumimoji="1" lang="en-US" altLang="zh-CN" i="1" dirty="0">
                <a:ea typeface="黑体" pitchFamily="2" charset="-122"/>
              </a:rPr>
              <a:t>U</a:t>
            </a:r>
            <a:r>
              <a:rPr lang="zh-CN" altLang="en-US" dirty="0">
                <a:ea typeface="黑体" pitchFamily="2" charset="-122"/>
              </a:rPr>
              <a:t>的各因素中，抽选与模式识别问题有显著关系的各种特性指标，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ea typeface="黑体" pitchFamily="2" charset="-122"/>
              </a:rPr>
              <a:t>并测出识别对象</a:t>
            </a:r>
            <a:r>
              <a:rPr kumimoji="1" lang="en-US" altLang="zh-CN" i="1" dirty="0">
                <a:ea typeface="黑体" pitchFamily="2" charset="-122"/>
              </a:rPr>
              <a:t>U</a:t>
            </a:r>
            <a:r>
              <a:rPr lang="zh-CN" altLang="en-US" dirty="0">
                <a:ea typeface="黑体" pitchFamily="2" charset="-122"/>
              </a:rPr>
              <a:t>各特性指标的具体数据，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ea typeface="黑体" pitchFamily="2" charset="-122"/>
              </a:rPr>
              <a:t>写出识别对象</a:t>
            </a:r>
            <a:r>
              <a:rPr kumimoji="1" lang="en-US" altLang="zh-CN" i="1" dirty="0">
                <a:ea typeface="黑体" pitchFamily="2" charset="-122"/>
              </a:rPr>
              <a:t>U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ea typeface="黑体" pitchFamily="2" charset="-122"/>
              </a:rPr>
              <a:t>的特性指标向量</a:t>
            </a:r>
            <a:r>
              <a:rPr kumimoji="1" lang="en-US" altLang="zh-CN" i="1" dirty="0">
                <a:ea typeface="黑体" pitchFamily="2" charset="-122"/>
              </a:rPr>
              <a:t>U</a:t>
            </a:r>
            <a:r>
              <a:rPr kumimoji="1" lang="en-US" altLang="zh-CN" dirty="0">
                <a:ea typeface="黑体" pitchFamily="2" charset="-122"/>
              </a:rPr>
              <a:t>={</a:t>
            </a:r>
            <a:r>
              <a:rPr kumimoji="1" lang="en-US" altLang="zh-CN" i="1" dirty="0">
                <a:ea typeface="黑体" pitchFamily="2" charset="-122"/>
              </a:rPr>
              <a:t>u</a:t>
            </a:r>
            <a:r>
              <a:rPr kumimoji="1" lang="en-US" altLang="zh-CN" baseline="-25000" dirty="0">
                <a:ea typeface="黑体" pitchFamily="2" charset="-122"/>
              </a:rPr>
              <a:t>1</a:t>
            </a:r>
            <a:r>
              <a:rPr kumimoji="1" lang="en-US" altLang="zh-CN" dirty="0">
                <a:ea typeface="黑体" pitchFamily="2" charset="-122"/>
              </a:rPr>
              <a:t>, </a:t>
            </a:r>
            <a:r>
              <a:rPr kumimoji="1" lang="en-US" altLang="zh-CN" i="1" dirty="0">
                <a:ea typeface="黑体" pitchFamily="2" charset="-122"/>
              </a:rPr>
              <a:t>u</a:t>
            </a:r>
            <a:r>
              <a:rPr kumimoji="1" lang="en-US" altLang="zh-CN" baseline="-25000" dirty="0">
                <a:ea typeface="黑体" pitchFamily="2" charset="-122"/>
              </a:rPr>
              <a:t>2</a:t>
            </a:r>
            <a:r>
              <a:rPr kumimoji="1" lang="en-US" altLang="zh-CN" dirty="0">
                <a:ea typeface="黑体" pitchFamily="2" charset="-122"/>
              </a:rPr>
              <a:t>,…, </a:t>
            </a:r>
            <a:r>
              <a:rPr kumimoji="1" lang="en-US" altLang="zh-CN" i="1" dirty="0">
                <a:ea typeface="黑体" pitchFamily="2" charset="-122"/>
              </a:rPr>
              <a:t>u</a:t>
            </a:r>
            <a:r>
              <a:rPr kumimoji="1" lang="en-US" altLang="zh-CN" baseline="-25000" dirty="0">
                <a:ea typeface="黑体" pitchFamily="2" charset="-122"/>
              </a:rPr>
              <a:t>n</a:t>
            </a:r>
            <a:r>
              <a:rPr kumimoji="1" lang="en-US" altLang="zh-CN" dirty="0">
                <a:ea typeface="黑体" pitchFamily="2" charset="-122"/>
              </a:rPr>
              <a:t>}</a:t>
            </a:r>
            <a:endParaRPr lang="zh-CN" altLang="en-US" dirty="0">
              <a:ea typeface="黑体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构造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模式的隶属函数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这一步是识别工作的关键和难点，在本章最后一节介绍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3. 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利用</a:t>
            </a:r>
            <a:r>
              <a:rPr lang="zh-CN" altLang="en-US" u="sng" dirty="0">
                <a:solidFill>
                  <a:srgbClr val="CC00CC"/>
                </a:solidFill>
                <a:ea typeface="黑体" pitchFamily="2" charset="-122"/>
              </a:rPr>
              <a:t>最大隶属度原则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进行识别判断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175EC2-57D3-8F8E-EFBA-3A30B1A1D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2567781" y="2366454"/>
            <a:ext cx="7056438" cy="863600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2.1.1 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最大隶属度原则</a:t>
            </a:r>
          </a:p>
        </p:txBody>
      </p:sp>
      <p:sp>
        <p:nvSpPr>
          <p:cNvPr id="14541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412876"/>
            <a:ext cx="10225136" cy="52562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dirty="0"/>
              <a:t>设</a:t>
            </a:r>
            <a:r>
              <a:rPr lang="en-US" altLang="zh-CN" sz="2800" i="1" dirty="0" err="1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sz="2800" i="1" baseline="-25000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en-US" altLang="zh-CN" sz="2800" dirty="0" err="1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800" dirty="0" err="1">
                <a:solidFill>
                  <a:schemeClr val="bg2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),( </a:t>
            </a:r>
            <a:r>
              <a:rPr lang="en-US" altLang="zh-CN" sz="2800" dirty="0" err="1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i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=1,2,…,n), 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sz="2800" i="1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是论域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中的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个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子集表示 的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个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模式，对某一元素对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0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,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若存在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i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0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使</a:t>
            </a:r>
          </a:p>
          <a:p>
            <a:pPr eaLnBrk="1" hangingPunct="1">
              <a:lnSpc>
                <a:spcPct val="110000"/>
              </a:lnSpc>
            </a:pPr>
            <a:endParaRPr lang="zh-CN" altLang="en-US" sz="4000" dirty="0">
              <a:solidFill>
                <a:schemeClr val="bg2"/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则认为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0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相对地隶属于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sz="2800" i="1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，这就是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最大隶属度原则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.</a:t>
            </a:r>
            <a:endParaRPr lang="zh-CN" altLang="en-US" sz="2800" dirty="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dirty="0">
                <a:ea typeface="黑体" pitchFamily="2" charset="-122"/>
                <a:sym typeface="Symbol" pitchFamily="18" charset="2"/>
              </a:rPr>
              <a:t>[P37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例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1]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考虑人的年龄问题，分为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年轻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zh-CN" altLang="en-US" sz="2800" dirty="0">
                <a:solidFill>
                  <a:srgbClr val="368B44"/>
                </a:solidFill>
                <a:ea typeface="黑体" pitchFamily="2" charset="-122"/>
                <a:sym typeface="Symbol" pitchFamily="18" charset="2"/>
              </a:rPr>
              <a:t>中年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zh-CN" altLang="en-US" sz="2800" dirty="0">
                <a:solidFill>
                  <a:srgbClr val="6042A6"/>
                </a:solidFill>
                <a:ea typeface="黑体" pitchFamily="2" charset="-122"/>
                <a:sym typeface="Symbol" pitchFamily="18" charset="2"/>
              </a:rPr>
              <a:t>老年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三类，分别对应三个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集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ea typeface="黑体" pitchFamily="2" charset="-122"/>
                <a:sym typeface="Symbol" pitchFamily="18" charset="2"/>
              </a:rPr>
              <a:t>1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ea typeface="黑体" pitchFamily="2" charset="-122"/>
                <a:sym typeface="Symbol" pitchFamily="18" charset="2"/>
              </a:rPr>
              <a:t>2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ea typeface="黑体" pitchFamily="2" charset="-122"/>
                <a:sym typeface="Symbol" pitchFamily="18" charset="2"/>
              </a:rPr>
              <a:t>3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。设论域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U=(0,100], </a:t>
            </a:r>
            <a:endParaRPr lang="en-US" altLang="zh-CN" sz="2800" dirty="0">
              <a:sym typeface="Symbol" pitchFamily="18" charset="2"/>
            </a:endParaRPr>
          </a:p>
        </p:txBody>
      </p:sp>
      <p:graphicFrame>
        <p:nvGraphicFramePr>
          <p:cNvPr id="145413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8441258"/>
              </p:ext>
            </p:extLst>
          </p:nvPr>
        </p:nvGraphicFramePr>
        <p:xfrm>
          <a:off x="2567782" y="2468848"/>
          <a:ext cx="6696075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51100" imgH="241300" progId="Equation.3">
                  <p:embed/>
                </p:oleObj>
              </mc:Choice>
              <mc:Fallback>
                <p:oleObj name="公式" r:id="rId3" imgW="2451100" imgH="241300" progId="Equation.3">
                  <p:embed/>
                  <p:pic>
                    <p:nvPicPr>
                      <p:cNvPr id="145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782" y="2468848"/>
                        <a:ext cx="6696075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2555643B-6A32-0841-AB36-AFB5ACA39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456008"/>
              </p:ext>
            </p:extLst>
          </p:nvPr>
        </p:nvGraphicFramePr>
        <p:xfrm>
          <a:off x="1271464" y="4869160"/>
          <a:ext cx="9248174" cy="1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38600" imgH="1422360" progId="Equation.DSMT4">
                  <p:embed/>
                </p:oleObj>
              </mc:Choice>
              <mc:Fallback>
                <p:oleObj name="Equation" r:id="rId5" imgW="6438600" imgH="142236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2555643B-6A32-0841-AB36-AFB5ACA395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4869160"/>
                        <a:ext cx="9248174" cy="19987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B4E7B5C-9D00-9FB3-B41D-88FD3B36CD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5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5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 animBg="1"/>
      <p:bldP spid="1454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41ADC030-BBED-A87D-C4DA-D97C778EA6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967161"/>
              </p:ext>
            </p:extLst>
          </p:nvPr>
        </p:nvGraphicFramePr>
        <p:xfrm>
          <a:off x="1847850" y="3059843"/>
          <a:ext cx="8248650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38600" imgH="1422360" progId="Equation.DSMT4">
                  <p:embed/>
                </p:oleObj>
              </mc:Choice>
              <mc:Fallback>
                <p:oleObj name="Equation" r:id="rId3" imgW="6438600" imgH="142236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41ADC030-BBED-A87D-C4DA-D97C778EA6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3059843"/>
                        <a:ext cx="8248650" cy="1782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最大隶属度原则举例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1</a:t>
            </a:r>
            <a:endParaRPr lang="zh-CN" altLang="en-US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14541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412876"/>
            <a:ext cx="9721080" cy="52562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dirty="0">
                <a:ea typeface="黑体" pitchFamily="2" charset="-122"/>
                <a:sym typeface="Symbol" pitchFamily="18" charset="2"/>
              </a:rPr>
              <a:t>[P37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例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1]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考虑人的年龄问题，分为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年轻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zh-CN" altLang="en-US" sz="2800" dirty="0">
                <a:solidFill>
                  <a:srgbClr val="368B44"/>
                </a:solidFill>
                <a:ea typeface="黑体" pitchFamily="2" charset="-122"/>
                <a:sym typeface="Symbol" pitchFamily="18" charset="2"/>
              </a:rPr>
              <a:t>中年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zh-CN" altLang="en-US" sz="2800" dirty="0">
                <a:solidFill>
                  <a:srgbClr val="6042A6"/>
                </a:solidFill>
                <a:ea typeface="黑体" pitchFamily="2" charset="-122"/>
                <a:sym typeface="Symbol" pitchFamily="18" charset="2"/>
              </a:rPr>
              <a:t>老年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三类，分别对应三个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集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1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2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solidFill>
                  <a:srgbClr val="7030A0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solidFill>
                  <a:srgbClr val="7030A0"/>
                </a:solidFill>
                <a:ea typeface="黑体" pitchFamily="2" charset="-122"/>
                <a:sym typeface="Symbol" pitchFamily="18" charset="2"/>
              </a:rPr>
              <a:t>3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。设论域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U=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（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0,100],  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且对</a:t>
            </a:r>
            <a:r>
              <a:rPr lang="en-US" altLang="zh-CN" sz="2800" dirty="0">
                <a:solidFill>
                  <a:srgbClr val="FF00FF"/>
                </a:solidFill>
                <a:ea typeface="黑体" pitchFamily="2" charset="-122"/>
                <a:sym typeface="Symbol" pitchFamily="18" charset="2"/>
              </a:rPr>
              <a:t>x=4</a:t>
            </a:r>
            <a:r>
              <a:rPr lang="en-US" altLang="zh-CN" sz="2800" dirty="0">
                <a:solidFill>
                  <a:srgbClr val="FF00FF"/>
                </a:solidFill>
                <a:sym typeface="Symbol" pitchFamily="18" charset="2"/>
              </a:rPr>
              <a:t>0</a:t>
            </a:r>
            <a:r>
              <a:rPr lang="en-US" altLang="zh-CN" sz="2800" dirty="0">
                <a:sym typeface="Symbol" pitchFamily="18" charset="2"/>
              </a:rPr>
              <a:t>, </a:t>
            </a:r>
            <a:r>
              <a:rPr lang="zh-CN" altLang="en-US" sz="2800" b="1" dirty="0">
                <a:sym typeface="Symbol" pitchFamily="18" charset="2"/>
              </a:rPr>
              <a:t>从图形曲线得</a:t>
            </a:r>
            <a:endParaRPr lang="en-US" altLang="zh-CN" sz="2800" b="1" dirty="0"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800" dirty="0"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800" dirty="0"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800" dirty="0"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800" dirty="0"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sym typeface="Symbol" pitchFamily="18" charset="2"/>
              </a:rPr>
              <a:t>因为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1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(40)=0, </a:t>
            </a:r>
            <a:r>
              <a:rPr lang="en-US" altLang="zh-CN" sz="2800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solidFill>
                  <a:srgbClr val="008000"/>
                </a:solidFill>
                <a:ea typeface="黑体" pitchFamily="2" charset="-122"/>
                <a:sym typeface="Symbol" pitchFamily="18" charset="2"/>
              </a:rPr>
              <a:t>2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(40)=1, </a:t>
            </a:r>
            <a:r>
              <a:rPr lang="en-US" altLang="zh-CN" sz="2800" dirty="0">
                <a:solidFill>
                  <a:srgbClr val="7030A0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800" baseline="-25000" dirty="0">
                <a:solidFill>
                  <a:srgbClr val="7030A0"/>
                </a:solidFill>
                <a:ea typeface="黑体" pitchFamily="2" charset="-122"/>
                <a:sym typeface="Symbol" pitchFamily="18" charset="2"/>
              </a:rPr>
              <a:t>3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(40)=0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zh-CN" sz="2800" dirty="0">
                <a:ea typeface="黑体" pitchFamily="2" charset="-122"/>
                <a:sym typeface="Symbol" pitchFamily="18" charset="2"/>
              </a:rPr>
              <a:t>          A</a:t>
            </a:r>
            <a:r>
              <a:rPr lang="en-US" altLang="zh-CN" sz="2800" baseline="-25000" dirty="0">
                <a:ea typeface="黑体" pitchFamily="2" charset="-122"/>
                <a:sym typeface="Symbol" pitchFamily="18" charset="2"/>
              </a:rPr>
              <a:t>2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(40)=max{A</a:t>
            </a:r>
            <a:r>
              <a:rPr lang="en-US" altLang="zh-CN" sz="2800" baseline="-25000" dirty="0">
                <a:ea typeface="黑体" pitchFamily="2" charset="-122"/>
                <a:sym typeface="Symbol" pitchFamily="18" charset="2"/>
              </a:rPr>
              <a:t>1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(40),A</a:t>
            </a:r>
            <a:r>
              <a:rPr lang="en-US" altLang="zh-CN" sz="2800" baseline="-25000" dirty="0">
                <a:ea typeface="黑体" pitchFamily="2" charset="-122"/>
                <a:sym typeface="Symbol" pitchFamily="18" charset="2"/>
              </a:rPr>
              <a:t>2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(40),A</a:t>
            </a:r>
            <a:r>
              <a:rPr lang="en-US" altLang="zh-CN" sz="2800" baseline="-25000" dirty="0">
                <a:ea typeface="黑体" pitchFamily="2" charset="-122"/>
                <a:sym typeface="Symbol" pitchFamily="18" charset="2"/>
              </a:rPr>
              <a:t>3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(40)}=max{0,1,0}=1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按最大隶属原则，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40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岁的人应该是中年人。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E5C9D13-2590-3505-B7C4-A398B6E77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1238" y="2888605"/>
            <a:ext cx="7629525" cy="2196579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18D1122-61FA-AA70-0E0C-F8604639482A}"/>
              </a:ext>
            </a:extLst>
          </p:cNvPr>
          <p:cNvCxnSpPr/>
          <p:nvPr/>
        </p:nvCxnSpPr>
        <p:spPr bwMode="auto">
          <a:xfrm>
            <a:off x="5447928" y="2852936"/>
            <a:ext cx="0" cy="219657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A27616-D49E-98EF-67A4-3003C0B2A5C6}"/>
              </a:ext>
            </a:extLst>
          </p:cNvPr>
          <p:cNvSpPr txBox="1"/>
          <p:nvPr/>
        </p:nvSpPr>
        <p:spPr>
          <a:xfrm>
            <a:off x="3503712" y="2708921"/>
            <a:ext cx="4611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                    </a:t>
            </a:r>
            <a:r>
              <a:rPr lang="en-US" altLang="zh-CN" sz="24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2                         </a:t>
            </a: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3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2844E17-E05C-1016-D52A-92005B28DA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044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5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5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5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2" grpId="0" uiExpand="1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最大隶属度原则举例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2</a:t>
            </a:r>
            <a:endParaRPr lang="zh-CN" altLang="en-US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412876"/>
            <a:ext cx="10297144" cy="52292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考虑通货膨胀问题，设论域为</a:t>
            </a:r>
            <a:r>
              <a:rPr lang="zh-CN" altLang="en-US" sz="2800" u="sng" dirty="0">
                <a:solidFill>
                  <a:srgbClr val="0000FF"/>
                </a:solidFill>
                <a:ea typeface="黑体" pitchFamily="2" charset="-122"/>
              </a:rPr>
              <a:t>价格指数</a:t>
            </a:r>
            <a:r>
              <a:rPr lang="zh-CN" altLang="en-US" sz="2800" dirty="0">
                <a:ea typeface="黑体" pitchFamily="2" charset="-122"/>
              </a:rPr>
              <a:t>的集合，记作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+</a:t>
            </a:r>
            <a:r>
              <a:rPr lang="en-US" altLang="zh-CN" sz="2800" dirty="0">
                <a:ea typeface="黑体" pitchFamily="2" charset="-122"/>
              </a:rPr>
              <a:t>={</a:t>
            </a:r>
            <a:r>
              <a:rPr lang="en-US" altLang="zh-CN" sz="2800" dirty="0" err="1">
                <a:ea typeface="黑体" pitchFamily="2" charset="-122"/>
              </a:rPr>
              <a:t>u</a:t>
            </a:r>
            <a:r>
              <a:rPr lang="en-US" altLang="zh-CN" sz="2800" dirty="0" err="1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800" dirty="0" err="1">
                <a:ea typeface="黑体" pitchFamily="2" charset="-122"/>
              </a:rPr>
              <a:t>R</a:t>
            </a:r>
            <a:r>
              <a:rPr lang="en-US" altLang="zh-CN" sz="2800" dirty="0">
                <a:ea typeface="黑体" pitchFamily="2" charset="-122"/>
              </a:rPr>
              <a:t>}</a:t>
            </a:r>
            <a:r>
              <a:rPr lang="zh-CN" altLang="en-US" sz="2800" dirty="0">
                <a:ea typeface="黑体" pitchFamily="2" charset="-122"/>
              </a:rPr>
              <a:t>，可分为五种类型的通货膨胀：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   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A</a:t>
            </a:r>
            <a:r>
              <a:rPr lang="en-US" altLang="zh-CN" sz="2800" baseline="-25000" dirty="0">
                <a:solidFill>
                  <a:srgbClr val="CC00CC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—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通货稳定，</a:t>
            </a:r>
            <a:endParaRPr lang="en-US" altLang="zh-CN" sz="2800" dirty="0">
              <a:solidFill>
                <a:srgbClr val="CC00CC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   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A</a:t>
            </a:r>
            <a:r>
              <a:rPr lang="en-US" altLang="zh-CN" sz="2800" baseline="-25000" dirty="0">
                <a:solidFill>
                  <a:srgbClr val="CC00CC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—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轻度通货膨胀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   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A</a:t>
            </a:r>
            <a:r>
              <a:rPr lang="en-US" altLang="zh-CN" sz="2800" baseline="-25000" dirty="0">
                <a:solidFill>
                  <a:srgbClr val="CC00CC"/>
                </a:solidFill>
                <a:ea typeface="黑体" pitchFamily="2" charset="-122"/>
              </a:rPr>
              <a:t>3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—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中度通货膨胀， </a:t>
            </a:r>
            <a:endParaRPr lang="en-US" altLang="zh-CN" sz="2800" dirty="0">
              <a:solidFill>
                <a:srgbClr val="CC00CC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   A</a:t>
            </a:r>
            <a:r>
              <a:rPr lang="en-US" altLang="zh-CN" sz="2800" baseline="-25000" dirty="0">
                <a:solidFill>
                  <a:srgbClr val="CC00CC"/>
                </a:solidFill>
                <a:ea typeface="黑体" pitchFamily="2" charset="-122"/>
              </a:rPr>
              <a:t>4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—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重度通货膨胀，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   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A</a:t>
            </a:r>
            <a:r>
              <a:rPr lang="en-US" altLang="zh-CN" sz="2800" baseline="-25000" dirty="0">
                <a:solidFill>
                  <a:srgbClr val="CC00CC"/>
                </a:solidFill>
                <a:ea typeface="黑体" pitchFamily="2" charset="-122"/>
              </a:rPr>
              <a:t>5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—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恶性通货膨胀，</a:t>
            </a:r>
            <a:endParaRPr lang="en-US" altLang="zh-CN" sz="2800" dirty="0">
              <a:solidFill>
                <a:srgbClr val="CC00CC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它们的隶属函数分别为：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16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ea typeface="楷体_GB2312" pitchFamily="49" charset="-122"/>
              </a:rPr>
              <a:t>取</a:t>
            </a:r>
            <a:r>
              <a:rPr lang="en-US" altLang="zh-CN" sz="2800" b="1" dirty="0">
                <a:ea typeface="楷体_GB2312" pitchFamily="49" charset="-122"/>
              </a:rPr>
              <a:t>x</a:t>
            </a:r>
            <a:r>
              <a:rPr lang="en-US" altLang="zh-CN" sz="2800" b="1" baseline="-25000" dirty="0">
                <a:ea typeface="楷体_GB2312" pitchFamily="49" charset="-122"/>
              </a:rPr>
              <a:t>0</a:t>
            </a:r>
            <a:r>
              <a:rPr lang="en-US" altLang="zh-CN" sz="2800" b="1" dirty="0">
                <a:ea typeface="楷体_GB2312" pitchFamily="49" charset="-122"/>
              </a:rPr>
              <a:t>=8</a:t>
            </a:r>
            <a:r>
              <a:rPr lang="zh-CN" altLang="en-US" sz="2800" b="1" dirty="0">
                <a:ea typeface="楷体_GB2312" pitchFamily="49" charset="-122"/>
              </a:rPr>
              <a:t>，即物价上涨率为</a:t>
            </a:r>
            <a:r>
              <a:rPr lang="en-US" altLang="zh-CN" sz="2800" b="1" dirty="0">
                <a:ea typeface="楷体_GB2312" pitchFamily="49" charset="-122"/>
              </a:rPr>
              <a:t>8%</a:t>
            </a:r>
            <a:r>
              <a:rPr lang="zh-CN" altLang="en-US" sz="2800" b="1" dirty="0">
                <a:ea typeface="楷体_GB2312" pitchFamily="49" charset="-122"/>
              </a:rPr>
              <a:t>，</a:t>
            </a:r>
            <a:endParaRPr lang="en-US" altLang="zh-CN" sz="2800" b="1" dirty="0"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ea typeface="楷体_GB2312" pitchFamily="49" charset="-122"/>
              </a:rPr>
              <a:t>问此价格指数应属于哪种类型？</a:t>
            </a:r>
            <a:endParaRPr lang="zh-CN" altLang="en-US" sz="2400" b="1" dirty="0">
              <a:ea typeface="楷体_GB2312" pitchFamily="49" charset="-122"/>
            </a:endParaRPr>
          </a:p>
        </p:txBody>
      </p:sp>
      <p:graphicFrame>
        <p:nvGraphicFramePr>
          <p:cNvPr id="14746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50769640"/>
              </p:ext>
            </p:extLst>
          </p:nvPr>
        </p:nvGraphicFramePr>
        <p:xfrm>
          <a:off x="8195344" y="1897353"/>
          <a:ext cx="3661296" cy="4922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2476440" progId="Equation.DSMT4">
                  <p:embed/>
                </p:oleObj>
              </mc:Choice>
              <mc:Fallback>
                <p:oleObj name="Equation" r:id="rId2" imgW="1841400" imgH="2476440" progId="Equation.DSMT4">
                  <p:embed/>
                  <p:pic>
                    <p:nvPicPr>
                      <p:cNvPr id="147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5344" y="1897353"/>
                        <a:ext cx="3661296" cy="4922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29E2A6-7A6A-ABAB-F29C-19D35E4945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47187" y="6331223"/>
            <a:ext cx="2844800" cy="457200"/>
          </a:xfrm>
        </p:spPr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7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0D3FE38-1717-1862-F7A5-452DEBB90B59}"/>
              </a:ext>
            </a:extLst>
          </p:cNvPr>
          <p:cNvSpPr/>
          <p:nvPr/>
        </p:nvSpPr>
        <p:spPr bwMode="auto">
          <a:xfrm>
            <a:off x="616122" y="2884440"/>
            <a:ext cx="2304256" cy="57606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6632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最大隶属度原则举例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2</a:t>
            </a:r>
            <a:endParaRPr lang="zh-CN" altLang="en-US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6082" y="1897353"/>
            <a:ext cx="3010174" cy="3601319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因为</a:t>
            </a:r>
            <a:endParaRPr lang="en-US" altLang="zh-CN" sz="2800" dirty="0">
              <a:ea typeface="黑体" pitchFamily="2" charset="-122"/>
            </a:endParaRPr>
          </a:p>
          <a:p>
            <a:pPr marL="0" indent="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   A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(8)≈0.3679, </a:t>
            </a:r>
          </a:p>
          <a:p>
            <a:pPr marL="0" indent="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   A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(8)≈0.8521,</a:t>
            </a:r>
          </a:p>
          <a:p>
            <a:pPr marL="0" indent="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   A</a:t>
            </a:r>
            <a:r>
              <a:rPr lang="en-US" altLang="zh-CN" sz="2800" baseline="-25000" dirty="0">
                <a:ea typeface="黑体" pitchFamily="2" charset="-122"/>
              </a:rPr>
              <a:t>3</a:t>
            </a:r>
            <a:r>
              <a:rPr lang="en-US" altLang="zh-CN" sz="2800" dirty="0">
                <a:ea typeface="黑体" pitchFamily="2" charset="-122"/>
              </a:rPr>
              <a:t>(8)≈0.0529,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   A</a:t>
            </a:r>
            <a:r>
              <a:rPr lang="en-US" altLang="zh-CN" sz="2800" baseline="-25000" dirty="0">
                <a:ea typeface="黑体" pitchFamily="2" charset="-122"/>
              </a:rPr>
              <a:t>4</a:t>
            </a:r>
            <a:r>
              <a:rPr lang="en-US" altLang="zh-CN" sz="2800" dirty="0">
                <a:ea typeface="黑体" pitchFamily="2" charset="-122"/>
              </a:rPr>
              <a:t>(8)≈0.0001,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   A</a:t>
            </a:r>
            <a:r>
              <a:rPr lang="en-US" altLang="zh-CN" sz="2800" baseline="-25000" dirty="0">
                <a:ea typeface="黑体" pitchFamily="2" charset="-122"/>
              </a:rPr>
              <a:t>5</a:t>
            </a:r>
            <a:r>
              <a:rPr lang="en-US" altLang="zh-CN" sz="2800" dirty="0">
                <a:ea typeface="黑体" pitchFamily="2" charset="-122"/>
              </a:rPr>
              <a:t>(8)≈0.0001</a:t>
            </a:r>
          </a:p>
        </p:txBody>
      </p:sp>
      <p:pic>
        <p:nvPicPr>
          <p:cNvPr id="3" name="图片 2" descr="图表, 折线图&#10;&#10;描述已自动生成">
            <a:extLst>
              <a:ext uri="{FF2B5EF4-FFF2-40B4-BE49-F238E27FC236}">
                <a16:creationId xmlns:a16="http://schemas.microsoft.com/office/drawing/2014/main" id="{45C4382C-A7D9-11C5-1DD5-2579A7B13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808" y="1815304"/>
            <a:ext cx="5318448" cy="3219816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0F85AB8-8165-F147-37B7-90ED69875543}"/>
              </a:ext>
            </a:extLst>
          </p:cNvPr>
          <p:cNvCxnSpPr/>
          <p:nvPr/>
        </p:nvCxnSpPr>
        <p:spPr bwMode="auto">
          <a:xfrm flipV="1">
            <a:off x="3791744" y="2060848"/>
            <a:ext cx="0" cy="264327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C46976C-261D-FECB-7D85-8CDE1B650828}"/>
              </a:ext>
            </a:extLst>
          </p:cNvPr>
          <p:cNvSpPr txBox="1"/>
          <p:nvPr/>
        </p:nvSpPr>
        <p:spPr>
          <a:xfrm>
            <a:off x="3081808" y="1556792"/>
            <a:ext cx="4611188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6042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solidFill>
                  <a:srgbClr val="6042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2</a:t>
            </a:r>
            <a:r>
              <a:rPr lang="en-US" altLang="zh-CN" sz="2400" b="1" baseline="-250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          </a:t>
            </a:r>
            <a:r>
              <a:rPr lang="en-US" altLang="zh-CN" sz="2400" b="1" dirty="0">
                <a:solidFill>
                  <a:srgbClr val="C744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solidFill>
                  <a:srgbClr val="C744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3</a:t>
            </a:r>
            <a:r>
              <a:rPr lang="en-US" altLang="zh-CN" sz="2400" b="1" baseline="-250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         </a:t>
            </a:r>
            <a:r>
              <a:rPr lang="en-US" altLang="zh-CN" sz="2400" b="1" dirty="0">
                <a:solidFill>
                  <a:srgbClr val="2D70B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solidFill>
                  <a:srgbClr val="2D70B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4 </a:t>
            </a:r>
            <a:r>
              <a:rPr lang="en-US" altLang="zh-CN" sz="2400" b="1" baseline="-250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               </a:t>
            </a:r>
            <a:r>
              <a:rPr lang="en-US" altLang="zh-CN" sz="2400" b="1" dirty="0">
                <a:solidFill>
                  <a:srgbClr val="368B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sz="2400" b="1" baseline="-25000" dirty="0">
                <a:solidFill>
                  <a:srgbClr val="368B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sym typeface="Symbol" pitchFamily="18" charset="2"/>
              </a:rPr>
              <a:t>5</a:t>
            </a:r>
            <a:endParaRPr lang="zh-CN" altLang="en-US" sz="2400" b="1" dirty="0">
              <a:solidFill>
                <a:srgbClr val="368B4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7F793-75CA-D983-B5B0-AA53B733E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99872" y="6248400"/>
            <a:ext cx="2844800" cy="457200"/>
          </a:xfrm>
        </p:spPr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1C8159D7-C207-5195-5644-092969E8478D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47147406"/>
              </p:ext>
            </p:extLst>
          </p:nvPr>
        </p:nvGraphicFramePr>
        <p:xfrm>
          <a:off x="8195344" y="1897353"/>
          <a:ext cx="3661296" cy="4922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41400" imgH="2476440" progId="Equation.DSMT4">
                  <p:embed/>
                </p:oleObj>
              </mc:Choice>
              <mc:Fallback>
                <p:oleObj name="Equation" r:id="rId3" imgW="1841400" imgH="2476440" progId="Equation.DSMT4">
                  <p:embed/>
                  <p:pic>
                    <p:nvPicPr>
                      <p:cNvPr id="147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5344" y="1897353"/>
                        <a:ext cx="3661296" cy="4922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192FEA24-DE9A-D5AF-465F-4D218709FF4E}"/>
              </a:ext>
            </a:extLst>
          </p:cNvPr>
          <p:cNvSpPr txBox="1"/>
          <p:nvPr/>
        </p:nvSpPr>
        <p:spPr>
          <a:xfrm>
            <a:off x="358736" y="5639082"/>
            <a:ext cx="6834276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n"/>
            </a:pPr>
            <a:r>
              <a:rPr lang="zh-CN" altLang="en-US" sz="2800" dirty="0">
                <a:ea typeface="黑体" pitchFamily="2" charset="-122"/>
              </a:rPr>
              <a:t>根据最大隶属原则，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     价格指数</a:t>
            </a:r>
            <a:r>
              <a:rPr lang="en-US" altLang="zh-CN" sz="2800" dirty="0">
                <a:ea typeface="黑体" pitchFamily="2" charset="-122"/>
              </a:rPr>
              <a:t>x</a:t>
            </a:r>
            <a:r>
              <a:rPr lang="en-US" altLang="zh-CN" sz="2800" baseline="-25000" dirty="0">
                <a:ea typeface="黑体" pitchFamily="2" charset="-122"/>
              </a:rPr>
              <a:t>0</a:t>
            </a:r>
            <a:r>
              <a:rPr lang="en-US" altLang="zh-CN" sz="2800" dirty="0">
                <a:ea typeface="黑体" pitchFamily="2" charset="-122"/>
              </a:rPr>
              <a:t>=8</a:t>
            </a:r>
            <a:r>
              <a:rPr lang="zh-CN" altLang="en-US" sz="2800" dirty="0">
                <a:ea typeface="黑体" pitchFamily="2" charset="-122"/>
              </a:rPr>
              <a:t>时，可视为</a:t>
            </a:r>
            <a:r>
              <a:rPr lang="zh-CN" altLang="en-US" sz="2800" u="sng" dirty="0">
                <a:solidFill>
                  <a:srgbClr val="CC00CC"/>
                </a:solidFill>
                <a:ea typeface="黑体" pitchFamily="2" charset="-122"/>
              </a:rPr>
              <a:t>轻度通货膨胀</a:t>
            </a:r>
            <a:r>
              <a:rPr lang="zh-CN" altLang="en-US" sz="2800" dirty="0">
                <a:ea typeface="黑体" pitchFamily="2" charset="-122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0C2968-ECF7-E266-1881-E2BE04A2F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94" y="152400"/>
            <a:ext cx="2657095" cy="2087312"/>
          </a:xfrm>
          <a:prstGeom prst="rect">
            <a:avLst/>
          </a:prstGeom>
          <a:effectLst>
            <a:glow rad="165100">
              <a:srgbClr val="00B0F0"/>
            </a:glow>
          </a:effec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29C0AAF-F15C-6644-CF5E-F5C3F73F7FBA}"/>
              </a:ext>
            </a:extLst>
          </p:cNvPr>
          <p:cNvSpPr txBox="1"/>
          <p:nvPr/>
        </p:nvSpPr>
        <p:spPr>
          <a:xfrm>
            <a:off x="3647728" y="4608711"/>
            <a:ext cx="348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</a:t>
            </a:r>
            <a:endParaRPr lang="zh-CN" altLang="en-US" sz="2400" b="1" dirty="0">
              <a:solidFill>
                <a:srgbClr val="FF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8483" grpId="0" uiExpand="1" build="p"/>
      <p:bldP spid="8" grpId="0" animBg="1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6632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最大隶属度原则举例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3</a:t>
            </a:r>
            <a:endParaRPr lang="zh-CN" altLang="en-US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68760"/>
            <a:ext cx="10814992" cy="558924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细胞染色体形状的模糊识别</a:t>
            </a:r>
          </a:p>
          <a:p>
            <a:pPr lvl="1" eaLnBrk="1" hangingPunct="1">
              <a:defRPr/>
            </a:pPr>
            <a:r>
              <a:rPr kumimoji="1" lang="zh-CN" altLang="en-US" b="1" dirty="0"/>
              <a:t>细胞染色体形状的模糊识别就是</a:t>
            </a:r>
            <a:r>
              <a:rPr kumimoji="1" lang="zh-CN" altLang="en-US" b="1" u="sng" dirty="0"/>
              <a:t>几何图形的模糊识别</a:t>
            </a:r>
            <a:r>
              <a:rPr kumimoji="1" lang="en-US" altLang="zh-CN" b="1" dirty="0"/>
              <a:t>, </a:t>
            </a:r>
            <a:r>
              <a:rPr kumimoji="1" lang="zh-CN" altLang="en-US" b="1" dirty="0"/>
              <a:t>而几何图形常常化为若干个</a:t>
            </a:r>
            <a:r>
              <a:rPr kumimoji="1" lang="zh-CN" altLang="en-US" b="1" u="sng" dirty="0">
                <a:solidFill>
                  <a:srgbClr val="FF00FF"/>
                </a:solidFill>
              </a:rPr>
              <a:t>三角图形</a:t>
            </a:r>
            <a:r>
              <a:rPr kumimoji="1" lang="en-US" altLang="zh-CN" b="1" dirty="0"/>
              <a:t>,</a:t>
            </a:r>
          </a:p>
          <a:p>
            <a:pPr lvl="1" eaLnBrk="1" hangingPunct="1">
              <a:defRPr/>
            </a:pPr>
            <a:r>
              <a:rPr kumimoji="1" lang="zh-CN" altLang="en-US" b="1" dirty="0"/>
              <a:t>故设论域为三角形全体</a:t>
            </a:r>
            <a:r>
              <a:rPr kumimoji="1" lang="en-US" altLang="zh-CN" b="1" dirty="0"/>
              <a:t>. </a:t>
            </a:r>
            <a:r>
              <a:rPr kumimoji="1" lang="zh-CN" altLang="en-US" b="1" dirty="0"/>
              <a:t>即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1" lang="zh-CN" altLang="en-US" b="1" i="1" dirty="0">
                <a:solidFill>
                  <a:srgbClr val="CC00CC"/>
                </a:solidFill>
              </a:rPr>
              <a:t>        </a:t>
            </a:r>
            <a:r>
              <a:rPr kumimoji="1" lang="en-US" altLang="zh-CN" b="1" i="1" dirty="0">
                <a:solidFill>
                  <a:srgbClr val="CC00CC"/>
                </a:solidFill>
              </a:rPr>
              <a:t>X</a:t>
            </a:r>
            <a:r>
              <a:rPr kumimoji="1" lang="en-US" altLang="zh-CN" b="1" dirty="0">
                <a:solidFill>
                  <a:srgbClr val="CC00CC"/>
                </a:solidFill>
              </a:rPr>
              <a:t>={</a:t>
            </a:r>
            <a:r>
              <a:rPr kumimoji="1" lang="en-US" altLang="zh-CN" b="1" dirty="0">
                <a:solidFill>
                  <a:srgbClr val="CC00CC"/>
                </a:solidFill>
                <a:sym typeface="Symbol" pitchFamily="18" charset="2"/>
              </a:rPr>
              <a:t>(</a:t>
            </a:r>
            <a:r>
              <a:rPr kumimoji="1" lang="en-US" altLang="zh-CN" b="1" i="1" dirty="0">
                <a:solidFill>
                  <a:srgbClr val="CC00CC"/>
                </a:solidFill>
                <a:sym typeface="Symbol" pitchFamily="18" charset="2"/>
              </a:rPr>
              <a:t>A</a:t>
            </a:r>
            <a:r>
              <a:rPr kumimoji="1" lang="en-US" altLang="zh-CN" b="1" dirty="0">
                <a:solidFill>
                  <a:srgbClr val="CC00CC"/>
                </a:solidFill>
                <a:sym typeface="Symbol" pitchFamily="18" charset="2"/>
              </a:rPr>
              <a:t>,</a:t>
            </a:r>
            <a:r>
              <a:rPr kumimoji="1" lang="en-US" altLang="zh-CN" b="1" i="1" dirty="0">
                <a:solidFill>
                  <a:srgbClr val="CC00CC"/>
                </a:solidFill>
                <a:sym typeface="Symbol" pitchFamily="18" charset="2"/>
              </a:rPr>
              <a:t>B</a:t>
            </a:r>
            <a:r>
              <a:rPr kumimoji="1" lang="en-US" altLang="zh-CN" b="1" dirty="0">
                <a:solidFill>
                  <a:srgbClr val="CC00CC"/>
                </a:solidFill>
                <a:sym typeface="Symbol" pitchFamily="18" charset="2"/>
              </a:rPr>
              <a:t>,</a:t>
            </a:r>
            <a:r>
              <a:rPr kumimoji="1" lang="en-US" altLang="zh-CN" b="1" i="1" dirty="0">
                <a:solidFill>
                  <a:srgbClr val="CC00CC"/>
                </a:solidFill>
                <a:sym typeface="Symbol" pitchFamily="18" charset="2"/>
              </a:rPr>
              <a:t>C </a:t>
            </a:r>
            <a:r>
              <a:rPr kumimoji="1" lang="en-US" altLang="zh-CN" b="1" dirty="0">
                <a:solidFill>
                  <a:srgbClr val="CC00CC"/>
                </a:solidFill>
                <a:sym typeface="Symbol" pitchFamily="18" charset="2"/>
              </a:rPr>
              <a:t>)| </a:t>
            </a:r>
            <a:r>
              <a:rPr kumimoji="1" lang="en-US" altLang="zh-CN" b="1" i="1" dirty="0">
                <a:solidFill>
                  <a:srgbClr val="CC00CC"/>
                </a:solidFill>
                <a:sym typeface="Symbol" pitchFamily="18" charset="2"/>
              </a:rPr>
              <a:t>A</a:t>
            </a:r>
            <a:r>
              <a:rPr kumimoji="1" lang="en-US" altLang="zh-CN" b="1" dirty="0">
                <a:solidFill>
                  <a:srgbClr val="CC00CC"/>
                </a:solidFill>
                <a:sym typeface="Symbol" pitchFamily="18" charset="2"/>
              </a:rPr>
              <a:t>+</a:t>
            </a:r>
            <a:r>
              <a:rPr kumimoji="1" lang="en-US" altLang="zh-CN" b="1" i="1" dirty="0">
                <a:solidFill>
                  <a:srgbClr val="CC00CC"/>
                </a:solidFill>
                <a:sym typeface="Symbol" pitchFamily="18" charset="2"/>
              </a:rPr>
              <a:t>B</a:t>
            </a:r>
            <a:r>
              <a:rPr kumimoji="1" lang="en-US" altLang="zh-CN" b="1" dirty="0">
                <a:solidFill>
                  <a:srgbClr val="CC00CC"/>
                </a:solidFill>
                <a:sym typeface="Symbol" pitchFamily="18" charset="2"/>
              </a:rPr>
              <a:t>+</a:t>
            </a:r>
            <a:r>
              <a:rPr kumimoji="1" lang="en-US" altLang="zh-CN" b="1" i="1" dirty="0">
                <a:solidFill>
                  <a:srgbClr val="CC00CC"/>
                </a:solidFill>
                <a:sym typeface="Symbol" pitchFamily="18" charset="2"/>
              </a:rPr>
              <a:t>C</a:t>
            </a:r>
            <a:r>
              <a:rPr kumimoji="1" lang="en-US" altLang="zh-CN" b="1" dirty="0">
                <a:solidFill>
                  <a:srgbClr val="CC00CC"/>
                </a:solidFill>
                <a:sym typeface="Symbol" pitchFamily="18" charset="2"/>
              </a:rPr>
              <a:t> =180, </a:t>
            </a:r>
            <a:r>
              <a:rPr kumimoji="1" lang="en-US" altLang="zh-CN" b="1" i="1" dirty="0">
                <a:solidFill>
                  <a:srgbClr val="CC00CC"/>
                </a:solidFill>
                <a:sym typeface="Symbol" pitchFamily="18" charset="2"/>
              </a:rPr>
              <a:t>A </a:t>
            </a:r>
            <a:r>
              <a:rPr kumimoji="1" lang="en-US" altLang="zh-CN" b="1" dirty="0">
                <a:solidFill>
                  <a:srgbClr val="CC00CC"/>
                </a:solidFill>
              </a:rPr>
              <a:t>≥ </a:t>
            </a:r>
            <a:r>
              <a:rPr kumimoji="1" lang="en-US" altLang="zh-CN" b="1" i="1" dirty="0">
                <a:solidFill>
                  <a:srgbClr val="CC00CC"/>
                </a:solidFill>
                <a:sym typeface="Symbol" pitchFamily="18" charset="2"/>
              </a:rPr>
              <a:t>B </a:t>
            </a:r>
            <a:r>
              <a:rPr kumimoji="1" lang="en-US" altLang="zh-CN" b="1" dirty="0">
                <a:solidFill>
                  <a:srgbClr val="CC00CC"/>
                </a:solidFill>
              </a:rPr>
              <a:t>≥ </a:t>
            </a:r>
            <a:r>
              <a:rPr kumimoji="1" lang="en-US" altLang="zh-CN" b="1" i="1" dirty="0">
                <a:solidFill>
                  <a:srgbClr val="CC00CC"/>
                </a:solidFill>
                <a:sym typeface="Symbol" pitchFamily="18" charset="2"/>
              </a:rPr>
              <a:t>C </a:t>
            </a:r>
            <a:r>
              <a:rPr kumimoji="1" lang="en-US" altLang="zh-CN" b="1" dirty="0">
                <a:solidFill>
                  <a:srgbClr val="CC00CC"/>
                </a:solidFill>
                <a:sym typeface="Symbol" pitchFamily="18" charset="2"/>
              </a:rPr>
              <a:t>}</a:t>
            </a:r>
          </a:p>
          <a:p>
            <a:pPr lvl="1" eaLnBrk="1" hangingPunct="1">
              <a:defRPr/>
            </a:pPr>
            <a:r>
              <a:rPr kumimoji="1" lang="zh-CN" altLang="en-US" b="1" dirty="0">
                <a:solidFill>
                  <a:srgbClr val="008000"/>
                </a:solidFill>
                <a:ea typeface="楷体_GB2312" pitchFamily="49" charset="-122"/>
              </a:rPr>
              <a:t>标准模型库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= {</a:t>
            </a:r>
            <a:r>
              <a:rPr kumimoji="1" lang="en-US" altLang="zh-CN" b="1" i="1" dirty="0">
                <a:solidFill>
                  <a:srgbClr val="008000"/>
                </a:solidFill>
                <a:ea typeface="楷体_GB2312" pitchFamily="49" charset="-122"/>
              </a:rPr>
              <a:t>E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(</a:t>
            </a:r>
            <a:r>
              <a:rPr kumimoji="1" lang="zh-CN" altLang="en-US" b="1" dirty="0">
                <a:solidFill>
                  <a:srgbClr val="008000"/>
                </a:solidFill>
                <a:ea typeface="楷体_GB2312" pitchFamily="49" charset="-122"/>
              </a:rPr>
              <a:t>正三角形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kumimoji="1" lang="en-US" altLang="zh-CN" b="1" i="1" dirty="0">
                <a:solidFill>
                  <a:srgbClr val="008000"/>
                </a:solidFill>
                <a:ea typeface="楷体_GB2312" pitchFamily="49" charset="-122"/>
              </a:rPr>
              <a:t>R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(</a:t>
            </a:r>
            <a:r>
              <a:rPr kumimoji="1" lang="zh-CN" altLang="en-US" b="1" dirty="0">
                <a:solidFill>
                  <a:srgbClr val="008000"/>
                </a:solidFill>
                <a:ea typeface="楷体_GB2312" pitchFamily="49" charset="-122"/>
              </a:rPr>
              <a:t>直角三角形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kumimoji="1" lang="en-US" altLang="zh-CN" b="1" i="1" dirty="0">
                <a:solidFill>
                  <a:srgbClr val="008000"/>
                </a:solidFill>
                <a:ea typeface="楷体_GB2312" pitchFamily="49" charset="-122"/>
              </a:rPr>
              <a:t> I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(</a:t>
            </a:r>
            <a:r>
              <a:rPr kumimoji="1" lang="zh-CN" altLang="en-US" b="1" dirty="0">
                <a:solidFill>
                  <a:srgbClr val="008000"/>
                </a:solidFill>
                <a:ea typeface="楷体_GB2312" pitchFamily="49" charset="-122"/>
              </a:rPr>
              <a:t>等腰三角形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),</a:t>
            </a:r>
          </a:p>
          <a:p>
            <a:pPr marL="457200" lvl="1" indent="0" eaLnBrk="1" hangingPunct="1">
              <a:buNone/>
              <a:defRPr/>
            </a:pPr>
            <a:r>
              <a:rPr kumimoji="1" lang="en-US" altLang="zh-CN" b="1" i="1" dirty="0">
                <a:solidFill>
                  <a:srgbClr val="008000"/>
                </a:solidFill>
                <a:ea typeface="楷体_GB2312" pitchFamily="49" charset="-122"/>
              </a:rPr>
              <a:t>                          I 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∩</a:t>
            </a:r>
            <a:r>
              <a:rPr kumimoji="1" lang="en-US" altLang="zh-CN" b="1" i="1" dirty="0">
                <a:solidFill>
                  <a:srgbClr val="008000"/>
                </a:solidFill>
                <a:ea typeface="楷体_GB2312" pitchFamily="49" charset="-122"/>
              </a:rPr>
              <a:t>R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(</a:t>
            </a:r>
            <a:r>
              <a:rPr kumimoji="1" lang="zh-CN" altLang="en-US" b="1" dirty="0">
                <a:solidFill>
                  <a:srgbClr val="008000"/>
                </a:solidFill>
                <a:ea typeface="楷体_GB2312" pitchFamily="49" charset="-122"/>
              </a:rPr>
              <a:t>等腰直角三角形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kumimoji="1" lang="en-US" altLang="zh-CN" b="1" i="1" dirty="0">
                <a:solidFill>
                  <a:srgbClr val="008000"/>
                </a:solidFill>
                <a:ea typeface="楷体_GB2312" pitchFamily="49" charset="-122"/>
              </a:rPr>
              <a:t>T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(</a:t>
            </a:r>
            <a:r>
              <a:rPr kumimoji="1" lang="zh-CN" altLang="en-US" b="1" dirty="0">
                <a:solidFill>
                  <a:srgbClr val="008000"/>
                </a:solidFill>
                <a:ea typeface="楷体_GB2312" pitchFamily="49" charset="-122"/>
              </a:rPr>
              <a:t>任意三角形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)}.</a:t>
            </a:r>
          </a:p>
          <a:p>
            <a:pPr eaLnBrk="1" hangingPunct="1">
              <a:defRPr/>
            </a:pPr>
            <a:r>
              <a:rPr kumimoji="1" lang="zh-CN" altLang="en-US" dirty="0">
                <a:solidFill>
                  <a:srgbClr val="3333FF"/>
                </a:solidFill>
                <a:ea typeface="黑体" pitchFamily="2" charset="-122"/>
              </a:rPr>
              <a:t>问题</a:t>
            </a:r>
            <a:r>
              <a:rPr kumimoji="1" lang="zh-CN" altLang="en-US" dirty="0"/>
              <a:t> </a:t>
            </a:r>
          </a:p>
          <a:p>
            <a:pPr lvl="1" eaLnBrk="1" hangingPunct="1">
              <a:defRPr/>
            </a:pPr>
            <a:r>
              <a:rPr kumimoji="1" lang="zh-CN" altLang="en-US" b="1" dirty="0"/>
              <a:t>某人在实验中观察到一染色体的几何形状，测得其三个内角度数分别为</a:t>
            </a:r>
            <a:r>
              <a:rPr kumimoji="1" lang="en-US" altLang="zh-CN" b="1" dirty="0"/>
              <a:t>94, 50, 36, </a:t>
            </a:r>
            <a:r>
              <a:rPr kumimoji="1" lang="zh-CN" altLang="en-US" b="1" dirty="0"/>
              <a:t>即待识别对象为</a:t>
            </a:r>
            <a:r>
              <a:rPr kumimoji="1" lang="en-US" altLang="zh-CN" b="1" i="1" dirty="0">
                <a:solidFill>
                  <a:srgbClr val="0000FF"/>
                </a:solidFill>
              </a:rPr>
              <a:t>x</a:t>
            </a:r>
            <a:r>
              <a:rPr kumimoji="1" lang="en-US" altLang="zh-CN" b="1" baseline="-25000" dirty="0">
                <a:solidFill>
                  <a:srgbClr val="0000FF"/>
                </a:solidFill>
              </a:rPr>
              <a:t>0</a:t>
            </a:r>
            <a:r>
              <a:rPr kumimoji="1" lang="en-US" altLang="zh-CN" b="1" dirty="0">
                <a:solidFill>
                  <a:srgbClr val="0000FF"/>
                </a:solidFill>
              </a:rPr>
              <a:t>=(94,50,36)</a:t>
            </a:r>
            <a:r>
              <a:rPr kumimoji="1" lang="zh-CN" altLang="en-US" b="1" dirty="0"/>
              <a:t>。问</a:t>
            </a:r>
            <a:r>
              <a:rPr kumimoji="1" lang="en-US" altLang="zh-CN" b="1" i="1" dirty="0"/>
              <a:t>x</a:t>
            </a:r>
            <a:r>
              <a:rPr kumimoji="1" lang="en-US" altLang="zh-CN" b="1" baseline="-25000" dirty="0"/>
              <a:t>0</a:t>
            </a:r>
            <a:r>
              <a:rPr kumimoji="1" lang="zh-CN" altLang="en-US" b="1" dirty="0"/>
              <a:t>应隶属于哪一种三角形？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752600" y="5876926"/>
            <a:ext cx="891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>
                <a:latin typeface="宋体" pitchFamily="2" charset="-122"/>
              </a:rPr>
              <a:t>   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491689-6CFC-735B-7E1A-E7843932AF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9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ChangeArrowheads="1"/>
          </p:cNvSpPr>
          <p:nvPr/>
        </p:nvSpPr>
        <p:spPr bwMode="auto">
          <a:xfrm>
            <a:off x="759619" y="1208020"/>
            <a:ext cx="8077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先建立标准模型库中各种三角形的隶属函数</a:t>
            </a:r>
            <a:r>
              <a:rPr kumimoji="1"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.</a:t>
            </a:r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1199457" y="2419351"/>
            <a:ext cx="4896544" cy="15446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 (1) 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当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=90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时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 </a:t>
            </a:r>
            <a:r>
              <a:rPr kumimoji="1" lang="en-US" altLang="zh-CN" sz="2800" b="1" i="1" dirty="0">
                <a:ea typeface="楷体_GB2312" pitchFamily="49" charset="-122"/>
              </a:rPr>
              <a:t>R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B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C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)=1;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 (2) 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当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=180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时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 </a:t>
            </a:r>
            <a:r>
              <a:rPr kumimoji="1" lang="en-US" altLang="zh-CN" sz="2800" b="1" i="1" dirty="0">
                <a:ea typeface="楷体_GB2312" pitchFamily="49" charset="-122"/>
              </a:rPr>
              <a:t>R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B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C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)=0;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 (3) 0</a:t>
            </a:r>
            <a:r>
              <a:rPr kumimoji="1" lang="en-US" altLang="zh-CN" sz="2800" b="1" dirty="0">
                <a:ea typeface="楷体_GB2312" pitchFamily="49" charset="-122"/>
              </a:rPr>
              <a:t>≤</a:t>
            </a:r>
            <a:r>
              <a:rPr kumimoji="1" lang="en-US" altLang="zh-CN" sz="2800" b="1" i="1" dirty="0">
                <a:ea typeface="楷体_GB2312" pitchFamily="49" charset="-122"/>
              </a:rPr>
              <a:t>R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B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C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)</a:t>
            </a:r>
            <a:r>
              <a:rPr kumimoji="1" lang="en-US" altLang="zh-CN" sz="2800" b="1" dirty="0">
                <a:ea typeface="楷体_GB2312" pitchFamily="49" charset="-122"/>
              </a:rPr>
              <a:t>≤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1.</a:t>
            </a:r>
          </a:p>
        </p:txBody>
      </p:sp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769965" y="4125915"/>
            <a:ext cx="876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n"/>
            </a:pPr>
            <a:r>
              <a:rPr kumimoji="1" lang="zh-CN" altLang="en-US" sz="2800" b="1" dirty="0">
                <a:latin typeface="宋体" pitchFamily="2" charset="-122"/>
                <a:sym typeface="Symbol" pitchFamily="18" charset="2"/>
              </a:rPr>
              <a:t>故不妨定义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+mn-lt"/>
              </a:rPr>
              <a:t>R</a:t>
            </a:r>
            <a:r>
              <a:rPr kumimoji="1" lang="en-US" altLang="zh-CN" sz="28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A</a:t>
            </a:r>
            <a:r>
              <a:rPr kumimoji="1" lang="en-US" altLang="zh-CN" sz="28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,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,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C </a:t>
            </a:r>
            <a:r>
              <a:rPr kumimoji="1" lang="en-US" altLang="zh-CN" sz="28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) =1</a:t>
            </a:r>
            <a:r>
              <a:rPr kumimoji="1" lang="en-US" altLang="zh-CN" sz="2800" b="1" dirty="0">
                <a:solidFill>
                  <a:srgbClr val="0000FF"/>
                </a:solidFill>
                <a:sym typeface="Symbol" pitchFamily="18" charset="2"/>
              </a:rPr>
              <a:t></a:t>
            </a:r>
            <a:r>
              <a:rPr kumimoji="1" lang="en-US" altLang="zh-CN" sz="28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|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A </a:t>
            </a:r>
            <a:r>
              <a:rPr kumimoji="1" lang="en-US" altLang="zh-CN" sz="2800" b="1" dirty="0">
                <a:solidFill>
                  <a:srgbClr val="0000FF"/>
                </a:solidFill>
                <a:latin typeface="+mn-lt"/>
                <a:sym typeface="Symbol" panose="05050102010706020507" pitchFamily="18" charset="2"/>
              </a:rPr>
              <a:t>90|/90</a:t>
            </a:r>
            <a:r>
              <a:rPr kumimoji="1" lang="en-US" altLang="zh-CN" sz="2800" b="1" dirty="0">
                <a:latin typeface="Times New Roman" pitchFamily="18" charset="0"/>
                <a:sym typeface="Symbol" pitchFamily="18" charset="2"/>
              </a:rPr>
              <a:t>. </a:t>
            </a:r>
            <a:r>
              <a:rPr kumimoji="1" lang="zh-CN" altLang="en-US" sz="2800" b="1" dirty="0">
                <a:latin typeface="Times New Roman" pitchFamily="18" charset="0"/>
                <a:sym typeface="Symbol" pitchFamily="18" charset="2"/>
              </a:rPr>
              <a:t>则</a:t>
            </a:r>
            <a:r>
              <a:rPr kumimoji="1" lang="en-US" altLang="zh-CN" sz="2800" b="1" i="1" dirty="0">
                <a:solidFill>
                  <a:srgbClr val="008000"/>
                </a:solidFill>
                <a:latin typeface="+mn-lt"/>
              </a:rPr>
              <a:t>R</a:t>
            </a:r>
            <a:r>
              <a:rPr kumimoji="1" lang="en-US" altLang="zh-CN" sz="2800" b="1" dirty="0">
                <a:solidFill>
                  <a:srgbClr val="008000"/>
                </a:solidFill>
                <a:latin typeface="+mn-lt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8000"/>
                </a:solidFill>
                <a:latin typeface="+mn-lt"/>
              </a:rPr>
              <a:t>x</a:t>
            </a:r>
            <a:r>
              <a:rPr kumimoji="1" lang="en-US" altLang="zh-CN" sz="2800" b="1" baseline="-30000" dirty="0">
                <a:solidFill>
                  <a:srgbClr val="008000"/>
                </a:solidFill>
                <a:latin typeface="+mn-lt"/>
              </a:rPr>
              <a:t>0</a:t>
            </a:r>
            <a:r>
              <a:rPr kumimoji="1" lang="en-US" altLang="zh-CN" sz="2800" b="1" dirty="0">
                <a:solidFill>
                  <a:srgbClr val="008000"/>
                </a:solidFill>
                <a:latin typeface="+mn-lt"/>
                <a:sym typeface="Symbol" pitchFamily="18" charset="2"/>
              </a:rPr>
              <a:t>)=0.955</a:t>
            </a:r>
            <a:r>
              <a:rPr kumimoji="1" lang="en-US" altLang="zh-CN" sz="2800" b="1" dirty="0">
                <a:latin typeface="Times New Roman" pitchFamily="18" charset="0"/>
                <a:sym typeface="Symbol" pitchFamily="18" charset="2"/>
              </a:rPr>
              <a:t>.  </a:t>
            </a:r>
          </a:p>
        </p:txBody>
      </p:sp>
      <p:graphicFrame>
        <p:nvGraphicFramePr>
          <p:cNvPr id="150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535385"/>
              </p:ext>
            </p:extLst>
          </p:nvPr>
        </p:nvGraphicFramePr>
        <p:xfrm>
          <a:off x="1059084" y="4664210"/>
          <a:ext cx="5400675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91000" imgH="939960" progId="Equation.3">
                  <p:embed/>
                </p:oleObj>
              </mc:Choice>
              <mc:Fallback>
                <p:oleObj name="Equation" r:id="rId5" imgW="2691000" imgH="939960" progId="Equation.3">
                  <p:embed/>
                  <p:pic>
                    <p:nvPicPr>
                      <p:cNvPr id="150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084" y="4664210"/>
                        <a:ext cx="5400675" cy="192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4" name="Rectangle 6"/>
          <p:cNvSpPr>
            <a:spLocks noChangeArrowheads="1"/>
          </p:cNvSpPr>
          <p:nvPr/>
        </p:nvSpPr>
        <p:spPr bwMode="auto">
          <a:xfrm>
            <a:off x="584315" y="6231874"/>
            <a:ext cx="28400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800" b="1" dirty="0">
                <a:latin typeface="Times New Roman" pitchFamily="18" charset="0"/>
                <a:sym typeface="Symbol" pitchFamily="18" charset="2"/>
              </a:rPr>
              <a:t>其中 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p 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= | 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A 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– 90|</a:t>
            </a:r>
            <a:r>
              <a:rPr kumimoji="1" lang="en-US" altLang="zh-CN" sz="32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150535" name="Rectangle 7"/>
          <p:cNvSpPr>
            <a:spLocks noChangeArrowheads="1"/>
          </p:cNvSpPr>
          <p:nvPr/>
        </p:nvSpPr>
        <p:spPr bwMode="auto">
          <a:xfrm>
            <a:off x="6399138" y="5665810"/>
            <a:ext cx="2228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b="1" dirty="0">
                <a:latin typeface="Times New Roman" pitchFamily="18" charset="0"/>
                <a:sym typeface="Symbol" pitchFamily="18" charset="2"/>
              </a:rPr>
              <a:t>则</a:t>
            </a:r>
            <a:r>
              <a:rPr kumimoji="1" lang="en-US" altLang="zh-CN" sz="2800" b="1" i="1" dirty="0">
                <a:solidFill>
                  <a:srgbClr val="008000"/>
                </a:solidFill>
                <a:latin typeface="Times New Roman" pitchFamily="18" charset="0"/>
              </a:rPr>
              <a:t>R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8000"/>
                </a:solidFill>
                <a:latin typeface="Times New Roman" pitchFamily="18" charset="0"/>
              </a:rPr>
              <a:t>x</a:t>
            </a:r>
            <a:r>
              <a:rPr kumimoji="1" lang="en-US" altLang="zh-CN" sz="2800" b="1" baseline="-30000" dirty="0">
                <a:solidFill>
                  <a:srgbClr val="008000"/>
                </a:solidFill>
                <a:latin typeface="Times New Roman" pitchFamily="18" charset="0"/>
              </a:rPr>
              <a:t>0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)=0.54</a:t>
            </a:r>
            <a:r>
              <a:rPr kumimoji="1" lang="en-US" altLang="zh-CN" sz="2800" b="1" dirty="0">
                <a:latin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1654175" y="101493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1" hangingPunct="1"/>
            <a:r>
              <a:rPr lang="zh-CN" altLang="en-US" sz="4400" dirty="0">
                <a:solidFill>
                  <a:srgbClr val="008000"/>
                </a:solidFill>
                <a:ea typeface="黑体" pitchFamily="2" charset="-122"/>
              </a:rPr>
              <a:t>最大隶属度原则举例</a:t>
            </a:r>
            <a:r>
              <a:rPr lang="en-US" altLang="zh-CN" sz="4400" dirty="0">
                <a:solidFill>
                  <a:srgbClr val="008000"/>
                </a:solidFill>
                <a:ea typeface="黑体" pitchFamily="2" charset="-122"/>
              </a:rPr>
              <a:t>3</a:t>
            </a:r>
            <a:endParaRPr lang="zh-CN" altLang="en-US" sz="4400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150537" name="Rectangle 9"/>
          <p:cNvSpPr>
            <a:spLocks noChangeArrowheads="1"/>
          </p:cNvSpPr>
          <p:nvPr/>
        </p:nvSpPr>
        <p:spPr bwMode="auto">
          <a:xfrm>
            <a:off x="759619" y="4811062"/>
            <a:ext cx="1163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Char char="n"/>
            </a:pPr>
            <a:r>
              <a:rPr kumimoji="1" lang="zh-CN" altLang="en-US" sz="2800" b="1" dirty="0">
                <a:sym typeface="Symbol" pitchFamily="18" charset="2"/>
              </a:rPr>
              <a:t>或者</a:t>
            </a:r>
          </a:p>
        </p:txBody>
      </p:sp>
      <p:sp>
        <p:nvSpPr>
          <p:cNvPr id="150538" name="Rectangle 10"/>
          <p:cNvSpPr>
            <a:spLocks noChangeArrowheads="1"/>
          </p:cNvSpPr>
          <p:nvPr/>
        </p:nvSpPr>
        <p:spPr bwMode="auto">
          <a:xfrm>
            <a:off x="766595" y="1836164"/>
            <a:ext cx="969047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直角三角形</a:t>
            </a:r>
            <a:r>
              <a:rPr kumimoji="1" lang="zh-CN" altLang="en-US" sz="3200" b="1" dirty="0"/>
              <a:t>的隶属函数</a:t>
            </a:r>
            <a:r>
              <a:rPr kumimoji="1" lang="en-US" altLang="zh-CN" sz="3200" b="1" i="1" dirty="0"/>
              <a:t>R</a:t>
            </a:r>
            <a:r>
              <a:rPr kumimoji="1" lang="en-US" altLang="zh-CN" sz="3200" b="1" dirty="0">
                <a:sym typeface="Symbol" pitchFamily="18" charset="2"/>
              </a:rPr>
              <a:t>(</a:t>
            </a:r>
            <a:r>
              <a:rPr kumimoji="1" lang="en-US" altLang="zh-CN" sz="3200" b="1" i="1" dirty="0">
                <a:sym typeface="Symbol" pitchFamily="18" charset="2"/>
              </a:rPr>
              <a:t>A</a:t>
            </a:r>
            <a:r>
              <a:rPr kumimoji="1" lang="en-US" altLang="zh-CN" sz="3200" b="1" dirty="0">
                <a:sym typeface="Symbol" pitchFamily="18" charset="2"/>
              </a:rPr>
              <a:t>,</a:t>
            </a:r>
            <a:r>
              <a:rPr kumimoji="1" lang="en-US" altLang="zh-CN" sz="3200" b="1" i="1" dirty="0">
                <a:sym typeface="Symbol" pitchFamily="18" charset="2"/>
              </a:rPr>
              <a:t>B</a:t>
            </a:r>
            <a:r>
              <a:rPr kumimoji="1" lang="en-US" altLang="zh-CN" sz="3200" b="1" dirty="0">
                <a:sym typeface="Symbol" pitchFamily="18" charset="2"/>
              </a:rPr>
              <a:t>,</a:t>
            </a:r>
            <a:r>
              <a:rPr kumimoji="1" lang="en-US" altLang="zh-CN" sz="3200" b="1" i="1" dirty="0">
                <a:sym typeface="Symbol" pitchFamily="18" charset="2"/>
              </a:rPr>
              <a:t>C</a:t>
            </a:r>
            <a:r>
              <a:rPr kumimoji="1" lang="en-US" altLang="zh-CN" sz="3200" b="1" dirty="0">
                <a:sym typeface="Symbol" pitchFamily="18" charset="2"/>
              </a:rPr>
              <a:t>)</a:t>
            </a:r>
            <a:r>
              <a:rPr kumimoji="1" lang="zh-CN" altLang="en-US" sz="3200" b="1" dirty="0">
                <a:sym typeface="Symbol" pitchFamily="18" charset="2"/>
              </a:rPr>
              <a:t>应满足下列约束条件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51ECE0-28E6-2EC8-FEB7-A46E18173A12}"/>
              </a:ext>
            </a:extLst>
          </p:cNvPr>
          <p:cNvSpPr/>
          <p:nvPr/>
        </p:nvSpPr>
        <p:spPr bwMode="auto">
          <a:xfrm>
            <a:off x="6886603" y="4214815"/>
            <a:ext cx="2646362" cy="523220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pic>
        <p:nvPicPr>
          <p:cNvPr id="10" name="图片 9" descr="图表, 折线图&#10;&#10;描述已自动生成">
            <a:extLst>
              <a:ext uri="{FF2B5EF4-FFF2-40B4-BE49-F238E27FC236}">
                <a16:creationId xmlns:a16="http://schemas.microsoft.com/office/drawing/2014/main" id="{AA7ED1F6-37D9-1F2B-5749-D1571CD673E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284" y="2220484"/>
            <a:ext cx="2925859" cy="1966557"/>
          </a:xfrm>
          <a:prstGeom prst="rect">
            <a:avLst/>
          </a:prstGeom>
        </p:spPr>
      </p:pic>
      <p:pic>
        <p:nvPicPr>
          <p:cNvPr id="12" name="图片 11" descr="直方图&#10;&#10;描述已自动生成">
            <a:extLst>
              <a:ext uri="{FF2B5EF4-FFF2-40B4-BE49-F238E27FC236}">
                <a16:creationId xmlns:a16="http://schemas.microsoft.com/office/drawing/2014/main" id="{F8ED911F-D591-0857-F707-DF9DCDDD86B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367" y="4437063"/>
            <a:ext cx="3145258" cy="2220034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DD501F-F725-7E36-E73C-9C553D3C59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47200" y="6354111"/>
            <a:ext cx="2844800" cy="457200"/>
          </a:xfrm>
        </p:spPr>
        <p:txBody>
          <a:bodyPr/>
          <a:lstStyle/>
          <a:p>
            <a:pPr>
              <a:defRPr/>
            </a:pPr>
            <a:fld id="{810E6E07-33F2-49A8-BD00-750C41AC19A9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AB6B30-8765-81F5-47FB-448A0FD50A40}"/>
              </a:ext>
            </a:extLst>
          </p:cNvPr>
          <p:cNvSpPr txBox="1"/>
          <p:nvPr/>
        </p:nvSpPr>
        <p:spPr>
          <a:xfrm>
            <a:off x="9257564" y="555726"/>
            <a:ext cx="2844801" cy="107721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sz="3200" b="1" i="1" dirty="0">
                <a:solidFill>
                  <a:srgbClr val="0000FF"/>
                </a:solidFill>
              </a:rPr>
              <a:t>x</a:t>
            </a:r>
            <a:r>
              <a:rPr kumimoji="1" lang="en-US" altLang="zh-CN" sz="3200" b="1" baseline="-25000" dirty="0">
                <a:solidFill>
                  <a:srgbClr val="0000FF"/>
                </a:solidFill>
              </a:rPr>
              <a:t>0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= (</a:t>
            </a:r>
            <a:r>
              <a:rPr kumimoji="1" lang="en-US" altLang="zh-CN" sz="3200" b="1" i="1" dirty="0">
                <a:sym typeface="Symbol" pitchFamily="18" charset="2"/>
              </a:rPr>
              <a:t>A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B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C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)</a:t>
            </a:r>
          </a:p>
          <a:p>
            <a:r>
              <a:rPr kumimoji="1" lang="en-US" altLang="zh-CN" sz="3200" b="1" dirty="0">
                <a:solidFill>
                  <a:srgbClr val="0000FF"/>
                </a:solidFill>
              </a:rPr>
              <a:t>    = (94,50,36)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50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0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0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/>
      <p:bldP spid="150531" grpId="0" build="p" autoUpdateAnimBg="0"/>
      <p:bldP spid="150532" grpId="0"/>
      <p:bldP spid="150534" grpId="0" build="p" autoUpdateAnimBg="0"/>
      <p:bldP spid="150535" grpId="0" build="allAtOnce"/>
      <p:bldP spid="150537" grpId="0"/>
      <p:bldP spid="150538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911424" y="1700214"/>
            <a:ext cx="94517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3200" b="1" dirty="0">
                <a:latin typeface="宋体" pitchFamily="2" charset="-122"/>
              </a:rPr>
              <a:t> </a:t>
            </a:r>
            <a:r>
              <a:rPr kumimoji="1" lang="zh-CN" altLang="en-US" sz="32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正三角形</a:t>
            </a:r>
            <a:r>
              <a:rPr kumimoji="1" lang="zh-CN" altLang="en-US" sz="3200" b="1" dirty="0">
                <a:latin typeface="宋体" pitchFamily="2" charset="-122"/>
              </a:rPr>
              <a:t>的隶属函数</a:t>
            </a:r>
            <a:r>
              <a:rPr kumimoji="1" lang="en-US" altLang="zh-CN" sz="3200" b="1" i="1" dirty="0">
                <a:latin typeface="Times New Roman" pitchFamily="18" charset="0"/>
              </a:rPr>
              <a:t>E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,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,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kumimoji="1" lang="zh-CN" altLang="en-US" sz="3200" b="1" dirty="0">
                <a:latin typeface="宋体" pitchFamily="2" charset="-122"/>
                <a:sym typeface="Symbol" pitchFamily="18" charset="2"/>
              </a:rPr>
              <a:t>应满足下列约束条件：</a:t>
            </a:r>
          </a:p>
        </p:txBody>
      </p:sp>
      <p:sp>
        <p:nvSpPr>
          <p:cNvPr id="151555" name="Rectangle 3"/>
          <p:cNvSpPr>
            <a:spLocks noChangeArrowheads="1"/>
          </p:cNvSpPr>
          <p:nvPr/>
        </p:nvSpPr>
        <p:spPr bwMode="auto">
          <a:xfrm>
            <a:off x="1580728" y="2365970"/>
            <a:ext cx="6747520" cy="1544638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(1) </a:t>
            </a:r>
            <a:r>
              <a:rPr kumimoji="1" lang="zh-CN" altLang="en-US" sz="2800" b="1">
                <a:ea typeface="楷体_GB2312" pitchFamily="49" charset="-122"/>
                <a:sym typeface="Symbol" pitchFamily="18" charset="2"/>
              </a:rPr>
              <a:t>当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A 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= 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B 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= 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C 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= 60</a:t>
            </a:r>
            <a:r>
              <a:rPr kumimoji="1" lang="zh-CN" altLang="en-US" sz="2800" b="1">
                <a:ea typeface="楷体_GB2312" pitchFamily="49" charset="-122"/>
                <a:sym typeface="Symbol" pitchFamily="18" charset="2"/>
              </a:rPr>
              <a:t>时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, </a:t>
            </a:r>
            <a:r>
              <a:rPr kumimoji="1" lang="en-US" altLang="zh-CN" sz="2800" b="1" i="1">
                <a:ea typeface="楷体_GB2312" pitchFamily="49" charset="-122"/>
              </a:rPr>
              <a:t>E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B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C 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)=1;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(2) </a:t>
            </a:r>
            <a:r>
              <a:rPr kumimoji="1" lang="zh-CN" altLang="en-US" sz="2800" b="1">
                <a:ea typeface="楷体_GB2312" pitchFamily="49" charset="-122"/>
                <a:sym typeface="Symbol" pitchFamily="18" charset="2"/>
              </a:rPr>
              <a:t>当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A 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= 180, 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B 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= 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C 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= 0</a:t>
            </a:r>
            <a:r>
              <a:rPr kumimoji="1" lang="zh-CN" altLang="en-US" sz="2800" b="1">
                <a:ea typeface="楷体_GB2312" pitchFamily="49" charset="-122"/>
                <a:sym typeface="Symbol" pitchFamily="18" charset="2"/>
              </a:rPr>
              <a:t>时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, </a:t>
            </a:r>
            <a:r>
              <a:rPr kumimoji="1" lang="en-US" altLang="zh-CN" sz="2800" b="1" i="1">
                <a:ea typeface="楷体_GB2312" pitchFamily="49" charset="-122"/>
              </a:rPr>
              <a:t>E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B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C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)=0;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(3) 0 </a:t>
            </a:r>
            <a:r>
              <a:rPr kumimoji="1" lang="en-US" altLang="zh-CN" sz="2800" b="1">
                <a:ea typeface="楷体_GB2312" pitchFamily="49" charset="-122"/>
              </a:rPr>
              <a:t>≤ </a:t>
            </a:r>
            <a:r>
              <a:rPr kumimoji="1" lang="en-US" altLang="zh-CN" sz="2800" b="1" i="1">
                <a:ea typeface="楷体_GB2312" pitchFamily="49" charset="-122"/>
              </a:rPr>
              <a:t>E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B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>
                <a:ea typeface="楷体_GB2312" pitchFamily="49" charset="-122"/>
                <a:sym typeface="Symbol" pitchFamily="18" charset="2"/>
              </a:rPr>
              <a:t>C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) </a:t>
            </a:r>
            <a:r>
              <a:rPr kumimoji="1" lang="en-US" altLang="zh-CN" sz="2800" b="1">
                <a:ea typeface="楷体_GB2312" pitchFamily="49" charset="-122"/>
              </a:rPr>
              <a:t>≤ </a:t>
            </a:r>
            <a:r>
              <a:rPr kumimoji="1" lang="en-US" altLang="zh-CN" sz="2800" b="1">
                <a:ea typeface="楷体_GB2312" pitchFamily="49" charset="-122"/>
                <a:sym typeface="Symbol" pitchFamily="18" charset="2"/>
              </a:rPr>
              <a:t>1.</a:t>
            </a:r>
          </a:p>
        </p:txBody>
      </p:sp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911424" y="4001080"/>
            <a:ext cx="10058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kumimoji="1" lang="zh-CN" altLang="en-US" sz="3200" b="1" dirty="0">
                <a:latin typeface="宋体" pitchFamily="2" charset="-122"/>
                <a:sym typeface="Symbol" pitchFamily="18" charset="2"/>
              </a:rPr>
              <a:t>故</a:t>
            </a: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不妨定义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</a:rPr>
              <a:t>E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A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B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C 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)=1 – (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A 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– 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)/180</a:t>
            </a:r>
            <a:r>
              <a:rPr kumimoji="1" lang="en-US" altLang="zh-CN" sz="3200" b="1" dirty="0">
                <a:latin typeface="+mn-lt"/>
                <a:sym typeface="Symbol" pitchFamily="18" charset="2"/>
              </a:rPr>
              <a:t>.</a:t>
            </a:r>
            <a:r>
              <a:rPr kumimoji="1" lang="zh-CN" altLang="en-US" sz="3200" b="1" dirty="0">
                <a:latin typeface="+mn-lt"/>
                <a:sym typeface="Symbol" pitchFamily="18" charset="2"/>
              </a:rPr>
              <a:t>则</a:t>
            </a:r>
            <a:r>
              <a:rPr kumimoji="1" lang="en-US" altLang="zh-CN" sz="3200" b="1" i="1" dirty="0">
                <a:solidFill>
                  <a:srgbClr val="008000"/>
                </a:solidFill>
                <a:latin typeface="+mn-lt"/>
              </a:rPr>
              <a:t>E</a:t>
            </a:r>
            <a:r>
              <a:rPr kumimoji="1" lang="en-US" altLang="zh-CN" sz="3200" b="1" dirty="0">
                <a:solidFill>
                  <a:srgbClr val="008000"/>
                </a:solidFill>
                <a:latin typeface="+mn-lt"/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8000"/>
                </a:solidFill>
                <a:latin typeface="+mn-lt"/>
              </a:rPr>
              <a:t>x</a:t>
            </a:r>
            <a:r>
              <a:rPr kumimoji="1" lang="en-US" altLang="zh-CN" sz="3200" b="1" baseline="-30000" dirty="0">
                <a:solidFill>
                  <a:srgbClr val="008000"/>
                </a:solidFill>
                <a:latin typeface="+mn-lt"/>
              </a:rPr>
              <a:t>0</a:t>
            </a:r>
            <a:r>
              <a:rPr kumimoji="1" lang="en-US" altLang="zh-CN" sz="3200" b="1" dirty="0">
                <a:solidFill>
                  <a:srgbClr val="008000"/>
                </a:solidFill>
                <a:latin typeface="+mn-lt"/>
                <a:sym typeface="Symbol" pitchFamily="18" charset="2"/>
              </a:rPr>
              <a:t>) =0.677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. </a:t>
            </a:r>
            <a:r>
              <a:rPr kumimoji="1" lang="en-US" altLang="zh-CN" sz="3200" b="1" dirty="0">
                <a:latin typeface="宋体" pitchFamily="2" charset="-122"/>
                <a:sym typeface="Symbol" pitchFamily="18" charset="2"/>
              </a:rPr>
              <a:t>   </a:t>
            </a:r>
            <a:endParaRPr kumimoji="1" lang="en-US" altLang="zh-CN" sz="3200" b="1" dirty="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51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422197"/>
              </p:ext>
            </p:extLst>
          </p:nvPr>
        </p:nvGraphicFramePr>
        <p:xfrm>
          <a:off x="1304031" y="4627773"/>
          <a:ext cx="5580062" cy="192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7320" imgH="939960" progId="Equation.3">
                  <p:embed/>
                </p:oleObj>
              </mc:Choice>
              <mc:Fallback>
                <p:oleObj name="Equation" r:id="rId4" imgW="2767320" imgH="939960" progId="Equation.3">
                  <p:embed/>
                  <p:pic>
                    <p:nvPicPr>
                      <p:cNvPr id="151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031" y="4627773"/>
                        <a:ext cx="5580062" cy="192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8" name="Rectangle 6"/>
          <p:cNvSpPr>
            <a:spLocks noChangeArrowheads="1"/>
          </p:cNvSpPr>
          <p:nvPr/>
        </p:nvSpPr>
        <p:spPr bwMode="auto">
          <a:xfrm>
            <a:off x="911424" y="6229080"/>
            <a:ext cx="2476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800" b="1" dirty="0">
                <a:latin typeface="Times New Roman" pitchFamily="18" charset="0"/>
                <a:sym typeface="Symbol" pitchFamily="18" charset="2"/>
              </a:rPr>
              <a:t>其中 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p 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= 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A 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– 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151559" name="Rectangle 7"/>
          <p:cNvSpPr>
            <a:spLocks noChangeArrowheads="1"/>
          </p:cNvSpPr>
          <p:nvPr/>
        </p:nvSpPr>
        <p:spPr bwMode="auto">
          <a:xfrm>
            <a:off x="5862347" y="6325792"/>
            <a:ext cx="25394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则</a:t>
            </a:r>
            <a:r>
              <a:rPr kumimoji="1" lang="en-US" altLang="zh-CN" sz="3200" b="1" i="1" dirty="0">
                <a:solidFill>
                  <a:srgbClr val="008000"/>
                </a:solidFill>
                <a:latin typeface="Times New Roman" pitchFamily="18" charset="0"/>
              </a:rPr>
              <a:t>E</a:t>
            </a:r>
            <a:r>
              <a:rPr kumimoji="1" lang="en-US" altLang="zh-CN" sz="32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8000"/>
                </a:solidFill>
                <a:latin typeface="Times New Roman" pitchFamily="18" charset="0"/>
              </a:rPr>
              <a:t>x</a:t>
            </a:r>
            <a:r>
              <a:rPr kumimoji="1" lang="en-US" altLang="zh-CN" sz="3200" b="1" baseline="-30000" dirty="0">
                <a:solidFill>
                  <a:srgbClr val="008000"/>
                </a:solidFill>
                <a:latin typeface="Times New Roman" pitchFamily="18" charset="0"/>
              </a:rPr>
              <a:t>0</a:t>
            </a:r>
            <a:r>
              <a:rPr kumimoji="1" lang="en-US" altLang="zh-CN" sz="32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)=0.02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51560" name="Rectangle 8"/>
          <p:cNvSpPr>
            <a:spLocks noChangeArrowheads="1"/>
          </p:cNvSpPr>
          <p:nvPr/>
        </p:nvSpPr>
        <p:spPr bwMode="auto">
          <a:xfrm>
            <a:off x="1010444" y="4653136"/>
            <a:ext cx="11737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kumimoji="1" lang="zh-CN" altLang="en-US" sz="2800" b="1" dirty="0">
                <a:sym typeface="Symbol" pitchFamily="18" charset="2"/>
              </a:rPr>
              <a:t>或者</a:t>
            </a: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1754188" y="319416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1" hangingPunct="1"/>
            <a:r>
              <a:rPr lang="zh-CN" altLang="en-US" sz="4400" dirty="0">
                <a:solidFill>
                  <a:srgbClr val="008000"/>
                </a:solidFill>
                <a:ea typeface="黑体" pitchFamily="2" charset="-122"/>
              </a:rPr>
              <a:t>最大隶属度原则举例</a:t>
            </a:r>
            <a:r>
              <a:rPr lang="en-US" altLang="zh-CN" sz="4400" dirty="0">
                <a:solidFill>
                  <a:srgbClr val="008000"/>
                </a:solidFill>
                <a:ea typeface="黑体" pitchFamily="2" charset="-122"/>
              </a:rPr>
              <a:t>3</a:t>
            </a:r>
            <a:endParaRPr lang="zh-CN" altLang="en-US" sz="4400" dirty="0">
              <a:solidFill>
                <a:srgbClr val="008000"/>
              </a:solidFill>
              <a:ea typeface="黑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1129F9-FC20-410A-A290-60AD65986D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711" y="4553916"/>
            <a:ext cx="3619263" cy="22381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9658598-536E-A6F9-64A3-B6136AD12AA2}"/>
              </a:ext>
            </a:extLst>
          </p:cNvPr>
          <p:cNvSpPr/>
          <p:nvPr/>
        </p:nvSpPr>
        <p:spPr bwMode="auto">
          <a:xfrm>
            <a:off x="8184232" y="4057908"/>
            <a:ext cx="3096344" cy="523220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5A4DBE-2A1F-0979-71E6-7C771690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276572" y="6334873"/>
            <a:ext cx="747794" cy="457200"/>
          </a:xfrm>
        </p:spPr>
        <p:txBody>
          <a:bodyPr/>
          <a:lstStyle/>
          <a:p>
            <a:pPr>
              <a:defRPr/>
            </a:pPr>
            <a:fld id="{810E6E07-33F2-49A8-BD00-750C41AC19A9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EDE372-C0AC-3D23-98F3-02A25D6A9909}"/>
              </a:ext>
            </a:extLst>
          </p:cNvPr>
          <p:cNvSpPr txBox="1"/>
          <p:nvPr/>
        </p:nvSpPr>
        <p:spPr>
          <a:xfrm>
            <a:off x="9257564" y="555726"/>
            <a:ext cx="2844801" cy="107721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sz="3200" b="1" i="1" dirty="0">
                <a:solidFill>
                  <a:srgbClr val="0000FF"/>
                </a:solidFill>
              </a:rPr>
              <a:t>x</a:t>
            </a:r>
            <a:r>
              <a:rPr kumimoji="1" lang="en-US" altLang="zh-CN" sz="3200" b="1" baseline="-25000" dirty="0">
                <a:solidFill>
                  <a:srgbClr val="0000FF"/>
                </a:solidFill>
              </a:rPr>
              <a:t>0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= (</a:t>
            </a:r>
            <a:r>
              <a:rPr kumimoji="1" lang="en-US" altLang="zh-CN" sz="3200" b="1" i="1" dirty="0">
                <a:sym typeface="Symbol" pitchFamily="18" charset="2"/>
              </a:rPr>
              <a:t>A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B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C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)</a:t>
            </a:r>
          </a:p>
          <a:p>
            <a:r>
              <a:rPr kumimoji="1" lang="en-US" altLang="zh-CN" sz="3200" b="1" dirty="0">
                <a:solidFill>
                  <a:srgbClr val="0000FF"/>
                </a:solidFill>
              </a:rPr>
              <a:t>    = (94,50,36)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1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1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1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1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1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1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4" grpId="0"/>
      <p:bldP spid="151555" grpId="0" build="p" autoUpdateAnimBg="0"/>
      <p:bldP spid="151556" grpId="0"/>
      <p:bldP spid="151558" grpId="0" build="p" autoUpdateAnimBg="0"/>
      <p:bldP spid="151559" grpId="0" build="allAtOnce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ChangeArrowheads="1"/>
          </p:cNvSpPr>
          <p:nvPr/>
        </p:nvSpPr>
        <p:spPr bwMode="auto">
          <a:xfrm>
            <a:off x="623392" y="1628800"/>
            <a:ext cx="97116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3200" b="1" dirty="0">
                <a:latin typeface="宋体" pitchFamily="2" charset="-122"/>
              </a:rPr>
              <a:t> </a:t>
            </a:r>
            <a:r>
              <a:rPr kumimoji="1" lang="zh-CN" altLang="en-US" sz="32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等腰三角形</a:t>
            </a:r>
            <a:r>
              <a:rPr kumimoji="1" lang="zh-CN" altLang="en-US" sz="3200" b="1" dirty="0">
                <a:latin typeface="宋体" pitchFamily="2" charset="-122"/>
              </a:rPr>
              <a:t>的隶属函数</a:t>
            </a:r>
            <a:r>
              <a:rPr kumimoji="1" lang="en-US" altLang="zh-CN" sz="3200" b="1" i="1" dirty="0">
                <a:latin typeface="Times New Roman" pitchFamily="18" charset="0"/>
              </a:rPr>
              <a:t>I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,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,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kumimoji="1" lang="zh-CN" altLang="en-US" sz="3200" b="1" dirty="0">
                <a:latin typeface="宋体" pitchFamily="2" charset="-122"/>
                <a:sym typeface="Symbol" pitchFamily="18" charset="2"/>
              </a:rPr>
              <a:t>应满足下列约束条件：</a:t>
            </a:r>
          </a:p>
        </p:txBody>
      </p:sp>
      <p:sp>
        <p:nvSpPr>
          <p:cNvPr id="152579" name="Rectangle 3"/>
          <p:cNvSpPr>
            <a:spLocks noChangeArrowheads="1"/>
          </p:cNvSpPr>
          <p:nvPr/>
        </p:nvSpPr>
        <p:spPr bwMode="auto">
          <a:xfrm>
            <a:off x="1127448" y="2286847"/>
            <a:ext cx="7488832" cy="154463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(1) 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当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= 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B 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或 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B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= 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C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时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 </a:t>
            </a:r>
            <a:r>
              <a:rPr kumimoji="1" lang="en-US" altLang="zh-CN" sz="2800" b="1" i="1" dirty="0">
                <a:ea typeface="楷体_GB2312" pitchFamily="49" charset="-122"/>
              </a:rPr>
              <a:t>I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B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C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)=1;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(2) 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当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= 120, 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B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= 60, 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C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= 0</a:t>
            </a:r>
            <a:r>
              <a:rPr kumimoji="1" lang="zh-CN" altLang="en-US" sz="2800" b="1" dirty="0">
                <a:ea typeface="楷体_GB2312" pitchFamily="49" charset="-122"/>
                <a:sym typeface="Symbol" pitchFamily="18" charset="2"/>
              </a:rPr>
              <a:t>时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 </a:t>
            </a:r>
            <a:r>
              <a:rPr kumimoji="1" lang="en-US" altLang="zh-CN" sz="2800" b="1" i="1" dirty="0">
                <a:ea typeface="楷体_GB2312" pitchFamily="49" charset="-122"/>
              </a:rPr>
              <a:t>I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B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C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) = 0;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(3) 0 </a:t>
            </a:r>
            <a:r>
              <a:rPr kumimoji="1" lang="en-US" altLang="zh-CN" sz="2800" b="1" dirty="0">
                <a:ea typeface="楷体_GB2312" pitchFamily="49" charset="-122"/>
              </a:rPr>
              <a:t>≤ </a:t>
            </a:r>
            <a:r>
              <a:rPr kumimoji="1" lang="en-US" altLang="zh-CN" sz="2800" b="1" i="1" dirty="0">
                <a:ea typeface="楷体_GB2312" pitchFamily="49" charset="-122"/>
              </a:rPr>
              <a:t>I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A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B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ea typeface="楷体_GB2312" pitchFamily="49" charset="-122"/>
                <a:sym typeface="Symbol" pitchFamily="18" charset="2"/>
              </a:rPr>
              <a:t>C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) </a:t>
            </a:r>
            <a:r>
              <a:rPr kumimoji="1" lang="en-US" altLang="zh-CN" sz="2800" b="1" dirty="0">
                <a:ea typeface="楷体_GB2312" pitchFamily="49" charset="-122"/>
              </a:rPr>
              <a:t>≤ </a:t>
            </a:r>
            <a:r>
              <a:rPr kumimoji="1" lang="en-US" altLang="zh-CN" sz="2800" b="1" dirty="0">
                <a:ea typeface="楷体_GB2312" pitchFamily="49" charset="-122"/>
                <a:sym typeface="Symbol" pitchFamily="18" charset="2"/>
              </a:rPr>
              <a:t>1.</a:t>
            </a: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830908" y="3933056"/>
            <a:ext cx="113610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不妨定义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A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B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C 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) =1 – [(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A 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– 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B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)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</a:rPr>
              <a:t>∧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B 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– </a:t>
            </a:r>
            <a:r>
              <a:rPr kumimoji="1" lang="en-US" altLang="zh-CN" sz="3200" b="1" i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0000FF"/>
                </a:solidFill>
                <a:latin typeface="+mn-lt"/>
                <a:sym typeface="Symbol" pitchFamily="18" charset="2"/>
              </a:rPr>
              <a:t>)]/60</a:t>
            </a:r>
            <a:r>
              <a:rPr kumimoji="1" lang="en-US" altLang="zh-CN" sz="3200" b="1" dirty="0">
                <a:latin typeface="+mn-lt"/>
                <a:sym typeface="Symbol" pitchFamily="18" charset="2"/>
              </a:rPr>
              <a:t>.</a:t>
            </a: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则</a:t>
            </a:r>
            <a:r>
              <a:rPr kumimoji="1" lang="en-US" altLang="zh-CN" sz="3200" b="1" i="1" dirty="0">
                <a:solidFill>
                  <a:srgbClr val="008000"/>
                </a:solidFill>
                <a:latin typeface="Times New Roman" pitchFamily="18" charset="0"/>
              </a:rPr>
              <a:t>I</a:t>
            </a:r>
            <a:r>
              <a:rPr kumimoji="1" lang="en-US" altLang="zh-CN" sz="3200" b="1" dirty="0">
                <a:solidFill>
                  <a:srgbClr val="008000"/>
                </a:solidFill>
                <a:latin typeface="+mj-lt"/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8000"/>
                </a:solidFill>
                <a:latin typeface="+mj-lt"/>
              </a:rPr>
              <a:t>x</a:t>
            </a:r>
            <a:r>
              <a:rPr kumimoji="1" lang="en-US" altLang="zh-CN" sz="3200" b="1" baseline="-30000" dirty="0">
                <a:solidFill>
                  <a:srgbClr val="008000"/>
                </a:solidFill>
                <a:latin typeface="+mj-lt"/>
              </a:rPr>
              <a:t>0</a:t>
            </a:r>
            <a:r>
              <a:rPr kumimoji="1" lang="en-US" altLang="zh-CN" sz="3200" b="1" dirty="0">
                <a:solidFill>
                  <a:srgbClr val="008000"/>
                </a:solidFill>
                <a:latin typeface="+mj-lt"/>
                <a:sym typeface="Symbol" pitchFamily="18" charset="2"/>
              </a:rPr>
              <a:t>) =0.767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 </a:t>
            </a:r>
          </a:p>
        </p:txBody>
      </p:sp>
      <p:graphicFrame>
        <p:nvGraphicFramePr>
          <p:cNvPr id="152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22061"/>
              </p:ext>
            </p:extLst>
          </p:nvPr>
        </p:nvGraphicFramePr>
        <p:xfrm>
          <a:off x="1202357" y="4581128"/>
          <a:ext cx="5327650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52840" imgH="939960" progId="Equation.3">
                  <p:embed/>
                </p:oleObj>
              </mc:Choice>
              <mc:Fallback>
                <p:oleObj name="Equation" r:id="rId5" imgW="2652840" imgH="939960" progId="Equation.3">
                  <p:embed/>
                  <p:pic>
                    <p:nvPicPr>
                      <p:cNvPr id="152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2357" y="4581128"/>
                        <a:ext cx="5327650" cy="192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2" name="Rectangle 6"/>
          <p:cNvSpPr>
            <a:spLocks noChangeArrowheads="1"/>
          </p:cNvSpPr>
          <p:nvPr/>
        </p:nvSpPr>
        <p:spPr bwMode="auto">
          <a:xfrm>
            <a:off x="652901" y="6363296"/>
            <a:ext cx="31817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p 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= (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A 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– 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B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)</a:t>
            </a:r>
            <a:r>
              <a:rPr kumimoji="1" lang="en-US" altLang="zh-CN" sz="2800" b="1" dirty="0">
                <a:solidFill>
                  <a:srgbClr val="CC00CC"/>
                </a:solidFill>
              </a:rPr>
              <a:t>∧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B 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– </a:t>
            </a:r>
            <a:r>
              <a:rPr kumimoji="1" lang="en-US" altLang="zh-CN" sz="2800" b="1" i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2800" b="1" dirty="0">
                <a:solidFill>
                  <a:srgbClr val="CC00CC"/>
                </a:solidFill>
                <a:latin typeface="Times New Roman" pitchFamily="18" charset="0"/>
                <a:sym typeface="Symbol" pitchFamily="18" charset="2"/>
              </a:rPr>
              <a:t>)</a:t>
            </a:r>
          </a:p>
        </p:txBody>
      </p:sp>
      <p:sp>
        <p:nvSpPr>
          <p:cNvPr id="152583" name="Rectangle 7"/>
          <p:cNvSpPr>
            <a:spLocks noChangeArrowheads="1"/>
          </p:cNvSpPr>
          <p:nvPr/>
        </p:nvSpPr>
        <p:spPr bwMode="auto">
          <a:xfrm>
            <a:off x="6096000" y="6272149"/>
            <a:ext cx="2143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b="1" dirty="0">
                <a:latin typeface="Times New Roman" pitchFamily="18" charset="0"/>
                <a:sym typeface="Symbol" pitchFamily="18" charset="2"/>
              </a:rPr>
              <a:t>则</a:t>
            </a:r>
            <a:r>
              <a:rPr kumimoji="1" lang="en-US" altLang="zh-CN" sz="2800" b="1" i="1" dirty="0">
                <a:solidFill>
                  <a:srgbClr val="008000"/>
                </a:solidFill>
                <a:latin typeface="Times New Roman" pitchFamily="18" charset="0"/>
              </a:rPr>
              <a:t>I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8000"/>
                </a:solidFill>
                <a:latin typeface="Times New Roman" pitchFamily="18" charset="0"/>
              </a:rPr>
              <a:t>x</a:t>
            </a:r>
            <a:r>
              <a:rPr kumimoji="1" lang="en-US" altLang="zh-CN" sz="2800" b="1" baseline="-30000" dirty="0">
                <a:solidFill>
                  <a:srgbClr val="008000"/>
                </a:solidFill>
                <a:latin typeface="Times New Roman" pitchFamily="18" charset="0"/>
              </a:rPr>
              <a:t>0</a:t>
            </a:r>
            <a:r>
              <a:rPr kumimoji="1" lang="en-US" altLang="zh-CN" sz="28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)=0.10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52584" name="Rectangle 8"/>
          <p:cNvSpPr>
            <a:spLocks noChangeArrowheads="1"/>
          </p:cNvSpPr>
          <p:nvPr/>
        </p:nvSpPr>
        <p:spPr bwMode="auto">
          <a:xfrm>
            <a:off x="859581" y="4653136"/>
            <a:ext cx="12731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kumimoji="1" lang="en-US" altLang="zh-CN" sz="2800" dirty="0">
                <a:sym typeface="Symbol" pitchFamily="18" charset="2"/>
              </a:rPr>
              <a:t> </a:t>
            </a:r>
            <a:r>
              <a:rPr kumimoji="1" lang="zh-CN" altLang="en-US" sz="2800" b="1" dirty="0">
                <a:sym typeface="Symbol" pitchFamily="18" charset="2"/>
              </a:rPr>
              <a:t>或者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1496134" y="259677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1" hangingPunct="1"/>
            <a:r>
              <a:rPr lang="zh-CN" altLang="en-US" sz="4400" dirty="0">
                <a:solidFill>
                  <a:srgbClr val="008000"/>
                </a:solidFill>
                <a:ea typeface="黑体" pitchFamily="2" charset="-122"/>
              </a:rPr>
              <a:t>最大隶属度原则举例</a:t>
            </a:r>
            <a:r>
              <a:rPr lang="en-US" altLang="zh-CN" sz="4400" dirty="0">
                <a:solidFill>
                  <a:srgbClr val="008000"/>
                </a:solidFill>
                <a:ea typeface="黑体" pitchFamily="2" charset="-122"/>
              </a:rPr>
              <a:t>3</a:t>
            </a:r>
            <a:endParaRPr lang="zh-CN" altLang="en-US" sz="4400" dirty="0">
              <a:solidFill>
                <a:srgbClr val="008000"/>
              </a:solidFill>
              <a:ea typeface="黑体" pitchFamily="2" charset="-122"/>
            </a:endParaRPr>
          </a:p>
        </p:txBody>
      </p:sp>
      <p:pic>
        <p:nvPicPr>
          <p:cNvPr id="3" name="图片 2" descr="图表, 直方图&#10;&#10;描述已自动生成">
            <a:extLst>
              <a:ext uri="{FF2B5EF4-FFF2-40B4-BE49-F238E27FC236}">
                <a16:creationId xmlns:a16="http://schemas.microsoft.com/office/drawing/2014/main" id="{173AE820-788F-428D-B485-10DB686AAF5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777" y="4528284"/>
            <a:ext cx="3603501" cy="224534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280D4B7-B686-59EE-0223-911CA40C15E3}"/>
              </a:ext>
            </a:extLst>
          </p:cNvPr>
          <p:cNvSpPr/>
          <p:nvPr/>
        </p:nvSpPr>
        <p:spPr bwMode="auto">
          <a:xfrm>
            <a:off x="9291238" y="4005064"/>
            <a:ext cx="2637410" cy="523220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25547D-43EE-13BB-5436-6B0C94D7E2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2437260" y="6443990"/>
            <a:ext cx="2844800" cy="457200"/>
          </a:xfrm>
        </p:spPr>
        <p:txBody>
          <a:bodyPr/>
          <a:lstStyle/>
          <a:p>
            <a:pPr>
              <a:defRPr/>
            </a:pPr>
            <a:fld id="{810E6E07-33F2-49A8-BD00-750C41AC19A9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826EBF-FB85-C223-DA8D-DD52554CDBFD}"/>
              </a:ext>
            </a:extLst>
          </p:cNvPr>
          <p:cNvSpPr txBox="1"/>
          <p:nvPr/>
        </p:nvSpPr>
        <p:spPr>
          <a:xfrm>
            <a:off x="9257564" y="555726"/>
            <a:ext cx="2844801" cy="107721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sz="3200" b="1" i="1" dirty="0">
                <a:solidFill>
                  <a:srgbClr val="0000FF"/>
                </a:solidFill>
              </a:rPr>
              <a:t>x</a:t>
            </a:r>
            <a:r>
              <a:rPr kumimoji="1" lang="en-US" altLang="zh-CN" sz="3200" b="1" baseline="-25000" dirty="0">
                <a:solidFill>
                  <a:srgbClr val="0000FF"/>
                </a:solidFill>
              </a:rPr>
              <a:t>0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= (</a:t>
            </a:r>
            <a:r>
              <a:rPr kumimoji="1" lang="en-US" altLang="zh-CN" sz="3200" b="1" i="1" dirty="0">
                <a:sym typeface="Symbol" pitchFamily="18" charset="2"/>
              </a:rPr>
              <a:t>A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B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C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)</a:t>
            </a:r>
          </a:p>
          <a:p>
            <a:r>
              <a:rPr kumimoji="1" lang="en-US" altLang="zh-CN" sz="3200" b="1" dirty="0">
                <a:solidFill>
                  <a:srgbClr val="0000FF"/>
                </a:solidFill>
              </a:rPr>
              <a:t>    = (94,50,36)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/>
      <p:bldP spid="152579" grpId="0" build="p" autoUpdateAnimBg="0"/>
      <p:bldP spid="152580" grpId="0"/>
      <p:bldP spid="152582" grpId="0" build="p" autoUpdateAnimBg="0"/>
      <p:bldP spid="152583" grpId="0" build="allAtOnce"/>
      <p:bldP spid="152584" grpId="0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1127448" y="1412876"/>
            <a:ext cx="8130116" cy="244451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3200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</a:rPr>
              <a:t>等腰直角三角形</a:t>
            </a:r>
            <a:r>
              <a:rPr kumimoji="1" lang="zh-CN" altLang="en-US" sz="3200" b="1" dirty="0">
                <a:latin typeface="Times New Roman" pitchFamily="18" charset="0"/>
              </a:rPr>
              <a:t>的隶属函数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latin typeface="+mn-lt"/>
              </a:rPr>
              <a:t>   </a:t>
            </a:r>
            <a:r>
              <a:rPr kumimoji="1" lang="en-US" altLang="zh-CN" sz="2800" b="1" dirty="0">
                <a:latin typeface="+mn-lt"/>
              </a:rPr>
              <a:t>(</a:t>
            </a:r>
            <a:r>
              <a:rPr kumimoji="1" lang="en-US" altLang="zh-CN" sz="2800" b="1" i="1" dirty="0">
                <a:latin typeface="+mn-lt"/>
              </a:rPr>
              <a:t>I</a:t>
            </a:r>
            <a:r>
              <a:rPr kumimoji="1" lang="en-US" altLang="zh-CN" sz="2800" b="1" dirty="0">
                <a:latin typeface="+mn-lt"/>
                <a:ea typeface="黑体" pitchFamily="2" charset="-122"/>
              </a:rPr>
              <a:t>∩</a:t>
            </a:r>
            <a:r>
              <a:rPr kumimoji="1" lang="en-US" altLang="zh-CN" sz="2800" b="1" i="1" dirty="0">
                <a:latin typeface="+mn-lt"/>
              </a:rPr>
              <a:t>R</a:t>
            </a:r>
            <a:r>
              <a:rPr kumimoji="1" lang="en-US" altLang="zh-CN" sz="2800" b="1" dirty="0">
                <a:latin typeface="+mn-lt"/>
              </a:rPr>
              <a:t>)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(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A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,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B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,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C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)</a:t>
            </a:r>
            <a:r>
              <a:rPr kumimoji="1" lang="en-US" altLang="zh-CN" sz="2800" b="1" i="1" dirty="0">
                <a:latin typeface="+mn-lt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sz="2800" b="1" i="1" dirty="0">
                <a:latin typeface="+mn-lt"/>
              </a:rPr>
              <a:t>= I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(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A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,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B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,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C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)</a:t>
            </a:r>
            <a:r>
              <a:rPr kumimoji="1" lang="en-US" altLang="zh-CN" sz="2800" b="1" dirty="0">
                <a:solidFill>
                  <a:srgbClr val="FF0000"/>
                </a:solidFill>
                <a:latin typeface="+mn-lt"/>
              </a:rPr>
              <a:t>∧</a:t>
            </a:r>
            <a:r>
              <a:rPr kumimoji="1" lang="en-US" altLang="zh-CN" sz="2800" b="1" i="1" dirty="0">
                <a:latin typeface="+mn-lt"/>
              </a:rPr>
              <a:t>R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(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A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,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B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,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C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);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sz="2800" b="1" dirty="0">
                <a:latin typeface="+mn-lt"/>
                <a:sym typeface="Symbol" pitchFamily="18" charset="2"/>
              </a:rPr>
              <a:t>={1</a:t>
            </a:r>
            <a:r>
              <a:rPr kumimoji="1" lang="zh-CN" altLang="en-US" sz="2800" b="1" dirty="0">
                <a:latin typeface="+mn-lt"/>
                <a:sym typeface="Symbol" pitchFamily="18" charset="2"/>
              </a:rPr>
              <a:t>－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[(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A</a:t>
            </a:r>
            <a:r>
              <a:rPr kumimoji="1" lang="zh-CN" altLang="en-US" sz="2800" b="1" i="1" dirty="0">
                <a:latin typeface="+mn-lt"/>
                <a:sym typeface="Symbol" pitchFamily="18" charset="2"/>
              </a:rPr>
              <a:t>－</a:t>
            </a:r>
            <a:r>
              <a:rPr kumimoji="1" lang="en-US" altLang="zh-CN" sz="2800" b="1" i="1" dirty="0">
                <a:latin typeface="+mn-lt"/>
                <a:sym typeface="Symbol" pitchFamily="18" charset="2"/>
              </a:rPr>
              <a:t>B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)</a:t>
            </a:r>
            <a:r>
              <a:rPr kumimoji="1" lang="en-US" altLang="zh-CN" sz="2800" b="1" dirty="0">
                <a:latin typeface="+mn-lt"/>
              </a:rPr>
              <a:t>∧(</a:t>
            </a:r>
            <a:r>
              <a:rPr kumimoji="1" lang="en-US" altLang="zh-CN" sz="2800" b="1" i="1" dirty="0">
                <a:latin typeface="+mn-lt"/>
              </a:rPr>
              <a:t>B</a:t>
            </a:r>
            <a:r>
              <a:rPr kumimoji="1" lang="zh-CN" altLang="en-US" sz="2800" b="1" i="1" dirty="0">
                <a:latin typeface="+mn-lt"/>
              </a:rPr>
              <a:t>－</a:t>
            </a:r>
            <a:r>
              <a:rPr kumimoji="1" lang="en-US" altLang="zh-CN" sz="2800" b="1" i="1" dirty="0">
                <a:latin typeface="+mn-lt"/>
              </a:rPr>
              <a:t>C</a:t>
            </a:r>
            <a:r>
              <a:rPr kumimoji="1" lang="en-US" altLang="zh-CN" sz="2800" b="1" dirty="0">
                <a:latin typeface="+mn-lt"/>
              </a:rPr>
              <a:t>)]/60</a:t>
            </a:r>
            <a:r>
              <a:rPr kumimoji="1" lang="en-US" altLang="zh-CN" sz="2800" b="1" dirty="0">
                <a:latin typeface="+mn-lt"/>
                <a:sym typeface="Symbol" pitchFamily="18" charset="2"/>
              </a:rPr>
              <a:t>}</a:t>
            </a:r>
            <a:r>
              <a:rPr kumimoji="1" lang="en-US" altLang="zh-CN" sz="2800" b="1" dirty="0">
                <a:solidFill>
                  <a:srgbClr val="FF0000"/>
                </a:solidFill>
                <a:latin typeface="+mn-lt"/>
              </a:rPr>
              <a:t>∧</a:t>
            </a:r>
            <a:r>
              <a:rPr kumimoji="1" lang="en-US" altLang="zh-CN" sz="2800" b="1" dirty="0">
                <a:latin typeface="+mn-lt"/>
              </a:rPr>
              <a:t>{1</a:t>
            </a:r>
            <a:r>
              <a:rPr kumimoji="1" lang="zh-CN" altLang="en-US" sz="2800" b="1" dirty="0">
                <a:latin typeface="+mn-lt"/>
              </a:rPr>
              <a:t>－</a:t>
            </a:r>
            <a:r>
              <a:rPr kumimoji="1" lang="en-US" altLang="zh-CN" sz="2800" b="1" dirty="0">
                <a:latin typeface="+mn-lt"/>
              </a:rPr>
              <a:t>|</a:t>
            </a:r>
            <a:r>
              <a:rPr kumimoji="1" lang="en-US" altLang="zh-CN" sz="2800" b="1" i="1" dirty="0">
                <a:latin typeface="+mn-lt"/>
              </a:rPr>
              <a:t>A</a:t>
            </a:r>
            <a:r>
              <a:rPr kumimoji="1" lang="zh-CN" altLang="en-US" sz="2800" b="1" i="1" dirty="0">
                <a:latin typeface="+mn-lt"/>
              </a:rPr>
              <a:t>－</a:t>
            </a:r>
            <a:r>
              <a:rPr kumimoji="1" lang="en-US" altLang="zh-CN" sz="2800" b="1" dirty="0">
                <a:latin typeface="+mn-lt"/>
              </a:rPr>
              <a:t>90|/90}</a:t>
            </a:r>
          </a:p>
        </p:txBody>
      </p:sp>
      <p:sp>
        <p:nvSpPr>
          <p:cNvPr id="153603" name="Rectangle 3"/>
          <p:cNvSpPr>
            <a:spLocks noChangeArrowheads="1"/>
          </p:cNvSpPr>
          <p:nvPr/>
        </p:nvSpPr>
        <p:spPr bwMode="auto">
          <a:xfrm>
            <a:off x="1199670" y="4115788"/>
            <a:ext cx="4213441" cy="258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kumimoji="1" lang="en-US" altLang="zh-CN" sz="2800" b="1" dirty="0">
                <a:solidFill>
                  <a:srgbClr val="008000"/>
                </a:solidFill>
              </a:rPr>
              <a:t>   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(</a:t>
            </a:r>
            <a:r>
              <a:rPr kumimoji="1" lang="en-US" altLang="zh-CN" sz="3200" b="1" i="1" dirty="0">
                <a:solidFill>
                  <a:srgbClr val="008000"/>
                </a:solidFill>
              </a:rPr>
              <a:t>I </a:t>
            </a:r>
            <a:r>
              <a:rPr kumimoji="1" lang="en-US" altLang="zh-CN" sz="3200" b="1" dirty="0">
                <a:solidFill>
                  <a:srgbClr val="008000"/>
                </a:solidFill>
                <a:ea typeface="黑体" pitchFamily="2" charset="-122"/>
              </a:rPr>
              <a:t>∩</a:t>
            </a:r>
            <a:r>
              <a:rPr kumimoji="1" lang="en-US" altLang="zh-CN" sz="3200" b="1" i="1" dirty="0">
                <a:solidFill>
                  <a:srgbClr val="008000"/>
                </a:solidFill>
              </a:rPr>
              <a:t>R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) 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8000"/>
                </a:solidFill>
              </a:rPr>
              <a:t>x</a:t>
            </a:r>
            <a:r>
              <a:rPr kumimoji="1" lang="en-US" altLang="zh-CN" sz="3200" b="1" baseline="-30000" dirty="0">
                <a:solidFill>
                  <a:srgbClr val="008000"/>
                </a:solidFill>
              </a:rPr>
              <a:t>0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3200" b="1" i="1" dirty="0">
                <a:solidFill>
                  <a:srgbClr val="008000"/>
                </a:solidFill>
              </a:rPr>
              <a:t>= 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(</a:t>
            </a:r>
            <a:r>
              <a:rPr kumimoji="1" lang="en-US" altLang="zh-CN" sz="3200" b="1" i="1" dirty="0">
                <a:solidFill>
                  <a:srgbClr val="008000"/>
                </a:solidFill>
              </a:rPr>
              <a:t>I 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∩</a:t>
            </a:r>
            <a:r>
              <a:rPr kumimoji="1" lang="en-US" altLang="zh-CN" sz="3200" b="1" i="1" dirty="0">
                <a:solidFill>
                  <a:srgbClr val="008000"/>
                </a:solidFill>
              </a:rPr>
              <a:t>R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)</a:t>
            </a:r>
            <a:r>
              <a:rPr kumimoji="1" lang="en-US" altLang="zh-CN" sz="3200" dirty="0">
                <a:solidFill>
                  <a:srgbClr val="008000"/>
                </a:solidFill>
              </a:rPr>
              <a:t> 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(94,50,36)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3200" b="1" i="1" dirty="0">
                <a:solidFill>
                  <a:srgbClr val="008000"/>
                </a:solidFill>
              </a:rPr>
              <a:t>= I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8000"/>
                </a:solidFill>
                <a:sym typeface="Symbol" pitchFamily="18" charset="2"/>
              </a:rPr>
              <a:t>A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008000"/>
                </a:solidFill>
                <a:sym typeface="Symbol" pitchFamily="18" charset="2"/>
              </a:rPr>
              <a:t>B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008000"/>
                </a:solidFill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)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∧</a:t>
            </a:r>
            <a:r>
              <a:rPr kumimoji="1" lang="en-US" altLang="zh-CN" sz="3200" b="1" i="1" dirty="0">
                <a:solidFill>
                  <a:srgbClr val="008000"/>
                </a:solidFill>
              </a:rPr>
              <a:t>R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8000"/>
                </a:solidFill>
                <a:sym typeface="Symbol" pitchFamily="18" charset="2"/>
              </a:rPr>
              <a:t>A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008000"/>
                </a:solidFill>
                <a:sym typeface="Symbol" pitchFamily="18" charset="2"/>
              </a:rPr>
              <a:t>B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008000"/>
                </a:solidFill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=0.767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∧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0.955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=0.767</a:t>
            </a:r>
            <a:endParaRPr kumimoji="1" lang="en-US" altLang="zh-CN" sz="2800" b="1" dirty="0">
              <a:solidFill>
                <a:srgbClr val="008000"/>
              </a:solidFill>
            </a:endParaRPr>
          </a:p>
        </p:txBody>
      </p:sp>
      <p:sp>
        <p:nvSpPr>
          <p:cNvPr id="16388" name="Rectangle 8"/>
          <p:cNvSpPr>
            <a:spLocks noChangeArrowheads="1"/>
          </p:cNvSpPr>
          <p:nvPr/>
        </p:nvSpPr>
        <p:spPr bwMode="auto">
          <a:xfrm>
            <a:off x="1992313" y="113184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1" hangingPunct="1"/>
            <a:r>
              <a:rPr lang="zh-CN" altLang="en-US" sz="4400" dirty="0">
                <a:solidFill>
                  <a:srgbClr val="008000"/>
                </a:solidFill>
                <a:ea typeface="黑体" pitchFamily="2" charset="-122"/>
              </a:rPr>
              <a:t>最大隶属度原则举例</a:t>
            </a:r>
            <a:r>
              <a:rPr lang="en-US" altLang="zh-CN" sz="4400" dirty="0">
                <a:solidFill>
                  <a:srgbClr val="008000"/>
                </a:solidFill>
                <a:ea typeface="黑体" pitchFamily="2" charset="-122"/>
              </a:rPr>
              <a:t>3</a:t>
            </a:r>
            <a:endParaRPr lang="zh-CN" altLang="en-US" sz="4400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4B15658-04B1-6DD5-0BB7-D27402E98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3079" y="4150219"/>
            <a:ext cx="4213441" cy="2589812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kumimoji="1" lang="zh-CN" altLang="en-US" sz="2800" b="1" dirty="0">
                <a:solidFill>
                  <a:srgbClr val="7030A0"/>
                </a:solidFill>
              </a:rPr>
              <a:t>或</a:t>
            </a:r>
            <a:r>
              <a:rPr kumimoji="1" lang="en-US" altLang="zh-CN" sz="2800" b="1" dirty="0">
                <a:solidFill>
                  <a:srgbClr val="7030A0"/>
                </a:solidFill>
              </a:rPr>
              <a:t>  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(</a:t>
            </a:r>
            <a:r>
              <a:rPr kumimoji="1" lang="en-US" altLang="zh-CN" sz="3200" b="1" i="1" dirty="0">
                <a:solidFill>
                  <a:srgbClr val="7030A0"/>
                </a:solidFill>
              </a:rPr>
              <a:t>I </a:t>
            </a:r>
            <a:r>
              <a:rPr kumimoji="1" lang="en-US" altLang="zh-CN" sz="3200" b="1" dirty="0">
                <a:solidFill>
                  <a:srgbClr val="7030A0"/>
                </a:solidFill>
                <a:ea typeface="黑体" pitchFamily="2" charset="-122"/>
              </a:rPr>
              <a:t>∩</a:t>
            </a:r>
            <a:r>
              <a:rPr kumimoji="1" lang="en-US" altLang="zh-CN" sz="3200" b="1" i="1" dirty="0">
                <a:solidFill>
                  <a:srgbClr val="7030A0"/>
                </a:solidFill>
              </a:rPr>
              <a:t>R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) 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7030A0"/>
                </a:solidFill>
              </a:rPr>
              <a:t>x</a:t>
            </a:r>
            <a:r>
              <a:rPr kumimoji="1" lang="en-US" altLang="zh-CN" sz="3200" b="1" baseline="-30000" dirty="0">
                <a:solidFill>
                  <a:srgbClr val="7030A0"/>
                </a:solidFill>
              </a:rPr>
              <a:t>0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3200" b="1" i="1" dirty="0">
                <a:solidFill>
                  <a:srgbClr val="7030A0"/>
                </a:solidFill>
              </a:rPr>
              <a:t>= 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(</a:t>
            </a:r>
            <a:r>
              <a:rPr kumimoji="1" lang="en-US" altLang="zh-CN" sz="3200" b="1" i="1" dirty="0">
                <a:solidFill>
                  <a:srgbClr val="7030A0"/>
                </a:solidFill>
              </a:rPr>
              <a:t>I 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∩</a:t>
            </a:r>
            <a:r>
              <a:rPr kumimoji="1" lang="en-US" altLang="zh-CN" sz="3200" b="1" i="1" dirty="0">
                <a:solidFill>
                  <a:srgbClr val="7030A0"/>
                </a:solidFill>
              </a:rPr>
              <a:t>R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)</a:t>
            </a:r>
            <a:r>
              <a:rPr kumimoji="1" lang="en-US" altLang="zh-CN" sz="3200" dirty="0">
                <a:solidFill>
                  <a:srgbClr val="7030A0"/>
                </a:solidFill>
              </a:rPr>
              <a:t> 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(94,50,36)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3200" b="1" i="1" dirty="0">
                <a:solidFill>
                  <a:srgbClr val="7030A0"/>
                </a:solidFill>
              </a:rPr>
              <a:t>= I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7030A0"/>
                </a:solidFill>
                <a:sym typeface="Symbol" pitchFamily="18" charset="2"/>
              </a:rPr>
              <a:t>A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7030A0"/>
                </a:solidFill>
                <a:sym typeface="Symbol" pitchFamily="18" charset="2"/>
              </a:rPr>
              <a:t>B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7030A0"/>
                </a:solidFill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)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∧</a:t>
            </a:r>
            <a:r>
              <a:rPr kumimoji="1" lang="en-US" altLang="zh-CN" sz="3200" b="1" i="1" dirty="0">
                <a:solidFill>
                  <a:srgbClr val="7030A0"/>
                </a:solidFill>
              </a:rPr>
              <a:t>R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7030A0"/>
                </a:solidFill>
                <a:sym typeface="Symbol" pitchFamily="18" charset="2"/>
              </a:rPr>
              <a:t>A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7030A0"/>
                </a:solidFill>
                <a:sym typeface="Symbol" pitchFamily="18" charset="2"/>
              </a:rPr>
              <a:t>B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,</a:t>
            </a:r>
            <a:r>
              <a:rPr kumimoji="1" lang="en-US" altLang="zh-CN" sz="3200" b="1" i="1" dirty="0">
                <a:solidFill>
                  <a:srgbClr val="7030A0"/>
                </a:solidFill>
                <a:sym typeface="Symbol" pitchFamily="18" charset="2"/>
              </a:rPr>
              <a:t>C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=0.10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∧</a:t>
            </a:r>
            <a:r>
              <a:rPr kumimoji="1" lang="en-US" altLang="zh-CN" sz="3200" b="1" dirty="0">
                <a:solidFill>
                  <a:srgbClr val="7030A0"/>
                </a:solidFill>
                <a:sym typeface="Symbol" pitchFamily="18" charset="2"/>
              </a:rPr>
              <a:t>0.54</a:t>
            </a:r>
            <a:r>
              <a:rPr kumimoji="1" lang="en-US" altLang="zh-CN" sz="3200" b="1" dirty="0">
                <a:solidFill>
                  <a:srgbClr val="7030A0"/>
                </a:solidFill>
              </a:rPr>
              <a:t>=0.10</a:t>
            </a:r>
            <a:endParaRPr kumimoji="1" lang="en-US" altLang="zh-CN" sz="2800" b="1" dirty="0">
              <a:solidFill>
                <a:srgbClr val="7030A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484AD3-CDA9-38D9-36F0-7DA548C4E7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0E6E07-33F2-49A8-BD00-750C41AC19A9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BDDDB9-45E4-155D-16D6-59754B91B637}"/>
              </a:ext>
            </a:extLst>
          </p:cNvPr>
          <p:cNvSpPr txBox="1"/>
          <p:nvPr/>
        </p:nvSpPr>
        <p:spPr>
          <a:xfrm>
            <a:off x="9257564" y="555726"/>
            <a:ext cx="2844801" cy="107721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sz="3200" b="1" i="1" dirty="0">
                <a:solidFill>
                  <a:srgbClr val="0000FF"/>
                </a:solidFill>
              </a:rPr>
              <a:t>x</a:t>
            </a:r>
            <a:r>
              <a:rPr kumimoji="1" lang="en-US" altLang="zh-CN" sz="3200" b="1" baseline="-25000" dirty="0">
                <a:solidFill>
                  <a:srgbClr val="0000FF"/>
                </a:solidFill>
              </a:rPr>
              <a:t>0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= (</a:t>
            </a:r>
            <a:r>
              <a:rPr kumimoji="1" lang="en-US" altLang="zh-CN" sz="3200" b="1" i="1" dirty="0">
                <a:sym typeface="Symbol" pitchFamily="18" charset="2"/>
              </a:rPr>
              <a:t>A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B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C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)</a:t>
            </a:r>
          </a:p>
          <a:p>
            <a:r>
              <a:rPr kumimoji="1" lang="en-US" altLang="zh-CN" sz="3200" b="1" dirty="0">
                <a:solidFill>
                  <a:srgbClr val="0000FF"/>
                </a:solidFill>
              </a:rPr>
              <a:t>    = (94,50,36)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 autoUpdateAnimBg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1199456" y="1196976"/>
            <a:ext cx="8058108" cy="3293209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</a:rPr>
              <a:t>任意三角形</a:t>
            </a:r>
            <a:r>
              <a:rPr kumimoji="1" lang="zh-CN" altLang="en-US" sz="3200" b="1" dirty="0">
                <a:latin typeface="Times New Roman" pitchFamily="18" charset="0"/>
              </a:rPr>
              <a:t>的隶属函数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 b="1" i="1" dirty="0">
                <a:latin typeface="Times New Roman" pitchFamily="18" charset="0"/>
              </a:rPr>
              <a:t>   </a:t>
            </a:r>
            <a:r>
              <a:rPr kumimoji="1" lang="en-US" altLang="zh-CN" sz="3200" b="1" i="1" dirty="0">
                <a:latin typeface="Times New Roman" pitchFamily="18" charset="0"/>
              </a:rPr>
              <a:t>T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,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,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C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kumimoji="1" lang="en-US" altLang="zh-CN" sz="3200" b="1" i="1" dirty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i="1" dirty="0">
                <a:latin typeface="Times New Roman" pitchFamily="18" charset="0"/>
              </a:rPr>
              <a:t>= </a:t>
            </a:r>
            <a:r>
              <a:rPr kumimoji="1" lang="en-US" altLang="zh-CN" sz="3200" b="1" i="1" dirty="0" err="1">
                <a:latin typeface="Times New Roman" pitchFamily="18" charset="0"/>
              </a:rPr>
              <a:t>R</a:t>
            </a:r>
            <a:r>
              <a:rPr kumimoji="1" lang="en-US" altLang="zh-CN" sz="3200" b="1" i="1" baseline="30000" dirty="0" err="1">
                <a:latin typeface="Times New Roman" pitchFamily="18" charset="0"/>
              </a:rPr>
              <a:t>c</a:t>
            </a:r>
            <a:r>
              <a:rPr kumimoji="1" lang="en-US" altLang="zh-CN" sz="3200" b="1" i="1" baseline="30000" dirty="0">
                <a:latin typeface="Times New Roman" pitchFamily="18" charset="0"/>
              </a:rPr>
              <a:t> </a:t>
            </a:r>
            <a:r>
              <a:rPr kumimoji="1" lang="en-US" altLang="zh-CN" sz="3200" b="1" dirty="0">
                <a:latin typeface="Times New Roman" pitchFamily="18" charset="0"/>
                <a:ea typeface="黑体" pitchFamily="2" charset="-122"/>
              </a:rPr>
              <a:t>∩ </a:t>
            </a:r>
            <a:r>
              <a:rPr kumimoji="1" lang="en-US" altLang="zh-CN" sz="3200" b="1" i="1" dirty="0" err="1">
                <a:latin typeface="Times New Roman" pitchFamily="18" charset="0"/>
              </a:rPr>
              <a:t>E</a:t>
            </a:r>
            <a:r>
              <a:rPr kumimoji="1" lang="en-US" altLang="zh-CN" sz="3200" b="1" i="1" baseline="30000" dirty="0" err="1">
                <a:latin typeface="Times New Roman" pitchFamily="18" charset="0"/>
              </a:rPr>
              <a:t>c</a:t>
            </a:r>
            <a:r>
              <a:rPr kumimoji="1" lang="en-US" altLang="zh-CN" sz="3200" b="1" i="1" baseline="30000" dirty="0">
                <a:latin typeface="Times New Roman" pitchFamily="18" charset="0"/>
              </a:rPr>
              <a:t> </a:t>
            </a:r>
            <a:r>
              <a:rPr kumimoji="1" lang="en-US" altLang="zh-CN" sz="3200" b="1" dirty="0">
                <a:latin typeface="Times New Roman" pitchFamily="18" charset="0"/>
                <a:ea typeface="黑体" pitchFamily="2" charset="-122"/>
              </a:rPr>
              <a:t>∩ </a:t>
            </a:r>
            <a:r>
              <a:rPr kumimoji="1" lang="en-US" altLang="zh-CN" sz="3200" b="1" i="1" dirty="0" err="1">
                <a:latin typeface="Times New Roman" pitchFamily="18" charset="0"/>
              </a:rPr>
              <a:t>I</a:t>
            </a:r>
            <a:r>
              <a:rPr kumimoji="1" lang="en-US" altLang="zh-CN" sz="3200" b="1" i="1" baseline="30000" dirty="0" err="1">
                <a:latin typeface="Times New Roman" pitchFamily="18" charset="0"/>
              </a:rPr>
              <a:t>c</a:t>
            </a:r>
            <a:endParaRPr kumimoji="1" lang="en-US" altLang="zh-CN" sz="3200" b="1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=</a:t>
            </a:r>
            <a:r>
              <a:rPr kumimoji="1" lang="en-US" altLang="zh-CN" sz="3200" b="1" dirty="0"/>
              <a:t> (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1</a:t>
            </a:r>
            <a:r>
              <a:rPr kumimoji="1" lang="en-US" altLang="zh-CN" sz="3200" b="1" i="1" dirty="0"/>
              <a:t>R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/>
              <a:t>)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/>
              <a:t>∩ (1</a:t>
            </a:r>
            <a:r>
              <a:rPr kumimoji="1" lang="en-US" altLang="zh-CN" sz="3200" b="1" dirty="0">
                <a:latin typeface="Times New Roman" pitchFamily="18" charset="0"/>
                <a:sym typeface="Symbol" panose="05050102010706020507" pitchFamily="18" charset="2"/>
              </a:rPr>
              <a:t>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E</a:t>
            </a:r>
            <a:r>
              <a:rPr kumimoji="1" lang="en-US" altLang="zh-CN" sz="3200" b="1" i="1" dirty="0"/>
              <a:t> </a:t>
            </a:r>
            <a:r>
              <a:rPr kumimoji="1" lang="en-US" altLang="zh-CN" sz="3200" b="1" dirty="0"/>
              <a:t>) ∩ (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1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I </a:t>
            </a:r>
            <a:r>
              <a:rPr kumimoji="1" lang="en-US" altLang="zh-CN" sz="3200" b="1" dirty="0"/>
              <a:t>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= </a:t>
            </a:r>
            <a:r>
              <a:rPr kumimoji="1" lang="en-US" altLang="zh-CN" sz="3200" b="1" dirty="0"/>
              <a:t>(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10.955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/>
              <a:t>)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/>
              <a:t>∩ (1</a:t>
            </a:r>
            <a:r>
              <a:rPr kumimoji="1" lang="en-US" altLang="zh-CN" sz="3200" b="1" dirty="0">
                <a:latin typeface="Times New Roman" pitchFamily="18" charset="0"/>
                <a:sym typeface="Symbol" panose="05050102010706020507" pitchFamily="18" charset="2"/>
              </a:rPr>
              <a:t>0.677</a:t>
            </a:r>
            <a:r>
              <a:rPr kumimoji="1" lang="en-US" altLang="zh-CN" sz="3200" b="1" i="1" dirty="0"/>
              <a:t> </a:t>
            </a:r>
            <a:r>
              <a:rPr kumimoji="1" lang="en-US" altLang="zh-CN" sz="3200" b="1" dirty="0"/>
              <a:t>) ∩ (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10.767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3200" b="1" dirty="0"/>
              <a:t>)</a:t>
            </a:r>
            <a:endParaRPr kumimoji="1" lang="en-US" altLang="zh-CN" sz="3200" b="1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55653" name="Rectangle 5"/>
          <p:cNvSpPr>
            <a:spLocks noChangeArrowheads="1"/>
          </p:cNvSpPr>
          <p:nvPr/>
        </p:nvSpPr>
        <p:spPr bwMode="auto">
          <a:xfrm>
            <a:off x="1169978" y="4490185"/>
            <a:ext cx="74366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 b="1" i="1" dirty="0">
                <a:solidFill>
                  <a:srgbClr val="008000"/>
                </a:solidFill>
                <a:sym typeface="Symbol" pitchFamily="18" charset="2"/>
              </a:rPr>
              <a:t>T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(</a:t>
            </a:r>
            <a:r>
              <a:rPr kumimoji="1" lang="en-US" altLang="zh-CN" sz="3200" b="1" i="1" dirty="0">
                <a:solidFill>
                  <a:srgbClr val="008000"/>
                </a:solidFill>
              </a:rPr>
              <a:t>x</a:t>
            </a:r>
            <a:r>
              <a:rPr kumimoji="1" lang="en-US" altLang="zh-CN" sz="3200" b="1" baseline="-30000" dirty="0">
                <a:solidFill>
                  <a:srgbClr val="008000"/>
                </a:solidFill>
              </a:rPr>
              <a:t>0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) =(0.045 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∧</a:t>
            </a:r>
            <a:r>
              <a:rPr kumimoji="1" lang="en-US" altLang="zh-CN" sz="3200" dirty="0">
                <a:sym typeface="Symbol" pitchFamily="18" charset="2"/>
              </a:rPr>
              <a:t> 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0.323 </a:t>
            </a:r>
            <a:r>
              <a:rPr kumimoji="1" lang="en-US" altLang="zh-CN" sz="3200" b="1" dirty="0">
                <a:solidFill>
                  <a:srgbClr val="008000"/>
                </a:solidFill>
              </a:rPr>
              <a:t>∧ </a:t>
            </a:r>
            <a:r>
              <a:rPr kumimoji="1" lang="en-US" altLang="zh-CN" sz="3200" b="1" dirty="0">
                <a:solidFill>
                  <a:srgbClr val="008000"/>
                </a:solidFill>
                <a:sym typeface="Symbol" pitchFamily="18" charset="2"/>
              </a:rPr>
              <a:t>0.233) =  0.045</a:t>
            </a:r>
            <a:r>
              <a:rPr kumimoji="1" lang="en-US" altLang="zh-CN" sz="3200" b="1" dirty="0">
                <a:sym typeface="Symbol" pitchFamily="18" charset="2"/>
              </a:rPr>
              <a:t>.</a:t>
            </a:r>
          </a:p>
        </p:txBody>
      </p:sp>
      <p:sp>
        <p:nvSpPr>
          <p:cNvPr id="155654" name="Rectangle 6"/>
          <p:cNvSpPr>
            <a:spLocks noChangeArrowheads="1"/>
          </p:cNvSpPr>
          <p:nvPr/>
        </p:nvSpPr>
        <p:spPr bwMode="auto">
          <a:xfrm>
            <a:off x="1182295" y="5113804"/>
            <a:ext cx="99371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Char char="n"/>
            </a:pPr>
            <a:r>
              <a:rPr kumimoji="1" lang="zh-CN" altLang="en-US" sz="2800" b="1" dirty="0">
                <a:latin typeface="Times New Roman" pitchFamily="18" charset="0"/>
                <a:sym typeface="Symbol" pitchFamily="18" charset="2"/>
              </a:rPr>
              <a:t>通过以上计算</a:t>
            </a:r>
            <a:r>
              <a:rPr kumimoji="1" lang="en-US" altLang="zh-CN" sz="2800" b="1" dirty="0">
                <a:latin typeface="宋体" pitchFamily="2" charset="-122"/>
                <a:sym typeface="Symbol" pitchFamily="18" charset="2"/>
              </a:rPr>
              <a:t>,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R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kumimoji="1" lang="en-US" altLang="zh-CN" sz="2800" b="1" baseline="-30000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) = 0.955</a:t>
            </a:r>
            <a:r>
              <a:rPr kumimoji="1" lang="zh-CN" altLang="en-US" sz="2800" b="1" dirty="0">
                <a:latin typeface="Times New Roman" pitchFamily="18" charset="0"/>
                <a:sym typeface="Symbol" pitchFamily="18" charset="2"/>
              </a:rPr>
              <a:t>最大</a:t>
            </a:r>
            <a:r>
              <a:rPr kumimoji="1" lang="en-US" altLang="zh-CN" sz="2800" b="1" dirty="0">
                <a:latin typeface="宋体" pitchFamily="2" charset="-122"/>
                <a:sym typeface="Symbol" pitchFamily="18" charset="2"/>
              </a:rPr>
              <a:t>,</a:t>
            </a:r>
            <a:r>
              <a:rPr kumimoji="1" lang="zh-CN" altLang="en-US" sz="2800" b="1" dirty="0">
                <a:latin typeface="Times New Roman" pitchFamily="18" charset="0"/>
                <a:sym typeface="Symbol" pitchFamily="18" charset="2"/>
              </a:rPr>
              <a:t>所以</a:t>
            </a:r>
            <a:r>
              <a:rPr kumimoji="1" lang="en-US" altLang="zh-CN" sz="2800" b="1" i="1" dirty="0">
                <a:latin typeface="Times New Roman" pitchFamily="18" charset="0"/>
              </a:rPr>
              <a:t>x</a:t>
            </a:r>
            <a:r>
              <a:rPr kumimoji="1" lang="en-US" altLang="zh-CN" sz="2800" b="1" baseline="-30000" dirty="0">
                <a:latin typeface="Times New Roman" pitchFamily="18" charset="0"/>
              </a:rPr>
              <a:t>0</a:t>
            </a:r>
            <a:r>
              <a:rPr kumimoji="1" lang="zh-CN" altLang="en-US" sz="2800" b="1" dirty="0">
                <a:latin typeface="Times New Roman" pitchFamily="18" charset="0"/>
              </a:rPr>
              <a:t>应隶属于</a:t>
            </a:r>
            <a:r>
              <a:rPr kumimoji="1" lang="zh-CN" altLang="en-US" sz="2800" b="1" u="sng" dirty="0">
                <a:latin typeface="Times New Roman" pitchFamily="18" charset="0"/>
              </a:rPr>
              <a:t>直角三角形</a:t>
            </a:r>
            <a:r>
              <a:rPr kumimoji="1" lang="en-US" altLang="zh-CN" sz="2800" b="1" dirty="0">
                <a:latin typeface="Times New Roman" pitchFamily="18" charset="0"/>
              </a:rPr>
              <a:t>.</a:t>
            </a:r>
          </a:p>
        </p:txBody>
      </p:sp>
      <p:sp>
        <p:nvSpPr>
          <p:cNvPr id="155655" name="Rectangle 7"/>
          <p:cNvSpPr>
            <a:spLocks noChangeArrowheads="1"/>
          </p:cNvSpPr>
          <p:nvPr/>
        </p:nvSpPr>
        <p:spPr bwMode="auto">
          <a:xfrm>
            <a:off x="1182295" y="5675868"/>
            <a:ext cx="9738241" cy="1131464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n"/>
            </a:pPr>
            <a:r>
              <a:rPr kumimoji="1" lang="zh-CN" altLang="en-US" sz="3200" b="1" dirty="0">
                <a:latin typeface="宋体" pitchFamily="2" charset="-122"/>
                <a:sym typeface="Symbol" pitchFamily="18" charset="2"/>
              </a:rPr>
              <a:t>或者</a:t>
            </a:r>
            <a:r>
              <a:rPr kumimoji="1" lang="en-US" altLang="zh-CN" sz="3200" b="1" i="1" dirty="0">
                <a:latin typeface="Times New Roman" pitchFamily="18" charset="0"/>
              </a:rPr>
              <a:t>I 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3200" b="1" i="1" dirty="0">
                <a:latin typeface="Times New Roman" pitchFamily="18" charset="0"/>
              </a:rPr>
              <a:t>x</a:t>
            </a:r>
            <a:r>
              <a:rPr kumimoji="1" lang="en-US" altLang="zh-CN" sz="3200" b="1" baseline="-30000" dirty="0">
                <a:latin typeface="Times New Roman" pitchFamily="18" charset="0"/>
              </a:rPr>
              <a:t>0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) </a:t>
            </a:r>
            <a:r>
              <a:rPr kumimoji="1" lang="en-US" altLang="zh-CN" sz="3200" b="1" dirty="0">
                <a:latin typeface="Times New Roman" pitchFamily="18" charset="0"/>
              </a:rPr>
              <a:t>=0.10; 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E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3200" b="1" i="1" dirty="0">
                <a:latin typeface="Times New Roman" pitchFamily="18" charset="0"/>
              </a:rPr>
              <a:t>x</a:t>
            </a:r>
            <a:r>
              <a:rPr kumimoji="1" lang="en-US" altLang="zh-CN" sz="3200" b="1" baseline="-30000" dirty="0">
                <a:latin typeface="Times New Roman" pitchFamily="18" charset="0"/>
              </a:rPr>
              <a:t>0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)=0.02. </a:t>
            </a: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仍然是</a:t>
            </a:r>
            <a:r>
              <a:rPr kumimoji="1" lang="en-US" altLang="zh-CN" sz="3200" b="1" i="1" dirty="0">
                <a:latin typeface="Times New Roman" pitchFamily="18" charset="0"/>
                <a:sym typeface="Symbol" pitchFamily="18" charset="2"/>
              </a:rPr>
              <a:t>R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3200" b="1" i="1" dirty="0">
                <a:latin typeface="Times New Roman" pitchFamily="18" charset="0"/>
              </a:rPr>
              <a:t>x</a:t>
            </a:r>
            <a:r>
              <a:rPr kumimoji="1" lang="en-US" altLang="zh-CN" sz="3200" b="1" baseline="-30000" dirty="0">
                <a:latin typeface="Times New Roman" pitchFamily="18" charset="0"/>
              </a:rPr>
              <a:t>0</a:t>
            </a:r>
            <a:r>
              <a:rPr kumimoji="1" lang="en-US" altLang="zh-CN" sz="3200" b="1" dirty="0">
                <a:latin typeface="Times New Roman" pitchFamily="18" charset="0"/>
                <a:sym typeface="Symbol" pitchFamily="18" charset="2"/>
              </a:rPr>
              <a:t>) = 0.54</a:t>
            </a: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最大</a:t>
            </a:r>
            <a:r>
              <a:rPr kumimoji="1" lang="en-US" altLang="zh-CN" sz="3200" b="1" dirty="0">
                <a:latin typeface="宋体" pitchFamily="2" charset="-122"/>
                <a:sym typeface="Symbol" pitchFamily="18" charset="2"/>
              </a:rPr>
              <a:t>,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n"/>
            </a:pPr>
            <a:r>
              <a:rPr kumimoji="1" lang="zh-CN" altLang="en-US" sz="3200" b="1" dirty="0">
                <a:latin typeface="Times New Roman" pitchFamily="18" charset="0"/>
                <a:sym typeface="Symbol" pitchFamily="18" charset="2"/>
              </a:rPr>
              <a:t>所以</a:t>
            </a:r>
            <a:r>
              <a:rPr kumimoji="1" lang="en-US" altLang="zh-CN" sz="3200" b="1" i="1" dirty="0"/>
              <a:t>x</a:t>
            </a:r>
            <a:r>
              <a:rPr kumimoji="1" lang="en-US" altLang="zh-CN" sz="3200" b="1" baseline="-25000" dirty="0"/>
              <a:t>0</a:t>
            </a:r>
            <a:r>
              <a:rPr kumimoji="1" lang="en-US" altLang="zh-CN" sz="3200" b="1" dirty="0"/>
              <a:t>=(94,50,36)</a:t>
            </a:r>
            <a:r>
              <a:rPr kumimoji="1" lang="zh-CN" altLang="en-US" sz="3200" b="1" dirty="0">
                <a:latin typeface="Times New Roman" pitchFamily="18" charset="0"/>
              </a:rPr>
              <a:t>应隶属于</a:t>
            </a:r>
            <a:r>
              <a:rPr kumimoji="1" lang="zh-CN" altLang="en-US" sz="3200" b="1" u="sng" dirty="0">
                <a:latin typeface="Times New Roman" pitchFamily="18" charset="0"/>
              </a:rPr>
              <a:t>直角三角形</a:t>
            </a:r>
            <a:r>
              <a:rPr kumimoji="1" lang="en-US" altLang="zh-CN" sz="3200" b="1" dirty="0">
                <a:latin typeface="Times New Roman" pitchFamily="18" charset="0"/>
              </a:rPr>
              <a:t>.</a:t>
            </a:r>
          </a:p>
        </p:txBody>
      </p:sp>
      <p:sp>
        <p:nvSpPr>
          <p:cNvPr id="17414" name="Rectangle 8"/>
          <p:cNvSpPr>
            <a:spLocks noChangeArrowheads="1"/>
          </p:cNvSpPr>
          <p:nvPr/>
        </p:nvSpPr>
        <p:spPr bwMode="auto">
          <a:xfrm>
            <a:off x="1992313" y="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1" hangingPunct="1"/>
            <a:r>
              <a:rPr lang="zh-CN" altLang="en-US" sz="4400" dirty="0">
                <a:solidFill>
                  <a:srgbClr val="008000"/>
                </a:solidFill>
                <a:ea typeface="黑体" pitchFamily="2" charset="-122"/>
              </a:rPr>
              <a:t>最大隶属度原则举例</a:t>
            </a:r>
            <a:r>
              <a:rPr lang="en-US" altLang="zh-CN" sz="4400" dirty="0">
                <a:solidFill>
                  <a:srgbClr val="008000"/>
                </a:solidFill>
                <a:ea typeface="黑体" pitchFamily="2" charset="-122"/>
              </a:rPr>
              <a:t>3</a:t>
            </a:r>
            <a:endParaRPr lang="zh-CN" altLang="en-US" sz="4400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DA4E13-5953-7797-A24E-66C58F9F7E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0E6E07-33F2-49A8-BD00-750C41AC19A9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C7B057-57F6-0EE9-578A-68CCA71AA55A}"/>
              </a:ext>
            </a:extLst>
          </p:cNvPr>
          <p:cNvSpPr txBox="1"/>
          <p:nvPr/>
        </p:nvSpPr>
        <p:spPr>
          <a:xfrm>
            <a:off x="9257564" y="555726"/>
            <a:ext cx="2844801" cy="107721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sz="3200" b="1" i="1" dirty="0">
                <a:solidFill>
                  <a:srgbClr val="0000FF"/>
                </a:solidFill>
              </a:rPr>
              <a:t>x</a:t>
            </a:r>
            <a:r>
              <a:rPr kumimoji="1" lang="en-US" altLang="zh-CN" sz="3200" b="1" baseline="-25000" dirty="0">
                <a:solidFill>
                  <a:srgbClr val="0000FF"/>
                </a:solidFill>
              </a:rPr>
              <a:t>0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= (</a:t>
            </a:r>
            <a:r>
              <a:rPr kumimoji="1" lang="en-US" altLang="zh-CN" sz="3200" b="1" i="1" dirty="0">
                <a:sym typeface="Symbol" pitchFamily="18" charset="2"/>
              </a:rPr>
              <a:t>A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B</a:t>
            </a:r>
            <a:r>
              <a:rPr kumimoji="1" lang="en-US" altLang="zh-CN" sz="3200" b="1" dirty="0">
                <a:sym typeface="Symbol" pitchFamily="18" charset="2"/>
              </a:rPr>
              <a:t>, </a:t>
            </a:r>
            <a:r>
              <a:rPr kumimoji="1" lang="en-US" altLang="zh-CN" sz="3200" b="1" i="1" dirty="0">
                <a:sym typeface="Symbol" pitchFamily="18" charset="2"/>
              </a:rPr>
              <a:t>C </a:t>
            </a:r>
            <a:r>
              <a:rPr kumimoji="1" lang="en-US" altLang="zh-CN" sz="3200" b="1" dirty="0">
                <a:solidFill>
                  <a:srgbClr val="0000FF"/>
                </a:solidFill>
              </a:rPr>
              <a:t>)</a:t>
            </a:r>
          </a:p>
          <a:p>
            <a:r>
              <a:rPr kumimoji="1" lang="en-US" altLang="zh-CN" sz="3200" b="1" dirty="0">
                <a:solidFill>
                  <a:srgbClr val="0000FF"/>
                </a:solidFill>
              </a:rPr>
              <a:t>    = (94,50,36)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5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5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5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55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55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55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 build="p" autoUpdateAnimBg="0"/>
      <p:bldP spid="155653" grpId="0" build="allAtOnce"/>
      <p:bldP spid="155654" grpId="0" build="p" autoUpdateAnimBg="0"/>
      <p:bldP spid="15565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大学生体质水平的模糊识别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557338"/>
            <a:ext cx="9865096" cy="50403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ea typeface="黑体" pitchFamily="2" charset="-122"/>
              </a:rPr>
              <a:t>标准模型库的建立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ea typeface="楷体_GB2312" pitchFamily="49" charset="-122"/>
              </a:rPr>
              <a:t>选出四个反映体质水平的主要指标：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身高、体重、胸围、肺活量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ea typeface="黑体" pitchFamily="2" charset="-122"/>
              </a:rPr>
              <a:t>将所有的</a:t>
            </a:r>
            <a:r>
              <a:rPr lang="en-US" altLang="zh-CN" dirty="0">
                <a:ea typeface="黑体" pitchFamily="2" charset="-122"/>
              </a:rPr>
              <a:t>240</a:t>
            </a:r>
            <a:r>
              <a:rPr lang="zh-CN" altLang="en-US" dirty="0">
                <a:ea typeface="黑体" pitchFamily="2" charset="-122"/>
              </a:rPr>
              <a:t>名男生分成</a:t>
            </a:r>
            <a:r>
              <a:rPr lang="en-US" altLang="zh-CN" dirty="0">
                <a:ea typeface="黑体" pitchFamily="2" charset="-122"/>
              </a:rPr>
              <a:t>5</a:t>
            </a:r>
            <a:r>
              <a:rPr lang="zh-CN" altLang="en-US" dirty="0">
                <a:ea typeface="黑体" pitchFamily="2" charset="-122"/>
              </a:rPr>
              <a:t>类，即每个标准模型库由</a:t>
            </a:r>
            <a:r>
              <a:rPr lang="en-US" altLang="zh-CN" dirty="0">
                <a:ea typeface="黑体" pitchFamily="2" charset="-122"/>
              </a:rPr>
              <a:t>4</a:t>
            </a:r>
            <a:r>
              <a:rPr lang="zh-CN" altLang="en-US" dirty="0">
                <a:ea typeface="黑体" pitchFamily="2" charset="-122"/>
              </a:rPr>
              <a:t>个主要指标描述，每个指标都是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集。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b="1" baseline="-25000" dirty="0">
                <a:solidFill>
                  <a:srgbClr val="CC00CC"/>
                </a:solidFill>
                <a:ea typeface="楷体_GB2312" pitchFamily="49" charset="-122"/>
              </a:rPr>
              <a:t>1</a:t>
            </a: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——</a:t>
            </a:r>
            <a:r>
              <a:rPr lang="zh-CN" altLang="en-US" b="1" dirty="0">
                <a:solidFill>
                  <a:srgbClr val="CC00CC"/>
                </a:solidFill>
                <a:ea typeface="楷体_GB2312" pitchFamily="49" charset="-122"/>
              </a:rPr>
              <a:t>体质差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——</a:t>
            </a:r>
            <a:r>
              <a:rPr lang="zh-CN" altLang="en-US" b="1" dirty="0">
                <a:solidFill>
                  <a:srgbClr val="CC00CC"/>
                </a:solidFill>
                <a:ea typeface="楷体_GB2312" pitchFamily="49" charset="-122"/>
              </a:rPr>
              <a:t>体质中下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b="1" baseline="-25000" dirty="0">
                <a:solidFill>
                  <a:srgbClr val="CC00CC"/>
                </a:solidFill>
                <a:ea typeface="楷体_GB2312" pitchFamily="49" charset="-122"/>
              </a:rPr>
              <a:t>3</a:t>
            </a: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——</a:t>
            </a:r>
            <a:r>
              <a:rPr lang="zh-CN" altLang="en-US" b="1" dirty="0">
                <a:solidFill>
                  <a:srgbClr val="CC00CC"/>
                </a:solidFill>
                <a:ea typeface="楷体_GB2312" pitchFamily="49" charset="-122"/>
              </a:rPr>
              <a:t>体质中等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b="1" baseline="-25000" dirty="0">
                <a:solidFill>
                  <a:srgbClr val="CC00CC"/>
                </a:solidFill>
                <a:ea typeface="楷体_GB2312" pitchFamily="49" charset="-122"/>
              </a:rPr>
              <a:t>4</a:t>
            </a: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——</a:t>
            </a:r>
            <a:r>
              <a:rPr lang="zh-CN" altLang="en-US" b="1" dirty="0">
                <a:solidFill>
                  <a:srgbClr val="CC00CC"/>
                </a:solidFill>
                <a:ea typeface="楷体_GB2312" pitchFamily="49" charset="-122"/>
              </a:rPr>
              <a:t>体质良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b="1" baseline="-25000" dirty="0">
                <a:solidFill>
                  <a:srgbClr val="CC00CC"/>
                </a:solidFill>
                <a:ea typeface="楷体_GB2312" pitchFamily="49" charset="-122"/>
              </a:rPr>
              <a:t>5</a:t>
            </a:r>
            <a:r>
              <a:rPr lang="en-US" altLang="zh-CN" b="1" dirty="0">
                <a:solidFill>
                  <a:srgbClr val="CC00CC"/>
                </a:solidFill>
                <a:ea typeface="楷体_GB2312" pitchFamily="49" charset="-122"/>
              </a:rPr>
              <a:t>——</a:t>
            </a:r>
            <a:r>
              <a:rPr lang="zh-CN" altLang="en-US" b="1" dirty="0">
                <a:solidFill>
                  <a:srgbClr val="CC00CC"/>
                </a:solidFill>
                <a:ea typeface="楷体_GB2312" pitchFamily="49" charset="-122"/>
              </a:rPr>
              <a:t>体质优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08FCE7-5388-687A-AC69-2F504CEE4A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大学生体质水平的模糊识别</a:t>
            </a:r>
          </a:p>
        </p:txBody>
      </p:sp>
      <p:sp>
        <p:nvSpPr>
          <p:cNvPr id="157777" name="Rectangle 81"/>
          <p:cNvSpPr>
            <a:spLocks noGrp="1" noChangeArrowheads="1"/>
          </p:cNvSpPr>
          <p:nvPr>
            <p:ph type="body" idx="1"/>
          </p:nvPr>
        </p:nvSpPr>
        <p:spPr>
          <a:xfrm>
            <a:off x="1992313" y="4581525"/>
            <a:ext cx="8424862" cy="19446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/>
              <a:t>现有一名待识别的学生</a:t>
            </a:r>
            <a:r>
              <a:rPr lang="en-US" altLang="zh-CN" sz="2800" b="1" dirty="0"/>
              <a:t>x=(x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,x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,x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,x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/>
              <a:t>                                      =(167.8, 55.1, 86, 4120)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/>
              <a:t>他应属于哪种类型？</a:t>
            </a:r>
          </a:p>
        </p:txBody>
      </p:sp>
      <p:graphicFrame>
        <p:nvGraphicFramePr>
          <p:cNvPr id="157781" name="Group 85"/>
          <p:cNvGraphicFramePr>
            <a:graphicFrameLocks noGrp="1"/>
          </p:cNvGraphicFramePr>
          <p:nvPr>
            <p:ph idx="4294967295"/>
          </p:nvPr>
        </p:nvGraphicFramePr>
        <p:xfrm>
          <a:off x="2279651" y="1412875"/>
          <a:ext cx="7561263" cy="2773554"/>
        </p:xfrm>
        <a:graphic>
          <a:graphicData uri="http://schemas.openxmlformats.org/drawingml/2006/table">
            <a:tbl>
              <a:tblPr/>
              <a:tblGrid>
                <a:gridCol w="86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5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9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19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指 标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身高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/kg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胸围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肺活量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差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158.4±3.0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47.9±8.4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84.2±2.4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3380±184.0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163.4±4.8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50.0±8.6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86.0±6.2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3866±800.0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166.9±3.6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55.3±9.4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88.3±7.0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4128±526.0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良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172.6±4.6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57.7±8.2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89.2±6.4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4349±402.0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优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178.4±4.2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61.9±8.6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90.9±8.0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4536±756.0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E65C09-1410-C5AE-DFDB-8434F81968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7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大学生体质水平的模糊识别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1520" y="4184949"/>
            <a:ext cx="2844800" cy="2520651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设各种标准体质的</a:t>
            </a:r>
            <a:endParaRPr lang="en-US" altLang="zh-CN" sz="2400" b="1" dirty="0">
              <a:ea typeface="楷体_GB2312" pitchFamily="49" charset="-122"/>
            </a:endParaRPr>
          </a:p>
          <a:p>
            <a:pPr marL="514350" indent="-514350" eaLnBrk="1" hangingPunct="1">
              <a:buFont typeface="+mj-ea"/>
              <a:buAutoNum type="circleNumDbPlain"/>
            </a:pP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身高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(A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i1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  <a:p>
            <a:pPr marL="514350" indent="-514350" eaLnBrk="1" hangingPunct="1">
              <a:buFont typeface="+mj-ea"/>
              <a:buAutoNum type="circleNumDbPlain"/>
            </a:pP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体重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(A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i2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  <a:p>
            <a:pPr marL="514350" indent="-514350" eaLnBrk="1" hangingPunct="1">
              <a:buFont typeface="+mj-ea"/>
              <a:buAutoNum type="circleNumDbPlain"/>
            </a:pP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胸围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(A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i3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  <a:p>
            <a:pPr marL="514350" indent="-514350" eaLnBrk="1" hangingPunct="1">
              <a:buFont typeface="+mj-ea"/>
              <a:buAutoNum type="circleNumDbPlain"/>
            </a:pP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肺活量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(A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i4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  <a:p>
            <a:pPr marL="0" indent="0" eaLnBrk="1" hangingPunct="1">
              <a:buNone/>
            </a:pPr>
            <a:r>
              <a:rPr lang="zh-CN" altLang="en-US" sz="2400" b="1" dirty="0">
                <a:ea typeface="楷体_GB2312" pitchFamily="49" charset="-122"/>
              </a:rPr>
              <a:t>均为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正态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F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集</a:t>
            </a:r>
            <a:r>
              <a:rPr lang="zh-CN" altLang="en-US" sz="2400" b="1" dirty="0">
                <a:ea typeface="楷体_GB2312" pitchFamily="49" charset="-122"/>
              </a:rPr>
              <a:t>，</a:t>
            </a:r>
          </a:p>
        </p:txBody>
      </p:sp>
      <p:graphicFrame>
        <p:nvGraphicFramePr>
          <p:cNvPr id="161843" name="Group 51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74250740"/>
              </p:ext>
            </p:extLst>
          </p:nvPr>
        </p:nvGraphicFramePr>
        <p:xfrm>
          <a:off x="2279650" y="1268413"/>
          <a:ext cx="7488238" cy="2773554"/>
        </p:xfrm>
        <a:graphic>
          <a:graphicData uri="http://schemas.openxmlformats.org/drawingml/2006/table">
            <a:tbl>
              <a:tblPr/>
              <a:tblGrid>
                <a:gridCol w="86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19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指 标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身高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/kg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胸围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肺活量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差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158.4±3.0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47.9±8.4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84.2±2.4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3380±184.0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163.4±4.8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50.0±8.6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86.0±6.2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3866±800.0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166.9±3.6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55.3±9.4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88.3±7.0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4128±526.0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良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172.6±4.6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57.7±8.2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89.2±6.4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4349±402.0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优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178.4±4.2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61.9±8.6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90.9±8.0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4536±756.0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1844" name="Object 52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6428109"/>
              </p:ext>
            </p:extLst>
          </p:nvPr>
        </p:nvGraphicFramePr>
        <p:xfrm>
          <a:off x="4079776" y="4509120"/>
          <a:ext cx="6954115" cy="2325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97300" imgH="1270000" progId="Equation.DSMT4">
                  <p:embed/>
                </p:oleObj>
              </mc:Choice>
              <mc:Fallback>
                <p:oleObj name="Equation" r:id="rId2" imgW="3797300" imgH="1270000" progId="Equation.DSMT4">
                  <p:embed/>
                  <p:pic>
                    <p:nvPicPr>
                      <p:cNvPr id="161844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6" y="4509120"/>
                        <a:ext cx="6954115" cy="23255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5E65A7-D26F-93E4-CD24-E0F9AF65A7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16C37D-D351-80E9-5017-8BC15DEDC253}"/>
              </a:ext>
            </a:extLst>
          </p:cNvPr>
          <p:cNvSpPr txBox="1"/>
          <p:nvPr/>
        </p:nvSpPr>
        <p:spPr>
          <a:xfrm>
            <a:off x="3669014" y="4149080"/>
            <a:ext cx="3723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ea typeface="楷体_GB2312" pitchFamily="49" charset="-122"/>
              </a:rPr>
              <a:t>相应的隶属函数为</a:t>
            </a:r>
            <a:r>
              <a:rPr lang="en-US" altLang="zh-CN" sz="2400" b="1" dirty="0">
                <a:ea typeface="楷体_GB2312" pitchFamily="49" charset="-122"/>
              </a:rPr>
              <a:t>——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79650" y="4076701"/>
            <a:ext cx="7499350" cy="72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000" b="1" dirty="0">
                <a:ea typeface="楷体_GB2312" pitchFamily="49" charset="-122"/>
              </a:rPr>
              <a:t>设各种标准体质的</a:t>
            </a: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身高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(A</a:t>
            </a:r>
            <a:r>
              <a:rPr lang="en-US" altLang="zh-CN" sz="2000" b="1" baseline="-25000" dirty="0">
                <a:solidFill>
                  <a:srgbClr val="FF0000"/>
                </a:solidFill>
                <a:ea typeface="楷体_GB2312" pitchFamily="49" charset="-122"/>
              </a:rPr>
              <a:t>i1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、体重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(A</a:t>
            </a:r>
            <a:r>
              <a:rPr lang="en-US" altLang="zh-CN" sz="2000" b="1" baseline="-25000" dirty="0">
                <a:solidFill>
                  <a:srgbClr val="FF0000"/>
                </a:solidFill>
                <a:ea typeface="楷体_GB2312" pitchFamily="49" charset="-122"/>
              </a:rPr>
              <a:t>i2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、胸围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(A</a:t>
            </a:r>
            <a:r>
              <a:rPr lang="en-US" altLang="zh-CN" sz="2000" b="1" baseline="-25000" dirty="0">
                <a:solidFill>
                  <a:srgbClr val="FF0000"/>
                </a:solidFill>
                <a:ea typeface="楷体_GB2312" pitchFamily="49" charset="-122"/>
              </a:rPr>
              <a:t>i3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、肺活量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(A</a:t>
            </a:r>
            <a:r>
              <a:rPr lang="en-US" altLang="zh-CN" sz="2000" b="1" baseline="-25000" dirty="0">
                <a:solidFill>
                  <a:srgbClr val="FF0000"/>
                </a:solidFill>
                <a:ea typeface="楷体_GB2312" pitchFamily="49" charset="-122"/>
              </a:rPr>
              <a:t>i4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  <a:r>
              <a:rPr lang="zh-CN" altLang="en-US" sz="2000" b="1" dirty="0">
                <a:ea typeface="楷体_GB2312" pitchFamily="49" charset="-122"/>
              </a:rPr>
              <a:t>均为</a:t>
            </a:r>
            <a:r>
              <a:rPr lang="zh-CN" altLang="en-US" sz="2000" b="1" dirty="0">
                <a:solidFill>
                  <a:srgbClr val="0000FF"/>
                </a:solidFill>
                <a:ea typeface="楷体_GB2312" pitchFamily="49" charset="-122"/>
              </a:rPr>
              <a:t>正态</a:t>
            </a:r>
            <a:r>
              <a:rPr lang="en-US" altLang="zh-CN" sz="2000" b="1" dirty="0">
                <a:solidFill>
                  <a:srgbClr val="0000FF"/>
                </a:solidFill>
                <a:ea typeface="楷体_GB2312" pitchFamily="49" charset="-122"/>
              </a:rPr>
              <a:t>F</a:t>
            </a:r>
            <a:r>
              <a:rPr lang="zh-CN" altLang="en-US" sz="2000" b="1" dirty="0">
                <a:solidFill>
                  <a:srgbClr val="0000FF"/>
                </a:solidFill>
                <a:ea typeface="楷体_GB2312" pitchFamily="49" charset="-122"/>
              </a:rPr>
              <a:t>集</a:t>
            </a:r>
            <a:r>
              <a:rPr lang="zh-CN" altLang="en-US" sz="2000" b="1" dirty="0">
                <a:ea typeface="楷体_GB2312" pitchFamily="49" charset="-122"/>
              </a:rPr>
              <a:t>，相应的隶属函数为</a:t>
            </a:r>
          </a:p>
        </p:txBody>
      </p:sp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4E18E2FD-6CD5-5313-B6CF-C573FA31A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8"/>
          <a:stretch>
            <a:fillRect/>
          </a:stretch>
        </p:blipFill>
        <p:spPr>
          <a:xfrm>
            <a:off x="263352" y="4090593"/>
            <a:ext cx="11377264" cy="2781300"/>
          </a:xfrm>
          <a:prstGeom prst="rect">
            <a:avLst/>
          </a:prstGeom>
        </p:spPr>
      </p:pic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大学生体质水平的模糊识别</a:t>
            </a:r>
          </a:p>
        </p:txBody>
      </p:sp>
      <p:graphicFrame>
        <p:nvGraphicFramePr>
          <p:cNvPr id="161843" name="Group 51"/>
          <p:cNvGraphicFramePr>
            <a:graphicFrameLocks noGrp="1"/>
          </p:cNvGraphicFramePr>
          <p:nvPr>
            <p:ph idx="4294967295"/>
          </p:nvPr>
        </p:nvGraphicFramePr>
        <p:xfrm>
          <a:off x="2279650" y="1268413"/>
          <a:ext cx="7488238" cy="2773554"/>
        </p:xfrm>
        <a:graphic>
          <a:graphicData uri="http://schemas.openxmlformats.org/drawingml/2006/table">
            <a:tbl>
              <a:tblPr/>
              <a:tblGrid>
                <a:gridCol w="86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19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指 标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身高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/kg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胸围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肺活量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差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158.4±3.0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47.9±8.4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84.2±2.4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3380±184.0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163.4±4.8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50.0±8.6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86.0±6.2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3866±800.0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166.9±3.6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55.3±9.4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88.3±7.0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4128±526.0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良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172.6±4.6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57.7±8.2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89.2±6.4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4349±402.0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优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178.4±4.2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61.9±8.6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90.9±8.0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4536±756.0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82CA748-883C-1F19-4F33-4C03EB218F90}"/>
              </a:ext>
            </a:extLst>
          </p:cNvPr>
          <p:cNvCxnSpPr/>
          <p:nvPr/>
        </p:nvCxnSpPr>
        <p:spPr bwMode="auto">
          <a:xfrm flipV="1">
            <a:off x="5087888" y="4149080"/>
            <a:ext cx="0" cy="24482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2E94B05-1B78-79A7-512D-4E47EA324DA2}"/>
              </a:ext>
            </a:extLst>
          </p:cNvPr>
          <p:cNvSpPr txBox="1"/>
          <p:nvPr/>
        </p:nvSpPr>
        <p:spPr>
          <a:xfrm>
            <a:off x="1311359" y="4022613"/>
            <a:ext cx="8910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744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差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sz="2400" b="1" dirty="0">
                <a:solidFill>
                  <a:srgbClr val="6042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中下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2400" b="1" dirty="0">
                <a:solidFill>
                  <a:srgbClr val="368B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400" b="1" dirty="0">
                <a:solidFill>
                  <a:srgbClr val="FA7E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良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192410-C9E2-58EC-E99F-0CE202AD9D67}"/>
              </a:ext>
            </a:extLst>
          </p:cNvPr>
          <p:cNvSpPr txBox="1"/>
          <p:nvPr/>
        </p:nvSpPr>
        <p:spPr>
          <a:xfrm>
            <a:off x="9198993" y="5283642"/>
            <a:ext cx="2904749" cy="960776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11</a:t>
            </a:r>
            <a:r>
              <a:rPr lang="en-US" altLang="zh-CN" sz="2000" dirty="0"/>
              <a:t>(x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)=A</a:t>
            </a:r>
            <a:r>
              <a:rPr lang="en-US" altLang="zh-CN" sz="2000" baseline="-25000" dirty="0"/>
              <a:t>11</a:t>
            </a:r>
            <a:r>
              <a:rPr lang="en-US" altLang="zh-CN" sz="2000" dirty="0"/>
              <a:t>(167.8)=</a:t>
            </a:r>
            <a:r>
              <a:rPr lang="en-US" altLang="zh-CN" sz="2000" dirty="0">
                <a:solidFill>
                  <a:srgbClr val="0000FF"/>
                </a:solidFill>
              </a:rPr>
              <a:t>0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 (∵|167.8-158.4|&gt;3.0=s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C6101F-6C0B-3F6C-ED4B-CC3AC1242F7E}"/>
              </a:ext>
            </a:extLst>
          </p:cNvPr>
          <p:cNvSpPr txBox="1"/>
          <p:nvPr/>
        </p:nvSpPr>
        <p:spPr>
          <a:xfrm>
            <a:off x="9720353" y="3779748"/>
            <a:ext cx="2568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167.8</a:t>
            </a:r>
            <a:r>
              <a:rPr lang="en-US" altLang="zh-CN" b="1" dirty="0"/>
              <a:t>, 55.1, 86, 4120)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D4E2C0-3AEC-0747-2DD1-28D78E919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58942" y="6390759"/>
            <a:ext cx="2844800" cy="457200"/>
          </a:xfrm>
        </p:spPr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44CC40-DB06-6F8B-C9FD-0E0E79A70482}"/>
              </a:ext>
            </a:extLst>
          </p:cNvPr>
          <p:cNvSpPr txBox="1"/>
          <p:nvPr/>
        </p:nvSpPr>
        <p:spPr>
          <a:xfrm>
            <a:off x="331590" y="3274690"/>
            <a:ext cx="120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身高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760C66-CBAF-E1AA-4E2A-0CF8333949E4}"/>
              </a:ext>
            </a:extLst>
          </p:cNvPr>
          <p:cNvSpPr txBox="1"/>
          <p:nvPr/>
        </p:nvSpPr>
        <p:spPr>
          <a:xfrm>
            <a:off x="4727849" y="6557282"/>
            <a:ext cx="1512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167.8</a:t>
            </a:r>
            <a:endParaRPr lang="zh-CN" altLang="en-US" sz="2000" dirty="0"/>
          </a:p>
        </p:txBody>
      </p:sp>
      <p:graphicFrame>
        <p:nvGraphicFramePr>
          <p:cNvPr id="11" name="Object 56">
            <a:extLst>
              <a:ext uri="{FF2B5EF4-FFF2-40B4-BE49-F238E27FC236}">
                <a16:creationId xmlns:a16="http://schemas.microsoft.com/office/drawing/2014/main" id="{C6EEDB8F-9913-7183-01B5-6512378B4C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678876"/>
              </p:ext>
            </p:extLst>
          </p:nvPr>
        </p:nvGraphicFramePr>
        <p:xfrm>
          <a:off x="7144392" y="2135777"/>
          <a:ext cx="495935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13000" imgH="812800" progId="Equation.3">
                  <p:embed/>
                </p:oleObj>
              </mc:Choice>
              <mc:Fallback>
                <p:oleObj name="公式" r:id="rId3" imgW="2413000" imgH="812800" progId="Equation.3">
                  <p:embed/>
                  <p:pic>
                    <p:nvPicPr>
                      <p:cNvPr id="163896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392" y="2135777"/>
                        <a:ext cx="4959350" cy="1670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398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表&#10;&#10;描述已自动生成">
            <a:extLst>
              <a:ext uri="{FF2B5EF4-FFF2-40B4-BE49-F238E27FC236}">
                <a16:creationId xmlns:a16="http://schemas.microsoft.com/office/drawing/2014/main" id="{B8CDC005-43EF-8C0F-F08C-22C303A68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22"/>
          <a:stretch>
            <a:fillRect/>
          </a:stretch>
        </p:blipFill>
        <p:spPr>
          <a:xfrm>
            <a:off x="331590" y="4077073"/>
            <a:ext cx="11381033" cy="2816033"/>
          </a:xfrm>
          <a:prstGeom prst="rect">
            <a:avLst/>
          </a:prstGeom>
        </p:spPr>
      </p:pic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大学生体质水平的模糊识别</a:t>
            </a:r>
          </a:p>
        </p:txBody>
      </p:sp>
      <p:graphicFrame>
        <p:nvGraphicFramePr>
          <p:cNvPr id="161843" name="Group 51"/>
          <p:cNvGraphicFramePr>
            <a:graphicFrameLocks noGrp="1"/>
          </p:cNvGraphicFramePr>
          <p:nvPr>
            <p:ph idx="4294967295"/>
          </p:nvPr>
        </p:nvGraphicFramePr>
        <p:xfrm>
          <a:off x="2279650" y="1268413"/>
          <a:ext cx="7488238" cy="2773554"/>
        </p:xfrm>
        <a:graphic>
          <a:graphicData uri="http://schemas.openxmlformats.org/drawingml/2006/table">
            <a:tbl>
              <a:tblPr/>
              <a:tblGrid>
                <a:gridCol w="86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19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指 标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身高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/kg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胸围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肺活量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差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158.4±3.0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47.9±8.4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84.2±2.4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3380±184.0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163.4±4.8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50.0±8.6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86.0±6.2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3866±800.0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166.9±3.6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55.3±9.4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88.3±7.0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4128±526.0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良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172.6±4.6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57.7±8.2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89.2±6.4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4349±402.0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优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178.4±4.2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61.9±8.6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90.9±8.0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4536±756.0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82CA748-883C-1F19-4F33-4C03EB218F90}"/>
              </a:ext>
            </a:extLst>
          </p:cNvPr>
          <p:cNvCxnSpPr/>
          <p:nvPr/>
        </p:nvCxnSpPr>
        <p:spPr bwMode="auto">
          <a:xfrm flipV="1">
            <a:off x="6528048" y="4221088"/>
            <a:ext cx="0" cy="24482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2E94B05-1B78-79A7-512D-4E47EA324DA2}"/>
              </a:ext>
            </a:extLst>
          </p:cNvPr>
          <p:cNvSpPr txBox="1"/>
          <p:nvPr/>
        </p:nvSpPr>
        <p:spPr>
          <a:xfrm>
            <a:off x="4007850" y="3990256"/>
            <a:ext cx="5688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744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差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中下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2400" b="1" dirty="0">
                <a:solidFill>
                  <a:srgbClr val="368B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FA7E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良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1D48B4-3B39-5C1D-7B3C-98F9B31384DF}"/>
              </a:ext>
            </a:extLst>
          </p:cNvPr>
          <p:cNvSpPr txBox="1"/>
          <p:nvPr/>
        </p:nvSpPr>
        <p:spPr>
          <a:xfrm>
            <a:off x="9650193" y="4986954"/>
            <a:ext cx="2541807" cy="1420325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12</a:t>
            </a:r>
            <a:r>
              <a:rPr lang="en-US" altLang="zh-CN" sz="2000" dirty="0"/>
              <a:t>(x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)=A</a:t>
            </a:r>
            <a:r>
              <a:rPr lang="en-US" altLang="zh-CN" sz="2000" baseline="-25000" dirty="0"/>
              <a:t>12</a:t>
            </a:r>
            <a:r>
              <a:rPr lang="en-US" altLang="zh-CN" sz="2000" dirty="0"/>
              <a:t>(55.1)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=1-[(55.1-47.9)/8.4]</a:t>
            </a:r>
            <a:r>
              <a:rPr lang="en-US" altLang="zh-CN" sz="2000" baseline="30000" dirty="0"/>
              <a:t>2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=</a:t>
            </a:r>
            <a:r>
              <a:rPr lang="en-US" altLang="zh-CN" sz="2000" dirty="0">
                <a:solidFill>
                  <a:srgbClr val="0000FF"/>
                </a:solidFill>
              </a:rPr>
              <a:t>0.2653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74E1F5-EE57-541E-0B83-0292AB58F570}"/>
              </a:ext>
            </a:extLst>
          </p:cNvPr>
          <p:cNvSpPr txBox="1"/>
          <p:nvPr/>
        </p:nvSpPr>
        <p:spPr>
          <a:xfrm>
            <a:off x="9696360" y="3821796"/>
            <a:ext cx="2568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(167.8, </a:t>
            </a:r>
            <a:r>
              <a:rPr lang="en-US" altLang="zh-CN" b="1" dirty="0">
                <a:solidFill>
                  <a:srgbClr val="FF0000"/>
                </a:solidFill>
              </a:rPr>
              <a:t>55.1</a:t>
            </a:r>
            <a:r>
              <a:rPr lang="en-US" altLang="zh-CN" b="1" dirty="0"/>
              <a:t>, 86, 4120)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C3408A-58AF-17DD-0223-F436953E29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13782" y="6435906"/>
            <a:ext cx="2844800" cy="457200"/>
          </a:xfrm>
        </p:spPr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392D25-B306-5679-15BF-69516133F263}"/>
              </a:ext>
            </a:extLst>
          </p:cNvPr>
          <p:cNvSpPr txBox="1"/>
          <p:nvPr/>
        </p:nvSpPr>
        <p:spPr>
          <a:xfrm>
            <a:off x="331590" y="3274690"/>
            <a:ext cx="120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体重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79632A-9BFE-1AA1-E272-BB2F167042CC}"/>
              </a:ext>
            </a:extLst>
          </p:cNvPr>
          <p:cNvSpPr txBox="1"/>
          <p:nvPr/>
        </p:nvSpPr>
        <p:spPr>
          <a:xfrm>
            <a:off x="6168008" y="6577226"/>
            <a:ext cx="1512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55.1</a:t>
            </a:r>
            <a:endParaRPr lang="zh-CN" altLang="en-US" sz="2000" dirty="0"/>
          </a:p>
        </p:txBody>
      </p:sp>
      <p:graphicFrame>
        <p:nvGraphicFramePr>
          <p:cNvPr id="9" name="Object 56">
            <a:extLst>
              <a:ext uri="{FF2B5EF4-FFF2-40B4-BE49-F238E27FC236}">
                <a16:creationId xmlns:a16="http://schemas.microsoft.com/office/drawing/2014/main" id="{FE62F4C6-CC4C-2C2A-14F6-0ED7A1BC89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123716"/>
              </p:ext>
            </p:extLst>
          </p:nvPr>
        </p:nvGraphicFramePr>
        <p:xfrm>
          <a:off x="7144392" y="2135777"/>
          <a:ext cx="495935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13000" imgH="812800" progId="Equation.3">
                  <p:embed/>
                </p:oleObj>
              </mc:Choice>
              <mc:Fallback>
                <p:oleObj name="公式" r:id="rId3" imgW="2413000" imgH="812800" progId="Equation.3">
                  <p:embed/>
                  <p:pic>
                    <p:nvPicPr>
                      <p:cNvPr id="11" name="Object 56">
                        <a:extLst>
                          <a:ext uri="{FF2B5EF4-FFF2-40B4-BE49-F238E27FC236}">
                            <a16:creationId xmlns:a16="http://schemas.microsoft.com/office/drawing/2014/main" id="{C6EEDB8F-9913-7183-01B5-6512378B4C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392" y="2135777"/>
                        <a:ext cx="4959350" cy="1670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920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折线图&#10;&#10;描述已自动生成">
            <a:extLst>
              <a:ext uri="{FF2B5EF4-FFF2-40B4-BE49-F238E27FC236}">
                <a16:creationId xmlns:a16="http://schemas.microsoft.com/office/drawing/2014/main" id="{B3E26C45-42A2-151E-3226-C1F69F025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90" y="4072758"/>
            <a:ext cx="11525050" cy="2781300"/>
          </a:xfrm>
          <a:prstGeom prst="rect">
            <a:avLst/>
          </a:prstGeom>
        </p:spPr>
      </p:pic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大学生体质水平的模糊识别</a:t>
            </a:r>
          </a:p>
        </p:txBody>
      </p:sp>
      <p:graphicFrame>
        <p:nvGraphicFramePr>
          <p:cNvPr id="161843" name="Group 51"/>
          <p:cNvGraphicFramePr>
            <a:graphicFrameLocks noGrp="1"/>
          </p:cNvGraphicFramePr>
          <p:nvPr>
            <p:ph idx="4294967295"/>
          </p:nvPr>
        </p:nvGraphicFramePr>
        <p:xfrm>
          <a:off x="2279650" y="1268413"/>
          <a:ext cx="7488238" cy="2773554"/>
        </p:xfrm>
        <a:graphic>
          <a:graphicData uri="http://schemas.openxmlformats.org/drawingml/2006/table">
            <a:tbl>
              <a:tblPr/>
              <a:tblGrid>
                <a:gridCol w="86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19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指 标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身高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/kg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胸围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肺活量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差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158.4±3.0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47.9±8.4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84.2±2.4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3380±184.0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163.4±4.8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50.0±8.6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86.0±6.2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3866±800.0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166.9±3.6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55.3±9.4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88.3±7.0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4128±526.0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良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172.6±4.6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57.7±8.2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89.2±6.4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4349±402.0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优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178.4±4.2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61.9±8.6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90.9±8.0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4536±756.0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82CA748-883C-1F19-4F33-4C03EB218F90}"/>
              </a:ext>
            </a:extLst>
          </p:cNvPr>
          <p:cNvCxnSpPr/>
          <p:nvPr/>
        </p:nvCxnSpPr>
        <p:spPr bwMode="auto">
          <a:xfrm flipV="1">
            <a:off x="3791744" y="4146127"/>
            <a:ext cx="0" cy="24482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2E94B05-1B78-79A7-512D-4E47EA324DA2}"/>
              </a:ext>
            </a:extLst>
          </p:cNvPr>
          <p:cNvSpPr txBox="1"/>
          <p:nvPr/>
        </p:nvSpPr>
        <p:spPr>
          <a:xfrm>
            <a:off x="1703512" y="4005064"/>
            <a:ext cx="655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400" b="1" dirty="0">
                <a:solidFill>
                  <a:srgbClr val="C744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差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2400" b="1" dirty="0">
                <a:solidFill>
                  <a:srgbClr val="6042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中下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368B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FA7E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良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7817B6-19FB-825A-02EA-DA37F3AE5943}"/>
              </a:ext>
            </a:extLst>
          </p:cNvPr>
          <p:cNvSpPr txBox="1"/>
          <p:nvPr/>
        </p:nvSpPr>
        <p:spPr>
          <a:xfrm>
            <a:off x="9836197" y="4521449"/>
            <a:ext cx="2316277" cy="1420325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13</a:t>
            </a:r>
            <a:r>
              <a:rPr lang="en-US" altLang="zh-CN" sz="2000" dirty="0"/>
              <a:t>(x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)=A</a:t>
            </a:r>
            <a:r>
              <a:rPr lang="en-US" altLang="zh-CN" sz="2000" baseline="-25000" dirty="0"/>
              <a:t>13</a:t>
            </a:r>
            <a:r>
              <a:rPr lang="en-US" altLang="zh-CN" sz="2000" dirty="0"/>
              <a:t>(86)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= 1-[(86-84.2)/2.4]</a:t>
            </a:r>
            <a:r>
              <a:rPr lang="en-US" altLang="zh-CN" sz="2000" baseline="30000" dirty="0"/>
              <a:t>2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=</a:t>
            </a:r>
            <a:r>
              <a:rPr lang="en-US" altLang="zh-CN" sz="2000" dirty="0">
                <a:solidFill>
                  <a:srgbClr val="0000FF"/>
                </a:solidFill>
              </a:rPr>
              <a:t>0.4375</a:t>
            </a:r>
            <a:r>
              <a:rPr lang="en-US" altLang="zh-CN" sz="2000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9DB3C1-B8E8-FD15-5082-E2C3B00746D6}"/>
              </a:ext>
            </a:extLst>
          </p:cNvPr>
          <p:cNvSpPr txBox="1"/>
          <p:nvPr/>
        </p:nvSpPr>
        <p:spPr>
          <a:xfrm>
            <a:off x="9710169" y="3558398"/>
            <a:ext cx="2568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(167.8, 55.1, </a:t>
            </a:r>
            <a:r>
              <a:rPr lang="en-US" altLang="zh-CN" b="1" dirty="0">
                <a:solidFill>
                  <a:srgbClr val="FF0000"/>
                </a:solidFill>
              </a:rPr>
              <a:t>86</a:t>
            </a:r>
            <a:r>
              <a:rPr lang="en-US" altLang="zh-CN" b="1" dirty="0"/>
              <a:t>, 4120)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93873-5DB1-3EED-BBC2-A50C9CD00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08368" y="6256656"/>
            <a:ext cx="2844800" cy="457200"/>
          </a:xfrm>
        </p:spPr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7B4CB2-344E-0982-0B4E-A5CB9616DE23}"/>
              </a:ext>
            </a:extLst>
          </p:cNvPr>
          <p:cNvSpPr txBox="1"/>
          <p:nvPr/>
        </p:nvSpPr>
        <p:spPr>
          <a:xfrm>
            <a:off x="331590" y="3274690"/>
            <a:ext cx="120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胸围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597985-A582-FF21-6390-447AB8240AA7}"/>
              </a:ext>
            </a:extLst>
          </p:cNvPr>
          <p:cNvSpPr txBox="1"/>
          <p:nvPr/>
        </p:nvSpPr>
        <p:spPr>
          <a:xfrm>
            <a:off x="3575720" y="6559700"/>
            <a:ext cx="1512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86</a:t>
            </a:r>
            <a:endParaRPr lang="zh-CN" altLang="en-US" sz="2000" dirty="0"/>
          </a:p>
        </p:txBody>
      </p:sp>
      <p:graphicFrame>
        <p:nvGraphicFramePr>
          <p:cNvPr id="9" name="Object 56">
            <a:extLst>
              <a:ext uri="{FF2B5EF4-FFF2-40B4-BE49-F238E27FC236}">
                <a16:creationId xmlns:a16="http://schemas.microsoft.com/office/drawing/2014/main" id="{73E24E80-521C-DC40-529B-B2E30EBFF4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016922"/>
              </p:ext>
            </p:extLst>
          </p:nvPr>
        </p:nvGraphicFramePr>
        <p:xfrm>
          <a:off x="1312069" y="2154561"/>
          <a:ext cx="495935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13000" imgH="812800" progId="Equation.3">
                  <p:embed/>
                </p:oleObj>
              </mc:Choice>
              <mc:Fallback>
                <p:oleObj name="公式" r:id="rId3" imgW="2413000" imgH="812800" progId="Equation.3">
                  <p:embed/>
                  <p:pic>
                    <p:nvPicPr>
                      <p:cNvPr id="9" name="Object 56">
                        <a:extLst>
                          <a:ext uri="{FF2B5EF4-FFF2-40B4-BE49-F238E27FC236}">
                            <a16:creationId xmlns:a16="http://schemas.microsoft.com/office/drawing/2014/main" id="{FE62F4C6-CC4C-2C2A-14F6-0ED7A1BC89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069" y="2154561"/>
                        <a:ext cx="4959350" cy="1670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445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表, 折线图&#10;&#10;描述已自动生成">
            <a:extLst>
              <a:ext uri="{FF2B5EF4-FFF2-40B4-BE49-F238E27FC236}">
                <a16:creationId xmlns:a16="http://schemas.microsoft.com/office/drawing/2014/main" id="{3933D887-53F6-5AF3-3719-667ABDAA2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89" y="4041967"/>
            <a:ext cx="11525051" cy="2816033"/>
          </a:xfrm>
          <a:prstGeom prst="rect">
            <a:avLst/>
          </a:prstGeom>
        </p:spPr>
      </p:pic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大学生体质水平的模糊识别</a:t>
            </a:r>
          </a:p>
        </p:txBody>
      </p:sp>
      <p:graphicFrame>
        <p:nvGraphicFramePr>
          <p:cNvPr id="161843" name="Group 51"/>
          <p:cNvGraphicFramePr>
            <a:graphicFrameLocks noGrp="1"/>
          </p:cNvGraphicFramePr>
          <p:nvPr>
            <p:ph idx="4294967295"/>
          </p:nvPr>
        </p:nvGraphicFramePr>
        <p:xfrm>
          <a:off x="2279650" y="1268413"/>
          <a:ext cx="7488238" cy="2773554"/>
        </p:xfrm>
        <a:graphic>
          <a:graphicData uri="http://schemas.openxmlformats.org/drawingml/2006/table">
            <a:tbl>
              <a:tblPr/>
              <a:tblGrid>
                <a:gridCol w="86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19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指 标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身高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体重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/kg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胸围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肺活量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差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158.4±3.0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47.9±8.4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84.2±2.4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3380±184.0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中下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163.4±4.8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50.0±8.6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86.0±6.2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3866±800.0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166.9±3.6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55.3±9.4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88.3±7.0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4128±526.0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良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172.6±4.6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57.7±8.2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89.2±6.4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4349±402.0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优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178.4±4.2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61.9±8.6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90.9±8.0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4536±756.0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82CA748-883C-1F19-4F33-4C03EB218F90}"/>
              </a:ext>
            </a:extLst>
          </p:cNvPr>
          <p:cNvCxnSpPr/>
          <p:nvPr/>
        </p:nvCxnSpPr>
        <p:spPr bwMode="auto">
          <a:xfrm flipV="1">
            <a:off x="5951984" y="4149080"/>
            <a:ext cx="0" cy="24482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2E94B05-1B78-79A7-512D-4E47EA324DA2}"/>
              </a:ext>
            </a:extLst>
          </p:cNvPr>
          <p:cNvSpPr txBox="1"/>
          <p:nvPr/>
        </p:nvSpPr>
        <p:spPr>
          <a:xfrm>
            <a:off x="1631431" y="3981850"/>
            <a:ext cx="7488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C744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差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zh-CN" altLang="en-US" sz="2400" b="1" dirty="0">
                <a:solidFill>
                  <a:srgbClr val="6042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中下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2400" b="1" dirty="0">
                <a:solidFill>
                  <a:srgbClr val="368B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FA7E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良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316EF2-60C2-FE66-23B3-878405B39805}"/>
              </a:ext>
            </a:extLst>
          </p:cNvPr>
          <p:cNvSpPr txBox="1"/>
          <p:nvPr/>
        </p:nvSpPr>
        <p:spPr>
          <a:xfrm>
            <a:off x="9021514" y="5528557"/>
            <a:ext cx="2915367" cy="960776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14</a:t>
            </a:r>
            <a:r>
              <a:rPr lang="en-US" altLang="zh-CN" sz="2000" dirty="0"/>
              <a:t>(x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)=A</a:t>
            </a:r>
            <a:r>
              <a:rPr lang="en-US" altLang="zh-CN" sz="2000" baseline="-25000" dirty="0"/>
              <a:t>14</a:t>
            </a:r>
            <a:r>
              <a:rPr lang="en-US" altLang="zh-CN" sz="2000" dirty="0"/>
              <a:t>(4120)=</a:t>
            </a:r>
            <a:r>
              <a:rPr lang="en-US" altLang="zh-CN" sz="2000" dirty="0">
                <a:solidFill>
                  <a:srgbClr val="0000FF"/>
                </a:solidFill>
              </a:rPr>
              <a:t>0</a:t>
            </a:r>
            <a:r>
              <a:rPr lang="en-US" altLang="zh-CN" sz="2000" dirty="0"/>
              <a:t>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000" dirty="0"/>
              <a:t> (∵|4120-3380|&gt;184=s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8E9952-9603-B8A5-FDC5-38D78D43D4C3}"/>
              </a:ext>
            </a:extLst>
          </p:cNvPr>
          <p:cNvSpPr txBox="1"/>
          <p:nvPr/>
        </p:nvSpPr>
        <p:spPr>
          <a:xfrm>
            <a:off x="9688186" y="3565522"/>
            <a:ext cx="2568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(167.8, 55.1, 86, </a:t>
            </a:r>
            <a:r>
              <a:rPr lang="en-US" altLang="zh-CN" b="1" dirty="0">
                <a:solidFill>
                  <a:srgbClr val="FF0000"/>
                </a:solidFill>
              </a:rPr>
              <a:t>4120</a:t>
            </a:r>
            <a:r>
              <a:rPr lang="en-US" altLang="zh-CN" b="1" dirty="0"/>
              <a:t>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6DC37F-885A-DBC3-03A2-24767C80C5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30095" y="6348841"/>
            <a:ext cx="2844800" cy="457200"/>
          </a:xfrm>
        </p:spPr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84920C-B5D4-0A9E-12A1-85003E1DF60A}"/>
              </a:ext>
            </a:extLst>
          </p:cNvPr>
          <p:cNvSpPr txBox="1"/>
          <p:nvPr/>
        </p:nvSpPr>
        <p:spPr>
          <a:xfrm>
            <a:off x="331589" y="3274690"/>
            <a:ext cx="1494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肺活量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186E34-54A8-7E8A-7E66-22EE878369D5}"/>
              </a:ext>
            </a:extLst>
          </p:cNvPr>
          <p:cNvSpPr txBox="1"/>
          <p:nvPr/>
        </p:nvSpPr>
        <p:spPr>
          <a:xfrm>
            <a:off x="5663952" y="6565003"/>
            <a:ext cx="1512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4120</a:t>
            </a:r>
            <a:endParaRPr lang="zh-CN" altLang="en-US" sz="2000" dirty="0"/>
          </a:p>
        </p:txBody>
      </p:sp>
      <p:graphicFrame>
        <p:nvGraphicFramePr>
          <p:cNvPr id="8" name="Object 56">
            <a:extLst>
              <a:ext uri="{FF2B5EF4-FFF2-40B4-BE49-F238E27FC236}">
                <a16:creationId xmlns:a16="http://schemas.microsoft.com/office/drawing/2014/main" id="{6AE763D9-D743-8CE3-EE26-507B69D796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134549"/>
              </p:ext>
            </p:extLst>
          </p:nvPr>
        </p:nvGraphicFramePr>
        <p:xfrm>
          <a:off x="3071664" y="2120181"/>
          <a:ext cx="495935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13000" imgH="812800" progId="Equation.3">
                  <p:embed/>
                </p:oleObj>
              </mc:Choice>
              <mc:Fallback>
                <p:oleObj name="公式" r:id="rId3" imgW="2413000" imgH="812800" progId="Equation.3">
                  <p:embed/>
                  <p:pic>
                    <p:nvPicPr>
                      <p:cNvPr id="9" name="Object 56">
                        <a:extLst>
                          <a:ext uri="{FF2B5EF4-FFF2-40B4-BE49-F238E27FC236}">
                            <a16:creationId xmlns:a16="http://schemas.microsoft.com/office/drawing/2014/main" id="{FE62F4C6-CC4C-2C2A-14F6-0ED7A1BC89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2120181"/>
                        <a:ext cx="4959350" cy="1670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258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大学生体质水平的模糊识别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3952609"/>
            <a:ext cx="10729192" cy="2905391"/>
          </a:xfrm>
          <a:solidFill>
            <a:srgbClr val="E0FFC1"/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x=(x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,x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)=(167.8,55.1,86,4120)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/>
          </a:p>
          <a:p>
            <a:pPr eaLnBrk="1" hangingPunct="1">
              <a:buFont typeface="Wingdings" pitchFamily="2" charset="2"/>
              <a:buNone/>
            </a:pPr>
            <a:endParaRPr lang="en-US" altLang="zh-CN" sz="14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11</a:t>
            </a:r>
            <a:r>
              <a:rPr lang="en-US" altLang="zh-CN" sz="2000" dirty="0"/>
              <a:t>(x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)=A</a:t>
            </a:r>
            <a:r>
              <a:rPr lang="en-US" altLang="zh-CN" sz="2000" baseline="-25000" dirty="0"/>
              <a:t>11</a:t>
            </a:r>
            <a:r>
              <a:rPr lang="en-US" altLang="zh-CN" sz="2000" dirty="0"/>
              <a:t>(167.8)=</a:t>
            </a:r>
            <a:r>
              <a:rPr lang="en-US" altLang="zh-CN" sz="2000" dirty="0">
                <a:solidFill>
                  <a:srgbClr val="0000FF"/>
                </a:solidFill>
              </a:rPr>
              <a:t>0</a:t>
            </a:r>
            <a:r>
              <a:rPr lang="en-US" altLang="zh-CN" sz="2000" dirty="0"/>
              <a:t> (∵|167.8-158.4|&gt;3.0=s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12</a:t>
            </a:r>
            <a:r>
              <a:rPr lang="en-US" altLang="zh-CN" sz="2000" dirty="0"/>
              <a:t>(x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)=A</a:t>
            </a:r>
            <a:r>
              <a:rPr lang="en-US" altLang="zh-CN" sz="2000" baseline="-25000" dirty="0"/>
              <a:t>12</a:t>
            </a:r>
            <a:r>
              <a:rPr lang="en-US" altLang="zh-CN" sz="2000" dirty="0"/>
              <a:t>(55.1)=1-[(55.1-47.9)/8.4]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=</a:t>
            </a:r>
            <a:r>
              <a:rPr lang="en-US" altLang="zh-CN" sz="2000" dirty="0">
                <a:solidFill>
                  <a:srgbClr val="0000FF"/>
                </a:solidFill>
              </a:rPr>
              <a:t>0.2653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13</a:t>
            </a:r>
            <a:r>
              <a:rPr lang="en-US" altLang="zh-CN" sz="2000" dirty="0"/>
              <a:t>(x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)=A</a:t>
            </a:r>
            <a:r>
              <a:rPr lang="en-US" altLang="zh-CN" sz="2000" baseline="-25000" dirty="0"/>
              <a:t>13</a:t>
            </a:r>
            <a:r>
              <a:rPr lang="en-US" altLang="zh-CN" sz="2000" dirty="0"/>
              <a:t>(86)= 1-[(86-84.2)/2.4]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=</a:t>
            </a:r>
            <a:r>
              <a:rPr lang="en-US" altLang="zh-CN" sz="2000" dirty="0">
                <a:solidFill>
                  <a:srgbClr val="0000FF"/>
                </a:solidFill>
              </a:rPr>
              <a:t>0.4375</a:t>
            </a:r>
            <a:r>
              <a:rPr lang="en-US" altLang="zh-CN" sz="20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A</a:t>
            </a:r>
            <a:r>
              <a:rPr lang="en-US" altLang="zh-CN" sz="2000" baseline="-25000" dirty="0"/>
              <a:t>14</a:t>
            </a:r>
            <a:r>
              <a:rPr lang="en-US" altLang="zh-CN" sz="2000" dirty="0"/>
              <a:t>(x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)=A</a:t>
            </a:r>
            <a:r>
              <a:rPr lang="en-US" altLang="zh-CN" sz="2000" baseline="-25000" dirty="0"/>
              <a:t>14</a:t>
            </a:r>
            <a:r>
              <a:rPr lang="en-US" altLang="zh-CN" sz="2000" dirty="0"/>
              <a:t>(4120)=</a:t>
            </a:r>
            <a:r>
              <a:rPr lang="en-US" altLang="zh-CN" sz="2000" dirty="0">
                <a:solidFill>
                  <a:srgbClr val="0000FF"/>
                </a:solidFill>
              </a:rPr>
              <a:t>0</a:t>
            </a:r>
            <a:r>
              <a:rPr lang="en-US" altLang="zh-CN" sz="2000" dirty="0"/>
              <a:t>  (∵|4120-3380|&gt;184=s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)</a:t>
            </a:r>
          </a:p>
        </p:txBody>
      </p:sp>
      <p:graphicFrame>
        <p:nvGraphicFramePr>
          <p:cNvPr id="163890" name="Object 50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991029836"/>
              </p:ext>
            </p:extLst>
          </p:nvPr>
        </p:nvGraphicFramePr>
        <p:xfrm>
          <a:off x="1442801" y="4339650"/>
          <a:ext cx="83534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08400" imgH="444500" progId="Equation.3">
                  <p:embed/>
                </p:oleObj>
              </mc:Choice>
              <mc:Fallback>
                <p:oleObj name="公式" r:id="rId2" imgW="3708400" imgH="444500" progId="Equation.3">
                  <p:embed/>
                  <p:pic>
                    <p:nvPicPr>
                      <p:cNvPr id="16389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801" y="4339650"/>
                        <a:ext cx="8353425" cy="998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4" name="Group 5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56491403"/>
              </p:ext>
            </p:extLst>
          </p:nvPr>
        </p:nvGraphicFramePr>
        <p:xfrm>
          <a:off x="2279650" y="1268414"/>
          <a:ext cx="7488238" cy="2560635"/>
        </p:xfrm>
        <a:graphic>
          <a:graphicData uri="http://schemas.openxmlformats.org/drawingml/2006/table">
            <a:tbl>
              <a:tblPr/>
              <a:tblGrid>
                <a:gridCol w="86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0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类型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指 标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身高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体重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/kg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胸围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肺活量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  <a:r>
                        <a:rPr kumimoji="0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差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158.4±3.0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47.9±8.4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84.2±2.4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3380±184.0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中下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163.4±4.8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50.0±8.6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86.0±6.2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3866±800.0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166.9±3.6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55.3±9.4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88.3±7.0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4128±526.0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良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172.6±4.6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57.7±8.2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89.2±6.4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4349±402.0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优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178.4±4.2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61.9±8.6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90.9±8.0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4536±756.0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3895" name="Text Box 55"/>
          <p:cNvSpPr txBox="1">
            <a:spLocks noChangeArrowheads="1"/>
          </p:cNvSpPr>
          <p:nvPr/>
        </p:nvSpPr>
        <p:spPr bwMode="auto">
          <a:xfrm>
            <a:off x="7968208" y="5345648"/>
            <a:ext cx="3600400" cy="15696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/>
              <a:t>  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(X)</a:t>
            </a:r>
          </a:p>
          <a:p>
            <a:pPr>
              <a:spcBef>
                <a:spcPct val="50000"/>
              </a:spcBef>
            </a:pPr>
            <a:r>
              <a:rPr lang="en-US" altLang="zh-CN" sz="2400" dirty="0"/>
              <a:t>=(0+0.2653+0.4375+0)/4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CC00CC"/>
                </a:solidFill>
              </a:rPr>
              <a:t>=0.1757</a:t>
            </a:r>
          </a:p>
        </p:txBody>
      </p:sp>
      <p:graphicFrame>
        <p:nvGraphicFramePr>
          <p:cNvPr id="163896" name="Object 5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950494095"/>
              </p:ext>
            </p:extLst>
          </p:nvPr>
        </p:nvGraphicFramePr>
        <p:xfrm>
          <a:off x="7208075" y="2186254"/>
          <a:ext cx="495935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13000" imgH="812800" progId="Equation.3">
                  <p:embed/>
                </p:oleObj>
              </mc:Choice>
              <mc:Fallback>
                <p:oleObj name="公式" r:id="rId4" imgW="2413000" imgH="812800" progId="Equation.3">
                  <p:embed/>
                  <p:pic>
                    <p:nvPicPr>
                      <p:cNvPr id="163896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8075" y="2186254"/>
                        <a:ext cx="4959350" cy="16700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227B5E-18F5-8CEE-3136-38F596571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85841" y="6335447"/>
            <a:ext cx="2844800" cy="457200"/>
          </a:xfrm>
        </p:spPr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 animBg="1"/>
      <p:bldP spid="16389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大学生体质水平的模糊识别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3933826"/>
            <a:ext cx="10009112" cy="2924175"/>
          </a:xfrm>
          <a:solidFill>
            <a:srgbClr val="FFFFCC"/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x=</a:t>
            </a:r>
            <a:r>
              <a:rPr lang="en-US" altLang="zh-CN" sz="2400" dirty="0">
                <a:solidFill>
                  <a:srgbClr val="000000"/>
                </a:solidFill>
              </a:rPr>
              <a:t>(x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,x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400" dirty="0">
                <a:solidFill>
                  <a:srgbClr val="000000"/>
                </a:solidFill>
              </a:rPr>
              <a:t>,x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400" dirty="0">
                <a:solidFill>
                  <a:srgbClr val="000000"/>
                </a:solidFill>
              </a:rPr>
              <a:t>,x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4</a:t>
            </a:r>
            <a:r>
              <a:rPr lang="en-US" altLang="zh-CN" sz="2400" dirty="0">
                <a:solidFill>
                  <a:srgbClr val="000000"/>
                </a:solidFill>
              </a:rPr>
              <a:t>)</a:t>
            </a:r>
            <a:r>
              <a:rPr lang="en-US" altLang="zh-CN" sz="2400" dirty="0"/>
              <a:t>=(167.8,55.1,86,4120)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/>
              <a:t>类似地计算，得</a:t>
            </a:r>
          </a:p>
          <a:p>
            <a:pPr eaLnBrk="1" hangingPunct="1"/>
            <a:r>
              <a:rPr lang="en-US" altLang="zh-CN" sz="2400" dirty="0"/>
              <a:t>A</a:t>
            </a:r>
            <a:r>
              <a:rPr lang="en-US" altLang="zh-CN" sz="2400" baseline="-25000" dirty="0"/>
              <a:t>21</a:t>
            </a:r>
            <a:r>
              <a:rPr lang="en-US" altLang="zh-CN" sz="2400" dirty="0"/>
              <a:t>(x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)=0.1597, A</a:t>
            </a:r>
            <a:r>
              <a:rPr lang="en-US" altLang="zh-CN" sz="2400" baseline="-25000" dirty="0"/>
              <a:t>22</a:t>
            </a:r>
            <a:r>
              <a:rPr lang="en-US" altLang="zh-CN" sz="2400" dirty="0"/>
              <a:t>(x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)=0.6483, A</a:t>
            </a:r>
            <a:r>
              <a:rPr lang="en-US" altLang="zh-CN" sz="2400" baseline="-25000" dirty="0"/>
              <a:t>23</a:t>
            </a:r>
            <a:r>
              <a:rPr lang="en-US" altLang="zh-CN" sz="2400" dirty="0"/>
              <a:t>(x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)=0.7659, A</a:t>
            </a:r>
            <a:r>
              <a:rPr lang="en-US" altLang="zh-CN" sz="2400" baseline="-25000" dirty="0"/>
              <a:t>24</a:t>
            </a:r>
            <a:r>
              <a:rPr lang="en-US" altLang="zh-CN" sz="2400" dirty="0"/>
              <a:t>(x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)=0.8992 </a:t>
            </a:r>
          </a:p>
          <a:p>
            <a:pPr eaLnBrk="1" hangingPunct="1"/>
            <a:r>
              <a:rPr lang="en-US" altLang="zh-CN" sz="2400" dirty="0">
                <a:solidFill>
                  <a:srgbClr val="CC00CC"/>
                </a:solidFill>
              </a:rPr>
              <a:t>A</a:t>
            </a:r>
            <a:r>
              <a:rPr lang="en-US" altLang="zh-CN" sz="2400" baseline="-25000" dirty="0">
                <a:solidFill>
                  <a:srgbClr val="CC00CC"/>
                </a:solidFill>
              </a:rPr>
              <a:t>2</a:t>
            </a:r>
            <a:r>
              <a:rPr lang="en-US" altLang="zh-CN" sz="2400" dirty="0">
                <a:solidFill>
                  <a:srgbClr val="CC00CC"/>
                </a:solidFill>
              </a:rPr>
              <a:t>(X)=0.6184</a:t>
            </a:r>
          </a:p>
          <a:p>
            <a:pPr eaLnBrk="1" hangingPunct="1"/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3</a:t>
            </a:r>
            <a:r>
              <a:rPr lang="en-US" altLang="zh-CN" sz="2400" dirty="0">
                <a:solidFill>
                  <a:srgbClr val="FF0000"/>
                </a:solidFill>
              </a:rPr>
              <a:t>(X)=0.9572, </a:t>
            </a:r>
            <a:r>
              <a:rPr lang="en-US" altLang="zh-CN" sz="2400" dirty="0">
                <a:solidFill>
                  <a:srgbClr val="CC00CC"/>
                </a:solidFill>
              </a:rPr>
              <a:t>A</a:t>
            </a:r>
            <a:r>
              <a:rPr lang="en-US" altLang="zh-CN" sz="2400" baseline="-25000" dirty="0">
                <a:solidFill>
                  <a:srgbClr val="CC00CC"/>
                </a:solidFill>
              </a:rPr>
              <a:t>4</a:t>
            </a:r>
            <a:r>
              <a:rPr lang="en-US" altLang="zh-CN" sz="2400" dirty="0">
                <a:solidFill>
                  <a:srgbClr val="CC00CC"/>
                </a:solidFill>
              </a:rPr>
              <a:t>(X)=0.5812, A</a:t>
            </a:r>
            <a:r>
              <a:rPr lang="en-US" altLang="zh-CN" sz="2400" baseline="-25000" dirty="0">
                <a:solidFill>
                  <a:srgbClr val="CC00CC"/>
                </a:solidFill>
              </a:rPr>
              <a:t>5</a:t>
            </a:r>
            <a:r>
              <a:rPr lang="en-US" altLang="zh-CN" sz="2400" dirty="0">
                <a:solidFill>
                  <a:srgbClr val="CC00CC"/>
                </a:solidFill>
              </a:rPr>
              <a:t>(X)=0.4242</a:t>
            </a: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按最大隶属原则，待识别学生属于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（中等体质）</a:t>
            </a:r>
          </a:p>
        </p:txBody>
      </p:sp>
      <p:graphicFrame>
        <p:nvGraphicFramePr>
          <p:cNvPr id="164868" name="Group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18312315"/>
              </p:ext>
            </p:extLst>
          </p:nvPr>
        </p:nvGraphicFramePr>
        <p:xfrm>
          <a:off x="2279650" y="1268414"/>
          <a:ext cx="7488238" cy="2560635"/>
        </p:xfrm>
        <a:graphic>
          <a:graphicData uri="http://schemas.openxmlformats.org/drawingml/2006/table">
            <a:tbl>
              <a:tblPr/>
              <a:tblGrid>
                <a:gridCol w="86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0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类型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指 标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身高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体重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/kg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胸围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肺活量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/cm</a:t>
                      </a:r>
                      <a:r>
                        <a:rPr kumimoji="0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差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158.4±3.0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47.9±8.4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84.2±2.4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3380±184.0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中下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163.4±4.8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50.0±8.6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86.0±6.2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3866±800.0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中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166.9±3.6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55.3±9.4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88.3±7.0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4128±526.0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良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172.6±4.6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57.7±8.2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89.2±6.4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4349±402.0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优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178.4±4.2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61.9±8.6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90.9±8.0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4536±756.0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FD5AB0-0526-3C6E-F1F6-B3315B9A46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16622" y="6284912"/>
            <a:ext cx="2844800" cy="457200"/>
          </a:xfrm>
        </p:spPr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graphicFrame>
        <p:nvGraphicFramePr>
          <p:cNvPr id="3" name="Object 52">
            <a:extLst>
              <a:ext uri="{FF2B5EF4-FFF2-40B4-BE49-F238E27FC236}">
                <a16:creationId xmlns:a16="http://schemas.microsoft.com/office/drawing/2014/main" id="{ED19DFF2-0365-618D-67E2-87D63E8A304A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93159456"/>
              </p:ext>
            </p:extLst>
          </p:nvPr>
        </p:nvGraphicFramePr>
        <p:xfrm>
          <a:off x="8904312" y="3770603"/>
          <a:ext cx="2957110" cy="1100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444240" progId="Equation.DSMT4">
                  <p:embed/>
                </p:oleObj>
              </mc:Choice>
              <mc:Fallback>
                <p:oleObj name="Equation" r:id="rId2" imgW="1193760" imgH="444240" progId="Equation.DSMT4">
                  <p:embed/>
                  <p:pic>
                    <p:nvPicPr>
                      <p:cNvPr id="161844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312" y="3770603"/>
                        <a:ext cx="2957110" cy="110093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6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uiExpand="1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2.2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模糊集的贴近度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700214"/>
            <a:ext cx="9937104" cy="45434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度量两个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集合的关系密切程度可以用两者之间的距离来描述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: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距离越大，关系越稀疏；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距离越小，关系越密切。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而度量两个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集合的接近程度就可以通过计算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集合间的</a:t>
            </a:r>
            <a:r>
              <a:rPr lang="zh-CN" altLang="en-US" dirty="0">
                <a:ea typeface="黑体" pitchFamily="2" charset="-122"/>
              </a:rPr>
              <a:t>“</a:t>
            </a:r>
            <a:r>
              <a:rPr lang="zh-CN" altLang="en-US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贴近度</a:t>
            </a:r>
            <a:r>
              <a:rPr lang="zh-CN" altLang="en-US" dirty="0"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来度量</a:t>
            </a:r>
          </a:p>
          <a:p>
            <a:pPr eaLnBrk="1" hangingPunct="1"/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7CA37D-D6D9-71DE-044E-943211EF2D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12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贴近度函数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700213"/>
            <a:ext cx="9865096" cy="460851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ea typeface="黑体" pitchFamily="2" charset="-122"/>
              </a:rPr>
              <a:t>[</a:t>
            </a:r>
            <a:r>
              <a:rPr lang="zh-CN" altLang="en-US" dirty="0">
                <a:ea typeface="黑体" pitchFamily="2" charset="-122"/>
              </a:rPr>
              <a:t>定义</a:t>
            </a:r>
            <a:r>
              <a:rPr lang="en-US" altLang="zh-CN" dirty="0">
                <a:ea typeface="黑体" pitchFamily="2" charset="-122"/>
              </a:rPr>
              <a:t>]</a:t>
            </a:r>
            <a:r>
              <a:rPr lang="zh-CN" altLang="en-US" dirty="0">
                <a:ea typeface="黑体" pitchFamily="2" charset="-122"/>
              </a:rPr>
              <a:t>设</a:t>
            </a:r>
            <a:r>
              <a:rPr lang="en-US" altLang="zh-CN" i="1" dirty="0">
                <a:ea typeface="黑体" pitchFamily="2" charset="-122"/>
              </a:rPr>
              <a:t>A</a:t>
            </a:r>
            <a:r>
              <a:rPr lang="en-US" altLang="zh-CN" dirty="0">
                <a:ea typeface="黑体" pitchFamily="2" charset="-122"/>
              </a:rPr>
              <a:t>, </a:t>
            </a:r>
            <a:r>
              <a:rPr lang="en-US" altLang="zh-CN" i="1" dirty="0">
                <a:ea typeface="黑体" pitchFamily="2" charset="-122"/>
              </a:rPr>
              <a:t>B, C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ea typeface="黑体" pitchFamily="2" charset="-122"/>
                <a:sym typeface="Symbol" pitchFamily="18" charset="2"/>
              </a:rPr>
              <a:t>U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), 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若映射</a:t>
            </a: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dirty="0">
                <a:latin typeface="+mj-lt"/>
                <a:ea typeface="黑体" pitchFamily="2" charset="-122"/>
                <a:sym typeface="Symbol" pitchFamily="18" charset="2"/>
              </a:rPr>
              <a:t>        </a:t>
            </a:r>
            <a:r>
              <a:rPr lang="en-US" altLang="zh-CN" i="1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： </a:t>
            </a:r>
            <a:r>
              <a:rPr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) </a:t>
            </a:r>
            <a:r>
              <a:rPr lang="en-US" altLang="en-US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黑体" pitchFamily="2" charset="-122"/>
                <a:sym typeface="Symbol" pitchFamily="18" charset="2"/>
              </a:rPr>
              <a:t>) →[0, 1]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  <a:sym typeface="Symbol" pitchFamily="18" charset="2"/>
              </a:rPr>
              <a:t>满足条件：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(1) 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, 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B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)=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B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, 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)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(2) 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, 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)=1, 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U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, Ø)=0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(3) 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若</a:t>
            </a:r>
            <a:r>
              <a:rPr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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B 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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C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, </a:t>
            </a:r>
            <a:r>
              <a:rPr kumimoji="1" lang="zh-CN" altLang="en-US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则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,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C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) ≤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,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B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)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/>
              </a:rPr>
              <a:t>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B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,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C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则称</a:t>
            </a:r>
            <a:r>
              <a:rPr kumimoji="1" lang="en-US" altLang="zh-CN" i="1" dirty="0">
                <a:ea typeface="黑体" pitchFamily="2" charset="-122"/>
                <a:sym typeface="Symbol" pitchFamily="18" charset="2"/>
              </a:rPr>
              <a:t>N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(</a:t>
            </a:r>
            <a:r>
              <a:rPr kumimoji="1" lang="en-US" altLang="zh-CN" i="1" dirty="0">
                <a:ea typeface="黑体" pitchFamily="2" charset="-122"/>
                <a:sym typeface="Symbol" pitchFamily="18" charset="2"/>
              </a:rPr>
              <a:t>A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,</a:t>
            </a:r>
            <a:r>
              <a:rPr kumimoji="1" lang="en-US" altLang="zh-CN" i="1" dirty="0">
                <a:ea typeface="黑体" pitchFamily="2" charset="-122"/>
                <a:sym typeface="Symbol" pitchFamily="18" charset="2"/>
              </a:rPr>
              <a:t>B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)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为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F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集</a:t>
            </a:r>
            <a:r>
              <a:rPr kumimoji="1" lang="en-US" altLang="zh-CN" i="1" dirty="0">
                <a:ea typeface="黑体" pitchFamily="2" charset="-122"/>
                <a:sym typeface="Symbol" pitchFamily="18" charset="2"/>
              </a:rPr>
              <a:t>A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与</a:t>
            </a:r>
            <a:r>
              <a:rPr kumimoji="1" lang="en-US" altLang="zh-CN" i="1" dirty="0">
                <a:ea typeface="黑体" pitchFamily="2" charset="-122"/>
                <a:sym typeface="Symbol" pitchFamily="18" charset="2"/>
              </a:rPr>
              <a:t>B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的贴近度</a:t>
            </a:r>
            <a:r>
              <a:rPr kumimoji="1" lang="en-US" altLang="zh-CN" dirty="0">
                <a:ea typeface="黑体" pitchFamily="2" charset="-122"/>
                <a:sym typeface="Symbol" pitchFamily="18" charset="2"/>
              </a:rPr>
              <a:t>,</a:t>
            </a:r>
            <a:endParaRPr kumimoji="1"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i="1" dirty="0">
                <a:ea typeface="黑体" pitchFamily="2" charset="-122"/>
                <a:sym typeface="Symbol" pitchFamily="18" charset="2"/>
              </a:rPr>
              <a:t>    N</a:t>
            </a:r>
            <a:r>
              <a:rPr kumimoji="1" lang="zh-CN" altLang="en-US" dirty="0">
                <a:ea typeface="黑体" pitchFamily="2" charset="-122"/>
                <a:sym typeface="Symbol" pitchFamily="18" charset="2"/>
              </a:rPr>
              <a:t>称为</a:t>
            </a:r>
            <a:r>
              <a:rPr lang="en-US" altLang="zh-CN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)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上的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贴近度函数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。</a:t>
            </a:r>
            <a:endParaRPr lang="zh-CN" altLang="en-US" sz="2800" dirty="0">
              <a:ea typeface="黑体" pitchFamily="2" charset="-122"/>
              <a:sym typeface="Symbol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B8566B-BFF3-F1DE-48FD-3DAAD3C48A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59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海明贴近度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484314"/>
            <a:ext cx="10441160" cy="4105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itchFamily="2" charset="-122"/>
              </a:rPr>
              <a:t>对于离散论域，若</a:t>
            </a:r>
            <a:r>
              <a:rPr kumimoji="1" lang="en-US" altLang="zh-CN" sz="2800" i="1" dirty="0"/>
              <a:t>U</a:t>
            </a:r>
            <a:r>
              <a:rPr kumimoji="1" lang="en-US" altLang="zh-CN" sz="2800" dirty="0"/>
              <a:t>={</a:t>
            </a:r>
            <a:r>
              <a:rPr kumimoji="1" lang="en-US" altLang="zh-CN" sz="2800" i="1" dirty="0"/>
              <a:t>u</a:t>
            </a:r>
            <a:r>
              <a:rPr kumimoji="1" lang="en-US" altLang="zh-CN" sz="2800" baseline="-25000" dirty="0"/>
              <a:t>1</a:t>
            </a:r>
            <a:r>
              <a:rPr kumimoji="1" lang="en-US" altLang="zh-CN" sz="2800" dirty="0"/>
              <a:t>, </a:t>
            </a:r>
            <a:r>
              <a:rPr kumimoji="1" lang="en-US" altLang="zh-CN" sz="2800" i="1" dirty="0"/>
              <a:t>u</a:t>
            </a:r>
            <a:r>
              <a:rPr kumimoji="1" lang="en-US" altLang="zh-CN" sz="2800" baseline="-25000" dirty="0"/>
              <a:t>2</a:t>
            </a:r>
            <a:r>
              <a:rPr kumimoji="1" lang="en-US" altLang="zh-CN" sz="2800" dirty="0"/>
              <a:t>,…, </a:t>
            </a:r>
            <a:r>
              <a:rPr kumimoji="1" lang="en-US" altLang="zh-CN" sz="2800" i="1" dirty="0"/>
              <a:t>u</a:t>
            </a:r>
            <a:r>
              <a:rPr kumimoji="1" lang="en-US" altLang="zh-CN" sz="2800" baseline="-25000" dirty="0"/>
              <a:t>n</a:t>
            </a:r>
            <a:r>
              <a:rPr kumimoji="1" lang="en-US" altLang="zh-CN" sz="2800" dirty="0"/>
              <a:t>}</a:t>
            </a:r>
            <a:r>
              <a:rPr kumimoji="1" lang="zh-CN" altLang="en-US" sz="2800" dirty="0"/>
              <a:t>，则</a:t>
            </a:r>
          </a:p>
          <a:p>
            <a:pPr eaLnBrk="1" hangingPunct="1">
              <a:lnSpc>
                <a:spcPct val="90000"/>
              </a:lnSpc>
            </a:pPr>
            <a:endParaRPr kumimoji="1" lang="zh-CN" altLang="en-US" sz="2800" dirty="0"/>
          </a:p>
          <a:p>
            <a:pPr eaLnBrk="1" hangingPunct="1">
              <a:lnSpc>
                <a:spcPct val="90000"/>
              </a:lnSpc>
            </a:pPr>
            <a:endParaRPr kumimoji="1" lang="zh-CN" altLang="en-US" sz="2400" dirty="0"/>
          </a:p>
          <a:p>
            <a:pPr eaLnBrk="1" hangingPunct="1">
              <a:lnSpc>
                <a:spcPct val="90000"/>
              </a:lnSpc>
            </a:pPr>
            <a:endParaRPr kumimoji="1" lang="zh-CN" altLang="en-US" sz="1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</a:pPr>
            <a:endParaRPr kumimoji="1" lang="zh-CN" altLang="en-US" sz="16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kumimoji="1" lang="zh-CN" altLang="en-US" sz="2800" dirty="0">
                <a:solidFill>
                  <a:schemeClr val="bg2"/>
                </a:solidFill>
              </a:rPr>
              <a:t>例：设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400" dirty="0">
                <a:solidFill>
                  <a:schemeClr val="bg2"/>
                </a:solidFill>
              </a:rPr>
              <a:t>={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1</a:t>
            </a:r>
            <a:r>
              <a:rPr kumimoji="1" lang="en-US" altLang="zh-CN" sz="2400" dirty="0">
                <a:solidFill>
                  <a:schemeClr val="bg2"/>
                </a:solidFill>
              </a:rPr>
              <a:t>, 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2</a:t>
            </a:r>
            <a:r>
              <a:rPr kumimoji="1" lang="en-US" altLang="zh-CN" sz="2400" dirty="0">
                <a:solidFill>
                  <a:schemeClr val="bg2"/>
                </a:solidFill>
              </a:rPr>
              <a:t>, 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3</a:t>
            </a:r>
            <a:r>
              <a:rPr kumimoji="1" lang="en-US" altLang="zh-CN" sz="2400" dirty="0">
                <a:solidFill>
                  <a:schemeClr val="bg2"/>
                </a:solidFill>
              </a:rPr>
              <a:t>, 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4</a:t>
            </a:r>
            <a:r>
              <a:rPr kumimoji="1" lang="en-US" altLang="zh-CN" sz="2400" dirty="0">
                <a:solidFill>
                  <a:schemeClr val="bg2"/>
                </a:solidFill>
              </a:rPr>
              <a:t> , 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5</a:t>
            </a:r>
            <a:r>
              <a:rPr kumimoji="1" lang="en-US" altLang="zh-CN" sz="2400" dirty="0">
                <a:solidFill>
                  <a:schemeClr val="bg2"/>
                </a:solidFill>
              </a:rPr>
              <a:t> }</a:t>
            </a:r>
            <a:r>
              <a:rPr kumimoji="1" lang="zh-CN" altLang="en-US" sz="2400" dirty="0">
                <a:solidFill>
                  <a:schemeClr val="bg2"/>
                </a:solidFill>
              </a:rPr>
              <a:t>，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800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),     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           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  <a:sym typeface="Symbol" pitchFamily="18" charset="2"/>
              </a:rPr>
              <a:t>A=(0.5,0.3,0.8,0.2,0.4)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  <a:sym typeface="Symbol" pitchFamily="18" charset="2"/>
              </a:rPr>
              <a:t>              B=(0.6,0.8,0.9,0.5,0.2),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求海明贴近度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N(A,B)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则</a:t>
            </a:r>
            <a:endParaRPr kumimoji="1" lang="zh-CN" altLang="en-US" sz="2800" dirty="0">
              <a:solidFill>
                <a:schemeClr val="bg2"/>
              </a:solidFill>
            </a:endParaRPr>
          </a:p>
        </p:txBody>
      </p:sp>
      <p:graphicFrame>
        <p:nvGraphicFramePr>
          <p:cNvPr id="21507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713239298"/>
              </p:ext>
            </p:extLst>
          </p:nvPr>
        </p:nvGraphicFramePr>
        <p:xfrm>
          <a:off x="1981200" y="2060848"/>
          <a:ext cx="5545137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44700" imgH="431800" progId="Equation.3">
                  <p:embed/>
                </p:oleObj>
              </mc:Choice>
              <mc:Fallback>
                <p:oleObj name="公式" r:id="rId3" imgW="2044700" imgH="431800" progId="Equation.3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060848"/>
                        <a:ext cx="5545137" cy="1173163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71279857"/>
              </p:ext>
            </p:extLst>
          </p:nvPr>
        </p:nvGraphicFramePr>
        <p:xfrm>
          <a:off x="1965159" y="5545019"/>
          <a:ext cx="59039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9800" imgH="393480" progId="Equation.DSMT4">
                  <p:embed/>
                </p:oleObj>
              </mc:Choice>
              <mc:Fallback>
                <p:oleObj name="Equation" r:id="rId5" imgW="2539800" imgH="393480" progId="Equation.DSMT4">
                  <p:embed/>
                  <p:pic>
                    <p:nvPicPr>
                      <p:cNvPr id="215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159" y="5545019"/>
                        <a:ext cx="590391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DC82E21C-9D57-530E-0C0B-C501BB696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535676"/>
              </p:ext>
            </p:extLst>
          </p:nvPr>
        </p:nvGraphicFramePr>
        <p:xfrm>
          <a:off x="7918672" y="5768343"/>
          <a:ext cx="100488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1640" imgH="177480" progId="Equation.DSMT4">
                  <p:embed/>
                </p:oleObj>
              </mc:Choice>
              <mc:Fallback>
                <p:oleObj name="Equation" r:id="rId7" imgW="431640" imgH="177480" progId="Equation.DSMT4">
                  <p:embed/>
                  <p:pic>
                    <p:nvPicPr>
                      <p:cNvPr id="2" name="Object 9">
                        <a:extLst>
                          <a:ext uri="{FF2B5EF4-FFF2-40B4-BE49-F238E27FC236}">
                            <a16:creationId xmlns:a16="http://schemas.microsoft.com/office/drawing/2014/main" id="{DC82E21C-9D57-530E-0C0B-C501BB696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672" y="5768343"/>
                        <a:ext cx="1004887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8E921BA-C189-782E-D625-1DE9D6BCC7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146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1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kumimoji="1" lang="zh-CN" altLang="en-US">
                <a:solidFill>
                  <a:srgbClr val="008000"/>
                </a:solidFill>
                <a:ea typeface="黑体" pitchFamily="2" charset="-122"/>
              </a:rPr>
              <a:t>欧几里得贴近度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74826" y="1628776"/>
            <a:ext cx="9807574" cy="52292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对于离散论域，若</a:t>
            </a:r>
            <a:r>
              <a:rPr kumimoji="1" lang="en-US" altLang="zh-CN" sz="2800" i="1" dirty="0"/>
              <a:t>U</a:t>
            </a:r>
            <a:r>
              <a:rPr kumimoji="1" lang="en-US" altLang="zh-CN" sz="2800" dirty="0"/>
              <a:t>={</a:t>
            </a:r>
            <a:r>
              <a:rPr kumimoji="1" lang="en-US" altLang="zh-CN" sz="2800" i="1" dirty="0"/>
              <a:t>u</a:t>
            </a:r>
            <a:r>
              <a:rPr kumimoji="1" lang="en-US" altLang="zh-CN" sz="2800" baseline="-25000" dirty="0"/>
              <a:t>1</a:t>
            </a:r>
            <a:r>
              <a:rPr kumimoji="1" lang="en-US" altLang="zh-CN" sz="2800" dirty="0"/>
              <a:t>, </a:t>
            </a:r>
            <a:r>
              <a:rPr kumimoji="1" lang="en-US" altLang="zh-CN" sz="2800" i="1" dirty="0"/>
              <a:t>u</a:t>
            </a:r>
            <a:r>
              <a:rPr kumimoji="1" lang="en-US" altLang="zh-CN" sz="2800" baseline="-25000" dirty="0"/>
              <a:t>2</a:t>
            </a:r>
            <a:r>
              <a:rPr kumimoji="1" lang="en-US" altLang="zh-CN" sz="2800" dirty="0"/>
              <a:t>,…, </a:t>
            </a:r>
            <a:r>
              <a:rPr kumimoji="1" lang="en-US" altLang="zh-CN" sz="2800" i="1" dirty="0"/>
              <a:t>u</a:t>
            </a:r>
            <a:r>
              <a:rPr kumimoji="1" lang="en-US" altLang="zh-CN" sz="2800" baseline="-25000" dirty="0"/>
              <a:t>n</a:t>
            </a:r>
            <a:r>
              <a:rPr kumimoji="1" lang="en-US" altLang="zh-CN" sz="2800" dirty="0"/>
              <a:t>}</a:t>
            </a:r>
            <a:r>
              <a:rPr kumimoji="1" lang="zh-CN" altLang="en-US" sz="2800" dirty="0"/>
              <a:t>，则</a:t>
            </a:r>
          </a:p>
          <a:p>
            <a:pPr lvl="1" eaLnBrk="1" hangingPunct="1"/>
            <a:endParaRPr kumimoji="1" lang="zh-CN" altLang="en-US" sz="2400" dirty="0"/>
          </a:p>
          <a:p>
            <a:pPr lvl="1" eaLnBrk="1" hangingPunct="1"/>
            <a:endParaRPr kumimoji="1" lang="zh-CN" altLang="en-US" sz="2400" dirty="0"/>
          </a:p>
          <a:p>
            <a:pPr eaLnBrk="1" hangingPunct="1"/>
            <a:endParaRPr kumimoji="1" lang="zh-CN" altLang="en-US" sz="2800" dirty="0"/>
          </a:p>
          <a:p>
            <a:pPr eaLnBrk="1" hangingPunct="1"/>
            <a:r>
              <a:rPr kumimoji="1" lang="zh-CN" altLang="en-US" sz="2800" dirty="0">
                <a:solidFill>
                  <a:schemeClr val="bg2"/>
                </a:solidFill>
              </a:rPr>
              <a:t>例：设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400" dirty="0">
                <a:solidFill>
                  <a:schemeClr val="bg2"/>
                </a:solidFill>
              </a:rPr>
              <a:t>={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1</a:t>
            </a:r>
            <a:r>
              <a:rPr kumimoji="1" lang="en-US" altLang="zh-CN" sz="2400" dirty="0">
                <a:solidFill>
                  <a:schemeClr val="bg2"/>
                </a:solidFill>
              </a:rPr>
              <a:t>, 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2</a:t>
            </a:r>
            <a:r>
              <a:rPr kumimoji="1" lang="en-US" altLang="zh-CN" sz="2400" dirty="0">
                <a:solidFill>
                  <a:schemeClr val="bg2"/>
                </a:solidFill>
              </a:rPr>
              <a:t>, 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3</a:t>
            </a:r>
            <a:r>
              <a:rPr kumimoji="1" lang="en-US" altLang="zh-CN" sz="2400" dirty="0">
                <a:solidFill>
                  <a:schemeClr val="bg2"/>
                </a:solidFill>
              </a:rPr>
              <a:t>, 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4</a:t>
            </a:r>
            <a:r>
              <a:rPr kumimoji="1" lang="en-US" altLang="zh-CN" sz="2400" dirty="0">
                <a:solidFill>
                  <a:schemeClr val="bg2"/>
                </a:solidFill>
              </a:rPr>
              <a:t> , </a:t>
            </a:r>
            <a:r>
              <a:rPr kumimoji="1" lang="en-US" altLang="zh-CN" sz="24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5</a:t>
            </a:r>
            <a:r>
              <a:rPr kumimoji="1" lang="en-US" altLang="zh-CN" sz="2400" dirty="0">
                <a:solidFill>
                  <a:schemeClr val="bg2"/>
                </a:solidFill>
              </a:rPr>
              <a:t> }</a:t>
            </a:r>
            <a:r>
              <a:rPr kumimoji="1" lang="zh-CN" altLang="en-US" sz="2400" dirty="0">
                <a:solidFill>
                  <a:schemeClr val="bg2"/>
                </a:solidFill>
              </a:rPr>
              <a:t>，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800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),</a:t>
            </a:r>
          </a:p>
          <a:p>
            <a:pPr marL="0" indent="0" eaLnBrk="1" hangingPunct="1"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        A=(0.5,0.3,0.8,0.2,0.4)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        B=(0.6,0.8,0.9,0.5,0.2),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求欧几里得贴近度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N(A,B)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则</a:t>
            </a:r>
            <a:endParaRPr kumimoji="1" lang="zh-CN" altLang="en-US" sz="2800" dirty="0">
              <a:solidFill>
                <a:schemeClr val="bg2"/>
              </a:solidFill>
            </a:endParaRPr>
          </a:p>
        </p:txBody>
      </p:sp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850723"/>
              </p:ext>
            </p:extLst>
          </p:nvPr>
        </p:nvGraphicFramePr>
        <p:xfrm>
          <a:off x="2424114" y="2286001"/>
          <a:ext cx="590232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23800" imgH="482400" progId="Equation.DSMT4">
                  <p:embed/>
                </p:oleObj>
              </mc:Choice>
              <mc:Fallback>
                <p:oleObj name="Equation" r:id="rId3" imgW="2323800" imgH="482400" progId="Equation.DSMT4">
                  <p:embed/>
                  <p:pic>
                    <p:nvPicPr>
                      <p:cNvPr id="184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2286001"/>
                        <a:ext cx="5902325" cy="122396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9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940674"/>
              </p:ext>
            </p:extLst>
          </p:nvPr>
        </p:nvGraphicFramePr>
        <p:xfrm>
          <a:off x="1992313" y="5510316"/>
          <a:ext cx="734377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97000" imgH="419040" progId="Equation.DSMT4">
                  <p:embed/>
                </p:oleObj>
              </mc:Choice>
              <mc:Fallback>
                <p:oleObj name="Equation" r:id="rId5" imgW="2997000" imgH="419040" progId="Equation.DSMT4">
                  <p:embed/>
                  <p:pic>
                    <p:nvPicPr>
                      <p:cNvPr id="184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510316"/>
                        <a:ext cx="7343775" cy="1027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>
            <a:extLst>
              <a:ext uri="{FF2B5EF4-FFF2-40B4-BE49-F238E27FC236}">
                <a16:creationId xmlns:a16="http://schemas.microsoft.com/office/drawing/2014/main" id="{1C4B8DCA-D413-81D1-1792-590B44275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433047"/>
              </p:ext>
            </p:extLst>
          </p:nvPr>
        </p:nvGraphicFramePr>
        <p:xfrm>
          <a:off x="9336360" y="5733256"/>
          <a:ext cx="10541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1640" imgH="177480" progId="Equation.DSMT4">
                  <p:embed/>
                </p:oleObj>
              </mc:Choice>
              <mc:Fallback>
                <p:oleObj name="Equation" r:id="rId7" imgW="431640" imgH="177480" progId="Equation.DSMT4">
                  <p:embed/>
                  <p:pic>
                    <p:nvPicPr>
                      <p:cNvPr id="2" name="Object 13">
                        <a:extLst>
                          <a:ext uri="{FF2B5EF4-FFF2-40B4-BE49-F238E27FC236}">
                            <a16:creationId xmlns:a16="http://schemas.microsoft.com/office/drawing/2014/main" id="{1C4B8DCA-D413-81D1-1792-590B44275B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360" y="5733256"/>
                        <a:ext cx="1054100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B3A3379-4F38-B960-3AD2-4DA66DB787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750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黎曼贴近度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268414"/>
            <a:ext cx="9793088" cy="45989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若</a:t>
            </a:r>
            <a:r>
              <a:rPr lang="en-US" altLang="zh-CN" sz="2800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为实数域，被积函数为黎曼可积，且广义积分收敛， 则</a:t>
            </a:r>
          </a:p>
          <a:p>
            <a:pPr eaLnBrk="1" hangingPunct="1"/>
            <a:endParaRPr lang="en-US" altLang="zh-CN" sz="2800" dirty="0"/>
          </a:p>
        </p:txBody>
      </p:sp>
      <p:graphicFrame>
        <p:nvGraphicFramePr>
          <p:cNvPr id="2458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204703956"/>
              </p:ext>
            </p:extLst>
          </p:nvPr>
        </p:nvGraphicFramePr>
        <p:xfrm>
          <a:off x="4655840" y="1911229"/>
          <a:ext cx="4319587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54200" imgH="914400" progId="Equation.3">
                  <p:embed/>
                </p:oleObj>
              </mc:Choice>
              <mc:Fallback>
                <p:oleObj name="公式" r:id="rId3" imgW="1854200" imgH="914400" progId="Equation.3">
                  <p:embed/>
                  <p:pic>
                    <p:nvPicPr>
                      <p:cNvPr id="24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5840" y="1911229"/>
                        <a:ext cx="4319587" cy="213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10045435"/>
              </p:ext>
            </p:extLst>
          </p:nvPr>
        </p:nvGraphicFramePr>
        <p:xfrm>
          <a:off x="4435272" y="4125912"/>
          <a:ext cx="4681537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19300" imgH="914400" progId="Equation.3">
                  <p:embed/>
                </p:oleObj>
              </mc:Choice>
              <mc:Fallback>
                <p:oleObj name="公式" r:id="rId5" imgW="2019300" imgH="914400" progId="Equation.3">
                  <p:embed/>
                  <p:pic>
                    <p:nvPicPr>
                      <p:cNvPr id="24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272" y="4125912"/>
                        <a:ext cx="4681537" cy="2122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524888" y="2714831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最大最小贴近度</a:t>
            </a:r>
          </a:p>
        </p:txBody>
      </p:sp>
      <p:sp>
        <p:nvSpPr>
          <p:cNvPr id="4" name="矩形 3"/>
          <p:cNvSpPr/>
          <p:nvPr/>
        </p:nvSpPr>
        <p:spPr>
          <a:xfrm>
            <a:off x="947428" y="4925546"/>
            <a:ext cx="3595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算术平均最小贴近度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4E5B205-6622-CE05-7D4C-A7F3A19EA1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408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01725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1]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求黎曼贴近度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N</a:t>
            </a:r>
            <a:r>
              <a:rPr lang="en-US" altLang="zh-CN" baseline="-2500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(A,B)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34109"/>
            <a:ext cx="4038600" cy="43830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设</a:t>
            </a:r>
            <a:r>
              <a:rPr lang="en-US" altLang="zh-CN" sz="2800" dirty="0"/>
              <a:t>U=[0,100],</a:t>
            </a:r>
            <a:r>
              <a:rPr lang="zh-CN" altLang="en-US" sz="2800" dirty="0"/>
              <a:t>且</a:t>
            </a:r>
          </a:p>
          <a:p>
            <a:pPr eaLnBrk="1" hangingPunct="1"/>
            <a:endParaRPr lang="en-US" altLang="zh-CN" sz="2800" dirty="0"/>
          </a:p>
        </p:txBody>
      </p:sp>
      <p:graphicFrame>
        <p:nvGraphicFramePr>
          <p:cNvPr id="29701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24000" y="2133601"/>
          <a:ext cx="8859838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19500" imgH="787400" progId="Equation.3">
                  <p:embed/>
                </p:oleObj>
              </mc:Choice>
              <mc:Fallback>
                <p:oleObj name="公式" r:id="rId2" imgW="3619500" imgH="787400" progId="Equation.3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133601"/>
                        <a:ext cx="8859838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4228114"/>
            <a:ext cx="5774432" cy="2516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703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14707328"/>
              </p:ext>
            </p:extLst>
          </p:nvPr>
        </p:nvGraphicFramePr>
        <p:xfrm>
          <a:off x="803796" y="4334865"/>
          <a:ext cx="4643438" cy="240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09800" imgH="1143000" progId="Equation.3">
                  <p:embed/>
                </p:oleObj>
              </mc:Choice>
              <mc:Fallback>
                <p:oleObj name="公式" r:id="rId5" imgW="2209800" imgH="1143000" progId="Equation.3">
                  <p:embed/>
                  <p:pic>
                    <p:nvPicPr>
                      <p:cNvPr id="297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796" y="4334865"/>
                        <a:ext cx="4643438" cy="240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5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4252040"/>
            <a:ext cx="5774432" cy="2516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09F70F-287B-12D3-6589-061CE900AB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10154" y="6335716"/>
            <a:ext cx="2844800" cy="457200"/>
          </a:xfrm>
        </p:spPr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FF9A04-1660-6BD8-95C0-23865E43238B}"/>
              </a:ext>
            </a:extLst>
          </p:cNvPr>
          <p:cNvSpPr txBox="1"/>
          <p:nvPr/>
        </p:nvSpPr>
        <p:spPr>
          <a:xfrm>
            <a:off x="7968209" y="6413266"/>
            <a:ext cx="64807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FF"/>
                </a:solidFill>
              </a:rPr>
              <a:t>50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96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01725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1]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求黎曼贴近度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N</a:t>
            </a:r>
            <a:r>
              <a:rPr lang="en-US" altLang="zh-CN" baseline="-2500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(A,B)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558926"/>
            <a:ext cx="4038600" cy="43830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设</a:t>
            </a:r>
            <a:r>
              <a:rPr lang="en-US" altLang="zh-CN" sz="2800" dirty="0"/>
              <a:t>U=[0,100],</a:t>
            </a:r>
            <a:r>
              <a:rPr lang="zh-CN" altLang="en-US" sz="2800" dirty="0"/>
              <a:t>且</a:t>
            </a:r>
          </a:p>
          <a:p>
            <a:pPr eaLnBrk="1" hangingPunct="1"/>
            <a:endParaRPr lang="en-US" altLang="zh-CN" sz="2800" dirty="0"/>
          </a:p>
        </p:txBody>
      </p:sp>
      <p:graphicFrame>
        <p:nvGraphicFramePr>
          <p:cNvPr id="10650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63227022"/>
              </p:ext>
            </p:extLst>
          </p:nvPr>
        </p:nvGraphicFramePr>
        <p:xfrm>
          <a:off x="1559496" y="2132856"/>
          <a:ext cx="8859838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19500" imgH="787400" progId="Equation.3">
                  <p:embed/>
                </p:oleObj>
              </mc:Choice>
              <mc:Fallback>
                <p:oleObj name="公式" r:id="rId2" imgW="3619500" imgH="787400" progId="Equation.3">
                  <p:embed/>
                  <p:pic>
                    <p:nvPicPr>
                      <p:cNvPr id="1065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2132856"/>
                        <a:ext cx="8859838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65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60" y="4131747"/>
            <a:ext cx="5904656" cy="2666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650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690666105"/>
              </p:ext>
            </p:extLst>
          </p:nvPr>
        </p:nvGraphicFramePr>
        <p:xfrm>
          <a:off x="771308" y="4303713"/>
          <a:ext cx="4643438" cy="240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09800" imgH="1143000" progId="Equation.3">
                  <p:embed/>
                </p:oleObj>
              </mc:Choice>
              <mc:Fallback>
                <p:oleObj name="公式" r:id="rId5" imgW="2209800" imgH="1143000" progId="Equation.3">
                  <p:embed/>
                  <p:pic>
                    <p:nvPicPr>
                      <p:cNvPr id="1065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308" y="4303713"/>
                        <a:ext cx="4643438" cy="240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65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60" y="4152285"/>
            <a:ext cx="5904656" cy="2553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021B0C-C7B6-EE60-52C3-0CB00553C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96934" y="6248400"/>
            <a:ext cx="2844800" cy="457200"/>
          </a:xfrm>
        </p:spPr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92913C-27DE-A559-6B6C-D56C7D872897}"/>
              </a:ext>
            </a:extLst>
          </p:cNvPr>
          <p:cNvSpPr txBox="1"/>
          <p:nvPr/>
        </p:nvSpPr>
        <p:spPr>
          <a:xfrm>
            <a:off x="7968209" y="6413266"/>
            <a:ext cx="64807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FF"/>
                </a:solidFill>
              </a:rPr>
              <a:t>50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359D89-ACD9-B8B4-568B-5118416C3112}"/>
              </a:ext>
            </a:extLst>
          </p:cNvPr>
          <p:cNvSpPr txBox="1"/>
          <p:nvPr/>
        </p:nvSpPr>
        <p:spPr>
          <a:xfrm>
            <a:off x="8544271" y="5228887"/>
            <a:ext cx="86409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0.75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60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B6327-D5F2-0EAB-0587-9262D33D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FE08783-F354-0232-5CF8-BB30FD9FC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476250"/>
            <a:ext cx="8229600" cy="1081088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1]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求黎曼贴近度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N</a:t>
            </a:r>
            <a:r>
              <a:rPr lang="en-US" altLang="zh-CN" baseline="-2500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(A,B)</a:t>
            </a:r>
          </a:p>
        </p:txBody>
      </p:sp>
      <p:graphicFrame>
        <p:nvGraphicFramePr>
          <p:cNvPr id="107529" name="Object 9">
            <a:extLst>
              <a:ext uri="{FF2B5EF4-FFF2-40B4-BE49-F238E27FC236}">
                <a16:creationId xmlns:a16="http://schemas.microsoft.com/office/drawing/2014/main" id="{126DF74A-308F-0B9D-A2C9-C2152BC43F6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055440" y="1852613"/>
          <a:ext cx="4608513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54200" imgH="914400" progId="Equation.3">
                  <p:embed/>
                </p:oleObj>
              </mc:Choice>
              <mc:Fallback>
                <p:oleObj name="公式" r:id="rId2" imgW="1854200" imgH="914400" progId="Equation.3">
                  <p:embed/>
                  <p:pic>
                    <p:nvPicPr>
                      <p:cNvPr id="1075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1852613"/>
                        <a:ext cx="4608513" cy="227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4" name="Picture 10">
            <a:extLst>
              <a:ext uri="{FF2B5EF4-FFF2-40B4-BE49-F238E27FC236}">
                <a16:creationId xmlns:a16="http://schemas.microsoft.com/office/drawing/2014/main" id="{35998CD0-1125-F804-8BB0-FF66A850F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1578139"/>
            <a:ext cx="6096000" cy="262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7532" name="Object 12">
            <a:extLst>
              <a:ext uri="{FF2B5EF4-FFF2-40B4-BE49-F238E27FC236}">
                <a16:creationId xmlns:a16="http://schemas.microsoft.com/office/drawing/2014/main" id="{860A9561-BC2D-FCA2-D261-C62AC22700E2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495600" y="4421188"/>
          <a:ext cx="5791200" cy="213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76440" imgH="914400" progId="Equation.DSMT4">
                  <p:embed/>
                </p:oleObj>
              </mc:Choice>
              <mc:Fallback>
                <p:oleObj name="Equation" r:id="rId5" imgW="2476440" imgH="914400" progId="Equation.DSMT4">
                  <p:embed/>
                  <p:pic>
                    <p:nvPicPr>
                      <p:cNvPr id="1075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4421188"/>
                        <a:ext cx="5791200" cy="213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D43614D-9405-B147-E38C-70B582302D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49507" y="5239172"/>
          <a:ext cx="1374797" cy="566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1640" imgH="177480" progId="Equation.DSMT4">
                  <p:embed/>
                </p:oleObj>
              </mc:Choice>
              <mc:Fallback>
                <p:oleObj name="Equation" r:id="rId7" imgW="431640" imgH="17748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49507" y="5239172"/>
                        <a:ext cx="1374797" cy="5660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D775B6-1FB8-4B91-A307-CB0C5E09E5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034A66-B2F9-4700-9C31-A75059990AF2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2698088-6630-44F1-4083-2B181E2158E9}"/>
              </a:ext>
            </a:extLst>
          </p:cNvPr>
          <p:cNvCxnSpPr/>
          <p:nvPr/>
        </p:nvCxnSpPr>
        <p:spPr bwMode="auto">
          <a:xfrm flipV="1">
            <a:off x="10776520" y="2420888"/>
            <a:ext cx="0" cy="1440160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35AE7F8-B5A1-D957-56D3-9A61044F6DEA}"/>
              </a:ext>
            </a:extLst>
          </p:cNvPr>
          <p:cNvSpPr txBox="1"/>
          <p:nvPr/>
        </p:nvSpPr>
        <p:spPr>
          <a:xfrm>
            <a:off x="10488489" y="3861048"/>
            <a:ext cx="648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878BE4-DD74-607B-2829-3AA7A63B1187}"/>
              </a:ext>
            </a:extLst>
          </p:cNvPr>
          <p:cNvSpPr txBox="1"/>
          <p:nvPr/>
        </p:nvSpPr>
        <p:spPr>
          <a:xfrm>
            <a:off x="8544273" y="3861048"/>
            <a:ext cx="64807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FF"/>
                </a:solidFill>
              </a:rPr>
              <a:t>50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71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76250"/>
            <a:ext cx="8229600" cy="1081088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1]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求黎曼贴近度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N</a:t>
            </a:r>
            <a:r>
              <a:rPr lang="en-US" altLang="zh-CN" baseline="-2500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(A,B)</a:t>
            </a:r>
          </a:p>
        </p:txBody>
      </p:sp>
      <p:graphicFrame>
        <p:nvGraphicFramePr>
          <p:cNvPr id="107529" name="Object 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83787521"/>
              </p:ext>
            </p:extLst>
          </p:nvPr>
        </p:nvGraphicFramePr>
        <p:xfrm>
          <a:off x="861005" y="1685524"/>
          <a:ext cx="4608513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54200" imgH="914400" progId="Equation.3">
                  <p:embed/>
                </p:oleObj>
              </mc:Choice>
              <mc:Fallback>
                <p:oleObj name="公式" r:id="rId2" imgW="1854200" imgH="914400" progId="Equation.3">
                  <p:embed/>
                  <p:pic>
                    <p:nvPicPr>
                      <p:cNvPr id="1075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05" y="1685524"/>
                        <a:ext cx="4608513" cy="227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1578139"/>
            <a:ext cx="6096000" cy="262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051777"/>
              </p:ext>
            </p:extLst>
          </p:nvPr>
        </p:nvGraphicFramePr>
        <p:xfrm>
          <a:off x="6951241" y="4965706"/>
          <a:ext cx="4626222" cy="1138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2480" imgH="431640" progId="Equation.DSMT4">
                  <p:embed/>
                </p:oleObj>
              </mc:Choice>
              <mc:Fallback>
                <p:oleObj name="Equation" r:id="rId5" imgW="1752480" imgH="4316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51241" y="4965706"/>
                        <a:ext cx="4626222" cy="11387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CCAC6F-DB03-D3A3-2D1B-2B7CFF34E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6089" y="6253929"/>
            <a:ext cx="2844800" cy="457200"/>
          </a:xfrm>
        </p:spPr>
        <p:txBody>
          <a:bodyPr/>
          <a:lstStyle/>
          <a:p>
            <a:pPr>
              <a:defRPr/>
            </a:pPr>
            <a:fld id="{23034A66-B2F9-4700-9C31-A75059990AF2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FF18C3D-6225-CFFE-4F14-942B64453329}"/>
              </a:ext>
            </a:extLst>
          </p:cNvPr>
          <p:cNvCxnSpPr/>
          <p:nvPr/>
        </p:nvCxnSpPr>
        <p:spPr bwMode="auto">
          <a:xfrm flipV="1">
            <a:off x="10776520" y="2420888"/>
            <a:ext cx="0" cy="1440160"/>
          </a:xfrm>
          <a:prstGeom prst="line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46F1E25-F999-0B5C-EE14-57EFBCF173C7}"/>
              </a:ext>
            </a:extLst>
          </p:cNvPr>
          <p:cNvSpPr txBox="1"/>
          <p:nvPr/>
        </p:nvSpPr>
        <p:spPr>
          <a:xfrm>
            <a:off x="10488489" y="3861048"/>
            <a:ext cx="648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1C98BC3-2A62-2087-C222-2AC013001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1111" y="4114764"/>
            <a:ext cx="5384800" cy="1960907"/>
          </a:xfrm>
        </p:spPr>
        <p:txBody>
          <a:bodyPr/>
          <a:lstStyle/>
          <a:p>
            <a:r>
              <a:rPr lang="zh-CN" altLang="en-US" b="1" dirty="0"/>
              <a:t>红色三角形的面积</a:t>
            </a:r>
            <a:r>
              <a:rPr lang="en-US" altLang="zh-CN" b="1" i="1" dirty="0"/>
              <a:t>S</a:t>
            </a:r>
            <a:r>
              <a:rPr lang="en-US" altLang="zh-CN" b="1" baseline="-25000" dirty="0"/>
              <a:t>1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sz="2000" b="1" dirty="0"/>
          </a:p>
          <a:p>
            <a:r>
              <a:rPr lang="zh-CN" altLang="en-US" b="1" dirty="0"/>
              <a:t>蓝色</a:t>
            </a:r>
            <a:r>
              <a:rPr lang="en-US" altLang="zh-CN" b="1" dirty="0"/>
              <a:t>V</a:t>
            </a:r>
            <a:r>
              <a:rPr lang="zh-CN" altLang="en-US" b="1" dirty="0"/>
              <a:t>形面积</a:t>
            </a:r>
            <a:r>
              <a:rPr lang="en-US" altLang="zh-CN" b="1" i="1" dirty="0"/>
              <a:t>S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:</a:t>
            </a:r>
            <a:endParaRPr lang="zh-CN" altLang="en-US" b="1" dirty="0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BB0A1C4D-FF85-E0CC-4A23-5DC6376B9B70}"/>
              </a:ext>
            </a:extLst>
          </p:cNvPr>
          <p:cNvSpPr/>
          <p:nvPr/>
        </p:nvSpPr>
        <p:spPr bwMode="auto">
          <a:xfrm>
            <a:off x="7284130" y="2852936"/>
            <a:ext cx="2844319" cy="1008112"/>
          </a:xfrm>
          <a:prstGeom prst="triangle">
            <a:avLst>
              <a:gd name="adj" fmla="val 53124"/>
            </a:avLst>
          </a:prstGeom>
          <a:solidFill>
            <a:srgbClr val="FF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20295BEA-8DCD-2736-9C9F-6F736F2AAAF6}"/>
              </a:ext>
            </a:extLst>
          </p:cNvPr>
          <p:cNvSpPr/>
          <p:nvPr/>
        </p:nvSpPr>
        <p:spPr bwMode="auto">
          <a:xfrm rot="10800000">
            <a:off x="8184232" y="2404271"/>
            <a:ext cx="1224135" cy="417903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A78273-0E25-FCDD-262E-ADBA0A34E3BE}"/>
              </a:ext>
            </a:extLst>
          </p:cNvPr>
          <p:cNvSpPr txBox="1"/>
          <p:nvPr/>
        </p:nvSpPr>
        <p:spPr>
          <a:xfrm>
            <a:off x="8544273" y="3909602"/>
            <a:ext cx="64807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FF"/>
                </a:solidFill>
              </a:rPr>
              <a:t>50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5CC313-CA37-976E-0B9C-48EA37661C1E}"/>
              </a:ext>
            </a:extLst>
          </p:cNvPr>
          <p:cNvSpPr txBox="1"/>
          <p:nvPr/>
        </p:nvSpPr>
        <p:spPr>
          <a:xfrm>
            <a:off x="9264352" y="2677165"/>
            <a:ext cx="86409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0.75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D067E65A-10B3-18C6-F626-CF7D68B3B2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118435"/>
              </p:ext>
            </p:extLst>
          </p:nvPr>
        </p:nvGraphicFramePr>
        <p:xfrm>
          <a:off x="861005" y="4581128"/>
          <a:ext cx="4419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7680" imgH="393480" progId="Equation.DSMT4">
                  <p:embed/>
                </p:oleObj>
              </mc:Choice>
              <mc:Fallback>
                <p:oleObj name="Equation" r:id="rId7" imgW="1777680" imgH="393480" progId="Equation.DSMT4">
                  <p:embed/>
                  <p:pic>
                    <p:nvPicPr>
                      <p:cNvPr id="1075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05" y="4581128"/>
                        <a:ext cx="44196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850AC916-3BD7-3341-D5FC-9E4BCA50B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283472"/>
              </p:ext>
            </p:extLst>
          </p:nvPr>
        </p:nvGraphicFramePr>
        <p:xfrm>
          <a:off x="767408" y="5949280"/>
          <a:ext cx="60293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25680" imgH="393480" progId="Equation.DSMT4">
                  <p:embed/>
                </p:oleObj>
              </mc:Choice>
              <mc:Fallback>
                <p:oleObj name="Equation" r:id="rId9" imgW="2425680" imgH="393480" progId="Equation.DSMT4">
                  <p:embed/>
                  <p:pic>
                    <p:nvPicPr>
                      <p:cNvPr id="12" name="Object 9">
                        <a:extLst>
                          <a:ext uri="{FF2B5EF4-FFF2-40B4-BE49-F238E27FC236}">
                            <a16:creationId xmlns:a16="http://schemas.microsoft.com/office/drawing/2014/main" id="{D067E65A-10B3-18C6-F626-CF7D68B3B2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8" y="5949280"/>
                        <a:ext cx="6029325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69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10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615" y="3429000"/>
            <a:ext cx="5927206" cy="3417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2]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求黎曼贴近度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N(A,B)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586452"/>
            <a:ext cx="8507413" cy="52292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设</a:t>
            </a:r>
            <a:r>
              <a:rPr lang="en-US" altLang="zh-CN" dirty="0">
                <a:ea typeface="黑体" pitchFamily="2" charset="-122"/>
              </a:rPr>
              <a:t>U=R</a:t>
            </a:r>
            <a:r>
              <a:rPr lang="zh-CN" altLang="en-US" dirty="0">
                <a:ea typeface="黑体" pitchFamily="2" charset="-122"/>
              </a:rPr>
              <a:t>（实数域）</a:t>
            </a:r>
            <a:r>
              <a:rPr lang="en-US" altLang="zh-CN" dirty="0">
                <a:ea typeface="黑体" pitchFamily="2" charset="-122"/>
              </a:rPr>
              <a:t>,</a:t>
            </a:r>
            <a:r>
              <a:rPr lang="zh-CN" altLang="en-US" dirty="0">
                <a:ea typeface="黑体" pitchFamily="2" charset="-122"/>
              </a:rPr>
              <a:t>正态型隶属函数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1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求当</a:t>
            </a:r>
            <a:r>
              <a:rPr lang="el-GR" altLang="zh-CN" sz="2800" dirty="0">
                <a:ea typeface="黑体" pitchFamily="2" charset="-122"/>
                <a:cs typeface="Arial" charset="0"/>
              </a:rPr>
              <a:t>σ</a:t>
            </a:r>
            <a:r>
              <a:rPr lang="en-US" altLang="zh-CN" sz="2800" baseline="-25000" dirty="0">
                <a:ea typeface="黑体" pitchFamily="2" charset="-122"/>
                <a:cs typeface="Arial" charset="0"/>
              </a:rPr>
              <a:t>1</a:t>
            </a:r>
            <a:r>
              <a:rPr lang="en-US" altLang="zh-CN" sz="2800" dirty="0">
                <a:ea typeface="黑体" pitchFamily="2" charset="-122"/>
                <a:cs typeface="Arial" charset="0"/>
              </a:rPr>
              <a:t> </a:t>
            </a:r>
            <a:r>
              <a:rPr lang="el-GR" altLang="zh-CN" sz="2800" dirty="0">
                <a:ea typeface="黑体" pitchFamily="2" charset="-122"/>
              </a:rPr>
              <a:t>≤</a:t>
            </a:r>
            <a:r>
              <a:rPr lang="en-US" altLang="zh-CN" sz="2800" dirty="0">
                <a:ea typeface="黑体" pitchFamily="2" charset="-122"/>
              </a:rPr>
              <a:t> </a:t>
            </a:r>
            <a:r>
              <a:rPr lang="el-GR" altLang="zh-CN" sz="2800" dirty="0">
                <a:ea typeface="黑体" pitchFamily="2" charset="-122"/>
              </a:rPr>
              <a:t>σ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zh-CN" altLang="en-US" sz="2800" dirty="0">
                <a:ea typeface="黑体" pitchFamily="2" charset="-122"/>
              </a:rPr>
              <a:t>时</a:t>
            </a:r>
            <a:r>
              <a:rPr lang="en-US" altLang="zh-CN" sz="2800" dirty="0">
                <a:ea typeface="黑体" pitchFamily="2" charset="-122"/>
              </a:rPr>
              <a:t>, N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(A,B)</a:t>
            </a:r>
            <a:r>
              <a:rPr lang="zh-CN" altLang="en-US" sz="2800" dirty="0">
                <a:ea typeface="黑体" pitchFamily="2" charset="-122"/>
              </a:rPr>
              <a:t>和</a:t>
            </a:r>
            <a:r>
              <a:rPr lang="en-US" altLang="zh-CN" sz="2800" dirty="0">
                <a:ea typeface="黑体" pitchFamily="2" charset="-122"/>
              </a:rPr>
              <a:t>N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(A,B)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解：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</a:rPr>
              <a:t>σ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l-GR" altLang="zh-CN" sz="2800" dirty="0">
                <a:ea typeface="黑体" pitchFamily="2" charset="-122"/>
              </a:rPr>
              <a:t>≤σ</a:t>
            </a:r>
            <a:r>
              <a:rPr lang="en-US" altLang="zh-CN" sz="2800" baseline="-25000" dirty="0">
                <a:ea typeface="黑体" pitchFamily="2" charset="-122"/>
              </a:rPr>
              <a:t>2 </a:t>
            </a:r>
            <a:r>
              <a:rPr lang="zh-CN" altLang="en-US" sz="2800" dirty="0">
                <a:ea typeface="黑体" pitchFamily="2" charset="-122"/>
              </a:rPr>
              <a:t>时</a:t>
            </a:r>
            <a:r>
              <a:rPr lang="en-US" altLang="zh-CN" sz="2800" dirty="0">
                <a:ea typeface="黑体" pitchFamily="2" charset="-122"/>
              </a:rPr>
              <a:t>,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3200" dirty="0">
                <a:ea typeface="黑体" pitchFamily="2" charset="-122"/>
              </a:rPr>
              <a:t>对</a:t>
            </a:r>
            <a:r>
              <a:rPr lang="zh-CN" altLang="en-US" sz="3200" dirty="0">
                <a:ea typeface="黑体" pitchFamily="2" charset="-122"/>
                <a:sym typeface="Symbol" pitchFamily="18" charset="2"/>
              </a:rPr>
              <a:t></a:t>
            </a:r>
            <a:r>
              <a:rPr lang="en-US" altLang="zh-CN" sz="3200" dirty="0" err="1"/>
              <a:t>x</a:t>
            </a:r>
            <a:r>
              <a:rPr lang="en-US" altLang="zh-CN" sz="3200" dirty="0" err="1">
                <a:ea typeface="黑体" pitchFamily="2" charset="-122"/>
                <a:sym typeface="Symbol" pitchFamily="18" charset="2"/>
              </a:rPr>
              <a:t>R</a:t>
            </a:r>
            <a:r>
              <a:rPr lang="en-US" altLang="zh-CN" sz="3200" dirty="0">
                <a:ea typeface="黑体" pitchFamily="2" charset="-122"/>
                <a:sym typeface="Symbol" pitchFamily="18" charset="2"/>
              </a:rPr>
              <a:t>, A(x)</a:t>
            </a:r>
            <a:r>
              <a:rPr lang="el-GR" altLang="zh-CN" sz="3200" dirty="0"/>
              <a:t>≤</a:t>
            </a:r>
            <a:r>
              <a:rPr lang="en-US" altLang="zh-CN" sz="3200" dirty="0"/>
              <a:t>B(x),</a:t>
            </a:r>
            <a:endParaRPr lang="en-US" altLang="zh-CN" sz="3200" dirty="0">
              <a:ea typeface="黑体" pitchFamily="2" charset="-122"/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200" dirty="0">
                <a:solidFill>
                  <a:srgbClr val="3333FF"/>
                </a:solidFill>
                <a:ea typeface="黑体" pitchFamily="2" charset="-122"/>
              </a:rPr>
              <a:t>A(x)</a:t>
            </a:r>
            <a:r>
              <a:rPr lang="en-US" altLang="zh-CN" sz="3200" dirty="0">
                <a:solidFill>
                  <a:srgbClr val="3333FF"/>
                </a:solidFill>
              </a:rPr>
              <a:t>∧B(x)=A(x)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200" dirty="0">
                <a:solidFill>
                  <a:srgbClr val="3333FF"/>
                </a:solidFill>
                <a:ea typeface="黑体" pitchFamily="2" charset="-122"/>
              </a:rPr>
              <a:t>A(x)</a:t>
            </a:r>
            <a:r>
              <a:rPr lang="en-US" altLang="zh-CN" sz="3200" dirty="0">
                <a:solidFill>
                  <a:srgbClr val="3333FF"/>
                </a:solidFill>
              </a:rPr>
              <a:t>∨B(x)=B(x)</a:t>
            </a:r>
          </a:p>
        </p:txBody>
      </p:sp>
      <p:graphicFrame>
        <p:nvGraphicFramePr>
          <p:cNvPr id="31748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98141983"/>
              </p:ext>
            </p:extLst>
          </p:nvPr>
        </p:nvGraphicFramePr>
        <p:xfrm>
          <a:off x="2906713" y="2060849"/>
          <a:ext cx="5008562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760" imgH="406080" progId="Equation.DSMT4">
                  <p:embed/>
                </p:oleObj>
              </mc:Choice>
              <mc:Fallback>
                <p:oleObj name="Equation" r:id="rId3" imgW="1904760" imgH="406080" progId="Equation.DSMT4">
                  <p:embed/>
                  <p:pic>
                    <p:nvPicPr>
                      <p:cNvPr id="3174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13" y="2060849"/>
                        <a:ext cx="5008562" cy="1068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D1C427-DFA1-40D6-4EE1-90DF720C25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88945"/>
            <a:ext cx="877888" cy="457200"/>
          </a:xfrm>
        </p:spPr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079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2]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求黎曼贴近度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N(A,B)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341438"/>
            <a:ext cx="8075613" cy="52562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(1)</a:t>
            </a:r>
            <a:r>
              <a:rPr lang="zh-CN" altLang="en-US" sz="2800" dirty="0">
                <a:solidFill>
                  <a:srgbClr val="3333FF"/>
                </a:solidFill>
              </a:rPr>
              <a:t>求</a:t>
            </a:r>
            <a:r>
              <a:rPr lang="en-US" altLang="zh-CN" sz="2800" dirty="0">
                <a:solidFill>
                  <a:srgbClr val="3333FF"/>
                </a:solidFill>
              </a:rPr>
              <a:t>N</a:t>
            </a:r>
            <a:r>
              <a:rPr lang="en-US" altLang="zh-CN" sz="2800" baseline="-25000" dirty="0">
                <a:solidFill>
                  <a:srgbClr val="3333FF"/>
                </a:solidFill>
              </a:rPr>
              <a:t>1</a:t>
            </a:r>
            <a:r>
              <a:rPr lang="en-US" altLang="zh-CN" sz="2800" dirty="0">
                <a:solidFill>
                  <a:srgbClr val="3333FF"/>
                </a:solidFill>
              </a:rPr>
              <a:t>(A,B)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3333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由正态分布函数知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所以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,</a:t>
            </a:r>
            <a:r>
              <a:rPr lang="en-US" altLang="zh-CN" sz="2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647865887"/>
              </p:ext>
            </p:extLst>
          </p:nvPr>
        </p:nvGraphicFramePr>
        <p:xfrm>
          <a:off x="7392144" y="1916833"/>
          <a:ext cx="1771650" cy="204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1041120" progId="Equation.DSMT4">
                  <p:embed/>
                </p:oleObj>
              </mc:Choice>
              <mc:Fallback>
                <p:oleObj name="Equation" r:id="rId3" imgW="901440" imgH="1041120" progId="Equation.DSMT4">
                  <p:embed/>
                  <p:pic>
                    <p:nvPicPr>
                      <p:cNvPr id="35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1916833"/>
                        <a:ext cx="1771650" cy="204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122344825"/>
              </p:ext>
            </p:extLst>
          </p:nvPr>
        </p:nvGraphicFramePr>
        <p:xfrm>
          <a:off x="2243138" y="4437063"/>
          <a:ext cx="45339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20760" imgH="507960" progId="Equation.DSMT4">
                  <p:embed/>
                </p:oleObj>
              </mc:Choice>
              <mc:Fallback>
                <p:oleObj name="Equation" r:id="rId5" imgW="2120760" imgH="507960" progId="Equation.DSMT4">
                  <p:embed/>
                  <p:pic>
                    <p:nvPicPr>
                      <p:cNvPr id="358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4437063"/>
                        <a:ext cx="4533900" cy="1085850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12"/>
          <p:cNvGraphicFramePr>
            <a:graphicFrameLocks noChangeAspect="1"/>
          </p:cNvGraphicFramePr>
          <p:nvPr/>
        </p:nvGraphicFramePr>
        <p:xfrm>
          <a:off x="2381250" y="5726114"/>
          <a:ext cx="3397250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47172" imgH="482391" progId="Equation.3">
                  <p:embed/>
                </p:oleObj>
              </mc:Choice>
              <mc:Fallback>
                <p:oleObj name="公式" r:id="rId7" imgW="1447172" imgH="482391" progId="Equation.3">
                  <p:embed/>
                  <p:pic>
                    <p:nvPicPr>
                      <p:cNvPr id="358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5726114"/>
                        <a:ext cx="3397250" cy="113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75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557" y="3917951"/>
            <a:ext cx="5098703" cy="294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5854" name="Object 14"/>
          <p:cNvGraphicFramePr>
            <a:graphicFrameLocks noChangeAspect="1"/>
          </p:cNvGraphicFramePr>
          <p:nvPr/>
        </p:nvGraphicFramePr>
        <p:xfrm>
          <a:off x="5664200" y="1900239"/>
          <a:ext cx="1727200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49300" imgH="914400" progId="Equation.3">
                  <p:embed/>
                </p:oleObj>
              </mc:Choice>
              <mc:Fallback>
                <p:oleObj name="公式" r:id="rId10" imgW="749300" imgH="914400" progId="Equation.3">
                  <p:embed/>
                  <p:pic>
                    <p:nvPicPr>
                      <p:cNvPr id="358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1900239"/>
                        <a:ext cx="1727200" cy="210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5" name="Object 15"/>
          <p:cNvGraphicFramePr>
            <a:graphicFrameLocks noChangeAspect="1"/>
          </p:cNvGraphicFramePr>
          <p:nvPr/>
        </p:nvGraphicFramePr>
        <p:xfrm>
          <a:off x="1524000" y="1916114"/>
          <a:ext cx="4040188" cy="200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41500" imgH="914400" progId="Equation.3">
                  <p:embed/>
                </p:oleObj>
              </mc:Choice>
              <mc:Fallback>
                <p:oleObj name="公式" r:id="rId12" imgW="1841500" imgH="914400" progId="Equation.3">
                  <p:embed/>
                  <p:pic>
                    <p:nvPicPr>
                      <p:cNvPr id="358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916114"/>
                        <a:ext cx="4040188" cy="200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39742D-907A-704E-6855-3D1431ADA8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142" y="6280033"/>
            <a:ext cx="440939" cy="457200"/>
          </a:xfrm>
        </p:spPr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7619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2]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求黎曼贴近度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N(A,B)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341438"/>
            <a:ext cx="8075613" cy="52562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</a:rPr>
              <a:t>(2)</a:t>
            </a:r>
            <a:r>
              <a:rPr lang="zh-CN" altLang="en-US" sz="2800" dirty="0">
                <a:solidFill>
                  <a:srgbClr val="3333FF"/>
                </a:solidFill>
              </a:rPr>
              <a:t>求</a:t>
            </a:r>
            <a:r>
              <a:rPr lang="en-US" altLang="zh-CN" sz="2800" dirty="0">
                <a:solidFill>
                  <a:srgbClr val="3333FF"/>
                </a:solidFill>
              </a:rPr>
              <a:t>N</a:t>
            </a:r>
            <a:r>
              <a:rPr lang="en-US" altLang="zh-CN" sz="2800" baseline="-25000" dirty="0">
                <a:solidFill>
                  <a:srgbClr val="3333FF"/>
                </a:solidFill>
              </a:rPr>
              <a:t>2</a:t>
            </a:r>
            <a:r>
              <a:rPr lang="en-US" altLang="zh-CN" sz="2800" dirty="0">
                <a:solidFill>
                  <a:srgbClr val="3333FF"/>
                </a:solidFill>
              </a:rPr>
              <a:t>(A,B)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由正态分布函数知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0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所以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,</a:t>
            </a:r>
          </a:p>
        </p:txBody>
      </p:sp>
      <p:graphicFrame>
        <p:nvGraphicFramePr>
          <p:cNvPr id="38917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388337397"/>
              </p:ext>
            </p:extLst>
          </p:nvPr>
        </p:nvGraphicFramePr>
        <p:xfrm>
          <a:off x="1415480" y="2060576"/>
          <a:ext cx="6084888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390900" imgH="914400" progId="Equation.3">
                  <p:embed/>
                </p:oleObj>
              </mc:Choice>
              <mc:Fallback>
                <p:oleObj name="公式" r:id="rId3" imgW="3390900" imgH="914400" progId="Equation.3">
                  <p:embed/>
                  <p:pic>
                    <p:nvPicPr>
                      <p:cNvPr id="38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2060576"/>
                        <a:ext cx="6084888" cy="164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273017"/>
              </p:ext>
            </p:extLst>
          </p:nvPr>
        </p:nvGraphicFramePr>
        <p:xfrm>
          <a:off x="7451725" y="1917701"/>
          <a:ext cx="3263900" cy="195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39880" imgH="1041120" progId="Equation.DSMT4">
                  <p:embed/>
                </p:oleObj>
              </mc:Choice>
              <mc:Fallback>
                <p:oleObj name="Equation" r:id="rId5" imgW="1739880" imgH="1041120" progId="Equation.DSMT4">
                  <p:embed/>
                  <p:pic>
                    <p:nvPicPr>
                      <p:cNvPr id="389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1917701"/>
                        <a:ext cx="3263900" cy="1954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388219572"/>
              </p:ext>
            </p:extLst>
          </p:nvPr>
        </p:nvGraphicFramePr>
        <p:xfrm>
          <a:off x="3100140" y="4365105"/>
          <a:ext cx="2563813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8960" imgH="507960" progId="Equation.DSMT4">
                  <p:embed/>
                </p:oleObj>
              </mc:Choice>
              <mc:Fallback>
                <p:oleObj name="Equation" r:id="rId7" imgW="1218960" imgH="507960" progId="Equation.DSMT4">
                  <p:embed/>
                  <p:pic>
                    <p:nvPicPr>
                      <p:cNvPr id="389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140" y="4365105"/>
                        <a:ext cx="2563813" cy="1068387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1900238" y="5661026"/>
          <a:ext cx="46990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235200" imgH="482600" progId="Equation.3">
                  <p:embed/>
                </p:oleObj>
              </mc:Choice>
              <mc:Fallback>
                <p:oleObj name="公式" r:id="rId9" imgW="2235200" imgH="482600" progId="Equation.3">
                  <p:embed/>
                  <p:pic>
                    <p:nvPicPr>
                      <p:cNvPr id="389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5661026"/>
                        <a:ext cx="4699000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00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201" y="4014788"/>
            <a:ext cx="4933530" cy="2843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FA1436-7142-D6B1-19E7-E96201CB0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704" y="6140450"/>
            <a:ext cx="517848" cy="457200"/>
          </a:xfrm>
        </p:spPr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086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2.3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格贴近度</a:t>
            </a:r>
            <a:br>
              <a:rPr lang="zh-CN" altLang="en-US" sz="40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</a:br>
            <a:r>
              <a:rPr lang="en-US" altLang="zh-CN" sz="3200">
                <a:solidFill>
                  <a:schemeClr val="bg2"/>
                </a:solidFill>
                <a:ea typeface="黑体" pitchFamily="2" charset="-122"/>
              </a:rPr>
              <a:t>2.3.1</a:t>
            </a:r>
            <a:r>
              <a:rPr lang="en-US" altLang="zh-CN" sz="320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  F</a:t>
            </a:r>
            <a:r>
              <a:rPr lang="zh-CN" altLang="en-US" sz="320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集的内积和外积的定义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817688"/>
            <a:ext cx="9577064" cy="5040312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[</a:t>
            </a:r>
            <a:r>
              <a:rPr lang="zh-CN" altLang="en-US" sz="2800" dirty="0">
                <a:ea typeface="黑体" pitchFamily="2" charset="-122"/>
              </a:rPr>
              <a:t>定义</a:t>
            </a:r>
            <a:r>
              <a:rPr lang="en-US" altLang="zh-CN" sz="2800" dirty="0">
                <a:ea typeface="黑体" pitchFamily="2" charset="-122"/>
              </a:rPr>
              <a:t>1</a:t>
            </a:r>
            <a:r>
              <a:rPr lang="en-US" altLang="zh-CN" sz="2800" dirty="0"/>
              <a:t>] </a:t>
            </a:r>
            <a:r>
              <a:rPr lang="zh-CN" altLang="en-US" sz="2800" dirty="0"/>
              <a:t>设</a:t>
            </a:r>
            <a:r>
              <a:rPr lang="en-US" altLang="zh-CN" sz="2800" i="1" dirty="0">
                <a:ea typeface="黑体" pitchFamily="2" charset="-122"/>
              </a:rPr>
              <a:t>A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en-US" altLang="zh-CN" sz="2800" i="1" dirty="0">
                <a:ea typeface="黑体" pitchFamily="2" charset="-122"/>
              </a:rPr>
              <a:t>B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),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称下式为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集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A,B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内积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。</a:t>
            </a:r>
          </a:p>
          <a:p>
            <a:pPr eaLnBrk="1" hangingPunct="1"/>
            <a:endParaRPr lang="zh-CN" altLang="en-US" sz="2800" dirty="0">
              <a:ea typeface="黑体" pitchFamily="2" charset="-122"/>
              <a:sym typeface="Symbol" pitchFamily="18" charset="2"/>
            </a:endParaRPr>
          </a:p>
          <a:p>
            <a:pPr eaLnBrk="1" hangingPunct="1"/>
            <a:endParaRPr lang="zh-CN" altLang="en-US" sz="2000" dirty="0">
              <a:ea typeface="黑体" pitchFamily="2" charset="-122"/>
              <a:sym typeface="Symbol" pitchFamily="18" charset="2"/>
            </a:endParaRPr>
          </a:p>
          <a:p>
            <a:pPr eaLnBrk="1" hangingPunct="1"/>
            <a:r>
              <a:rPr lang="en-US" altLang="zh-CN" sz="2800" dirty="0"/>
              <a:t>[</a:t>
            </a:r>
            <a:r>
              <a:rPr lang="zh-CN" altLang="en-US" sz="2800" dirty="0">
                <a:ea typeface="黑体" pitchFamily="2" charset="-122"/>
              </a:rPr>
              <a:t>定义</a:t>
            </a:r>
            <a:r>
              <a:rPr lang="en-US" altLang="zh-CN" sz="2800" dirty="0"/>
              <a:t>2] </a:t>
            </a:r>
            <a:r>
              <a:rPr lang="zh-CN" altLang="en-US" sz="2800" dirty="0"/>
              <a:t>设</a:t>
            </a:r>
            <a:r>
              <a:rPr lang="en-US" altLang="zh-CN" sz="2800" i="1" dirty="0">
                <a:ea typeface="黑体" pitchFamily="2" charset="-122"/>
              </a:rPr>
              <a:t>A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en-US" altLang="zh-CN" sz="2800" i="1" dirty="0">
                <a:ea typeface="黑体" pitchFamily="2" charset="-122"/>
              </a:rPr>
              <a:t>B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),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称下式为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集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A,B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外积。</a:t>
            </a:r>
          </a:p>
          <a:p>
            <a:pPr eaLnBrk="1" hangingPunct="1"/>
            <a:endParaRPr lang="zh-CN" altLang="en-US" sz="3600" dirty="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/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可见，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集的内积和外积互为对偶运算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.</a:t>
            </a:r>
            <a:endParaRPr lang="zh-CN" altLang="en-US" sz="2800" dirty="0">
              <a:solidFill>
                <a:srgbClr val="3333FF"/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/>
            <a:r>
              <a:rPr lang="en-US" altLang="zh-CN" sz="2800" dirty="0">
                <a:ea typeface="黑体" pitchFamily="2" charset="-122"/>
                <a:sym typeface="Symbol" pitchFamily="18" charset="2"/>
              </a:rPr>
              <a:t>[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定义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3] 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对</a:t>
            </a:r>
            <a:r>
              <a:rPr lang="en-US" altLang="zh-CN" sz="2800" i="1" dirty="0">
                <a:ea typeface="黑体" pitchFamily="2" charset="-122"/>
              </a:rPr>
              <a:t>A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),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令</a:t>
            </a:r>
          </a:p>
          <a:p>
            <a:pPr eaLnBrk="1" hangingPunct="1"/>
            <a:endParaRPr lang="zh-CN" altLang="en-US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  <a:sym typeface="Symbol" pitchFamily="18" charset="2"/>
              </a:rPr>
              <a:t>            和   分别叫做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集的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峰值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谷值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。                 </a:t>
            </a:r>
          </a:p>
        </p:txBody>
      </p:sp>
      <p:graphicFrame>
        <p:nvGraphicFramePr>
          <p:cNvPr id="3994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196555969"/>
              </p:ext>
            </p:extLst>
          </p:nvPr>
        </p:nvGraphicFramePr>
        <p:xfrm>
          <a:off x="3719736" y="2328168"/>
          <a:ext cx="43926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11300" imgH="279400" progId="Equation.3">
                  <p:embed/>
                </p:oleObj>
              </mc:Choice>
              <mc:Fallback>
                <p:oleObj name="公式" r:id="rId2" imgW="1511300" imgH="279400" progId="Equation.3">
                  <p:embed/>
                  <p:pic>
                    <p:nvPicPr>
                      <p:cNvPr id="399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2328168"/>
                        <a:ext cx="4392612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19514" y="3500439"/>
          <a:ext cx="432117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98600" imgH="368300" progId="Equation.3">
                  <p:embed/>
                </p:oleObj>
              </mc:Choice>
              <mc:Fallback>
                <p:oleObj name="公式" r:id="rId4" imgW="1498600" imgH="368300" progId="Equation.3">
                  <p:embed/>
                  <p:pic>
                    <p:nvPicPr>
                      <p:cNvPr id="399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3500439"/>
                        <a:ext cx="4321175" cy="1062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262283"/>
              </p:ext>
            </p:extLst>
          </p:nvPr>
        </p:nvGraphicFramePr>
        <p:xfrm>
          <a:off x="4368701" y="5445224"/>
          <a:ext cx="43195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76400" imgH="279400" progId="Equation.3">
                  <p:embed/>
                </p:oleObj>
              </mc:Choice>
              <mc:Fallback>
                <p:oleObj name="公式" r:id="rId6" imgW="1676400" imgH="279400" progId="Equation.3">
                  <p:embed/>
                  <p:pic>
                    <p:nvPicPr>
                      <p:cNvPr id="399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701" y="5445224"/>
                        <a:ext cx="4319587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412245"/>
              </p:ext>
            </p:extLst>
          </p:nvPr>
        </p:nvGraphicFramePr>
        <p:xfrm>
          <a:off x="2208213" y="6072088"/>
          <a:ext cx="3222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9579" imgH="164957" progId="Equation.3">
                  <p:embed/>
                </p:oleObj>
              </mc:Choice>
              <mc:Fallback>
                <p:oleObj name="公式" r:id="rId8" imgW="139579" imgH="164957" progId="Equation.3">
                  <p:embed/>
                  <p:pic>
                    <p:nvPicPr>
                      <p:cNvPr id="399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6072088"/>
                        <a:ext cx="32226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896946"/>
              </p:ext>
            </p:extLst>
          </p:nvPr>
        </p:nvGraphicFramePr>
        <p:xfrm>
          <a:off x="2817664" y="6021288"/>
          <a:ext cx="25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6780" imgH="215526" progId="Equation.3">
                  <p:embed/>
                </p:oleObj>
              </mc:Choice>
              <mc:Fallback>
                <p:oleObj name="公式" r:id="rId10" imgW="126780" imgH="215526" progId="Equation.3">
                  <p:embed/>
                  <p:pic>
                    <p:nvPicPr>
                      <p:cNvPr id="399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664" y="6021288"/>
                        <a:ext cx="25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355F41-D916-251E-E56A-718BCB84D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97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集的内积和外积运算举例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06111" y="1604963"/>
            <a:ext cx="8867453" cy="4968875"/>
          </a:xfrm>
        </p:spPr>
        <p:txBody>
          <a:bodyPr/>
          <a:lstStyle/>
          <a:p>
            <a:pPr eaLnBrk="1" hangingPunct="1"/>
            <a:r>
              <a:rPr kumimoji="1" lang="zh-CN" altLang="en-US" dirty="0">
                <a:solidFill>
                  <a:schemeClr val="bg2"/>
                </a:solidFill>
              </a:rPr>
              <a:t>例：设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dirty="0">
                <a:solidFill>
                  <a:schemeClr val="bg2"/>
                </a:solidFill>
              </a:rPr>
              <a:t>={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1</a:t>
            </a:r>
            <a:r>
              <a:rPr kumimoji="1" lang="en-US" altLang="zh-CN" sz="2800" dirty="0">
                <a:solidFill>
                  <a:schemeClr val="bg2"/>
                </a:solidFill>
              </a:rPr>
              <a:t>, 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2</a:t>
            </a:r>
            <a:r>
              <a:rPr kumimoji="1" lang="en-US" altLang="zh-CN" sz="2800" dirty="0">
                <a:solidFill>
                  <a:schemeClr val="bg2"/>
                </a:solidFill>
              </a:rPr>
              <a:t>, 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3</a:t>
            </a:r>
            <a:r>
              <a:rPr kumimoji="1" lang="en-US" altLang="zh-CN" sz="2800" dirty="0">
                <a:solidFill>
                  <a:schemeClr val="bg2"/>
                </a:solidFill>
              </a:rPr>
              <a:t>, 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4</a:t>
            </a:r>
            <a:r>
              <a:rPr kumimoji="1" lang="en-US" altLang="zh-CN" sz="2800" dirty="0">
                <a:solidFill>
                  <a:schemeClr val="bg2"/>
                </a:solidFill>
              </a:rPr>
              <a:t> , 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5 </a:t>
            </a:r>
            <a:r>
              <a:rPr kumimoji="1" lang="en-US" altLang="zh-CN" sz="2800" dirty="0">
                <a:solidFill>
                  <a:schemeClr val="bg2"/>
                </a:solidFill>
              </a:rPr>
              <a:t>, 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6</a:t>
            </a:r>
            <a:r>
              <a:rPr kumimoji="1" lang="en-US" altLang="zh-CN" sz="2800" dirty="0">
                <a:solidFill>
                  <a:schemeClr val="bg2"/>
                </a:solidFill>
              </a:rPr>
              <a:t> }</a:t>
            </a:r>
            <a:r>
              <a:rPr kumimoji="1" lang="zh-CN" altLang="en-US" sz="2800" dirty="0">
                <a:solidFill>
                  <a:schemeClr val="bg2"/>
                </a:solidFill>
              </a:rPr>
              <a:t>，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),     A=(0.6,0.8,  1,0.8,0.6,0.4)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B0F0"/>
                </a:solidFill>
                <a:ea typeface="黑体" pitchFamily="2" charset="-122"/>
                <a:sym typeface="Symbol" pitchFamily="18" charset="2"/>
              </a:rPr>
              <a:t>   B=(0.4,0.6,0.8,  1,0.8,0.6),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solidFill>
                <a:schemeClr val="bg2"/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            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=</a:t>
            </a:r>
            <a:r>
              <a:rPr lang="en-US" altLang="zh-CN" dirty="0">
                <a:sym typeface="Symbol" pitchFamily="18" charset="2"/>
              </a:rPr>
              <a:t>∨(0.4,0.6,0.8,0.8,0.6,0.4)=0.8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ym typeface="Symbol" pitchFamily="18" charset="2"/>
              </a:rPr>
              <a:t>              =∧(0.6,0.8,1,1,0.8,0.6)=0.6</a:t>
            </a:r>
          </a:p>
        </p:txBody>
      </p:sp>
      <p:graphicFrame>
        <p:nvGraphicFramePr>
          <p:cNvPr id="5120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019943032"/>
              </p:ext>
            </p:extLst>
          </p:nvPr>
        </p:nvGraphicFramePr>
        <p:xfrm>
          <a:off x="1981200" y="3357563"/>
          <a:ext cx="396081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11300" imgH="279400" progId="Equation.3">
                  <p:embed/>
                </p:oleObj>
              </mc:Choice>
              <mc:Fallback>
                <p:oleObj name="公式" r:id="rId2" imgW="1511300" imgH="279400" progId="Equation.3">
                  <p:embed/>
                  <p:pic>
                    <p:nvPicPr>
                      <p:cNvPr id="512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357563"/>
                        <a:ext cx="3960813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038095281"/>
              </p:ext>
            </p:extLst>
          </p:nvPr>
        </p:nvGraphicFramePr>
        <p:xfrm>
          <a:off x="1991544" y="4795043"/>
          <a:ext cx="381635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98600" imgH="368300" progId="Equation.3">
                  <p:embed/>
                </p:oleObj>
              </mc:Choice>
              <mc:Fallback>
                <p:oleObj name="公式" r:id="rId4" imgW="1498600" imgH="368300" progId="Equation.3">
                  <p:embed/>
                  <p:pic>
                    <p:nvPicPr>
                      <p:cNvPr id="512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4795043"/>
                        <a:ext cx="3816350" cy="938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72D85DF2-652C-4159-91FC-2EAD6D4F1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707149"/>
              </p:ext>
            </p:extLst>
          </p:nvPr>
        </p:nvGraphicFramePr>
        <p:xfrm>
          <a:off x="8328248" y="2285207"/>
          <a:ext cx="2847975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558720" progId="Equation.DSMT4">
                  <p:embed/>
                </p:oleObj>
              </mc:Choice>
              <mc:Fallback>
                <p:oleObj name="Equation" r:id="rId6" imgW="1104840" imgH="558720" progId="Equation.DSMT4">
                  <p:embed/>
                  <p:pic>
                    <p:nvPicPr>
                      <p:cNvPr id="2" name="Object 8">
                        <a:extLst>
                          <a:ext uri="{FF2B5EF4-FFF2-40B4-BE49-F238E27FC236}">
                            <a16:creationId xmlns:a16="http://schemas.microsoft.com/office/drawing/2014/main" id="{72D85DF2-652C-4159-91FC-2EAD6D4F1C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2285207"/>
                        <a:ext cx="2847975" cy="143827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7E1C1D-1240-96BB-916C-B238C58BD2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26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4"/>
            <a:ext cx="8229600" cy="1182687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集内积和外积的性质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15480" y="1484313"/>
            <a:ext cx="8568308" cy="5040312"/>
          </a:xfrm>
        </p:spPr>
        <p:txBody>
          <a:bodyPr/>
          <a:lstStyle/>
          <a:p>
            <a:pPr eaLnBrk="1" hangingPunct="1"/>
            <a:r>
              <a:rPr lang="en-US" altLang="zh-CN" dirty="0"/>
              <a:t>[</a:t>
            </a:r>
            <a:r>
              <a:rPr lang="zh-CN" altLang="en-US" dirty="0"/>
              <a:t>定义</a:t>
            </a:r>
            <a:r>
              <a:rPr lang="en-US" altLang="zh-CN" dirty="0"/>
              <a:t>]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余运算</a:t>
            </a:r>
            <a:r>
              <a:rPr lang="zh-CN" altLang="en-US" dirty="0"/>
              <a:t>：对</a:t>
            </a:r>
            <a:r>
              <a:rPr lang="zh-CN" altLang="en-US" dirty="0">
                <a:ea typeface="黑体" pitchFamily="2" charset="-122"/>
                <a:sym typeface="Symbol" pitchFamily="18" charset="2"/>
              </a:rPr>
              <a:t></a:t>
            </a:r>
            <a:r>
              <a:rPr lang="en-US" altLang="zh-CN" i="1" dirty="0"/>
              <a:t>a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[0,1],    </a:t>
            </a:r>
            <a:r>
              <a:rPr lang="en-US" altLang="zh-CN" i="1" dirty="0"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aseline="30000" dirty="0">
                <a:ea typeface="黑体" pitchFamily="2" charset="-122"/>
                <a:sym typeface="Symbol" pitchFamily="18" charset="2"/>
              </a:rPr>
              <a:t>c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=1-</a:t>
            </a:r>
            <a:r>
              <a:rPr lang="en-US" altLang="zh-CN" i="1" dirty="0"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.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[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性质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1]</a:t>
            </a:r>
            <a:r>
              <a:rPr lang="en-US" altLang="zh-CN" dirty="0">
                <a:ea typeface="黑体" pitchFamily="2" charset="-122"/>
                <a:sym typeface="Symbol" pitchFamily="18" charset="2"/>
              </a:rPr>
              <a:t> </a:t>
            </a:r>
          </a:p>
          <a:p>
            <a:pPr eaLnBrk="1" hangingPunct="1"/>
            <a:endParaRPr lang="en-US" altLang="zh-CN" sz="2000" dirty="0">
              <a:ea typeface="黑体" pitchFamily="2" charset="-122"/>
              <a:sym typeface="Symbol" pitchFamily="18" charset="2"/>
            </a:endParaRPr>
          </a:p>
          <a:p>
            <a:pPr eaLnBrk="1" hangingPunct="1"/>
            <a:r>
              <a:rPr lang="zh-CN" altLang="en-US" dirty="0">
                <a:ea typeface="黑体" pitchFamily="2" charset="-122"/>
                <a:sym typeface="Symbol" pitchFamily="18" charset="2"/>
              </a:rPr>
              <a:t>仅证前式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  <a:sym typeface="Symbol" pitchFamily="18" charset="2"/>
              </a:rPr>
              <a:t> </a:t>
            </a:r>
          </a:p>
          <a:p>
            <a:pPr eaLnBrk="1" hangingPunct="1"/>
            <a:endParaRPr lang="zh-CN" altLang="en-US" sz="2000" dirty="0">
              <a:ea typeface="黑体" pitchFamily="2" charset="-122"/>
              <a:sym typeface="Symbol" pitchFamily="18" charset="2"/>
            </a:endParaRPr>
          </a:p>
          <a:p>
            <a:pPr eaLnBrk="1" hangingPunct="1"/>
            <a:endParaRPr lang="zh-CN" altLang="en-US" sz="2000" dirty="0">
              <a:ea typeface="黑体" pitchFamily="2" charset="-122"/>
              <a:sym typeface="Symbol" pitchFamily="18" charset="2"/>
            </a:endParaRPr>
          </a:p>
          <a:p>
            <a:pPr eaLnBrk="1" hangingPunct="1"/>
            <a:endParaRPr lang="en-US" altLang="zh-CN" sz="2800" dirty="0"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4301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32535466"/>
              </p:ext>
            </p:extLst>
          </p:nvPr>
        </p:nvGraphicFramePr>
        <p:xfrm>
          <a:off x="3776807" y="2173289"/>
          <a:ext cx="60737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304560" progId="Equation.DSMT4">
                  <p:embed/>
                </p:oleObj>
              </mc:Choice>
              <mc:Fallback>
                <p:oleObj name="Equation" r:id="rId2" imgW="2336760" imgH="304560" progId="Equation.DSMT4">
                  <p:embed/>
                  <p:pic>
                    <p:nvPicPr>
                      <p:cNvPr id="43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807" y="2173289"/>
                        <a:ext cx="6073775" cy="792163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95550" y="3429001"/>
          <a:ext cx="47561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54200" imgH="368300" progId="Equation.3">
                  <p:embed/>
                </p:oleObj>
              </mc:Choice>
              <mc:Fallback>
                <p:oleObj name="公式" r:id="rId4" imgW="1854200" imgH="368300" progId="Equation.3">
                  <p:embed/>
                  <p:pic>
                    <p:nvPicPr>
                      <p:cNvPr id="430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3429001"/>
                        <a:ext cx="47561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3781425" y="5251450"/>
          <a:ext cx="476250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27200" imgH="279400" progId="Equation.3">
                  <p:embed/>
                </p:oleObj>
              </mc:Choice>
              <mc:Fallback>
                <p:oleObj name="公式" r:id="rId6" imgW="1727200" imgH="279400" progId="Equation.3">
                  <p:embed/>
                  <p:pic>
                    <p:nvPicPr>
                      <p:cNvPr id="430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425" y="5251450"/>
                        <a:ext cx="4762500" cy="76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1" name="Object 13"/>
          <p:cNvGraphicFramePr>
            <a:graphicFrameLocks noChangeAspect="1"/>
          </p:cNvGraphicFramePr>
          <p:nvPr/>
        </p:nvGraphicFramePr>
        <p:xfrm>
          <a:off x="3792539" y="6032500"/>
          <a:ext cx="50006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66900" imgH="292100" progId="Equation.3">
                  <p:embed/>
                </p:oleObj>
              </mc:Choice>
              <mc:Fallback>
                <p:oleObj name="公式" r:id="rId8" imgW="1866900" imgH="292100" progId="Equation.3">
                  <p:embed/>
                  <p:pic>
                    <p:nvPicPr>
                      <p:cNvPr id="4302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9" y="6032500"/>
                        <a:ext cx="5000625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746501" y="4508500"/>
          <a:ext cx="37179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47800" imgH="279400" progId="Equation.3">
                  <p:embed/>
                </p:oleObj>
              </mc:Choice>
              <mc:Fallback>
                <p:oleObj name="公式" r:id="rId10" imgW="1447800" imgH="279400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1" y="4508500"/>
                        <a:ext cx="3717925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70C8E1C-1DCB-07DC-F114-3CB9BA1392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05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集内积和外积的性质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557339"/>
            <a:ext cx="4038600" cy="49672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FF0000"/>
                </a:solidFill>
              </a:rPr>
              <a:t>[</a:t>
            </a: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性质</a:t>
            </a: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2]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00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[</a:t>
            </a: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性质</a:t>
            </a: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3]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80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[</a:t>
            </a: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性质</a:t>
            </a: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4]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00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[</a:t>
            </a: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性质</a:t>
            </a: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5]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00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[</a:t>
            </a: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性质</a:t>
            </a: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6]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[</a:t>
            </a: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性质</a:t>
            </a:r>
            <a:r>
              <a:rPr lang="en-US" altLang="zh-CN" sz="2800">
                <a:solidFill>
                  <a:srgbClr val="FF0000"/>
                </a:solidFill>
                <a:ea typeface="黑体" pitchFamily="2" charset="-122"/>
              </a:rPr>
              <a:t>7]</a:t>
            </a:r>
          </a:p>
        </p:txBody>
      </p:sp>
      <p:graphicFrame>
        <p:nvGraphicFramePr>
          <p:cNvPr id="3789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783506567"/>
              </p:ext>
            </p:extLst>
          </p:nvPr>
        </p:nvGraphicFramePr>
        <p:xfrm>
          <a:off x="2638748" y="1149351"/>
          <a:ext cx="417671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65300" imgH="393700" progId="Equation.3">
                  <p:embed/>
                </p:oleObj>
              </mc:Choice>
              <mc:Fallback>
                <p:oleObj name="公式" r:id="rId2" imgW="1765300" imgH="393700" progId="Equation.3">
                  <p:embed/>
                  <p:pic>
                    <p:nvPicPr>
                      <p:cNvPr id="3789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748" y="1149351"/>
                        <a:ext cx="417671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915586"/>
              </p:ext>
            </p:extLst>
          </p:nvPr>
        </p:nvGraphicFramePr>
        <p:xfrm>
          <a:off x="2638749" y="2052638"/>
          <a:ext cx="32400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20227" imgH="393529" progId="Equation.3">
                  <p:embed/>
                </p:oleObj>
              </mc:Choice>
              <mc:Fallback>
                <p:oleObj name="公式" r:id="rId4" imgW="1320227" imgH="393529" progId="Equation.3">
                  <p:embed/>
                  <p:pic>
                    <p:nvPicPr>
                      <p:cNvPr id="3789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749" y="2052638"/>
                        <a:ext cx="3240087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8977"/>
              </p:ext>
            </p:extLst>
          </p:nvPr>
        </p:nvGraphicFramePr>
        <p:xfrm>
          <a:off x="2494285" y="2952751"/>
          <a:ext cx="52578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09800" imgH="381000" progId="Equation.3">
                  <p:embed/>
                </p:oleObj>
              </mc:Choice>
              <mc:Fallback>
                <p:oleObj name="公式" r:id="rId6" imgW="2209800" imgH="381000" progId="Equation.3">
                  <p:embed/>
                  <p:pic>
                    <p:nvPicPr>
                      <p:cNvPr id="3789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285" y="2952751"/>
                        <a:ext cx="5257800" cy="906463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480240"/>
              </p:ext>
            </p:extLst>
          </p:nvPr>
        </p:nvGraphicFramePr>
        <p:xfrm>
          <a:off x="2494286" y="3984625"/>
          <a:ext cx="46085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4174" imgH="304668" progId="Equation.3">
                  <p:embed/>
                </p:oleObj>
              </mc:Choice>
              <mc:Fallback>
                <p:oleObj name="公式" r:id="rId8" imgW="1904174" imgH="304668" progId="Equation.3">
                  <p:embed/>
                  <p:pic>
                    <p:nvPicPr>
                      <p:cNvPr id="3789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286" y="3984625"/>
                        <a:ext cx="46085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960812"/>
              </p:ext>
            </p:extLst>
          </p:nvPr>
        </p:nvGraphicFramePr>
        <p:xfrm>
          <a:off x="2495873" y="4884739"/>
          <a:ext cx="338455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85900" imgH="393700" progId="Equation.3">
                  <p:embed/>
                </p:oleObj>
              </mc:Choice>
              <mc:Fallback>
                <p:oleObj name="公式" r:id="rId10" imgW="1485900" imgH="393700" progId="Equation.3">
                  <p:embed/>
                  <p:pic>
                    <p:nvPicPr>
                      <p:cNvPr id="3789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873" y="4884739"/>
                        <a:ext cx="3384550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925704"/>
              </p:ext>
            </p:extLst>
          </p:nvPr>
        </p:nvGraphicFramePr>
        <p:xfrm>
          <a:off x="2351410" y="5805488"/>
          <a:ext cx="65532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692400" imgH="304800" progId="Equation.3">
                  <p:embed/>
                </p:oleObj>
              </mc:Choice>
              <mc:Fallback>
                <p:oleObj name="公式" r:id="rId12" imgW="2692400" imgH="304800" progId="Equation.3">
                  <p:embed/>
                  <p:pic>
                    <p:nvPicPr>
                      <p:cNvPr id="3789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410" y="5805488"/>
                        <a:ext cx="65532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AutoShape 14"/>
          <p:cNvSpPr>
            <a:spLocks noChangeArrowheads="1"/>
          </p:cNvSpPr>
          <p:nvPr/>
        </p:nvSpPr>
        <p:spPr bwMode="auto">
          <a:xfrm>
            <a:off x="7102798" y="1484314"/>
            <a:ext cx="2305050" cy="504825"/>
          </a:xfrm>
          <a:prstGeom prst="wedgeRoundRectCallout">
            <a:avLst>
              <a:gd name="adj1" fmla="val -18319"/>
              <a:gd name="adj2" fmla="val 48426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en-US" altLang="zh-CN" sz="2400"/>
              <a:t>A,B,C </a:t>
            </a:r>
            <a:r>
              <a:rPr lang="en-US" altLang="zh-CN" sz="2400">
                <a:sym typeface="Symbol" pitchFamily="18" charset="2"/>
              </a:rPr>
              <a:t></a:t>
            </a:r>
            <a:r>
              <a:rPr lang="en-US" altLang="zh-CN" sz="240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2400">
                <a:sym typeface="Symbol" pitchFamily="18" charset="2"/>
              </a:rPr>
              <a:t>(</a:t>
            </a:r>
            <a:r>
              <a:rPr lang="en-US" altLang="zh-CN" sz="2400" i="1">
                <a:sym typeface="Symbol" pitchFamily="18" charset="2"/>
              </a:rPr>
              <a:t>U </a:t>
            </a:r>
            <a:r>
              <a:rPr lang="en-US" altLang="zh-CN" sz="2400">
                <a:sym typeface="Symbol" pitchFamily="18" charset="2"/>
              </a:rPr>
              <a:t>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8F5948-12A1-35F3-B625-6B7F940B2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4602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性质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4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]            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的证明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628776"/>
            <a:ext cx="7931150" cy="357822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证明：由内积的定义：</a:t>
            </a:r>
          </a:p>
          <a:p>
            <a:pPr eaLnBrk="1" hangingPunct="1"/>
            <a:endParaRPr lang="zh-CN" altLang="en-US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            </a:t>
            </a:r>
            <a:r>
              <a:rPr lang="zh-CN" altLang="en-US" dirty="0">
                <a:ea typeface="黑体" pitchFamily="2" charset="-122"/>
              </a:rPr>
              <a:t>得：</a:t>
            </a:r>
            <a:endParaRPr lang="zh-CN" altLang="en-US" sz="2800" dirty="0">
              <a:ea typeface="黑体" pitchFamily="2" charset="-122"/>
            </a:endParaRPr>
          </a:p>
        </p:txBody>
      </p:sp>
      <p:graphicFrame>
        <p:nvGraphicFramePr>
          <p:cNvPr id="54279" name="Object 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02661829"/>
              </p:ext>
            </p:extLst>
          </p:nvPr>
        </p:nvGraphicFramePr>
        <p:xfrm>
          <a:off x="3791744" y="2205038"/>
          <a:ext cx="4319587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11300" imgH="279400" progId="Equation.3">
                  <p:embed/>
                </p:oleObj>
              </mc:Choice>
              <mc:Fallback>
                <p:oleObj name="公式" r:id="rId3" imgW="1511300" imgH="279400" progId="Equation.3">
                  <p:embed/>
                  <p:pic>
                    <p:nvPicPr>
                      <p:cNvPr id="542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2205038"/>
                        <a:ext cx="4319587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4511675" y="620714"/>
          <a:ext cx="33845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40948" imgH="291973" progId="Equation.3">
                  <p:embed/>
                </p:oleObj>
              </mc:Choice>
              <mc:Fallback>
                <p:oleObj name="公式" r:id="rId5" imgW="1040948" imgH="291973" progId="Equation.3">
                  <p:embed/>
                  <p:pic>
                    <p:nvPicPr>
                      <p:cNvPr id="389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620714"/>
                        <a:ext cx="33845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099502786"/>
              </p:ext>
            </p:extLst>
          </p:nvPr>
        </p:nvGraphicFramePr>
        <p:xfrm>
          <a:off x="3170882" y="3174540"/>
          <a:ext cx="21574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87320" imgH="291960" progId="Equation.DSMT4">
                  <p:embed/>
                </p:oleObj>
              </mc:Choice>
              <mc:Fallback>
                <p:oleObj name="Equation" r:id="rId7" imgW="787320" imgH="291960" progId="Equation.DSMT4">
                  <p:embed/>
                  <p:pic>
                    <p:nvPicPr>
                      <p:cNvPr id="542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882" y="3174540"/>
                        <a:ext cx="215741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141544"/>
              </p:ext>
            </p:extLst>
          </p:nvPr>
        </p:nvGraphicFramePr>
        <p:xfrm>
          <a:off x="5436691" y="4076701"/>
          <a:ext cx="396081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11300" imgH="292100" progId="Equation.3">
                  <p:embed/>
                </p:oleObj>
              </mc:Choice>
              <mc:Fallback>
                <p:oleObj name="公式" r:id="rId9" imgW="1511300" imgH="292100" progId="Equation.3">
                  <p:embed/>
                  <p:pic>
                    <p:nvPicPr>
                      <p:cNvPr id="542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691" y="4076701"/>
                        <a:ext cx="396081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092318"/>
              </p:ext>
            </p:extLst>
          </p:nvPr>
        </p:nvGraphicFramePr>
        <p:xfrm>
          <a:off x="5401221" y="4997450"/>
          <a:ext cx="3348037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55600" imgH="279360" progId="Equation.DSMT4">
                  <p:embed/>
                </p:oleObj>
              </mc:Choice>
              <mc:Fallback>
                <p:oleObj name="Equation" r:id="rId11" imgW="1155600" imgH="279360" progId="Equation.DSMT4">
                  <p:embed/>
                  <p:pic>
                    <p:nvPicPr>
                      <p:cNvPr id="542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1221" y="4997450"/>
                        <a:ext cx="3348037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930212"/>
              </p:ext>
            </p:extLst>
          </p:nvPr>
        </p:nvGraphicFramePr>
        <p:xfrm>
          <a:off x="5365254" y="5876925"/>
          <a:ext cx="2016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710891" imgH="215806" progId="Equation.3">
                  <p:embed/>
                </p:oleObj>
              </mc:Choice>
              <mc:Fallback>
                <p:oleObj name="公式" r:id="rId13" imgW="710891" imgH="215806" progId="Equation.3">
                  <p:embed/>
                  <p:pic>
                    <p:nvPicPr>
                      <p:cNvPr id="542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254" y="5876925"/>
                        <a:ext cx="201612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标注 1"/>
          <p:cNvSpPr/>
          <p:nvPr/>
        </p:nvSpPr>
        <p:spPr bwMode="auto">
          <a:xfrm>
            <a:off x="8184232" y="5757222"/>
            <a:ext cx="3312368" cy="1008112"/>
          </a:xfrm>
          <a:prstGeom prst="wedgeRectCallout">
            <a:avLst>
              <a:gd name="adj1" fmla="val -82471"/>
              <a:gd name="adj2" fmla="val -68689"/>
            </a:avLst>
          </a:prstGeom>
          <a:solidFill>
            <a:srgbClr val="FFCCFF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b="1" dirty="0"/>
              <a:t>在</a:t>
            </a:r>
            <a:r>
              <a:rPr lang="en-US" altLang="zh-CN" sz="2800" b="1" dirty="0"/>
              <a:t>U</a:t>
            </a:r>
            <a:r>
              <a:rPr lang="zh-CN" altLang="en-US" sz="2800" b="1" dirty="0"/>
              <a:t>的所有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集中，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只与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自己最贴近</a:t>
            </a:r>
            <a:endParaRPr lang="zh-CN" altLang="en-US" b="1" dirty="0"/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1ECB3CCD-C8C0-5E02-6EF2-268364FCAA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229392"/>
              </p:ext>
            </p:extLst>
          </p:nvPr>
        </p:nvGraphicFramePr>
        <p:xfrm>
          <a:off x="5436692" y="3187109"/>
          <a:ext cx="41417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11280" imgH="291960" progId="Equation.DSMT4">
                  <p:embed/>
                </p:oleObj>
              </mc:Choice>
              <mc:Fallback>
                <p:oleObj name="Equation" r:id="rId15" imgW="1511280" imgH="291960" progId="Equation.DSMT4">
                  <p:embed/>
                  <p:pic>
                    <p:nvPicPr>
                      <p:cNvPr id="3" name="Object 9">
                        <a:extLst>
                          <a:ext uri="{FF2B5EF4-FFF2-40B4-BE49-F238E27FC236}">
                            <a16:creationId xmlns:a16="http://schemas.microsoft.com/office/drawing/2014/main" id="{1ECB3CCD-C8C0-5E02-6EF2-268364FCAA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692" y="3187109"/>
                        <a:ext cx="414178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058A06-A7C8-312C-A36F-93F4074E1C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93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 build="p"/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集内积和外积的意义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95400" y="1412876"/>
            <a:ext cx="11089232" cy="504031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由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集的内积和外积的性质可知，单独使用内积或外积，还不能完全刻划两个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</a:t>
            </a:r>
            <a:r>
              <a:rPr lang="en-US" altLang="zh-CN" dirty="0">
                <a:ea typeface="黑体" pitchFamily="2" charset="-122"/>
              </a:rPr>
              <a:t>A,B</a:t>
            </a:r>
            <a:r>
              <a:rPr lang="zh-CN" altLang="en-US" dirty="0">
                <a:ea typeface="黑体" pitchFamily="2" charset="-122"/>
              </a:rPr>
              <a:t>之间的贴近度</a:t>
            </a:r>
          </a:p>
          <a:p>
            <a:pPr eaLnBrk="1" hangingPunct="1"/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集的内积与外积都只能部分地表现两个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集的靠近程度。</a:t>
            </a:r>
          </a:p>
          <a:p>
            <a:pPr lvl="1" eaLnBrk="1" hangingPunct="1"/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下图中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集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A,B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交点的纵坐标越大，则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A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，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B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靠得越近；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则</a:t>
            </a:r>
          </a:p>
          <a:p>
            <a:pPr lvl="1" eaLnBrk="1" hangingPunct="1">
              <a:buFont typeface="Wingdings" pitchFamily="2" charset="2"/>
              <a:buNone/>
            </a:pPr>
            <a:endParaRPr lang="zh-CN" altLang="en-US" sz="2400" dirty="0">
              <a:solidFill>
                <a:srgbClr val="3333FF"/>
              </a:solidFill>
              <a:ea typeface="黑体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sz="2000" dirty="0">
              <a:solidFill>
                <a:srgbClr val="FF0000"/>
              </a:solidFill>
              <a:ea typeface="黑体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sz="1100" dirty="0">
              <a:solidFill>
                <a:srgbClr val="FF0000"/>
              </a:solidFill>
              <a:ea typeface="黑体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正是表现了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F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集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与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交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点的纵坐标（隶属度</a:t>
            </a: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）</a:t>
            </a:r>
            <a:endParaRPr lang="zh-CN" altLang="en-US" sz="3200" dirty="0">
              <a:ea typeface="黑体" pitchFamily="2" charset="-122"/>
            </a:endParaRPr>
          </a:p>
        </p:txBody>
      </p:sp>
      <p:graphicFrame>
        <p:nvGraphicFramePr>
          <p:cNvPr id="59398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83614261"/>
              </p:ext>
            </p:extLst>
          </p:nvPr>
        </p:nvGraphicFramePr>
        <p:xfrm>
          <a:off x="1541203" y="4143716"/>
          <a:ext cx="4738425" cy="874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11300" imgH="279400" progId="Equation.3">
                  <p:embed/>
                </p:oleObj>
              </mc:Choice>
              <mc:Fallback>
                <p:oleObj name="公式" r:id="rId3" imgW="1511300" imgH="279400" progId="Equation.3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203" y="4143716"/>
                        <a:ext cx="4738425" cy="8741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 descr="图表, 直方图&#10;&#10;描述已自动生成">
            <a:extLst>
              <a:ext uri="{FF2B5EF4-FFF2-40B4-BE49-F238E27FC236}">
                <a16:creationId xmlns:a16="http://schemas.microsoft.com/office/drawing/2014/main" id="{54DA0F9C-BA63-4353-7AC0-8DA407F44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3712682"/>
            <a:ext cx="4687808" cy="31453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0CB28BE-7D12-1AFE-35F8-AC43C506C42A}"/>
              </a:ext>
            </a:extLst>
          </p:cNvPr>
          <p:cNvSpPr txBox="1"/>
          <p:nvPr/>
        </p:nvSpPr>
        <p:spPr>
          <a:xfrm>
            <a:off x="8092706" y="4056597"/>
            <a:ext cx="710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74440"/>
                </a:solidFill>
              </a:rPr>
              <a:t>A(x)</a:t>
            </a:r>
            <a:endParaRPr lang="zh-CN" altLang="en-US" sz="2000" b="1" dirty="0">
              <a:solidFill>
                <a:srgbClr val="C7444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A1B77-BCC6-9EBF-12A5-4C9D0635FE61}"/>
              </a:ext>
            </a:extLst>
          </p:cNvPr>
          <p:cNvSpPr txBox="1"/>
          <p:nvPr/>
        </p:nvSpPr>
        <p:spPr>
          <a:xfrm>
            <a:off x="10295581" y="3988214"/>
            <a:ext cx="710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2D70B3"/>
                </a:solidFill>
              </a:rPr>
              <a:t>B(x)</a:t>
            </a:r>
            <a:endParaRPr lang="zh-CN" altLang="en-US" sz="2000" b="1" dirty="0">
              <a:solidFill>
                <a:srgbClr val="2D70B3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6A1D6B-597E-7A8C-BCC0-A4F3C326127B}"/>
              </a:ext>
            </a:extLst>
          </p:cNvPr>
          <p:cNvCxnSpPr/>
          <p:nvPr/>
        </p:nvCxnSpPr>
        <p:spPr bwMode="auto">
          <a:xfrm>
            <a:off x="9624392" y="5285341"/>
            <a:ext cx="0" cy="126532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2D05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820E156-E0B0-CB02-4003-73F552D13F09}"/>
              </a:ext>
            </a:extLst>
          </p:cNvPr>
          <p:cNvSpPr txBox="1"/>
          <p:nvPr/>
        </p:nvSpPr>
        <p:spPr>
          <a:xfrm>
            <a:off x="8842510" y="5085286"/>
            <a:ext cx="710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368B44"/>
                </a:solidFill>
              </a:rPr>
              <a:t>A</a:t>
            </a:r>
            <a:r>
              <a:rPr lang="en-US" altLang="zh-CN" sz="2000" b="1" dirty="0">
                <a:solidFill>
                  <a:srgbClr val="368B44"/>
                </a:solidFill>
                <a:sym typeface="Symbol" panose="05050102010706020507" pitchFamily="18" charset="2"/>
              </a:rPr>
              <a:t></a:t>
            </a:r>
            <a:r>
              <a:rPr lang="en-US" altLang="zh-CN" sz="2000" b="1" dirty="0">
                <a:solidFill>
                  <a:srgbClr val="368B44"/>
                </a:solidFill>
              </a:rPr>
              <a:t>B</a:t>
            </a:r>
            <a:endParaRPr lang="zh-CN" altLang="en-US" sz="2000" b="1" dirty="0">
              <a:solidFill>
                <a:srgbClr val="368B44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C76B5BB-50CC-4B52-1AC7-B023339BF1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224589"/>
            <a:ext cx="517852" cy="457200"/>
          </a:xfrm>
        </p:spPr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794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uiExpand="1" build="p"/>
      <p:bldP spid="6" grpId="0"/>
      <p:bldP spid="7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集内积和外积的意义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8" y="1412876"/>
            <a:ext cx="10009109" cy="2303463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右图所表示的两个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</a:t>
            </a:r>
            <a:r>
              <a:rPr lang="en-US" altLang="zh-CN" sz="2800" dirty="0">
                <a:ea typeface="黑体" pitchFamily="2" charset="-122"/>
              </a:rPr>
              <a:t>A,B</a:t>
            </a:r>
            <a:r>
              <a:rPr lang="zh-CN" altLang="en-US" sz="2800" dirty="0">
                <a:ea typeface="黑体" pitchFamily="2" charset="-122"/>
              </a:rPr>
              <a:t>交点的纵坐标</a:t>
            </a:r>
            <a:r>
              <a:rPr lang="en-US" altLang="zh-CN" sz="2800" dirty="0">
                <a:ea typeface="黑体" pitchFamily="2" charset="-122"/>
              </a:rPr>
              <a:t>(</a:t>
            </a:r>
            <a:r>
              <a:rPr lang="zh-CN" altLang="en-US" sz="2800" dirty="0">
                <a:ea typeface="黑体" pitchFamily="2" charset="-122"/>
              </a:rPr>
              <a:t>隶属度</a:t>
            </a:r>
            <a:r>
              <a:rPr lang="en-US" altLang="zh-CN" sz="2800" dirty="0">
                <a:ea typeface="黑体" pitchFamily="2" charset="-122"/>
              </a:rPr>
              <a:t>)</a:t>
            </a:r>
            <a:r>
              <a:rPr lang="zh-CN" altLang="en-US" sz="2800" dirty="0">
                <a:ea typeface="黑体" pitchFamily="2" charset="-122"/>
              </a:rPr>
              <a:t>越小时，则</a:t>
            </a:r>
            <a:r>
              <a:rPr lang="en-US" altLang="zh-CN" sz="2800" dirty="0">
                <a:ea typeface="黑体" pitchFamily="2" charset="-122"/>
              </a:rPr>
              <a:t>A</a:t>
            </a:r>
            <a:r>
              <a:rPr lang="zh-CN" altLang="en-US" sz="2800" dirty="0">
                <a:ea typeface="黑体" pitchFamily="2" charset="-122"/>
              </a:rPr>
              <a:t>和</a:t>
            </a:r>
            <a:r>
              <a:rPr lang="en-US" altLang="zh-CN" sz="2800" dirty="0">
                <a:ea typeface="黑体" pitchFamily="2" charset="-122"/>
              </a:rPr>
              <a:t>B</a:t>
            </a:r>
            <a:r>
              <a:rPr lang="zh-CN" altLang="en-US" sz="2800" dirty="0">
                <a:ea typeface="黑体" pitchFamily="2" charset="-122"/>
              </a:rPr>
              <a:t>越靠近，而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16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正好表现了这一点</a:t>
            </a:r>
          </a:p>
        </p:txBody>
      </p:sp>
      <p:graphicFrame>
        <p:nvGraphicFramePr>
          <p:cNvPr id="61445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424114" y="2278064"/>
          <a:ext cx="39592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98600" imgH="368300" progId="Equation.3">
                  <p:embed/>
                </p:oleObj>
              </mc:Choice>
              <mc:Fallback>
                <p:oleObj name="公式" r:id="rId2" imgW="1498600" imgH="368300" progId="Equation.3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2278064"/>
                        <a:ext cx="3959225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991540" y="3947058"/>
            <a:ext cx="5428436" cy="28931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综上所述</a:t>
            </a:r>
            <a:r>
              <a:rPr lang="en-US" altLang="zh-CN" sz="28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内积越大，两个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集越靠近；</a:t>
            </a:r>
          </a:p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外积越小，两个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集也越靠近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所以，用二者结合的</a:t>
            </a:r>
            <a:r>
              <a:rPr lang="zh-CN" altLang="en-US" sz="2800" dirty="0">
                <a:ea typeface="黑体" pitchFamily="2" charset="-122"/>
              </a:rPr>
              <a:t>“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格贴近度</a:t>
            </a:r>
            <a:r>
              <a:rPr lang="zh-CN" altLang="en-US" sz="2800" dirty="0">
                <a:ea typeface="黑体" pitchFamily="2" charset="-122"/>
              </a:rPr>
              <a:t>”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来刻划两个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集的贴近程度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6144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180" y="3334320"/>
            <a:ext cx="5162424" cy="306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50" name="Text Box 10"/>
          <p:cNvSpPr txBox="1">
            <a:spLocks noChangeArrowheads="1"/>
          </p:cNvSpPr>
          <p:nvPr/>
        </p:nvSpPr>
        <p:spPr bwMode="auto">
          <a:xfrm>
            <a:off x="9264029" y="4604618"/>
            <a:ext cx="360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rgbClr val="008000"/>
                </a:solidFill>
              </a:rPr>
              <a:t>^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9048328" y="5056287"/>
            <a:ext cx="0" cy="1344513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 9"/>
          <p:cNvSpPr/>
          <p:nvPr/>
        </p:nvSpPr>
        <p:spPr bwMode="auto">
          <a:xfrm>
            <a:off x="9192182" y="4599781"/>
            <a:ext cx="504056" cy="3462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233020-8714-F8ED-752A-3F9C2AA055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658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1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uiExpand="1" build="p"/>
      <p:bldP spid="61450" grpId="0" uiExpand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格贴近度的引理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484314"/>
            <a:ext cx="4038600" cy="5113337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设</a:t>
            </a:r>
            <a:r>
              <a:rPr lang="en-US" altLang="zh-CN" sz="2800" i="1" dirty="0">
                <a:ea typeface="黑体" pitchFamily="2" charset="-122"/>
              </a:rPr>
              <a:t>A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en-US" altLang="zh-CN" sz="2800" i="1" dirty="0">
                <a:ea typeface="黑体" pitchFamily="2" charset="-122"/>
              </a:rPr>
              <a:t>B,C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),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令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  <a:sym typeface="Symbol" pitchFamily="18" charset="2"/>
              </a:rPr>
              <a:t>则下列结论成立：</a:t>
            </a:r>
          </a:p>
          <a:p>
            <a:pPr lvl="1" eaLnBrk="1" hangingPunct="1"/>
            <a:r>
              <a:rPr lang="en-US" altLang="zh-CN" dirty="0">
                <a:ea typeface="黑体" pitchFamily="2" charset="-122"/>
                <a:sym typeface="Symbol" pitchFamily="18" charset="2"/>
              </a:rPr>
              <a:t>(1) 0 </a:t>
            </a:r>
            <a:r>
              <a:rPr lang="en-US" altLang="zh-CN" dirty="0">
                <a:sym typeface="Symbol" pitchFamily="18" charset="2"/>
              </a:rPr>
              <a:t>≤ (</a:t>
            </a:r>
            <a:r>
              <a:rPr lang="en-US" altLang="zh-CN" i="1" dirty="0">
                <a:sym typeface="Symbol" pitchFamily="18" charset="2"/>
              </a:rPr>
              <a:t>A</a:t>
            </a:r>
            <a:r>
              <a:rPr lang="en-US" altLang="zh-CN" dirty="0">
                <a:sym typeface="Symbol" pitchFamily="18" charset="2"/>
              </a:rPr>
              <a:t>,</a:t>
            </a:r>
            <a:r>
              <a:rPr lang="en-US" altLang="zh-CN" i="1" dirty="0">
                <a:sym typeface="Symbol" pitchFamily="18" charset="2"/>
              </a:rPr>
              <a:t>B</a:t>
            </a:r>
            <a:r>
              <a:rPr lang="en-US" altLang="zh-CN" dirty="0">
                <a:sym typeface="Symbol" pitchFamily="18" charset="2"/>
              </a:rPr>
              <a:t>) ≤ 1;</a:t>
            </a:r>
          </a:p>
          <a:p>
            <a:pPr lvl="1" eaLnBrk="1" hangingPunct="1"/>
            <a:endParaRPr lang="en-US" altLang="zh-CN" sz="1400" dirty="0">
              <a:sym typeface="Symbol" pitchFamily="18" charset="2"/>
            </a:endParaRPr>
          </a:p>
          <a:p>
            <a:pPr lvl="1" eaLnBrk="1" hangingPunct="1"/>
            <a:r>
              <a:rPr lang="en-US" altLang="zh-CN" dirty="0">
                <a:sym typeface="Symbol" pitchFamily="18" charset="2"/>
              </a:rPr>
              <a:t>(2) (</a:t>
            </a:r>
            <a:r>
              <a:rPr lang="en-US" altLang="zh-CN" i="1" dirty="0">
                <a:sym typeface="Symbol" pitchFamily="18" charset="2"/>
              </a:rPr>
              <a:t>A</a:t>
            </a:r>
            <a:r>
              <a:rPr lang="en-US" altLang="zh-CN" dirty="0">
                <a:sym typeface="Symbol" pitchFamily="18" charset="2"/>
              </a:rPr>
              <a:t>,</a:t>
            </a:r>
            <a:r>
              <a:rPr lang="en-US" altLang="zh-CN" i="1" dirty="0">
                <a:sym typeface="Symbol" pitchFamily="18" charset="2"/>
              </a:rPr>
              <a:t>B</a:t>
            </a:r>
            <a:r>
              <a:rPr lang="en-US" altLang="zh-CN" dirty="0">
                <a:sym typeface="Symbol" pitchFamily="18" charset="2"/>
              </a:rPr>
              <a:t>) = (</a:t>
            </a:r>
            <a:r>
              <a:rPr lang="en-US" altLang="zh-CN" i="1" dirty="0">
                <a:sym typeface="Symbol" pitchFamily="18" charset="2"/>
              </a:rPr>
              <a:t>B</a:t>
            </a:r>
            <a:r>
              <a:rPr lang="en-US" altLang="zh-CN" dirty="0">
                <a:sym typeface="Symbol" pitchFamily="18" charset="2"/>
              </a:rPr>
              <a:t>,</a:t>
            </a:r>
            <a:r>
              <a:rPr lang="en-US" altLang="zh-CN" i="1" dirty="0">
                <a:sym typeface="Symbol" pitchFamily="18" charset="2"/>
              </a:rPr>
              <a:t>A</a:t>
            </a:r>
            <a:r>
              <a:rPr lang="en-US" altLang="zh-CN" dirty="0">
                <a:sym typeface="Symbol" pitchFamily="18" charset="2"/>
              </a:rPr>
              <a:t>);</a:t>
            </a:r>
          </a:p>
          <a:p>
            <a:pPr lvl="1" eaLnBrk="1" hangingPunct="1"/>
            <a:endParaRPr lang="en-US" altLang="zh-CN" sz="1400" dirty="0">
              <a:sym typeface="Symbol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itchFamily="18" charset="2"/>
              </a:rPr>
              <a:t>(3)</a:t>
            </a:r>
          </a:p>
          <a:p>
            <a:pPr lvl="1" eaLnBrk="1" hangingPunct="1"/>
            <a:endParaRPr lang="en-US" altLang="zh-CN" sz="2400" dirty="0">
              <a:sym typeface="Symbol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itchFamily="18" charset="2"/>
              </a:rPr>
              <a:t>(4) </a:t>
            </a:r>
          </a:p>
          <a:p>
            <a:pPr eaLnBrk="1" hangingPunct="1"/>
            <a:endParaRPr lang="en-US" altLang="zh-CN" sz="2800" dirty="0">
              <a:sym typeface="Symbol" pitchFamily="18" charset="2"/>
            </a:endParaRPr>
          </a:p>
        </p:txBody>
      </p:sp>
      <p:graphicFrame>
        <p:nvGraphicFramePr>
          <p:cNvPr id="6451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385985384"/>
              </p:ext>
            </p:extLst>
          </p:nvPr>
        </p:nvGraphicFramePr>
        <p:xfrm>
          <a:off x="4870723" y="1268414"/>
          <a:ext cx="396081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74800" imgH="304800" progId="Equation.3">
                  <p:embed/>
                </p:oleObj>
              </mc:Choice>
              <mc:Fallback>
                <p:oleObj name="公式" r:id="rId3" imgW="1574800" imgH="304800" progId="Equation.3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723" y="1268414"/>
                        <a:ext cx="3960812" cy="7651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832682262"/>
              </p:ext>
            </p:extLst>
          </p:nvPr>
        </p:nvGraphicFramePr>
        <p:xfrm>
          <a:off x="2566865" y="4005263"/>
          <a:ext cx="36544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71600" imgH="215900" progId="Equation.3">
                  <p:embed/>
                </p:oleObj>
              </mc:Choice>
              <mc:Fallback>
                <p:oleObj name="公式" r:id="rId5" imgW="1371600" imgH="215900" progId="Equation.3">
                  <p:embed/>
                  <p:pic>
                    <p:nvPicPr>
                      <p:cNvPr id="645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865" y="4005263"/>
                        <a:ext cx="365442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547354"/>
              </p:ext>
            </p:extLst>
          </p:nvPr>
        </p:nvGraphicFramePr>
        <p:xfrm>
          <a:off x="2520826" y="4868863"/>
          <a:ext cx="63833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298700" imgH="203200" progId="Equation.3">
                  <p:embed/>
                </p:oleObj>
              </mc:Choice>
              <mc:Fallback>
                <p:oleObj name="公式" r:id="rId7" imgW="2298700" imgH="203200" progId="Equation.3">
                  <p:embed/>
                  <p:pic>
                    <p:nvPicPr>
                      <p:cNvPr id="645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826" y="4868863"/>
                        <a:ext cx="6383338" cy="5651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50866"/>
              </p:ext>
            </p:extLst>
          </p:nvPr>
        </p:nvGraphicFramePr>
        <p:xfrm>
          <a:off x="1760414" y="5759028"/>
          <a:ext cx="63865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03160" imgH="253800" progId="Equation.DSMT4">
                  <p:embed/>
                </p:oleObj>
              </mc:Choice>
              <mc:Fallback>
                <p:oleObj name="Equation" r:id="rId9" imgW="2603160" imgH="253800" progId="Equation.DSMT4">
                  <p:embed/>
                  <p:pic>
                    <p:nvPicPr>
                      <p:cNvPr id="645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414" y="5759028"/>
                        <a:ext cx="638651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57ACDA-1572-BA14-598A-30F3563A1F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083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4"/>
          <p:cNvGraphicFramePr>
            <a:graphicFrameLocks noGrp="1" noChangeAspect="1"/>
          </p:cNvGraphicFramePr>
          <p:nvPr>
            <p:ph type="title"/>
            <p:extLst>
              <p:ext uri="{D42A27DB-BD31-4B8C-83A1-F6EECF244321}">
                <p14:modId xmlns:p14="http://schemas.microsoft.com/office/powerpoint/2010/main" val="2472048184"/>
              </p:ext>
            </p:extLst>
          </p:nvPr>
        </p:nvGraphicFramePr>
        <p:xfrm>
          <a:off x="3432175" y="620714"/>
          <a:ext cx="698023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98700" imgH="203200" progId="Equation.3">
                  <p:embed/>
                </p:oleObj>
              </mc:Choice>
              <mc:Fallback>
                <p:oleObj name="公式" r:id="rId2" imgW="2298700" imgH="203200" progId="Equation.3">
                  <p:embed/>
                  <p:pic>
                    <p:nvPicPr>
                      <p:cNvPr id="430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620714"/>
                        <a:ext cx="6980238" cy="61753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54944" y="1542388"/>
            <a:ext cx="9505056" cy="4167187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证：</a:t>
            </a:r>
            <a:r>
              <a:rPr lang="zh-CN" altLang="en-US" b="1" dirty="0"/>
              <a:t>由</a:t>
            </a:r>
            <a:r>
              <a:rPr lang="en-US" altLang="zh-CN" b="1" dirty="0"/>
              <a:t>F</a:t>
            </a:r>
            <a:r>
              <a:rPr lang="zh-CN" altLang="en-US" b="1" dirty="0"/>
              <a:t>集内积和外积的性质和格贴近度定义，得：</a:t>
            </a:r>
          </a:p>
          <a:p>
            <a:pPr eaLnBrk="1" hangingPunct="1"/>
            <a:endParaRPr lang="zh-CN" altLang="en-US" b="1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   </a:t>
            </a:r>
            <a:r>
              <a:rPr lang="zh-CN" altLang="en-US" b="1" dirty="0"/>
              <a:t>而</a:t>
            </a:r>
            <a:endParaRPr lang="zh-CN" altLang="en-US" sz="2800" b="1" dirty="0"/>
          </a:p>
          <a:p>
            <a:pPr eaLnBrk="1" hangingPunct="1"/>
            <a:endParaRPr lang="en-US" altLang="zh-CN" sz="2800" dirty="0"/>
          </a:p>
        </p:txBody>
      </p:sp>
      <p:graphicFrame>
        <p:nvGraphicFramePr>
          <p:cNvPr id="167943" name="Object 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536945901"/>
              </p:ext>
            </p:extLst>
          </p:nvPr>
        </p:nvGraphicFramePr>
        <p:xfrm>
          <a:off x="2424312" y="3997326"/>
          <a:ext cx="38893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54200" imgH="241300" progId="Equation.3">
                  <p:embed/>
                </p:oleObj>
              </mc:Choice>
              <mc:Fallback>
                <p:oleObj name="公式" r:id="rId4" imgW="1854200" imgH="241300" progId="Equation.3">
                  <p:embed/>
                  <p:pic>
                    <p:nvPicPr>
                      <p:cNvPr id="1679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312" y="3997326"/>
                        <a:ext cx="38893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Rectangle 6"/>
          <p:cNvSpPr>
            <a:spLocks noChangeArrowheads="1"/>
          </p:cNvSpPr>
          <p:nvPr/>
        </p:nvSpPr>
        <p:spPr bwMode="auto">
          <a:xfrm>
            <a:off x="1981200" y="457200"/>
            <a:ext cx="822960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1" hangingPunct="1"/>
            <a:r>
              <a:rPr lang="zh-CN" altLang="en-US" sz="4400">
                <a:solidFill>
                  <a:srgbClr val="008000"/>
                </a:solidFill>
                <a:ea typeface="黑体" pitchFamily="2" charset="-122"/>
              </a:rPr>
              <a:t>证明：</a:t>
            </a:r>
          </a:p>
        </p:txBody>
      </p:sp>
      <p:graphicFrame>
        <p:nvGraphicFramePr>
          <p:cNvPr id="1679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4625863"/>
              </p:ext>
            </p:extLst>
          </p:nvPr>
        </p:nvGraphicFramePr>
        <p:xfrm>
          <a:off x="2567187" y="2997200"/>
          <a:ext cx="4500563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04174" imgH="304668" progId="Equation.3">
                  <p:embed/>
                </p:oleObj>
              </mc:Choice>
              <mc:Fallback>
                <p:oleObj name="公式" r:id="rId6" imgW="1904174" imgH="304668" progId="Equation.3">
                  <p:embed/>
                  <p:pic>
                    <p:nvPicPr>
                      <p:cNvPr id="1679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187" y="2997200"/>
                        <a:ext cx="4500563" cy="71913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307276"/>
              </p:ext>
            </p:extLst>
          </p:nvPr>
        </p:nvGraphicFramePr>
        <p:xfrm>
          <a:off x="2424312" y="4733925"/>
          <a:ext cx="39592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54200" imgH="241300" progId="Equation.3">
                  <p:embed/>
                </p:oleObj>
              </mc:Choice>
              <mc:Fallback>
                <p:oleObj name="公式" r:id="rId8" imgW="1854200" imgH="241300" progId="Equation.3">
                  <p:embed/>
                  <p:pic>
                    <p:nvPicPr>
                      <p:cNvPr id="1679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312" y="4733925"/>
                        <a:ext cx="39592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111448"/>
              </p:ext>
            </p:extLst>
          </p:nvPr>
        </p:nvGraphicFramePr>
        <p:xfrm>
          <a:off x="2351286" y="5421313"/>
          <a:ext cx="40322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66900" imgH="241300" progId="Equation.3">
                  <p:embed/>
                </p:oleObj>
              </mc:Choice>
              <mc:Fallback>
                <p:oleObj name="公式" r:id="rId10" imgW="1866900" imgH="241300" progId="Equation.3">
                  <p:embed/>
                  <p:pic>
                    <p:nvPicPr>
                      <p:cNvPr id="1679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286" y="5421313"/>
                        <a:ext cx="403225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707399"/>
              </p:ext>
            </p:extLst>
          </p:nvPr>
        </p:nvGraphicFramePr>
        <p:xfrm>
          <a:off x="2640212" y="2133601"/>
          <a:ext cx="396081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74800" imgH="304800" progId="Equation.3">
                  <p:embed/>
                </p:oleObj>
              </mc:Choice>
              <mc:Fallback>
                <p:oleObj name="公式" r:id="rId12" imgW="1574800" imgH="304800" progId="Equation.3">
                  <p:embed/>
                  <p:pic>
                    <p:nvPicPr>
                      <p:cNvPr id="16795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212" y="2133601"/>
                        <a:ext cx="3960813" cy="7651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870292"/>
              </p:ext>
            </p:extLst>
          </p:nvPr>
        </p:nvGraphicFramePr>
        <p:xfrm>
          <a:off x="6527551" y="4017964"/>
          <a:ext cx="37449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65300" imgH="228600" progId="Equation.3">
                  <p:embed/>
                </p:oleObj>
              </mc:Choice>
              <mc:Fallback>
                <p:oleObj name="公式" r:id="rId14" imgW="1765300" imgH="228600" progId="Equation.3">
                  <p:embed/>
                  <p:pic>
                    <p:nvPicPr>
                      <p:cNvPr id="16795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551" y="4017964"/>
                        <a:ext cx="37449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729068"/>
              </p:ext>
            </p:extLst>
          </p:nvPr>
        </p:nvGraphicFramePr>
        <p:xfrm>
          <a:off x="6388644" y="5391150"/>
          <a:ext cx="20113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39800" imgH="228600" progId="Equation.3">
                  <p:embed/>
                </p:oleObj>
              </mc:Choice>
              <mc:Fallback>
                <p:oleObj name="公式" r:id="rId16" imgW="939800" imgH="228600" progId="Equation.3">
                  <p:embed/>
                  <p:pic>
                    <p:nvPicPr>
                      <p:cNvPr id="16795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644" y="5391150"/>
                        <a:ext cx="20113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57" name="Text Box 21"/>
          <p:cNvSpPr txBox="1">
            <a:spLocks noChangeArrowheads="1"/>
          </p:cNvSpPr>
          <p:nvPr/>
        </p:nvSpPr>
        <p:spPr bwMode="auto">
          <a:xfrm>
            <a:off x="7319714" y="4581526"/>
            <a:ext cx="28910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</a:rPr>
              <a:t>,</a:t>
            </a:r>
            <a:r>
              <a:rPr lang="en-US" altLang="zh-CN" sz="2800" b="1" i="1" dirty="0">
                <a:solidFill>
                  <a:srgbClr val="0000FF"/>
                </a:solidFill>
              </a:rPr>
              <a:t>C</a:t>
            </a:r>
            <a:r>
              <a:rPr lang="en-US" altLang="zh-CN" sz="2800" b="1" dirty="0">
                <a:solidFill>
                  <a:srgbClr val="0000FF"/>
                </a:solidFill>
              </a:rPr>
              <a:t>)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  </a:t>
            </a:r>
            <a:r>
              <a:rPr lang="en-US" altLang="zh-CN" sz="2800" b="1" dirty="0">
                <a:solidFill>
                  <a:srgbClr val="0000FF"/>
                </a:solidFill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</a:rPr>
              <a:t>,</a:t>
            </a:r>
            <a:r>
              <a:rPr lang="en-US" altLang="zh-CN" sz="2800" b="1" i="1" dirty="0">
                <a:solidFill>
                  <a:srgbClr val="0000FF"/>
                </a:solidFill>
              </a:rPr>
              <a:t>B</a:t>
            </a:r>
            <a:r>
              <a:rPr lang="en-US" altLang="zh-CN" sz="2800" b="1" dirty="0">
                <a:solidFill>
                  <a:srgbClr val="0000FF"/>
                </a:solidFill>
              </a:rPr>
              <a:t>) </a:t>
            </a:r>
          </a:p>
        </p:txBody>
      </p:sp>
      <p:sp>
        <p:nvSpPr>
          <p:cNvPr id="167958" name="Text Box 22"/>
          <p:cNvSpPr txBox="1">
            <a:spLocks noChangeArrowheads="1"/>
          </p:cNvSpPr>
          <p:nvPr/>
        </p:nvSpPr>
        <p:spPr bwMode="auto">
          <a:xfrm>
            <a:off x="7384740" y="5986790"/>
            <a:ext cx="25274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CC00CC"/>
                </a:solidFill>
              </a:rPr>
              <a:t>(</a:t>
            </a:r>
            <a:r>
              <a:rPr lang="en-US" altLang="zh-CN" sz="2800" i="1" dirty="0">
                <a:solidFill>
                  <a:srgbClr val="CC00CC"/>
                </a:solidFill>
              </a:rPr>
              <a:t>A</a:t>
            </a:r>
            <a:r>
              <a:rPr lang="en-US" altLang="zh-CN" sz="2800" dirty="0">
                <a:solidFill>
                  <a:srgbClr val="CC00CC"/>
                </a:solidFill>
              </a:rPr>
              <a:t>,</a:t>
            </a:r>
            <a:r>
              <a:rPr lang="en-US" altLang="zh-CN" sz="2800" i="1" dirty="0">
                <a:solidFill>
                  <a:srgbClr val="CC00CC"/>
                </a:solidFill>
              </a:rPr>
              <a:t>C</a:t>
            </a:r>
            <a:r>
              <a:rPr lang="en-US" altLang="zh-CN" sz="2800" dirty="0">
                <a:solidFill>
                  <a:srgbClr val="CC00CC"/>
                </a:solidFill>
              </a:rPr>
              <a:t>)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CC00CC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CC00CC"/>
                </a:solidFill>
              </a:rPr>
              <a:t>(</a:t>
            </a:r>
            <a:r>
              <a:rPr lang="en-US" altLang="zh-CN" sz="2800" i="1" dirty="0">
                <a:solidFill>
                  <a:srgbClr val="CC00CC"/>
                </a:solidFill>
              </a:rPr>
              <a:t>B</a:t>
            </a:r>
            <a:r>
              <a:rPr lang="en-US" altLang="zh-CN" sz="2800" dirty="0">
                <a:solidFill>
                  <a:srgbClr val="CC00CC"/>
                </a:solidFill>
              </a:rPr>
              <a:t>,</a:t>
            </a:r>
            <a:r>
              <a:rPr lang="en-US" altLang="zh-CN" sz="2800" i="1" dirty="0">
                <a:solidFill>
                  <a:srgbClr val="CC00CC"/>
                </a:solidFill>
              </a:rPr>
              <a:t>C</a:t>
            </a:r>
            <a:r>
              <a:rPr lang="en-US" altLang="zh-CN" sz="2800" dirty="0">
                <a:solidFill>
                  <a:srgbClr val="CC00CC"/>
                </a:solidFill>
              </a:rPr>
              <a:t>) </a:t>
            </a:r>
          </a:p>
        </p:txBody>
      </p:sp>
      <p:graphicFrame>
        <p:nvGraphicFramePr>
          <p:cNvPr id="167959" name="Object 2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52421439"/>
              </p:ext>
            </p:extLst>
          </p:nvPr>
        </p:nvGraphicFramePr>
        <p:xfrm>
          <a:off x="2279849" y="6165850"/>
          <a:ext cx="396716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562100" imgH="203200" progId="Equation.3">
                  <p:embed/>
                </p:oleObj>
              </mc:Choice>
              <mc:Fallback>
                <p:oleObj name="公式" r:id="rId18" imgW="1562100" imgH="203200" progId="Equation.3">
                  <p:embed/>
                  <p:pic>
                    <p:nvPicPr>
                      <p:cNvPr id="16795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849" y="6165850"/>
                        <a:ext cx="3967162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61" name="Line 25"/>
          <p:cNvSpPr>
            <a:spLocks noChangeShapeType="1"/>
          </p:cNvSpPr>
          <p:nvPr/>
        </p:nvSpPr>
        <p:spPr bwMode="auto">
          <a:xfrm>
            <a:off x="5807275" y="4292600"/>
            <a:ext cx="72027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7962" name="Line 26"/>
          <p:cNvSpPr>
            <a:spLocks noChangeShapeType="1"/>
          </p:cNvSpPr>
          <p:nvPr/>
        </p:nvSpPr>
        <p:spPr bwMode="auto">
          <a:xfrm flipV="1">
            <a:off x="5807275" y="4292600"/>
            <a:ext cx="720276" cy="15128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7963" name="Line 27"/>
          <p:cNvSpPr>
            <a:spLocks noChangeShapeType="1"/>
          </p:cNvSpPr>
          <p:nvPr/>
        </p:nvSpPr>
        <p:spPr bwMode="auto">
          <a:xfrm>
            <a:off x="5807275" y="5084764"/>
            <a:ext cx="576261" cy="60483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7964" name="Line 28"/>
          <p:cNvSpPr>
            <a:spLocks noChangeShapeType="1"/>
          </p:cNvSpPr>
          <p:nvPr/>
        </p:nvSpPr>
        <p:spPr bwMode="auto">
          <a:xfrm flipV="1">
            <a:off x="5807275" y="5704550"/>
            <a:ext cx="576261" cy="1009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67BB13-C797-B681-3C2C-CFD34E41EE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270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/>
      <p:bldP spid="167957" grpId="0"/>
      <p:bldP spid="167958" grpId="0"/>
      <p:bldP spid="167961" grpId="0" animBg="1"/>
      <p:bldP spid="167962" grpId="0" animBg="1"/>
      <p:bldP spid="167963" grpId="0" animBg="1"/>
      <p:bldP spid="16796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2.3.2  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格贴近度的定义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484313"/>
            <a:ext cx="9793088" cy="5040312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设</a:t>
            </a:r>
            <a:r>
              <a:rPr lang="en-US" altLang="zh-CN" sz="2800" i="1" dirty="0">
                <a:ea typeface="黑体" pitchFamily="2" charset="-122"/>
              </a:rPr>
              <a:t>A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en-US" altLang="zh-CN" sz="2800" i="1" dirty="0">
                <a:ea typeface="黑体" pitchFamily="2" charset="-122"/>
              </a:rPr>
              <a:t>B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sz="2800" i="1" dirty="0"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),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  <a:sym typeface="Symbol" pitchFamily="18" charset="2"/>
              </a:rPr>
              <a:t>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  <a:sym typeface="Symbol" pitchFamily="18" charset="2"/>
              </a:rPr>
              <a:t>是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集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A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B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贴近度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，叫做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A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B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格贴近度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。记为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5400" dirty="0">
              <a:ea typeface="黑体" pitchFamily="2" charset="-122"/>
              <a:sym typeface="Symbol" pitchFamily="18" charset="2"/>
            </a:endParaRPr>
          </a:p>
          <a:p>
            <a:pPr marL="0" indent="0" eaLnBrk="1" hangingPunct="1">
              <a:buNone/>
            </a:pPr>
            <a:r>
              <a:rPr lang="zh-CN" altLang="en-US" sz="2800" dirty="0">
                <a:ea typeface="黑体" pitchFamily="2" charset="-122"/>
                <a:sym typeface="Symbol" pitchFamily="18" charset="2"/>
              </a:rPr>
              <a:t>   式中，当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U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为有限论域时，</a:t>
            </a:r>
          </a:p>
          <a:p>
            <a:pPr eaLnBrk="1" hangingPunct="1"/>
            <a:endParaRPr lang="zh-CN" altLang="en-US" sz="2800" dirty="0">
              <a:ea typeface="黑体" pitchFamily="2" charset="-122"/>
              <a:sym typeface="Symbol" pitchFamily="18" charset="2"/>
            </a:endParaRPr>
          </a:p>
          <a:p>
            <a:pPr eaLnBrk="1" hangingPunct="1"/>
            <a:endParaRPr lang="zh-CN" altLang="en-US" sz="2800" dirty="0">
              <a:ea typeface="黑体" pitchFamily="2" charset="-122"/>
              <a:sym typeface="Symbol" pitchFamily="18" charset="2"/>
            </a:endParaRPr>
          </a:p>
          <a:p>
            <a:pPr eaLnBrk="1" hangingPunct="1"/>
            <a:r>
              <a:rPr lang="zh-CN" altLang="en-US" sz="2800" dirty="0">
                <a:ea typeface="黑体" pitchFamily="2" charset="-122"/>
                <a:sym typeface="Symbol" pitchFamily="18" charset="2"/>
              </a:rPr>
              <a:t>当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U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为无限论域时</a:t>
            </a:r>
          </a:p>
          <a:p>
            <a:pPr eaLnBrk="1" hangingPunct="1"/>
            <a:endParaRPr lang="en-US" altLang="zh-CN" sz="2800" dirty="0"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6349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992294206"/>
              </p:ext>
            </p:extLst>
          </p:nvPr>
        </p:nvGraphicFramePr>
        <p:xfrm>
          <a:off x="3647728" y="1689622"/>
          <a:ext cx="48260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74800" imgH="304800" progId="Equation.3">
                  <p:embed/>
                </p:oleObj>
              </mc:Choice>
              <mc:Fallback>
                <p:oleObj name="公式" r:id="rId2" imgW="1574800" imgH="304800" progId="Equation.3">
                  <p:embed/>
                  <p:pic>
                    <p:nvPicPr>
                      <p:cNvPr id="634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1689622"/>
                        <a:ext cx="4826000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92539" y="2976564"/>
          <a:ext cx="54006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39900" imgH="304800" progId="Equation.3">
                  <p:embed/>
                </p:oleObj>
              </mc:Choice>
              <mc:Fallback>
                <p:oleObj name="公式" r:id="rId4" imgW="1739900" imgH="304800" progId="Equation.3">
                  <p:embed/>
                  <p:pic>
                    <p:nvPicPr>
                      <p:cNvPr id="634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9" y="2976564"/>
                        <a:ext cx="5400675" cy="94932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8"/>
          <p:cNvGraphicFramePr>
            <a:graphicFrameLocks noChangeAspect="1"/>
          </p:cNvGraphicFramePr>
          <p:nvPr/>
        </p:nvGraphicFramePr>
        <p:xfrm>
          <a:off x="4583113" y="4365625"/>
          <a:ext cx="467995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7800" imgH="368300" progId="Equation.3">
                  <p:embed/>
                </p:oleObj>
              </mc:Choice>
              <mc:Fallback>
                <p:oleObj name="公式" r:id="rId6" imgW="1447800" imgH="368300" progId="Equation.3">
                  <p:embed/>
                  <p:pic>
                    <p:nvPicPr>
                      <p:cNvPr id="634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4365625"/>
                        <a:ext cx="4679950" cy="1187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10"/>
          <p:cNvGraphicFramePr>
            <a:graphicFrameLocks noChangeAspect="1"/>
          </p:cNvGraphicFramePr>
          <p:nvPr/>
        </p:nvGraphicFramePr>
        <p:xfrm>
          <a:off x="4583114" y="5981700"/>
          <a:ext cx="47529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11300" imgH="279400" progId="Equation.3">
                  <p:embed/>
                </p:oleObj>
              </mc:Choice>
              <mc:Fallback>
                <p:oleObj name="公式" r:id="rId8" imgW="1511300" imgH="279400" progId="Equation.3">
                  <p:embed/>
                  <p:pic>
                    <p:nvPicPr>
                      <p:cNvPr id="634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5981700"/>
                        <a:ext cx="4752975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322B58-20D2-9C58-7EDD-E48D783E7F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35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格贴近度计算举例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268414"/>
            <a:ext cx="10225135" cy="55895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kumimoji="1" lang="zh-CN" altLang="en-US" dirty="0">
                <a:solidFill>
                  <a:schemeClr val="bg2"/>
                </a:solidFill>
                <a:ea typeface="黑体" pitchFamily="2" charset="-122"/>
              </a:rPr>
              <a:t>例：设</a:t>
            </a:r>
            <a:r>
              <a:rPr kumimoji="1" lang="en-US" altLang="zh-CN" i="1" dirty="0">
                <a:solidFill>
                  <a:schemeClr val="bg2"/>
                </a:solidFill>
              </a:rPr>
              <a:t>U</a:t>
            </a:r>
            <a:r>
              <a:rPr kumimoji="1" lang="en-US" altLang="zh-CN" dirty="0">
                <a:solidFill>
                  <a:schemeClr val="bg2"/>
                </a:solidFill>
              </a:rPr>
              <a:t>={</a:t>
            </a:r>
            <a:r>
              <a:rPr kumimoji="1" lang="en-US" altLang="zh-CN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1</a:t>
            </a:r>
            <a:r>
              <a:rPr kumimoji="1" lang="en-US" altLang="zh-CN" dirty="0">
                <a:solidFill>
                  <a:schemeClr val="bg2"/>
                </a:solidFill>
              </a:rPr>
              <a:t>, </a:t>
            </a:r>
            <a:r>
              <a:rPr kumimoji="1" lang="en-US" altLang="zh-CN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2</a:t>
            </a:r>
            <a:r>
              <a:rPr kumimoji="1" lang="en-US" altLang="zh-CN" dirty="0">
                <a:solidFill>
                  <a:schemeClr val="bg2"/>
                </a:solidFill>
              </a:rPr>
              <a:t>, </a:t>
            </a:r>
            <a:r>
              <a:rPr kumimoji="1" lang="en-US" altLang="zh-CN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3</a:t>
            </a:r>
            <a:r>
              <a:rPr kumimoji="1" lang="en-US" altLang="zh-CN" dirty="0">
                <a:solidFill>
                  <a:schemeClr val="bg2"/>
                </a:solidFill>
              </a:rPr>
              <a:t>, </a:t>
            </a:r>
            <a:r>
              <a:rPr kumimoji="1" lang="en-US" altLang="zh-CN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4</a:t>
            </a:r>
            <a:r>
              <a:rPr kumimoji="1" lang="en-US" altLang="zh-CN" dirty="0">
                <a:solidFill>
                  <a:schemeClr val="bg2"/>
                </a:solidFill>
              </a:rPr>
              <a:t> , </a:t>
            </a:r>
            <a:r>
              <a:rPr kumimoji="1" lang="en-US" altLang="zh-CN" i="1" dirty="0">
                <a:solidFill>
                  <a:schemeClr val="bg2"/>
                </a:solidFill>
              </a:rPr>
              <a:t>u</a:t>
            </a:r>
            <a:r>
              <a:rPr kumimoji="1" lang="en-US" altLang="zh-CN" baseline="-25000" dirty="0">
                <a:solidFill>
                  <a:schemeClr val="bg2"/>
                </a:solidFill>
              </a:rPr>
              <a:t>5 </a:t>
            </a:r>
            <a:r>
              <a:rPr kumimoji="1" lang="en-US" altLang="zh-CN" dirty="0">
                <a:solidFill>
                  <a:schemeClr val="bg2"/>
                </a:solidFill>
              </a:rPr>
              <a:t>}</a:t>
            </a:r>
            <a:r>
              <a:rPr kumimoji="1" lang="zh-CN" altLang="en-US" dirty="0">
                <a:solidFill>
                  <a:schemeClr val="bg2"/>
                </a:solidFill>
              </a:rPr>
              <a:t>，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),     A=(0.3,0.1,0.7,0.5,1   ),  B=(0.3,  0,0.8, 0.4,0.9),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求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(A,B)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                                       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1800" dirty="0">
              <a:solidFill>
                <a:schemeClr val="bg2"/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                                              </a:t>
            </a:r>
            <a:endParaRPr lang="en-US" altLang="zh-CN" sz="4000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4000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                                           </a:t>
            </a:r>
            <a:endParaRPr lang="en-US" altLang="zh-CN" sz="2800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1400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                                          </a:t>
            </a:r>
            <a:endParaRPr lang="en-US" altLang="zh-CN" sz="2800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1400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                                            </a:t>
            </a:r>
          </a:p>
        </p:txBody>
      </p:sp>
      <p:graphicFrame>
        <p:nvGraphicFramePr>
          <p:cNvPr id="6963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773542261"/>
              </p:ext>
            </p:extLst>
          </p:nvPr>
        </p:nvGraphicFramePr>
        <p:xfrm>
          <a:off x="2279651" y="3378126"/>
          <a:ext cx="331152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47800" imgH="368300" progId="Equation.3">
                  <p:embed/>
                </p:oleObj>
              </mc:Choice>
              <mc:Fallback>
                <p:oleObj name="公式" r:id="rId2" imgW="1447800" imgH="368300" progId="Equation.3">
                  <p:embed/>
                  <p:pic>
                    <p:nvPicPr>
                      <p:cNvPr id="696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3378126"/>
                        <a:ext cx="3311525" cy="842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2494"/>
              </p:ext>
            </p:extLst>
          </p:nvPr>
        </p:nvGraphicFramePr>
        <p:xfrm>
          <a:off x="2279651" y="2661444"/>
          <a:ext cx="39592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39900" imgH="304800" progId="Equation.3">
                  <p:embed/>
                </p:oleObj>
              </mc:Choice>
              <mc:Fallback>
                <p:oleObj name="公式" r:id="rId4" imgW="1739900" imgH="304800" progId="Equation.3">
                  <p:embed/>
                  <p:pic>
                    <p:nvPicPr>
                      <p:cNvPr id="69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2661444"/>
                        <a:ext cx="395922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856051"/>
              </p:ext>
            </p:extLst>
          </p:nvPr>
        </p:nvGraphicFramePr>
        <p:xfrm>
          <a:off x="2279650" y="4926236"/>
          <a:ext cx="266700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55199" imgH="304668" progId="Equation.3">
                  <p:embed/>
                </p:oleObj>
              </mc:Choice>
              <mc:Fallback>
                <p:oleObj name="公式" r:id="rId6" imgW="1155199" imgH="304668" progId="Equation.3">
                  <p:embed/>
                  <p:pic>
                    <p:nvPicPr>
                      <p:cNvPr id="696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4926236"/>
                        <a:ext cx="2667000" cy="703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746192"/>
              </p:ext>
            </p:extLst>
          </p:nvPr>
        </p:nvGraphicFramePr>
        <p:xfrm>
          <a:off x="2279577" y="5686004"/>
          <a:ext cx="39592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39900" imgH="304800" progId="Equation.3">
                  <p:embed/>
                </p:oleObj>
              </mc:Choice>
              <mc:Fallback>
                <p:oleObj name="公式" r:id="rId8" imgW="1739900" imgH="304800" progId="Equation.3">
                  <p:embed/>
                  <p:pic>
                    <p:nvPicPr>
                      <p:cNvPr id="696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7" y="5686004"/>
                        <a:ext cx="395922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173612"/>
              </p:ext>
            </p:extLst>
          </p:nvPr>
        </p:nvGraphicFramePr>
        <p:xfrm>
          <a:off x="2208213" y="4170214"/>
          <a:ext cx="32829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35100" imgH="368300" progId="Equation.3">
                  <p:embed/>
                </p:oleObj>
              </mc:Choice>
              <mc:Fallback>
                <p:oleObj name="公式" r:id="rId10" imgW="1435100" imgH="368300" progId="Equation.3">
                  <p:embed/>
                  <p:pic>
                    <p:nvPicPr>
                      <p:cNvPr id="696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170214"/>
                        <a:ext cx="32829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4" name="Rectangle 12"/>
          <p:cNvSpPr>
            <a:spLocks noChangeArrowheads="1"/>
          </p:cNvSpPr>
          <p:nvPr/>
        </p:nvSpPr>
        <p:spPr bwMode="auto">
          <a:xfrm>
            <a:off x="5664200" y="3594026"/>
            <a:ext cx="42624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800">
                <a:solidFill>
                  <a:schemeClr val="bg2"/>
                </a:solidFill>
                <a:sym typeface="Symbol" pitchFamily="18" charset="2"/>
              </a:rPr>
              <a:t>=</a:t>
            </a:r>
            <a:r>
              <a:rPr lang="en-US" altLang="zh-CN" sz="2800">
                <a:sym typeface="Symbol" pitchFamily="18" charset="2"/>
              </a:rPr>
              <a:t>∨(0.3,0,0.7,0.4,0.9)=0.9</a:t>
            </a:r>
          </a:p>
        </p:txBody>
      </p:sp>
      <p:sp>
        <p:nvSpPr>
          <p:cNvPr id="69645" name="Rectangle 13"/>
          <p:cNvSpPr>
            <a:spLocks noChangeArrowheads="1"/>
          </p:cNvSpPr>
          <p:nvPr/>
        </p:nvSpPr>
        <p:spPr bwMode="auto">
          <a:xfrm>
            <a:off x="5664201" y="4335314"/>
            <a:ext cx="4360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bg2"/>
                </a:solidFill>
                <a:sym typeface="Symbol" pitchFamily="18" charset="2"/>
              </a:rPr>
              <a:t>= </a:t>
            </a:r>
            <a:r>
              <a:rPr lang="en-US" altLang="zh-CN" sz="2800">
                <a:sym typeface="Symbol" pitchFamily="18" charset="2"/>
              </a:rPr>
              <a:t>∧(0.3,0.1,0.8,0.5,1)=0.1</a:t>
            </a:r>
          </a:p>
        </p:txBody>
      </p:sp>
      <p:sp>
        <p:nvSpPr>
          <p:cNvPr id="69646" name="Rectangle 14"/>
          <p:cNvSpPr>
            <a:spLocks noChangeArrowheads="1"/>
          </p:cNvSpPr>
          <p:nvPr/>
        </p:nvSpPr>
        <p:spPr bwMode="auto">
          <a:xfrm>
            <a:off x="5303839" y="5142136"/>
            <a:ext cx="1908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bg2"/>
                </a:solidFill>
                <a:sym typeface="Symbol" pitchFamily="18" charset="2"/>
              </a:rPr>
              <a:t>=1-0.1</a:t>
            </a:r>
            <a:r>
              <a:rPr lang="en-US" altLang="zh-CN" sz="2800">
                <a:sym typeface="Symbol" pitchFamily="18" charset="2"/>
              </a:rPr>
              <a:t>=0.9</a:t>
            </a:r>
          </a:p>
        </p:txBody>
      </p:sp>
      <p:sp>
        <p:nvSpPr>
          <p:cNvPr id="69647" name="Rectangle 15"/>
          <p:cNvSpPr>
            <a:spLocks noChangeArrowheads="1"/>
          </p:cNvSpPr>
          <p:nvPr/>
        </p:nvSpPr>
        <p:spPr bwMode="auto">
          <a:xfrm>
            <a:off x="6240016" y="5901904"/>
            <a:ext cx="231666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sym typeface="Symbol" pitchFamily="18" charset="2"/>
              </a:rPr>
              <a:t>=0.9</a:t>
            </a:r>
            <a:r>
              <a:rPr lang="en-US" altLang="zh-CN" sz="2800" dirty="0">
                <a:sym typeface="Symbol" pitchFamily="18" charset="2"/>
              </a:rPr>
              <a:t>∧</a:t>
            </a:r>
            <a:r>
              <a:rPr lang="en-US" altLang="zh-CN" sz="2800" dirty="0">
                <a:solidFill>
                  <a:schemeClr val="bg2"/>
                </a:solidFill>
                <a:sym typeface="Symbol" pitchFamily="18" charset="2"/>
              </a:rPr>
              <a:t>0.9=0.9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919165"/>
              </p:ext>
            </p:extLst>
          </p:nvPr>
        </p:nvGraphicFramePr>
        <p:xfrm>
          <a:off x="6870665" y="2727834"/>
          <a:ext cx="33051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91726" imgH="304668" progId="Equation.3">
                  <p:embed/>
                </p:oleObj>
              </mc:Choice>
              <mc:Fallback>
                <p:oleObj name="公式" r:id="rId12" imgW="1091726" imgH="304668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665" y="2727834"/>
                        <a:ext cx="3305175" cy="792162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A7E754-9A44-AEEA-3837-9CAF5264C0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648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uiExpand="1" build="p"/>
      <p:bldP spid="69644" grpId="0"/>
      <p:bldP spid="69645" grpId="0"/>
      <p:bldP spid="69646" grpId="0"/>
      <p:bldP spid="6964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格贴近度计算举例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[P36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1]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412876"/>
            <a:ext cx="9721079" cy="5256213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设论域</a:t>
            </a:r>
            <a:r>
              <a:rPr lang="en-US" altLang="zh-CN" dirty="0">
                <a:ea typeface="黑体" pitchFamily="2" charset="-122"/>
              </a:rPr>
              <a:t>R</a:t>
            </a:r>
            <a:r>
              <a:rPr lang="zh-CN" altLang="en-US" dirty="0">
                <a:ea typeface="黑体" pitchFamily="2" charset="-122"/>
              </a:rPr>
              <a:t>为实数域</a:t>
            </a:r>
            <a:r>
              <a:rPr lang="en-US" altLang="zh-CN" dirty="0">
                <a:ea typeface="黑体" pitchFamily="2" charset="-122"/>
              </a:rPr>
              <a:t>,F</a:t>
            </a:r>
            <a:r>
              <a:rPr lang="zh-CN" altLang="en-US" dirty="0">
                <a:ea typeface="黑体" pitchFamily="2" charset="-122"/>
              </a:rPr>
              <a:t>集的隶属函数如下，求</a:t>
            </a:r>
            <a:r>
              <a:rPr lang="en-US" altLang="zh-CN" dirty="0"/>
              <a:t>N(A,B)</a:t>
            </a:r>
          </a:p>
          <a:p>
            <a:pPr eaLnBrk="1" hangingPunct="1"/>
            <a:endParaRPr lang="en-US" altLang="zh-CN" sz="4400" dirty="0"/>
          </a:p>
          <a:p>
            <a:pPr eaLnBrk="1" hangingPunct="1"/>
            <a:r>
              <a:rPr lang="zh-CN" altLang="en-US" dirty="0"/>
              <a:t>若</a:t>
            </a:r>
            <a:r>
              <a:rPr lang="en-US" altLang="zh-CN" dirty="0"/>
              <a:t>A(x) </a:t>
            </a:r>
            <a:r>
              <a:rPr lang="en-US" altLang="en-US" dirty="0"/>
              <a:t>≤</a:t>
            </a:r>
            <a:r>
              <a:rPr lang="en-US" altLang="zh-CN" dirty="0"/>
              <a:t>B(x), </a:t>
            </a:r>
            <a:r>
              <a:rPr lang="zh-CN" altLang="en-US" dirty="0"/>
              <a:t>则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graphicFrame>
        <p:nvGraphicFramePr>
          <p:cNvPr id="4608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03827860"/>
              </p:ext>
            </p:extLst>
          </p:nvPr>
        </p:nvGraphicFramePr>
        <p:xfrm>
          <a:off x="4318001" y="1989139"/>
          <a:ext cx="4210559" cy="863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406080" progId="Equation.DSMT4">
                  <p:embed/>
                </p:oleObj>
              </mc:Choice>
              <mc:Fallback>
                <p:oleObj name="Equation" r:id="rId2" imgW="1981080" imgH="406080" progId="Equation.DSMT4">
                  <p:embed/>
                  <p:pic>
                    <p:nvPicPr>
                      <p:cNvPr id="46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1" y="1989139"/>
                        <a:ext cx="4210559" cy="8637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0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591659038"/>
              </p:ext>
            </p:extLst>
          </p:nvPr>
        </p:nvGraphicFramePr>
        <p:xfrm>
          <a:off x="1981200" y="3756819"/>
          <a:ext cx="3757612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720" imgH="279360" progId="Equation.DSMT4">
                  <p:embed/>
                </p:oleObj>
              </mc:Choice>
              <mc:Fallback>
                <p:oleObj name="Equation" r:id="rId4" imgW="1485720" imgH="279360" progId="Equation.DSMT4">
                  <p:embed/>
                  <p:pic>
                    <p:nvPicPr>
                      <p:cNvPr id="727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756819"/>
                        <a:ext cx="3757612" cy="70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721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808" y="3140969"/>
            <a:ext cx="5609263" cy="3599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B820A971-549F-45A0-9A07-873A4F46EA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680835"/>
              </p:ext>
            </p:extLst>
          </p:nvPr>
        </p:nvGraphicFramePr>
        <p:xfrm>
          <a:off x="2829522" y="4725145"/>
          <a:ext cx="15382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279360" progId="Equation.DSMT4">
                  <p:embed/>
                </p:oleObj>
              </mc:Choice>
              <mc:Fallback>
                <p:oleObj name="Equation" r:id="rId7" imgW="634680" imgH="27936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B820A971-549F-45A0-9A07-873A4F46EA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9522" y="4725145"/>
                        <a:ext cx="1538287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BFE85368-45E0-4E13-86DA-E99611279F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017793"/>
              </p:ext>
            </p:extLst>
          </p:nvPr>
        </p:nvGraphicFramePr>
        <p:xfrm>
          <a:off x="2783632" y="5621338"/>
          <a:ext cx="12319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07960" imgH="228600" progId="Equation.DSMT4">
                  <p:embed/>
                </p:oleObj>
              </mc:Choice>
              <mc:Fallback>
                <p:oleObj name="Equation" r:id="rId9" imgW="507960" imgH="228600" progId="Equation.DSMT4">
                  <p:embed/>
                  <p:pic>
                    <p:nvPicPr>
                      <p:cNvPr id="8" name="Object 10">
                        <a:extLst>
                          <a:ext uri="{FF2B5EF4-FFF2-40B4-BE49-F238E27FC236}">
                            <a16:creationId xmlns:a16="http://schemas.microsoft.com/office/drawing/2014/main" id="{BFE85368-45E0-4E13-86DA-E99611279F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5621338"/>
                        <a:ext cx="12319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F4F094-A30A-F48F-335F-38F1D7642F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1668" y="6306345"/>
            <a:ext cx="661864" cy="457200"/>
          </a:xfrm>
        </p:spPr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971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格贴近度计算举例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[P36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1]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412876"/>
            <a:ext cx="10297143" cy="544512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设论域</a:t>
            </a:r>
            <a:r>
              <a:rPr lang="en-US" altLang="zh-CN" dirty="0">
                <a:ea typeface="黑体" pitchFamily="2" charset="-122"/>
              </a:rPr>
              <a:t>R</a:t>
            </a:r>
            <a:r>
              <a:rPr lang="zh-CN" altLang="en-US" dirty="0">
                <a:ea typeface="黑体" pitchFamily="2" charset="-122"/>
              </a:rPr>
              <a:t>为实数域</a:t>
            </a:r>
            <a:r>
              <a:rPr lang="en-US" altLang="zh-CN" dirty="0">
                <a:ea typeface="黑体" pitchFamily="2" charset="-122"/>
              </a:rPr>
              <a:t>,F</a:t>
            </a:r>
            <a:r>
              <a:rPr lang="zh-CN" altLang="en-US" dirty="0">
                <a:ea typeface="黑体" pitchFamily="2" charset="-122"/>
              </a:rPr>
              <a:t>集的隶属函数如下，求</a:t>
            </a:r>
            <a:r>
              <a:rPr lang="en-US" altLang="zh-CN" dirty="0"/>
              <a:t>N(A,B)</a:t>
            </a:r>
          </a:p>
          <a:p>
            <a:pPr eaLnBrk="1" hangingPunct="1"/>
            <a:endParaRPr lang="en-US" altLang="zh-CN" sz="4400" dirty="0"/>
          </a:p>
          <a:p>
            <a:pPr eaLnBrk="1" hangingPunct="1"/>
            <a:r>
              <a:rPr lang="zh-CN" altLang="en-US" dirty="0"/>
              <a:t>若</a:t>
            </a:r>
            <a:r>
              <a:rPr lang="en-US" altLang="zh-CN" dirty="0"/>
              <a:t>A(x) </a:t>
            </a:r>
            <a:r>
              <a:rPr lang="en-US" altLang="en-US" dirty="0"/>
              <a:t>≥</a:t>
            </a:r>
            <a:r>
              <a:rPr lang="en-US" altLang="zh-CN" dirty="0"/>
              <a:t>B(x), </a:t>
            </a:r>
            <a:r>
              <a:rPr lang="zh-CN" altLang="en-US" dirty="0"/>
              <a:t>则</a:t>
            </a:r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en-US" altLang="zh-CN" sz="2800" dirty="0"/>
          </a:p>
        </p:txBody>
      </p:sp>
      <p:graphicFrame>
        <p:nvGraphicFramePr>
          <p:cNvPr id="4710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520572569"/>
              </p:ext>
            </p:extLst>
          </p:nvPr>
        </p:nvGraphicFramePr>
        <p:xfrm>
          <a:off x="3289968" y="1963495"/>
          <a:ext cx="397033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406080" progId="Equation.DSMT4">
                  <p:embed/>
                </p:oleObj>
              </mc:Choice>
              <mc:Fallback>
                <p:oleObj name="Equation" r:id="rId2" imgW="1981080" imgH="406080" progId="Equation.DSMT4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968" y="1963495"/>
                        <a:ext cx="3970338" cy="814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990323"/>
              </p:ext>
            </p:extLst>
          </p:nvPr>
        </p:nvGraphicFramePr>
        <p:xfrm>
          <a:off x="6379613" y="2893008"/>
          <a:ext cx="389732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720" imgH="279360" progId="Equation.DSMT4">
                  <p:embed/>
                </p:oleObj>
              </mc:Choice>
              <mc:Fallback>
                <p:oleObj name="Equation" r:id="rId4" imgW="1485720" imgH="279360" progId="Equation.DSMT4">
                  <p:embed/>
                  <p:pic>
                    <p:nvPicPr>
                      <p:cNvPr id="952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9613" y="2893008"/>
                        <a:ext cx="3897323" cy="731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2" name="Rectangle 10"/>
          <p:cNvSpPr>
            <a:spLocks noChangeArrowheads="1"/>
          </p:cNvSpPr>
          <p:nvPr/>
        </p:nvSpPr>
        <p:spPr bwMode="auto">
          <a:xfrm>
            <a:off x="6379613" y="5061289"/>
            <a:ext cx="4740157" cy="156966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可见，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A(x)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和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B(x)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的内积是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A(x)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和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B(x)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相等时的值，这时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x=x*</a:t>
            </a:r>
          </a:p>
        </p:txBody>
      </p:sp>
      <p:pic>
        <p:nvPicPr>
          <p:cNvPr id="95246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230" y="3508447"/>
            <a:ext cx="5052157" cy="3242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438EEAAF-E3EE-4CDF-A3D0-FBEDA62EEF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078398"/>
              </p:ext>
            </p:extLst>
          </p:nvPr>
        </p:nvGraphicFramePr>
        <p:xfrm>
          <a:off x="7211514" y="3707941"/>
          <a:ext cx="1669444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279360" progId="Equation.DSMT4">
                  <p:embed/>
                </p:oleObj>
              </mc:Choice>
              <mc:Fallback>
                <p:oleObj name="Equation" r:id="rId7" imgW="634680" imgH="279360" progId="Equation.DSMT4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438EEAAF-E3EE-4CDF-A3D0-FBEDA62EE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514" y="3707941"/>
                        <a:ext cx="1669444" cy="731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E3F4ADE9-98D1-4D1C-A433-CAED64FC7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779270"/>
              </p:ext>
            </p:extLst>
          </p:nvPr>
        </p:nvGraphicFramePr>
        <p:xfrm>
          <a:off x="7224774" y="4441713"/>
          <a:ext cx="1475151" cy="662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07960" imgH="228600" progId="Equation.DSMT4">
                  <p:embed/>
                </p:oleObj>
              </mc:Choice>
              <mc:Fallback>
                <p:oleObj name="Equation" r:id="rId9" imgW="507960" imgH="22860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E3F4ADE9-98D1-4D1C-A433-CAED64FC77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4774" y="4441713"/>
                        <a:ext cx="1475151" cy="6625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1B44A4-D6BD-E7F8-46D2-A5DB6A8038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50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2359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1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210" y="4293097"/>
            <a:ext cx="5490970" cy="2579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格贴近度计算举例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[P36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1]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795693" y="1202557"/>
            <a:ext cx="8395684" cy="4525962"/>
          </a:xfrm>
        </p:spPr>
        <p:txBody>
          <a:bodyPr/>
          <a:lstStyle/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从              求得解为</a:t>
            </a:r>
          </a:p>
        </p:txBody>
      </p:sp>
      <p:graphicFrame>
        <p:nvGraphicFramePr>
          <p:cNvPr id="76807" name="Object 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924289292"/>
              </p:ext>
            </p:extLst>
          </p:nvPr>
        </p:nvGraphicFramePr>
        <p:xfrm>
          <a:off x="6240016" y="1634211"/>
          <a:ext cx="5182880" cy="930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120" imgH="431640" progId="Equation.DSMT4">
                  <p:embed/>
                </p:oleObj>
              </mc:Choice>
              <mc:Fallback>
                <p:oleObj name="Equation" r:id="rId4" imgW="2400120" imgH="431640" progId="Equation.DSMT4">
                  <p:embed/>
                  <p:pic>
                    <p:nvPicPr>
                      <p:cNvPr id="768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1634211"/>
                        <a:ext cx="5182880" cy="9306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69671786"/>
              </p:ext>
            </p:extLst>
          </p:nvPr>
        </p:nvGraphicFramePr>
        <p:xfrm>
          <a:off x="1720603" y="1556231"/>
          <a:ext cx="311785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040" imgH="406080" progId="Equation.DSMT4">
                  <p:embed/>
                </p:oleObj>
              </mc:Choice>
              <mc:Fallback>
                <p:oleObj name="Equation" r:id="rId6" imgW="1346040" imgH="406080" progId="Equation.DSMT4">
                  <p:embed/>
                  <p:pic>
                    <p:nvPicPr>
                      <p:cNvPr id="768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603" y="1556231"/>
                        <a:ext cx="3117850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9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25917794"/>
              </p:ext>
            </p:extLst>
          </p:nvPr>
        </p:nvGraphicFramePr>
        <p:xfrm>
          <a:off x="1199456" y="2276476"/>
          <a:ext cx="4287837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880" imgH="406080" progId="Equation.DSMT4">
                  <p:embed/>
                </p:oleObj>
              </mc:Choice>
              <mc:Fallback>
                <p:oleObj name="Equation" r:id="rId8" imgW="1739880" imgH="406080" progId="Equation.DSMT4">
                  <p:embed/>
                  <p:pic>
                    <p:nvPicPr>
                      <p:cNvPr id="768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456" y="2276476"/>
                        <a:ext cx="4287837" cy="100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959958"/>
              </p:ext>
            </p:extLst>
          </p:nvPr>
        </p:nvGraphicFramePr>
        <p:xfrm>
          <a:off x="5945602" y="3509083"/>
          <a:ext cx="16525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22080" imgH="177480" progId="Equation.DSMT4">
                  <p:embed/>
                </p:oleObj>
              </mc:Choice>
              <mc:Fallback>
                <p:oleObj name="Equation" r:id="rId10" imgW="622080" imgH="177480" progId="Equation.DSMT4">
                  <p:embed/>
                  <p:pic>
                    <p:nvPicPr>
                      <p:cNvPr id="768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602" y="3509083"/>
                        <a:ext cx="1652587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741191"/>
              </p:ext>
            </p:extLst>
          </p:nvPr>
        </p:nvGraphicFramePr>
        <p:xfrm>
          <a:off x="695400" y="3973279"/>
          <a:ext cx="7129462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41320" imgH="419040" progId="Equation.DSMT4">
                  <p:embed/>
                </p:oleObj>
              </mc:Choice>
              <mc:Fallback>
                <p:oleObj name="Equation" r:id="rId12" imgW="2641320" imgH="419040" progId="Equation.DSMT4">
                  <p:embed/>
                  <p:pic>
                    <p:nvPicPr>
                      <p:cNvPr id="768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00" y="3973279"/>
                        <a:ext cx="7129462" cy="1133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9207572" y="4557848"/>
            <a:ext cx="358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400" b="1" dirty="0">
                <a:solidFill>
                  <a:srgbClr val="FB09AA"/>
                </a:solidFill>
              </a:rPr>
              <a:t>·</a:t>
            </a:r>
          </a:p>
        </p:txBody>
      </p:sp>
      <p:graphicFrame>
        <p:nvGraphicFramePr>
          <p:cNvPr id="48139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183050"/>
              </p:ext>
            </p:extLst>
          </p:nvPr>
        </p:nvGraphicFramePr>
        <p:xfrm>
          <a:off x="1055440" y="5514976"/>
          <a:ext cx="4976549" cy="873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39900" imgH="304800" progId="Equation.3">
                  <p:embed/>
                </p:oleObj>
              </mc:Choice>
              <mc:Fallback>
                <p:oleObj name="公式" r:id="rId14" imgW="1739900" imgH="304800" progId="Equation.3">
                  <p:embed/>
                  <p:pic>
                    <p:nvPicPr>
                      <p:cNvPr id="48139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5514976"/>
                        <a:ext cx="4976549" cy="873989"/>
                      </a:xfrm>
                      <a:prstGeom prst="rect">
                        <a:avLst/>
                      </a:prstGeom>
                      <a:solidFill>
                        <a:srgbClr val="CACA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695369"/>
              </p:ext>
            </p:extLst>
          </p:nvPr>
        </p:nvGraphicFramePr>
        <p:xfrm>
          <a:off x="1127448" y="3244561"/>
          <a:ext cx="47561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854200" imgH="368300" progId="Equation.3">
                  <p:embed/>
                </p:oleObj>
              </mc:Choice>
              <mc:Fallback>
                <p:oleObj name="公式" r:id="rId16" imgW="1854200" imgH="368300" progId="Equation.3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3244561"/>
                        <a:ext cx="47561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442000-F23A-8C21-FA27-6D4CB51B3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05837" y="6181024"/>
            <a:ext cx="589856" cy="457200"/>
          </a:xfrm>
        </p:spPr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51</a:t>
            </a:fld>
            <a:endParaRPr lang="en-US" altLang="zh-CN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839AA09-D5C8-9311-075B-857628ED1E8E}"/>
              </a:ext>
            </a:extLst>
          </p:cNvPr>
          <p:cNvSpPr/>
          <p:nvPr/>
        </p:nvSpPr>
        <p:spPr bwMode="auto">
          <a:xfrm>
            <a:off x="9191377" y="1556231"/>
            <a:ext cx="2521247" cy="941387"/>
          </a:xfrm>
          <a:prstGeom prst="roundRect">
            <a:avLst/>
          </a:prstGeom>
          <a:solidFill>
            <a:schemeClr val="bg1">
              <a:lumMod val="85000"/>
              <a:alpha val="49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4295B41D-1CC9-E54D-C153-6BE7784D9E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837637"/>
              </p:ext>
            </p:extLst>
          </p:nvPr>
        </p:nvGraphicFramePr>
        <p:xfrm>
          <a:off x="9191377" y="2714949"/>
          <a:ext cx="17843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23600" imgH="241200" progId="Equation.DSMT4">
                  <p:embed/>
                </p:oleObj>
              </mc:Choice>
              <mc:Fallback>
                <p:oleObj name="Equation" r:id="rId18" imgW="723600" imgH="241200" progId="Equation.DSMT4">
                  <p:embed/>
                  <p:pic>
                    <p:nvPicPr>
                      <p:cNvPr id="768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377" y="2714949"/>
                        <a:ext cx="1784350" cy="59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992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6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6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6" grpId="0" build="p"/>
      <p:bldP spid="76815" grpId="0"/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其他实际应用中常用的贴近度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487488" y="1632248"/>
            <a:ext cx="8723312" cy="4893096"/>
          </a:xfrm>
        </p:spPr>
        <p:txBody>
          <a:bodyPr/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Minkowski</a:t>
            </a:r>
            <a:r>
              <a:rPr lang="zh-CN" altLang="en-US" b="1" dirty="0">
                <a:solidFill>
                  <a:srgbClr val="FF0000"/>
                </a:solidFill>
              </a:rPr>
              <a:t>贴近度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/>
              <a:t>离散论域（</a:t>
            </a:r>
            <a:r>
              <a:rPr lang="en-US" altLang="zh-CN" b="1" dirty="0"/>
              <a:t>U={</a:t>
            </a:r>
            <a:r>
              <a:rPr lang="en-US" altLang="zh-CN" b="1" dirty="0" err="1"/>
              <a:t>u</a:t>
            </a:r>
            <a:r>
              <a:rPr lang="en-US" altLang="zh-CN" b="1" baseline="-25000" dirty="0" err="1"/>
              <a:t>i</a:t>
            </a:r>
            <a:r>
              <a:rPr lang="en-US" altLang="zh-CN" b="1" dirty="0"/>
              <a:t>}</a:t>
            </a:r>
            <a:r>
              <a:rPr lang="en-US" altLang="zh-CN" b="1" baseline="30000" dirty="0"/>
              <a:t>n</a:t>
            </a:r>
            <a:r>
              <a:rPr lang="zh-CN" altLang="en-US" b="1" dirty="0"/>
              <a:t> ）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sz="3600" b="1" dirty="0"/>
          </a:p>
          <a:p>
            <a:pPr lvl="1"/>
            <a:endParaRPr lang="en-US" altLang="zh-CN" b="1" dirty="0"/>
          </a:p>
          <a:p>
            <a:pPr lvl="1"/>
            <a:r>
              <a:rPr lang="zh-CN" altLang="en-US" b="1" dirty="0"/>
              <a:t>连续论域（</a:t>
            </a:r>
            <a:r>
              <a:rPr lang="en-US" altLang="zh-CN" b="1" dirty="0"/>
              <a:t>U=[</a:t>
            </a:r>
            <a:r>
              <a:rPr lang="en-US" altLang="zh-CN" b="1" dirty="0" err="1"/>
              <a:t>a,b</a:t>
            </a:r>
            <a:r>
              <a:rPr lang="en-US" altLang="zh-CN" b="1" dirty="0"/>
              <a:t>]</a:t>
            </a:r>
            <a:r>
              <a:rPr lang="zh-CN" altLang="en-US" b="1" dirty="0"/>
              <a:t>）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06466"/>
              </p:ext>
            </p:extLst>
          </p:nvPr>
        </p:nvGraphicFramePr>
        <p:xfrm>
          <a:off x="2567607" y="2815483"/>
          <a:ext cx="7901971" cy="14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545760" progId="Equation.DSMT4">
                  <p:embed/>
                </p:oleObj>
              </mc:Choice>
              <mc:Fallback>
                <p:oleObj name="Equation" r:id="rId2" imgW="2946240" imgH="54576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7" y="2815483"/>
                        <a:ext cx="7901971" cy="146370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278828"/>
              </p:ext>
            </p:extLst>
          </p:nvPr>
        </p:nvGraphicFramePr>
        <p:xfrm>
          <a:off x="2590634" y="5065166"/>
          <a:ext cx="6710438" cy="1532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640" imgH="571320" progId="Equation.DSMT4">
                  <p:embed/>
                </p:oleObj>
              </mc:Choice>
              <mc:Fallback>
                <p:oleObj name="Equation" r:id="rId4" imgW="2501640" imgH="57132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634" y="5065166"/>
                        <a:ext cx="6710438" cy="1532186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7E3FB9-46EC-56A7-4EB0-63361CBF70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206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其他实际应用中常用的贴近度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343472" y="1632248"/>
            <a:ext cx="8867328" cy="3886200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Lambert</a:t>
            </a:r>
            <a:r>
              <a:rPr lang="zh-CN" altLang="en-US" b="1" dirty="0">
                <a:solidFill>
                  <a:srgbClr val="FF0000"/>
                </a:solidFill>
              </a:rPr>
              <a:t>贴近度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/>
              <a:t>离散论域（</a:t>
            </a:r>
            <a:r>
              <a:rPr lang="en-US" altLang="zh-CN" b="1" dirty="0"/>
              <a:t>U={</a:t>
            </a:r>
            <a:r>
              <a:rPr lang="en-US" altLang="zh-CN" b="1" dirty="0" err="1"/>
              <a:t>u</a:t>
            </a:r>
            <a:r>
              <a:rPr lang="en-US" altLang="zh-CN" b="1" baseline="-25000" dirty="0" err="1"/>
              <a:t>i</a:t>
            </a:r>
            <a:r>
              <a:rPr lang="en-US" altLang="zh-CN" b="1" dirty="0"/>
              <a:t>}</a:t>
            </a:r>
            <a:r>
              <a:rPr lang="en-US" altLang="zh-CN" b="1" baseline="30000" dirty="0"/>
              <a:t>n</a:t>
            </a:r>
            <a:r>
              <a:rPr lang="zh-CN" altLang="en-US" b="1" dirty="0"/>
              <a:t> ）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r>
              <a:rPr lang="zh-CN" altLang="en-US" b="1" dirty="0"/>
              <a:t>连续论域</a:t>
            </a:r>
            <a:r>
              <a:rPr lang="en-US" altLang="zh-CN" b="1" dirty="0"/>
              <a:t>U=[</a:t>
            </a:r>
            <a:r>
              <a:rPr lang="en-US" altLang="zh-CN" b="1" dirty="0" err="1"/>
              <a:t>a,b</a:t>
            </a:r>
            <a:r>
              <a:rPr lang="en-US" altLang="zh-CN" b="1" dirty="0"/>
              <a:t>]</a:t>
            </a:r>
            <a:r>
              <a:rPr lang="zh-CN" altLang="en-US" b="1" dirty="0"/>
              <a:t>）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795798"/>
              </p:ext>
            </p:extLst>
          </p:nvPr>
        </p:nvGraphicFramePr>
        <p:xfrm>
          <a:off x="2823506" y="2852936"/>
          <a:ext cx="6007893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280" imgH="457200" progId="Equation.DSMT4">
                  <p:embed/>
                </p:oleObj>
              </mc:Choice>
              <mc:Fallback>
                <p:oleObj name="Equation" r:id="rId2" imgW="2006280" imgH="4572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506" y="2852936"/>
                        <a:ext cx="6007893" cy="1368152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228795"/>
              </p:ext>
            </p:extLst>
          </p:nvPr>
        </p:nvGraphicFramePr>
        <p:xfrm>
          <a:off x="2823506" y="5111558"/>
          <a:ext cx="6944902" cy="1485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469800" progId="Equation.DSMT4">
                  <p:embed/>
                </p:oleObj>
              </mc:Choice>
              <mc:Fallback>
                <p:oleObj name="Equation" r:id="rId4" imgW="2197080" imgH="469800" progId="Equation.DSMT4">
                  <p:embed/>
                  <p:pic>
                    <p:nvPicPr>
                      <p:cNvPr id="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506" y="5111558"/>
                        <a:ext cx="6944902" cy="1485794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C14251-B965-CC70-C0D6-FF8159AD5C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94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其他实际应用中常用的贴近度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116679" y="1632248"/>
            <a:ext cx="8795320" cy="3886200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绝对和差贴近度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/>
          </a:p>
          <a:p>
            <a:pPr lvl="1"/>
            <a:r>
              <a:rPr lang="zh-CN" altLang="en-US" b="1" dirty="0"/>
              <a:t>离散论域（</a:t>
            </a:r>
            <a:r>
              <a:rPr lang="en-US" altLang="zh-CN" b="1" dirty="0"/>
              <a:t>U={</a:t>
            </a:r>
            <a:r>
              <a:rPr lang="en-US" altLang="zh-CN" b="1" dirty="0" err="1"/>
              <a:t>u</a:t>
            </a:r>
            <a:r>
              <a:rPr lang="en-US" altLang="zh-CN" b="1" baseline="-25000" dirty="0" err="1"/>
              <a:t>i</a:t>
            </a:r>
            <a:r>
              <a:rPr lang="en-US" altLang="zh-CN" b="1" dirty="0"/>
              <a:t>}</a:t>
            </a:r>
            <a:r>
              <a:rPr lang="en-US" altLang="zh-CN" b="1" baseline="30000" dirty="0"/>
              <a:t>n</a:t>
            </a:r>
            <a:r>
              <a:rPr lang="zh-CN" altLang="en-US" b="1" dirty="0"/>
              <a:t> ）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r>
              <a:rPr lang="zh-CN" altLang="en-US" b="1" dirty="0"/>
              <a:t>连续论域</a:t>
            </a:r>
            <a:r>
              <a:rPr lang="en-US" altLang="zh-CN" b="1" dirty="0"/>
              <a:t>U=[</a:t>
            </a:r>
            <a:r>
              <a:rPr lang="en-US" altLang="zh-CN" b="1" dirty="0" err="1"/>
              <a:t>a,b</a:t>
            </a:r>
            <a:r>
              <a:rPr lang="en-US" altLang="zh-CN" b="1" dirty="0"/>
              <a:t>]</a:t>
            </a:r>
            <a:r>
              <a:rPr lang="zh-CN" altLang="en-US" b="1" dirty="0"/>
              <a:t>）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676162"/>
              </p:ext>
            </p:extLst>
          </p:nvPr>
        </p:nvGraphicFramePr>
        <p:xfrm>
          <a:off x="5525108" y="2014024"/>
          <a:ext cx="4485059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838080" progId="Equation.DSMT4">
                  <p:embed/>
                </p:oleObj>
              </mc:Choice>
              <mc:Fallback>
                <p:oleObj name="Equation" r:id="rId2" imgW="1879560" imgH="83808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5108" y="2014024"/>
                        <a:ext cx="4485059" cy="199866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263877"/>
              </p:ext>
            </p:extLst>
          </p:nvPr>
        </p:nvGraphicFramePr>
        <p:xfrm>
          <a:off x="5525108" y="4249737"/>
          <a:ext cx="4415558" cy="213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914400" progId="Equation.DSMT4">
                  <p:embed/>
                </p:oleObj>
              </mc:Choice>
              <mc:Fallback>
                <p:oleObj name="Equation" r:id="rId4" imgW="1892160" imgH="91440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5108" y="4249737"/>
                        <a:ext cx="4415558" cy="213159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FAD9E1-5C49-6B18-1E77-3BC0AACFB2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58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其他实际应用中常用的贴近度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415480" y="1632248"/>
            <a:ext cx="8795320" cy="3886200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几何最小平均贴近度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/>
          </a:p>
          <a:p>
            <a:pPr lvl="1"/>
            <a:r>
              <a:rPr lang="zh-CN" altLang="en-US" b="1" dirty="0"/>
              <a:t>离散论域（</a:t>
            </a:r>
            <a:r>
              <a:rPr lang="en-US" altLang="zh-CN" b="1" dirty="0"/>
              <a:t>U={</a:t>
            </a:r>
            <a:r>
              <a:rPr lang="en-US" altLang="zh-CN" b="1" dirty="0" err="1"/>
              <a:t>u</a:t>
            </a:r>
            <a:r>
              <a:rPr lang="en-US" altLang="zh-CN" b="1" baseline="-25000" dirty="0" err="1"/>
              <a:t>i</a:t>
            </a:r>
            <a:r>
              <a:rPr lang="en-US" altLang="zh-CN" b="1" dirty="0"/>
              <a:t>}</a:t>
            </a:r>
            <a:r>
              <a:rPr lang="en-US" altLang="zh-CN" b="1" baseline="30000" dirty="0"/>
              <a:t>n</a:t>
            </a:r>
            <a:r>
              <a:rPr lang="zh-CN" altLang="en-US" b="1" dirty="0"/>
              <a:t> ）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r>
              <a:rPr lang="zh-CN" altLang="en-US" b="1" dirty="0"/>
              <a:t>连续论域</a:t>
            </a:r>
            <a:r>
              <a:rPr lang="en-US" altLang="zh-CN" b="1" dirty="0"/>
              <a:t>U=[</a:t>
            </a:r>
            <a:r>
              <a:rPr lang="en-US" altLang="zh-CN" b="1" dirty="0" err="1"/>
              <a:t>a,b</a:t>
            </a:r>
            <a:r>
              <a:rPr lang="en-US" altLang="zh-CN" b="1" dirty="0"/>
              <a:t>]</a:t>
            </a:r>
            <a:r>
              <a:rPr lang="zh-CN" altLang="en-US" b="1" dirty="0"/>
              <a:t>）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667738"/>
              </p:ext>
            </p:extLst>
          </p:nvPr>
        </p:nvGraphicFramePr>
        <p:xfrm>
          <a:off x="5879976" y="2125250"/>
          <a:ext cx="4665854" cy="19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838080" progId="Equation.DSMT4">
                  <p:embed/>
                </p:oleObj>
              </mc:Choice>
              <mc:Fallback>
                <p:oleObj name="Equation" r:id="rId3" imgW="1955520" imgH="83808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6" y="2125250"/>
                        <a:ext cx="4665854" cy="199866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445798"/>
              </p:ext>
            </p:extLst>
          </p:nvPr>
        </p:nvGraphicFramePr>
        <p:xfrm>
          <a:off x="5841656" y="4565050"/>
          <a:ext cx="4610940" cy="214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68480" imgH="914400" progId="Equation.DSMT4">
                  <p:embed/>
                </p:oleObj>
              </mc:Choice>
              <mc:Fallback>
                <p:oleObj name="Equation" r:id="rId5" imgW="1968480" imgH="914400" progId="Equation.DSMT4">
                  <p:embed/>
                  <p:pic>
                    <p:nvPicPr>
                      <p:cNvPr id="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1656" y="4565050"/>
                        <a:ext cx="4610940" cy="2140550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842226-D235-2490-E361-308CCE5042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884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2.4 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模糊模式识别原则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0532" y="1828800"/>
            <a:ext cx="10310936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3600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模式识别的方法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最大隶属原则</a:t>
            </a: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（直接方法）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主要应用于个体的识别。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择近原则</a:t>
            </a: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（间接方法）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一般应用于群体模型的识别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CN" sz="32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98BE36-4470-5E02-4B34-9617B6B10F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700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1487488" y="2913157"/>
            <a:ext cx="8927203" cy="1031686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2.4.2 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择近原则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39" y="1341438"/>
            <a:ext cx="9504161" cy="55165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设</a:t>
            </a:r>
            <a:r>
              <a:rPr lang="en-US" altLang="zh-CN" i="1" dirty="0" err="1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i="1" baseline="-25000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dirty="0" err="1">
                <a:solidFill>
                  <a:schemeClr val="bg2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(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),( 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=1,2,…,n), 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i="1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是论域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中的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个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子集表示 的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n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个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模式，对某一元素对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u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0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,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若存在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i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0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使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zh-CN" altLang="en-US" sz="4400" dirty="0">
              <a:solidFill>
                <a:schemeClr val="bg2"/>
              </a:solidFill>
              <a:ea typeface="黑体" pitchFamily="2" charset="-122"/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   则认为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B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与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i="1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en-US" altLang="zh-CN" i="1" baseline="-40000" dirty="0">
                <a:solidFill>
                  <a:schemeClr val="bg2"/>
                </a:solidFill>
                <a:ea typeface="黑体" pitchFamily="2" charset="-122"/>
              </a:rPr>
              <a:t>0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最贴近，即判定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B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与</a:t>
            </a:r>
            <a:r>
              <a:rPr lang="en-US" altLang="zh-CN" i="1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i="1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en-US" altLang="zh-CN" i="1" baseline="-40000" dirty="0">
                <a:solidFill>
                  <a:schemeClr val="bg2"/>
                </a:solidFill>
                <a:ea typeface="黑体" pitchFamily="2" charset="-122"/>
              </a:rPr>
              <a:t>0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为一类，该原则称为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择近原则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。</a:t>
            </a:r>
          </a:p>
        </p:txBody>
      </p:sp>
      <p:graphicFrame>
        <p:nvGraphicFramePr>
          <p:cNvPr id="8499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6151229"/>
              </p:ext>
            </p:extLst>
          </p:nvPr>
        </p:nvGraphicFramePr>
        <p:xfrm>
          <a:off x="1487488" y="3205919"/>
          <a:ext cx="8927203" cy="605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8000" imgH="241300" progId="Equation.3">
                  <p:embed/>
                </p:oleObj>
              </mc:Choice>
              <mc:Fallback>
                <p:oleObj name="公式" r:id="rId2" imgW="3048000" imgH="241300" progId="Equation.3">
                  <p:embed/>
                  <p:pic>
                    <p:nvPicPr>
                      <p:cNvPr id="849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3205919"/>
                        <a:ext cx="8927203" cy="6052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FB74B4B-F1F3-D54A-F74C-AB41565637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67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>
                <a:solidFill>
                  <a:srgbClr val="008000"/>
                </a:solidFill>
                <a:ea typeface="黑体" pitchFamily="2" charset="-122"/>
              </a:rPr>
              <a:t>模式识别间接方法的一般应用步骤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8229600" cy="447198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>
                <a:ea typeface="黑体" pitchFamily="2" charset="-122"/>
              </a:rPr>
              <a:t>(1)</a:t>
            </a:r>
            <a:r>
              <a:rPr lang="zh-CN" altLang="en-US" dirty="0">
                <a:ea typeface="黑体" pitchFamily="2" charset="-122"/>
              </a:rPr>
              <a:t>抽选识别对象</a:t>
            </a:r>
            <a:r>
              <a:rPr kumimoji="1" lang="en-US" altLang="zh-CN" dirty="0">
                <a:ea typeface="黑体" pitchFamily="2" charset="-122"/>
              </a:rPr>
              <a:t>B</a:t>
            </a:r>
            <a:r>
              <a:rPr lang="zh-CN" altLang="en-US" dirty="0">
                <a:ea typeface="黑体" pitchFamily="2" charset="-122"/>
              </a:rPr>
              <a:t>的特性指标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(2)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构造模糊模式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kumimoji="1" lang="en-US" altLang="zh-CN" baseline="-25000" dirty="0">
                <a:solidFill>
                  <a:srgbClr val="FF0000"/>
                </a:solidFill>
                <a:ea typeface="黑体" pitchFamily="2" charset="-122"/>
              </a:rPr>
              <a:t>i</a:t>
            </a:r>
            <a:r>
              <a:rPr kumimoji="1" lang="en-US" altLang="zh-CN" dirty="0">
                <a:solidFill>
                  <a:srgbClr val="FF0000"/>
                </a:solidFill>
                <a:ea typeface="黑体" pitchFamily="2" charset="-122"/>
              </a:rPr>
              <a:t> (</a:t>
            </a:r>
            <a:r>
              <a:rPr kumimoji="1" lang="en-US" altLang="zh-CN" dirty="0" err="1">
                <a:solidFill>
                  <a:srgbClr val="FF0000"/>
                </a:solidFill>
                <a:ea typeface="黑体" pitchFamily="2" charset="-122"/>
              </a:rPr>
              <a:t>i</a:t>
            </a:r>
            <a:r>
              <a:rPr kumimoji="1" lang="en-US" altLang="zh-CN" dirty="0">
                <a:solidFill>
                  <a:srgbClr val="FF0000"/>
                </a:solidFill>
                <a:ea typeface="黑体" pitchFamily="2" charset="-122"/>
              </a:rPr>
              <a:t>=1,2,…,p)</a:t>
            </a: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的隶属函数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kumimoji="1" lang="en-US" altLang="zh-CN" dirty="0">
                <a:solidFill>
                  <a:srgbClr val="FF0000"/>
                </a:solidFill>
                <a:ea typeface="黑体" pitchFamily="2" charset="-122"/>
              </a:rPr>
              <a:t>(3)</a:t>
            </a: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构造待识别对象</a:t>
            </a:r>
            <a:r>
              <a:rPr kumimoji="1" lang="en-US" altLang="zh-CN" dirty="0">
                <a:solidFill>
                  <a:srgbClr val="FF0000"/>
                </a:solidFill>
                <a:ea typeface="黑体" pitchFamily="2" charset="-122"/>
              </a:rPr>
              <a:t>B</a:t>
            </a:r>
            <a:r>
              <a:rPr kumimoji="1" lang="zh-CN" altLang="en-US" dirty="0">
                <a:solidFill>
                  <a:srgbClr val="FF0000"/>
                </a:solidFill>
                <a:ea typeface="黑体" pitchFamily="2" charset="-122"/>
              </a:rPr>
              <a:t>的隶属函数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kumimoji="1" lang="en-US" altLang="zh-CN" dirty="0">
                <a:ea typeface="黑体" pitchFamily="2" charset="-122"/>
              </a:rPr>
              <a:t>(4)</a:t>
            </a:r>
            <a:r>
              <a:rPr kumimoji="1" lang="zh-CN" altLang="en-US" dirty="0">
                <a:ea typeface="黑体" pitchFamily="2" charset="-122"/>
              </a:rPr>
              <a:t>求出</a:t>
            </a:r>
            <a:r>
              <a:rPr kumimoji="1" lang="en-US" altLang="zh-CN" dirty="0">
                <a:ea typeface="黑体" pitchFamily="2" charset="-122"/>
              </a:rPr>
              <a:t>B</a:t>
            </a:r>
            <a:r>
              <a:rPr kumimoji="1" lang="zh-CN" altLang="en-US" dirty="0">
                <a:ea typeface="黑体" pitchFamily="2" charset="-122"/>
              </a:rPr>
              <a:t>与</a:t>
            </a:r>
            <a:r>
              <a:rPr lang="en-US" altLang="zh-CN" dirty="0"/>
              <a:t>A</a:t>
            </a:r>
            <a:r>
              <a:rPr kumimoji="1" lang="en-US" altLang="zh-CN" baseline="-25000" dirty="0">
                <a:ea typeface="黑体" pitchFamily="2" charset="-122"/>
              </a:rPr>
              <a:t>i</a:t>
            </a:r>
            <a:r>
              <a:rPr kumimoji="1" lang="zh-CN" altLang="en-US" dirty="0">
                <a:ea typeface="黑体" pitchFamily="2" charset="-122"/>
              </a:rPr>
              <a:t>的贴近度</a:t>
            </a:r>
            <a:r>
              <a:rPr kumimoji="1" lang="en-US" altLang="zh-CN" dirty="0">
                <a:ea typeface="黑体" pitchFamily="2" charset="-122"/>
              </a:rPr>
              <a:t>N(</a:t>
            </a:r>
            <a:r>
              <a:rPr lang="en-US" altLang="zh-CN" dirty="0" err="1"/>
              <a:t>A</a:t>
            </a:r>
            <a:r>
              <a:rPr kumimoji="1" lang="en-US" altLang="zh-CN" baseline="-25000" dirty="0" err="1">
                <a:ea typeface="黑体" pitchFamily="2" charset="-122"/>
              </a:rPr>
              <a:t>i</a:t>
            </a:r>
            <a:r>
              <a:rPr kumimoji="1" lang="en-US" altLang="zh-CN" dirty="0" err="1">
                <a:ea typeface="黑体" pitchFamily="2" charset="-122"/>
              </a:rPr>
              <a:t>,B</a:t>
            </a:r>
            <a:r>
              <a:rPr kumimoji="1" lang="en-US" altLang="zh-CN" dirty="0">
                <a:ea typeface="黑体" pitchFamily="2" charset="-122"/>
              </a:rPr>
              <a:t>)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kumimoji="1" lang="en-US" altLang="zh-CN" dirty="0">
                <a:ea typeface="黑体" pitchFamily="2" charset="-122"/>
              </a:rPr>
              <a:t>(5)</a:t>
            </a:r>
            <a:r>
              <a:rPr kumimoji="1" lang="zh-CN" altLang="en-US" dirty="0">
                <a:ea typeface="黑体" pitchFamily="2" charset="-122"/>
              </a:rPr>
              <a:t>根据择近原则识别</a:t>
            </a:r>
            <a:r>
              <a:rPr kumimoji="1" lang="en-US" altLang="zh-CN" dirty="0">
                <a:ea typeface="黑体" pitchFamily="2" charset="-122"/>
              </a:rPr>
              <a:t>B</a:t>
            </a:r>
            <a:r>
              <a:rPr kumimoji="1" lang="zh-CN" altLang="en-US" dirty="0">
                <a:ea typeface="黑体" pitchFamily="2" charset="-122"/>
              </a:rPr>
              <a:t>应归属于哪一模式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6C75B95-5A3B-2A70-2024-928884CE37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712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择近原则举例</a:t>
            </a:r>
            <a:r>
              <a:rPr lang="en-US" altLang="zh-CN" sz="4000" dirty="0">
                <a:ea typeface="黑体" pitchFamily="2" charset="-122"/>
                <a:sym typeface="Symbol" pitchFamily="18" charset="2"/>
              </a:rPr>
              <a:t>[P38</a:t>
            </a:r>
            <a:r>
              <a:rPr lang="zh-CN" altLang="en-US" sz="4000" dirty="0">
                <a:ea typeface="黑体" pitchFamily="2" charset="-122"/>
                <a:sym typeface="Symbol" pitchFamily="18" charset="2"/>
              </a:rPr>
              <a:t>例</a:t>
            </a:r>
            <a:r>
              <a:rPr lang="en-US" altLang="zh-CN" sz="4000" dirty="0">
                <a:ea typeface="黑体" pitchFamily="2" charset="-122"/>
                <a:sym typeface="Symbol" pitchFamily="18" charset="2"/>
              </a:rPr>
              <a:t>2]</a:t>
            </a:r>
            <a:endParaRPr lang="zh-CN" altLang="en-US" dirty="0">
              <a:ea typeface="黑体" pitchFamily="2" charset="-122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341438"/>
            <a:ext cx="10081120" cy="5516562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  <a:sym typeface="Symbol" pitchFamily="18" charset="2"/>
              </a:rPr>
              <a:t>现有茶叶等级标准样品五种：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Ⅰ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Ⅱ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Ⅲ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Ⅳ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、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Ⅴ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及待识别的茶叶模型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A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，确定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A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的型号</a:t>
            </a:r>
          </a:p>
          <a:p>
            <a:pPr eaLnBrk="1" hangingPunct="1"/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  <a:sym typeface="Symbol" pitchFamily="18" charset="2"/>
              </a:rPr>
              <a:t>U={</a:t>
            </a:r>
            <a:r>
              <a:rPr lang="zh-CN" altLang="en-US" sz="2800" dirty="0">
                <a:solidFill>
                  <a:srgbClr val="0000FF"/>
                </a:solidFill>
                <a:ea typeface="黑体" pitchFamily="2" charset="-122"/>
                <a:sym typeface="Symbol" pitchFamily="18" charset="2"/>
              </a:rPr>
              <a:t>条索，色泽，净度，汤色，香气，滋味</a:t>
            </a:r>
            <a:r>
              <a:rPr lang="en-US" altLang="zh-CN" sz="2800" dirty="0">
                <a:solidFill>
                  <a:srgbClr val="0000FF"/>
                </a:solidFill>
                <a:ea typeface="黑体" pitchFamily="2" charset="-122"/>
                <a:sym typeface="Symbol" pitchFamily="18" charset="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  <a:sym typeface="Symbol" pitchFamily="18" charset="2"/>
              </a:rPr>
              <a:t>    假定</a:t>
            </a:r>
            <a:r>
              <a:rPr lang="en-US" altLang="zh-CN" sz="2400" dirty="0">
                <a:ea typeface="黑体" pitchFamily="2" charset="-122"/>
                <a:sym typeface="Symbol" pitchFamily="18" charset="2"/>
              </a:rPr>
              <a:t>U</a:t>
            </a:r>
            <a:r>
              <a:rPr lang="zh-CN" altLang="en-US" sz="2400" dirty="0">
                <a:ea typeface="黑体" pitchFamily="2" charset="-122"/>
                <a:sym typeface="Symbol" pitchFamily="18" charset="2"/>
              </a:rPr>
              <a:t>上的</a:t>
            </a:r>
            <a:r>
              <a:rPr lang="en-US" altLang="zh-CN" sz="2400" dirty="0">
                <a:ea typeface="黑体" pitchFamily="2" charset="-122"/>
                <a:sym typeface="Symbol" pitchFamily="18" charset="2"/>
              </a:rPr>
              <a:t>F</a:t>
            </a:r>
            <a:r>
              <a:rPr lang="zh-CN" altLang="en-US" sz="2400" dirty="0">
                <a:ea typeface="黑体" pitchFamily="2" charset="-122"/>
                <a:sym typeface="Symbol" pitchFamily="18" charset="2"/>
              </a:rPr>
              <a:t>集为</a:t>
            </a:r>
            <a:r>
              <a:rPr lang="en-US" altLang="zh-CN" sz="2400" dirty="0">
                <a:ea typeface="黑体" pitchFamily="2" charset="-122"/>
                <a:sym typeface="Symbol" pitchFamily="18" charset="2"/>
              </a:rPr>
              <a:t>Ⅰ=(0.5, 0.4, 0.3, 0.6, 0.5, 0.4)</a:t>
            </a:r>
            <a:r>
              <a:rPr lang="zh-CN" altLang="en-US" sz="2400" dirty="0">
                <a:ea typeface="黑体" pitchFamily="2" charset="-122"/>
                <a:sym typeface="Symbol" pitchFamily="18" charset="2"/>
              </a:rPr>
              <a:t>、</a:t>
            </a:r>
            <a:endParaRPr lang="en-US" altLang="zh-CN" sz="2400" dirty="0">
              <a:ea typeface="黑体" pitchFamily="2" charset="-122"/>
              <a:sym typeface="Symbol" pitchFamily="18" charset="2"/>
            </a:endParaRPr>
          </a:p>
          <a:p>
            <a:pPr eaLnBrk="1" hangingPunct="1">
              <a:buNone/>
            </a:pPr>
            <a:r>
              <a:rPr lang="en-US" altLang="zh-CN" sz="2400" dirty="0">
                <a:ea typeface="黑体" pitchFamily="2" charset="-122"/>
                <a:sym typeface="Symbol" pitchFamily="18" charset="2"/>
              </a:rPr>
              <a:t>    Ⅱ =(0.3, 0.2, 0.2, 0.1, 0.2, 0.2),  Ⅲ =(0.2, 0.2, 0.2,0.1,0.1, 0.2) </a:t>
            </a:r>
          </a:p>
          <a:p>
            <a:pPr eaLnBrk="1" hangingPunct="1">
              <a:buNone/>
            </a:pPr>
            <a:r>
              <a:rPr lang="en-US" altLang="zh-CN" sz="2400" dirty="0">
                <a:ea typeface="黑体" pitchFamily="2" charset="-122"/>
                <a:sym typeface="Symbol" pitchFamily="18" charset="2"/>
              </a:rPr>
              <a:t>    Ⅳ =(0.1, 0.1, 0.2, 0.1, 0.1, 0.1),  Ⅴ =(0, 0.1, 0.1, 0.1,0.1, 0.1)</a:t>
            </a:r>
          </a:p>
          <a:p>
            <a:pPr eaLnBrk="1" hangingPunct="1">
              <a:buNone/>
            </a:pPr>
            <a:r>
              <a:rPr lang="en-US" altLang="zh-CN" sz="2400" dirty="0">
                <a:ea typeface="黑体" pitchFamily="2" charset="-122"/>
                <a:sym typeface="Symbol" pitchFamily="18" charset="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A=(0.4, 0.2, 0.1, 0.4, 0.5, 0.6)</a:t>
            </a:r>
          </a:p>
          <a:p>
            <a:pPr eaLnBrk="1" hangingPunct="1">
              <a:buNone/>
            </a:pPr>
            <a:r>
              <a:rPr lang="en-US" altLang="zh-CN" sz="2400" dirty="0"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800" dirty="0">
                <a:ea typeface="黑体" pitchFamily="2" charset="-122"/>
                <a:sym typeface="Symbol" pitchFamily="18" charset="2"/>
              </a:rPr>
              <a:t>利用格贴近度公式计算得：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 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   N(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A,Ⅰ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)=0.5, N(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A,Ⅱ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)=0.3, N(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A,Ⅲ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)=0.2,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   N(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A,Ⅳ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)=0.2, N(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A,Ⅴ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  <a:sym typeface="Symbol" pitchFamily="18" charset="2"/>
              </a:rPr>
              <a:t>)=0.1</a:t>
            </a:r>
          </a:p>
          <a:p>
            <a:pPr eaLnBrk="1" hangingPunct="1"/>
            <a:r>
              <a:rPr lang="zh-CN" altLang="en-US" sz="2800" dirty="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按择近原则，可以确定</a:t>
            </a:r>
            <a:r>
              <a:rPr lang="en-US" altLang="zh-CN" sz="2800" dirty="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800" dirty="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为</a:t>
            </a:r>
            <a:r>
              <a:rPr lang="en-US" altLang="zh-CN" sz="2800" dirty="0">
                <a:ea typeface="黑体" pitchFamily="2" charset="-122"/>
                <a:sym typeface="Symbol" pitchFamily="18" charset="2"/>
              </a:rPr>
              <a:t>Ⅰ</a:t>
            </a:r>
            <a:r>
              <a:rPr lang="zh-CN" altLang="en-US" sz="2800" dirty="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型茶叶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5AF1B0-AE52-FB8D-7A4D-169C1DA6D7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  <p:graphicFrame>
        <p:nvGraphicFramePr>
          <p:cNvPr id="3" name="Object 13">
            <a:extLst>
              <a:ext uri="{FF2B5EF4-FFF2-40B4-BE49-F238E27FC236}">
                <a16:creationId xmlns:a16="http://schemas.microsoft.com/office/drawing/2014/main" id="{14CF4508-82F6-A931-2FF2-1E68E72AD2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610043"/>
              </p:ext>
            </p:extLst>
          </p:nvPr>
        </p:nvGraphicFramePr>
        <p:xfrm>
          <a:off x="5807968" y="4120106"/>
          <a:ext cx="46974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317160" progId="Equation.DSMT4">
                  <p:embed/>
                </p:oleObj>
              </mc:Choice>
              <mc:Fallback>
                <p:oleObj name="Equation" r:id="rId2" imgW="1739880" imgH="317160" progId="Equation.DSMT4">
                  <p:embed/>
                  <p:pic>
                    <p:nvPicPr>
                      <p:cNvPr id="768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4120106"/>
                        <a:ext cx="4697413" cy="858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37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4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择近原则举例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484313"/>
            <a:ext cx="9721080" cy="5300662"/>
          </a:xfrm>
        </p:spPr>
        <p:txBody>
          <a:bodyPr/>
          <a:lstStyle/>
          <a:p>
            <a:pPr eaLnBrk="1" hangingPunct="1"/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例：设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dirty="0">
                <a:solidFill>
                  <a:schemeClr val="bg2"/>
                </a:solidFill>
              </a:rPr>
              <a:t>={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1</a:t>
            </a:r>
            <a:r>
              <a:rPr kumimoji="1" lang="en-US" altLang="zh-CN" sz="2800" dirty="0">
                <a:solidFill>
                  <a:schemeClr val="bg2"/>
                </a:solidFill>
              </a:rPr>
              <a:t>, 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2</a:t>
            </a:r>
            <a:r>
              <a:rPr kumimoji="1" lang="en-US" altLang="zh-CN" sz="2800" dirty="0">
                <a:solidFill>
                  <a:schemeClr val="bg2"/>
                </a:solidFill>
              </a:rPr>
              <a:t>, …, 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u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6 </a:t>
            </a:r>
            <a:r>
              <a:rPr kumimoji="1" lang="en-US" altLang="zh-CN" sz="2800" dirty="0">
                <a:solidFill>
                  <a:schemeClr val="bg2"/>
                </a:solidFill>
              </a:rPr>
              <a:t>}</a:t>
            </a:r>
            <a:r>
              <a:rPr kumimoji="1" lang="zh-CN" altLang="en-US" sz="2800" dirty="0">
                <a:solidFill>
                  <a:schemeClr val="bg2"/>
                </a:solidFill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,A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,…,A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6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为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上的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6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个模式，且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chemeClr val="bg2"/>
                </a:solidFill>
              </a:rPr>
              <a:t>    </a:t>
            </a:r>
            <a:r>
              <a:rPr lang="en-US" altLang="zh-CN" sz="2400" dirty="0">
                <a:solidFill>
                  <a:schemeClr val="bg2"/>
                </a:solidFill>
              </a:rPr>
              <a:t>A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</a:rPr>
              <a:t>=(1, 0.8, 0.5, 0.4, 0, 0.1),  A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2</a:t>
            </a:r>
            <a:r>
              <a:rPr lang="en-US" altLang="zh-CN" sz="2400" dirty="0">
                <a:solidFill>
                  <a:schemeClr val="bg2"/>
                </a:solidFill>
              </a:rPr>
              <a:t>=(0.5, 0.1, 0.8, 1, 0.6, 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A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3</a:t>
            </a:r>
            <a:r>
              <a:rPr lang="en-US" altLang="zh-CN" sz="2400" dirty="0">
                <a:solidFill>
                  <a:schemeClr val="bg2"/>
                </a:solidFill>
              </a:rPr>
              <a:t>=(0, 1, 0.2, 0.7, 0.5, 0.8),  A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4</a:t>
            </a:r>
            <a:r>
              <a:rPr lang="en-US" altLang="zh-CN" sz="2400" dirty="0">
                <a:solidFill>
                  <a:schemeClr val="bg2"/>
                </a:solidFill>
              </a:rPr>
              <a:t>=(0.4, 0, 1, 0.9, 0.6, 0.5)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A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5</a:t>
            </a:r>
            <a:r>
              <a:rPr lang="en-US" altLang="zh-CN" sz="2400" dirty="0">
                <a:solidFill>
                  <a:schemeClr val="bg2"/>
                </a:solidFill>
              </a:rPr>
              <a:t>=(0.8, 0.2, 0, 0.5, 1, 0.7),  A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6</a:t>
            </a:r>
            <a:r>
              <a:rPr lang="en-US" altLang="zh-CN" sz="2400" dirty="0">
                <a:solidFill>
                  <a:schemeClr val="bg2"/>
                </a:solidFill>
              </a:rPr>
              <a:t>=(0.5, 0.7, 0.8, 0, 0.5, 1)</a:t>
            </a:r>
          </a:p>
          <a:p>
            <a:pPr eaLnBrk="1" hangingPunct="1"/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现有一待识别对象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</a:t>
            </a:r>
            <a:r>
              <a:rPr lang="en-US" altLang="zh-CN" sz="2400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  <a:sym typeface="Symbol" pitchFamily="18" charset="2"/>
              </a:rPr>
              <a:t>F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(U)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  <a:sym typeface="Symbol" pitchFamily="18" charset="2"/>
              </a:rPr>
              <a:t>：</a:t>
            </a:r>
            <a:r>
              <a:rPr lang="zh-CN" altLang="en-US" sz="2400" dirty="0">
                <a:solidFill>
                  <a:schemeClr val="bg2"/>
                </a:solidFill>
              </a:rPr>
              <a:t> </a:t>
            </a:r>
            <a:r>
              <a:rPr lang="en-US" altLang="zh-CN" sz="2400" dirty="0">
                <a:solidFill>
                  <a:srgbClr val="CC00CC"/>
                </a:solidFill>
              </a:rPr>
              <a:t>B=(0.7, 0.2, 0.1, 0.4, 1, 0.8 )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试判断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应归属哪一个模式比较合理？</a:t>
            </a:r>
          </a:p>
          <a:p>
            <a:pPr eaLnBrk="1" hangingPunct="1"/>
            <a:r>
              <a:rPr lang="zh-CN" altLang="en-US" sz="2400" dirty="0">
                <a:ea typeface="黑体" pitchFamily="2" charset="-122"/>
              </a:rPr>
              <a:t>因为</a:t>
            </a:r>
            <a:r>
              <a:rPr lang="en-US" altLang="zh-CN" sz="2400" dirty="0">
                <a:ea typeface="黑体" pitchFamily="2" charset="-122"/>
              </a:rPr>
              <a:t>N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(B,A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)=0.3333, N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(B,A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en-US" altLang="zh-CN" sz="2400" dirty="0">
                <a:ea typeface="黑体" pitchFamily="2" charset="-122"/>
              </a:rPr>
              <a:t>)=0.3778, N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(B,A</a:t>
            </a:r>
            <a:r>
              <a:rPr lang="en-US" altLang="zh-CN" sz="2400" baseline="-25000" dirty="0">
                <a:ea typeface="黑体" pitchFamily="2" charset="-122"/>
              </a:rPr>
              <a:t>3</a:t>
            </a:r>
            <a:r>
              <a:rPr lang="en-US" altLang="zh-CN" sz="2400" dirty="0">
                <a:ea typeface="黑体" pitchFamily="2" charset="-122"/>
              </a:rPr>
              <a:t>)=0.4545, N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(B,A</a:t>
            </a:r>
            <a:r>
              <a:rPr lang="en-US" altLang="zh-CN" sz="2400" baseline="-25000" dirty="0">
                <a:ea typeface="黑体" pitchFamily="2" charset="-122"/>
              </a:rPr>
              <a:t>4</a:t>
            </a:r>
            <a:r>
              <a:rPr lang="en-US" altLang="zh-CN" sz="2400" dirty="0">
                <a:ea typeface="黑体" pitchFamily="2" charset="-122"/>
              </a:rPr>
              <a:t>)=0.4348, N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(B,A</a:t>
            </a:r>
            <a:r>
              <a:rPr lang="en-US" altLang="zh-CN" sz="2400" baseline="-25000" dirty="0">
                <a:ea typeface="黑体" pitchFamily="2" charset="-122"/>
              </a:rPr>
              <a:t>5</a:t>
            </a:r>
            <a:r>
              <a:rPr lang="en-US" altLang="zh-CN" sz="2400" dirty="0">
                <a:ea typeface="黑体" pitchFamily="2" charset="-122"/>
              </a:rPr>
              <a:t>)=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0.8824</a:t>
            </a:r>
            <a:r>
              <a:rPr lang="en-US" altLang="zh-CN" sz="2400" dirty="0">
                <a:ea typeface="黑体" pitchFamily="2" charset="-122"/>
              </a:rPr>
              <a:t>,</a:t>
            </a:r>
          </a:p>
          <a:p>
            <a:pPr eaLnBrk="1" hangingPunct="1">
              <a:buNone/>
            </a:pPr>
            <a:r>
              <a:rPr lang="en-US" altLang="zh-CN" sz="2400" dirty="0">
                <a:ea typeface="黑体" pitchFamily="2" charset="-122"/>
              </a:rPr>
              <a:t>    N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(B,A</a:t>
            </a:r>
            <a:r>
              <a:rPr lang="en-US" altLang="zh-CN" sz="2400" baseline="-25000" dirty="0">
                <a:ea typeface="黑体" pitchFamily="2" charset="-122"/>
              </a:rPr>
              <a:t>6</a:t>
            </a:r>
            <a:r>
              <a:rPr lang="en-US" altLang="zh-CN" sz="2400" dirty="0">
                <a:ea typeface="黑体" pitchFamily="2" charset="-122"/>
              </a:rPr>
              <a:t>)=0.4656, </a:t>
            </a:r>
          </a:p>
          <a:p>
            <a:pPr eaLnBrk="1" hangingPunct="1"/>
            <a:r>
              <a:rPr lang="zh-CN" altLang="en-US" sz="2400" dirty="0">
                <a:ea typeface="黑体" pitchFamily="2" charset="-122"/>
              </a:rPr>
              <a:t>由于</a:t>
            </a:r>
            <a:r>
              <a:rPr lang="en-US" altLang="zh-CN" sz="2400" dirty="0">
                <a:ea typeface="黑体" pitchFamily="2" charset="-122"/>
              </a:rPr>
              <a:t>N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(B,A</a:t>
            </a:r>
            <a:r>
              <a:rPr lang="en-US" altLang="zh-CN" sz="2400" baseline="-25000" dirty="0">
                <a:ea typeface="黑体" pitchFamily="2" charset="-122"/>
              </a:rPr>
              <a:t>5</a:t>
            </a:r>
            <a:r>
              <a:rPr lang="en-US" altLang="zh-CN" sz="2400" dirty="0">
                <a:ea typeface="黑体" pitchFamily="2" charset="-122"/>
              </a:rPr>
              <a:t>)=max{N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(</a:t>
            </a:r>
            <a:r>
              <a:rPr lang="en-US" altLang="zh-CN" sz="2400" dirty="0" err="1">
                <a:ea typeface="黑体" pitchFamily="2" charset="-122"/>
              </a:rPr>
              <a:t>B,A</a:t>
            </a:r>
            <a:r>
              <a:rPr lang="en-US" altLang="zh-CN" sz="2400" baseline="-25000" dirty="0" err="1">
                <a:ea typeface="黑体" pitchFamily="2" charset="-122"/>
              </a:rPr>
              <a:t>i</a:t>
            </a:r>
            <a:r>
              <a:rPr lang="en-US" altLang="zh-CN" sz="2400" dirty="0">
                <a:ea typeface="黑体" pitchFamily="2" charset="-122"/>
              </a:rPr>
              <a:t>): </a:t>
            </a:r>
            <a:r>
              <a:rPr lang="en-US" altLang="zh-CN" sz="2400" dirty="0" err="1">
                <a:ea typeface="黑体" pitchFamily="2" charset="-122"/>
              </a:rPr>
              <a:t>i</a:t>
            </a:r>
            <a:r>
              <a:rPr lang="en-US" altLang="zh-CN" sz="2400" dirty="0">
                <a:ea typeface="黑体" pitchFamily="2" charset="-122"/>
              </a:rPr>
              <a:t>=1,2,…,6)}</a:t>
            </a:r>
          </a:p>
          <a:p>
            <a:pPr eaLnBrk="1" hangingPunct="1"/>
            <a:r>
              <a:rPr lang="zh-CN" altLang="en-US" sz="2400" dirty="0">
                <a:ea typeface="黑体" pitchFamily="2" charset="-122"/>
              </a:rPr>
              <a:t>故由择近原则，</a:t>
            </a:r>
            <a:r>
              <a:rPr lang="en-US" altLang="zh-CN" sz="2400" dirty="0">
                <a:ea typeface="黑体" pitchFamily="2" charset="-122"/>
              </a:rPr>
              <a:t>B</a:t>
            </a:r>
            <a:r>
              <a:rPr lang="zh-CN" altLang="en-US" sz="2400" dirty="0">
                <a:ea typeface="黑体" pitchFamily="2" charset="-122"/>
              </a:rPr>
              <a:t>应归属于模式</a:t>
            </a:r>
            <a:r>
              <a:rPr lang="en-US" altLang="zh-CN" sz="2400" dirty="0">
                <a:ea typeface="黑体" pitchFamily="2" charset="-122"/>
              </a:rPr>
              <a:t>A</a:t>
            </a:r>
            <a:r>
              <a:rPr lang="en-US" altLang="zh-CN" sz="2400" baseline="-25000" dirty="0">
                <a:ea typeface="黑体" pitchFamily="2" charset="-122"/>
              </a:rPr>
              <a:t>5</a:t>
            </a:r>
            <a:r>
              <a:rPr lang="zh-CN" altLang="en-US" sz="2400" dirty="0">
                <a:ea typeface="黑体" pitchFamily="2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3A5327-3226-0E70-89A9-55295DFC4D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188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88640"/>
            <a:ext cx="109728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2.5 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确定隶属函数的方法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560240"/>
            <a:ext cx="9721080" cy="5108848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隶属函数的思想是模糊数学的基本思想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元素属于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集的隶属度是客观存在的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b="1" dirty="0">
                <a:ea typeface="楷体_GB2312" pitchFamily="49" charset="-122"/>
              </a:rPr>
              <a:t>表面上，似乎隶属度是主观的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b="1" dirty="0">
                <a:ea typeface="楷体_GB2312" pitchFamily="49" charset="-122"/>
              </a:rPr>
              <a:t>实际上，</a:t>
            </a:r>
            <a:r>
              <a:rPr lang="en-US" altLang="zh-CN" b="1" dirty="0">
                <a:ea typeface="楷体_GB2312" pitchFamily="49" charset="-122"/>
              </a:rPr>
              <a:t>F</a:t>
            </a:r>
            <a:r>
              <a:rPr lang="zh-CN" altLang="en-US" b="1" dirty="0">
                <a:ea typeface="楷体_GB2312" pitchFamily="49" charset="-122"/>
              </a:rPr>
              <a:t>性的根源在于客观事物差异之间存在中介过渡，这样便在客观上对隶属度进行了某种限定，使得隶属度不能主观捏造，它是具有客观规律的东西。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应用模糊数学方法的关键在于建立符合实际的隶属函数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645E4F-F1A7-D1C7-203C-4A4E47C633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242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4077073"/>
            <a:ext cx="7655743" cy="239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隶属函数的特征</a:t>
            </a:r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305" y="1319742"/>
            <a:ext cx="4334271" cy="313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4" name="Text Box 6"/>
          <p:cNvSpPr txBox="1">
            <a:spLocks noChangeArrowheads="1"/>
          </p:cNvSpPr>
          <p:nvPr/>
        </p:nvSpPr>
        <p:spPr bwMode="auto">
          <a:xfrm>
            <a:off x="2542630" y="6356176"/>
            <a:ext cx="6265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正规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集                  </a:t>
            </a:r>
            <a:r>
              <a:rPr lang="zh-CN" altLang="en-US" sz="2400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次正规</a:t>
            </a:r>
            <a:r>
              <a:rPr lang="en-US" altLang="zh-CN" sz="2400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2400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A0BFDE-2EB4-F9F0-D64E-AAEF14AF6F70}"/>
              </a:ext>
            </a:extLst>
          </p:cNvPr>
          <p:cNvSpPr txBox="1"/>
          <p:nvPr/>
        </p:nvSpPr>
        <p:spPr>
          <a:xfrm>
            <a:off x="9016281" y="4509120"/>
            <a:ext cx="17602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正规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集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C77B34-3341-B0AC-6666-050CA428F2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1718" y="1458026"/>
            <a:ext cx="5904608" cy="302418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典型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集合由它的核、支集和边界构成</a:t>
            </a:r>
          </a:p>
          <a:p>
            <a:pPr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一个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正规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集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中，至少有一个元素的隶属值为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否则，称为</a:t>
            </a:r>
            <a:r>
              <a:rPr lang="zh-CN" altLang="en-US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次正规</a:t>
            </a:r>
            <a:r>
              <a:rPr lang="en-US" altLang="zh-CN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集。</a:t>
            </a:r>
            <a:endParaRPr lang="zh-CN" altLang="en-US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27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4" grpId="0"/>
      <p:bldP spid="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9" y="2521446"/>
            <a:ext cx="7126287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隶属函数的特征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341438"/>
            <a:ext cx="10009112" cy="4032250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凸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集</a:t>
            </a:r>
            <a:r>
              <a:rPr lang="zh-CN" altLang="en-US" dirty="0">
                <a:ea typeface="黑体" pitchFamily="2" charset="-122"/>
              </a:rPr>
              <a:t>：设</a:t>
            </a:r>
            <a:r>
              <a:rPr lang="en-US" altLang="zh-CN" dirty="0">
                <a:ea typeface="黑体" pitchFamily="2" charset="-122"/>
              </a:rPr>
              <a:t>x, y, z</a:t>
            </a:r>
            <a:r>
              <a:rPr lang="en-US" altLang="zh-CN" dirty="0">
                <a:ea typeface="黑体" pitchFamily="2" charset="-122"/>
                <a:sym typeface="Symbol" panose="05050102010706020507" pitchFamily="18" charset="2"/>
              </a:rPr>
              <a:t></a:t>
            </a:r>
            <a:r>
              <a:rPr lang="zh-CN" altLang="en-US" dirty="0">
                <a:ea typeface="黑体" pitchFamily="2" charset="-122"/>
              </a:rPr>
              <a:t>论域，且</a:t>
            </a:r>
            <a:r>
              <a:rPr lang="en-US" altLang="zh-CN" dirty="0">
                <a:ea typeface="黑体" pitchFamily="2" charset="-122"/>
              </a:rPr>
              <a:t>x&lt;y&lt;z, </a:t>
            </a:r>
            <a:r>
              <a:rPr lang="zh-CN" altLang="en-US" dirty="0">
                <a:ea typeface="黑体" pitchFamily="2" charset="-122"/>
              </a:rPr>
              <a:t>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                </a:t>
            </a:r>
            <a:r>
              <a:rPr lang="el-GR" altLang="zh-CN" dirty="0">
                <a:ea typeface="黑体" pitchFamily="2" charset="-122"/>
                <a:cs typeface="Arial" charset="0"/>
              </a:rPr>
              <a:t>μ</a:t>
            </a:r>
            <a:r>
              <a:rPr lang="en-US" altLang="zh-CN" dirty="0">
                <a:ea typeface="黑体" pitchFamily="2" charset="-122"/>
                <a:cs typeface="Arial" charset="0"/>
              </a:rPr>
              <a:t>(y) </a:t>
            </a:r>
            <a:r>
              <a:rPr lang="el-GR" altLang="zh-CN" dirty="0">
                <a:ea typeface="黑体" pitchFamily="2" charset="-122"/>
              </a:rPr>
              <a:t>≥</a:t>
            </a:r>
            <a:r>
              <a:rPr lang="en-US" altLang="zh-CN" dirty="0">
                <a:ea typeface="黑体" pitchFamily="2" charset="-122"/>
              </a:rPr>
              <a:t>min[</a:t>
            </a:r>
            <a:r>
              <a:rPr lang="el-GR" altLang="zh-CN" dirty="0">
                <a:ea typeface="黑体" pitchFamily="2" charset="-122"/>
              </a:rPr>
              <a:t>μ</a:t>
            </a:r>
            <a:r>
              <a:rPr lang="en-US" altLang="zh-CN" dirty="0">
                <a:ea typeface="黑体" pitchFamily="2" charset="-122"/>
              </a:rPr>
              <a:t>(x),</a:t>
            </a:r>
            <a:r>
              <a:rPr lang="el-GR" altLang="zh-CN" dirty="0">
                <a:ea typeface="黑体" pitchFamily="2" charset="-122"/>
              </a:rPr>
              <a:t>μ</a:t>
            </a:r>
            <a:r>
              <a:rPr lang="en-US" altLang="zh-CN" dirty="0">
                <a:ea typeface="黑体" pitchFamily="2" charset="-122"/>
              </a:rPr>
              <a:t>(z)]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40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凸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集特殊性质</a:t>
            </a:r>
            <a:r>
              <a:rPr lang="zh-CN" altLang="en-US" dirty="0">
                <a:ea typeface="黑体" pitchFamily="2" charset="-122"/>
              </a:rPr>
              <a:t>：若</a:t>
            </a:r>
            <a:r>
              <a:rPr lang="en-US" altLang="zh-CN" dirty="0">
                <a:ea typeface="黑体" pitchFamily="2" charset="-122"/>
              </a:rPr>
              <a:t>A</a:t>
            </a:r>
            <a:r>
              <a:rPr lang="zh-CN" altLang="en-US" dirty="0">
                <a:ea typeface="黑体" pitchFamily="2" charset="-122"/>
              </a:rPr>
              <a:t>、</a:t>
            </a:r>
            <a:r>
              <a:rPr lang="en-US" altLang="zh-CN" dirty="0">
                <a:ea typeface="黑体" pitchFamily="2" charset="-122"/>
              </a:rPr>
              <a:t>B</a:t>
            </a:r>
            <a:r>
              <a:rPr lang="zh-CN" altLang="en-US" dirty="0">
                <a:ea typeface="黑体" pitchFamily="2" charset="-122"/>
              </a:rPr>
              <a:t>是凸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集，则</a:t>
            </a:r>
            <a:r>
              <a:rPr lang="en-US" altLang="zh-CN" dirty="0">
                <a:ea typeface="黑体" pitchFamily="2" charset="-122"/>
              </a:rPr>
              <a:t>A</a:t>
            </a:r>
            <a:r>
              <a:rPr lang="en-US" altLang="el-GR" dirty="0">
                <a:ea typeface="黑体" pitchFamily="2" charset="-122"/>
              </a:rPr>
              <a:t>∩</a:t>
            </a:r>
            <a:r>
              <a:rPr lang="en-US" altLang="zh-CN" dirty="0">
                <a:ea typeface="黑体" pitchFamily="2" charset="-122"/>
              </a:rPr>
              <a:t>B</a:t>
            </a:r>
            <a:r>
              <a:rPr lang="zh-CN" altLang="en-US" dirty="0">
                <a:ea typeface="黑体" pitchFamily="2" charset="-122"/>
              </a:rPr>
              <a:t>也是凸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集。</a:t>
            </a:r>
            <a:endParaRPr lang="zh-CN" altLang="el-GR" dirty="0">
              <a:ea typeface="黑体" pitchFamily="2" charset="-122"/>
            </a:endParaRPr>
          </a:p>
        </p:txBody>
      </p:sp>
      <p:pic>
        <p:nvPicPr>
          <p:cNvPr id="1208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4869160"/>
            <a:ext cx="3518788" cy="1985749"/>
          </a:xfrm>
          <a:prstGeom prst="rect">
            <a:avLst/>
          </a:prstGeom>
          <a:solidFill>
            <a:srgbClr val="E6F4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8" name="Text Box 6"/>
          <p:cNvSpPr txBox="1">
            <a:spLocks noChangeArrowheads="1"/>
          </p:cNvSpPr>
          <p:nvPr/>
        </p:nvSpPr>
        <p:spPr bwMode="auto">
          <a:xfrm>
            <a:off x="1353076" y="5373688"/>
            <a:ext cx="4532313" cy="1169551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F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集隶属函数的最普通形式：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           ——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凸的正规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集。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47418A-E785-AEF6-44D6-870763281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41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/>
      <p:bldP spid="12083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确定隶属函数的方法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552" y="1628800"/>
            <a:ext cx="8229600" cy="4824536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方法</a:t>
            </a: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：直觉法</a:t>
            </a:r>
            <a:endParaRPr lang="en-US" altLang="zh-CN" dirty="0">
              <a:solidFill>
                <a:srgbClr val="0000FF"/>
              </a:solidFill>
              <a:ea typeface="黑体" pitchFamily="2" charset="-122"/>
            </a:endParaRPr>
          </a:p>
          <a:p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方法</a:t>
            </a: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：推理法</a:t>
            </a:r>
            <a:endParaRPr lang="en-US" altLang="zh-CN" dirty="0">
              <a:solidFill>
                <a:srgbClr val="0000FF"/>
              </a:solidFill>
              <a:ea typeface="黑体" pitchFamily="2" charset="-122"/>
            </a:endParaRPr>
          </a:p>
          <a:p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方法</a:t>
            </a: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3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：</a:t>
            </a:r>
            <a:r>
              <a:rPr lang="en-US" altLang="zh-CN" dirty="0">
                <a:solidFill>
                  <a:srgbClr val="0000FF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00FF"/>
                </a:solidFill>
                <a:ea typeface="黑体" pitchFamily="49" charset="-122"/>
              </a:rPr>
              <a:t>统计方法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ea typeface="黑体" pitchFamily="49" charset="-122"/>
              </a:rPr>
              <a:t>方法</a:t>
            </a:r>
            <a:r>
              <a:rPr lang="en-US" altLang="zh-CN" dirty="0">
                <a:ea typeface="黑体" pitchFamily="49" charset="-122"/>
              </a:rPr>
              <a:t>4</a:t>
            </a:r>
            <a:r>
              <a:rPr lang="zh-CN" altLang="en-US" dirty="0">
                <a:ea typeface="黑体" pitchFamily="49" charset="-122"/>
              </a:rPr>
              <a:t>：多相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统计</a:t>
            </a:r>
            <a:endParaRPr lang="en-US" altLang="zh-CN" dirty="0">
              <a:ea typeface="黑体" pitchFamily="49" charset="-122"/>
            </a:endParaRPr>
          </a:p>
          <a:p>
            <a:r>
              <a:rPr lang="zh-CN" altLang="en-US" dirty="0">
                <a:ea typeface="黑体" pitchFamily="49" charset="-122"/>
              </a:rPr>
              <a:t>方法</a:t>
            </a:r>
            <a:r>
              <a:rPr lang="en-US" altLang="zh-CN" dirty="0">
                <a:ea typeface="黑体" pitchFamily="49" charset="-122"/>
              </a:rPr>
              <a:t>5</a:t>
            </a:r>
            <a:r>
              <a:rPr lang="zh-CN" altLang="en-US" dirty="0">
                <a:ea typeface="黑体" pitchFamily="49" charset="-122"/>
              </a:rPr>
              <a:t>：二元排序法</a:t>
            </a:r>
            <a:endParaRPr lang="en-US" altLang="zh-CN" dirty="0">
              <a:ea typeface="黑体" pitchFamily="49" charset="-122"/>
            </a:endParaRPr>
          </a:p>
          <a:p>
            <a:r>
              <a:rPr lang="zh-CN" altLang="en-US" dirty="0">
                <a:ea typeface="黑体" pitchFamily="49" charset="-122"/>
              </a:rPr>
              <a:t>方法</a:t>
            </a:r>
            <a:r>
              <a:rPr lang="en-US" altLang="zh-CN" dirty="0">
                <a:ea typeface="黑体" pitchFamily="49" charset="-122"/>
              </a:rPr>
              <a:t>6</a:t>
            </a:r>
            <a:r>
              <a:rPr lang="zh-CN" altLang="en-US" dirty="0">
                <a:ea typeface="黑体" pitchFamily="49" charset="-122"/>
              </a:rPr>
              <a:t>：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分布法</a:t>
            </a:r>
            <a:endParaRPr lang="en-US" altLang="zh-CN" dirty="0">
              <a:ea typeface="黑体" pitchFamily="49" charset="-122"/>
            </a:endParaRPr>
          </a:p>
          <a:p>
            <a:r>
              <a:rPr lang="zh-CN" altLang="en-US" dirty="0">
                <a:ea typeface="黑体" pitchFamily="49" charset="-122"/>
              </a:rPr>
              <a:t>方法</a:t>
            </a:r>
            <a:r>
              <a:rPr lang="en-US" altLang="zh-CN" dirty="0">
                <a:ea typeface="黑体" pitchFamily="49" charset="-122"/>
              </a:rPr>
              <a:t>7</a:t>
            </a:r>
            <a:r>
              <a:rPr lang="zh-CN" altLang="en-US" dirty="0">
                <a:ea typeface="黑体" pitchFamily="49" charset="-122"/>
              </a:rPr>
              <a:t>：神经网络方法</a:t>
            </a:r>
            <a:endParaRPr lang="en-US" altLang="zh-CN" dirty="0">
              <a:ea typeface="黑体" pitchFamily="49" charset="-122"/>
            </a:endParaRPr>
          </a:p>
          <a:p>
            <a:r>
              <a:rPr lang="zh-CN" altLang="en-US" dirty="0">
                <a:ea typeface="黑体" pitchFamily="49" charset="-122"/>
              </a:rPr>
              <a:t>方法</a:t>
            </a:r>
            <a:r>
              <a:rPr lang="en-US" altLang="zh-CN" dirty="0">
                <a:ea typeface="黑体" pitchFamily="49" charset="-122"/>
              </a:rPr>
              <a:t>8</a:t>
            </a:r>
            <a:r>
              <a:rPr lang="zh-CN" altLang="en-US" dirty="0">
                <a:ea typeface="黑体" pitchFamily="49" charset="-122"/>
              </a:rPr>
              <a:t>：遗传算法方法</a:t>
            </a:r>
            <a:endParaRPr lang="zh-CN" altLang="en-US" dirty="0"/>
          </a:p>
          <a:p>
            <a:pPr marL="0" indent="0">
              <a:lnSpc>
                <a:spcPct val="120000"/>
              </a:lnSpc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376B95-B9EF-B6D7-91C5-623CC0FB6A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90914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隶属函数确定方法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：直觉法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96109"/>
            <a:ext cx="10382944" cy="2059364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直觉法：人类用自己的智慧和认识来建立隶属函数。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直觉包含问题的上下文和语义的有关知识，也包含了对这些知识的真实语言学价值。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如对温度的感觉：冷、凉、暖、热</a:t>
            </a:r>
            <a:endParaRPr lang="zh-CN" altLang="en-US" dirty="0"/>
          </a:p>
        </p:txBody>
      </p:sp>
      <p:pic>
        <p:nvPicPr>
          <p:cNvPr id="1218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861" y="3807202"/>
            <a:ext cx="5086162" cy="2800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777348" y="3653066"/>
            <a:ext cx="5822708" cy="3108543"/>
          </a:xfrm>
          <a:prstGeom prst="rect">
            <a:avLst/>
          </a:prstGeom>
          <a:solidFill>
            <a:srgbClr val="CC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楷体_GB2312" pitchFamily="49" charset="-122"/>
              </a:rPr>
              <a:t>我们把这些曲线的相交部分作为它们的重要特征。</a:t>
            </a:r>
            <a:endParaRPr lang="en-US" altLang="zh-CN" sz="2800" b="1" dirty="0"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最重要的概念是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——</a:t>
            </a:r>
          </a:p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楷体_GB2312" pitchFamily="49" charset="-122"/>
              </a:rPr>
              <a:t>在所讨论的论域上，这些曲线是近似的，所用到的是这些曲线的数目及其相交的特征</a:t>
            </a:r>
            <a:r>
              <a:rPr lang="zh-CN" altLang="en-US" sz="2400" b="1" dirty="0">
                <a:ea typeface="楷体_GB2312" pitchFamily="49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6366FD-5789-B324-7697-887D8CD6BC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47200" y="6389173"/>
            <a:ext cx="2844800" cy="457200"/>
          </a:xfrm>
        </p:spPr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65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5111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186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186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 build="allAtOnce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3874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隶属函数确定方法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：推理法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841500"/>
            <a:ext cx="10153128" cy="46355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此方法中要用到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演绎推理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，即通过对给定的一批论据和知识进行演绎或推理来得出一个结论。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ea typeface="黑体" pitchFamily="2" charset="-122"/>
              </a:rPr>
              <a:t>此方法有多种形式，如与几何学及几何形状相关联的例子：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ea typeface="黑体" pitchFamily="2" charset="-122"/>
              </a:rPr>
              <a:t>在三角形的识别中，通过我们具有的几何知识可以帮助我们为近似</a:t>
            </a:r>
            <a:r>
              <a:rPr lang="zh-CN" altLang="en-US" u="sng" dirty="0">
                <a:ea typeface="黑体" pitchFamily="2" charset="-122"/>
              </a:rPr>
              <a:t>等腰三角形</a:t>
            </a:r>
            <a:r>
              <a:rPr lang="zh-CN" altLang="en-US" dirty="0">
                <a:ea typeface="黑体" pitchFamily="2" charset="-122"/>
              </a:rPr>
              <a:t>、近似</a:t>
            </a:r>
            <a:r>
              <a:rPr lang="zh-CN" altLang="en-US" u="sng" dirty="0">
                <a:ea typeface="黑体" pitchFamily="2" charset="-122"/>
              </a:rPr>
              <a:t>直角三角形</a:t>
            </a:r>
            <a:r>
              <a:rPr lang="zh-CN" altLang="en-US" dirty="0">
                <a:ea typeface="黑体" pitchFamily="2" charset="-122"/>
              </a:rPr>
              <a:t>、近似</a:t>
            </a:r>
            <a:r>
              <a:rPr lang="zh-CN" altLang="en-US" u="sng" dirty="0">
                <a:ea typeface="黑体" pitchFamily="2" charset="-122"/>
              </a:rPr>
              <a:t>等腰直角三角形</a:t>
            </a:r>
            <a:r>
              <a:rPr lang="zh-CN" altLang="en-US" dirty="0">
                <a:ea typeface="黑体" pitchFamily="2" charset="-122"/>
              </a:rPr>
              <a:t>、近似</a:t>
            </a:r>
            <a:r>
              <a:rPr lang="zh-CN" altLang="en-US" u="sng" dirty="0">
                <a:ea typeface="黑体" pitchFamily="2" charset="-122"/>
              </a:rPr>
              <a:t>等边三角形</a:t>
            </a:r>
            <a:r>
              <a:rPr lang="zh-CN" altLang="en-US" dirty="0">
                <a:ea typeface="黑体" pitchFamily="2" charset="-122"/>
              </a:rPr>
              <a:t>等确定隶属关系，如前面的例子。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D3392E-375A-6419-BECB-4B357DE049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129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隶属函数确定方法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统计方法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12876"/>
            <a:ext cx="9865096" cy="28797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例：取年龄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论域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U=[0,100](</a:t>
            </a:r>
            <a:r>
              <a:rPr lang="zh-CN" altLang="en-US" sz="2800" dirty="0">
                <a:ea typeface="黑体" pitchFamily="2" charset="-122"/>
              </a:rPr>
              <a:t>单位：岁</a:t>
            </a:r>
            <a:r>
              <a:rPr lang="en-US" altLang="zh-CN" sz="2800" dirty="0">
                <a:ea typeface="黑体" pitchFamily="2" charset="-122"/>
              </a:rPr>
              <a:t>), A</a:t>
            </a:r>
            <a:r>
              <a:rPr lang="zh-CN" altLang="en-US" sz="2800" dirty="0">
                <a:ea typeface="黑体" pitchFamily="2" charset="-122"/>
              </a:rPr>
              <a:t>是</a:t>
            </a:r>
            <a:r>
              <a:rPr lang="en-US" altLang="zh-CN" sz="2800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上一个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集，表示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概念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a=“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青年人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”</a:t>
            </a:r>
            <a:r>
              <a:rPr lang="zh-CN" altLang="en-US" sz="2800" dirty="0">
                <a:ea typeface="黑体" pitchFamily="2" charset="-122"/>
              </a:rPr>
              <a:t>，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具体做法：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选择</a:t>
            </a:r>
            <a:r>
              <a:rPr lang="en-US" altLang="zh-CN" dirty="0">
                <a:solidFill>
                  <a:srgbClr val="368B44"/>
                </a:solidFill>
                <a:ea typeface="黑体" pitchFamily="2" charset="-122"/>
              </a:rPr>
              <a:t>129</a:t>
            </a:r>
            <a:r>
              <a:rPr lang="zh-CN" altLang="en-US" dirty="0">
                <a:ea typeface="黑体" pitchFamily="2" charset="-122"/>
              </a:rPr>
              <a:t>位合适人选，在他们认真考虑“青年人”的含义后，报出他们认为“青年人”的最适宜年限，得</a:t>
            </a:r>
          </a:p>
          <a:p>
            <a:pPr eaLnBrk="1" hangingPunct="1"/>
            <a:endParaRPr lang="zh-CN" altLang="en-US" sz="2000" dirty="0">
              <a:ea typeface="黑体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F8BD48-160E-8858-283A-F753CE8D5ACC}"/>
              </a:ext>
            </a:extLst>
          </p:cNvPr>
          <p:cNvSpPr txBox="1"/>
          <p:nvPr/>
        </p:nvSpPr>
        <p:spPr>
          <a:xfrm>
            <a:off x="1775520" y="3736406"/>
            <a:ext cx="1840608" cy="168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“青年人”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年龄区间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统计表</a:t>
            </a:r>
          </a:p>
        </p:txBody>
      </p:sp>
      <p:pic>
        <p:nvPicPr>
          <p:cNvPr id="5" name="内容占位符 4" descr="表格&#10;&#10;描述已自动生成">
            <a:extLst>
              <a:ext uri="{FF2B5EF4-FFF2-40B4-BE49-F238E27FC236}">
                <a16:creationId xmlns:a16="http://schemas.microsoft.com/office/drawing/2014/main" id="{F89297FC-FE86-1D3E-07E5-4E8F746AD999}"/>
              </a:ext>
            </a:extLst>
          </p:cNvPr>
          <p:cNvPicPr>
            <a:picLocks noGrp="1" noChangeAspect="1"/>
          </p:cNvPicPr>
          <p:nvPr>
            <p:ph sz="quarter" idx="3"/>
          </p:nvPr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807" b="3948"/>
          <a:stretch/>
        </p:blipFill>
        <p:spPr>
          <a:xfrm rot="16200000">
            <a:off x="5322881" y="2440723"/>
            <a:ext cx="3416794" cy="6257444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2E9551C-E025-396E-D237-556F720FE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166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uiExpand="1" build="p"/>
      <p:bldP spid="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隶属函数确定方法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统计方法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412876"/>
            <a:ext cx="10441160" cy="28797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例：取年龄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论域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U=[0,100](</a:t>
            </a:r>
            <a:r>
              <a:rPr lang="zh-CN" altLang="en-US" sz="2800" dirty="0">
                <a:ea typeface="黑体" pitchFamily="2" charset="-122"/>
              </a:rPr>
              <a:t>单位：岁</a:t>
            </a:r>
            <a:r>
              <a:rPr lang="en-US" altLang="zh-CN" sz="2800" dirty="0">
                <a:ea typeface="黑体" pitchFamily="2" charset="-122"/>
              </a:rPr>
              <a:t>), A</a:t>
            </a:r>
            <a:r>
              <a:rPr lang="zh-CN" altLang="en-US" sz="2800" dirty="0">
                <a:ea typeface="黑体" pitchFamily="2" charset="-122"/>
              </a:rPr>
              <a:t>是</a:t>
            </a:r>
            <a:r>
              <a:rPr lang="en-US" altLang="zh-CN" sz="2800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上一个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集，表示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概念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a=“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青年人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”</a:t>
            </a:r>
            <a:r>
              <a:rPr lang="zh-CN" altLang="en-US" sz="2800" dirty="0">
                <a:ea typeface="黑体" pitchFamily="2" charset="-122"/>
              </a:rPr>
              <a:t>，选取</a:t>
            </a:r>
            <a:r>
              <a:rPr lang="en-US" altLang="zh-CN" sz="2800" dirty="0">
                <a:solidFill>
                  <a:srgbClr val="FF00FF"/>
                </a:solidFill>
                <a:ea typeface="黑体" pitchFamily="2" charset="-122"/>
              </a:rPr>
              <a:t>u</a:t>
            </a:r>
            <a:r>
              <a:rPr lang="en-US" altLang="zh-CN" sz="2800" baseline="-25000" dirty="0">
                <a:solidFill>
                  <a:srgbClr val="FF00FF"/>
                </a:solidFill>
                <a:ea typeface="黑体" pitchFamily="2" charset="-122"/>
              </a:rPr>
              <a:t>0</a:t>
            </a:r>
            <a:r>
              <a:rPr lang="en-US" altLang="zh-CN" sz="2800" dirty="0">
                <a:solidFill>
                  <a:srgbClr val="FF00FF"/>
                </a:solidFill>
                <a:ea typeface="黑体" pitchFamily="2" charset="-122"/>
              </a:rPr>
              <a:t>=27</a:t>
            </a:r>
            <a:r>
              <a:rPr lang="zh-CN" altLang="en-US" sz="2800" dirty="0">
                <a:ea typeface="黑体" pitchFamily="2" charset="-122"/>
              </a:rPr>
              <a:t>，试用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统计来确定</a:t>
            </a:r>
            <a:r>
              <a:rPr lang="en-US" altLang="zh-CN" sz="2800" dirty="0">
                <a:ea typeface="黑体" pitchFamily="2" charset="-122"/>
              </a:rPr>
              <a:t>u</a:t>
            </a:r>
            <a:r>
              <a:rPr lang="en-US" altLang="zh-CN" sz="2800" baseline="-25000" dirty="0">
                <a:ea typeface="黑体" pitchFamily="2" charset="-122"/>
              </a:rPr>
              <a:t>0</a:t>
            </a:r>
            <a:r>
              <a:rPr lang="zh-CN" altLang="en-US" sz="2800" dirty="0">
                <a:ea typeface="黑体" pitchFamily="2" charset="-122"/>
              </a:rPr>
              <a:t>对</a:t>
            </a:r>
            <a:r>
              <a:rPr lang="en-US" altLang="zh-CN" sz="2800" dirty="0">
                <a:ea typeface="黑体" pitchFamily="2" charset="-122"/>
              </a:rPr>
              <a:t>A</a:t>
            </a:r>
            <a:r>
              <a:rPr lang="zh-CN" altLang="en-US" sz="2800" dirty="0">
                <a:ea typeface="黑体" pitchFamily="2" charset="-122"/>
              </a:rPr>
              <a:t>的隶属度。</a:t>
            </a:r>
          </a:p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具体做法：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选择</a:t>
            </a:r>
            <a:r>
              <a:rPr lang="en-US" altLang="zh-CN" dirty="0">
                <a:ea typeface="黑体" pitchFamily="2" charset="-122"/>
              </a:rPr>
              <a:t>129</a:t>
            </a:r>
            <a:r>
              <a:rPr lang="zh-CN" altLang="en-US" dirty="0">
                <a:ea typeface="黑体" pitchFamily="2" charset="-122"/>
              </a:rPr>
              <a:t>位合适人选，在他们认真考虑“青年人”的含义后，报出他们认为“青年人”的最适宜年限，得</a:t>
            </a:r>
          </a:p>
          <a:p>
            <a:pPr lvl="1" algn="ctr"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FF"/>
                </a:solidFill>
                <a:ea typeface="黑体" pitchFamily="2" charset="-122"/>
              </a:rPr>
              <a:t>27</a:t>
            </a:r>
            <a:r>
              <a:rPr lang="zh-CN" altLang="en-US" sz="2400" dirty="0">
                <a:solidFill>
                  <a:srgbClr val="FF00FF"/>
                </a:solidFill>
                <a:ea typeface="黑体" pitchFamily="2" charset="-122"/>
              </a:rPr>
              <a:t>岁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对“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青年人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”的隶属频率表</a:t>
            </a:r>
            <a:endParaRPr lang="zh-CN" altLang="en-US" sz="2400" dirty="0">
              <a:ea typeface="黑体" pitchFamily="2" charset="-122"/>
            </a:endParaRPr>
          </a:p>
        </p:txBody>
      </p:sp>
      <p:graphicFrame>
        <p:nvGraphicFramePr>
          <p:cNvPr id="123908" name="Group 4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791182549"/>
              </p:ext>
            </p:extLst>
          </p:nvPr>
        </p:nvGraphicFramePr>
        <p:xfrm>
          <a:off x="839416" y="4391884"/>
          <a:ext cx="10225132" cy="1191182"/>
        </p:xfrm>
        <a:graphic>
          <a:graphicData uri="http://schemas.openxmlformats.org/drawingml/2006/table">
            <a:tbl>
              <a:tblPr/>
              <a:tblGrid>
                <a:gridCol w="1293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36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17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36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99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99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360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54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360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8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129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隶属次数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23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39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47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53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62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68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76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85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95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101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4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隶属频率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0.60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0.70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0.77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0.77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0.79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970" name="Text Box 66"/>
          <p:cNvSpPr txBox="1">
            <a:spLocks noChangeArrowheads="1"/>
          </p:cNvSpPr>
          <p:nvPr/>
        </p:nvSpPr>
        <p:spPr bwMode="auto">
          <a:xfrm>
            <a:off x="839416" y="5740568"/>
            <a:ext cx="10225135" cy="1107996"/>
          </a:xfrm>
          <a:prstGeom prst="rect">
            <a:avLst/>
          </a:prstGeom>
          <a:solidFill>
            <a:srgbClr val="D5D5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a typeface="楷体_GB2312" pitchFamily="49" charset="-122"/>
              </a:rPr>
              <a:t>容易看出，</a:t>
            </a:r>
            <a:r>
              <a:rPr lang="en-US" altLang="zh-CN" sz="2400" b="1" dirty="0">
                <a:solidFill>
                  <a:srgbClr val="FF00FF"/>
                </a:solidFill>
                <a:ea typeface="楷体_GB2312" pitchFamily="49" charset="-122"/>
              </a:rPr>
              <a:t>27</a:t>
            </a:r>
            <a:r>
              <a:rPr lang="zh-CN" altLang="en-US" sz="2400" b="1" dirty="0">
                <a:solidFill>
                  <a:srgbClr val="FF00FF"/>
                </a:solidFill>
                <a:ea typeface="楷体_GB2312" pitchFamily="49" charset="-122"/>
              </a:rPr>
              <a:t>岁</a:t>
            </a:r>
            <a:r>
              <a:rPr lang="zh-CN" altLang="en-US" sz="2400" b="1" dirty="0">
                <a:ea typeface="楷体_GB2312" pitchFamily="49" charset="-122"/>
              </a:rPr>
              <a:t>对于“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青年人</a:t>
            </a:r>
            <a:r>
              <a:rPr lang="zh-CN" altLang="en-US" sz="2400" b="1" dirty="0">
                <a:ea typeface="楷体_GB2312" pitchFamily="49" charset="-122"/>
              </a:rPr>
              <a:t>”的隶属频率大致稳定在</a:t>
            </a:r>
            <a:r>
              <a:rPr lang="en-US" altLang="zh-CN" sz="2400" b="1" dirty="0">
                <a:ea typeface="楷体_GB2312" pitchFamily="49" charset="-122"/>
              </a:rPr>
              <a:t>0.78</a:t>
            </a:r>
            <a:r>
              <a:rPr lang="zh-CN" altLang="en-US" sz="2400" b="1" dirty="0">
                <a:ea typeface="楷体_GB2312" pitchFamily="49" charset="-122"/>
              </a:rPr>
              <a:t>附近，故可得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dirty="0"/>
              <a:t>                                          </a:t>
            </a:r>
            <a:r>
              <a:rPr lang="en-US" altLang="zh-CN" sz="2800" b="1" dirty="0">
                <a:solidFill>
                  <a:srgbClr val="FF00FF"/>
                </a:solidFill>
              </a:rPr>
              <a:t>A(u</a:t>
            </a:r>
            <a:r>
              <a:rPr lang="en-US" altLang="zh-CN" sz="2800" b="1" baseline="-25000" dirty="0">
                <a:solidFill>
                  <a:srgbClr val="FF00FF"/>
                </a:solidFill>
              </a:rPr>
              <a:t>0</a:t>
            </a:r>
            <a:r>
              <a:rPr lang="en-US" altLang="zh-CN" sz="2800" b="1" dirty="0">
                <a:solidFill>
                  <a:srgbClr val="FF00FF"/>
                </a:solidFill>
              </a:rPr>
              <a:t>) = A(27) = 0.78</a:t>
            </a:r>
            <a:endParaRPr lang="en-US" altLang="zh-CN" sz="2400" b="1" dirty="0">
              <a:solidFill>
                <a:srgbClr val="FF00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829C28-0032-1AE1-9412-5CFF10F523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D6E25B-6966-49A4-8034-64784C305E3A}" type="slidenum">
              <a:rPr lang="en-US" altLang="zh-CN" smtClean="0"/>
              <a:pPr>
                <a:defRPr/>
              </a:pPr>
              <a:t>68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8949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uiExpand="1" build="p"/>
      <p:bldP spid="12397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隶属函数确定方法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统计方法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341439"/>
            <a:ext cx="9505056" cy="935037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求“青年人”的隶属函数的做法：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将</a:t>
            </a:r>
            <a:r>
              <a:rPr lang="zh-CN" altLang="en-US" dirty="0">
                <a:ea typeface="黑体" pitchFamily="2" charset="-122"/>
              </a:rPr>
              <a:t>论域</a:t>
            </a:r>
            <a:r>
              <a:rPr lang="en-US" altLang="zh-CN" dirty="0">
                <a:ea typeface="黑体" pitchFamily="2" charset="-122"/>
              </a:rPr>
              <a:t>U</a:t>
            </a:r>
            <a:r>
              <a:rPr lang="zh-CN" altLang="en-US" dirty="0">
                <a:ea typeface="黑体" pitchFamily="2" charset="-122"/>
              </a:rPr>
              <a:t>分组，每组以中值为代表分别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计算</a:t>
            </a:r>
            <a:r>
              <a:rPr lang="zh-CN" altLang="en-US" dirty="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各组隶属频率</a:t>
            </a:r>
          </a:p>
        </p:txBody>
      </p:sp>
      <p:graphicFrame>
        <p:nvGraphicFramePr>
          <p:cNvPr id="125033" name="Group 105"/>
          <p:cNvGraphicFramePr>
            <a:graphicFrameLocks noGrp="1"/>
          </p:cNvGraphicFramePr>
          <p:nvPr>
            <p:ph sz="half" idx="2"/>
          </p:nvPr>
        </p:nvGraphicFramePr>
        <p:xfrm>
          <a:off x="2711450" y="2420938"/>
          <a:ext cx="6840538" cy="4389434"/>
        </p:xfrm>
        <a:graphic>
          <a:graphicData uri="http://schemas.openxmlformats.org/drawingml/2006/table">
            <a:tbl>
              <a:tblPr/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5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4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分组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频数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隶属频率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分组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频数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隶属频率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F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13.5~14.5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0.016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25.5~26.5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0.798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14.5~15.5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0.210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26.5~27.5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0.783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15.5~16.5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0.395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27.5~28.5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0.767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16.5~17.5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0.519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28.5~29.5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0.620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17.5~18.5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124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0.961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29.5~30.5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0.597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18.5~19.5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0.969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30.5~31.5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0.209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19.5~20.5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31.5~32.5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27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0.209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20.5~21.5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32.5~33.5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0.202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21.5~22.5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33.5~34.5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0.202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22.5~23.5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34.5~35.5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0.202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23.5~24.5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35.5~36.5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0.008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24.5~25.5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128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0.992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1CE2B2-42A2-A6EB-0F35-BE02DB082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492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隶属函数确定方法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3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：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统计方法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5988" y="5929312"/>
            <a:ext cx="8229600" cy="638175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青年人“的隶属函数直方图</a:t>
            </a: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412" y="1653087"/>
            <a:ext cx="7499176" cy="4026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48018C-C57C-D318-A408-2AC17F9C52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46859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55440" y="1605649"/>
            <a:ext cx="9793088" cy="3240618"/>
            <a:chOff x="900113" y="1773238"/>
            <a:chExt cx="7761287" cy="3816002"/>
          </a:xfrm>
        </p:grpSpPr>
        <p:pic>
          <p:nvPicPr>
            <p:cNvPr id="593927" name="Picture 7" descr="06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136"/>
            <a:stretch>
              <a:fillRect/>
            </a:stretch>
          </p:blipFill>
          <p:spPr bwMode="auto">
            <a:xfrm>
              <a:off x="900113" y="1773238"/>
              <a:ext cx="7761287" cy="3816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 bwMode="auto">
            <a:xfrm>
              <a:off x="3131840" y="5085184"/>
              <a:ext cx="720080" cy="50405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5036327"/>
            <a:ext cx="10009112" cy="1633033"/>
          </a:xfrm>
          <a:solidFill>
            <a:srgbClr val="FFFFCC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统计的实验原则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被调查人员一定要对模糊词汇的概念很熟悉，且能够用数量近似表达这一个概念。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须对原始数据预处理，删除明显不合逻辑的数据。</a:t>
            </a:r>
            <a:endParaRPr lang="zh-CN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三所大学的调查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79FDAD-3687-24A3-19A4-4ADE006AE1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06E8CA6-AEC5-D8D9-25E4-418756A88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4376218"/>
            <a:ext cx="8229600" cy="638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j-lt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j-lt"/>
                <a:ea typeface="黑体" panose="0201060906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j-lt"/>
                <a:ea typeface="黑体" panose="0201060906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j-lt"/>
                <a:ea typeface="黑体" panose="0201060906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j-lt"/>
                <a:ea typeface="黑体" panose="0201060906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b="1" kern="0">
                <a:solidFill>
                  <a:srgbClr val="FF0000"/>
                </a:solidFill>
                <a:ea typeface="楷体_GB2312" pitchFamily="49" charset="-122"/>
              </a:rPr>
              <a:t>“</a:t>
            </a:r>
            <a:r>
              <a:rPr lang="zh-CN" altLang="en-US" b="1" kern="0">
                <a:solidFill>
                  <a:srgbClr val="FF0000"/>
                </a:solidFill>
                <a:ea typeface="楷体_GB2312" pitchFamily="49" charset="-122"/>
              </a:rPr>
              <a:t>青年人“的隶属函数直方图</a:t>
            </a:r>
            <a:endParaRPr lang="zh-CN" altLang="en-US" b="1" kern="0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023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23" grpId="0" build="p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一些文字和图案&#10;&#10;中度可信度描述已自动生成">
            <a:extLst>
              <a:ext uri="{FF2B5EF4-FFF2-40B4-BE49-F238E27FC236}">
                <a16:creationId xmlns:a16="http://schemas.microsoft.com/office/drawing/2014/main" id="{6E2912F3-3162-E6A9-ADDD-2DD7C76795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642" r="3346" b="3887"/>
          <a:stretch/>
        </p:blipFill>
        <p:spPr>
          <a:xfrm rot="16353504">
            <a:off x="6166254" y="1173659"/>
            <a:ext cx="4184747" cy="431793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B179BF6-98F6-E467-3B70-8100E526C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04664"/>
            <a:ext cx="8511621" cy="934048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“年青人”分组隶属频率表</a:t>
            </a:r>
          </a:p>
        </p:txBody>
      </p:sp>
      <p:pic>
        <p:nvPicPr>
          <p:cNvPr id="5" name="内容占位符 4" descr="表格&#10;&#10;描述已自动生成">
            <a:extLst>
              <a:ext uri="{FF2B5EF4-FFF2-40B4-BE49-F238E27FC236}">
                <a16:creationId xmlns:a16="http://schemas.microsoft.com/office/drawing/2014/main" id="{8E323A21-7686-F22C-1533-559C6E6DE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914"/>
          <a:stretch/>
        </p:blipFill>
        <p:spPr>
          <a:xfrm rot="16200000">
            <a:off x="1848161" y="1293146"/>
            <a:ext cx="4112626" cy="4207873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91672BF-45B9-3889-51C6-587AB2734C87}"/>
              </a:ext>
            </a:extLst>
          </p:cNvPr>
          <p:cNvSpPr txBox="1"/>
          <p:nvPr/>
        </p:nvSpPr>
        <p:spPr>
          <a:xfrm>
            <a:off x="1524000" y="5321459"/>
            <a:ext cx="9144000" cy="1569660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近几年做的相同实验表明：</a:t>
            </a:r>
            <a:endParaRPr lang="en-US" altLang="zh-CN" sz="2400" b="1" dirty="0"/>
          </a:p>
          <a:p>
            <a:r>
              <a:rPr lang="en-US" altLang="zh-CN" sz="2400" b="1" dirty="0"/>
              <a:t>1</a:t>
            </a:r>
            <a:r>
              <a:rPr lang="zh-CN" altLang="en-US" sz="2400" b="1" dirty="0"/>
              <a:t>。隶属频率的稳定性；</a:t>
            </a:r>
            <a:endParaRPr lang="en-US" altLang="zh-CN" sz="2400" b="1" dirty="0"/>
          </a:p>
          <a:p>
            <a:r>
              <a:rPr lang="en-US" altLang="zh-CN" sz="2400" b="1" dirty="0"/>
              <a:t>2</a:t>
            </a:r>
            <a:r>
              <a:rPr lang="zh-CN" altLang="en-US" sz="2400" b="1" dirty="0"/>
              <a:t>。注意到一个有趣现象：随着时代的发展，“年青人”这一模糊概念变得越来越“宽泛”了。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AB60847-D0EE-55C3-C835-AC6F5B93B4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82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隶属函数确定方法</a:t>
            </a:r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3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：</a:t>
            </a:r>
            <a:r>
              <a:rPr lang="en-US" altLang="zh-CN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统计方法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494913"/>
            <a:ext cx="10009112" cy="3518413"/>
          </a:xfrm>
        </p:spPr>
        <p:txBody>
          <a:bodyPr/>
          <a:lstStyle/>
          <a:p>
            <a:pPr marL="609600" indent="-609600" eaLnBrk="1" hangingPunct="1">
              <a:buSzTx/>
            </a:pP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统计试验目的：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用确定性手段去研究不确定性</a:t>
            </a:r>
          </a:p>
          <a:p>
            <a:pPr marL="609600" indent="-609600" eaLnBrk="1" hangingPunct="1"/>
            <a:r>
              <a:rPr lang="en-US" altLang="zh-CN" sz="2800" dirty="0">
                <a:solidFill>
                  <a:srgbClr val="FF00FF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FF00FF"/>
                </a:solidFill>
                <a:ea typeface="黑体" pitchFamily="49" charset="-122"/>
              </a:rPr>
              <a:t>统计试验的基本要求：</a:t>
            </a:r>
          </a:p>
          <a:p>
            <a:pPr marL="990600" lvl="1" indent="-533400" eaLnBrk="1" hangingPunct="1">
              <a:buSzTx/>
            </a:pPr>
            <a:r>
              <a:rPr lang="zh-CN" altLang="en-US" sz="2400" b="1" dirty="0">
                <a:ea typeface="楷体_GB2312" pitchFamily="49" charset="-122"/>
              </a:rPr>
              <a:t>要对</a:t>
            </a:r>
            <a:r>
              <a:rPr lang="en-US" altLang="zh-CN" sz="2400" b="1" dirty="0">
                <a:ea typeface="楷体_GB2312" pitchFamily="49" charset="-122"/>
              </a:rPr>
              <a:t>U</a:t>
            </a:r>
            <a:r>
              <a:rPr lang="zh-CN" altLang="en-US" sz="2400" b="1" dirty="0">
                <a:ea typeface="楷体_GB2312" pitchFamily="49" charset="-122"/>
              </a:rPr>
              <a:t>上固定的元素</a:t>
            </a:r>
            <a:r>
              <a:rPr lang="en-US" altLang="zh-CN" sz="2400" b="1" dirty="0"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ea typeface="楷体_GB2312" pitchFamily="49" charset="-122"/>
              </a:rPr>
              <a:t>0</a:t>
            </a:r>
            <a:r>
              <a:rPr lang="zh-CN" altLang="en-US" sz="2400" b="1" dirty="0">
                <a:ea typeface="楷体_GB2312" pitchFamily="49" charset="-122"/>
              </a:rPr>
              <a:t>是否属于</a:t>
            </a:r>
            <a:r>
              <a:rPr lang="en-US" altLang="zh-CN" sz="2400" b="1" dirty="0">
                <a:ea typeface="楷体_GB2312" pitchFamily="49" charset="-122"/>
              </a:rPr>
              <a:t>U</a:t>
            </a:r>
            <a:r>
              <a:rPr lang="zh-CN" altLang="en-US" sz="2400" b="1" dirty="0">
                <a:ea typeface="楷体_GB2312" pitchFamily="49" charset="-122"/>
              </a:rPr>
              <a:t>上一个可变动的集合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A*</a:t>
            </a:r>
            <a:r>
              <a:rPr lang="zh-CN" altLang="en-US" sz="2400" b="1" dirty="0"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A*</a:t>
            </a:r>
            <a:r>
              <a:rPr lang="zh-CN" altLang="en-US" sz="2400" b="1" dirty="0">
                <a:ea typeface="楷体_GB2312" pitchFamily="49" charset="-122"/>
              </a:rPr>
              <a:t>为</a:t>
            </a:r>
            <a:r>
              <a:rPr lang="en-US" altLang="zh-CN" sz="2400" b="1" dirty="0">
                <a:ea typeface="楷体_GB2312" pitchFamily="49" charset="-122"/>
              </a:rPr>
              <a:t>F</a:t>
            </a:r>
            <a:r>
              <a:rPr lang="zh-CN" altLang="en-US" sz="2400" b="1" dirty="0">
                <a:ea typeface="楷体_GB2312" pitchFamily="49" charset="-122"/>
              </a:rPr>
              <a:t>集</a:t>
            </a:r>
            <a:r>
              <a:rPr lang="en-US" altLang="zh-CN" sz="2400" b="1" dirty="0">
                <a:ea typeface="楷体_GB2312" pitchFamily="49" charset="-122"/>
              </a:rPr>
              <a:t>A</a:t>
            </a:r>
            <a:r>
              <a:rPr lang="zh-CN" altLang="en-US" sz="2400" b="1" dirty="0">
                <a:ea typeface="楷体_GB2312" pitchFamily="49" charset="-122"/>
              </a:rPr>
              <a:t>的可塑边界）作确切判断；</a:t>
            </a:r>
          </a:p>
          <a:p>
            <a:pPr marL="990600" lvl="1" indent="-533400" eaLnBrk="1" hangingPunct="1">
              <a:buSzTx/>
            </a:pPr>
            <a:r>
              <a:rPr lang="zh-CN" altLang="en-US" sz="2400" b="1" dirty="0">
                <a:ea typeface="楷体_GB2312" pitchFamily="49" charset="-122"/>
              </a:rPr>
              <a:t>在各次试验中，</a:t>
            </a:r>
            <a:r>
              <a:rPr lang="en-US" altLang="zh-CN" sz="2400" b="1" dirty="0"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ea typeface="楷体_GB2312" pitchFamily="49" charset="-122"/>
              </a:rPr>
              <a:t>0</a:t>
            </a:r>
            <a:r>
              <a:rPr lang="zh-CN" altLang="en-US" sz="2400" b="1" dirty="0">
                <a:ea typeface="楷体_GB2312" pitchFamily="49" charset="-122"/>
              </a:rPr>
              <a:t>是固定的，而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A*</a:t>
            </a:r>
            <a:r>
              <a:rPr lang="zh-CN" altLang="en-US" sz="2400" b="1" dirty="0">
                <a:ea typeface="楷体_GB2312" pitchFamily="49" charset="-122"/>
              </a:rPr>
              <a:t>在随机变动，做</a:t>
            </a:r>
            <a:r>
              <a:rPr lang="en-US" altLang="zh-CN" sz="2400" b="1" dirty="0">
                <a:ea typeface="楷体_GB2312" pitchFamily="49" charset="-122"/>
              </a:rPr>
              <a:t>n</a:t>
            </a:r>
            <a:r>
              <a:rPr lang="zh-CN" altLang="en-US" sz="2400" b="1" dirty="0">
                <a:ea typeface="楷体_GB2312" pitchFamily="49" charset="-122"/>
              </a:rPr>
              <a:t>次试验，计算</a:t>
            </a:r>
            <a:endParaRPr lang="zh-CN" altLang="en-US" sz="24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10342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2660763"/>
              </p:ext>
            </p:extLst>
          </p:nvPr>
        </p:nvGraphicFramePr>
        <p:xfrm>
          <a:off x="3431705" y="3985341"/>
          <a:ext cx="54006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300" imgH="406400" progId="Equation.DSMT4">
                  <p:embed/>
                </p:oleObj>
              </mc:Choice>
              <mc:Fallback>
                <p:oleObj name="Equation" r:id="rId2" imgW="2400300" imgH="406400" progId="Equation.DSMT4">
                  <p:embed/>
                  <p:pic>
                    <p:nvPicPr>
                      <p:cNvPr id="103428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5" y="3985341"/>
                        <a:ext cx="5400675" cy="914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438" name="Group 14"/>
          <p:cNvGrpSpPr>
            <a:grpSpLocks/>
          </p:cNvGrpSpPr>
          <p:nvPr/>
        </p:nvGrpSpPr>
        <p:grpSpPr bwMode="auto">
          <a:xfrm>
            <a:off x="8116691" y="4972562"/>
            <a:ext cx="3130550" cy="1733038"/>
            <a:chOff x="3696" y="3067"/>
            <a:chExt cx="2064" cy="1276"/>
          </a:xfrm>
        </p:grpSpPr>
        <p:sp>
          <p:nvSpPr>
            <p:cNvPr id="6153" name="Rectangle 5"/>
            <p:cNvSpPr>
              <a:spLocks noChangeArrowheads="1"/>
            </p:cNvSpPr>
            <p:nvPr/>
          </p:nvSpPr>
          <p:spPr bwMode="auto">
            <a:xfrm>
              <a:off x="3696" y="3067"/>
              <a:ext cx="2064" cy="125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4" name="Oval 6"/>
            <p:cNvSpPr>
              <a:spLocks noChangeArrowheads="1"/>
            </p:cNvSpPr>
            <p:nvPr/>
          </p:nvSpPr>
          <p:spPr bwMode="auto">
            <a:xfrm>
              <a:off x="4399" y="3322"/>
              <a:ext cx="862" cy="861"/>
            </a:xfrm>
            <a:prstGeom prst="ellips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5" name="Text Box 7"/>
            <p:cNvSpPr txBox="1">
              <a:spLocks noChangeArrowheads="1"/>
            </p:cNvSpPr>
            <p:nvPr/>
          </p:nvSpPr>
          <p:spPr bwMode="auto">
            <a:xfrm>
              <a:off x="3946" y="4048"/>
              <a:ext cx="227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U</a:t>
              </a:r>
            </a:p>
          </p:txBody>
        </p:sp>
        <p:sp>
          <p:nvSpPr>
            <p:cNvPr id="6157" name="Text Box 9"/>
            <p:cNvSpPr txBox="1">
              <a:spLocks noChangeArrowheads="1"/>
            </p:cNvSpPr>
            <p:nvPr/>
          </p:nvSpPr>
          <p:spPr bwMode="auto">
            <a:xfrm>
              <a:off x="4626" y="3413"/>
              <a:ext cx="318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8000"/>
                  </a:solidFill>
                </a:rPr>
                <a:t>u</a:t>
              </a:r>
              <a:r>
                <a:rPr lang="en-US" altLang="zh-CN" sz="2000" b="1" baseline="-25000">
                  <a:solidFill>
                    <a:srgbClr val="008000"/>
                  </a:solidFill>
                </a:rPr>
                <a:t>0</a:t>
              </a:r>
            </a:p>
          </p:txBody>
        </p:sp>
        <p:sp>
          <p:nvSpPr>
            <p:cNvPr id="6158" name="Text Box 10"/>
            <p:cNvSpPr txBox="1">
              <a:spLocks noChangeArrowheads="1"/>
            </p:cNvSpPr>
            <p:nvPr/>
          </p:nvSpPr>
          <p:spPr bwMode="auto">
            <a:xfrm>
              <a:off x="4717" y="3821"/>
              <a:ext cx="431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A</a:t>
              </a:r>
              <a:r>
                <a:rPr lang="en-US" altLang="zh-CN" sz="2400" b="1" baseline="30000" dirty="0">
                  <a:solidFill>
                    <a:srgbClr val="FF0000"/>
                  </a:solidFill>
                </a:rPr>
                <a:t>*</a:t>
              </a:r>
            </a:p>
          </p:txBody>
        </p:sp>
      </p:grpSp>
      <p:sp>
        <p:nvSpPr>
          <p:cNvPr id="103435" name="Rectangle 11"/>
          <p:cNvSpPr>
            <a:spLocks noChangeArrowheads="1"/>
          </p:cNvSpPr>
          <p:nvPr/>
        </p:nvSpPr>
        <p:spPr bwMode="auto">
          <a:xfrm>
            <a:off x="1447308" y="4965364"/>
            <a:ext cx="59432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ea typeface="楷体_GB2312" pitchFamily="49" charset="-122"/>
              </a:rPr>
              <a:t>随着</a:t>
            </a:r>
            <a:r>
              <a:rPr lang="en-US" altLang="zh-CN" sz="2400" b="1" dirty="0">
                <a:ea typeface="楷体_GB2312" pitchFamily="49" charset="-122"/>
              </a:rPr>
              <a:t>n</a:t>
            </a:r>
            <a:r>
              <a:rPr lang="zh-CN" altLang="en-US" sz="2400" b="1" dirty="0">
                <a:ea typeface="楷体_GB2312" pitchFamily="49" charset="-122"/>
              </a:rPr>
              <a:t>的增大，隶属频率也会呈现稳定性，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频率稳定值叫做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对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集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的隶属度。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545880"/>
              </p:ext>
            </p:extLst>
          </p:nvPr>
        </p:nvGraphicFramePr>
        <p:xfrm>
          <a:off x="2778280" y="5823462"/>
          <a:ext cx="3886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26451" imgH="406224" progId="Equation.3">
                  <p:embed/>
                </p:oleObj>
              </mc:Choice>
              <mc:Fallback>
                <p:oleObj name="公式" r:id="rId4" imgW="1726451" imgH="406224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280" y="5823462"/>
                        <a:ext cx="3886200" cy="9144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D6A209-256F-5CFE-9FA4-B1450E42C2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28546" y="6304753"/>
            <a:ext cx="2844800" cy="457200"/>
          </a:xfrm>
        </p:spPr>
        <p:txBody>
          <a:bodyPr/>
          <a:lstStyle/>
          <a:p>
            <a:pPr>
              <a:defRPr/>
            </a:pPr>
            <a:fld id="{BA3F9D6D-36EA-4C0E-B0C7-CC24F67A8C74}" type="slidenum">
              <a:rPr lang="en-US" altLang="zh-CN" smtClean="0"/>
              <a:pPr>
                <a:defRPr/>
              </a:pPr>
              <a:t>73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071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uiExpand="1" build="p"/>
      <p:bldP spid="10343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作业三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习题二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3600" dirty="0"/>
              <a:t>   1~4</a:t>
            </a:r>
            <a:r>
              <a:rPr lang="zh-CN" altLang="en-US" sz="3600" dirty="0"/>
              <a:t>，</a:t>
            </a:r>
            <a:r>
              <a:rPr lang="en-US" altLang="zh-CN" sz="3600" dirty="0"/>
              <a:t>6</a:t>
            </a:r>
            <a:r>
              <a:rPr lang="zh-CN" altLang="en-US" sz="3600" dirty="0"/>
              <a:t>，</a:t>
            </a:r>
            <a:r>
              <a:rPr lang="en-US" altLang="zh-CN" sz="3600" dirty="0"/>
              <a:t>9~11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3D1C6F-5CBC-89A7-0378-123697DC2B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89AF99-EEB7-4264-B997-D7F9D89F745F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9835609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43687</TotalTime>
  <Words>6063</Words>
  <Application>Microsoft Office PowerPoint</Application>
  <PresentationFormat>宽屏</PresentationFormat>
  <Paragraphs>1071</Paragraphs>
  <Slides>74</Slides>
  <Notes>18</Notes>
  <HiddenSlides>2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74</vt:i4>
      </vt:variant>
    </vt:vector>
  </HeadingPairs>
  <TitlesOfParts>
    <vt:vector size="89" baseType="lpstr">
      <vt:lpstr>黑体</vt:lpstr>
      <vt:lpstr>华文楷体</vt:lpstr>
      <vt:lpstr>楷体_GB2312</vt:lpstr>
      <vt:lpstr>隶书</vt:lpstr>
      <vt:lpstr>宋体</vt:lpstr>
      <vt:lpstr>Arial</vt:lpstr>
      <vt:lpstr>Arial Black</vt:lpstr>
      <vt:lpstr>Monotype Corsiva</vt:lpstr>
      <vt:lpstr>Symbol</vt:lpstr>
      <vt:lpstr>Times New Roman</vt:lpstr>
      <vt:lpstr>Wingdings</vt:lpstr>
      <vt:lpstr>Pixel</vt:lpstr>
      <vt:lpstr>公式</vt:lpstr>
      <vt:lpstr>Equation</vt:lpstr>
      <vt:lpstr>MathType 6.0 Equation</vt:lpstr>
      <vt:lpstr>第 2 章 模糊模式识别</vt:lpstr>
      <vt:lpstr>模式识别</vt:lpstr>
      <vt:lpstr>前一页说明</vt:lpstr>
      <vt:lpstr>模糊模式识别</vt:lpstr>
      <vt:lpstr>第二章  模糊模式识别</vt:lpstr>
      <vt:lpstr>F模式识别直接方法的一般应用步骤</vt:lpstr>
      <vt:lpstr>2.1.1  最大隶属度原则</vt:lpstr>
      <vt:lpstr>最大隶属度原则举例1</vt:lpstr>
      <vt:lpstr>最大隶属度原则举例2</vt:lpstr>
      <vt:lpstr>最大隶属度原则举例2</vt:lpstr>
      <vt:lpstr>最大隶属度原则举例3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大学生体质水平的模糊识别</vt:lpstr>
      <vt:lpstr>大学生体质水平的模糊识别</vt:lpstr>
      <vt:lpstr>大学生体质水平的模糊识别</vt:lpstr>
      <vt:lpstr>大学生体质水平的模糊识别</vt:lpstr>
      <vt:lpstr>大学生体质水平的模糊识别</vt:lpstr>
      <vt:lpstr>大学生体质水平的模糊识别</vt:lpstr>
      <vt:lpstr>大学生体质水平的模糊识别</vt:lpstr>
      <vt:lpstr>大学生体质水平的模糊识别</vt:lpstr>
      <vt:lpstr>大学生体质水平的模糊识别</vt:lpstr>
      <vt:lpstr>2.2  模糊集的贴近度</vt:lpstr>
      <vt:lpstr>贴近度函数</vt:lpstr>
      <vt:lpstr>海明贴近度</vt:lpstr>
      <vt:lpstr>欧几里得贴近度</vt:lpstr>
      <vt:lpstr>黎曼贴近度</vt:lpstr>
      <vt:lpstr>[P33例1]求黎曼贴近度N1(A,B)</vt:lpstr>
      <vt:lpstr>[P33例1]求黎曼贴近度N1(A,B)</vt:lpstr>
      <vt:lpstr>[P33例1]求黎曼贴近度N1(A,B)</vt:lpstr>
      <vt:lpstr>[P33例1]求黎曼贴近度N1(A,B)</vt:lpstr>
      <vt:lpstr>[P33例2]求黎曼贴近度N(A,B)</vt:lpstr>
      <vt:lpstr>[P33例2]求黎曼贴近度N(A,B)</vt:lpstr>
      <vt:lpstr>[P33例2]求黎曼贴近度N(A,B)</vt:lpstr>
      <vt:lpstr>2.3  格贴近度 2.3.1  F集的内积和外积的定义</vt:lpstr>
      <vt:lpstr>F集的内积和外积运算举例</vt:lpstr>
      <vt:lpstr>F集内积和外积的性质</vt:lpstr>
      <vt:lpstr>F集内积和外积的性质</vt:lpstr>
      <vt:lpstr>[性质4]            的证明</vt:lpstr>
      <vt:lpstr>F集内积和外积的意义</vt:lpstr>
      <vt:lpstr>F集内积和外积的意义</vt:lpstr>
      <vt:lpstr>格贴近度的引理</vt:lpstr>
      <vt:lpstr>PowerPoint 演示文稿</vt:lpstr>
      <vt:lpstr>2.3.2   格贴近度的定义</vt:lpstr>
      <vt:lpstr>格贴近度计算举例</vt:lpstr>
      <vt:lpstr>格贴近度计算举例[P36例1]</vt:lpstr>
      <vt:lpstr>格贴近度计算举例[P36例1]</vt:lpstr>
      <vt:lpstr>格贴近度计算举例[P36例1]</vt:lpstr>
      <vt:lpstr>其他实际应用中常用的贴近度</vt:lpstr>
      <vt:lpstr>其他实际应用中常用的贴近度</vt:lpstr>
      <vt:lpstr>其他实际应用中常用的贴近度</vt:lpstr>
      <vt:lpstr>其他实际应用中常用的贴近度</vt:lpstr>
      <vt:lpstr>2.4  模糊模式识别原则</vt:lpstr>
      <vt:lpstr>2.4.2  择近原则</vt:lpstr>
      <vt:lpstr>F模式识别间接方法的一般应用步骤</vt:lpstr>
      <vt:lpstr>择近原则举例[P38例2]</vt:lpstr>
      <vt:lpstr>择近原则举例</vt:lpstr>
      <vt:lpstr>2.5 确定隶属函数的方法</vt:lpstr>
      <vt:lpstr>隶属函数的特征</vt:lpstr>
      <vt:lpstr>隶属函数的特征</vt:lpstr>
      <vt:lpstr>确定隶属函数的方法</vt:lpstr>
      <vt:lpstr>隶属函数确定方法1：直觉法</vt:lpstr>
      <vt:lpstr>隶属函数确定方法2：推理法</vt:lpstr>
      <vt:lpstr>隶属函数确定方法3：F统计方法</vt:lpstr>
      <vt:lpstr>隶属函数确定方法3：F统计方法</vt:lpstr>
      <vt:lpstr>隶属函数确定方法3：F统计方法</vt:lpstr>
      <vt:lpstr>隶属函数确定方法3：F统计方法</vt:lpstr>
      <vt:lpstr>三所大学的调查</vt:lpstr>
      <vt:lpstr>“年青人”分组隶属频率表</vt:lpstr>
      <vt:lpstr>隶属函数确定方法3：F统计方法</vt:lpstr>
      <vt:lpstr>作业三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模糊</dc:title>
  <dc:creator>凌卫新</dc:creator>
  <cp:lastModifiedBy>wxling66@outlook.com</cp:lastModifiedBy>
  <cp:revision>352</cp:revision>
  <dcterms:created xsi:type="dcterms:W3CDTF">2007-03-16T09:31:25Z</dcterms:created>
  <dcterms:modified xsi:type="dcterms:W3CDTF">2026-03-17T11:46:22Z</dcterms:modified>
</cp:coreProperties>
</file>