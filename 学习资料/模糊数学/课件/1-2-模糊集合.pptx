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0"/>
  </p:notesMasterIdLst>
  <p:handoutMasterIdLst>
    <p:handoutMasterId r:id="rId61"/>
  </p:handoutMasterIdLst>
  <p:sldIdLst>
    <p:sldId id="301" r:id="rId2"/>
    <p:sldId id="527" r:id="rId3"/>
    <p:sldId id="292" r:id="rId4"/>
    <p:sldId id="521" r:id="rId5"/>
    <p:sldId id="308" r:id="rId6"/>
    <p:sldId id="309" r:id="rId7"/>
    <p:sldId id="326" r:id="rId8"/>
    <p:sldId id="316" r:id="rId9"/>
    <p:sldId id="317" r:id="rId10"/>
    <p:sldId id="318" r:id="rId11"/>
    <p:sldId id="321" r:id="rId12"/>
    <p:sldId id="323" r:id="rId13"/>
    <p:sldId id="322" r:id="rId14"/>
    <p:sldId id="319" r:id="rId15"/>
    <p:sldId id="305" r:id="rId16"/>
    <p:sldId id="306" r:id="rId17"/>
    <p:sldId id="522" r:id="rId18"/>
    <p:sldId id="302" r:id="rId19"/>
    <p:sldId id="303" r:id="rId20"/>
    <p:sldId id="523" r:id="rId21"/>
    <p:sldId id="291" r:id="rId22"/>
    <p:sldId id="524" r:id="rId23"/>
    <p:sldId id="256" r:id="rId24"/>
    <p:sldId id="279" r:id="rId25"/>
    <p:sldId id="260" r:id="rId26"/>
    <p:sldId id="280" r:id="rId27"/>
    <p:sldId id="261" r:id="rId28"/>
    <p:sldId id="262" r:id="rId29"/>
    <p:sldId id="263" r:id="rId30"/>
    <p:sldId id="310" r:id="rId31"/>
    <p:sldId id="265" r:id="rId32"/>
    <p:sldId id="266" r:id="rId33"/>
    <p:sldId id="267" r:id="rId34"/>
    <p:sldId id="298" r:id="rId35"/>
    <p:sldId id="299" r:id="rId36"/>
    <p:sldId id="300" r:id="rId37"/>
    <p:sldId id="296" r:id="rId38"/>
    <p:sldId id="268" r:id="rId39"/>
    <p:sldId id="282" r:id="rId40"/>
    <p:sldId id="269" r:id="rId41"/>
    <p:sldId id="304" r:id="rId42"/>
    <p:sldId id="270" r:id="rId43"/>
    <p:sldId id="271" r:id="rId44"/>
    <p:sldId id="272" r:id="rId45"/>
    <p:sldId id="273" r:id="rId46"/>
    <p:sldId id="274" r:id="rId47"/>
    <p:sldId id="525" r:id="rId48"/>
    <p:sldId id="283" r:id="rId49"/>
    <p:sldId id="285" r:id="rId50"/>
    <p:sldId id="286" r:id="rId51"/>
    <p:sldId id="287" r:id="rId52"/>
    <p:sldId id="324" r:id="rId53"/>
    <p:sldId id="325" r:id="rId54"/>
    <p:sldId id="275" r:id="rId55"/>
    <p:sldId id="290" r:id="rId56"/>
    <p:sldId id="307" r:id="rId57"/>
    <p:sldId id="312" r:id="rId58"/>
    <p:sldId id="313" r:id="rId59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0000"/>
    <a:srgbClr val="FF99FF"/>
    <a:srgbClr val="CC00CC"/>
    <a:srgbClr val="FFCC66"/>
    <a:srgbClr val="008000"/>
    <a:srgbClr val="66CCFF"/>
    <a:srgbClr val="FFFF00"/>
    <a:srgbClr val="FF99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11" autoAdjust="0"/>
    <p:restoredTop sz="82229" autoAdjust="0"/>
  </p:normalViewPr>
  <p:slideViewPr>
    <p:cSldViewPr>
      <p:cViewPr varScale="1">
        <p:scale>
          <a:sx n="61" d="100"/>
          <a:sy n="61" d="100"/>
        </p:scale>
        <p:origin x="84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36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CF2E1-7053-498C-9C8A-120DB333825A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B23BA-E973-459A-89F8-621436806A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6060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70C552B-B808-4BB9-80CB-704898857D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19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55575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dirty="0">
                <a:solidFill>
                  <a:srgbClr val="0000FF"/>
                </a:solidFill>
                <a:sym typeface="Symbol" pitchFamily="18" charset="2"/>
              </a:rPr>
              <a:t> </a:t>
            </a:r>
            <a:r>
              <a:rPr lang="en-US" altLang="zh-CN" sz="1100" dirty="0">
                <a:solidFill>
                  <a:srgbClr val="CC00FF"/>
                </a:solidFill>
              </a:rPr>
              <a:t>Ø</a:t>
            </a:r>
            <a:r>
              <a:rPr kumimoji="1" lang="en-US" altLang="zh-CN" dirty="0">
                <a:sym typeface="Symbol" pitchFamily="18" charset="2"/>
              </a:rPr>
              <a:t> </a:t>
            </a:r>
            <a:r>
              <a:rPr kumimoji="1" lang="en-US" altLang="zh-CN" sz="1400" b="1" i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E5C87C-2F83-4975-856D-E195687DBE1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7255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为使</a:t>
            </a:r>
            <a:r>
              <a:rPr lang="en-US" altLang="zh-CN" dirty="0"/>
              <a:t>F </a:t>
            </a:r>
            <a:r>
              <a:rPr lang="zh-CN" altLang="en-US" dirty="0"/>
              <a:t>集适合于各种不同的</a:t>
            </a:r>
            <a:r>
              <a:rPr lang="en-US" altLang="zh-CN" dirty="0"/>
              <a:t>F</a:t>
            </a:r>
            <a:r>
              <a:rPr lang="zh-CN" altLang="en-US" dirty="0"/>
              <a:t>现象，相继提出了不少与</a:t>
            </a:r>
            <a:r>
              <a:rPr lang="zh-CN" altLang="en-US" dirty="0">
                <a:sym typeface="Symbol" panose="05050102010706020507" pitchFamily="18" charset="2"/>
              </a:rPr>
              <a:t></a:t>
            </a:r>
            <a:r>
              <a:rPr lang="zh-CN" altLang="en-US" dirty="0"/>
              <a:t>、</a:t>
            </a:r>
            <a:r>
              <a:rPr lang="zh-CN" altLang="en-US" dirty="0">
                <a:sym typeface="Symbol" panose="05050102010706020507" pitchFamily="18" charset="2"/>
              </a:rPr>
              <a:t></a:t>
            </a:r>
            <a:r>
              <a:rPr lang="zh-CN" altLang="en-US" dirty="0"/>
              <a:t>相应的新算子</a:t>
            </a:r>
            <a:r>
              <a:rPr lang="en-US" altLang="zh-CN" dirty="0"/>
              <a:t>——F</a:t>
            </a:r>
            <a:r>
              <a:rPr lang="zh-CN" altLang="en-US" dirty="0"/>
              <a:t>算子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840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 </a:t>
            </a:r>
            <a:r>
              <a:rPr lang="zh-CN" altLang="en-US" dirty="0"/>
              <a:t>范算子是广义的“交”运算，如“</a:t>
            </a:r>
            <a:r>
              <a:rPr lang="zh-CN" altLang="en-US" dirty="0">
                <a:sym typeface="Symbol" panose="05050102010706020507" pitchFamily="18" charset="2"/>
              </a:rPr>
              <a:t></a:t>
            </a:r>
            <a:r>
              <a:rPr lang="zh-CN" altLang="en-US" dirty="0"/>
              <a:t>”是其特例。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 </a:t>
            </a:r>
            <a:r>
              <a:rPr lang="zh-CN" altLang="en-US" dirty="0"/>
              <a:t>范算子是广义的“交”运算，如“</a:t>
            </a:r>
            <a:r>
              <a:rPr lang="zh-CN" altLang="en-US" dirty="0">
                <a:sym typeface="Symbol" panose="05050102010706020507" pitchFamily="18" charset="2"/>
              </a:rPr>
              <a:t></a:t>
            </a:r>
            <a:r>
              <a:rPr lang="zh-CN" altLang="en-US" dirty="0"/>
              <a:t>”是其特例。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7998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0652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即当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为经典集合时，上述算子的并、交运算都要化成经典集合间的并</a:t>
            </a:r>
            <a:r>
              <a:rPr lang="zh-CN" altLang="en-US"/>
              <a:t>交运算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5199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为刻画</a:t>
            </a:r>
            <a:r>
              <a:rPr lang="en-US" altLang="zh-CN" sz="1200" dirty="0"/>
              <a:t>F</a:t>
            </a:r>
            <a:r>
              <a:rPr lang="zh-CN" altLang="en-US" sz="1200" dirty="0"/>
              <a:t>算子的</a:t>
            </a:r>
            <a:r>
              <a:rPr lang="en-US" altLang="zh-CN" sz="1200" dirty="0"/>
              <a:t>F</a:t>
            </a:r>
            <a:r>
              <a:rPr lang="zh-CN" altLang="en-US" sz="1200" dirty="0"/>
              <a:t>程度，引入</a:t>
            </a:r>
            <a:r>
              <a:rPr lang="en-US" altLang="zh-CN" sz="1200" dirty="0"/>
              <a:t>F</a:t>
            </a:r>
            <a:r>
              <a:rPr lang="zh-CN" altLang="en-US" sz="1200" dirty="0"/>
              <a:t>算子的清晰域：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113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650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366C150-68D0-40C1-ACEC-52A8141F714E}" type="slidenum">
              <a:rPr lang="en-US" altLang="zh-CN" smtClean="0"/>
              <a:pPr eaLnBrk="1" hangingPunct="1"/>
              <a:t>23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作图表示</a:t>
            </a:r>
          </a:p>
        </p:txBody>
      </p:sp>
    </p:spTree>
    <p:extLst>
      <p:ext uri="{BB962C8B-B14F-4D97-AF65-F5344CB8AC3E}">
        <p14:creationId xmlns:p14="http://schemas.microsoft.com/office/powerpoint/2010/main" val="3460192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0C0CF2F-F042-49ED-B4ED-135F4505C03A}" type="slidenum">
              <a:rPr lang="en-US" altLang="zh-CN" smtClean="0"/>
              <a:pPr eaLnBrk="1" hangingPunct="1"/>
              <a:t>26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任取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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[0,1]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，将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切成经典集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baseline="-25000" dirty="0">
                <a:sym typeface="Symbol" pitchFamily="18" charset="2"/>
              </a:rPr>
              <a:t>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，再用与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baseline="-25000" dirty="0">
                <a:sym typeface="Symbol" pitchFamily="18" charset="2"/>
              </a:rPr>
              <a:t>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，作截积得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集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baseline="-25000" dirty="0">
                <a:sym typeface="Symbol" pitchFamily="18" charset="2"/>
              </a:rPr>
              <a:t>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，将所有的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baseline="-25000" dirty="0">
                <a:sym typeface="Symbol" pitchFamily="18" charset="2"/>
              </a:rPr>
              <a:t>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，拼起来，组成一个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zh-CN" altLang="en-US" dirty="0">
                <a:sym typeface="Symbol" pitchFamily="18" charset="2"/>
              </a:rPr>
              <a:t>∪ </a:t>
            </a:r>
            <a:r>
              <a:rPr kumimoji="1" lang="zh-CN" altLang="en-US" baseline="-25000" dirty="0">
                <a:ea typeface="黑体" pitchFamily="49" charset="-122"/>
                <a:sym typeface="Symbol" pitchFamily="18" charset="2"/>
              </a:rPr>
              <a:t></a:t>
            </a:r>
            <a:r>
              <a:rPr kumimoji="1" lang="en-US" altLang="zh-CN" baseline="-25000" dirty="0">
                <a:ea typeface="黑体" pitchFamily="49" charset="-122"/>
                <a:sym typeface="Symbol" pitchFamily="18" charset="2"/>
              </a:rPr>
              <a:t>[0,1]</a:t>
            </a:r>
            <a:r>
              <a:rPr kumimoji="1" lang="en-US" altLang="zh-CN" dirty="0">
                <a:sym typeface="Symbol" pitchFamily="18" charset="2"/>
              </a:rPr>
              <a:t> 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A</a:t>
            </a:r>
            <a:r>
              <a:rPr kumimoji="1" lang="en-US" altLang="zh-CN" baseline="-25000" dirty="0">
                <a:sym typeface="Symbol" pitchFamily="18" charset="2"/>
              </a:rPr>
              <a:t>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，此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集就是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A.</a:t>
            </a:r>
          </a:p>
          <a:p>
            <a:pPr eaLnBrk="1" hangingPunct="1"/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每个都圈出一个矩形，矩形的面积等于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，显然，当分得越细，获得的阶梯形折线就越接近曲线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A(u)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，若取遍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[0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1]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上所有值，将所有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A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求并，便可得到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，综上所述，分解定理可表示为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A=</a:t>
            </a:r>
            <a:r>
              <a:rPr kumimoji="1" lang="en-US" altLang="zh-CN" dirty="0">
                <a:ea typeface="黑体" pitchFamily="49" charset="-122"/>
                <a:cs typeface="Arial" charset="0"/>
                <a:sym typeface="Symbol" pitchFamily="18" charset="2"/>
              </a:rPr>
              <a:t>∫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A</a:t>
            </a:r>
          </a:p>
        </p:txBody>
      </p:sp>
    </p:spTree>
    <p:extLst>
      <p:ext uri="{BB962C8B-B14F-4D97-AF65-F5344CB8AC3E}">
        <p14:creationId xmlns:p14="http://schemas.microsoft.com/office/powerpoint/2010/main" val="3598534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130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DDC4C4E-0112-4CBA-A7A8-170D4A239A7F}" type="slidenum">
              <a:rPr lang="en-US" altLang="zh-CN" smtClean="0"/>
              <a:pPr eaLnBrk="1" hangingPunct="1"/>
              <a:t>32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U1</a:t>
            </a:r>
            <a:r>
              <a:rPr lang="zh-CN" altLang="en-US"/>
              <a:t>的上限为</a:t>
            </a:r>
            <a:r>
              <a:rPr lang="en-US" altLang="zh-CN"/>
              <a:t>0.7,</a:t>
            </a:r>
            <a:r>
              <a:rPr lang="zh-CN" altLang="en-US"/>
              <a:t>所以</a:t>
            </a:r>
            <a:r>
              <a:rPr lang="en-US" altLang="zh-CN"/>
              <a:t>,</a:t>
            </a:r>
            <a:r>
              <a:rPr lang="zh-CN" altLang="en-US"/>
              <a:t>最后</a:t>
            </a:r>
            <a:r>
              <a:rPr lang="en-US" altLang="zh-CN"/>
              <a:t>A</a:t>
            </a:r>
            <a:r>
              <a:rPr lang="zh-CN" altLang="en-US"/>
              <a:t>（</a:t>
            </a:r>
            <a:r>
              <a:rPr lang="en-US" altLang="zh-CN"/>
              <a:t>u1</a:t>
            </a:r>
            <a:r>
              <a:rPr lang="zh-CN" altLang="en-US"/>
              <a:t>）</a:t>
            </a:r>
            <a:r>
              <a:rPr lang="en-US" altLang="zh-CN"/>
              <a:t>=0.7</a:t>
            </a:r>
          </a:p>
        </p:txBody>
      </p:sp>
    </p:spTree>
    <p:extLst>
      <p:ext uri="{BB962C8B-B14F-4D97-AF65-F5344CB8AC3E}">
        <p14:creationId xmlns:p14="http://schemas.microsoft.com/office/powerpoint/2010/main" val="2138308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C450954-58EC-4998-87C0-222142FC58A7}" type="slidenum">
              <a:rPr lang="en-US" altLang="zh-CN" smtClean="0"/>
              <a:pPr eaLnBrk="1" hangingPunct="1"/>
              <a:t>33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集合值映射</a:t>
            </a:r>
            <a:r>
              <a:rPr lang="en-US" altLang="zh-CN" dirty="0"/>
              <a:t>——</a:t>
            </a:r>
            <a:r>
              <a:rPr lang="zh-CN" altLang="en-US" dirty="0"/>
              <a:t>它在模糊数学、数理经济学、运筹学、微分方程的定性理论等学科中具有广泛应用。</a:t>
            </a: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sym typeface="Symbol" pitchFamily="18" charset="2"/>
              </a:rPr>
              <a:t>分解定理说明了一个</a:t>
            </a:r>
            <a:r>
              <a:rPr kumimoji="1" lang="en-US" altLang="zh-CN" dirty="0">
                <a:sym typeface="Symbol" pitchFamily="18" charset="2"/>
              </a:rPr>
              <a:t>F</a:t>
            </a:r>
            <a:r>
              <a:rPr kumimoji="1" lang="zh-CN" altLang="en-US" dirty="0">
                <a:sym typeface="Symbol" pitchFamily="18" charset="2"/>
              </a:rPr>
              <a:t>集</a:t>
            </a:r>
            <a:r>
              <a:rPr kumimoji="1" lang="en-US" altLang="zh-CN" dirty="0">
                <a:sym typeface="Symbol" pitchFamily="18" charset="2"/>
              </a:rPr>
              <a:t>A</a:t>
            </a:r>
            <a:r>
              <a:rPr kumimoji="1" lang="zh-CN" altLang="en-US" dirty="0">
                <a:sym typeface="Symbol" pitchFamily="18" charset="2"/>
              </a:rPr>
              <a:t>对应一串普通集</a:t>
            </a:r>
            <a:r>
              <a:rPr kumimoji="1" lang="en-US" altLang="zh-CN" dirty="0">
                <a:sym typeface="Symbol" pitchFamily="18" charset="2"/>
              </a:rPr>
              <a:t>{</a:t>
            </a:r>
            <a:r>
              <a:rPr kumimoji="1" lang="en-US" altLang="zh-CN" i="1" dirty="0"/>
              <a:t>A</a:t>
            </a:r>
            <a:r>
              <a:rPr kumimoji="1" lang="en-US" altLang="zh-CN" dirty="0">
                <a:sym typeface="Symbol" pitchFamily="18" charset="2"/>
              </a:rPr>
              <a:t>}</a:t>
            </a:r>
            <a:r>
              <a:rPr kumimoji="1" lang="zh-CN" altLang="en-US" dirty="0">
                <a:sym typeface="Symbol" pitchFamily="18" charset="2"/>
              </a:rPr>
              <a:t>或</a:t>
            </a:r>
            <a:r>
              <a:rPr kumimoji="1" lang="en-US" altLang="zh-CN" dirty="0">
                <a:sym typeface="Symbol" pitchFamily="18" charset="2"/>
              </a:rPr>
              <a:t>{H()},</a:t>
            </a:r>
            <a:r>
              <a:rPr kumimoji="1" lang="zh-CN" altLang="en-US" dirty="0">
                <a:sym typeface="Symbol" pitchFamily="18" charset="2"/>
              </a:rPr>
              <a:t>它们是</a:t>
            </a:r>
            <a:r>
              <a:rPr kumimoji="1" lang="en-US" altLang="zh-CN" dirty="0">
                <a:sym typeface="Symbol" pitchFamily="18" charset="2"/>
              </a:rPr>
              <a:t>A</a:t>
            </a:r>
            <a:r>
              <a:rPr kumimoji="1" lang="zh-CN" altLang="en-US" dirty="0">
                <a:sym typeface="Symbol" pitchFamily="18" charset="2"/>
              </a:rPr>
              <a:t>在不同水平上的显象</a:t>
            </a:r>
            <a:r>
              <a:rPr kumimoji="1" lang="en-US" altLang="zh-CN" dirty="0">
                <a:sym typeface="Symbol" pitchFamily="18" charset="2"/>
              </a:rPr>
              <a:t>, </a:t>
            </a:r>
            <a:r>
              <a:rPr kumimoji="1" lang="zh-CN" altLang="en-US" dirty="0">
                <a:sym typeface="Symbol" pitchFamily="18" charset="2"/>
              </a:rPr>
              <a:t>的高低会导致</a:t>
            </a:r>
            <a:r>
              <a:rPr kumimoji="1" lang="en-US" altLang="zh-CN" i="1" dirty="0"/>
              <a:t>A</a:t>
            </a:r>
            <a:r>
              <a:rPr kumimoji="1" lang="en-US" altLang="zh-CN" dirty="0">
                <a:sym typeface="Symbol" pitchFamily="18" charset="2"/>
              </a:rPr>
              <a:t></a:t>
            </a:r>
            <a:r>
              <a:rPr kumimoji="1" lang="zh-CN" altLang="en-US" dirty="0">
                <a:sym typeface="Symbol" pitchFamily="18" charset="2"/>
              </a:rPr>
              <a:t>或</a:t>
            </a:r>
            <a:r>
              <a:rPr kumimoji="1" lang="en-US" altLang="zh-CN" dirty="0">
                <a:sym typeface="Symbol" pitchFamily="18" charset="2"/>
              </a:rPr>
              <a:t>H()</a:t>
            </a:r>
            <a:r>
              <a:rPr kumimoji="1" lang="zh-CN" altLang="en-US" dirty="0">
                <a:sym typeface="Symbol" pitchFamily="18" charset="2"/>
              </a:rPr>
              <a:t>的收缩与膨胀</a:t>
            </a:r>
            <a:r>
              <a:rPr kumimoji="1" lang="en-US" altLang="zh-CN" dirty="0">
                <a:sym typeface="Symbol" pitchFamily="18" charset="2"/>
              </a:rPr>
              <a:t>,</a:t>
            </a:r>
            <a:r>
              <a:rPr kumimoji="1" lang="zh-CN" altLang="en-US" dirty="0">
                <a:sym typeface="Symbol" pitchFamily="18" charset="2"/>
              </a:rPr>
              <a:t>象征着</a:t>
            </a:r>
            <a:r>
              <a:rPr kumimoji="1" lang="en-US" altLang="zh-CN" dirty="0">
                <a:sym typeface="Symbol" pitchFamily="18" charset="2"/>
              </a:rPr>
              <a:t>A</a:t>
            </a:r>
            <a:r>
              <a:rPr kumimoji="1" lang="zh-CN" altLang="en-US" dirty="0">
                <a:sym typeface="Symbol" pitchFamily="18" charset="2"/>
              </a:rPr>
              <a:t>是一个具有游移边界的集合</a:t>
            </a:r>
            <a:r>
              <a:rPr kumimoji="1" lang="en-US" altLang="zh-CN" dirty="0">
                <a:sym typeface="Symbol" pitchFamily="18" charset="2"/>
              </a:rPr>
              <a:t>.</a:t>
            </a:r>
          </a:p>
          <a:p>
            <a:pPr eaLnBrk="1" hangingPunct="1"/>
            <a:r>
              <a:rPr lang="en-US" altLang="zh-CN" dirty="0"/>
              <a:t>[</a:t>
            </a:r>
            <a:r>
              <a:rPr lang="zh-CN" altLang="en-US" dirty="0"/>
              <a:t>分解定理</a:t>
            </a:r>
            <a:r>
              <a:rPr lang="en-US" altLang="zh-CN" dirty="0"/>
              <a:t>1]</a:t>
            </a:r>
            <a:r>
              <a:rPr lang="zh-CN" altLang="en-US" dirty="0"/>
              <a:t>和</a:t>
            </a:r>
            <a:r>
              <a:rPr lang="en-US" altLang="zh-CN" dirty="0"/>
              <a:t>[</a:t>
            </a:r>
            <a:r>
              <a:rPr lang="zh-CN" altLang="en-US" dirty="0"/>
              <a:t>分解定理</a:t>
            </a:r>
            <a:r>
              <a:rPr lang="en-US" altLang="zh-CN" dirty="0"/>
              <a:t>2]</a:t>
            </a:r>
            <a:r>
              <a:rPr lang="zh-CN" altLang="en-US" dirty="0"/>
              <a:t>是</a:t>
            </a:r>
            <a:r>
              <a:rPr lang="en-US" altLang="zh-CN" dirty="0"/>
              <a:t>[</a:t>
            </a:r>
            <a:r>
              <a:rPr lang="zh-CN" altLang="en-US" dirty="0"/>
              <a:t>分解定理</a:t>
            </a:r>
            <a:r>
              <a:rPr lang="en-US" altLang="zh-CN" dirty="0"/>
              <a:t>3]</a:t>
            </a:r>
            <a:r>
              <a:rPr lang="zh-CN" altLang="en-US" dirty="0"/>
              <a:t>的特例。</a:t>
            </a:r>
          </a:p>
        </p:txBody>
      </p:sp>
    </p:spTree>
    <p:extLst>
      <p:ext uri="{BB962C8B-B14F-4D97-AF65-F5344CB8AC3E}">
        <p14:creationId xmlns:p14="http://schemas.microsoft.com/office/powerpoint/2010/main" val="2604490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C450954-58EC-4998-87C0-222142FC58A7}" type="slidenum">
              <a:rPr lang="en-US" altLang="zh-CN" smtClean="0"/>
              <a:pPr eaLnBrk="1" hangingPunct="1"/>
              <a:t>34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4402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C450954-58EC-4998-87C0-222142FC58A7}" type="slidenum">
              <a:rPr lang="en-US" altLang="zh-CN" smtClean="0"/>
              <a:pPr eaLnBrk="1" hangingPunct="1"/>
              <a:t>35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984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C450954-58EC-4998-87C0-222142FC58A7}" type="slidenum">
              <a:rPr lang="en-US" altLang="zh-CN" smtClean="0"/>
              <a:pPr eaLnBrk="1" hangingPunct="1"/>
              <a:t>36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514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C450954-58EC-4998-87C0-222142FC58A7}" type="slidenum">
              <a:rPr lang="en-US" altLang="zh-CN" smtClean="0"/>
              <a:pPr eaLnBrk="1" hangingPunct="1"/>
              <a:t>37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sym typeface="Symbol" pitchFamily="18" charset="2"/>
              </a:rPr>
              <a:t>分解定理说明了一个</a:t>
            </a:r>
            <a:r>
              <a:rPr kumimoji="1" lang="en-US" altLang="zh-CN" dirty="0">
                <a:sym typeface="Symbol" pitchFamily="18" charset="2"/>
              </a:rPr>
              <a:t>F</a:t>
            </a:r>
            <a:r>
              <a:rPr kumimoji="1" lang="zh-CN" altLang="en-US" dirty="0">
                <a:sym typeface="Symbol" pitchFamily="18" charset="2"/>
              </a:rPr>
              <a:t>集</a:t>
            </a:r>
            <a:r>
              <a:rPr kumimoji="1" lang="en-US" altLang="zh-CN" dirty="0">
                <a:sym typeface="Symbol" pitchFamily="18" charset="2"/>
              </a:rPr>
              <a:t>A</a:t>
            </a:r>
            <a:r>
              <a:rPr kumimoji="1" lang="zh-CN" altLang="en-US" dirty="0">
                <a:sym typeface="Symbol" pitchFamily="18" charset="2"/>
              </a:rPr>
              <a:t>对应一串普通集</a:t>
            </a:r>
            <a:r>
              <a:rPr kumimoji="1" lang="en-US" altLang="zh-CN" dirty="0">
                <a:sym typeface="Symbol" pitchFamily="18" charset="2"/>
              </a:rPr>
              <a:t>{</a:t>
            </a:r>
            <a:r>
              <a:rPr kumimoji="1" lang="en-US" altLang="zh-CN" i="1" dirty="0"/>
              <a:t>A</a:t>
            </a:r>
            <a:r>
              <a:rPr kumimoji="1" lang="en-US" altLang="zh-CN" dirty="0">
                <a:sym typeface="Symbol" pitchFamily="18" charset="2"/>
              </a:rPr>
              <a:t>}</a:t>
            </a:r>
            <a:r>
              <a:rPr kumimoji="1" lang="zh-CN" altLang="en-US" dirty="0">
                <a:sym typeface="Symbol" pitchFamily="18" charset="2"/>
              </a:rPr>
              <a:t>或</a:t>
            </a:r>
            <a:r>
              <a:rPr kumimoji="1" lang="en-US" altLang="zh-CN" dirty="0">
                <a:sym typeface="Symbol" pitchFamily="18" charset="2"/>
              </a:rPr>
              <a:t>{H()},</a:t>
            </a:r>
            <a:r>
              <a:rPr kumimoji="1" lang="zh-CN" altLang="en-US" dirty="0">
                <a:sym typeface="Symbol" pitchFamily="18" charset="2"/>
              </a:rPr>
              <a:t>它们是</a:t>
            </a:r>
            <a:r>
              <a:rPr kumimoji="1" lang="en-US" altLang="zh-CN" dirty="0">
                <a:sym typeface="Symbol" pitchFamily="18" charset="2"/>
              </a:rPr>
              <a:t>A</a:t>
            </a:r>
            <a:r>
              <a:rPr kumimoji="1" lang="zh-CN" altLang="en-US" dirty="0">
                <a:sym typeface="Symbol" pitchFamily="18" charset="2"/>
              </a:rPr>
              <a:t>在不同水平上的显象</a:t>
            </a:r>
            <a:r>
              <a:rPr kumimoji="1" lang="en-US" altLang="zh-CN" dirty="0">
                <a:sym typeface="Symbol" pitchFamily="18" charset="2"/>
              </a:rPr>
              <a:t>, </a:t>
            </a:r>
            <a:r>
              <a:rPr kumimoji="1" lang="zh-CN" altLang="en-US" dirty="0">
                <a:sym typeface="Symbol" pitchFamily="18" charset="2"/>
              </a:rPr>
              <a:t>的高低会导致</a:t>
            </a:r>
            <a:r>
              <a:rPr kumimoji="1" lang="en-US" altLang="zh-CN" i="1" dirty="0"/>
              <a:t>A</a:t>
            </a:r>
            <a:r>
              <a:rPr kumimoji="1" lang="en-US" altLang="zh-CN" dirty="0">
                <a:sym typeface="Symbol" pitchFamily="18" charset="2"/>
              </a:rPr>
              <a:t></a:t>
            </a:r>
            <a:r>
              <a:rPr kumimoji="1" lang="zh-CN" altLang="en-US" dirty="0">
                <a:sym typeface="Symbol" pitchFamily="18" charset="2"/>
              </a:rPr>
              <a:t>或</a:t>
            </a:r>
            <a:r>
              <a:rPr kumimoji="1" lang="en-US" altLang="zh-CN" dirty="0">
                <a:sym typeface="Symbol" pitchFamily="18" charset="2"/>
              </a:rPr>
              <a:t>H()</a:t>
            </a:r>
            <a:r>
              <a:rPr kumimoji="1" lang="zh-CN" altLang="en-US" dirty="0">
                <a:sym typeface="Symbol" pitchFamily="18" charset="2"/>
              </a:rPr>
              <a:t>的收缩与膨胀</a:t>
            </a:r>
            <a:r>
              <a:rPr kumimoji="1" lang="en-US" altLang="zh-CN" dirty="0">
                <a:sym typeface="Symbol" pitchFamily="18" charset="2"/>
              </a:rPr>
              <a:t>,</a:t>
            </a:r>
            <a:r>
              <a:rPr kumimoji="1" lang="zh-CN" altLang="en-US" dirty="0">
                <a:sym typeface="Symbol" pitchFamily="18" charset="2"/>
              </a:rPr>
              <a:t>象征着</a:t>
            </a:r>
            <a:r>
              <a:rPr kumimoji="1" lang="en-US" altLang="zh-CN" dirty="0">
                <a:sym typeface="Symbol" pitchFamily="18" charset="2"/>
              </a:rPr>
              <a:t>A</a:t>
            </a:r>
            <a:r>
              <a:rPr kumimoji="1" lang="zh-CN" altLang="en-US" dirty="0">
                <a:sym typeface="Symbol" pitchFamily="18" charset="2"/>
              </a:rPr>
              <a:t>是一个具有游移边界的集合</a:t>
            </a:r>
            <a:r>
              <a:rPr kumimoji="1" lang="en-US" altLang="zh-CN" dirty="0">
                <a:sym typeface="Symbol" pitchFamily="18" charset="2"/>
              </a:rPr>
              <a:t>.</a:t>
            </a:r>
          </a:p>
          <a:p>
            <a:pPr eaLnBrk="1" hangingPunct="1"/>
            <a:r>
              <a:rPr lang="en-US" altLang="zh-CN" dirty="0"/>
              <a:t>[</a:t>
            </a:r>
            <a:r>
              <a:rPr lang="zh-CN" altLang="en-US" dirty="0"/>
              <a:t>分解定理</a:t>
            </a:r>
            <a:r>
              <a:rPr lang="en-US" altLang="zh-CN" dirty="0"/>
              <a:t>1]</a:t>
            </a:r>
            <a:r>
              <a:rPr lang="zh-CN" altLang="en-US" dirty="0"/>
              <a:t>和</a:t>
            </a:r>
            <a:r>
              <a:rPr lang="en-US" altLang="zh-CN" dirty="0"/>
              <a:t>[</a:t>
            </a:r>
            <a:r>
              <a:rPr lang="zh-CN" altLang="en-US" dirty="0"/>
              <a:t>分解定理</a:t>
            </a:r>
            <a:r>
              <a:rPr lang="en-US" altLang="zh-CN" dirty="0"/>
              <a:t>2]</a:t>
            </a:r>
            <a:r>
              <a:rPr lang="zh-CN" altLang="en-US" dirty="0"/>
              <a:t>是</a:t>
            </a:r>
            <a:r>
              <a:rPr lang="en-US" altLang="zh-CN" dirty="0"/>
              <a:t>[</a:t>
            </a:r>
            <a:r>
              <a:rPr lang="zh-CN" altLang="en-US" dirty="0"/>
              <a:t>分解定理</a:t>
            </a:r>
            <a:r>
              <a:rPr lang="en-US" altLang="zh-CN" dirty="0"/>
              <a:t>3]</a:t>
            </a:r>
            <a:r>
              <a:rPr lang="zh-CN" altLang="en-US" dirty="0"/>
              <a:t>的特例。</a:t>
            </a:r>
          </a:p>
        </p:txBody>
      </p:sp>
    </p:spTree>
    <p:extLst>
      <p:ext uri="{BB962C8B-B14F-4D97-AF65-F5344CB8AC3E}">
        <p14:creationId xmlns:p14="http://schemas.microsoft.com/office/powerpoint/2010/main" val="3348931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P</a:t>
            </a:r>
            <a:r>
              <a:rPr kumimoji="1" lang="en-US" altLang="zh-CN" sz="1200" b="1" dirty="0">
                <a:ea typeface="楷体_GB2312" pitchFamily="49" charset="-122"/>
                <a:sym typeface="Symbol" pitchFamily="18" charset="2"/>
              </a:rPr>
              <a:t>(U)——U</a:t>
            </a:r>
            <a:r>
              <a:rPr kumimoji="1" lang="zh-CN" altLang="en-US" sz="1200" b="1" dirty="0">
                <a:ea typeface="楷体_GB2312" pitchFamily="49" charset="-122"/>
                <a:sym typeface="Symbol" pitchFamily="18" charset="2"/>
              </a:rPr>
              <a:t>的幂集</a:t>
            </a:r>
            <a:endParaRPr kumimoji="1" lang="en-US" altLang="zh-CN" sz="1200" b="1" dirty="0">
              <a:ea typeface="楷体_GB2312" pitchFamily="49" charset="-122"/>
              <a:sym typeface="Symbol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7803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22DD296-7277-49B3-AEAA-80F30E540EE1}" type="slidenum">
              <a:rPr lang="en-US" altLang="zh-CN" smtClean="0"/>
              <a:pPr eaLnBrk="1" hangingPunct="1"/>
              <a:t>42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分解定理</a:t>
            </a:r>
            <a:r>
              <a:rPr lang="en-US" altLang="zh-CN" dirty="0">
                <a:ea typeface="黑体" pitchFamily="49" charset="-122"/>
              </a:rPr>
              <a:t>III]</a:t>
            </a:r>
            <a:r>
              <a:rPr lang="zh-CN" altLang="en-US" dirty="0">
                <a:ea typeface="黑体" pitchFamily="49" charset="-122"/>
              </a:rPr>
              <a:t>说明</a:t>
            </a:r>
            <a:r>
              <a:rPr lang="en-US" altLang="zh-CN" dirty="0">
                <a:ea typeface="黑体" pitchFamily="49" charset="-122"/>
              </a:rPr>
              <a:t>,</a:t>
            </a:r>
            <a:r>
              <a:rPr lang="zh-CN" altLang="en-US" dirty="0">
                <a:ea typeface="黑体" pitchFamily="49" charset="-122"/>
              </a:rPr>
              <a:t>一个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集可以由它自己分解出的集合套表示</a:t>
            </a:r>
            <a:r>
              <a:rPr lang="en-US" altLang="zh-CN" dirty="0">
                <a:ea typeface="黑体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0508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>
                <a:sym typeface="Symbol" pitchFamily="18" charset="2"/>
              </a:rPr>
              <a:t>要想</a:t>
            </a:r>
            <a:r>
              <a:rPr kumimoji="1" lang="en-US" altLang="zh-CN" sz="1200" dirty="0" err="1">
                <a:sym typeface="Symbol" pitchFamily="18" charset="2"/>
              </a:rPr>
              <a:t>x</a:t>
            </a:r>
            <a:r>
              <a:rPr kumimoji="1" lang="en-US" altLang="zh-CN" sz="1200" dirty="0" err="1">
                <a:sym typeface="Symbol"/>
              </a:rPr>
              <a:t>H</a:t>
            </a:r>
            <a:r>
              <a:rPr kumimoji="1" lang="en-US" altLang="zh-CN" sz="1200" dirty="0">
                <a:sym typeface="Symbol"/>
              </a:rPr>
              <a:t>(), </a:t>
            </a:r>
            <a:r>
              <a:rPr kumimoji="1" lang="zh-CN" altLang="en-US" sz="1200" dirty="0">
                <a:sym typeface="Symbol"/>
              </a:rPr>
              <a:t>必须</a:t>
            </a:r>
            <a:r>
              <a:rPr kumimoji="1" lang="en-US" altLang="zh-CN" sz="1200" dirty="0">
                <a:sym typeface="Symbol"/>
              </a:rPr>
              <a:t>-1&lt;=x,</a:t>
            </a:r>
            <a:r>
              <a:rPr kumimoji="1" lang="en-US" altLang="zh-CN" sz="1200" baseline="0" dirty="0">
                <a:sym typeface="Symbol"/>
              </a:rPr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983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FCB6261-4EF4-45DB-B2C5-9A1115432117}" type="slidenum">
              <a:rPr lang="en-US" altLang="zh-CN" smtClean="0"/>
              <a:pPr eaLnBrk="1" hangingPunct="1"/>
              <a:t>44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en-US" altLang="zh-CN" sz="12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sz="1200" dirty="0">
                <a:ea typeface="黑体" pitchFamily="2" charset="-122"/>
                <a:sym typeface="Symbol" pitchFamily="18" charset="2"/>
              </a:rPr>
              <a:t>(U)</a:t>
            </a:r>
            <a:r>
              <a:rPr lang="en-US" altLang="zh-CN" sz="1200" dirty="0">
                <a:ea typeface="黑体" pitchFamily="2" charset="-122"/>
              </a:rPr>
              <a:t> ——U</a:t>
            </a:r>
            <a:r>
              <a:rPr lang="zh-CN" altLang="en-US" sz="1200" dirty="0">
                <a:ea typeface="黑体" pitchFamily="2" charset="-122"/>
              </a:rPr>
              <a:t>的幂集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6161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1CBD319-76F4-43EB-A7C8-F40BA2F17863}" type="slidenum">
              <a:rPr lang="en-US" altLang="zh-CN" smtClean="0"/>
              <a:pPr eaLnBrk="1" hangingPunct="1"/>
              <a:t>45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由条件</a:t>
            </a:r>
            <a:r>
              <a:rPr lang="en-US" altLang="zh-CN" dirty="0"/>
              <a:t>(1),(2)</a:t>
            </a:r>
            <a:r>
              <a:rPr lang="zh-CN" altLang="en-US" dirty="0"/>
              <a:t>可得：</a:t>
            </a:r>
            <a:endParaRPr lang="en-US" altLang="zh-CN" dirty="0"/>
          </a:p>
          <a:p>
            <a:pPr eaLnBrk="1" hangingPunct="1"/>
            <a:r>
              <a:rPr lang="en-US" altLang="zh-CN" dirty="0"/>
              <a:t>f(0)=f(1)=0, </a:t>
            </a:r>
            <a:r>
              <a:rPr lang="zh-CN" altLang="en-US" dirty="0"/>
              <a:t>且若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A</a:t>
            </a:r>
            <a:r>
              <a:rPr kumimoji="1" lang="en-US" altLang="zh-CN" sz="1400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P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(U),</a:t>
            </a:r>
            <a:r>
              <a:rPr kumimoji="1" lang="zh-CN" altLang="en-US" sz="1400" dirty="0">
                <a:ea typeface="黑体" pitchFamily="49" charset="-122"/>
                <a:sym typeface="Symbol" pitchFamily="18" charset="2"/>
              </a:rPr>
              <a:t>则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A(u)=0</a:t>
            </a:r>
            <a:r>
              <a:rPr kumimoji="1" lang="zh-CN" altLang="en-US" sz="1400" dirty="0">
                <a:ea typeface="黑体" pitchFamily="49" charset="-122"/>
                <a:sym typeface="Symbol" pitchFamily="18" charset="2"/>
              </a:rPr>
              <a:t>或者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1</a:t>
            </a:r>
            <a:r>
              <a:rPr kumimoji="1" lang="zh-CN" altLang="en-US" sz="1400" dirty="0">
                <a:ea typeface="黑体" pitchFamily="49" charset="-122"/>
                <a:sym typeface="Symbol" pitchFamily="18" charset="2"/>
              </a:rPr>
              <a:t>，所以，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d(A)=g(</a:t>
            </a:r>
            <a:r>
              <a:rPr lang="en-US" altLang="zh-CN" dirty="0">
                <a:ea typeface="黑体" pitchFamily="49" charset="-122"/>
                <a:cs typeface="Arial" charset="0"/>
                <a:sym typeface="Symbol" pitchFamily="18" charset="2"/>
              </a:rPr>
              <a:t>∑f(A(u)))=g(0)=0;  </a:t>
            </a:r>
            <a:r>
              <a:rPr lang="zh-CN" altLang="en-US" dirty="0">
                <a:ea typeface="黑体" pitchFamily="49" charset="-122"/>
                <a:cs typeface="Arial" charset="0"/>
                <a:sym typeface="Symbol" pitchFamily="18" charset="2"/>
              </a:rPr>
              <a:t>反之，若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AF(U),</a:t>
            </a:r>
            <a:r>
              <a:rPr kumimoji="1" lang="zh-CN" altLang="en-US" sz="1400" dirty="0">
                <a:ea typeface="黑体" pitchFamily="49" charset="-122"/>
                <a:sym typeface="Symbol" pitchFamily="18" charset="2"/>
              </a:rPr>
              <a:t>且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d(A)=0,</a:t>
            </a:r>
            <a:r>
              <a:rPr kumimoji="1" lang="zh-CN" altLang="en-US" sz="1400" dirty="0">
                <a:ea typeface="黑体" pitchFamily="49" charset="-122"/>
                <a:sym typeface="Symbol" pitchFamily="18" charset="2"/>
              </a:rPr>
              <a:t>则必有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∑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f(A(u))=0——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清晰性成立。（满足前页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度定义（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1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））</a:t>
            </a:r>
            <a:endParaRPr lang="en-US" altLang="zh-CN" dirty="0">
              <a:ea typeface="黑体" pitchFamily="49" charset="-122"/>
              <a:sym typeface="Symbol" pitchFamily="18" charset="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黑体" pitchFamily="49" charset="-122"/>
                <a:sym typeface="Symbol" pitchFamily="18" charset="2"/>
              </a:rPr>
              <a:t>A(x)</a:t>
            </a:r>
            <a:r>
              <a:rPr kumimoji="1" lang="en-US" altLang="zh-CN" sz="1200" dirty="0">
                <a:ea typeface="黑体" pitchFamily="2" charset="-122"/>
                <a:sym typeface="Symbol" pitchFamily="18" charset="2"/>
              </a:rPr>
              <a:t>≡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0.5</a:t>
            </a:r>
            <a:r>
              <a:rPr lang="en-US" altLang="zh-CN" dirty="0">
                <a:ea typeface="黑体" pitchFamily="49" charset="-122"/>
                <a:sym typeface="Symbol"/>
              </a:rPr>
              <a:t>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 d(A)=g(</a:t>
            </a:r>
            <a:r>
              <a:rPr lang="en-US" altLang="zh-CN" dirty="0">
                <a:ea typeface="黑体" pitchFamily="49" charset="-122"/>
                <a:cs typeface="Arial" charset="0"/>
                <a:sym typeface="Symbol" pitchFamily="18" charset="2"/>
              </a:rPr>
              <a:t>∑f(0.5)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)=g(a)=1; 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加一方面，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d(A)=1</a:t>
            </a:r>
            <a:r>
              <a:rPr lang="en-US" altLang="zh-CN" dirty="0">
                <a:ea typeface="黑体" pitchFamily="49" charset="-122"/>
                <a:sym typeface="Symbol"/>
              </a:rPr>
              <a:t> </a:t>
            </a:r>
            <a:r>
              <a:rPr kumimoji="1" lang="en-US" altLang="zh-CN" sz="1400" dirty="0">
                <a:ea typeface="黑体" pitchFamily="49" charset="-122"/>
                <a:sym typeface="Symbol" pitchFamily="18" charset="2"/>
              </a:rPr>
              <a:t>g(</a:t>
            </a:r>
            <a:r>
              <a:rPr lang="en-US" altLang="zh-CN" dirty="0">
                <a:ea typeface="黑体" pitchFamily="49" charset="-122"/>
                <a:cs typeface="Arial" charset="0"/>
                <a:sym typeface="Symbol" pitchFamily="18" charset="2"/>
              </a:rPr>
              <a:t>∑f(A(u)))=1</a:t>
            </a:r>
            <a:r>
              <a:rPr lang="en-US" altLang="zh-CN" baseline="0" dirty="0">
                <a:ea typeface="黑体" pitchFamily="49" charset="-122"/>
                <a:cs typeface="Arial" charset="0"/>
                <a:sym typeface="Symbol" pitchFamily="18" charset="2"/>
              </a:rPr>
              <a:t> </a:t>
            </a:r>
            <a:r>
              <a:rPr lang="en-US" altLang="zh-CN" baseline="0" dirty="0">
                <a:ea typeface="黑体" pitchFamily="49" charset="-122"/>
                <a:cs typeface="Arial" charset="0"/>
                <a:sym typeface="Symbol"/>
              </a:rPr>
              <a:t></a:t>
            </a:r>
            <a:r>
              <a:rPr lang="en-US" altLang="zh-CN" dirty="0">
                <a:ea typeface="黑体" pitchFamily="49" charset="-122"/>
                <a:cs typeface="Arial" charset="0"/>
                <a:sym typeface="Symbol" pitchFamily="18" charset="2"/>
              </a:rPr>
              <a:t>∑f(A(u))=a=∑f(0.5) </a:t>
            </a:r>
            <a:r>
              <a:rPr lang="en-US" altLang="zh-CN" baseline="0" dirty="0">
                <a:ea typeface="黑体" pitchFamily="49" charset="-122"/>
                <a:cs typeface="Arial" charset="0"/>
                <a:sym typeface="Symbol"/>
              </a:rPr>
              <a:t>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A(x)</a:t>
            </a:r>
            <a:r>
              <a:rPr kumimoji="1" lang="en-US" altLang="zh-CN" sz="1200" dirty="0">
                <a:ea typeface="黑体" pitchFamily="2" charset="-122"/>
                <a:sym typeface="Symbol" pitchFamily="18" charset="2"/>
              </a:rPr>
              <a:t>≡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0.5</a:t>
            </a:r>
            <a:r>
              <a:rPr lang="en-US" altLang="zh-CN" baseline="0" dirty="0">
                <a:ea typeface="黑体" pitchFamily="49" charset="-122"/>
                <a:cs typeface="Arial" charset="0"/>
                <a:sym typeface="Symbol"/>
              </a:rPr>
              <a:t>                         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（满足前页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度定义（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2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）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a typeface="黑体" pitchFamily="49" charset="-122"/>
                <a:sym typeface="Symbol" pitchFamily="18" charset="2"/>
              </a:rPr>
              <a:t>其他（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3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）（</a:t>
            </a:r>
            <a:r>
              <a:rPr lang="en-US" altLang="zh-CN" dirty="0">
                <a:ea typeface="黑体" pitchFamily="49" charset="-122"/>
                <a:sym typeface="Symbol" pitchFamily="18" charset="2"/>
              </a:rPr>
              <a:t>4</a:t>
            </a:r>
            <a:r>
              <a:rPr lang="zh-CN" altLang="en-US" dirty="0">
                <a:ea typeface="黑体" pitchFamily="49" charset="-122"/>
                <a:sym typeface="Symbol" pitchFamily="18" charset="2"/>
              </a:rPr>
              <a:t>）自验证</a:t>
            </a:r>
          </a:p>
        </p:txBody>
      </p:sp>
    </p:spTree>
    <p:extLst>
      <p:ext uri="{BB962C8B-B14F-4D97-AF65-F5344CB8AC3E}">
        <p14:creationId xmlns:p14="http://schemas.microsoft.com/office/powerpoint/2010/main" val="2349324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58CC65-3EF2-41A4-BF67-7CBB8967240E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04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04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5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CCFCAA-4957-4B04-A6A2-B81EEF572B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97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008000"/>
                </a:solidFill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黑体" panose="02010609060101010101" pitchFamily="49" charset="-122"/>
              </a:defRPr>
            </a:lvl1pPr>
            <a:lvl2pPr>
              <a:defRPr>
                <a:latin typeface="+mj-lt"/>
                <a:ea typeface="黑体" panose="02010609060101010101" pitchFamily="49" charset="-122"/>
              </a:defRPr>
            </a:lvl2pPr>
            <a:lvl3pPr>
              <a:defRPr>
                <a:latin typeface="+mj-lt"/>
                <a:ea typeface="黑体" panose="02010609060101010101" pitchFamily="49" charset="-122"/>
              </a:defRPr>
            </a:lvl3pPr>
            <a:lvl4pPr>
              <a:defRPr>
                <a:latin typeface="+mj-lt"/>
                <a:ea typeface="黑体" panose="02010609060101010101" pitchFamily="49" charset="-122"/>
              </a:defRPr>
            </a:lvl4pPr>
            <a:lvl5pPr>
              <a:defRPr>
                <a:latin typeface="+mj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72FFD-5C57-4935-A48A-C39F60B379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53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749F-56AB-439F-9E0C-BB26C8047E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152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B1E10-EBCB-4CA2-93F3-1A947BCF63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927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13C25-4A92-492A-975C-6AB26093A2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19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B6A06-2B4B-43B4-8EBF-330BC5815B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86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B0D1C-3AD4-47E8-8BCC-9930D4C2FF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65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EECB0-7CB8-4001-B0C0-75EFE47B18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99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60E04-37AE-455B-9607-5EAEBA78FA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80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3CE68-8D0C-4293-B2E0-91AA7850F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011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7662E-EC08-455E-A245-A90D87F92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821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65018-403D-4055-B6D6-D1363568EF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35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CA406-E31B-427D-A2BD-2F5D3E7220A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674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BD33E-19E4-47B8-8A35-264A4FB2E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87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25089447-4447-4CDC-9177-C0E7FDD5950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8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7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wmf"/><Relationship Id="rId20" Type="http://schemas.openxmlformats.org/officeDocument/2006/relationships/image" Target="../media/image4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40.wmf"/><Relationship Id="rId21" Type="http://schemas.openxmlformats.org/officeDocument/2006/relationships/image" Target="../media/image56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3.wmf"/><Relationship Id="rId23" Type="http://schemas.openxmlformats.org/officeDocument/2006/relationships/image" Target="../media/image57.w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5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6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5.wmf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image" Target="../media/image67.png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4.bin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8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6.wmf"/><Relationship Id="rId4" Type="http://schemas.openxmlformats.org/officeDocument/2006/relationships/oleObject" Target="../embeddings/oleObject8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8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97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99.wmf"/><Relationship Id="rId2" Type="http://schemas.openxmlformats.org/officeDocument/2006/relationships/oleObject" Target="../embeddings/oleObject89.bin"/><Relationship Id="rId16" Type="http://schemas.openxmlformats.org/officeDocument/2006/relationships/oleObject" Target="../embeddings/oleObject9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93.bin"/><Relationship Id="rId19" Type="http://schemas.openxmlformats.org/officeDocument/2006/relationships/image" Target="../media/image100.w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9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10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9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image" Target="../media/image103.wmf"/><Relationship Id="rId7" Type="http://schemas.openxmlformats.org/officeDocument/2006/relationships/image" Target="../media/image105.wmf"/><Relationship Id="rId12" Type="http://schemas.openxmlformats.org/officeDocument/2006/relationships/image" Target="../media/image108.png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9.wmf"/><Relationship Id="rId7" Type="http://schemas.openxmlformats.org/officeDocument/2006/relationships/image" Target="../media/image111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8.bin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10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17.wmf"/><Relationship Id="rId18" Type="http://schemas.openxmlformats.org/officeDocument/2006/relationships/oleObject" Target="../embeddings/oleObject116.bin"/><Relationship Id="rId26" Type="http://schemas.openxmlformats.org/officeDocument/2006/relationships/oleObject" Target="../embeddings/oleObject120.bin"/><Relationship Id="rId3" Type="http://schemas.openxmlformats.org/officeDocument/2006/relationships/oleObject" Target="../embeddings/oleObject109.bin"/><Relationship Id="rId21" Type="http://schemas.openxmlformats.org/officeDocument/2006/relationships/image" Target="../media/image121.wmf"/><Relationship Id="rId7" Type="http://schemas.openxmlformats.org/officeDocument/2006/relationships/image" Target="../media/image114.png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19.wmf"/><Relationship Id="rId25" Type="http://schemas.openxmlformats.org/officeDocument/2006/relationships/image" Target="../media/image123.wmf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115.bin"/><Relationship Id="rId20" Type="http://schemas.openxmlformats.org/officeDocument/2006/relationships/oleObject" Target="../embeddings/oleObject117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3.wmf"/><Relationship Id="rId11" Type="http://schemas.openxmlformats.org/officeDocument/2006/relationships/image" Target="../media/image116.wmf"/><Relationship Id="rId24" Type="http://schemas.openxmlformats.org/officeDocument/2006/relationships/oleObject" Target="../embeddings/oleObject119.bin"/><Relationship Id="rId5" Type="http://schemas.openxmlformats.org/officeDocument/2006/relationships/oleObject" Target="../embeddings/oleObject110.bin"/><Relationship Id="rId15" Type="http://schemas.openxmlformats.org/officeDocument/2006/relationships/image" Target="../media/image118.wmf"/><Relationship Id="rId23" Type="http://schemas.openxmlformats.org/officeDocument/2006/relationships/image" Target="../media/image122.wmf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120.wmf"/><Relationship Id="rId4" Type="http://schemas.openxmlformats.org/officeDocument/2006/relationships/image" Target="../media/image112.wmf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114.bin"/><Relationship Id="rId22" Type="http://schemas.openxmlformats.org/officeDocument/2006/relationships/oleObject" Target="../embeddings/oleObject118.bin"/><Relationship Id="rId27" Type="http://schemas.openxmlformats.org/officeDocument/2006/relationships/image" Target="../media/image12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6.wmf"/><Relationship Id="rId4" Type="http://schemas.openxmlformats.org/officeDocument/2006/relationships/oleObject" Target="../embeddings/oleObject12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2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35.w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7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10" Type="http://schemas.openxmlformats.org/officeDocument/2006/relationships/image" Target="../media/image134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44.wmf"/><Relationship Id="rId3" Type="http://schemas.openxmlformats.org/officeDocument/2006/relationships/oleObject" Target="../embeddings/oleObject135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41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40.bin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44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50.bin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51.wmf"/><Relationship Id="rId22" Type="http://schemas.openxmlformats.org/officeDocument/2006/relationships/image" Target="../media/image15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3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62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30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5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65.bin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7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8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6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7" Type="http://schemas.openxmlformats.org/officeDocument/2006/relationships/image" Target="../media/image173.wmf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0.bin"/><Relationship Id="rId5" Type="http://schemas.openxmlformats.org/officeDocument/2006/relationships/image" Target="../media/image172.wmf"/><Relationship Id="rId4" Type="http://schemas.openxmlformats.org/officeDocument/2006/relationships/oleObject" Target="../embeddings/oleObject16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176.bin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78.wmf"/><Relationship Id="rId5" Type="http://schemas.openxmlformats.org/officeDocument/2006/relationships/image" Target="../media/image175.wmf"/><Relationship Id="rId15" Type="http://schemas.openxmlformats.org/officeDocument/2006/relationships/image" Target="../media/image180.w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77.wmf"/><Relationship Id="rId14" Type="http://schemas.openxmlformats.org/officeDocument/2006/relationships/oleObject" Target="../embeddings/oleObject177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7" Type="http://schemas.openxmlformats.org/officeDocument/2006/relationships/image" Target="../media/image183.wmf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0.bin"/><Relationship Id="rId5" Type="http://schemas.openxmlformats.org/officeDocument/2006/relationships/image" Target="../media/image182.wmf"/><Relationship Id="rId4" Type="http://schemas.openxmlformats.org/officeDocument/2006/relationships/oleObject" Target="../embeddings/oleObject179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3" Type="http://schemas.openxmlformats.org/officeDocument/2006/relationships/image" Target="../media/image184.wmf"/><Relationship Id="rId7" Type="http://schemas.openxmlformats.org/officeDocument/2006/relationships/image" Target="../media/image182.w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87.wmf"/><Relationship Id="rId5" Type="http://schemas.openxmlformats.org/officeDocument/2006/relationships/image" Target="../media/image185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8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3" Type="http://schemas.openxmlformats.org/officeDocument/2006/relationships/image" Target="../media/image184.wmf"/><Relationship Id="rId7" Type="http://schemas.openxmlformats.org/officeDocument/2006/relationships/image" Target="../media/image189.wmf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91.wmf"/><Relationship Id="rId5" Type="http://schemas.openxmlformats.org/officeDocument/2006/relationships/image" Target="../media/image188.w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97.wmf"/><Relationship Id="rId3" Type="http://schemas.openxmlformats.org/officeDocument/2006/relationships/image" Target="../media/image192.wmf"/><Relationship Id="rId7" Type="http://schemas.openxmlformats.org/officeDocument/2006/relationships/image" Target="../media/image194.wmf"/><Relationship Id="rId12" Type="http://schemas.openxmlformats.org/officeDocument/2006/relationships/oleObject" Target="../embeddings/oleObject195.bin"/><Relationship Id="rId2" Type="http://schemas.openxmlformats.org/officeDocument/2006/relationships/oleObject" Target="../embeddings/oleObject19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96.wmf"/><Relationship Id="rId5" Type="http://schemas.openxmlformats.org/officeDocument/2006/relationships/image" Target="../media/image193.wmf"/><Relationship Id="rId10" Type="http://schemas.openxmlformats.org/officeDocument/2006/relationships/oleObject" Target="../embeddings/oleObject194.bin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9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198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04.bin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203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06.wmf"/><Relationship Id="rId7" Type="http://schemas.openxmlformats.org/officeDocument/2006/relationships/image" Target="../media/image208.w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07.bin"/><Relationship Id="rId5" Type="http://schemas.openxmlformats.org/officeDocument/2006/relationships/image" Target="../media/image207.wmf"/><Relationship Id="rId4" Type="http://schemas.openxmlformats.org/officeDocument/2006/relationships/oleObject" Target="../embeddings/oleObject206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1.png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5" Type="http://schemas.openxmlformats.org/officeDocument/2006/relationships/image" Target="../media/image213.wmf"/><Relationship Id="rId4" Type="http://schemas.openxmlformats.org/officeDocument/2006/relationships/oleObject" Target="../embeddings/oleObject209.bin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4.png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32176" y="1828800"/>
            <a:ext cx="7083425" cy="2209800"/>
          </a:xfrm>
        </p:spPr>
        <p:txBody>
          <a:bodyPr/>
          <a:lstStyle/>
          <a:p>
            <a:pPr algn="ctr" eaLnBrk="1" hangingPunct="1"/>
            <a: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000" b="1" dirty="0">
                <a:solidFill>
                  <a:srgbClr val="F5E50F"/>
                </a:solidFill>
                <a:ea typeface="隶书" pitchFamily="49" charset="-122"/>
              </a:rPr>
              <a:t> </a:t>
            </a:r>
            <a:r>
              <a:rPr lang="en-US" altLang="zh-CN" sz="6000" b="1" dirty="0">
                <a:solidFill>
                  <a:srgbClr val="F5E50F"/>
                </a:solidFill>
                <a:ea typeface="隶书" pitchFamily="49" charset="-122"/>
              </a:rPr>
              <a:t>1 </a:t>
            </a:r>
            <a: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000" b="1" dirty="0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模糊集合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03612" y="4293096"/>
            <a:ext cx="6048772" cy="244827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4.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集运算的其他定义</a:t>
            </a:r>
            <a:endParaRPr lang="en-US" altLang="zh-CN" sz="2800" dirty="0">
              <a:solidFill>
                <a:srgbClr val="FF0000"/>
              </a:solidFill>
              <a:ea typeface="黑体" pitchFamily="49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5.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模糊集的截集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6.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分解定理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7.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集合套与表现定理</a:t>
            </a:r>
            <a:endParaRPr lang="en-US" altLang="zh-CN" sz="2800" dirty="0">
              <a:solidFill>
                <a:srgbClr val="FF0000"/>
              </a:solidFill>
              <a:ea typeface="黑体" pitchFamily="49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8.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模糊集的模糊度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1462BF-29FB-B626-48DD-C902465C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CCFCAA-4957-4B04-A6A2-B81EEF572BC4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6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415480" y="2852936"/>
            <a:ext cx="83423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1" dirty="0">
                <a:latin typeface="Times New Roman" pitchFamily="18" charset="0"/>
              </a:rPr>
              <a:t>则</a:t>
            </a:r>
            <a:r>
              <a:rPr kumimoji="1" lang="en-US" altLang="zh-CN" sz="3200" b="1" i="1" dirty="0">
                <a:solidFill>
                  <a:srgbClr val="CC00CC"/>
                </a:solidFill>
                <a:latin typeface="Times New Roman" pitchFamily="18" charset="0"/>
              </a:rPr>
              <a:t>A</a:t>
            </a:r>
            <a:r>
              <a:rPr kumimoji="1" lang="en-US" altLang="zh-CN" sz="3200" b="1" i="1" baseline="30000" dirty="0">
                <a:solidFill>
                  <a:srgbClr val="CC00CC"/>
                </a:solidFill>
                <a:latin typeface="Times New Roman" pitchFamily="18" charset="0"/>
                <a:ea typeface="黑体" pitchFamily="49" charset="-122"/>
              </a:rPr>
              <a:t>c</a:t>
            </a:r>
            <a:r>
              <a:rPr kumimoji="1" lang="en-US" altLang="zh-CN" sz="3200" b="1" dirty="0">
                <a:solidFill>
                  <a:srgbClr val="CC00CC"/>
                </a:solidFill>
                <a:latin typeface="Times New Roman" pitchFamily="18" charset="0"/>
              </a:rPr>
              <a:t>=“</a:t>
            </a:r>
            <a:r>
              <a:rPr kumimoji="1" lang="zh-CN" altLang="en-US" sz="3200" b="1" dirty="0">
                <a:solidFill>
                  <a:srgbClr val="CC00CC"/>
                </a:solidFill>
                <a:latin typeface="Times New Roman" pitchFamily="18" charset="0"/>
              </a:rPr>
              <a:t>商品质量不好”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 err="1">
                <a:solidFill>
                  <a:srgbClr val="996633"/>
                </a:solidFill>
                <a:latin typeface="Times New Roman" pitchFamily="18" charset="0"/>
              </a:rPr>
              <a:t>B</a:t>
            </a:r>
            <a:r>
              <a:rPr kumimoji="1" lang="en-US" altLang="zh-CN" sz="3200" b="1" i="1" baseline="30000" dirty="0" err="1">
                <a:solidFill>
                  <a:srgbClr val="996633"/>
                </a:solidFill>
                <a:latin typeface="Times New Roman" pitchFamily="18" charset="0"/>
                <a:ea typeface="黑体" pitchFamily="49" charset="-122"/>
              </a:rPr>
              <a:t>c</a:t>
            </a:r>
            <a:r>
              <a:rPr kumimoji="1" lang="en-US" altLang="zh-CN" sz="3200" b="1" dirty="0">
                <a:solidFill>
                  <a:srgbClr val="996633"/>
                </a:solidFill>
                <a:latin typeface="Times New Roman" pitchFamily="18" charset="0"/>
              </a:rPr>
              <a:t>=“</a:t>
            </a:r>
            <a:r>
              <a:rPr kumimoji="1" lang="zh-CN" altLang="en-US" sz="3200" b="1" dirty="0">
                <a:solidFill>
                  <a:srgbClr val="996633"/>
                </a:solidFill>
                <a:latin typeface="Times New Roman" pitchFamily="18" charset="0"/>
              </a:rPr>
              <a:t>商品质量不坏”</a:t>
            </a:r>
            <a:r>
              <a:rPr kumimoji="1" lang="en-US" altLang="zh-CN" sz="3200" b="1" dirty="0">
                <a:latin typeface="Times New Roman" pitchFamily="18" charset="0"/>
              </a:rPr>
              <a:t>.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613065" y="3573660"/>
            <a:ext cx="6985001" cy="110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solidFill>
                  <a:srgbClr val="CC00CC"/>
                </a:solidFill>
                <a:ea typeface="黑体" pitchFamily="49" charset="-122"/>
              </a:rPr>
              <a:t>A</a:t>
            </a:r>
            <a:r>
              <a:rPr kumimoji="1" lang="en-US" altLang="zh-CN" sz="3200" b="1" i="1" baseline="30000" dirty="0">
                <a:solidFill>
                  <a:srgbClr val="CC00CC"/>
                </a:solidFill>
                <a:ea typeface="黑体" pitchFamily="49" charset="-122"/>
              </a:rPr>
              <a:t>c </a:t>
            </a:r>
            <a:r>
              <a:rPr kumimoji="1" lang="en-US" altLang="zh-CN" sz="3200" b="1" dirty="0">
                <a:solidFill>
                  <a:srgbClr val="CC00CC"/>
                </a:solidFill>
              </a:rPr>
              <a:t>= 1</a:t>
            </a:r>
            <a:r>
              <a:rPr kumimoji="1" lang="zh-CN" altLang="en-US" sz="3200" b="1" dirty="0">
                <a:solidFill>
                  <a:srgbClr val="CC00CC"/>
                </a:solidFill>
              </a:rPr>
              <a:t>－</a:t>
            </a:r>
            <a:r>
              <a:rPr kumimoji="1" lang="en-US" altLang="zh-CN" sz="3200" b="1" i="1" dirty="0">
                <a:solidFill>
                  <a:srgbClr val="CC00CC"/>
                </a:solidFill>
              </a:rPr>
              <a:t>A</a:t>
            </a:r>
            <a:r>
              <a:rPr kumimoji="1" lang="en-US" altLang="zh-CN" sz="3200" b="1" dirty="0">
                <a:solidFill>
                  <a:srgbClr val="CC00CC"/>
                </a:solidFill>
              </a:rPr>
              <a:t> = (0.2,  0.45,       1,  0.7,  0)</a:t>
            </a:r>
          </a:p>
          <a:p>
            <a:pPr>
              <a:spcBef>
                <a:spcPct val="5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 err="1">
                <a:solidFill>
                  <a:srgbClr val="7030A0"/>
                </a:solidFill>
                <a:ea typeface="黑体" pitchFamily="49" charset="-122"/>
              </a:rPr>
              <a:t>B</a:t>
            </a:r>
            <a:r>
              <a:rPr kumimoji="1" lang="en-US" altLang="zh-CN" sz="3200" b="1" i="1" baseline="30000" dirty="0" err="1">
                <a:solidFill>
                  <a:srgbClr val="7030A0"/>
                </a:solidFill>
                <a:ea typeface="黑体" pitchFamily="49" charset="-122"/>
              </a:rPr>
              <a:t>c</a:t>
            </a:r>
            <a:r>
              <a:rPr kumimoji="1" lang="en-US" altLang="zh-CN" sz="3200" b="1" i="1" baseline="30000" dirty="0">
                <a:solidFill>
                  <a:srgbClr val="7030A0"/>
                </a:solidFill>
                <a:ea typeface="黑体" pitchFamily="49" charset="-122"/>
              </a:rPr>
              <a:t> 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= 1</a:t>
            </a:r>
            <a:r>
              <a:rPr kumimoji="1" lang="zh-CN" altLang="en-US" sz="3200" b="1" dirty="0">
                <a:solidFill>
                  <a:srgbClr val="7030A0"/>
                </a:solidFill>
              </a:rPr>
              <a:t>－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B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 = (0.9,  0.79,  0.14,  0.4,  1)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1395560" y="4725144"/>
            <a:ext cx="36359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1" dirty="0">
                <a:latin typeface="Times New Roman" pitchFamily="18" charset="0"/>
              </a:rPr>
              <a:t>可见</a:t>
            </a:r>
            <a:r>
              <a:rPr kumimoji="1" lang="en-US" altLang="zh-CN" sz="3200" b="1" i="1" dirty="0">
                <a:solidFill>
                  <a:srgbClr val="CC00CC"/>
                </a:solidFill>
                <a:sym typeface="Symbol" pitchFamily="18" charset="2"/>
              </a:rPr>
              <a:t>A</a:t>
            </a:r>
            <a:r>
              <a:rPr kumimoji="1" lang="en-US" altLang="zh-CN" sz="3200" b="1" i="1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kumimoji="1" lang="en-US" altLang="zh-CN" sz="3200" b="1" i="1" dirty="0">
                <a:sym typeface="Symbol" pitchFamily="18" charset="2"/>
              </a:rPr>
              <a:t> </a:t>
            </a:r>
            <a:r>
              <a:rPr kumimoji="1" lang="en-US" altLang="zh-CN" sz="3200" b="1" dirty="0">
                <a:sym typeface="Symbol" pitchFamily="18" charset="2"/>
              </a:rPr>
              <a:t></a:t>
            </a:r>
            <a:r>
              <a:rPr kumimoji="1" lang="en-US" altLang="zh-CN" sz="3200" b="1" i="1" dirty="0">
                <a:solidFill>
                  <a:srgbClr val="008000"/>
                </a:solidFill>
                <a:ea typeface="黑体" pitchFamily="49" charset="-122"/>
              </a:rPr>
              <a:t>B</a:t>
            </a:r>
            <a:r>
              <a:rPr kumimoji="1" lang="en-US" altLang="zh-CN" sz="3200" b="1" dirty="0">
                <a:ea typeface="黑体" pitchFamily="49" charset="-122"/>
              </a:rPr>
              <a:t>,</a:t>
            </a:r>
            <a:r>
              <a:rPr kumimoji="1" lang="en-US" altLang="zh-CN" sz="3200" b="1" dirty="0">
                <a:sym typeface="Symbol" pitchFamily="18" charset="2"/>
              </a:rPr>
              <a:t> </a:t>
            </a:r>
            <a:r>
              <a:rPr kumimoji="1" lang="en-US" altLang="zh-CN" sz="3200" b="1" i="1" dirty="0" err="1">
                <a:solidFill>
                  <a:srgbClr val="7030A0"/>
                </a:solidFill>
                <a:sym typeface="Symbol" pitchFamily="18" charset="2"/>
              </a:rPr>
              <a:t>B</a:t>
            </a:r>
            <a:r>
              <a:rPr kumimoji="1" lang="en-US" altLang="zh-CN" sz="3200" b="1" i="1" baseline="30000" dirty="0" err="1">
                <a:solidFill>
                  <a:srgbClr val="7030A0"/>
                </a:solidFill>
                <a:ea typeface="黑体" pitchFamily="49" charset="-122"/>
              </a:rPr>
              <a:t>c</a:t>
            </a:r>
            <a:r>
              <a:rPr kumimoji="1" lang="en-US" altLang="zh-CN" sz="3200" b="1" i="1" dirty="0">
                <a:sym typeface="Symbol" pitchFamily="18" charset="2"/>
              </a:rPr>
              <a:t> </a:t>
            </a:r>
            <a:r>
              <a:rPr kumimoji="1" lang="en-US" altLang="zh-CN" sz="3200" b="1" dirty="0">
                <a:sym typeface="Symbol" pitchFamily="18" charset="2"/>
              </a:rPr>
              <a:t></a:t>
            </a:r>
            <a:r>
              <a:rPr kumimoji="1" lang="en-US" altLang="zh-CN" sz="3200" b="1" i="1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kumimoji="1" lang="en-US" altLang="zh-CN" sz="3200" b="1" i="1" dirty="0">
                <a:ea typeface="黑体" pitchFamily="49" charset="-122"/>
              </a:rPr>
              <a:t>.</a:t>
            </a:r>
            <a:r>
              <a:rPr kumimoji="1" lang="en-US" altLang="zh-CN" sz="3600" b="1" dirty="0">
                <a:latin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2566989" y="5516563"/>
            <a:ext cx="717856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1" dirty="0">
                <a:solidFill>
                  <a:srgbClr val="0000FF"/>
                </a:solidFill>
              </a:rPr>
              <a:t>又 </a:t>
            </a:r>
            <a:r>
              <a:rPr kumimoji="1" lang="en-US" altLang="zh-CN" sz="3200" b="1" i="1" dirty="0">
                <a:solidFill>
                  <a:srgbClr val="FF0000"/>
                </a:solidFill>
              </a:rPr>
              <a:t>A</a:t>
            </a:r>
            <a:r>
              <a:rPr kumimoji="1" lang="en-US" altLang="zh-CN" sz="3200" b="1" dirty="0">
                <a:solidFill>
                  <a:srgbClr val="3333FF"/>
                </a:solidFill>
                <a:sym typeface="Symbol"/>
              </a:rPr>
              <a:t>  </a:t>
            </a:r>
            <a:r>
              <a:rPr kumimoji="1" lang="en-US" altLang="zh-CN" sz="3200" b="1" i="1" dirty="0">
                <a:solidFill>
                  <a:srgbClr val="CC00CC"/>
                </a:solidFill>
                <a:sym typeface="Symbol" pitchFamily="18" charset="2"/>
              </a:rPr>
              <a:t>A</a:t>
            </a:r>
            <a:r>
              <a:rPr kumimoji="1" lang="en-US" altLang="zh-CN" sz="3200" b="1" i="1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kumimoji="1" lang="en-US" altLang="zh-CN" sz="32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(0.8,  0.55,      1,  0.7,   1) </a:t>
            </a:r>
          </a:p>
          <a:p>
            <a:r>
              <a:rPr kumimoji="1" lang="en-US" altLang="zh-CN" sz="3200" b="1" i="1" dirty="0">
                <a:solidFill>
                  <a:srgbClr val="0000FF"/>
                </a:solidFill>
              </a:rPr>
              <a:t>     </a:t>
            </a:r>
            <a:r>
              <a:rPr kumimoji="1" lang="en-US" altLang="zh-CN" sz="3200" b="1" i="1" dirty="0">
                <a:solidFill>
                  <a:srgbClr val="FF0000"/>
                </a:solidFill>
              </a:rPr>
              <a:t>A</a:t>
            </a:r>
            <a:r>
              <a:rPr kumimoji="1" lang="en-US" altLang="zh-CN" sz="3200" b="1" dirty="0">
                <a:solidFill>
                  <a:srgbClr val="3333FF"/>
                </a:solidFill>
                <a:sym typeface="Symbol"/>
              </a:rPr>
              <a:t> </a:t>
            </a:r>
            <a:r>
              <a:rPr kumimoji="1" lang="en-US" altLang="zh-CN" sz="3200" b="1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3200" b="1" i="1" dirty="0">
                <a:solidFill>
                  <a:srgbClr val="CC00CC"/>
                </a:solidFill>
                <a:sym typeface="Symbol" pitchFamily="18" charset="2"/>
              </a:rPr>
              <a:t>A</a:t>
            </a:r>
            <a:r>
              <a:rPr kumimoji="1" lang="en-US" altLang="zh-CN" sz="3200" b="1" i="1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kumimoji="1" lang="en-US" altLang="zh-CN" sz="32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(0.2,  0.45,      0,  0.3,   0)</a:t>
            </a:r>
            <a:r>
              <a:rPr kumimoji="1" lang="en-US" altLang="zh-CN" sz="32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endParaRPr kumimoji="1" lang="en-US" altLang="zh-CN" sz="3600" b="1" i="1" dirty="0">
              <a:solidFill>
                <a:srgbClr val="0000FF"/>
              </a:solidFill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BBF29A-8A65-F26A-64BF-36B0C8EF8291}"/>
              </a:ext>
            </a:extLst>
          </p:cNvPr>
          <p:cNvSpPr txBox="1"/>
          <p:nvPr/>
        </p:nvSpPr>
        <p:spPr>
          <a:xfrm>
            <a:off x="9554539" y="5508522"/>
            <a:ext cx="1184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solidFill>
                  <a:srgbClr val="0000FF"/>
                </a:solidFill>
                <a:sym typeface="Symbol" pitchFamily="18" charset="2"/>
              </a:rPr>
              <a:t> </a:t>
            </a:r>
            <a:r>
              <a:rPr kumimoji="1" lang="en-US" altLang="zh-CN" sz="3200" b="1" i="1" dirty="0">
                <a:sym typeface="Symbol" pitchFamily="18" charset="2"/>
              </a:rPr>
              <a:t>U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,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7448DF-85C2-8CA3-C373-B324F178A66A}"/>
              </a:ext>
            </a:extLst>
          </p:cNvPr>
          <p:cNvSpPr txBox="1"/>
          <p:nvPr/>
        </p:nvSpPr>
        <p:spPr>
          <a:xfrm>
            <a:off x="9571348" y="6012578"/>
            <a:ext cx="1205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solidFill>
                  <a:srgbClr val="0000FF"/>
                </a:solidFill>
                <a:sym typeface="Symbol" pitchFamily="18" charset="2"/>
              </a:rPr>
              <a:t> </a:t>
            </a:r>
            <a:r>
              <a:rPr lang="en-US" altLang="zh-CN" sz="3200" dirty="0"/>
              <a:t>Ø</a:t>
            </a:r>
            <a:r>
              <a:rPr kumimoji="1" lang="en-US" altLang="zh-CN" sz="3200" b="1" i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.</a:t>
            </a:r>
            <a:endParaRPr lang="zh-CN" altLang="en-US" sz="32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053C57-19C3-7FD0-2F83-BC20C884DB94}"/>
              </a:ext>
            </a:extLst>
          </p:cNvPr>
          <p:cNvSpPr/>
          <p:nvPr/>
        </p:nvSpPr>
        <p:spPr>
          <a:xfrm>
            <a:off x="0" y="0"/>
            <a:ext cx="12192000" cy="2708920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34853" y="113834"/>
            <a:ext cx="114492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600" b="1" dirty="0"/>
              <a:t>例</a:t>
            </a:r>
            <a:r>
              <a:rPr kumimoji="1" lang="en-US" altLang="zh-CN" sz="3600" b="1" dirty="0"/>
              <a:t>:</a:t>
            </a:r>
            <a:r>
              <a:rPr kumimoji="1" lang="zh-CN" altLang="en-US" sz="3600" b="1" dirty="0"/>
              <a:t>  设论域</a:t>
            </a:r>
            <a:r>
              <a:rPr kumimoji="1" lang="en-US" altLang="zh-CN" sz="3600" b="1" i="1" dirty="0"/>
              <a:t>U </a:t>
            </a:r>
            <a:r>
              <a:rPr kumimoji="1" lang="en-US" altLang="zh-CN" sz="3600" b="1" dirty="0"/>
              <a:t>= {</a:t>
            </a:r>
            <a:r>
              <a:rPr kumimoji="1" lang="en-US" altLang="zh-CN" sz="3600" b="1" i="1" dirty="0"/>
              <a:t>x</a:t>
            </a:r>
            <a:r>
              <a:rPr kumimoji="1" lang="en-US" altLang="zh-CN" sz="3600" b="1" baseline="-30000" dirty="0"/>
              <a:t>1</a:t>
            </a:r>
            <a:r>
              <a:rPr kumimoji="1" lang="en-US" altLang="zh-CN" sz="3600" b="1" dirty="0"/>
              <a:t>, </a:t>
            </a:r>
            <a:r>
              <a:rPr kumimoji="1" lang="en-US" altLang="zh-CN" sz="3600" b="1" i="1" dirty="0"/>
              <a:t>x</a:t>
            </a:r>
            <a:r>
              <a:rPr kumimoji="1" lang="en-US" altLang="zh-CN" sz="3600" b="1" baseline="-30000" dirty="0"/>
              <a:t>2</a:t>
            </a:r>
            <a:r>
              <a:rPr kumimoji="1" lang="en-US" altLang="zh-CN" sz="3600" b="1" dirty="0"/>
              <a:t>, </a:t>
            </a:r>
            <a:r>
              <a:rPr kumimoji="1" lang="en-US" altLang="zh-CN" sz="3600" b="1" i="1" dirty="0"/>
              <a:t>x</a:t>
            </a:r>
            <a:r>
              <a:rPr kumimoji="1" lang="en-US" altLang="zh-CN" sz="3600" b="1" baseline="-30000" dirty="0"/>
              <a:t>3</a:t>
            </a:r>
            <a:r>
              <a:rPr kumimoji="1" lang="en-US" altLang="zh-CN" sz="3600" b="1" dirty="0"/>
              <a:t>, </a:t>
            </a:r>
            <a:r>
              <a:rPr kumimoji="1" lang="en-US" altLang="zh-CN" sz="3600" b="1" i="1" dirty="0"/>
              <a:t>x</a:t>
            </a:r>
            <a:r>
              <a:rPr kumimoji="1" lang="en-US" altLang="zh-CN" sz="3600" b="1" baseline="-30000" dirty="0"/>
              <a:t>4</a:t>
            </a:r>
            <a:r>
              <a:rPr kumimoji="1" lang="en-US" altLang="zh-CN" sz="3600" b="1" dirty="0"/>
              <a:t>, </a:t>
            </a:r>
            <a:r>
              <a:rPr kumimoji="1" lang="en-US" altLang="zh-CN" sz="3600" b="1" i="1" dirty="0"/>
              <a:t>x</a:t>
            </a:r>
            <a:r>
              <a:rPr kumimoji="1" lang="en-US" altLang="zh-CN" sz="3600" b="1" baseline="-30000" dirty="0"/>
              <a:t>5</a:t>
            </a:r>
            <a:r>
              <a:rPr kumimoji="1" lang="en-US" altLang="zh-CN" sz="3600" b="1" dirty="0"/>
              <a:t>}(</a:t>
            </a:r>
            <a:r>
              <a:rPr kumimoji="1" lang="zh-CN" altLang="en-US" sz="3600" b="1" dirty="0"/>
              <a:t>商品集</a:t>
            </a:r>
            <a:r>
              <a:rPr kumimoji="1" lang="en-US" altLang="zh-CN" sz="3600" b="1" dirty="0"/>
              <a:t>)</a:t>
            </a:r>
            <a:r>
              <a:rPr kumimoji="1" lang="zh-CN" altLang="en-US" sz="3600" b="1" dirty="0"/>
              <a:t>，在</a:t>
            </a:r>
            <a:r>
              <a:rPr kumimoji="1" lang="en-US" altLang="zh-CN" sz="3600" b="1" i="1" dirty="0"/>
              <a:t>U</a:t>
            </a:r>
            <a:r>
              <a:rPr kumimoji="1" lang="zh-CN" altLang="en-US" sz="3600" b="1" dirty="0"/>
              <a:t>上定义两个模糊集： </a:t>
            </a:r>
            <a:r>
              <a:rPr kumimoji="1" lang="en-US" altLang="zh-CN" sz="3600" b="1" i="1" dirty="0">
                <a:solidFill>
                  <a:srgbClr val="FF0000"/>
                </a:solidFill>
              </a:rPr>
              <a:t>A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=“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商品质量好”，</a:t>
            </a:r>
            <a:r>
              <a:rPr kumimoji="1" lang="zh-CN" altLang="en-US" sz="3600" b="1" dirty="0"/>
              <a:t>   </a:t>
            </a:r>
            <a:r>
              <a:rPr kumimoji="1" lang="en-US" altLang="zh-CN" sz="3600" b="1" i="1" dirty="0">
                <a:solidFill>
                  <a:srgbClr val="008000"/>
                </a:solidFill>
              </a:rPr>
              <a:t>B </a:t>
            </a:r>
            <a:r>
              <a:rPr kumimoji="1" lang="en-US" altLang="zh-CN" sz="3600" b="1" dirty="0">
                <a:solidFill>
                  <a:srgbClr val="008000"/>
                </a:solidFill>
              </a:rPr>
              <a:t>=“</a:t>
            </a:r>
            <a:r>
              <a:rPr kumimoji="1" lang="zh-CN" altLang="en-US" sz="3600" b="1" dirty="0">
                <a:solidFill>
                  <a:srgbClr val="008000"/>
                </a:solidFill>
              </a:rPr>
              <a:t>商品质量坏”，</a:t>
            </a:r>
            <a:r>
              <a:rPr kumimoji="1" lang="zh-CN" altLang="en-US" sz="3600" b="1" dirty="0"/>
              <a:t>并设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4036640" y="1429958"/>
            <a:ext cx="6019800" cy="110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kumimoji="1" lang="en-US" altLang="zh-CN" sz="3200" b="1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kumimoji="1" lang="en-US" altLang="zh-CN" sz="3200" b="1" dirty="0">
                <a:solidFill>
                  <a:srgbClr val="FF0000"/>
                </a:solidFill>
              </a:rPr>
              <a:t>= (0.8,  0.55,       0,  0.3,  1).</a:t>
            </a:r>
          </a:p>
          <a:p>
            <a:pPr>
              <a:spcBef>
                <a:spcPct val="5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solidFill>
                  <a:srgbClr val="008000"/>
                </a:solidFill>
                <a:ea typeface="黑体" pitchFamily="49" charset="-122"/>
              </a:rPr>
              <a:t>B</a:t>
            </a:r>
            <a:r>
              <a:rPr kumimoji="1" lang="en-US" altLang="zh-CN" sz="3200" b="1" dirty="0">
                <a:solidFill>
                  <a:srgbClr val="008000"/>
                </a:solidFill>
                <a:ea typeface="黑体" pitchFamily="49" charset="-122"/>
              </a:rPr>
              <a:t>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= (0.1,  0.21,  0.86,  0.6,  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43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43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 autoUpdateAnimBg="0"/>
      <p:bldP spid="43013" grpId="0" build="p" autoUpdateAnimBg="0"/>
      <p:bldP spid="43014" grpId="0" build="p" autoUpdateAnimBg="0"/>
      <p:bldP spid="43015" grpId="0" uiExpand="1" build="p" autoUpdateAnimBg="0"/>
      <p:bldP spid="3" grpId="0"/>
      <p:bldP spid="5" grpId="0"/>
      <p:bldP spid="4301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5192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模糊集与经典集运算的比较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700212"/>
            <a:ext cx="10657184" cy="51577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3200" b="1" dirty="0"/>
              <a:t>模糊集的运算性质基本上与经典集合一致，但不满足</a:t>
            </a:r>
            <a:r>
              <a:rPr kumimoji="1" lang="zh-CN" altLang="en-US" sz="3200" b="1" dirty="0">
                <a:solidFill>
                  <a:srgbClr val="0000FF"/>
                </a:solidFill>
              </a:rPr>
              <a:t>排中律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:</a:t>
            </a:r>
            <a:endParaRPr kumimoji="1" lang="en-US" altLang="zh-CN" sz="3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kumimoji="1" lang="en-US" altLang="zh-CN" sz="4000" b="1" i="1" dirty="0">
                <a:solidFill>
                  <a:srgbClr val="FF0000"/>
                </a:solidFill>
              </a:rPr>
              <a:t>    A</a:t>
            </a:r>
            <a:r>
              <a:rPr kumimoji="1" lang="en-US" altLang="zh-CN" sz="4000" b="1" dirty="0">
                <a:solidFill>
                  <a:srgbClr val="3333FF"/>
                </a:solidFill>
                <a:sym typeface="Symbol"/>
              </a:rPr>
              <a:t>  </a:t>
            </a:r>
            <a:r>
              <a:rPr kumimoji="1" lang="en-US" altLang="zh-CN" sz="4000" b="1" i="1" dirty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kumimoji="1" lang="en-US" altLang="zh-CN" sz="4000" b="1" i="1" baseline="30000" dirty="0">
                <a:solidFill>
                  <a:srgbClr val="FF0000"/>
                </a:solidFill>
              </a:rPr>
              <a:t>c</a:t>
            </a:r>
            <a:r>
              <a:rPr kumimoji="1" lang="en-US" altLang="zh-CN" sz="4000" b="1" i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zh-CN" sz="4000" b="1" dirty="0">
                <a:sym typeface="Symbol" pitchFamily="18" charset="2"/>
              </a:rPr>
              <a:t> </a:t>
            </a:r>
            <a:r>
              <a:rPr kumimoji="1" lang="en-US" altLang="zh-CN" sz="4000" b="1" i="1" dirty="0">
                <a:solidFill>
                  <a:srgbClr val="FF0000"/>
                </a:solidFill>
              </a:rPr>
              <a:t>U</a:t>
            </a:r>
            <a:r>
              <a:rPr kumimoji="1" lang="zh-CN" altLang="en-US" sz="4000" b="1" dirty="0">
                <a:solidFill>
                  <a:srgbClr val="FF0000"/>
                </a:solidFill>
                <a:sym typeface="Symbol" pitchFamily="18" charset="2"/>
              </a:rPr>
              <a:t>， </a:t>
            </a:r>
            <a:r>
              <a:rPr kumimoji="1" lang="en-US" altLang="zh-CN" sz="4000" b="1" i="1" dirty="0">
                <a:solidFill>
                  <a:srgbClr val="FF0000"/>
                </a:solidFill>
              </a:rPr>
              <a:t>A</a:t>
            </a:r>
            <a:r>
              <a:rPr kumimoji="1" lang="en-US" altLang="zh-CN" sz="4000" b="1" dirty="0">
                <a:sym typeface="Symbol"/>
              </a:rPr>
              <a:t> </a:t>
            </a:r>
            <a:r>
              <a:rPr kumimoji="1" lang="en-US" altLang="zh-CN" sz="4000" b="1" dirty="0">
                <a:solidFill>
                  <a:srgbClr val="3333FF"/>
                </a:solidFill>
                <a:sym typeface="Symbol"/>
              </a:rPr>
              <a:t></a:t>
            </a:r>
            <a:r>
              <a:rPr kumimoji="1" lang="en-US" altLang="zh-CN" sz="4000" b="1" dirty="0">
                <a:sym typeface="Symbol"/>
              </a:rPr>
              <a:t> </a:t>
            </a:r>
            <a:r>
              <a:rPr kumimoji="1" lang="en-US" altLang="zh-CN" sz="4000" b="1" i="1" dirty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kumimoji="1" lang="en-US" altLang="zh-CN" sz="4000" b="1" i="1" baseline="30000" dirty="0">
                <a:solidFill>
                  <a:srgbClr val="FF0000"/>
                </a:solidFill>
              </a:rPr>
              <a:t>c</a:t>
            </a:r>
            <a:r>
              <a:rPr kumimoji="1" lang="en-US" altLang="zh-CN" sz="4000" b="1" i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zh-CN" sz="4000" b="1" dirty="0">
                <a:sym typeface="Symbol" pitchFamily="18" charset="2"/>
              </a:rPr>
              <a:t> </a:t>
            </a:r>
            <a:r>
              <a:rPr lang="en-US" altLang="zh-CN" sz="3200" dirty="0">
                <a:solidFill>
                  <a:srgbClr val="FF0000"/>
                </a:solidFill>
                <a:cs typeface="Arial" charset="0"/>
              </a:rPr>
              <a:t>Ø</a:t>
            </a:r>
            <a:r>
              <a:rPr kumimoji="1" lang="en-US" altLang="zh-CN" sz="4000" b="1" dirty="0">
                <a:solidFill>
                  <a:srgbClr val="FF0000"/>
                </a:solidFill>
                <a:sym typeface="Symbol" pitchFamily="18" charset="2"/>
              </a:rPr>
              <a:t> .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4000" b="1" dirty="0">
                <a:solidFill>
                  <a:srgbClr val="FF0000"/>
                </a:solidFill>
                <a:sym typeface="Symbol" pitchFamily="18" charset="2"/>
              </a:rPr>
              <a:t>说明</a:t>
            </a:r>
            <a:r>
              <a:rPr kumimoji="1" lang="en-US" altLang="zh-CN" sz="4000" b="1" dirty="0">
                <a:solidFill>
                  <a:srgbClr val="FF0000"/>
                </a:solidFill>
                <a:sym typeface="Symbol" pitchFamily="18" charset="2"/>
              </a:rPr>
              <a:t>: </a:t>
            </a:r>
          </a:p>
          <a:p>
            <a:pPr lvl="1" eaLnBrk="1" hangingPunct="1">
              <a:lnSpc>
                <a:spcPct val="110000"/>
              </a:lnSpc>
            </a:pP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</a:rPr>
              <a:t>A</a:t>
            </a:r>
            <a:r>
              <a:rPr kumimoji="1" lang="en-US" altLang="zh-CN" sz="3600" b="1" dirty="0">
                <a:solidFill>
                  <a:srgbClr val="3333FF"/>
                </a:solidFill>
                <a:sym typeface="Symbol"/>
              </a:rPr>
              <a:t> </a:t>
            </a:r>
            <a:r>
              <a:rPr kumimoji="1" lang="en-US" altLang="zh-CN" sz="3600" b="1" dirty="0">
                <a:solidFill>
                  <a:srgbClr val="008000"/>
                </a:solidFill>
                <a:sym typeface="Symbol"/>
              </a:rPr>
              <a:t></a:t>
            </a:r>
            <a:r>
              <a:rPr kumimoji="1" lang="en-US" altLang="zh-CN" sz="3600" b="1" dirty="0">
                <a:solidFill>
                  <a:srgbClr val="3333FF"/>
                </a:solidFill>
                <a:sym typeface="Symbol"/>
              </a:rPr>
              <a:t> </a:t>
            </a: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3600" b="1" i="1" baseline="30000" dirty="0">
                <a:solidFill>
                  <a:srgbClr val="008000"/>
                </a:solidFill>
                <a:ea typeface="楷体_GB2312" pitchFamily="49" charset="-122"/>
              </a:rPr>
              <a:t>c</a:t>
            </a: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36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不一定完全覆盖</a:t>
            </a: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U</a:t>
            </a:r>
            <a:r>
              <a:rPr kumimoji="1" lang="en-US" altLang="zh-CN" sz="36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; </a:t>
            </a:r>
          </a:p>
          <a:p>
            <a:pPr lvl="1" eaLnBrk="1" hangingPunct="1">
              <a:lnSpc>
                <a:spcPct val="110000"/>
              </a:lnSpc>
            </a:pP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</a:rPr>
              <a:t>A</a:t>
            </a:r>
            <a:r>
              <a:rPr kumimoji="1" lang="zh-CN" altLang="en-US" sz="3600" b="1" dirty="0">
                <a:solidFill>
                  <a:srgbClr val="008000"/>
                </a:solidFill>
                <a:ea typeface="楷体_GB2312" pitchFamily="49" charset="-122"/>
              </a:rPr>
              <a:t>和 </a:t>
            </a: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3600" b="1" i="1" baseline="30000" dirty="0">
                <a:solidFill>
                  <a:srgbClr val="008000"/>
                </a:solidFill>
                <a:ea typeface="楷体_GB2312" pitchFamily="49" charset="-122"/>
              </a:rPr>
              <a:t>c</a:t>
            </a:r>
            <a:r>
              <a:rPr kumimoji="1" lang="en-US" altLang="zh-CN" sz="3600" b="1" i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36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是相交的</a:t>
            </a:r>
            <a:r>
              <a:rPr kumimoji="1" lang="en-US" altLang="zh-CN" sz="36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.</a:t>
            </a:r>
            <a:r>
              <a:rPr kumimoji="1" lang="en-US" altLang="zh-CN" sz="3600" b="1" dirty="0">
                <a:solidFill>
                  <a:srgbClr val="008000"/>
                </a:solidFill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3200" b="1" dirty="0">
                <a:ea typeface="黑体" pitchFamily="49" charset="-122"/>
              </a:rPr>
              <a:t>模糊集不再具有</a:t>
            </a:r>
            <a:r>
              <a:rPr kumimoji="1" lang="zh-CN" altLang="en-US" sz="3200" b="1" dirty="0">
                <a:solidFill>
                  <a:srgbClr val="0000FF"/>
                </a:solidFill>
                <a:ea typeface="黑体" pitchFamily="49" charset="-122"/>
              </a:rPr>
              <a:t>“非此即彼”</a:t>
            </a:r>
            <a:r>
              <a:rPr kumimoji="1" lang="zh-CN" altLang="en-US" sz="3200" b="1" dirty="0">
                <a:ea typeface="黑体" pitchFamily="49" charset="-122"/>
              </a:rPr>
              <a:t>的特点，这正是模糊性带来的本质特征</a:t>
            </a:r>
            <a:r>
              <a:rPr kumimoji="1" lang="en-US" altLang="zh-CN" sz="3200" b="1" dirty="0">
                <a:ea typeface="黑体" pitchFamily="49" charset="-122"/>
              </a:rPr>
              <a:t>——</a:t>
            </a:r>
            <a:r>
              <a:rPr kumimoji="1" lang="en-US" altLang="zh-CN" sz="3200" b="1" dirty="0">
                <a:solidFill>
                  <a:srgbClr val="FF0000"/>
                </a:solidFill>
                <a:ea typeface="黑体" pitchFamily="49" charset="-122"/>
              </a:rPr>
              <a:t>“</a:t>
            </a:r>
            <a:r>
              <a:rPr kumimoji="1" lang="zh-CN" altLang="en-US" sz="3200" b="1" dirty="0">
                <a:solidFill>
                  <a:srgbClr val="FF0000"/>
                </a:solidFill>
                <a:ea typeface="黑体" pitchFamily="49" charset="-122"/>
              </a:rPr>
              <a:t>亦此亦彼”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07652A-3047-966B-B62C-B1632469CA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A1EC4C5-D33C-0A4A-8733-653D10226E90}"/>
              </a:ext>
            </a:extLst>
          </p:cNvPr>
          <p:cNvSpPr/>
          <p:nvPr/>
        </p:nvSpPr>
        <p:spPr>
          <a:xfrm>
            <a:off x="0" y="0"/>
            <a:ext cx="12192000" cy="1397001"/>
          </a:xfrm>
          <a:prstGeom prst="rect">
            <a:avLst/>
          </a:prstGeom>
          <a:solidFill>
            <a:srgbClr val="FFFFCC"/>
          </a:solidFill>
          <a:ln>
            <a:solidFill>
              <a:srgbClr val="CFDEE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671" y="25401"/>
            <a:ext cx="9109124" cy="1371600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008000"/>
                </a:solidFill>
              </a:rPr>
              <a:t>[P9</a:t>
            </a:r>
            <a:r>
              <a:rPr lang="zh-CN" altLang="en-US" sz="4000" b="1" dirty="0">
                <a:solidFill>
                  <a:srgbClr val="008000"/>
                </a:solidFill>
              </a:rPr>
              <a:t>例</a:t>
            </a:r>
            <a:r>
              <a:rPr lang="en-US" altLang="zh-CN" sz="4000" b="1" dirty="0">
                <a:solidFill>
                  <a:srgbClr val="008000"/>
                </a:solidFill>
              </a:rPr>
              <a:t>3]</a:t>
            </a:r>
            <a:r>
              <a:rPr lang="zh-CN" altLang="en-US" sz="4000" b="1" dirty="0">
                <a:solidFill>
                  <a:srgbClr val="008000"/>
                </a:solidFill>
              </a:rPr>
              <a:t>设</a:t>
            </a:r>
            <a:r>
              <a:rPr lang="en-US" altLang="zh-CN" sz="4000" b="1" dirty="0">
                <a:solidFill>
                  <a:srgbClr val="008000"/>
                </a:solidFill>
              </a:rPr>
              <a:t>U=[0,1],</a:t>
            </a:r>
            <a:r>
              <a:rPr lang="en-US" altLang="zh-CN" sz="4000" b="1" dirty="0">
                <a:solidFill>
                  <a:srgbClr val="FF0000"/>
                </a:solidFill>
              </a:rPr>
              <a:t>A(u)=u</a:t>
            </a:r>
            <a:r>
              <a:rPr lang="en-US" altLang="zh-CN" sz="4000" b="1" dirty="0">
                <a:solidFill>
                  <a:srgbClr val="008000"/>
                </a:solidFill>
              </a:rPr>
              <a:t>,</a:t>
            </a:r>
            <a:r>
              <a:rPr lang="zh-CN" altLang="en-US" sz="4000" b="1" dirty="0">
                <a:solidFill>
                  <a:srgbClr val="008000"/>
                </a:solidFill>
              </a:rPr>
              <a:t>则</a:t>
            </a:r>
            <a:r>
              <a:rPr lang="en-US" altLang="zh-CN" sz="4000" b="1" dirty="0">
                <a:solidFill>
                  <a:srgbClr val="0000FF"/>
                </a:solidFill>
              </a:rPr>
              <a:t>A</a:t>
            </a:r>
            <a:r>
              <a:rPr lang="en-US" altLang="zh-CN" sz="4000" b="1" baseline="30000" dirty="0">
                <a:solidFill>
                  <a:srgbClr val="0000FF"/>
                </a:solidFill>
              </a:rPr>
              <a:t>c</a:t>
            </a:r>
            <a:r>
              <a:rPr lang="en-US" altLang="zh-CN" sz="4000" b="1" dirty="0">
                <a:solidFill>
                  <a:srgbClr val="0000FF"/>
                </a:solidFill>
              </a:rPr>
              <a:t>=1</a:t>
            </a:r>
            <a:r>
              <a:rPr lang="en-US" altLang="zh-CN" sz="4000" b="1" dirty="0">
                <a:solidFill>
                  <a:srgbClr val="0000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4000" b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8295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471746" y="3609182"/>
            <a:ext cx="4038600" cy="576262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 dirty="0">
                <a:solidFill>
                  <a:srgbClr val="FF0000"/>
                </a:solidFill>
                <a:ea typeface="黑体" pitchFamily="49" charset="-122"/>
              </a:rPr>
              <a:t>特别地</a:t>
            </a:r>
          </a:p>
        </p:txBody>
      </p:sp>
      <p:graphicFrame>
        <p:nvGraphicFramePr>
          <p:cNvPr id="82953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1744663" y="4844255"/>
          <a:ext cx="43624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93900" imgH="431800" progId="Equation.3">
                  <p:embed/>
                </p:oleObj>
              </mc:Choice>
              <mc:Fallback>
                <p:oleObj name="公式" r:id="rId2" imgW="1993900" imgH="431800" progId="Equation.3">
                  <p:embed/>
                  <p:pic>
                    <p:nvPicPr>
                      <p:cNvPr id="829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63" y="4844255"/>
                        <a:ext cx="43624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6066329"/>
              </p:ext>
            </p:extLst>
          </p:nvPr>
        </p:nvGraphicFramePr>
        <p:xfrm>
          <a:off x="1559496" y="1555751"/>
          <a:ext cx="3889375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14500" imgH="787400" progId="Equation.3">
                  <p:embed/>
                </p:oleObj>
              </mc:Choice>
              <mc:Fallback>
                <p:oleObj name="公式" r:id="rId4" imgW="1714500" imgH="787400" progId="Equation.3">
                  <p:embed/>
                  <p:pic>
                    <p:nvPicPr>
                      <p:cNvPr id="829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555751"/>
                        <a:ext cx="3889375" cy="1785937"/>
                      </a:xfrm>
                      <a:prstGeom prst="rect">
                        <a:avLst/>
                      </a:prstGeom>
                      <a:solidFill>
                        <a:srgbClr val="FFC000">
                          <a:alpha val="66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000528003"/>
              </p:ext>
            </p:extLst>
          </p:nvPr>
        </p:nvGraphicFramePr>
        <p:xfrm>
          <a:off x="6670676" y="1560513"/>
          <a:ext cx="3959225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14500" imgH="787400" progId="Equation.3">
                  <p:embed/>
                </p:oleObj>
              </mc:Choice>
              <mc:Fallback>
                <p:oleObj name="公式" r:id="rId6" imgW="1714500" imgH="787400" progId="Equation.3">
                  <p:embed/>
                  <p:pic>
                    <p:nvPicPr>
                      <p:cNvPr id="829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0676" y="1560513"/>
                        <a:ext cx="3959225" cy="1819275"/>
                      </a:xfrm>
                      <a:prstGeom prst="rect">
                        <a:avLst/>
                      </a:prstGeom>
                      <a:solidFill>
                        <a:srgbClr val="FF99FF">
                          <a:alpha val="56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67" name="Group 23"/>
          <p:cNvGrpSpPr>
            <a:grpSpLocks/>
          </p:cNvGrpSpPr>
          <p:nvPr/>
        </p:nvGrpSpPr>
        <p:grpSpPr bwMode="auto">
          <a:xfrm>
            <a:off x="7104112" y="3788569"/>
            <a:ext cx="3997325" cy="2986087"/>
            <a:chOff x="3152" y="2247"/>
            <a:chExt cx="2518" cy="1881"/>
          </a:xfrm>
        </p:grpSpPr>
        <p:sp>
          <p:nvSpPr>
            <p:cNvPr id="45064" name="Line 12"/>
            <p:cNvSpPr>
              <a:spLocks noChangeShapeType="1"/>
            </p:cNvSpPr>
            <p:nvPr/>
          </p:nvSpPr>
          <p:spPr bwMode="auto">
            <a:xfrm flipV="1">
              <a:off x="3465" y="2247"/>
              <a:ext cx="0" cy="1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5" name="Line 13"/>
            <p:cNvSpPr>
              <a:spLocks noChangeShapeType="1"/>
            </p:cNvSpPr>
            <p:nvPr/>
          </p:nvSpPr>
          <p:spPr bwMode="auto">
            <a:xfrm>
              <a:off x="3465" y="3882"/>
              <a:ext cx="19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Text Box 14"/>
            <p:cNvSpPr txBox="1">
              <a:spLocks noChangeArrowheads="1"/>
            </p:cNvSpPr>
            <p:nvPr/>
          </p:nvSpPr>
          <p:spPr bwMode="auto">
            <a:xfrm>
              <a:off x="4935" y="2383"/>
              <a:ext cx="6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</a:rPr>
                <a:t>A(u)=u</a:t>
              </a:r>
            </a:p>
          </p:txBody>
        </p:sp>
        <p:sp>
          <p:nvSpPr>
            <p:cNvPr id="45067" name="Text Box 15"/>
            <p:cNvSpPr txBox="1">
              <a:spLocks noChangeArrowheads="1"/>
            </p:cNvSpPr>
            <p:nvPr/>
          </p:nvSpPr>
          <p:spPr bwMode="auto">
            <a:xfrm>
              <a:off x="5436" y="3779"/>
              <a:ext cx="2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u</a:t>
              </a:r>
            </a:p>
          </p:txBody>
        </p:sp>
        <p:sp>
          <p:nvSpPr>
            <p:cNvPr id="45068" name="Line 16"/>
            <p:cNvSpPr>
              <a:spLocks noChangeShapeType="1"/>
            </p:cNvSpPr>
            <p:nvPr/>
          </p:nvSpPr>
          <p:spPr bwMode="auto">
            <a:xfrm flipV="1">
              <a:off x="3465" y="2349"/>
              <a:ext cx="1537" cy="15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Line 17"/>
            <p:cNvSpPr>
              <a:spLocks noChangeShapeType="1"/>
            </p:cNvSpPr>
            <p:nvPr/>
          </p:nvSpPr>
          <p:spPr bwMode="auto">
            <a:xfrm>
              <a:off x="3465" y="2383"/>
              <a:ext cx="1537" cy="1499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Text Box 18"/>
            <p:cNvSpPr txBox="1">
              <a:spLocks noChangeArrowheads="1"/>
            </p:cNvSpPr>
            <p:nvPr/>
          </p:nvSpPr>
          <p:spPr bwMode="auto">
            <a:xfrm>
              <a:off x="3565" y="2247"/>
              <a:ext cx="8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3333FF"/>
                  </a:solidFill>
                </a:rPr>
                <a:t>A</a:t>
              </a:r>
              <a:r>
                <a:rPr lang="en-US" altLang="zh-CN" sz="2000" baseline="30000">
                  <a:solidFill>
                    <a:srgbClr val="3333FF"/>
                  </a:solidFill>
                </a:rPr>
                <a:t>c</a:t>
              </a:r>
              <a:r>
                <a:rPr lang="en-US" altLang="zh-CN" sz="2000">
                  <a:solidFill>
                    <a:srgbClr val="3333FF"/>
                  </a:solidFill>
                </a:rPr>
                <a:t>(u)=1-u</a:t>
              </a:r>
            </a:p>
          </p:txBody>
        </p:sp>
        <p:sp>
          <p:nvSpPr>
            <p:cNvPr id="45071" name="Line 19"/>
            <p:cNvSpPr>
              <a:spLocks noChangeShapeType="1"/>
            </p:cNvSpPr>
            <p:nvPr/>
          </p:nvSpPr>
          <p:spPr bwMode="auto">
            <a:xfrm>
              <a:off x="4233" y="3132"/>
              <a:ext cx="0" cy="75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Line 20"/>
            <p:cNvSpPr>
              <a:spLocks noChangeShapeType="1"/>
            </p:cNvSpPr>
            <p:nvPr/>
          </p:nvSpPr>
          <p:spPr bwMode="auto">
            <a:xfrm flipH="1">
              <a:off x="3465" y="3132"/>
              <a:ext cx="768" cy="0"/>
            </a:xfrm>
            <a:prstGeom prst="line">
              <a:avLst/>
            </a:prstGeom>
            <a:noFill/>
            <a:ln w="38100">
              <a:solidFill>
                <a:srgbClr val="13CB4C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Text Box 21"/>
            <p:cNvSpPr txBox="1">
              <a:spLocks noChangeArrowheads="1"/>
            </p:cNvSpPr>
            <p:nvPr/>
          </p:nvSpPr>
          <p:spPr bwMode="auto">
            <a:xfrm>
              <a:off x="3398" y="3916"/>
              <a:ext cx="18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dirty="0"/>
                <a:t>0                 </a:t>
              </a:r>
              <a:r>
                <a:rPr lang="en-US" altLang="zh-CN" sz="1600" b="1" dirty="0">
                  <a:solidFill>
                    <a:srgbClr val="CC00FF"/>
                  </a:solidFill>
                </a:rPr>
                <a:t>0.5  </a:t>
              </a:r>
              <a:r>
                <a:rPr lang="en-US" altLang="zh-CN" sz="1600" dirty="0"/>
                <a:t>                   1</a:t>
              </a:r>
            </a:p>
          </p:txBody>
        </p:sp>
        <p:sp>
          <p:nvSpPr>
            <p:cNvPr id="45074" name="Text Box 22"/>
            <p:cNvSpPr txBox="1">
              <a:spLocks noChangeArrowheads="1"/>
            </p:cNvSpPr>
            <p:nvPr/>
          </p:nvSpPr>
          <p:spPr bwMode="auto">
            <a:xfrm>
              <a:off x="3152" y="2341"/>
              <a:ext cx="371" cy="9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sz="1600"/>
            </a:p>
            <a:p>
              <a:pPr eaLnBrk="1" hangingPunct="1">
                <a:spcBef>
                  <a:spcPct val="50000"/>
                </a:spcBef>
              </a:pPr>
              <a:endParaRPr lang="en-US" altLang="zh-CN" sz="16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600"/>
                <a:t>0.5</a:t>
              </a:r>
            </a:p>
          </p:txBody>
        </p:sp>
      </p:grpSp>
      <p:sp>
        <p:nvSpPr>
          <p:cNvPr id="3" name="箭头: V 形 2">
            <a:extLst>
              <a:ext uri="{FF2B5EF4-FFF2-40B4-BE49-F238E27FC236}">
                <a16:creationId xmlns:a16="http://schemas.microsoft.com/office/drawing/2014/main" id="{0BB55401-8835-05C2-FEF5-4693427A5E29}"/>
              </a:ext>
            </a:extLst>
          </p:cNvPr>
          <p:cNvSpPr/>
          <p:nvPr/>
        </p:nvSpPr>
        <p:spPr>
          <a:xfrm rot="5400000">
            <a:off x="8135715" y="3395937"/>
            <a:ext cx="1363413" cy="2447132"/>
          </a:xfrm>
          <a:prstGeom prst="chevron">
            <a:avLst>
              <a:gd name="adj" fmla="val 78734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箭头: V 形 3">
            <a:extLst>
              <a:ext uri="{FF2B5EF4-FFF2-40B4-BE49-F238E27FC236}">
                <a16:creationId xmlns:a16="http://schemas.microsoft.com/office/drawing/2014/main" id="{D8A15CD6-BD8D-7340-6EDA-D3BE5C5CA467}"/>
              </a:ext>
            </a:extLst>
          </p:cNvPr>
          <p:cNvSpPr/>
          <p:nvPr/>
        </p:nvSpPr>
        <p:spPr>
          <a:xfrm rot="5400000" flipH="1">
            <a:off x="8161598" y="4524585"/>
            <a:ext cx="1318791" cy="2439988"/>
          </a:xfrm>
          <a:prstGeom prst="chevron">
            <a:avLst>
              <a:gd name="adj" fmla="val 78734"/>
            </a:avLst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F5CF9-1EC5-11A6-E53F-BA77CECA7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6FA74C2-3A00-952E-0DA3-2CC5D92054EA}"/>
              </a:ext>
            </a:extLst>
          </p:cNvPr>
          <p:cNvSpPr/>
          <p:nvPr/>
        </p:nvSpPr>
        <p:spPr>
          <a:xfrm>
            <a:off x="8640180" y="5047924"/>
            <a:ext cx="360040" cy="3243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CFB34-EB0A-406D-B8A0-64564404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4449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1.4  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集运算的其他定义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971BD9-D5E2-4489-A4F8-05F580A0B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80" y="1200204"/>
            <a:ext cx="10458580" cy="174046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4100" dirty="0"/>
              <a:t>   </a:t>
            </a:r>
            <a:r>
              <a:rPr lang="zh-CN" altLang="en-US" b="1" dirty="0">
                <a:latin typeface="宋体" pitchFamily="2" charset="-122"/>
              </a:rPr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, </a:t>
            </a:r>
            <a:r>
              <a:rPr lang="en-US" altLang="zh-CN" b="1" i="1" dirty="0"/>
              <a:t>B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b="1" dirty="0">
                <a:sym typeface="Symbol" pitchFamily="18" charset="2"/>
              </a:rPr>
              <a:t>(</a:t>
            </a:r>
            <a:r>
              <a:rPr lang="en-US" altLang="zh-CN" b="1" i="1" dirty="0">
                <a:sym typeface="Symbol" pitchFamily="18" charset="2"/>
              </a:rPr>
              <a:t>U</a:t>
            </a:r>
            <a:r>
              <a:rPr lang="en-US" altLang="zh-CN" b="1" dirty="0">
                <a:sym typeface="Symbol" pitchFamily="18" charset="2"/>
              </a:rPr>
              <a:t>) </a:t>
            </a:r>
            <a:r>
              <a:rPr lang="zh-CN" altLang="en-US" b="1" dirty="0">
                <a:sym typeface="Symbol" pitchFamily="18" charset="2"/>
              </a:rPr>
              <a:t>，对</a:t>
            </a:r>
            <a:r>
              <a:rPr lang="zh-CN" altLang="en-US" dirty="0">
                <a:sym typeface="Symbol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altLang="zh-CN" dirty="0" err="1">
                <a:sym typeface="Symbol"/>
              </a:rPr>
              <a:t></a:t>
            </a:r>
            <a:r>
              <a:rPr lang="en-US" altLang="zh-CN" i="1" dirty="0" err="1">
                <a:sym typeface="Symbol"/>
              </a:rPr>
              <a:t>U</a:t>
            </a:r>
            <a:r>
              <a:rPr lang="en-US" altLang="zh-CN" dirty="0">
                <a:sym typeface="Symbol"/>
              </a:rPr>
              <a:t>,</a:t>
            </a:r>
            <a:r>
              <a:rPr lang="zh-CN" altLang="en-US" b="1" dirty="0">
                <a:sym typeface="Symbol"/>
              </a:rPr>
              <a:t>规定</a:t>
            </a:r>
            <a:endParaRPr lang="en-US" altLang="zh-CN" sz="4000" b="1" dirty="0">
              <a:sym typeface="Symbol"/>
            </a:endParaRPr>
          </a:p>
          <a:p>
            <a:pPr marL="0" indent="0">
              <a:buNone/>
            </a:pPr>
            <a:endParaRPr lang="en-US" altLang="zh-CN" sz="2000" b="1" dirty="0">
              <a:sym typeface="Symbol"/>
            </a:endParaRPr>
          </a:p>
          <a:p>
            <a:pPr marL="0" indent="0">
              <a:buNone/>
            </a:pPr>
            <a:r>
              <a:rPr lang="zh-CN" altLang="en-US" sz="3300" b="1" dirty="0">
                <a:sym typeface="Symbol"/>
              </a:rPr>
              <a:t>           </a:t>
            </a:r>
            <a:r>
              <a:rPr lang="zh-CN" altLang="en-US" b="1" dirty="0">
                <a:sym typeface="Symbol"/>
              </a:rPr>
              <a:t>式中</a:t>
            </a:r>
            <a:r>
              <a:rPr lang="zh-CN" altLang="en-US" b="1" dirty="0">
                <a:solidFill>
                  <a:srgbClr val="FD3136"/>
                </a:solidFill>
                <a:sym typeface="Symbol" panose="05050102010706020507" pitchFamily="18" charset="2"/>
              </a:rPr>
              <a:t>*</a:t>
            </a:r>
            <a:r>
              <a:rPr lang="zh-CN" altLang="en-US" b="1" dirty="0">
                <a:sym typeface="Symbol" panose="05050102010706020507" pitchFamily="18" charset="2"/>
              </a:rPr>
              <a:t>、</a:t>
            </a:r>
            <a:r>
              <a:rPr lang="zh-CN" altLang="en-US" b="1" dirty="0">
                <a:solidFill>
                  <a:srgbClr val="FD3136"/>
                </a:solidFill>
                <a:sym typeface="Symbol" panose="05050102010706020507" pitchFamily="18" charset="2"/>
              </a:rPr>
              <a:t>*</a:t>
            </a:r>
            <a:r>
              <a:rPr lang="zh-CN" altLang="en-US" b="1" dirty="0">
                <a:sym typeface="Symbol" panose="05050102010706020507" pitchFamily="18" charset="2"/>
              </a:rPr>
              <a:t>是</a:t>
            </a:r>
            <a:r>
              <a:rPr lang="en-US" altLang="zh-CN" b="1" dirty="0">
                <a:sym typeface="Symbol" panose="05050102010706020507" pitchFamily="18" charset="2"/>
              </a:rPr>
              <a:t>[0,1]</a:t>
            </a:r>
            <a:r>
              <a:rPr lang="zh-CN" altLang="en-US" b="1" dirty="0">
                <a:sym typeface="Symbol" panose="05050102010706020507" pitchFamily="18" charset="2"/>
              </a:rPr>
              <a:t>中的二元运算，简称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算子</a:t>
            </a:r>
            <a:r>
              <a:rPr lang="zh-CN" altLang="en-US" dirty="0"/>
              <a:t>     </a:t>
            </a:r>
            <a:endParaRPr lang="zh-CN" altLang="en-US" sz="33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ECE589E-6C29-4EB9-A994-E2A5A92D7B9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981200" y="1880068"/>
          <a:ext cx="7216353" cy="476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360" imgH="203040" progId="Equation.DSMT4">
                  <p:embed/>
                </p:oleObj>
              </mc:Choice>
              <mc:Fallback>
                <p:oleObj name="Equation" r:id="rId3" imgW="327636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ECE589E-6C29-4EB9-A994-E2A5A92D7B9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880068"/>
                        <a:ext cx="7216353" cy="47676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14729AF-A5F6-448C-A5CD-BD92F17DA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374793"/>
              </p:ext>
            </p:extLst>
          </p:nvPr>
        </p:nvGraphicFramePr>
        <p:xfrm>
          <a:off x="2351584" y="2940672"/>
          <a:ext cx="6696744" cy="3910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581">
                  <a:extLst>
                    <a:ext uri="{9D8B030D-6E8A-4147-A177-3AD203B41FA5}">
                      <a16:colId xmlns:a16="http://schemas.microsoft.com/office/drawing/2014/main" val="2807328751"/>
                    </a:ext>
                  </a:extLst>
                </a:gridCol>
                <a:gridCol w="2824311">
                  <a:extLst>
                    <a:ext uri="{9D8B030D-6E8A-4147-A177-3AD203B41FA5}">
                      <a16:colId xmlns:a16="http://schemas.microsoft.com/office/drawing/2014/main" val="3493654799"/>
                    </a:ext>
                  </a:extLst>
                </a:gridCol>
                <a:gridCol w="1802963">
                  <a:extLst>
                    <a:ext uri="{9D8B030D-6E8A-4147-A177-3AD203B41FA5}">
                      <a16:colId xmlns:a16="http://schemas.microsoft.com/office/drawing/2014/main" val="2154623049"/>
                    </a:ext>
                  </a:extLst>
                </a:gridCol>
                <a:gridCol w="1609889">
                  <a:extLst>
                    <a:ext uri="{9D8B030D-6E8A-4147-A177-3AD203B41FA5}">
                      <a16:colId xmlns:a16="http://schemas.microsoft.com/office/drawing/2014/main" val="3589564030"/>
                    </a:ext>
                  </a:extLst>
                </a:gridCol>
              </a:tblGrid>
              <a:tr h="212968"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FD313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算子名称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rgbClr val="FD3136"/>
                          </a:solidFill>
                          <a:sym typeface="Symbol" panose="05050102010706020507" pitchFamily="18" charset="2"/>
                        </a:rPr>
                        <a:t>*</a:t>
                      </a:r>
                      <a:endParaRPr lang="zh-CN" altLang="en-US" sz="3200" dirty="0">
                        <a:solidFill>
                          <a:srgbClr val="FD313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rgbClr val="FD3136"/>
                          </a:solidFill>
                          <a:sym typeface="Symbol" panose="05050102010706020507" pitchFamily="18" charset="2"/>
                        </a:rPr>
                        <a:t>*</a:t>
                      </a:r>
                      <a:endParaRPr lang="zh-CN" altLang="en-US" sz="3200" dirty="0">
                        <a:solidFill>
                          <a:srgbClr val="FD313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19667"/>
                  </a:ext>
                </a:extLst>
              </a:tr>
              <a:tr h="4664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Zadeh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ym typeface="Symbol" panose="05050102010706020507" pitchFamily="18" charset="2"/>
                        </a:rPr>
                        <a:t>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ym typeface="Symbol" panose="05050102010706020507" pitchFamily="18" charset="2"/>
                        </a:rPr>
                        <a:t>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991804"/>
                  </a:ext>
                </a:extLst>
              </a:tr>
              <a:tr h="4424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最大、乘积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ym typeface="Symbol" panose="05050102010706020507" pitchFamily="18" charset="2"/>
                        </a:rPr>
                        <a:t>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ym typeface="Symbol" panose="05050102010706020507" pitchFamily="18" charset="2"/>
                        </a:rPr>
                        <a:t> </a:t>
                      </a:r>
                      <a:r>
                        <a:rPr lang="en-US" altLang="zh-CN" sz="2400" dirty="0">
                          <a:sym typeface="Symbol" panose="05050102010706020507" pitchFamily="18" charset="2"/>
                        </a:rPr>
                        <a:t>(</a:t>
                      </a:r>
                      <a:r>
                        <a:rPr lang="zh-CN" altLang="en-US" sz="2400" dirty="0">
                          <a:sym typeface="Symbol" panose="05050102010706020507" pitchFamily="18" charset="2"/>
                        </a:rPr>
                        <a:t>代数乘</a:t>
                      </a:r>
                      <a:r>
                        <a:rPr lang="en-US" altLang="zh-CN" sz="2400" dirty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719702"/>
                  </a:ext>
                </a:extLst>
              </a:tr>
              <a:tr h="367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代数和与积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ym typeface="Symbol" panose="05050102010706020507" pitchFamily="18" charset="2"/>
                        </a:rPr>
                        <a:t> </a:t>
                      </a:r>
                      <a:r>
                        <a:rPr lang="en-US" altLang="zh-CN" sz="2400" dirty="0">
                          <a:sym typeface="Symbol" panose="05050102010706020507" pitchFamily="18" charset="2"/>
                        </a:rPr>
                        <a:t>(</a:t>
                      </a:r>
                      <a:r>
                        <a:rPr lang="zh-CN" altLang="en-US" sz="2400" dirty="0">
                          <a:sym typeface="Symbol" panose="05050102010706020507" pitchFamily="18" charset="2"/>
                        </a:rPr>
                        <a:t>代数乘</a:t>
                      </a:r>
                      <a:r>
                        <a:rPr lang="en-US" altLang="zh-CN" sz="2400" dirty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064648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Einstein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899043"/>
                  </a:ext>
                </a:extLst>
              </a:tr>
              <a:tr h="339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有界和与积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ym typeface="Symbol" panose="05050102010706020507" pitchFamily="18" charset="2"/>
                        </a:rPr>
                        <a:t>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63308"/>
                  </a:ext>
                </a:extLst>
              </a:tr>
              <a:tr h="4034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6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/>
                        <a:t>Hamacher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525770"/>
                  </a:ext>
                </a:extLst>
              </a:tr>
              <a:tr h="461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7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/>
                        <a:t>Yager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993733"/>
                  </a:ext>
                </a:extLst>
              </a:tr>
            </a:tbl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A291AD1-02B0-409E-87EA-0FE43D57EC7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6407322" y="4522922"/>
          <a:ext cx="182638" cy="29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" imgH="177480" progId="Equation.DSMT4">
                  <p:embed/>
                </p:oleObj>
              </mc:Choice>
              <mc:Fallback>
                <p:oleObj name="Equation" r:id="rId5" imgW="139680" imgH="177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A291AD1-02B0-409E-87EA-0FE43D57EC7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322" y="4522922"/>
                        <a:ext cx="182638" cy="293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87B0A40-067C-4415-8ED2-00A7D402D68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6407322" y="4941168"/>
          <a:ext cx="204094" cy="35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279360" progId="Equation.DSMT4">
                  <p:embed/>
                </p:oleObj>
              </mc:Choice>
              <mc:Fallback>
                <p:oleObj name="Equation" r:id="rId7" imgW="12672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87B0A40-067C-4415-8ED2-00A7D402D68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322" y="4941168"/>
                        <a:ext cx="204094" cy="35995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DDA4A5A-BCA1-4564-99F5-6D3240CA0BF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8006367" y="4941168"/>
          <a:ext cx="204094" cy="35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720" imgH="279360" progId="Equation.DSMT4">
                  <p:embed/>
                </p:oleObj>
              </mc:Choice>
              <mc:Fallback>
                <p:oleObj name="Equation" r:id="rId9" imgW="12672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DDDA4A5A-BCA1-4564-99F5-6D3240CA0BF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6367" y="4941168"/>
                        <a:ext cx="204094" cy="35995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6BEACC5-7C4A-4748-9D2F-CC02311AF315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7926240" y="5394044"/>
          <a:ext cx="474017" cy="411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4880" imgH="177480" progId="Equation.DSMT4">
                  <p:embed/>
                </p:oleObj>
              </mc:Choice>
              <mc:Fallback>
                <p:oleObj name="Equation" r:id="rId11" imgW="164880" imgH="177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6BEACC5-7C4A-4748-9D2F-CC02311AF31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6240" y="5394044"/>
                        <a:ext cx="474017" cy="4112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E438820-17F8-3BF2-3FD6-2D17B3CD4E8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6426448" y="5861051"/>
          <a:ext cx="203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720" imgH="304560" progId="Equation.DSMT4">
                  <p:embed/>
                </p:oleObj>
              </mc:Choice>
              <mc:Fallback>
                <p:oleObj name="Equation" r:id="rId13" imgW="12672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E438820-17F8-3BF2-3FD6-2D17B3CD4E8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448" y="5861051"/>
                        <a:ext cx="203200" cy="392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7AB8A2-BD57-659E-F117-4CF608B3F4F9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8024442" y="5861051"/>
          <a:ext cx="2047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0" imgH="304560" progId="Equation.DSMT4">
                  <p:embed/>
                </p:oleObj>
              </mc:Choice>
              <mc:Fallback>
                <p:oleObj name="Equation" r:id="rId15" imgW="12672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67AB8A2-BD57-659E-F117-4CF608B3F4F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442" y="5861051"/>
                        <a:ext cx="204787" cy="392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3F92AD5-669C-872D-ECDC-E13CF75E3715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6386513" y="6454776"/>
          <a:ext cx="2460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80" imgH="279360" progId="Equation.DSMT4">
                  <p:embed/>
                </p:oleObj>
              </mc:Choice>
              <mc:Fallback>
                <p:oleObj name="Equation" r:id="rId17" imgW="152280" imgH="279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3F92AD5-669C-872D-ECDC-E13CF75E371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513" y="6454776"/>
                        <a:ext cx="246062" cy="358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CBE01E5-E1DD-2238-D605-008EEA365A84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7997453" y="6402156"/>
          <a:ext cx="256558" cy="411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" imgH="279360" progId="Equation.DSMT4">
                  <p:embed/>
                </p:oleObj>
              </mc:Choice>
              <mc:Fallback>
                <p:oleObj name="Equation" r:id="rId19" imgW="139680" imgH="279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CBE01E5-E1DD-2238-D605-008EEA365A8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453" y="6402156"/>
                        <a:ext cx="256558" cy="4112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CBF0D012-7649-E467-6170-8C21F3DE4C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39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7A1E0D8-8583-4EB7-8D94-DFAA05C8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2341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集运算的其他定义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A221C-6B4C-48F7-9E86-98FE74A4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258236"/>
            <a:ext cx="8229600" cy="4598640"/>
          </a:xfrm>
        </p:spPr>
        <p:txBody>
          <a:bodyPr/>
          <a:lstStyle/>
          <a:p>
            <a:r>
              <a:rPr lang="zh-CN" altLang="en-US" dirty="0"/>
              <a:t>说明：令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，相应有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E9D69BA-BBEF-49EC-8F15-7AC3794E752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737036" y="1980054"/>
          <a:ext cx="6450906" cy="547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203040" progId="Equation.DSMT4">
                  <p:embed/>
                </p:oleObj>
              </mc:Choice>
              <mc:Fallback>
                <p:oleObj name="Equation" r:id="rId2" imgW="2552400" imgH="203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E9D69BA-BBEF-49EC-8F15-7AC3794E752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036" y="1980054"/>
                        <a:ext cx="6450906" cy="54707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DA7F4F3-6284-4D8E-87B9-AD09E369F4B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05644454"/>
              </p:ext>
            </p:extLst>
          </p:nvPr>
        </p:nvGraphicFramePr>
        <p:xfrm>
          <a:off x="1703512" y="2644775"/>
          <a:ext cx="474186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304560" progId="Equation.DSMT4">
                  <p:embed/>
                </p:oleObj>
              </mc:Choice>
              <mc:Fallback>
                <p:oleObj name="Equation" r:id="rId4" imgW="208260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DA7F4F3-6284-4D8E-87B9-AD09E369F4B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2644775"/>
                        <a:ext cx="4741862" cy="738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FF4A1E8-90D3-4EAA-BF5A-3CA0CBEB9AD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718100" y="3789040"/>
          <a:ext cx="5900413" cy="997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320" imgH="419040" progId="Equation.DSMT4">
                  <p:embed/>
                </p:oleObj>
              </mc:Choice>
              <mc:Fallback>
                <p:oleObj name="Equation" r:id="rId6" imgW="264132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FF4A1E8-90D3-4EAA-BF5A-3CA0CBEB9AD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100" y="3789040"/>
                        <a:ext cx="5900413" cy="99749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2D226B1-2B9C-40CC-BAF2-BE53FEE04B2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713857" y="5085185"/>
          <a:ext cx="7187793" cy="743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36680" imgH="304560" progId="Equation.DSMT4">
                  <p:embed/>
                </p:oleObj>
              </mc:Choice>
              <mc:Fallback>
                <p:oleObj name="Equation" r:id="rId8" imgW="3136680" imgH="304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2D226B1-2B9C-40CC-BAF2-BE53FEE04B2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857" y="5085185"/>
                        <a:ext cx="7187793" cy="7437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97C1A80-B1EB-D8D6-CD0D-89A96818A76E}"/>
              </a:ext>
            </a:extLst>
          </p:cNvPr>
          <p:cNvSpPr txBox="1"/>
          <p:nvPr/>
        </p:nvSpPr>
        <p:spPr>
          <a:xfrm>
            <a:off x="7705108" y="4068361"/>
            <a:ext cx="2855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Einstein </a:t>
            </a:r>
            <a:r>
              <a:rPr lang="zh-CN" altLang="en-US" sz="3200" b="1" dirty="0">
                <a:solidFill>
                  <a:srgbClr val="FF0000"/>
                </a:solidFill>
              </a:rPr>
              <a:t>算子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23DC26-1B9B-5C6E-CAD4-15322CE7E828}"/>
              </a:ext>
            </a:extLst>
          </p:cNvPr>
          <p:cNvSpPr txBox="1"/>
          <p:nvPr/>
        </p:nvSpPr>
        <p:spPr>
          <a:xfrm>
            <a:off x="2122862" y="6093297"/>
            <a:ext cx="4680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B050"/>
                </a:solidFill>
              </a:rPr>
              <a:t>有界和，有界积算子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33B293-FB9A-1F7B-492D-F4D6BCEBEABE}"/>
              </a:ext>
            </a:extLst>
          </p:cNvPr>
          <p:cNvSpPr txBox="1"/>
          <p:nvPr/>
        </p:nvSpPr>
        <p:spPr>
          <a:xfrm>
            <a:off x="6573820" y="2876104"/>
            <a:ext cx="39000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7030A0"/>
                </a:solidFill>
              </a:rPr>
              <a:t>代数和，代数积算子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094CD1-48F7-57D1-BDEC-7E3DFDCE0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51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938A-60F8-B493-EAB9-8868806E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9E7FF19-040D-A379-5ADE-064F1624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3184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集运算的其他定义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A289B-B739-0CA3-2F77-91EDAEC49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472" y="1268760"/>
            <a:ext cx="8229600" cy="4598640"/>
          </a:xfrm>
        </p:spPr>
        <p:txBody>
          <a:bodyPr/>
          <a:lstStyle/>
          <a:p>
            <a:r>
              <a:rPr lang="zh-CN" altLang="en-US" dirty="0"/>
              <a:t>说明：令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，相应有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B56EDA9-8415-C0D1-6BA1-3D4AFAFD249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805788106"/>
              </p:ext>
            </p:extLst>
          </p:nvPr>
        </p:nvGraphicFramePr>
        <p:xfrm>
          <a:off x="2135560" y="4154488"/>
          <a:ext cx="4281488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304560" progId="Equation.DSMT4">
                  <p:embed/>
                </p:oleObj>
              </mc:Choice>
              <mc:Fallback>
                <p:oleObj name="Equation" r:id="rId2" imgW="187956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B56EDA9-8415-C0D1-6BA1-3D4AFAFD249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154488"/>
                        <a:ext cx="4281488" cy="738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1DF67B7-45E4-CAD0-9BB4-3CA0684CA89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069891831"/>
              </p:ext>
            </p:extLst>
          </p:nvPr>
        </p:nvGraphicFramePr>
        <p:xfrm>
          <a:off x="2167654" y="5672410"/>
          <a:ext cx="52197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760" imgH="419040" progId="Equation.DSMT4">
                  <p:embed/>
                </p:oleObj>
              </mc:Choice>
              <mc:Fallback>
                <p:oleObj name="Equation" r:id="rId4" imgW="233676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1DF67B7-45E4-CAD0-9BB4-3CA0684CA89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654" y="5672410"/>
                        <a:ext cx="5219700" cy="996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345666C-66FE-EFD3-05B5-DBB0630EB78F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463472" y="2402621"/>
          <a:ext cx="802005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27400" imgH="583920" progId="Equation.DSMT4">
                  <p:embed/>
                </p:oleObj>
              </mc:Choice>
              <mc:Fallback>
                <p:oleObj name="Equation" r:id="rId6" imgW="4127400" imgH="5839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345666C-66FE-EFD3-05B5-DBB0630EB78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472" y="2402621"/>
                        <a:ext cx="8020050" cy="12128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049EA49-31CE-DCA6-CA65-67BF049B408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92097" y="3603626"/>
          <a:ext cx="38496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080" imgH="304560" progId="Equation.DSMT4">
                  <p:embed/>
                </p:oleObj>
              </mc:Choice>
              <mc:Fallback>
                <p:oleObj name="Equation" r:id="rId8" imgW="1981080" imgH="304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049EA49-31CE-DCA6-CA65-67BF049B408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097" y="3603626"/>
                        <a:ext cx="38496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5413B1C-A163-1933-27AA-1CDCCEE14BC3}"/>
              </a:ext>
            </a:extLst>
          </p:cNvPr>
          <p:cNvSpPr txBox="1"/>
          <p:nvPr/>
        </p:nvSpPr>
        <p:spPr>
          <a:xfrm>
            <a:off x="1271464" y="1850896"/>
            <a:ext cx="33805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err="1">
                <a:solidFill>
                  <a:srgbClr val="CC00CC"/>
                </a:solidFill>
              </a:rPr>
              <a:t>Hamacher</a:t>
            </a:r>
            <a:r>
              <a:rPr lang="en-US" altLang="zh-CN" sz="3200" b="1" dirty="0">
                <a:solidFill>
                  <a:srgbClr val="CC00CC"/>
                </a:solidFill>
              </a:rPr>
              <a:t> </a:t>
            </a:r>
            <a:r>
              <a:rPr lang="zh-CN" altLang="en-US" sz="3200" b="1" dirty="0">
                <a:solidFill>
                  <a:srgbClr val="CC00CC"/>
                </a:solidFill>
              </a:rPr>
              <a:t>算子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8C9440-4AC5-DFD2-9389-9173A0AAAD63}"/>
              </a:ext>
            </a:extLst>
          </p:cNvPr>
          <p:cNvSpPr txBox="1"/>
          <p:nvPr/>
        </p:nvSpPr>
        <p:spPr>
          <a:xfrm>
            <a:off x="7455123" y="5867401"/>
            <a:ext cx="2745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Einstein </a:t>
            </a:r>
            <a:r>
              <a:rPr lang="zh-CN" altLang="en-US" sz="3200" b="1" dirty="0">
                <a:solidFill>
                  <a:srgbClr val="FF0000"/>
                </a:solidFill>
              </a:rPr>
              <a:t>算子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B0ED37-C157-11AF-5E07-8D55575E0E59}"/>
              </a:ext>
            </a:extLst>
          </p:cNvPr>
          <p:cNvSpPr txBox="1"/>
          <p:nvPr/>
        </p:nvSpPr>
        <p:spPr>
          <a:xfrm>
            <a:off x="6704790" y="4369455"/>
            <a:ext cx="3495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7030A0"/>
                </a:solidFill>
              </a:rPr>
              <a:t>代数和，代数积算子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7A4687C-AF4F-0058-22B0-CC248FF7E3C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30185" y="4955828"/>
          <a:ext cx="392271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19240" imgH="304560" progId="Equation.DSMT4">
                  <p:embed/>
                </p:oleObj>
              </mc:Choice>
              <mc:Fallback>
                <p:oleObj name="Equation" r:id="rId10" imgW="2019240" imgH="304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7A4687C-AF4F-0058-22B0-CC248FF7E3C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185" y="4955828"/>
                        <a:ext cx="3922712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555597-1F40-E27D-EB68-8B454EDD58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97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7A1E0D8-8583-4EB7-8D94-DFAA05C8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3184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集运算的其他定义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A221C-6B4C-48F7-9E86-98FE74A4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268760"/>
            <a:ext cx="8229600" cy="4598640"/>
          </a:xfrm>
        </p:spPr>
        <p:txBody>
          <a:bodyPr/>
          <a:lstStyle/>
          <a:p>
            <a:r>
              <a:rPr lang="zh-CN" altLang="en-US" dirty="0"/>
              <a:t>说明：令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，相应有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863AA24-86DE-6A0A-ED1D-D9C6D00C32E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07538" y="1826791"/>
          <a:ext cx="5456238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787320" progId="Equation.DSMT4">
                  <p:embed/>
                </p:oleObj>
              </mc:Choice>
              <mc:Fallback>
                <p:oleObj name="Equation" r:id="rId2" imgW="247644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863AA24-86DE-6A0A-ED1D-D9C6D00C32E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538" y="1826791"/>
                        <a:ext cx="5456238" cy="18510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E13BBB2-B8FB-C9A1-1F91-D5AC822E43F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33659568"/>
              </p:ext>
            </p:extLst>
          </p:nvPr>
        </p:nvGraphicFramePr>
        <p:xfrm>
          <a:off x="1720268" y="3956894"/>
          <a:ext cx="456565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279360" progId="Equation.DSMT4">
                  <p:embed/>
                </p:oleObj>
              </mc:Choice>
              <mc:Fallback>
                <p:oleObj name="Equation" r:id="rId4" imgW="21333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E13BBB2-B8FB-C9A1-1F91-D5AC822E43F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268" y="3956894"/>
                        <a:ext cx="4565650" cy="636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93252BA-2A5A-E1FC-DF66-3FFAC5134359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17609916"/>
              </p:ext>
            </p:extLst>
          </p:nvPr>
        </p:nvGraphicFramePr>
        <p:xfrm>
          <a:off x="1590844" y="5328018"/>
          <a:ext cx="564515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9360" imgH="279360" progId="Equation.DSMT4">
                  <p:embed/>
                </p:oleObj>
              </mc:Choice>
              <mc:Fallback>
                <p:oleObj name="Equation" r:id="rId6" imgW="234936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93252BA-2A5A-E1FC-DF66-3FFAC513435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844" y="5328018"/>
                        <a:ext cx="5645150" cy="7127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CA71FEC-5340-F111-F3E2-4686C6B2E360}"/>
              </a:ext>
            </a:extLst>
          </p:cNvPr>
          <p:cNvSpPr txBox="1"/>
          <p:nvPr/>
        </p:nvSpPr>
        <p:spPr>
          <a:xfrm>
            <a:off x="7402488" y="2347973"/>
            <a:ext cx="2444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Yager </a:t>
            </a:r>
            <a:r>
              <a:rPr lang="zh-CN" altLang="en-US" sz="3200" b="1" dirty="0">
                <a:solidFill>
                  <a:srgbClr val="FF0000"/>
                </a:solidFill>
              </a:rPr>
              <a:t>算子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F3E8BB-1E4C-8F5C-33FE-3F283C4610C2}"/>
              </a:ext>
            </a:extLst>
          </p:cNvPr>
          <p:cNvSpPr txBox="1"/>
          <p:nvPr/>
        </p:nvSpPr>
        <p:spPr>
          <a:xfrm>
            <a:off x="8028400" y="4684638"/>
            <a:ext cx="3744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B050"/>
                </a:solidFill>
              </a:rPr>
              <a:t>有界和，有界积算子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0CED78-5FBB-A84A-AAEE-91635D84EFDE}"/>
              </a:ext>
            </a:extLst>
          </p:cNvPr>
          <p:cNvSpPr txBox="1"/>
          <p:nvPr/>
        </p:nvSpPr>
        <p:spPr>
          <a:xfrm>
            <a:off x="7573207" y="6025753"/>
            <a:ext cx="22926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7030A0"/>
                </a:solidFill>
              </a:rPr>
              <a:t>Zadeh</a:t>
            </a:r>
            <a:r>
              <a:rPr lang="zh-CN" altLang="en-US" sz="2800" b="1" dirty="0">
                <a:solidFill>
                  <a:srgbClr val="7030A0"/>
                </a:solidFill>
              </a:rPr>
              <a:t>算子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22577D-B13B-BF05-84A6-300682B053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7DF427A-F180-4077-3B0A-706B9764006E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79256308"/>
              </p:ext>
            </p:extLst>
          </p:nvPr>
        </p:nvGraphicFramePr>
        <p:xfrm>
          <a:off x="1807538" y="4485729"/>
          <a:ext cx="6440488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600" imgH="304560" progId="Equation.DSMT4">
                  <p:embed/>
                </p:oleObj>
              </mc:Choice>
              <mc:Fallback>
                <p:oleObj name="Equation" r:id="rId8" imgW="3009600" imgH="304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E13BBB2-B8FB-C9A1-1F91-D5AC822E43F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538" y="4485729"/>
                        <a:ext cx="6440488" cy="695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85CCE5E-EA2B-9A4E-1209-409CA51363A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2112837"/>
              </p:ext>
            </p:extLst>
          </p:nvPr>
        </p:nvGraphicFramePr>
        <p:xfrm>
          <a:off x="1718543" y="6040805"/>
          <a:ext cx="58896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50880" imgH="203040" progId="Equation.DSMT4">
                  <p:embed/>
                </p:oleObj>
              </mc:Choice>
              <mc:Fallback>
                <p:oleObj name="Equation" r:id="rId10" imgW="245088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93252BA-2A5A-E1FC-DF66-3FFAC513435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543" y="6040805"/>
                        <a:ext cx="5889625" cy="519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855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7A1E0D8-8583-4EB7-8D94-DFAA05C8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T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三角模（</a:t>
            </a:r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T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范数）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A221C-6B4C-48F7-9E86-98FE74A4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268760"/>
            <a:ext cx="8229600" cy="4598640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定义</a:t>
            </a:r>
            <a:r>
              <a:rPr lang="zh-CN" altLang="en-US" sz="3200" dirty="0"/>
              <a:t>：</a:t>
            </a:r>
            <a:endParaRPr lang="en-US" altLang="zh-CN" sz="3200" dirty="0"/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863AA24-86DE-6A0A-ED1D-D9C6D00C32E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163318" y="1289051"/>
          <a:ext cx="39751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120" imgH="228600" progId="Equation.DSMT4">
                  <p:embed/>
                </p:oleObj>
              </mc:Choice>
              <mc:Fallback>
                <p:oleObj name="Equation" r:id="rId3" imgW="1473120" imgH="228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863AA24-86DE-6A0A-ED1D-D9C6D00C32E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318" y="1289051"/>
                        <a:ext cx="3975100" cy="658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980F8D-F07A-AEE5-5EE1-CC02E486F76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58393" y="2780928"/>
          <a:ext cx="5280026" cy="60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93680" imgH="215640" progId="Equation.DSMT4">
                  <p:embed/>
                </p:oleObj>
              </mc:Choice>
              <mc:Fallback>
                <p:oleObj name="Equation" r:id="rId5" imgW="1993680" imgH="215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E980F8D-F07A-AEE5-5EE1-CC02E486F76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393" y="2780928"/>
                        <a:ext cx="5280026" cy="608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8347279-16A7-2F45-227A-6DA2A0D86CA7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979044" y="2070101"/>
          <a:ext cx="4919389" cy="6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215640" progId="Equation.DSMT4">
                  <p:embed/>
                </p:oleObj>
              </mc:Choice>
              <mc:Fallback>
                <p:oleObj name="Equation" r:id="rId7" imgW="1854000" imgH="215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8347279-16A7-2F45-227A-6DA2A0D86CA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044" y="2070101"/>
                        <a:ext cx="4919389" cy="612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1BF8FD-1ADF-ECE6-80D3-4C2AB464A19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45601" y="3501009"/>
          <a:ext cx="7213072" cy="618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79480" imgH="215640" progId="Equation.DSMT4">
                  <p:embed/>
                </p:oleObj>
              </mc:Choice>
              <mc:Fallback>
                <p:oleObj name="Equation" r:id="rId9" imgW="2679480" imgH="215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71BF8FD-1ADF-ECE6-80D3-4C2AB464A19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601" y="3501009"/>
                        <a:ext cx="7213072" cy="61854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5D8BB5-5B58-BE19-1543-EFB84BF8BB32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30290" y="4221089"/>
          <a:ext cx="6292279" cy="1308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49360" imgH="457200" progId="Equation.DSMT4">
                  <p:embed/>
                </p:oleObj>
              </mc:Choice>
              <mc:Fallback>
                <p:oleObj name="Equation" r:id="rId11" imgW="234936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5D8BB5-5B58-BE19-1543-EFB84BF8BB3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290" y="4221089"/>
                        <a:ext cx="6292279" cy="130899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744F6B-AD5D-9E6F-027C-405CA34BE0D4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835867" y="5589241"/>
          <a:ext cx="4558510" cy="576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15840" imgH="215640" progId="Equation.DSMT4">
                  <p:embed/>
                </p:oleObj>
              </mc:Choice>
              <mc:Fallback>
                <p:oleObj name="Equation" r:id="rId13" imgW="1815840" imgH="215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7744F6B-AD5D-9E6F-027C-405CA34BE0D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867" y="5589241"/>
                        <a:ext cx="4558510" cy="57682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C93359F-5F35-3BCC-E1F8-746CB55A6E26}"/>
              </a:ext>
            </a:extLst>
          </p:cNvPr>
          <p:cNvSpPr txBox="1"/>
          <p:nvPr/>
        </p:nvSpPr>
        <p:spPr>
          <a:xfrm>
            <a:off x="8320262" y="1210516"/>
            <a:ext cx="34566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D31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概括算子的共性，可总结出更一般的形式：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8637D0-0E11-DEFA-E373-A23866C5560A}"/>
              </a:ext>
            </a:extLst>
          </p:cNvPr>
          <p:cNvSpPr txBox="1"/>
          <p:nvPr/>
        </p:nvSpPr>
        <p:spPr>
          <a:xfrm>
            <a:off x="1425824" y="6225841"/>
            <a:ext cx="8360310" cy="523220"/>
          </a:xfrm>
          <a:prstGeom prst="rect">
            <a:avLst/>
          </a:prstGeom>
          <a:solidFill>
            <a:srgbClr val="99FFCC"/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C00CC"/>
                </a:solidFill>
              </a:rPr>
              <a:t>T </a:t>
            </a:r>
            <a:r>
              <a:rPr lang="zh-CN" altLang="en-US" sz="2800" b="1" dirty="0">
                <a:solidFill>
                  <a:srgbClr val="CC00CC"/>
                </a:solidFill>
              </a:rPr>
              <a:t>范数</a:t>
            </a:r>
            <a:r>
              <a:rPr lang="zh-CN" altLang="en-US" sz="2800" b="1" dirty="0"/>
              <a:t>是广义的“交”运算，如“</a:t>
            </a:r>
            <a:r>
              <a:rPr lang="zh-CN" altLang="en-US" sz="2800" b="1" dirty="0">
                <a:solidFill>
                  <a:srgbClr val="CC00CC"/>
                </a:solidFill>
                <a:sym typeface="Symbol" panose="05050102010706020507" pitchFamily="18" charset="2"/>
              </a:rPr>
              <a:t></a:t>
            </a:r>
            <a:r>
              <a:rPr lang="zh-CN" altLang="en-US" sz="2800" b="1" dirty="0"/>
              <a:t>”是其特例。</a:t>
            </a:r>
            <a:endParaRPr lang="en-US" altLang="zh-CN" sz="2800" b="1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9435782-3485-0B9A-4FD8-6F07218771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44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CF1415D-E0A3-7E3C-45CE-1C5BEADD4323}"/>
              </a:ext>
            </a:extLst>
          </p:cNvPr>
          <p:cNvSpPr/>
          <p:nvPr/>
        </p:nvSpPr>
        <p:spPr>
          <a:xfrm>
            <a:off x="1524000" y="5596132"/>
            <a:ext cx="9144000" cy="1261869"/>
          </a:xfrm>
          <a:prstGeom prst="rect">
            <a:avLst/>
          </a:prstGeom>
          <a:solidFill>
            <a:srgbClr val="B2B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7A1E0D8-8583-4EB7-8D94-DFAA05C8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S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三角模（</a:t>
            </a:r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S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范数）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A221C-6B4C-48F7-9E86-98FE74A4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686" y="1289051"/>
            <a:ext cx="8229600" cy="4598640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定义</a:t>
            </a:r>
            <a:r>
              <a:rPr lang="zh-CN" altLang="en-US" sz="3200" dirty="0"/>
              <a:t>：</a:t>
            </a:r>
            <a:endParaRPr lang="en-US" altLang="zh-CN" sz="3200" dirty="0"/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863AA24-86DE-6A0A-ED1D-D9C6D00C32E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0130459"/>
              </p:ext>
            </p:extLst>
          </p:nvPr>
        </p:nvGraphicFramePr>
        <p:xfrm>
          <a:off x="2927648" y="1289051"/>
          <a:ext cx="3816424" cy="638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228600" progId="Equation.DSMT4">
                  <p:embed/>
                </p:oleObj>
              </mc:Choice>
              <mc:Fallback>
                <p:oleObj name="Equation" r:id="rId2" imgW="1460160" imgH="228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863AA24-86DE-6A0A-ED1D-D9C6D00C32E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1289051"/>
                        <a:ext cx="3816424" cy="63812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980F8D-F07A-AEE5-5EE1-CC02E486F76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424114" y="2636913"/>
          <a:ext cx="5184055" cy="597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215640" progId="Equation.DSMT4">
                  <p:embed/>
                </p:oleObj>
              </mc:Choice>
              <mc:Fallback>
                <p:oleObj name="Equation" r:id="rId4" imgW="1993680" imgH="215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E980F8D-F07A-AEE5-5EE1-CC02E486F76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636913"/>
                        <a:ext cx="5184055" cy="59744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8347279-16A7-2F45-227A-6DA2A0D86CA7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544763" y="1988840"/>
          <a:ext cx="4847382" cy="60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215640" progId="Equation.DSMT4">
                  <p:embed/>
                </p:oleObj>
              </mc:Choice>
              <mc:Fallback>
                <p:oleObj name="Equation" r:id="rId6" imgW="1854000" imgH="215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8347279-16A7-2F45-227A-6DA2A0D86CA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1988840"/>
                        <a:ext cx="4847382" cy="6038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1BF8FD-1ADF-ECE6-80D3-4C2AB464A19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428876" y="3212977"/>
          <a:ext cx="6835477" cy="588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6880" imgH="215640" progId="Equation.DSMT4">
                  <p:embed/>
                </p:oleObj>
              </mc:Choice>
              <mc:Fallback>
                <p:oleObj name="Equation" r:id="rId8" imgW="2666880" imgH="215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71BF8FD-1ADF-ECE6-80D3-4C2AB464A19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6" y="3212977"/>
                        <a:ext cx="6835477" cy="58885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5D8BB5-5B58-BE19-1543-EFB84BF8BB32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413000" y="3861048"/>
          <a:ext cx="5770972" cy="1206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36760" imgH="457200" progId="Equation.DSMT4">
                  <p:embed/>
                </p:oleObj>
              </mc:Choice>
              <mc:Fallback>
                <p:oleObj name="Equation" r:id="rId10" imgW="233676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5D8BB5-5B58-BE19-1543-EFB84BF8BB3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3861048"/>
                        <a:ext cx="5770972" cy="120679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744F6B-AD5D-9E6F-027C-405CA34BE0D4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370139" y="5013176"/>
          <a:ext cx="4661966" cy="58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41400" imgH="215640" progId="Equation.DSMT4">
                  <p:embed/>
                </p:oleObj>
              </mc:Choice>
              <mc:Fallback>
                <p:oleObj name="Equation" r:id="rId12" imgW="1841400" imgH="215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7744F6B-AD5D-9E6F-027C-405CA34BE0D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9" y="5013176"/>
                        <a:ext cx="4661966" cy="58176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C93359F-5F35-3BCC-E1F8-746CB55A6E26}"/>
              </a:ext>
            </a:extLst>
          </p:cNvPr>
          <p:cNvSpPr txBox="1"/>
          <p:nvPr/>
        </p:nvSpPr>
        <p:spPr>
          <a:xfrm>
            <a:off x="8183971" y="1173673"/>
            <a:ext cx="3621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D31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概括算子的共性，可总结出更一般的形式：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AAAB9A-E04D-E44A-266D-8EB1238AF5F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944159" y="6267450"/>
          <a:ext cx="81248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62240" imgH="215640" progId="Equation.DSMT4">
                  <p:embed/>
                </p:oleObj>
              </mc:Choice>
              <mc:Fallback>
                <p:oleObj name="Equation" r:id="rId14" imgW="3162240" imgH="215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8AAAB9A-E04D-E44A-266D-8EB1238AF5F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159" y="6267450"/>
                        <a:ext cx="8124825" cy="59055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BCBE1035-F1B9-E49A-5C3C-87C0E2DA9E98}"/>
              </a:ext>
            </a:extLst>
          </p:cNvPr>
          <p:cNvSpPr txBox="1"/>
          <p:nvPr/>
        </p:nvSpPr>
        <p:spPr>
          <a:xfrm>
            <a:off x="1944158" y="5646398"/>
            <a:ext cx="8360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</a:rPr>
              <a:t>S</a:t>
            </a:r>
            <a:r>
              <a:rPr lang="zh-CN" altLang="en-US" sz="2800" b="1" dirty="0">
                <a:solidFill>
                  <a:srgbClr val="FFFF00"/>
                </a:solidFill>
              </a:rPr>
              <a:t>范数</a:t>
            </a:r>
            <a:r>
              <a:rPr lang="zh-CN" altLang="en-US" sz="2800" b="1" dirty="0"/>
              <a:t>是广义的“并”运算，如“</a:t>
            </a:r>
            <a:r>
              <a:rPr lang="zh-CN" altLang="en-US" sz="2800" b="1" dirty="0">
                <a:solidFill>
                  <a:srgbClr val="FFFF00"/>
                </a:solidFill>
                <a:sym typeface="Symbol" panose="05050102010706020507" pitchFamily="18" charset="2"/>
              </a:rPr>
              <a:t></a:t>
            </a:r>
            <a:r>
              <a:rPr lang="zh-CN" altLang="en-US" sz="2800" b="1" dirty="0"/>
              <a:t>”是其特例。</a:t>
            </a:r>
            <a:endParaRPr lang="en-US" altLang="zh-CN" sz="2800" b="1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A2A92A1F-9E26-128A-C312-D18274C119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9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C8C89-ACCC-DFAD-392D-EAE3C110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1176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算子的对偶性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4BAA4-3A3A-271C-7704-9D75F75A4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216756"/>
            <a:ext cx="10873208" cy="1751755"/>
          </a:xfrm>
          <a:solidFill>
            <a:srgbClr val="FFFFCC"/>
          </a:solidFill>
        </p:spPr>
        <p:txBody>
          <a:bodyPr>
            <a:normAutofit fontScale="92500"/>
          </a:bodyPr>
          <a:lstStyle/>
          <a:p>
            <a:r>
              <a:rPr lang="zh-CN" altLang="en-US" sz="3000" b="1" dirty="0"/>
              <a:t>设</a:t>
            </a:r>
            <a:r>
              <a:rPr lang="en-US" altLang="zh-CN" sz="3000" b="1" i="1" dirty="0"/>
              <a:t>T</a:t>
            </a:r>
            <a:r>
              <a:rPr lang="zh-CN" altLang="en-US" sz="3000" b="1" dirty="0"/>
              <a:t>为</a:t>
            </a:r>
            <a:r>
              <a:rPr lang="en-US" altLang="zh-CN" sz="3000" b="1" dirty="0"/>
              <a:t>T</a:t>
            </a:r>
            <a:r>
              <a:rPr lang="zh-CN" altLang="en-US" sz="3000" b="1" dirty="0"/>
              <a:t>三角模</a:t>
            </a:r>
            <a:r>
              <a:rPr lang="en-US" altLang="zh-CN" sz="3000" b="1" dirty="0"/>
              <a:t>(</a:t>
            </a:r>
            <a:r>
              <a:rPr lang="zh-CN" altLang="en-US" sz="3000" b="1" dirty="0"/>
              <a:t>算子</a:t>
            </a:r>
            <a:r>
              <a:rPr lang="en-US" altLang="zh-CN" sz="3000" b="1" dirty="0"/>
              <a:t>)</a:t>
            </a:r>
            <a:r>
              <a:rPr lang="zh-CN" altLang="en-US" sz="3000" b="1" dirty="0"/>
              <a:t>，</a:t>
            </a:r>
            <a:r>
              <a:rPr lang="en-US" altLang="zh-CN" sz="3000" b="1" i="1" dirty="0"/>
              <a:t>S</a:t>
            </a:r>
            <a:r>
              <a:rPr lang="zh-CN" altLang="en-US" sz="3000" b="1" dirty="0"/>
              <a:t>为</a:t>
            </a:r>
            <a:r>
              <a:rPr lang="en-US" altLang="zh-CN" sz="3000" b="1" dirty="0"/>
              <a:t>S</a:t>
            </a:r>
            <a:r>
              <a:rPr lang="zh-CN" altLang="en-US" sz="3000" b="1" dirty="0"/>
              <a:t>三角模</a:t>
            </a:r>
            <a:r>
              <a:rPr lang="en-US" altLang="zh-CN" sz="3000" b="1" dirty="0"/>
              <a:t>(</a:t>
            </a:r>
            <a:r>
              <a:rPr lang="zh-CN" altLang="en-US" sz="3000" b="1" dirty="0"/>
              <a:t>算子</a:t>
            </a:r>
            <a:r>
              <a:rPr lang="en-US" altLang="zh-CN" sz="3000" b="1" dirty="0"/>
              <a:t>)</a:t>
            </a:r>
            <a:r>
              <a:rPr lang="zh-CN" altLang="en-US" sz="3000" b="1" dirty="0"/>
              <a:t>，对</a:t>
            </a:r>
            <a:r>
              <a:rPr lang="zh-CN" altLang="en-US" sz="3000" b="1" dirty="0">
                <a:sym typeface="Symbol" panose="05050102010706020507" pitchFamily="18" charset="2"/>
              </a:rPr>
              <a:t></a:t>
            </a:r>
            <a:r>
              <a:rPr lang="en-US" altLang="zh-CN" sz="3000" b="1" dirty="0" err="1">
                <a:sym typeface="Symbol" panose="05050102010706020507" pitchFamily="18" charset="2"/>
              </a:rPr>
              <a:t>a,b</a:t>
            </a:r>
            <a:r>
              <a:rPr lang="zh-CN" altLang="en-US" sz="3000" b="1" dirty="0">
                <a:sym typeface="Symbol" panose="05050102010706020507" pitchFamily="18" charset="2"/>
              </a:rPr>
              <a:t></a:t>
            </a:r>
            <a:r>
              <a:rPr lang="en-US" altLang="zh-CN" sz="3000" b="1" dirty="0">
                <a:sym typeface="Symbol" panose="05050102010706020507" pitchFamily="18" charset="2"/>
              </a:rPr>
              <a:t>[0, 1]</a:t>
            </a:r>
            <a:r>
              <a:rPr lang="zh-CN" altLang="en-US" sz="3000" b="1" dirty="0">
                <a:sym typeface="Symbol" panose="05050102010706020507" pitchFamily="18" charset="2"/>
              </a:rPr>
              <a:t>， 有</a:t>
            </a:r>
            <a:endParaRPr lang="en-US" altLang="zh-CN" sz="3000" b="1" dirty="0">
              <a:sym typeface="Symbol" panose="05050102010706020507" pitchFamily="18" charset="2"/>
            </a:endParaRPr>
          </a:p>
          <a:p>
            <a:endParaRPr lang="en-US" altLang="zh-CN" sz="30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b="1" dirty="0">
                <a:sym typeface="Symbol" panose="05050102010706020507" pitchFamily="18" charset="2"/>
              </a:rPr>
              <a:t>   </a:t>
            </a:r>
            <a:r>
              <a:rPr lang="zh-CN" altLang="en-US" sz="3500" b="1" dirty="0">
                <a:sym typeface="Symbol" panose="05050102010706020507" pitchFamily="18" charset="2"/>
              </a:rPr>
              <a:t>则称</a:t>
            </a:r>
            <a:r>
              <a:rPr lang="en-US" altLang="zh-CN" sz="3500" b="1" i="1" dirty="0">
                <a:sym typeface="Symbol" panose="05050102010706020507" pitchFamily="18" charset="2"/>
              </a:rPr>
              <a:t>T</a:t>
            </a:r>
            <a:r>
              <a:rPr lang="zh-CN" altLang="en-US" sz="3500" b="1" dirty="0">
                <a:sym typeface="Symbol" panose="05050102010706020507" pitchFamily="18" charset="2"/>
              </a:rPr>
              <a:t>与</a:t>
            </a:r>
            <a:r>
              <a:rPr lang="en-US" altLang="zh-CN" sz="3500" b="1" i="1" dirty="0">
                <a:sym typeface="Symbol" panose="05050102010706020507" pitchFamily="18" charset="2"/>
              </a:rPr>
              <a:t>S</a:t>
            </a:r>
            <a:r>
              <a:rPr lang="zh-CN" altLang="en-US" sz="3500" b="1" dirty="0">
                <a:sym typeface="Symbol" panose="05050102010706020507" pitchFamily="18" charset="2"/>
              </a:rPr>
              <a:t>为</a:t>
            </a:r>
            <a:r>
              <a:rPr lang="zh-CN" altLang="en-US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对偶模</a:t>
            </a:r>
            <a:r>
              <a:rPr lang="zh-CN" altLang="en-US" sz="3500" b="1" dirty="0">
                <a:sym typeface="Symbol" panose="05050102010706020507" pitchFamily="18" charset="2"/>
              </a:rPr>
              <a:t>或</a:t>
            </a:r>
            <a:r>
              <a:rPr lang="zh-CN" altLang="en-US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对偶算子</a:t>
            </a:r>
            <a:r>
              <a:rPr lang="zh-CN" altLang="en-US" sz="3500" b="1" dirty="0">
                <a:sym typeface="Symbol" panose="05050102010706020507" pitchFamily="18" charset="2"/>
              </a:rPr>
              <a:t>。</a:t>
            </a:r>
            <a:endParaRPr lang="en-US" altLang="zh-CN" sz="3500" b="1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4BA62EF-AEDB-77C3-ABE0-EF24B1B91594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791744" y="1721620"/>
          <a:ext cx="3138489" cy="61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228600" progId="Equation.DSMT4">
                  <p:embed/>
                </p:oleObj>
              </mc:Choice>
              <mc:Fallback>
                <p:oleObj name="Equation" r:id="rId3" imgW="124452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4BA62EF-AEDB-77C3-ABE0-EF24B1B9159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1721620"/>
                        <a:ext cx="3138489" cy="6126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8010429-0BA4-267D-3819-E88FF59E1BE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8530329"/>
              </p:ext>
            </p:extLst>
          </p:nvPr>
        </p:nvGraphicFramePr>
        <p:xfrm>
          <a:off x="3262186" y="3071254"/>
          <a:ext cx="2977830" cy="599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228600" progId="Equation.DSMT4">
                  <p:embed/>
                </p:oleObj>
              </mc:Choice>
              <mc:Fallback>
                <p:oleObj name="Equation" r:id="rId5" imgW="120636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8010429-0BA4-267D-3819-E88FF59E1BE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186" y="3071254"/>
                        <a:ext cx="2977830" cy="59948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37DC2A-913A-4991-B120-ED23FA22E9DE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13924274"/>
              </p:ext>
            </p:extLst>
          </p:nvPr>
        </p:nvGraphicFramePr>
        <p:xfrm>
          <a:off x="5613400" y="6016625"/>
          <a:ext cx="64087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63480" imgH="304560" progId="Equation.DSMT4">
                  <p:embed/>
                </p:oleObj>
              </mc:Choice>
              <mc:Fallback>
                <p:oleObj name="Equation" r:id="rId7" imgW="246348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37DC2A-913A-4991-B120-ED23FA22E9D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6016625"/>
                        <a:ext cx="6408738" cy="841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2491BA-E63F-B2EC-4674-CD7679BEDC3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81768397"/>
              </p:ext>
            </p:extLst>
          </p:nvPr>
        </p:nvGraphicFramePr>
        <p:xfrm>
          <a:off x="2207568" y="5672138"/>
          <a:ext cx="38735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63560" imgH="228600" progId="Equation.DSMT4">
                  <p:embed/>
                </p:oleObj>
              </mc:Choice>
              <mc:Fallback>
                <p:oleObj name="Equation" r:id="rId9" imgW="166356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82491BA-E63F-B2EC-4674-CD7679BEDC3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5672138"/>
                        <a:ext cx="3873500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8177382-CBFB-B26A-FB0E-B6CDA8F9EC59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30060891"/>
              </p:ext>
            </p:extLst>
          </p:nvPr>
        </p:nvGraphicFramePr>
        <p:xfrm>
          <a:off x="2177405" y="3749675"/>
          <a:ext cx="46386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17360" imgH="203040" progId="Equation.DSMT4">
                  <p:embed/>
                </p:oleObj>
              </mc:Choice>
              <mc:Fallback>
                <p:oleObj name="Equation" r:id="rId11" imgW="191736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8177382-CBFB-B26A-FB0E-B6CDA8F9EC5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7405" y="3749675"/>
                        <a:ext cx="4638675" cy="520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E7EDC06-98A2-20E2-8E17-FB2F508D11B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935342182"/>
              </p:ext>
            </p:extLst>
          </p:nvPr>
        </p:nvGraphicFramePr>
        <p:xfrm>
          <a:off x="2160588" y="4278313"/>
          <a:ext cx="498475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45960" imgH="203040" progId="Equation.DSMT4">
                  <p:embed/>
                </p:oleObj>
              </mc:Choice>
              <mc:Fallback>
                <p:oleObj name="Equation" r:id="rId13" imgW="214596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E7EDC06-98A2-20E2-8E17-FB2F508D11B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4278313"/>
                        <a:ext cx="4984750" cy="500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B14F328-6653-5353-80BF-4128EF2D9A3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09985221"/>
              </p:ext>
            </p:extLst>
          </p:nvPr>
        </p:nvGraphicFramePr>
        <p:xfrm>
          <a:off x="2178010" y="4725145"/>
          <a:ext cx="6366262" cy="50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92080" imgH="203040" progId="Equation.DSMT4">
                  <p:embed/>
                </p:oleObj>
              </mc:Choice>
              <mc:Fallback>
                <p:oleObj name="Equation" r:id="rId15" imgW="2692080" imgH="203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B14F328-6653-5353-80BF-4128EF2D9A3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10" y="4725145"/>
                        <a:ext cx="6366262" cy="50935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6C51907-006C-6876-C8C6-BCDA4F21BF7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56752173"/>
              </p:ext>
            </p:extLst>
          </p:nvPr>
        </p:nvGraphicFramePr>
        <p:xfrm>
          <a:off x="2207568" y="5178425"/>
          <a:ext cx="40576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7680" imgH="228600" progId="Equation.DSMT4">
                  <p:embed/>
                </p:oleObj>
              </mc:Choice>
              <mc:Fallback>
                <p:oleObj name="Equation" r:id="rId17" imgW="177768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6C51907-006C-6876-C8C6-BCDA4F21BF7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5178425"/>
                        <a:ext cx="4057650" cy="5540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1D4C807-582D-40F8-4841-B8CC3A077480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1440829"/>
              </p:ext>
            </p:extLst>
          </p:nvPr>
        </p:nvGraphicFramePr>
        <p:xfrm>
          <a:off x="6168009" y="3068961"/>
          <a:ext cx="3478871" cy="604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0" imgH="228600" progId="Equation.DSMT4">
                  <p:embed/>
                </p:oleObj>
              </mc:Choice>
              <mc:Fallback>
                <p:oleObj name="Equation" r:id="rId19" imgW="139680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41D4C807-582D-40F8-4841-B8CC3A07748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9" y="3068961"/>
                        <a:ext cx="3478871" cy="60488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955C3B0-C1F1-C622-1CD8-DCA3B9371FCB}"/>
              </a:ext>
            </a:extLst>
          </p:cNvPr>
          <p:cNvSpPr/>
          <p:nvPr/>
        </p:nvSpPr>
        <p:spPr>
          <a:xfrm>
            <a:off x="2927648" y="3038271"/>
            <a:ext cx="6912768" cy="691723"/>
          </a:xfrm>
          <a:prstGeom prst="roundRect">
            <a:avLst/>
          </a:prstGeom>
          <a:solidFill>
            <a:srgbClr val="FF9999">
              <a:alpha val="51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325A8-AB56-C842-0787-F1B524E5FC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58800" y="6262035"/>
            <a:ext cx="640656" cy="457200"/>
          </a:xfrm>
        </p:spPr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7117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C8C89-ACCC-DFAD-392D-EAE3C110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3184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算子的对偶性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4BAA4-3A3A-271C-7704-9D75F75A4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216755"/>
            <a:ext cx="10513168" cy="1772226"/>
          </a:xfrm>
          <a:solidFill>
            <a:srgbClr val="FFFFCC"/>
          </a:solidFill>
        </p:spPr>
        <p:txBody>
          <a:bodyPr/>
          <a:lstStyle/>
          <a:p>
            <a:r>
              <a:rPr lang="zh-CN" altLang="en-US" sz="2800" b="1" dirty="0"/>
              <a:t>设</a:t>
            </a:r>
            <a:r>
              <a:rPr lang="en-US" altLang="zh-CN" sz="2800" b="1" i="1" dirty="0"/>
              <a:t>T</a:t>
            </a:r>
            <a:r>
              <a:rPr lang="zh-CN" altLang="en-US" sz="2800" b="1" dirty="0"/>
              <a:t>为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三角模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算子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</a:t>
            </a:r>
            <a:r>
              <a:rPr lang="en-US" altLang="zh-CN" sz="2800" b="1" i="1" dirty="0"/>
              <a:t>S</a:t>
            </a:r>
            <a:r>
              <a:rPr lang="zh-CN" altLang="en-US" sz="2800" b="1" dirty="0"/>
              <a:t>为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三角模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算子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，对</a:t>
            </a:r>
            <a:r>
              <a:rPr lang="zh-CN" altLang="en-US" sz="2800" b="1" dirty="0">
                <a:sym typeface="Symbol" panose="05050102010706020507" pitchFamily="18" charset="2"/>
              </a:rPr>
              <a:t></a:t>
            </a:r>
            <a:r>
              <a:rPr lang="en-US" altLang="zh-CN" sz="2800" b="1" dirty="0" err="1">
                <a:sym typeface="Symbol" panose="05050102010706020507" pitchFamily="18" charset="2"/>
              </a:rPr>
              <a:t>a,b</a:t>
            </a:r>
            <a:r>
              <a:rPr lang="zh-CN" altLang="en-US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ym typeface="Symbol" panose="05050102010706020507" pitchFamily="18" charset="2"/>
              </a:rPr>
              <a:t>[0, 1]</a:t>
            </a:r>
            <a:r>
              <a:rPr lang="zh-CN" altLang="en-US" sz="2800" b="1" dirty="0">
                <a:sym typeface="Symbol" panose="05050102010706020507" pitchFamily="18" charset="2"/>
              </a:rPr>
              <a:t>， 有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endParaRPr lang="en-US" altLang="zh-CN" sz="36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则称</a:t>
            </a:r>
            <a:r>
              <a:rPr lang="en-US" altLang="zh-CN" sz="2800" b="1" i="1" dirty="0">
                <a:sym typeface="Symbol" panose="05050102010706020507" pitchFamily="18" charset="2"/>
              </a:rPr>
              <a:t>T</a:t>
            </a:r>
            <a:r>
              <a:rPr lang="zh-CN" altLang="en-US" sz="2800" b="1" dirty="0">
                <a:sym typeface="Symbol" panose="05050102010706020507" pitchFamily="18" charset="2"/>
              </a:rPr>
              <a:t>与</a:t>
            </a:r>
            <a:r>
              <a:rPr lang="en-US" altLang="zh-CN" sz="2800" b="1" i="1" dirty="0">
                <a:sym typeface="Symbol" panose="05050102010706020507" pitchFamily="18" charset="2"/>
              </a:rPr>
              <a:t>S</a:t>
            </a:r>
            <a:r>
              <a:rPr lang="zh-CN" altLang="en-US" sz="2800" b="1" dirty="0"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对偶模</a:t>
            </a:r>
            <a:r>
              <a:rPr lang="zh-CN" altLang="en-US" sz="2800" b="1" dirty="0">
                <a:sym typeface="Symbol" panose="05050102010706020507" pitchFamily="18" charset="2"/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对偶算子</a:t>
            </a:r>
            <a:r>
              <a:rPr lang="zh-CN" altLang="en-US" sz="2800" b="1" dirty="0">
                <a:sym typeface="Symbol" panose="05050102010706020507" pitchFamily="18" charset="2"/>
              </a:rPr>
              <a:t>。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4BA62EF-AEDB-77C3-ABE0-EF24B1B91594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670771" y="1723647"/>
          <a:ext cx="3138489" cy="61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228600" progId="Equation.DSMT4">
                  <p:embed/>
                </p:oleObj>
              </mc:Choice>
              <mc:Fallback>
                <p:oleObj name="Equation" r:id="rId2" imgW="124452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4BA62EF-AEDB-77C3-ABE0-EF24B1B9159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771" y="1723647"/>
                        <a:ext cx="3138489" cy="6126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2491BA-E63F-B2EC-4674-CD7679BEDC37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118808" y="5805265"/>
          <a:ext cx="3689695" cy="51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228600" progId="Equation.DSMT4">
                  <p:embed/>
                </p:oleObj>
              </mc:Choice>
              <mc:Fallback>
                <p:oleObj name="Equation" r:id="rId4" imgW="172692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82491BA-E63F-B2EC-4674-CD7679BEDC3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808" y="5805265"/>
                        <a:ext cx="3689695" cy="51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8177382-CBFB-B26A-FB0E-B6CDA8F9EC59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784166" y="3501009"/>
          <a:ext cx="26670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228600" progId="Equation.DSMT4">
                  <p:embed/>
                </p:oleObj>
              </mc:Choice>
              <mc:Fallback>
                <p:oleObj name="Equation" r:id="rId6" imgW="106668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8177382-CBFB-B26A-FB0E-B6CDA8F9EC5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166" y="3501009"/>
                        <a:ext cx="2667000" cy="604837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E7EDC06-98A2-20E2-8E17-FB2F508D11B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09989" y="4762034"/>
          <a:ext cx="2661121" cy="889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457200" progId="Equation.DSMT4">
                  <p:embed/>
                </p:oleObj>
              </mc:Choice>
              <mc:Fallback>
                <p:oleObj name="Equation" r:id="rId8" imgW="144756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E7EDC06-98A2-20E2-8E17-FB2F508D11B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9989" y="4762034"/>
                        <a:ext cx="2661121" cy="88913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B14F328-6653-5353-80BF-4128EF2D9A3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118807" y="4881534"/>
          <a:ext cx="2825600" cy="528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280" imgH="228600" progId="Equation.DSMT4">
                  <p:embed/>
                </p:oleObj>
              </mc:Choice>
              <mc:Fallback>
                <p:oleObj name="Equation" r:id="rId10" imgW="129528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B14F328-6653-5353-80BF-4128EF2D9A3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807" y="4881534"/>
                        <a:ext cx="2825600" cy="52879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9F530BD-0099-06C1-FEA9-70C04C1D6420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560030" y="3017309"/>
          <a:ext cx="6385532" cy="541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52400" imgH="203040" progId="Equation.DSMT4">
                  <p:embed/>
                </p:oleObj>
              </mc:Choice>
              <mc:Fallback>
                <p:oleObj name="Equation" r:id="rId12" imgW="255240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9F530BD-0099-06C1-FEA9-70C04C1D642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030" y="3017309"/>
                        <a:ext cx="6385532" cy="5415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028A2A8-D175-FFC1-DCE8-5014AC5EA04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1559496" y="4198327"/>
          <a:ext cx="67849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11480" imgH="203040" progId="Equation.DSMT4">
                  <p:embed/>
                </p:oleObj>
              </mc:Choice>
              <mc:Fallback>
                <p:oleObj name="Equation" r:id="rId14" imgW="311148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028A2A8-D175-FFC1-DCE8-5014AC5EA04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4198327"/>
                        <a:ext cx="6784975" cy="471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C905431-CD30-8346-68FF-42F51CC4A049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808502" y="5877273"/>
          <a:ext cx="26304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31560" imgH="203040" progId="Equation.DSMT4">
                  <p:embed/>
                </p:oleObj>
              </mc:Choice>
              <mc:Fallback>
                <p:oleObj name="Equation" r:id="rId16" imgW="1231560" imgH="203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C905431-CD30-8346-68FF-42F51CC4A04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502" y="5877273"/>
                        <a:ext cx="2630488" cy="460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1B8240A-0C80-E0FB-8E6B-D0B890770D8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97443215"/>
              </p:ext>
            </p:extLst>
          </p:nvPr>
        </p:nvGraphicFramePr>
        <p:xfrm>
          <a:off x="7571110" y="4714120"/>
          <a:ext cx="2630489" cy="987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95280" imgH="457200" progId="Equation.DSMT4">
                  <p:embed/>
                </p:oleObj>
              </mc:Choice>
              <mc:Fallback>
                <p:oleObj name="Equation" r:id="rId18" imgW="1295280" imgH="4572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E1B8240A-0C80-E0FB-8E6B-D0B890770D8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1110" y="4714120"/>
                        <a:ext cx="2630489" cy="98756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5462F41-A730-81F4-7C04-DF26719F3D2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531484" y="6337647"/>
          <a:ext cx="236061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4840" imgH="228600" progId="Equation.DSMT4">
                  <p:embed/>
                </p:oleObj>
              </mc:Choice>
              <mc:Fallback>
                <p:oleObj name="Equation" r:id="rId20" imgW="110484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5462F41-A730-81F4-7C04-DF26719F3D2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484" y="6337647"/>
                        <a:ext cx="2360612" cy="519112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2E24EC-0B7B-2481-B358-F057498B474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9000551"/>
              </p:ext>
            </p:extLst>
          </p:nvPr>
        </p:nvGraphicFramePr>
        <p:xfrm>
          <a:off x="8544272" y="5921375"/>
          <a:ext cx="23050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79280" imgH="203040" progId="Equation.DSMT4">
                  <p:embed/>
                </p:oleObj>
              </mc:Choice>
              <mc:Fallback>
                <p:oleObj name="Equation" r:id="rId22" imgW="1079280" imgH="203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C905431-CD30-8346-68FF-42F51CC4A04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5921375"/>
                        <a:ext cx="2305050" cy="460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8534DF-15E6-9D7B-7FA2-7357F6EEA1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72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9CEA3AB-A7AD-13AD-5193-C4B28C4EBE5C}"/>
              </a:ext>
            </a:extLst>
          </p:cNvPr>
          <p:cNvSpPr/>
          <p:nvPr/>
        </p:nvSpPr>
        <p:spPr>
          <a:xfrm>
            <a:off x="2094384" y="1315555"/>
            <a:ext cx="6953944" cy="63875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7A1E0D8-8583-4EB7-8D94-DFAA05C8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3184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集运算常见算子之间的转换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E9D69BA-BBEF-49EC-8F15-7AC3794E7521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230748" y="1412777"/>
          <a:ext cx="6385532" cy="541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203040" progId="Equation.DSMT4">
                  <p:embed/>
                </p:oleObj>
              </mc:Choice>
              <mc:Fallback>
                <p:oleObj name="Equation" r:id="rId3" imgW="2552400" imgH="203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E9D69BA-BBEF-49EC-8F15-7AC3794E752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748" y="1412777"/>
                        <a:ext cx="6385532" cy="541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DA7F4F3-6284-4D8E-87B9-AD09E369F4B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528648055"/>
              </p:ext>
            </p:extLst>
          </p:nvPr>
        </p:nvGraphicFramePr>
        <p:xfrm>
          <a:off x="2207568" y="1979613"/>
          <a:ext cx="500221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97080" imgH="304560" progId="Equation.DSMT4">
                  <p:embed/>
                </p:oleObj>
              </mc:Choice>
              <mc:Fallback>
                <p:oleObj name="Equation" r:id="rId5" imgW="219708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DA7F4F3-6284-4D8E-87B9-AD09E369F4B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979613"/>
                        <a:ext cx="5002213" cy="738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FF4A1E8-90D3-4EAA-BF5A-3CA0CBEB9AD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230749" y="2840051"/>
          <a:ext cx="5665452" cy="957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41320" imgH="419040" progId="Equation.DSMT4">
                  <p:embed/>
                </p:oleObj>
              </mc:Choice>
              <mc:Fallback>
                <p:oleObj name="Equation" r:id="rId7" imgW="264132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FF4A1E8-90D3-4EAA-BF5A-3CA0CBEB9AD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749" y="2840051"/>
                        <a:ext cx="5665452" cy="95777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2D226B1-2B9C-40CC-BAF2-BE53FEE04B2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207568" y="3810107"/>
          <a:ext cx="6840760" cy="70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36680" imgH="304560" progId="Equation.DSMT4">
                  <p:embed/>
                </p:oleObj>
              </mc:Choice>
              <mc:Fallback>
                <p:oleObj name="Equation" r:id="rId9" imgW="3136680" imgH="304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2D226B1-2B9C-40CC-BAF2-BE53FEE04B2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810107"/>
                        <a:ext cx="6840760" cy="707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863AA24-86DE-6A0A-ED1D-D9C6D00C32E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210140" y="4611564"/>
          <a:ext cx="8266112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54480" imgH="583920" progId="Equation.DSMT4">
                  <p:embed/>
                </p:oleObj>
              </mc:Choice>
              <mc:Fallback>
                <p:oleObj name="Equation" r:id="rId11" imgW="4254480" imgH="5839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863AA24-86DE-6A0A-ED1D-D9C6D00C32E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140" y="4611564"/>
                        <a:ext cx="8266112" cy="1212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DFC9FB0-FC13-03BA-1E9D-DCBE0E83DED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34900086"/>
              </p:ext>
            </p:extLst>
          </p:nvPr>
        </p:nvGraphicFramePr>
        <p:xfrm>
          <a:off x="1475253" y="5879306"/>
          <a:ext cx="9000999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35080" imgH="304560" progId="Equation.DSMT4">
                  <p:embed/>
                </p:oleObj>
              </mc:Choice>
              <mc:Fallback>
                <p:oleObj name="Equation" r:id="rId13" imgW="383508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DFC9FB0-FC13-03BA-1E9D-DCBE0E83DED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253" y="5879306"/>
                        <a:ext cx="9000999" cy="73818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B6A08A7-FA43-B679-06FA-5AD0E12336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46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E5CD0C6-559C-F7AF-18D8-C144F01FB0B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57356893"/>
              </p:ext>
            </p:extLst>
          </p:nvPr>
        </p:nvGraphicFramePr>
        <p:xfrm>
          <a:off x="2418784" y="6306075"/>
          <a:ext cx="33750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120" imgH="203040" progId="Equation.DSMT4">
                  <p:embed/>
                </p:oleObj>
              </mc:Choice>
              <mc:Fallback>
                <p:oleObj name="Equation" r:id="rId3" imgW="147312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E5CD0C6-559C-F7AF-18D8-C144F01FB0B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784" y="6306075"/>
                        <a:ext cx="3375025" cy="4953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DFCC121-5DEE-F635-C6EB-1965B530190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79990284"/>
              </p:ext>
            </p:extLst>
          </p:nvPr>
        </p:nvGraphicFramePr>
        <p:xfrm>
          <a:off x="3671100" y="4161549"/>
          <a:ext cx="430212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177480" progId="Equation.DSMT4">
                  <p:embed/>
                </p:oleObj>
              </mc:Choice>
              <mc:Fallback>
                <p:oleObj name="Equation" r:id="rId5" imgW="164880" imgH="177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DFCC121-5DEE-F635-C6EB-1965B530190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100" y="4161549"/>
                        <a:ext cx="430212" cy="369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D45F035-85C0-BCF2-F9CB-010F1215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13184"/>
            <a:ext cx="8229600" cy="1027584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算子的清晰域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12639-364D-6F1E-4A02-4052487F2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400156"/>
            <a:ext cx="8229600" cy="5229200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</a:t>
            </a:r>
            <a:r>
              <a:rPr lang="zh-CN" altLang="en-US" sz="3200" dirty="0"/>
              <a:t>：点集</a:t>
            </a:r>
            <a:r>
              <a:rPr lang="en-US" altLang="zh-CN" sz="3200" dirty="0">
                <a:sym typeface="Symbol" panose="05050102010706020507" pitchFamily="18" charset="2"/>
              </a:rPr>
              <a:t>(</a:t>
            </a:r>
            <a:r>
              <a:rPr lang="zh-CN" altLang="en-US" sz="3200" dirty="0"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sym typeface="Symbol" panose="05050102010706020507" pitchFamily="18" charset="2"/>
              </a:rPr>
              <a:t>)</a:t>
            </a:r>
            <a:r>
              <a:rPr lang="zh-CN" altLang="en-US" sz="3200" dirty="0"/>
              <a:t>为</a:t>
            </a:r>
            <a:r>
              <a:rPr lang="en-US" altLang="zh-CN" sz="3200" dirty="0"/>
              <a:t>F</a:t>
            </a:r>
            <a:r>
              <a:rPr lang="zh-CN" altLang="en-US" sz="3200" dirty="0"/>
              <a:t>算子 “</a:t>
            </a:r>
            <a:r>
              <a:rPr lang="zh-CN" altLang="en-US" sz="3200" dirty="0">
                <a:sym typeface="Symbol" panose="05050102010706020507" pitchFamily="18" charset="2"/>
              </a:rPr>
              <a:t></a:t>
            </a:r>
            <a:r>
              <a:rPr lang="zh-CN" altLang="en-US" sz="3200" dirty="0"/>
              <a:t>”的清晰域：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              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(</a:t>
            </a:r>
            <a:r>
              <a:rPr lang="zh-CN" alt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)={(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)| 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zh-CN" alt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=0 </a:t>
            </a:r>
            <a:r>
              <a:rPr lang="zh-CN" alt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或 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zh-CN" altLang="en-US" sz="3200" dirty="0">
                <a:solidFill>
                  <a:srgbClr val="FF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3200" i="1" dirty="0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=1}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例</a:t>
            </a:r>
            <a:r>
              <a:rPr lang="en-US" altLang="zh-CN" sz="2800" dirty="0"/>
              <a:t>1</a:t>
            </a:r>
            <a:r>
              <a:rPr lang="zh-CN" altLang="en-US" sz="2800" dirty="0"/>
              <a:t>：求算子“</a:t>
            </a:r>
            <a:r>
              <a:rPr lang="zh-CN" altLang="en-US" sz="2800" dirty="0">
                <a:sym typeface="Symbol" panose="05050102010706020507" pitchFamily="18" charset="2"/>
              </a:rPr>
              <a:t>”的清晰域</a:t>
            </a:r>
            <a:r>
              <a:rPr lang="en-US" altLang="zh-CN" sz="2800" dirty="0">
                <a:sym typeface="Symbol" panose="05050102010706020507" pitchFamily="18" charset="2"/>
              </a:rPr>
              <a:t>(</a:t>
            </a:r>
            <a:r>
              <a:rPr lang="zh-CN" altLang="en-US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：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       (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)={(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)| 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 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y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=0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或 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 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y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=1}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              ={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=0}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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=0}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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=1} </a:t>
            </a:r>
          </a:p>
          <a:p>
            <a:r>
              <a:rPr lang="zh-CN" altLang="en-US" sz="2800" dirty="0"/>
              <a:t>例</a:t>
            </a:r>
            <a:r>
              <a:rPr lang="en-US" altLang="zh-CN" sz="2800" dirty="0"/>
              <a:t>2</a:t>
            </a:r>
            <a:r>
              <a:rPr lang="zh-CN" altLang="en-US" sz="2800" dirty="0"/>
              <a:t>：求算子“ </a:t>
            </a:r>
            <a:r>
              <a:rPr lang="zh-CN" altLang="en-US" sz="2800" dirty="0">
                <a:sym typeface="Symbol" panose="05050102010706020507" pitchFamily="18" charset="2"/>
              </a:rPr>
              <a:t>  ”的清晰域</a:t>
            </a:r>
            <a:r>
              <a:rPr lang="en-US" altLang="zh-CN" sz="2800" dirty="0">
                <a:sym typeface="Symbol" panose="05050102010706020507" pitchFamily="18" charset="2"/>
              </a:rPr>
              <a:t>(</a:t>
            </a: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：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endParaRPr lang="en-US" altLang="zh-CN" dirty="0">
              <a:solidFill>
                <a:srgbClr val="0000FF"/>
              </a:solidFill>
            </a:endParaRPr>
          </a:p>
          <a:p>
            <a:pPr lvl="1"/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2A7F3FE-0961-8C8F-6E06-34FEF17FED5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10716554"/>
              </p:ext>
            </p:extLst>
          </p:nvPr>
        </p:nvGraphicFramePr>
        <p:xfrm>
          <a:off x="2247205" y="4521200"/>
          <a:ext cx="4241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0" imgH="215640" progId="Equation.DSMT4">
                  <p:embed/>
                </p:oleObj>
              </mc:Choice>
              <mc:Fallback>
                <p:oleObj name="Equation" r:id="rId7" imgW="2286000" imgH="215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2A7F3FE-0961-8C8F-6E06-34FEF17FED5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205" y="4521200"/>
                        <a:ext cx="4241800" cy="425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77B24C0-38CD-4119-5941-24281C809A84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07553919"/>
              </p:ext>
            </p:extLst>
          </p:nvPr>
        </p:nvGraphicFramePr>
        <p:xfrm>
          <a:off x="6082809" y="4209653"/>
          <a:ext cx="28302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177480" progId="Equation.DSMT4">
                  <p:embed/>
                </p:oleObj>
              </mc:Choice>
              <mc:Fallback>
                <p:oleObj name="Equation" r:id="rId9" imgW="164880" imgH="177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77B24C0-38CD-4119-5941-24281C809A8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809" y="4209653"/>
                        <a:ext cx="283022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230244-027E-B40C-8C32-F1ABC22133B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284048590"/>
              </p:ext>
            </p:extLst>
          </p:nvPr>
        </p:nvGraphicFramePr>
        <p:xfrm>
          <a:off x="2912729" y="4941168"/>
          <a:ext cx="4407407" cy="922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97080" imgH="431640" progId="Equation.DSMT4">
                  <p:embed/>
                </p:oleObj>
              </mc:Choice>
              <mc:Fallback>
                <p:oleObj name="Equation" r:id="rId11" imgW="219708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230244-027E-B40C-8C32-F1ABC22133B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729" y="4941168"/>
                        <a:ext cx="4407407" cy="92200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CAE4201B-1EAC-9DCA-C5FF-0BC90D8397E7}"/>
              </a:ext>
            </a:extLst>
          </p:cNvPr>
          <p:cNvGrpSpPr/>
          <p:nvPr/>
        </p:nvGrpSpPr>
        <p:grpSpPr>
          <a:xfrm>
            <a:off x="1100530" y="6306075"/>
            <a:ext cx="6776200" cy="577850"/>
            <a:chOff x="-35554" y="7074802"/>
            <a:chExt cx="6776200" cy="6604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1BB6874-86EB-46F3-F5F2-F9B92B494A80}"/>
                </a:ext>
              </a:extLst>
            </p:cNvPr>
            <p:cNvSpPr/>
            <p:nvPr/>
          </p:nvSpPr>
          <p:spPr>
            <a:xfrm>
              <a:off x="0" y="7074802"/>
              <a:ext cx="6588224" cy="66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4A41560-5CF9-097F-BED5-9B97462ACFE6}"/>
                </a:ext>
              </a:extLst>
            </p:cNvPr>
            <p:cNvSpPr txBox="1"/>
            <p:nvPr/>
          </p:nvSpPr>
          <p:spPr>
            <a:xfrm>
              <a:off x="-35554" y="7203325"/>
              <a:ext cx="6776200" cy="527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显然</a:t>
              </a:r>
              <a:r>
                <a:rPr lang="en-US" altLang="zh-CN" sz="2400" b="1" dirty="0"/>
                <a:t>,</a:t>
              </a:r>
              <a:r>
                <a:rPr lang="zh-CN" altLang="en-US" sz="2400" b="1" dirty="0"/>
                <a:t>“</a:t>
              </a:r>
              <a:r>
                <a:rPr lang="zh-CN" altLang="en-US" sz="2400" b="1" dirty="0">
                  <a:sym typeface="Symbol" panose="05050102010706020507" pitchFamily="18" charset="2"/>
                </a:rPr>
                <a:t></a:t>
              </a:r>
              <a:r>
                <a:rPr lang="zh-CN" altLang="en-US" sz="2400" b="1" dirty="0"/>
                <a:t>”算子的清晰域最小，因而是最模糊的</a:t>
              </a:r>
              <a:r>
                <a:rPr lang="zh-CN" altLang="en-US" b="1" dirty="0"/>
                <a:t>。</a:t>
              </a:r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A890C55-B694-432F-B166-83D234D1074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49131653"/>
              </p:ext>
            </p:extLst>
          </p:nvPr>
        </p:nvGraphicFramePr>
        <p:xfrm>
          <a:off x="2893367" y="5874346"/>
          <a:ext cx="39227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55520" imgH="203040" progId="Equation.DSMT4">
                  <p:embed/>
                </p:oleObj>
              </mc:Choice>
              <mc:Fallback>
                <p:oleObj name="Equation" r:id="rId13" imgW="1955520" imgH="203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A890C55-B694-432F-B166-83D234D1074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3367" y="5874346"/>
                        <a:ext cx="3922712" cy="434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 descr="图表, 箱线图&#10;&#10;AI 生成的内容可能不正确。">
            <a:extLst>
              <a:ext uri="{FF2B5EF4-FFF2-40B4-BE49-F238E27FC236}">
                <a16:creationId xmlns:a16="http://schemas.microsoft.com/office/drawing/2014/main" id="{729B6B7F-2D3C-7D7F-FE6B-E0D5AEE88B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836" y="1772816"/>
            <a:ext cx="2410825" cy="2334046"/>
          </a:xfrm>
          <a:prstGeom prst="rect">
            <a:avLst/>
          </a:prstGeom>
          <a:effectLst>
            <a:glow rad="127000">
              <a:schemeClr val="bg2">
                <a:lumMod val="40000"/>
                <a:lumOff val="60000"/>
              </a:schemeClr>
            </a:glow>
          </a:effectLst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248CE326-FCC7-A25A-93DE-1C2607034D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15" y="4600447"/>
            <a:ext cx="2380931" cy="2167074"/>
          </a:xfrm>
          <a:prstGeom prst="rect">
            <a:avLst/>
          </a:prstGeom>
          <a:effectLst>
            <a:glow rad="127000">
              <a:srgbClr val="FF99FF"/>
            </a:glow>
          </a:effec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ADE76E-1C1C-F91C-2E32-9F6644AF7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83848" y="6248400"/>
            <a:ext cx="2844800" cy="457200"/>
          </a:xfrm>
        </p:spPr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871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1862"/>
            <a:ext cx="8229600" cy="1008906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1.5 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cs typeface="Times New Roman" pitchFamily="18" charset="0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模糊集的截集</a:t>
            </a: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3072581" y="1412875"/>
            <a:ext cx="548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600" b="1" dirty="0">
                <a:latin typeface="+mj-lt"/>
              </a:rPr>
              <a:t>(</a:t>
            </a:r>
            <a:r>
              <a:rPr kumimoji="1" lang="en-US" altLang="zh-CN" sz="3600" b="1" i="1" dirty="0">
                <a:latin typeface="+mj-lt"/>
              </a:rPr>
              <a:t>A</a:t>
            </a:r>
            <a:r>
              <a:rPr kumimoji="1" lang="en-US" altLang="zh-CN" sz="3600" b="1" dirty="0">
                <a:latin typeface="+mj-lt"/>
              </a:rPr>
              <a:t>)</a:t>
            </a:r>
            <a:r>
              <a:rPr kumimoji="1" lang="en-US" altLang="zh-CN" sz="3600" b="1" i="1" baseline="-30000" dirty="0">
                <a:latin typeface="+mj-lt"/>
                <a:sym typeface="Symbol" pitchFamily="18" charset="2"/>
              </a:rPr>
              <a:t></a:t>
            </a:r>
            <a:r>
              <a:rPr kumimoji="1" lang="en-US" altLang="zh-CN" sz="3600" b="1" dirty="0">
                <a:latin typeface="+mj-lt"/>
              </a:rPr>
              <a:t> = </a:t>
            </a:r>
            <a:r>
              <a:rPr kumimoji="1" lang="en-US" altLang="zh-CN" sz="3600" b="1" i="1" dirty="0">
                <a:latin typeface="+mj-lt"/>
              </a:rPr>
              <a:t>A</a:t>
            </a:r>
            <a:r>
              <a:rPr kumimoji="1" lang="en-US" altLang="zh-CN" sz="3600" b="1" i="1" baseline="-30000" dirty="0">
                <a:latin typeface="+mj-lt"/>
                <a:sym typeface="Symbol" pitchFamily="18" charset="2"/>
              </a:rPr>
              <a:t></a:t>
            </a:r>
            <a:r>
              <a:rPr kumimoji="1" lang="en-US" altLang="zh-CN" sz="3600" b="1" dirty="0">
                <a:latin typeface="+mj-lt"/>
              </a:rPr>
              <a:t>= {</a:t>
            </a:r>
            <a:r>
              <a:rPr kumimoji="1" lang="en-US" altLang="zh-CN" sz="3600" b="1" i="1" dirty="0">
                <a:latin typeface="+mj-lt"/>
              </a:rPr>
              <a:t>u</a:t>
            </a:r>
            <a:r>
              <a:rPr kumimoji="1" lang="en-US" altLang="zh-CN" sz="3600" b="1" dirty="0">
                <a:latin typeface="+mj-lt"/>
              </a:rPr>
              <a:t> | </a:t>
            </a:r>
            <a:r>
              <a:rPr kumimoji="1" lang="en-US" altLang="zh-CN" sz="3600" b="1" i="1" dirty="0">
                <a:latin typeface="+mj-lt"/>
              </a:rPr>
              <a:t>A</a:t>
            </a:r>
            <a:r>
              <a:rPr kumimoji="1" lang="en-US" altLang="zh-CN" sz="3600" b="1" dirty="0">
                <a:latin typeface="+mj-lt"/>
              </a:rPr>
              <a:t>(</a:t>
            </a:r>
            <a:r>
              <a:rPr kumimoji="1" lang="en-US" altLang="zh-CN" sz="3600" b="1" i="1" dirty="0">
                <a:latin typeface="+mj-lt"/>
              </a:rPr>
              <a:t>u</a:t>
            </a:r>
            <a:r>
              <a:rPr kumimoji="1" lang="en-US" altLang="zh-CN" sz="3600" b="1" dirty="0">
                <a:latin typeface="+mj-lt"/>
              </a:rPr>
              <a:t>) </a:t>
            </a:r>
            <a:r>
              <a:rPr kumimoji="1" lang="en-US" altLang="zh-CN" sz="3600" b="1" dirty="0">
                <a:solidFill>
                  <a:srgbClr val="FF0000"/>
                </a:solidFill>
                <a:latin typeface="+mj-lt"/>
              </a:rPr>
              <a:t>≥</a:t>
            </a:r>
            <a:r>
              <a:rPr kumimoji="1" lang="en-US" altLang="zh-CN" sz="3600" b="1" dirty="0">
                <a:latin typeface="+mj-lt"/>
              </a:rPr>
              <a:t> </a:t>
            </a:r>
            <a:r>
              <a:rPr kumimoji="1" lang="en-US" altLang="zh-CN" sz="3600" b="1" i="1" dirty="0">
                <a:latin typeface="+mj-lt"/>
                <a:sym typeface="Symbol" pitchFamily="18" charset="2"/>
              </a:rPr>
              <a:t></a:t>
            </a:r>
            <a:r>
              <a:rPr kumimoji="1" lang="en-US" altLang="zh-CN" sz="3600" b="1" dirty="0">
                <a:latin typeface="+mj-lt"/>
                <a:sym typeface="Symbol" pitchFamily="18" charset="2"/>
              </a:rPr>
              <a:t> </a:t>
            </a:r>
            <a:r>
              <a:rPr kumimoji="1" lang="en-US" altLang="zh-CN" sz="3600" b="1" dirty="0">
                <a:latin typeface="+mj-lt"/>
              </a:rPr>
              <a:t>}</a:t>
            </a:r>
          </a:p>
        </p:txBody>
      </p:sp>
      <p:sp>
        <p:nvSpPr>
          <p:cNvPr id="46084" name="Rectangle 5"/>
          <p:cNvSpPr>
            <a:spLocks noChangeArrowheads="1"/>
          </p:cNvSpPr>
          <p:nvPr/>
        </p:nvSpPr>
        <p:spPr bwMode="auto">
          <a:xfrm>
            <a:off x="983432" y="1412875"/>
            <a:ext cx="2232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3600" b="1" dirty="0">
                <a:solidFill>
                  <a:srgbClr val="FF0000"/>
                </a:solidFill>
                <a:latin typeface="+mj-lt"/>
                <a:sym typeface="Symbol" pitchFamily="18" charset="2"/>
              </a:rPr>
              <a:t></a:t>
            </a:r>
            <a:r>
              <a:rPr kumimoji="1" lang="en-US" altLang="zh-CN" sz="3600" b="1" dirty="0">
                <a:solidFill>
                  <a:srgbClr val="FF0000"/>
                </a:solidFill>
                <a:latin typeface="+mj-lt"/>
              </a:rPr>
              <a:t>-</a:t>
            </a:r>
            <a:r>
              <a:rPr kumimoji="1" lang="zh-CN" altLang="en-US" sz="3600" b="1" dirty="0">
                <a:solidFill>
                  <a:srgbClr val="FF0000"/>
                </a:solidFill>
                <a:latin typeface="+mj-lt"/>
              </a:rPr>
              <a:t>截集：</a:t>
            </a: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983432" y="2179638"/>
            <a:ext cx="10081120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latin typeface="+mj-lt"/>
              </a:rPr>
              <a:t>    </a:t>
            </a:r>
            <a:r>
              <a:rPr kumimoji="1" lang="zh-CN" altLang="en-US" sz="3200" b="1" dirty="0">
                <a:latin typeface="+mj-lt"/>
              </a:rPr>
              <a:t>模糊集</a:t>
            </a:r>
            <a:r>
              <a:rPr kumimoji="1" lang="en-US" altLang="zh-CN" sz="3200" b="1" i="1" dirty="0">
                <a:latin typeface="+mj-lt"/>
              </a:rPr>
              <a:t>A</a:t>
            </a:r>
            <a:r>
              <a:rPr kumimoji="1" lang="zh-CN" altLang="en-US" sz="3200" b="1" dirty="0">
                <a:latin typeface="+mj-lt"/>
              </a:rPr>
              <a:t>的</a:t>
            </a:r>
            <a:r>
              <a:rPr kumimoji="1" lang="zh-CN" altLang="en-US" sz="3200" b="1" dirty="0">
                <a:latin typeface="+mj-lt"/>
                <a:sym typeface="Symbol" pitchFamily="18" charset="2"/>
              </a:rPr>
              <a:t></a:t>
            </a:r>
            <a:r>
              <a:rPr kumimoji="1" lang="en-US" altLang="zh-CN" sz="3200" b="1" dirty="0">
                <a:latin typeface="+mj-lt"/>
              </a:rPr>
              <a:t>-</a:t>
            </a:r>
            <a:r>
              <a:rPr kumimoji="1" lang="zh-CN" altLang="en-US" sz="3200" b="1" dirty="0">
                <a:latin typeface="+mj-lt"/>
              </a:rPr>
              <a:t>截集</a:t>
            </a:r>
            <a:r>
              <a:rPr kumimoji="1" lang="en-US" altLang="zh-CN" sz="3200" b="1" i="1" dirty="0">
                <a:latin typeface="+mj-lt"/>
              </a:rPr>
              <a:t>A</a:t>
            </a:r>
            <a:r>
              <a:rPr kumimoji="1" lang="en-US" altLang="zh-CN" sz="3200" b="1" i="1" baseline="-30000" dirty="0">
                <a:latin typeface="+mj-lt"/>
                <a:sym typeface="Symbol" pitchFamily="18" charset="2"/>
              </a:rPr>
              <a:t></a:t>
            </a:r>
            <a:r>
              <a:rPr kumimoji="1" lang="zh-CN" altLang="en-US" sz="3200" b="1" dirty="0">
                <a:latin typeface="+mj-lt"/>
              </a:rPr>
              <a:t>是一个</a:t>
            </a:r>
            <a:r>
              <a:rPr kumimoji="1" lang="zh-CN" altLang="en-US" sz="32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经典集合</a:t>
            </a:r>
            <a:r>
              <a:rPr kumimoji="1" lang="zh-CN" altLang="en-US" sz="3200" b="1" dirty="0">
                <a:latin typeface="+mj-lt"/>
              </a:rPr>
              <a:t>，由隶属度不小于</a:t>
            </a:r>
            <a:r>
              <a:rPr kumimoji="1" lang="zh-CN" altLang="en-US" sz="3200" b="1" dirty="0">
                <a:latin typeface="+mj-lt"/>
                <a:sym typeface="Symbol" pitchFamily="18" charset="2"/>
              </a:rPr>
              <a:t></a:t>
            </a:r>
            <a:r>
              <a:rPr kumimoji="1" lang="zh-CN" altLang="en-US" sz="3200" b="1" dirty="0">
                <a:latin typeface="+mj-lt"/>
              </a:rPr>
              <a:t>的成员构成</a:t>
            </a:r>
            <a:r>
              <a:rPr kumimoji="1" lang="en-US" altLang="zh-CN" sz="3200" b="1" dirty="0">
                <a:latin typeface="+mj-lt"/>
              </a:rPr>
              <a:t>.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rgbClr val="CC00FF"/>
                </a:solidFill>
                <a:sym typeface="Symbol" pitchFamily="18" charset="2"/>
              </a:rPr>
              <a:t></a:t>
            </a:r>
            <a:r>
              <a:rPr kumimoji="1" lang="en-US" altLang="zh-CN" sz="3200" b="1" dirty="0">
                <a:solidFill>
                  <a:srgbClr val="CC00FF"/>
                </a:solidFill>
              </a:rPr>
              <a:t>-</a:t>
            </a:r>
            <a:r>
              <a:rPr kumimoji="1" lang="zh-CN" altLang="en-US" sz="3200" b="1" dirty="0">
                <a:solidFill>
                  <a:srgbClr val="CC00FF"/>
                </a:solidFill>
              </a:rPr>
              <a:t>强截集</a:t>
            </a:r>
            <a:r>
              <a:rPr kumimoji="1" lang="en-US" altLang="zh-CN" sz="3200" b="1" dirty="0">
                <a:solidFill>
                  <a:srgbClr val="CC00FF"/>
                </a:solidFill>
              </a:rPr>
              <a:t>: </a:t>
            </a:r>
            <a:r>
              <a:rPr kumimoji="1" lang="en-US" altLang="zh-CN" sz="3200" b="1" dirty="0"/>
              <a:t>(</a:t>
            </a:r>
            <a:r>
              <a:rPr kumimoji="1" lang="en-US" altLang="zh-CN" sz="3200" b="1" i="1" dirty="0"/>
              <a:t>A</a:t>
            </a:r>
            <a:r>
              <a:rPr kumimoji="1" lang="en-US" altLang="zh-CN" sz="3200" b="1" dirty="0"/>
              <a:t>) </a:t>
            </a:r>
            <a:r>
              <a:rPr kumimoji="1" lang="en-US" altLang="zh-CN" b="1" dirty="0">
                <a:sym typeface="Symbol" pitchFamily="18" charset="2"/>
              </a:rPr>
              <a:t></a:t>
            </a:r>
            <a:r>
              <a:rPr kumimoji="1" lang="en-US" altLang="zh-CN" dirty="0"/>
              <a:t> </a:t>
            </a:r>
            <a:r>
              <a:rPr kumimoji="1" lang="en-US" altLang="zh-CN" sz="3200" b="1" dirty="0"/>
              <a:t> = </a:t>
            </a:r>
            <a:r>
              <a:rPr kumimoji="1" lang="en-US" altLang="zh-CN" sz="3200" b="1" i="1" dirty="0"/>
              <a:t>A </a:t>
            </a:r>
            <a:r>
              <a:rPr kumimoji="1" lang="en-US" altLang="zh-CN" b="1" dirty="0">
                <a:sym typeface="Symbol" pitchFamily="18" charset="2"/>
              </a:rPr>
              <a:t></a:t>
            </a:r>
            <a:r>
              <a:rPr kumimoji="1" lang="en-US" altLang="zh-CN" dirty="0">
                <a:sym typeface="Symbol" pitchFamily="18" charset="2"/>
              </a:rPr>
              <a:t> </a:t>
            </a:r>
            <a:r>
              <a:rPr kumimoji="1" lang="en-US" altLang="zh-CN" sz="3200" b="1" dirty="0"/>
              <a:t>= {</a:t>
            </a:r>
            <a:r>
              <a:rPr kumimoji="1" lang="en-US" altLang="zh-CN" sz="3200" b="1" i="1" dirty="0" err="1"/>
              <a:t>u</a:t>
            </a:r>
            <a:r>
              <a:rPr kumimoji="1" lang="en-US" altLang="zh-CN" sz="3200" b="1" dirty="0" err="1"/>
              <a:t>|</a:t>
            </a:r>
            <a:r>
              <a:rPr kumimoji="1" lang="en-US" altLang="zh-CN" sz="3200" b="1" i="1" dirty="0" err="1"/>
              <a:t>A</a:t>
            </a:r>
            <a:r>
              <a:rPr kumimoji="1" lang="en-US" altLang="zh-CN" sz="3200" b="1" dirty="0"/>
              <a:t>(</a:t>
            </a:r>
            <a:r>
              <a:rPr kumimoji="1" lang="en-US" altLang="zh-CN" sz="3200" b="1" i="1" dirty="0"/>
              <a:t>u</a:t>
            </a:r>
            <a:r>
              <a:rPr kumimoji="1" lang="en-US" altLang="zh-CN" sz="3200" b="1" dirty="0"/>
              <a:t>) </a:t>
            </a:r>
            <a:r>
              <a:rPr kumimoji="1" lang="en-US" altLang="zh-CN" sz="3200" b="1" dirty="0">
                <a:solidFill>
                  <a:srgbClr val="CC00FF"/>
                </a:solidFill>
              </a:rPr>
              <a:t>&gt;</a:t>
            </a:r>
            <a:r>
              <a:rPr kumimoji="1" lang="en-US" altLang="zh-CN" sz="3200" b="1" dirty="0"/>
              <a:t> </a:t>
            </a:r>
            <a:r>
              <a:rPr kumimoji="1" lang="en-US" altLang="zh-CN" sz="3200" b="1" dirty="0">
                <a:sym typeface="Symbol" pitchFamily="18" charset="2"/>
              </a:rPr>
              <a:t> </a:t>
            </a:r>
            <a:r>
              <a:rPr kumimoji="1" lang="en-US" altLang="zh-CN" sz="3200" b="1" dirty="0"/>
              <a:t>}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kumimoji="1" lang="zh-CN" altLang="en-US" sz="3200" b="1" dirty="0">
                <a:solidFill>
                  <a:srgbClr val="0000FF"/>
                </a:solidFill>
                <a:sym typeface="Symbol" pitchFamily="18" charset="2"/>
              </a:rPr>
              <a:t>的支集</a:t>
            </a:r>
            <a:r>
              <a:rPr kumimoji="1" lang="en-US" altLang="zh-CN" sz="3200" b="1" dirty="0">
                <a:solidFill>
                  <a:srgbClr val="0000FF"/>
                </a:solidFill>
                <a:sym typeface="Symbol" pitchFamily="18" charset="2"/>
              </a:rPr>
              <a:t>: </a:t>
            </a:r>
            <a:r>
              <a:rPr kumimoji="1" lang="en-US" altLang="zh-CN" sz="3200" b="1" dirty="0">
                <a:solidFill>
                  <a:srgbClr val="FF0000"/>
                </a:solidFill>
                <a:sym typeface="Symbol" pitchFamily="18" charset="2"/>
              </a:rPr>
              <a:t>Supp A</a:t>
            </a:r>
            <a:r>
              <a:rPr kumimoji="1" lang="en-US" altLang="zh-CN" sz="3200" b="1" dirty="0">
                <a:sym typeface="Symbol" pitchFamily="18" charset="2"/>
              </a:rPr>
              <a:t>=</a:t>
            </a:r>
            <a:r>
              <a:rPr kumimoji="1" lang="en-US" altLang="zh-CN" sz="3200" b="1" dirty="0"/>
              <a:t>{</a:t>
            </a:r>
            <a:r>
              <a:rPr kumimoji="1" lang="en-US" altLang="zh-CN" sz="3200" b="1" i="1" dirty="0"/>
              <a:t>u</a:t>
            </a:r>
            <a:r>
              <a:rPr kumimoji="1" lang="en-US" altLang="zh-CN" sz="3200" b="1" dirty="0"/>
              <a:t>| </a:t>
            </a:r>
            <a:r>
              <a:rPr kumimoji="1" lang="en-US" altLang="zh-CN" sz="3200" b="1" i="1" dirty="0"/>
              <a:t>A</a:t>
            </a:r>
            <a:r>
              <a:rPr kumimoji="1" lang="en-US" altLang="zh-CN" sz="3200" b="1" dirty="0"/>
              <a:t>(</a:t>
            </a:r>
            <a:r>
              <a:rPr kumimoji="1" lang="en-US" altLang="zh-CN" sz="3200" b="1" i="1" dirty="0"/>
              <a:t>u</a:t>
            </a:r>
            <a:r>
              <a:rPr kumimoji="1" lang="en-US" altLang="zh-CN" sz="3200" b="1" dirty="0"/>
              <a:t>) &gt; </a:t>
            </a:r>
            <a:r>
              <a:rPr kumimoji="1" lang="en-US" altLang="zh-CN" sz="3200" b="1" dirty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kumimoji="1" lang="en-US" altLang="zh-CN" sz="3200" b="1" dirty="0">
                <a:sym typeface="Symbol" pitchFamily="18" charset="2"/>
              </a:rPr>
              <a:t> </a:t>
            </a:r>
            <a:r>
              <a:rPr kumimoji="1" lang="en-US" altLang="zh-CN" sz="3200" b="1" dirty="0"/>
              <a:t>}</a:t>
            </a:r>
            <a:endParaRPr kumimoji="1" lang="en-US" altLang="zh-CN" sz="7200" b="1" dirty="0">
              <a:solidFill>
                <a:srgbClr val="FF0000"/>
              </a:solidFill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kumimoji="1" lang="zh-CN" altLang="en-US" sz="3200" b="1" dirty="0">
                <a:solidFill>
                  <a:srgbClr val="0000FF"/>
                </a:solidFill>
                <a:sym typeface="Symbol" pitchFamily="18" charset="2"/>
              </a:rPr>
              <a:t>的核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:</a:t>
            </a:r>
            <a:r>
              <a:rPr kumimoji="1" lang="en-US" altLang="zh-CN" sz="3200" b="1" dirty="0">
                <a:solidFill>
                  <a:srgbClr val="FF0000"/>
                </a:solidFill>
              </a:rPr>
              <a:t>       Ker A</a:t>
            </a:r>
            <a:r>
              <a:rPr kumimoji="1" lang="en-US" altLang="zh-CN" sz="3200" b="1" dirty="0"/>
              <a:t>={</a:t>
            </a:r>
            <a:r>
              <a:rPr kumimoji="1" lang="en-US" altLang="zh-CN" sz="3200" b="1" i="1" dirty="0"/>
              <a:t>u</a:t>
            </a:r>
            <a:r>
              <a:rPr kumimoji="1" lang="en-US" altLang="zh-CN" sz="3200" b="1" dirty="0"/>
              <a:t>| </a:t>
            </a:r>
            <a:r>
              <a:rPr kumimoji="1" lang="en-US" altLang="zh-CN" sz="3200" b="1" i="1" dirty="0"/>
              <a:t>A</a:t>
            </a:r>
            <a:r>
              <a:rPr kumimoji="1" lang="en-US" altLang="zh-CN" sz="3200" b="1" dirty="0"/>
              <a:t>(</a:t>
            </a:r>
            <a:r>
              <a:rPr kumimoji="1" lang="en-US" altLang="zh-CN" sz="3200" b="1" i="1" dirty="0"/>
              <a:t>u</a:t>
            </a:r>
            <a:r>
              <a:rPr kumimoji="1" lang="en-US" altLang="zh-CN" sz="3200" b="1" dirty="0"/>
              <a:t>) =</a:t>
            </a:r>
            <a:r>
              <a:rPr kumimoji="1" lang="en-US" altLang="zh-CN" sz="3200" b="1" dirty="0">
                <a:solidFill>
                  <a:srgbClr val="FF0000"/>
                </a:solidFill>
              </a:rPr>
              <a:t>1</a:t>
            </a:r>
            <a:r>
              <a:rPr kumimoji="1" lang="en-US" altLang="zh-CN" sz="3200" b="1" dirty="0">
                <a:sym typeface="Symbol" pitchFamily="18" charset="2"/>
              </a:rPr>
              <a:t> </a:t>
            </a:r>
            <a:r>
              <a:rPr kumimoji="1" lang="en-US" altLang="zh-CN" sz="3200" b="1" dirty="0"/>
              <a:t>}</a:t>
            </a:r>
            <a:endParaRPr kumimoji="1" lang="en-US" altLang="zh-CN" sz="8000" b="1" dirty="0">
              <a:solidFill>
                <a:srgbClr val="FF0000"/>
              </a:solidFill>
            </a:endParaRPr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2710780" y="3429000"/>
            <a:ext cx="5905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       .          .</a:t>
            </a:r>
            <a:r>
              <a:rPr lang="en-US" altLang="zh-CN" sz="2000" dirty="0"/>
              <a:t>           </a:t>
            </a:r>
          </a:p>
        </p:txBody>
      </p:sp>
      <p:pic>
        <p:nvPicPr>
          <p:cNvPr id="4608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3896931"/>
            <a:ext cx="5256782" cy="296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5341E0-04DF-0408-01B5-334A5F8672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92344" y="6318632"/>
            <a:ext cx="2844800" cy="457200"/>
          </a:xfrm>
        </p:spPr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7888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4" grpId="0"/>
      <p:bldP spid="46086" grpId="0" uiExpand="1" build="p" autoUpdateAnimBg="0"/>
      <p:bldP spid="46090" grpId="0" uiExpan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43222"/>
            <a:ext cx="8229600" cy="112553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模糊集的截集</a:t>
            </a:r>
          </a:p>
        </p:txBody>
      </p:sp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1026658" y="1335484"/>
            <a:ext cx="9937103" cy="216059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b="1" dirty="0">
                <a:latin typeface="宋体" pitchFamily="2" charset="-122"/>
              </a:rPr>
              <a:t>例：论域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dirty="0">
                <a:latin typeface="Times New Roman" pitchFamily="18" charset="0"/>
              </a:rPr>
              <a:t>={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1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2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3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4 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5 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6</a:t>
            </a:r>
            <a:r>
              <a:rPr kumimoji="1" lang="en-US" altLang="zh-CN" sz="3200" b="1" dirty="0">
                <a:latin typeface="Times New Roman" pitchFamily="18" charset="0"/>
              </a:rPr>
              <a:t>}</a:t>
            </a:r>
            <a:r>
              <a:rPr kumimoji="1" lang="en-US" altLang="zh-CN" sz="3200" b="1" dirty="0">
                <a:latin typeface="宋体" pitchFamily="2" charset="-122"/>
              </a:rPr>
              <a:t>(</a:t>
            </a:r>
            <a:r>
              <a:rPr kumimoji="1" lang="zh-CN" altLang="en-US" sz="3200" b="1" dirty="0">
                <a:latin typeface="宋体" pitchFamily="2" charset="-122"/>
              </a:rPr>
              <a:t>学生集</a:t>
            </a:r>
            <a:r>
              <a:rPr kumimoji="1" lang="en-US" altLang="zh-CN" sz="3200" b="1" dirty="0">
                <a:latin typeface="宋体" pitchFamily="2" charset="-122"/>
              </a:rPr>
              <a:t>)</a:t>
            </a:r>
            <a:r>
              <a:rPr kumimoji="1" lang="zh-CN" altLang="en-US" sz="3200" b="1" dirty="0">
                <a:latin typeface="宋体" pitchFamily="2" charset="-122"/>
              </a:rPr>
              <a:t>，他们的成绩依次为</a:t>
            </a:r>
            <a:r>
              <a:rPr kumimoji="1" lang="en-US" altLang="zh-CN" sz="3200" b="1" dirty="0">
                <a:latin typeface="宋体" pitchFamily="2" charset="-122"/>
              </a:rPr>
              <a:t>50,60,70,80,90,95</a:t>
            </a:r>
            <a:r>
              <a:rPr kumimoji="1" lang="zh-CN" altLang="en-US" sz="3200" b="1" dirty="0">
                <a:latin typeface="宋体" pitchFamily="2" charset="-122"/>
              </a:rPr>
              <a:t>，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latin typeface="Times New Roman" pitchFamily="18" charset="0"/>
              </a:rPr>
              <a:t>A</a:t>
            </a:r>
            <a:r>
              <a:rPr kumimoji="1" lang="en-US" altLang="zh-CN" sz="3200" b="1" dirty="0">
                <a:latin typeface="Times New Roman" pitchFamily="18" charset="0"/>
              </a:rPr>
              <a:t>=“</a:t>
            </a:r>
            <a:r>
              <a:rPr kumimoji="1" lang="zh-CN" altLang="en-US" sz="3200" b="1" dirty="0">
                <a:latin typeface="宋体" pitchFamily="2" charset="-122"/>
              </a:rPr>
              <a:t>学习成绩好的学生</a:t>
            </a:r>
            <a:r>
              <a:rPr kumimoji="1" lang="zh-CN" altLang="en-US" sz="3200" b="1" dirty="0">
                <a:latin typeface="Times New Roman" pitchFamily="18" charset="0"/>
              </a:rPr>
              <a:t>”</a:t>
            </a:r>
            <a:r>
              <a:rPr kumimoji="1" lang="zh-CN" altLang="en-US" sz="3200" b="1" dirty="0">
                <a:latin typeface="宋体" pitchFamily="2" charset="-122"/>
              </a:rPr>
              <a:t>的隶属度分别为    </a:t>
            </a:r>
            <a:r>
              <a:rPr kumimoji="1" lang="en-US" altLang="zh-CN" sz="3200" b="1" dirty="0">
                <a:latin typeface="宋体" pitchFamily="2" charset="-122"/>
              </a:rPr>
              <a:t>0.5,0.6,0.7,0.8,0.9,0.95</a:t>
            </a:r>
            <a:r>
              <a:rPr kumimoji="1" lang="zh-CN" altLang="en-US" sz="3200" b="1" dirty="0">
                <a:latin typeface="宋体" pitchFamily="2" charset="-122"/>
              </a:rPr>
              <a:t>，则</a:t>
            </a:r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1559496" y="3573016"/>
            <a:ext cx="8135937" cy="302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latin typeface="Times New Roman" pitchFamily="18" charset="0"/>
              </a:rPr>
              <a:t>  A</a:t>
            </a:r>
            <a:r>
              <a:rPr kumimoji="1" lang="en-US" altLang="zh-CN" sz="3200" b="1" baseline="-30000" dirty="0">
                <a:latin typeface="Times New Roman" pitchFamily="18" charset="0"/>
                <a:sym typeface="Symbol" pitchFamily="18" charset="2"/>
              </a:rPr>
              <a:t>0.9</a:t>
            </a:r>
            <a:r>
              <a:rPr kumimoji="1" lang="en-US" altLang="zh-CN" sz="3200" b="1" dirty="0">
                <a:latin typeface="Times New Roman" pitchFamily="18" charset="0"/>
              </a:rPr>
              <a:t>  (</a:t>
            </a:r>
            <a:r>
              <a:rPr kumimoji="1" lang="zh-CN" altLang="en-US" sz="3200" b="1" dirty="0">
                <a:latin typeface="Times New Roman" pitchFamily="18" charset="0"/>
              </a:rPr>
              <a:t>不低于</a:t>
            </a:r>
            <a:r>
              <a:rPr kumimoji="1" lang="en-US" altLang="zh-CN" sz="3200" b="1" dirty="0">
                <a:latin typeface="Times New Roman" pitchFamily="18" charset="0"/>
              </a:rPr>
              <a:t>90</a:t>
            </a:r>
            <a:r>
              <a:rPr kumimoji="1" lang="zh-CN" altLang="en-US" sz="3200" b="1" dirty="0">
                <a:latin typeface="Times New Roman" pitchFamily="18" charset="0"/>
              </a:rPr>
              <a:t>分者</a:t>
            </a:r>
            <a:r>
              <a:rPr kumimoji="1" lang="en-US" altLang="zh-CN" sz="3200" b="1" dirty="0">
                <a:latin typeface="Times New Roman" pitchFamily="18" charset="0"/>
              </a:rPr>
              <a:t>) =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  </a:t>
            </a:r>
            <a:r>
              <a:rPr kumimoji="1" lang="en-US" altLang="zh-CN" sz="3200" b="1" i="1" dirty="0">
                <a:latin typeface="Times New Roman" pitchFamily="18" charset="0"/>
              </a:rPr>
              <a:t>A</a:t>
            </a:r>
            <a:r>
              <a:rPr kumimoji="1" lang="en-US" altLang="zh-CN" sz="3200" b="1" baseline="-30000" dirty="0">
                <a:latin typeface="Times New Roman" pitchFamily="18" charset="0"/>
                <a:sym typeface="Symbol" pitchFamily="18" charset="2"/>
              </a:rPr>
              <a:t>0.6</a:t>
            </a:r>
            <a:r>
              <a:rPr kumimoji="1" lang="en-US" altLang="zh-CN" sz="3200" b="1" dirty="0">
                <a:latin typeface="Times New Roman" pitchFamily="18" charset="0"/>
              </a:rPr>
              <a:t>  (</a:t>
            </a:r>
            <a:r>
              <a:rPr kumimoji="1" lang="zh-CN" altLang="en-US" sz="3200" b="1" dirty="0">
                <a:latin typeface="Times New Roman" pitchFamily="18" charset="0"/>
              </a:rPr>
              <a:t>不低于</a:t>
            </a:r>
            <a:r>
              <a:rPr kumimoji="1" lang="en-US" altLang="zh-CN" sz="3200" b="1" dirty="0">
                <a:latin typeface="Times New Roman" pitchFamily="18" charset="0"/>
              </a:rPr>
              <a:t>60</a:t>
            </a:r>
            <a:r>
              <a:rPr kumimoji="1" lang="zh-CN" altLang="en-US" sz="3200" b="1" dirty="0">
                <a:latin typeface="Times New Roman" pitchFamily="18" charset="0"/>
              </a:rPr>
              <a:t>分者</a:t>
            </a:r>
            <a:r>
              <a:rPr kumimoji="1" lang="en-US" altLang="zh-CN" sz="3200" b="1" dirty="0">
                <a:latin typeface="Times New Roman" pitchFamily="18" charset="0"/>
              </a:rPr>
              <a:t>) = 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600" i="1" dirty="0">
                <a:latin typeface="Times New Roman" pitchFamily="18" charset="0"/>
              </a:rPr>
              <a:t> A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0.5</a:t>
            </a:r>
            <a:r>
              <a:rPr kumimoji="1" lang="en-US" altLang="zh-CN" sz="2400" dirty="0">
                <a:latin typeface="Times New Roman" pitchFamily="18" charset="0"/>
              </a:rPr>
              <a:t> </a:t>
            </a:r>
            <a:r>
              <a:rPr kumimoji="1" lang="en-US" altLang="zh-CN" sz="2800" dirty="0">
                <a:latin typeface="Times New Roman" pitchFamily="18" charset="0"/>
              </a:rPr>
              <a:t> </a:t>
            </a:r>
            <a:r>
              <a:rPr kumimoji="1" lang="en-US" altLang="zh-CN" sz="3200" dirty="0"/>
              <a:t>(</a:t>
            </a:r>
            <a:r>
              <a:rPr kumimoji="1" lang="zh-CN" altLang="en-US" sz="3200" b="1" dirty="0"/>
              <a:t>不低于</a:t>
            </a:r>
            <a:r>
              <a:rPr kumimoji="1" lang="en-US" altLang="zh-CN" sz="3200" b="1" dirty="0"/>
              <a:t>50</a:t>
            </a:r>
            <a:r>
              <a:rPr kumimoji="1" lang="zh-CN" altLang="en-US" sz="3200" b="1" dirty="0"/>
              <a:t>分者</a:t>
            </a:r>
            <a:r>
              <a:rPr kumimoji="1" lang="en-US" altLang="zh-CN" sz="3200" dirty="0"/>
              <a:t>)</a:t>
            </a:r>
            <a:r>
              <a:rPr kumimoji="1" lang="en-US" altLang="zh-CN" sz="2800" dirty="0"/>
              <a:t> = </a:t>
            </a:r>
            <a:endParaRPr kumimoji="1" lang="en-US" altLang="zh-CN" sz="2800" b="1" dirty="0"/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/>
              <a:t>A</a:t>
            </a:r>
            <a:r>
              <a:rPr kumimoji="1" lang="en-US" altLang="zh-CN" sz="3200" b="1" baseline="-25000" dirty="0">
                <a:sym typeface="Symbol" pitchFamily="18" charset="2"/>
              </a:rPr>
              <a:t>0.95</a:t>
            </a:r>
            <a:r>
              <a:rPr kumimoji="1" lang="en-US" altLang="zh-CN" sz="3200" b="1" dirty="0"/>
              <a:t> (</a:t>
            </a:r>
            <a:r>
              <a:rPr kumimoji="1" lang="zh-CN" altLang="en-US" sz="3200" b="1" dirty="0"/>
              <a:t>不低于</a:t>
            </a:r>
            <a:r>
              <a:rPr kumimoji="1" lang="en-US" altLang="zh-CN" sz="3200" b="1" dirty="0"/>
              <a:t>95</a:t>
            </a:r>
            <a:r>
              <a:rPr kumimoji="1" lang="zh-CN" altLang="en-US" sz="3200" b="1" dirty="0"/>
              <a:t>分者</a:t>
            </a:r>
            <a:r>
              <a:rPr kumimoji="1" lang="en-US" altLang="zh-CN" sz="3200" b="1" dirty="0"/>
              <a:t>) </a:t>
            </a:r>
            <a:r>
              <a:rPr kumimoji="1" lang="en-US" altLang="zh-CN" sz="3200" b="1" dirty="0">
                <a:latin typeface="Times New Roman" pitchFamily="18" charset="0"/>
              </a:rPr>
              <a:t>= </a:t>
            </a:r>
            <a:r>
              <a:rPr kumimoji="1" lang="en-US" altLang="zh-CN" sz="3200" dirty="0">
                <a:latin typeface="Times New Roman" pitchFamily="18" charset="0"/>
              </a:rPr>
              <a:t> </a:t>
            </a:r>
            <a:endParaRPr kumimoji="1" lang="en-US" altLang="zh-CN" sz="3200" b="1" dirty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latin typeface="Times New Roman" pitchFamily="18" charset="0"/>
              </a:rPr>
              <a:t>   A</a:t>
            </a:r>
            <a:r>
              <a:rPr kumimoji="1" lang="en-US" altLang="zh-CN" sz="3200" b="1" baseline="-25000" dirty="0"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sz="3200" b="1" dirty="0">
                <a:latin typeface="Times New Roman" pitchFamily="18" charset="0"/>
              </a:rPr>
              <a:t>  (</a:t>
            </a:r>
            <a:r>
              <a:rPr kumimoji="1" lang="zh-CN" altLang="en-US" sz="3200" b="1" dirty="0">
                <a:latin typeface="Times New Roman" pitchFamily="18" charset="0"/>
              </a:rPr>
              <a:t>不低于</a:t>
            </a:r>
            <a:r>
              <a:rPr kumimoji="1" lang="en-US" altLang="zh-CN" sz="3200" b="1" dirty="0">
                <a:latin typeface="Times New Roman" pitchFamily="18" charset="0"/>
              </a:rPr>
              <a:t>100</a:t>
            </a:r>
            <a:r>
              <a:rPr kumimoji="1" lang="zh-CN" altLang="en-US" sz="3200" b="1" dirty="0">
                <a:latin typeface="Times New Roman" pitchFamily="18" charset="0"/>
              </a:rPr>
              <a:t>分者</a:t>
            </a:r>
            <a:r>
              <a:rPr kumimoji="1" lang="en-US" altLang="zh-CN" sz="3200" b="1" dirty="0">
                <a:latin typeface="Times New Roman" pitchFamily="18" charset="0"/>
              </a:rPr>
              <a:t>) = </a:t>
            </a:r>
            <a:endParaRPr kumimoji="1" lang="en-US" altLang="zh-CN" sz="3200" b="1" dirty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C97D6C-66BD-B202-B8B3-9FEDFDB0F9F7}"/>
              </a:ext>
            </a:extLst>
          </p:cNvPr>
          <p:cNvSpPr txBox="1"/>
          <p:nvPr/>
        </p:nvSpPr>
        <p:spPr>
          <a:xfrm>
            <a:off x="5682208" y="3573017"/>
            <a:ext cx="17099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</a:rPr>
              <a:t>{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5 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6</a:t>
            </a:r>
            <a:r>
              <a:rPr kumimoji="1" lang="en-US" altLang="zh-CN" sz="3200" b="1" dirty="0">
                <a:latin typeface="Times New Roman" pitchFamily="18" charset="0"/>
              </a:rPr>
              <a:t>},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4B563A-C243-0D0A-F2BE-945DF9013B91}"/>
              </a:ext>
            </a:extLst>
          </p:cNvPr>
          <p:cNvSpPr txBox="1"/>
          <p:nvPr/>
        </p:nvSpPr>
        <p:spPr>
          <a:xfrm>
            <a:off x="5682208" y="4141064"/>
            <a:ext cx="3510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latin typeface="Times New Roman" pitchFamily="18" charset="0"/>
              </a:rPr>
              <a:t>{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2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3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4 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5 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30000" dirty="0">
                <a:latin typeface="Times New Roman" pitchFamily="18" charset="0"/>
              </a:rPr>
              <a:t>6</a:t>
            </a:r>
            <a:r>
              <a:rPr kumimoji="1" lang="en-US" altLang="zh-CN" sz="3200" b="1" dirty="0">
                <a:latin typeface="Times New Roman" pitchFamily="18" charset="0"/>
              </a:rPr>
              <a:t>}.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A19C2E-BB5E-6A9B-1D70-4BE1B8E3DB8E}"/>
              </a:ext>
            </a:extLst>
          </p:cNvPr>
          <p:cNvSpPr txBox="1"/>
          <p:nvPr/>
        </p:nvSpPr>
        <p:spPr>
          <a:xfrm>
            <a:off x="5707549" y="4788441"/>
            <a:ext cx="5068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dirty="0"/>
              <a:t>{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itchFamily="18" charset="0"/>
              </a:rPr>
              <a:t>1</a:t>
            </a:r>
            <a:r>
              <a:rPr kumimoji="1" lang="en-US" altLang="zh-CN" sz="3200" b="1" i="1" dirty="0">
                <a:latin typeface="Times New Roman" pitchFamily="18" charset="0"/>
              </a:rPr>
              <a:t>,u</a:t>
            </a:r>
            <a:r>
              <a:rPr kumimoji="1" lang="en-US" altLang="zh-CN" sz="3200" b="1" baseline="-25000" dirty="0">
                <a:latin typeface="Times New Roman" pitchFamily="18" charset="0"/>
              </a:rPr>
              <a:t>2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itchFamily="18" charset="0"/>
              </a:rPr>
              <a:t>3</a:t>
            </a:r>
            <a:r>
              <a:rPr kumimoji="1" lang="en-US" altLang="zh-CN" sz="3200" b="1" dirty="0">
                <a:latin typeface="Times New Roman" pitchFamily="18" charset="0"/>
              </a:rPr>
              <a:t>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itchFamily="18" charset="0"/>
              </a:rPr>
              <a:t>4</a:t>
            </a:r>
            <a:r>
              <a:rPr kumimoji="1" lang="en-US" altLang="zh-CN" sz="3200" b="1" dirty="0">
                <a:latin typeface="Times New Roman" pitchFamily="18" charset="0"/>
              </a:rPr>
              <a:t> 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itchFamily="18" charset="0"/>
              </a:rPr>
              <a:t>5</a:t>
            </a:r>
            <a:r>
              <a:rPr kumimoji="1" lang="en-US" altLang="zh-CN" sz="3200" b="1" dirty="0">
                <a:latin typeface="Times New Roman" pitchFamily="18" charset="0"/>
              </a:rPr>
              <a:t> , 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itchFamily="18" charset="0"/>
              </a:rPr>
              <a:t>6</a:t>
            </a:r>
            <a:r>
              <a:rPr kumimoji="1" lang="en-US" altLang="zh-CN" sz="3200" b="1" dirty="0">
                <a:latin typeface="Times New Roman" pitchFamily="18" charset="0"/>
              </a:rPr>
              <a:t>} = </a:t>
            </a:r>
            <a:r>
              <a:rPr kumimoji="1" lang="en-US" altLang="zh-CN" sz="3200" b="1" i="1" dirty="0">
                <a:solidFill>
                  <a:srgbClr val="FF0000"/>
                </a:solidFill>
              </a:rPr>
              <a:t>U</a:t>
            </a:r>
            <a:r>
              <a:rPr kumimoji="1" lang="en-US" altLang="zh-CN" sz="3200" b="1" dirty="0"/>
              <a:t>.</a:t>
            </a:r>
            <a:endParaRPr lang="zh-CN" altLang="en-US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C2E3D7-44C7-B758-03CB-FC199A6DC9D1}"/>
              </a:ext>
            </a:extLst>
          </p:cNvPr>
          <p:cNvSpPr txBox="1"/>
          <p:nvPr/>
        </p:nvSpPr>
        <p:spPr>
          <a:xfrm>
            <a:off x="5781463" y="5365200"/>
            <a:ext cx="1493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latin typeface="Times New Roman" pitchFamily="18" charset="0"/>
              </a:rPr>
              <a:t>{</a:t>
            </a:r>
            <a:r>
              <a:rPr kumimoji="1" lang="en-US" altLang="zh-CN" sz="3200" b="1" i="1" dirty="0">
                <a:latin typeface="Times New Roman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itchFamily="18" charset="0"/>
              </a:rPr>
              <a:t>6</a:t>
            </a:r>
            <a:r>
              <a:rPr kumimoji="1" lang="en-US" altLang="zh-CN" sz="3200" b="1" dirty="0">
                <a:latin typeface="Times New Roman" pitchFamily="18" charset="0"/>
              </a:rPr>
              <a:t>},</a:t>
            </a:r>
            <a:endParaRPr lang="zh-CN" alt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A23036-DC25-ACE5-F461-E2B6D99CB106}"/>
              </a:ext>
            </a:extLst>
          </p:cNvPr>
          <p:cNvSpPr txBox="1"/>
          <p:nvPr/>
        </p:nvSpPr>
        <p:spPr>
          <a:xfrm>
            <a:off x="5782998" y="6003513"/>
            <a:ext cx="21852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Ø</a:t>
            </a:r>
            <a:r>
              <a:rPr kumimoji="1" lang="en-US" altLang="zh-CN" sz="3200" dirty="0">
                <a:solidFill>
                  <a:srgbClr val="FF0000"/>
                </a:solidFill>
              </a:rPr>
              <a:t> </a:t>
            </a:r>
            <a:r>
              <a:rPr kumimoji="1" lang="en-US" altLang="zh-CN" sz="3200" b="1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Ker(A)</a:t>
            </a:r>
            <a:endParaRPr lang="zh-CN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4B76C-C608-2D0C-6B37-B5A2BF04A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539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build="p" autoUpdateAnimBg="0"/>
      <p:bldP spid="49159" grpId="0" uiExpand="1" build="p" autoUpdateAnimBg="0"/>
      <p:bldP spid="3" grpId="0"/>
      <p:bldP spid="5" grpId="0"/>
      <p:bldP spid="7" grpId="0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36879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模糊截集的性质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347434"/>
            <a:ext cx="10945216" cy="5373687"/>
          </a:xfrm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宋体" pitchFamily="2" charset="-122"/>
              </a:rPr>
              <a:t>设</a:t>
            </a:r>
            <a:r>
              <a:rPr lang="en-US" altLang="zh-CN" sz="3200" b="1" i="1" dirty="0"/>
              <a:t>A</a:t>
            </a:r>
            <a:r>
              <a:rPr lang="en-US" altLang="zh-CN" sz="3200" b="1" dirty="0"/>
              <a:t>, </a:t>
            </a:r>
            <a:r>
              <a:rPr lang="en-US" altLang="zh-CN" sz="3200" b="1" i="1" dirty="0"/>
              <a:t>B</a:t>
            </a:r>
            <a:r>
              <a:rPr lang="en-US" altLang="zh-CN" sz="3200" b="1" dirty="0"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200" b="1" dirty="0">
                <a:sym typeface="Symbol" pitchFamily="18" charset="2"/>
              </a:rPr>
              <a:t>(</a:t>
            </a:r>
            <a:r>
              <a:rPr lang="en-US" altLang="zh-CN" sz="3200" b="1" i="1" dirty="0">
                <a:sym typeface="Symbol" pitchFamily="18" charset="2"/>
              </a:rPr>
              <a:t>U</a:t>
            </a:r>
            <a:r>
              <a:rPr lang="en-US" altLang="zh-CN" sz="3200" b="1" dirty="0">
                <a:sym typeface="Symbol" pitchFamily="18" charset="2"/>
              </a:rPr>
              <a:t>) </a:t>
            </a:r>
            <a:r>
              <a:rPr lang="zh-CN" altLang="en-US" sz="3200" b="1" dirty="0">
                <a:sym typeface="Symbol" pitchFamily="18" charset="2"/>
              </a:rPr>
              <a:t>，</a:t>
            </a:r>
            <a:r>
              <a:rPr lang="zh-CN" altLang="en-US" sz="3200" b="1" dirty="0">
                <a:latin typeface="宋体" pitchFamily="2" charset="-122"/>
                <a:sym typeface="Symbol" pitchFamily="18" charset="2"/>
              </a:rPr>
              <a:t></a:t>
            </a:r>
            <a:r>
              <a:rPr lang="en-US" altLang="zh-CN" sz="3200" b="1" dirty="0">
                <a:latin typeface="宋体" pitchFamily="2" charset="-122"/>
                <a:sym typeface="Symbol" pitchFamily="18" charset="2"/>
              </a:rPr>
              <a:t>,</a:t>
            </a:r>
            <a:r>
              <a:rPr lang="en-US" altLang="zh-CN" sz="3200" b="1" dirty="0"/>
              <a:t>[0,1]</a:t>
            </a:r>
            <a:endParaRPr lang="en-US" altLang="zh-CN" sz="3200" b="1" dirty="0">
              <a:latin typeface="宋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</a:rPr>
              <a:t>性质</a:t>
            </a:r>
            <a:r>
              <a:rPr kumimoji="1" lang="en-US" altLang="zh-CN" sz="2800" b="1" dirty="0">
                <a:solidFill>
                  <a:srgbClr val="0000FF"/>
                </a:solidFill>
              </a:rPr>
              <a:t>1:</a:t>
            </a:r>
            <a:r>
              <a:rPr kumimoji="1" lang="en-US" altLang="zh-CN" sz="2800" b="1" dirty="0"/>
              <a:t>  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dirty="0">
                <a:sym typeface="Symbol" pitchFamily="18" charset="2"/>
              </a:rPr>
              <a:t>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itchFamily="18" charset="2"/>
              </a:rPr>
              <a:t> 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en-US" altLang="zh-CN" sz="2800" b="1" dirty="0">
                <a:sym typeface="Symbol" pitchFamily="18" charset="2"/>
              </a:rPr>
              <a:t>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endParaRPr kumimoji="1" lang="en-US" altLang="zh-CN" sz="2800" b="1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</a:rPr>
              <a:t>性质</a:t>
            </a:r>
            <a:r>
              <a:rPr kumimoji="1" lang="en-US" altLang="zh-CN" sz="2800" b="1" dirty="0">
                <a:solidFill>
                  <a:srgbClr val="0000FF"/>
                </a:solidFill>
              </a:rPr>
              <a:t>2:</a:t>
            </a:r>
            <a:r>
              <a:rPr kumimoji="1" lang="en-US" altLang="zh-CN" sz="2800" b="1" dirty="0"/>
              <a:t>  </a:t>
            </a:r>
            <a:r>
              <a:rPr kumimoji="1" lang="en-US" altLang="zh-CN" sz="2800" b="1" dirty="0">
                <a:sym typeface="Symbol" pitchFamily="18" charset="2"/>
              </a:rPr>
              <a:t> </a:t>
            </a:r>
            <a:r>
              <a:rPr kumimoji="1" lang="en-US" altLang="zh-CN" sz="2800" b="1" dirty="0"/>
              <a:t>≤ </a:t>
            </a:r>
            <a:r>
              <a:rPr kumimoji="1" lang="en-US" altLang="zh-CN" sz="2800" b="1" dirty="0">
                <a:sym typeface="Symbol" pitchFamily="18" charset="2"/>
              </a:rPr>
              <a:t>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itchFamily="18" charset="2"/>
              </a:rPr>
              <a:t> 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en-US" altLang="zh-CN" sz="2800" b="1" dirty="0">
                <a:sym typeface="Symbol" pitchFamily="18" charset="2"/>
              </a:rPr>
              <a:t> </a:t>
            </a:r>
            <a:r>
              <a:rPr kumimoji="1" lang="en-US" altLang="zh-CN" sz="2800" b="1" i="1" dirty="0">
                <a:sym typeface="Symbol" pitchFamily="18" charset="2"/>
              </a:rPr>
              <a:t>A</a:t>
            </a:r>
            <a:r>
              <a:rPr kumimoji="1" lang="en-US" altLang="zh-CN" sz="2800" b="1" baseline="-25000" dirty="0">
                <a:sym typeface="Symbol" pitchFamily="18" charset="2"/>
              </a:rPr>
              <a:t></a:t>
            </a:r>
            <a:endParaRPr kumimoji="1" lang="en-US" altLang="zh-CN" sz="2800" b="1" dirty="0"/>
          </a:p>
          <a:p>
            <a:pPr lvl="1" eaLnBrk="1" hangingPunct="1">
              <a:buNone/>
            </a:pPr>
            <a:r>
              <a:rPr kumimoji="1" lang="zh-CN" altLang="en-US" sz="2800" b="1" dirty="0">
                <a:solidFill>
                  <a:srgbClr val="0000FF"/>
                </a:solidFill>
              </a:rPr>
              <a:t>性质</a:t>
            </a:r>
            <a:r>
              <a:rPr kumimoji="1" lang="en-US" altLang="zh-CN" sz="2800" b="1" dirty="0">
                <a:solidFill>
                  <a:srgbClr val="0000FF"/>
                </a:solidFill>
              </a:rPr>
              <a:t>3:</a:t>
            </a:r>
            <a:r>
              <a:rPr kumimoji="1" lang="en-US" altLang="zh-CN" sz="2800" b="1" dirty="0"/>
              <a:t>  (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dirty="0">
                <a:sym typeface="Symbol"/>
              </a:rPr>
              <a:t>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dirty="0">
                <a:sym typeface="Symbol" pitchFamily="18" charset="2"/>
              </a:rPr>
              <a:t>) 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en-US" altLang="zh-CN" sz="2800" b="1" dirty="0">
                <a:sym typeface="Symbol" pitchFamily="18" charset="2"/>
              </a:rPr>
              <a:t>= 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en-US" altLang="zh-CN" sz="2800" b="1" dirty="0">
                <a:sym typeface="Symbol"/>
              </a:rPr>
              <a:t>  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zh-CN" altLang="en-US" sz="2800" b="1" dirty="0">
                <a:sym typeface="Symbol" pitchFamily="18" charset="2"/>
              </a:rPr>
              <a:t>，</a:t>
            </a:r>
            <a:r>
              <a:rPr kumimoji="1" lang="en-US" altLang="zh-CN" sz="2800" b="1" dirty="0"/>
              <a:t>(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dirty="0">
                <a:sym typeface="Symbol"/>
              </a:rPr>
              <a:t>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dirty="0">
                <a:sym typeface="Symbol" pitchFamily="18" charset="2"/>
              </a:rPr>
              <a:t>) 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en-US" altLang="zh-CN" sz="2800" b="1" dirty="0">
                <a:sym typeface="Symbol" pitchFamily="18" charset="2"/>
              </a:rPr>
              <a:t>= 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r>
              <a:rPr kumimoji="1" lang="en-US" altLang="zh-CN" sz="2800" b="1" dirty="0">
                <a:sym typeface="Symbol"/>
              </a:rPr>
              <a:t>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baseline="-25000" dirty="0">
                <a:sym typeface="Symbol" pitchFamily="18" charset="2"/>
              </a:rPr>
              <a:t></a:t>
            </a:r>
            <a:endParaRPr kumimoji="1" lang="en-US" altLang="zh-CN" sz="2800" b="1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sym typeface="Symbol" pitchFamily="18" charset="2"/>
              </a:rPr>
              <a:t>性质</a:t>
            </a:r>
            <a:r>
              <a:rPr kumimoji="1" lang="en-US" altLang="zh-CN" sz="2800" b="1" dirty="0">
                <a:solidFill>
                  <a:srgbClr val="0000FF"/>
                </a:solidFill>
                <a:sym typeface="Symbol" pitchFamily="18" charset="2"/>
              </a:rPr>
              <a:t>4:</a:t>
            </a:r>
            <a:r>
              <a:rPr kumimoji="1" lang="en-US" altLang="zh-CN" sz="2800" b="1" dirty="0">
                <a:sym typeface="Symbol" pitchFamily="18" charset="2"/>
              </a:rPr>
              <a:t>  </a:t>
            </a:r>
            <a:r>
              <a:rPr kumimoji="1" lang="zh-CN" altLang="en-US" sz="2800" b="1" dirty="0">
                <a:sym typeface="Symbol" pitchFamily="18" charset="2"/>
              </a:rPr>
              <a:t>设</a:t>
            </a:r>
            <a:r>
              <a:rPr kumimoji="1" lang="en-US" altLang="zh-CN" sz="2800" b="1" dirty="0">
                <a:sym typeface="Symbol" pitchFamily="18" charset="2"/>
              </a:rPr>
              <a:t>{</a:t>
            </a:r>
            <a:r>
              <a:rPr kumimoji="1" lang="en-US" altLang="zh-CN" sz="2800" b="1" i="1" dirty="0">
                <a:sym typeface="Symbol" pitchFamily="18" charset="2"/>
              </a:rPr>
              <a:t>A</a:t>
            </a:r>
            <a:r>
              <a:rPr kumimoji="1" lang="en-US" altLang="zh-CN" sz="2800" b="1" i="1" baseline="-25000" dirty="0">
                <a:sym typeface="Symbol" pitchFamily="18" charset="2"/>
              </a:rPr>
              <a:t>t</a:t>
            </a:r>
            <a:r>
              <a:rPr kumimoji="1" lang="en-US" altLang="zh-CN" sz="2800" b="1" baseline="-25000" dirty="0">
                <a:sym typeface="Symbol" pitchFamily="18" charset="2"/>
              </a:rPr>
              <a:t> </a:t>
            </a:r>
            <a:r>
              <a:rPr kumimoji="1" lang="en-US" altLang="zh-CN" sz="2800" b="1" dirty="0">
                <a:sym typeface="Symbol" pitchFamily="18" charset="2"/>
              </a:rPr>
              <a:t>| </a:t>
            </a:r>
            <a:r>
              <a:rPr kumimoji="1" lang="en-US" altLang="zh-CN" sz="2800" b="1" i="1" dirty="0" err="1">
                <a:sym typeface="Symbol" pitchFamily="18" charset="2"/>
              </a:rPr>
              <a:t>t</a:t>
            </a:r>
            <a:r>
              <a:rPr kumimoji="1" lang="en-US" altLang="zh-CN" sz="2800" dirty="0" err="1">
                <a:ea typeface="黑体" pitchFamily="49" charset="-122"/>
                <a:sym typeface="Symbol" pitchFamily="18" charset="2"/>
              </a:rPr>
              <a:t>T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} </a:t>
            </a:r>
            <a:r>
              <a:rPr kumimoji="1" lang="en-US" altLang="zh-CN" sz="2800" b="1" dirty="0">
                <a:sym typeface="Symbol" pitchFamily="18" charset="2"/>
              </a:rPr>
              <a:t> </a:t>
            </a:r>
            <a:r>
              <a:rPr lang="en-US" altLang="zh-CN" sz="28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i="1" dirty="0">
                <a:sym typeface="Symbol" pitchFamily="18" charset="2"/>
              </a:rPr>
              <a:t>U </a:t>
            </a:r>
            <a:r>
              <a:rPr lang="en-US" altLang="zh-CN" sz="2800" b="1" dirty="0">
                <a:sym typeface="Symbol" pitchFamily="18" charset="2"/>
              </a:rPr>
              <a:t>), </a:t>
            </a:r>
            <a:r>
              <a:rPr lang="zh-CN" altLang="en-US" sz="2800" b="1" dirty="0">
                <a:sym typeface="Symbol" pitchFamily="18" charset="2"/>
              </a:rPr>
              <a:t>则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3200" b="1" dirty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1600" b="1" dirty="0"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kumimoji="1" lang="zh-CN" altLang="en-US" sz="1200" b="1" dirty="0">
              <a:sym typeface="Symbol" pitchFamily="18" charset="2"/>
            </a:endParaRPr>
          </a:p>
          <a:p>
            <a:pPr lvl="1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kumimoji="1" lang="zh-CN" altLang="en-US" b="1" dirty="0">
                <a:solidFill>
                  <a:srgbClr val="FF0000"/>
                </a:solidFill>
                <a:sym typeface="Symbol" pitchFamily="18" charset="2"/>
              </a:rPr>
              <a:t>上式表明：</a:t>
            </a:r>
          </a:p>
          <a:p>
            <a:pPr lvl="1" eaLnBrk="1" hangingPunct="1">
              <a:lnSpc>
                <a:spcPct val="100000"/>
              </a:lnSpc>
            </a:pP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各模糊集</a:t>
            </a:r>
            <a:r>
              <a:rPr kumimoji="1" lang="zh-CN" altLang="en-US" b="1" u="sng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先“并”</a:t>
            </a:r>
            <a:r>
              <a:rPr kumimoji="1" lang="zh-CN" altLang="en-US" b="1" u="sng" dirty="0">
                <a:ea typeface="楷体_GB2312" pitchFamily="49" charset="-122"/>
                <a:sym typeface="Symbol" pitchFamily="18" charset="2"/>
              </a:rPr>
              <a:t>后求截集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所得的集合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包含</a:t>
            </a:r>
            <a:r>
              <a:rPr kumimoji="1" lang="zh-CN" altLang="en-US" b="1" u="sng" dirty="0">
                <a:ea typeface="楷体_GB2312" pitchFamily="49" charset="-122"/>
                <a:sym typeface="Symbol" pitchFamily="18" charset="2"/>
              </a:rPr>
              <a:t>先求截集</a:t>
            </a:r>
            <a:r>
              <a:rPr kumimoji="1" lang="zh-CN" altLang="en-US" b="1" u="sng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后“并”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得的集合；</a:t>
            </a:r>
          </a:p>
          <a:p>
            <a:pPr lvl="1" eaLnBrk="1" hangingPunct="1">
              <a:lnSpc>
                <a:spcPct val="100000"/>
              </a:lnSpc>
            </a:pP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而若是</a:t>
            </a:r>
            <a:r>
              <a:rPr kumimoji="1" lang="zh-CN" altLang="en-US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“交”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运算和截集，则运算次序无关。</a:t>
            </a:r>
          </a:p>
        </p:txBody>
      </p:sp>
      <p:graphicFrame>
        <p:nvGraphicFramePr>
          <p:cNvPr id="1229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41611231"/>
              </p:ext>
            </p:extLst>
          </p:nvPr>
        </p:nvGraphicFramePr>
        <p:xfrm>
          <a:off x="2639616" y="4005064"/>
          <a:ext cx="60944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1100" imgH="342900" progId="Equation.DSMT4">
                  <p:embed/>
                </p:oleObj>
              </mc:Choice>
              <mc:Fallback>
                <p:oleObj name="Equation" r:id="rId2" imgW="2451100" imgH="342900" progId="Equation.DSMT4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4005064"/>
                        <a:ext cx="6094413" cy="852487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4EFEEC-44C9-099E-3E42-2FFE272939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13190C-C567-4EEA-10A7-8368212EFDBB}"/>
              </a:ext>
            </a:extLst>
          </p:cNvPr>
          <p:cNvSpPr/>
          <p:nvPr/>
        </p:nvSpPr>
        <p:spPr>
          <a:xfrm>
            <a:off x="0" y="0"/>
            <a:ext cx="12192000" cy="1397001"/>
          </a:xfrm>
          <a:prstGeom prst="rect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eaLnBrk="1" hangingPunct="1">
              <a:buFont typeface="Wingdings" pitchFamily="2" charset="2"/>
              <a:buNone/>
            </a:pPr>
            <a:r>
              <a:rPr kumimoji="1" lang="zh-CN" altLang="en-US" sz="3600" b="1" dirty="0">
                <a:sym typeface="Symbol" pitchFamily="18" charset="2"/>
              </a:rPr>
              <a:t>设</a:t>
            </a:r>
            <a:r>
              <a:rPr kumimoji="1" lang="en-US" altLang="zh-CN" sz="3600" b="1" dirty="0">
                <a:sym typeface="Symbol" pitchFamily="18" charset="2"/>
              </a:rPr>
              <a:t>{</a:t>
            </a:r>
            <a:r>
              <a:rPr kumimoji="1" lang="en-US" altLang="zh-CN" sz="3600" b="1" i="1" dirty="0">
                <a:sym typeface="Symbol" pitchFamily="18" charset="2"/>
              </a:rPr>
              <a:t>A</a:t>
            </a:r>
            <a:r>
              <a:rPr kumimoji="1" lang="en-US" altLang="zh-CN" sz="3600" b="1" i="1" baseline="-25000" dirty="0">
                <a:sym typeface="Symbol" pitchFamily="18" charset="2"/>
              </a:rPr>
              <a:t>t</a:t>
            </a:r>
            <a:r>
              <a:rPr kumimoji="1" lang="en-US" altLang="zh-CN" sz="3600" b="1" baseline="-25000" dirty="0">
                <a:sym typeface="Symbol" pitchFamily="18" charset="2"/>
              </a:rPr>
              <a:t> </a:t>
            </a:r>
            <a:r>
              <a:rPr kumimoji="1" lang="en-US" altLang="zh-CN" sz="3600" b="1" dirty="0">
                <a:sym typeface="Symbol" pitchFamily="18" charset="2"/>
              </a:rPr>
              <a:t>| </a:t>
            </a:r>
            <a:r>
              <a:rPr kumimoji="1" lang="en-US" altLang="zh-CN" sz="3600" b="1" i="1" dirty="0" err="1">
                <a:sym typeface="Symbol" pitchFamily="18" charset="2"/>
              </a:rPr>
              <a:t>t</a:t>
            </a:r>
            <a:r>
              <a:rPr kumimoji="1" lang="en-US" altLang="zh-CN" sz="3600" dirty="0" err="1">
                <a:ea typeface="黑体" pitchFamily="49" charset="-122"/>
                <a:sym typeface="Symbol" pitchFamily="18" charset="2"/>
              </a:rPr>
              <a:t>T</a:t>
            </a:r>
            <a:r>
              <a:rPr kumimoji="1" lang="en-US" altLang="zh-CN" sz="3600" dirty="0">
                <a:ea typeface="黑体" pitchFamily="49" charset="-122"/>
                <a:sym typeface="Symbol" pitchFamily="18" charset="2"/>
              </a:rPr>
              <a:t> } </a:t>
            </a:r>
            <a:r>
              <a:rPr kumimoji="1" lang="en-US" altLang="zh-CN" sz="3600" b="1" dirty="0">
                <a:sym typeface="Symbol" pitchFamily="18" charset="2"/>
              </a:rPr>
              <a:t> </a:t>
            </a:r>
            <a:r>
              <a:rPr lang="en-US" altLang="zh-CN" sz="36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600" b="1" dirty="0">
                <a:sym typeface="Symbol" pitchFamily="18" charset="2"/>
              </a:rPr>
              <a:t>(</a:t>
            </a:r>
            <a:r>
              <a:rPr lang="en-US" altLang="zh-CN" sz="3600" b="1" i="1" dirty="0">
                <a:sym typeface="Symbol" pitchFamily="18" charset="2"/>
              </a:rPr>
              <a:t>U </a:t>
            </a:r>
            <a:r>
              <a:rPr lang="en-US" altLang="zh-CN" sz="3600" b="1" dirty="0">
                <a:sym typeface="Symbol" pitchFamily="18" charset="2"/>
              </a:rPr>
              <a:t>), </a:t>
            </a:r>
            <a:r>
              <a:rPr lang="zh-CN" altLang="en-US" sz="3600" b="1" dirty="0">
                <a:sym typeface="Symbol" pitchFamily="18" charset="2"/>
              </a:rPr>
              <a:t>则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11424" y="1585418"/>
            <a:ext cx="8229600" cy="41665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证明：</a:t>
            </a:r>
            <a:endParaRPr lang="en-US" altLang="zh-CN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/>
              </a:rPr>
              <a:t>      </a:t>
            </a:r>
            <a:r>
              <a:rPr lang="zh-CN" altLang="en-US" dirty="0">
                <a:sym typeface="Symbol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altLang="zh-CN" dirty="0" err="1">
                <a:sym typeface="Symbol"/>
              </a:rPr>
              <a:t></a:t>
            </a:r>
            <a:r>
              <a:rPr lang="en-US" altLang="zh-CN" i="1" dirty="0" err="1">
                <a:sym typeface="Symbol"/>
              </a:rPr>
              <a:t>U</a:t>
            </a:r>
            <a:r>
              <a:rPr lang="en-US" altLang="zh-CN" dirty="0">
                <a:sym typeface="Symbol"/>
              </a:rPr>
              <a:t>, 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76627343"/>
              </p:ext>
            </p:extLst>
          </p:nvPr>
        </p:nvGraphicFramePr>
        <p:xfrm>
          <a:off x="3627663" y="2132856"/>
          <a:ext cx="1733597" cy="844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342720" progId="Equation.DSMT4">
                  <p:embed/>
                </p:oleObj>
              </mc:Choice>
              <mc:Fallback>
                <p:oleObj name="Equation" r:id="rId2" imgW="749160" imgH="342720" progId="Equation.DSMT4">
                  <p:embed/>
                  <p:pic>
                    <p:nvPicPr>
                      <p:cNvPr id="8" name="对象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663" y="2132856"/>
                        <a:ext cx="1733597" cy="84420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077924975"/>
              </p:ext>
            </p:extLst>
          </p:nvPr>
        </p:nvGraphicFramePr>
        <p:xfrm>
          <a:off x="3280768" y="3013075"/>
          <a:ext cx="26828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228600" progId="Equation.DSMT4">
                  <p:embed/>
                </p:oleObj>
              </mc:Choice>
              <mc:Fallback>
                <p:oleObj name="Equation" r:id="rId4" imgW="1218960" imgH="228600" progId="Equation.DSMT4">
                  <p:embed/>
                  <p:pic>
                    <p:nvPicPr>
                      <p:cNvPr id="9" name="对象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768" y="3013075"/>
                        <a:ext cx="2682875" cy="534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3504772"/>
              </p:ext>
            </p:extLst>
          </p:nvPr>
        </p:nvGraphicFramePr>
        <p:xfrm>
          <a:off x="3255368" y="3668714"/>
          <a:ext cx="27638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28600" progId="Equation.DSMT4">
                  <p:embed/>
                </p:oleObj>
              </mc:Choice>
              <mc:Fallback>
                <p:oleObj name="Equation" r:id="rId6" imgW="1257120" imgH="228600" progId="Equation.DSMT4">
                  <p:embed/>
                  <p:pic>
                    <p:nvPicPr>
                      <p:cNvPr id="10" name="对象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368" y="3668714"/>
                        <a:ext cx="2763837" cy="536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18481170"/>
              </p:ext>
            </p:extLst>
          </p:nvPr>
        </p:nvGraphicFramePr>
        <p:xfrm>
          <a:off x="3240360" y="4332289"/>
          <a:ext cx="212090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160" imgH="279360" progId="Equation.DSMT4">
                  <p:embed/>
                </p:oleObj>
              </mc:Choice>
              <mc:Fallback>
                <p:oleObj name="Equation" r:id="rId8" imgW="965160" imgH="279360" progId="Equation.DSMT4">
                  <p:embed/>
                  <p:pic>
                    <p:nvPicPr>
                      <p:cNvPr id="11" name="对象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360" y="4332289"/>
                        <a:ext cx="2120900" cy="655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55610240"/>
              </p:ext>
            </p:extLst>
          </p:nvPr>
        </p:nvGraphicFramePr>
        <p:xfrm>
          <a:off x="3215680" y="5122863"/>
          <a:ext cx="24177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342720" progId="Equation.DSMT4">
                  <p:embed/>
                </p:oleObj>
              </mc:Choice>
              <mc:Fallback>
                <p:oleObj name="Equation" r:id="rId10" imgW="1079280" imgH="342720" progId="Equation.DSMT4">
                  <p:embed/>
                  <p:pic>
                    <p:nvPicPr>
                      <p:cNvPr id="12" name="对象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122863"/>
                        <a:ext cx="2417763" cy="7921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15826699"/>
              </p:ext>
            </p:extLst>
          </p:nvPr>
        </p:nvGraphicFramePr>
        <p:xfrm>
          <a:off x="5570737" y="229657"/>
          <a:ext cx="3570287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342720" progId="Equation.DSMT4">
                  <p:embed/>
                </p:oleObj>
              </mc:Choice>
              <mc:Fallback>
                <p:oleObj name="Equation" r:id="rId12" imgW="1143000" imgH="342720" progId="Equation.DSMT4">
                  <p:embed/>
                  <p:pic>
                    <p:nvPicPr>
                      <p:cNvPr id="13" name="对象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737" y="229657"/>
                        <a:ext cx="3570287" cy="1068388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58728366"/>
              </p:ext>
            </p:extLst>
          </p:nvPr>
        </p:nvGraphicFramePr>
        <p:xfrm>
          <a:off x="3225156" y="5949281"/>
          <a:ext cx="210343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9600" imgH="342720" progId="Equation.DSMT4">
                  <p:embed/>
                </p:oleObj>
              </mc:Choice>
              <mc:Fallback>
                <p:oleObj name="Equation" r:id="rId14" imgW="939600" imgH="342720" progId="Equation.DSMT4">
                  <p:embed/>
                  <p:pic>
                    <p:nvPicPr>
                      <p:cNvPr id="15" name="对象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156" y="5949281"/>
                        <a:ext cx="2103437" cy="7921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48C0C90B-7353-4D53-8C02-3C0070AC68F5}"/>
              </a:ext>
            </a:extLst>
          </p:cNvPr>
          <p:cNvSpPr/>
          <p:nvPr/>
        </p:nvSpPr>
        <p:spPr>
          <a:xfrm>
            <a:off x="7248128" y="2095553"/>
            <a:ext cx="4609135" cy="108965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+mj-lt"/>
                <a:sym typeface="Symbol" panose="05050102010706020507" pitchFamily="18" charset="2"/>
              </a:rPr>
              <a:t>方法：</a:t>
            </a:r>
            <a:endParaRPr lang="en-US" altLang="zh-CN" sz="3200" b="1" dirty="0">
              <a:latin typeface="+mj-lt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3200" b="1" i="1" dirty="0">
                <a:latin typeface="+mj-lt"/>
                <a:sym typeface="Symbol" panose="05050102010706020507" pitchFamily="18" charset="2"/>
              </a:rPr>
              <a:t>X</a:t>
            </a:r>
            <a:r>
              <a:rPr lang="en-US" altLang="zh-CN" sz="3200" b="1" dirty="0">
                <a:latin typeface="+mj-lt"/>
                <a:sym typeface="Symbol" panose="05050102010706020507" pitchFamily="18" charset="2"/>
              </a:rPr>
              <a:t>=</a:t>
            </a:r>
            <a:r>
              <a:rPr lang="en-US" altLang="zh-CN" sz="3200" b="1" i="1" dirty="0">
                <a:latin typeface="+mj-lt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latin typeface="+mj-lt"/>
                <a:sym typeface="Symbol" panose="05050102010706020507" pitchFamily="18" charset="2"/>
              </a:rPr>
              <a:t> </a:t>
            </a:r>
            <a:r>
              <a:rPr lang="en-US" altLang="zh-CN" sz="3200" b="1" i="1" dirty="0">
                <a:latin typeface="+mj-lt"/>
                <a:sym typeface="Symbol" panose="05050102010706020507" pitchFamily="18" charset="2"/>
              </a:rPr>
              <a:t>x</a:t>
            </a:r>
            <a:r>
              <a:rPr lang="en-US" altLang="zh-CN" sz="3200" b="1" dirty="0"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CN" sz="3200" b="1" i="1" dirty="0" err="1">
                <a:latin typeface="+mj-lt"/>
                <a:sym typeface="Symbol" panose="05050102010706020507" pitchFamily="18" charset="2"/>
              </a:rPr>
              <a:t>x</a:t>
            </a:r>
            <a:r>
              <a:rPr lang="en-US" altLang="zh-CN" sz="3200" b="1" dirty="0" err="1">
                <a:latin typeface="+mj-lt"/>
                <a:sym typeface="Symbol" panose="05050102010706020507" pitchFamily="18" charset="2"/>
              </a:rPr>
              <a:t></a:t>
            </a:r>
            <a:r>
              <a:rPr lang="en-US" altLang="zh-CN" sz="3200" b="1" i="1" dirty="0" err="1">
                <a:latin typeface="+mj-lt"/>
                <a:sym typeface="Symbol" panose="05050102010706020507" pitchFamily="18" charset="2"/>
              </a:rPr>
              <a:t>X</a:t>
            </a:r>
            <a:r>
              <a:rPr lang="en-US" altLang="zh-CN" sz="3200" b="1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</a:t>
            </a:r>
            <a:r>
              <a:rPr lang="en-US" altLang="zh-CN" sz="3200" b="1" i="1" dirty="0" err="1">
                <a:latin typeface="+mj-lt"/>
                <a:sym typeface="Symbol" panose="05050102010706020507" pitchFamily="18" charset="2"/>
              </a:rPr>
              <a:t>x</a:t>
            </a:r>
            <a:r>
              <a:rPr lang="en-US" altLang="zh-CN" sz="3200" b="1" dirty="0" err="1">
                <a:latin typeface="+mj-lt"/>
                <a:sym typeface="Symbol" panose="05050102010706020507" pitchFamily="18" charset="2"/>
              </a:rPr>
              <a:t></a:t>
            </a:r>
            <a:r>
              <a:rPr lang="en-US" altLang="zh-CN" sz="3200" b="1" i="1" dirty="0" err="1">
                <a:latin typeface="+mj-lt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latin typeface="+mj-lt"/>
                <a:sym typeface="Symbol" panose="05050102010706020507" pitchFamily="18" charset="2"/>
              </a:rPr>
              <a:t>)</a:t>
            </a:r>
            <a:endParaRPr lang="en-US" altLang="zh-CN" sz="3200" b="1" dirty="0">
              <a:solidFill>
                <a:srgbClr val="333300"/>
              </a:solidFill>
              <a:latin typeface="+mj-lt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9BBA81-8F42-6D29-0D94-1C3BB3629A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663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CFB49E5-FFBC-4191-2549-AB717BC85BF3}"/>
              </a:ext>
            </a:extLst>
          </p:cNvPr>
          <p:cNvSpPr/>
          <p:nvPr/>
        </p:nvSpPr>
        <p:spPr>
          <a:xfrm>
            <a:off x="0" y="0"/>
            <a:ext cx="12192000" cy="1397001"/>
          </a:xfrm>
          <a:prstGeom prst="rect">
            <a:avLst/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eaLnBrk="1" hangingPunct="1">
              <a:buFont typeface="Wingdings" pitchFamily="2" charset="2"/>
              <a:buNone/>
            </a:pPr>
            <a:r>
              <a:rPr kumimoji="1" lang="zh-CN" altLang="en-US" sz="3600" b="1">
                <a:sym typeface="Symbol" pitchFamily="18" charset="2"/>
              </a:rPr>
              <a:t>设</a:t>
            </a:r>
            <a:r>
              <a:rPr kumimoji="1" lang="en-US" altLang="zh-CN" sz="3600" b="1">
                <a:sym typeface="Symbol" pitchFamily="18" charset="2"/>
              </a:rPr>
              <a:t>{</a:t>
            </a:r>
            <a:r>
              <a:rPr kumimoji="1" lang="en-US" altLang="zh-CN" sz="3600" b="1" i="1">
                <a:sym typeface="Symbol" pitchFamily="18" charset="2"/>
              </a:rPr>
              <a:t>A</a:t>
            </a:r>
            <a:r>
              <a:rPr kumimoji="1" lang="en-US" altLang="zh-CN" sz="3600" b="1" i="1" baseline="-25000">
                <a:sym typeface="Symbol" pitchFamily="18" charset="2"/>
              </a:rPr>
              <a:t>t</a:t>
            </a:r>
            <a:r>
              <a:rPr kumimoji="1" lang="en-US" altLang="zh-CN" sz="3600" b="1" baseline="-25000">
                <a:sym typeface="Symbol" pitchFamily="18" charset="2"/>
              </a:rPr>
              <a:t> </a:t>
            </a:r>
            <a:r>
              <a:rPr kumimoji="1" lang="en-US" altLang="zh-CN" sz="3600" b="1">
                <a:sym typeface="Symbol" pitchFamily="18" charset="2"/>
              </a:rPr>
              <a:t>| </a:t>
            </a:r>
            <a:r>
              <a:rPr kumimoji="1" lang="en-US" altLang="zh-CN" sz="3600" b="1" i="1">
                <a:sym typeface="Symbol" pitchFamily="18" charset="2"/>
              </a:rPr>
              <a:t>t</a:t>
            </a:r>
            <a:r>
              <a:rPr kumimoji="1" lang="en-US" altLang="zh-CN" sz="3600">
                <a:ea typeface="黑体" pitchFamily="49" charset="-122"/>
                <a:sym typeface="Symbol" pitchFamily="18" charset="2"/>
              </a:rPr>
              <a:t>T } </a:t>
            </a:r>
            <a:r>
              <a:rPr kumimoji="1" lang="en-US" altLang="zh-CN" sz="3600" b="1">
                <a:sym typeface="Symbol" pitchFamily="18" charset="2"/>
              </a:rPr>
              <a:t> </a:t>
            </a:r>
            <a:r>
              <a:rPr lang="en-US" altLang="zh-CN" sz="3600" b="1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600" b="1">
                <a:sym typeface="Symbol" pitchFamily="18" charset="2"/>
              </a:rPr>
              <a:t>(</a:t>
            </a:r>
            <a:r>
              <a:rPr lang="en-US" altLang="zh-CN" sz="3600" b="1" i="1">
                <a:sym typeface="Symbol" pitchFamily="18" charset="2"/>
              </a:rPr>
              <a:t>U </a:t>
            </a:r>
            <a:r>
              <a:rPr lang="en-US" altLang="zh-CN" sz="3600" b="1">
                <a:sym typeface="Symbol" pitchFamily="18" charset="2"/>
              </a:rPr>
              <a:t>), </a:t>
            </a:r>
            <a:r>
              <a:rPr lang="zh-CN" altLang="en-US" sz="3600" b="1">
                <a:sym typeface="Symbol" pitchFamily="18" charset="2"/>
              </a:rPr>
              <a:t>则</a:t>
            </a:r>
            <a:endParaRPr lang="zh-CN" altLang="en-US" sz="3600" b="1" dirty="0">
              <a:sym typeface="Symbol" pitchFamily="18" charset="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19536" y="185192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证明</a:t>
            </a:r>
            <a:r>
              <a:rPr lang="zh-CN" altLang="en-US" dirty="0"/>
              <a:t>：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35360" y="1564133"/>
            <a:ext cx="8229600" cy="41665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证明：</a:t>
            </a:r>
            <a:endParaRPr lang="en-US" altLang="zh-CN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/>
              </a:rPr>
              <a:t>      </a:t>
            </a:r>
            <a:r>
              <a:rPr lang="zh-CN" altLang="en-US" dirty="0">
                <a:sym typeface="Symbol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altLang="zh-CN" dirty="0" err="1">
                <a:sym typeface="Symbol"/>
              </a:rPr>
              <a:t></a:t>
            </a:r>
            <a:r>
              <a:rPr lang="en-US" altLang="zh-CN" i="1" dirty="0" err="1">
                <a:sym typeface="Symbol"/>
              </a:rPr>
              <a:t>U</a:t>
            </a:r>
            <a:r>
              <a:rPr lang="en-US" altLang="zh-CN" dirty="0">
                <a:sym typeface="Symbol"/>
              </a:rPr>
              <a:t>, 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72929226"/>
              </p:ext>
            </p:extLst>
          </p:nvPr>
        </p:nvGraphicFramePr>
        <p:xfrm>
          <a:off x="5641226" y="225098"/>
          <a:ext cx="36036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342720" progId="Equation.DSMT4">
                  <p:embed/>
                </p:oleObj>
              </mc:Choice>
              <mc:Fallback>
                <p:oleObj name="Equation" r:id="rId2" imgW="1180800" imgH="342720" progId="Equation.DSMT4">
                  <p:embed/>
                  <p:pic>
                    <p:nvPicPr>
                      <p:cNvPr id="7" name="对象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226" y="225098"/>
                        <a:ext cx="3603625" cy="1081088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3759103"/>
              </p:ext>
            </p:extLst>
          </p:nvPr>
        </p:nvGraphicFramePr>
        <p:xfrm>
          <a:off x="3246166" y="2090401"/>
          <a:ext cx="1910805" cy="930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342720" progId="Equation.DSMT4">
                  <p:embed/>
                </p:oleObj>
              </mc:Choice>
              <mc:Fallback>
                <p:oleObj name="Equation" r:id="rId4" imgW="749160" imgH="342720" progId="Equation.DSMT4">
                  <p:embed/>
                  <p:pic>
                    <p:nvPicPr>
                      <p:cNvPr id="8" name="对象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166" y="2090401"/>
                        <a:ext cx="1910805" cy="93049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013959313"/>
              </p:ext>
            </p:extLst>
          </p:nvPr>
        </p:nvGraphicFramePr>
        <p:xfrm>
          <a:off x="2674443" y="3098239"/>
          <a:ext cx="27955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241200" progId="Equation.DSMT4">
                  <p:embed/>
                </p:oleObj>
              </mc:Choice>
              <mc:Fallback>
                <p:oleObj name="Equation" r:id="rId6" imgW="1269720" imgH="241200" progId="Equation.DSMT4">
                  <p:embed/>
                  <p:pic>
                    <p:nvPicPr>
                      <p:cNvPr id="9" name="对象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443" y="3098239"/>
                        <a:ext cx="2795587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86596036"/>
              </p:ext>
            </p:extLst>
          </p:nvPr>
        </p:nvGraphicFramePr>
        <p:xfrm>
          <a:off x="2658244" y="3863284"/>
          <a:ext cx="29337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241200" progId="Equation.DSMT4">
                  <p:embed/>
                </p:oleObj>
              </mc:Choice>
              <mc:Fallback>
                <p:oleObj name="Equation" r:id="rId8" imgW="1333440" imgH="241200" progId="Equation.DSMT4">
                  <p:embed/>
                  <p:pic>
                    <p:nvPicPr>
                      <p:cNvPr id="10" name="对象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8244" y="3863284"/>
                        <a:ext cx="2933700" cy="566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04664160"/>
              </p:ext>
            </p:extLst>
          </p:nvPr>
        </p:nvGraphicFramePr>
        <p:xfrm>
          <a:off x="2652217" y="4581128"/>
          <a:ext cx="212090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160" imgH="279360" progId="Equation.DSMT4">
                  <p:embed/>
                </p:oleObj>
              </mc:Choice>
              <mc:Fallback>
                <p:oleObj name="Equation" r:id="rId10" imgW="965160" imgH="279360" progId="Equation.DSMT4">
                  <p:embed/>
                  <p:pic>
                    <p:nvPicPr>
                      <p:cNvPr id="11" name="对象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217" y="4581128"/>
                        <a:ext cx="2120900" cy="655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29569884"/>
              </p:ext>
            </p:extLst>
          </p:nvPr>
        </p:nvGraphicFramePr>
        <p:xfrm>
          <a:off x="2612141" y="6037492"/>
          <a:ext cx="21320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200" imgH="342720" progId="Equation.DSMT4">
                  <p:embed/>
                </p:oleObj>
              </mc:Choice>
              <mc:Fallback>
                <p:oleObj name="Equation" r:id="rId12" imgW="952200" imgH="342720" progId="Equation.DSMT4">
                  <p:embed/>
                  <p:pic>
                    <p:nvPicPr>
                      <p:cNvPr id="12" name="对象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141" y="6037492"/>
                        <a:ext cx="2132012" cy="7921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15B4077-931B-49BC-9EA8-87385CAABC12}"/>
              </a:ext>
            </a:extLst>
          </p:cNvPr>
          <p:cNvSpPr txBox="1"/>
          <p:nvPr/>
        </p:nvSpPr>
        <p:spPr>
          <a:xfrm>
            <a:off x="2634755" y="3068960"/>
            <a:ext cx="61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</a:t>
            </a:r>
            <a:endParaRPr lang="zh-CN" altLang="en-US" sz="2800" b="1" dirty="0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DE66837-8761-42E5-A715-8BF2C8B4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185" y="2204864"/>
            <a:ext cx="4381807" cy="9573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lang="zh-CN" altLang="en-US" sz="3200" b="1" dirty="0">
                <a:sym typeface="Symbol" panose="05050102010706020507" pitchFamily="18" charset="2"/>
              </a:rPr>
              <a:t>方法：</a:t>
            </a:r>
            <a:endParaRPr lang="en-US" altLang="zh-CN" sz="3200" b="1" dirty="0">
              <a:sym typeface="Symbol" panose="05050102010706020507" pitchFamily="18" charset="2"/>
            </a:endParaRPr>
          </a:p>
          <a:p>
            <a:r>
              <a:rPr lang="zh-CN" altLang="en-US" sz="3200" b="1" dirty="0">
                <a:sym typeface="Symbol" panose="05050102010706020507" pitchFamily="18" charset="2"/>
              </a:rPr>
              <a:t></a:t>
            </a:r>
            <a:r>
              <a:rPr lang="en-US" altLang="zh-CN" sz="3200" b="1" i="1" dirty="0">
                <a:sym typeface="Symbol" pitchFamily="18" charset="2"/>
              </a:rPr>
              <a:t>x</a:t>
            </a:r>
            <a:r>
              <a:rPr lang="zh-CN" altLang="en-US" sz="3200" b="1" dirty="0">
                <a:sym typeface="Symbol" pitchFamily="18" charset="2"/>
              </a:rPr>
              <a:t>，</a:t>
            </a:r>
            <a:r>
              <a:rPr lang="en-US" altLang="zh-CN" sz="3200" b="1" i="1" dirty="0" err="1">
                <a:sym typeface="Symbol" pitchFamily="18" charset="2"/>
              </a:rPr>
              <a:t>x</a:t>
            </a:r>
            <a:r>
              <a:rPr lang="en-US" altLang="zh-CN" sz="3200" b="1" dirty="0" err="1">
                <a:sym typeface="Symbol" pitchFamily="18" charset="2"/>
              </a:rPr>
              <a:t></a:t>
            </a:r>
            <a:r>
              <a:rPr lang="en-US" altLang="zh-CN" sz="3200" b="1" i="1" dirty="0" err="1">
                <a:sym typeface="Symbol" pitchFamily="18" charset="2"/>
              </a:rPr>
              <a:t>X</a:t>
            </a:r>
            <a:r>
              <a:rPr lang="en-US" altLang="zh-CN" sz="3200" b="1" dirty="0">
                <a:sym typeface="Symbol" pitchFamily="18" charset="2"/>
              </a:rPr>
              <a:t> </a:t>
            </a:r>
            <a:r>
              <a:rPr lang="en-US" altLang="zh-CN" sz="3200" b="1" dirty="0">
                <a:solidFill>
                  <a:srgbClr val="3333FF"/>
                </a:solidFill>
                <a:sym typeface="Symbol" pitchFamily="18" charset="2"/>
              </a:rPr>
              <a:t> …  </a:t>
            </a:r>
            <a:r>
              <a:rPr lang="en-US" altLang="zh-CN" sz="3200" b="1" i="1" dirty="0" err="1">
                <a:sym typeface="Symbol" pitchFamily="18" charset="2"/>
              </a:rPr>
              <a:t>x</a:t>
            </a:r>
            <a:r>
              <a:rPr lang="en-US" altLang="zh-CN" sz="3200" b="1" dirty="0" err="1">
                <a:sym typeface="Symbol" pitchFamily="18" charset="2"/>
              </a:rPr>
              <a:t></a:t>
            </a:r>
            <a:r>
              <a:rPr lang="en-US" altLang="zh-CN" sz="3200" b="1" i="1" dirty="0" err="1">
                <a:sym typeface="Symbol" pitchFamily="18" charset="2"/>
              </a:rPr>
              <a:t>Y</a:t>
            </a:r>
            <a:endParaRPr lang="en-US" altLang="zh-CN" sz="3200" dirty="0">
              <a:latin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5330A3-544A-C1F0-F79C-10AA6817F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5011B4A-9381-C751-AC73-44467C8B295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08370399"/>
              </p:ext>
            </p:extLst>
          </p:nvPr>
        </p:nvGraphicFramePr>
        <p:xfrm>
          <a:off x="2639616" y="5301208"/>
          <a:ext cx="24177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79280" imgH="342720" progId="Equation.DSMT4">
                  <p:embed/>
                </p:oleObj>
              </mc:Choice>
              <mc:Fallback>
                <p:oleObj name="Equation" r:id="rId14" imgW="1079280" imgH="342720" progId="Equation.DSMT4">
                  <p:embed/>
                  <p:pic>
                    <p:nvPicPr>
                      <p:cNvPr id="12" name="对象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5301208"/>
                        <a:ext cx="2417763" cy="7921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844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68A1A0F-CDF8-25F8-72F2-8C7491578E80}"/>
              </a:ext>
            </a:extLst>
          </p:cNvPr>
          <p:cNvSpPr/>
          <p:nvPr/>
        </p:nvSpPr>
        <p:spPr>
          <a:xfrm>
            <a:off x="0" y="0"/>
            <a:ext cx="12192000" cy="16260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68" y="141949"/>
            <a:ext cx="11424592" cy="13716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</a:rPr>
              <a:t>[P15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例</a:t>
            </a:r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</a:rPr>
              <a:t>4]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设</a:t>
            </a:r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</a:rPr>
              <a:t>U={a, b}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，</a:t>
            </a:r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</a:rPr>
              <a:t>A={(a,0.5), (b,0.7)},  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当</a:t>
            </a:r>
            <a:r>
              <a:rPr lang="zh-CN" altLang="en-US" sz="3600" b="1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=0.6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时，</a:t>
            </a:r>
            <a:br>
              <a:rPr lang="en-US" altLang="zh-CN" sz="36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</a:br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      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        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求</a:t>
            </a:r>
            <a:r>
              <a:rPr lang="en-US" altLang="zh-CN" sz="3600" dirty="0">
                <a:solidFill>
                  <a:srgbClr val="FF00FF"/>
                </a:solidFill>
                <a:ea typeface="黑体" pitchFamily="49" charset="-122"/>
              </a:rPr>
              <a:t>(</a:t>
            </a:r>
            <a:r>
              <a:rPr kumimoji="1" lang="en-US" altLang="zh-CN" sz="3600" dirty="0">
                <a:solidFill>
                  <a:srgbClr val="FF00FF"/>
                </a:solidFill>
                <a:ea typeface="黑体" pitchFamily="49" charset="-122"/>
              </a:rPr>
              <a:t>A</a:t>
            </a:r>
            <a:r>
              <a:rPr kumimoji="1" lang="en-US" altLang="zh-CN" sz="3600" baseline="-25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36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3600" baseline="30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zh-CN" altLang="en-US" sz="36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和</a:t>
            </a:r>
            <a:r>
              <a:rPr kumimoji="1" lang="en-US" altLang="zh-CN" sz="36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(A</a:t>
            </a:r>
            <a:r>
              <a:rPr kumimoji="1" lang="en-US" altLang="zh-CN" sz="3600" baseline="30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36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3600" baseline="-25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772816"/>
            <a:ext cx="8229600" cy="46085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3600" dirty="0">
                <a:sym typeface="Symbol" pitchFamily="18" charset="2"/>
              </a:rPr>
              <a:t>解：  </a:t>
            </a:r>
            <a:r>
              <a:rPr kumimoji="1" lang="en-US" altLang="zh-CN" sz="3600" dirty="0"/>
              <a:t>A</a:t>
            </a:r>
            <a:r>
              <a:rPr kumimoji="1" lang="en-US" altLang="zh-CN" sz="3600" baseline="-25000" dirty="0">
                <a:sym typeface="Symbol" pitchFamily="18" charset="2"/>
              </a:rPr>
              <a:t>0.6</a:t>
            </a:r>
            <a:r>
              <a:rPr kumimoji="1" lang="en-US" altLang="zh-CN" sz="3600" dirty="0">
                <a:sym typeface="Symbol" pitchFamily="18" charset="2"/>
              </a:rPr>
              <a:t>=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kumimoji="1" lang="en-US" altLang="zh-CN" sz="3600" dirty="0">
                <a:sym typeface="Symbol" pitchFamily="18" charset="2"/>
              </a:rPr>
              <a:t>         </a:t>
            </a:r>
            <a:r>
              <a:rPr lang="en-US" altLang="zh-CN" sz="3600" dirty="0">
                <a:solidFill>
                  <a:srgbClr val="0000FF"/>
                </a:solidFill>
              </a:rPr>
              <a:t>(</a:t>
            </a:r>
            <a:r>
              <a:rPr kumimoji="1" lang="en-US" altLang="zh-CN" sz="3600" dirty="0">
                <a:solidFill>
                  <a:srgbClr val="0000FF"/>
                </a:solidFill>
              </a:rPr>
              <a:t>A</a:t>
            </a:r>
            <a:r>
              <a:rPr kumimoji="1" lang="en-US" altLang="zh-CN" sz="3600" baseline="-25000" dirty="0">
                <a:solidFill>
                  <a:srgbClr val="0000FF"/>
                </a:solidFill>
                <a:sym typeface="Symbol" pitchFamily="18" charset="2"/>
              </a:rPr>
              <a:t>0.6</a:t>
            </a:r>
            <a:r>
              <a:rPr kumimoji="1" lang="en-US" altLang="zh-CN" sz="3600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kumimoji="1" lang="en-US" altLang="zh-CN" sz="3600" baseline="30000" dirty="0">
                <a:solidFill>
                  <a:srgbClr val="0000FF"/>
                </a:solidFill>
                <a:sym typeface="Symbol" pitchFamily="18" charset="2"/>
              </a:rPr>
              <a:t>c</a:t>
            </a:r>
            <a:r>
              <a:rPr kumimoji="1" lang="en-US" altLang="zh-CN" sz="3600" dirty="0">
                <a:sym typeface="Symbol" pitchFamily="18" charset="2"/>
              </a:rPr>
              <a:t>  </a:t>
            </a:r>
            <a:endParaRPr kumimoji="1" lang="en-US" altLang="zh-CN" sz="3600" dirty="0">
              <a:solidFill>
                <a:srgbClr val="0000FF"/>
              </a:solidFill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kumimoji="1" lang="en-US" altLang="zh-CN" sz="3600" dirty="0">
                <a:sym typeface="Symbol" pitchFamily="18" charset="2"/>
              </a:rPr>
              <a:t>              </a:t>
            </a:r>
            <a:r>
              <a:rPr kumimoji="1" lang="en-US" altLang="zh-CN" sz="3600" dirty="0">
                <a:solidFill>
                  <a:srgbClr val="FF00FF"/>
                </a:solidFill>
                <a:sym typeface="Symbol" pitchFamily="18" charset="2"/>
              </a:rPr>
              <a:t>A</a:t>
            </a:r>
            <a:r>
              <a:rPr kumimoji="1" lang="en-US" altLang="zh-CN" sz="3600" baseline="30000" dirty="0">
                <a:solidFill>
                  <a:srgbClr val="FF00FF"/>
                </a:solidFill>
                <a:sym typeface="Symbol" pitchFamily="18" charset="2"/>
              </a:rPr>
              <a:t>c</a:t>
            </a:r>
            <a:endParaRPr lang="en-US" altLang="zh-CN" sz="3600" dirty="0">
              <a:ea typeface="黑体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 dirty="0">
                <a:ea typeface="黑体" pitchFamily="49" charset="-122"/>
              </a:rPr>
              <a:t>                  =</a:t>
            </a:r>
            <a:r>
              <a:rPr lang="en-US" altLang="zh-CN" sz="3600" dirty="0">
                <a:solidFill>
                  <a:srgbClr val="FF00FF"/>
                </a:solidFill>
                <a:ea typeface="黑体" pitchFamily="49" charset="-122"/>
              </a:rPr>
              <a:t>{(a, 0.5), (b, 0.3)}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 dirty="0">
                <a:solidFill>
                  <a:srgbClr val="FF0000"/>
                </a:solidFill>
                <a:ea typeface="黑体" pitchFamily="49" charset="-122"/>
              </a:rPr>
              <a:t>       </a:t>
            </a:r>
            <a:r>
              <a:rPr kumimoji="1" lang="en-US" altLang="zh-CN" sz="36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(A</a:t>
            </a:r>
            <a:r>
              <a:rPr kumimoji="1" lang="en-US" altLang="zh-CN" sz="3600" baseline="300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36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3600" baseline="-250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0.6</a:t>
            </a:r>
            <a:r>
              <a:rPr lang="en-US" altLang="zh-CN" sz="3600" dirty="0"/>
              <a:t>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600" dirty="0">
                <a:ea typeface="黑体" pitchFamily="49" charset="-122"/>
              </a:rPr>
              <a:t>       </a:t>
            </a:r>
            <a:r>
              <a:rPr lang="zh-CN" altLang="en-US" sz="3600" dirty="0">
                <a:ea typeface="黑体" pitchFamily="49" charset="-122"/>
              </a:rPr>
              <a:t>所以，</a:t>
            </a:r>
            <a:r>
              <a:rPr lang="zh-CN" altLang="en-US" sz="3600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sz="3600" dirty="0">
                <a:solidFill>
                  <a:srgbClr val="0000FF"/>
                </a:solidFill>
              </a:rPr>
              <a:t>(</a:t>
            </a:r>
            <a:r>
              <a:rPr kumimoji="1" lang="en-US" altLang="zh-CN" sz="3600" dirty="0">
                <a:solidFill>
                  <a:srgbClr val="0000FF"/>
                </a:solidFill>
              </a:rPr>
              <a:t>A</a:t>
            </a:r>
            <a:r>
              <a:rPr kumimoji="1" lang="en-US" altLang="zh-CN" sz="3600" baseline="-25000" dirty="0">
                <a:solidFill>
                  <a:srgbClr val="0000FF"/>
                </a:solidFill>
                <a:sym typeface="Symbol" pitchFamily="18" charset="2"/>
              </a:rPr>
              <a:t>0.6</a:t>
            </a:r>
            <a:r>
              <a:rPr kumimoji="1" lang="en-US" altLang="zh-CN" sz="3600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kumimoji="1" lang="en-US" altLang="zh-CN" sz="3600" baseline="30000" dirty="0">
                <a:solidFill>
                  <a:srgbClr val="0000FF"/>
                </a:solidFill>
                <a:sym typeface="Symbol" pitchFamily="18" charset="2"/>
              </a:rPr>
              <a:t>c  </a:t>
            </a:r>
            <a:r>
              <a:rPr kumimoji="1" lang="en-US" altLang="en-US" sz="3600" dirty="0">
                <a:sym typeface="Symbol" pitchFamily="18" charset="2"/>
              </a:rPr>
              <a:t>≠</a:t>
            </a:r>
            <a:r>
              <a:rPr kumimoji="1" lang="en-US" altLang="zh-CN" sz="36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kumimoji="1" lang="en-US" altLang="zh-CN" sz="36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(A</a:t>
            </a:r>
            <a:r>
              <a:rPr kumimoji="1" lang="en-US" altLang="zh-CN" sz="3600" baseline="300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36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3600" baseline="-250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0.6</a:t>
            </a:r>
            <a:r>
              <a:rPr kumimoji="1" lang="en-US" altLang="zh-CN" dirty="0">
                <a:solidFill>
                  <a:srgbClr val="FF0000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24D997-8BB8-2ACD-E656-04C8843A3299}"/>
              </a:ext>
            </a:extLst>
          </p:cNvPr>
          <p:cNvSpPr txBox="1"/>
          <p:nvPr/>
        </p:nvSpPr>
        <p:spPr>
          <a:xfrm>
            <a:off x="3951735" y="1803962"/>
            <a:ext cx="2575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dirty="0">
                <a:sym typeface="Symbol" pitchFamily="18" charset="2"/>
              </a:rPr>
              <a:t>{b}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5308D9-779B-6F46-2B6D-BD235301A340}"/>
              </a:ext>
            </a:extLst>
          </p:cNvPr>
          <p:cNvSpPr txBox="1"/>
          <p:nvPr/>
        </p:nvSpPr>
        <p:spPr>
          <a:xfrm>
            <a:off x="3718968" y="2638719"/>
            <a:ext cx="2004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dirty="0">
                <a:sym typeface="Symbol" pitchFamily="18" charset="2"/>
              </a:rPr>
              <a:t>= U</a:t>
            </a:r>
            <a:r>
              <a:rPr kumimoji="1" lang="en-US" altLang="zh-CN" sz="3600" dirty="0"/>
              <a:t>A</a:t>
            </a:r>
            <a:r>
              <a:rPr kumimoji="1" lang="en-US" altLang="zh-CN" sz="3600" baseline="-25000" dirty="0">
                <a:sym typeface="Symbol" pitchFamily="18" charset="2"/>
              </a:rPr>
              <a:t>0.6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EAE75D-B07F-9454-29C9-D627C2482E05}"/>
              </a:ext>
            </a:extLst>
          </p:cNvPr>
          <p:cNvSpPr txBox="1"/>
          <p:nvPr/>
        </p:nvSpPr>
        <p:spPr>
          <a:xfrm>
            <a:off x="7124927" y="2649791"/>
            <a:ext cx="1418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dirty="0">
                <a:sym typeface="Symbol" pitchFamily="18" charset="2"/>
              </a:rPr>
              <a:t>= </a:t>
            </a:r>
            <a:r>
              <a:rPr kumimoji="1" lang="en-US" altLang="zh-CN" sz="3600" dirty="0">
                <a:solidFill>
                  <a:srgbClr val="0000FF"/>
                </a:solidFill>
                <a:sym typeface="Symbol" pitchFamily="18" charset="2"/>
              </a:rPr>
              <a:t>{a}</a:t>
            </a:r>
            <a:endParaRPr lang="zh-CN" altLang="en-US" sz="3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C65367-81CF-0698-A71A-8743AFE93916}"/>
              </a:ext>
            </a:extLst>
          </p:cNvPr>
          <p:cNvSpPr txBox="1"/>
          <p:nvPr/>
        </p:nvSpPr>
        <p:spPr>
          <a:xfrm>
            <a:off x="5468754" y="2627648"/>
            <a:ext cx="2071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dirty="0">
                <a:sym typeface="Symbol" pitchFamily="18" charset="2"/>
              </a:rPr>
              <a:t>= U{b}</a:t>
            </a:r>
            <a:endParaRPr lang="zh-CN" altLang="en-US" sz="3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102D2D-83B1-A22E-0F04-18FEF6E2620D}"/>
              </a:ext>
            </a:extLst>
          </p:cNvPr>
          <p:cNvSpPr txBox="1"/>
          <p:nvPr/>
        </p:nvSpPr>
        <p:spPr>
          <a:xfrm>
            <a:off x="3718967" y="3342844"/>
            <a:ext cx="1855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dirty="0">
                <a:sym typeface="Symbol" pitchFamily="18" charset="2"/>
              </a:rPr>
              <a:t>=1A</a:t>
            </a:r>
            <a:endParaRPr lang="zh-CN" altLang="en-US" sz="3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84F5A9-862E-4D7C-42AF-4FBD72BF9E82}"/>
              </a:ext>
            </a:extLst>
          </p:cNvPr>
          <p:cNvSpPr txBox="1"/>
          <p:nvPr/>
        </p:nvSpPr>
        <p:spPr>
          <a:xfrm>
            <a:off x="4943104" y="3353916"/>
            <a:ext cx="4567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dirty="0">
                <a:sym typeface="Symbol" pitchFamily="18" charset="2"/>
              </a:rPr>
              <a:t>=</a:t>
            </a:r>
            <a:r>
              <a:rPr lang="en-US" altLang="zh-CN" sz="3600" dirty="0">
                <a:ea typeface="黑体" pitchFamily="49" charset="-122"/>
              </a:rPr>
              <a:t>{(a,1</a:t>
            </a:r>
            <a:r>
              <a:rPr kumimoji="1" lang="en-US" altLang="zh-CN" sz="3600" dirty="0">
                <a:sym typeface="Symbol" panose="05050102010706020507" pitchFamily="18" charset="2"/>
              </a:rPr>
              <a:t></a:t>
            </a:r>
            <a:r>
              <a:rPr lang="en-US" altLang="zh-CN" sz="3600" dirty="0">
                <a:ea typeface="黑体" pitchFamily="49" charset="-122"/>
              </a:rPr>
              <a:t>0.5), (b,1</a:t>
            </a:r>
            <a:r>
              <a:rPr kumimoji="1" lang="en-US" altLang="zh-CN" sz="3600" dirty="0">
                <a:sym typeface="Symbol" panose="05050102010706020507" pitchFamily="18" charset="2"/>
              </a:rPr>
              <a:t></a:t>
            </a:r>
            <a:r>
              <a:rPr lang="en-US" altLang="zh-CN" sz="3600" dirty="0">
                <a:ea typeface="黑体" pitchFamily="49" charset="-122"/>
              </a:rPr>
              <a:t>0.7)}</a:t>
            </a:r>
            <a:endParaRPr lang="zh-CN" altLang="en-US" sz="3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ABAB6B-46D2-FF75-8CBC-C3CC3CDDA60A}"/>
              </a:ext>
            </a:extLst>
          </p:cNvPr>
          <p:cNvSpPr txBox="1"/>
          <p:nvPr/>
        </p:nvSpPr>
        <p:spPr>
          <a:xfrm>
            <a:off x="3718967" y="4940354"/>
            <a:ext cx="1711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ea typeface="黑体" pitchFamily="49" charset="-122"/>
              </a:rPr>
              <a:t>=</a:t>
            </a:r>
            <a:r>
              <a:rPr kumimoji="1" lang="en-US" altLang="zh-CN" sz="3600" b="1" i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cs typeface="Arial" charset="0"/>
              </a:rPr>
              <a:t>Ø</a:t>
            </a:r>
            <a:endParaRPr lang="zh-CN" altLang="en-US" sz="3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794926-A877-8BAC-3F40-062AA6F2AB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uiExpand="1" build="p"/>
      <p:bldP spid="3" grpId="0"/>
      <p:bldP spid="5" grpId="0"/>
      <p:bldP spid="9" grpId="0"/>
      <p:bldP spid="11" grpId="0"/>
      <p:bldP spid="13" grpId="0"/>
      <p:bldP spid="15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3836524-47BB-3C1F-51EB-F1F836DB5233}"/>
              </a:ext>
            </a:extLst>
          </p:cNvPr>
          <p:cNvSpPr/>
          <p:nvPr/>
        </p:nvSpPr>
        <p:spPr>
          <a:xfrm>
            <a:off x="0" y="0"/>
            <a:ext cx="12192000" cy="1300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27384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当为连续论域情况下求</a:t>
            </a:r>
            <a:r>
              <a:rPr lang="en-US" altLang="zh-CN" sz="4000" dirty="0">
                <a:solidFill>
                  <a:srgbClr val="FF00FF"/>
                </a:solidFill>
                <a:ea typeface="黑体" pitchFamily="49" charset="-122"/>
              </a:rPr>
              <a:t>(</a:t>
            </a:r>
            <a:r>
              <a:rPr kumimoji="1" lang="en-US" altLang="zh-CN" sz="4000" dirty="0">
                <a:solidFill>
                  <a:srgbClr val="FF00FF"/>
                </a:solidFill>
                <a:ea typeface="黑体" pitchFamily="49" charset="-122"/>
              </a:rPr>
              <a:t>A</a:t>
            </a:r>
            <a:r>
              <a:rPr kumimoji="1" lang="en-US" altLang="zh-CN" sz="4000" baseline="-25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4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4000" baseline="30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zh-CN" altLang="en-US" sz="40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和</a:t>
            </a:r>
            <a:r>
              <a:rPr kumimoji="1" lang="en-US" altLang="zh-CN" sz="4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(A</a:t>
            </a:r>
            <a:r>
              <a:rPr kumimoji="1" lang="en-US" altLang="zh-CN" sz="4000" baseline="30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4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4000" baseline="-25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</a:t>
            </a:r>
          </a:p>
        </p:txBody>
      </p:sp>
      <p:sp>
        <p:nvSpPr>
          <p:cNvPr id="108579" name="Rectangle 35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3500041"/>
            <a:ext cx="4823397" cy="108108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黑体" pitchFamily="49" charset="-122"/>
              </a:rPr>
              <a:t>     </a:t>
            </a:r>
            <a:r>
              <a:rPr kumimoji="1" lang="en-US" altLang="zh-CN" sz="2800" b="1" i="1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sz="2800" b="1" baseline="-250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0.6 </a:t>
            </a:r>
            <a:r>
              <a:rPr lang="en-US" altLang="zh-CN" sz="2800" b="1" dirty="0">
                <a:solidFill>
                  <a:srgbClr val="008000"/>
                </a:solidFill>
                <a:ea typeface="黑体" pitchFamily="49" charset="-122"/>
              </a:rPr>
              <a:t>= [0.3, 0.9]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黑体" pitchFamily="49" charset="-122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sz="2800" b="1" baseline="-250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0.6</a:t>
            </a:r>
            <a:r>
              <a:rPr kumimoji="1" lang="en-US" altLang="zh-CN" sz="2800" b="1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2800" b="1" baseline="300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2800" b="1" baseline="-250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  </a:t>
            </a:r>
            <a:r>
              <a:rPr lang="en-US" altLang="zh-CN" sz="2800" b="1" dirty="0">
                <a:solidFill>
                  <a:srgbClr val="0000FF"/>
                </a:solidFill>
                <a:ea typeface="黑体" pitchFamily="49" charset="-122"/>
              </a:rPr>
              <a:t>= </a:t>
            </a:r>
            <a:r>
              <a:rPr kumimoji="1" lang="en-US" altLang="zh-CN" sz="2800" b="1" dirty="0">
                <a:solidFill>
                  <a:srgbClr val="0000FF"/>
                </a:solidFill>
                <a:sym typeface="Symbol" pitchFamily="18" charset="2"/>
              </a:rPr>
              <a:t>[0, 0.3)</a:t>
            </a:r>
            <a:r>
              <a:rPr kumimoji="1" lang="en-US" altLang="zh-CN" sz="2800" b="1" dirty="0">
                <a:solidFill>
                  <a:srgbClr val="0000FF"/>
                </a:solidFill>
                <a:sym typeface="Symbol"/>
              </a:rPr>
              <a:t></a:t>
            </a:r>
            <a:r>
              <a:rPr kumimoji="1" lang="en-US" altLang="zh-CN" sz="2800" b="1" dirty="0">
                <a:solidFill>
                  <a:srgbClr val="0000FF"/>
                </a:solidFill>
              </a:rPr>
              <a:t>(0.9, 3/2</a:t>
            </a:r>
            <a:r>
              <a:rPr kumimoji="1" lang="en-US" altLang="zh-CN" sz="2800" b="1" dirty="0">
                <a:solidFill>
                  <a:srgbClr val="0000FF"/>
                </a:solidFill>
                <a:sym typeface="Symbol" pitchFamily="18" charset="2"/>
              </a:rPr>
              <a:t>]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</a:p>
        </p:txBody>
      </p:sp>
      <p:graphicFrame>
        <p:nvGraphicFramePr>
          <p:cNvPr id="108580" name="Object 3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541972"/>
              </p:ext>
            </p:extLst>
          </p:nvPr>
        </p:nvGraphicFramePr>
        <p:xfrm>
          <a:off x="5778224" y="1340768"/>
          <a:ext cx="3344862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8000" imgH="787400" progId="Equation.3">
                  <p:embed/>
                </p:oleObj>
              </mc:Choice>
              <mc:Fallback>
                <p:oleObj name="公式" r:id="rId2" imgW="1778000" imgH="787400" progId="Equation.3">
                  <p:embed/>
                  <p:pic>
                    <p:nvPicPr>
                      <p:cNvPr id="10858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224" y="1340768"/>
                        <a:ext cx="3344862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1" name="Object 30"/>
          <p:cNvGraphicFramePr>
            <a:graphicFrameLocks noGrp="1" noChangeAspect="1"/>
          </p:cNvGraphicFramePr>
          <p:nvPr>
            <p:ph idx="4294967295"/>
          </p:nvPr>
        </p:nvGraphicFramePr>
        <p:xfrm>
          <a:off x="1162051" y="1439862"/>
          <a:ext cx="2808288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200" imgH="787400" progId="Equation.3">
                  <p:embed/>
                </p:oleObj>
              </mc:Choice>
              <mc:Fallback>
                <p:oleObj name="公式" r:id="rId4" imgW="1600200" imgH="787400" progId="Equation.3">
                  <p:embed/>
                  <p:pic>
                    <p:nvPicPr>
                      <p:cNvPr id="822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1" y="1439862"/>
                        <a:ext cx="2808288" cy="138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Line 4"/>
          <p:cNvSpPr>
            <a:spLocks noChangeShapeType="1"/>
          </p:cNvSpPr>
          <p:nvPr/>
        </p:nvSpPr>
        <p:spPr bwMode="auto">
          <a:xfrm flipV="1">
            <a:off x="6130850" y="2780928"/>
            <a:ext cx="0" cy="297204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130851" y="5752976"/>
            <a:ext cx="52562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7570713" y="5608514"/>
            <a:ext cx="0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10667925" y="5608514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9083600" y="5608514"/>
            <a:ext cx="0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H="1">
            <a:off x="6130851" y="3447530"/>
            <a:ext cx="73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4" name="Line 10"/>
          <p:cNvSpPr>
            <a:spLocks noChangeShapeType="1"/>
          </p:cNvSpPr>
          <p:nvPr/>
        </p:nvSpPr>
        <p:spPr bwMode="auto">
          <a:xfrm flipH="1">
            <a:off x="6130851" y="3376490"/>
            <a:ext cx="1439863" cy="2376487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5" name="Line 11"/>
          <p:cNvSpPr>
            <a:spLocks noChangeShapeType="1"/>
          </p:cNvSpPr>
          <p:nvPr/>
        </p:nvSpPr>
        <p:spPr bwMode="auto">
          <a:xfrm flipH="1" flipV="1">
            <a:off x="7570713" y="3376490"/>
            <a:ext cx="3097212" cy="2376487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5770488" y="5752976"/>
            <a:ext cx="5726112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 0                     ½                      1                      3/2      x</a:t>
            </a:r>
          </a:p>
        </p:txBody>
      </p:sp>
      <p:sp>
        <p:nvSpPr>
          <p:cNvPr id="108557" name="Line 13"/>
          <p:cNvSpPr>
            <a:spLocks noChangeShapeType="1"/>
          </p:cNvSpPr>
          <p:nvPr/>
        </p:nvSpPr>
        <p:spPr bwMode="auto">
          <a:xfrm flipH="1" flipV="1">
            <a:off x="6130851" y="3376490"/>
            <a:ext cx="1439863" cy="23764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8" name="Line 14"/>
          <p:cNvSpPr>
            <a:spLocks noChangeShapeType="1"/>
          </p:cNvSpPr>
          <p:nvPr/>
        </p:nvSpPr>
        <p:spPr bwMode="auto">
          <a:xfrm flipV="1">
            <a:off x="7570714" y="3376490"/>
            <a:ext cx="3024187" cy="23764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5699051" y="3231630"/>
            <a:ext cx="576263" cy="119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1</a:t>
            </a:r>
          </a:p>
          <a:p>
            <a:pPr eaLnBrk="1" hangingPunct="1">
              <a:spcBef>
                <a:spcPct val="50000"/>
              </a:spcBef>
            </a:pPr>
            <a:endParaRPr lang="en-US" altLang="zh-CN"/>
          </a:p>
          <a:p>
            <a:pPr eaLnBrk="1" hangingPunct="1">
              <a:spcBef>
                <a:spcPct val="50000"/>
              </a:spcBef>
            </a:pPr>
            <a:r>
              <a:rPr lang="en-US" altLang="zh-CN"/>
              <a:t>0.6</a:t>
            </a:r>
          </a:p>
        </p:txBody>
      </p:sp>
      <p:sp>
        <p:nvSpPr>
          <p:cNvPr id="108560" name="Line 16"/>
          <p:cNvSpPr>
            <a:spLocks noChangeShapeType="1"/>
          </p:cNvSpPr>
          <p:nvPr/>
        </p:nvSpPr>
        <p:spPr bwMode="auto">
          <a:xfrm>
            <a:off x="6130850" y="4168651"/>
            <a:ext cx="4681538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1" name="Line 17"/>
          <p:cNvSpPr>
            <a:spLocks noChangeShapeType="1"/>
          </p:cNvSpPr>
          <p:nvPr/>
        </p:nvSpPr>
        <p:spPr bwMode="auto">
          <a:xfrm>
            <a:off x="6635675" y="4168652"/>
            <a:ext cx="0" cy="158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2" name="Line 18"/>
          <p:cNvSpPr>
            <a:spLocks noChangeShapeType="1"/>
          </p:cNvSpPr>
          <p:nvPr/>
        </p:nvSpPr>
        <p:spPr bwMode="auto">
          <a:xfrm>
            <a:off x="7067475" y="4168652"/>
            <a:ext cx="0" cy="1584325"/>
          </a:xfrm>
          <a:prstGeom prst="line">
            <a:avLst/>
          </a:prstGeom>
          <a:noFill/>
          <a:ln w="19050">
            <a:solidFill>
              <a:srgbClr val="0066FF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3" name="Line 19"/>
          <p:cNvSpPr>
            <a:spLocks noChangeShapeType="1"/>
          </p:cNvSpPr>
          <p:nvPr/>
        </p:nvSpPr>
        <p:spPr bwMode="auto">
          <a:xfrm>
            <a:off x="8578775" y="4168652"/>
            <a:ext cx="0" cy="1584325"/>
          </a:xfrm>
          <a:prstGeom prst="line">
            <a:avLst/>
          </a:prstGeom>
          <a:noFill/>
          <a:ln w="19050">
            <a:solidFill>
              <a:srgbClr val="0066FF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4" name="Line 20"/>
          <p:cNvSpPr>
            <a:spLocks noChangeShapeType="1"/>
          </p:cNvSpPr>
          <p:nvPr/>
        </p:nvSpPr>
        <p:spPr bwMode="auto">
          <a:xfrm>
            <a:off x="9586838" y="4168652"/>
            <a:ext cx="0" cy="158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5" name="Line 21"/>
          <p:cNvSpPr>
            <a:spLocks noChangeShapeType="1"/>
          </p:cNvSpPr>
          <p:nvPr/>
        </p:nvSpPr>
        <p:spPr bwMode="auto">
          <a:xfrm>
            <a:off x="6130851" y="5752976"/>
            <a:ext cx="936625" cy="0"/>
          </a:xfrm>
          <a:prstGeom prst="lin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6" name="Line 22"/>
          <p:cNvSpPr>
            <a:spLocks noChangeShapeType="1"/>
          </p:cNvSpPr>
          <p:nvPr/>
        </p:nvSpPr>
        <p:spPr bwMode="auto">
          <a:xfrm>
            <a:off x="8578775" y="5752976"/>
            <a:ext cx="2089150" cy="0"/>
          </a:xfrm>
          <a:prstGeom prst="lin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7" name="Line 23"/>
          <p:cNvSpPr>
            <a:spLocks noChangeShapeType="1"/>
          </p:cNvSpPr>
          <p:nvPr/>
        </p:nvSpPr>
        <p:spPr bwMode="auto">
          <a:xfrm>
            <a:off x="6130851" y="5805264"/>
            <a:ext cx="504825" cy="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8" name="Line 24"/>
          <p:cNvSpPr>
            <a:spLocks noChangeShapeType="1"/>
          </p:cNvSpPr>
          <p:nvPr/>
        </p:nvSpPr>
        <p:spPr bwMode="auto">
          <a:xfrm>
            <a:off x="9588897" y="5805264"/>
            <a:ext cx="1081087" cy="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9" name="AutoShape 25"/>
          <p:cNvSpPr>
            <a:spLocks/>
          </p:cNvSpPr>
          <p:nvPr/>
        </p:nvSpPr>
        <p:spPr bwMode="auto">
          <a:xfrm rot="5400000" flipH="1" flipV="1">
            <a:off x="7606433" y="4473575"/>
            <a:ext cx="431800" cy="2087563"/>
          </a:xfrm>
          <a:prstGeom prst="rightBrace">
            <a:avLst>
              <a:gd name="adj1" fmla="val 30188"/>
              <a:gd name="adj2" fmla="val 50000"/>
            </a:avLst>
          </a:prstGeom>
          <a:noFill/>
          <a:ln w="2857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0" name="AutoShape 26"/>
          <p:cNvSpPr>
            <a:spLocks/>
          </p:cNvSpPr>
          <p:nvPr/>
        </p:nvSpPr>
        <p:spPr bwMode="auto">
          <a:xfrm rot="5400000">
            <a:off x="8015658" y="4232025"/>
            <a:ext cx="554833" cy="3887788"/>
          </a:xfrm>
          <a:prstGeom prst="rightBrace">
            <a:avLst>
              <a:gd name="adj1" fmla="val 40981"/>
              <a:gd name="adj2" fmla="val 50000"/>
            </a:avLst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2" name="Rectangle 28"/>
          <p:cNvSpPr>
            <a:spLocks noChangeArrowheads="1"/>
          </p:cNvSpPr>
          <p:nvPr/>
        </p:nvSpPr>
        <p:spPr bwMode="auto">
          <a:xfrm>
            <a:off x="7284641" y="4844008"/>
            <a:ext cx="974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3333FF"/>
                </a:solidFill>
              </a:rPr>
              <a:t>(</a:t>
            </a:r>
            <a:r>
              <a:rPr kumimoji="1" lang="en-US" altLang="zh-CN" sz="2400" i="1" dirty="0">
                <a:solidFill>
                  <a:srgbClr val="3333FF"/>
                </a:solidFill>
              </a:rPr>
              <a:t>A</a:t>
            </a:r>
            <a:r>
              <a:rPr kumimoji="1" lang="en-US" altLang="zh-CN" sz="2400" baseline="-25000" dirty="0">
                <a:solidFill>
                  <a:srgbClr val="3333FF"/>
                </a:solidFill>
                <a:sym typeface="Symbol" pitchFamily="18" charset="2"/>
              </a:rPr>
              <a:t>0.6</a:t>
            </a:r>
            <a:r>
              <a:rPr kumimoji="1" lang="en-US" altLang="zh-CN" sz="2400" dirty="0">
                <a:solidFill>
                  <a:srgbClr val="3333FF"/>
                </a:solidFill>
                <a:sym typeface="Symbol" pitchFamily="18" charset="2"/>
              </a:rPr>
              <a:t>)</a:t>
            </a:r>
            <a:r>
              <a:rPr kumimoji="1" lang="en-US" altLang="zh-CN" sz="2400" baseline="30000" dirty="0">
                <a:solidFill>
                  <a:srgbClr val="3333FF"/>
                </a:solidFill>
                <a:sym typeface="Symbol" pitchFamily="18" charset="2"/>
              </a:rPr>
              <a:t>c</a:t>
            </a:r>
          </a:p>
        </p:txBody>
      </p:sp>
      <p:sp>
        <p:nvSpPr>
          <p:cNvPr id="108573" name="Rectangle 29"/>
          <p:cNvSpPr>
            <a:spLocks noChangeArrowheads="1"/>
          </p:cNvSpPr>
          <p:nvPr/>
        </p:nvSpPr>
        <p:spPr bwMode="auto">
          <a:xfrm>
            <a:off x="7946618" y="6381750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FF"/>
                </a:solidFill>
              </a:rPr>
              <a:t>(</a:t>
            </a:r>
            <a:r>
              <a:rPr kumimoji="1" lang="en-US" altLang="zh-CN" sz="2400" i="1" dirty="0">
                <a:solidFill>
                  <a:srgbClr val="FF00FF"/>
                </a:solidFill>
              </a:rPr>
              <a:t>A</a:t>
            </a:r>
            <a:r>
              <a:rPr kumimoji="1" lang="en-US" altLang="zh-CN" sz="2400" baseline="30000" dirty="0">
                <a:solidFill>
                  <a:srgbClr val="FF00FF"/>
                </a:solidFill>
                <a:sym typeface="Symbol" pitchFamily="18" charset="2"/>
              </a:rPr>
              <a:t>c</a:t>
            </a:r>
            <a:r>
              <a:rPr kumimoji="1" lang="en-US" altLang="zh-CN" sz="2400" dirty="0">
                <a:solidFill>
                  <a:srgbClr val="FF00FF"/>
                </a:solidFill>
                <a:sym typeface="Symbol" pitchFamily="18" charset="2"/>
              </a:rPr>
              <a:t>)</a:t>
            </a:r>
            <a:r>
              <a:rPr kumimoji="1" lang="en-US" altLang="zh-CN" sz="2400" baseline="-25000" dirty="0">
                <a:solidFill>
                  <a:srgbClr val="FF00FF"/>
                </a:solidFill>
                <a:sym typeface="Symbol" pitchFamily="18" charset="2"/>
              </a:rPr>
              <a:t></a:t>
            </a:r>
          </a:p>
        </p:txBody>
      </p:sp>
      <p:sp>
        <p:nvSpPr>
          <p:cNvPr id="108576" name="Rectangle 32"/>
          <p:cNvSpPr>
            <a:spLocks noChangeArrowheads="1"/>
          </p:cNvSpPr>
          <p:nvPr/>
        </p:nvSpPr>
        <p:spPr bwMode="auto">
          <a:xfrm>
            <a:off x="7680250" y="2997076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 dirty="0">
                <a:solidFill>
                  <a:srgbClr val="0000FF"/>
                </a:solidFill>
              </a:rPr>
              <a:t>A</a:t>
            </a:r>
            <a:r>
              <a:rPr kumimoji="1" lang="en-US" altLang="zh-CN" sz="2400" dirty="0">
                <a:solidFill>
                  <a:srgbClr val="0000FF"/>
                </a:solidFill>
              </a:rPr>
              <a:t>(x)</a:t>
            </a:r>
            <a:endParaRPr kumimoji="1" lang="en-US" altLang="zh-CN" sz="2400" baseline="-25000" dirty="0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108577" name="Rectangle 33"/>
          <p:cNvSpPr>
            <a:spLocks noChangeArrowheads="1"/>
          </p:cNvSpPr>
          <p:nvPr/>
        </p:nvSpPr>
        <p:spPr bwMode="auto">
          <a:xfrm>
            <a:off x="9696375" y="3068514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 dirty="0">
                <a:solidFill>
                  <a:srgbClr val="FF0000"/>
                </a:solidFill>
              </a:rPr>
              <a:t>A</a:t>
            </a:r>
            <a:r>
              <a:rPr kumimoji="1" lang="en-US" altLang="zh-CN" sz="2400" baseline="30000" dirty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kumimoji="1" lang="en-US" altLang="zh-CN" sz="2400" dirty="0">
                <a:solidFill>
                  <a:srgbClr val="FF0000"/>
                </a:solidFill>
              </a:rPr>
              <a:t>(x)</a:t>
            </a:r>
          </a:p>
        </p:txBody>
      </p:sp>
      <p:sp>
        <p:nvSpPr>
          <p:cNvPr id="108578" name="Text Box 34"/>
          <p:cNvSpPr txBox="1">
            <a:spLocks noChangeArrowheads="1"/>
          </p:cNvSpPr>
          <p:nvPr/>
        </p:nvSpPr>
        <p:spPr bwMode="auto">
          <a:xfrm>
            <a:off x="6816651" y="5733927"/>
            <a:ext cx="2447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</a:rPr>
              <a:t>0.3                  0.9</a:t>
            </a:r>
          </a:p>
        </p:txBody>
      </p:sp>
      <p:sp>
        <p:nvSpPr>
          <p:cNvPr id="108582" name="Rectangle 38"/>
          <p:cNvSpPr>
            <a:spLocks noChangeArrowheads="1"/>
          </p:cNvSpPr>
          <p:nvPr/>
        </p:nvSpPr>
        <p:spPr bwMode="auto">
          <a:xfrm>
            <a:off x="892760" y="4845174"/>
            <a:ext cx="4211514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altLang="zh-CN" sz="2400" b="1" dirty="0">
                <a:solidFill>
                  <a:srgbClr val="FF00FF"/>
                </a:solidFill>
                <a:ea typeface="黑体" pitchFamily="2" charset="-122"/>
              </a:rPr>
              <a:t> </a:t>
            </a:r>
            <a:r>
              <a:rPr kumimoji="1" lang="en-US" altLang="zh-CN" sz="2800" b="1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2800" b="1" baseline="30000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c</a:t>
            </a:r>
            <a:r>
              <a:rPr kumimoji="1" lang="en-US" altLang="zh-CN" sz="2800" b="1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0.6</a:t>
            </a:r>
            <a:r>
              <a:rPr lang="en-US" altLang="zh-CN" sz="2800" b="1" dirty="0">
                <a:solidFill>
                  <a:srgbClr val="FF00FF"/>
                </a:solidFill>
                <a:ea typeface="黑体" pitchFamily="2" charset="-122"/>
              </a:rPr>
              <a:t>=</a:t>
            </a:r>
            <a:r>
              <a:rPr kumimoji="1" lang="en-US" altLang="zh-CN" sz="2800" b="1" dirty="0">
                <a:solidFill>
                  <a:srgbClr val="FF00FF"/>
                </a:solidFill>
                <a:sym typeface="Symbol" pitchFamily="18" charset="2"/>
              </a:rPr>
              <a:t>[0,0.2]</a:t>
            </a:r>
            <a:r>
              <a:rPr kumimoji="1" lang="en-US" altLang="zh-CN" sz="2800" b="1" dirty="0">
                <a:solidFill>
                  <a:srgbClr val="FF00FF"/>
                </a:solidFill>
                <a:sym typeface="Symbol"/>
              </a:rPr>
              <a:t></a:t>
            </a:r>
            <a:r>
              <a:rPr kumimoji="1" lang="en-US" altLang="zh-CN" sz="2800" b="1" dirty="0">
                <a:solidFill>
                  <a:srgbClr val="FF00FF"/>
                </a:solidFill>
              </a:rPr>
              <a:t>[1.1, 3/2</a:t>
            </a:r>
            <a:r>
              <a:rPr kumimoji="1" lang="en-US" altLang="zh-CN" sz="2800" b="1" dirty="0">
                <a:solidFill>
                  <a:srgbClr val="FF00FF"/>
                </a:solidFill>
                <a:sym typeface="Symbol" pitchFamily="18" charset="2"/>
              </a:rPr>
              <a:t>]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1" lang="en-US" altLang="zh-CN" sz="1200" b="1" dirty="0">
              <a:solidFill>
                <a:srgbClr val="FF00FF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kumimoji="1" lang="en-US" altLang="zh-CN" sz="32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kumimoji="1" lang="en-US" altLang="zh-CN" sz="32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0.6</a:t>
            </a:r>
            <a:r>
              <a:rPr kumimoji="1"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)</a:t>
            </a:r>
            <a:r>
              <a:rPr kumimoji="1" lang="en-US" altLang="zh-CN" sz="32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c </a:t>
            </a:r>
            <a:r>
              <a:rPr kumimoji="1"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≠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3200" b="1" baseline="30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sz="32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0.6</a:t>
            </a:r>
            <a:r>
              <a:rPr lang="en-US" altLang="zh-CN" sz="20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08583" name="Text Box 39"/>
          <p:cNvSpPr txBox="1">
            <a:spLocks noChangeArrowheads="1"/>
          </p:cNvSpPr>
          <p:nvPr/>
        </p:nvSpPr>
        <p:spPr bwMode="auto">
          <a:xfrm>
            <a:off x="6419776" y="5798592"/>
            <a:ext cx="4752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FF"/>
                </a:solidFill>
              </a:rPr>
              <a:t>0.2                                          1.1</a:t>
            </a:r>
          </a:p>
        </p:txBody>
      </p:sp>
      <p:sp>
        <p:nvSpPr>
          <p:cNvPr id="2" name="矩形 1"/>
          <p:cNvSpPr/>
          <p:nvPr/>
        </p:nvSpPr>
        <p:spPr>
          <a:xfrm>
            <a:off x="1992835" y="3555443"/>
            <a:ext cx="1874565" cy="468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D529BB-165F-FB64-C110-890A951514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45525" y="6290140"/>
            <a:ext cx="2844800" cy="457200"/>
          </a:xfrm>
        </p:spPr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0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8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0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0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0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8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08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79" grpId="0" uiExpand="1" build="p"/>
      <p:bldP spid="108554" grpId="0" animBg="1"/>
      <p:bldP spid="108555" grpId="0" animBg="1"/>
      <p:bldP spid="108557" grpId="0" animBg="1"/>
      <p:bldP spid="108558" grpId="0" animBg="1"/>
      <p:bldP spid="108560" grpId="0" animBg="1"/>
      <p:bldP spid="108561" grpId="0" animBg="1"/>
      <p:bldP spid="108562" grpId="0" animBg="1"/>
      <p:bldP spid="108563" grpId="0" animBg="1"/>
      <p:bldP spid="108564" grpId="0" animBg="1"/>
      <p:bldP spid="108565" grpId="0" uiExpand="1" animBg="1"/>
      <p:bldP spid="108566" grpId="0" uiExpand="1" animBg="1"/>
      <p:bldP spid="108567" grpId="0" animBg="1"/>
      <p:bldP spid="108568" grpId="0" animBg="1"/>
      <p:bldP spid="108569" grpId="0" uiExpand="1" animBg="1"/>
      <p:bldP spid="108570" grpId="0" animBg="1"/>
      <p:bldP spid="108572" grpId="0" uiExpand="1"/>
      <p:bldP spid="108573" grpId="0"/>
      <p:bldP spid="108576" grpId="0"/>
      <p:bldP spid="108577" grpId="0"/>
      <p:bldP spid="108578" grpId="0"/>
      <p:bldP spid="108583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91512" cy="935037"/>
          </a:xfrm>
        </p:spPr>
        <p:txBody>
          <a:bodyPr/>
          <a:lstStyle/>
          <a:p>
            <a:pPr algn="ctr" eaLnBrk="1" hangingPunct="1"/>
            <a:r>
              <a:rPr lang="en-US" altLang="zh-CN" sz="4800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1.6</a:t>
            </a:r>
            <a:r>
              <a:rPr lang="en-US" altLang="zh-CN" sz="48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 </a:t>
            </a:r>
            <a:r>
              <a:rPr lang="zh-CN" altLang="en-US" sz="48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分解定理</a:t>
            </a:r>
            <a:endParaRPr lang="zh-CN" altLang="en-US" sz="5400" b="1" dirty="0">
              <a:latin typeface="宋体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565176" y="4772819"/>
            <a:ext cx="11017224" cy="1801813"/>
          </a:xfrm>
          <a:solidFill>
            <a:srgbClr val="FFFFCC"/>
          </a:solidFill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黑体" pitchFamily="49" charset="-122"/>
              </a:rPr>
              <a:t> </a:t>
            </a:r>
            <a:r>
              <a:rPr lang="zh-CN" altLang="en-US" dirty="0">
                <a:ea typeface="黑体" pitchFamily="49" charset="-122"/>
              </a:rPr>
              <a:t>当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从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en-US" dirty="0">
                <a:ea typeface="黑体" pitchFamily="49" charset="-122"/>
                <a:sym typeface="Symbol" pitchFamily="18" charset="2"/>
              </a:rPr>
              <a:t>→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0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而不到达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0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时， </a:t>
            </a:r>
            <a:r>
              <a:rPr kumimoji="1" lang="en-US" altLang="zh-CN" i="1" dirty="0">
                <a:ea typeface="黑体" pitchFamily="49" charset="-122"/>
              </a:rPr>
              <a:t>A</a:t>
            </a:r>
            <a:r>
              <a:rPr kumimoji="1" lang="en-US" altLang="zh-CN" baseline="-25000" dirty="0">
                <a:ea typeface="黑体" pitchFamily="49" charset="-122"/>
                <a:sym typeface="Symbol" pitchFamily="18" charset="2"/>
              </a:rPr>
              <a:t></a:t>
            </a:r>
            <a:r>
              <a:rPr lang="zh-CN" altLang="en-US" dirty="0">
                <a:ea typeface="黑体" pitchFamily="49" charset="-122"/>
              </a:rPr>
              <a:t>从</a:t>
            </a:r>
            <a:r>
              <a:rPr lang="en-US" altLang="zh-CN" dirty="0">
                <a:ea typeface="黑体" pitchFamily="49" charset="-122"/>
              </a:rPr>
              <a:t>Ker A</a:t>
            </a:r>
            <a:r>
              <a:rPr lang="zh-CN" altLang="en-US" dirty="0">
                <a:ea typeface="黑体" pitchFamily="49" charset="-122"/>
              </a:rPr>
              <a:t>逐渐扩展到</a:t>
            </a:r>
            <a:r>
              <a:rPr lang="en-US" altLang="zh-CN" dirty="0">
                <a:ea typeface="黑体" pitchFamily="49" charset="-122"/>
              </a:rPr>
              <a:t>Supp A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黑体" pitchFamily="49" charset="-122"/>
              </a:rPr>
              <a:t>所以可将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看作：从</a:t>
            </a:r>
            <a:r>
              <a:rPr lang="en-US" altLang="zh-CN" dirty="0">
                <a:ea typeface="黑体" pitchFamily="49" charset="-122"/>
              </a:rPr>
              <a:t>Ker A </a:t>
            </a:r>
            <a:r>
              <a:rPr lang="zh-CN" altLang="en-US" dirty="0">
                <a:ea typeface="黑体" pitchFamily="49" charset="-122"/>
              </a:rPr>
              <a:t>和</a:t>
            </a:r>
            <a:r>
              <a:rPr lang="en-US" altLang="zh-CN" dirty="0">
                <a:ea typeface="黑体" pitchFamily="49" charset="-122"/>
              </a:rPr>
              <a:t>Supp A</a:t>
            </a:r>
            <a:r>
              <a:rPr lang="zh-CN" altLang="en-US" dirty="0">
                <a:ea typeface="黑体" pitchFamily="49" charset="-122"/>
              </a:rPr>
              <a:t>之间游移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即将</a:t>
            </a:r>
            <a:r>
              <a:rPr lang="en-US" altLang="zh-CN" dirty="0">
                <a:solidFill>
                  <a:srgbClr val="0000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集</a:t>
            </a:r>
            <a:r>
              <a:rPr lang="en-US" altLang="zh-CN" dirty="0">
                <a:solidFill>
                  <a:srgbClr val="0000FF"/>
                </a:solidFill>
                <a:ea typeface="黑体" pitchFamily="49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看作：普通集合族</a:t>
            </a:r>
            <a:r>
              <a:rPr lang="en-US" altLang="zh-CN" dirty="0">
                <a:solidFill>
                  <a:srgbClr val="0000FF"/>
                </a:solidFill>
                <a:ea typeface="黑体" pitchFamily="49" charset="-122"/>
              </a:rPr>
              <a:t>{</a:t>
            </a:r>
            <a:r>
              <a:rPr kumimoji="1" lang="en-US" altLang="zh-CN" i="1" dirty="0">
                <a:solidFill>
                  <a:srgbClr val="0000FF"/>
                </a:solidFill>
                <a:ea typeface="黑体" pitchFamily="49" charset="-122"/>
              </a:rPr>
              <a:t>A</a:t>
            </a:r>
            <a:r>
              <a:rPr kumimoji="1" lang="en-US" altLang="zh-CN" baseline="-250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dirty="0">
                <a:solidFill>
                  <a:srgbClr val="0000FF"/>
                </a:solidFill>
                <a:ea typeface="黑体" pitchFamily="49" charset="-122"/>
              </a:rPr>
              <a:t>|</a:t>
            </a:r>
            <a:r>
              <a:rPr kumimoji="1" lang="en-US" altLang="zh-CN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[0,1]}</a:t>
            </a:r>
            <a:r>
              <a:rPr kumimoji="1" lang="zh-CN" altLang="en-US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的总体。</a:t>
            </a: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2279650" y="3644901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pic>
        <p:nvPicPr>
          <p:cNvPr id="922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89" y="3352800"/>
            <a:ext cx="1238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1" y="1341437"/>
            <a:ext cx="5939445" cy="3431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80251A-02DE-54DF-2796-6F020F5DDD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20336" y="6224586"/>
            <a:ext cx="2844800" cy="457200"/>
          </a:xfrm>
        </p:spPr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Grp="1" noChangeArrowheads="1"/>
          </p:cNvSpPr>
          <p:nvPr>
            <p:ph type="title"/>
          </p:nvPr>
        </p:nvSpPr>
        <p:spPr>
          <a:xfrm>
            <a:off x="2054225" y="73025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sz="48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与分解定理有关的概念</a:t>
            </a: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557338"/>
            <a:ext cx="8218488" cy="43100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ea typeface="黑体" pitchFamily="2" charset="-122"/>
              </a:rPr>
              <a:t>[</a:t>
            </a:r>
            <a:r>
              <a:rPr lang="zh-CN" altLang="en-US" sz="2800" dirty="0">
                <a:ea typeface="黑体" pitchFamily="2" charset="-122"/>
              </a:rPr>
              <a:t>定义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设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[0,1]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sz="2800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kumimoji="1"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(U), 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记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           </a:t>
            </a:r>
            <a:r>
              <a:rPr kumimoji="1" lang="en-US" altLang="zh-CN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A</a:t>
            </a:r>
            <a:r>
              <a:rPr kumimoji="1" lang="en-US" altLang="zh-CN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)(u) = </a:t>
            </a:r>
            <a:r>
              <a:rPr kumimoji="1" lang="en-US" altLang="zh-CN" sz="2800" b="1" i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en-US" sz="2400" b="1" dirty="0">
                <a:solidFill>
                  <a:srgbClr val="FF0000"/>
                </a:solidFill>
                <a:sym typeface="Symbol"/>
              </a:rPr>
              <a:t> </a:t>
            </a:r>
            <a:r>
              <a:rPr kumimoji="1" lang="en-US" altLang="zh-CN" sz="2800" b="1" i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(u)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kumimoji="1" lang="en-US" altLang="zh-CN" sz="2800" b="1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kumimoji="1" lang="en-US" altLang="zh-CN" sz="2800" b="1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kumimoji="1" lang="en-US" altLang="zh-CN" sz="2000" b="1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   称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为  与</a:t>
            </a:r>
            <a:r>
              <a:rPr kumimoji="1" lang="en-US" altLang="zh-CN" sz="2800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的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数积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。（ </a:t>
            </a:r>
            <a:r>
              <a:rPr kumimoji="1" lang="en-US" altLang="zh-CN" sz="2800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也是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集）</a:t>
            </a:r>
          </a:p>
          <a:p>
            <a:pPr eaLnBrk="1" hangingPunct="1">
              <a:defRPr/>
            </a:pP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当</a:t>
            </a:r>
            <a:r>
              <a:rPr kumimoji="1" lang="en-US" altLang="zh-CN" sz="2800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为普通集时，</a:t>
            </a:r>
            <a:r>
              <a:rPr kumimoji="1" lang="zh-CN" altLang="en-US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</a:t>
            </a:r>
            <a:r>
              <a:rPr kumimoji="1" lang="en-US" altLang="zh-CN" sz="2800" i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就变为模糊集合</a:t>
            </a:r>
            <a:r>
              <a:rPr kumimoji="1" lang="zh-CN" altLang="en-US" sz="2800" b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 </a:t>
            </a:r>
          </a:p>
          <a:p>
            <a:pPr eaLnBrk="1" hangingPunct="1">
              <a:buNone/>
              <a:defRPr/>
            </a:pPr>
            <a:r>
              <a:rPr kumimoji="1" lang="zh-CN" altLang="en-US" sz="2800" b="1" dirty="0">
                <a:ea typeface="黑体" pitchFamily="2" charset="-122"/>
                <a:sym typeface="Symbol" pitchFamily="18" charset="2"/>
              </a:rPr>
              <a:t>         </a:t>
            </a:r>
            <a:r>
              <a:rPr kumimoji="1" lang="en-US" altLang="zh-CN" sz="2800" b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A</a:t>
            </a:r>
            <a:r>
              <a:rPr kumimoji="1" lang="en-US" altLang="zh-CN" sz="2800" b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)(u)=</a:t>
            </a:r>
            <a:r>
              <a:rPr kumimoji="1" lang="en-US" altLang="zh-CN" sz="2800" b="1" i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 </a:t>
            </a:r>
            <a:r>
              <a:rPr kumimoji="1" lang="en-US" altLang="en-US" sz="2400" b="1" dirty="0">
                <a:solidFill>
                  <a:srgbClr val="CC00CC"/>
                </a:solidFill>
                <a:sym typeface="Symbol"/>
              </a:rPr>
              <a:t> </a:t>
            </a:r>
            <a:r>
              <a:rPr kumimoji="1" lang="en-US" altLang="zh-CN" sz="2400" b="1" dirty="0">
                <a:solidFill>
                  <a:srgbClr val="CC00CC"/>
                </a:solidFill>
                <a:sym typeface="Symbol" pitchFamily="18" charset="2"/>
              </a:rPr>
              <a:t>C</a:t>
            </a:r>
            <a:r>
              <a:rPr kumimoji="1" lang="en-US" altLang="zh-CN" sz="2800" b="1" i="1" baseline="-250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(u)</a:t>
            </a:r>
          </a:p>
        </p:txBody>
      </p:sp>
      <p:graphicFrame>
        <p:nvGraphicFramePr>
          <p:cNvPr id="2062" name="Object 1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11450" y="2781300"/>
          <a:ext cx="55213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74900" imgH="457200" progId="Equation.3">
                  <p:embed/>
                </p:oleObj>
              </mc:Choice>
              <mc:Fallback>
                <p:oleObj name="公式" r:id="rId3" imgW="2374900" imgH="457200" progId="Equation.3">
                  <p:embed/>
                  <p:pic>
                    <p:nvPicPr>
                      <p:cNvPr id="20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781300"/>
                        <a:ext cx="552132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855913" y="5661025"/>
          <a:ext cx="3313112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35100" imgH="457200" progId="Equation.3">
                  <p:embed/>
                </p:oleObj>
              </mc:Choice>
              <mc:Fallback>
                <p:oleObj name="公式" r:id="rId5" imgW="1435100" imgH="457200" progId="Equation.3">
                  <p:embed/>
                  <p:pic>
                    <p:nvPicPr>
                      <p:cNvPr id="20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661025"/>
                        <a:ext cx="3313112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" name="AutoShape 12"/>
          <p:cNvSpPr>
            <a:spLocks noChangeArrowheads="1"/>
          </p:cNvSpPr>
          <p:nvPr/>
        </p:nvSpPr>
        <p:spPr bwMode="auto">
          <a:xfrm>
            <a:off x="6456364" y="5229226"/>
            <a:ext cx="2016125" cy="504825"/>
          </a:xfrm>
          <a:prstGeom prst="wedgeRoundRectCallout">
            <a:avLst>
              <a:gd name="adj1" fmla="val -85907"/>
              <a:gd name="adj2" fmla="val -26417"/>
              <a:gd name="adj3" fmla="val 16667"/>
            </a:avLst>
          </a:prstGeom>
          <a:solidFill>
            <a:srgbClr val="FFC000"/>
          </a:solidFill>
          <a:ln>
            <a:noFill/>
          </a:ln>
          <a:effectLst/>
        </p:spPr>
        <p:txBody>
          <a:bodyPr/>
          <a:lstStyle/>
          <a:p>
            <a:pPr algn="ctr"/>
            <a:r>
              <a:rPr lang="en-US" altLang="zh-CN" sz="2000" i="1" dirty="0"/>
              <a:t>C</a:t>
            </a:r>
            <a:r>
              <a:rPr lang="en-US" altLang="zh-CN" sz="2000" i="1" baseline="-25000" dirty="0"/>
              <a:t>A</a:t>
            </a:r>
            <a:r>
              <a:rPr lang="en-US" altLang="zh-CN" sz="2000" dirty="0"/>
              <a:t>(u)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dirty="0"/>
              <a:t>{0,1}</a:t>
            </a:r>
          </a:p>
        </p:txBody>
      </p:sp>
      <p:sp>
        <p:nvSpPr>
          <p:cNvPr id="2" name="矩形 1"/>
          <p:cNvSpPr/>
          <p:nvPr/>
        </p:nvSpPr>
        <p:spPr>
          <a:xfrm>
            <a:off x="5064423" y="4500947"/>
            <a:ext cx="3168352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AEA48C-E5A2-18FA-9563-630D04C047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7" grpId="0" uiExpand="1" build="p"/>
      <p:bldP spid="2060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2" y="41276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与分解定理有关的概念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6"/>
            <a:ext cx="8218488" cy="4454525"/>
          </a:xfrm>
        </p:spPr>
        <p:txBody>
          <a:bodyPr/>
          <a:lstStyle/>
          <a:p>
            <a:pPr eaLnBrk="1" hangingPunct="1"/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数积</a:t>
            </a:r>
            <a:r>
              <a:rPr kumimoji="1" lang="zh-CN" altLang="en-US" sz="3200" b="1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3200" b="1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具有如下性质：</a:t>
            </a:r>
          </a:p>
          <a:p>
            <a:pPr lvl="1" eaLnBrk="1" hangingPunct="1"/>
            <a:r>
              <a:rPr kumimoji="1" lang="zh-CN" altLang="en-US" sz="2800" b="1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性质</a:t>
            </a:r>
            <a:r>
              <a:rPr kumimoji="1" lang="en-US" altLang="zh-CN" sz="2800" b="1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1</a:t>
            </a:r>
            <a:r>
              <a:rPr kumimoji="1" lang="zh-CN" altLang="en-US" sz="2800" b="1" dirty="0">
                <a:ea typeface="黑体" pitchFamily="49" charset="-122"/>
                <a:sym typeface="Symbol" pitchFamily="18" charset="2"/>
              </a:rPr>
              <a:t>：</a:t>
            </a:r>
            <a:r>
              <a:rPr kumimoji="1" lang="zh-CN" altLang="en-US" sz="2800" b="1" dirty="0">
                <a:sym typeface="Symbol" pitchFamily="18" charset="2"/>
              </a:rPr>
              <a:t> </a:t>
            </a:r>
            <a:r>
              <a:rPr kumimoji="1" lang="zh-CN" altLang="en-US" sz="2800" b="1" dirty="0"/>
              <a:t>≤ </a:t>
            </a:r>
            <a:r>
              <a:rPr kumimoji="1" lang="zh-CN" altLang="en-US" sz="2800" b="1" dirty="0">
                <a:sym typeface="Symbol" pitchFamily="18" charset="2"/>
              </a:rPr>
              <a:t></a:t>
            </a:r>
            <a:r>
              <a:rPr kumimoji="1" lang="zh-CN" altLang="en-US" sz="2800" b="1" dirty="0"/>
              <a:t> </a:t>
            </a:r>
            <a:r>
              <a:rPr kumimoji="1" lang="zh-CN" altLang="en-US" sz="2800" b="1" dirty="0">
                <a:sym typeface="Symbol" pitchFamily="18" charset="2"/>
              </a:rPr>
              <a:t> </a:t>
            </a:r>
            <a:r>
              <a:rPr kumimoji="1" lang="en-US" altLang="zh-CN" sz="2800" b="1" i="1" dirty="0"/>
              <a:t>A </a:t>
            </a:r>
            <a:r>
              <a:rPr kumimoji="1" lang="en-US" altLang="zh-CN" sz="2800" b="1" dirty="0">
                <a:sym typeface="Symbol" pitchFamily="18" charset="2"/>
              </a:rPr>
              <a:t></a:t>
            </a:r>
            <a:r>
              <a:rPr kumimoji="1" lang="en-US" altLang="zh-CN" sz="2800" b="1" i="1" dirty="0"/>
              <a:t> </a:t>
            </a:r>
            <a:r>
              <a:rPr kumimoji="1" lang="en-US" altLang="zh-CN" sz="2800" b="1" dirty="0">
                <a:sym typeface="Symbol" pitchFamily="18" charset="2"/>
              </a:rPr>
              <a:t></a:t>
            </a:r>
            <a:r>
              <a:rPr kumimoji="1" lang="en-US" altLang="zh-CN" sz="2800" b="1" i="1" dirty="0">
                <a:sym typeface="Symbol" pitchFamily="18" charset="2"/>
              </a:rPr>
              <a:t>A</a:t>
            </a:r>
            <a:endParaRPr kumimoji="1" lang="en-US" altLang="zh-CN" sz="2800" b="1" dirty="0">
              <a:sym typeface="Symbol" pitchFamily="18" charset="2"/>
            </a:endParaRPr>
          </a:p>
          <a:p>
            <a:pPr lvl="1" eaLnBrk="1" hangingPunct="1"/>
            <a:r>
              <a:rPr kumimoji="1" lang="zh-CN" altLang="en-US" sz="2800" b="1" dirty="0">
                <a:solidFill>
                  <a:srgbClr val="0000FF"/>
                </a:solidFill>
              </a:rPr>
              <a:t>性质</a:t>
            </a:r>
            <a:r>
              <a:rPr kumimoji="1" lang="en-US" altLang="zh-CN" sz="2800" b="1" dirty="0">
                <a:solidFill>
                  <a:srgbClr val="0000FF"/>
                </a:solidFill>
              </a:rPr>
              <a:t>2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：</a:t>
            </a:r>
            <a:r>
              <a:rPr kumimoji="1" lang="en-US" altLang="zh-CN" sz="2800" b="1" i="1" dirty="0"/>
              <a:t>A</a:t>
            </a:r>
            <a:r>
              <a:rPr kumimoji="1" lang="en-US" altLang="zh-CN" sz="2800" b="1" dirty="0">
                <a:sym typeface="Symbol" pitchFamily="18" charset="2"/>
              </a:rPr>
              <a:t>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en-US" altLang="zh-CN" sz="2800" b="1" dirty="0"/>
              <a:t> </a:t>
            </a:r>
            <a:r>
              <a:rPr kumimoji="1" lang="en-US" altLang="zh-CN" sz="2800" b="1" dirty="0">
                <a:sym typeface="Symbol" pitchFamily="18" charset="2"/>
              </a:rPr>
              <a:t> </a:t>
            </a:r>
            <a:r>
              <a:rPr kumimoji="1" lang="en-US" altLang="zh-CN" sz="2800" b="1" i="1" dirty="0"/>
              <a:t>A </a:t>
            </a:r>
            <a:r>
              <a:rPr kumimoji="1" lang="en-US" altLang="zh-CN" sz="2800" b="1" dirty="0">
                <a:sym typeface="Symbol" pitchFamily="18" charset="2"/>
              </a:rPr>
              <a:t> </a:t>
            </a:r>
            <a:r>
              <a:rPr kumimoji="1" lang="en-US" altLang="zh-CN" sz="2800" b="1" i="1" dirty="0">
                <a:sym typeface="Symbol" pitchFamily="18" charset="2"/>
              </a:rPr>
              <a:t>B</a:t>
            </a:r>
            <a:r>
              <a:rPr kumimoji="1" lang="zh-CN" altLang="en-US" sz="2800" b="1" dirty="0">
                <a:sym typeface="Symbol" pitchFamily="18" charset="2"/>
              </a:rPr>
              <a:t>；</a:t>
            </a:r>
          </a:p>
          <a:p>
            <a:pPr eaLnBrk="1" hangingPunct="1"/>
            <a:r>
              <a:rPr kumimoji="1" lang="en-US" altLang="zh-CN" sz="3200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zh-CN" altLang="en-US" sz="3200" b="1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3200" b="1" i="1" dirty="0">
                <a:solidFill>
                  <a:srgbClr val="FF00FF"/>
                </a:solidFill>
                <a:ea typeface="黑体" pitchFamily="49" charset="-122"/>
              </a:rPr>
              <a:t>A</a:t>
            </a:r>
            <a:r>
              <a:rPr kumimoji="1" lang="en-US" altLang="zh-CN" b="1" baseline="-250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的隶属函数为</a:t>
            </a:r>
          </a:p>
        </p:txBody>
      </p:sp>
      <p:graphicFrame>
        <p:nvGraphicFramePr>
          <p:cNvPr id="6349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16275" y="5157788"/>
          <a:ext cx="38163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22400" imgH="482600" progId="Equation.3">
                  <p:embed/>
                </p:oleObj>
              </mc:Choice>
              <mc:Fallback>
                <p:oleObj name="公式" r:id="rId2" imgW="1422400" imgH="482600" progId="Equation.3">
                  <p:embed/>
                  <p:pic>
                    <p:nvPicPr>
                      <p:cNvPr id="63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5157788"/>
                        <a:ext cx="38163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51263" y="3716338"/>
          <a:ext cx="33528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57200" progId="Equation.DSMT4">
                  <p:embed/>
                </p:oleObj>
              </mc:Choice>
              <mc:Fallback>
                <p:oleObj name="Equation" r:id="rId4" imgW="1371600" imgH="457200" progId="Equation.DSMT4">
                  <p:embed/>
                  <p:pic>
                    <p:nvPicPr>
                      <p:cNvPr id="63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3716338"/>
                        <a:ext cx="33528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CF9871-AB17-F777-BC33-2CC765FAE6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1784"/>
            <a:ext cx="8229600" cy="1196976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分解定理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268413"/>
            <a:ext cx="10225136" cy="54737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[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分解定理</a:t>
            </a:r>
            <a:r>
              <a:rPr lang="en-US" altLang="zh-CN" dirty="0">
                <a:ea typeface="黑体" pitchFamily="49" charset="-122"/>
              </a:rPr>
              <a:t>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]: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设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则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证：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因</a:t>
            </a:r>
            <a:r>
              <a:rPr kumimoji="1" lang="en-US" altLang="zh-CN" sz="2800" i="1" dirty="0">
                <a:ea typeface="黑体" pitchFamily="49" charset="-122"/>
              </a:rPr>
              <a:t>A</a:t>
            </a:r>
            <a:r>
              <a:rPr kumimoji="1" lang="en-US" altLang="zh-CN" sz="2800" i="1" baseline="-25000" dirty="0">
                <a:ea typeface="黑体" pitchFamily="49" charset="-122"/>
                <a:sym typeface="Symbol" pitchFamily="18" charset="2"/>
              </a:rPr>
              <a:t>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是普通集合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,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其特征函数</a:t>
            </a: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于是，对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</a:t>
            </a:r>
            <a:r>
              <a:rPr lang="en-US" altLang="zh-CN" sz="2800" dirty="0" err="1">
                <a:latin typeface="黑体" pitchFamily="49" charset="-122"/>
                <a:ea typeface="黑体" pitchFamily="49" charset="-122"/>
              </a:rPr>
              <a:t>u</a:t>
            </a:r>
            <a:r>
              <a:rPr kumimoji="1" lang="en-US" altLang="zh-CN" dirty="0" err="1">
                <a:ea typeface="黑体" pitchFamily="49" charset="-122"/>
                <a:sym typeface="Symbol" pitchFamily="18" charset="2"/>
              </a:rPr>
              <a:t>U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有</a:t>
            </a:r>
          </a:p>
          <a:p>
            <a:pPr eaLnBrk="1" hangingPunct="1">
              <a:buFont typeface="Wingdings" pitchFamily="2" charset="2"/>
              <a:buNone/>
            </a:pPr>
            <a:endParaRPr kumimoji="1" lang="zh-CN" altLang="en-US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1800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1800" dirty="0">
              <a:ea typeface="黑体" pitchFamily="49" charset="-122"/>
              <a:sym typeface="Symbol" pitchFamily="18" charset="2"/>
            </a:endParaRPr>
          </a:p>
          <a:p>
            <a:pPr marL="0" indent="0" algn="r" eaLnBrk="1" hangingPunct="1">
              <a:buNone/>
            </a:pP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    证毕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</a:t>
            </a:r>
          </a:p>
        </p:txBody>
      </p:sp>
      <p:graphicFrame>
        <p:nvGraphicFramePr>
          <p:cNvPr id="1434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996558447"/>
              </p:ext>
            </p:extLst>
          </p:nvPr>
        </p:nvGraphicFramePr>
        <p:xfrm>
          <a:off x="6923981" y="2132856"/>
          <a:ext cx="28082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5100" imgH="457200" progId="Equation.3">
                  <p:embed/>
                </p:oleObj>
              </mc:Choice>
              <mc:Fallback>
                <p:oleObj name="公式" r:id="rId2" imgW="1435100" imgH="457200" progId="Equation.3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981" y="2132856"/>
                        <a:ext cx="2808287" cy="8953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339775"/>
              </p:ext>
            </p:extLst>
          </p:nvPr>
        </p:nvGraphicFramePr>
        <p:xfrm>
          <a:off x="1210568" y="3547542"/>
          <a:ext cx="17764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00100" imgH="368300" progId="Equation.3">
                  <p:embed/>
                </p:oleObj>
              </mc:Choice>
              <mc:Fallback>
                <p:oleObj name="公式" r:id="rId4" imgW="800100" imgH="368300" progId="Equation.3">
                  <p:embed/>
                  <p:pic>
                    <p:nvPicPr>
                      <p:cNvPr id="143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568" y="3547542"/>
                        <a:ext cx="17764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704521"/>
              </p:ext>
            </p:extLst>
          </p:nvPr>
        </p:nvGraphicFramePr>
        <p:xfrm>
          <a:off x="3010793" y="4365180"/>
          <a:ext cx="6551612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79700" imgH="292100" progId="Equation.3">
                  <p:embed/>
                </p:oleObj>
              </mc:Choice>
              <mc:Fallback>
                <p:oleObj name="公式" r:id="rId6" imgW="2679700" imgH="292100" progId="Equation.3">
                  <p:embed/>
                  <p:pic>
                    <p:nvPicPr>
                      <p:cNvPr id="14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793" y="4365180"/>
                        <a:ext cx="6551612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611178"/>
              </p:ext>
            </p:extLst>
          </p:nvPr>
        </p:nvGraphicFramePr>
        <p:xfrm>
          <a:off x="2994918" y="5157341"/>
          <a:ext cx="48561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93900" imgH="292100" progId="Equation.3">
                  <p:embed/>
                </p:oleObj>
              </mc:Choice>
              <mc:Fallback>
                <p:oleObj name="公式" r:id="rId8" imgW="1993900" imgH="292100" progId="Equation.3">
                  <p:embed/>
                  <p:pic>
                    <p:nvPicPr>
                      <p:cNvPr id="143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918" y="5157341"/>
                        <a:ext cx="48561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899121"/>
              </p:ext>
            </p:extLst>
          </p:nvPr>
        </p:nvGraphicFramePr>
        <p:xfrm>
          <a:off x="3010794" y="5964510"/>
          <a:ext cx="33432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84300" imgH="292100" progId="Equation.3">
                  <p:embed/>
                </p:oleObj>
              </mc:Choice>
              <mc:Fallback>
                <p:oleObj name="公式" r:id="rId10" imgW="1384300" imgH="292100" progId="Equation.3">
                  <p:embed/>
                  <p:pic>
                    <p:nvPicPr>
                      <p:cNvPr id="14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794" y="5964510"/>
                        <a:ext cx="33432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278435"/>
              </p:ext>
            </p:extLst>
          </p:nvPr>
        </p:nvGraphicFramePr>
        <p:xfrm>
          <a:off x="7903121" y="6001774"/>
          <a:ext cx="11049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57002" imgH="203112" progId="Equation.3">
                  <p:embed/>
                </p:oleObj>
              </mc:Choice>
              <mc:Fallback>
                <p:oleObj name="公式" r:id="rId12" imgW="457002" imgH="203112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3121" y="6001774"/>
                        <a:ext cx="11049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541787"/>
              </p:ext>
            </p:extLst>
          </p:nvPr>
        </p:nvGraphicFramePr>
        <p:xfrm>
          <a:off x="6372646" y="5947915"/>
          <a:ext cx="1379538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1320" imgH="291960" progId="Equation.DSMT4">
                  <p:embed/>
                </p:oleObj>
              </mc:Choice>
              <mc:Fallback>
                <p:oleObj name="Equation" r:id="rId14" imgW="571320" imgH="29196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646" y="5947915"/>
                        <a:ext cx="1379538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571242"/>
              </p:ext>
            </p:extLst>
          </p:nvPr>
        </p:nvGraphicFramePr>
        <p:xfrm>
          <a:off x="3010793" y="3573463"/>
          <a:ext cx="24257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92200" imgH="457200" progId="Equation.3">
                  <p:embed/>
                </p:oleObj>
              </mc:Choice>
              <mc:Fallback>
                <p:oleObj name="公式" r:id="rId16" imgW="1092200" imgH="4572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793" y="3573463"/>
                        <a:ext cx="24257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090294" y="4436617"/>
            <a:ext cx="2592387" cy="576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835081" y="4425505"/>
            <a:ext cx="2592387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090294" y="5228779"/>
            <a:ext cx="1728787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890320" y="5244654"/>
            <a:ext cx="1736725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66A096-905B-35E2-A881-ACE266E8F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5256" y="6262124"/>
            <a:ext cx="2844800" cy="457200"/>
          </a:xfrm>
        </p:spPr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graphicFrame>
        <p:nvGraphicFramePr>
          <p:cNvPr id="1434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73475170"/>
              </p:ext>
            </p:extLst>
          </p:nvPr>
        </p:nvGraphicFramePr>
        <p:xfrm>
          <a:off x="6618982" y="1268413"/>
          <a:ext cx="20161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76300" imgH="368300" progId="Equation.3">
                  <p:embed/>
                </p:oleObj>
              </mc:Choice>
              <mc:Fallback>
                <p:oleObj name="公式" r:id="rId18" imgW="876300" imgH="368300" progId="Equation.3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982" y="1268413"/>
                        <a:ext cx="2016125" cy="847725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ine 33">
            <a:extLst>
              <a:ext uri="{FF2B5EF4-FFF2-40B4-BE49-F238E27FC236}">
                <a16:creationId xmlns:a16="http://schemas.microsoft.com/office/drawing/2014/main" id="{00B1CC18-D047-48D4-A91A-0CC21D86F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0346" y="3350183"/>
            <a:ext cx="2006" cy="253738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33">
            <a:extLst>
              <a:ext uri="{FF2B5EF4-FFF2-40B4-BE49-F238E27FC236}">
                <a16:creationId xmlns:a16="http://schemas.microsoft.com/office/drawing/2014/main" id="{B8682C86-6BAD-4F52-8366-95E71C79B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5842" y="3325813"/>
            <a:ext cx="2006" cy="253738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7634262" y="3396691"/>
            <a:ext cx="3344862" cy="2516187"/>
            <a:chOff x="5138738" y="3386138"/>
            <a:chExt cx="3344862" cy="2516187"/>
          </a:xfrm>
        </p:grpSpPr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5557372" y="4101306"/>
              <a:ext cx="0" cy="1778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21"/>
            <p:cNvSpPr>
              <a:spLocks noChangeArrowheads="1"/>
            </p:cNvSpPr>
            <p:nvPr/>
          </p:nvSpPr>
          <p:spPr bwMode="auto">
            <a:xfrm>
              <a:off x="5138738" y="5518150"/>
              <a:ext cx="3344862" cy="355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Rectangle 22"/>
            <p:cNvSpPr>
              <a:spLocks noChangeArrowheads="1"/>
            </p:cNvSpPr>
            <p:nvPr/>
          </p:nvSpPr>
          <p:spPr bwMode="auto">
            <a:xfrm>
              <a:off x="5138738" y="5162550"/>
              <a:ext cx="3240087" cy="714375"/>
            </a:xfrm>
            <a:prstGeom prst="rect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Rectangle 23"/>
            <p:cNvSpPr>
              <a:spLocks noChangeArrowheads="1"/>
            </p:cNvSpPr>
            <p:nvPr/>
          </p:nvSpPr>
          <p:spPr bwMode="auto">
            <a:xfrm>
              <a:off x="5192713" y="4806950"/>
              <a:ext cx="2976562" cy="1069975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Rectangle 25"/>
            <p:cNvSpPr>
              <a:spLocks noChangeArrowheads="1"/>
            </p:cNvSpPr>
            <p:nvPr/>
          </p:nvSpPr>
          <p:spPr bwMode="auto">
            <a:xfrm>
              <a:off x="5557838" y="4095750"/>
              <a:ext cx="2141537" cy="355600"/>
            </a:xfrm>
            <a:prstGeom prst="rect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Rectangle 26"/>
            <p:cNvSpPr>
              <a:spLocks noChangeArrowheads="1"/>
            </p:cNvSpPr>
            <p:nvPr/>
          </p:nvSpPr>
          <p:spPr bwMode="auto">
            <a:xfrm>
              <a:off x="6392863" y="3386138"/>
              <a:ext cx="576262" cy="2490787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Rectangle 27"/>
            <p:cNvSpPr>
              <a:spLocks noChangeArrowheads="1"/>
            </p:cNvSpPr>
            <p:nvPr/>
          </p:nvSpPr>
          <p:spPr bwMode="auto">
            <a:xfrm>
              <a:off x="5870575" y="3740150"/>
              <a:ext cx="1516063" cy="2136775"/>
            </a:xfrm>
            <a:prstGeom prst="rect">
              <a:avLst/>
            </a:prstGeom>
            <a:noFill/>
            <a:ln w="38100">
              <a:solidFill>
                <a:srgbClr val="FFCC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7699375" y="4124325"/>
              <a:ext cx="0" cy="1778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24"/>
            <p:cNvSpPr>
              <a:spLocks noChangeArrowheads="1"/>
            </p:cNvSpPr>
            <p:nvPr/>
          </p:nvSpPr>
          <p:spPr bwMode="auto">
            <a:xfrm>
              <a:off x="5295900" y="4451350"/>
              <a:ext cx="2613025" cy="1425575"/>
            </a:xfrm>
            <a:prstGeom prst="rect">
              <a:avLst/>
            </a:prstGeom>
            <a:noFill/>
            <a:ln w="38100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9CF0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445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对分解定理的理解</a:t>
            </a:r>
          </a:p>
        </p:txBody>
      </p:sp>
      <p:graphicFrame>
        <p:nvGraphicFramePr>
          <p:cNvPr id="13317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847372"/>
              </p:ext>
            </p:extLst>
          </p:nvPr>
        </p:nvGraphicFramePr>
        <p:xfrm>
          <a:off x="4727575" y="1387874"/>
          <a:ext cx="223202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76300" imgH="368300" progId="Equation.3">
                  <p:embed/>
                </p:oleObj>
              </mc:Choice>
              <mc:Fallback>
                <p:oleObj name="公式" r:id="rId3" imgW="876300" imgH="368300" progId="Equation.3">
                  <p:embed/>
                  <p:pic>
                    <p:nvPicPr>
                      <p:cNvPr id="133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1387874"/>
                        <a:ext cx="223202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1484313"/>
            <a:ext cx="7174160" cy="1368425"/>
          </a:xfrm>
        </p:spPr>
        <p:txBody>
          <a:bodyPr/>
          <a:lstStyle/>
          <a:p>
            <a:pPr eaLnBrk="1" hangingPunct="1"/>
            <a:r>
              <a:rPr lang="en-US" altLang="zh-CN" dirty="0"/>
              <a:t>[</a:t>
            </a:r>
            <a:r>
              <a:rPr lang="zh-CN" altLang="en-US" dirty="0">
                <a:ea typeface="黑体" pitchFamily="49" charset="-122"/>
              </a:rPr>
              <a:t>分解定理</a:t>
            </a:r>
            <a:r>
              <a:rPr lang="en-US" altLang="zh-CN" dirty="0">
                <a:ea typeface="黑体" pitchFamily="49" charset="-122"/>
              </a:rPr>
              <a:t>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]</a:t>
            </a:r>
          </a:p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分解定理的流程图</a:t>
            </a:r>
            <a:endParaRPr kumimoji="1" lang="zh-CN" altLang="en-US" dirty="0">
              <a:ea typeface="黑体" pitchFamily="49" charset="-122"/>
              <a:sym typeface="Symbol" pitchFamily="18" charset="2"/>
            </a:endParaRP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3575720" y="2997200"/>
            <a:ext cx="65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zh-CN" altLang="en-US" sz="2400" b="1" dirty="0">
                <a:ea typeface="楷体_GB2312" pitchFamily="49" charset="-122"/>
                <a:sym typeface="Symbol" pitchFamily="18" charset="2"/>
              </a:rPr>
              <a:t>截</a:t>
            </a:r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1487488" y="3236913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模糊集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1600" dirty="0"/>
              <a:t> </a:t>
            </a:r>
          </a:p>
        </p:txBody>
      </p:sp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4727575" y="3284539"/>
            <a:ext cx="1443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经典集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</a:t>
            </a:r>
          </a:p>
        </p:txBody>
      </p:sp>
      <p:sp>
        <p:nvSpPr>
          <p:cNvPr id="68618" name="Rectangle 10"/>
          <p:cNvSpPr>
            <a:spLocks noChangeArrowheads="1"/>
          </p:cNvSpPr>
          <p:nvPr/>
        </p:nvSpPr>
        <p:spPr bwMode="auto">
          <a:xfrm>
            <a:off x="3431704" y="3573464"/>
            <a:ext cx="1025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 dirty="0">
                <a:ea typeface="楷体_GB2312" pitchFamily="49" charset="-122"/>
                <a:sym typeface="Symbol" pitchFamily="18" charset="2"/>
              </a:rPr>
              <a:t>[0,1]</a:t>
            </a:r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4727576" y="4437063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ea typeface="楷体_GB2312" pitchFamily="49" charset="-122"/>
                <a:sym typeface="Symbol" pitchFamily="18" charset="2"/>
              </a:rPr>
              <a:t>截积</a:t>
            </a: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3071813" y="5492080"/>
            <a:ext cx="117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F</a:t>
            </a:r>
            <a:r>
              <a:rPr kumimoji="1" lang="zh-CN" altLang="en-US" sz="24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集</a:t>
            </a:r>
            <a:r>
              <a:rPr kumimoji="1" lang="en-US" altLang="zh-CN" sz="2400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400" b="1" baseline="-25000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</a:t>
            </a:r>
          </a:p>
        </p:txBody>
      </p:sp>
      <p:sp>
        <p:nvSpPr>
          <p:cNvPr id="68622" name="Line 14"/>
          <p:cNvSpPr>
            <a:spLocks noChangeShapeType="1"/>
          </p:cNvSpPr>
          <p:nvPr/>
        </p:nvSpPr>
        <p:spPr bwMode="auto">
          <a:xfrm>
            <a:off x="3071664" y="3500438"/>
            <a:ext cx="1584325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3" name="Line 15"/>
          <p:cNvSpPr>
            <a:spLocks noChangeShapeType="1"/>
          </p:cNvSpPr>
          <p:nvPr/>
        </p:nvSpPr>
        <p:spPr bwMode="auto">
          <a:xfrm flipH="1">
            <a:off x="3935413" y="3716339"/>
            <a:ext cx="1223962" cy="1800225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 flipH="1" flipV="1">
            <a:off x="2279650" y="3716339"/>
            <a:ext cx="1079500" cy="1728787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8" name="Line 19"/>
          <p:cNvSpPr>
            <a:spLocks noChangeShapeType="1"/>
          </p:cNvSpPr>
          <p:nvPr/>
        </p:nvSpPr>
        <p:spPr bwMode="auto">
          <a:xfrm>
            <a:off x="7155037" y="5873750"/>
            <a:ext cx="41290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9" name="Freeform 20"/>
          <p:cNvSpPr>
            <a:spLocks/>
          </p:cNvSpPr>
          <p:nvPr/>
        </p:nvSpPr>
        <p:spPr bwMode="auto">
          <a:xfrm>
            <a:off x="7624937" y="3208338"/>
            <a:ext cx="3449637" cy="2665412"/>
          </a:xfrm>
          <a:custGeom>
            <a:avLst/>
            <a:gdLst>
              <a:gd name="T0" fmla="*/ 2147483647 w 2864"/>
              <a:gd name="T1" fmla="*/ 2147483647 h 1898"/>
              <a:gd name="T2" fmla="*/ 2147483647 w 2864"/>
              <a:gd name="T3" fmla="*/ 2147483647 h 1898"/>
              <a:gd name="T4" fmla="*/ 2147483647 w 2864"/>
              <a:gd name="T5" fmla="*/ 2147483647 h 1898"/>
              <a:gd name="T6" fmla="*/ 2147483647 w 2864"/>
              <a:gd name="T7" fmla="*/ 2147483647 h 1898"/>
              <a:gd name="T8" fmla="*/ 2147483647 w 2864"/>
              <a:gd name="T9" fmla="*/ 2147483647 h 18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64" h="1898">
                <a:moveTo>
                  <a:pt x="7" y="1898"/>
                </a:moveTo>
                <a:cubicBezTo>
                  <a:pt x="3" y="1459"/>
                  <a:pt x="0" y="1021"/>
                  <a:pt x="234" y="719"/>
                </a:cubicBezTo>
                <a:cubicBezTo>
                  <a:pt x="468" y="417"/>
                  <a:pt x="1020" y="0"/>
                  <a:pt x="1413" y="83"/>
                </a:cubicBezTo>
                <a:cubicBezTo>
                  <a:pt x="1806" y="166"/>
                  <a:pt x="2350" y="915"/>
                  <a:pt x="2592" y="1217"/>
                </a:cubicBezTo>
                <a:cubicBezTo>
                  <a:pt x="2834" y="1519"/>
                  <a:pt x="2819" y="1785"/>
                  <a:pt x="2864" y="189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6" name="Line 28"/>
          <p:cNvSpPr>
            <a:spLocks noChangeShapeType="1"/>
          </p:cNvSpPr>
          <p:nvPr/>
        </p:nvSpPr>
        <p:spPr bwMode="auto">
          <a:xfrm flipH="1">
            <a:off x="7155036" y="4076700"/>
            <a:ext cx="3071812" cy="190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8" name="Line 29"/>
          <p:cNvSpPr>
            <a:spLocks noChangeShapeType="1"/>
          </p:cNvSpPr>
          <p:nvPr/>
        </p:nvSpPr>
        <p:spPr bwMode="auto">
          <a:xfrm flipH="1">
            <a:off x="7155036" y="3284984"/>
            <a:ext cx="3015310" cy="159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1" name="Line 33"/>
          <p:cNvSpPr>
            <a:spLocks noChangeShapeType="1"/>
          </p:cNvSpPr>
          <p:nvPr/>
        </p:nvSpPr>
        <p:spPr bwMode="auto">
          <a:xfrm>
            <a:off x="8066310" y="4076700"/>
            <a:ext cx="0" cy="17780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2" name="Line 34"/>
          <p:cNvSpPr>
            <a:spLocks noChangeShapeType="1"/>
          </p:cNvSpPr>
          <p:nvPr/>
        </p:nvSpPr>
        <p:spPr bwMode="auto">
          <a:xfrm>
            <a:off x="10194899" y="4124325"/>
            <a:ext cx="0" cy="17780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5" name="Text Box 36"/>
          <p:cNvSpPr txBox="1">
            <a:spLocks noChangeArrowheads="1"/>
          </p:cNvSpPr>
          <p:nvPr/>
        </p:nvSpPr>
        <p:spPr bwMode="auto">
          <a:xfrm>
            <a:off x="11306670" y="5805265"/>
            <a:ext cx="261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sym typeface="Symbol" pitchFamily="18" charset="2"/>
              </a:rPr>
              <a:t>u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044037" y="5932489"/>
            <a:ext cx="2141537" cy="663575"/>
            <a:chOff x="5557838" y="5932488"/>
            <a:chExt cx="2141537" cy="663575"/>
          </a:xfrm>
        </p:grpSpPr>
        <p:sp>
          <p:nvSpPr>
            <p:cNvPr id="68643" name="AutoShape 35"/>
            <p:cNvSpPr>
              <a:spLocks/>
            </p:cNvSpPr>
            <p:nvPr/>
          </p:nvSpPr>
          <p:spPr bwMode="auto">
            <a:xfrm rot="16200000">
              <a:off x="6509544" y="4980782"/>
              <a:ext cx="238125" cy="2141537"/>
            </a:xfrm>
            <a:prstGeom prst="leftBrace">
              <a:avLst>
                <a:gd name="adj1" fmla="val 74944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5" name="Text Box 37"/>
            <p:cNvSpPr txBox="1">
              <a:spLocks noChangeArrowheads="1"/>
            </p:cNvSpPr>
            <p:nvPr/>
          </p:nvSpPr>
          <p:spPr bwMode="auto">
            <a:xfrm>
              <a:off x="6497638" y="6229350"/>
              <a:ext cx="5238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dirty="0">
                  <a:sym typeface="Symbol" pitchFamily="18" charset="2"/>
                </a:rPr>
                <a:t>A</a:t>
              </a:r>
              <a:r>
                <a:rPr kumimoji="1" lang="en-US" altLang="zh-CN" b="1" baseline="-25000" dirty="0">
                  <a:sym typeface="Symbol" pitchFamily="18" charset="2"/>
                </a:rPr>
                <a:t>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842299" y="2852739"/>
            <a:ext cx="417513" cy="3209925"/>
            <a:chOff x="4356100" y="2852738"/>
            <a:chExt cx="417513" cy="3209925"/>
          </a:xfrm>
        </p:grpSpPr>
        <p:sp>
          <p:nvSpPr>
            <p:cNvPr id="13327" name="Line 18"/>
            <p:cNvSpPr>
              <a:spLocks noChangeShapeType="1"/>
            </p:cNvSpPr>
            <p:nvPr/>
          </p:nvSpPr>
          <p:spPr bwMode="auto">
            <a:xfrm flipV="1">
              <a:off x="4668838" y="3148013"/>
              <a:ext cx="0" cy="27257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Text Box 30"/>
            <p:cNvSpPr txBox="1">
              <a:spLocks noChangeArrowheads="1"/>
            </p:cNvSpPr>
            <p:nvPr/>
          </p:nvSpPr>
          <p:spPr bwMode="auto">
            <a:xfrm>
              <a:off x="4356100" y="3208338"/>
              <a:ext cx="26193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13340" name="Text Box 31"/>
            <p:cNvSpPr txBox="1">
              <a:spLocks noChangeArrowheads="1"/>
            </p:cNvSpPr>
            <p:nvPr/>
          </p:nvSpPr>
          <p:spPr bwMode="auto">
            <a:xfrm>
              <a:off x="4356100" y="3976688"/>
              <a:ext cx="261938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ym typeface="Symbol" pitchFamily="18" charset="2"/>
                </a:rPr>
                <a:t></a:t>
              </a:r>
            </a:p>
          </p:txBody>
        </p:sp>
        <p:sp>
          <p:nvSpPr>
            <p:cNvPr id="13341" name="Text Box 32"/>
            <p:cNvSpPr txBox="1">
              <a:spLocks noChangeArrowheads="1"/>
            </p:cNvSpPr>
            <p:nvPr/>
          </p:nvSpPr>
          <p:spPr bwMode="auto">
            <a:xfrm>
              <a:off x="4356100" y="5695950"/>
              <a:ext cx="26193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</a:t>
              </a:r>
            </a:p>
          </p:txBody>
        </p:sp>
        <p:sp>
          <p:nvSpPr>
            <p:cNvPr id="13347" name="Text Box 38"/>
            <p:cNvSpPr txBox="1">
              <a:spLocks noChangeArrowheads="1"/>
            </p:cNvSpPr>
            <p:nvPr/>
          </p:nvSpPr>
          <p:spPr bwMode="auto">
            <a:xfrm>
              <a:off x="4513263" y="2852738"/>
              <a:ext cx="2603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ym typeface="Symbol" pitchFamily="18" charset="2"/>
                </a:rPr>
                <a:t></a:t>
              </a:r>
            </a:p>
          </p:txBody>
        </p:sp>
      </p:grpSp>
      <p:sp>
        <p:nvSpPr>
          <p:cNvPr id="68647" name="Text Box 39"/>
          <p:cNvSpPr txBox="1">
            <a:spLocks noChangeArrowheads="1"/>
          </p:cNvSpPr>
          <p:nvPr/>
        </p:nvSpPr>
        <p:spPr bwMode="auto">
          <a:xfrm>
            <a:off x="10552286" y="3563938"/>
            <a:ext cx="754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solidFill>
                  <a:srgbClr val="33CC33"/>
                </a:solidFill>
                <a:sym typeface="Symbol" pitchFamily="18" charset="2"/>
              </a:rPr>
              <a:t>A</a:t>
            </a:r>
            <a:r>
              <a:rPr kumimoji="1" lang="en-US" altLang="zh-CN" b="1" baseline="-25000" dirty="0">
                <a:solidFill>
                  <a:srgbClr val="33CC33"/>
                </a:solidFill>
                <a:sym typeface="Symbol" pitchFamily="18" charset="2"/>
              </a:rPr>
              <a:t></a:t>
            </a:r>
          </a:p>
        </p:txBody>
      </p:sp>
      <p:sp>
        <p:nvSpPr>
          <p:cNvPr id="68648" name="Line 40"/>
          <p:cNvSpPr>
            <a:spLocks noChangeShapeType="1"/>
          </p:cNvSpPr>
          <p:nvPr/>
        </p:nvSpPr>
        <p:spPr bwMode="auto">
          <a:xfrm flipH="1">
            <a:off x="10185574" y="3859213"/>
            <a:ext cx="366713" cy="177800"/>
          </a:xfrm>
          <a:prstGeom prst="line">
            <a:avLst/>
          </a:prstGeom>
          <a:noFill/>
          <a:ln w="38100">
            <a:solidFill>
              <a:srgbClr val="13CB4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49" name="Line 41"/>
          <p:cNvSpPr>
            <a:spLocks noChangeShapeType="1"/>
          </p:cNvSpPr>
          <p:nvPr/>
        </p:nvSpPr>
        <p:spPr bwMode="auto">
          <a:xfrm>
            <a:off x="8044037" y="4095750"/>
            <a:ext cx="2141537" cy="0"/>
          </a:xfrm>
          <a:prstGeom prst="line">
            <a:avLst/>
          </a:prstGeom>
          <a:noFill/>
          <a:ln w="38100">
            <a:solidFill>
              <a:srgbClr val="13CB4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2" name="Rectangle 44"/>
          <p:cNvSpPr>
            <a:spLocks noChangeArrowheads="1"/>
          </p:cNvSpPr>
          <p:nvPr/>
        </p:nvSpPr>
        <p:spPr bwMode="auto">
          <a:xfrm>
            <a:off x="1161488" y="6285707"/>
            <a:ext cx="7226658" cy="52322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分解定理反映了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集与普通集的相互转化关系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562101" y="4360863"/>
          <a:ext cx="12985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22030" imgH="368140" progId="Equation.3">
                  <p:embed/>
                </p:oleObj>
              </mc:Choice>
              <mc:Fallback>
                <p:oleObj name="公式" r:id="rId5" imgW="622030" imgH="36814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1" y="4360863"/>
                        <a:ext cx="12985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946DB9C-C06E-45DE-321A-B4C397EF8039}"/>
              </a:ext>
            </a:extLst>
          </p:cNvPr>
          <p:cNvSpPr txBox="1"/>
          <p:nvPr/>
        </p:nvSpPr>
        <p:spPr>
          <a:xfrm>
            <a:off x="8767477" y="1070529"/>
            <a:ext cx="3069806" cy="1815882"/>
          </a:xfrm>
          <a:prstGeom prst="rect">
            <a:avLst/>
          </a:prstGeom>
          <a:solidFill>
            <a:srgbClr val="66CCFF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[</a:t>
            </a:r>
            <a:r>
              <a:rPr lang="zh-CN" altLang="en-US" sz="2800" b="1" dirty="0"/>
              <a:t>分解定理</a:t>
            </a:r>
            <a:r>
              <a:rPr lang="en-US" altLang="zh-CN" sz="2800" dirty="0">
                <a:ea typeface="黑体" pitchFamily="49" charset="-122"/>
              </a:rPr>
              <a:t>Ⅰ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说明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集合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可由其截集簇</a:t>
            </a:r>
            <a:r>
              <a:rPr lang="zh-CN" altLang="en-US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{</a:t>
            </a:r>
            <a:r>
              <a:rPr kumimoji="1" lang="en-US" altLang="zh-CN" sz="2800" b="1" i="1" dirty="0">
                <a:ea typeface="黑体" pitchFamily="49" charset="-122"/>
              </a:rPr>
              <a:t>A</a:t>
            </a:r>
            <a:r>
              <a:rPr kumimoji="1" lang="en-US" altLang="zh-CN" sz="2800" b="1" i="1" baseline="-25000" dirty="0">
                <a:ea typeface="黑体" pitchFamily="49" charset="-122"/>
                <a:sym typeface="Symbol" pitchFamily="18" charset="2"/>
              </a:rPr>
              <a:t></a:t>
            </a:r>
            <a:r>
              <a:rPr lang="en-US" altLang="zh-CN" sz="2800" b="1" dirty="0">
                <a:sym typeface="Symbol" panose="05050102010706020507" pitchFamily="18" charset="2"/>
              </a:rPr>
              <a:t>}, </a:t>
            </a:r>
            <a:r>
              <a:rPr lang="zh-CN" altLang="en-US" sz="2800" b="1" i="1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ym typeface="Symbol" panose="05050102010706020507" pitchFamily="18" charset="2"/>
              </a:rPr>
              <a:t>[0,1]</a:t>
            </a:r>
            <a:r>
              <a:rPr lang="zh-CN" altLang="en-US" sz="2800" b="1" dirty="0"/>
              <a:t>所确定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Line 28">
            <a:extLst>
              <a:ext uri="{FF2B5EF4-FFF2-40B4-BE49-F238E27FC236}">
                <a16:creationId xmlns:a16="http://schemas.microsoft.com/office/drawing/2014/main" id="{99D58444-A329-DBF0-2693-3A39E0F0A1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9884" y="4459522"/>
            <a:ext cx="3344861" cy="555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28">
            <a:extLst>
              <a:ext uri="{FF2B5EF4-FFF2-40B4-BE49-F238E27FC236}">
                <a16:creationId xmlns:a16="http://schemas.microsoft.com/office/drawing/2014/main" id="{AEA04F5B-5613-263D-D73E-3AE97FCAD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139" y="4802655"/>
            <a:ext cx="3578655" cy="3343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28">
            <a:extLst>
              <a:ext uri="{FF2B5EF4-FFF2-40B4-BE49-F238E27FC236}">
                <a16:creationId xmlns:a16="http://schemas.microsoft.com/office/drawing/2014/main" id="{1FC57BBB-2F92-898E-E3E3-28DEAB5FC8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1064" y="5169146"/>
            <a:ext cx="3753279" cy="2039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28">
            <a:extLst>
              <a:ext uri="{FF2B5EF4-FFF2-40B4-BE49-F238E27FC236}">
                <a16:creationId xmlns:a16="http://schemas.microsoft.com/office/drawing/2014/main" id="{C06B39F9-4FF4-1627-78E0-15E5028895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21062" y="5530306"/>
            <a:ext cx="3865380" cy="108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4EAE6277-B073-D19D-30B2-12540C3D65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10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10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8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8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5" grpId="0" animBg="1"/>
      <p:bldP spid="68615" grpId="0"/>
      <p:bldP spid="68616" grpId="0"/>
      <p:bldP spid="68617" grpId="0"/>
      <p:bldP spid="68618" grpId="0"/>
      <p:bldP spid="68619" grpId="0"/>
      <p:bldP spid="68620" grpId="0"/>
      <p:bldP spid="68622" grpId="0" animBg="1"/>
      <p:bldP spid="68623" grpId="0" animBg="1"/>
      <p:bldP spid="68624" grpId="0" animBg="1"/>
      <p:bldP spid="13328" grpId="0" animBg="1"/>
      <p:bldP spid="13329" grpId="0" animBg="1"/>
      <p:bldP spid="68636" grpId="0" animBg="1"/>
      <p:bldP spid="13338" grpId="0" animBg="1"/>
      <p:bldP spid="68641" grpId="0" animBg="1"/>
      <p:bldP spid="68642" grpId="0" animBg="1"/>
      <p:bldP spid="13345" grpId="0"/>
      <p:bldP spid="68647" grpId="0"/>
      <p:bldP spid="68648" grpId="0" animBg="1"/>
      <p:bldP spid="68649" grpId="0" animBg="1"/>
      <p:bldP spid="68652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93662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对分解定理的理解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412876"/>
            <a:ext cx="8856217" cy="5040313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黑体" pitchFamily="49" charset="-122"/>
              </a:rPr>
              <a:t>例如：设</a:t>
            </a:r>
            <a:r>
              <a:rPr lang="en-US" altLang="zh-CN" sz="3200" dirty="0">
                <a:ea typeface="黑体" pitchFamily="49" charset="-122"/>
              </a:rPr>
              <a:t>F</a:t>
            </a:r>
            <a:r>
              <a:rPr lang="zh-CN" altLang="en-US" sz="3200" dirty="0">
                <a:ea typeface="黑体" pitchFamily="49" charset="-122"/>
              </a:rPr>
              <a:t>集</a:t>
            </a:r>
            <a:r>
              <a:rPr lang="en-US" altLang="zh-CN" sz="3200" dirty="0">
                <a:ea typeface="黑体" pitchFamily="49" charset="-122"/>
              </a:rPr>
              <a:t>A</a:t>
            </a:r>
            <a:r>
              <a:rPr lang="zh-CN" altLang="en-US" sz="3200" dirty="0">
                <a:ea typeface="黑体" pitchFamily="49" charset="-122"/>
              </a:rPr>
              <a:t>如下，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 sz="3200" dirty="0">
              <a:ea typeface="黑体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 sz="3200" dirty="0">
              <a:ea typeface="黑体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黑体" pitchFamily="49" charset="-122"/>
              </a:rPr>
              <a:t>取 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截集，得到</a:t>
            </a:r>
            <a:r>
              <a:rPr lang="zh-CN" altLang="en-US" sz="3200" dirty="0">
                <a:ea typeface="黑体" pitchFamily="49" charset="-122"/>
              </a:rPr>
              <a:t>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b="1" dirty="0">
                <a:ea typeface="黑体" pitchFamily="49" charset="-122"/>
              </a:rPr>
              <a:t>A</a:t>
            </a:r>
            <a:r>
              <a:rPr lang="en-US" altLang="zh-CN" sz="3200" b="1" baseline="-25000" dirty="0">
                <a:ea typeface="黑体" pitchFamily="49" charset="-122"/>
              </a:rPr>
              <a:t>1  </a:t>
            </a:r>
            <a:r>
              <a:rPr lang="en-US" altLang="zh-CN" sz="3200" b="1" dirty="0">
                <a:ea typeface="黑体" pitchFamily="49" charset="-122"/>
              </a:rPr>
              <a:t> ={u</a:t>
            </a:r>
            <a:r>
              <a:rPr lang="en-US" altLang="zh-CN" sz="3200" b="1" baseline="-25000" dirty="0">
                <a:ea typeface="黑体" pitchFamily="49" charset="-122"/>
              </a:rPr>
              <a:t>3</a:t>
            </a:r>
            <a:r>
              <a:rPr lang="en-US" altLang="zh-CN" sz="3200" b="1" dirty="0">
                <a:ea typeface="黑体" pitchFamily="49" charset="-122"/>
              </a:rPr>
              <a:t>}                                           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b="1" dirty="0">
                <a:ea typeface="黑体" pitchFamily="49" charset="-122"/>
              </a:rPr>
              <a:t>A</a:t>
            </a:r>
            <a:r>
              <a:rPr lang="en-US" altLang="zh-CN" sz="3200" b="1" baseline="-25000" dirty="0">
                <a:ea typeface="黑体" pitchFamily="49" charset="-122"/>
              </a:rPr>
              <a:t>0.7</a:t>
            </a:r>
            <a:r>
              <a:rPr lang="en-US" altLang="zh-CN" sz="3200" b="1" dirty="0">
                <a:ea typeface="黑体" pitchFamily="49" charset="-122"/>
              </a:rPr>
              <a:t>={u</a:t>
            </a:r>
            <a:r>
              <a:rPr lang="en-US" altLang="zh-CN" sz="3200" b="1" baseline="-25000" dirty="0">
                <a:ea typeface="黑体" pitchFamily="49" charset="-122"/>
              </a:rPr>
              <a:t>3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4</a:t>
            </a:r>
            <a:r>
              <a:rPr lang="en-US" altLang="zh-CN" sz="3200" b="1" dirty="0">
                <a:ea typeface="黑体" pitchFamily="49" charset="-122"/>
              </a:rPr>
              <a:t>}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b="1" dirty="0">
                <a:ea typeface="黑体" pitchFamily="49" charset="-122"/>
              </a:rPr>
              <a:t>A</a:t>
            </a:r>
            <a:r>
              <a:rPr lang="en-US" altLang="zh-CN" sz="3200" b="1" baseline="-25000" dirty="0">
                <a:ea typeface="黑体" pitchFamily="49" charset="-122"/>
              </a:rPr>
              <a:t>0.6</a:t>
            </a:r>
            <a:r>
              <a:rPr lang="en-US" altLang="zh-CN" sz="3200" b="1" dirty="0">
                <a:ea typeface="黑体" pitchFamily="49" charset="-122"/>
              </a:rPr>
              <a:t>={u</a:t>
            </a:r>
            <a:r>
              <a:rPr lang="en-US" altLang="zh-CN" sz="3200" b="1" baseline="-25000" dirty="0">
                <a:ea typeface="黑体" pitchFamily="49" charset="-122"/>
              </a:rPr>
              <a:t>2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3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4</a:t>
            </a:r>
            <a:r>
              <a:rPr lang="en-US" altLang="zh-CN" sz="3200" b="1" dirty="0">
                <a:ea typeface="黑体" pitchFamily="49" charset="-122"/>
              </a:rPr>
              <a:t>}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b="1" dirty="0">
                <a:ea typeface="黑体" pitchFamily="49" charset="-122"/>
              </a:rPr>
              <a:t>A</a:t>
            </a:r>
            <a:r>
              <a:rPr lang="en-US" altLang="zh-CN" sz="3200" b="1" baseline="-25000" dirty="0">
                <a:ea typeface="黑体" pitchFamily="49" charset="-122"/>
              </a:rPr>
              <a:t>0.5</a:t>
            </a:r>
            <a:r>
              <a:rPr lang="en-US" altLang="zh-CN" sz="3200" b="1" dirty="0">
                <a:ea typeface="黑体" pitchFamily="49" charset="-122"/>
              </a:rPr>
              <a:t>={u</a:t>
            </a:r>
            <a:r>
              <a:rPr lang="en-US" altLang="zh-CN" sz="3200" b="1" baseline="-25000" dirty="0">
                <a:ea typeface="黑体" pitchFamily="49" charset="-122"/>
              </a:rPr>
              <a:t>1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2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3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4</a:t>
            </a:r>
            <a:r>
              <a:rPr lang="en-US" altLang="zh-CN" sz="3200" b="1" dirty="0">
                <a:ea typeface="黑体" pitchFamily="49" charset="-122"/>
              </a:rPr>
              <a:t>}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b="1" dirty="0">
                <a:ea typeface="黑体" pitchFamily="49" charset="-122"/>
              </a:rPr>
              <a:t>A</a:t>
            </a:r>
            <a:r>
              <a:rPr lang="en-US" altLang="zh-CN" sz="3200" b="1" baseline="-25000" dirty="0">
                <a:ea typeface="黑体" pitchFamily="49" charset="-122"/>
              </a:rPr>
              <a:t>0.3</a:t>
            </a:r>
            <a:r>
              <a:rPr lang="en-US" altLang="zh-CN" sz="3200" b="1" dirty="0">
                <a:ea typeface="黑体" pitchFamily="49" charset="-122"/>
              </a:rPr>
              <a:t>={u</a:t>
            </a:r>
            <a:r>
              <a:rPr lang="en-US" altLang="zh-CN" sz="3200" b="1" baseline="-25000" dirty="0">
                <a:ea typeface="黑体" pitchFamily="49" charset="-122"/>
              </a:rPr>
              <a:t>1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2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3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4</a:t>
            </a:r>
            <a:r>
              <a:rPr lang="en-US" altLang="zh-CN" sz="3200" b="1" dirty="0">
                <a:ea typeface="黑体" pitchFamily="49" charset="-122"/>
              </a:rPr>
              <a:t>,u</a:t>
            </a:r>
            <a:r>
              <a:rPr lang="en-US" altLang="zh-CN" sz="3200" b="1" baseline="-25000" dirty="0">
                <a:ea typeface="黑体" pitchFamily="49" charset="-122"/>
              </a:rPr>
              <a:t>5</a:t>
            </a:r>
            <a:r>
              <a:rPr lang="en-US" altLang="zh-CN" sz="3200" b="1" dirty="0">
                <a:ea typeface="黑体" pitchFamily="49" charset="-122"/>
              </a:rPr>
              <a:t>} </a:t>
            </a:r>
          </a:p>
        </p:txBody>
      </p:sp>
      <p:graphicFrame>
        <p:nvGraphicFramePr>
          <p:cNvPr id="1741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430618" y="1989138"/>
          <a:ext cx="38147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54200" imgH="431800" progId="Equation.3">
                  <p:embed/>
                </p:oleObj>
              </mc:Choice>
              <mc:Fallback>
                <p:oleObj name="公式" r:id="rId2" imgW="1854200" imgH="431800" progId="Equation.3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618" y="1989138"/>
                        <a:ext cx="381476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1" name="组合 2"/>
          <p:cNvGrpSpPr>
            <a:grpSpLocks/>
          </p:cNvGrpSpPr>
          <p:nvPr/>
        </p:nvGrpSpPr>
        <p:grpSpPr bwMode="auto">
          <a:xfrm>
            <a:off x="6310292" y="3117850"/>
            <a:ext cx="4826268" cy="3048000"/>
            <a:chOff x="4140202" y="3117850"/>
            <a:chExt cx="4826002" cy="3048000"/>
          </a:xfrm>
        </p:grpSpPr>
        <p:grpSp>
          <p:nvGrpSpPr>
            <p:cNvPr id="14342" name="Group 15"/>
            <p:cNvGrpSpPr>
              <a:grpSpLocks/>
            </p:cNvGrpSpPr>
            <p:nvPr/>
          </p:nvGrpSpPr>
          <p:grpSpPr bwMode="auto">
            <a:xfrm>
              <a:off x="4140202" y="3117850"/>
              <a:ext cx="4826002" cy="3048000"/>
              <a:chOff x="2608" y="1964"/>
              <a:chExt cx="3040" cy="1920"/>
            </a:xfrm>
          </p:grpSpPr>
          <p:sp>
            <p:nvSpPr>
              <p:cNvPr id="14344" name="Rectangle 6"/>
              <p:cNvSpPr>
                <a:spLocks noChangeArrowheads="1"/>
              </p:cNvSpPr>
              <p:nvPr/>
            </p:nvSpPr>
            <p:spPr bwMode="auto">
              <a:xfrm>
                <a:off x="3969" y="1964"/>
                <a:ext cx="4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b="1" dirty="0">
                    <a:ea typeface="楷体_GB2312" pitchFamily="49" charset="-122"/>
                    <a:sym typeface="Symbol" pitchFamily="18" charset="2"/>
                  </a:rPr>
                  <a:t></a:t>
                </a:r>
                <a:r>
                  <a:rPr kumimoji="1" lang="zh-CN" altLang="en-US" sz="2400" b="1" dirty="0">
                    <a:ea typeface="楷体_GB2312" pitchFamily="49" charset="-122"/>
                    <a:sym typeface="Symbol" pitchFamily="18" charset="2"/>
                  </a:rPr>
                  <a:t>截</a:t>
                </a:r>
              </a:p>
            </p:txBody>
          </p:sp>
          <p:sp>
            <p:nvSpPr>
              <p:cNvPr id="14345" name="Rectangle 7"/>
              <p:cNvSpPr>
                <a:spLocks noChangeArrowheads="1"/>
              </p:cNvSpPr>
              <p:nvPr/>
            </p:nvSpPr>
            <p:spPr bwMode="auto">
              <a:xfrm>
                <a:off x="2608" y="2115"/>
                <a:ext cx="9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模糊集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A</a:t>
                </a:r>
                <a:r>
                  <a:rPr lang="en-US" altLang="zh-CN" sz="1600" dirty="0"/>
                  <a:t> </a:t>
                </a:r>
              </a:p>
            </p:txBody>
          </p:sp>
          <p:sp>
            <p:nvSpPr>
              <p:cNvPr id="14346" name="Rectangle 8"/>
              <p:cNvSpPr>
                <a:spLocks noChangeArrowheads="1"/>
              </p:cNvSpPr>
              <p:nvPr/>
            </p:nvSpPr>
            <p:spPr bwMode="auto">
              <a:xfrm>
                <a:off x="4739" y="2145"/>
                <a:ext cx="90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None/>
                </a:pPr>
                <a:r>
                  <a:rPr kumimoji="1" lang="zh-CN" altLang="en-US" sz="2400" b="1" dirty="0">
                    <a:solidFill>
                      <a:srgbClr val="0000FF"/>
                    </a:solidFill>
                    <a:ea typeface="楷体_GB2312" pitchFamily="49" charset="-122"/>
                    <a:sym typeface="Symbol" pitchFamily="18" charset="2"/>
                  </a:rPr>
                  <a:t>经典集</a:t>
                </a:r>
                <a:r>
                  <a:rPr kumimoji="1" lang="en-US" altLang="zh-CN" sz="2400" b="1" dirty="0">
                    <a:solidFill>
                      <a:srgbClr val="0000FF"/>
                    </a:solidFill>
                    <a:ea typeface="楷体_GB2312" pitchFamily="49" charset="-122"/>
                    <a:sym typeface="Symbol" pitchFamily="18" charset="2"/>
                  </a:rPr>
                  <a:t>A</a:t>
                </a:r>
                <a:r>
                  <a:rPr kumimoji="1" lang="en-US" altLang="zh-CN" sz="2400" b="1" baseline="-25000" dirty="0">
                    <a:solidFill>
                      <a:srgbClr val="0000FF"/>
                    </a:solidFill>
                    <a:ea typeface="楷体_GB2312" pitchFamily="49" charset="-122"/>
                    <a:sym typeface="Symbol" pitchFamily="18" charset="2"/>
                  </a:rPr>
                  <a:t></a:t>
                </a:r>
              </a:p>
            </p:txBody>
          </p:sp>
          <p:sp>
            <p:nvSpPr>
              <p:cNvPr id="14347" name="Rectangle 9"/>
              <p:cNvSpPr>
                <a:spLocks noChangeArrowheads="1"/>
              </p:cNvSpPr>
              <p:nvPr/>
            </p:nvSpPr>
            <p:spPr bwMode="auto">
              <a:xfrm>
                <a:off x="3923" y="2327"/>
                <a:ext cx="64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>
                    <a:ea typeface="楷体_GB2312" pitchFamily="49" charset="-122"/>
                    <a:sym typeface="Symbol" pitchFamily="18" charset="2"/>
                  </a:rPr>
                  <a:t>[0,1]</a:t>
                </a:r>
              </a:p>
            </p:txBody>
          </p:sp>
          <p:sp>
            <p:nvSpPr>
              <p:cNvPr id="14348" name="Rectangle 10"/>
              <p:cNvSpPr>
                <a:spLocks noChangeArrowheads="1"/>
              </p:cNvSpPr>
              <p:nvPr/>
            </p:nvSpPr>
            <p:spPr bwMode="auto">
              <a:xfrm>
                <a:off x="4739" y="2871"/>
                <a:ext cx="5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None/>
                </a:pPr>
                <a:r>
                  <a:rPr kumimoji="1" lang="zh-CN" altLang="en-US" sz="2400" b="1">
                    <a:ea typeface="楷体_GB2312" pitchFamily="49" charset="-122"/>
                    <a:sym typeface="Symbol" pitchFamily="18" charset="2"/>
                  </a:rPr>
                  <a:t>截积</a:t>
                </a:r>
              </a:p>
            </p:txBody>
          </p:sp>
          <p:sp>
            <p:nvSpPr>
              <p:cNvPr id="14349" name="Rectangle 11"/>
              <p:cNvSpPr>
                <a:spLocks noChangeArrowheads="1"/>
              </p:cNvSpPr>
              <p:nvPr/>
            </p:nvSpPr>
            <p:spPr bwMode="auto">
              <a:xfrm>
                <a:off x="3696" y="3596"/>
                <a:ext cx="7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None/>
                </a:pPr>
                <a:r>
                  <a:rPr kumimoji="1" lang="en-US" altLang="zh-CN" sz="2400" b="1" dirty="0">
                    <a:solidFill>
                      <a:srgbClr val="008000"/>
                    </a:solidFill>
                    <a:ea typeface="楷体_GB2312" pitchFamily="49" charset="-122"/>
                    <a:sym typeface="Symbol" pitchFamily="18" charset="2"/>
                  </a:rPr>
                  <a:t>F</a:t>
                </a:r>
                <a:r>
                  <a:rPr kumimoji="1" lang="zh-CN" altLang="en-US" sz="2400" b="1" dirty="0">
                    <a:solidFill>
                      <a:srgbClr val="008000"/>
                    </a:solidFill>
                    <a:ea typeface="楷体_GB2312" pitchFamily="49" charset="-122"/>
                    <a:sym typeface="Symbol" pitchFamily="18" charset="2"/>
                  </a:rPr>
                  <a:t>集</a:t>
                </a:r>
                <a:r>
                  <a:rPr kumimoji="1" lang="en-US" altLang="zh-CN" sz="2400" b="1" dirty="0">
                    <a:solidFill>
                      <a:srgbClr val="008000"/>
                    </a:solidFill>
                    <a:ea typeface="楷体_GB2312" pitchFamily="49" charset="-122"/>
                    <a:sym typeface="Symbol" pitchFamily="18" charset="2"/>
                  </a:rPr>
                  <a:t>A</a:t>
                </a:r>
                <a:r>
                  <a:rPr kumimoji="1" lang="en-US" altLang="zh-CN" sz="2400" b="1" baseline="-25000" dirty="0">
                    <a:solidFill>
                      <a:srgbClr val="008000"/>
                    </a:solidFill>
                    <a:ea typeface="楷体_GB2312" pitchFamily="49" charset="-122"/>
                    <a:sym typeface="Symbol" pitchFamily="18" charset="2"/>
                  </a:rPr>
                  <a:t></a:t>
                </a:r>
              </a:p>
            </p:txBody>
          </p:sp>
          <p:sp>
            <p:nvSpPr>
              <p:cNvPr id="14350" name="Line 12"/>
              <p:cNvSpPr>
                <a:spLocks noChangeShapeType="1"/>
              </p:cNvSpPr>
              <p:nvPr/>
            </p:nvSpPr>
            <p:spPr bwMode="auto">
              <a:xfrm>
                <a:off x="3605" y="2281"/>
                <a:ext cx="1134" cy="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1" name="Line 13"/>
              <p:cNvSpPr>
                <a:spLocks noChangeShapeType="1"/>
              </p:cNvSpPr>
              <p:nvPr/>
            </p:nvSpPr>
            <p:spPr bwMode="auto">
              <a:xfrm flipH="1">
                <a:off x="4195" y="2417"/>
                <a:ext cx="816" cy="118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4352" name="Line 14"/>
              <p:cNvSpPr>
                <a:spLocks noChangeShapeType="1"/>
              </p:cNvSpPr>
              <p:nvPr/>
            </p:nvSpPr>
            <p:spPr bwMode="auto">
              <a:xfrm flipH="1" flipV="1">
                <a:off x="3197" y="2417"/>
                <a:ext cx="726" cy="1134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4343" name="对象 1"/>
            <p:cNvGraphicFramePr>
              <a:graphicFrameLocks noChangeAspect="1"/>
            </p:cNvGraphicFramePr>
            <p:nvPr/>
          </p:nvGraphicFramePr>
          <p:xfrm>
            <a:off x="4319832" y="4389438"/>
            <a:ext cx="1298575" cy="768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22030" imgH="368140" progId="Equation.3">
                    <p:embed/>
                  </p:oleObj>
                </mc:Choice>
                <mc:Fallback>
                  <p:oleObj name="公式" r:id="rId4" imgW="622030" imgH="368140" progId="Equation.3">
                    <p:embed/>
                    <p:pic>
                      <p:nvPicPr>
                        <p:cNvPr id="14343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832" y="4389438"/>
                          <a:ext cx="1298575" cy="768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F9727A-5B19-2548-9A09-40AE44732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title"/>
          </p:nvPr>
        </p:nvSpPr>
        <p:spPr>
          <a:xfrm>
            <a:off x="1874243" y="382549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对分解定理的理解</a:t>
            </a:r>
          </a:p>
        </p:txBody>
      </p:sp>
      <p:sp>
        <p:nvSpPr>
          <p:cNvPr id="1844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126330" y="1228288"/>
            <a:ext cx="10298261" cy="43195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按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集数积的定义</a:t>
            </a:r>
            <a:r>
              <a:rPr kumimoji="1" lang="zh-CN" altLang="en-US" sz="32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3200" b="1" i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3200" b="1" i="1" baseline="-2500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得</a:t>
            </a:r>
          </a:p>
          <a:p>
            <a:pPr eaLnBrk="1" hangingPunct="1">
              <a:buNone/>
              <a:defRPr/>
            </a:pP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3200" dirty="0">
                <a:ea typeface="黑体" pitchFamily="2" charset="-122"/>
              </a:rPr>
              <a:t>A</a:t>
            </a:r>
            <a:r>
              <a:rPr lang="en-US" altLang="zh-CN" sz="3200" baseline="-25000" dirty="0">
                <a:ea typeface="黑体" pitchFamily="2" charset="-122"/>
              </a:rPr>
              <a:t>1</a:t>
            </a:r>
            <a:r>
              <a:rPr lang="en-US" altLang="zh-CN" sz="3200" dirty="0">
                <a:ea typeface="黑体" pitchFamily="2" charset="-122"/>
              </a:rPr>
              <a:t>, 0.7A</a:t>
            </a:r>
            <a:r>
              <a:rPr lang="en-US" altLang="zh-CN" sz="3200" baseline="-25000" dirty="0">
                <a:ea typeface="黑体" pitchFamily="2" charset="-122"/>
              </a:rPr>
              <a:t>0.7</a:t>
            </a:r>
            <a:r>
              <a:rPr lang="en-US" altLang="zh-CN" sz="3200" dirty="0">
                <a:ea typeface="黑体" pitchFamily="2" charset="-122"/>
              </a:rPr>
              <a:t>, 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3200" dirty="0">
                <a:ea typeface="黑体" pitchFamily="2" charset="-122"/>
              </a:rPr>
              <a:t>.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6</a:t>
            </a:r>
            <a:r>
              <a:rPr lang="en-US" altLang="zh-CN" sz="3200" dirty="0">
                <a:ea typeface="黑体" pitchFamily="2" charset="-122"/>
              </a:rPr>
              <a:t>A</a:t>
            </a:r>
            <a:r>
              <a:rPr lang="en-US" altLang="zh-CN" sz="3200" baseline="-25000" dirty="0">
                <a:ea typeface="黑体" pitchFamily="2" charset="-122"/>
              </a:rPr>
              <a:t>0.6</a:t>
            </a:r>
            <a:r>
              <a:rPr lang="en-US" altLang="zh-CN" sz="3200" dirty="0">
                <a:ea typeface="黑体" pitchFamily="2" charset="-122"/>
              </a:rPr>
              <a:t>, 0.5A</a:t>
            </a:r>
            <a:r>
              <a:rPr lang="en-US" altLang="zh-CN" sz="3200" baseline="-25000" dirty="0">
                <a:ea typeface="黑体" pitchFamily="2" charset="-122"/>
              </a:rPr>
              <a:t>0.5</a:t>
            </a:r>
            <a:r>
              <a:rPr lang="en-US" altLang="zh-CN" sz="3200" dirty="0">
                <a:ea typeface="黑体" pitchFamily="2" charset="-122"/>
              </a:rPr>
              <a:t>, 0.3A</a:t>
            </a:r>
            <a:r>
              <a:rPr lang="en-US" altLang="zh-CN" sz="3200" baseline="-25000" dirty="0">
                <a:ea typeface="黑体" pitchFamily="2" charset="-122"/>
              </a:rPr>
              <a:t>0.3</a:t>
            </a:r>
            <a:endParaRPr lang="en-US" altLang="zh-CN" sz="3200" dirty="0"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z="3200" dirty="0">
                <a:ea typeface="黑体" pitchFamily="2" charset="-122"/>
              </a:rPr>
              <a:t>应用</a:t>
            </a:r>
            <a:r>
              <a:rPr lang="en-US" altLang="zh-CN" sz="3200" dirty="0">
                <a:ea typeface="黑体" pitchFamily="2" charset="-122"/>
              </a:rPr>
              <a:t>[</a:t>
            </a:r>
            <a:r>
              <a:rPr lang="zh-CN" altLang="en-US" sz="3200" dirty="0">
                <a:ea typeface="黑体" pitchFamily="2" charset="-122"/>
              </a:rPr>
              <a:t>分解定理</a:t>
            </a:r>
            <a:r>
              <a:rPr lang="en-US" altLang="zh-CN" sz="3200" dirty="0">
                <a:ea typeface="黑体" pitchFamily="2" charset="-122"/>
              </a:rPr>
              <a:t>Ⅰ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构成原来的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集</a:t>
            </a:r>
            <a:endParaRPr lang="en-US" altLang="zh-CN" sz="3200" dirty="0">
              <a:latin typeface="黑体" pitchFamily="2" charset="-122"/>
              <a:ea typeface="黑体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=1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A</a:t>
            </a:r>
            <a:r>
              <a:rPr lang="en-US" altLang="zh-CN" sz="3200" baseline="-25000" dirty="0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en-US" altLang="zh-CN" sz="3200" dirty="0">
                <a:solidFill>
                  <a:srgbClr val="FF0000"/>
                </a:solidFill>
                <a:sym typeface="Symbol"/>
              </a:rPr>
              <a:t>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0.7A</a:t>
            </a:r>
            <a:r>
              <a:rPr lang="en-US" altLang="zh-CN" sz="3200" baseline="-25000" dirty="0">
                <a:solidFill>
                  <a:srgbClr val="FF0000"/>
                </a:solidFill>
                <a:ea typeface="黑体" pitchFamily="2" charset="-122"/>
              </a:rPr>
              <a:t>0.7 </a:t>
            </a:r>
            <a:r>
              <a:rPr lang="en-US" altLang="zh-CN" sz="3200" dirty="0">
                <a:solidFill>
                  <a:srgbClr val="FF0000"/>
                </a:solidFill>
                <a:sym typeface="Symbol"/>
              </a:rPr>
              <a:t> 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.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A</a:t>
            </a:r>
            <a:r>
              <a:rPr lang="en-US" altLang="zh-CN" sz="3200" baseline="-25000" dirty="0">
                <a:solidFill>
                  <a:srgbClr val="FF0000"/>
                </a:solidFill>
                <a:ea typeface="黑体" pitchFamily="2" charset="-122"/>
              </a:rPr>
              <a:t>0.6 </a:t>
            </a:r>
            <a:r>
              <a:rPr lang="en-US" altLang="zh-CN" sz="3200" dirty="0">
                <a:solidFill>
                  <a:srgbClr val="FF0000"/>
                </a:solidFill>
                <a:sym typeface="Symbol"/>
              </a:rPr>
              <a:t> 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0.5A</a:t>
            </a:r>
            <a:r>
              <a:rPr lang="en-US" altLang="zh-CN" sz="3200" baseline="-25000" dirty="0">
                <a:solidFill>
                  <a:srgbClr val="FF0000"/>
                </a:solidFill>
                <a:ea typeface="黑体" pitchFamily="2" charset="-122"/>
              </a:rPr>
              <a:t>0.5 </a:t>
            </a:r>
            <a:r>
              <a:rPr lang="en-US" altLang="zh-CN" sz="3200" dirty="0">
                <a:solidFill>
                  <a:srgbClr val="FF0000"/>
                </a:solidFill>
                <a:sym typeface="Symbol"/>
              </a:rPr>
              <a:t> </a:t>
            </a:r>
            <a:r>
              <a:rPr lang="en-US" altLang="zh-CN" sz="3200" dirty="0">
                <a:solidFill>
                  <a:srgbClr val="FF0000"/>
                </a:solidFill>
                <a:ea typeface="黑体" pitchFamily="2" charset="-122"/>
              </a:rPr>
              <a:t>0.3A</a:t>
            </a:r>
            <a:r>
              <a:rPr lang="en-US" altLang="zh-CN" sz="3200" baseline="-25000" dirty="0">
                <a:solidFill>
                  <a:srgbClr val="FF0000"/>
                </a:solidFill>
                <a:ea typeface="黑体" pitchFamily="2" charset="-122"/>
              </a:rPr>
              <a:t>0.3</a:t>
            </a:r>
            <a:endParaRPr lang="en-US" altLang="zh-CN" sz="32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defRPr/>
            </a:pPr>
            <a:endParaRPr lang="en-US" altLang="zh-CN" sz="32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defRPr/>
            </a:pPr>
            <a:endParaRPr lang="en-US" altLang="zh-CN" sz="2800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8441" name="Object 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44837877"/>
              </p:ext>
            </p:extLst>
          </p:nvPr>
        </p:nvGraphicFramePr>
        <p:xfrm>
          <a:off x="507636" y="3068960"/>
          <a:ext cx="13779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22030" imgH="368140" progId="Equation.3">
                  <p:embed/>
                </p:oleObj>
              </mc:Choice>
              <mc:Fallback>
                <p:oleObj name="公式" r:id="rId2" imgW="622030" imgH="368140" progId="Equation.3">
                  <p:embed/>
                  <p:pic>
                    <p:nvPicPr>
                      <p:cNvPr id="18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36" y="3068960"/>
                        <a:ext cx="13779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92412538"/>
              </p:ext>
            </p:extLst>
          </p:nvPr>
        </p:nvGraphicFramePr>
        <p:xfrm>
          <a:off x="1919238" y="5366791"/>
          <a:ext cx="316865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14500" imgH="431800" progId="Equation.3">
                  <p:embed/>
                </p:oleObj>
              </mc:Choice>
              <mc:Fallback>
                <p:oleObj name="公式" r:id="rId4" imgW="1714500" imgH="431800" progId="Equation.3">
                  <p:embed/>
                  <p:pic>
                    <p:nvPicPr>
                      <p:cNvPr id="184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38" y="5366791"/>
                        <a:ext cx="316865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618283" y="6212085"/>
            <a:ext cx="11017224" cy="52322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</a:t>
            </a:r>
            <a:r>
              <a:rPr kumimoji="1" lang="zh-CN" altLang="en-US" sz="2800" b="1" i="1" dirty="0"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取遍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[0,1]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sz="2800" b="1" dirty="0">
                <a:sym typeface="Symbol" pitchFamily="18" charset="2"/>
              </a:rPr>
              <a:t></a:t>
            </a:r>
            <a:r>
              <a:rPr kumimoji="1" lang="en-US" altLang="zh-CN" sz="2800" b="1" dirty="0" err="1">
                <a:ea typeface="楷体_GB2312" pitchFamily="49" charset="-122"/>
                <a:sym typeface="Symbol" pitchFamily="18" charset="2"/>
              </a:rPr>
              <a:t>uU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 A(u)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的值就是含元素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u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的一切</a:t>
            </a:r>
            <a:r>
              <a:rPr kumimoji="1" lang="en-US" altLang="zh-CN" sz="2800" b="1" i="1" dirty="0">
                <a:ea typeface="楷体_GB2312" pitchFamily="49" charset="-122"/>
              </a:rPr>
              <a:t>A</a:t>
            </a:r>
            <a:r>
              <a:rPr kumimoji="1" lang="en-US" altLang="zh-CN" sz="2800" b="1" i="1" baseline="-25000" dirty="0"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中最大的</a:t>
            </a:r>
            <a:r>
              <a:rPr kumimoji="1" lang="zh-CN" altLang="en-US" sz="2800" b="1" i="1" dirty="0">
                <a:ea typeface="楷体_GB2312" pitchFamily="49" charset="-122"/>
                <a:sym typeface="Symbol" pitchFamily="18" charset="2"/>
              </a:rPr>
              <a:t> 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值。</a:t>
            </a:r>
            <a:endParaRPr kumimoji="1" lang="en-US" altLang="zh-CN" sz="2800" b="1" dirty="0">
              <a:ea typeface="楷体_GB2312" pitchFamily="49" charset="-122"/>
              <a:sym typeface="Symbol" pitchFamily="18" charset="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861522"/>
              </p:ext>
            </p:extLst>
          </p:nvPr>
        </p:nvGraphicFramePr>
        <p:xfrm>
          <a:off x="1908177" y="4644722"/>
          <a:ext cx="9300392" cy="822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89500" imgH="431800" progId="Equation.3">
                  <p:embed/>
                </p:oleObj>
              </mc:Choice>
              <mc:Fallback>
                <p:oleObj name="公式" r:id="rId6" imgW="4889500" imgH="4318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7" y="4644722"/>
                        <a:ext cx="9300392" cy="822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8688288" y="1049970"/>
            <a:ext cx="3168352" cy="1938992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400" baseline="-25000" dirty="0">
                <a:ea typeface="黑体" pitchFamily="2" charset="-122"/>
              </a:rPr>
              <a:t>1  </a:t>
            </a:r>
            <a:r>
              <a:rPr lang="en-US" altLang="zh-CN" sz="2400" dirty="0">
                <a:ea typeface="黑体" pitchFamily="2" charset="-122"/>
              </a:rPr>
              <a:t>={u</a:t>
            </a:r>
            <a:r>
              <a:rPr lang="en-US" altLang="zh-CN" sz="2400" baseline="-25000" dirty="0">
                <a:ea typeface="黑体" pitchFamily="2" charset="-122"/>
              </a:rPr>
              <a:t>3</a:t>
            </a:r>
            <a:r>
              <a:rPr lang="en-US" altLang="zh-CN" sz="2400" dirty="0">
                <a:ea typeface="黑体" pitchFamily="2" charset="-122"/>
              </a:rPr>
              <a:t>}                     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400" baseline="-25000" dirty="0">
                <a:ea typeface="黑体" pitchFamily="2" charset="-122"/>
              </a:rPr>
              <a:t>0.7</a:t>
            </a:r>
            <a:r>
              <a:rPr lang="en-US" altLang="zh-CN" sz="2400" dirty="0">
                <a:ea typeface="黑体" pitchFamily="2" charset="-122"/>
              </a:rPr>
              <a:t>={u</a:t>
            </a:r>
            <a:r>
              <a:rPr lang="en-US" altLang="zh-CN" sz="2400" baseline="-25000" dirty="0">
                <a:ea typeface="黑体" pitchFamily="2" charset="-122"/>
              </a:rPr>
              <a:t>3 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400" baseline="-25000" dirty="0">
                <a:ea typeface="黑体" pitchFamily="2" charset="-122"/>
              </a:rPr>
              <a:t>0.6</a:t>
            </a:r>
            <a:r>
              <a:rPr lang="en-US" altLang="zh-CN" sz="2400" dirty="0">
                <a:ea typeface="黑体" pitchFamily="2" charset="-122"/>
              </a:rPr>
              <a:t>={u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3 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400" baseline="-25000" dirty="0">
                <a:ea typeface="黑体" pitchFamily="2" charset="-122"/>
              </a:rPr>
              <a:t>0.5</a:t>
            </a:r>
            <a:r>
              <a:rPr lang="en-US" altLang="zh-CN" sz="2400" dirty="0">
                <a:ea typeface="黑体" pitchFamily="2" charset="-122"/>
              </a:rPr>
              <a:t>={u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 ,u</a:t>
            </a:r>
            <a:r>
              <a:rPr lang="en-US" altLang="zh-CN" sz="2400" baseline="-25000" dirty="0">
                <a:ea typeface="黑体" pitchFamily="2" charset="-122"/>
              </a:rPr>
              <a:t>3 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400" baseline="-25000" dirty="0">
                <a:ea typeface="黑体" pitchFamily="2" charset="-122"/>
              </a:rPr>
              <a:t>0.3</a:t>
            </a:r>
            <a:r>
              <a:rPr lang="en-US" altLang="zh-CN" sz="2400" dirty="0">
                <a:ea typeface="黑体" pitchFamily="2" charset="-122"/>
              </a:rPr>
              <a:t>={u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 ,u</a:t>
            </a:r>
            <a:r>
              <a:rPr lang="en-US" altLang="zh-CN" sz="2400" baseline="-25000" dirty="0">
                <a:ea typeface="黑体" pitchFamily="2" charset="-122"/>
              </a:rPr>
              <a:t>3 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,u</a:t>
            </a:r>
            <a:r>
              <a:rPr lang="en-US" altLang="zh-CN" sz="2400" baseline="-25000" dirty="0">
                <a:ea typeface="黑体" pitchFamily="2" charset="-122"/>
              </a:rPr>
              <a:t>5</a:t>
            </a:r>
            <a:r>
              <a:rPr lang="en-US" altLang="zh-CN" sz="2400" dirty="0">
                <a:ea typeface="黑体" pitchFamily="2" charset="-122"/>
              </a:rPr>
              <a:t>} 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59896" y="5518149"/>
          <a:ext cx="6270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6353" imgH="164885" progId="Equation.3">
                  <p:embed/>
                </p:oleObj>
              </mc:Choice>
              <mc:Fallback>
                <p:oleObj name="公式" r:id="rId8" imgW="266353" imgH="164885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5518149"/>
                        <a:ext cx="6270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376027"/>
              </p:ext>
            </p:extLst>
          </p:nvPr>
        </p:nvGraphicFramePr>
        <p:xfrm>
          <a:off x="1919537" y="3645024"/>
          <a:ext cx="10298261" cy="86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78360" imgH="482400" progId="Equation.DSMT4">
                  <p:embed/>
                </p:oleObj>
              </mc:Choice>
              <mc:Fallback>
                <p:oleObj name="Equation" r:id="rId10" imgW="5778360" imgH="4824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7" y="3645024"/>
                        <a:ext cx="10298261" cy="86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60" name="Picture 50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995079"/>
            <a:ext cx="3168352" cy="2144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D2695-0FC9-B191-026F-BB90AA667C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7864" y="6284168"/>
            <a:ext cx="2844800" cy="457200"/>
          </a:xfrm>
        </p:spPr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 uiExpand="1" build="p"/>
      <p:bldP spid="1844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解定理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itchFamily="2" charset="-122"/>
              </a:rPr>
              <a:t>Ⅰ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的推论及举例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323490"/>
            <a:ext cx="10369152" cy="5183187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FF00FF"/>
                </a:solidFill>
                <a:ea typeface="黑体" pitchFamily="49" charset="-122"/>
              </a:rPr>
              <a:t>[</a:t>
            </a:r>
            <a:r>
              <a:rPr lang="zh-CN" altLang="en-US" sz="3200" dirty="0">
                <a:solidFill>
                  <a:srgbClr val="FF00FF"/>
                </a:solidFill>
                <a:ea typeface="黑体" pitchFamily="49" charset="-122"/>
              </a:rPr>
              <a:t>推论</a:t>
            </a:r>
            <a:r>
              <a:rPr lang="en-US" altLang="zh-CN" sz="3200" dirty="0">
                <a:solidFill>
                  <a:srgbClr val="FF00FF"/>
                </a:solidFill>
                <a:ea typeface="黑体" pitchFamily="49" charset="-122"/>
              </a:rPr>
              <a:t>] </a:t>
            </a:r>
            <a:r>
              <a:rPr lang="zh-CN" altLang="en-US" sz="3200" dirty="0">
                <a:ea typeface="黑体" pitchFamily="49" charset="-122"/>
              </a:rPr>
              <a:t>已知</a:t>
            </a:r>
            <a:r>
              <a:rPr lang="en-US" altLang="zh-CN" sz="3200" dirty="0">
                <a:ea typeface="黑体" pitchFamily="49" charset="-122"/>
              </a:rPr>
              <a:t>F</a:t>
            </a:r>
            <a:r>
              <a:rPr lang="zh-CN" altLang="en-US" sz="3200" dirty="0">
                <a:ea typeface="黑体" pitchFamily="49" charset="-122"/>
              </a:rPr>
              <a:t>集</a:t>
            </a:r>
            <a:r>
              <a:rPr lang="en-US" altLang="zh-CN" sz="3200" dirty="0">
                <a:ea typeface="黑体" pitchFamily="49" charset="-122"/>
              </a:rPr>
              <a:t>A</a:t>
            </a:r>
            <a:r>
              <a:rPr lang="zh-CN" altLang="en-US" sz="3200" dirty="0">
                <a:ea typeface="黑体" pitchFamily="49" charset="-122"/>
              </a:rPr>
              <a:t>的各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截集为</a:t>
            </a:r>
            <a:r>
              <a:rPr kumimoji="1" lang="en-US" altLang="zh-CN" sz="3200" i="1" dirty="0">
                <a:ea typeface="黑体" pitchFamily="49" charset="-122"/>
              </a:rPr>
              <a:t>A</a:t>
            </a:r>
            <a:r>
              <a:rPr kumimoji="1" lang="en-US" altLang="zh-CN" sz="3200" baseline="-25000" dirty="0"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3200" dirty="0">
                <a:ea typeface="黑体" pitchFamily="49" charset="-122"/>
                <a:sym typeface="Symbol" pitchFamily="18" charset="2"/>
              </a:rPr>
              <a:t>, [0,1],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则</a:t>
            </a:r>
            <a:r>
              <a:rPr lang="zh-CN" altLang="en-US" sz="3200" dirty="0">
                <a:ea typeface="黑体" pitchFamily="49" charset="-122"/>
                <a:sym typeface="Symbol" pitchFamily="18" charset="2"/>
              </a:rPr>
              <a:t></a:t>
            </a:r>
            <a:r>
              <a:rPr kumimoji="1" lang="en-US" altLang="zh-CN" sz="3200" dirty="0" err="1">
                <a:ea typeface="黑体" pitchFamily="49" charset="-122"/>
                <a:sym typeface="Symbol" pitchFamily="18" charset="2"/>
              </a:rPr>
              <a:t>uU</a:t>
            </a:r>
            <a:r>
              <a:rPr kumimoji="1" lang="en-US" altLang="zh-CN" sz="3200" dirty="0"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sz="3200" dirty="0">
                <a:ea typeface="黑体" pitchFamily="49" charset="-122"/>
                <a:sym typeface="Symbol" pitchFamily="18" charset="2"/>
              </a:rPr>
              <a:t>有</a:t>
            </a:r>
            <a:r>
              <a:rPr kumimoji="1" lang="en-US" altLang="zh-CN" sz="3200" dirty="0">
                <a:ea typeface="黑体" pitchFamily="49" charset="-122"/>
                <a:sym typeface="Symbol" pitchFamily="18" charset="2"/>
              </a:rPr>
              <a:t>: </a:t>
            </a:r>
            <a:endParaRPr kumimoji="1" lang="zh-CN" altLang="en-US" sz="32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kumimoji="1" lang="zh-CN" altLang="en-US" sz="48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[P17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例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1]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设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U</a:t>
            </a:r>
            <a:r>
              <a:rPr lang="en-US" altLang="zh-CN" sz="2800" dirty="0">
                <a:ea typeface="黑体" pitchFamily="49" charset="-122"/>
              </a:rPr>
              <a:t>={u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2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3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4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5</a:t>
            </a:r>
            <a:r>
              <a:rPr lang="en-US" altLang="zh-CN" sz="2800" dirty="0">
                <a:ea typeface="黑体" pitchFamily="49" charset="-122"/>
              </a:rPr>
              <a:t>} ,</a:t>
            </a:r>
            <a:r>
              <a:rPr lang="zh-CN" altLang="en-US" sz="2800" dirty="0">
                <a:ea typeface="黑体" pitchFamily="49" charset="-122"/>
              </a:rPr>
              <a:t>试求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集</a:t>
            </a:r>
            <a:r>
              <a:rPr lang="en-US" altLang="zh-CN" sz="2800" dirty="0">
                <a:ea typeface="黑体" pitchFamily="49" charset="-122"/>
              </a:rPr>
              <a:t>A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952307493"/>
              </p:ext>
            </p:extLst>
          </p:nvPr>
        </p:nvGraphicFramePr>
        <p:xfrm>
          <a:off x="3359696" y="1969172"/>
          <a:ext cx="47482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6868" imgH="291973" progId="Equation.3">
                  <p:embed/>
                </p:oleObj>
              </mc:Choice>
              <mc:Fallback>
                <p:oleObj name="公式" r:id="rId2" imgW="1916868" imgH="291973" progId="Equation.3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1969172"/>
                        <a:ext cx="4748212" cy="723900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63552" y="3414713"/>
          <a:ext cx="4492625" cy="224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36800" imgH="1168400" progId="Equation.3">
                  <p:embed/>
                </p:oleObj>
              </mc:Choice>
              <mc:Fallback>
                <p:oleObj name="公式" r:id="rId4" imgW="2336800" imgH="1168400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3414713"/>
                        <a:ext cx="4492625" cy="224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2208213" y="5805488"/>
          <a:ext cx="38147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54200" imgH="431800" progId="Equation.3">
                  <p:embed/>
                </p:oleObj>
              </mc:Choice>
              <mc:Fallback>
                <p:oleObj name="公式" r:id="rId6" imgW="1854200" imgH="431800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805488"/>
                        <a:ext cx="381476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7787406" y="6000134"/>
            <a:ext cx="3714392" cy="83099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此推论可得到一个求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集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的隶属函数的公式</a:t>
            </a:r>
          </a:p>
        </p:txBody>
      </p:sp>
      <p:pic>
        <p:nvPicPr>
          <p:cNvPr id="36" name="Picture 50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192" y="3270144"/>
            <a:ext cx="3822292" cy="258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8EAC67-F00D-B605-2AB6-27285873D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46485" y="6278077"/>
            <a:ext cx="2844800" cy="457200"/>
          </a:xfrm>
        </p:spPr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A9287E-E8D7-C85F-0A74-74993545B666}"/>
              </a:ext>
            </a:extLst>
          </p:cNvPr>
          <p:cNvSpPr/>
          <p:nvPr/>
        </p:nvSpPr>
        <p:spPr>
          <a:xfrm>
            <a:off x="5879976" y="3270144"/>
            <a:ext cx="864096" cy="23908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25610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4624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Ⅰ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的举例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86014" y="1196976"/>
            <a:ext cx="8897811" cy="55165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800" dirty="0">
                <a:ea typeface="黑体" pitchFamily="2" charset="-122"/>
              </a:rPr>
              <a:t>[P17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2]</a:t>
            </a:r>
            <a:r>
              <a:rPr lang="zh-CN" altLang="en-US" sz="2800" dirty="0">
                <a:ea typeface="黑体" pitchFamily="2" charset="-122"/>
              </a:rPr>
              <a:t>设论域</a:t>
            </a:r>
            <a:r>
              <a:rPr lang="en-US" altLang="zh-CN" sz="2800" dirty="0">
                <a:ea typeface="黑体" pitchFamily="2" charset="-122"/>
              </a:rPr>
              <a:t>U=[0,5], </a:t>
            </a:r>
            <a:r>
              <a:rPr kumimoji="1" lang="en-US" altLang="zh-CN" sz="2800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kumimoji="1"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 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(U),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且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[0,1],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有</a:t>
            </a:r>
          </a:p>
          <a:p>
            <a:pPr eaLnBrk="1" hangingPunct="1">
              <a:defRPr/>
            </a:pPr>
            <a:endParaRPr kumimoji="1" lang="zh-CN" altLang="en-US" sz="24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sz="24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   求</a:t>
            </a:r>
            <a:r>
              <a:rPr kumimoji="1" lang="en-US" altLang="zh-CN" sz="2400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(x), </a:t>
            </a:r>
            <a:r>
              <a:rPr kumimoji="1" lang="en-US" altLang="zh-CN" sz="2400" dirty="0" err="1">
                <a:ea typeface="黑体" pitchFamily="2" charset="-122"/>
                <a:sym typeface="Symbol" pitchFamily="18" charset="2"/>
              </a:rPr>
              <a:t>xU</a:t>
            </a:r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.</a:t>
            </a:r>
          </a:p>
          <a:p>
            <a:pPr eaLnBrk="1" hangingPunct="1">
              <a:defRPr/>
            </a:pPr>
            <a:r>
              <a:rPr kumimoji="1" lang="zh-CN" altLang="en-US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解</a:t>
            </a:r>
            <a:r>
              <a:rPr kumimoji="1" lang="en-US" altLang="zh-CN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: </a:t>
            </a:r>
          </a:p>
          <a:p>
            <a:pPr eaLnBrk="1" hangingPunct="1">
              <a:defRPr/>
            </a:pPr>
            <a:endParaRPr kumimoji="1" lang="en-US" altLang="zh-CN" sz="11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      当</a:t>
            </a:r>
            <a:r>
              <a:rPr kumimoji="1" lang="en-US" altLang="zh-CN" sz="2400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kumimoji="1" lang="en-US" altLang="zh-CN" sz="2400" dirty="0">
                <a:solidFill>
                  <a:srgbClr val="0000FF"/>
                </a:solidFill>
                <a:sym typeface="Symbol" pitchFamily="18" charset="2"/>
              </a:rPr>
              <a:t>≤x≤5</a:t>
            </a:r>
            <a:r>
              <a:rPr kumimoji="1" lang="zh-CN" altLang="en-US" sz="2400" dirty="0">
                <a:sym typeface="Symbol" pitchFamily="18" charset="2"/>
              </a:rPr>
              <a:t>时</a:t>
            </a:r>
            <a:r>
              <a:rPr kumimoji="1" lang="en-US" altLang="zh-CN" sz="2400" dirty="0">
                <a:sym typeface="Symbol" pitchFamily="18" charset="2"/>
              </a:rPr>
              <a:t>, </a:t>
            </a:r>
          </a:p>
          <a:p>
            <a:pPr marL="0" indent="0" eaLnBrk="1" hangingPunct="1">
              <a:buNone/>
              <a:defRPr/>
            </a:pPr>
            <a:endParaRPr kumimoji="1" lang="en-US" altLang="zh-CN" sz="18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      当</a:t>
            </a:r>
            <a:r>
              <a:rPr kumimoji="1" lang="en-US" altLang="zh-CN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kumimoji="1" lang="en-US" altLang="zh-CN" sz="2400" dirty="0">
                <a:solidFill>
                  <a:srgbClr val="FF0000"/>
                </a:solidFill>
                <a:sym typeface="Symbol" pitchFamily="18" charset="2"/>
              </a:rPr>
              <a:t>≤x≤3</a:t>
            </a:r>
            <a:r>
              <a:rPr kumimoji="1" lang="en-US" altLang="zh-CN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 </a:t>
            </a:r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,</a:t>
            </a: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即</a:t>
            </a:r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0&lt;x</a:t>
            </a:r>
            <a:r>
              <a:rPr kumimoji="1" lang="en-US" altLang="zh-CN" sz="2400" dirty="0">
                <a:sym typeface="Symbol" pitchFamily="18" charset="2"/>
              </a:rPr>
              <a:t>≤2</a:t>
            </a:r>
            <a:r>
              <a:rPr kumimoji="1" lang="zh-CN" altLang="en-US" sz="2400" dirty="0">
                <a:sym typeface="Symbol" pitchFamily="18" charset="2"/>
              </a:rPr>
              <a:t>时</a:t>
            </a:r>
            <a:r>
              <a:rPr kumimoji="1" lang="en-US" altLang="zh-CN" sz="2400" dirty="0">
                <a:sym typeface="Symbol" pitchFamily="18" charset="2"/>
              </a:rPr>
              <a:t>, </a:t>
            </a:r>
          </a:p>
          <a:p>
            <a:pPr marL="0" indent="0" eaLnBrk="1" hangingPunct="1">
              <a:buNone/>
              <a:defRPr/>
            </a:pPr>
            <a:endParaRPr kumimoji="1" lang="en-US" altLang="zh-CN" sz="18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      当</a:t>
            </a:r>
            <a:r>
              <a:rPr kumimoji="1" lang="en-US" altLang="zh-CN" sz="2400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2&lt;x</a:t>
            </a:r>
            <a:r>
              <a:rPr kumimoji="1" lang="en-US" altLang="zh-CN" sz="2400" dirty="0">
                <a:solidFill>
                  <a:srgbClr val="FF00FF"/>
                </a:solidFill>
                <a:sym typeface="Symbol" pitchFamily="18" charset="2"/>
              </a:rPr>
              <a:t>≤5</a:t>
            </a:r>
            <a:r>
              <a:rPr kumimoji="1" lang="zh-CN" altLang="en-US" sz="2400" dirty="0">
                <a:sym typeface="Symbol" pitchFamily="18" charset="2"/>
              </a:rPr>
              <a:t>时</a:t>
            </a:r>
            <a:r>
              <a:rPr kumimoji="1" lang="en-US" altLang="zh-CN" sz="2400" dirty="0">
                <a:sym typeface="Symbol" pitchFamily="18" charset="2"/>
              </a:rPr>
              <a:t>, </a:t>
            </a:r>
          </a:p>
          <a:p>
            <a:pPr marL="0" indent="0" eaLnBrk="1" hangingPunct="1">
              <a:buNone/>
              <a:defRPr/>
            </a:pPr>
            <a:endParaRPr kumimoji="1" lang="en-US" altLang="zh-CN" sz="18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      当</a:t>
            </a:r>
            <a:r>
              <a:rPr kumimoji="1" lang="en-US" altLang="zh-CN" sz="2400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3&lt;x</a:t>
            </a:r>
            <a:r>
              <a:rPr kumimoji="1" lang="en-US" altLang="zh-CN" sz="2400" dirty="0">
                <a:solidFill>
                  <a:srgbClr val="008000"/>
                </a:solidFill>
                <a:sym typeface="Symbol" pitchFamily="18" charset="2"/>
              </a:rPr>
              <a:t>≤5</a:t>
            </a:r>
            <a:r>
              <a:rPr kumimoji="1" lang="zh-CN" altLang="en-US" sz="2400" dirty="0">
                <a:sym typeface="Symbol" pitchFamily="18" charset="2"/>
              </a:rPr>
              <a:t>时</a:t>
            </a:r>
            <a:r>
              <a:rPr kumimoji="1" lang="en-US" altLang="zh-CN" sz="2400" dirty="0">
                <a:sym typeface="Symbol" pitchFamily="18" charset="2"/>
              </a:rPr>
              <a:t>, </a:t>
            </a:r>
            <a:endParaRPr kumimoji="1" lang="en-US" altLang="zh-CN" sz="2400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28677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95994103"/>
              </p:ext>
            </p:extLst>
          </p:nvPr>
        </p:nvGraphicFramePr>
        <p:xfrm>
          <a:off x="7952036" y="1725299"/>
          <a:ext cx="257175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98600" imgH="1117600" progId="Equation.3">
                  <p:embed/>
                </p:oleObj>
              </mc:Choice>
              <mc:Fallback>
                <p:oleObj name="公式" r:id="rId3" imgW="1498600" imgH="1117600" progId="Equation.3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2036" y="1725299"/>
                        <a:ext cx="257175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5" name="Object 2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140217275"/>
              </p:ext>
            </p:extLst>
          </p:nvPr>
        </p:nvGraphicFramePr>
        <p:xfrm>
          <a:off x="2280123" y="3007775"/>
          <a:ext cx="23050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43000" imgH="292100" progId="Equation.3">
                  <p:embed/>
                </p:oleObj>
              </mc:Choice>
              <mc:Fallback>
                <p:oleObj name="公式" r:id="rId5" imgW="1143000" imgH="292100" progId="Equation.3">
                  <p:embed/>
                  <p:pic>
                    <p:nvPicPr>
                      <p:cNvPr id="2869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123" y="3007775"/>
                        <a:ext cx="23050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94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740" y="1625286"/>
            <a:ext cx="3421063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69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601419"/>
              </p:ext>
            </p:extLst>
          </p:nvPr>
        </p:nvGraphicFramePr>
        <p:xfrm>
          <a:off x="3656177" y="3642999"/>
          <a:ext cx="1562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279360" progId="Equation.DSMT4">
                  <p:embed/>
                </p:oleObj>
              </mc:Choice>
              <mc:Fallback>
                <p:oleObj name="Equation" r:id="rId8" imgW="774360" imgH="279360" progId="Equation.DSMT4">
                  <p:embed/>
                  <p:pic>
                    <p:nvPicPr>
                      <p:cNvPr id="2869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177" y="3642999"/>
                        <a:ext cx="1562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192840"/>
              </p:ext>
            </p:extLst>
          </p:nvPr>
        </p:nvGraphicFramePr>
        <p:xfrm>
          <a:off x="5108124" y="4460850"/>
          <a:ext cx="15875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380880" progId="Equation.DSMT4">
                  <p:embed/>
                </p:oleObj>
              </mc:Choice>
              <mc:Fallback>
                <p:oleObj name="Equation" r:id="rId10" imgW="787320" imgH="380880" progId="Equation.DSMT4">
                  <p:embed/>
                  <p:pic>
                    <p:nvPicPr>
                      <p:cNvPr id="2869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124" y="4460850"/>
                        <a:ext cx="15875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401387"/>
              </p:ext>
            </p:extLst>
          </p:nvPr>
        </p:nvGraphicFramePr>
        <p:xfrm>
          <a:off x="3809122" y="5214267"/>
          <a:ext cx="17145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380880" progId="Equation.DSMT4">
                  <p:embed/>
                </p:oleObj>
              </mc:Choice>
              <mc:Fallback>
                <p:oleObj name="Equation" r:id="rId12" imgW="888840" imgH="380880" progId="Equation.DSMT4">
                  <p:embed/>
                  <p:pic>
                    <p:nvPicPr>
                      <p:cNvPr id="2869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122" y="5214267"/>
                        <a:ext cx="17145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75233"/>
              </p:ext>
            </p:extLst>
          </p:nvPr>
        </p:nvGraphicFramePr>
        <p:xfrm>
          <a:off x="3752529" y="6006355"/>
          <a:ext cx="16652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3280" imgH="380880" progId="Equation.DSMT4">
                  <p:embed/>
                </p:oleObj>
              </mc:Choice>
              <mc:Fallback>
                <p:oleObj name="Equation" r:id="rId14" imgW="863280" imgH="380880" progId="Equation.DSMT4">
                  <p:embed/>
                  <p:pic>
                    <p:nvPicPr>
                      <p:cNvPr id="2870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529" y="6006355"/>
                        <a:ext cx="1665288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543834"/>
              </p:ext>
            </p:extLst>
          </p:nvPr>
        </p:nvGraphicFramePr>
        <p:xfrm>
          <a:off x="7607498" y="4368377"/>
          <a:ext cx="2520950" cy="244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33500" imgH="1295400" progId="Equation.3">
                  <p:embed/>
                </p:oleObj>
              </mc:Choice>
              <mc:Fallback>
                <p:oleObj name="公式" r:id="rId16" imgW="1333500" imgH="1295400" progId="Equation.3">
                  <p:embed/>
                  <p:pic>
                    <p:nvPicPr>
                      <p:cNvPr id="2870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498" y="4368377"/>
                        <a:ext cx="2520950" cy="244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7"/>
          <p:cNvGraphicFramePr>
            <a:graphicFrameLocks noChangeAspect="1"/>
          </p:cNvGraphicFramePr>
          <p:nvPr/>
        </p:nvGraphicFramePr>
        <p:xfrm>
          <a:off x="5595020" y="5085135"/>
          <a:ext cx="5397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360" imgH="393480" progId="Equation.DSMT4">
                  <p:embed/>
                </p:oleObj>
              </mc:Choice>
              <mc:Fallback>
                <p:oleObj name="Equation" r:id="rId18" imgW="279360" imgH="393480" progId="Equation.DSMT4">
                  <p:embed/>
                  <p:pic>
                    <p:nvPicPr>
                      <p:cNvPr id="1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020" y="5085135"/>
                        <a:ext cx="5397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192621"/>
              </p:ext>
            </p:extLst>
          </p:nvPr>
        </p:nvGraphicFramePr>
        <p:xfrm>
          <a:off x="5417817" y="6061224"/>
          <a:ext cx="4413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8600" imgH="203040" progId="Equation.DSMT4">
                  <p:embed/>
                </p:oleObj>
              </mc:Choice>
              <mc:Fallback>
                <p:oleObj name="Equation" r:id="rId20" imgW="228600" imgH="203040" progId="Equation.DSMT4">
                  <p:embed/>
                  <p:pic>
                    <p:nvPicPr>
                      <p:cNvPr id="1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7817" y="6061224"/>
                        <a:ext cx="4413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025596"/>
              </p:ext>
            </p:extLst>
          </p:nvPr>
        </p:nvGraphicFramePr>
        <p:xfrm>
          <a:off x="6665710" y="4326359"/>
          <a:ext cx="5397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93480" progId="Equation.DSMT4">
                  <p:embed/>
                </p:oleObj>
              </mc:Choice>
              <mc:Fallback>
                <p:oleObj name="Equation" r:id="rId22" imgW="279360" imgH="393480" progId="Equation.DSMT4">
                  <p:embed/>
                  <p:pic>
                    <p:nvPicPr>
                      <p:cNvPr id="1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5710" y="4326359"/>
                        <a:ext cx="5397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911351"/>
              </p:ext>
            </p:extLst>
          </p:nvPr>
        </p:nvGraphicFramePr>
        <p:xfrm>
          <a:off x="5244983" y="3683166"/>
          <a:ext cx="4905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800" imgH="203040" progId="Equation.DSMT4">
                  <p:embed/>
                </p:oleObj>
              </mc:Choice>
              <mc:Fallback>
                <p:oleObj name="Equation" r:id="rId24" imgW="253800" imgH="203040" progId="Equation.DSMT4">
                  <p:embed/>
                  <p:pic>
                    <p:nvPicPr>
                      <p:cNvPr id="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4983" y="3683166"/>
                        <a:ext cx="4905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7">
            <a:extLst>
              <a:ext uri="{FF2B5EF4-FFF2-40B4-BE49-F238E27FC236}">
                <a16:creationId xmlns:a16="http://schemas.microsoft.com/office/drawing/2014/main" id="{3A36A421-683C-2C3A-D60B-05F66E432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820067"/>
              </p:ext>
            </p:extLst>
          </p:nvPr>
        </p:nvGraphicFramePr>
        <p:xfrm>
          <a:off x="1992313" y="4876379"/>
          <a:ext cx="13985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23600" imgH="215640" progId="Equation.DSMT4">
                  <p:embed/>
                </p:oleObj>
              </mc:Choice>
              <mc:Fallback>
                <p:oleObj name="Equation" r:id="rId26" imgW="723600" imgH="215640" progId="Equation.DSMT4">
                  <p:embed/>
                  <p:pic>
                    <p:nvPicPr>
                      <p:cNvPr id="2" name="Object 27">
                        <a:extLst>
                          <a:ext uri="{FF2B5EF4-FFF2-40B4-BE49-F238E27FC236}">
                            <a16:creationId xmlns:a16="http://schemas.microsoft.com/office/drawing/2014/main" id="{3A36A421-683C-2C3A-D60B-05F66E432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876379"/>
                        <a:ext cx="13985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C6C9CAB-0389-EC14-7EED-C7A3DFD61512}"/>
              </a:ext>
            </a:extLst>
          </p:cNvPr>
          <p:cNvSpPr txBox="1"/>
          <p:nvPr/>
        </p:nvSpPr>
        <p:spPr>
          <a:xfrm>
            <a:off x="8234236" y="3716610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       2    3           5</a:t>
            </a:r>
            <a:endParaRPr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DBE789-E61F-E187-282F-BF1F476F271D}"/>
              </a:ext>
            </a:extLst>
          </p:cNvPr>
          <p:cNvSpPr txBox="1"/>
          <p:nvPr/>
        </p:nvSpPr>
        <p:spPr>
          <a:xfrm>
            <a:off x="7640289" y="2217216"/>
            <a:ext cx="663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</a:t>
            </a:r>
            <a:r>
              <a:rPr lang="en-US" altLang="zh-CN" b="1" dirty="0"/>
              <a:t>1</a:t>
            </a:r>
          </a:p>
          <a:p>
            <a:endParaRPr lang="en-US" altLang="zh-CN" b="1" dirty="0"/>
          </a:p>
          <a:p>
            <a:r>
              <a:rPr lang="en-US" altLang="zh-CN" b="1" dirty="0"/>
              <a:t>2/3</a:t>
            </a: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867E90-2BA2-3000-3475-576E579ED6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33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  <p:bldP spid="3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8640"/>
            <a:ext cx="109728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 dirty="0">
                <a:solidFill>
                  <a:srgbClr val="008000"/>
                </a:solidFill>
              </a:rPr>
              <a:t>Ⅱ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59496" y="1844675"/>
            <a:ext cx="8784975" cy="4464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[</a:t>
            </a:r>
            <a:r>
              <a:rPr lang="zh-CN" altLang="en-US" dirty="0"/>
              <a:t>分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 dirty="0"/>
              <a:t>Ⅱ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：设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则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[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推论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]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任意</a:t>
            </a:r>
            <a:r>
              <a:rPr kumimoji="1" lang="en-US" altLang="zh-CN" dirty="0" err="1">
                <a:ea typeface="黑体" pitchFamily="49" charset="-122"/>
                <a:sym typeface="Symbol" pitchFamily="18" charset="2"/>
              </a:rPr>
              <a:t>u</a:t>
            </a:r>
            <a:r>
              <a:rPr kumimoji="1" lang="en-US" altLang="zh-CN" sz="2800" dirty="0" err="1">
                <a:ea typeface="黑体" pitchFamily="49" charset="-122"/>
                <a:sym typeface="Symbol" pitchFamily="18" charset="2"/>
              </a:rPr>
              <a:t>U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有</a:t>
            </a:r>
          </a:p>
          <a:p>
            <a:pPr eaLnBrk="1" hangingPunct="1">
              <a:lnSpc>
                <a:spcPct val="120000"/>
              </a:lnSpc>
            </a:pPr>
            <a:endParaRPr kumimoji="1" lang="zh-CN" altLang="en-US" sz="3600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1800" dirty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可见</a:t>
            </a:r>
            <a:r>
              <a:rPr lang="en-US" altLang="zh-CN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,</a:t>
            </a: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给出强截集也可求出</a:t>
            </a:r>
            <a:r>
              <a:rPr lang="en-US" altLang="zh-CN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集，条件比</a:t>
            </a:r>
            <a:r>
              <a:rPr lang="en-US" altLang="zh-CN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分解定理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Ⅰ</a:t>
            </a:r>
            <a:r>
              <a:rPr lang="en-US" altLang="zh-CN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]</a:t>
            </a: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更灵活，</a:t>
            </a:r>
            <a:r>
              <a:rPr kumimoji="1" lang="zh-CN" altLang="en-US" sz="2800" dirty="0">
                <a:solidFill>
                  <a:srgbClr val="CC00CC"/>
                </a:solidFill>
                <a:ea typeface="黑体" pitchFamily="49" charset="-122"/>
                <a:sym typeface="Symbol" pitchFamily="18" charset="2"/>
              </a:rPr>
              <a:t>的取值可为有理数。</a:t>
            </a:r>
          </a:p>
        </p:txBody>
      </p:sp>
      <p:graphicFrame>
        <p:nvGraphicFramePr>
          <p:cNvPr id="30725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0426991"/>
              </p:ext>
            </p:extLst>
          </p:nvPr>
        </p:nvGraphicFramePr>
        <p:xfrm>
          <a:off x="7248128" y="1792171"/>
          <a:ext cx="21590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39800" imgH="368300" progId="Equation.3">
                  <p:embed/>
                </p:oleObj>
              </mc:Choice>
              <mc:Fallback>
                <p:oleObj name="公式" r:id="rId2" imgW="939800" imgH="368300" progId="Equation.3">
                  <p:embed/>
                  <p:pic>
                    <p:nvPicPr>
                      <p:cNvPr id="30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1792171"/>
                        <a:ext cx="2159000" cy="846138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60911231"/>
              </p:ext>
            </p:extLst>
          </p:nvPr>
        </p:nvGraphicFramePr>
        <p:xfrm>
          <a:off x="3215680" y="3429000"/>
          <a:ext cx="49022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16868" imgH="355446" progId="Equation.3">
                  <p:embed/>
                </p:oleObj>
              </mc:Choice>
              <mc:Fallback>
                <p:oleObj name="公式" r:id="rId4" imgW="1916868" imgH="355446" progId="Equation.3">
                  <p:embed/>
                  <p:pic>
                    <p:nvPicPr>
                      <p:cNvPr id="3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3429000"/>
                        <a:ext cx="490220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7401D8B7-0680-C000-3CEC-8E137611422C}"/>
              </a:ext>
            </a:extLst>
          </p:cNvPr>
          <p:cNvGrpSpPr/>
          <p:nvPr/>
        </p:nvGrpSpPr>
        <p:grpSpPr>
          <a:xfrm>
            <a:off x="1056146" y="5685219"/>
            <a:ext cx="10296438" cy="762007"/>
            <a:chOff x="6226174" y="1340768"/>
            <a:chExt cx="2917649" cy="762007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026EA8A-0435-AA93-AEB5-A908B16860C4}"/>
                </a:ext>
              </a:extLst>
            </p:cNvPr>
            <p:cNvSpPr txBox="1"/>
            <p:nvPr/>
          </p:nvSpPr>
          <p:spPr>
            <a:xfrm>
              <a:off x="6226174" y="1340768"/>
              <a:ext cx="2917649" cy="523220"/>
            </a:xfrm>
            <a:prstGeom prst="rect">
              <a:avLst/>
            </a:prstGeom>
            <a:solidFill>
              <a:srgbClr val="66CCFF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[</a:t>
              </a:r>
              <a:r>
                <a:rPr lang="zh-CN" altLang="en-US" sz="2800" b="1" dirty="0"/>
                <a:t>分解定理</a:t>
              </a:r>
              <a:r>
                <a:rPr lang="en-US" altLang="en-US" sz="2800" dirty="0"/>
                <a:t>Ⅱ</a:t>
              </a:r>
              <a:r>
                <a:rPr lang="en-US" altLang="zh-CN" sz="2800" b="1" dirty="0"/>
                <a:t>]</a:t>
              </a:r>
              <a:r>
                <a:rPr lang="zh-CN" altLang="en-US" sz="2800" b="1" dirty="0"/>
                <a:t>说明</a:t>
              </a:r>
              <a:r>
                <a:rPr lang="en-US" altLang="zh-CN" sz="2800" b="1" dirty="0"/>
                <a:t>F</a:t>
              </a:r>
              <a:r>
                <a:rPr lang="zh-CN" altLang="en-US" sz="2800" b="1" dirty="0"/>
                <a:t>集合</a:t>
              </a:r>
              <a:r>
                <a:rPr lang="en-US" altLang="zh-CN" sz="2800" b="1" dirty="0"/>
                <a:t>A</a:t>
              </a:r>
              <a:r>
                <a:rPr lang="zh-CN" altLang="en-US" sz="2800" b="1" dirty="0"/>
                <a:t>可由其强截集簇</a:t>
              </a:r>
              <a:r>
                <a:rPr lang="zh-CN" altLang="en-US" sz="2800" b="1" i="1" dirty="0">
                  <a:sym typeface="Symbol" panose="05050102010706020507" pitchFamily="18" charset="2"/>
                </a:rPr>
                <a:t> </a:t>
              </a:r>
              <a:r>
                <a:rPr lang="en-US" altLang="zh-CN" sz="2800" b="1" dirty="0">
                  <a:sym typeface="Symbol" panose="05050102010706020507" pitchFamily="18" charset="2"/>
                </a:rPr>
                <a:t>{</a:t>
              </a:r>
              <a:r>
                <a:rPr kumimoji="1" lang="en-US" altLang="zh-CN" sz="2800" b="1" i="1" dirty="0">
                  <a:ea typeface="黑体" pitchFamily="49" charset="-122"/>
                </a:rPr>
                <a:t>A</a:t>
              </a:r>
              <a:r>
                <a:rPr kumimoji="1" lang="en-US" altLang="zh-CN" sz="2800" b="1" i="1" baseline="-25000" dirty="0">
                  <a:ea typeface="黑体" pitchFamily="49" charset="-122"/>
                  <a:sym typeface="Symbol" pitchFamily="18" charset="2"/>
                </a:rPr>
                <a:t> </a:t>
              </a:r>
              <a:r>
                <a:rPr lang="en-US" altLang="zh-CN" sz="2800" b="1" dirty="0">
                  <a:sym typeface="Symbol" panose="05050102010706020507" pitchFamily="18" charset="2"/>
                </a:rPr>
                <a:t>}, </a:t>
              </a:r>
              <a:r>
                <a:rPr lang="zh-CN" altLang="en-US" sz="2800" b="1" i="1" dirty="0">
                  <a:sym typeface="Symbol" panose="05050102010706020507" pitchFamily="18" charset="2"/>
                </a:rPr>
                <a:t></a:t>
              </a:r>
              <a:r>
                <a:rPr lang="zh-CN" altLang="en-US" sz="2800" b="1" dirty="0">
                  <a:sym typeface="Symbol" panose="05050102010706020507" pitchFamily="18" charset="2"/>
                </a:rPr>
                <a:t></a:t>
              </a:r>
              <a:r>
                <a:rPr lang="en-US" altLang="zh-CN" sz="2800" b="1" dirty="0">
                  <a:sym typeface="Symbol" panose="05050102010706020507" pitchFamily="18" charset="2"/>
                </a:rPr>
                <a:t>[0,1]</a:t>
              </a:r>
              <a:r>
                <a:rPr lang="zh-CN" altLang="en-US" sz="2800" b="1" dirty="0"/>
                <a:t>所确定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8EFEC76-E517-A8AD-22C6-16EF8D7F2852}"/>
                </a:ext>
              </a:extLst>
            </p:cNvPr>
            <p:cNvSpPr txBox="1"/>
            <p:nvPr/>
          </p:nvSpPr>
          <p:spPr>
            <a:xfrm>
              <a:off x="8203379" y="1702665"/>
              <a:ext cx="205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ym typeface="Symbol" panose="05050102010706020507" pitchFamily="18" charset="2"/>
                </a:rPr>
                <a:t></a:t>
              </a:r>
              <a:endParaRPr lang="zh-CN" altLang="en-US" sz="2000" dirty="0"/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B99F64-8C24-6A08-D918-5602DF90A3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312739"/>
            <a:ext cx="8229600" cy="884238"/>
          </a:xfrm>
          <a:noFill/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分解定理</a:t>
            </a:r>
            <a:r>
              <a:rPr lang="en-US" altLang="en-US">
                <a:solidFill>
                  <a:srgbClr val="008000"/>
                </a:solidFill>
                <a:ea typeface="黑体" pitchFamily="49" charset="-122"/>
              </a:rPr>
              <a:t>Ⅱ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的举例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2314" y="1412876"/>
            <a:ext cx="8351837" cy="5040313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[P18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例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3] 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设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U</a:t>
            </a:r>
            <a:r>
              <a:rPr lang="en-US" altLang="zh-CN" sz="2800" dirty="0">
                <a:ea typeface="黑体" pitchFamily="2" charset="-122"/>
              </a:rPr>
              <a:t>={u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,u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,u</a:t>
            </a:r>
            <a:r>
              <a:rPr lang="en-US" altLang="zh-CN" sz="2800" baseline="-25000" dirty="0">
                <a:ea typeface="黑体" pitchFamily="2" charset="-122"/>
              </a:rPr>
              <a:t>3</a:t>
            </a:r>
            <a:r>
              <a:rPr lang="en-US" altLang="zh-CN" sz="2800" dirty="0">
                <a:ea typeface="黑体" pitchFamily="2" charset="-122"/>
              </a:rPr>
              <a:t>,u</a:t>
            </a:r>
            <a:r>
              <a:rPr lang="en-US" altLang="zh-CN" sz="2800" baseline="-25000" dirty="0">
                <a:ea typeface="黑体" pitchFamily="2" charset="-122"/>
              </a:rPr>
              <a:t>4</a:t>
            </a:r>
            <a:r>
              <a:rPr lang="en-US" altLang="zh-CN" sz="2800" dirty="0">
                <a:ea typeface="黑体" pitchFamily="2" charset="-122"/>
              </a:rPr>
              <a:t>,u</a:t>
            </a:r>
            <a:r>
              <a:rPr lang="en-US" altLang="zh-CN" sz="2800" baseline="-25000" dirty="0">
                <a:ea typeface="黑体" pitchFamily="2" charset="-122"/>
              </a:rPr>
              <a:t>5</a:t>
            </a:r>
            <a:r>
              <a:rPr lang="en-US" altLang="zh-CN" sz="2800" dirty="0">
                <a:ea typeface="黑体" pitchFamily="2" charset="-122"/>
              </a:rPr>
              <a:t>} ,F</a:t>
            </a:r>
            <a:r>
              <a:rPr lang="zh-CN" altLang="en-US" sz="2800" dirty="0">
                <a:ea typeface="黑体" pitchFamily="2" charset="-122"/>
              </a:rPr>
              <a:t>集的强截集为</a:t>
            </a:r>
          </a:p>
          <a:p>
            <a:pPr eaLnBrk="1" hangingPunct="1">
              <a:defRPr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z="2800" dirty="0">
              <a:ea typeface="黑体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zh-CN" altLang="en-US" sz="2800" dirty="0">
                <a:ea typeface="黑体" pitchFamily="2" charset="-122"/>
              </a:rPr>
              <a:t>    试求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</a:t>
            </a:r>
            <a:r>
              <a:rPr lang="en-US" altLang="zh-CN" sz="2800" dirty="0">
                <a:ea typeface="黑体" pitchFamily="2" charset="-122"/>
              </a:rPr>
              <a:t>A.</a:t>
            </a:r>
          </a:p>
          <a:p>
            <a:pPr eaLnBrk="1" hangingPunct="1">
              <a:defRPr/>
            </a:pPr>
            <a:r>
              <a:rPr lang="zh-CN" altLang="en-US" sz="2800" dirty="0">
                <a:ea typeface="黑体" pitchFamily="2" charset="-122"/>
              </a:rPr>
              <a:t>根据</a:t>
            </a:r>
          </a:p>
          <a:p>
            <a:pPr eaLnBrk="1" hangingPunct="1">
              <a:defRPr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z="2800" dirty="0">
                <a:ea typeface="黑体" pitchFamily="2" charset="-122"/>
              </a:rPr>
              <a:t>得</a:t>
            </a:r>
          </a:p>
          <a:p>
            <a:pPr eaLnBrk="1" hangingPunct="1">
              <a:defRPr/>
            </a:pPr>
            <a:endParaRPr lang="en-US" altLang="zh-CN" sz="2800" dirty="0"/>
          </a:p>
        </p:txBody>
      </p:sp>
      <p:graphicFrame>
        <p:nvGraphicFramePr>
          <p:cNvPr id="33801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24338" y="2078038"/>
          <a:ext cx="36703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43100" imgH="914400" progId="Equation.3">
                  <p:embed/>
                </p:oleObj>
              </mc:Choice>
              <mc:Fallback>
                <p:oleObj name="公式" r:id="rId3" imgW="1943100" imgH="914400" progId="Equation.3">
                  <p:embed/>
                  <p:pic>
                    <p:nvPicPr>
                      <p:cNvPr id="338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2078038"/>
                        <a:ext cx="36703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83050" y="4595813"/>
          <a:ext cx="445611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16868" imgH="355446" progId="Equation.3">
                  <p:embed/>
                </p:oleObj>
              </mc:Choice>
              <mc:Fallback>
                <p:oleObj name="公式" r:id="rId5" imgW="1916868" imgH="355446" progId="Equation.3">
                  <p:embed/>
                  <p:pic>
                    <p:nvPicPr>
                      <p:cNvPr id="338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4595813"/>
                        <a:ext cx="4456113" cy="827087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4585494" y="5661025"/>
          <a:ext cx="38147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54200" imgH="431800" progId="Equation.3">
                  <p:embed/>
                </p:oleObj>
              </mc:Choice>
              <mc:Fallback>
                <p:oleObj name="公式" r:id="rId7" imgW="1854200" imgH="431800" progId="Equation.3">
                  <p:embed/>
                  <p:pic>
                    <p:nvPicPr>
                      <p:cNvPr id="33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494" y="5661025"/>
                        <a:ext cx="381476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Oval 13"/>
          <p:cNvSpPr>
            <a:spLocks noChangeArrowheads="1"/>
          </p:cNvSpPr>
          <p:nvPr/>
        </p:nvSpPr>
        <p:spPr bwMode="auto">
          <a:xfrm>
            <a:off x="7319963" y="1844675"/>
            <a:ext cx="792162" cy="2114550"/>
          </a:xfrm>
          <a:prstGeom prst="ellips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631504" y="6092826"/>
            <a:ext cx="2664420" cy="461665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latin typeface="+mn-lt"/>
                <a:ea typeface="华文楷体" pitchFamily="2" charset="-122"/>
              </a:rPr>
              <a:t>u</a:t>
            </a:r>
            <a:r>
              <a:rPr lang="en-US" altLang="zh-CN" sz="2400" b="1" baseline="-25000" dirty="0">
                <a:latin typeface="+mn-lt"/>
                <a:ea typeface="华文楷体" pitchFamily="2" charset="-122"/>
              </a:rPr>
              <a:t>1</a:t>
            </a:r>
            <a:r>
              <a:rPr lang="zh-CN" altLang="en-US" sz="2400" b="1" dirty="0">
                <a:latin typeface="+mn-lt"/>
                <a:ea typeface="华文楷体" pitchFamily="2" charset="-122"/>
              </a:rPr>
              <a:t>最大的上界</a:t>
            </a:r>
            <a:r>
              <a:rPr lang="en-US" altLang="zh-CN" sz="2400" b="1" dirty="0">
                <a:latin typeface="+mn-lt"/>
                <a:ea typeface="华文楷体" pitchFamily="2" charset="-122"/>
              </a:rPr>
              <a:t>&lt;0.7</a:t>
            </a:r>
            <a:endParaRPr lang="zh-CN" altLang="en-US" sz="2400" b="1" dirty="0">
              <a:latin typeface="+mn-lt"/>
              <a:ea typeface="华文楷体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58C0B3F-BA43-DB06-7F98-86A7E7489B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/>
      <p:bldP spid="33805" grpId="0" animBg="1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 dirty="0">
                <a:solidFill>
                  <a:srgbClr val="008000"/>
                </a:solidFill>
              </a:rPr>
              <a:t>Ⅲ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196976"/>
            <a:ext cx="8713342" cy="5661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分解定理</a:t>
            </a:r>
            <a:r>
              <a:rPr lang="en-US" altLang="en-US" dirty="0">
                <a:ea typeface="黑体" pitchFamily="2" charset="-122"/>
              </a:rPr>
              <a:t>Ⅲ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ea typeface="黑体" pitchFamily="2" charset="-122"/>
              </a:rPr>
              <a:t>：设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若存在</a:t>
            </a:r>
            <a:r>
              <a:rPr kumimoji="1" lang="zh-CN" altLang="en-US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集合值映射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H: [0,1] </a:t>
            </a:r>
            <a:r>
              <a:rPr kumimoji="1" lang="en-US" altLang="zh-CN" dirty="0">
                <a:sym typeface="Symbol" pitchFamily="18" charset="2"/>
              </a:rPr>
              <a:t>→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         |</a:t>
            </a:r>
            <a:r>
              <a:rPr kumimoji="1" lang="en-US" altLang="zh-CN" dirty="0">
                <a:sym typeface="Symbol" pitchFamily="18" charset="2"/>
              </a:rPr>
              <a:t>→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H()</a:t>
            </a:r>
          </a:p>
          <a:p>
            <a:pPr marL="0" indent="0" eaLnBrk="1" hangingPunct="1">
              <a:buNone/>
              <a:defRPr/>
            </a:pP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      使得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[0,1],                     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       , 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则</a:t>
            </a:r>
          </a:p>
          <a:p>
            <a:pPr eaLnBrk="1" hangingPunct="1">
              <a:defRPr/>
            </a:pPr>
            <a:endParaRPr kumimoji="1" lang="zh-CN" altLang="en-US" sz="28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sz="28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sz="28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en-US" altLang="zh-CN" sz="2800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82122472"/>
              </p:ext>
            </p:extLst>
          </p:nvPr>
        </p:nvGraphicFramePr>
        <p:xfrm>
          <a:off x="4727847" y="2924944"/>
          <a:ext cx="2985187" cy="827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54100" imgH="292100" progId="Equation.3">
                  <p:embed/>
                </p:oleObj>
              </mc:Choice>
              <mc:Fallback>
                <p:oleObj name="公式" r:id="rId3" imgW="1054100" imgH="292100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7" y="2924944"/>
                        <a:ext cx="2985187" cy="827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767994074"/>
              </p:ext>
            </p:extLst>
          </p:nvPr>
        </p:nvGraphicFramePr>
        <p:xfrm>
          <a:off x="2969419" y="3672683"/>
          <a:ext cx="431482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0320" imgH="1320480" progId="Equation.DSMT4">
                  <p:embed/>
                </p:oleObj>
              </mc:Choice>
              <mc:Fallback>
                <p:oleObj name="Equation" r:id="rId5" imgW="1930320" imgH="1320480" progId="Equation.DSMT4">
                  <p:embed/>
                  <p:pic>
                    <p:nvPicPr>
                      <p:cNvPr id="36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9419" y="3672683"/>
                        <a:ext cx="4314825" cy="2952750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AutoShape 9"/>
          <p:cNvSpPr>
            <a:spLocks noChangeArrowheads="1"/>
          </p:cNvSpPr>
          <p:nvPr/>
        </p:nvSpPr>
        <p:spPr bwMode="auto">
          <a:xfrm>
            <a:off x="7032626" y="1773238"/>
            <a:ext cx="3455862" cy="1007690"/>
          </a:xfrm>
          <a:prstGeom prst="wedgeRoundRectCallout">
            <a:avLst>
              <a:gd name="adj1" fmla="val -116343"/>
              <a:gd name="adj2" fmla="val -29958"/>
              <a:gd name="adj3" fmla="val 16667"/>
            </a:avLst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 dirty="0">
                <a:ea typeface="楷体_GB2312" pitchFamily="49" charset="-122"/>
              </a:rPr>
              <a:t>集合值映射</a:t>
            </a:r>
            <a:r>
              <a:rPr lang="en-US" altLang="zh-CN" sz="2800" b="1" dirty="0">
                <a:ea typeface="楷体_GB2312" pitchFamily="49" charset="-122"/>
              </a:rPr>
              <a:t>——</a:t>
            </a:r>
            <a:r>
              <a:rPr lang="zh-CN" altLang="en-US" sz="2800" b="1" dirty="0">
                <a:ea typeface="楷体_GB2312" pitchFamily="49" charset="-122"/>
              </a:rPr>
              <a:t>取值为集合的映射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F2C6C5-247F-AD11-8816-6A4A518EAE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 dirty="0">
                <a:solidFill>
                  <a:srgbClr val="008000"/>
                </a:solidFill>
              </a:rPr>
              <a:t>Ⅲ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的证明</a:t>
            </a:r>
            <a:endParaRPr lang="en-US" altLang="zh-CN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196975"/>
            <a:ext cx="8681862" cy="5661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分解定理</a:t>
            </a:r>
            <a:r>
              <a:rPr lang="en-US" altLang="en-US" dirty="0">
                <a:ea typeface="黑体" pitchFamily="2" charset="-122"/>
              </a:rPr>
              <a:t>Ⅲ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ea typeface="黑体" pitchFamily="2" charset="-122"/>
              </a:rPr>
              <a:t>：设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若存在集合值映射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H: [0,1] </a:t>
            </a:r>
            <a:r>
              <a:rPr kumimoji="1" lang="en-US" altLang="zh-CN" dirty="0">
                <a:sym typeface="Symbol" pitchFamily="18" charset="2"/>
              </a:rPr>
              <a:t>→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|</a:t>
            </a:r>
            <a:r>
              <a:rPr kumimoji="1" lang="en-US" altLang="zh-CN" dirty="0">
                <a:sym typeface="Symbol" pitchFamily="18" charset="2"/>
              </a:rPr>
              <a:t>→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H()</a:t>
            </a:r>
          </a:p>
          <a:p>
            <a:pPr marL="0" indent="0" eaLnBrk="1" hangingPunct="1">
              <a:buNone/>
              <a:defRPr/>
            </a:pP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      使得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[0,1],                             ,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则</a:t>
            </a:r>
            <a:endParaRPr kumimoji="1"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sz="28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证明：</a:t>
            </a:r>
            <a:endParaRPr kumimoji="1" lang="en-US" altLang="zh-CN" sz="3600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en-US" altLang="zh-CN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71975260"/>
              </p:ext>
            </p:extLst>
          </p:nvPr>
        </p:nvGraphicFramePr>
        <p:xfrm>
          <a:off x="4867274" y="2381955"/>
          <a:ext cx="3058706" cy="847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100" imgH="292100" progId="Equation.DSMT4">
                  <p:embed/>
                </p:oleObj>
              </mc:Choice>
              <mc:Fallback>
                <p:oleObj name="Equation" r:id="rId3" imgW="1054100" imgH="292100" progId="Equation.DSMT4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4" y="2381955"/>
                        <a:ext cx="3058706" cy="847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674919006"/>
              </p:ext>
            </p:extLst>
          </p:nvPr>
        </p:nvGraphicFramePr>
        <p:xfrm>
          <a:off x="2336801" y="3037103"/>
          <a:ext cx="377031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368280" progId="Equation.DSMT4">
                  <p:embed/>
                </p:oleObj>
              </mc:Choice>
              <mc:Fallback>
                <p:oleObj name="Equation" r:id="rId5" imgW="1358640" imgH="368280" progId="Equation.DSMT4">
                  <p:embed/>
                  <p:pic>
                    <p:nvPicPr>
                      <p:cNvPr id="36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1" y="3037103"/>
                        <a:ext cx="3770312" cy="1022350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507878"/>
              </p:ext>
            </p:extLst>
          </p:nvPr>
        </p:nvGraphicFramePr>
        <p:xfrm>
          <a:off x="10063473" y="4915198"/>
          <a:ext cx="6445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400" imgH="164880" progId="Equation.DSMT4">
                  <p:embed/>
                </p:oleObj>
              </mc:Choice>
              <mc:Fallback>
                <p:oleObj name="Equation" r:id="rId7" imgW="266400" imgH="16488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3473" y="4915198"/>
                        <a:ext cx="6445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691848"/>
              </p:ext>
            </p:extLst>
          </p:nvPr>
        </p:nvGraphicFramePr>
        <p:xfrm>
          <a:off x="3143672" y="4149080"/>
          <a:ext cx="2477008" cy="686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100" imgH="292100" progId="Equation.DSMT4">
                  <p:embed/>
                </p:oleObj>
              </mc:Choice>
              <mc:Fallback>
                <p:oleObj name="Equation" r:id="rId3" imgW="1054100" imgH="29210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4149080"/>
                        <a:ext cx="2477008" cy="686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449798"/>
              </p:ext>
            </p:extLst>
          </p:nvPr>
        </p:nvGraphicFramePr>
        <p:xfrm>
          <a:off x="5620680" y="4149080"/>
          <a:ext cx="3694095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8320" imgH="291960" progId="Equation.DSMT4">
                  <p:embed/>
                </p:oleObj>
              </mc:Choice>
              <mc:Fallback>
                <p:oleObj name="Equation" r:id="rId9" imgW="1498320" imgH="291960" progId="Equation.DSMT4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0680" y="4149080"/>
                        <a:ext cx="3694095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670178"/>
              </p:ext>
            </p:extLst>
          </p:nvPr>
        </p:nvGraphicFramePr>
        <p:xfrm>
          <a:off x="4714130" y="4869160"/>
          <a:ext cx="53387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09680" imgH="368280" progId="Equation.DSMT4">
                  <p:embed/>
                </p:oleObj>
              </mc:Choice>
              <mc:Fallback>
                <p:oleObj name="Equation" r:id="rId11" imgW="2209680" imgH="368280" progId="Equation.DSMT4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130" y="4869160"/>
                        <a:ext cx="533876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876810"/>
              </p:ext>
            </p:extLst>
          </p:nvPr>
        </p:nvGraphicFramePr>
        <p:xfrm>
          <a:off x="4079776" y="5877272"/>
          <a:ext cx="29162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06360" imgH="368280" progId="Equation.DSMT4">
                  <p:embed/>
                </p:oleObj>
              </mc:Choice>
              <mc:Fallback>
                <p:oleObj name="Equation" r:id="rId13" imgW="1206360" imgH="368280" progId="Equation.DSMT4">
                  <p:embed/>
                  <p:pic>
                    <p:nvPicPr>
                      <p:cNvPr id="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5877272"/>
                        <a:ext cx="291623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23184"/>
              </p:ext>
            </p:extLst>
          </p:nvPr>
        </p:nvGraphicFramePr>
        <p:xfrm>
          <a:off x="4079776" y="4941168"/>
          <a:ext cx="6445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164880" progId="Equation.DSMT4">
                  <p:embed/>
                </p:oleObj>
              </mc:Choice>
              <mc:Fallback>
                <p:oleObj name="Equation" r:id="rId15" imgW="266400" imgH="164880" progId="Equation.DSMT4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4941168"/>
                        <a:ext cx="6445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77939B-5C95-DED2-A8C6-7F5C3D9249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79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 dirty="0">
                <a:solidFill>
                  <a:srgbClr val="008000"/>
                </a:solidFill>
              </a:rPr>
              <a:t>Ⅲ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的证明</a:t>
            </a:r>
            <a:endParaRPr lang="en-US" altLang="zh-CN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196976"/>
            <a:ext cx="8713342" cy="5661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分解定理</a:t>
            </a:r>
            <a:r>
              <a:rPr lang="en-US" altLang="en-US" dirty="0">
                <a:ea typeface="黑体" pitchFamily="2" charset="-122"/>
              </a:rPr>
              <a:t>Ⅲ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ea typeface="黑体" pitchFamily="2" charset="-122"/>
              </a:rPr>
              <a:t>：设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若存在集合值映射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H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 [0,1] </a:t>
            </a:r>
            <a:r>
              <a:rPr kumimoji="1" lang="en-US" altLang="zh-CN" dirty="0">
                <a:sym typeface="Symbol" pitchFamily="18" charset="2"/>
              </a:rPr>
              <a:t>→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|</a:t>
            </a:r>
            <a:r>
              <a:rPr kumimoji="1" lang="en-US" altLang="zh-CN" dirty="0">
                <a:sym typeface="Symbol" pitchFamily="18" charset="2"/>
              </a:rPr>
              <a:t>→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H()</a:t>
            </a:r>
          </a:p>
          <a:p>
            <a:pPr marL="0" indent="0" eaLnBrk="1" hangingPunct="1">
              <a:buNone/>
              <a:defRPr/>
            </a:pP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      使得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[0,1],                          , 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则</a:t>
            </a:r>
            <a:endParaRPr kumimoji="1"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sz="36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sz="16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证明：</a:t>
            </a:r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  <a:sym typeface="Symbol" pitchFamily="18" charset="2"/>
              </a:rPr>
              <a:t>∵ </a:t>
            </a:r>
            <a:r>
              <a:rPr kumimoji="1" lang="en-US" altLang="zh-CN" i="1" dirty="0" err="1">
                <a:ea typeface="仿宋" panose="02010609060101010101" pitchFamily="49" charset="-122"/>
                <a:sym typeface="Symbol" pitchFamily="18" charset="2"/>
              </a:rPr>
              <a:t>u</a:t>
            </a:r>
            <a:r>
              <a:rPr kumimoji="1" lang="en-US" altLang="zh-CN" dirty="0" err="1">
                <a:ea typeface="仿宋" panose="02010609060101010101" pitchFamily="49" charset="-122"/>
                <a:sym typeface="Symbol" pitchFamily="18" charset="2"/>
              </a:rPr>
              <a:t>U</a:t>
            </a:r>
            <a:r>
              <a:rPr kumimoji="1" lang="en-US" altLang="zh-CN" dirty="0">
                <a:ea typeface="仿宋" panose="02010609060101010101" pitchFamily="49" charset="-122"/>
                <a:sym typeface="Symbol" pitchFamily="18" charset="2"/>
              </a:rPr>
              <a:t>,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有</a:t>
            </a:r>
            <a:endParaRPr kumimoji="1" lang="en-US" altLang="zh-CN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en-US" altLang="zh-CN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68800" y="5726113"/>
          <a:ext cx="16906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28600" progId="Equation.DSMT4">
                  <p:embed/>
                </p:oleObj>
              </mc:Choice>
              <mc:Fallback>
                <p:oleObj name="Equation" r:id="rId3" imgW="596880" imgH="228600" progId="Equation.DSMT4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5726113"/>
                        <a:ext cx="169068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678628339"/>
              </p:ext>
            </p:extLst>
          </p:nvPr>
        </p:nvGraphicFramePr>
        <p:xfrm>
          <a:off x="4816267" y="2399206"/>
          <a:ext cx="2641585" cy="732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292100" progId="Equation.DSMT4">
                  <p:embed/>
                </p:oleObj>
              </mc:Choice>
              <mc:Fallback>
                <p:oleObj name="Equation" r:id="rId5" imgW="1054100" imgH="292100" progId="Equation.DSMT4">
                  <p:embed/>
                  <p:pic>
                    <p:nvPicPr>
                      <p:cNvPr id="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267" y="2399206"/>
                        <a:ext cx="2641585" cy="732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373095" y="5661024"/>
          <a:ext cx="1028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" imgH="241200" progId="Equation.DSMT4">
                  <p:embed/>
                </p:oleObj>
              </mc:Choice>
              <mc:Fallback>
                <p:oleObj name="Equation" r:id="rId7" imgW="368280" imgH="241200" progId="Equation.DSMT4">
                  <p:embed/>
                  <p:pic>
                    <p:nvPicPr>
                      <p:cNvPr id="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095" y="5661024"/>
                        <a:ext cx="1028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487296" y="5709117"/>
          <a:ext cx="1550987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320" imgH="228600" progId="Equation.DSMT4">
                  <p:embed/>
                </p:oleObj>
              </mc:Choice>
              <mc:Fallback>
                <p:oleObj name="Equation" r:id="rId9" imgW="571320" imgH="228600" progId="Equation.DSMT4">
                  <p:embed/>
                  <p:pic>
                    <p:nvPicPr>
                      <p:cNvPr id="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7296" y="5709117"/>
                        <a:ext cx="1550987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188448" y="5666649"/>
          <a:ext cx="105568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8280" imgH="304560" progId="Equation.DSMT4">
                  <p:embed/>
                </p:oleObj>
              </mc:Choice>
              <mc:Fallback>
                <p:oleObj name="Equation" r:id="rId11" imgW="368280" imgH="304560" progId="Equation.DSMT4">
                  <p:embed/>
                  <p:pic>
                    <p:nvPicPr>
                      <p:cNvPr id="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448" y="5666649"/>
                        <a:ext cx="105568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4439817" y="4657725"/>
          <a:ext cx="22764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87320" imgH="228600" progId="Equation.DSMT4">
                  <p:embed/>
                </p:oleObj>
              </mc:Choice>
              <mc:Fallback>
                <p:oleObj name="Equation" r:id="rId13" imgW="787320" imgH="228600" progId="Equation.DSMT4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7" y="4657725"/>
                        <a:ext cx="227647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11479"/>
              </p:ext>
            </p:extLst>
          </p:nvPr>
        </p:nvGraphicFramePr>
        <p:xfrm>
          <a:off x="2425868" y="3082619"/>
          <a:ext cx="5134585" cy="58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30320" imgH="228600" progId="Equation.DSMT4">
                  <p:embed/>
                </p:oleObj>
              </mc:Choice>
              <mc:Fallback>
                <p:oleObj name="Equation" r:id="rId15" imgW="1930320" imgH="22860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868" y="3082619"/>
                        <a:ext cx="5134585" cy="58804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3143672" y="4621295"/>
          <a:ext cx="1320762" cy="698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57200" imgH="241200" progId="Equation.DSMT4">
                  <p:embed/>
                </p:oleObj>
              </mc:Choice>
              <mc:Fallback>
                <p:oleObj name="Equation" r:id="rId17" imgW="457200" imgH="241200" progId="Equation.DSMT4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4621295"/>
                        <a:ext cx="1320762" cy="698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7464152" y="4634582"/>
          <a:ext cx="17986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22080" imgH="304560" progId="Equation.DSMT4">
                  <p:embed/>
                </p:oleObj>
              </mc:Choice>
              <mc:Fallback>
                <p:oleObj name="Equation" r:id="rId19" imgW="622080" imgH="304560" progId="Equation.DSMT4">
                  <p:embed/>
                  <p:pic>
                    <p:nvPicPr>
                      <p:cNvPr id="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4634582"/>
                        <a:ext cx="179863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6649814" y="4657337"/>
          <a:ext cx="808038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228600" progId="Equation.DSMT4">
                  <p:embed/>
                </p:oleObj>
              </mc:Choice>
              <mc:Fallback>
                <p:oleObj name="Equation" r:id="rId21" imgW="279360" imgH="228600" progId="Equation.DSMT4">
                  <p:embed/>
                  <p:pic>
                    <p:nvPicPr>
                      <p:cNvPr id="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814" y="4657337"/>
                        <a:ext cx="808038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884FA3-71EE-8FC7-1D07-7AC33A4A65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862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 dirty="0">
                <a:solidFill>
                  <a:srgbClr val="008000"/>
                </a:solidFill>
              </a:rPr>
              <a:t>Ⅲ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的证明</a:t>
            </a:r>
            <a:endParaRPr lang="en-US" altLang="zh-CN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7" y="1196976"/>
            <a:ext cx="8857358" cy="5661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分解定理</a:t>
            </a:r>
            <a:r>
              <a:rPr lang="en-US" altLang="en-US" dirty="0">
                <a:ea typeface="黑体" pitchFamily="2" charset="-122"/>
              </a:rPr>
              <a:t>Ⅲ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ea typeface="黑体" pitchFamily="2" charset="-122"/>
              </a:rPr>
              <a:t>：设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若存在集合值映射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H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 [0,1] </a:t>
            </a:r>
            <a:r>
              <a:rPr kumimoji="1" lang="en-US" altLang="zh-CN" dirty="0">
                <a:sym typeface="Symbol" pitchFamily="18" charset="2"/>
              </a:rPr>
              <a:t>→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|</a:t>
            </a:r>
            <a:r>
              <a:rPr kumimoji="1" lang="en-US" altLang="zh-CN" dirty="0">
                <a:sym typeface="Symbol" pitchFamily="18" charset="2"/>
              </a:rPr>
              <a:t>→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H()</a:t>
            </a:r>
          </a:p>
          <a:p>
            <a:pPr marL="0" indent="0" eaLnBrk="1" hangingPunct="1">
              <a:buNone/>
              <a:defRPr/>
            </a:pP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      使得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[0,1],                       , 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则</a:t>
            </a:r>
            <a:endParaRPr kumimoji="1"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sz="16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r>
              <a:rPr kumimoji="1" lang="zh-CN" altLang="en-US" sz="36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证明：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对</a:t>
            </a:r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  <a:sym typeface="Symbol" pitchFamily="18" charset="2"/>
              </a:rPr>
              <a:t></a:t>
            </a:r>
            <a:r>
              <a:rPr kumimoji="1" lang="en-US" altLang="zh-CN" i="1" dirty="0">
                <a:ea typeface="仿宋" panose="02010609060101010101" pitchFamily="49" charset="-122"/>
                <a:sym typeface="Symbol" pitchFamily="18" charset="2"/>
              </a:rPr>
              <a:t> </a:t>
            </a:r>
            <a:r>
              <a:rPr kumimoji="1" lang="en-US" altLang="zh-CN" dirty="0">
                <a:ea typeface="仿宋" panose="02010609060101010101" pitchFamily="49" charset="-122"/>
                <a:sym typeface="Symbol" pitchFamily="18" charset="2"/>
              </a:rPr>
              <a:t>&lt; </a:t>
            </a:r>
            <a:r>
              <a:rPr kumimoji="1" lang="en-US" altLang="zh-CN" i="1" dirty="0">
                <a:ea typeface="仿宋" panose="02010609060101010101" pitchFamily="49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仿宋" panose="02010609060101010101" pitchFamily="49" charset="-122"/>
                <a:sym typeface="Symbol" pitchFamily="18" charset="2"/>
              </a:rPr>
              <a:t>,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有</a:t>
            </a:r>
            <a:endParaRPr kumimoji="1" lang="en-US" altLang="zh-CN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en-US" altLang="zh-CN" sz="360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en-US" altLang="zh-CN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00375" y="4365625"/>
          <a:ext cx="10350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480" imgH="203040" progId="Equation.DSMT4">
                  <p:embed/>
                </p:oleObj>
              </mc:Choice>
              <mc:Fallback>
                <p:oleObj name="Equation" r:id="rId3" imgW="393480" imgH="203040" progId="Equation.DSMT4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365625"/>
                        <a:ext cx="10350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16120238"/>
              </p:ext>
            </p:extLst>
          </p:nvPr>
        </p:nvGraphicFramePr>
        <p:xfrm>
          <a:off x="4575518" y="2410148"/>
          <a:ext cx="237648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292100" progId="Equation.DSMT4">
                  <p:embed/>
                </p:oleObj>
              </mc:Choice>
              <mc:Fallback>
                <p:oleObj name="Equation" r:id="rId5" imgW="1054100" imgH="292100" progId="Equation.DSMT4">
                  <p:embed/>
                  <p:pic>
                    <p:nvPicPr>
                      <p:cNvPr id="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518" y="2410148"/>
                        <a:ext cx="2376488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167058" y="4324441"/>
          <a:ext cx="101282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2720" imgH="228600" progId="Equation.DSMT4">
                  <p:embed/>
                </p:oleObj>
              </mc:Choice>
              <mc:Fallback>
                <p:oleObj name="Equation" r:id="rId7" imgW="342720" imgH="228600" progId="Equation.DSMT4">
                  <p:embed/>
                  <p:pic>
                    <p:nvPicPr>
                      <p:cNvPr id="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058" y="4324441"/>
                        <a:ext cx="101282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039488" y="4302614"/>
          <a:ext cx="10255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2720" imgH="291960" progId="Equation.DSMT4">
                  <p:embed/>
                </p:oleObj>
              </mc:Choice>
              <mc:Fallback>
                <p:oleObj name="Equation" r:id="rId9" imgW="342720" imgH="291960" progId="Equation.DSMT4">
                  <p:embed/>
                  <p:pic>
                    <p:nvPicPr>
                      <p:cNvPr id="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488" y="4302614"/>
                        <a:ext cx="102552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48576444"/>
              </p:ext>
            </p:extLst>
          </p:nvPr>
        </p:nvGraphicFramePr>
        <p:xfrm>
          <a:off x="1901350" y="3093922"/>
          <a:ext cx="37703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36480" imgH="342720" progId="Equation.DSMT4">
                  <p:embed/>
                </p:oleObj>
              </mc:Choice>
              <mc:Fallback>
                <p:oleObj name="Equation" r:id="rId11" imgW="1536480" imgH="342720" progId="Equation.DSMT4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350" y="3093922"/>
                        <a:ext cx="3770313" cy="84137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6166297" y="4365105"/>
          <a:ext cx="39925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12800" imgH="342720" progId="Equation.DSMT4">
                  <p:embed/>
                </p:oleObj>
              </mc:Choice>
              <mc:Fallback>
                <p:oleObj name="Equation" r:id="rId13" imgW="1612800" imgH="342720" progId="Equation.DSMT4">
                  <p:embed/>
                  <p:pic>
                    <p:nvPicPr>
                      <p:cNvPr id="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6297" y="4365105"/>
                        <a:ext cx="39925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2711625" y="5229201"/>
          <a:ext cx="33940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71600" imgH="342720" progId="Equation.DSMT4">
                  <p:embed/>
                </p:oleObj>
              </mc:Choice>
              <mc:Fallback>
                <p:oleObj name="Equation" r:id="rId15" imgW="1371600" imgH="342720" progId="Equation.DSMT4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5" y="5229201"/>
                        <a:ext cx="33940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6003974" y="5228872"/>
          <a:ext cx="1209569" cy="792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240" imgH="291960" progId="Equation.DSMT4">
                  <p:embed/>
                </p:oleObj>
              </mc:Choice>
              <mc:Fallback>
                <p:oleObj name="Equation" r:id="rId17" imgW="444240" imgH="291960" progId="Equation.DSMT4">
                  <p:embed/>
                  <p:pic>
                    <p:nvPicPr>
                      <p:cNvPr id="2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74" y="5228872"/>
                        <a:ext cx="1209569" cy="792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7182395" y="5212829"/>
          <a:ext cx="863978" cy="619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228600" progId="Equation.DSMT4">
                  <p:embed/>
                </p:oleObj>
              </mc:Choice>
              <mc:Fallback>
                <p:oleObj name="Equation" r:id="rId19" imgW="317160" imgH="228600" progId="Equation.DSMT4">
                  <p:embed/>
                  <p:pic>
                    <p:nvPicPr>
                      <p:cNvPr id="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2395" y="5212829"/>
                        <a:ext cx="863978" cy="619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2631343" y="6043601"/>
          <a:ext cx="32686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20480" imgH="342720" progId="Equation.DSMT4">
                  <p:embed/>
                </p:oleObj>
              </mc:Choice>
              <mc:Fallback>
                <p:oleObj name="Equation" r:id="rId21" imgW="1320480" imgH="342720" progId="Equation.DSMT4">
                  <p:embed/>
                  <p:pic>
                    <p:nvPicPr>
                      <p:cNvPr id="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343" y="6043601"/>
                        <a:ext cx="3268663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327B72-0E1E-8CAF-E557-1872FBED83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32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分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解定理</a:t>
            </a:r>
            <a:r>
              <a:rPr lang="en-US" altLang="en-US">
                <a:solidFill>
                  <a:srgbClr val="008000"/>
                </a:solidFill>
              </a:rPr>
              <a:t>Ⅲ</a:t>
            </a:r>
            <a:endParaRPr lang="en-US" altLang="zh-CN">
              <a:solidFill>
                <a:srgbClr val="008000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196976"/>
            <a:ext cx="9577064" cy="5661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分解定理</a:t>
            </a:r>
            <a:r>
              <a:rPr lang="en-US" altLang="en-US" dirty="0">
                <a:ea typeface="黑体" pitchFamily="2" charset="-122"/>
              </a:rPr>
              <a:t>Ⅲ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ea typeface="黑体" pitchFamily="2" charset="-122"/>
              </a:rPr>
              <a:t>：设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A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(U),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若存在集合值映射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     H: [0,1] </a:t>
            </a:r>
            <a:r>
              <a:rPr kumimoji="1" lang="en-US" altLang="zh-CN" dirty="0">
                <a:sym typeface="Symbol" pitchFamily="18" charset="2"/>
              </a:rPr>
              <a:t>→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，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|</a:t>
            </a:r>
            <a:r>
              <a:rPr kumimoji="1" lang="en-US" altLang="zh-CN" dirty="0">
                <a:sym typeface="Symbol" pitchFamily="18" charset="2"/>
              </a:rPr>
              <a:t>→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 H()</a:t>
            </a:r>
          </a:p>
          <a:p>
            <a:pPr marL="0" indent="0" eaLnBrk="1" hangingPunct="1">
              <a:buNone/>
              <a:defRPr/>
            </a:pP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      使得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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[0,1],                       , 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则</a:t>
            </a: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defRPr/>
            </a:pPr>
            <a:endParaRPr kumimoji="1" lang="en-US" altLang="zh-CN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55992549"/>
              </p:ext>
            </p:extLst>
          </p:nvPr>
        </p:nvGraphicFramePr>
        <p:xfrm>
          <a:off x="4881439" y="2418638"/>
          <a:ext cx="237807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54100" imgH="292100" progId="Equation.3">
                  <p:embed/>
                </p:oleObj>
              </mc:Choice>
              <mc:Fallback>
                <p:oleObj name="公式" r:id="rId3" imgW="1054100" imgH="292100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439" y="2418638"/>
                        <a:ext cx="2378075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216840189"/>
              </p:ext>
            </p:extLst>
          </p:nvPr>
        </p:nvGraphicFramePr>
        <p:xfrm>
          <a:off x="2874021" y="2960759"/>
          <a:ext cx="3448050" cy="235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0320" imgH="1320480" progId="Equation.DSMT4">
                  <p:embed/>
                </p:oleObj>
              </mc:Choice>
              <mc:Fallback>
                <p:oleObj name="Equation" r:id="rId5" imgW="1930320" imgH="1320480" progId="Equation.DSMT4">
                  <p:embed/>
                  <p:pic>
                    <p:nvPicPr>
                      <p:cNvPr id="36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021" y="2960759"/>
                        <a:ext cx="3448050" cy="235902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1910259" y="5013176"/>
            <a:ext cx="8078788" cy="191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说明</a:t>
            </a:r>
          </a:p>
          <a:p>
            <a:pPr>
              <a:lnSpc>
                <a:spcPct val="110000"/>
              </a:lnSpc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H()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不一定是</a:t>
            </a:r>
            <a:r>
              <a:rPr kumimoji="1" lang="en-US" altLang="zh-CN" sz="2400" b="1" i="1" dirty="0">
                <a:solidFill>
                  <a:srgbClr val="0000FF"/>
                </a:solidFill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或</a:t>
            </a:r>
            <a:r>
              <a:rPr kumimoji="1" lang="en-US" altLang="zh-CN" sz="2400" b="1" i="1" dirty="0">
                <a:solidFill>
                  <a:srgbClr val="0000FF"/>
                </a:solidFill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只要是介于两者之间即可，特别地</a:t>
            </a:r>
          </a:p>
          <a:p>
            <a:pPr>
              <a:lnSpc>
                <a:spcPct val="110000"/>
              </a:lnSpc>
              <a:buFont typeface="Wingdings" pitchFamily="2" charset="2"/>
              <a:buChar char="n"/>
            </a:pPr>
            <a:endParaRPr kumimoji="1" lang="zh-CN" altLang="en-US" sz="200" b="1" dirty="0">
              <a:solidFill>
                <a:srgbClr val="0000FF"/>
              </a:solidFill>
              <a:ea typeface="楷体_GB2312" pitchFamily="49" charset="-122"/>
              <a:sym typeface="Symbol" pitchFamily="18" charset="2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400" b="1" dirty="0">
                <a:solidFill>
                  <a:srgbClr val="CC00CC"/>
                </a:solidFill>
                <a:ea typeface="楷体_GB2312" pitchFamily="49" charset="-122"/>
                <a:sym typeface="Symbol" pitchFamily="18" charset="2"/>
              </a:rPr>
              <a:t>H()=</a:t>
            </a:r>
            <a:r>
              <a:rPr kumimoji="1" lang="en-US" altLang="zh-CN" sz="2400" b="1" i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CC00CC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，则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[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分解定理</a:t>
            </a:r>
            <a:r>
              <a:rPr lang="en-US" altLang="en-US" sz="2400" b="1" dirty="0">
                <a:solidFill>
                  <a:srgbClr val="0000FF"/>
                </a:solidFill>
                <a:ea typeface="楷体_GB2312" pitchFamily="49" charset="-122"/>
              </a:rPr>
              <a:t>Ⅲ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]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变成</a:t>
            </a:r>
            <a:r>
              <a:rPr kumimoji="1" lang="en-US" altLang="zh-CN" sz="2400" b="1" dirty="0">
                <a:solidFill>
                  <a:srgbClr val="CC00CC"/>
                </a:solidFill>
                <a:ea typeface="楷体_GB2312" pitchFamily="49" charset="-122"/>
                <a:sym typeface="Symbol" pitchFamily="18" charset="2"/>
              </a:rPr>
              <a:t>[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分解定理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Ⅰ]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；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400" b="1" dirty="0">
                <a:solidFill>
                  <a:srgbClr val="00B0F0"/>
                </a:solidFill>
                <a:ea typeface="楷体_GB2312" pitchFamily="49" charset="-122"/>
                <a:sym typeface="Symbol" pitchFamily="18" charset="2"/>
              </a:rPr>
              <a:t>H()=</a:t>
            </a:r>
            <a:r>
              <a:rPr kumimoji="1" lang="en-US" altLang="zh-CN" sz="2400" b="1" i="1" dirty="0">
                <a:solidFill>
                  <a:srgbClr val="00B0F0"/>
                </a:solidFill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B0F0"/>
                </a:solidFill>
                <a:sym typeface="Symbol" pitchFamily="18" charset="2"/>
              </a:rPr>
              <a:t>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，则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[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分解定理</a:t>
            </a:r>
            <a:r>
              <a:rPr lang="en-US" altLang="en-US" sz="2400" b="1" dirty="0">
                <a:solidFill>
                  <a:srgbClr val="0000FF"/>
                </a:solidFill>
                <a:ea typeface="楷体_GB2312" pitchFamily="49" charset="-122"/>
              </a:rPr>
              <a:t>Ⅲ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]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变成</a:t>
            </a:r>
            <a:r>
              <a:rPr kumimoji="1" lang="en-US" altLang="zh-CN" sz="2400" b="1" dirty="0">
                <a:solidFill>
                  <a:srgbClr val="00B0F0"/>
                </a:solidFill>
                <a:ea typeface="楷体_GB2312" pitchFamily="49" charset="-122"/>
                <a:sym typeface="Symbol" pitchFamily="18" charset="2"/>
              </a:rPr>
              <a:t>[</a:t>
            </a:r>
            <a:r>
              <a:rPr lang="zh-CN" altLang="en-US" sz="2400" b="1" dirty="0">
                <a:solidFill>
                  <a:srgbClr val="00B0F0"/>
                </a:solidFill>
                <a:ea typeface="楷体_GB2312" pitchFamily="49" charset="-122"/>
              </a:rPr>
              <a:t>分解定理</a:t>
            </a:r>
            <a:r>
              <a:rPr lang="en-US" altLang="zh-CN" sz="2000" b="1" dirty="0">
                <a:solidFill>
                  <a:srgbClr val="00B0F0"/>
                </a:solidFill>
              </a:rPr>
              <a:t>Ⅱ </a:t>
            </a:r>
            <a:r>
              <a:rPr lang="en-US" altLang="zh-CN" sz="2400" b="1" dirty="0">
                <a:solidFill>
                  <a:srgbClr val="00B0F0"/>
                </a:solidFill>
                <a:ea typeface="楷体_GB2312" pitchFamily="49" charset="-122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；</a:t>
            </a:r>
          </a:p>
          <a:p>
            <a:pPr lvl="1">
              <a:buFont typeface="Wingdings" pitchFamily="2" charset="2"/>
              <a:buChar char="n"/>
            </a:pPr>
            <a:endParaRPr lang="en-US" altLang="zh-CN" sz="600" b="1" dirty="0">
              <a:ea typeface="楷体_GB2312" pitchFamily="49" charset="-122"/>
            </a:endParaRPr>
          </a:p>
        </p:txBody>
      </p:sp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4799857" y="5631631"/>
            <a:ext cx="360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3935761" y="6649810"/>
            <a:ext cx="360363" cy="379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baseline="300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A92BAA-E90A-8AC4-8DD8-C2E9EBAA82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555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4" grpId="0"/>
      <p:bldP spid="3687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13085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1.7 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集合套与表现定理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590189" y="1484783"/>
            <a:ext cx="9793088" cy="5373217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altLang="zh-CN" sz="2800" dirty="0">
                <a:ea typeface="黑体" pitchFamily="49" charset="-122"/>
              </a:rPr>
              <a:t>[</a:t>
            </a:r>
            <a:r>
              <a:rPr lang="zh-CN" altLang="en-US" sz="2800" dirty="0">
                <a:ea typeface="黑体" pitchFamily="49" charset="-122"/>
              </a:rPr>
              <a:t>分解定理</a:t>
            </a:r>
            <a:r>
              <a:rPr lang="en-US" altLang="en-US" sz="2800" dirty="0">
                <a:ea typeface="黑体" pitchFamily="49" charset="-122"/>
              </a:rPr>
              <a:t>Ⅲ</a:t>
            </a:r>
            <a:r>
              <a:rPr lang="en-US" altLang="zh-CN" sz="2800" dirty="0">
                <a:ea typeface="黑体" pitchFamily="49" charset="-122"/>
              </a:rPr>
              <a:t>]</a:t>
            </a:r>
            <a:r>
              <a:rPr lang="zh-CN" altLang="en-US" sz="2800" dirty="0">
                <a:ea typeface="黑体" pitchFamily="49" charset="-122"/>
              </a:rPr>
              <a:t>可见</a:t>
            </a:r>
            <a:r>
              <a:rPr lang="en-US" altLang="zh-CN" sz="2800" dirty="0">
                <a:ea typeface="黑体" pitchFamily="49" charset="-122"/>
              </a:rPr>
              <a:t>,</a:t>
            </a:r>
            <a:r>
              <a:rPr lang="zh-CN" altLang="en-US" sz="2800" dirty="0">
                <a:ea typeface="黑体" pitchFamily="49" charset="-122"/>
              </a:rPr>
              <a:t>集合族</a:t>
            </a:r>
            <a:r>
              <a:rPr lang="en-US" altLang="zh-CN" sz="2800" dirty="0">
                <a:solidFill>
                  <a:srgbClr val="FF00FF"/>
                </a:solidFill>
                <a:ea typeface="黑体" pitchFamily="49" charset="-122"/>
              </a:rPr>
              <a:t>{H(</a:t>
            </a:r>
            <a:r>
              <a:rPr kumimoji="1" lang="en-US" altLang="zh-CN" sz="28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)| [0,1]}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随而一个套一个地变化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即成为集合套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于是有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114000"/>
              </a:lnSpc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[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定义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1]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若集合值映射  </a:t>
            </a:r>
          </a:p>
          <a:p>
            <a:pPr eaLnBrk="1" hangingPunct="1">
              <a:lnSpc>
                <a:spcPct val="114000"/>
              </a:lnSpc>
              <a:buFont typeface="Wingdings" pitchFamily="2" charset="2"/>
              <a:buNone/>
            </a:pP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                   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H: [0,1] →</a:t>
            </a:r>
            <a:r>
              <a:rPr kumimoji="1" lang="en-US" altLang="zh-CN" sz="2800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P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(U)</a:t>
            </a:r>
          </a:p>
          <a:p>
            <a:pPr eaLnBrk="1" hangingPunct="1">
              <a:lnSpc>
                <a:spcPct val="114000"/>
              </a:lnSpc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              </a:t>
            </a:r>
            <a:r>
              <a:rPr kumimoji="1" lang="zh-CN" altLang="en-US" sz="2800" b="1" dirty="0">
                <a:latin typeface="+mn-lt"/>
                <a:sym typeface="Symbol" pitchFamily="18" charset="2"/>
              </a:rPr>
              <a:t>满足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[0,1]</a:t>
            </a:r>
            <a:r>
              <a:rPr kumimoji="1" lang="zh-CN" altLang="en-US" sz="2800" b="1" dirty="0">
                <a:latin typeface="+mn-lt"/>
                <a:sym typeface="Symbol" pitchFamily="18" charset="2"/>
              </a:rPr>
              <a:t>，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&lt;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2 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 H(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)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 H(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2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14000"/>
              </a:lnSpc>
              <a:buFont typeface="Wingdings" pitchFamily="2" charset="2"/>
              <a:buNone/>
            </a:pPr>
            <a:r>
              <a:rPr kumimoji="1" lang="en-US" altLang="zh-CN" sz="2800" b="1" dirty="0">
                <a:latin typeface="+mn-lt"/>
                <a:sym typeface="Symbol" pitchFamily="18" charset="2"/>
              </a:rPr>
              <a:t>              </a:t>
            </a:r>
            <a:r>
              <a:rPr kumimoji="1" lang="zh-CN" altLang="en-US" sz="2800" b="1" dirty="0">
                <a:latin typeface="+mn-lt"/>
                <a:sym typeface="Symbol" pitchFamily="18" charset="2"/>
              </a:rPr>
              <a:t>则称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H</a:t>
            </a:r>
            <a:r>
              <a:rPr kumimoji="1" lang="zh-CN" altLang="en-US" sz="2800" b="1" dirty="0">
                <a:latin typeface="+mn-lt"/>
                <a:sym typeface="Symbol" pitchFamily="18" charset="2"/>
              </a:rPr>
              <a:t>为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U</a:t>
            </a:r>
            <a:r>
              <a:rPr kumimoji="1" lang="zh-CN" altLang="en-US" sz="2800" b="1" dirty="0">
                <a:latin typeface="+mn-lt"/>
                <a:sym typeface="Symbol" pitchFamily="18" charset="2"/>
              </a:rPr>
              <a:t>上的</a:t>
            </a:r>
            <a:r>
              <a:rPr kumimoji="1" lang="zh-CN" altLang="en-US" sz="2800" dirty="0">
                <a:solidFill>
                  <a:srgbClr val="FF0000"/>
                </a:solidFill>
                <a:latin typeface="+mn-lt"/>
                <a:sym typeface="Symbol" pitchFamily="18" charset="2"/>
              </a:rPr>
              <a:t>集合套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14000"/>
              </a:lnSpc>
            </a:pPr>
            <a:r>
              <a:rPr kumimoji="1" lang="en-US" altLang="zh-CN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U</a:t>
            </a:r>
            <a:r>
              <a:rPr kumimoji="1" lang="zh-CN" altLang="en-US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上所有集合套构成的集合</a:t>
            </a:r>
            <a:r>
              <a:rPr kumimoji="1" lang="en-US" altLang="zh-CN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记作</a:t>
            </a:r>
            <a:r>
              <a:rPr kumimoji="1" lang="en-US" altLang="zh-CN" dirty="0">
                <a:solidFill>
                  <a:srgbClr val="008000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U</a:t>
            </a:r>
            <a:r>
              <a:rPr kumimoji="1" lang="en-US" altLang="zh-CN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(U)</a:t>
            </a:r>
            <a:r>
              <a:rPr kumimoji="1" lang="zh-CN" altLang="en-US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。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分解定理</a:t>
            </a:r>
            <a:r>
              <a:rPr lang="en-US" altLang="en-US" dirty="0">
                <a:solidFill>
                  <a:srgbClr val="CC00CC"/>
                </a:solidFill>
                <a:ea typeface="黑体" pitchFamily="49" charset="-122"/>
              </a:rPr>
              <a:t>Ⅲ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]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说明：</a:t>
            </a:r>
          </a:p>
          <a:p>
            <a:pPr lvl="1" eaLnBrk="1" hangingPunct="1">
              <a:lnSpc>
                <a:spcPct val="114000"/>
              </a:lnSpc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一个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F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集可由其自身分解出的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集合套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来表示。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928018-EDDC-E17A-1AB5-4E1EFB3DA8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394E13-34D8-AC93-DD0F-B45667C4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219" y="98698"/>
            <a:ext cx="4995453" cy="3330302"/>
          </a:xfrm>
          <a:prstGeom prst="rect">
            <a:avLst/>
          </a:prstGeom>
          <a:effectLst>
            <a:glow rad="127000">
              <a:srgbClr val="FFC000"/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4624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集合套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340768"/>
            <a:ext cx="10369151" cy="52578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[P19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例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2]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设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U=</a:t>
            </a:r>
            <a:r>
              <a:rPr kumimoji="1" lang="en-US" altLang="zh-CN" sz="2800" dirty="0">
                <a:ea typeface="黑体" pitchFamily="2" charset="-122"/>
              </a:rPr>
              <a:t>{u</a:t>
            </a:r>
            <a:r>
              <a:rPr kumimoji="1" lang="en-US" altLang="zh-CN" sz="2800" baseline="-25000" dirty="0">
                <a:ea typeface="黑体" pitchFamily="2" charset="-122"/>
              </a:rPr>
              <a:t>1</a:t>
            </a:r>
            <a:r>
              <a:rPr kumimoji="1" lang="en-US" altLang="zh-CN" sz="2800" dirty="0">
                <a:ea typeface="黑体" pitchFamily="2" charset="-122"/>
              </a:rPr>
              <a:t>, u</a:t>
            </a:r>
            <a:r>
              <a:rPr kumimoji="1" lang="en-US" altLang="zh-CN" sz="2800" baseline="-25000" dirty="0">
                <a:ea typeface="黑体" pitchFamily="2" charset="-122"/>
              </a:rPr>
              <a:t>2</a:t>
            </a:r>
            <a:r>
              <a:rPr kumimoji="1" lang="en-US" altLang="zh-CN" sz="2800" dirty="0">
                <a:ea typeface="黑体" pitchFamily="2" charset="-122"/>
              </a:rPr>
              <a:t>, u</a:t>
            </a:r>
            <a:r>
              <a:rPr kumimoji="1" lang="en-US" altLang="zh-CN" sz="2800" baseline="-25000" dirty="0">
                <a:ea typeface="黑体" pitchFamily="2" charset="-122"/>
              </a:rPr>
              <a:t>3</a:t>
            </a:r>
            <a:r>
              <a:rPr kumimoji="1" lang="en-US" altLang="zh-CN" sz="2800" dirty="0">
                <a:ea typeface="黑体" pitchFamily="2" charset="-122"/>
              </a:rPr>
              <a:t>, u</a:t>
            </a:r>
            <a:r>
              <a:rPr kumimoji="1" lang="en-US" altLang="zh-CN" sz="2800" baseline="-25000" dirty="0">
                <a:ea typeface="黑体" pitchFamily="2" charset="-122"/>
              </a:rPr>
              <a:t>4</a:t>
            </a:r>
            <a:r>
              <a:rPr kumimoji="1" lang="en-US" altLang="zh-CN" sz="2800" dirty="0">
                <a:ea typeface="黑体" pitchFamily="2" charset="-122"/>
              </a:rPr>
              <a:t>, u</a:t>
            </a:r>
            <a:r>
              <a:rPr kumimoji="1" lang="en-US" altLang="zh-CN" sz="2800" baseline="-25000" dirty="0">
                <a:ea typeface="黑体" pitchFamily="2" charset="-122"/>
              </a:rPr>
              <a:t>5</a:t>
            </a:r>
            <a:r>
              <a:rPr kumimoji="1" lang="en-US" altLang="zh-CN" sz="2800" dirty="0">
                <a:ea typeface="黑体" pitchFamily="2" charset="-122"/>
              </a:rPr>
              <a:t>}</a:t>
            </a:r>
            <a:r>
              <a:rPr kumimoji="1" lang="zh-CN" altLang="en-US" sz="2800" dirty="0">
                <a:ea typeface="黑体" pitchFamily="2" charset="-122"/>
              </a:rPr>
              <a:t>，则</a:t>
            </a:r>
            <a:r>
              <a:rPr kumimoji="1" lang="en-US" altLang="zh-CN" sz="2800" dirty="0">
                <a:ea typeface="黑体" pitchFamily="2" charset="-122"/>
              </a:rPr>
              <a:t>U</a:t>
            </a:r>
            <a:r>
              <a:rPr kumimoji="1" lang="zh-CN" altLang="en-US" sz="2800" dirty="0">
                <a:ea typeface="黑体" pitchFamily="2" charset="-122"/>
              </a:rPr>
              <a:t>上的集合值映射</a:t>
            </a:r>
            <a:r>
              <a:rPr kumimoji="1" lang="en-US" altLang="zh-CN" sz="2800" dirty="0">
                <a:ea typeface="黑体" pitchFamily="2" charset="-122"/>
              </a:rPr>
              <a:t>H</a:t>
            </a:r>
            <a:r>
              <a:rPr kumimoji="1" lang="en-US" altLang="zh-CN" sz="2800" baseline="-25000" dirty="0">
                <a:ea typeface="黑体" pitchFamily="2" charset="-122"/>
              </a:rPr>
              <a:t>1</a:t>
            </a:r>
            <a:r>
              <a:rPr kumimoji="1" lang="zh-CN" altLang="en-US" sz="2800" dirty="0">
                <a:ea typeface="黑体" pitchFamily="2" charset="-122"/>
              </a:rPr>
              <a:t>和</a:t>
            </a:r>
            <a:r>
              <a:rPr kumimoji="1" lang="en-US" altLang="zh-CN" sz="2800" dirty="0">
                <a:ea typeface="黑体" pitchFamily="2" charset="-122"/>
              </a:rPr>
              <a:t>H</a:t>
            </a:r>
            <a:r>
              <a:rPr kumimoji="1" lang="en-US" altLang="zh-CN" sz="2800" baseline="-25000" dirty="0">
                <a:ea typeface="黑体" pitchFamily="2" charset="-122"/>
              </a:rPr>
              <a:t>2</a:t>
            </a:r>
            <a:r>
              <a:rPr kumimoji="1" lang="zh-CN" altLang="en-US" sz="2800" dirty="0">
                <a:ea typeface="黑体" pitchFamily="2" charset="-122"/>
              </a:rPr>
              <a:t>为：</a:t>
            </a:r>
            <a:endParaRPr kumimoji="1" lang="en-US" altLang="zh-CN" sz="2800" dirty="0">
              <a:ea typeface="黑体" pitchFamily="2" charset="-122"/>
            </a:endParaRPr>
          </a:p>
          <a:p>
            <a:pPr eaLnBrk="1" hangingPunct="1">
              <a:defRPr/>
            </a:pPr>
            <a:endParaRPr kumimoji="1" lang="zh-CN" altLang="en-US" sz="2400" dirty="0">
              <a:ea typeface="黑体" pitchFamily="2" charset="-122"/>
            </a:endParaRPr>
          </a:p>
          <a:p>
            <a:pPr eaLnBrk="1" hangingPunct="1">
              <a:defRPr/>
            </a:pPr>
            <a:endParaRPr kumimoji="1" lang="zh-CN" altLang="en-US" sz="2000" dirty="0">
              <a:latin typeface="Times New Roman" pitchFamily="18" charset="0"/>
            </a:endParaRPr>
          </a:p>
          <a:p>
            <a:pPr eaLnBrk="1" hangingPunct="1">
              <a:defRPr/>
            </a:pPr>
            <a:endParaRPr kumimoji="1" lang="zh-CN" altLang="en-US" sz="2400" dirty="0">
              <a:latin typeface="Times New Roman" pitchFamily="18" charset="0"/>
            </a:endParaRPr>
          </a:p>
          <a:p>
            <a:pPr eaLnBrk="1" hangingPunct="1">
              <a:defRPr/>
            </a:pPr>
            <a:endParaRPr kumimoji="1" lang="zh-CN" altLang="en-US" sz="2400" dirty="0">
              <a:latin typeface="Times New Roman" pitchFamily="18" charset="0"/>
            </a:endParaRPr>
          </a:p>
          <a:p>
            <a:pPr eaLnBrk="1" hangingPunct="1">
              <a:defRPr/>
            </a:pPr>
            <a:endParaRPr kumimoji="1" lang="zh-CN" altLang="en-US" sz="2000" dirty="0">
              <a:latin typeface="Times New Roman" pitchFamily="18" charset="0"/>
            </a:endParaRPr>
          </a:p>
          <a:p>
            <a:pPr eaLnBrk="1" hangingPunct="1">
              <a:defRPr/>
            </a:pPr>
            <a:endParaRPr kumimoji="1" lang="zh-CN" altLang="en-US" sz="2400" dirty="0">
              <a:latin typeface="Times New Roman" pitchFamily="18" charset="0"/>
            </a:endParaRPr>
          </a:p>
          <a:p>
            <a:pPr marL="0" indent="0" eaLnBrk="1" hangingPunct="1">
              <a:buNone/>
              <a:defRPr/>
            </a:pP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    判断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H</a:t>
            </a:r>
            <a:r>
              <a:rPr kumimoji="1" lang="en-US" altLang="zh-CN" sz="2800" baseline="-25000" dirty="0">
                <a:ea typeface="黑体" pitchFamily="2" charset="-122"/>
                <a:sym typeface="Symbol" pitchFamily="18" charset="2"/>
              </a:rPr>
              <a:t>1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H</a:t>
            </a:r>
            <a:r>
              <a:rPr kumimoji="1" lang="en-US" altLang="zh-CN" sz="2800" baseline="-25000" dirty="0">
                <a:ea typeface="黑体" pitchFamily="2" charset="-122"/>
                <a:sym typeface="Symbol" pitchFamily="18" charset="2"/>
              </a:rPr>
              <a:t>2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哪一个是集合套？</a:t>
            </a:r>
          </a:p>
          <a:p>
            <a:pPr lvl="1" eaLnBrk="1" hangingPunct="1">
              <a:defRPr/>
            </a:pP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对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：随着的递减，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中各集合一个包含一个，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是集合套；</a:t>
            </a:r>
          </a:p>
          <a:p>
            <a:pPr lvl="1" eaLnBrk="1" hangingPunct="1">
              <a:defRPr/>
            </a:pP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对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：因为不满足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(0.5)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 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(0.6)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，所以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H</a:t>
            </a:r>
            <a:r>
              <a:rPr kumimoji="1" lang="en-US" altLang="zh-CN" sz="2400" b="1" baseline="-25000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不是集合套。</a:t>
            </a:r>
            <a:endParaRPr kumimoji="1" lang="zh-CN" altLang="en-US" sz="2000" b="1" dirty="0">
              <a:solidFill>
                <a:srgbClr val="0000FF"/>
              </a:solidFill>
              <a:ea typeface="楷体_GB2312" pitchFamily="49" charset="-122"/>
              <a:sym typeface="Symbol" pitchFamily="18" charset="2"/>
            </a:endParaRPr>
          </a:p>
          <a:p>
            <a:pPr eaLnBrk="1" hangingPunct="1">
              <a:defRPr/>
            </a:pP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[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注意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]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集合套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H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不是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集，也不是普通集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,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只是当取确定值时，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H()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才成为普通集。</a:t>
            </a:r>
          </a:p>
        </p:txBody>
      </p:sp>
      <p:graphicFrame>
        <p:nvGraphicFramePr>
          <p:cNvPr id="77829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3488453"/>
              </p:ext>
            </p:extLst>
          </p:nvPr>
        </p:nvGraphicFramePr>
        <p:xfrm>
          <a:off x="1003770" y="2060848"/>
          <a:ext cx="8820150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32300" imgH="1143000" progId="Equation.3">
                  <p:embed/>
                </p:oleObj>
              </mc:Choice>
              <mc:Fallback>
                <p:oleObj name="公式" r:id="rId2" imgW="4432300" imgH="1143000" progId="Equation.3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770" y="2060848"/>
                        <a:ext cx="8820150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328248" y="491705"/>
            <a:ext cx="3528392" cy="54168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14000"/>
              </a:lnSpc>
              <a:buFont typeface="Wingdings" pitchFamily="2" charset="2"/>
              <a:buNone/>
            </a:pP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&lt;</a:t>
            </a: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2 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 H(</a:t>
            </a: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)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 H(</a:t>
            </a: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)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1FB027-39A1-D26D-6EC9-EED40E34B1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集合套的运算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412875"/>
            <a:ext cx="9865096" cy="51117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定义</a:t>
            </a:r>
            <a:r>
              <a:rPr lang="en-US" altLang="zh-CN" dirty="0">
                <a:ea typeface="黑体" pitchFamily="49" charset="-122"/>
              </a:rPr>
              <a:t>2]</a:t>
            </a:r>
            <a:r>
              <a:rPr lang="zh-CN" altLang="en-US" dirty="0">
                <a:ea typeface="黑体" pitchFamily="49" charset="-122"/>
              </a:rPr>
              <a:t>在</a:t>
            </a:r>
            <a:r>
              <a:rPr lang="en-US" altLang="zh-CN" dirty="0">
                <a:latin typeface="Monotype Corsiva" pitchFamily="66" charset="0"/>
                <a:ea typeface="黑体" pitchFamily="49" charset="-122"/>
              </a:rPr>
              <a:t>U</a:t>
            </a:r>
            <a:r>
              <a:rPr lang="en-US" altLang="zh-CN" dirty="0">
                <a:ea typeface="黑体" pitchFamily="49" charset="-122"/>
              </a:rPr>
              <a:t>(U)</a:t>
            </a:r>
            <a:r>
              <a:rPr lang="zh-CN" altLang="en-US" dirty="0">
                <a:ea typeface="黑体" pitchFamily="49" charset="-122"/>
              </a:rPr>
              <a:t>中</a:t>
            </a:r>
            <a:r>
              <a:rPr lang="en-US" altLang="zh-CN" dirty="0">
                <a:ea typeface="黑体" pitchFamily="49" charset="-122"/>
              </a:rPr>
              <a:t>,</a:t>
            </a:r>
            <a:r>
              <a:rPr lang="zh-CN" altLang="en-US" dirty="0">
                <a:ea typeface="黑体" pitchFamily="49" charset="-122"/>
              </a:rPr>
              <a:t>规定运算</a:t>
            </a:r>
            <a:r>
              <a:rPr lang="en-US" altLang="zh-CN" dirty="0">
                <a:ea typeface="黑体" pitchFamily="49" charset="-122"/>
              </a:rPr>
              <a:t>”</a:t>
            </a:r>
            <a:r>
              <a:rPr lang="zh-CN" altLang="en-US" dirty="0">
                <a:ea typeface="黑体" pitchFamily="49" charset="-122"/>
              </a:rPr>
              <a:t>并”</a:t>
            </a:r>
            <a:r>
              <a:rPr lang="en-US" altLang="zh-CN" dirty="0">
                <a:ea typeface="黑体" pitchFamily="49" charset="-122"/>
              </a:rPr>
              <a:t>,”</a:t>
            </a:r>
            <a:r>
              <a:rPr lang="zh-CN" altLang="en-US" dirty="0">
                <a:ea typeface="黑体" pitchFamily="49" charset="-122"/>
              </a:rPr>
              <a:t>交”</a:t>
            </a:r>
            <a:r>
              <a:rPr lang="en-US" altLang="zh-CN" dirty="0">
                <a:ea typeface="黑体" pitchFamily="49" charset="-122"/>
              </a:rPr>
              <a:t>,”</a:t>
            </a:r>
            <a:r>
              <a:rPr lang="zh-CN" altLang="en-US" dirty="0">
                <a:ea typeface="黑体" pitchFamily="49" charset="-122"/>
              </a:rPr>
              <a:t>补”如下</a:t>
            </a:r>
            <a:r>
              <a:rPr lang="en-US" altLang="zh-CN" dirty="0">
                <a:ea typeface="黑体" pitchFamily="49" charset="-122"/>
              </a:rPr>
              <a:t>: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   “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并”   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1 </a:t>
            </a:r>
            <a:r>
              <a:rPr kumimoji="1" lang="en-US" altLang="zh-CN" dirty="0">
                <a:sym typeface="Symbol"/>
              </a:rPr>
              <a:t>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2   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=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  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H(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)</a:t>
            </a:r>
            <a:r>
              <a:rPr kumimoji="1" lang="en-US" altLang="zh-CN" sz="2800" dirty="0">
                <a:sym typeface="Symbol"/>
              </a:rPr>
              <a:t> 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H(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2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   “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交”   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1 </a:t>
            </a:r>
            <a:r>
              <a:rPr kumimoji="1" lang="en-US" altLang="zh-CN" dirty="0">
                <a:sym typeface="Symbol"/>
              </a:rPr>
              <a:t>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2   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=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  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H(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) </a:t>
            </a:r>
            <a:r>
              <a:rPr kumimoji="1" lang="en-US" altLang="zh-CN" dirty="0">
                <a:sym typeface="Symbol"/>
              </a:rPr>
              <a:t>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H(</a:t>
            </a:r>
            <a:r>
              <a:rPr kumimoji="1" lang="en-US" altLang="zh-CN" sz="2800" baseline="-25000" dirty="0">
                <a:ea typeface="黑体" pitchFamily="49" charset="-122"/>
                <a:sym typeface="Symbol" pitchFamily="18" charset="2"/>
              </a:rPr>
              <a:t>2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   “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补”        </a:t>
            </a:r>
            <a:r>
              <a:rPr kumimoji="1" lang="en-US" altLang="zh-CN" sz="2800" dirty="0" err="1">
                <a:ea typeface="黑体" pitchFamily="49" charset="-122"/>
                <a:sym typeface="Symbol" pitchFamily="18" charset="2"/>
              </a:rPr>
              <a:t>H</a:t>
            </a:r>
            <a:r>
              <a:rPr kumimoji="1" lang="en-US" altLang="zh-CN" sz="2800" baseline="30000" dirty="0" err="1"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()   =   (H(1- ))</a:t>
            </a:r>
            <a:r>
              <a:rPr kumimoji="1" lang="en-US" altLang="zh-CN" sz="2800" baseline="30000" dirty="0">
                <a:ea typeface="黑体" pitchFamily="49" charset="-122"/>
                <a:sym typeface="Symbol" pitchFamily="18" charset="2"/>
              </a:rPr>
              <a:t>c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dirty="0">
                <a:solidFill>
                  <a:srgbClr val="0000FF"/>
                </a:solidFill>
                <a:sym typeface="Symbol" pitchFamily="18" charset="2"/>
              </a:rPr>
              <a:t>易见</a:t>
            </a:r>
            <a:r>
              <a:rPr kumimoji="1" lang="en-US" altLang="zh-CN" dirty="0">
                <a:solidFill>
                  <a:srgbClr val="0000FF"/>
                </a:solidFill>
                <a:sym typeface="Symbol" pitchFamily="18" charset="2"/>
              </a:rPr>
              <a:t>,</a:t>
            </a:r>
            <a:r>
              <a:rPr kumimoji="1" lang="zh-CN" altLang="en-US" dirty="0">
                <a:solidFill>
                  <a:srgbClr val="0000FF"/>
                </a:solidFill>
                <a:sym typeface="Symbol" pitchFamily="18" charset="2"/>
              </a:rPr>
              <a:t>集合套经过并、交、补运算，仍是集合套。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dirty="0">
                <a:sym typeface="Symbol" pitchFamily="18" charset="2"/>
              </a:rPr>
              <a:t>并且普通集合关于</a:t>
            </a:r>
            <a:r>
              <a:rPr kumimoji="1" lang="zh-CN" altLang="en-US" dirty="0">
                <a:sym typeface="Symbol"/>
              </a:rPr>
              <a:t></a:t>
            </a:r>
            <a:r>
              <a:rPr kumimoji="1" lang="zh-CN" altLang="en-US" dirty="0">
                <a:sym typeface="Symbol" pitchFamily="18" charset="2"/>
              </a:rPr>
              <a:t>、</a:t>
            </a:r>
            <a:r>
              <a:rPr kumimoji="1" lang="en-US" altLang="zh-CN" dirty="0">
                <a:sym typeface="Symbol"/>
              </a:rPr>
              <a:t></a:t>
            </a:r>
            <a:r>
              <a:rPr kumimoji="1" lang="zh-CN" altLang="en-US" dirty="0">
                <a:sym typeface="Symbol" pitchFamily="18" charset="2"/>
              </a:rPr>
              <a:t>运算的性质</a:t>
            </a:r>
            <a:r>
              <a:rPr kumimoji="1" lang="en-US" altLang="zh-CN" dirty="0">
                <a:sym typeface="Symbol" pitchFamily="18" charset="2"/>
              </a:rPr>
              <a:t>,</a:t>
            </a:r>
            <a:r>
              <a:rPr kumimoji="1" lang="zh-CN" altLang="en-US" dirty="0">
                <a:sym typeface="Symbol" pitchFamily="18" charset="2"/>
              </a:rPr>
              <a:t>在</a:t>
            </a:r>
            <a:r>
              <a:rPr kumimoji="1" lang="en-US" altLang="zh-CN" dirty="0">
                <a:sym typeface="Symbol" pitchFamily="18" charset="2"/>
              </a:rPr>
              <a:t>(</a:t>
            </a:r>
            <a:r>
              <a:rPr kumimoji="1" lang="en-US" altLang="zh-CN" dirty="0">
                <a:latin typeface="Monotype Corsiva" pitchFamily="66" charset="0"/>
                <a:sym typeface="Symbol" pitchFamily="18" charset="2"/>
              </a:rPr>
              <a:t>U</a:t>
            </a:r>
            <a:r>
              <a:rPr kumimoji="1" lang="en-US" altLang="zh-CN" dirty="0">
                <a:sym typeface="Symbol" pitchFamily="18" charset="2"/>
              </a:rPr>
              <a:t>(U), </a:t>
            </a:r>
            <a:r>
              <a:rPr kumimoji="1" lang="en-US" altLang="zh-CN" dirty="0">
                <a:sym typeface="Symbol"/>
              </a:rPr>
              <a:t></a:t>
            </a:r>
            <a:r>
              <a:rPr kumimoji="1" lang="en-US" altLang="zh-CN" dirty="0">
                <a:sym typeface="Symbol" pitchFamily="18" charset="2"/>
              </a:rPr>
              <a:t>,</a:t>
            </a:r>
            <a:r>
              <a:rPr kumimoji="1" lang="en-US" altLang="zh-CN" dirty="0">
                <a:sym typeface="Symbol"/>
              </a:rPr>
              <a:t></a:t>
            </a:r>
            <a:r>
              <a:rPr kumimoji="1" lang="en-US" altLang="zh-CN" dirty="0">
                <a:sym typeface="Symbol" pitchFamily="18" charset="2"/>
              </a:rPr>
              <a:t>)</a:t>
            </a:r>
            <a:r>
              <a:rPr kumimoji="1" lang="zh-CN" altLang="en-US" dirty="0">
                <a:sym typeface="Symbol" pitchFamily="18" charset="2"/>
              </a:rPr>
              <a:t>中仍保持</a:t>
            </a:r>
            <a:r>
              <a:rPr kumimoji="1" lang="en-US" altLang="zh-CN" dirty="0">
                <a:sym typeface="Symbol" pitchFamily="18" charset="2"/>
              </a:rPr>
              <a:t>, </a:t>
            </a:r>
            <a:r>
              <a:rPr kumimoji="1" lang="zh-CN" altLang="en-US" dirty="0">
                <a:sym typeface="Symbol" pitchFamily="18" charset="2"/>
              </a:rPr>
              <a:t>但</a:t>
            </a:r>
            <a:r>
              <a:rPr kumimoji="1" lang="zh-CN" altLang="en-US" dirty="0">
                <a:solidFill>
                  <a:srgbClr val="FF0000"/>
                </a:solidFill>
                <a:sym typeface="Symbol" pitchFamily="18" charset="2"/>
              </a:rPr>
              <a:t>排中律</a:t>
            </a:r>
            <a:r>
              <a:rPr kumimoji="1" lang="zh-CN" altLang="en-US" dirty="0">
                <a:sym typeface="Symbol" pitchFamily="18" charset="2"/>
              </a:rPr>
              <a:t>不成立</a:t>
            </a:r>
            <a:r>
              <a:rPr kumimoji="1" lang="en-US" altLang="zh-CN" dirty="0"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dirty="0">
                <a:solidFill>
                  <a:srgbClr val="FF0000"/>
                </a:solidFill>
                <a:sym typeface="Symbol" pitchFamily="18" charset="2"/>
              </a:rPr>
              <a:t>        </a:t>
            </a:r>
            <a:r>
              <a:rPr kumimoji="1" lang="en-US" altLang="zh-CN" b="1" dirty="0">
                <a:solidFill>
                  <a:srgbClr val="FF0000"/>
                </a:solidFill>
                <a:sym typeface="Symbol" pitchFamily="18" charset="2"/>
              </a:rPr>
              <a:t>H</a:t>
            </a:r>
            <a:r>
              <a:rPr kumimoji="1" lang="en-US" altLang="zh-CN" b="1" baseline="-25000" dirty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kumimoji="1" lang="en-US" altLang="zh-CN" b="1" dirty="0">
                <a:solidFill>
                  <a:srgbClr val="FF0000"/>
                </a:solidFill>
                <a:sym typeface="Symbol"/>
              </a:rPr>
              <a:t></a:t>
            </a:r>
            <a:r>
              <a:rPr kumimoji="1" lang="en-US" altLang="zh-CN" b="1" dirty="0">
                <a:solidFill>
                  <a:srgbClr val="FF0000"/>
                </a:solidFill>
                <a:sym typeface="Symbol" pitchFamily="18" charset="2"/>
              </a:rPr>
              <a:t>H</a:t>
            </a:r>
            <a:r>
              <a:rPr kumimoji="1" lang="en-US" altLang="zh-CN" b="1" baseline="-25000" dirty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kumimoji="1" lang="en-US" altLang="zh-CN" b="1" baseline="30000" dirty="0">
                <a:solidFill>
                  <a:srgbClr val="FF0000"/>
                </a:solidFill>
                <a:sym typeface="Symbol" pitchFamily="18" charset="2"/>
              </a:rPr>
              <a:t>c </a:t>
            </a:r>
            <a:r>
              <a:rPr kumimoji="1" lang="en-US" altLang="zh-CN" b="1" dirty="0">
                <a:solidFill>
                  <a:srgbClr val="FF0000"/>
                </a:solidFill>
                <a:sym typeface="Symbol" pitchFamily="18" charset="2"/>
              </a:rPr>
              <a:t>≠U,  H</a:t>
            </a:r>
            <a:r>
              <a:rPr kumimoji="1" lang="en-US" altLang="zh-CN" b="1" baseline="-25000" dirty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kumimoji="1" lang="en-US" altLang="zh-CN" b="1" dirty="0">
                <a:solidFill>
                  <a:srgbClr val="FF0000"/>
                </a:solidFill>
                <a:sym typeface="Symbol"/>
              </a:rPr>
              <a:t></a:t>
            </a:r>
            <a:r>
              <a:rPr kumimoji="1" lang="en-US" altLang="zh-CN" b="1" dirty="0">
                <a:solidFill>
                  <a:srgbClr val="FF0000"/>
                </a:solidFill>
                <a:sym typeface="Symbol" pitchFamily="18" charset="2"/>
              </a:rPr>
              <a:t> H</a:t>
            </a:r>
            <a:r>
              <a:rPr kumimoji="1" lang="en-US" altLang="zh-CN" b="1" baseline="-25000" dirty="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kumimoji="1" lang="en-US" altLang="zh-CN" b="1" baseline="30000" dirty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kumimoji="1" lang="en-US" altLang="zh-CN" b="1" dirty="0">
                <a:solidFill>
                  <a:srgbClr val="FF0000"/>
                </a:solidFill>
                <a:sym typeface="Symbol" pitchFamily="18" charset="2"/>
              </a:rPr>
              <a:t> ≠ </a:t>
            </a:r>
            <a:r>
              <a:rPr lang="en-US" altLang="zh-CN" b="1" dirty="0">
                <a:solidFill>
                  <a:srgbClr val="FF0000"/>
                </a:solidFill>
                <a:cs typeface="Arial" charset="0"/>
              </a:rPr>
              <a:t>Ø</a:t>
            </a:r>
            <a:r>
              <a:rPr kumimoji="1" lang="en-US" altLang="zh-CN" b="1" dirty="0">
                <a:solidFill>
                  <a:srgbClr val="FF0000"/>
                </a:solidFill>
                <a:sym typeface="Symbol" pitchFamily="18" charset="2"/>
              </a:rPr>
              <a:t>  </a:t>
            </a:r>
            <a:endParaRPr kumimoji="1" lang="en-US" altLang="zh-CN" b="1" i="1" dirty="0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9477A5-0F50-5AA9-8A5F-C7C8A5C709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表现定理的引出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981200"/>
            <a:ext cx="9145016" cy="454414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6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分解定理：</a:t>
            </a:r>
            <a:endParaRPr lang="en-US" altLang="zh-CN" sz="3600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说明：一个模糊集可以由自己分解出来的集合套来表示</a:t>
            </a:r>
          </a:p>
          <a:p>
            <a:pPr>
              <a:lnSpc>
                <a:spcPct val="120000"/>
              </a:lnSpc>
            </a:pPr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问题：反之是否成立？</a:t>
            </a:r>
          </a:p>
          <a:p>
            <a:pPr lvl="1">
              <a:lnSpc>
                <a:spcPct val="120000"/>
              </a:lnSpc>
            </a:pPr>
            <a:r>
              <a:rPr lang="zh-CN" altLang="en-US" sz="3200" b="1" dirty="0"/>
              <a:t>任给出一个集合套，能否表示一个模糊集？</a:t>
            </a:r>
          </a:p>
          <a:p>
            <a:pPr marL="457200" lvl="1" indent="0" algn="r">
              <a:lnSpc>
                <a:spcPct val="120000"/>
              </a:lnSpc>
              <a:buNone/>
            </a:pPr>
            <a:r>
              <a:rPr lang="en-US" altLang="zh-CN" sz="4000" dirty="0"/>
              <a:t>——</a:t>
            </a:r>
            <a:r>
              <a:rPr lang="zh-CN" altLang="en-US" sz="40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表现定理</a:t>
            </a:r>
          </a:p>
        </p:txBody>
      </p:sp>
      <p:graphicFrame>
        <p:nvGraphicFramePr>
          <p:cNvPr id="5" name="对象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05054552"/>
              </p:ext>
            </p:extLst>
          </p:nvPr>
        </p:nvGraphicFramePr>
        <p:xfrm>
          <a:off x="4223792" y="1981200"/>
          <a:ext cx="223202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300" imgH="368300" progId="Equation.3">
                  <p:embed/>
                </p:oleObj>
              </mc:Choice>
              <mc:Fallback>
                <p:oleObj name="公式" r:id="rId2" imgW="876300" imgH="368300" progId="Equation.3">
                  <p:embed/>
                  <p:pic>
                    <p:nvPicPr>
                      <p:cNvPr id="5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1981200"/>
                        <a:ext cx="223202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483B01-A616-55F2-4DA6-B65B0CDA3E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pic>
        <p:nvPicPr>
          <p:cNvPr id="6" name="Picture 500">
            <a:extLst>
              <a:ext uri="{FF2B5EF4-FFF2-40B4-BE49-F238E27FC236}">
                <a16:creationId xmlns:a16="http://schemas.microsoft.com/office/drawing/2014/main" id="{C1E1A766-6549-80B2-7D76-69BDB0A7F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06" y="332657"/>
            <a:ext cx="3535450" cy="239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482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表现定理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12875"/>
            <a:ext cx="9577064" cy="51117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表现定理</a:t>
            </a:r>
            <a:r>
              <a:rPr lang="en-US" altLang="zh-CN" dirty="0">
                <a:ea typeface="黑体" pitchFamily="49" charset="-122"/>
              </a:rPr>
              <a:t>]</a:t>
            </a: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H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</a:t>
            </a:r>
            <a:r>
              <a:rPr kumimoji="1"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U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(U), 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则               是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U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上一个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记作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A, 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并且对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</a:t>
            </a:r>
            <a:r>
              <a:rPr kumimoji="1" lang="el-GR" altLang="zh-CN" i="1" dirty="0">
                <a:ea typeface="黑体" pitchFamily="49" charset="-122"/>
                <a:sym typeface="Symbol" pitchFamily="18" charset="2"/>
              </a:rPr>
              <a:t>α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,</a:t>
            </a:r>
            <a:r>
              <a:rPr kumimoji="1" lang="en-US" altLang="zh-CN" dirty="0">
                <a:latin typeface="黑体" pitchFamily="49" charset="-122"/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i="1" dirty="0"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[0,1],</a:t>
            </a:r>
          </a:p>
          <a:p>
            <a:pPr eaLnBrk="1" hangingPunct="1"/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有</a:t>
            </a:r>
          </a:p>
          <a:p>
            <a:pPr eaLnBrk="1" hangingPunct="1"/>
            <a:endParaRPr kumimoji="1" lang="zh-CN" altLang="en-US" sz="28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kumimoji="1" lang="zh-CN" altLang="en-US" sz="28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[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推论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]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设</a:t>
            </a:r>
            <a:r>
              <a:rPr lang="en-US" altLang="zh-CN" sz="2800" dirty="0"/>
              <a:t>H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</a:t>
            </a:r>
            <a:r>
              <a:rPr kumimoji="1" lang="en-US" altLang="zh-CN" sz="2800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U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(U),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记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(1)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则对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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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[0,1],</a:t>
            </a:r>
          </a:p>
          <a:p>
            <a:pPr eaLnBrk="1" hangingPunct="1">
              <a:buFont typeface="Wingdings" pitchFamily="2" charset="2"/>
              <a:buNone/>
            </a:pPr>
            <a:endParaRPr kumimoji="1" lang="en-US" altLang="zh-CN" sz="4400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(2)</a:t>
            </a:r>
            <a:endParaRPr kumimoji="1" lang="zh-CN" altLang="el-GR" sz="2400" dirty="0">
              <a:latin typeface="黑体" pitchFamily="49" charset="-122"/>
              <a:ea typeface="黑体" pitchFamily="49" charset="-122"/>
              <a:sym typeface="Symbol" pitchFamily="18" charset="2"/>
            </a:endParaRPr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19861702"/>
              </p:ext>
            </p:extLst>
          </p:nvPr>
        </p:nvGraphicFramePr>
        <p:xfrm>
          <a:off x="5917951" y="1412875"/>
          <a:ext cx="136207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85800" imgH="368300" progId="Equation.3">
                  <p:embed/>
                </p:oleObj>
              </mc:Choice>
              <mc:Fallback>
                <p:oleObj name="公式" r:id="rId3" imgW="685800" imgH="368300" progId="Equation.3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7951" y="1412875"/>
                        <a:ext cx="136207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92598110"/>
              </p:ext>
            </p:extLst>
          </p:nvPr>
        </p:nvGraphicFramePr>
        <p:xfrm>
          <a:off x="2136526" y="2492375"/>
          <a:ext cx="30226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35100" imgH="685800" progId="Equation.3">
                  <p:embed/>
                </p:oleObj>
              </mc:Choice>
              <mc:Fallback>
                <p:oleObj name="公式" r:id="rId5" imgW="1435100" imgH="685800" progId="Equation.3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526" y="2492375"/>
                        <a:ext cx="3022600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578558"/>
              </p:ext>
            </p:extLst>
          </p:nvPr>
        </p:nvGraphicFramePr>
        <p:xfrm>
          <a:off x="4727326" y="4005264"/>
          <a:ext cx="194468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77900" imgH="368300" progId="Equation.3">
                  <p:embed/>
                </p:oleObj>
              </mc:Choice>
              <mc:Fallback>
                <p:oleObj name="公式" r:id="rId7" imgW="977900" imgH="368300" progId="Equation.3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326" y="4005264"/>
                        <a:ext cx="1944688" cy="7318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970251"/>
              </p:ext>
            </p:extLst>
          </p:nvPr>
        </p:nvGraphicFramePr>
        <p:xfrm>
          <a:off x="2207965" y="5157788"/>
          <a:ext cx="2538589" cy="70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054100" imgH="292100" progId="Equation.3">
                  <p:embed/>
                </p:oleObj>
              </mc:Choice>
              <mc:Fallback>
                <p:oleObj name="公式" r:id="rId9" imgW="1054100" imgH="292100" progId="Equation.3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965" y="5157788"/>
                        <a:ext cx="2538589" cy="703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129195"/>
              </p:ext>
            </p:extLst>
          </p:nvPr>
        </p:nvGraphicFramePr>
        <p:xfrm>
          <a:off x="1631701" y="5906769"/>
          <a:ext cx="5184626" cy="686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209800" imgH="292100" progId="Equation.3">
                  <p:embed/>
                </p:oleObj>
              </mc:Choice>
              <mc:Fallback>
                <p:oleObj name="公式" r:id="rId11" imgW="2209800" imgH="292100" progId="Equation.3">
                  <p:embed/>
                  <p:pic>
                    <p:nvPicPr>
                      <p:cNvPr id="419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701" y="5906769"/>
                        <a:ext cx="5184626" cy="686119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7858259" y="5443534"/>
            <a:ext cx="4320480" cy="1384995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[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表现定理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]</a:t>
            </a:r>
          </a:p>
          <a:p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   </a:t>
            </a:r>
            <a:r>
              <a:rPr lang="en-US" altLang="zh-CN" sz="2800" b="1" dirty="0">
                <a:ea typeface="楷体_GB2312" pitchFamily="49" charset="-122"/>
              </a:rPr>
              <a:t>——</a:t>
            </a:r>
            <a:r>
              <a:rPr lang="zh-CN" altLang="en-US" sz="2800" b="1" dirty="0">
                <a:ea typeface="楷体_GB2312" pitchFamily="49" charset="-122"/>
              </a:rPr>
              <a:t>表明任何一个集合套都能拼成一个模糊集</a:t>
            </a:r>
            <a:r>
              <a:rPr lang="zh-CN" altLang="en-US" sz="2000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624AA7-5E16-0B9E-AC9C-55872B090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99872" y="6284168"/>
            <a:ext cx="2844800" cy="457200"/>
          </a:xfrm>
        </p:spPr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199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  <a:noFill/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表现定理举例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9649072" cy="51847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49" charset="-122"/>
              </a:rPr>
              <a:t>[P22</a:t>
            </a:r>
            <a:r>
              <a:rPr lang="zh-CN" altLang="en-US" sz="2800" dirty="0">
                <a:ea typeface="黑体" pitchFamily="49" charset="-122"/>
              </a:rPr>
              <a:t>例</a:t>
            </a:r>
            <a:r>
              <a:rPr lang="en-US" altLang="zh-CN" sz="2800" dirty="0">
                <a:ea typeface="黑体" pitchFamily="49" charset="-122"/>
              </a:rPr>
              <a:t>3]</a:t>
            </a:r>
            <a:r>
              <a:rPr lang="zh-CN" altLang="en-US" sz="2800" dirty="0">
                <a:ea typeface="黑体" pitchFamily="49" charset="-122"/>
              </a:rPr>
              <a:t>设论域</a:t>
            </a:r>
            <a:r>
              <a:rPr lang="en-US" altLang="zh-CN" sz="2800" dirty="0">
                <a:ea typeface="黑体" pitchFamily="49" charset="-122"/>
              </a:rPr>
              <a:t>X=[-1,1], </a:t>
            </a:r>
            <a:r>
              <a:rPr lang="zh-CN" altLang="en-US" sz="2800" dirty="0">
                <a:ea typeface="黑体" pitchFamily="49" charset="-122"/>
              </a:rPr>
              <a:t>集合套为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FF00FF"/>
                </a:solidFill>
              </a:rPr>
              <a:t>H(</a:t>
            </a:r>
            <a:r>
              <a:rPr kumimoji="1" lang="en-US" altLang="zh-CN" sz="2800" dirty="0">
                <a:solidFill>
                  <a:srgbClr val="FF00FF"/>
                </a:solidFill>
                <a:ea typeface="黑体" pitchFamily="49" charset="-122"/>
                <a:sym typeface="Symbol" pitchFamily="18" charset="2"/>
              </a:rPr>
              <a:t>)=[-1,1-], </a:t>
            </a:r>
            <a:r>
              <a:rPr kumimoji="1" lang="en-US" altLang="zh-CN" sz="2800" i="1" dirty="0">
                <a:ea typeface="黑体" pitchFamily="49" charset="-122"/>
                <a:sym typeface="Symbol" pitchFamily="18" charset="2"/>
              </a:rPr>
              <a:t>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[0,1]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，求由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H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所得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的隶属函数。</a:t>
            </a:r>
          </a:p>
          <a:p>
            <a:pPr eaLnBrk="1" hangingPunct="1"/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解：由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[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表现定理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]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的推论得</a:t>
            </a:r>
          </a:p>
          <a:p>
            <a:pPr eaLnBrk="1" hangingPunct="1"/>
            <a:endParaRPr kumimoji="1" lang="zh-CN" altLang="en-US" sz="3600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当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-1</a:t>
            </a:r>
            <a:r>
              <a:rPr kumimoji="1" lang="en-US" altLang="zh-CN" sz="2800" dirty="0">
                <a:solidFill>
                  <a:srgbClr val="FF0000"/>
                </a:solidFill>
                <a:sym typeface="Symbol" pitchFamily="18" charset="2"/>
              </a:rPr>
              <a:t>≤x≤0</a:t>
            </a:r>
            <a:r>
              <a:rPr kumimoji="1" lang="en-US" altLang="zh-CN" sz="2800" dirty="0">
                <a:sym typeface="Symbol" pitchFamily="18" charset="2"/>
              </a:rPr>
              <a:t>, </a:t>
            </a:r>
            <a:r>
              <a:rPr kumimoji="1" lang="zh-CN" altLang="en-US" sz="2800" b="1" dirty="0">
                <a:sym typeface="Symbol" pitchFamily="18" charset="2"/>
              </a:rPr>
              <a:t>即</a:t>
            </a:r>
            <a:r>
              <a:rPr kumimoji="1" lang="en-US" altLang="zh-CN" sz="2800" dirty="0">
                <a:solidFill>
                  <a:srgbClr val="FF0000"/>
                </a:solidFill>
                <a:sym typeface="Symbol" pitchFamily="18" charset="2"/>
              </a:rPr>
              <a:t>x=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-1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时，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当 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0</a:t>
            </a:r>
            <a:r>
              <a:rPr kumimoji="1" lang="en-US" altLang="zh-CN" sz="2800" dirty="0">
                <a:solidFill>
                  <a:srgbClr val="0000FF"/>
                </a:solidFill>
                <a:sym typeface="Symbol" pitchFamily="18" charset="2"/>
              </a:rPr>
              <a:t>&lt;x≤1</a:t>
            </a:r>
            <a:r>
              <a:rPr kumimoji="1" lang="en-US" altLang="zh-CN" sz="2800" dirty="0">
                <a:sym typeface="Symbol" pitchFamily="18" charset="2"/>
              </a:rPr>
              <a:t>, </a:t>
            </a:r>
            <a:r>
              <a:rPr kumimoji="1" lang="zh-CN" altLang="en-US" sz="2800" b="1" dirty="0">
                <a:sym typeface="Symbol" pitchFamily="18" charset="2"/>
              </a:rPr>
              <a:t>即</a:t>
            </a:r>
            <a:r>
              <a:rPr kumimoji="1" lang="en-US" altLang="zh-CN" sz="2800" dirty="0">
                <a:solidFill>
                  <a:srgbClr val="0000FF"/>
                </a:solidFill>
                <a:sym typeface="Symbol" pitchFamily="18" charset="2"/>
              </a:rPr>
              <a:t>x=1-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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时，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所以，</a:t>
            </a:r>
          </a:p>
        </p:txBody>
      </p:sp>
      <p:graphicFrame>
        <p:nvGraphicFramePr>
          <p:cNvPr id="45069" name="Object 1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76625232"/>
              </p:ext>
            </p:extLst>
          </p:nvPr>
        </p:nvGraphicFramePr>
        <p:xfrm>
          <a:off x="5205413" y="4445790"/>
          <a:ext cx="18034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279360" progId="Equation.DSMT4">
                  <p:embed/>
                </p:oleObj>
              </mc:Choice>
              <mc:Fallback>
                <p:oleObj name="Equation" r:id="rId3" imgW="850680" imgH="279360" progId="Equation.DSMT4">
                  <p:embed/>
                  <p:pic>
                    <p:nvPicPr>
                      <p:cNvPr id="450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4445790"/>
                        <a:ext cx="18034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88536028"/>
              </p:ext>
            </p:extLst>
          </p:nvPr>
        </p:nvGraphicFramePr>
        <p:xfrm>
          <a:off x="5231904" y="3684588"/>
          <a:ext cx="18510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279360" progId="Equation.DSMT4">
                  <p:embed/>
                </p:oleObj>
              </mc:Choice>
              <mc:Fallback>
                <p:oleObj name="Equation" r:id="rId5" imgW="850680" imgH="279360" progId="Equation.DSMT4">
                  <p:embed/>
                  <p:pic>
                    <p:nvPicPr>
                      <p:cNvPr id="45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3684588"/>
                        <a:ext cx="18510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552115"/>
              </p:ext>
            </p:extLst>
          </p:nvPr>
        </p:nvGraphicFramePr>
        <p:xfrm>
          <a:off x="2721868" y="2953419"/>
          <a:ext cx="31686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74800" imgH="292100" progId="Equation.3">
                  <p:embed/>
                </p:oleObj>
              </mc:Choice>
              <mc:Fallback>
                <p:oleObj name="公式" r:id="rId7" imgW="1574800" imgH="292100" progId="Equation.3">
                  <p:embed/>
                  <p:pic>
                    <p:nvPicPr>
                      <p:cNvPr id="450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868" y="2953419"/>
                        <a:ext cx="3168650" cy="58737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304639"/>
              </p:ext>
            </p:extLst>
          </p:nvPr>
        </p:nvGraphicFramePr>
        <p:xfrm>
          <a:off x="2653897" y="5360190"/>
          <a:ext cx="3387131" cy="982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74800" imgH="457200" progId="Equation.3">
                  <p:embed/>
                </p:oleObj>
              </mc:Choice>
              <mc:Fallback>
                <p:oleObj name="公式" r:id="rId9" imgW="1574800" imgH="457200" progId="Equation.3">
                  <p:embed/>
                  <p:pic>
                    <p:nvPicPr>
                      <p:cNvPr id="450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897" y="5360190"/>
                        <a:ext cx="3387131" cy="982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81" name="Group 25"/>
          <p:cNvGrpSpPr>
            <a:grpSpLocks/>
          </p:cNvGrpSpPr>
          <p:nvPr/>
        </p:nvGrpSpPr>
        <p:grpSpPr bwMode="auto">
          <a:xfrm>
            <a:off x="7568339" y="3645742"/>
            <a:ext cx="4207779" cy="2748278"/>
            <a:chOff x="3288" y="2270"/>
            <a:chExt cx="2472" cy="1548"/>
          </a:xfrm>
        </p:grpSpPr>
        <p:sp>
          <p:nvSpPr>
            <p:cNvPr id="26633" name="Line 17"/>
            <p:cNvSpPr>
              <a:spLocks noChangeShapeType="1"/>
            </p:cNvSpPr>
            <p:nvPr/>
          </p:nvSpPr>
          <p:spPr bwMode="auto">
            <a:xfrm flipV="1">
              <a:off x="4429" y="2270"/>
              <a:ext cx="1" cy="12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Line 18"/>
            <p:cNvSpPr>
              <a:spLocks noChangeShapeType="1"/>
            </p:cNvSpPr>
            <p:nvPr/>
          </p:nvSpPr>
          <p:spPr bwMode="auto">
            <a:xfrm>
              <a:off x="3288" y="3558"/>
              <a:ext cx="234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Line 19"/>
            <p:cNvSpPr>
              <a:spLocks noChangeShapeType="1"/>
            </p:cNvSpPr>
            <p:nvPr/>
          </p:nvSpPr>
          <p:spPr bwMode="auto">
            <a:xfrm flipV="1">
              <a:off x="3383" y="2584"/>
              <a:ext cx="1046" cy="9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Line 20"/>
            <p:cNvSpPr>
              <a:spLocks noChangeShapeType="1"/>
            </p:cNvSpPr>
            <p:nvPr/>
          </p:nvSpPr>
          <p:spPr bwMode="auto">
            <a:xfrm flipH="1" flipV="1">
              <a:off x="4429" y="2584"/>
              <a:ext cx="1047" cy="97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Text Box 21"/>
            <p:cNvSpPr txBox="1">
              <a:spLocks noChangeArrowheads="1"/>
            </p:cNvSpPr>
            <p:nvPr/>
          </p:nvSpPr>
          <p:spPr bwMode="auto">
            <a:xfrm>
              <a:off x="3288" y="3587"/>
              <a:ext cx="234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-1                         0                      1           </a:t>
              </a:r>
            </a:p>
          </p:txBody>
        </p:sp>
        <p:sp>
          <p:nvSpPr>
            <p:cNvPr id="26638" name="Text Box 22"/>
            <p:cNvSpPr txBox="1">
              <a:spLocks noChangeArrowheads="1"/>
            </p:cNvSpPr>
            <p:nvPr/>
          </p:nvSpPr>
          <p:spPr bwMode="auto">
            <a:xfrm>
              <a:off x="5633" y="3497"/>
              <a:ext cx="1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  <p:sp>
          <p:nvSpPr>
            <p:cNvPr id="26639" name="Text Box 23"/>
            <p:cNvSpPr txBox="1">
              <a:spLocks noChangeArrowheads="1"/>
            </p:cNvSpPr>
            <p:nvPr/>
          </p:nvSpPr>
          <p:spPr bwMode="auto">
            <a:xfrm>
              <a:off x="4492" y="2341"/>
              <a:ext cx="4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A(x)</a:t>
              </a:r>
            </a:p>
          </p:txBody>
        </p:sp>
        <p:sp>
          <p:nvSpPr>
            <p:cNvPr id="26640" name="Text Box 24"/>
            <p:cNvSpPr txBox="1">
              <a:spLocks noChangeArrowheads="1"/>
            </p:cNvSpPr>
            <p:nvPr/>
          </p:nvSpPr>
          <p:spPr bwMode="auto">
            <a:xfrm>
              <a:off x="4239" y="2463"/>
              <a:ext cx="1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B648F7-22C7-9C73-17C3-2CCE3F38A6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425AAF-D77D-10AB-7AD0-822172C63652}"/>
              </a:ext>
            </a:extLst>
          </p:cNvPr>
          <p:cNvSpPr/>
          <p:nvPr/>
        </p:nvSpPr>
        <p:spPr>
          <a:xfrm>
            <a:off x="8312638" y="401636"/>
            <a:ext cx="3774098" cy="541687"/>
          </a:xfrm>
          <a:prstGeom prst="rect">
            <a:avLst/>
          </a:prstGeom>
          <a:solidFill>
            <a:srgbClr val="FFFFCC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eaLnBrk="1" hangingPunct="1">
              <a:lnSpc>
                <a:spcPct val="114000"/>
              </a:lnSpc>
              <a:buFont typeface="Wingdings" pitchFamily="2" charset="2"/>
              <a:buNone/>
            </a:pP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&lt;</a:t>
            </a: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2 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 H(</a:t>
            </a: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)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 H(</a:t>
            </a:r>
            <a:r>
              <a:rPr kumimoji="1" lang="en-US" altLang="zh-CN" sz="2800" b="1" i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</a:t>
            </a:r>
            <a:r>
              <a:rPr kumimoji="1" lang="en-US" altLang="zh-CN" sz="2800" b="1" baseline="-25000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kumimoji="1" lang="en-US" altLang="zh-CN" sz="2800" b="1" dirty="0">
                <a:solidFill>
                  <a:srgbClr val="FF00FF"/>
                </a:solidFill>
                <a:ea typeface="楷体_GB2312" pitchFamily="49" charset="-122"/>
                <a:sym typeface="Symbol" pitchFamily="18" charset="2"/>
              </a:rPr>
              <a:t>) </a:t>
            </a: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2E4A13AC-6A39-C023-28BC-E7A5899D6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607608"/>
              </p:ext>
            </p:extLst>
          </p:nvPr>
        </p:nvGraphicFramePr>
        <p:xfrm>
          <a:off x="7100416" y="3731594"/>
          <a:ext cx="939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1640" imgH="177480" progId="Equation.DSMT4">
                  <p:embed/>
                </p:oleObj>
              </mc:Choice>
              <mc:Fallback>
                <p:oleObj name="Equation" r:id="rId11" imgW="431640" imgH="177480" progId="Equation.DSMT4">
                  <p:embed/>
                  <p:pic>
                    <p:nvPicPr>
                      <p:cNvPr id="45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416" y="3731594"/>
                        <a:ext cx="93980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ADF56DE0-9438-CE8E-5388-1955F4CB2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292043"/>
              </p:ext>
            </p:extLst>
          </p:nvPr>
        </p:nvGraphicFramePr>
        <p:xfrm>
          <a:off x="7082929" y="4463873"/>
          <a:ext cx="9144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40" imgH="177480" progId="Equation.DSMT4">
                  <p:embed/>
                </p:oleObj>
              </mc:Choice>
              <mc:Fallback>
                <p:oleObj name="Equation" r:id="rId13" imgW="431640" imgH="177480" progId="Equation.DSMT4">
                  <p:embed/>
                  <p:pic>
                    <p:nvPicPr>
                      <p:cNvPr id="450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2929" y="4463873"/>
                        <a:ext cx="9144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3874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1.8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模糊集的模糊度</a:t>
            </a:r>
            <a:b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</a:br>
            <a:endParaRPr lang="zh-CN" altLang="en-US" sz="4000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484784"/>
            <a:ext cx="9432157" cy="5182716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定义</a:t>
            </a:r>
            <a:r>
              <a:rPr lang="en-US" altLang="zh-CN" dirty="0">
                <a:ea typeface="黑体" pitchFamily="2" charset="-122"/>
              </a:rPr>
              <a:t>1] </a:t>
            </a:r>
            <a:r>
              <a:rPr lang="zh-CN" altLang="en-US" dirty="0">
                <a:ea typeface="黑体" pitchFamily="2" charset="-122"/>
              </a:rPr>
              <a:t>若映射</a:t>
            </a:r>
            <a:r>
              <a:rPr lang="en-US" altLang="zh-CN" dirty="0">
                <a:ea typeface="黑体" pitchFamily="2" charset="-122"/>
              </a:rPr>
              <a:t>d: </a:t>
            </a:r>
            <a:r>
              <a:rPr kumimoji="1"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(U)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→[0,1], 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满足条件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(1)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当且仅当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A</a:t>
            </a:r>
            <a:r>
              <a:rPr kumimoji="1"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P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(U)</a:t>
            </a:r>
            <a:r>
              <a:rPr lang="en-US" altLang="zh-CN" sz="2800" dirty="0">
                <a:ea typeface="黑体" pitchFamily="2" charset="-122"/>
              </a:rPr>
              <a:t> </a:t>
            </a:r>
            <a:r>
              <a:rPr lang="zh-CN" altLang="en-US" sz="2800" dirty="0">
                <a:ea typeface="黑体" pitchFamily="2" charset="-122"/>
              </a:rPr>
              <a:t>时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d(A)=0</a:t>
            </a:r>
            <a:r>
              <a:rPr lang="en-US" altLang="zh-CN" sz="2800" dirty="0">
                <a:ea typeface="黑体" pitchFamily="2" charset="-122"/>
              </a:rPr>
              <a:t>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800" dirty="0">
                <a:ea typeface="黑体" pitchFamily="2" charset="-122"/>
              </a:rPr>
              <a:t>(2)</a:t>
            </a:r>
            <a:r>
              <a:rPr lang="zh-CN" altLang="en-US" sz="2800" dirty="0">
                <a:ea typeface="黑体" pitchFamily="2" charset="-122"/>
              </a:rPr>
              <a:t>对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</a:t>
            </a:r>
            <a:r>
              <a:rPr lang="en-US" altLang="zh-CN" sz="2800" dirty="0" err="1">
                <a:ea typeface="黑体" pitchFamily="2" charset="-122"/>
              </a:rPr>
              <a:t>u</a:t>
            </a:r>
            <a:r>
              <a:rPr kumimoji="1" lang="en-US" altLang="zh-CN" sz="2800" dirty="0" err="1">
                <a:ea typeface="黑体" pitchFamily="2" charset="-122"/>
                <a:sym typeface="Symbol" pitchFamily="18" charset="2"/>
              </a:rPr>
              <a:t>U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, 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当且仅当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A(u) ≡0.5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时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,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d(A)=1</a:t>
            </a:r>
            <a:endParaRPr kumimoji="1" lang="en-US" altLang="zh-CN" sz="28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(3)</a:t>
            </a:r>
            <a:r>
              <a:rPr lang="zh-CN" altLang="en-US" sz="2800" dirty="0">
                <a:ea typeface="黑体" pitchFamily="2" charset="-122"/>
              </a:rPr>
              <a:t>对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</a:t>
            </a:r>
            <a:r>
              <a:rPr lang="en-US" altLang="zh-CN" sz="2800" dirty="0" err="1">
                <a:ea typeface="黑体" pitchFamily="2" charset="-122"/>
              </a:rPr>
              <a:t>u</a:t>
            </a:r>
            <a:r>
              <a:rPr kumimoji="1" lang="en-US" altLang="zh-CN" sz="2800" dirty="0" err="1">
                <a:ea typeface="黑体" pitchFamily="2" charset="-122"/>
                <a:sym typeface="Symbol" pitchFamily="18" charset="2"/>
              </a:rPr>
              <a:t>U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, 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当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B(u) </a:t>
            </a:r>
            <a:r>
              <a:rPr kumimoji="1" lang="en-US" altLang="zh-CN" sz="2800" dirty="0">
                <a:sym typeface="Symbol" pitchFamily="18" charset="2"/>
              </a:rPr>
              <a:t>≤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A(u) </a:t>
            </a:r>
            <a:r>
              <a:rPr kumimoji="1" lang="en-US" altLang="zh-CN" sz="2800" dirty="0">
                <a:sym typeface="Symbol" pitchFamily="18" charset="2"/>
              </a:rPr>
              <a:t>≤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0.5</a:t>
            </a:r>
            <a:r>
              <a:rPr kumimoji="1" lang="zh-CN" altLang="en-US" sz="2800" dirty="0">
                <a:ea typeface="黑体" pitchFamily="2" charset="-122"/>
                <a:sym typeface="Symbol" pitchFamily="18" charset="2"/>
              </a:rPr>
              <a:t>时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,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d(B) </a:t>
            </a:r>
            <a:r>
              <a:rPr kumimoji="1" lang="en-US" altLang="zh-CN" sz="2800" dirty="0">
                <a:solidFill>
                  <a:srgbClr val="FF0000"/>
                </a:solidFill>
                <a:sym typeface="Symbol" pitchFamily="18" charset="2"/>
              </a:rPr>
              <a:t>≤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d(A)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(4) A</a:t>
            </a:r>
            <a:r>
              <a:rPr kumimoji="1"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(U)</a:t>
            </a:r>
            <a:r>
              <a:rPr lang="en-US" altLang="zh-CN" sz="2800" dirty="0">
                <a:ea typeface="黑体" pitchFamily="2" charset="-122"/>
              </a:rPr>
              <a:t> , 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d(A)=d(A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2" charset="-122"/>
              </a:rPr>
              <a:t>c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)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zh-CN" altLang="en-US" sz="2800" dirty="0">
                <a:ea typeface="黑体" pitchFamily="2" charset="-122"/>
              </a:rPr>
              <a:t>    称映射</a:t>
            </a:r>
            <a:r>
              <a:rPr lang="en-US" altLang="zh-CN" sz="2800" dirty="0">
                <a:ea typeface="黑体" pitchFamily="2" charset="-122"/>
              </a:rPr>
              <a:t>d</a:t>
            </a:r>
            <a:r>
              <a:rPr lang="zh-CN" altLang="en-US" sz="2800" dirty="0">
                <a:ea typeface="黑体" pitchFamily="2" charset="-122"/>
              </a:rPr>
              <a:t>为</a:t>
            </a:r>
            <a:r>
              <a:rPr kumimoji="1"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ea typeface="黑体" pitchFamily="2" charset="-122"/>
                <a:sym typeface="Symbol" pitchFamily="18" charset="2"/>
              </a:rPr>
              <a:t>(U)</a:t>
            </a:r>
            <a:r>
              <a:rPr lang="zh-CN" altLang="en-US" sz="2800" dirty="0">
                <a:ea typeface="黑体" pitchFamily="2" charset="-122"/>
              </a:rPr>
              <a:t>上的一个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模糊度。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d(A)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称为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集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</a:rPr>
              <a:t>的模糊度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模糊度满足的性质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b="1" dirty="0">
                <a:ea typeface="楷体_GB2312" pitchFamily="49" charset="-122"/>
              </a:rPr>
              <a:t>清晰性、模糊性、单调性、对称性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FFFA63-5FB1-E421-9A3E-6AA82EAB8C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离散论域上的模糊度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341438"/>
            <a:ext cx="9793088" cy="52562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[</a:t>
            </a:r>
            <a:r>
              <a:rPr lang="zh-CN" altLang="en-US" sz="2800" dirty="0">
                <a:ea typeface="黑体" pitchFamily="49" charset="-122"/>
              </a:rPr>
              <a:t>定理</a:t>
            </a:r>
            <a:r>
              <a:rPr lang="en-US" altLang="zh-CN" sz="2800" dirty="0"/>
              <a:t>]</a:t>
            </a:r>
            <a:r>
              <a:rPr lang="zh-CN" altLang="en-US" sz="2800" dirty="0"/>
              <a:t>设</a:t>
            </a:r>
            <a:r>
              <a:rPr lang="en-US" altLang="zh-CN" sz="2800" dirty="0"/>
              <a:t>U</a:t>
            </a:r>
            <a:r>
              <a:rPr lang="en-US" altLang="zh-CN" sz="2800" dirty="0">
                <a:ea typeface="黑体" pitchFamily="49" charset="-122"/>
              </a:rPr>
              <a:t>={u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2 </a:t>
            </a:r>
            <a:r>
              <a:rPr lang="en-US" altLang="zh-CN" sz="2800" dirty="0">
                <a:ea typeface="黑体" pitchFamily="49" charset="-122"/>
              </a:rPr>
              <a:t>,…,u</a:t>
            </a:r>
            <a:r>
              <a:rPr lang="en-US" altLang="zh-CN" sz="2800" baseline="-25000" dirty="0">
                <a:ea typeface="黑体" pitchFamily="49" charset="-122"/>
              </a:rPr>
              <a:t>n</a:t>
            </a:r>
            <a:r>
              <a:rPr lang="en-US" altLang="zh-CN" sz="2800" dirty="0">
                <a:ea typeface="黑体" pitchFamily="49" charset="-122"/>
              </a:rPr>
              <a:t>} ,</a:t>
            </a:r>
            <a:r>
              <a:rPr lang="zh-CN" altLang="en-US" sz="2800" dirty="0">
                <a:ea typeface="黑体" pitchFamily="49" charset="-122"/>
              </a:rPr>
              <a:t>且映射</a:t>
            </a:r>
            <a:r>
              <a:rPr lang="en-US" altLang="zh-CN" sz="28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ea typeface="黑体" pitchFamily="49" charset="-122"/>
              </a:rPr>
              <a:t>: </a:t>
            </a:r>
            <a:r>
              <a:rPr kumimoji="1" lang="en-US" altLang="zh-CN" sz="2800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(U)</a:t>
            </a:r>
            <a:r>
              <a:rPr lang="en-US" altLang="zh-CN" sz="2800" dirty="0">
                <a:ea typeface="黑体" pitchFamily="49" charset="-122"/>
              </a:rPr>
              <a:t>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→[0,1]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endParaRPr kumimoji="1" lang="en-US" altLang="zh-CN" sz="800" dirty="0">
              <a:ea typeface="黑体" pitchFamily="49" charset="-122"/>
              <a:sym typeface="Symbol" pitchFamily="18" charset="2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        即</a:t>
            </a:r>
            <a:r>
              <a:rPr lang="zh-CN" altLang="en-US" sz="2400" dirty="0">
                <a:ea typeface="黑体" pitchFamily="49" charset="-122"/>
                <a:sym typeface="Symbol" pitchFamily="18" charset="2"/>
              </a:rPr>
              <a:t></a:t>
            </a:r>
            <a:r>
              <a:rPr kumimoji="1"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</a:t>
            </a:r>
            <a:r>
              <a:rPr kumimoji="1"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(U),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endParaRPr kumimoji="1" lang="en-US" altLang="zh-CN" sz="700" dirty="0">
              <a:ea typeface="黑体" pitchFamily="49" charset="-122"/>
              <a:sym typeface="Symbol" pitchFamily="18" charset="2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        其中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,  </a:t>
            </a:r>
            <a:r>
              <a:rPr kumimoji="1"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:[0,</a:t>
            </a:r>
            <a:r>
              <a:rPr kumimoji="1"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] →[0,1]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，严格增加且 </a:t>
            </a:r>
            <a:r>
              <a:rPr kumimoji="1"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(0)=0,     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kumimoji="1" lang="en-US" altLang="zh-CN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            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而</a:t>
            </a:r>
            <a:r>
              <a:rPr kumimoji="1" lang="en-US" altLang="zh-CN" sz="2800" i="1" dirty="0">
                <a:solidFill>
                  <a:srgbClr val="FF0000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: [0,1] →[0,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49" charset="-122"/>
                <a:sym typeface="Symbol"/>
              </a:rPr>
              <a:t></a:t>
            </a:r>
            <a:r>
              <a:rPr kumimoji="1" lang="en-US" altLang="zh-CN" sz="2800" dirty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kumimoji="1"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满足条件</a:t>
            </a:r>
            <a:r>
              <a:rPr kumimoji="1" lang="en-US" altLang="zh-CN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:</a:t>
            </a:r>
          </a:p>
          <a:p>
            <a:pPr marL="1828800" lvl="3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对</a:t>
            </a:r>
            <a:r>
              <a:rPr lang="zh-CN" altLang="en-US" sz="28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</a:t>
            </a:r>
            <a:r>
              <a:rPr kumimoji="1" lang="en-US" altLang="zh-CN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sym typeface="Symbol" pitchFamily="18" charset="2"/>
              </a:rPr>
              <a:t>x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[0,1], </a:t>
            </a:r>
            <a:r>
              <a:rPr kumimoji="1"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f 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(x)=</a:t>
            </a:r>
            <a:r>
              <a:rPr kumimoji="1"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49" charset="-122"/>
                <a:sym typeface="Symbol" pitchFamily="18" charset="2"/>
              </a:rPr>
              <a:t>f </a:t>
            </a:r>
            <a:r>
              <a:rPr kumimoji="1" lang="en-US" altLang="zh-CN" sz="2800" dirty="0">
                <a:solidFill>
                  <a:srgbClr val="0000FF"/>
                </a:solidFill>
                <a:ea typeface="黑体" pitchFamily="49" charset="-122"/>
                <a:sym typeface="Symbol" pitchFamily="18" charset="2"/>
              </a:rPr>
              <a:t>(1-x),</a:t>
            </a:r>
          </a:p>
          <a:p>
            <a:pPr marL="1828800" lvl="3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(0)=0,</a:t>
            </a:r>
          </a:p>
          <a:p>
            <a:pPr marL="1828800" lvl="3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en-US" altLang="zh-CN" sz="2800" dirty="0">
                <a:solidFill>
                  <a:srgbClr val="0000FF"/>
                </a:solidFill>
                <a:latin typeface="Monotype Corsiva" pitchFamily="66" charset="0"/>
                <a:ea typeface="黑体" pitchFamily="49" charset="-122"/>
              </a:rPr>
              <a:t>f 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(x)</a:t>
            </a:r>
            <a:r>
              <a:rPr lang="zh-CN" altLang="en-US" sz="2800" dirty="0">
                <a:solidFill>
                  <a:srgbClr val="0000FF"/>
                </a:solidFill>
                <a:ea typeface="黑体" pitchFamily="49" charset="-122"/>
              </a:rPr>
              <a:t>在</a:t>
            </a:r>
            <a:r>
              <a:rPr lang="en-US" altLang="zh-CN" sz="2800" dirty="0">
                <a:solidFill>
                  <a:srgbClr val="0000FF"/>
                </a:solidFill>
                <a:ea typeface="黑体" pitchFamily="49" charset="-122"/>
              </a:rPr>
              <a:t>[0, 0.5]</a:t>
            </a:r>
            <a:r>
              <a:rPr lang="zh-CN" altLang="en-US" sz="2800" dirty="0">
                <a:solidFill>
                  <a:srgbClr val="0000FF"/>
                </a:solidFill>
                <a:ea typeface="黑体" pitchFamily="49" charset="-122"/>
              </a:rPr>
              <a:t>上严格增加。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ea typeface="黑体" pitchFamily="49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ea typeface="黑体" pitchFamily="49" charset="-122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ea typeface="黑体" pitchFamily="49" charset="-122"/>
              </a:rPr>
              <a:t>)</a:t>
            </a:r>
            <a:r>
              <a:rPr lang="zh-CN" altLang="en-US" dirty="0">
                <a:ea typeface="黑体" pitchFamily="49" charset="-122"/>
              </a:rPr>
              <a:t>是 </a:t>
            </a:r>
            <a:r>
              <a:rPr kumimoji="1"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 </a:t>
            </a:r>
            <a:r>
              <a:rPr lang="zh-CN" altLang="en-US" dirty="0">
                <a:ea typeface="黑体" pitchFamily="49" charset="-122"/>
              </a:rPr>
              <a:t>在</a:t>
            </a:r>
            <a:r>
              <a:rPr kumimoji="1"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(U)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上的</a:t>
            </a:r>
            <a:r>
              <a:rPr kumimoji="1" lang="zh-CN" altLang="en-US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模糊度。</a:t>
            </a:r>
          </a:p>
        </p:txBody>
      </p:sp>
      <p:graphicFrame>
        <p:nvGraphicFramePr>
          <p:cNvPr id="4710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67213" y="1844675"/>
          <a:ext cx="30861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22400" imgH="431800" progId="Equation.3">
                  <p:embed/>
                </p:oleObj>
              </mc:Choice>
              <mc:Fallback>
                <p:oleObj name="公式" r:id="rId3" imgW="1422400" imgH="43180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1844675"/>
                        <a:ext cx="30861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653290519"/>
              </p:ext>
            </p:extLst>
          </p:nvPr>
        </p:nvGraphicFramePr>
        <p:xfrm>
          <a:off x="9062082" y="2600325"/>
          <a:ext cx="16081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431640" progId="Equation.DSMT4">
                  <p:embed/>
                </p:oleObj>
              </mc:Choice>
              <mc:Fallback>
                <p:oleObj name="Equation" r:id="rId5" imgW="838080" imgH="431640" progId="Equation.DSMT4">
                  <p:embed/>
                  <p:pic>
                    <p:nvPicPr>
                      <p:cNvPr id="47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2082" y="2600325"/>
                        <a:ext cx="1608137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3EFF07-BDE0-5BAB-E6A8-0FA98C1515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1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341438"/>
            <a:ext cx="8362950" cy="5256212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[P26</a:t>
            </a:r>
            <a:r>
              <a:rPr lang="zh-CN" altLang="en-US" sz="2800" dirty="0"/>
              <a:t>例</a:t>
            </a:r>
            <a:r>
              <a:rPr lang="en-US" altLang="zh-CN" sz="2800" dirty="0"/>
              <a:t>1]</a:t>
            </a:r>
            <a:r>
              <a:rPr lang="zh-CN" altLang="en-US" sz="2800" dirty="0"/>
              <a:t>设</a:t>
            </a:r>
            <a:r>
              <a:rPr lang="en-US" altLang="zh-CN" sz="2800" dirty="0"/>
              <a:t>U</a:t>
            </a:r>
            <a:r>
              <a:rPr lang="en-US" altLang="zh-CN" sz="2800" dirty="0">
                <a:ea typeface="黑体" pitchFamily="49" charset="-122"/>
              </a:rPr>
              <a:t>={u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2 </a:t>
            </a:r>
            <a:r>
              <a:rPr lang="en-US" altLang="zh-CN" sz="2800" dirty="0">
                <a:ea typeface="黑体" pitchFamily="49" charset="-122"/>
              </a:rPr>
              <a:t>,…,u</a:t>
            </a:r>
            <a:r>
              <a:rPr lang="en-US" altLang="zh-CN" sz="2800" baseline="-25000" dirty="0">
                <a:ea typeface="黑体" pitchFamily="49" charset="-122"/>
              </a:rPr>
              <a:t>n</a:t>
            </a:r>
            <a:r>
              <a:rPr lang="en-US" altLang="zh-CN" sz="2800" dirty="0">
                <a:ea typeface="黑体" pitchFamily="49" charset="-122"/>
              </a:rPr>
              <a:t>} , 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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A</a:t>
            </a:r>
            <a:r>
              <a:rPr kumimoji="1" lang="en-US" altLang="zh-CN" sz="2800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(U),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有</a:t>
            </a:r>
          </a:p>
          <a:p>
            <a:pPr eaLnBrk="1" hangingPunct="1"/>
            <a:endParaRPr kumimoji="1" lang="zh-CN" altLang="en-US" sz="28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kumimoji="1" lang="zh-CN" altLang="en-US" sz="28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kumimoji="1" lang="zh-CN" altLang="en-US" sz="28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kumimoji="1" lang="zh-CN" altLang="en-US" sz="1600" dirty="0">
              <a:ea typeface="黑体" pitchFamily="49" charset="-122"/>
              <a:sym typeface="Symbol" pitchFamily="18" charset="2"/>
            </a:endParaRPr>
          </a:p>
          <a:p>
            <a:pPr eaLnBrk="1" hangingPunct="1"/>
            <a:endParaRPr kumimoji="1" lang="zh-CN" altLang="en-US" sz="1600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   则</a:t>
            </a:r>
            <a:r>
              <a:rPr kumimoji="1" lang="en-US" altLang="zh-CN" sz="2800" i="1" dirty="0" err="1">
                <a:ea typeface="黑体" pitchFamily="49" charset="-122"/>
                <a:sym typeface="Symbol" pitchFamily="18" charset="2"/>
              </a:rPr>
              <a:t>d</a:t>
            </a:r>
            <a:r>
              <a:rPr kumimoji="1" lang="en-US" altLang="zh-CN" sz="2800" i="1" baseline="-25000" dirty="0" err="1">
                <a:ea typeface="黑体" pitchFamily="49" charset="-122"/>
                <a:sym typeface="Symbol" pitchFamily="18" charset="2"/>
              </a:rPr>
              <a:t>p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(A)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是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的模糊度。</a:t>
            </a:r>
          </a:p>
          <a:p>
            <a:pPr eaLnBrk="1" hangingPunct="1"/>
            <a:r>
              <a:rPr kumimoji="1" lang="zh-CN" altLang="en-US" sz="2800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证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：设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{1,2,…,n},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记 </a:t>
            </a:r>
            <a:r>
              <a:rPr kumimoji="1"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x </a:t>
            </a:r>
            <a:r>
              <a:rPr kumimoji="1"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en-US" altLang="zh-CN" b="1" i="1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b="1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，且 </a:t>
            </a:r>
          </a:p>
          <a:p>
            <a:pPr eaLnBrk="1" hangingPunct="1"/>
            <a:endParaRPr kumimoji="1" lang="zh-CN" altLang="en-US" sz="2800" dirty="0">
              <a:ea typeface="黑体" pitchFamily="49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                                            </a:t>
            </a:r>
          </a:p>
          <a:p>
            <a:pPr eaLnBrk="1" hangingPunct="1"/>
            <a:endParaRPr kumimoji="1" lang="en-US" altLang="zh-CN" sz="2400" dirty="0">
              <a:ea typeface="黑体" pitchFamily="49" charset="-122"/>
              <a:sym typeface="Symbol" pitchFamily="18" charset="2"/>
            </a:endParaRPr>
          </a:p>
        </p:txBody>
      </p:sp>
      <p:graphicFrame>
        <p:nvGraphicFramePr>
          <p:cNvPr id="5018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32622027"/>
              </p:ext>
            </p:extLst>
          </p:nvPr>
        </p:nvGraphicFramePr>
        <p:xfrm>
          <a:off x="2433514" y="1874838"/>
          <a:ext cx="3816350" cy="202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98700" imgH="1219200" progId="Equation.3">
                  <p:embed/>
                </p:oleObj>
              </mc:Choice>
              <mc:Fallback>
                <p:oleObj name="公式" r:id="rId2" imgW="2298700" imgH="1219200" progId="Equation.3">
                  <p:embed/>
                  <p:pic>
                    <p:nvPicPr>
                      <p:cNvPr id="50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514" y="1874838"/>
                        <a:ext cx="3816350" cy="202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26316045"/>
              </p:ext>
            </p:extLst>
          </p:nvPr>
        </p:nvGraphicFramePr>
        <p:xfrm>
          <a:off x="2375099" y="5084763"/>
          <a:ext cx="2798762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7800" imgH="787400" progId="Equation.3">
                  <p:embed/>
                </p:oleObj>
              </mc:Choice>
              <mc:Fallback>
                <p:oleObj name="公式" r:id="rId4" imgW="1447800" imgH="787400" progId="Equation.3">
                  <p:embed/>
                  <p:pic>
                    <p:nvPicPr>
                      <p:cNvPr id="501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099" y="5084763"/>
                        <a:ext cx="2798762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958602"/>
              </p:ext>
            </p:extLst>
          </p:nvPr>
        </p:nvGraphicFramePr>
        <p:xfrm>
          <a:off x="5461595" y="5165724"/>
          <a:ext cx="3514725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711000" progId="Equation.DSMT4">
                  <p:embed/>
                </p:oleObj>
              </mc:Choice>
              <mc:Fallback>
                <p:oleObj name="Equation" r:id="rId6" imgW="1663560" imgH="711000" progId="Equation.DSMT4">
                  <p:embed/>
                  <p:pic>
                    <p:nvPicPr>
                      <p:cNvPr id="501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595" y="5165724"/>
                        <a:ext cx="3514725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89C1F5-8ABC-7597-626D-057A3D6933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8908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1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15481" y="1627708"/>
            <a:ext cx="9649072" cy="5473700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90000"/>
              </a:lnSpc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对于               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,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可得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zh-CN" altLang="en-US" sz="1400" dirty="0">
              <a:latin typeface="黑体" pitchFamily="49" charset="-122"/>
              <a:ea typeface="黑体" pitchFamily="49" charset="-122"/>
            </a:endParaRPr>
          </a:p>
          <a:p>
            <a:pPr marL="609600" indent="-6096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en-US" altLang="zh-CN" sz="2400" dirty="0">
                <a:latin typeface="Monotype Corsiva" pitchFamily="66" charset="0"/>
              </a:rPr>
              <a:t>  </a:t>
            </a:r>
            <a:r>
              <a:rPr lang="en-US" altLang="zh-CN" sz="2400" i="1" dirty="0">
                <a:latin typeface="Monotype Corsiva" pitchFamily="66" charset="0"/>
              </a:rPr>
              <a:t>f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= </a:t>
            </a:r>
            <a:r>
              <a:rPr lang="en-US" altLang="zh-CN" sz="2400" i="1" dirty="0">
                <a:latin typeface="Monotype Corsiva" pitchFamily="66" charset="0"/>
              </a:rPr>
              <a:t>f</a:t>
            </a:r>
            <a:r>
              <a:rPr lang="en-US" altLang="zh-CN" sz="2400" dirty="0">
                <a:latin typeface="Monotype Corsiva" pitchFamily="66" charset="0"/>
              </a:rPr>
              <a:t> </a:t>
            </a:r>
            <a:r>
              <a:rPr lang="en-US" altLang="zh-CN" sz="2400" dirty="0"/>
              <a:t>(1-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endParaRPr lang="en-US" altLang="zh-CN" sz="2400" i="1" dirty="0"/>
          </a:p>
          <a:p>
            <a:pPr marL="609600" indent="-6096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en-US" altLang="zh-CN" sz="2400" dirty="0">
                <a:latin typeface="Monotype Corsiva" pitchFamily="66" charset="0"/>
              </a:rPr>
              <a:t> </a:t>
            </a:r>
            <a:r>
              <a:rPr lang="en-US" altLang="zh-CN" sz="2400" i="1" dirty="0">
                <a:latin typeface="Monotype Corsiva" pitchFamily="66" charset="0"/>
              </a:rPr>
              <a:t> </a:t>
            </a:r>
            <a:r>
              <a:rPr lang="en-US" altLang="zh-CN" sz="2400" dirty="0">
                <a:latin typeface="Monotype Corsiva" pitchFamily="66" charset="0"/>
              </a:rPr>
              <a:t>f </a:t>
            </a:r>
            <a:r>
              <a:rPr lang="en-US" altLang="zh-CN" sz="2400" dirty="0"/>
              <a:t>(0) = 0</a:t>
            </a:r>
          </a:p>
          <a:p>
            <a:pPr marL="609600" indent="-6096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en-US" altLang="zh-CN" sz="2400" dirty="0">
                <a:ea typeface="黑体" pitchFamily="49" charset="-122"/>
                <a:sym typeface="Symbol" pitchFamily="18" charset="2"/>
              </a:rPr>
              <a:t>x</a:t>
            </a:r>
            <a:r>
              <a:rPr lang="en-US" altLang="zh-CN" sz="2400" baseline="-25000" dirty="0">
                <a:ea typeface="黑体" pitchFamily="49" charset="-122"/>
                <a:sym typeface="Symbol" pitchFamily="18" charset="2"/>
              </a:rPr>
              <a:t>1</a:t>
            </a:r>
            <a:r>
              <a:rPr lang="en-US" altLang="zh-CN" sz="2400" dirty="0">
                <a:ea typeface="黑体" pitchFamily="49" charset="-122"/>
                <a:sym typeface="Symbol" pitchFamily="18" charset="2"/>
              </a:rPr>
              <a:t>,x</a:t>
            </a:r>
            <a:r>
              <a:rPr lang="en-US" altLang="zh-CN" sz="2400" baseline="-25000" dirty="0">
                <a:ea typeface="黑体" pitchFamily="49" charset="-122"/>
                <a:sym typeface="Symbol" pitchFamily="18" charset="2"/>
              </a:rPr>
              <a:t>2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[0,0.5], 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且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x</a:t>
            </a:r>
            <a:r>
              <a:rPr kumimoji="1" lang="en-US" altLang="zh-CN" sz="2400" baseline="-25000" dirty="0"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&lt;x</a:t>
            </a:r>
            <a:r>
              <a:rPr kumimoji="1" lang="en-US" altLang="zh-CN" sz="2400" baseline="-25000" dirty="0">
                <a:ea typeface="黑体" pitchFamily="49" charset="-122"/>
                <a:sym typeface="Symbol" pitchFamily="18" charset="2"/>
              </a:rPr>
              <a:t>2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有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AutoNum type="circleNumDbPlain"/>
            </a:pPr>
            <a:endParaRPr kumimoji="1" lang="zh-CN" altLang="en-US" sz="2400" dirty="0">
              <a:ea typeface="黑体" pitchFamily="49" charset="-122"/>
              <a:sym typeface="Symbol" pitchFamily="18" charset="2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AutoNum type="circleNumDbPlain"/>
            </a:pPr>
            <a:endParaRPr kumimoji="1" lang="zh-CN" altLang="en-US" dirty="0">
              <a:ea typeface="黑体" pitchFamily="49" charset="-122"/>
              <a:sym typeface="Symbol" pitchFamily="18" charset="2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所以，</a:t>
            </a:r>
            <a:r>
              <a:rPr lang="en-US" altLang="zh-CN" sz="2400" dirty="0">
                <a:latin typeface="Monotype Corsiva" pitchFamily="66" charset="0"/>
              </a:rPr>
              <a:t> f 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(x)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在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[0,0.5]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上严格递增，                  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endParaRPr kumimoji="1" lang="zh-CN" altLang="en-US" sz="2000" dirty="0">
              <a:ea typeface="黑体" pitchFamily="49" charset="-122"/>
              <a:sym typeface="Symbol" pitchFamily="18" charset="2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                         则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(0)=0,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而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)=1,</a:t>
            </a:r>
          </a:p>
          <a:p>
            <a:pPr marL="609600" indent="-609600" eaLnBrk="1" hangingPunct="1">
              <a:lnSpc>
                <a:spcPct val="90000"/>
              </a:lnSpc>
            </a:pPr>
            <a:endParaRPr kumimoji="1" lang="en-US" altLang="zh-CN" sz="1200" dirty="0">
              <a:ea typeface="黑体" pitchFamily="49" charset="-122"/>
              <a:sym typeface="Symbol" pitchFamily="18" charset="2"/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      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故，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g 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:[0,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a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] →[0,1]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严格增加。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所以， </a:t>
            </a:r>
            <a:r>
              <a:rPr kumimoji="1" lang="en-US" altLang="zh-CN" sz="2400" i="1" dirty="0" err="1">
                <a:ea typeface="黑体" pitchFamily="49" charset="-122"/>
                <a:sym typeface="Symbol" pitchFamily="18" charset="2"/>
              </a:rPr>
              <a:t>d</a:t>
            </a:r>
            <a:r>
              <a:rPr kumimoji="1" lang="en-US" altLang="zh-CN" sz="2400" i="1" baseline="-25000" dirty="0" err="1">
                <a:ea typeface="黑体" pitchFamily="49" charset="-122"/>
                <a:sym typeface="Symbol" pitchFamily="18" charset="2"/>
              </a:rPr>
              <a:t>p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)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是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的模糊度。     </a:t>
            </a:r>
          </a:p>
        </p:txBody>
      </p:sp>
      <p:graphicFrame>
        <p:nvGraphicFramePr>
          <p:cNvPr id="9011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55883924"/>
              </p:ext>
            </p:extLst>
          </p:nvPr>
        </p:nvGraphicFramePr>
        <p:xfrm>
          <a:off x="2855913" y="1376883"/>
          <a:ext cx="2303463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94838" imgH="495085" progId="Equation.3">
                  <p:embed/>
                </p:oleObj>
              </mc:Choice>
              <mc:Fallback>
                <p:oleObj name="公式" r:id="rId2" imgW="1294838" imgH="495085" progId="Equation.3">
                  <p:embed/>
                  <p:pic>
                    <p:nvPicPr>
                      <p:cNvPr id="90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1376883"/>
                        <a:ext cx="2303463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407418781"/>
              </p:ext>
            </p:extLst>
          </p:nvPr>
        </p:nvGraphicFramePr>
        <p:xfrm>
          <a:off x="2077786" y="3441249"/>
          <a:ext cx="4786312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482400" progId="Equation.DSMT4">
                  <p:embed/>
                </p:oleObj>
              </mc:Choice>
              <mc:Fallback>
                <p:oleObj name="Equation" r:id="rId4" imgW="2298600" imgH="482400" progId="Equation.DSMT4">
                  <p:embed/>
                  <p:pic>
                    <p:nvPicPr>
                      <p:cNvPr id="901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786" y="3441249"/>
                        <a:ext cx="4786312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841376"/>
              </p:ext>
            </p:extLst>
          </p:nvPr>
        </p:nvGraphicFramePr>
        <p:xfrm>
          <a:off x="8363822" y="4205982"/>
          <a:ext cx="31432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431640" progId="Equation.DSMT4">
                  <p:embed/>
                </p:oleObj>
              </mc:Choice>
              <mc:Fallback>
                <p:oleObj name="Equation" r:id="rId6" imgW="1625400" imgH="431640" progId="Equation.DSMT4">
                  <p:embed/>
                  <p:pic>
                    <p:nvPicPr>
                      <p:cNvPr id="90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3822" y="4205982"/>
                        <a:ext cx="31432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735508"/>
              </p:ext>
            </p:extLst>
          </p:nvPr>
        </p:nvGraphicFramePr>
        <p:xfrm>
          <a:off x="1992313" y="4886359"/>
          <a:ext cx="2160588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469800" progId="Equation.DSMT4">
                  <p:embed/>
                </p:oleObj>
              </mc:Choice>
              <mc:Fallback>
                <p:oleObj name="Equation" r:id="rId8" imgW="1143000" imgH="469800" progId="Equation.DSMT4">
                  <p:embed/>
                  <p:pic>
                    <p:nvPicPr>
                      <p:cNvPr id="901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886359"/>
                        <a:ext cx="2160588" cy="8874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83370417-3EFD-7C27-ECB6-8C209D9CB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912002"/>
              </p:ext>
            </p:extLst>
          </p:nvPr>
        </p:nvGraphicFramePr>
        <p:xfrm>
          <a:off x="6868932" y="1760264"/>
          <a:ext cx="3733189" cy="116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8920" imgH="672840" progId="Equation.DSMT4">
                  <p:embed/>
                </p:oleObj>
              </mc:Choice>
              <mc:Fallback>
                <p:oleObj name="Equation" r:id="rId10" imgW="2158920" imgH="67284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83370417-3EFD-7C27-ECB6-8C209D9CB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8932" y="1760264"/>
                        <a:ext cx="3733189" cy="1163935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DD56E8-1181-1CF6-E521-8F1BABE026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85A04AA5-FB84-4FE3-F0E0-3FAED7CAF0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065674"/>
              </p:ext>
            </p:extLst>
          </p:nvPr>
        </p:nvGraphicFramePr>
        <p:xfrm>
          <a:off x="6864098" y="3717032"/>
          <a:ext cx="1673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480" imgH="241200" progId="Equation.DSMT4">
                  <p:embed/>
                </p:oleObj>
              </mc:Choice>
              <mc:Fallback>
                <p:oleObj name="Equation" r:id="rId12" imgW="825480" imgH="241200" progId="Equation.DSMT4">
                  <p:embed/>
                  <p:pic>
                    <p:nvPicPr>
                      <p:cNvPr id="901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098" y="3717032"/>
                        <a:ext cx="16732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CE505D2F-373A-E1C3-27F0-52D6D4281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615387"/>
              </p:ext>
            </p:extLst>
          </p:nvPr>
        </p:nvGraphicFramePr>
        <p:xfrm>
          <a:off x="6432089" y="4205982"/>
          <a:ext cx="18176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9600" imgH="431640" progId="Equation.DSMT4">
                  <p:embed/>
                </p:oleObj>
              </mc:Choice>
              <mc:Fallback>
                <p:oleObj name="Equation" r:id="rId14" imgW="939600" imgH="431640" progId="Equation.DSMT4">
                  <p:embed/>
                  <p:pic>
                    <p:nvPicPr>
                      <p:cNvPr id="90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089" y="4205982"/>
                        <a:ext cx="18176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0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351"/>
            <a:ext cx="8229600" cy="100806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1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9495" y="1555181"/>
            <a:ext cx="10920536" cy="51847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49" charset="-122"/>
              </a:rPr>
              <a:t>常称                                             为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明可夫斯基</a:t>
            </a:r>
            <a:r>
              <a:rPr lang="en-US" altLang="zh-CN" sz="2800" dirty="0">
                <a:ea typeface="黑体" pitchFamily="49" charset="-122"/>
              </a:rPr>
              <a:t>(Minkowski) </a:t>
            </a:r>
            <a:r>
              <a:rPr lang="zh-CN" altLang="en-US" sz="2800" dirty="0">
                <a:ea typeface="黑体" pitchFamily="49" charset="-122"/>
              </a:rPr>
              <a:t>模糊度。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0000FF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(1)</a:t>
            </a:r>
            <a:r>
              <a:rPr lang="zh-CN" altLang="en-US" sz="2800" dirty="0">
                <a:ea typeface="黑体" pitchFamily="49" charset="-122"/>
              </a:rPr>
              <a:t>当</a:t>
            </a:r>
            <a:r>
              <a:rPr lang="en-US" altLang="zh-CN" sz="2800" dirty="0">
                <a:ea typeface="黑体" pitchFamily="49" charset="-122"/>
              </a:rPr>
              <a:t>p=1</a:t>
            </a:r>
            <a:r>
              <a:rPr lang="zh-CN" altLang="en-US" sz="2800" dirty="0">
                <a:ea typeface="黑体" pitchFamily="49" charset="-122"/>
              </a:rPr>
              <a:t>时</a:t>
            </a:r>
            <a:r>
              <a:rPr lang="en-US" altLang="zh-CN" sz="2800" dirty="0">
                <a:ea typeface="黑体" pitchFamily="49" charset="-122"/>
              </a:rPr>
              <a:t>,</a:t>
            </a:r>
            <a:r>
              <a:rPr lang="zh-CN" altLang="en-US" sz="2800" dirty="0">
                <a:ea typeface="黑体" pitchFamily="49" charset="-122"/>
              </a:rPr>
              <a:t>称为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海明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49" charset="-122"/>
              </a:rPr>
              <a:t>Haming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)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模糊度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rgbClr val="0000FF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(2)</a:t>
            </a:r>
            <a:r>
              <a:rPr lang="zh-CN" altLang="en-US" sz="2800" dirty="0">
                <a:ea typeface="黑体" pitchFamily="49" charset="-122"/>
              </a:rPr>
              <a:t>当</a:t>
            </a:r>
            <a:r>
              <a:rPr lang="en-US" altLang="zh-CN" sz="2800" dirty="0">
                <a:ea typeface="黑体" pitchFamily="49" charset="-122"/>
              </a:rPr>
              <a:t>p=2</a:t>
            </a:r>
            <a:r>
              <a:rPr lang="zh-CN" altLang="en-US" sz="2800" dirty="0">
                <a:ea typeface="黑体" pitchFamily="49" charset="-122"/>
              </a:rPr>
              <a:t>时</a:t>
            </a:r>
            <a:r>
              <a:rPr lang="en-US" altLang="zh-CN" sz="2800" dirty="0">
                <a:ea typeface="黑体" pitchFamily="49" charset="-122"/>
              </a:rPr>
              <a:t>,</a:t>
            </a:r>
            <a:r>
              <a:rPr lang="zh-CN" altLang="en-US" sz="2800" dirty="0">
                <a:ea typeface="黑体" pitchFamily="49" charset="-122"/>
              </a:rPr>
              <a:t>称为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欧几里得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(Euclid)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模糊度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</p:txBody>
      </p:sp>
      <p:graphicFrame>
        <p:nvGraphicFramePr>
          <p:cNvPr id="8704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90273516"/>
              </p:ext>
            </p:extLst>
          </p:nvPr>
        </p:nvGraphicFramePr>
        <p:xfrm>
          <a:off x="1919536" y="1192733"/>
          <a:ext cx="411797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71700" imgH="685800" progId="Equation.3">
                  <p:embed/>
                </p:oleObj>
              </mc:Choice>
              <mc:Fallback>
                <p:oleObj name="公式" r:id="rId2" imgW="2171700" imgH="685800" progId="Equation.3">
                  <p:embed/>
                  <p:pic>
                    <p:nvPicPr>
                      <p:cNvPr id="870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192733"/>
                        <a:ext cx="411797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240630318"/>
              </p:ext>
            </p:extLst>
          </p:nvPr>
        </p:nvGraphicFramePr>
        <p:xfrm>
          <a:off x="2927648" y="3152296"/>
          <a:ext cx="36004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900" imgH="482600" progId="Equation.3">
                  <p:embed/>
                </p:oleObj>
              </mc:Choice>
              <mc:Fallback>
                <p:oleObj name="公式" r:id="rId4" imgW="1739900" imgH="482600" progId="Equation.3">
                  <p:embed/>
                  <p:pic>
                    <p:nvPicPr>
                      <p:cNvPr id="870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3152296"/>
                        <a:ext cx="36004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184227"/>
              </p:ext>
            </p:extLst>
          </p:nvPr>
        </p:nvGraphicFramePr>
        <p:xfrm>
          <a:off x="2927648" y="4865957"/>
          <a:ext cx="423068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558720" progId="Equation.DSMT4">
                  <p:embed/>
                </p:oleObj>
              </mc:Choice>
              <mc:Fallback>
                <p:oleObj name="Equation" r:id="rId6" imgW="2044440" imgH="558720" progId="Equation.DSMT4">
                  <p:embed/>
                  <p:pic>
                    <p:nvPicPr>
                      <p:cNvPr id="870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4865957"/>
                        <a:ext cx="4230688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F47510-23A7-6B5F-1221-D0F9D37C5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2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15481" y="1557338"/>
            <a:ext cx="8857234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dirty="0">
                <a:ea typeface="黑体" pitchFamily="2" charset="-122"/>
              </a:rPr>
              <a:t>[P27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2]</a:t>
            </a:r>
            <a:r>
              <a:rPr lang="zh-CN" altLang="en-US" sz="2800" dirty="0">
                <a:ea typeface="黑体" pitchFamily="2" charset="-122"/>
              </a:rPr>
              <a:t>给定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zh-CN" altLang="en-US" sz="2800" dirty="0">
              <a:ea typeface="黑体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800" dirty="0">
                <a:ea typeface="黑体" pitchFamily="2" charset="-122"/>
              </a:rPr>
              <a:t>   计算它们的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海明模糊度</a:t>
            </a:r>
            <a:r>
              <a:rPr lang="zh-CN" altLang="en-US" sz="2800" dirty="0">
                <a:ea typeface="黑体" pitchFamily="2" charset="-122"/>
              </a:rPr>
              <a:t>和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欧几里得模糊度</a:t>
            </a:r>
            <a:r>
              <a:rPr lang="zh-CN" altLang="en-US" sz="2800" dirty="0"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解</a:t>
            </a:r>
            <a:r>
              <a:rPr lang="zh-CN" altLang="en-US" sz="2800" dirty="0">
                <a:ea typeface="黑体" pitchFamily="2" charset="-122"/>
              </a:rPr>
              <a:t>：因为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000" dirty="0">
              <a:ea typeface="黑体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800" dirty="0">
                <a:ea typeface="黑体" pitchFamily="2" charset="-122"/>
              </a:rPr>
              <a:t>           </a:t>
            </a:r>
            <a:r>
              <a:rPr lang="zh-CN" altLang="en-US" sz="2800" dirty="0">
                <a:ea typeface="黑体" pitchFamily="2" charset="-122"/>
              </a:rPr>
              <a:t>又</a:t>
            </a:r>
            <a:r>
              <a:rPr lang="en-US" altLang="zh-CN" sz="2800" dirty="0">
                <a:ea typeface="黑体" pitchFamily="2" charset="-122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zh-CN" altLang="en-US" sz="18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CN" sz="2800" i="1" dirty="0"/>
          </a:p>
        </p:txBody>
      </p:sp>
      <p:graphicFrame>
        <p:nvGraphicFramePr>
          <p:cNvPr id="9523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40013" y="2133600"/>
          <a:ext cx="61198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35300" imgH="393700" progId="Equation.3">
                  <p:embed/>
                </p:oleObj>
              </mc:Choice>
              <mc:Fallback>
                <p:oleObj name="公式" r:id="rId2" imgW="3035300" imgH="393700" progId="Equation.3">
                  <p:embed/>
                  <p:pic>
                    <p:nvPicPr>
                      <p:cNvPr id="95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133600"/>
                        <a:ext cx="61198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24565193"/>
              </p:ext>
            </p:extLst>
          </p:nvPr>
        </p:nvGraphicFramePr>
        <p:xfrm>
          <a:off x="3215991" y="4382611"/>
          <a:ext cx="52562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700" imgH="431800" progId="Equation.3">
                  <p:embed/>
                </p:oleObj>
              </mc:Choice>
              <mc:Fallback>
                <p:oleObj name="公式" r:id="rId4" imgW="2552700" imgH="431800" progId="Equation.3">
                  <p:embed/>
                  <p:pic>
                    <p:nvPicPr>
                      <p:cNvPr id="952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991" y="4382611"/>
                        <a:ext cx="52562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39569"/>
              </p:ext>
            </p:extLst>
          </p:nvPr>
        </p:nvGraphicFramePr>
        <p:xfrm>
          <a:off x="3648075" y="3481388"/>
          <a:ext cx="35274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900" imgH="482600" progId="Equation.3">
                  <p:embed/>
                </p:oleObj>
              </mc:Choice>
              <mc:Fallback>
                <p:oleObj name="公式" r:id="rId6" imgW="1739900" imgH="482600" progId="Equation.3">
                  <p:embed/>
                  <p:pic>
                    <p:nvPicPr>
                      <p:cNvPr id="952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3481388"/>
                        <a:ext cx="3527425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2A744F83-97A0-2ED4-9420-EBA462867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7589" y="5240338"/>
          <a:ext cx="69691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54200" imgH="393480" progId="Equation.DSMT4">
                  <p:embed/>
                </p:oleObj>
              </mc:Choice>
              <mc:Fallback>
                <p:oleObj name="Equation" r:id="rId8" imgW="3454200" imgH="39348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2A744F83-97A0-2ED4-9420-EBA462867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9" y="5240338"/>
                        <a:ext cx="69691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5298A540-A0F6-204D-5AB3-1E4A4AD2F4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576" y="5970588"/>
          <a:ext cx="66865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14520" imgH="393480" progId="Equation.DSMT4">
                  <p:embed/>
                </p:oleObj>
              </mc:Choice>
              <mc:Fallback>
                <p:oleObj name="Equation" r:id="rId10" imgW="3314520" imgH="39348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5298A540-A0F6-204D-5AB3-1E4A4AD2F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5970588"/>
                        <a:ext cx="668655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18D626-6292-FFAA-CBAD-F56054EE06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B4D994-1013-822B-E3E9-53825213D0AD}"/>
              </a:ext>
            </a:extLst>
          </p:cNvPr>
          <p:cNvSpPr txBox="1"/>
          <p:nvPr/>
        </p:nvSpPr>
        <p:spPr>
          <a:xfrm>
            <a:off x="7968208" y="3669041"/>
            <a:ext cx="3337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海明模糊度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2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78028" y="1557338"/>
            <a:ext cx="9598492" cy="5300662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49" charset="-122"/>
              </a:rPr>
              <a:t>[P27</a:t>
            </a:r>
            <a:r>
              <a:rPr lang="zh-CN" altLang="en-US" sz="2800" dirty="0">
                <a:ea typeface="黑体" pitchFamily="49" charset="-122"/>
              </a:rPr>
              <a:t>例</a:t>
            </a:r>
            <a:r>
              <a:rPr lang="en-US" altLang="zh-CN" sz="2800" dirty="0">
                <a:ea typeface="黑体" pitchFamily="49" charset="-122"/>
              </a:rPr>
              <a:t>2]</a:t>
            </a:r>
            <a:r>
              <a:rPr lang="zh-CN" altLang="en-US" sz="2800" dirty="0">
                <a:ea typeface="黑体" pitchFamily="49" charset="-122"/>
              </a:rPr>
              <a:t>给定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集</a:t>
            </a:r>
          </a:p>
          <a:p>
            <a:pPr eaLnBrk="1" hangingPunct="1"/>
            <a:endParaRPr lang="zh-CN" altLang="en-US" sz="2800" dirty="0">
              <a:ea typeface="黑体" pitchFamily="49" charset="-122"/>
            </a:endParaRPr>
          </a:p>
          <a:p>
            <a:pPr eaLnBrk="1" hangingPunct="1"/>
            <a:endParaRPr lang="zh-CN" altLang="en-US" sz="2000" dirty="0">
              <a:ea typeface="黑体" pitchFamily="49" charset="-122"/>
            </a:endParaRP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因为</a:t>
            </a:r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36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en-US" altLang="zh-CN" sz="4000" b="1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可见，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海明模糊度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计算简单，但误差大；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欧几里得模糊度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计算虽复杂，但较精确。</a:t>
            </a:r>
          </a:p>
        </p:txBody>
      </p:sp>
      <p:graphicFrame>
        <p:nvGraphicFramePr>
          <p:cNvPr id="3379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40013" y="2133600"/>
          <a:ext cx="61198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35300" imgH="393700" progId="Equation.3">
                  <p:embed/>
                </p:oleObj>
              </mc:Choice>
              <mc:Fallback>
                <p:oleObj name="公式" r:id="rId2" imgW="3035300" imgH="393700" progId="Equation.3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133600"/>
                        <a:ext cx="61198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9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1430104"/>
              </p:ext>
            </p:extLst>
          </p:nvPr>
        </p:nvGraphicFramePr>
        <p:xfrm>
          <a:off x="9474567" y="689361"/>
          <a:ext cx="2579655" cy="1842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888840" progId="Equation.DSMT4">
                  <p:embed/>
                </p:oleObj>
              </mc:Choice>
              <mc:Fallback>
                <p:oleObj name="Equation" r:id="rId4" imgW="1244520" imgH="888840" progId="Equation.DSMT4">
                  <p:embed/>
                  <p:pic>
                    <p:nvPicPr>
                      <p:cNvPr id="983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4567" y="689361"/>
                        <a:ext cx="2579655" cy="184234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110434"/>
              </p:ext>
            </p:extLst>
          </p:nvPr>
        </p:nvGraphicFramePr>
        <p:xfrm>
          <a:off x="2351584" y="2892598"/>
          <a:ext cx="423068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558720" progId="Equation.DSMT4">
                  <p:embed/>
                </p:oleObj>
              </mc:Choice>
              <mc:Fallback>
                <p:oleObj name="Equation" r:id="rId6" imgW="2044440" imgH="55872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892598"/>
                        <a:ext cx="4230688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46935E71-A47D-9034-5A22-0463229871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0188" y="4444453"/>
          <a:ext cx="765651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00320" imgH="419040" progId="Equation.DSMT4">
                  <p:embed/>
                </p:oleObj>
              </mc:Choice>
              <mc:Fallback>
                <p:oleObj name="Equation" r:id="rId8" imgW="4000320" imgH="41904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46935E71-A47D-9034-5A22-0463229871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188" y="4444453"/>
                        <a:ext cx="7656512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1C19F7A-22E2-6B28-A8DF-712C768B8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386" y="5111890"/>
          <a:ext cx="77882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60640" imgH="419040" progId="Equation.DSMT4">
                  <p:embed/>
                </p:oleObj>
              </mc:Choice>
              <mc:Fallback>
                <p:oleObj name="Equation" r:id="rId10" imgW="3860640" imgH="41904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71C19F7A-22E2-6B28-A8DF-712C768B8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386" y="5111890"/>
                        <a:ext cx="77882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41F48-88EE-E837-E233-4EC1A452D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56DF72-747F-CF78-7868-8723F7089397}"/>
              </a:ext>
            </a:extLst>
          </p:cNvPr>
          <p:cNvSpPr txBox="1"/>
          <p:nvPr/>
        </p:nvSpPr>
        <p:spPr>
          <a:xfrm>
            <a:off x="6791102" y="3242002"/>
            <a:ext cx="3049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欧几里得模糊度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3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340769"/>
            <a:ext cx="9649072" cy="5517231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CN" sz="2800" dirty="0"/>
              <a:t>[P27</a:t>
            </a:r>
            <a:r>
              <a:rPr lang="zh-CN" altLang="en-US" sz="2800" dirty="0"/>
              <a:t>例</a:t>
            </a:r>
            <a:r>
              <a:rPr lang="en-US" altLang="zh-CN" sz="2800" dirty="0"/>
              <a:t>3]</a:t>
            </a:r>
            <a:r>
              <a:rPr lang="zh-CN" altLang="en-US" sz="2800" dirty="0"/>
              <a:t>设</a:t>
            </a:r>
            <a:r>
              <a:rPr lang="en-US" altLang="zh-CN" sz="2800" dirty="0"/>
              <a:t>U</a:t>
            </a:r>
            <a:r>
              <a:rPr lang="en-US" altLang="zh-CN" sz="2800" dirty="0">
                <a:ea typeface="黑体" pitchFamily="2" charset="-122"/>
              </a:rPr>
              <a:t>={u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,u</a:t>
            </a:r>
            <a:r>
              <a:rPr lang="en-US" altLang="zh-CN" sz="2800" baseline="-25000" dirty="0">
                <a:ea typeface="黑体" pitchFamily="2" charset="-122"/>
              </a:rPr>
              <a:t>2 </a:t>
            </a:r>
            <a:r>
              <a:rPr lang="en-US" altLang="zh-CN" sz="2800" dirty="0">
                <a:ea typeface="黑体" pitchFamily="2" charset="-122"/>
              </a:rPr>
              <a:t>,…,u</a:t>
            </a:r>
            <a:r>
              <a:rPr lang="en-US" altLang="zh-CN" sz="2800" baseline="-25000" dirty="0">
                <a:ea typeface="黑体" pitchFamily="2" charset="-122"/>
              </a:rPr>
              <a:t>n</a:t>
            </a:r>
            <a:r>
              <a:rPr lang="en-US" altLang="zh-CN" sz="2800" dirty="0">
                <a:ea typeface="黑体" pitchFamily="2" charset="-122"/>
              </a:rPr>
              <a:t>} ,s(x)</a:t>
            </a:r>
            <a:r>
              <a:rPr lang="zh-CN" altLang="en-US" sz="2800" dirty="0">
                <a:ea typeface="黑体" pitchFamily="2" charset="-122"/>
              </a:rPr>
              <a:t>为熵农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en-US" altLang="zh-CN" sz="2800" dirty="0" err="1">
                <a:ea typeface="黑体" pitchFamily="2" charset="-122"/>
              </a:rPr>
              <a:t>shannon</a:t>
            </a:r>
            <a:r>
              <a:rPr lang="en-US" altLang="zh-CN" sz="2800" dirty="0"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函数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zh-CN" altLang="en-US" sz="2800" dirty="0">
                <a:ea typeface="黑体" pitchFamily="2" charset="-122"/>
              </a:rPr>
              <a:t>有</a:t>
            </a:r>
          </a:p>
          <a:p>
            <a:pPr eaLnBrk="1" hangingPunct="1">
              <a:defRPr/>
            </a:pPr>
            <a:endParaRPr lang="en-US" altLang="zh-CN" sz="4000" dirty="0"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z="4000" dirty="0">
              <a:ea typeface="黑体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zh-CN" altLang="en-US" sz="2800" dirty="0">
                <a:ea typeface="黑体" pitchFamily="2" charset="-122"/>
              </a:rPr>
              <a:t>            则                                   是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ea typeface="黑体" pitchFamily="2" charset="-122"/>
              </a:rPr>
              <a:t>的模糊度。</a:t>
            </a:r>
          </a:p>
          <a:p>
            <a:pPr eaLnBrk="1" hangingPunct="1">
              <a:defRPr/>
            </a:pPr>
            <a:endParaRPr lang="zh-CN" altLang="en-US" sz="1200" dirty="0"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证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sym typeface="Wingdings" pitchFamily="2" charset="2"/>
              </a:rPr>
              <a:t>:</a:t>
            </a:r>
            <a:r>
              <a:rPr lang="en-US" altLang="zh-CN" sz="2800" dirty="0">
                <a:ea typeface="黑体" pitchFamily="2" charset="-122"/>
                <a:sym typeface="Wingdings" pitchFamily="2" charset="2"/>
              </a:rPr>
              <a:t>  </a:t>
            </a:r>
            <a:r>
              <a:rPr lang="zh-CN" altLang="en-US" sz="2800" dirty="0">
                <a:ea typeface="黑体" pitchFamily="2" charset="-122"/>
                <a:sym typeface="Wingdings" pitchFamily="2" charset="2"/>
              </a:rPr>
              <a:t>显然，</a:t>
            </a:r>
            <a:r>
              <a:rPr lang="en-US" altLang="zh-CN" sz="2800" dirty="0">
                <a:ea typeface="黑体" pitchFamily="2" charset="-122"/>
                <a:sym typeface="Wingdings" pitchFamily="2" charset="2"/>
              </a:rPr>
              <a:t>s(x)=s(1-x), s(0)=0 </a:t>
            </a:r>
            <a:r>
              <a:rPr lang="zh-CN" altLang="en-US" sz="2800" dirty="0">
                <a:ea typeface="黑体" pitchFamily="2" charset="-122"/>
                <a:sym typeface="Wingdings" pitchFamily="2" charset="2"/>
              </a:rPr>
              <a:t>成立</a:t>
            </a:r>
            <a:r>
              <a:rPr lang="en-US" altLang="zh-CN" sz="2800" dirty="0">
                <a:ea typeface="黑体" pitchFamily="2" charset="-122"/>
                <a:sym typeface="Wingdings" pitchFamily="2" charset="2"/>
              </a:rPr>
              <a:t>,</a:t>
            </a:r>
            <a:endParaRPr lang="zh-CN" altLang="en-US" sz="2800" dirty="0">
              <a:ea typeface="黑体" pitchFamily="2" charset="-122"/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>
                <a:ea typeface="黑体" pitchFamily="2" charset="-122"/>
              </a:rPr>
              <a:t>          下面证明</a:t>
            </a:r>
            <a:r>
              <a:rPr lang="en-US" altLang="zh-CN" sz="2800" dirty="0">
                <a:ea typeface="黑体" pitchFamily="2" charset="-122"/>
              </a:rPr>
              <a:t>s(x)</a:t>
            </a:r>
            <a:r>
              <a:rPr lang="zh-CN" altLang="en-US" sz="2800" dirty="0">
                <a:ea typeface="黑体" pitchFamily="2" charset="-122"/>
              </a:rPr>
              <a:t>在</a:t>
            </a:r>
            <a:r>
              <a:rPr lang="en-US" altLang="zh-CN" sz="2800" dirty="0">
                <a:ea typeface="黑体" pitchFamily="2" charset="-122"/>
              </a:rPr>
              <a:t>(0,0.5) </a:t>
            </a:r>
            <a:r>
              <a:rPr lang="zh-CN" altLang="en-US" sz="2800" dirty="0">
                <a:ea typeface="黑体" pitchFamily="2" charset="-122"/>
              </a:rPr>
              <a:t>上单调增加</a:t>
            </a:r>
            <a:r>
              <a:rPr lang="en-US" altLang="zh-CN" sz="2800" dirty="0">
                <a:ea typeface="黑体" pitchFamily="2" charset="-122"/>
              </a:rPr>
              <a:t>.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2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CN" sz="1200" dirty="0">
              <a:ea typeface="黑体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zh-CN" altLang="en-US" sz="2400" dirty="0">
                <a:ea typeface="黑体" pitchFamily="2" charset="-122"/>
              </a:rPr>
              <a:t>        </a:t>
            </a:r>
            <a:endParaRPr lang="en-US" altLang="zh-CN" sz="2400" dirty="0">
              <a:ea typeface="黑体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ea typeface="黑体" pitchFamily="2" charset="-122"/>
              </a:rPr>
              <a:t>           </a:t>
            </a:r>
            <a:r>
              <a:rPr lang="zh-CN" altLang="en-US" sz="2800" dirty="0">
                <a:ea typeface="黑体" pitchFamily="2" charset="-122"/>
              </a:rPr>
              <a:t>所以，</a:t>
            </a:r>
            <a:r>
              <a:rPr lang="en-US" altLang="zh-CN" sz="2800" dirty="0">
                <a:ea typeface="黑体" pitchFamily="2" charset="-122"/>
              </a:rPr>
              <a:t>H(A)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ea typeface="黑体" pitchFamily="2" charset="-122"/>
              </a:rPr>
              <a:t>的模糊度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模糊熵</a:t>
            </a:r>
            <a:r>
              <a:rPr lang="en-US" altLang="zh-CN" sz="2800" dirty="0"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。</a:t>
            </a:r>
          </a:p>
        </p:txBody>
      </p:sp>
      <p:graphicFrame>
        <p:nvGraphicFramePr>
          <p:cNvPr id="9933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89789692"/>
              </p:ext>
            </p:extLst>
          </p:nvPr>
        </p:nvGraphicFramePr>
        <p:xfrm>
          <a:off x="3143672" y="1811176"/>
          <a:ext cx="5473352" cy="9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457200" progId="Equation.DSMT4">
                  <p:embed/>
                </p:oleObj>
              </mc:Choice>
              <mc:Fallback>
                <p:oleObj name="Equation" r:id="rId2" imgW="2577960" imgH="457200" progId="Equation.DSMT4">
                  <p:embed/>
                  <p:pic>
                    <p:nvPicPr>
                      <p:cNvPr id="993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1811176"/>
                        <a:ext cx="5473352" cy="970535"/>
                      </a:xfrm>
                      <a:prstGeom prst="rect">
                        <a:avLst/>
                      </a:prstGeom>
                      <a:solidFill>
                        <a:srgbClr val="CACA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78075217"/>
              </p:ext>
            </p:extLst>
          </p:nvPr>
        </p:nvGraphicFramePr>
        <p:xfrm>
          <a:off x="2834662" y="2896592"/>
          <a:ext cx="3313112" cy="901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87500" imgH="431800" progId="Equation.3">
                  <p:embed/>
                </p:oleObj>
              </mc:Choice>
              <mc:Fallback>
                <p:oleObj name="公式" r:id="rId4" imgW="1587500" imgH="431800" progId="Equation.3">
                  <p:embed/>
                  <p:pic>
                    <p:nvPicPr>
                      <p:cNvPr id="993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4662" y="2896592"/>
                        <a:ext cx="3313112" cy="901319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497046"/>
              </p:ext>
            </p:extLst>
          </p:nvPr>
        </p:nvGraphicFramePr>
        <p:xfrm>
          <a:off x="2308962" y="5390138"/>
          <a:ext cx="19208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31640" progId="Equation.DSMT4">
                  <p:embed/>
                </p:oleObj>
              </mc:Choice>
              <mc:Fallback>
                <p:oleObj name="Equation" r:id="rId6" imgW="1015920" imgH="4316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962" y="5390138"/>
                        <a:ext cx="19208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8F13A45B-F680-2EB7-1FC6-697EFCB9C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166371"/>
              </p:ext>
            </p:extLst>
          </p:nvPr>
        </p:nvGraphicFramePr>
        <p:xfrm>
          <a:off x="2351584" y="4694238"/>
          <a:ext cx="49958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87520" imgH="393480" progId="Equation.DSMT4">
                  <p:embed/>
                </p:oleObj>
              </mc:Choice>
              <mc:Fallback>
                <p:oleObj name="Equation" r:id="rId8" imgW="2387520" imgH="39348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8F13A45B-F680-2EB7-1FC6-697EFCB9C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694238"/>
                        <a:ext cx="499586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C2C152-4A59-649D-DA74-6C7DB9B3B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A213C8-2FCB-5221-7E9B-86F112005036}"/>
              </a:ext>
            </a:extLst>
          </p:cNvPr>
          <p:cNvSpPr txBox="1"/>
          <p:nvPr/>
        </p:nvSpPr>
        <p:spPr>
          <a:xfrm>
            <a:off x="5253112" y="5509191"/>
            <a:ext cx="4906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H:[0,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] →[0,1]</a:t>
            </a:r>
            <a:r>
              <a:rPr kumimoji="1" lang="zh-CN" altLang="en-US" sz="2400" dirty="0">
                <a:ea typeface="黑体" pitchFamily="2" charset="-122"/>
                <a:sym typeface="Symbol" pitchFamily="18" charset="2"/>
              </a:rPr>
              <a:t>严格增加，且</a:t>
            </a:r>
            <a:r>
              <a:rPr kumimoji="1" lang="en-US" altLang="zh-CN" sz="2400" dirty="0">
                <a:ea typeface="黑体" pitchFamily="2" charset="-122"/>
                <a:sym typeface="Symbol" pitchFamily="18" charset="2"/>
              </a:rPr>
              <a:t>H(0)=0,</a:t>
            </a:r>
            <a:endParaRPr lang="zh-CN" altLang="en-US" sz="2400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E44C7A9A-47C2-F80F-64B9-4033A608D2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590245"/>
              </p:ext>
            </p:extLst>
          </p:nvPr>
        </p:nvGraphicFramePr>
        <p:xfrm>
          <a:off x="7489925" y="4876290"/>
          <a:ext cx="20193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160" imgH="215640" progId="Equation.DSMT4">
                  <p:embed/>
                </p:oleObj>
              </mc:Choice>
              <mc:Fallback>
                <p:oleObj name="Equation" r:id="rId10" imgW="965160" imgH="21564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8F13A45B-F680-2EB7-1FC6-697EFCB9C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925" y="4876290"/>
                        <a:ext cx="20193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AD2D8A9-4674-0128-3E87-C7B7D3094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551720"/>
              </p:ext>
            </p:extLst>
          </p:nvPr>
        </p:nvGraphicFramePr>
        <p:xfrm>
          <a:off x="4229837" y="5629850"/>
          <a:ext cx="9112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400" imgH="177480" progId="Equation.DSMT4">
                  <p:embed/>
                </p:oleObj>
              </mc:Choice>
              <mc:Fallback>
                <p:oleObj name="Equation" r:id="rId12" imgW="482400" imgH="177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837" y="5629850"/>
                        <a:ext cx="9112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5044-65A0-A7E2-34FF-D4567DA2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B920DE7-A222-5384-AD9D-C928C5341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模糊度举例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3</a:t>
            </a:r>
            <a:endParaRPr lang="zh-CN" altLang="en-US" dirty="0">
              <a:solidFill>
                <a:srgbClr val="008000"/>
              </a:solidFill>
              <a:ea typeface="黑体" pitchFamily="49" charset="-122"/>
            </a:endParaRP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46F221C4-30FF-73B9-A196-33B1410FAF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433313" y="1484314"/>
            <a:ext cx="9631239" cy="5373687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例：设</a:t>
            </a:r>
            <a:r>
              <a:rPr lang="en-US" altLang="zh-CN" sz="2800" dirty="0"/>
              <a:t>U</a:t>
            </a:r>
            <a:r>
              <a:rPr lang="en-US" altLang="zh-CN" sz="2800" dirty="0">
                <a:ea typeface="黑体" pitchFamily="49" charset="-122"/>
              </a:rPr>
              <a:t>={u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2 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3</a:t>
            </a:r>
            <a:r>
              <a:rPr lang="en-US" altLang="zh-CN" sz="2800" dirty="0">
                <a:ea typeface="黑体" pitchFamily="49" charset="-122"/>
              </a:rPr>
              <a:t>}, A=(0.2, 0.6, 0.1)</a:t>
            </a:r>
            <a:r>
              <a:rPr lang="zh-CN" altLang="en-US" sz="2800" dirty="0">
                <a:ea typeface="黑体" pitchFamily="49" charset="-122"/>
              </a:rPr>
              <a:t>和</a:t>
            </a:r>
            <a:r>
              <a:rPr lang="en-US" altLang="zh-CN" sz="2800" dirty="0">
                <a:ea typeface="黑体" pitchFamily="49" charset="-122"/>
              </a:rPr>
              <a:t> B=(0.6, 0.3, 0.8)</a:t>
            </a:r>
            <a:r>
              <a:rPr lang="zh-CN" altLang="en-US" sz="2800" dirty="0">
                <a:ea typeface="黑体" pitchFamily="49" charset="-122"/>
              </a:rPr>
              <a:t>为</a:t>
            </a:r>
            <a:r>
              <a:rPr lang="en-US" altLang="zh-CN" sz="2800" dirty="0">
                <a:ea typeface="黑体" pitchFamily="49" charset="-122"/>
              </a:rPr>
              <a:t>U</a:t>
            </a:r>
            <a:r>
              <a:rPr lang="zh-CN" altLang="en-US" sz="2800" dirty="0">
                <a:ea typeface="黑体" pitchFamily="49" charset="-122"/>
              </a:rPr>
              <a:t>上的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集，求模糊熵</a:t>
            </a:r>
            <a:r>
              <a:rPr lang="en-US" altLang="zh-CN" sz="2800" dirty="0">
                <a:ea typeface="黑体" pitchFamily="49" charset="-122"/>
              </a:rPr>
              <a:t>H(A)</a:t>
            </a:r>
            <a:r>
              <a:rPr lang="zh-CN" altLang="en-US" sz="2800" dirty="0">
                <a:ea typeface="黑体" pitchFamily="49" charset="-122"/>
              </a:rPr>
              <a:t>和</a:t>
            </a:r>
            <a:r>
              <a:rPr lang="en-US" altLang="zh-CN" sz="2800" dirty="0">
                <a:ea typeface="黑体" pitchFamily="49" charset="-122"/>
              </a:rPr>
              <a:t>H(B)</a:t>
            </a:r>
            <a:r>
              <a:rPr lang="zh-CN" altLang="en-US" sz="2800" dirty="0">
                <a:ea typeface="黑体" pitchFamily="49" charset="-122"/>
              </a:rPr>
              <a:t>。</a:t>
            </a:r>
          </a:p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解</a:t>
            </a:r>
            <a:r>
              <a:rPr lang="zh-CN" altLang="en-US" sz="2800" dirty="0">
                <a:ea typeface="黑体" pitchFamily="49" charset="-122"/>
              </a:rPr>
              <a:t>：因为</a:t>
            </a:r>
          </a:p>
          <a:p>
            <a:pPr eaLnBrk="1" hangingPunct="1"/>
            <a:endParaRPr lang="zh-CN" altLang="en-US" sz="4400" dirty="0">
              <a:ea typeface="黑体" pitchFamily="49" charset="-122"/>
            </a:endParaRP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所以，</a:t>
            </a:r>
            <a:r>
              <a:rPr lang="en-US" altLang="zh-CN" sz="2800" dirty="0">
                <a:ea typeface="黑体" pitchFamily="49" charset="-122"/>
              </a:rPr>
              <a:t>s(A(u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))=</a:t>
            </a:r>
            <a:r>
              <a:rPr lang="en-US" altLang="zh-CN" sz="2800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ea typeface="黑体" pitchFamily="49" charset="-122"/>
              </a:rPr>
              <a:t>0.2ln0.2</a:t>
            </a:r>
            <a:r>
              <a:rPr lang="en-US" altLang="zh-CN" sz="2800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ea typeface="黑体" pitchFamily="49" charset="-122"/>
              </a:rPr>
              <a:t>(1</a:t>
            </a:r>
            <a:r>
              <a:rPr lang="en-US" altLang="zh-CN" sz="2800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ea typeface="黑体" pitchFamily="49" charset="-122"/>
              </a:rPr>
              <a:t>0.2)ln(1</a:t>
            </a:r>
            <a:r>
              <a:rPr lang="en-US" altLang="zh-CN" sz="2800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ea typeface="黑体" pitchFamily="49" charset="-122"/>
              </a:rPr>
              <a:t>0.2) =0.500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   s(A(u</a:t>
            </a:r>
            <a:r>
              <a:rPr lang="en-US" altLang="zh-CN" sz="2800" baseline="-25000" dirty="0">
                <a:ea typeface="黑体" pitchFamily="49" charset="-122"/>
              </a:rPr>
              <a:t>2</a:t>
            </a:r>
            <a:r>
              <a:rPr lang="en-US" altLang="zh-CN" sz="2800" dirty="0">
                <a:ea typeface="黑体" pitchFamily="49" charset="-122"/>
              </a:rPr>
              <a:t>))=0.673</a:t>
            </a:r>
            <a:r>
              <a:rPr lang="zh-CN" altLang="en-US" sz="2800" dirty="0">
                <a:ea typeface="黑体" pitchFamily="49" charset="-122"/>
              </a:rPr>
              <a:t>，</a:t>
            </a:r>
            <a:r>
              <a:rPr lang="en-US" altLang="zh-CN" sz="2800" dirty="0">
                <a:ea typeface="黑体" pitchFamily="49" charset="-122"/>
              </a:rPr>
              <a:t>s(A(u</a:t>
            </a:r>
            <a:r>
              <a:rPr lang="en-US" altLang="zh-CN" sz="2800" baseline="-25000" dirty="0">
                <a:ea typeface="黑体" pitchFamily="49" charset="-122"/>
              </a:rPr>
              <a:t>3</a:t>
            </a:r>
            <a:r>
              <a:rPr lang="en-US" altLang="zh-CN" sz="2800" dirty="0">
                <a:ea typeface="黑体" pitchFamily="49" charset="-122"/>
              </a:rPr>
              <a:t>))=0.325, </a:t>
            </a:r>
          </a:p>
          <a:p>
            <a:pPr marL="0" indent="0" eaLnBrk="1" hangingPunct="1">
              <a:buNone/>
            </a:pPr>
            <a:endParaRPr lang="en-US" altLang="zh-CN" sz="1050" dirty="0">
              <a:ea typeface="黑体" pitchFamily="49" charset="-122"/>
            </a:endParaRP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再根据                                     得，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zh-CN" altLang="en-US" sz="2800" b="1" dirty="0"/>
              <a:t>同理</a:t>
            </a:r>
            <a:r>
              <a:rPr lang="zh-CN" altLang="en-US" sz="2800" dirty="0"/>
              <a:t>，</a:t>
            </a:r>
            <a:endParaRPr lang="en-US" altLang="zh-CN" sz="2800" dirty="0"/>
          </a:p>
        </p:txBody>
      </p:sp>
      <p:graphicFrame>
        <p:nvGraphicFramePr>
          <p:cNvPr id="103428" name="Object 4">
            <a:extLst>
              <a:ext uri="{FF2B5EF4-FFF2-40B4-BE49-F238E27FC236}">
                <a16:creationId xmlns:a16="http://schemas.microsoft.com/office/drawing/2014/main" id="{F22A73C4-A612-D289-C14B-307A36232F87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05200" y="2636838"/>
          <a:ext cx="568483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77960" imgH="457200" progId="Equation.DSMT4">
                  <p:embed/>
                </p:oleObj>
              </mc:Choice>
              <mc:Fallback>
                <p:oleObj name="Equation" r:id="rId3" imgW="2577960" imgH="457200" progId="Equation.DSMT4">
                  <p:embed/>
                  <p:pic>
                    <p:nvPicPr>
                      <p:cNvPr id="103428" name="Object 4">
                        <a:extLst>
                          <a:ext uri="{FF2B5EF4-FFF2-40B4-BE49-F238E27FC236}">
                            <a16:creationId xmlns:a16="http://schemas.microsoft.com/office/drawing/2014/main" id="{F22A73C4-A612-D289-C14B-307A36232F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636838"/>
                        <a:ext cx="568483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0" name="Object 6">
            <a:extLst>
              <a:ext uri="{FF2B5EF4-FFF2-40B4-BE49-F238E27FC236}">
                <a16:creationId xmlns:a16="http://schemas.microsoft.com/office/drawing/2014/main" id="{58565374-37D8-6703-95FD-BF5FB5C7937E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251452799"/>
              </p:ext>
            </p:extLst>
          </p:nvPr>
        </p:nvGraphicFramePr>
        <p:xfrm>
          <a:off x="2963069" y="4756422"/>
          <a:ext cx="33845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87500" imgH="431800" progId="Equation.3">
                  <p:embed/>
                </p:oleObj>
              </mc:Choice>
              <mc:Fallback>
                <p:oleObj name="公式" r:id="rId5" imgW="1587500" imgH="431800" progId="Equation.3">
                  <p:embed/>
                  <p:pic>
                    <p:nvPicPr>
                      <p:cNvPr id="103430" name="Object 6">
                        <a:extLst>
                          <a:ext uri="{FF2B5EF4-FFF2-40B4-BE49-F238E27FC236}">
                            <a16:creationId xmlns:a16="http://schemas.microsoft.com/office/drawing/2014/main" id="{58565374-37D8-6703-95FD-BF5FB5C79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069" y="4756422"/>
                        <a:ext cx="338455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9EFEB39-840C-9089-7959-0C44931E8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933791"/>
              </p:ext>
            </p:extLst>
          </p:nvPr>
        </p:nvGraphicFramePr>
        <p:xfrm>
          <a:off x="2927648" y="5733256"/>
          <a:ext cx="42513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93680" imgH="431640" progId="Equation.DSMT4">
                  <p:embed/>
                </p:oleObj>
              </mc:Choice>
              <mc:Fallback>
                <p:oleObj name="Equation" r:id="rId7" imgW="1993680" imgH="43164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9EFEB39-840C-9089-7959-0C44931E8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5733256"/>
                        <a:ext cx="42513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17FDF72-9447-A5C1-C4CB-B0B7BD01B2EE}"/>
              </a:ext>
            </a:extLst>
          </p:cNvPr>
          <p:cNvSpPr txBox="1"/>
          <p:nvPr/>
        </p:nvSpPr>
        <p:spPr>
          <a:xfrm>
            <a:off x="8241377" y="5932021"/>
            <a:ext cx="2962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即</a:t>
            </a:r>
            <a:r>
              <a:rPr lang="en-US" altLang="zh-CN" sz="2800" dirty="0">
                <a:solidFill>
                  <a:srgbClr val="FF00FF"/>
                </a:solidFill>
                <a:ea typeface="黑体" pitchFamily="49" charset="-122"/>
              </a:rPr>
              <a:t>B</a:t>
            </a:r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比</a:t>
            </a:r>
            <a:r>
              <a:rPr lang="en-US" altLang="zh-CN" sz="2800" dirty="0">
                <a:solidFill>
                  <a:srgbClr val="FF00FF"/>
                </a:solidFill>
                <a:ea typeface="黑体" pitchFamily="49" charset="-122"/>
              </a:rPr>
              <a:t>A</a:t>
            </a:r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模糊度大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9D21BE-35C5-D82B-E998-BCD8E3E051B7}"/>
              </a:ext>
            </a:extLst>
          </p:cNvPr>
          <p:cNvSpPr txBox="1"/>
          <p:nvPr/>
        </p:nvSpPr>
        <p:spPr>
          <a:xfrm>
            <a:off x="7253823" y="4955187"/>
            <a:ext cx="1975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ea typeface="黑体" pitchFamily="49" charset="-122"/>
              </a:rPr>
              <a:t>H(A) </a:t>
            </a:r>
            <a:r>
              <a:rPr lang="en-US" altLang="zh-CN" sz="2800" dirty="0"/>
              <a:t>≈0.72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7397FF-0894-C9A0-506B-FD9B352E29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835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11DACED-1AE5-65B8-0C62-54345646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490" y="260648"/>
            <a:ext cx="8229600" cy="1099592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Yager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模糊度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904717D-DBCB-9092-D846-7821087CD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360240"/>
            <a:ext cx="9937104" cy="5381128"/>
          </a:xfrm>
        </p:spPr>
        <p:txBody>
          <a:bodyPr/>
          <a:lstStyle/>
          <a:p>
            <a:r>
              <a:rPr lang="en-US" altLang="zh-CN" sz="2800" b="1" dirty="0"/>
              <a:t>Yager</a:t>
            </a:r>
            <a:r>
              <a:rPr lang="zh-CN" altLang="en-US" sz="2800" b="1" dirty="0"/>
              <a:t>认为模糊性的测度与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A</a:t>
            </a:r>
            <a:r>
              <a:rPr lang="en-US" altLang="zh-CN" sz="2800" b="1" baseline="30000" dirty="0"/>
              <a:t>C</a:t>
            </a:r>
            <a:r>
              <a:rPr lang="zh-CN" altLang="en-US" sz="2800" b="1" dirty="0"/>
              <a:t>之间的差别程度密切相关，提出：</a:t>
            </a:r>
            <a:endParaRPr lang="en-US" altLang="zh-CN" sz="2800" b="1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800" b="1" dirty="0"/>
              <a:t>据此，提出一种模糊度，即</a:t>
            </a:r>
            <a:endParaRPr lang="en-US" altLang="zh-CN" sz="2800" b="1" dirty="0"/>
          </a:p>
          <a:p>
            <a:endParaRPr lang="en-US" altLang="zh-CN" sz="4000" dirty="0"/>
          </a:p>
          <a:p>
            <a:r>
              <a:rPr lang="zh-CN" altLang="en-US" sz="2800" b="1" dirty="0"/>
              <a:t>可以验证，此定义满足模糊度定义的条件。</a:t>
            </a:r>
            <a:endParaRPr lang="en-US" altLang="zh-CN" sz="2800" b="1" dirty="0"/>
          </a:p>
          <a:p>
            <a:r>
              <a:rPr lang="zh-CN" altLang="en-US" sz="2800" dirty="0"/>
              <a:t>例：设</a:t>
            </a:r>
            <a:r>
              <a:rPr lang="en-US" altLang="zh-CN" sz="2800" dirty="0"/>
              <a:t>U</a:t>
            </a:r>
            <a:r>
              <a:rPr lang="en-US" altLang="zh-CN" sz="2800" dirty="0">
                <a:ea typeface="黑体" pitchFamily="49" charset="-122"/>
              </a:rPr>
              <a:t>={u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2 </a:t>
            </a:r>
            <a:r>
              <a:rPr lang="en-US" altLang="zh-CN" sz="2800" dirty="0">
                <a:ea typeface="黑体" pitchFamily="49" charset="-122"/>
              </a:rPr>
              <a:t>,u</a:t>
            </a:r>
            <a:r>
              <a:rPr lang="en-US" altLang="zh-CN" sz="2800" baseline="-25000" dirty="0">
                <a:ea typeface="黑体" pitchFamily="49" charset="-122"/>
              </a:rPr>
              <a:t>3</a:t>
            </a:r>
            <a:r>
              <a:rPr lang="en-US" altLang="zh-CN" sz="2800" dirty="0">
                <a:ea typeface="黑体" pitchFamily="49" charset="-122"/>
              </a:rPr>
              <a:t>}, A=(0.2, 0.6, 0.1)</a:t>
            </a:r>
            <a:r>
              <a:rPr lang="zh-CN" altLang="en-US" sz="2800" dirty="0">
                <a:ea typeface="黑体" pitchFamily="49" charset="-122"/>
              </a:rPr>
              <a:t>和</a:t>
            </a:r>
            <a:r>
              <a:rPr lang="en-US" altLang="zh-CN" sz="2800" dirty="0">
                <a:ea typeface="黑体" pitchFamily="49" charset="-122"/>
              </a:rPr>
              <a:t> B=(0.6, 0.3, 0.8)</a:t>
            </a:r>
            <a:r>
              <a:rPr lang="zh-CN" altLang="en-US" sz="2800" dirty="0">
                <a:ea typeface="黑体" pitchFamily="49" charset="-122"/>
              </a:rPr>
              <a:t>为</a:t>
            </a:r>
            <a:r>
              <a:rPr lang="en-US" altLang="zh-CN" sz="2800" dirty="0">
                <a:ea typeface="黑体" pitchFamily="49" charset="-122"/>
              </a:rPr>
              <a:t>U</a:t>
            </a:r>
            <a:r>
              <a:rPr lang="zh-CN" altLang="en-US" sz="2800" dirty="0">
                <a:ea typeface="黑体" pitchFamily="49" charset="-122"/>
              </a:rPr>
              <a:t>上的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集，</a:t>
            </a:r>
            <a:endParaRPr lang="en-US" altLang="zh-CN" sz="2800" dirty="0">
              <a:ea typeface="黑体" pitchFamily="49" charset="-122"/>
            </a:endParaRPr>
          </a:p>
          <a:p>
            <a:endParaRPr lang="zh-CN" altLang="en-US" sz="2800" b="1" dirty="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CCEDFCAC-0DA0-9E92-3685-FA0DF27CD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4391" y="2344614"/>
          <a:ext cx="40671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482400" progId="Equation.DSMT4">
                  <p:embed/>
                </p:oleObj>
              </mc:Choice>
              <mc:Fallback>
                <p:oleObj name="Equation" r:id="rId2" imgW="2260440" imgH="48240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CCEDFCAC-0DA0-9E92-3685-FA0DF27CD6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391" y="2344614"/>
                        <a:ext cx="406717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E7835B85-C590-C56F-71A4-39F487CD42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041" y="2311277"/>
          <a:ext cx="2561517" cy="927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82400" progId="Equation.DSMT4">
                  <p:embed/>
                </p:oleObj>
              </mc:Choice>
              <mc:Fallback>
                <p:oleObj name="Equation" r:id="rId4" imgW="1333440" imgH="48240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E7835B85-C590-C56F-71A4-39F487CD4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1" y="2311277"/>
                        <a:ext cx="2561517" cy="927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03481EC2-D3B8-F6B3-3176-540D5C406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359356"/>
              </p:ext>
            </p:extLst>
          </p:nvPr>
        </p:nvGraphicFramePr>
        <p:xfrm>
          <a:off x="5989361" y="3619160"/>
          <a:ext cx="3494875" cy="83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393480" progId="Equation.DSMT4">
                  <p:embed/>
                </p:oleObj>
              </mc:Choice>
              <mc:Fallback>
                <p:oleObj name="Equation" r:id="rId6" imgW="1650960" imgH="393480" progId="Equation.DSMT4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03481EC2-D3B8-F6B3-3176-540D5C4063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361" y="3619160"/>
                        <a:ext cx="3494875" cy="83450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43B06DA8-ADB5-B5B4-AEE8-DB43CC306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9513" y="2624686"/>
          <a:ext cx="15986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03040" progId="Equation.DSMT4">
                  <p:embed/>
                </p:oleObj>
              </mc:Choice>
              <mc:Fallback>
                <p:oleObj name="Equation" r:id="rId8" imgW="888840" imgH="203040" progId="Equation.DSMT4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43B06DA8-ADB5-B5B4-AEE8-DB43CC306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513" y="2624686"/>
                        <a:ext cx="159861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36302EB5-D748-0752-8070-4FEA7618B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7568" y="6104520"/>
          <a:ext cx="34417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400" imgH="228600" progId="Equation.DSMT4">
                  <p:embed/>
                </p:oleObj>
              </mc:Choice>
              <mc:Fallback>
                <p:oleObj name="Equation" r:id="rId10" imgW="1625400" imgH="228600" progId="Equation.DSMT4">
                  <p:embed/>
                  <p:pic>
                    <p:nvPicPr>
                      <p:cNvPr id="12" name="Object 4">
                        <a:extLst>
                          <a:ext uri="{FF2B5EF4-FFF2-40B4-BE49-F238E27FC236}">
                            <a16:creationId xmlns:a16="http://schemas.microsoft.com/office/drawing/2014/main" id="{36302EB5-D748-0752-8070-4FEA7618B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6104520"/>
                        <a:ext cx="34417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6AFEC6E5-90FC-0D2F-0849-A62E9B720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853571"/>
              </p:ext>
            </p:extLst>
          </p:nvPr>
        </p:nvGraphicFramePr>
        <p:xfrm>
          <a:off x="5879976" y="6116639"/>
          <a:ext cx="35750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88760" imgH="228600" progId="Equation.DSMT4">
                  <p:embed/>
                </p:oleObj>
              </mc:Choice>
              <mc:Fallback>
                <p:oleObj name="Equation" r:id="rId12" imgW="1688760" imgH="228600" progId="Equation.DSMT4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id="{6AFEC6E5-90FC-0D2F-0849-A62E9B720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6116639"/>
                        <a:ext cx="35750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AE91F0B-1ECF-3947-9A00-5363863BFBA6}"/>
              </a:ext>
            </a:extLst>
          </p:cNvPr>
          <p:cNvSpPr txBox="1"/>
          <p:nvPr/>
        </p:nvSpPr>
        <p:spPr>
          <a:xfrm>
            <a:off x="7736799" y="5569829"/>
            <a:ext cx="2962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即</a:t>
            </a:r>
            <a:r>
              <a:rPr lang="en-US" altLang="zh-CN" sz="2800" dirty="0">
                <a:solidFill>
                  <a:srgbClr val="FF00FF"/>
                </a:solidFill>
                <a:ea typeface="黑体" pitchFamily="49" charset="-122"/>
              </a:rPr>
              <a:t>B</a:t>
            </a:r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比</a:t>
            </a:r>
            <a:r>
              <a:rPr lang="en-US" altLang="zh-CN" sz="2800" dirty="0">
                <a:solidFill>
                  <a:srgbClr val="FF00FF"/>
                </a:solidFill>
                <a:ea typeface="黑体" pitchFamily="49" charset="-122"/>
              </a:rPr>
              <a:t>A</a:t>
            </a:r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模糊度大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FDE77F-F974-EB77-E0F6-17BEBC6232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05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7397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连续论域上的模糊度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5400" y="1341438"/>
            <a:ext cx="10657184" cy="5327650"/>
          </a:xfrm>
        </p:spPr>
        <p:txBody>
          <a:bodyPr/>
          <a:lstStyle/>
          <a:p>
            <a:pPr eaLnBrk="1" hangingPunct="1"/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当论域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U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为实数集的一闭区间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[</a:t>
            </a:r>
            <a:r>
              <a:rPr lang="el-GR" altLang="zh-CN" sz="2800" i="1" dirty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zh-CN" sz="2800" i="1" dirty="0">
                <a:latin typeface="Times New Roman" pitchFamily="18" charset="0"/>
                <a:cs typeface="Times New Roman" pitchFamily="18" charset="0"/>
              </a:rPr>
              <a:t>β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]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，而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集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的隶属函数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A(x)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连续时，记</a:t>
            </a:r>
            <a:endParaRPr lang="zh-CN" altLang="en-US" sz="2400" dirty="0"/>
          </a:p>
          <a:p>
            <a:pPr eaLnBrk="1" hangingPunct="1"/>
            <a:endParaRPr lang="zh-CN" altLang="en-US" sz="1200" dirty="0"/>
          </a:p>
          <a:p>
            <a:pPr eaLnBrk="1" hangingPunct="1"/>
            <a:endParaRPr lang="zh-CN" altLang="en-US" sz="1400" dirty="0"/>
          </a:p>
          <a:p>
            <a:pPr eaLnBrk="1" hangingPunct="1"/>
            <a:endParaRPr lang="zh-CN" altLang="en-US" sz="1400" dirty="0"/>
          </a:p>
          <a:p>
            <a:pPr eaLnBrk="1" hangingPunct="1"/>
            <a:endParaRPr lang="zh-CN" altLang="en-US" sz="1800" dirty="0"/>
          </a:p>
          <a:p>
            <a:pPr eaLnBrk="1" hangingPunct="1"/>
            <a:endParaRPr lang="zh-CN" altLang="en-US" sz="1400" dirty="0"/>
          </a:p>
          <a:p>
            <a:pPr eaLnBrk="1" hangingPunct="1"/>
            <a:endParaRPr lang="zh-CN" altLang="en-US" sz="2000" dirty="0"/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则</a:t>
            </a:r>
            <a:r>
              <a:rPr lang="en-US" altLang="zh-CN" sz="2800" dirty="0">
                <a:ea typeface="黑体" pitchFamily="49" charset="-122"/>
              </a:rPr>
              <a:t>s</a:t>
            </a:r>
            <a:r>
              <a:rPr lang="en-US" altLang="zh-CN" sz="2800" baseline="-25000" dirty="0">
                <a:ea typeface="黑体" pitchFamily="49" charset="-122"/>
              </a:rPr>
              <a:t>1</a:t>
            </a:r>
            <a:r>
              <a:rPr lang="en-US" altLang="zh-CN" sz="2800" dirty="0">
                <a:ea typeface="黑体" pitchFamily="49" charset="-122"/>
              </a:rPr>
              <a:t>(A)</a:t>
            </a:r>
            <a:r>
              <a:rPr lang="zh-CN" altLang="en-US" sz="2800" dirty="0">
                <a:ea typeface="黑体" pitchFamily="49" charset="-122"/>
              </a:rPr>
              <a:t>、</a:t>
            </a:r>
            <a:r>
              <a:rPr lang="en-US" altLang="zh-CN" sz="2800" dirty="0">
                <a:ea typeface="黑体" pitchFamily="49" charset="-122"/>
              </a:rPr>
              <a:t>s</a:t>
            </a:r>
            <a:r>
              <a:rPr lang="en-US" altLang="zh-CN" sz="2800" baseline="-25000" dirty="0">
                <a:ea typeface="黑体" pitchFamily="49" charset="-122"/>
              </a:rPr>
              <a:t>2</a:t>
            </a:r>
            <a:r>
              <a:rPr lang="en-US" altLang="zh-CN" sz="2800" dirty="0">
                <a:ea typeface="黑体" pitchFamily="49" charset="-122"/>
              </a:rPr>
              <a:t>(A)</a:t>
            </a:r>
            <a:r>
              <a:rPr lang="zh-CN" altLang="en-US" sz="2800" dirty="0">
                <a:ea typeface="黑体" pitchFamily="49" charset="-122"/>
              </a:rPr>
              <a:t>都是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集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的模糊度，其中</a:t>
            </a:r>
          </a:p>
          <a:p>
            <a:pPr eaLnBrk="1" hangingPunct="1"/>
            <a:endParaRPr lang="zh-CN" altLang="en-US" sz="2400" dirty="0">
              <a:ea typeface="黑体" pitchFamily="49" charset="-122"/>
            </a:endParaRPr>
          </a:p>
          <a:p>
            <a:pPr eaLnBrk="1" hangingPunct="1"/>
            <a:endParaRPr kumimoji="1" lang="en-US" altLang="zh-CN" dirty="0">
              <a:ea typeface="黑体" pitchFamily="49" charset="-122"/>
              <a:sym typeface="Symbol" pitchFamily="18" charset="2"/>
            </a:endParaRPr>
          </a:p>
        </p:txBody>
      </p:sp>
      <p:graphicFrame>
        <p:nvGraphicFramePr>
          <p:cNvPr id="53262" name="Object 1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19288" y="4411663"/>
          <a:ext cx="7688262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5280" imgH="495000" progId="Equation.DSMT4">
                  <p:embed/>
                </p:oleObj>
              </mc:Choice>
              <mc:Fallback>
                <p:oleObj name="Equation" r:id="rId2" imgW="3365280" imgH="495000" progId="Equation.DSMT4">
                  <p:embed/>
                  <p:pic>
                    <p:nvPicPr>
                      <p:cNvPr id="532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411663"/>
                        <a:ext cx="7688262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861284352"/>
              </p:ext>
            </p:extLst>
          </p:nvPr>
        </p:nvGraphicFramePr>
        <p:xfrm>
          <a:off x="2660818" y="2010946"/>
          <a:ext cx="3454400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965160" progId="Equation.DSMT4">
                  <p:embed/>
                </p:oleObj>
              </mc:Choice>
              <mc:Fallback>
                <p:oleObj name="Equation" r:id="rId4" imgW="1968480" imgH="965160" progId="Equation.DSMT4">
                  <p:embed/>
                  <p:pic>
                    <p:nvPicPr>
                      <p:cNvPr id="532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818" y="2010946"/>
                        <a:ext cx="3454400" cy="169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4" name="Object 16"/>
          <p:cNvGraphicFramePr>
            <a:graphicFrameLocks noChangeAspect="1"/>
          </p:cNvGraphicFramePr>
          <p:nvPr/>
        </p:nvGraphicFramePr>
        <p:xfrm>
          <a:off x="4557391" y="5780089"/>
          <a:ext cx="47339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393480" progId="Equation.DSMT4">
                  <p:embed/>
                </p:oleObj>
              </mc:Choice>
              <mc:Fallback>
                <p:oleObj name="Equation" r:id="rId6" imgW="1981080" imgH="393480" progId="Equation.DSMT4">
                  <p:embed/>
                  <p:pic>
                    <p:nvPicPr>
                      <p:cNvPr id="532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391" y="5780089"/>
                        <a:ext cx="4733925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65" name="Picture 1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1801224"/>
            <a:ext cx="4588965" cy="296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4871864" y="5661248"/>
            <a:ext cx="1728192" cy="1152128"/>
          </a:xfrm>
          <a:prstGeom prst="roundRect">
            <a:avLst/>
          </a:prstGeom>
          <a:solidFill>
            <a:srgbClr val="00B0F0">
              <a:alpha val="43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6892752" y="5661248"/>
            <a:ext cx="2443609" cy="1152128"/>
          </a:xfrm>
          <a:prstGeom prst="roundRect">
            <a:avLst/>
          </a:prstGeom>
          <a:solidFill>
            <a:srgbClr val="FF99FF">
              <a:alpha val="42745"/>
            </a:srgbClr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AB0C97-7048-63AB-CFA2-92BE60983B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  <p:bldP spid="2" grpId="0" animBg="1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7397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连续论域上的模糊度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84784"/>
            <a:ext cx="10598968" cy="5184304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  <a:r>
              <a:rPr lang="en-US" altLang="zh-CN" dirty="0"/>
              <a:t>U=R=(-</a:t>
            </a:r>
            <a:r>
              <a:rPr lang="en-US" altLang="zh-CN" dirty="0">
                <a:sym typeface="Symbol"/>
              </a:rPr>
              <a:t></a:t>
            </a:r>
            <a:r>
              <a:rPr lang="en-US" altLang="zh-CN" dirty="0"/>
              <a:t>,+</a:t>
            </a:r>
            <a:r>
              <a:rPr lang="en-US" altLang="zh-CN" dirty="0">
                <a:sym typeface="Symbol"/>
              </a:rPr>
              <a:t></a:t>
            </a:r>
            <a:r>
              <a:rPr lang="en-US" altLang="zh-CN" dirty="0"/>
              <a:t>), 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A </a:t>
            </a:r>
            <a:r>
              <a:rPr kumimoji="1" lang="en-US" altLang="zh-CN" dirty="0">
                <a:latin typeface="Monotype Corsiva" pitchFamily="66" charset="0"/>
                <a:ea typeface="黑体" pitchFamily="49" charset="-122"/>
                <a:sym typeface="Symbol" pitchFamily="18" charset="2"/>
              </a:rPr>
              <a:t>F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(U), 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则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的模糊度可由下式给出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:</a:t>
            </a:r>
          </a:p>
        </p:txBody>
      </p:sp>
      <p:graphicFrame>
        <p:nvGraphicFramePr>
          <p:cNvPr id="1075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956013"/>
              </p:ext>
            </p:extLst>
          </p:nvPr>
        </p:nvGraphicFramePr>
        <p:xfrm>
          <a:off x="2401545" y="2170671"/>
          <a:ext cx="501491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330120" progId="Equation.DSMT4">
                  <p:embed/>
                </p:oleObj>
              </mc:Choice>
              <mc:Fallback>
                <p:oleObj name="Equation" r:id="rId2" imgW="1841400" imgH="330120" progId="Equation.DSMT4">
                  <p:embed/>
                  <p:pic>
                    <p:nvPicPr>
                      <p:cNvPr id="1075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545" y="2170671"/>
                        <a:ext cx="5014912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3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545" y="3213100"/>
            <a:ext cx="5659666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Text Box 12"/>
          <p:cNvSpPr txBox="1">
            <a:spLocks noChangeArrowheads="1"/>
          </p:cNvSpPr>
          <p:nvPr/>
        </p:nvSpPr>
        <p:spPr bwMode="auto">
          <a:xfrm>
            <a:off x="2135188" y="6092826"/>
            <a:ext cx="806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463B21-B57D-A138-01C0-DDDA551FDC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作业二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271464" y="1828800"/>
            <a:ext cx="8229600" cy="3886200"/>
          </a:xfrm>
        </p:spPr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习题一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3600" dirty="0"/>
              <a:t>   7,13, 14, 20, 21, 25, 26, 27,28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D867BC-B369-4731-B84C-3F0B7DD0E662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648" t="7501" r="58435" b="25964"/>
          <a:stretch/>
        </p:blipFill>
        <p:spPr bwMode="auto">
          <a:xfrm rot="16200000">
            <a:off x="4463793" y="1887317"/>
            <a:ext cx="1440162" cy="75608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94704E2-4D6D-74F4-50A9-55ABC6B0B95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56815076"/>
              </p:ext>
            </p:extLst>
          </p:nvPr>
        </p:nvGraphicFramePr>
        <p:xfrm>
          <a:off x="1691486" y="3232302"/>
          <a:ext cx="5688632" cy="158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640" imgH="711000" progId="Equation.DSMT4">
                  <p:embed/>
                </p:oleObj>
              </mc:Choice>
              <mc:Fallback>
                <p:oleObj name="Equation" r:id="rId4" imgW="2717640" imgH="711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94704E2-4D6D-74F4-50A9-55ABC6B0B95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486" y="3232302"/>
                        <a:ext cx="5688632" cy="158341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QR 代码&#10;&#10;AI 生成的内容可能不正确。">
            <a:extLst>
              <a:ext uri="{FF2B5EF4-FFF2-40B4-BE49-F238E27FC236}">
                <a16:creationId xmlns:a16="http://schemas.microsoft.com/office/drawing/2014/main" id="{81BC39EA-6E90-66A2-E53B-A0E4C3BB8D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296" y="0"/>
            <a:ext cx="3455078" cy="440293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8ACEF1-9FFE-F29F-D0B9-2170DA4C98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48976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96341" y="11430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作业二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343472" y="1268760"/>
            <a:ext cx="8229600" cy="3886200"/>
          </a:xfrm>
        </p:spPr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习题一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3600" dirty="0"/>
              <a:t>   13, 14, 20, 21, 25, 26, 27,28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18EF83-F0CA-4908-88BF-25B5298DB5C7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64" t="8767" r="9422" b="22944"/>
          <a:stretch/>
        </p:blipFill>
        <p:spPr bwMode="auto">
          <a:xfrm rot="16200000">
            <a:off x="2865266" y="924581"/>
            <a:ext cx="4558665" cy="66871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图片 1" descr="QR 代码&#10;&#10;AI 生成的内容可能不正确。">
            <a:extLst>
              <a:ext uri="{FF2B5EF4-FFF2-40B4-BE49-F238E27FC236}">
                <a16:creationId xmlns:a16="http://schemas.microsoft.com/office/drawing/2014/main" id="{DDCD0CC8-5D9F-3A93-6A2D-74A2C37E9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296" y="0"/>
            <a:ext cx="3455078" cy="440293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FD6B8A-A789-F468-967E-380AAAC7BC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410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5E9E9-A573-4DED-93ED-9EEB225F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作业二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B0AB02-7126-4416-89D6-B9228A36FE4D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008" b="33563"/>
          <a:stretch/>
        </p:blipFill>
        <p:spPr bwMode="auto">
          <a:xfrm>
            <a:off x="1775520" y="391160"/>
            <a:ext cx="6562725" cy="64668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图片 2" descr="QR 代码&#10;&#10;AI 生成的内容可能不正确。">
            <a:extLst>
              <a:ext uri="{FF2B5EF4-FFF2-40B4-BE49-F238E27FC236}">
                <a16:creationId xmlns:a16="http://schemas.microsoft.com/office/drawing/2014/main" id="{A6F8BBA3-1652-55F6-D7F6-7E34F1112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296" y="0"/>
            <a:ext cx="3455078" cy="440293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650BC3-5FE8-74C5-AFB9-E64C25851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462526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26333</TotalTime>
  <Words>5064</Words>
  <Application>Microsoft Office PowerPoint</Application>
  <PresentationFormat>宽屏</PresentationFormat>
  <Paragraphs>637</Paragraphs>
  <Slides>58</Slides>
  <Notes>22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58</vt:i4>
      </vt:variant>
    </vt:vector>
  </HeadingPairs>
  <TitlesOfParts>
    <vt:vector size="73" baseType="lpstr">
      <vt:lpstr>仿宋</vt:lpstr>
      <vt:lpstr>黑体</vt:lpstr>
      <vt:lpstr>楷体_GB2312</vt:lpstr>
      <vt:lpstr>隶书</vt:lpstr>
      <vt:lpstr>宋体</vt:lpstr>
      <vt:lpstr>Arial</vt:lpstr>
      <vt:lpstr>Arial Black</vt:lpstr>
      <vt:lpstr>Monotype Corsiva</vt:lpstr>
      <vt:lpstr>Symbol</vt:lpstr>
      <vt:lpstr>Times New Roman</vt:lpstr>
      <vt:lpstr>Wingdings</vt:lpstr>
      <vt:lpstr>Pixel</vt:lpstr>
      <vt:lpstr>公式</vt:lpstr>
      <vt:lpstr>Equation</vt:lpstr>
      <vt:lpstr>MathType 6.0 Equation</vt:lpstr>
      <vt:lpstr>第 1 章 模糊集合</vt:lpstr>
      <vt:lpstr>PowerPoint 演示文稿</vt:lpstr>
      <vt:lpstr>模糊集与经典集运算的比较</vt:lpstr>
      <vt:lpstr>[P9例3]设U=[0,1],A(u)=u,则Ac=1u</vt:lpstr>
      <vt:lpstr>1.4  F集运算的其他定义</vt:lpstr>
      <vt:lpstr>F集运算的其他定义</vt:lpstr>
      <vt:lpstr>F集运算的其他定义</vt:lpstr>
      <vt:lpstr>F集运算的其他定义</vt:lpstr>
      <vt:lpstr>T三角模（T范数）</vt:lpstr>
      <vt:lpstr>S三角模（S范数）</vt:lpstr>
      <vt:lpstr>F算子的对偶性</vt:lpstr>
      <vt:lpstr>F算子的对偶性</vt:lpstr>
      <vt:lpstr>F集运算常见算子之间的转换</vt:lpstr>
      <vt:lpstr>F算子的清晰域</vt:lpstr>
      <vt:lpstr>1.5  模糊集的截集</vt:lpstr>
      <vt:lpstr>模糊集的截集</vt:lpstr>
      <vt:lpstr>模糊截集的性质</vt:lpstr>
      <vt:lpstr>PowerPoint 演示文稿</vt:lpstr>
      <vt:lpstr>    证明：</vt:lpstr>
      <vt:lpstr>[P15例4]设U={a, b}，A={(a,0.5), (b,0.7)},  当=0.6时，               求(A)c和(Ac)</vt:lpstr>
      <vt:lpstr>当为连续论域情况下求(A)c和(Ac)</vt:lpstr>
      <vt:lpstr>1.6 分解定理</vt:lpstr>
      <vt:lpstr>与分解定理有关的概念</vt:lpstr>
      <vt:lpstr>与分解定理有关的概念</vt:lpstr>
      <vt:lpstr>分解定理</vt:lpstr>
      <vt:lpstr>对分解定理的理解</vt:lpstr>
      <vt:lpstr>对分解定理的理解</vt:lpstr>
      <vt:lpstr>对分解定理的理解</vt:lpstr>
      <vt:lpstr>[分解定理Ⅰ]的推论及举例</vt:lpstr>
      <vt:lpstr>[分解定理Ⅰ]的举例</vt:lpstr>
      <vt:lpstr>分解定理Ⅱ</vt:lpstr>
      <vt:lpstr>分解定理Ⅱ的举例</vt:lpstr>
      <vt:lpstr>分解定理Ⅲ</vt:lpstr>
      <vt:lpstr>分解定理Ⅲ的证明</vt:lpstr>
      <vt:lpstr>分解定理Ⅲ的证明</vt:lpstr>
      <vt:lpstr>分解定理Ⅲ的证明</vt:lpstr>
      <vt:lpstr>分解定理Ⅲ</vt:lpstr>
      <vt:lpstr>1.7  集合套与表现定理</vt:lpstr>
      <vt:lpstr>集合套</vt:lpstr>
      <vt:lpstr>集合套的运算</vt:lpstr>
      <vt:lpstr>表现定理的引出 </vt:lpstr>
      <vt:lpstr>表现定理</vt:lpstr>
      <vt:lpstr>表现定理举例</vt:lpstr>
      <vt:lpstr>1.8 模糊集的模糊度 </vt:lpstr>
      <vt:lpstr>离散论域上的模糊度</vt:lpstr>
      <vt:lpstr>模糊度举例1</vt:lpstr>
      <vt:lpstr>模糊度举例1</vt:lpstr>
      <vt:lpstr>模糊度举例1</vt:lpstr>
      <vt:lpstr>模糊度举例2</vt:lpstr>
      <vt:lpstr>模糊度举例2</vt:lpstr>
      <vt:lpstr>模糊度举例3</vt:lpstr>
      <vt:lpstr>模糊度举例3</vt:lpstr>
      <vt:lpstr>Yager模糊度</vt:lpstr>
      <vt:lpstr>连续论域上的模糊度</vt:lpstr>
      <vt:lpstr>连续论域上的模糊度</vt:lpstr>
      <vt:lpstr>作业二</vt:lpstr>
      <vt:lpstr>作业二</vt:lpstr>
      <vt:lpstr>作业二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3 章 模糊关系与聚类分析</dc:title>
  <dc:creator>凌卫新</dc:creator>
  <cp:lastModifiedBy>wxling66@outlook.com</cp:lastModifiedBy>
  <cp:revision>188</cp:revision>
  <cp:lastPrinted>2015-03-30T16:16:52Z</cp:lastPrinted>
  <dcterms:created xsi:type="dcterms:W3CDTF">2008-03-21T16:00:48Z</dcterms:created>
  <dcterms:modified xsi:type="dcterms:W3CDTF">2026-03-10T10:41:26Z</dcterms:modified>
</cp:coreProperties>
</file>